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448" r:id="rId2"/>
    <p:sldId id="453" r:id="rId3"/>
    <p:sldId id="454" r:id="rId4"/>
    <p:sldId id="456" r:id="rId5"/>
    <p:sldId id="457" r:id="rId6"/>
    <p:sldId id="458" r:id="rId7"/>
    <p:sldId id="459" r:id="rId8"/>
    <p:sldId id="460" r:id="rId9"/>
    <p:sldId id="461" r:id="rId10"/>
    <p:sldId id="463" r:id="rId11"/>
    <p:sldId id="464" r:id="rId12"/>
    <p:sldId id="465" r:id="rId13"/>
    <p:sldId id="466" r:id="rId14"/>
    <p:sldId id="467" r:id="rId15"/>
    <p:sldId id="468" r:id="rId16"/>
    <p:sldId id="481" r:id="rId17"/>
    <p:sldId id="469" r:id="rId18"/>
    <p:sldId id="470" r:id="rId19"/>
    <p:sldId id="471" r:id="rId20"/>
    <p:sldId id="472" r:id="rId21"/>
    <p:sldId id="482" r:id="rId22"/>
    <p:sldId id="483" r:id="rId23"/>
    <p:sldId id="489" r:id="rId24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  <a:srgbClr val="CCE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4"/>
    <p:restoredTop sz="97962"/>
  </p:normalViewPr>
  <p:slideViewPr>
    <p:cSldViewPr showGuides="1">
      <p:cViewPr varScale="1">
        <p:scale>
          <a:sx n="89" d="100"/>
          <a:sy n="89" d="100"/>
        </p:scale>
        <p:origin x="595" y="72"/>
      </p:cViewPr>
      <p:guideLst>
        <p:guide orient="horz" pos="2160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眉占位符 1433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14339" name="日期占位符 1433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zh-CN" altLang="en-US" sz="1200" strike="noStrike" noProof="1"/>
          </a:p>
        </p:txBody>
      </p:sp>
      <p:sp>
        <p:nvSpPr>
          <p:cNvPr id="3076" name="幻灯片图像占位符 1433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1434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14342" name="页脚占位符 14341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14343" name="灯片编号占位符 1434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125"/>
          <p:cNvGrpSpPr/>
          <p:nvPr/>
        </p:nvGrpSpPr>
        <p:grpSpPr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2051" name="椭圆 5126"/>
            <p:cNvSpPr/>
            <p:nvPr/>
          </p:nvSpPr>
          <p:spPr>
            <a:xfrm>
              <a:off x="144" y="576"/>
              <a:ext cx="1584" cy="1584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/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2" name="矩形 5127"/>
            <p:cNvSpPr/>
            <p:nvPr/>
          </p:nvSpPr>
          <p:spPr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/>
            <a:lstStyle/>
            <a:p>
              <a:pPr lvl="0" algn="ctr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" name="矩形 5128"/>
            <p:cNvSpPr/>
            <p:nvPr/>
          </p:nvSpPr>
          <p:spPr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" name="任意多边形 5129"/>
            <p:cNvSpPr/>
            <p:nvPr/>
          </p:nvSpPr>
          <p:spPr>
            <a:xfrm>
              <a:off x="384" y="960"/>
              <a:ext cx="144" cy="913"/>
            </a:xfrm>
            <a:custGeom>
              <a:avLst/>
              <a:gdLst/>
              <a:ahLst/>
              <a:cxnLst/>
              <a:rect l="0" t="0" r="0" b="0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" name="任意多边形 5130"/>
            <p:cNvSpPr/>
            <p:nvPr/>
          </p:nvSpPr>
          <p:spPr>
            <a:xfrm>
              <a:off x="4944" y="762"/>
              <a:ext cx="165" cy="864"/>
            </a:xfrm>
            <a:custGeom>
              <a:avLst/>
              <a:gdLst/>
              <a:ahLst/>
              <a:cxnLst/>
              <a:rect l="0" t="0" r="0" b="0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2" name="副标题 5121"/>
          <p:cNvSpPr>
            <a:spLocks noGrp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1pPr>
            <a:lvl2pPr marL="449580" lvl="1" indent="0" algn="ctr"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lvl2pPr>
            <a:lvl3pPr marL="89090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3pPr>
            <a:lvl4pPr marL="1295400" lvl="3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lvl4pPr>
            <a:lvl5pPr marL="1682750" lvl="4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5132" name="标题 5131"/>
          <p:cNvSpPr>
            <a:spLocks noGrp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3" name="日期占位符 512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000"/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2024/11/13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124" name="页脚占位符 512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00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125" name="灯片编号占位符 512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0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657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0916" y="96838"/>
            <a:ext cx="1919684" cy="59991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47767" cy="59991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4097"/>
          <p:cNvSpPr/>
          <p:nvPr/>
        </p:nvSpPr>
        <p:spPr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矩形 4098"/>
          <p:cNvSpPr/>
          <p:nvPr/>
        </p:nvSpPr>
        <p:spPr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标题 4099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文本占位符 4100"/>
          <p:cNvSpPr>
            <a:spLocks noGrp="1"/>
          </p:cNvSpPr>
          <p:nvPr>
            <p:ph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439420"/>
            <a:r>
              <a:rPr lang="zh-CN" altLang="en-US" dirty="0"/>
              <a:t>第二级</a:t>
            </a:r>
          </a:p>
          <a:p>
            <a:pPr lvl="2" indent="-403225"/>
            <a:r>
              <a:rPr lang="zh-CN" altLang="en-US" dirty="0"/>
              <a:t>第三级</a:t>
            </a:r>
          </a:p>
          <a:p>
            <a:pPr lvl="3" indent="-386080"/>
            <a:r>
              <a:rPr lang="zh-CN" altLang="en-US" dirty="0"/>
              <a:t>第四级</a:t>
            </a:r>
          </a:p>
          <a:p>
            <a:pPr lvl="4" indent="-387350"/>
            <a:r>
              <a:rPr lang="zh-CN" altLang="en-US" dirty="0"/>
              <a:t>第五级</a:t>
            </a:r>
          </a:p>
        </p:txBody>
      </p:sp>
      <p:sp>
        <p:nvSpPr>
          <p:cNvPr id="4102" name="日期占位符 4101"/>
          <p:cNvSpPr>
            <a:spLocks noGrp="1"/>
          </p:cNvSpPr>
          <p:nvPr>
            <p:ph type="dt" sz="half" idx="2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103" name="页脚占位符 4102"/>
          <p:cNvSpPr>
            <a:spLocks noGrp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104" name="灯片编号占位符 4103"/>
          <p:cNvSpPr>
            <a:spLocks noGrp="1"/>
          </p:cNvSpPr>
          <p:nvPr>
            <p:ph type="sldNum" sz="quarter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3" name="任意多边形 4104"/>
          <p:cNvSpPr/>
          <p:nvPr/>
        </p:nvSpPr>
        <p:spPr>
          <a:xfrm>
            <a:off x="838200" y="561975"/>
            <a:ext cx="152400" cy="10668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" name="任意多边形 4105"/>
          <p:cNvSpPr/>
          <p:nvPr/>
        </p:nvSpPr>
        <p:spPr>
          <a:xfrm>
            <a:off x="8262938" y="269875"/>
            <a:ext cx="152400" cy="107315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47675" lvl="0" indent="-44767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89000" lvl="1" indent="-43942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94130" lvl="2" indent="-40322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81480" lvl="3" indent="-38608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70100" lvl="4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307465" y="4011930"/>
            <a:ext cx="6473825" cy="1905000"/>
          </a:xfrm>
        </p:spPr>
        <p:txBody>
          <a:bodyPr/>
          <a:lstStyle/>
          <a:p>
            <a:r>
              <a:rPr lang="zh-CN" altLang="en-US"/>
              <a:t>学习通开设课程复习讨论专区，欢迎同学们在讨论专区提问，三位老师将统一在讨论区为大家答疑。</a:t>
            </a:r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charset="-122"/>
                <a:ea typeface="华文彩云" panose="02010800040101010101" charset="-122"/>
              </a:rPr>
              <a:t>数据库系统原理</a:t>
            </a:r>
            <a:r>
              <a:rPr lang="zh-CN" altLang="en-US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charset="-122"/>
                <a:ea typeface="华文彩云" panose="02010800040101010101" charset="-122"/>
                <a:sym typeface="+mn-ea"/>
              </a:rPr>
              <a:t>模拟</a:t>
            </a:r>
            <a:r>
              <a:rPr lang="zh-CN" altLang="en-US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charset="-122"/>
                <a:ea typeface="华文彩云" panose="02010800040101010101" charset="-122"/>
              </a:rPr>
              <a:t>试题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简答题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495" y="1765935"/>
            <a:ext cx="8222615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1）简述varchar与char的区别。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2）什么是数据库索引？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3）事务的四种特性指的是什么？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4</a:t>
            </a:r>
            <a:r>
              <a:rPr sz="2400" b="1">
                <a:sym typeface="+mn-ea"/>
              </a:rPr>
              <a:t>）在大学数据库中，用SQL语句查询名字中包含‘g’学生的学号、姓名。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5</a:t>
            </a:r>
            <a:r>
              <a:rPr sz="2400" b="1">
                <a:sym typeface="+mn-ea"/>
              </a:rPr>
              <a:t>）简述函数和触发器之间的异同。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6</a:t>
            </a:r>
            <a:r>
              <a:rPr sz="2400" b="1">
                <a:sym typeface="+mn-ea"/>
              </a:rPr>
              <a:t>）distinct的作用是什么？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7</a:t>
            </a:r>
            <a:r>
              <a:rPr sz="2400" b="1">
                <a:sym typeface="+mn-ea"/>
              </a:rPr>
              <a:t>）若关系R所有的属性都是不可再分的数据项，则该关系最低满足第几范式？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8</a:t>
            </a:r>
            <a:r>
              <a:rPr sz="2400" b="1">
                <a:sym typeface="+mn-ea"/>
              </a:rPr>
              <a:t>）简述用户自定义的类型和域之间的差别。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9</a:t>
            </a:r>
            <a:r>
              <a:rPr sz="2400" b="1">
                <a:sym typeface="+mn-ea"/>
              </a:rPr>
              <a:t>）AB→C能蕴含A→C，B→C吗？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分析题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9730" y="1981200"/>
            <a:ext cx="8230870" cy="4114800"/>
          </a:xfrm>
        </p:spPr>
        <p:txBody>
          <a:bodyPr/>
          <a:lstStyle/>
          <a:p>
            <a:pPr fontAlgn="base">
              <a:lnSpc>
                <a:spcPct val="90000"/>
              </a:lnSpc>
            </a:pPr>
            <a:r>
              <a:rPr sz="2800" b="1">
                <a:sym typeface="+mn-ea"/>
              </a:rPr>
              <a:t>1、在学生表中，将学号（ID）和姓名（name）的组合设计为该表的主键是否合理？为什么？</a:t>
            </a:r>
          </a:p>
          <a:p>
            <a:pPr fontAlgn="base">
              <a:lnSpc>
                <a:spcPct val="90000"/>
              </a:lnSpc>
            </a:pPr>
            <a:r>
              <a:rPr lang="en-US" sz="2800" b="1">
                <a:sym typeface="+mn-ea"/>
              </a:rPr>
              <a:t>2</a:t>
            </a:r>
            <a:r>
              <a:rPr sz="2800" b="1">
                <a:sym typeface="+mn-ea"/>
              </a:rPr>
              <a:t>、如果张三想通过汇款的方式转给李四 200元。张三的账户已经减掉200美元后系统发生故障，并没有在李四账户中增加200美元，请问数据库出现了什么样的状态？这个问题该怎么解决？数据库通过什么手段实现该操作？</a:t>
            </a:r>
          </a:p>
          <a:p>
            <a:pPr fontAlgn="base">
              <a:lnSpc>
                <a:spcPct val="90000"/>
              </a:lnSpc>
            </a:pPr>
            <a:r>
              <a:rPr lang="en-US" sz="2800" b="1">
                <a:sym typeface="+mn-ea"/>
              </a:rPr>
              <a:t>3</a:t>
            </a:r>
            <a:r>
              <a:rPr sz="2800" b="1">
                <a:sym typeface="+mn-ea"/>
              </a:rPr>
              <a:t>、请用阿姆斯特朗三定律（分解律、增强律和传递律）证明合并律。每一步骤的依据。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设计题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255" y="1664335"/>
            <a:ext cx="8237855" cy="489712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某汽车保险公司欲开发一套管理系统，其需要记录的数据如下：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顾客：顾客ID、名字、家庭住址；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汽车：汽车编号、类型、所有顾客ID；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事故：事故编号、日期、位置；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保险赔付：ID、截止日期、金额、实际赔付日期；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000" b="1">
                <a:sym typeface="+mn-ea"/>
              </a:rPr>
              <a:t>  </a:t>
            </a:r>
            <a:r>
              <a:rPr sz="2000" b="1">
                <a:sym typeface="+mn-ea"/>
              </a:rPr>
              <a:t>保险单：保险单号、保险赔付ID。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其中，每位顾客可以有1辆或多辆汽车；每辆汽车可以关联0个或者多个事故，每个事故可以关联1到多辆车；1个保险单可以覆盖1辆或多辆汽车，1辆车可以关联1到多个保险单；保险单可关联一个或多个保险赔付。 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完成如下设计：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（1）设计该信息管理系统的E-R图；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（2）将该E-R图转换为关系模式；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（3）指出转换结果中每个关系模式的主码。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计算题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3200" b="1">
                <a:sym typeface="+mn-ea"/>
              </a:rPr>
              <a:t>设有属于1NF的关系模式R=（A, B, C, D, E），R上的函数依赖集F={ BC</a:t>
            </a:r>
            <a:r>
              <a:rPr b="1">
                <a:sym typeface="+mn-ea"/>
              </a:rPr>
              <a:t>→</a:t>
            </a:r>
            <a:r>
              <a:rPr sz="3200" b="1">
                <a:sym typeface="+mn-ea"/>
              </a:rPr>
              <a:t>AD，AD</a:t>
            </a:r>
            <a:r>
              <a:rPr b="1">
                <a:sym typeface="+mn-ea"/>
              </a:rPr>
              <a:t>→</a:t>
            </a:r>
            <a:r>
              <a:rPr sz="3200" b="1">
                <a:sym typeface="+mn-ea"/>
              </a:rPr>
              <a:t>EB，E</a:t>
            </a:r>
            <a:r>
              <a:rPr b="1">
                <a:sym typeface="+mn-ea"/>
              </a:rPr>
              <a:t>→</a:t>
            </a:r>
            <a:r>
              <a:rPr sz="3200" b="1">
                <a:sym typeface="+mn-ea"/>
              </a:rPr>
              <a:t>C }。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3200" b="1">
                <a:sym typeface="+mn-ea"/>
              </a:rPr>
              <a:t>（1） R是否属于3NF？为什么？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3200" b="1">
                <a:sym typeface="+mn-ea"/>
              </a:rPr>
              <a:t>（2） R是否属于BCNF？为什么？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应用题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055" y="1765935"/>
            <a:ext cx="8484235" cy="4062095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已知银行企业的数据库由以下表组成：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①分行表 branch(branch-name, branch-city, assets)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②客户表 customer(customer-name , customer-street, customer-city 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③贷款明细表 loan(loan-number, branch-name, amount)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④客户贷款表 borrower(customer-name, loan-number)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⑤存款明细表 account(account-number, branch-name, balance 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⑥客户存款表 depositor(customer-name, account-number)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000" b="1">
                <a:sym typeface="+mn-ea"/>
              </a:rPr>
              <a:t>注：带下划线的属性为主码，假设客户的名字不相同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（1）用SQL语句创建表。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（2）使用关系代数和SQL语句找出在Brighton银行中有存款的所有客户的姓名、存款号、和存款额。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（3）使用关系代数和SQL语句找出账户平均余额小于5000元的支行，显示支行名称及账户平均余额。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（4）使用关系代数和SQL语句找出所有在银行中有贷款但无账户的客户。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1800" b="1">
                <a:sym typeface="+mn-ea"/>
              </a:rPr>
              <a:t>（5）使用关系代数和SQL语句对所有存款余额大于平均存款额的账户付3%的利息。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605" y="1736090"/>
            <a:ext cx="8392160" cy="435991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1）简述varchar与char的区别。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  </a:t>
            </a:r>
            <a:r>
              <a:rPr sz="2400" b="1">
                <a:sym typeface="+mn-ea"/>
              </a:rPr>
              <a:t>char是一种固定长度的</a:t>
            </a:r>
            <a:r>
              <a:rPr lang="zh-CN" sz="2400" b="1">
                <a:sym typeface="+mn-ea"/>
              </a:rPr>
              <a:t>字符</a:t>
            </a:r>
            <a:r>
              <a:rPr sz="2400" b="1">
                <a:sym typeface="+mn-ea"/>
              </a:rPr>
              <a:t>类型，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 </a:t>
            </a:r>
            <a:r>
              <a:rPr lang="en-US" sz="2400" b="1">
                <a:sym typeface="+mn-ea"/>
              </a:rPr>
              <a:t>   </a:t>
            </a:r>
            <a:r>
              <a:rPr sz="2400" b="1">
                <a:sym typeface="+mn-ea"/>
              </a:rPr>
              <a:t>varchar则是一种可变长度的</a:t>
            </a:r>
            <a:r>
              <a:rPr lang="zh-CN" sz="2400" b="1">
                <a:sym typeface="+mn-ea"/>
              </a:rPr>
              <a:t>字符</a:t>
            </a:r>
            <a:r>
              <a:rPr sz="2400" b="1">
                <a:sym typeface="+mn-ea"/>
              </a:rPr>
              <a:t>类型。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2）什么是数据库索引？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  </a:t>
            </a:r>
            <a:r>
              <a:rPr sz="2400" b="1">
                <a:sym typeface="+mn-ea"/>
              </a:rPr>
              <a:t>索引是一种数据结构</a:t>
            </a:r>
            <a:r>
              <a:rPr lang="zh-CN" sz="2400" b="1">
                <a:sym typeface="+mn-ea"/>
              </a:rPr>
              <a:t>，</a:t>
            </a:r>
            <a:r>
              <a:rPr sz="2400" b="1">
                <a:sym typeface="+mn-ea"/>
              </a:rPr>
              <a:t>是数据库管理系统中一个排序的数据结构，以协助快速查询、更新数据库表中数据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3</a:t>
            </a:r>
            <a:r>
              <a:rPr sz="2400" b="1">
                <a:sym typeface="+mn-ea"/>
              </a:rPr>
              <a:t>）事务的四种特性指的是什么？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     </a:t>
            </a:r>
            <a:r>
              <a:rPr sz="2400" b="1">
                <a:sym typeface="+mn-ea"/>
              </a:rPr>
              <a:t>原子性，一致性，隔离性，持久性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605" y="1736090"/>
            <a:ext cx="8392160" cy="435991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4</a:t>
            </a:r>
            <a:r>
              <a:rPr sz="2400" b="1">
                <a:sym typeface="+mn-ea"/>
              </a:rPr>
              <a:t>）在大学数据库中，用SQL语句查询名字中包含‘g’学生的学号、姓名。</a:t>
            </a:r>
          </a:p>
          <a:p>
            <a:pPr marL="0" indent="0">
              <a:buNone/>
            </a:pPr>
            <a:r>
              <a:rPr lang="zh-CN" altLang="en-US" sz="2400" b="1">
                <a:sym typeface="+mn-ea"/>
              </a:rPr>
              <a:t>Select ID, name from student where name like ‘%g%’;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5</a:t>
            </a:r>
            <a:r>
              <a:rPr sz="2400" b="1">
                <a:sym typeface="+mn-ea"/>
              </a:rPr>
              <a:t>）简述函数和触发器之间的异同。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 </a:t>
            </a:r>
            <a:r>
              <a:rPr sz="2400" b="1">
                <a:sym typeface="+mn-ea"/>
              </a:rPr>
              <a:t>函数和触发器都是存储在数据库当中的一段代码。差别是函数需要显式调用，有返回值，触发器需要有触发事件，系统自动调用，无返回值</a:t>
            </a:r>
            <a:r>
              <a:rPr lang="zh-CN" sz="2400" b="1">
                <a:sym typeface="+mn-ea"/>
              </a:rPr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6</a:t>
            </a:r>
            <a:r>
              <a:rPr sz="2400" b="1">
                <a:sym typeface="+mn-ea"/>
              </a:rPr>
              <a:t>）distinct的作用是什么？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删除查询结果中的重复记录</a:t>
            </a:r>
            <a:r>
              <a:rPr lang="zh-CN" altLang="en-US" sz="2400" b="1">
                <a:sym typeface="+mn-ea"/>
              </a:rPr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en-US" alt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605" y="1736090"/>
            <a:ext cx="8392160" cy="435991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7</a:t>
            </a:r>
            <a:r>
              <a:rPr sz="2400" b="1">
                <a:sym typeface="+mn-ea"/>
              </a:rPr>
              <a:t>）若关系R所有的属性都是不可再分的数据项，则该关系最低满足第几范式？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第一范式</a:t>
            </a:r>
            <a:endParaRPr lang="zh-CN" alt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endParaRPr 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8</a:t>
            </a:r>
            <a:r>
              <a:rPr sz="2400" b="1">
                <a:sym typeface="+mn-ea"/>
              </a:rPr>
              <a:t>）简述用户自定义的类型和域之间的差别。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400" b="1">
                <a:sym typeface="+mn-ea"/>
              </a:rPr>
              <a:t>答：</a:t>
            </a:r>
            <a:r>
              <a:rPr lang="en-US" sz="2400" b="1">
                <a:sym typeface="+mn-ea"/>
              </a:rPr>
              <a:t>类型是强类型检查，无法定义约束；域是弱类型检查，可以定义约束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en-US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9</a:t>
            </a:r>
            <a:r>
              <a:rPr sz="2400" b="1">
                <a:sym typeface="+mn-ea"/>
              </a:rPr>
              <a:t>）AB→C能蕴含A→C，B→C吗？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sz="2400" b="1">
                <a:sym typeface="+mn-ea"/>
              </a:rPr>
              <a:t>答：不能</a:t>
            </a:r>
            <a:endParaRPr sz="2400" b="1">
              <a:sym typeface="+mn-ea"/>
            </a:endParaRPr>
          </a:p>
          <a:p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835" y="1831975"/>
            <a:ext cx="8152765" cy="4264025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1、在学生表中，将学号（ID）和姓名（name）的组合设计为该表的主键是否合理？为什么？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zh-CN" sz="2400" b="1">
                <a:sym typeface="+mn-ea"/>
              </a:rPr>
              <a:t>答：不合理。因为这种情况下，允许有多个姓名不同的学生对应相同学号的情况。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zh-CN" sz="2400" b="1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>
                <a:sym typeface="+mn-ea"/>
              </a:rPr>
              <a:t>2</a:t>
            </a:r>
            <a:r>
              <a:rPr sz="2400" b="1">
                <a:sym typeface="+mn-ea"/>
              </a:rPr>
              <a:t>、如果张三想通过汇款的方式转给李四 200元。张三的账户已经减掉200美元后系统发生故障，并没有在李四账户中增加200美元，请问数据库出现了什么样的状态？这个问题该怎么解决？数据库通过什么手段实现该操作？</a:t>
            </a:r>
          </a:p>
          <a:p>
            <a:pPr marL="0" indent="0">
              <a:buNone/>
            </a:pPr>
            <a:r>
              <a:rPr lang="zh-CN" altLang="en-US" sz="2400" b="1">
                <a:sym typeface="+mn-ea"/>
              </a:rPr>
              <a:t>答：数据库处于不一致的状态。应该进行事务回滚，即将张三账户中减掉的200元再加回来。利用日志实现。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9860" y="1817370"/>
            <a:ext cx="8460740" cy="4278630"/>
          </a:xfrm>
        </p:spPr>
        <p:txBody>
          <a:bodyPr/>
          <a:lstStyle/>
          <a:p>
            <a:r>
              <a:rPr lang="en-US" sz="2400" b="1">
                <a:sym typeface="+mn-ea"/>
              </a:rPr>
              <a:t>3</a:t>
            </a:r>
            <a:r>
              <a:rPr sz="2400" b="1">
                <a:sym typeface="+mn-ea"/>
              </a:rPr>
              <a:t>、请用阿姆斯特朗三定律（分解律、增强律和传递律）证明合并律。每一步骤的依据。</a:t>
            </a:r>
          </a:p>
          <a:p>
            <a:endParaRPr lang="zh-CN" altLang="en-US" sz="2400" b="1">
              <a:sym typeface="+mn-ea"/>
            </a:endParaRPr>
          </a:p>
        </p:txBody>
      </p:sp>
      <p:pic>
        <p:nvPicPr>
          <p:cNvPr id="4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260" y="2997200"/>
            <a:ext cx="7886065" cy="277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065" y="1981200"/>
            <a:ext cx="8090535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 dirty="0" err="1">
                <a:sym typeface="+mn-ea"/>
              </a:rPr>
              <a:t>某汽车保险公司欲开发一套管理系统，其需要记录的数据如下</a:t>
            </a:r>
            <a:r>
              <a:rPr sz="2400" b="1" dirty="0">
                <a:sym typeface="+mn-ea"/>
              </a:rPr>
              <a:t>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 dirty="0">
                <a:sym typeface="+mn-ea"/>
              </a:rPr>
              <a:t>  </a:t>
            </a:r>
            <a:r>
              <a:rPr sz="2400" b="1" dirty="0" err="1">
                <a:sym typeface="+mn-ea"/>
              </a:rPr>
              <a:t>顾客：顾客ID、名字、家庭住址</a:t>
            </a:r>
            <a:r>
              <a:rPr sz="2400" b="1" dirty="0">
                <a:sym typeface="+mn-ea"/>
              </a:rPr>
              <a:t>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 dirty="0">
                <a:sym typeface="+mn-ea"/>
              </a:rPr>
              <a:t>  </a:t>
            </a:r>
            <a:r>
              <a:rPr sz="2400" b="1" dirty="0" err="1">
                <a:sym typeface="+mn-ea"/>
              </a:rPr>
              <a:t>汽车：汽车编号、类型、所有顾客ID</a:t>
            </a:r>
            <a:r>
              <a:rPr sz="2400" b="1" dirty="0">
                <a:sym typeface="+mn-ea"/>
              </a:rPr>
              <a:t>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 dirty="0">
                <a:sym typeface="+mn-ea"/>
              </a:rPr>
              <a:t>  </a:t>
            </a:r>
            <a:r>
              <a:rPr sz="2400" b="1" dirty="0" err="1">
                <a:sym typeface="+mn-ea"/>
              </a:rPr>
              <a:t>事故：事故编号、日期、位置</a:t>
            </a:r>
            <a:r>
              <a:rPr sz="2400" b="1" dirty="0">
                <a:sym typeface="+mn-ea"/>
              </a:rPr>
              <a:t>；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>
                <a:sym typeface="+mn-ea"/>
              </a:rPr>
              <a:t>  </a:t>
            </a:r>
            <a:r>
              <a:rPr sz="2400" b="1" dirty="0" err="1">
                <a:sym typeface="+mn-ea"/>
              </a:rPr>
              <a:t>保险赔付</a:t>
            </a:r>
            <a:r>
              <a:rPr sz="2400" b="1" dirty="0" smtClean="0">
                <a:sym typeface="+mn-ea"/>
              </a:rPr>
              <a:t>：</a:t>
            </a:r>
            <a:r>
              <a:rPr lang="zh-CN" altLang="en-US" sz="2400" b="1" dirty="0">
                <a:sym typeface="+mn-ea"/>
              </a:rPr>
              <a:t>赔付</a:t>
            </a:r>
            <a:r>
              <a:rPr sz="2400" b="1" dirty="0" err="1" smtClean="0">
                <a:sym typeface="+mn-ea"/>
              </a:rPr>
              <a:t>ID</a:t>
            </a:r>
            <a:r>
              <a:rPr sz="2400" b="1" dirty="0" err="1">
                <a:sym typeface="+mn-ea"/>
              </a:rPr>
              <a:t>、截止日期、金额、实际赔付日期</a:t>
            </a:r>
            <a:r>
              <a:rPr sz="2400" b="1" dirty="0">
                <a:sym typeface="+mn-ea"/>
              </a:rPr>
              <a:t>；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sz="2400" b="1" dirty="0">
                <a:sym typeface="+mn-ea"/>
              </a:rPr>
              <a:t>  </a:t>
            </a:r>
            <a:r>
              <a:rPr sz="2400" b="1" dirty="0" err="1">
                <a:sym typeface="+mn-ea"/>
              </a:rPr>
              <a:t>保险单：保险单号、</a:t>
            </a:r>
            <a:r>
              <a:rPr sz="2400" b="1" dirty="0" err="1" smtClean="0">
                <a:sym typeface="+mn-ea"/>
              </a:rPr>
              <a:t>保险赔付ID</a:t>
            </a:r>
            <a:r>
              <a:rPr sz="2400" b="1" dirty="0" smtClean="0">
                <a:sym typeface="+mn-ea"/>
              </a:rPr>
              <a:t>。</a:t>
            </a:r>
            <a:endParaRPr sz="2400" b="1" dirty="0">
              <a:sym typeface="+mn-ea"/>
            </a:endParaRP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 dirty="0">
                <a:sym typeface="+mn-ea"/>
              </a:rPr>
              <a:t>其中，每位顾客可以有1辆或多辆汽车；每辆汽车可以关联0个或者多个事故，每个事故可以关联1到多辆车；1个保险单可以覆盖1辆或多辆汽车，1辆车可以关联1到多个保险单；保险单可关联一个或多个保险赔付。</a:t>
            </a:r>
            <a:endParaRPr lang="zh-CN" altLang="en-US" sz="2400" b="1" dirty="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83568" y="1909281"/>
            <a:ext cx="8064895" cy="4400039"/>
            <a:chOff x="827584" y="2053297"/>
            <a:chExt cx="8064895" cy="4400039"/>
          </a:xfrm>
        </p:grpSpPr>
        <p:grpSp>
          <p:nvGrpSpPr>
            <p:cNvPr id="6" name="组合 5"/>
            <p:cNvGrpSpPr/>
            <p:nvPr/>
          </p:nvGrpSpPr>
          <p:grpSpPr>
            <a:xfrm>
              <a:off x="827584" y="2132856"/>
              <a:ext cx="1152128" cy="1292662"/>
              <a:chOff x="683568" y="2348880"/>
              <a:chExt cx="1152128" cy="1292662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683568" y="2348880"/>
                <a:ext cx="1152128" cy="369332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 smtClean="0"/>
                  <a:t>customer</a:t>
                </a:r>
                <a:endParaRPr lang="en-US" altLang="zh-CN" b="1" dirty="0" smtClean="0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683568" y="2718212"/>
                <a:ext cx="1152128" cy="92333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u="sng" dirty="0" smtClean="0"/>
                  <a:t>cust_id</a:t>
                </a:r>
                <a:r>
                  <a:rPr lang="zh-CN" altLang="en-US" dirty="0" smtClean="0"/>
                  <a:t> name</a:t>
                </a:r>
                <a:endParaRPr lang="en-US" altLang="zh-CN" dirty="0"/>
              </a:p>
              <a:p>
                <a:r>
                  <a:rPr lang="zh-CN" altLang="en-US" dirty="0" smtClean="0"/>
                  <a:t>address</a:t>
                </a:r>
                <a:endParaRPr lang="en-US" altLang="zh-CN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3995936" y="2053297"/>
              <a:ext cx="1152128" cy="1015663"/>
              <a:chOff x="3995936" y="2413337"/>
              <a:chExt cx="1152128" cy="1015663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3995936" y="2413337"/>
                <a:ext cx="1152128" cy="369332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car</a:t>
                </a:r>
                <a:endParaRPr lang="zh-CN" altLang="en-US" dirty="0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3995936" y="2782669"/>
                <a:ext cx="1152128" cy="64633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u="sng" dirty="0" smtClean="0"/>
                  <a:t>car</a:t>
                </a:r>
                <a:r>
                  <a:rPr lang="zh-CN" altLang="en-US" u="sng" dirty="0" smtClean="0"/>
                  <a:t>_no</a:t>
                </a:r>
                <a:endParaRPr lang="en-US" altLang="zh-CN" dirty="0" smtClean="0"/>
              </a:p>
              <a:p>
                <a:r>
                  <a:rPr lang="zh-CN" altLang="en-US" dirty="0"/>
                  <a:t>model</a:t>
                </a:r>
                <a:endParaRPr lang="en-US" altLang="zh-CN" dirty="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7164288" y="2132856"/>
              <a:ext cx="1152128" cy="1010658"/>
              <a:chOff x="7164288" y="2344593"/>
              <a:chExt cx="1152128" cy="1010658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7164288" y="2344593"/>
                <a:ext cx="1152128" cy="369332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/>
                  <a:t>policy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7164288" y="2708920"/>
                <a:ext cx="1152128" cy="64633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 smtClean="0"/>
                  <a:t>policy</a:t>
                </a:r>
                <a:r>
                  <a:rPr lang="en-US" altLang="zh-CN" dirty="0"/>
                  <a:t>_</a:t>
                </a:r>
                <a:r>
                  <a:rPr lang="en-US" altLang="zh-CN" dirty="0" smtClean="0"/>
                  <a:t>ID</a:t>
                </a:r>
              </a:p>
              <a:p>
                <a:pPr algn="ctr"/>
                <a:r>
                  <a:rPr lang="zh-CN" altLang="en-US" dirty="0"/>
                  <a:t>保险金额</a:t>
                </a:r>
                <a:endParaRPr lang="en-US" altLang="zh-CN" dirty="0" smtClean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923928" y="4869160"/>
              <a:ext cx="1419908" cy="1292662"/>
              <a:chOff x="3872172" y="2413337"/>
              <a:chExt cx="1419908" cy="1292662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3872172" y="2413337"/>
                <a:ext cx="1419908" cy="369332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accident</a:t>
                </a:r>
                <a:endParaRPr lang="zh-CN" altLang="en-US" dirty="0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872172" y="2782669"/>
                <a:ext cx="1419908" cy="92333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dirty="0" err="1" smtClean="0"/>
                  <a:t>Accident_ID</a:t>
                </a:r>
                <a:endParaRPr lang="en-US" altLang="zh-CN" dirty="0"/>
              </a:p>
              <a:p>
                <a:r>
                  <a:rPr lang="en-US" altLang="zh-CN" dirty="0" smtClean="0"/>
                  <a:t>date</a:t>
                </a:r>
              </a:p>
              <a:p>
                <a:r>
                  <a:rPr lang="en-US" altLang="zh-CN" dirty="0" smtClean="0"/>
                  <a:t>place</a:t>
                </a:r>
                <a:endParaRPr lang="en-US" altLang="zh-CN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948264" y="4872642"/>
              <a:ext cx="1656184" cy="1502066"/>
              <a:chOff x="3995936" y="2413337"/>
              <a:chExt cx="1152128" cy="1838557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3995936" y="2413337"/>
                <a:ext cx="1152128" cy="45206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payment</a:t>
                </a:r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3995936" y="2782669"/>
                <a:ext cx="1152128" cy="146922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pay_</a:t>
                </a:r>
                <a:r>
                  <a:rPr lang="en-US" altLang="zh-CN" dirty="0" smtClean="0"/>
                  <a:t>id</a:t>
                </a:r>
                <a:endParaRPr lang="en-US" altLang="zh-CN" dirty="0"/>
              </a:p>
              <a:p>
                <a:r>
                  <a:rPr lang="zh-CN" altLang="en-US" dirty="0" smtClean="0"/>
                  <a:t>due</a:t>
                </a:r>
                <a:r>
                  <a:rPr lang="zh-CN" altLang="en-US" dirty="0"/>
                  <a:t>_</a:t>
                </a:r>
                <a:r>
                  <a:rPr lang="zh-CN" altLang="en-US" dirty="0" smtClean="0"/>
                  <a:t>date amount </a:t>
                </a:r>
                <a:r>
                  <a:rPr lang="zh-CN" altLang="en-US" dirty="0"/>
                  <a:t>received_no</a:t>
                </a:r>
                <a:endParaRPr lang="en-US" altLang="zh-CN" dirty="0"/>
              </a:p>
            </p:txBody>
          </p:sp>
        </p:grpSp>
        <p:sp>
          <p:nvSpPr>
            <p:cNvPr id="11" name="菱形 10"/>
            <p:cNvSpPr/>
            <p:nvPr/>
          </p:nvSpPr>
          <p:spPr>
            <a:xfrm>
              <a:off x="2483768" y="2430180"/>
              <a:ext cx="1080120" cy="549775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owe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接箭头连接符 11"/>
            <p:cNvCxnSpPr>
              <a:stCxn id="11" idx="1"/>
            </p:cNvCxnSpPr>
            <p:nvPr/>
          </p:nvCxnSpPr>
          <p:spPr>
            <a:xfrm flipH="1">
              <a:off x="1979712" y="2705068"/>
              <a:ext cx="504056" cy="38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527884" y="2708920"/>
              <a:ext cx="4680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4" name="菱形 13"/>
            <p:cNvSpPr/>
            <p:nvPr/>
          </p:nvSpPr>
          <p:spPr>
            <a:xfrm>
              <a:off x="5544108" y="2420888"/>
              <a:ext cx="1332148" cy="549775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</a:rPr>
                <a:t>cover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stCxn id="14" idx="3"/>
            </p:cNvCxnSpPr>
            <p:nvPr/>
          </p:nvCxnSpPr>
          <p:spPr>
            <a:xfrm>
              <a:off x="6876256" y="2695776"/>
              <a:ext cx="288032" cy="3852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112112" y="2708920"/>
              <a:ext cx="4680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7" name="菱形 16"/>
            <p:cNvSpPr/>
            <p:nvPr/>
          </p:nvSpPr>
          <p:spPr>
            <a:xfrm>
              <a:off x="3527884" y="3671313"/>
              <a:ext cx="2196244" cy="549775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participate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菱形 17"/>
            <p:cNvSpPr/>
            <p:nvPr/>
          </p:nvSpPr>
          <p:spPr>
            <a:xfrm>
              <a:off x="6876256" y="3671313"/>
              <a:ext cx="1800200" cy="549775"/>
            </a:xfrm>
            <a:prstGeom prst="diamond">
              <a:avLst/>
            </a:prstGeom>
            <a:solidFill>
              <a:schemeClr val="bg1"/>
            </a:solidFill>
            <a:ln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</a:rPr>
                <a:t>pay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菱形 18"/>
            <p:cNvSpPr/>
            <p:nvPr/>
          </p:nvSpPr>
          <p:spPr>
            <a:xfrm>
              <a:off x="6660232" y="3598894"/>
              <a:ext cx="2232247" cy="701097"/>
            </a:xfrm>
            <a:prstGeom prst="diamond">
              <a:avLst/>
            </a:prstGeom>
            <a:noFill/>
            <a:ln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 flipV="1">
              <a:off x="7740352" y="3140968"/>
              <a:ext cx="0" cy="424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9" idx="2"/>
              <a:endCxn id="30" idx="0"/>
            </p:cNvCxnSpPr>
            <p:nvPr/>
          </p:nvCxnSpPr>
          <p:spPr>
            <a:xfrm>
              <a:off x="7776356" y="4299991"/>
              <a:ext cx="0" cy="572651"/>
            </a:xfrm>
            <a:prstGeom prst="line">
              <a:avLst/>
            </a:prstGeom>
            <a:ln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7795727" y="4293096"/>
              <a:ext cx="16633" cy="572651"/>
            </a:xfrm>
            <a:prstGeom prst="line">
              <a:avLst/>
            </a:prstGeom>
            <a:ln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6876256" y="4797152"/>
              <a:ext cx="1800200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>
              <a:stCxn id="37" idx="2"/>
              <a:endCxn id="17" idx="0"/>
            </p:cNvCxnSpPr>
            <p:nvPr/>
          </p:nvCxnSpPr>
          <p:spPr>
            <a:xfrm>
              <a:off x="4572000" y="3068960"/>
              <a:ext cx="54006" cy="6023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7" idx="2"/>
              <a:endCxn id="32" idx="0"/>
            </p:cNvCxnSpPr>
            <p:nvPr/>
          </p:nvCxnSpPr>
          <p:spPr>
            <a:xfrm>
              <a:off x="4626006" y="4221088"/>
              <a:ext cx="7876" cy="6480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644008" y="4221088"/>
              <a:ext cx="15752" cy="6480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5112112" y="2671416"/>
              <a:ext cx="4680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6804248" y="2671416"/>
              <a:ext cx="36004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527936" y="2680042"/>
              <a:ext cx="468000" cy="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065" y="1844824"/>
            <a:ext cx="8090535" cy="4114800"/>
          </a:xfrm>
        </p:spPr>
        <p:txBody>
          <a:bodyPr/>
          <a:lstStyle/>
          <a:p>
            <a:r>
              <a:rPr lang="zh-CN" altLang="en-US" sz="2800" dirty="0"/>
              <a:t>customer(</a:t>
            </a:r>
            <a:r>
              <a:rPr lang="zh-CN" altLang="en-US" sz="2800" u="sng" dirty="0"/>
              <a:t>customer_id,</a:t>
            </a:r>
            <a:r>
              <a:rPr lang="zh-CN" altLang="en-US" sz="2800" dirty="0"/>
              <a:t> name, address)</a:t>
            </a:r>
          </a:p>
          <a:p>
            <a:r>
              <a:rPr lang="zh-CN" altLang="en-US" sz="2800" dirty="0"/>
              <a:t>car</a:t>
            </a:r>
            <a:r>
              <a:rPr lang="zh-CN" altLang="en-US" sz="2800" dirty="0" smtClean="0"/>
              <a:t>(</a:t>
            </a:r>
            <a:r>
              <a:rPr lang="en-US" altLang="zh-CN" sz="2800" u="sng" dirty="0" smtClean="0"/>
              <a:t>car</a:t>
            </a:r>
            <a:r>
              <a:rPr lang="zh-CN" altLang="en-US" sz="2800" u="sng" dirty="0" smtClean="0"/>
              <a:t>_</a:t>
            </a:r>
            <a:r>
              <a:rPr lang="zh-CN" altLang="en-US" sz="2800" u="sng" dirty="0"/>
              <a:t>no,</a:t>
            </a:r>
            <a:r>
              <a:rPr lang="zh-CN" altLang="en-US" sz="2800" dirty="0"/>
              <a:t> model, customer_id)</a:t>
            </a:r>
          </a:p>
          <a:p>
            <a:r>
              <a:rPr lang="zh-CN" altLang="en-US" sz="2800" dirty="0"/>
              <a:t>policy(policy_id, </a:t>
            </a:r>
            <a:r>
              <a:rPr lang="zh-CN" altLang="en-US" sz="2800" dirty="0" smtClean="0"/>
              <a:t>保险金额</a:t>
            </a:r>
            <a:r>
              <a:rPr lang="zh-CN" altLang="en-US" sz="2800" dirty="0" smtClean="0"/>
              <a:t>)</a:t>
            </a:r>
            <a:endParaRPr lang="zh-CN" altLang="en-US" sz="2800" dirty="0"/>
          </a:p>
          <a:p>
            <a:r>
              <a:rPr lang="zh-CN" altLang="en-US" sz="2800" dirty="0"/>
              <a:t>accident</a:t>
            </a:r>
            <a:r>
              <a:rPr lang="zh-CN" altLang="en-US" sz="2800" dirty="0"/>
              <a:t>(</a:t>
            </a:r>
            <a:r>
              <a:rPr lang="zh-CN" altLang="en-US" sz="2800" dirty="0" smtClean="0"/>
              <a:t>accident_</a:t>
            </a:r>
            <a:r>
              <a:rPr lang="zh-CN" altLang="en-US" sz="2800" dirty="0"/>
              <a:t>id, date, place</a:t>
            </a:r>
            <a:r>
              <a:rPr lang="zh-CN" altLang="en-US" sz="2800" dirty="0" smtClean="0"/>
              <a:t>)</a:t>
            </a:r>
            <a:endParaRPr lang="en-US" altLang="zh-CN" sz="2800" dirty="0" smtClean="0"/>
          </a:p>
          <a:p>
            <a:endParaRPr lang="zh-CN" altLang="en-US" sz="1400" dirty="0"/>
          </a:p>
          <a:p>
            <a:r>
              <a:rPr lang="zh-CN" altLang="en-US" sz="2800" dirty="0" smtClean="0"/>
              <a:t>participat(</a:t>
            </a:r>
            <a:r>
              <a:rPr lang="en-US" altLang="zh-CN" sz="2800" dirty="0" smtClean="0"/>
              <a:t>car</a:t>
            </a:r>
            <a:r>
              <a:rPr lang="zh-CN" altLang="en-US" sz="2800" dirty="0" smtClean="0"/>
              <a:t>_</a:t>
            </a:r>
            <a:r>
              <a:rPr lang="zh-CN" altLang="en-US" sz="2800" dirty="0"/>
              <a:t>no</a:t>
            </a:r>
            <a:r>
              <a:rPr lang="zh-CN" altLang="en-US" sz="2800" dirty="0"/>
              <a:t>， accident _</a:t>
            </a:r>
            <a:r>
              <a:rPr lang="zh-CN" altLang="en-US" sz="2800" dirty="0"/>
              <a:t>id</a:t>
            </a:r>
            <a:r>
              <a:rPr lang="zh-CN" altLang="en-US" sz="2800" dirty="0" smtClean="0"/>
              <a:t>)</a:t>
            </a:r>
            <a:endParaRPr lang="en-US" altLang="zh-CN" sz="2800" dirty="0" smtClean="0"/>
          </a:p>
          <a:p>
            <a:r>
              <a:rPr lang="zh-CN" altLang="en-US" sz="2800" dirty="0"/>
              <a:t>cover(</a:t>
            </a:r>
            <a:r>
              <a:rPr lang="en-US" altLang="zh-CN" sz="2800" dirty="0"/>
              <a:t>car</a:t>
            </a:r>
            <a:r>
              <a:rPr lang="zh-CN" altLang="en-US" sz="2800" dirty="0"/>
              <a:t>_no, policy_id</a:t>
            </a:r>
            <a:r>
              <a:rPr lang="zh-CN" altLang="en-US" sz="2800" dirty="0" smtClean="0"/>
              <a:t>)</a:t>
            </a:r>
            <a:endParaRPr lang="zh-CN" altLang="en-US" sz="2800" dirty="0"/>
          </a:p>
          <a:p>
            <a:r>
              <a:rPr lang="zh-CN" altLang="en-US" sz="2800" dirty="0" smtClean="0"/>
              <a:t>payment</a:t>
            </a:r>
            <a:r>
              <a:rPr lang="zh-CN" altLang="en-US" sz="2800" dirty="0"/>
              <a:t>(</a:t>
            </a:r>
            <a:r>
              <a:rPr lang="zh-CN" altLang="en-US" sz="2800" dirty="0" smtClean="0"/>
              <a:t>pay_</a:t>
            </a:r>
            <a:r>
              <a:rPr lang="en-US" altLang="zh-CN" sz="2800" dirty="0" smtClean="0"/>
              <a:t>id</a:t>
            </a:r>
            <a:r>
              <a:rPr lang="zh-CN" altLang="en-US" sz="2800" dirty="0" smtClean="0"/>
              <a:t>, </a:t>
            </a:r>
            <a:r>
              <a:rPr lang="zh-CN" altLang="en-US" sz="2800" dirty="0"/>
              <a:t>due_date, amount</a:t>
            </a:r>
            <a:r>
              <a:rPr lang="zh-CN" altLang="en-US" sz="2800" dirty="0" smtClean="0"/>
              <a:t>, received_</a:t>
            </a:r>
            <a:r>
              <a:rPr lang="en-US" altLang="zh-CN" sz="2800" dirty="0" smtClean="0"/>
              <a:t>date,</a:t>
            </a:r>
            <a:r>
              <a:rPr lang="zh-CN" altLang="en-US" sz="2800" dirty="0" smtClean="0"/>
              <a:t> policy</a:t>
            </a:r>
            <a:r>
              <a:rPr lang="zh-CN" altLang="en-US" sz="2800" dirty="0"/>
              <a:t>_id)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640" y="1981200"/>
            <a:ext cx="8188960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设有属于1NF的关系模式R=（A, B, C, D, E），R上的函数依赖集</a:t>
            </a:r>
            <a:r>
              <a:rPr sz="2800" b="1">
                <a:sym typeface="+mn-ea"/>
              </a:rPr>
              <a:t>F={ BC→AD，AD→EB，E→C }</a:t>
            </a:r>
            <a:r>
              <a:rPr sz="2800" b="1"/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（1） R是否属于3NF？为什么？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（2） R是否属于BCNF？为什么？</a:t>
            </a:r>
          </a:p>
          <a:p>
            <a:pPr marL="0" indent="0" fontAlgn="base">
              <a:lnSpc>
                <a:spcPct val="90000"/>
              </a:lnSpc>
              <a:buNone/>
            </a:pPr>
            <a:endParaRPr lang="zh-CN" altLang="en-US" sz="2800" b="1"/>
          </a:p>
          <a:p>
            <a:pPr marL="0" indent="0" fontAlgn="base">
              <a:lnSpc>
                <a:spcPct val="90000"/>
              </a:lnSpc>
              <a:buNone/>
            </a:pPr>
            <a:r>
              <a:rPr lang="zh-CN" altLang="en-US" sz="2800" b="1"/>
              <a:t>答题要点：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）找出所有的候选码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lang="en-US" altLang="zh-CN" sz="2800" b="1"/>
              <a:t>2</a:t>
            </a:r>
            <a:r>
              <a:rPr lang="zh-CN" altLang="en-US" sz="2800" b="1"/>
              <a:t>）根据定义进行判断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640" y="1981200"/>
            <a:ext cx="8188960" cy="4114800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设有属于1NF的关系模式R=（A, B, C, D, E），R上的函数依赖集</a:t>
            </a:r>
            <a:r>
              <a:rPr sz="2800" b="1">
                <a:sym typeface="+mn-ea"/>
              </a:rPr>
              <a:t>F={ BC→AD，AD→EB，E→C }</a:t>
            </a:r>
            <a:r>
              <a:rPr sz="2800" b="1"/>
              <a:t>。</a:t>
            </a:r>
          </a:p>
          <a:p>
            <a:pPr marL="0" indent="0" fontAlgn="base">
              <a:lnSpc>
                <a:spcPct val="90000"/>
              </a:lnSpc>
              <a:buNone/>
            </a:pPr>
            <a:endParaRPr sz="2800" b="1"/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（1）</a:t>
            </a:r>
            <a:r>
              <a:rPr lang="zh-CN" sz="2800" b="1"/>
              <a:t>关系模式</a:t>
            </a:r>
            <a:r>
              <a:rPr lang="en-US" altLang="zh-CN" sz="2800" b="1"/>
              <a:t>R</a:t>
            </a:r>
            <a:r>
              <a:rPr lang="zh-CN" altLang="en-US" sz="2800" b="1"/>
              <a:t>的所有候选码为：</a:t>
            </a:r>
            <a:r>
              <a:rPr lang="en-US" sz="2800" b="1"/>
              <a:t>  </a:t>
            </a:r>
            <a:r>
              <a:rPr sz="2800" b="1"/>
              <a:t>BC, AD, BE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/>
              <a:t>（2） </a:t>
            </a:r>
            <a:r>
              <a:rPr lang="zh-CN" sz="2800" b="1"/>
              <a:t>函数依赖集</a:t>
            </a:r>
            <a:r>
              <a:rPr lang="en-US" altLang="zh-CN" sz="2800" b="1"/>
              <a:t>F</a:t>
            </a:r>
            <a:r>
              <a:rPr lang="zh-CN" altLang="en-US" sz="2800" b="1"/>
              <a:t>中，</a:t>
            </a:r>
            <a:r>
              <a:rPr sz="2800" b="1"/>
              <a:t>所有</a:t>
            </a:r>
            <a:r>
              <a:rPr lang="zh-CN" sz="2800" b="1"/>
              <a:t>的右部</a:t>
            </a:r>
            <a:r>
              <a:rPr sz="2800" b="1"/>
              <a:t>属性都</a:t>
            </a:r>
            <a:r>
              <a:rPr lang="zh-CN" sz="2800" b="1"/>
              <a:t>在</a:t>
            </a:r>
            <a:r>
              <a:rPr sz="2800" b="1"/>
              <a:t>某个候选码的属性</a:t>
            </a:r>
            <a:r>
              <a:rPr lang="zh-CN" sz="2800" b="1"/>
              <a:t>当中</a:t>
            </a:r>
            <a:r>
              <a:rPr sz="2800" b="1"/>
              <a:t>，显然是3NF。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800" b="1">
                <a:sym typeface="+mn-ea"/>
              </a:rPr>
              <a:t>（</a:t>
            </a:r>
            <a:r>
              <a:rPr lang="en-US" sz="2800" b="1">
                <a:sym typeface="+mn-ea"/>
              </a:rPr>
              <a:t>3</a:t>
            </a:r>
            <a:r>
              <a:rPr sz="2800" b="1">
                <a:sym typeface="+mn-ea"/>
              </a:rPr>
              <a:t>） E－&gt;C非平凡依赖， 而E不是R的一个超码，</a:t>
            </a:r>
            <a:r>
              <a:rPr lang="zh-CN" sz="2800" b="1">
                <a:sym typeface="+mn-ea"/>
              </a:rPr>
              <a:t>因此</a:t>
            </a:r>
            <a:r>
              <a:rPr sz="2800" b="1">
                <a:sym typeface="+mn-ea"/>
              </a:rPr>
              <a:t>R不属于BCNF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5340" y="1871345"/>
            <a:ext cx="7539990" cy="4224655"/>
          </a:xfrm>
        </p:spPr>
        <p:txBody>
          <a:bodyPr/>
          <a:lstStyle/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（1）用SQL语句创建表。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（2）使用关系代数和SQL语句找出在Brighton银行中有存款的所有客户的姓名、存款号、和存款额。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（3）使用关系代数和SQL语句找出账户平均余额小于5000元的支行，显示支行名称及账户平均余额。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（4）使用关系代数和SQL语句找出所有在银行中有贷款但无账户的客户。</a:t>
            </a:r>
          </a:p>
          <a:p>
            <a:pPr marL="0" indent="0" fontAlgn="base">
              <a:lnSpc>
                <a:spcPct val="90000"/>
              </a:lnSpc>
              <a:buNone/>
            </a:pPr>
            <a:r>
              <a:rPr sz="2400" b="1">
                <a:sym typeface="+mn-ea"/>
              </a:rPr>
              <a:t>（5）使用关系代数和SQL语句对所有存款余额大于平均存款额的账户付3%的利息。</a:t>
            </a: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3060" y="1789430"/>
            <a:ext cx="8420100" cy="4306570"/>
          </a:xfrm>
        </p:spPr>
        <p:txBody>
          <a:bodyPr/>
          <a:lstStyle/>
          <a:p>
            <a:pPr marL="0" indent="0">
              <a:buNone/>
            </a:pPr>
            <a:r>
              <a:rPr b="1">
                <a:sym typeface="+mn-ea"/>
              </a:rPr>
              <a:t>（1）用SQL语句创建表。</a:t>
            </a:r>
          </a:p>
          <a:p>
            <a:pPr marL="0" indent="0">
              <a:buNone/>
            </a:pPr>
            <a:r>
              <a:rPr lang="zh-CN" altLang="en-US"/>
              <a:t>create table  branch (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branch-name char(15)</a:t>
            </a:r>
            <a:r>
              <a:rPr lang="en-US" altLang="zh-CN"/>
              <a:t> 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primary key</a:t>
            </a:r>
            <a:r>
              <a:rPr lang="zh-CN" altLang="en-US"/>
              <a:t>, 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branch-city char(30), 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assets numeric(16,2),</a:t>
            </a:r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primary key(branch-name)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545" y="1769745"/>
            <a:ext cx="8286115" cy="4326255"/>
          </a:xfrm>
        </p:spPr>
        <p:txBody>
          <a:bodyPr/>
          <a:lstStyle/>
          <a:p>
            <a:pPr marL="0" indent="0">
              <a:buNone/>
            </a:pPr>
            <a:r>
              <a:rPr lang="zh-CN" sz="2800" b="1">
                <a:sym typeface="+mn-ea"/>
              </a:rPr>
              <a:t>（</a:t>
            </a:r>
            <a:r>
              <a:rPr lang="en-US" altLang="zh-CN" sz="2800" b="1">
                <a:sym typeface="+mn-ea"/>
              </a:rPr>
              <a:t>2</a:t>
            </a:r>
            <a:r>
              <a:rPr lang="zh-CN" altLang="en-US" sz="2800" b="1">
                <a:sym typeface="+mn-ea"/>
              </a:rPr>
              <a:t>）</a:t>
            </a:r>
            <a:r>
              <a:rPr sz="2800" b="1">
                <a:sym typeface="+mn-ea"/>
              </a:rPr>
              <a:t>使用关系代数和SQL语句找出在Brighton银行中有存款的所有客户的姓名、存款号、和存款额。</a:t>
            </a:r>
          </a:p>
          <a:p>
            <a:pPr marL="0" indent="0">
              <a:buNone/>
            </a:pPr>
            <a:endParaRPr lang="zh-CN" altLang="en-US" sz="2800" b="1">
              <a:sym typeface="+mn-ea"/>
            </a:endParaRPr>
          </a:p>
          <a:p>
            <a:pPr marL="0" indent="0">
              <a:buNone/>
            </a:pPr>
            <a:endParaRPr lang="zh-CN" altLang="en-US" sz="2800" b="1">
              <a:sym typeface="+mn-ea"/>
            </a:endParaRPr>
          </a:p>
          <a:p>
            <a:pPr marL="0" indent="0">
              <a:buNone/>
            </a:pPr>
            <a:r>
              <a:rPr lang="en-US" altLang="zh-CN" sz="24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select customer-name, depositor. account-number, balance </a:t>
            </a:r>
          </a:p>
          <a:p>
            <a:pPr marL="0" indent="0">
              <a:buNone/>
            </a:pPr>
            <a:r>
              <a:rPr lang="zh-CN" altLang="en-US" sz="2000" b="1">
                <a:sym typeface="+mn-ea"/>
              </a:rPr>
              <a:t> from depositor, account </a:t>
            </a:r>
          </a:p>
          <a:p>
            <a:pPr marL="0" indent="0">
              <a:buNone/>
            </a:pP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where depositor. account-number= account. account-number </a:t>
            </a:r>
          </a:p>
          <a:p>
            <a:pPr marL="0" indent="0">
              <a:buNone/>
            </a:pPr>
            <a:r>
              <a:rPr lang="zh-CN" altLang="en-US" sz="2000" b="1">
                <a:sym typeface="+mn-ea"/>
              </a:rPr>
              <a:t> </a:t>
            </a:r>
            <a:r>
              <a:rPr lang="en-US" altLang="zh-CN" sz="2000" b="1">
                <a:sym typeface="+mn-ea"/>
              </a:rPr>
              <a:t>    </a:t>
            </a:r>
            <a:r>
              <a:rPr lang="zh-CN" altLang="en-US" sz="2000" b="1">
                <a:sym typeface="+mn-ea"/>
              </a:rPr>
              <a:t>and branch-name=</a:t>
            </a:r>
            <a:r>
              <a:rPr lang="en-US" altLang="zh-CN" sz="2000" b="1">
                <a:sym typeface="+mn-ea"/>
              </a:rPr>
              <a:t> ‘</a:t>
            </a:r>
            <a:r>
              <a:rPr lang="zh-CN" altLang="en-US" sz="2000" b="1">
                <a:sym typeface="+mn-ea"/>
              </a:rPr>
              <a:t>Brighton</a:t>
            </a:r>
            <a:r>
              <a:rPr lang="en-US" altLang="zh-CN" sz="2000" b="1">
                <a:sym typeface="+mn-ea"/>
              </a:rPr>
              <a:t>’ </a:t>
            </a:r>
            <a:r>
              <a:rPr lang="zh-CN" altLang="en-US" sz="2000" b="1">
                <a:sym typeface="+mn-ea"/>
              </a:rPr>
              <a:t>;</a:t>
            </a:r>
          </a:p>
        </p:txBody>
      </p:sp>
      <p:graphicFrame>
        <p:nvGraphicFramePr>
          <p:cNvPr id="4" name="对象 -2147482624"/>
          <p:cNvGraphicFramePr>
            <a:graphicFrameLocks noChangeAspect="1"/>
          </p:cNvGraphicFramePr>
          <p:nvPr/>
        </p:nvGraphicFramePr>
        <p:xfrm>
          <a:off x="429895" y="2853055"/>
          <a:ext cx="8130540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3" imgW="6591300" imgH="279400" progId="Equation.DSMT4">
                  <p:embed/>
                </p:oleObj>
              </mc:Choice>
              <mc:Fallback>
                <p:oleObj r:id="rId3" imgW="6591300" imgH="279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9895" y="2853055"/>
                        <a:ext cx="8130540" cy="392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3</a:t>
            </a:r>
            <a:r>
              <a:rPr lang="zh-CN" altLang="en-US" sz="2400" b="1"/>
              <a:t>）使用关系代数和SQL语句找出账户平均余额小于5000元的支行，显示支行名称及账户平均余额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select branch-name, avg(balance) </a:t>
            </a:r>
          </a:p>
          <a:p>
            <a:pPr marL="0" indent="0">
              <a:buNone/>
            </a:pPr>
            <a:r>
              <a:rPr lang="zh-CN" altLang="en-US" sz="2400" b="1"/>
              <a:t>from account </a:t>
            </a:r>
          </a:p>
          <a:p>
            <a:pPr marL="0" indent="0">
              <a:buNone/>
            </a:pPr>
            <a:r>
              <a:rPr lang="zh-CN" altLang="en-US" sz="2400" b="1"/>
              <a:t>group by branch-name </a:t>
            </a:r>
          </a:p>
          <a:p>
            <a:pPr marL="0" indent="0">
              <a:buNone/>
            </a:pPr>
            <a:r>
              <a:rPr lang="zh-CN" altLang="en-US" sz="2400" b="1"/>
              <a:t>having avg(balance)&lt;5000</a:t>
            </a:r>
          </a:p>
        </p:txBody>
      </p:sp>
      <p:graphicFrame>
        <p:nvGraphicFramePr>
          <p:cNvPr id="4" name="对象 -2147482623"/>
          <p:cNvGraphicFramePr>
            <a:graphicFrameLocks noChangeAspect="1"/>
          </p:cNvGraphicFramePr>
          <p:nvPr/>
        </p:nvGraphicFramePr>
        <p:xfrm>
          <a:off x="1043305" y="2997200"/>
          <a:ext cx="7258685" cy="45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3" imgW="3822700" imgH="241300" progId="Equation.DSMT4">
                  <p:embed/>
                </p:oleObj>
              </mc:Choice>
              <mc:Fallback>
                <p:oleObj r:id="rId3" imgW="3822700" imgH="241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305" y="2997200"/>
                        <a:ext cx="7258685" cy="457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4</a:t>
            </a:r>
            <a:r>
              <a:rPr lang="zh-CN" altLang="en-US" sz="2400" b="1"/>
              <a:t>）使用关系代数和SQL语句找出所有在银行中有贷款但无账户的客户。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select distinct customer-name </a:t>
            </a:r>
          </a:p>
          <a:p>
            <a:pPr marL="0" indent="0">
              <a:buNone/>
            </a:pPr>
            <a:r>
              <a:rPr lang="zh-CN" altLang="en-US" sz="2400" b="1"/>
              <a:t>from borrower </a:t>
            </a:r>
          </a:p>
          <a:p>
            <a:pPr marL="0" indent="0">
              <a:buNone/>
            </a:pPr>
            <a:r>
              <a:rPr lang="zh-CN" altLang="en-US" sz="2400" b="1"/>
              <a:t>where customer-name not in</a:t>
            </a:r>
          </a:p>
          <a:p>
            <a:pPr marL="0" indent="0">
              <a:buNone/>
            </a:pPr>
            <a:r>
              <a:rPr lang="zh-CN" altLang="en-US" sz="2400" b="1"/>
              <a:t> </a:t>
            </a:r>
            <a:r>
              <a:rPr lang="en-US" altLang="zh-CN" sz="2400" b="1"/>
              <a:t>      </a:t>
            </a:r>
            <a:r>
              <a:rPr lang="zh-CN" altLang="en-US" sz="2400" b="1"/>
              <a:t> (select customer-name from depositor)</a:t>
            </a:r>
          </a:p>
        </p:txBody>
      </p:sp>
      <p:graphicFrame>
        <p:nvGraphicFramePr>
          <p:cNvPr id="4" name="对象 -2147482622"/>
          <p:cNvGraphicFramePr>
            <a:graphicFrameLocks noChangeAspect="1"/>
          </p:cNvGraphicFramePr>
          <p:nvPr/>
        </p:nvGraphicFramePr>
        <p:xfrm>
          <a:off x="1010285" y="2925445"/>
          <a:ext cx="7538720" cy="63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3" imgW="3136900" imgH="266700" progId="Equation.DSMT4">
                  <p:embed/>
                </p:oleObj>
              </mc:Choice>
              <mc:Fallback>
                <p:oleObj r:id="rId3" imgW="3136900" imgH="2667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0285" y="2925445"/>
                        <a:ext cx="7538720" cy="633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试题讲解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5</a:t>
            </a:r>
            <a:r>
              <a:rPr lang="zh-CN" altLang="en-US" sz="2400" b="1"/>
              <a:t>）使用关系代数和SQL语句对所有存款余额大于平均存款额的账户增加3%的利息。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pPr marL="0" indent="0">
              <a:buNone/>
            </a:pPr>
            <a:endParaRPr lang="zh-CN" altLang="en-US" sz="2400" b="1"/>
          </a:p>
          <a:p>
            <a:pPr marL="0" indent="0">
              <a:buNone/>
            </a:pPr>
            <a:r>
              <a:rPr lang="zh-CN" altLang="en-US" sz="2400" b="1"/>
              <a:t>update account </a:t>
            </a:r>
          </a:p>
          <a:p>
            <a:pPr marL="0" indent="0">
              <a:buNone/>
            </a:pPr>
            <a:r>
              <a:rPr lang="zh-CN" altLang="en-US" sz="2400" b="1"/>
              <a:t>set balance=balance*1.03 </a:t>
            </a:r>
          </a:p>
          <a:p>
            <a:pPr marL="0" indent="0">
              <a:buNone/>
            </a:pPr>
            <a:r>
              <a:rPr lang="zh-CN" altLang="en-US" sz="2400" b="1"/>
              <a:t>where balance&gt;(select avg(balance) from account)</a:t>
            </a:r>
          </a:p>
        </p:txBody>
      </p:sp>
      <p:graphicFrame>
        <p:nvGraphicFramePr>
          <p:cNvPr id="4" name="对象 -2147482621"/>
          <p:cNvGraphicFramePr>
            <a:graphicFrameLocks noChangeAspect="1"/>
          </p:cNvGraphicFramePr>
          <p:nvPr/>
        </p:nvGraphicFramePr>
        <p:xfrm>
          <a:off x="1043305" y="2853055"/>
          <a:ext cx="73025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3" imgW="3860800" imgH="533400" progId="Equation.DSMT4">
                  <p:embed/>
                </p:oleObj>
              </mc:Choice>
              <mc:Fallback>
                <p:oleObj r:id="rId3" imgW="3860800" imgH="533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305" y="2853055"/>
                        <a:ext cx="730250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286000" y="4207510"/>
            <a:ext cx="5638800" cy="1278890"/>
          </a:xfrm>
        </p:spPr>
        <p:txBody>
          <a:bodyPr/>
          <a:lstStyle/>
          <a:p>
            <a:pPr algn="ctr"/>
            <a:r>
              <a:rPr lang="zh-CN" altLang="en-US"/>
              <a:t>吉林大学</a:t>
            </a:r>
          </a:p>
          <a:p>
            <a:pPr algn="ctr"/>
            <a:r>
              <a:rPr lang="zh-CN" altLang="en-US"/>
              <a:t>数据库系统原理教学团队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/>
              <a:t>预祝大家考试顺利！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UxZjBiZDIzZDlhMTFjNjc4NzE0NjNhNTM1NTBhMz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22,&quot;width&quot;:8306}"/>
</p:tagLst>
</file>

<file path=ppt/theme/theme1.xml><?xml version="1.0" encoding="utf-8"?>
<a:theme xmlns:a="http://schemas.openxmlformats.org/drawingml/2006/main" name="Axis">
  <a:themeElements>
    <a:clrScheme name="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22222"/>
      </a:accent4>
      <a:accent5>
        <a:srgbClr val="E2CAAA"/>
      </a:accent5>
      <a:accent6>
        <a:srgbClr val="B7B789"/>
      </a:accent6>
      <a:hlink>
        <a:srgbClr val="999933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8F8F8"/>
        </a:dk1>
        <a:lt1>
          <a:srgbClr val="330000"/>
        </a:lt1>
        <a:dk2>
          <a:srgbClr val="FFFFFF"/>
        </a:dk2>
        <a:lt2>
          <a:srgbClr val="080808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6D6D6"/>
        </a:accent4>
        <a:accent5>
          <a:srgbClr val="FFCAAA"/>
        </a:accent5>
        <a:accent6>
          <a:srgbClr val="B72D00"/>
        </a:accent6>
        <a:hlink>
          <a:srgbClr val="CC66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800000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666666"/>
        </a:accent2>
        <a:accent3>
          <a:srgbClr val="C1AAAA"/>
        </a:accent3>
        <a:accent4>
          <a:srgbClr val="D6D6D6"/>
        </a:accent4>
        <a:accent5>
          <a:srgbClr val="E2CAAA"/>
        </a:accent5>
        <a:accent6>
          <a:srgbClr val="5B5B5B"/>
        </a:accent6>
        <a:hlink>
          <a:srgbClr val="CC6600"/>
        </a:hlink>
        <a:folHlink>
          <a:srgbClr val="95A58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4BEE0"/>
        </a:dk1>
        <a:lt1>
          <a:srgbClr val="013253"/>
        </a:lt1>
        <a:dk2>
          <a:srgbClr val="FFFFFF"/>
        </a:dk2>
        <a:lt2>
          <a:srgbClr val="5F5F5F"/>
        </a:lt2>
        <a:accent1>
          <a:srgbClr val="588480"/>
        </a:accent1>
        <a:accent2>
          <a:srgbClr val="6600FF"/>
        </a:accent2>
        <a:accent3>
          <a:srgbClr val="AAADB4"/>
        </a:accent3>
        <a:accent4>
          <a:srgbClr val="8DA3C1"/>
        </a:accent4>
        <a:accent5>
          <a:srgbClr val="B5C2C1"/>
        </a:accent5>
        <a:accent6>
          <a:srgbClr val="5B00E5"/>
        </a:accent6>
        <a:hlink>
          <a:srgbClr val="CCCC0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3D4A1C"/>
        </a:lt1>
        <a:dk2>
          <a:srgbClr val="FFFFFF"/>
        </a:dk2>
        <a:lt2>
          <a:srgbClr val="003300"/>
        </a:lt2>
        <a:accent1>
          <a:srgbClr val="99CC00"/>
        </a:accent1>
        <a:accent2>
          <a:srgbClr val="669900"/>
        </a:accent2>
        <a:accent3>
          <a:srgbClr val="AFB2AA"/>
        </a:accent3>
        <a:accent4>
          <a:srgbClr val="D6D6D6"/>
        </a:accent4>
        <a:accent5>
          <a:srgbClr val="CAE2AA"/>
        </a:accent5>
        <a:accent6>
          <a:srgbClr val="5B8900"/>
        </a:accent6>
        <a:hlink>
          <a:srgbClr val="CC99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5D8C"/>
        </a:lt1>
        <a:dk2>
          <a:srgbClr val="FFFFFF"/>
        </a:dk2>
        <a:lt2>
          <a:srgbClr val="333333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6D6D6"/>
        </a:accent4>
        <a:accent5>
          <a:srgbClr val="AAE2CA"/>
        </a:accent5>
        <a:accent6>
          <a:srgbClr val="0089B7"/>
        </a:accent6>
        <a:hlink>
          <a:srgbClr val="FFCC00"/>
        </a:hlink>
        <a:folHlink>
          <a:srgbClr val="D8D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9AA"/>
        </a:accent5>
        <a:accent6>
          <a:srgbClr val="A661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A9A88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22222"/>
        </a:accent4>
        <a:accent5>
          <a:srgbClr val="E2CAAA"/>
        </a:accent5>
        <a:accent6>
          <a:srgbClr val="B7B789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194</TotalTime>
  <Words>1295</Words>
  <Application>Microsoft Office PowerPoint</Application>
  <PresentationFormat>全屏显示(4:3)</PresentationFormat>
  <Paragraphs>183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黑体</vt:lpstr>
      <vt:lpstr>华文彩云</vt:lpstr>
      <vt:lpstr>宋体</vt:lpstr>
      <vt:lpstr>Arial</vt:lpstr>
      <vt:lpstr>Times New Roman</vt:lpstr>
      <vt:lpstr>Wingdings</vt:lpstr>
      <vt:lpstr>Axis</vt:lpstr>
      <vt:lpstr>Equation.DSMT4</vt:lpstr>
      <vt:lpstr>数据库系统原理模拟试题</vt:lpstr>
      <vt:lpstr>简答题</vt:lpstr>
      <vt:lpstr>分析题</vt:lpstr>
      <vt:lpstr>设计题</vt:lpstr>
      <vt:lpstr>计算题</vt:lpstr>
      <vt:lpstr>应用题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试题讲解</vt:lpstr>
      <vt:lpstr>预祝大家考试顺利！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面向机器学习的数据库技术</dc:title>
  <dc:creator>qiuxm</dc:creator>
  <cp:lastModifiedBy>christine wang</cp:lastModifiedBy>
  <cp:revision>53</cp:revision>
  <dcterms:created xsi:type="dcterms:W3CDTF">2021-07-19T01:27:00Z</dcterms:created>
  <dcterms:modified xsi:type="dcterms:W3CDTF">2024-11-13T06:10:13Z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49C189DE5FBB4167BAD3A69A1E62EC1E</vt:lpwstr>
  </property>
</Properties>
</file>