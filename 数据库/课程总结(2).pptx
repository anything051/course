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448" r:id="rId3"/>
    <p:sldId id="453" r:id="rId4"/>
    <p:sldId id="454" r:id="rId5"/>
    <p:sldId id="456" r:id="rId6"/>
    <p:sldId id="461" r:id="rId7"/>
    <p:sldId id="462" r:id="rId8"/>
    <p:sldId id="463" r:id="rId9"/>
    <p:sldId id="452" r:id="rId10"/>
  </p:sldIdLst>
  <p:sldSz cx="9144000" cy="6858000" type="screen4x3"/>
  <p:notesSz cx="6858000" cy="9144000"/>
  <p:custDataLst>
    <p:tags r:id="rId15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CC"/>
    <a:srgbClr val="FFCCFF"/>
    <a:srgbClr val="CCECFF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0674"/>
    <p:restoredTop sz="97962"/>
  </p:normalViewPr>
  <p:slideViewPr>
    <p:cSldViewPr showGuides="1">
      <p:cViewPr varScale="1">
        <p:scale>
          <a:sx n="77" d="100"/>
          <a:sy n="77" d="100"/>
        </p:scale>
        <p:origin x="-510" y="-96"/>
      </p:cViewPr>
      <p:guideLst>
        <p:guide orient="horz" pos="2160"/>
        <p:guide pos="288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gs" Target="tags/tag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338" name="页眉占位符 1433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fontAlgn="base"/>
            <a:endParaRPr lang="zh-CN" altLang="en-US" sz="1200" strike="noStrike" noProof="1" dirty="0"/>
          </a:p>
        </p:txBody>
      </p:sp>
      <p:sp>
        <p:nvSpPr>
          <p:cNvPr id="14339" name="日期占位符 14338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 fontAlgn="base"/>
            <a:endParaRPr lang="zh-CN" altLang="en-US" sz="1200" strike="noStrike" noProof="1" dirty="0"/>
          </a:p>
        </p:txBody>
      </p:sp>
      <p:sp>
        <p:nvSpPr>
          <p:cNvPr id="3076" name="幻灯片图像占位符 14339"/>
          <p:cNvSpPr>
            <a:spLocks noRo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077" name="文本占位符 14340"/>
          <p:cNvSpPr>
            <a:spLocks noGrp="1"/>
          </p:cNvSpPr>
          <p:nvPr>
            <p:ph type="body" sz="quarter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0"/>
            <a:r>
              <a:rPr lang="zh-CN" altLang="en-US" dirty="0"/>
              <a:t>第二级</a:t>
            </a:r>
            <a:endParaRPr lang="zh-CN" altLang="en-US" dirty="0"/>
          </a:p>
          <a:p>
            <a:pPr lvl="2" indent="0"/>
            <a:r>
              <a:rPr lang="zh-CN" altLang="en-US" dirty="0"/>
              <a:t>第三级</a:t>
            </a:r>
            <a:endParaRPr lang="zh-CN" altLang="en-US" dirty="0"/>
          </a:p>
          <a:p>
            <a:pPr lvl="3" indent="0"/>
            <a:r>
              <a:rPr lang="zh-CN" altLang="en-US" dirty="0"/>
              <a:t>第四级</a:t>
            </a:r>
            <a:endParaRPr lang="zh-CN" altLang="en-US" dirty="0"/>
          </a:p>
          <a:p>
            <a:pPr lvl="4" indent="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4342" name="页脚占位符 14341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fontAlgn="base"/>
            <a:endParaRPr lang="zh-CN" altLang="en-US" sz="1200" strike="noStrike" noProof="1" dirty="0"/>
          </a:p>
        </p:txBody>
      </p:sp>
      <p:sp>
        <p:nvSpPr>
          <p:cNvPr id="14343" name="灯片编号占位符 14342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algn="r" fontAlgn="base"/>
            <a:fld id="{9A0DB2DC-4C9A-4742-B13C-FB6460FD3503}" type="slidenum">
              <a:rPr lang="zh-CN" altLang="en-US" sz="12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z="1200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lvl="0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PhAnim="0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050" name="组合 5125"/>
          <p:cNvGrpSpPr/>
          <p:nvPr/>
        </p:nvGrpSpPr>
        <p:grpSpPr>
          <a:xfrm>
            <a:off x="0" y="914400"/>
            <a:ext cx="8686800" cy="2514600"/>
            <a:chOff x="0" y="576"/>
            <a:chExt cx="5472" cy="1584"/>
          </a:xfrm>
        </p:grpSpPr>
        <p:sp>
          <p:nvSpPr>
            <p:cNvPr id="2051" name="椭圆 5126"/>
            <p:cNvSpPr/>
            <p:nvPr/>
          </p:nvSpPr>
          <p:spPr>
            <a:xfrm>
              <a:off x="144" y="576"/>
              <a:ext cx="1584" cy="1584"/>
            </a:xfrm>
            <a:prstGeom prst="ellipse">
              <a:avLst/>
            </a:prstGeom>
            <a:noFill/>
            <a:ln w="127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p>
              <a:pPr lvl="0" algn="ctr"/>
              <a:endParaRPr lang="zh-CN" altLang="zh-CN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52" name="矩形 5127"/>
            <p:cNvSpPr/>
            <p:nvPr/>
          </p:nvSpPr>
          <p:spPr>
            <a:xfrm>
              <a:off x="0" y="1056"/>
              <a:ext cx="2976" cy="720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wrap="none" anchor="ctr"/>
            <a:p>
              <a:pPr lvl="0" algn="ctr"/>
              <a:endPara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3" name="矩形 5128"/>
            <p:cNvSpPr/>
            <p:nvPr/>
          </p:nvSpPr>
          <p:spPr>
            <a:xfrm>
              <a:off x="2496" y="1056"/>
              <a:ext cx="2976" cy="720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/>
            <a:p>
              <a:pPr lvl="0" algn="ctr"/>
              <a:endPara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54" name="任意多边形 5129"/>
            <p:cNvSpPr/>
            <p:nvPr/>
          </p:nvSpPr>
          <p:spPr>
            <a:xfrm>
              <a:off x="384" y="960"/>
              <a:ext cx="144" cy="913"/>
            </a:xfrm>
            <a:custGeom>
              <a:avLst/>
              <a:gdLst/>
              <a:ahLst/>
              <a:cxnLst/>
              <a:pathLst>
                <a:path w="1000" h="1000">
                  <a:moveTo>
                    <a:pt x="1000" y="1000"/>
                  </a:moveTo>
                  <a:lnTo>
                    <a:pt x="0" y="1000"/>
                  </a:lnTo>
                  <a:lnTo>
                    <a:pt x="0" y="0"/>
                  </a:lnTo>
                  <a:lnTo>
                    <a:pt x="1000" y="0"/>
                  </a:lnTo>
                </a:path>
              </a:pathLst>
            </a:custGeom>
            <a:noFill/>
            <a:ln w="76200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5" name="任意多边形 5130"/>
            <p:cNvSpPr/>
            <p:nvPr/>
          </p:nvSpPr>
          <p:spPr>
            <a:xfrm>
              <a:off x="4944" y="762"/>
              <a:ext cx="165" cy="864"/>
            </a:xfrm>
            <a:custGeom>
              <a:avLst/>
              <a:gdLst/>
              <a:ahLst/>
              <a:cxnLst/>
              <a:pathLst>
                <a:path w="1000" h="1000">
                  <a:moveTo>
                    <a:pt x="0" y="0"/>
                  </a:moveTo>
                  <a:lnTo>
                    <a:pt x="1000" y="0"/>
                  </a:lnTo>
                  <a:lnTo>
                    <a:pt x="1000" y="1000"/>
                  </a:lnTo>
                  <a:lnTo>
                    <a:pt x="0" y="1000"/>
                  </a:lnTo>
                </a:path>
              </a:pathLst>
            </a:custGeom>
            <a:noFill/>
            <a:ln w="76200" cap="flat" cmpd="sng">
              <a:solidFill>
                <a:schemeClr val="accent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5122" name="副标题 5121"/>
          <p:cNvSpPr>
            <a:spLocks noGrp="1"/>
          </p:cNvSpPr>
          <p:nvPr>
            <p:ph type="subTitle" idx="1"/>
          </p:nvPr>
        </p:nvSpPr>
        <p:spPr>
          <a:xfrm>
            <a:off x="2286000" y="3581400"/>
            <a:ext cx="5638800" cy="19050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lvl1pPr marL="0" lvl="0" indent="0">
              <a:buClr>
                <a:schemeClr val="accent1"/>
              </a:buClr>
              <a:buSzPct val="70000"/>
              <a:buFont typeface="Wingdings" panose="05000000000000000000" pitchFamily="2" charset="2"/>
              <a:buNone/>
              <a:defRPr/>
            </a:lvl1pPr>
            <a:lvl2pPr marL="449580" lvl="1" indent="0" algn="ctr">
              <a:buClr>
                <a:schemeClr val="hlink"/>
              </a:buClr>
              <a:buSzPct val="65000"/>
              <a:buFont typeface="Wingdings" panose="05000000000000000000" pitchFamily="2" charset="2"/>
              <a:buNone/>
              <a:defRPr/>
            </a:lvl2pPr>
            <a:lvl3pPr marL="890905" lvl="2" indent="0" algn="ctr">
              <a:buClr>
                <a:schemeClr val="accent1"/>
              </a:buClr>
              <a:buSzPct val="70000"/>
              <a:buFont typeface="Wingdings" panose="05000000000000000000" pitchFamily="2" charset="2"/>
              <a:buNone/>
              <a:defRPr/>
            </a:lvl3pPr>
            <a:lvl4pPr marL="1295400" lvl="3" indent="0" algn="ctr">
              <a:buClr>
                <a:schemeClr val="hlink"/>
              </a:buClr>
              <a:buSzPct val="75000"/>
              <a:buFont typeface="Wingdings" panose="05000000000000000000" pitchFamily="2" charset="2"/>
              <a:buNone/>
              <a:defRPr/>
            </a:lvl4pPr>
            <a:lvl5pPr marL="1682750" lvl="4" indent="0" algn="ctr">
              <a:buClr>
                <a:schemeClr val="accent1"/>
              </a:buClr>
              <a:buSzPct val="70000"/>
              <a:buFont typeface="Wingdings" panose="05000000000000000000" pitchFamily="2" charset="2"/>
              <a:buNone/>
              <a:defRPr/>
            </a:lvl5pPr>
          </a:lstStyle>
          <a:p>
            <a:pPr lvl="0" fontAlgn="base"/>
            <a:r>
              <a:rPr lang="zh-CN" altLang="en-US" strike="noStrike" noProof="1" dirty="0"/>
              <a:t>单击此处编辑母版副标题样式</a:t>
            </a:r>
            <a:endParaRPr lang="zh-CN" altLang="en-US" strike="noStrike" noProof="1" dirty="0"/>
          </a:p>
        </p:txBody>
      </p:sp>
      <p:sp>
        <p:nvSpPr>
          <p:cNvPr id="5132" name="标题 5131"/>
          <p:cNvSpPr>
            <a:spLocks noGrp="1"/>
          </p:cNvSpPr>
          <p:nvPr>
            <p:ph type="ctrTitle"/>
          </p:nvPr>
        </p:nvSpPr>
        <p:spPr>
          <a:xfrm>
            <a:off x="838200" y="1443038"/>
            <a:ext cx="7086600" cy="16002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lvl="0">
              <a:buClrTx/>
              <a:buSzTx/>
              <a:buFontTx/>
              <a:defRPr/>
            </a:lvl1pPr>
          </a:lstStyle>
          <a:p>
            <a:pPr lvl="0" fontAlgn="base"/>
            <a:r>
              <a:rPr lang="zh-CN" altLang="en-US" strike="noStrike" noProof="1" dirty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5123" name="日期占位符 5122"/>
          <p:cNvSpPr>
            <a:spLocks noGrp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lvl1pPr>
              <a:defRPr sz="1000"/>
            </a:lvl1pPr>
          </a:lstStyle>
          <a:p>
            <a:pPr fontAlgn="base"/>
            <a:fld id="{BB962C8B-B14F-4D97-AF65-F5344CB8AC3E}" type="datetime1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5124" name="页脚占位符 5123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lvl1pPr algn="ctr">
              <a:defRPr sz="1000"/>
            </a:lvl1pPr>
          </a:lstStyle>
          <a:p>
            <a:pPr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5125" name="灯片编号占位符 5124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lvl1pPr algn="r">
              <a:defRPr sz="1000"/>
            </a:lvl1pPr>
          </a:lstStyle>
          <a:p>
            <a:pPr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49325" y="1981200"/>
            <a:ext cx="3754025" cy="4114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56575" y="1981200"/>
            <a:ext cx="3754025" cy="4114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90916" y="96838"/>
            <a:ext cx="1919684" cy="5999162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31863" y="96838"/>
            <a:ext cx="5647767" cy="5999162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/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4097"/>
          <p:cNvSpPr/>
          <p:nvPr/>
        </p:nvSpPr>
        <p:spPr>
          <a:xfrm>
            <a:off x="0" y="1377950"/>
            <a:ext cx="2133600" cy="101600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 wrap="none" anchor="ctr"/>
          <a:p>
            <a:pPr lvl="0" algn="ctr"/>
            <a:endParaRPr lang="zh-CN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27" name="矩形 4098"/>
          <p:cNvSpPr/>
          <p:nvPr/>
        </p:nvSpPr>
        <p:spPr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/>
          <a:p>
            <a:pPr lvl="0" algn="ctr"/>
            <a:endParaRPr lang="zh-CN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28" name="标题 4099"/>
          <p:cNvSpPr>
            <a:spLocks noGrp="1"/>
          </p:cNvSpPr>
          <p:nvPr>
            <p:ph type="title"/>
          </p:nvPr>
        </p:nvSpPr>
        <p:spPr>
          <a:xfrm>
            <a:off x="931863" y="96838"/>
            <a:ext cx="7158037" cy="1412875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9" name="文本占位符 4100"/>
          <p:cNvSpPr>
            <a:spLocks noGrp="1"/>
          </p:cNvSpPr>
          <p:nvPr>
            <p:ph type="body"/>
          </p:nvPr>
        </p:nvSpPr>
        <p:spPr>
          <a:xfrm>
            <a:off x="949325" y="1981200"/>
            <a:ext cx="7661275" cy="41148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439420"/>
            <a:r>
              <a:rPr lang="zh-CN" altLang="en-US" dirty="0"/>
              <a:t>第二级</a:t>
            </a:r>
            <a:endParaRPr lang="zh-CN" altLang="en-US" dirty="0"/>
          </a:p>
          <a:p>
            <a:pPr lvl="2" indent="-403225"/>
            <a:r>
              <a:rPr lang="zh-CN" altLang="en-US" dirty="0"/>
              <a:t>第三级</a:t>
            </a:r>
            <a:endParaRPr lang="zh-CN" altLang="en-US" dirty="0"/>
          </a:p>
          <a:p>
            <a:pPr lvl="3" indent="-386080"/>
            <a:r>
              <a:rPr lang="zh-CN" altLang="en-US" dirty="0"/>
              <a:t>第四级</a:t>
            </a:r>
            <a:endParaRPr lang="zh-CN" altLang="en-US" dirty="0"/>
          </a:p>
          <a:p>
            <a:pPr lvl="4" indent="-38735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102" name="日期占位符 4101"/>
          <p:cNvSpPr>
            <a:spLocks noGrp="1"/>
          </p:cNvSpPr>
          <p:nvPr>
            <p:ph type="dt" sz="half" idx="2"/>
          </p:nvPr>
        </p:nvSpPr>
        <p:spPr>
          <a:xfrm>
            <a:off x="94615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000"/>
            </a:lvl1pPr>
          </a:lstStyle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4103" name="页脚占位符 4102"/>
          <p:cNvSpPr>
            <a:spLocks noGrp="1"/>
          </p:cNvSpPr>
          <p:nvPr>
            <p:ph type="ftr" sz="quarter" idx="3"/>
          </p:nvPr>
        </p:nvSpPr>
        <p:spPr>
          <a:xfrm>
            <a:off x="33528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000"/>
            </a:lvl1pPr>
          </a:lstStyle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4104" name="灯片编号占位符 4103"/>
          <p:cNvSpPr>
            <a:spLocks noGrp="1"/>
          </p:cNvSpPr>
          <p:nvPr>
            <p:ph type="sldNum" sz="quarter" idx="4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000"/>
            </a:lvl1pPr>
          </a:lstStyle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1033" name="任意多边形 4104"/>
          <p:cNvSpPr/>
          <p:nvPr/>
        </p:nvSpPr>
        <p:spPr>
          <a:xfrm>
            <a:off x="838200" y="561975"/>
            <a:ext cx="152400" cy="1066800"/>
          </a:xfrm>
          <a:custGeom>
            <a:avLst/>
            <a:gdLst/>
            <a:ahLst/>
            <a:cxnLst/>
            <a:pathLst>
              <a:path w="1000" h="1000">
                <a:moveTo>
                  <a:pt x="1000" y="1000"/>
                </a:moveTo>
                <a:lnTo>
                  <a:pt x="0" y="1000"/>
                </a:ln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76200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34" name="任意多边形 4105"/>
          <p:cNvSpPr/>
          <p:nvPr/>
        </p:nvSpPr>
        <p:spPr>
          <a:xfrm>
            <a:off x="8262938" y="269875"/>
            <a:ext cx="152400" cy="1073150"/>
          </a:xfrm>
          <a:custGeom>
            <a:avLst/>
            <a:gdLst/>
            <a:ahLst/>
            <a:cxnLst/>
            <a:pathLst>
              <a:path w="1000" h="1000">
                <a:moveTo>
                  <a:pt x="0" y="0"/>
                </a:moveTo>
                <a:lnTo>
                  <a:pt x="1000" y="0"/>
                </a:lnTo>
                <a:lnTo>
                  <a:pt x="1000" y="1000"/>
                </a:lnTo>
                <a:lnTo>
                  <a:pt x="0" y="1000"/>
                </a:lnTo>
              </a:path>
            </a:pathLst>
          </a:custGeom>
          <a:noFill/>
          <a:ln w="7620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0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447675" lvl="0" indent="-447675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n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889000" lvl="1" indent="-43942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anose="05000000000000000000" pitchFamily="2" charset="2"/>
        <a:buChar char="¡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294130" lvl="2" indent="-403225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n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81480" lvl="3" indent="-38608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anose="05000000000000000000" pitchFamily="2" charset="2"/>
        <a:buChar char="¡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70100" lvl="4" indent="-38735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n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n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n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n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n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1307465" y="4011930"/>
            <a:ext cx="6473825" cy="1905000"/>
          </a:xfrm>
        </p:spPr>
        <p:txBody>
          <a:bodyPr/>
          <a:p>
            <a:r>
              <a:rPr lang="zh-CN" altLang="en-US"/>
              <a:t>学习通开设课程复习讨论专区，欢迎同学们在讨论专区提问，三位老师将统一在讨论区为大家答疑。</a:t>
            </a:r>
            <a:endParaRPr lang="en-US" altLang="zh-CN"/>
          </a:p>
        </p:txBody>
      </p:sp>
      <p:sp>
        <p:nvSpPr>
          <p:cNvPr id="3" name="标题 2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en-US" b="1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彩云" panose="02010800040101010101" charset="-122"/>
                <a:ea typeface="华文彩云" panose="02010800040101010101" charset="-122"/>
              </a:rPr>
              <a:t>数据库系统原理</a:t>
            </a:r>
            <a:r>
              <a:rPr lang="zh-CN" altLang="en-US" b="1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彩云" panose="02010800040101010101" charset="-122"/>
                <a:ea typeface="华文彩云" panose="02010800040101010101" charset="-122"/>
              </a:rPr>
              <a:t>课程总结</a:t>
            </a:r>
            <a:endParaRPr lang="zh-CN" altLang="en-US" b="1">
              <a:gradFill>
                <a:gsLst>
                  <a:gs pos="0">
                    <a:srgbClr val="E30000"/>
                  </a:gs>
                  <a:gs pos="100000">
                    <a:srgbClr val="760303"/>
                  </a:gs>
                </a:gsLst>
                <a:lin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彩云" panose="02010800040101010101" charset="-122"/>
              <a:ea typeface="华文彩云" panose="0201080004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知识点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fontAlgn="base">
              <a:lnSpc>
                <a:spcPct val="90000"/>
              </a:lnSpc>
            </a:pPr>
            <a:r>
              <a:rPr lang="zh-CN" altLang="en-US" sz="3200" b="1">
                <a:sym typeface="+mn-ea"/>
              </a:rPr>
              <a:t>第</a:t>
            </a:r>
            <a:r>
              <a:rPr lang="en-US" altLang="zh-CN" sz="3200" b="1">
                <a:sym typeface="+mn-ea"/>
              </a:rPr>
              <a:t>1</a:t>
            </a:r>
            <a:r>
              <a:rPr lang="zh-CN" altLang="en-US" sz="3200" b="1">
                <a:sym typeface="+mn-ea"/>
              </a:rPr>
              <a:t>章：基本概念</a:t>
            </a:r>
            <a:endParaRPr lang="zh-CN" altLang="en-US" sz="3200" b="1" strike="noStrike" noProof="1"/>
          </a:p>
          <a:p>
            <a:pPr fontAlgn="base">
              <a:lnSpc>
                <a:spcPct val="90000"/>
              </a:lnSpc>
            </a:pPr>
            <a:r>
              <a:rPr lang="zh-CN" altLang="en-US" sz="3200" b="1">
                <a:sym typeface="+mn-ea"/>
              </a:rPr>
              <a:t>第</a:t>
            </a:r>
            <a:r>
              <a:rPr lang="en-US" altLang="zh-CN" sz="3200" b="1">
                <a:sym typeface="+mn-ea"/>
              </a:rPr>
              <a:t>2,6</a:t>
            </a:r>
            <a:r>
              <a:rPr lang="zh-CN" altLang="en-US" sz="3200" b="1">
                <a:sym typeface="+mn-ea"/>
              </a:rPr>
              <a:t>章：关系代数表达式</a:t>
            </a:r>
            <a:endParaRPr lang="zh-CN" altLang="en-US" sz="3200" b="1">
              <a:sym typeface="+mn-ea"/>
            </a:endParaRPr>
          </a:p>
          <a:p>
            <a:pPr lvl="1" fontAlgn="base">
              <a:lnSpc>
                <a:spcPct val="90000"/>
              </a:lnSpc>
            </a:pPr>
            <a:r>
              <a:rPr lang="zh-CN" altLang="en-US" sz="3200" b="1">
                <a:sym typeface="+mn-ea"/>
              </a:rPr>
              <a:t>基本运算</a:t>
            </a:r>
            <a:endParaRPr lang="zh-CN" altLang="en-US" sz="3200" b="1">
              <a:sym typeface="+mn-ea"/>
            </a:endParaRPr>
          </a:p>
          <a:p>
            <a:pPr lvl="1" fontAlgn="base">
              <a:lnSpc>
                <a:spcPct val="90000"/>
              </a:lnSpc>
            </a:pPr>
            <a:r>
              <a:rPr lang="zh-CN" altLang="en-US" sz="3200" b="1">
                <a:sym typeface="+mn-ea"/>
              </a:rPr>
              <a:t>附加的关系代数运算</a:t>
            </a:r>
            <a:endParaRPr lang="zh-CN" altLang="en-US" sz="3200" b="1">
              <a:sym typeface="+mn-ea"/>
            </a:endParaRPr>
          </a:p>
          <a:p>
            <a:pPr lvl="1" fontAlgn="base">
              <a:lnSpc>
                <a:spcPct val="90000"/>
              </a:lnSpc>
            </a:pPr>
            <a:r>
              <a:rPr lang="zh-CN" altLang="en-US" sz="3200" b="1">
                <a:sym typeface="+mn-ea"/>
              </a:rPr>
              <a:t>扩展的关系代数运算</a:t>
            </a:r>
            <a:endParaRPr lang="zh-CN" altLang="en-US" sz="3200" b="1" strike="noStrike" noProof="1">
              <a:sym typeface="+mn-ea"/>
            </a:endParaRPr>
          </a:p>
          <a:p>
            <a:pPr fontAlgn="base">
              <a:lnSpc>
                <a:spcPct val="90000"/>
              </a:lnSpc>
            </a:pP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知识点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fontAlgn="base">
              <a:lnSpc>
                <a:spcPct val="90000"/>
              </a:lnSpc>
            </a:pPr>
            <a:r>
              <a:rPr lang="zh-CN" altLang="en-US" sz="3200" b="1">
                <a:sym typeface="+mn-ea"/>
              </a:rPr>
              <a:t>第</a:t>
            </a:r>
            <a:r>
              <a:rPr lang="en-US" altLang="zh-CN" sz="3200" b="1">
                <a:sym typeface="+mn-ea"/>
              </a:rPr>
              <a:t>3,4,5</a:t>
            </a:r>
            <a:r>
              <a:rPr lang="zh-CN" altLang="en-US" sz="3200" b="1">
                <a:sym typeface="+mn-ea"/>
              </a:rPr>
              <a:t>章：</a:t>
            </a:r>
            <a:r>
              <a:rPr lang="en-US" altLang="zh-CN" sz="3200" b="1">
                <a:sym typeface="+mn-ea"/>
              </a:rPr>
              <a:t>SQL</a:t>
            </a:r>
            <a:r>
              <a:rPr lang="zh-CN" altLang="en-US" sz="3200" b="1">
                <a:sym typeface="+mn-ea"/>
              </a:rPr>
              <a:t>语句</a:t>
            </a:r>
            <a:endParaRPr lang="zh-CN" altLang="en-US" sz="3200" b="1">
              <a:sym typeface="+mn-ea"/>
            </a:endParaRPr>
          </a:p>
          <a:p>
            <a:pPr lvl="1" fontAlgn="base">
              <a:lnSpc>
                <a:spcPct val="90000"/>
              </a:lnSpc>
            </a:pPr>
            <a:r>
              <a:rPr lang="en-US" altLang="zh-CN" sz="3200" b="1">
                <a:sym typeface="+mn-ea"/>
              </a:rPr>
              <a:t>DDL</a:t>
            </a:r>
            <a:r>
              <a:rPr lang="zh-CN" altLang="en-US" sz="3200" b="1">
                <a:sym typeface="+mn-ea"/>
              </a:rPr>
              <a:t>、</a:t>
            </a:r>
            <a:r>
              <a:rPr lang="en-US" altLang="zh-CN" sz="3200" b="1">
                <a:sym typeface="+mn-ea"/>
              </a:rPr>
              <a:t>DML</a:t>
            </a:r>
            <a:r>
              <a:rPr lang="zh-CN" altLang="en-US" sz="3200" b="1">
                <a:sym typeface="+mn-ea"/>
              </a:rPr>
              <a:t>、</a:t>
            </a:r>
            <a:r>
              <a:rPr lang="en-US" altLang="zh-CN" sz="3200" b="1">
                <a:sym typeface="+mn-ea"/>
              </a:rPr>
              <a:t>DCL</a:t>
            </a:r>
            <a:endParaRPr lang="en-US" altLang="zh-CN" sz="3200" b="1">
              <a:sym typeface="+mn-ea"/>
            </a:endParaRPr>
          </a:p>
          <a:p>
            <a:pPr lvl="1" fontAlgn="base">
              <a:lnSpc>
                <a:spcPct val="90000"/>
              </a:lnSpc>
            </a:pPr>
            <a:r>
              <a:rPr lang="en-US" altLang="zh-CN" sz="3200" b="1">
                <a:sym typeface="+mn-ea"/>
              </a:rPr>
              <a:t>SQL</a:t>
            </a:r>
            <a:r>
              <a:rPr lang="zh-CN" altLang="en-US" sz="3200" b="1">
                <a:sym typeface="+mn-ea"/>
              </a:rPr>
              <a:t>与集合运算、空值</a:t>
            </a:r>
            <a:endParaRPr lang="zh-CN" altLang="en-US" sz="3200" b="1">
              <a:sym typeface="+mn-ea"/>
            </a:endParaRPr>
          </a:p>
          <a:p>
            <a:pPr lvl="1" fontAlgn="base">
              <a:lnSpc>
                <a:spcPct val="90000"/>
              </a:lnSpc>
            </a:pPr>
            <a:r>
              <a:rPr lang="zh-CN" altLang="en-US" sz="3200" b="1">
                <a:sym typeface="+mn-ea"/>
              </a:rPr>
              <a:t>聚集函数、</a:t>
            </a:r>
            <a:r>
              <a:rPr lang="en-US" altLang="zh-CN" sz="3200" b="1">
                <a:sym typeface="+mn-ea"/>
              </a:rPr>
              <a:t>having </a:t>
            </a:r>
            <a:r>
              <a:rPr lang="zh-CN" altLang="en-US" sz="3200" b="1">
                <a:sym typeface="+mn-ea"/>
              </a:rPr>
              <a:t>、</a:t>
            </a:r>
            <a:r>
              <a:rPr lang="en-US" altLang="zh-CN" sz="3200" b="1">
                <a:sym typeface="+mn-ea"/>
              </a:rPr>
              <a:t>not exists</a:t>
            </a:r>
            <a:endParaRPr lang="en-US" altLang="zh-CN" sz="3200" b="1">
              <a:sym typeface="+mn-ea"/>
            </a:endParaRPr>
          </a:p>
          <a:p>
            <a:pPr lvl="1" fontAlgn="base">
              <a:lnSpc>
                <a:spcPct val="90000"/>
              </a:lnSpc>
            </a:pPr>
            <a:r>
              <a:rPr lang="zh-CN" altLang="en-US" sz="3200" b="1">
                <a:sym typeface="+mn-ea"/>
              </a:rPr>
              <a:t>嵌套子查询</a:t>
            </a:r>
            <a:endParaRPr lang="zh-CN" altLang="en-US" sz="3200" b="1">
              <a:sym typeface="+mn-ea"/>
            </a:endParaRPr>
          </a:p>
          <a:p>
            <a:pPr lvl="1" fontAlgn="base">
              <a:lnSpc>
                <a:spcPct val="90000"/>
              </a:lnSpc>
            </a:pPr>
            <a:r>
              <a:rPr lang="zh-CN" altLang="en-US" sz="3200" b="1">
                <a:sym typeface="+mn-ea"/>
              </a:rPr>
              <a:t>视图、可更新视图</a:t>
            </a:r>
            <a:endParaRPr lang="zh-CN" altLang="en-US" sz="3200" b="1">
              <a:sym typeface="+mn-ea"/>
            </a:endParaRPr>
          </a:p>
          <a:p>
            <a:pPr lvl="1" fontAlgn="base">
              <a:lnSpc>
                <a:spcPct val="90000"/>
              </a:lnSpc>
            </a:pPr>
            <a:r>
              <a:rPr lang="zh-CN" altLang="en-US" sz="3200" b="1">
                <a:sym typeface="+mn-ea"/>
              </a:rPr>
              <a:t>完整性约束</a:t>
            </a:r>
            <a:endParaRPr lang="zh-CN" altLang="en-US" sz="3200"/>
          </a:p>
          <a:p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知识点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fontAlgn="base">
              <a:lnSpc>
                <a:spcPct val="90000"/>
              </a:lnSpc>
            </a:pPr>
            <a:r>
              <a:rPr lang="zh-CN" altLang="en-US" sz="3200" b="1">
                <a:sym typeface="+mn-ea"/>
              </a:rPr>
              <a:t>第</a:t>
            </a:r>
            <a:r>
              <a:rPr lang="en-US" altLang="zh-CN" sz="3200" b="1">
                <a:sym typeface="+mn-ea"/>
              </a:rPr>
              <a:t>7</a:t>
            </a:r>
            <a:r>
              <a:rPr lang="zh-CN" altLang="en-US" sz="3200" b="1">
                <a:sym typeface="+mn-ea"/>
              </a:rPr>
              <a:t>章：</a:t>
            </a:r>
            <a:r>
              <a:rPr lang="en-US" altLang="zh-CN" sz="3200" b="1">
                <a:sym typeface="+mn-ea"/>
              </a:rPr>
              <a:t>ER</a:t>
            </a:r>
            <a:r>
              <a:rPr lang="zh-CN" altLang="en-US" sz="3200" b="1">
                <a:sym typeface="+mn-ea"/>
              </a:rPr>
              <a:t>模型设计，关系模型转换，</a:t>
            </a:r>
            <a:r>
              <a:rPr lang="en-US" altLang="zh-CN" sz="3200" b="1">
                <a:solidFill>
                  <a:srgbClr val="FF0000"/>
                </a:solidFill>
                <a:sym typeface="+mn-ea"/>
              </a:rPr>
              <a:t>ER</a:t>
            </a:r>
            <a:r>
              <a:rPr lang="zh-CN" altLang="en-US" sz="3200" b="1">
                <a:solidFill>
                  <a:srgbClr val="FF0000"/>
                </a:solidFill>
                <a:sym typeface="+mn-ea"/>
              </a:rPr>
              <a:t>图画完整</a:t>
            </a:r>
            <a:endParaRPr lang="zh-CN" altLang="en-US" sz="3200" b="1">
              <a:sym typeface="+mn-ea"/>
            </a:endParaRPr>
          </a:p>
          <a:p>
            <a:pPr lvl="1" fontAlgn="base">
              <a:lnSpc>
                <a:spcPct val="90000"/>
              </a:lnSpc>
            </a:pPr>
            <a:r>
              <a:rPr lang="zh-CN" altLang="en-US" sz="3200" b="1">
                <a:sym typeface="+mn-ea"/>
              </a:rPr>
              <a:t>实体集（弱实体集）、属性集、联系集（聚集、描述性属性）</a:t>
            </a:r>
            <a:endParaRPr lang="zh-CN" altLang="en-US" sz="3200" b="1">
              <a:sym typeface="+mn-ea"/>
            </a:endParaRPr>
          </a:p>
          <a:p>
            <a:pPr lvl="1" fontAlgn="base">
              <a:lnSpc>
                <a:spcPct val="90000"/>
              </a:lnSpc>
            </a:pPr>
            <a:r>
              <a:rPr lang="zh-CN" altLang="en-US" sz="3200" b="1">
                <a:sym typeface="+mn-ea"/>
              </a:rPr>
              <a:t>映射基数、参与约束、主键</a:t>
            </a:r>
            <a:endParaRPr lang="zh-CN" altLang="en-US" sz="3200" b="1">
              <a:sym typeface="+mn-ea"/>
            </a:endParaRPr>
          </a:p>
          <a:p>
            <a:pPr lvl="1" fontAlgn="base">
              <a:lnSpc>
                <a:spcPct val="90000"/>
              </a:lnSpc>
            </a:pPr>
            <a:r>
              <a:rPr lang="zh-CN" altLang="en-US" sz="3200" b="1">
                <a:sym typeface="+mn-ea"/>
              </a:rPr>
              <a:t>转换为关系模式</a:t>
            </a:r>
            <a:endParaRPr lang="zh-CN" altLang="en-US" sz="3200" b="1">
              <a:sym typeface="+mn-ea"/>
            </a:endParaRPr>
          </a:p>
          <a:p>
            <a:pPr lvl="2" fontAlgn="base">
              <a:lnSpc>
                <a:spcPct val="90000"/>
              </a:lnSpc>
            </a:pPr>
            <a:r>
              <a:rPr lang="zh-CN" altLang="en-US" sz="2800" b="1">
                <a:sym typeface="+mn-ea"/>
              </a:rPr>
              <a:t>强实体集（简单属性、复杂属性）、弱实体集、联系集（</a:t>
            </a:r>
            <a:r>
              <a:rPr lang="en-US" altLang="zh-CN" sz="2800" b="1">
                <a:sym typeface="+mn-ea"/>
              </a:rPr>
              <a:t>1:1</a:t>
            </a:r>
            <a:r>
              <a:rPr lang="zh-CN" altLang="en-US" sz="2800" b="1">
                <a:sym typeface="+mn-ea"/>
              </a:rPr>
              <a:t>、</a:t>
            </a:r>
            <a:r>
              <a:rPr lang="en-US" altLang="zh-CN" sz="2800" b="1">
                <a:sym typeface="+mn-ea"/>
              </a:rPr>
              <a:t>1:n</a:t>
            </a:r>
            <a:r>
              <a:rPr lang="zh-CN" altLang="en-US" sz="2800" b="1">
                <a:sym typeface="+mn-ea"/>
              </a:rPr>
              <a:t>、</a:t>
            </a:r>
            <a:r>
              <a:rPr lang="en-US" altLang="zh-CN" sz="2800" b="1">
                <a:sym typeface="+mn-ea"/>
              </a:rPr>
              <a:t>m:n</a:t>
            </a:r>
            <a:r>
              <a:rPr lang="zh-CN" altLang="en-US" sz="2800" b="1">
                <a:sym typeface="+mn-ea"/>
              </a:rPr>
              <a:t>）</a:t>
            </a:r>
            <a:endParaRPr lang="zh-CN" altLang="en-US" sz="2800" b="1"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知识点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fontAlgn="base">
              <a:lnSpc>
                <a:spcPct val="90000"/>
              </a:lnSpc>
            </a:pPr>
            <a:r>
              <a:rPr lang="zh-CN" altLang="en-US" sz="3200" b="1">
                <a:sym typeface="+mn-ea"/>
              </a:rPr>
              <a:t>第</a:t>
            </a:r>
            <a:r>
              <a:rPr lang="en-US" altLang="zh-CN" sz="3200" b="1">
                <a:sym typeface="+mn-ea"/>
              </a:rPr>
              <a:t>8</a:t>
            </a:r>
            <a:r>
              <a:rPr lang="zh-CN" altLang="en-US" sz="3200" b="1">
                <a:sym typeface="+mn-ea"/>
              </a:rPr>
              <a:t>章：数据的规范化</a:t>
            </a:r>
            <a:endParaRPr lang="zh-CN" altLang="en-US" sz="3200" b="1" strike="noStrike" noProof="1"/>
          </a:p>
          <a:p>
            <a:pPr lvl="1" algn="l" fontAlgn="base">
              <a:lnSpc>
                <a:spcPct val="90000"/>
              </a:lnSpc>
            </a:pPr>
            <a:r>
              <a:rPr lang="zh-CN" altLang="en-US" sz="3200" b="1">
                <a:sym typeface="+mn-ea"/>
              </a:rPr>
              <a:t>函数依赖，属性闭包，正则覆盖</a:t>
            </a:r>
            <a:endParaRPr lang="zh-CN" altLang="en-US" sz="3200" b="1"/>
          </a:p>
          <a:p>
            <a:pPr lvl="1" fontAlgn="base">
              <a:lnSpc>
                <a:spcPct val="90000"/>
              </a:lnSpc>
            </a:pPr>
            <a:r>
              <a:rPr lang="en-US" altLang="zh-CN" sz="3200" b="1">
                <a:sym typeface="+mn-ea"/>
              </a:rPr>
              <a:t>BCNF</a:t>
            </a:r>
            <a:r>
              <a:rPr lang="zh-CN" altLang="en-US" sz="3200" b="1">
                <a:sym typeface="+mn-ea"/>
              </a:rPr>
              <a:t>的判定与分解（</a:t>
            </a:r>
            <a:r>
              <a:rPr lang="en-US" altLang="zh-CN" sz="3200" b="1">
                <a:sym typeface="+mn-ea"/>
              </a:rPr>
              <a:t>NP</a:t>
            </a:r>
            <a:r>
              <a:rPr lang="zh-CN" altLang="en-US" sz="3200" b="1">
                <a:sym typeface="+mn-ea"/>
              </a:rPr>
              <a:t>问题），</a:t>
            </a:r>
            <a:r>
              <a:rPr lang="en-US" altLang="zh-CN" sz="3200" b="1">
                <a:sym typeface="+mn-ea"/>
              </a:rPr>
              <a:t>3NF</a:t>
            </a:r>
            <a:r>
              <a:rPr lang="zh-CN" altLang="en-US" sz="3200" b="1">
                <a:sym typeface="+mn-ea"/>
              </a:rPr>
              <a:t>的判定（</a:t>
            </a:r>
            <a:r>
              <a:rPr lang="en-US" altLang="zh-CN" sz="3200" b="1">
                <a:sym typeface="+mn-ea"/>
              </a:rPr>
              <a:t>NP</a:t>
            </a:r>
            <a:r>
              <a:rPr lang="zh-CN" altLang="en-US" sz="3200" b="1">
                <a:sym typeface="+mn-ea"/>
              </a:rPr>
              <a:t>问题）与分解</a:t>
            </a:r>
            <a:endParaRPr lang="zh-CN" altLang="en-US" sz="3200" b="1" strike="noStrike" noProof="1"/>
          </a:p>
          <a:p>
            <a:pPr lvl="1" fontAlgn="base">
              <a:lnSpc>
                <a:spcPct val="90000"/>
              </a:lnSpc>
            </a:pPr>
            <a:r>
              <a:rPr lang="zh-CN" altLang="en-US" sz="3200" b="1">
                <a:sym typeface="+mn-ea"/>
              </a:rPr>
              <a:t>无损连接和保持依赖的证明</a:t>
            </a:r>
            <a:endParaRPr lang="zh-CN" altLang="en-US" sz="3200"/>
          </a:p>
          <a:p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知识点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fontAlgn="base">
              <a:lnSpc>
                <a:spcPct val="90000"/>
              </a:lnSpc>
            </a:pPr>
            <a:r>
              <a:rPr lang="zh-CN" altLang="en-US" sz="3200" b="1">
                <a:sym typeface="+mn-ea"/>
              </a:rPr>
              <a:t>第</a:t>
            </a:r>
            <a:r>
              <a:rPr lang="en-US" altLang="zh-CN" sz="3200" b="1">
                <a:sym typeface="+mn-ea"/>
              </a:rPr>
              <a:t>14</a:t>
            </a:r>
            <a:r>
              <a:rPr lang="zh-CN" altLang="en-US" sz="3200" b="1">
                <a:sym typeface="+mn-ea"/>
              </a:rPr>
              <a:t>章：事务</a:t>
            </a:r>
            <a:endParaRPr lang="zh-CN" altLang="en-US" sz="3200" b="1">
              <a:sym typeface="+mn-ea"/>
            </a:endParaRPr>
          </a:p>
          <a:p>
            <a:pPr lvl="1" fontAlgn="base">
              <a:lnSpc>
                <a:spcPct val="90000"/>
              </a:lnSpc>
            </a:pPr>
            <a:r>
              <a:rPr lang="zh-CN" altLang="en-US" sz="3200" b="1">
                <a:sym typeface="+mn-ea"/>
              </a:rPr>
              <a:t>事务的概念、模型、事务的</a:t>
            </a:r>
            <a:r>
              <a:rPr lang="en-US" altLang="zh-CN" sz="3200" b="1">
                <a:sym typeface="+mn-ea"/>
              </a:rPr>
              <a:t>ACID</a:t>
            </a:r>
            <a:r>
              <a:rPr lang="zh-CN" altLang="en-US" sz="3200" b="1">
                <a:sym typeface="+mn-ea"/>
              </a:rPr>
              <a:t>特性</a:t>
            </a:r>
            <a:endParaRPr lang="zh-CN" altLang="en-US" sz="3200" b="1">
              <a:sym typeface="+mn-ea"/>
            </a:endParaRPr>
          </a:p>
          <a:p>
            <a:pPr lvl="1" fontAlgn="base">
              <a:lnSpc>
                <a:spcPct val="90000"/>
              </a:lnSpc>
            </a:pPr>
            <a:r>
              <a:rPr lang="zh-CN" altLang="en-US" sz="3200" b="1">
                <a:sym typeface="+mn-ea"/>
              </a:rPr>
              <a:t>可串行化：</a:t>
            </a:r>
            <a:r>
              <a:rPr lang="zh-CN" altLang="en-US" sz="3200" b="1">
                <a:solidFill>
                  <a:srgbClr val="FF0000"/>
                </a:solidFill>
                <a:sym typeface="+mn-ea"/>
              </a:rPr>
              <a:t>冲突</a:t>
            </a:r>
            <a:r>
              <a:rPr lang="zh-CN" altLang="en-US" sz="3200" b="1">
                <a:sym typeface="+mn-ea"/>
              </a:rPr>
              <a:t>、视图可串行化判别</a:t>
            </a:r>
            <a:endParaRPr lang="zh-CN" altLang="en-US" sz="3200" b="1">
              <a:sym typeface="+mn-ea"/>
            </a:endParaRPr>
          </a:p>
          <a:p>
            <a:pPr lvl="1" fontAlgn="base">
              <a:lnSpc>
                <a:spcPct val="90000"/>
              </a:lnSpc>
            </a:pPr>
            <a:r>
              <a:rPr lang="zh-CN" altLang="en-US" sz="3200" b="1">
                <a:sym typeface="+mn-ea"/>
              </a:rPr>
              <a:t>事务隔离性和原子性</a:t>
            </a:r>
            <a:endParaRPr lang="zh-CN" altLang="en-US" sz="3200" b="1">
              <a:sym typeface="+mn-ea"/>
            </a:endParaRPr>
          </a:p>
          <a:p>
            <a:pPr lvl="2" fontAlgn="base">
              <a:lnSpc>
                <a:spcPct val="90000"/>
              </a:lnSpc>
            </a:pPr>
            <a:r>
              <a:rPr lang="zh-CN" altLang="en-US" sz="3200" b="1">
                <a:sym typeface="+mn-ea"/>
              </a:rPr>
              <a:t>可恢复调度、无级联调度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知识点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fontAlgn="base">
              <a:lnSpc>
                <a:spcPct val="90000"/>
              </a:lnSpc>
            </a:pPr>
            <a:r>
              <a:rPr lang="zh-CN" altLang="en-US" sz="3200" b="1">
                <a:sym typeface="+mn-ea"/>
              </a:rPr>
              <a:t>第</a:t>
            </a:r>
            <a:r>
              <a:rPr lang="en-US" altLang="zh-CN" sz="3200" b="1">
                <a:sym typeface="+mn-ea"/>
              </a:rPr>
              <a:t>15</a:t>
            </a:r>
            <a:r>
              <a:rPr lang="zh-CN" altLang="en-US" sz="3200" b="1">
                <a:sym typeface="+mn-ea"/>
              </a:rPr>
              <a:t>章：并发控制</a:t>
            </a:r>
            <a:endParaRPr lang="zh-CN" altLang="en-US" sz="3200" b="1" strike="noStrike" noProof="1">
              <a:sym typeface="+mn-ea"/>
            </a:endParaRPr>
          </a:p>
          <a:p>
            <a:pPr lvl="1" fontAlgn="base">
              <a:lnSpc>
                <a:spcPct val="90000"/>
              </a:lnSpc>
            </a:pPr>
            <a:r>
              <a:rPr lang="zh-CN" altLang="en-US" sz="3200" b="1">
                <a:sym typeface="+mn-ea"/>
              </a:rPr>
              <a:t>两阶段锁，严格两阶段锁，强两阶段锁</a:t>
            </a:r>
            <a:endParaRPr lang="zh-CN" altLang="en-US" sz="3200" b="1" strike="noStrike" noProof="1">
              <a:sym typeface="+mn-ea"/>
            </a:endParaRPr>
          </a:p>
          <a:p>
            <a:pPr lvl="1" fontAlgn="base">
              <a:lnSpc>
                <a:spcPct val="90000"/>
              </a:lnSpc>
            </a:pPr>
            <a:r>
              <a:rPr lang="zh-CN" altLang="en-US" sz="3200" b="1">
                <a:sym typeface="+mn-ea"/>
              </a:rPr>
              <a:t>死锁的检测与恢复</a:t>
            </a:r>
            <a:endParaRPr lang="zh-CN" altLang="en-US" sz="3200"/>
          </a:p>
          <a:p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 w="9525">
            <a:noFill/>
          </a:ln>
        </p:spPr>
        <p:txBody>
          <a:bodyPr vert="horz" rtlCol="0" anchor="b">
            <a:normAutofit/>
          </a:bodyPr>
          <a:p>
            <a:pPr lvl="0" algn="l">
              <a:buClrTx/>
              <a:buSzTx/>
              <a:buFontTx/>
            </a:pPr>
            <a:r>
              <a:rPr lang="zh-CN" altLang="en-US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本门课程</a:t>
            </a:r>
            <a:r>
              <a:rPr lang="zh-CN" altLang="en-US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成绩</a:t>
            </a:r>
            <a:endParaRPr lang="zh-CN" altLang="en-US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平时成绩：</a:t>
            </a:r>
            <a:r>
              <a:rPr lang="en-US" altLang="zh-CN">
                <a:solidFill>
                  <a:srgbClr val="002060"/>
                </a:solidFill>
              </a:rPr>
              <a:t>30%</a:t>
            </a:r>
            <a:endParaRPr lang="en-US" altLang="zh-CN"/>
          </a:p>
          <a:p>
            <a:pPr lvl="1"/>
            <a:r>
              <a:rPr lang="zh-CN" altLang="en-US"/>
              <a:t>学习通统计数据：签到</a:t>
            </a:r>
            <a:r>
              <a:rPr lang="en-US" altLang="zh-CN"/>
              <a:t>+</a:t>
            </a:r>
            <a:r>
              <a:rPr lang="zh-CN" altLang="en-US"/>
              <a:t>讨论参与情况</a:t>
            </a:r>
            <a:endParaRPr lang="zh-CN" altLang="en-US"/>
          </a:p>
          <a:p>
            <a:pPr lvl="1"/>
            <a:r>
              <a:rPr lang="zh-CN" altLang="en-US"/>
              <a:t>接下来</a:t>
            </a:r>
            <a:r>
              <a:rPr lang="en-US" altLang="zh-CN"/>
              <a:t>12</a:t>
            </a:r>
            <a:r>
              <a:rPr lang="zh-CN" altLang="en-US"/>
              <a:t>学时的实验报告</a:t>
            </a:r>
            <a:endParaRPr lang="zh-CN" altLang="en-US"/>
          </a:p>
          <a:p>
            <a:pPr lvl="0"/>
            <a:r>
              <a:rPr lang="zh-CN" altLang="en-US"/>
              <a:t>闭卷考试：</a:t>
            </a:r>
            <a:r>
              <a:rPr lang="en-US" altLang="zh-CN">
                <a:solidFill>
                  <a:srgbClr val="002060"/>
                </a:solidFill>
              </a:rPr>
              <a:t>70%</a:t>
            </a:r>
            <a:endParaRPr lang="en-US" altLang="zh-CN"/>
          </a:p>
          <a:p>
            <a:pPr lvl="1"/>
            <a:r>
              <a:rPr lang="zh-CN" altLang="en-US"/>
              <a:t>考试范围：前面所列知识点</a:t>
            </a:r>
            <a:r>
              <a:rPr lang="en-US" altLang="zh-CN"/>
              <a:t>+</a:t>
            </a:r>
            <a:r>
              <a:rPr lang="zh-CN" altLang="en-US"/>
              <a:t>不超过</a:t>
            </a:r>
            <a:r>
              <a:rPr lang="en-US" altLang="zh-CN"/>
              <a:t>10</a:t>
            </a:r>
            <a:r>
              <a:rPr lang="zh-CN" altLang="en-US"/>
              <a:t>分的发挥题</a:t>
            </a:r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MDUxZjBiZDIzZDlhMTFjNjc4NzE0NjNhNTM1NTBhMzQifQ=="/>
</p:tagLst>
</file>

<file path=ppt/theme/theme1.xml><?xml version="1.0" encoding="utf-8"?>
<a:theme xmlns:a="http://schemas.openxmlformats.org/drawingml/2006/main" name="Axis">
  <a:themeElements>
    <a:clrScheme name="">
      <a:dk1>
        <a:srgbClr val="292929"/>
      </a:dk1>
      <a:lt1>
        <a:srgbClr val="FFFFFF"/>
      </a:lt1>
      <a:dk2>
        <a:srgbClr val="000000"/>
      </a:dk2>
      <a:lt2>
        <a:srgbClr val="808080"/>
      </a:lt2>
      <a:accent1>
        <a:srgbClr val="CC9900"/>
      </a:accent1>
      <a:accent2>
        <a:srgbClr val="CCCC99"/>
      </a:accent2>
      <a:accent3>
        <a:srgbClr val="FFFFFF"/>
      </a:accent3>
      <a:accent4>
        <a:srgbClr val="222222"/>
      </a:accent4>
      <a:accent5>
        <a:srgbClr val="E2CAAA"/>
      </a:accent5>
      <a:accent6>
        <a:srgbClr val="B7B789"/>
      </a:accent6>
      <a:hlink>
        <a:srgbClr val="999933"/>
      </a:hlink>
      <a:folHlink>
        <a:srgbClr val="B2B2B2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F8F8F8"/>
        </a:dk1>
        <a:lt1>
          <a:srgbClr val="330000"/>
        </a:lt1>
        <a:dk2>
          <a:srgbClr val="FFFFFF"/>
        </a:dk2>
        <a:lt2>
          <a:srgbClr val="080808"/>
        </a:lt2>
        <a:accent1>
          <a:srgbClr val="FF9900"/>
        </a:accent1>
        <a:accent2>
          <a:srgbClr val="CC3300"/>
        </a:accent2>
        <a:accent3>
          <a:srgbClr val="ADAAAA"/>
        </a:accent3>
        <a:accent4>
          <a:srgbClr val="D6D6D6"/>
        </a:accent4>
        <a:accent5>
          <a:srgbClr val="FFCAAA"/>
        </a:accent5>
        <a:accent6>
          <a:srgbClr val="B72D00"/>
        </a:accent6>
        <a:hlink>
          <a:srgbClr val="CC6600"/>
        </a:hlink>
        <a:folHlink>
          <a:srgbClr val="B2B28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8F8F8"/>
        </a:dk1>
        <a:lt1>
          <a:srgbClr val="800000"/>
        </a:lt1>
        <a:dk2>
          <a:srgbClr val="FFFFFF"/>
        </a:dk2>
        <a:lt2>
          <a:srgbClr val="333333"/>
        </a:lt2>
        <a:accent1>
          <a:srgbClr val="CC9900"/>
        </a:accent1>
        <a:accent2>
          <a:srgbClr val="666666"/>
        </a:accent2>
        <a:accent3>
          <a:srgbClr val="C1AAAA"/>
        </a:accent3>
        <a:accent4>
          <a:srgbClr val="D6D6D6"/>
        </a:accent4>
        <a:accent5>
          <a:srgbClr val="E2CAAA"/>
        </a:accent5>
        <a:accent6>
          <a:srgbClr val="5B5B5B"/>
        </a:accent6>
        <a:hlink>
          <a:srgbClr val="CC6600"/>
        </a:hlink>
        <a:folHlink>
          <a:srgbClr val="95A58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A4BEE0"/>
        </a:dk1>
        <a:lt1>
          <a:srgbClr val="013253"/>
        </a:lt1>
        <a:dk2>
          <a:srgbClr val="FFFFFF"/>
        </a:dk2>
        <a:lt2>
          <a:srgbClr val="5F5F5F"/>
        </a:lt2>
        <a:accent1>
          <a:srgbClr val="588480"/>
        </a:accent1>
        <a:accent2>
          <a:srgbClr val="6600FF"/>
        </a:accent2>
        <a:accent3>
          <a:srgbClr val="AAADB4"/>
        </a:accent3>
        <a:accent4>
          <a:srgbClr val="8DA3C1"/>
        </a:accent4>
        <a:accent5>
          <a:srgbClr val="B5C2C1"/>
        </a:accent5>
        <a:accent6>
          <a:srgbClr val="5B00E5"/>
        </a:accent6>
        <a:hlink>
          <a:srgbClr val="CCCC00"/>
        </a:hlink>
        <a:folHlink>
          <a:srgbClr val="5F5F5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8F8F8"/>
        </a:dk1>
        <a:lt1>
          <a:srgbClr val="3D4A1C"/>
        </a:lt1>
        <a:dk2>
          <a:srgbClr val="FFFFFF"/>
        </a:dk2>
        <a:lt2>
          <a:srgbClr val="003300"/>
        </a:lt2>
        <a:accent1>
          <a:srgbClr val="99CC00"/>
        </a:accent1>
        <a:accent2>
          <a:srgbClr val="669900"/>
        </a:accent2>
        <a:accent3>
          <a:srgbClr val="AFB2AA"/>
        </a:accent3>
        <a:accent4>
          <a:srgbClr val="D6D6D6"/>
        </a:accent4>
        <a:accent5>
          <a:srgbClr val="CAE2AA"/>
        </a:accent5>
        <a:accent6>
          <a:srgbClr val="5B8900"/>
        </a:accent6>
        <a:hlink>
          <a:srgbClr val="CC9900"/>
        </a:hlink>
        <a:folHlink>
          <a:srgbClr val="B2B28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8F8F8"/>
        </a:dk1>
        <a:lt1>
          <a:srgbClr val="005D8C"/>
        </a:lt1>
        <a:dk2>
          <a:srgbClr val="FFFFFF"/>
        </a:dk2>
        <a:lt2>
          <a:srgbClr val="333333"/>
        </a:lt2>
        <a:accent1>
          <a:srgbClr val="00CC99"/>
        </a:accent1>
        <a:accent2>
          <a:srgbClr val="0099CC"/>
        </a:accent2>
        <a:accent3>
          <a:srgbClr val="AAB6C5"/>
        </a:accent3>
        <a:accent4>
          <a:srgbClr val="D6D6D6"/>
        </a:accent4>
        <a:accent5>
          <a:srgbClr val="AAE2CA"/>
        </a:accent5>
        <a:accent6>
          <a:srgbClr val="0089B7"/>
        </a:accent6>
        <a:hlink>
          <a:srgbClr val="FFCC00"/>
        </a:hlink>
        <a:folHlink>
          <a:srgbClr val="D8D4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ECAE00"/>
        </a:lt1>
        <a:dk2>
          <a:srgbClr val="FFFFFF"/>
        </a:dk2>
        <a:lt2>
          <a:srgbClr val="333333"/>
        </a:lt2>
        <a:accent1>
          <a:srgbClr val="CC6600"/>
        </a:accent1>
        <a:accent2>
          <a:srgbClr val="BA6D10"/>
        </a:accent2>
        <a:accent3>
          <a:srgbClr val="F4D3AA"/>
        </a:accent3>
        <a:accent4>
          <a:srgbClr val="000000"/>
        </a:accent4>
        <a:accent5>
          <a:srgbClr val="E2B9AA"/>
        </a:accent5>
        <a:accent6>
          <a:srgbClr val="A6610D"/>
        </a:accent6>
        <a:hlink>
          <a:srgbClr val="666633"/>
        </a:hlink>
        <a:folHlink>
          <a:srgbClr val="8D996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372221"/>
        </a:dk2>
        <a:lt2>
          <a:srgbClr val="808080"/>
        </a:lt2>
        <a:accent1>
          <a:srgbClr val="009999"/>
        </a:accent1>
        <a:accent2>
          <a:srgbClr val="9AAC98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8A9A88"/>
        </a:accent6>
        <a:hlink>
          <a:srgbClr val="6666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292929"/>
        </a:dk1>
        <a:lt1>
          <a:srgbClr val="FFFFFF"/>
        </a:lt1>
        <a:dk2>
          <a:srgbClr val="000000"/>
        </a:dk2>
        <a:lt2>
          <a:srgbClr val="808080"/>
        </a:lt2>
        <a:accent1>
          <a:srgbClr val="CC9900"/>
        </a:accent1>
        <a:accent2>
          <a:srgbClr val="CCCC99"/>
        </a:accent2>
        <a:accent3>
          <a:srgbClr val="FFFFFF"/>
        </a:accent3>
        <a:accent4>
          <a:srgbClr val="222222"/>
        </a:accent4>
        <a:accent5>
          <a:srgbClr val="E2CAAA"/>
        </a:accent5>
        <a:accent6>
          <a:srgbClr val="B7B789"/>
        </a:accent6>
        <a:hlink>
          <a:srgbClr val="9999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Axis</Template>
  <TotalTime>0</TotalTime>
  <Words>536</Words>
  <Application>WPS 演示</Application>
  <PresentationFormat>在屏幕上显示</PresentationFormat>
  <Paragraphs>63</Paragraphs>
  <Slides>8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Arial</vt:lpstr>
      <vt:lpstr>宋体</vt:lpstr>
      <vt:lpstr>Wingdings</vt:lpstr>
      <vt:lpstr>Times New Roman</vt:lpstr>
      <vt:lpstr>华文彩云</vt:lpstr>
      <vt:lpstr>黑体</vt:lpstr>
      <vt:lpstr>微软雅黑</vt:lpstr>
      <vt:lpstr>Arial Unicode MS</vt:lpstr>
      <vt:lpstr>Axis</vt:lpstr>
      <vt:lpstr>数据库系统原理总结</vt:lpstr>
      <vt:lpstr>知识点</vt:lpstr>
      <vt:lpstr>知识点</vt:lpstr>
      <vt:lpstr>PowerPoint 演示文稿</vt:lpstr>
      <vt:lpstr>PowerPoint 演示文稿</vt:lpstr>
      <vt:lpstr>PowerPoint 演示文稿</vt:lpstr>
      <vt:lpstr>PowerPoint 演示文稿</vt:lpstr>
      <vt:lpstr>本门课程成绩</vt:lpstr>
    </vt:vector>
  </TitlesOfParts>
  <Company>jlu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面向机器学习的数据库技术</dc:title>
  <dc:creator>qiuxm</dc:creator>
  <cp:lastModifiedBy>christine wang</cp:lastModifiedBy>
  <cp:revision>27</cp:revision>
  <dcterms:created xsi:type="dcterms:W3CDTF">2021-07-19T01:27:00Z</dcterms:created>
  <dcterms:modified xsi:type="dcterms:W3CDTF">2022-08-04T03:00:54Z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2052-11.1.0.11875</vt:lpwstr>
  </property>
  <property fmtid="{D5CDD505-2E9C-101B-9397-08002B2CF9AE}" pid="3" name="ICV">
    <vt:lpwstr>C71C40B9119B4CDF8BF989412596921B</vt:lpwstr>
  </property>
</Properties>
</file>