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13"/>
  </p:notesMasterIdLst>
  <p:handoutMasterIdLst>
    <p:handoutMasterId r:id="rId114"/>
  </p:handoutMasterIdLst>
  <p:sldIdLst>
    <p:sldId id="16768560" r:id="rId2"/>
    <p:sldId id="413" r:id="rId3"/>
    <p:sldId id="414" r:id="rId4"/>
    <p:sldId id="463" r:id="rId5"/>
    <p:sldId id="422" r:id="rId6"/>
    <p:sldId id="416" r:id="rId7"/>
    <p:sldId id="423" r:id="rId8"/>
    <p:sldId id="380" r:id="rId9"/>
    <p:sldId id="424" r:id="rId10"/>
    <p:sldId id="425" r:id="rId11"/>
    <p:sldId id="426" r:id="rId12"/>
    <p:sldId id="428" r:id="rId13"/>
    <p:sldId id="427" r:id="rId14"/>
    <p:sldId id="441" r:id="rId15"/>
    <p:sldId id="429" r:id="rId16"/>
    <p:sldId id="430" r:id="rId17"/>
    <p:sldId id="431" r:id="rId18"/>
    <p:sldId id="437" r:id="rId19"/>
    <p:sldId id="438" r:id="rId20"/>
    <p:sldId id="439" r:id="rId21"/>
    <p:sldId id="444" r:id="rId22"/>
    <p:sldId id="470" r:id="rId23"/>
    <p:sldId id="471" r:id="rId24"/>
    <p:sldId id="472" r:id="rId25"/>
    <p:sldId id="473" r:id="rId26"/>
    <p:sldId id="474" r:id="rId27"/>
    <p:sldId id="475" r:id="rId28"/>
    <p:sldId id="476" r:id="rId29"/>
    <p:sldId id="477" r:id="rId30"/>
    <p:sldId id="478" r:id="rId31"/>
    <p:sldId id="480" r:id="rId32"/>
    <p:sldId id="481" r:id="rId33"/>
    <p:sldId id="482" r:id="rId34"/>
    <p:sldId id="483" r:id="rId35"/>
    <p:sldId id="484" r:id="rId36"/>
    <p:sldId id="485" r:id="rId37"/>
    <p:sldId id="486" r:id="rId38"/>
    <p:sldId id="16768561" r:id="rId39"/>
    <p:sldId id="16768562" r:id="rId40"/>
    <p:sldId id="487" r:id="rId41"/>
    <p:sldId id="488" r:id="rId42"/>
    <p:sldId id="489" r:id="rId43"/>
    <p:sldId id="490" r:id="rId44"/>
    <p:sldId id="491" r:id="rId45"/>
    <p:sldId id="492" r:id="rId46"/>
    <p:sldId id="493" r:id="rId47"/>
    <p:sldId id="494" r:id="rId48"/>
    <p:sldId id="495" r:id="rId49"/>
    <p:sldId id="496" r:id="rId50"/>
    <p:sldId id="497" r:id="rId51"/>
    <p:sldId id="498" r:id="rId52"/>
    <p:sldId id="499" r:id="rId53"/>
    <p:sldId id="500" r:id="rId54"/>
    <p:sldId id="501" r:id="rId55"/>
    <p:sldId id="502" r:id="rId56"/>
    <p:sldId id="503" r:id="rId57"/>
    <p:sldId id="504" r:id="rId58"/>
    <p:sldId id="2417" r:id="rId59"/>
    <p:sldId id="505" r:id="rId60"/>
    <p:sldId id="506" r:id="rId61"/>
    <p:sldId id="539" r:id="rId62"/>
    <p:sldId id="540" r:id="rId63"/>
    <p:sldId id="507" r:id="rId64"/>
    <p:sldId id="509" r:id="rId65"/>
    <p:sldId id="510" r:id="rId66"/>
    <p:sldId id="511" r:id="rId67"/>
    <p:sldId id="512" r:id="rId68"/>
    <p:sldId id="513" r:id="rId69"/>
    <p:sldId id="2419" r:id="rId70"/>
    <p:sldId id="2420" r:id="rId71"/>
    <p:sldId id="525" r:id="rId72"/>
    <p:sldId id="526" r:id="rId73"/>
    <p:sldId id="527" r:id="rId74"/>
    <p:sldId id="529" r:id="rId75"/>
    <p:sldId id="530" r:id="rId76"/>
    <p:sldId id="531" r:id="rId77"/>
    <p:sldId id="532" r:id="rId78"/>
    <p:sldId id="533" r:id="rId79"/>
    <p:sldId id="534" r:id="rId80"/>
    <p:sldId id="535" r:id="rId81"/>
    <p:sldId id="536" r:id="rId82"/>
    <p:sldId id="537" r:id="rId83"/>
    <p:sldId id="538" r:id="rId84"/>
    <p:sldId id="543" r:id="rId85"/>
    <p:sldId id="386" r:id="rId86"/>
    <p:sldId id="387" r:id="rId87"/>
    <p:sldId id="2389" r:id="rId88"/>
    <p:sldId id="2411" r:id="rId89"/>
    <p:sldId id="2391" r:id="rId90"/>
    <p:sldId id="2393" r:id="rId91"/>
    <p:sldId id="2416" r:id="rId92"/>
    <p:sldId id="2396" r:id="rId93"/>
    <p:sldId id="2397" r:id="rId94"/>
    <p:sldId id="2398" r:id="rId95"/>
    <p:sldId id="2399" r:id="rId96"/>
    <p:sldId id="2400" r:id="rId97"/>
    <p:sldId id="2401" r:id="rId98"/>
    <p:sldId id="2403" r:id="rId99"/>
    <p:sldId id="2404" r:id="rId100"/>
    <p:sldId id="388" r:id="rId101"/>
    <p:sldId id="2405" r:id="rId102"/>
    <p:sldId id="2406" r:id="rId103"/>
    <p:sldId id="2414" r:id="rId104"/>
    <p:sldId id="2407" r:id="rId105"/>
    <p:sldId id="2408" r:id="rId106"/>
    <p:sldId id="2413" r:id="rId107"/>
    <p:sldId id="2412" r:id="rId108"/>
    <p:sldId id="16768563" r:id="rId109"/>
    <p:sldId id="16768564" r:id="rId110"/>
    <p:sldId id="16768565" r:id="rId111"/>
    <p:sldId id="2415" r:id="rId112"/>
  </p:sldIdLst>
  <p:sldSz cx="12192000" cy="6858000"/>
  <p:notesSz cx="6400800" cy="8686800"/>
  <p:custDataLst>
    <p:tags r:id="rId115"/>
  </p:custDataLst>
  <p:defaultTextStyle>
    <a:defPPr>
      <a:defRPr lang="zh-CN"/>
    </a:defPPr>
    <a:lvl1pPr algn="l" rtl="0" eaLnBrk="0" fontAlgn="base" hangingPunct="0">
      <a:spcBef>
        <a:spcPct val="0"/>
      </a:spcBef>
      <a:spcAft>
        <a:spcPct val="0"/>
      </a:spcAft>
      <a:defRPr sz="2000" kern="1200">
        <a:solidFill>
          <a:schemeClr val="tx1"/>
        </a:solidFill>
        <a:latin typeface="Arial" panose="020B0604020202020204" pitchFamily="34" charset="0"/>
        <a:ea typeface="黑体" panose="02010609060101010101" pitchFamily="49" charset="-122"/>
        <a:cs typeface="+mn-cs"/>
      </a:defRPr>
    </a:lvl1pPr>
    <a:lvl2pPr marL="457200" algn="l" rtl="0" eaLnBrk="0" fontAlgn="base" hangingPunct="0">
      <a:spcBef>
        <a:spcPct val="0"/>
      </a:spcBef>
      <a:spcAft>
        <a:spcPct val="0"/>
      </a:spcAft>
      <a:defRPr sz="2000" kern="1200">
        <a:solidFill>
          <a:schemeClr val="tx1"/>
        </a:solidFill>
        <a:latin typeface="Arial" panose="020B0604020202020204" pitchFamily="34" charset="0"/>
        <a:ea typeface="黑体" panose="02010609060101010101" pitchFamily="49" charset="-122"/>
        <a:cs typeface="+mn-cs"/>
      </a:defRPr>
    </a:lvl2pPr>
    <a:lvl3pPr marL="914400" algn="l" rtl="0" eaLnBrk="0" fontAlgn="base" hangingPunct="0">
      <a:spcBef>
        <a:spcPct val="0"/>
      </a:spcBef>
      <a:spcAft>
        <a:spcPct val="0"/>
      </a:spcAft>
      <a:defRPr sz="2000" kern="1200">
        <a:solidFill>
          <a:schemeClr val="tx1"/>
        </a:solidFill>
        <a:latin typeface="Arial" panose="020B0604020202020204" pitchFamily="34" charset="0"/>
        <a:ea typeface="黑体" panose="02010609060101010101" pitchFamily="49" charset="-122"/>
        <a:cs typeface="+mn-cs"/>
      </a:defRPr>
    </a:lvl3pPr>
    <a:lvl4pPr marL="1371600" algn="l" rtl="0" eaLnBrk="0" fontAlgn="base" hangingPunct="0">
      <a:spcBef>
        <a:spcPct val="0"/>
      </a:spcBef>
      <a:spcAft>
        <a:spcPct val="0"/>
      </a:spcAft>
      <a:defRPr sz="2000" kern="1200">
        <a:solidFill>
          <a:schemeClr val="tx1"/>
        </a:solidFill>
        <a:latin typeface="Arial" panose="020B0604020202020204" pitchFamily="34" charset="0"/>
        <a:ea typeface="黑体" panose="02010609060101010101" pitchFamily="49" charset="-122"/>
        <a:cs typeface="+mn-cs"/>
      </a:defRPr>
    </a:lvl4pPr>
    <a:lvl5pPr marL="1828800" algn="l" rtl="0" eaLnBrk="0" fontAlgn="base" hangingPunct="0">
      <a:spcBef>
        <a:spcPct val="0"/>
      </a:spcBef>
      <a:spcAft>
        <a:spcPct val="0"/>
      </a:spcAft>
      <a:defRPr sz="2000" kern="1200">
        <a:solidFill>
          <a:schemeClr val="tx1"/>
        </a:solidFill>
        <a:latin typeface="Arial" panose="020B0604020202020204" pitchFamily="34" charset="0"/>
        <a:ea typeface="黑体" panose="02010609060101010101" pitchFamily="49" charset="-122"/>
        <a:cs typeface="+mn-cs"/>
      </a:defRPr>
    </a:lvl5pPr>
    <a:lvl6pPr marL="2286000" algn="l" defTabSz="914400" rtl="0" eaLnBrk="1" latinLnBrk="0" hangingPunct="1">
      <a:defRPr sz="2000" kern="1200">
        <a:solidFill>
          <a:schemeClr val="tx1"/>
        </a:solidFill>
        <a:latin typeface="Arial" panose="020B0604020202020204" pitchFamily="34" charset="0"/>
        <a:ea typeface="黑体" panose="02010609060101010101" pitchFamily="49" charset="-122"/>
        <a:cs typeface="+mn-cs"/>
      </a:defRPr>
    </a:lvl6pPr>
    <a:lvl7pPr marL="2743200" algn="l" defTabSz="914400" rtl="0" eaLnBrk="1" latinLnBrk="0" hangingPunct="1">
      <a:defRPr sz="2000" kern="1200">
        <a:solidFill>
          <a:schemeClr val="tx1"/>
        </a:solidFill>
        <a:latin typeface="Arial" panose="020B0604020202020204" pitchFamily="34" charset="0"/>
        <a:ea typeface="黑体" panose="02010609060101010101" pitchFamily="49" charset="-122"/>
        <a:cs typeface="+mn-cs"/>
      </a:defRPr>
    </a:lvl7pPr>
    <a:lvl8pPr marL="3200400" algn="l" defTabSz="914400" rtl="0" eaLnBrk="1" latinLnBrk="0" hangingPunct="1">
      <a:defRPr sz="2000" kern="1200">
        <a:solidFill>
          <a:schemeClr val="tx1"/>
        </a:solidFill>
        <a:latin typeface="Arial" panose="020B0604020202020204" pitchFamily="34" charset="0"/>
        <a:ea typeface="黑体" panose="02010609060101010101" pitchFamily="49" charset="-122"/>
        <a:cs typeface="+mn-cs"/>
      </a:defRPr>
    </a:lvl8pPr>
    <a:lvl9pPr marL="3657600" algn="l" defTabSz="914400" rtl="0" eaLnBrk="1" latinLnBrk="0" hangingPunct="1">
      <a:defRPr sz="2000" kern="1200">
        <a:solidFill>
          <a:schemeClr val="tx1"/>
        </a:solidFill>
        <a:latin typeface="Arial" panose="020B0604020202020204" pitchFamily="34" charset="0"/>
        <a:ea typeface="黑体" panose="02010609060101010101" pitchFamily="49"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736">
          <p15:clr>
            <a:srgbClr val="A4A3A4"/>
          </p15:clr>
        </p15:guide>
        <p15:guide id="2" pos="201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0000C8"/>
    <a:srgbClr val="FF99FF"/>
    <a:srgbClr val="333399"/>
    <a:srgbClr val="3399FF"/>
    <a:srgbClr val="000000"/>
    <a:srgbClr val="FF0000"/>
    <a:srgbClr val="FFCCCC"/>
    <a:srgbClr val="FFCC99"/>
    <a:srgbClr val="99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03" autoAdjust="0"/>
    <p:restoredTop sz="86563" autoAdjust="0"/>
  </p:normalViewPr>
  <p:slideViewPr>
    <p:cSldViewPr showGuides="1">
      <p:cViewPr varScale="1">
        <p:scale>
          <a:sx n="75" d="100"/>
          <a:sy n="75" d="100"/>
        </p:scale>
        <p:origin x="51" y="714"/>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18370"/>
    </p:cViewPr>
  </p:sorterViewPr>
  <p:notesViewPr>
    <p:cSldViewPr>
      <p:cViewPr varScale="1">
        <p:scale>
          <a:sx n="78" d="100"/>
          <a:sy n="78" d="100"/>
        </p:scale>
        <p:origin x="-3156" y="-84"/>
      </p:cViewPr>
      <p:guideLst>
        <p:guide orient="horz" pos="2736"/>
        <p:guide pos="2016"/>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viewProps" Target="view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notesMaster" Target="notesMasters/notesMaster1.xml"/><Relationship Id="rId118"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handoutMaster" Target="handoutMasters/handoutMaster1.xml"/><Relationship Id="rId119"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tags" Target="tags/tag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p:cNvSpPr>
            <a:spLocks noGrp="1" noChangeArrowheads="1"/>
          </p:cNvSpPr>
          <p:nvPr>
            <p:ph type="hdr" sz="quarter"/>
          </p:nvPr>
        </p:nvSpPr>
        <p:spPr bwMode="auto">
          <a:xfrm>
            <a:off x="0" y="0"/>
            <a:ext cx="2773363" cy="43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6201" tIns="43099" rIns="86201" bIns="43099" numCol="1" anchor="t" anchorCtr="0" compatLnSpc="1"/>
          <a:lstStyle>
            <a:lvl1pPr defTabSz="862330" eaLnBrk="1" latinLnBrk="1" hangingPunct="1">
              <a:defRPr kumimoji="1" sz="1100">
                <a:latin typeface="Times New Roman" panose="02020603050405020304" pitchFamily="18" charset="0"/>
                <a:ea typeface="宋体" panose="02010600030101010101" pitchFamily="2" charset="-122"/>
              </a:defRPr>
            </a:lvl1pPr>
          </a:lstStyle>
          <a:p>
            <a:pPr>
              <a:defRPr/>
            </a:pPr>
            <a:endParaRPr lang="en-US" altLang="zh-CN" dirty="0">
              <a:ea typeface="微软雅黑" panose="020B0503020204020204" pitchFamily="34" charset="-122"/>
            </a:endParaRPr>
          </a:p>
        </p:txBody>
      </p:sp>
      <p:sp>
        <p:nvSpPr>
          <p:cNvPr id="31747" name="Rectangle 3"/>
          <p:cNvSpPr>
            <a:spLocks noGrp="1" noChangeArrowheads="1"/>
          </p:cNvSpPr>
          <p:nvPr>
            <p:ph type="dt" sz="quarter" idx="1"/>
          </p:nvPr>
        </p:nvSpPr>
        <p:spPr bwMode="auto">
          <a:xfrm>
            <a:off x="3627438" y="0"/>
            <a:ext cx="2773362" cy="43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6201" tIns="43099" rIns="86201" bIns="43099" numCol="1" anchor="t" anchorCtr="0" compatLnSpc="1"/>
          <a:lstStyle>
            <a:lvl1pPr algn="r" defTabSz="862330" eaLnBrk="1" latinLnBrk="1" hangingPunct="1">
              <a:defRPr kumimoji="1" sz="1100">
                <a:latin typeface="Times New Roman" panose="02020603050405020304" pitchFamily="18" charset="0"/>
                <a:ea typeface="宋体" panose="02010600030101010101" pitchFamily="2" charset="-122"/>
              </a:defRPr>
            </a:lvl1pPr>
          </a:lstStyle>
          <a:p>
            <a:pPr>
              <a:defRPr/>
            </a:pPr>
            <a:fld id="{B8C3BBC7-FB4C-48C3-893A-3E44C3B17902}" type="datetimeFigureOut">
              <a:rPr lang="en-US" altLang="zh-CN">
                <a:ea typeface="微软雅黑" panose="020B0503020204020204" pitchFamily="34" charset="-122"/>
              </a:rPr>
              <a:t>3/24/2024</a:t>
            </a:fld>
            <a:endParaRPr lang="en-US" altLang="zh-CN" dirty="0">
              <a:ea typeface="微软雅黑" panose="020B0503020204020204" pitchFamily="34" charset="-122"/>
            </a:endParaRPr>
          </a:p>
        </p:txBody>
      </p:sp>
      <p:sp>
        <p:nvSpPr>
          <p:cNvPr id="31748" name="Rectangle 4"/>
          <p:cNvSpPr>
            <a:spLocks noGrp="1" noChangeArrowheads="1"/>
          </p:cNvSpPr>
          <p:nvPr>
            <p:ph type="ftr" sz="quarter" idx="2"/>
          </p:nvPr>
        </p:nvSpPr>
        <p:spPr bwMode="auto">
          <a:xfrm>
            <a:off x="0" y="8251825"/>
            <a:ext cx="2773363" cy="43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6201" tIns="43099" rIns="86201" bIns="43099" numCol="1" anchor="b" anchorCtr="0" compatLnSpc="1"/>
          <a:lstStyle>
            <a:lvl1pPr defTabSz="862330" eaLnBrk="1" latinLnBrk="1" hangingPunct="1">
              <a:defRPr kumimoji="1" sz="1100">
                <a:latin typeface="Times New Roman" panose="02020603050405020304" pitchFamily="18" charset="0"/>
                <a:ea typeface="宋体" panose="02010600030101010101" pitchFamily="2" charset="-122"/>
              </a:defRPr>
            </a:lvl1pPr>
          </a:lstStyle>
          <a:p>
            <a:pPr>
              <a:defRPr/>
            </a:pPr>
            <a:endParaRPr lang="en-US" altLang="zh-CN" dirty="0">
              <a:ea typeface="微软雅黑" panose="020B0503020204020204" pitchFamily="34" charset="-122"/>
            </a:endParaRPr>
          </a:p>
        </p:txBody>
      </p:sp>
      <p:sp>
        <p:nvSpPr>
          <p:cNvPr id="31749" name="Rectangle 5"/>
          <p:cNvSpPr>
            <a:spLocks noGrp="1" noChangeArrowheads="1"/>
          </p:cNvSpPr>
          <p:nvPr>
            <p:ph type="sldNum" sz="quarter" idx="3"/>
          </p:nvPr>
        </p:nvSpPr>
        <p:spPr bwMode="auto">
          <a:xfrm>
            <a:off x="3627438" y="8251825"/>
            <a:ext cx="2773362" cy="43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6201" tIns="43099" rIns="86201" bIns="43099" numCol="1" anchor="b" anchorCtr="0" compatLnSpc="1"/>
          <a:lstStyle>
            <a:lvl1pPr algn="r" defTabSz="862330" eaLnBrk="1" latinLnBrk="1" hangingPunct="1">
              <a:defRPr kumimoji="1" sz="1100">
                <a:latin typeface="Times New Roman" panose="02020603050405020304" pitchFamily="18" charset="0"/>
                <a:ea typeface="宋体" panose="02010600030101010101" pitchFamily="2" charset="-122"/>
              </a:defRPr>
            </a:lvl1pPr>
          </a:lstStyle>
          <a:p>
            <a:pPr>
              <a:defRPr/>
            </a:pPr>
            <a:fld id="{56A1991C-6362-4795-95E8-6E409B523B26}" type="slidenum">
              <a:rPr lang="en-US" altLang="zh-CN">
                <a:ea typeface="微软雅黑" panose="020B0503020204020204" pitchFamily="34" charset="-122"/>
              </a:rPr>
              <a:t>‹#›</a:t>
            </a:fld>
            <a:endParaRPr lang="en-US" altLang="zh-CN" dirty="0">
              <a:ea typeface="微软雅黑" panose="020B0503020204020204" pitchFamily="34"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Rectangle 2"/>
          <p:cNvSpPr>
            <a:spLocks noGrp="1" noChangeArrowheads="1"/>
          </p:cNvSpPr>
          <p:nvPr>
            <p:ph type="hdr" sz="quarter"/>
          </p:nvPr>
        </p:nvSpPr>
        <p:spPr bwMode="auto">
          <a:xfrm>
            <a:off x="0" y="0"/>
            <a:ext cx="2773363" cy="43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6201" tIns="43099" rIns="86201" bIns="43099" numCol="1" anchor="t" anchorCtr="0" compatLnSpc="1"/>
          <a:lstStyle>
            <a:lvl1pPr defTabSz="862330" eaLnBrk="1" latinLnBrk="1" hangingPunct="1">
              <a:defRPr kumimoji="1" sz="1100">
                <a:latin typeface="Times New Roman" panose="02020603050405020304" pitchFamily="18" charset="0"/>
                <a:ea typeface="微软雅黑" panose="020B0503020204020204" pitchFamily="34" charset="-122"/>
              </a:defRPr>
            </a:lvl1pPr>
          </a:lstStyle>
          <a:p>
            <a:pPr>
              <a:defRPr/>
            </a:pPr>
            <a:endParaRPr lang="en-US" altLang="zh-CN" dirty="0"/>
          </a:p>
        </p:txBody>
      </p:sp>
      <p:sp>
        <p:nvSpPr>
          <p:cNvPr id="30723" name="Rectangle 3"/>
          <p:cNvSpPr>
            <a:spLocks noGrp="1" noChangeArrowheads="1"/>
          </p:cNvSpPr>
          <p:nvPr>
            <p:ph type="dt" idx="1"/>
          </p:nvPr>
        </p:nvSpPr>
        <p:spPr bwMode="auto">
          <a:xfrm>
            <a:off x="3627438" y="0"/>
            <a:ext cx="2773362" cy="43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6201" tIns="43099" rIns="86201" bIns="43099" numCol="1" anchor="t" anchorCtr="0" compatLnSpc="1"/>
          <a:lstStyle>
            <a:lvl1pPr algn="r" defTabSz="862330" eaLnBrk="1" latinLnBrk="1" hangingPunct="1">
              <a:defRPr kumimoji="1" sz="1100">
                <a:latin typeface="Times New Roman" panose="02020603050405020304" pitchFamily="18" charset="0"/>
                <a:ea typeface="微软雅黑" panose="020B0503020204020204" pitchFamily="34" charset="-122"/>
              </a:defRPr>
            </a:lvl1pPr>
          </a:lstStyle>
          <a:p>
            <a:pPr>
              <a:defRPr/>
            </a:pPr>
            <a:fld id="{901BB706-2087-4C78-9866-D4E342199E42}" type="datetimeFigureOut">
              <a:rPr lang="en-US" altLang="zh-CN" smtClean="0"/>
              <a:t>3/24/2024</a:t>
            </a:fld>
            <a:endParaRPr lang="en-US" altLang="zh-CN" dirty="0"/>
          </a:p>
        </p:txBody>
      </p:sp>
      <p:sp>
        <p:nvSpPr>
          <p:cNvPr id="3076" name="Rectangle 4"/>
          <p:cNvSpPr>
            <a:spLocks noGrp="1" noRot="1" noChangeAspect="1" noChangeArrowheads="1" noTextEdit="1"/>
          </p:cNvSpPr>
          <p:nvPr>
            <p:ph type="sldImg" idx="2"/>
          </p:nvPr>
        </p:nvSpPr>
        <p:spPr bwMode="auto">
          <a:xfrm>
            <a:off x="304800" y="650875"/>
            <a:ext cx="5791200" cy="3257550"/>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0725" name="Rectangle 5"/>
          <p:cNvSpPr>
            <a:spLocks noGrp="1" noChangeArrowheads="1"/>
          </p:cNvSpPr>
          <p:nvPr>
            <p:ph type="body" sz="quarter" idx="3"/>
          </p:nvPr>
        </p:nvSpPr>
        <p:spPr bwMode="auto">
          <a:xfrm>
            <a:off x="854075" y="4125913"/>
            <a:ext cx="4692650" cy="3910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6201" tIns="43099" rIns="86201" bIns="43099" numCol="1" anchor="t" anchorCtr="0" compatLnSpc="1"/>
          <a:lstStyle/>
          <a:p>
            <a:pPr lvl="0"/>
            <a:r>
              <a:rPr lang="zh-CN" altLang="en-US" noProof="0" dirty="0"/>
              <a:t>单击此处编辑母版文本样式</a:t>
            </a:r>
          </a:p>
          <a:p>
            <a:pPr lvl="1"/>
            <a:r>
              <a:rPr lang="zh-CN" altLang="en-US" noProof="0" dirty="0"/>
              <a:t>第二级</a:t>
            </a:r>
          </a:p>
          <a:p>
            <a:pPr lvl="2"/>
            <a:r>
              <a:rPr lang="zh-CN" altLang="en-US" noProof="0" dirty="0"/>
              <a:t>第三级</a:t>
            </a:r>
          </a:p>
          <a:p>
            <a:pPr lvl="3"/>
            <a:r>
              <a:rPr lang="zh-CN" altLang="en-US" noProof="0" dirty="0"/>
              <a:t>第四级</a:t>
            </a:r>
          </a:p>
          <a:p>
            <a:pPr lvl="4"/>
            <a:r>
              <a:rPr lang="zh-CN" altLang="en-US" noProof="0" dirty="0"/>
              <a:t>第五级</a:t>
            </a:r>
          </a:p>
        </p:txBody>
      </p:sp>
      <p:sp>
        <p:nvSpPr>
          <p:cNvPr id="30726" name="Rectangle 6"/>
          <p:cNvSpPr>
            <a:spLocks noGrp="1" noChangeArrowheads="1"/>
          </p:cNvSpPr>
          <p:nvPr>
            <p:ph type="ftr" sz="quarter" idx="4"/>
          </p:nvPr>
        </p:nvSpPr>
        <p:spPr bwMode="auto">
          <a:xfrm>
            <a:off x="0" y="8251825"/>
            <a:ext cx="2773363" cy="43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6201" tIns="43099" rIns="86201" bIns="43099" numCol="1" anchor="b" anchorCtr="0" compatLnSpc="1"/>
          <a:lstStyle>
            <a:lvl1pPr defTabSz="862330" eaLnBrk="1" latinLnBrk="1" hangingPunct="1">
              <a:defRPr kumimoji="1" sz="1100">
                <a:latin typeface="Times New Roman" panose="02020603050405020304" pitchFamily="18" charset="0"/>
                <a:ea typeface="微软雅黑" panose="020B0503020204020204" pitchFamily="34" charset="-122"/>
              </a:defRPr>
            </a:lvl1pPr>
          </a:lstStyle>
          <a:p>
            <a:pPr>
              <a:defRPr/>
            </a:pPr>
            <a:endParaRPr lang="en-US" altLang="zh-CN" dirty="0"/>
          </a:p>
        </p:txBody>
      </p:sp>
      <p:sp>
        <p:nvSpPr>
          <p:cNvPr id="30727" name="Rectangle 7"/>
          <p:cNvSpPr>
            <a:spLocks noGrp="1" noChangeArrowheads="1"/>
          </p:cNvSpPr>
          <p:nvPr>
            <p:ph type="sldNum" sz="quarter" idx="5"/>
          </p:nvPr>
        </p:nvSpPr>
        <p:spPr bwMode="auto">
          <a:xfrm>
            <a:off x="3627438" y="8251825"/>
            <a:ext cx="2773362" cy="43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6201" tIns="43099" rIns="86201" bIns="43099" numCol="1" anchor="b" anchorCtr="0" compatLnSpc="1"/>
          <a:lstStyle>
            <a:lvl1pPr algn="r" defTabSz="862330" eaLnBrk="1" latinLnBrk="1" hangingPunct="1">
              <a:defRPr kumimoji="1" sz="1100">
                <a:latin typeface="Times New Roman" panose="02020603050405020304" pitchFamily="18" charset="0"/>
                <a:ea typeface="微软雅黑" panose="020B0503020204020204" pitchFamily="34" charset="-122"/>
              </a:defRPr>
            </a:lvl1pPr>
          </a:lstStyle>
          <a:p>
            <a:pPr>
              <a:defRPr/>
            </a:pPr>
            <a:fld id="{276C582E-0752-4FCA-8E88-DA8DD40C2D79}" type="slidenum">
              <a:rPr lang="en-US" altLang="zh-CN" smtClean="0"/>
              <a:t>‹#›</a:t>
            </a:fld>
            <a:endParaRPr lang="en-US" altLang="zh-CN"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微软雅黑" panose="020B0503020204020204" pitchFamily="34"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微软雅黑" panose="020B0503020204020204" pitchFamily="34"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微软雅黑" panose="020B0503020204020204" pitchFamily="34"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微软雅黑" panose="020B0503020204020204" pitchFamily="34"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F746CD99-6E8D-4B6D-B389-020080E8F378}" type="slidenum">
              <a:rPr lang="en-US" altLang="zh-CN"/>
              <a:t>2</a:t>
            </a:fld>
            <a:endParaRPr lang="en-US" altLang="zh-CN"/>
          </a:p>
        </p:txBody>
      </p:sp>
      <p:sp>
        <p:nvSpPr>
          <p:cNvPr id="309250" name="Rectangle 2"/>
          <p:cNvSpPr>
            <a:spLocks noGrp="1" noRot="1" noChangeAspect="1" noChangeArrowheads="1" noTextEdit="1"/>
          </p:cNvSpPr>
          <p:nvPr>
            <p:ph type="sldImg"/>
          </p:nvPr>
        </p:nvSpPr>
        <p:spPr/>
      </p:sp>
      <p:sp>
        <p:nvSpPr>
          <p:cNvPr id="309251" name="Rectangle 3"/>
          <p:cNvSpPr>
            <a:spLocks noGrp="1" noChangeArrowheads="1"/>
          </p:cNvSpPr>
          <p:nvPr>
            <p:ph type="body" idx="1"/>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6F3A717B-65AB-4815-B190-F176E108CC0A}" type="slidenum">
              <a:rPr lang="en-US" altLang="zh-CN"/>
              <a:t>3</a:t>
            </a:fld>
            <a:endParaRPr lang="en-US" altLang="zh-CN"/>
          </a:p>
        </p:txBody>
      </p:sp>
      <p:sp>
        <p:nvSpPr>
          <p:cNvPr id="320514" name="Rectangle 2"/>
          <p:cNvSpPr>
            <a:spLocks noGrp="1" noRot="1" noChangeAspect="1" noChangeArrowheads="1" noTextEdit="1"/>
          </p:cNvSpPr>
          <p:nvPr>
            <p:ph type="sldImg"/>
          </p:nvPr>
        </p:nvSpPr>
        <p:spPr/>
      </p:sp>
      <p:sp>
        <p:nvSpPr>
          <p:cNvPr id="320515" name="Rectangle 3"/>
          <p:cNvSpPr>
            <a:spLocks noGrp="1" noChangeArrowheads="1"/>
          </p:cNvSpPr>
          <p:nvPr>
            <p:ph type="body" idx="1"/>
          </p:nvPr>
        </p:nvSpPr>
        <p:spPr/>
        <p:txBody>
          <a:bodyPr/>
          <a:lstStyle/>
          <a:p>
            <a:pPr>
              <a:lnSpc>
                <a:spcPct val="80000"/>
              </a:lnSpc>
            </a:pPr>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4ABFCE94-05BA-4338-992D-350044C7A231}" type="slidenum">
              <a:rPr lang="en-US" altLang="zh-CN"/>
              <a:t>7</a:t>
            </a:fld>
            <a:endParaRPr lang="en-US" altLang="zh-CN"/>
          </a:p>
        </p:txBody>
      </p:sp>
      <p:sp>
        <p:nvSpPr>
          <p:cNvPr id="269314" name="Rectangle 2"/>
          <p:cNvSpPr>
            <a:spLocks noGrp="1" noRot="1" noChangeAspect="1" noChangeArrowheads="1" noTextEdit="1"/>
          </p:cNvSpPr>
          <p:nvPr>
            <p:ph type="sldImg"/>
          </p:nvPr>
        </p:nvSpPr>
        <p:spPr/>
      </p:sp>
      <p:sp>
        <p:nvSpPr>
          <p:cNvPr id="269315" name="Rectangle 3"/>
          <p:cNvSpPr>
            <a:spLocks noGrp="1" noChangeArrowheads="1"/>
          </p:cNvSpPr>
          <p:nvPr>
            <p:ph type="body" idx="1"/>
          </p:nvPr>
        </p:nvSpPr>
        <p:spPr/>
        <p:txBody>
          <a:bodyPr/>
          <a:lstStyle/>
          <a:p>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115752BE-74A6-4A97-B9C4-5398BF89EF21}" type="slidenum">
              <a:rPr lang="en-US" altLang="zh-CN"/>
              <a:t>27</a:t>
            </a:fld>
            <a:endParaRPr lang="en-US" altLang="zh-CN"/>
          </a:p>
        </p:txBody>
      </p:sp>
      <p:sp>
        <p:nvSpPr>
          <p:cNvPr id="785410" name="Rectangle 2"/>
          <p:cNvSpPr>
            <a:spLocks noGrp="1" noRot="1" noChangeAspect="1" noChangeArrowheads="1" noTextEdit="1"/>
          </p:cNvSpPr>
          <p:nvPr>
            <p:ph type="sldImg"/>
          </p:nvPr>
        </p:nvSpPr>
        <p:spPr/>
      </p:sp>
      <p:sp>
        <p:nvSpPr>
          <p:cNvPr id="785411"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E1ACD62C-86F6-410D-B7C7-445705E607EE}" type="slidenum">
              <a:rPr lang="en-US" altLang="zh-CN"/>
              <a:t>47</a:t>
            </a:fld>
            <a:endParaRPr lang="en-US" altLang="zh-CN"/>
          </a:p>
        </p:txBody>
      </p:sp>
      <p:sp>
        <p:nvSpPr>
          <p:cNvPr id="826370" name="Rectangle 2"/>
          <p:cNvSpPr>
            <a:spLocks noGrp="1" noRot="1" noChangeAspect="1" noChangeArrowheads="1" noTextEdit="1"/>
          </p:cNvSpPr>
          <p:nvPr>
            <p:ph type="sldImg"/>
          </p:nvPr>
        </p:nvSpPr>
        <p:spPr/>
      </p:sp>
      <p:sp>
        <p:nvSpPr>
          <p:cNvPr id="826371" name="Rectangle 3"/>
          <p:cNvSpPr>
            <a:spLocks noGrp="1" noChangeArrowheads="1"/>
          </p:cNvSpPr>
          <p:nvPr>
            <p:ph type="body" idx="1"/>
          </p:nvPr>
        </p:nvSpPr>
        <p:spPr/>
        <p:txBody>
          <a:bodyPr/>
          <a:lstStyle/>
          <a:p>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0E4EA685-C562-4622-AFD5-BC135FEBFC51}" type="slidenum">
              <a:rPr lang="en-US" altLang="zh-CN"/>
              <a:t>80</a:t>
            </a:fld>
            <a:endParaRPr lang="en-US" altLang="zh-CN"/>
          </a:p>
        </p:txBody>
      </p:sp>
      <p:sp>
        <p:nvSpPr>
          <p:cNvPr id="291842" name="Rectangle 2"/>
          <p:cNvSpPr>
            <a:spLocks noGrp="1" noRot="1" noChangeAspect="1" noChangeArrowheads="1" noTextEdit="1"/>
          </p:cNvSpPr>
          <p:nvPr>
            <p:ph type="sldImg"/>
          </p:nvPr>
        </p:nvSpPr>
        <p:spPr/>
      </p:sp>
      <p:sp>
        <p:nvSpPr>
          <p:cNvPr id="291843" name="Rectangle 3"/>
          <p:cNvSpPr>
            <a:spLocks noGrp="1" noChangeArrowheads="1"/>
          </p:cNvSpPr>
          <p:nvPr>
            <p:ph type="body" idx="1"/>
          </p:nvPr>
        </p:nvSpPr>
        <p:spPr>
          <a:xfrm>
            <a:off x="639763" y="4125913"/>
            <a:ext cx="5121275" cy="3908425"/>
          </a:xfrm>
        </p:spPr>
        <p:txBody>
          <a:bodyPr/>
          <a:lstStyle/>
          <a:p>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276C582E-0752-4FCA-8E88-DA8DD40C2D79}" type="slidenum">
              <a:rPr lang="en-US" altLang="zh-CN" smtClean="0"/>
              <a:t>85</a:t>
            </a:fld>
            <a:endParaRPr lang="en-US"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ectangle 7"/>
          <p:cNvSpPr>
            <a:spLocks noChangeArrowheads="1"/>
          </p:cNvSpPr>
          <p:nvPr/>
        </p:nvSpPr>
        <p:spPr bwMode="auto">
          <a:xfrm>
            <a:off x="8015818" y="3248026"/>
            <a:ext cx="4176183" cy="360363"/>
          </a:xfrm>
          <a:prstGeom prst="rect">
            <a:avLst/>
          </a:prstGeom>
          <a:solidFill>
            <a:srgbClr val="0000C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a:solidFill>
                  <a:schemeClr val="tx1"/>
                </a:solidFill>
                <a:latin typeface="Arial" panose="020B0604020202020204" pitchFamily="34" charset="0"/>
                <a:ea typeface="黑体" panose="02010609060101010101" pitchFamily="49" charset="-122"/>
              </a:defRPr>
            </a:lvl1pPr>
            <a:lvl2pPr marL="742950" indent="-285750" eaLnBrk="0" hangingPunct="0">
              <a:defRPr sz="2000">
                <a:solidFill>
                  <a:schemeClr val="tx1"/>
                </a:solidFill>
                <a:latin typeface="Arial" panose="020B0604020202020204" pitchFamily="34" charset="0"/>
                <a:ea typeface="黑体" panose="02010609060101010101" pitchFamily="49" charset="-122"/>
              </a:defRPr>
            </a:lvl2pPr>
            <a:lvl3pPr marL="1143000" indent="-228600" eaLnBrk="0" hangingPunct="0">
              <a:defRPr sz="2000">
                <a:solidFill>
                  <a:schemeClr val="tx1"/>
                </a:solidFill>
                <a:latin typeface="Arial" panose="020B0604020202020204" pitchFamily="34" charset="0"/>
                <a:ea typeface="黑体" panose="02010609060101010101" pitchFamily="49" charset="-122"/>
              </a:defRPr>
            </a:lvl3pPr>
            <a:lvl4pPr marL="1600200" indent="-228600" eaLnBrk="0" hangingPunct="0">
              <a:defRPr sz="2000">
                <a:solidFill>
                  <a:schemeClr val="tx1"/>
                </a:solidFill>
                <a:latin typeface="Arial" panose="020B0604020202020204" pitchFamily="34" charset="0"/>
                <a:ea typeface="黑体" panose="02010609060101010101" pitchFamily="49" charset="-122"/>
              </a:defRPr>
            </a:lvl4pPr>
            <a:lvl5pPr marL="2057400" indent="-228600" eaLnBrk="0" hangingPunct="0">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9pPr>
          </a:lstStyle>
          <a:p>
            <a:pPr algn="ctr" eaLnBrk="1" hangingPunct="1">
              <a:defRPr/>
            </a:pPr>
            <a:endParaRPr lang="zh-CN" altLang="zh-CN" sz="1800" dirty="0">
              <a:latin typeface="Times New Roman" panose="02020603050405020304" pitchFamily="18" charset="0"/>
              <a:ea typeface="微软雅黑" panose="020B0503020204020204" pitchFamily="34" charset="-122"/>
            </a:endParaRPr>
          </a:p>
        </p:txBody>
      </p:sp>
      <p:sp>
        <p:nvSpPr>
          <p:cNvPr id="5" name="Rectangle 8"/>
          <p:cNvSpPr>
            <a:spLocks noChangeArrowheads="1"/>
          </p:cNvSpPr>
          <p:nvPr/>
        </p:nvSpPr>
        <p:spPr bwMode="auto">
          <a:xfrm>
            <a:off x="0" y="3248026"/>
            <a:ext cx="4176184" cy="360363"/>
          </a:xfrm>
          <a:prstGeom prst="rect">
            <a:avLst/>
          </a:prstGeom>
          <a:solidFill>
            <a:srgbClr val="C8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a:solidFill>
                  <a:schemeClr val="tx1"/>
                </a:solidFill>
                <a:latin typeface="Arial" panose="020B0604020202020204" pitchFamily="34" charset="0"/>
                <a:ea typeface="黑体" panose="02010609060101010101" pitchFamily="49" charset="-122"/>
              </a:defRPr>
            </a:lvl1pPr>
            <a:lvl2pPr marL="742950" indent="-285750" eaLnBrk="0" hangingPunct="0">
              <a:defRPr sz="2000">
                <a:solidFill>
                  <a:schemeClr val="tx1"/>
                </a:solidFill>
                <a:latin typeface="Arial" panose="020B0604020202020204" pitchFamily="34" charset="0"/>
                <a:ea typeface="黑体" panose="02010609060101010101" pitchFamily="49" charset="-122"/>
              </a:defRPr>
            </a:lvl2pPr>
            <a:lvl3pPr marL="1143000" indent="-228600" eaLnBrk="0" hangingPunct="0">
              <a:defRPr sz="2000">
                <a:solidFill>
                  <a:schemeClr val="tx1"/>
                </a:solidFill>
                <a:latin typeface="Arial" panose="020B0604020202020204" pitchFamily="34" charset="0"/>
                <a:ea typeface="黑体" panose="02010609060101010101" pitchFamily="49" charset="-122"/>
              </a:defRPr>
            </a:lvl3pPr>
            <a:lvl4pPr marL="1600200" indent="-228600" eaLnBrk="0" hangingPunct="0">
              <a:defRPr sz="2000">
                <a:solidFill>
                  <a:schemeClr val="tx1"/>
                </a:solidFill>
                <a:latin typeface="Arial" panose="020B0604020202020204" pitchFamily="34" charset="0"/>
                <a:ea typeface="黑体" panose="02010609060101010101" pitchFamily="49" charset="-122"/>
              </a:defRPr>
            </a:lvl4pPr>
            <a:lvl5pPr marL="2057400" indent="-228600" eaLnBrk="0" hangingPunct="0">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9pPr>
          </a:lstStyle>
          <a:p>
            <a:pPr algn="ctr" eaLnBrk="1" hangingPunct="1">
              <a:defRPr/>
            </a:pPr>
            <a:endParaRPr lang="zh-CN" altLang="zh-CN" sz="1800" dirty="0">
              <a:latin typeface="Times New Roman" panose="02020603050405020304" pitchFamily="18" charset="0"/>
              <a:ea typeface="微软雅黑" panose="020B0503020204020204" pitchFamily="34" charset="-122"/>
            </a:endParaRPr>
          </a:p>
        </p:txBody>
      </p:sp>
      <p:sp>
        <p:nvSpPr>
          <p:cNvPr id="6" name="Rectangle 9"/>
          <p:cNvSpPr>
            <a:spLocks noChangeArrowheads="1"/>
          </p:cNvSpPr>
          <p:nvPr/>
        </p:nvSpPr>
        <p:spPr bwMode="auto">
          <a:xfrm>
            <a:off x="4176185" y="3248026"/>
            <a:ext cx="3839633" cy="360363"/>
          </a:xfrm>
          <a:prstGeom prst="rect">
            <a:avLst/>
          </a:prstGeom>
          <a:solidFill>
            <a:srgbClr val="00C8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a:solidFill>
                  <a:schemeClr val="tx1"/>
                </a:solidFill>
                <a:latin typeface="Arial" panose="020B0604020202020204" pitchFamily="34" charset="0"/>
                <a:ea typeface="黑体" panose="02010609060101010101" pitchFamily="49" charset="-122"/>
              </a:defRPr>
            </a:lvl1pPr>
            <a:lvl2pPr marL="742950" indent="-285750" eaLnBrk="0" hangingPunct="0">
              <a:defRPr sz="2000">
                <a:solidFill>
                  <a:schemeClr val="tx1"/>
                </a:solidFill>
                <a:latin typeface="Arial" panose="020B0604020202020204" pitchFamily="34" charset="0"/>
                <a:ea typeface="黑体" panose="02010609060101010101" pitchFamily="49" charset="-122"/>
              </a:defRPr>
            </a:lvl2pPr>
            <a:lvl3pPr marL="1143000" indent="-228600" eaLnBrk="0" hangingPunct="0">
              <a:defRPr sz="2000">
                <a:solidFill>
                  <a:schemeClr val="tx1"/>
                </a:solidFill>
                <a:latin typeface="Arial" panose="020B0604020202020204" pitchFamily="34" charset="0"/>
                <a:ea typeface="黑体" panose="02010609060101010101" pitchFamily="49" charset="-122"/>
              </a:defRPr>
            </a:lvl3pPr>
            <a:lvl4pPr marL="1600200" indent="-228600" eaLnBrk="0" hangingPunct="0">
              <a:defRPr sz="2000">
                <a:solidFill>
                  <a:schemeClr val="tx1"/>
                </a:solidFill>
                <a:latin typeface="Arial" panose="020B0604020202020204" pitchFamily="34" charset="0"/>
                <a:ea typeface="黑体" panose="02010609060101010101" pitchFamily="49" charset="-122"/>
              </a:defRPr>
            </a:lvl4pPr>
            <a:lvl5pPr marL="2057400" indent="-228600" eaLnBrk="0" hangingPunct="0">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9pPr>
          </a:lstStyle>
          <a:p>
            <a:pPr algn="ctr" eaLnBrk="1" hangingPunct="1">
              <a:defRPr/>
            </a:pPr>
            <a:endParaRPr lang="zh-CN" altLang="zh-CN" sz="1800">
              <a:latin typeface="微软雅黑" panose="020B0503020204020204" pitchFamily="34" charset="-122"/>
              <a:ea typeface="微软雅黑" panose="020B0503020204020204" pitchFamily="34" charset="-122"/>
            </a:endParaRPr>
          </a:p>
        </p:txBody>
      </p:sp>
      <p:sp>
        <p:nvSpPr>
          <p:cNvPr id="602114" name="Rectangle 2"/>
          <p:cNvSpPr>
            <a:spLocks noGrp="1" noChangeArrowheads="1"/>
          </p:cNvSpPr>
          <p:nvPr>
            <p:ph type="ctrTitle"/>
          </p:nvPr>
        </p:nvSpPr>
        <p:spPr>
          <a:xfrm>
            <a:off x="914400" y="1638301"/>
            <a:ext cx="10363200" cy="1476375"/>
          </a:xfrm>
        </p:spPr>
        <p:txBody>
          <a:bodyPr/>
          <a:lstStyle>
            <a:lvl1pPr algn="ctr">
              <a:defRPr sz="4400"/>
            </a:lvl1pPr>
          </a:lstStyle>
          <a:p>
            <a:pPr lvl="0"/>
            <a:r>
              <a:rPr lang="en-US" altLang="zh-CN" noProof="0" dirty="0"/>
              <a:t>Click to edit Master title style</a:t>
            </a:r>
          </a:p>
        </p:txBody>
      </p:sp>
      <p:sp>
        <p:nvSpPr>
          <p:cNvPr id="602115" name="Rectangle 3"/>
          <p:cNvSpPr>
            <a:spLocks noGrp="1" noChangeArrowheads="1"/>
          </p:cNvSpPr>
          <p:nvPr>
            <p:ph type="subTitle" idx="1"/>
          </p:nvPr>
        </p:nvSpPr>
        <p:spPr>
          <a:xfrm>
            <a:off x="1828800" y="3946525"/>
            <a:ext cx="8534400" cy="1417638"/>
          </a:xfrm>
        </p:spPr>
        <p:txBody>
          <a:bodyPr/>
          <a:lstStyle>
            <a:lvl1pPr marL="0" indent="0" algn="ctr">
              <a:buFont typeface="Wingdings" panose="05000000000000000000" pitchFamily="2" charset="2"/>
              <a:buNone/>
              <a:defRPr>
                <a:latin typeface="微软雅黑" panose="020B0503020204020204" pitchFamily="34" charset="-122"/>
                <a:ea typeface="微软雅黑" panose="020B0503020204020204" pitchFamily="34" charset="-122"/>
              </a:defRPr>
            </a:lvl1pPr>
          </a:lstStyle>
          <a:p>
            <a:pPr lvl="0"/>
            <a:r>
              <a:rPr lang="en-US" altLang="zh-CN" noProof="0"/>
              <a:t>Click to edit Master subtitle style</a:t>
            </a:r>
          </a:p>
        </p:txBody>
      </p:sp>
      <p:sp>
        <p:nvSpPr>
          <p:cNvPr id="7" name="Rectangle 4"/>
          <p:cNvSpPr>
            <a:spLocks noGrp="1" noChangeArrowheads="1"/>
          </p:cNvSpPr>
          <p:nvPr>
            <p:ph type="dt" sz="half" idx="10"/>
          </p:nvPr>
        </p:nvSpPr>
        <p:spPr>
          <a:xfrm>
            <a:off x="609600" y="6245225"/>
            <a:ext cx="2844800" cy="476250"/>
          </a:xfrm>
        </p:spPr>
        <p:txBody>
          <a:bodyPr/>
          <a:lstStyle>
            <a:lvl1pPr>
              <a:defRPr>
                <a:latin typeface="微软雅黑 Light" panose="020B0502040204020203" pitchFamily="34" charset="-122"/>
                <a:ea typeface="微软雅黑 Light" panose="020B0502040204020203" pitchFamily="34" charset="-122"/>
              </a:defRPr>
            </a:lvl1pPr>
          </a:lstStyle>
          <a:p>
            <a:pPr>
              <a:defRPr/>
            </a:pPr>
            <a:fld id="{C558A38C-9563-49DB-962B-8E2D0E47AF89}" type="datetime1">
              <a:rPr lang="zh-CN" altLang="en-US" smtClean="0"/>
              <a:t>2024/3/24</a:t>
            </a:fld>
            <a:endParaRPr lang="en-US" altLang="zh-CN"/>
          </a:p>
        </p:txBody>
      </p:sp>
      <p:sp>
        <p:nvSpPr>
          <p:cNvPr id="8" name="Rectangle 5"/>
          <p:cNvSpPr>
            <a:spLocks noGrp="1" noChangeArrowheads="1"/>
          </p:cNvSpPr>
          <p:nvPr>
            <p:ph type="ftr" sz="quarter" idx="11"/>
          </p:nvPr>
        </p:nvSpPr>
        <p:spPr>
          <a:xfrm>
            <a:off x="4165600" y="6245225"/>
            <a:ext cx="3860800" cy="476250"/>
          </a:xfrm>
        </p:spPr>
        <p:txBody>
          <a:bodyPr/>
          <a:lstStyle>
            <a:lvl1pPr>
              <a:defRPr>
                <a:latin typeface="微软雅黑 Light" panose="020B0502040204020203" pitchFamily="34" charset="-122"/>
                <a:ea typeface="微软雅黑 Light" panose="020B0502040204020203" pitchFamily="34" charset="-122"/>
              </a:defRPr>
            </a:lvl1pPr>
          </a:lstStyle>
          <a:p>
            <a:pPr>
              <a:defRPr/>
            </a:pPr>
            <a:endParaRPr lang="en-US" altLang="zh-CN"/>
          </a:p>
        </p:txBody>
      </p:sp>
      <p:sp>
        <p:nvSpPr>
          <p:cNvPr id="9" name="Rectangle 6"/>
          <p:cNvSpPr>
            <a:spLocks noGrp="1" noChangeArrowheads="1"/>
          </p:cNvSpPr>
          <p:nvPr>
            <p:ph type="sldNum" sz="quarter" idx="12"/>
          </p:nvPr>
        </p:nvSpPr>
        <p:spPr>
          <a:xfrm>
            <a:off x="8737600" y="6245225"/>
            <a:ext cx="2844800" cy="476250"/>
          </a:xfrm>
        </p:spPr>
        <p:txBody>
          <a:bodyPr/>
          <a:lstStyle>
            <a:lvl1pPr>
              <a:defRPr>
                <a:solidFill>
                  <a:schemeClr val="tx1"/>
                </a:solidFill>
                <a:latin typeface="微软雅黑 Light" panose="020B0502040204020203" pitchFamily="34" charset="-122"/>
                <a:ea typeface="微软雅黑 Light" panose="020B0502040204020203" pitchFamily="34" charset="-122"/>
              </a:defRPr>
            </a:lvl1pPr>
          </a:lstStyle>
          <a:p>
            <a:pPr>
              <a:defRPr/>
            </a:pPr>
            <a:fld id="{5D3F4DF0-0E70-4480-8313-566D8EB0767C}" type="slidenum">
              <a:rPr lang="en-US" altLang="zh-CN" smtClean="0"/>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200" baseline="0">
                <a:latin typeface="微软雅黑" panose="020B0503020204020204" pitchFamily="34" charset="-122"/>
                <a:cs typeface="Times New Roman" panose="02020603050405020304" pitchFamily="18" charset="0"/>
              </a:defRPr>
            </a:lvl1pPr>
          </a:lstStyle>
          <a:p>
            <a:r>
              <a:rPr lang="zh-CN" altLang="en-US" dirty="0"/>
              <a:t>单击此处编辑母版标题样式</a:t>
            </a:r>
          </a:p>
        </p:txBody>
      </p:sp>
      <p:sp>
        <p:nvSpPr>
          <p:cNvPr id="3" name="内容占位符 2"/>
          <p:cNvSpPr>
            <a:spLocks noGrp="1"/>
          </p:cNvSpPr>
          <p:nvPr>
            <p:ph idx="1"/>
          </p:nvPr>
        </p:nvSpPr>
        <p:spPr/>
        <p:txBody>
          <a:bodyPr>
            <a:normAutofit/>
          </a:bodyPr>
          <a:lstStyle>
            <a:lvl1pPr eaLnBrk="1" hangingPunct="1">
              <a:defRPr sz="2800" baseline="0">
                <a:latin typeface="微软雅黑 Light" panose="020B0502040204020203" pitchFamily="34" charset="-122"/>
                <a:ea typeface="微软雅黑 Light" panose="020B0502040204020203" pitchFamily="34" charset="-122"/>
                <a:cs typeface="Times New Roman" panose="02020603050405020304" pitchFamily="18" charset="0"/>
              </a:defRPr>
            </a:lvl1pPr>
            <a:lvl2pPr eaLnBrk="1" hangingPunct="1">
              <a:defRPr sz="2400" baseline="0">
                <a:latin typeface="微软雅黑 Light" panose="020B0502040204020203" pitchFamily="34" charset="-122"/>
                <a:ea typeface="微软雅黑 Light" panose="020B0502040204020203" pitchFamily="34" charset="-122"/>
                <a:cs typeface="Times New Roman" panose="02020603050405020304" pitchFamily="18" charset="0"/>
              </a:defRPr>
            </a:lvl2pPr>
            <a:lvl3pPr eaLnBrk="1" hangingPunct="1">
              <a:defRPr sz="2000" baseline="0">
                <a:latin typeface="微软雅黑 Light" panose="020B0502040204020203" pitchFamily="34" charset="-122"/>
                <a:ea typeface="微软雅黑 Light" panose="020B0502040204020203" pitchFamily="34" charset="-122"/>
                <a:cs typeface="Times New Roman" panose="02020603050405020304" pitchFamily="18" charset="0"/>
              </a:defRPr>
            </a:lvl3pPr>
            <a:lvl4pPr eaLnBrk="1" hangingPunct="1">
              <a:defRPr sz="1800" baseline="0">
                <a:latin typeface="微软雅黑 Light" panose="020B0502040204020203" pitchFamily="34" charset="-122"/>
                <a:ea typeface="微软雅黑 Light" panose="020B0502040204020203" pitchFamily="34" charset="-122"/>
                <a:cs typeface="Times New Roman" panose="02020603050405020304" pitchFamily="18" charset="0"/>
              </a:defRPr>
            </a:lvl4pPr>
            <a:lvl5pPr eaLnBrk="1" hangingPunct="1">
              <a:defRPr sz="1800" baseline="0">
                <a:latin typeface="微软雅黑 Light" panose="020B0502040204020203" pitchFamily="34" charset="-122"/>
                <a:ea typeface="微软雅黑 Light" panose="020B0502040204020203" pitchFamily="34" charset="-122"/>
                <a:cs typeface="Times New Roman" panose="02020603050405020304"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4"/>
          <p:cNvSpPr>
            <a:spLocks noGrp="1" noChangeArrowheads="1"/>
          </p:cNvSpPr>
          <p:nvPr>
            <p:ph type="dt" sz="half" idx="10"/>
          </p:nvPr>
        </p:nvSpPr>
        <p:spPr>
          <a:xfrm>
            <a:off x="154517" y="6453336"/>
            <a:ext cx="2844800" cy="206375"/>
          </a:xfrm>
        </p:spPr>
        <p:txBody>
          <a:bodyPr/>
          <a:lstStyle>
            <a:lvl1pPr>
              <a:defRPr>
                <a:latin typeface="微软雅黑 Light" panose="020B0502040204020203" pitchFamily="34" charset="-122"/>
                <a:ea typeface="微软雅黑 Light" panose="020B0502040204020203" pitchFamily="34" charset="-122"/>
                <a:cs typeface="Times New Roman" panose="02020603050405020304" pitchFamily="18" charset="0"/>
              </a:defRPr>
            </a:lvl1pPr>
          </a:lstStyle>
          <a:p>
            <a:pPr>
              <a:defRPr/>
            </a:pPr>
            <a:fld id="{2F05A8FC-FE35-4522-A3F1-FDC30BC87663}" type="datetime1">
              <a:rPr lang="zh-CN" altLang="en-US" smtClean="0"/>
              <a:t>2024/3/24</a:t>
            </a:fld>
            <a:endParaRPr lang="en-US" altLang="zh-CN" dirty="0"/>
          </a:p>
        </p:txBody>
      </p:sp>
      <p:sp>
        <p:nvSpPr>
          <p:cNvPr id="5" name="Rectangle 5"/>
          <p:cNvSpPr>
            <a:spLocks noGrp="1" noChangeArrowheads="1"/>
          </p:cNvSpPr>
          <p:nvPr>
            <p:ph type="ftr" sz="quarter" idx="11"/>
          </p:nvPr>
        </p:nvSpPr>
        <p:spPr>
          <a:xfrm>
            <a:off x="4165600" y="6453336"/>
            <a:ext cx="3860800" cy="206375"/>
          </a:xfrm>
        </p:spPr>
        <p:txBody>
          <a:bodyPr/>
          <a:lstStyle>
            <a:lvl1pPr>
              <a:defRPr>
                <a:latin typeface="微软雅黑 Light" panose="020B0502040204020203" pitchFamily="34" charset="-122"/>
                <a:ea typeface="微软雅黑 Light" panose="020B0502040204020203" pitchFamily="34" charset="-122"/>
                <a:cs typeface="Times New Roman" panose="02020603050405020304" pitchFamily="18" charset="0"/>
              </a:defRPr>
            </a:lvl1pPr>
          </a:lstStyle>
          <a:p>
            <a:pPr>
              <a:defRPr/>
            </a:pPr>
            <a:endParaRPr lang="en-US" altLang="zh-CN"/>
          </a:p>
        </p:txBody>
      </p:sp>
      <p:sp>
        <p:nvSpPr>
          <p:cNvPr id="6" name="Rectangle 6"/>
          <p:cNvSpPr>
            <a:spLocks noGrp="1" noChangeArrowheads="1"/>
          </p:cNvSpPr>
          <p:nvPr>
            <p:ph type="sldNum" sz="quarter" idx="12"/>
          </p:nvPr>
        </p:nvSpPr>
        <p:spPr>
          <a:xfrm>
            <a:off x="10848528" y="6453336"/>
            <a:ext cx="1188956" cy="252266"/>
          </a:xfrm>
        </p:spPr>
        <p:txBody>
          <a:bodyPr/>
          <a:lstStyle>
            <a:lvl1pPr>
              <a:defRPr>
                <a:solidFill>
                  <a:schemeClr val="accent1">
                    <a:lumMod val="25000"/>
                  </a:schemeClr>
                </a:solidFill>
                <a:latin typeface="微软雅黑 Light" panose="020B0502040204020203" pitchFamily="34" charset="-122"/>
                <a:ea typeface="微软雅黑 Light" panose="020B0502040204020203" pitchFamily="34" charset="-122"/>
                <a:cs typeface="Times New Roman" panose="02020603050405020304" pitchFamily="18" charset="0"/>
              </a:defRPr>
            </a:lvl1pPr>
          </a:lstStyle>
          <a:p>
            <a:pPr>
              <a:defRPr/>
            </a:pPr>
            <a:fld id="{816960B2-2B11-492C-B588-5290E1274F96}" type="slidenum">
              <a:rPr lang="en-US" altLang="zh-CN" smtClean="0"/>
              <a:t>‹#›</a:t>
            </a:fld>
            <a:endParaRPr lang="en-US" altLang="zh-C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defRPr lang="zh-CN" altLang="en-US" sz="3200" baseline="0" dirty="0">
                <a:latin typeface="微软雅黑" panose="020B0503020204020204" pitchFamily="34" charset="-122"/>
              </a:defRPr>
            </a:lvl1pPr>
          </a:lstStyle>
          <a:p>
            <a:pPr lvl="0"/>
            <a:r>
              <a:rPr lang="zh-CN" altLang="en-US" dirty="0"/>
              <a:t>单击此处编辑母版标题样式</a:t>
            </a:r>
          </a:p>
        </p:txBody>
      </p:sp>
      <p:sp>
        <p:nvSpPr>
          <p:cNvPr id="3" name="内容占位符 2"/>
          <p:cNvSpPr>
            <a:spLocks noGrp="1"/>
          </p:cNvSpPr>
          <p:nvPr>
            <p:ph sz="half" idx="1"/>
          </p:nvPr>
        </p:nvSpPr>
        <p:spPr>
          <a:xfrm>
            <a:off x="334434" y="1052514"/>
            <a:ext cx="5659967" cy="5437187"/>
          </a:xfrm>
        </p:spPr>
        <p:txBody>
          <a:bodyPr>
            <a:normAutofit/>
          </a:bodyPr>
          <a:lstStyle>
            <a:lvl1pPr eaLnBrk="1" hangingPunct="1">
              <a:defRPr sz="2800" baseline="0">
                <a:latin typeface="微软雅黑 Light" panose="020B0502040204020203" pitchFamily="34" charset="-122"/>
                <a:ea typeface="微软雅黑 Light" panose="020B0502040204020203" pitchFamily="34" charset="-122"/>
                <a:cs typeface="Times New Roman" panose="02020603050405020304" pitchFamily="18" charset="0"/>
              </a:defRPr>
            </a:lvl1pPr>
            <a:lvl2pPr eaLnBrk="1" hangingPunct="1">
              <a:defRPr sz="2400" baseline="0">
                <a:latin typeface="微软雅黑 Light" panose="020B0502040204020203" pitchFamily="34" charset="-122"/>
                <a:ea typeface="微软雅黑 Light" panose="020B0502040204020203" pitchFamily="34" charset="-122"/>
                <a:cs typeface="Times New Roman" panose="02020603050405020304" pitchFamily="18" charset="0"/>
              </a:defRPr>
            </a:lvl2pPr>
            <a:lvl3pPr eaLnBrk="1" hangingPunct="1">
              <a:defRPr sz="2000" baseline="0">
                <a:latin typeface="微软雅黑 Light" panose="020B0502040204020203" pitchFamily="34" charset="-122"/>
                <a:ea typeface="微软雅黑 Light" panose="020B0502040204020203" pitchFamily="34" charset="-122"/>
                <a:cs typeface="Times New Roman" panose="02020603050405020304" pitchFamily="18" charset="0"/>
              </a:defRPr>
            </a:lvl3pPr>
            <a:lvl4pPr eaLnBrk="1" hangingPunct="1">
              <a:defRPr sz="1800" baseline="0">
                <a:latin typeface="微软雅黑 Light" panose="020B0502040204020203" pitchFamily="34" charset="-122"/>
                <a:ea typeface="微软雅黑 Light" panose="020B0502040204020203" pitchFamily="34" charset="-122"/>
                <a:cs typeface="Times New Roman" panose="02020603050405020304" pitchFamily="18" charset="0"/>
              </a:defRPr>
            </a:lvl4pPr>
            <a:lvl5pPr eaLnBrk="1" hangingPunct="1">
              <a:defRPr sz="1800" baseline="0">
                <a:latin typeface="微软雅黑 Light" panose="020B0502040204020203" pitchFamily="34" charset="-122"/>
                <a:ea typeface="微软雅黑 Light" panose="020B0502040204020203" pitchFamily="34" charset="-122"/>
                <a:cs typeface="Times New Roman" panose="02020603050405020304" pitchFamily="18" charset="0"/>
              </a:defRPr>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6197601" y="1052514"/>
            <a:ext cx="5659967" cy="5437187"/>
          </a:xfrm>
        </p:spPr>
        <p:txBody>
          <a:bodyPr>
            <a:normAutofit/>
          </a:bodyPr>
          <a:lstStyle>
            <a:lvl1pPr eaLnBrk="1" hangingPunct="1">
              <a:defRPr sz="2800" baseline="0">
                <a:latin typeface="微软雅黑 Light" panose="020B0502040204020203" pitchFamily="34" charset="-122"/>
                <a:ea typeface="微软雅黑 Light" panose="020B0502040204020203" pitchFamily="34" charset="-122"/>
                <a:cs typeface="Times New Roman" panose="02020603050405020304" pitchFamily="18" charset="0"/>
              </a:defRPr>
            </a:lvl1pPr>
            <a:lvl2pPr eaLnBrk="1" hangingPunct="1">
              <a:defRPr sz="2400" baseline="0">
                <a:latin typeface="微软雅黑 Light" panose="020B0502040204020203" pitchFamily="34" charset="-122"/>
                <a:ea typeface="微软雅黑 Light" panose="020B0502040204020203" pitchFamily="34" charset="-122"/>
                <a:cs typeface="Times New Roman" panose="02020603050405020304" pitchFamily="18" charset="0"/>
              </a:defRPr>
            </a:lvl2pPr>
            <a:lvl3pPr eaLnBrk="1" hangingPunct="1">
              <a:defRPr sz="2000" baseline="0">
                <a:latin typeface="微软雅黑 Light" panose="020B0502040204020203" pitchFamily="34" charset="-122"/>
                <a:ea typeface="微软雅黑 Light" panose="020B0502040204020203" pitchFamily="34" charset="-122"/>
                <a:cs typeface="Times New Roman" panose="02020603050405020304" pitchFamily="18" charset="0"/>
              </a:defRPr>
            </a:lvl3pPr>
            <a:lvl4pPr eaLnBrk="1" hangingPunct="1">
              <a:defRPr sz="1800" baseline="0">
                <a:latin typeface="微软雅黑 Light" panose="020B0502040204020203" pitchFamily="34" charset="-122"/>
                <a:ea typeface="微软雅黑 Light" panose="020B0502040204020203" pitchFamily="34" charset="-122"/>
                <a:cs typeface="Times New Roman" panose="02020603050405020304" pitchFamily="18" charset="0"/>
              </a:defRPr>
            </a:lvl4pPr>
            <a:lvl5pPr eaLnBrk="1" hangingPunct="1">
              <a:defRPr sz="1800" baseline="0">
                <a:latin typeface="微软雅黑 Light" panose="020B0502040204020203" pitchFamily="34" charset="-122"/>
                <a:ea typeface="微软雅黑 Light" panose="020B0502040204020203" pitchFamily="34" charset="-122"/>
                <a:cs typeface="Times New Roman" panose="02020603050405020304" pitchFamily="18" charset="0"/>
              </a:defRPr>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Rectangle 4"/>
          <p:cNvSpPr>
            <a:spLocks noGrp="1" noChangeArrowheads="1"/>
          </p:cNvSpPr>
          <p:nvPr>
            <p:ph type="dt" sz="half" idx="10"/>
          </p:nvPr>
        </p:nvSpPr>
        <p:spPr>
          <a:xfrm>
            <a:off x="154517" y="6453336"/>
            <a:ext cx="1116947" cy="206375"/>
          </a:xfrm>
        </p:spPr>
        <p:txBody>
          <a:bodyPr/>
          <a:lstStyle>
            <a:lvl1pPr>
              <a:defRPr>
                <a:latin typeface="微软雅黑 Light" panose="020B0502040204020203" pitchFamily="34" charset="-122"/>
                <a:ea typeface="微软雅黑 Light" panose="020B0502040204020203" pitchFamily="34" charset="-122"/>
                <a:cs typeface="Times New Roman" panose="02020603050405020304" pitchFamily="18" charset="0"/>
              </a:defRPr>
            </a:lvl1pPr>
          </a:lstStyle>
          <a:p>
            <a:pPr>
              <a:defRPr/>
            </a:pPr>
            <a:fld id="{74A4702B-75A0-4351-8445-3AAC53651245}" type="datetime1">
              <a:rPr lang="zh-CN" altLang="en-US" smtClean="0"/>
              <a:t>2024/3/24</a:t>
            </a:fld>
            <a:endParaRPr lang="en-US" altLang="zh-CN"/>
          </a:p>
        </p:txBody>
      </p:sp>
      <p:sp>
        <p:nvSpPr>
          <p:cNvPr id="6" name="Rectangle 5"/>
          <p:cNvSpPr>
            <a:spLocks noGrp="1" noChangeArrowheads="1"/>
          </p:cNvSpPr>
          <p:nvPr>
            <p:ph type="ftr" sz="quarter" idx="11"/>
          </p:nvPr>
        </p:nvSpPr>
        <p:spPr>
          <a:xfrm>
            <a:off x="4165600" y="6453336"/>
            <a:ext cx="3860800" cy="206375"/>
          </a:xfrm>
        </p:spPr>
        <p:txBody>
          <a:bodyPr/>
          <a:lstStyle>
            <a:lvl1pPr>
              <a:defRPr>
                <a:latin typeface="微软雅黑 Light" panose="020B0502040204020203" pitchFamily="34" charset="-122"/>
                <a:ea typeface="微软雅黑 Light" panose="020B0502040204020203" pitchFamily="34" charset="-122"/>
                <a:cs typeface="Times New Roman" panose="02020603050405020304" pitchFamily="18" charset="0"/>
              </a:defRPr>
            </a:lvl1pPr>
          </a:lstStyle>
          <a:p>
            <a:pPr>
              <a:defRPr/>
            </a:pPr>
            <a:endParaRPr lang="en-US" altLang="zh-CN"/>
          </a:p>
        </p:txBody>
      </p:sp>
      <p:sp>
        <p:nvSpPr>
          <p:cNvPr id="7" name="Rectangle 6"/>
          <p:cNvSpPr>
            <a:spLocks noGrp="1" noChangeArrowheads="1"/>
          </p:cNvSpPr>
          <p:nvPr>
            <p:ph type="sldNum" sz="quarter" idx="12"/>
          </p:nvPr>
        </p:nvSpPr>
        <p:spPr>
          <a:xfrm>
            <a:off x="10992544" y="6453336"/>
            <a:ext cx="1044940" cy="206375"/>
          </a:xfrm>
        </p:spPr>
        <p:txBody>
          <a:bodyPr/>
          <a:lstStyle>
            <a:lvl1pPr>
              <a:defRPr>
                <a:solidFill>
                  <a:schemeClr val="accent1">
                    <a:lumMod val="25000"/>
                  </a:schemeClr>
                </a:solidFill>
                <a:latin typeface="微软雅黑 Light" panose="020B0502040204020203" pitchFamily="34" charset="-122"/>
                <a:ea typeface="微软雅黑 Light" panose="020B0502040204020203" pitchFamily="34" charset="-122"/>
                <a:cs typeface="Times New Roman" panose="02020603050405020304" pitchFamily="18" charset="0"/>
              </a:defRPr>
            </a:lvl1pPr>
          </a:lstStyle>
          <a:p>
            <a:pPr>
              <a:defRPr/>
            </a:pPr>
            <a:fld id="{5ACAED0A-32C0-459D-9CE5-9FDF4154FCB4}" type="slidenum">
              <a:rPr lang="en-US" altLang="zh-CN" smtClean="0"/>
              <a:t>‹#›</a:t>
            </a:fld>
            <a:endParaRPr lang="en-US" altLang="zh-C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defRPr lang="zh-CN" altLang="en-US" sz="3200" baseline="0">
                <a:latin typeface="微软雅黑" panose="020B0503020204020204" pitchFamily="34" charset="-122"/>
              </a:defRPr>
            </a:lvl1pPr>
          </a:lstStyle>
          <a:p>
            <a:pPr lvl="0"/>
            <a:r>
              <a:rPr lang="zh-CN" altLang="en-US" dirty="0"/>
              <a:t>单击此处编辑母版标题样式</a:t>
            </a:r>
          </a:p>
        </p:txBody>
      </p:sp>
      <p:sp>
        <p:nvSpPr>
          <p:cNvPr id="3" name="Rectangle 4"/>
          <p:cNvSpPr>
            <a:spLocks noGrp="1" noChangeArrowheads="1"/>
          </p:cNvSpPr>
          <p:nvPr>
            <p:ph type="dt" sz="half" idx="10"/>
          </p:nvPr>
        </p:nvSpPr>
        <p:spPr/>
        <p:txBody>
          <a:bodyPr/>
          <a:lstStyle>
            <a:lvl1pPr>
              <a:defRPr>
                <a:latin typeface="微软雅黑 Light" panose="020B0502040204020203" pitchFamily="34" charset="-122"/>
                <a:ea typeface="微软雅黑 Light" panose="020B0502040204020203" pitchFamily="34" charset="-122"/>
                <a:cs typeface="Times New Roman" panose="02020603050405020304" pitchFamily="18" charset="0"/>
              </a:defRPr>
            </a:lvl1pPr>
          </a:lstStyle>
          <a:p>
            <a:pPr>
              <a:defRPr/>
            </a:pPr>
            <a:fld id="{7CCD3FF8-DB94-40AD-8DCD-802D0CF6FBF3}" type="datetime1">
              <a:rPr lang="zh-CN" altLang="en-US" smtClean="0"/>
              <a:t>2024/3/24</a:t>
            </a:fld>
            <a:endParaRPr lang="en-US" altLang="zh-CN"/>
          </a:p>
        </p:txBody>
      </p:sp>
      <p:sp>
        <p:nvSpPr>
          <p:cNvPr id="4" name="Rectangle 5"/>
          <p:cNvSpPr>
            <a:spLocks noGrp="1" noChangeArrowheads="1"/>
          </p:cNvSpPr>
          <p:nvPr>
            <p:ph type="ftr" sz="quarter" idx="11"/>
          </p:nvPr>
        </p:nvSpPr>
        <p:spPr/>
        <p:txBody>
          <a:bodyPr/>
          <a:lstStyle>
            <a:lvl1pPr>
              <a:defRPr>
                <a:latin typeface="微软雅黑 Light" panose="020B0502040204020203" pitchFamily="34" charset="-122"/>
                <a:ea typeface="微软雅黑 Light" panose="020B0502040204020203" pitchFamily="34" charset="-122"/>
                <a:cs typeface="Times New Roman" panose="02020603050405020304" pitchFamily="18" charset="0"/>
              </a:defRPr>
            </a:lvl1pPr>
          </a:lstStyle>
          <a:p>
            <a:pPr>
              <a:defRPr/>
            </a:pPr>
            <a:endParaRPr lang="en-US" altLang="zh-CN"/>
          </a:p>
        </p:txBody>
      </p:sp>
      <p:sp>
        <p:nvSpPr>
          <p:cNvPr id="5" name="Rectangle 6"/>
          <p:cNvSpPr>
            <a:spLocks noGrp="1" noChangeArrowheads="1"/>
          </p:cNvSpPr>
          <p:nvPr>
            <p:ph type="sldNum" sz="quarter" idx="12"/>
          </p:nvPr>
        </p:nvSpPr>
        <p:spPr>
          <a:xfrm>
            <a:off x="10848528" y="6453336"/>
            <a:ext cx="1188956" cy="206375"/>
          </a:xfrm>
        </p:spPr>
        <p:txBody>
          <a:bodyPr/>
          <a:lstStyle>
            <a:lvl1pPr>
              <a:defRPr>
                <a:latin typeface="微软雅黑 Light" panose="020B0502040204020203" pitchFamily="34" charset="-122"/>
                <a:ea typeface="微软雅黑 Light" panose="020B0502040204020203" pitchFamily="34" charset="-122"/>
                <a:cs typeface="Times New Roman" panose="02020603050405020304" pitchFamily="18" charset="0"/>
              </a:defRPr>
            </a:lvl1pPr>
          </a:lstStyle>
          <a:p>
            <a:pPr>
              <a:defRPr/>
            </a:pPr>
            <a:fld id="{A48A0D3F-54C8-4397-8424-A82B96940146}" type="slidenum">
              <a:rPr lang="en-US" altLang="zh-CN" smtClean="0"/>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atin typeface="微软雅黑 Light" panose="020B0502040204020203" pitchFamily="34" charset="-122"/>
                <a:ea typeface="微软雅黑 Light" panose="020B0502040204020203" pitchFamily="34" charset="-122"/>
              </a:defRPr>
            </a:lvl1pPr>
          </a:lstStyle>
          <a:p>
            <a:pPr>
              <a:defRPr/>
            </a:pPr>
            <a:fld id="{C023B7D7-C4B8-414A-AB8D-8E8B0D471E32}" type="datetime1">
              <a:rPr lang="zh-CN" altLang="en-US" smtClean="0"/>
              <a:t>2024/3/24</a:t>
            </a:fld>
            <a:endParaRPr lang="en-US" altLang="zh-CN"/>
          </a:p>
        </p:txBody>
      </p:sp>
      <p:sp>
        <p:nvSpPr>
          <p:cNvPr id="3" name="Rectangle 5"/>
          <p:cNvSpPr>
            <a:spLocks noGrp="1" noChangeArrowheads="1"/>
          </p:cNvSpPr>
          <p:nvPr>
            <p:ph type="ftr" sz="quarter" idx="11"/>
          </p:nvPr>
        </p:nvSpPr>
        <p:spPr/>
        <p:txBody>
          <a:bodyPr/>
          <a:lstStyle>
            <a:lvl1pPr>
              <a:defRPr>
                <a:latin typeface="微软雅黑 Light" panose="020B0502040204020203" pitchFamily="34" charset="-122"/>
                <a:ea typeface="微软雅黑 Light" panose="020B0502040204020203" pitchFamily="34" charset="-122"/>
              </a:defRPr>
            </a:lvl1pPr>
          </a:lstStyle>
          <a:p>
            <a:pPr>
              <a:defRPr/>
            </a:pPr>
            <a:endParaRPr lang="en-US" altLang="zh-CN" dirty="0"/>
          </a:p>
        </p:txBody>
      </p:sp>
      <p:sp>
        <p:nvSpPr>
          <p:cNvPr id="4" name="Rectangle 6"/>
          <p:cNvSpPr>
            <a:spLocks noGrp="1" noChangeArrowheads="1"/>
          </p:cNvSpPr>
          <p:nvPr>
            <p:ph type="sldNum" sz="quarter" idx="12"/>
          </p:nvPr>
        </p:nvSpPr>
        <p:spPr/>
        <p:txBody>
          <a:bodyPr/>
          <a:lstStyle>
            <a:lvl1pPr>
              <a:defRPr>
                <a:latin typeface="微软雅黑 Light" panose="020B0502040204020203" pitchFamily="34" charset="-122"/>
                <a:ea typeface="微软雅黑 Light" panose="020B0502040204020203" pitchFamily="34" charset="-122"/>
              </a:defRPr>
            </a:lvl1pPr>
          </a:lstStyle>
          <a:p>
            <a:pPr>
              <a:defRPr/>
            </a:pPr>
            <a:fld id="{4D270BE4-B6C0-4BD9-A22C-75B345F819BC}" type="slidenum">
              <a:rPr lang="en-US" altLang="zh-CN" smtClean="0"/>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31800" y="71438"/>
            <a:ext cx="11328400" cy="765175"/>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defRPr lang="zh-CN" altLang="en-US" sz="3200" baseline="0">
                <a:latin typeface="微软雅黑" panose="020B0503020204020204" pitchFamily="34" charset="-122"/>
              </a:defRPr>
            </a:lvl1pPr>
          </a:lstStyle>
          <a:p>
            <a:pPr lvl="0"/>
            <a:r>
              <a:rPr lang="zh-CN" altLang="en-US" dirty="0"/>
              <a:t>单击此处编辑母版标题样式</a:t>
            </a:r>
          </a:p>
        </p:txBody>
      </p:sp>
      <p:sp>
        <p:nvSpPr>
          <p:cNvPr id="3" name="表格占位符 2"/>
          <p:cNvSpPr>
            <a:spLocks noGrp="1"/>
          </p:cNvSpPr>
          <p:nvPr>
            <p:ph type="tbl" idx="1"/>
          </p:nvPr>
        </p:nvSpPr>
        <p:spPr>
          <a:xfrm>
            <a:off x="334434" y="1052514"/>
            <a:ext cx="11523133" cy="5437187"/>
          </a:xfrm>
        </p:spPr>
        <p:txBody>
          <a:bodyPr>
            <a:normAutofit/>
          </a:bodyPr>
          <a:lstStyle>
            <a:lvl1pPr>
              <a:defRPr baseline="0">
                <a:latin typeface="微软雅黑 Light" panose="020B0502040204020203" pitchFamily="34" charset="-122"/>
                <a:ea typeface="微软雅黑 Light" panose="020B0502040204020203" pitchFamily="34" charset="-122"/>
                <a:cs typeface="Times New Roman" panose="02020603050405020304" pitchFamily="18" charset="0"/>
              </a:defRPr>
            </a:lvl1pPr>
          </a:lstStyle>
          <a:p>
            <a:pPr lvl="0"/>
            <a:endParaRPr lang="zh-CN" altLang="en-US" noProof="0" dirty="0"/>
          </a:p>
        </p:txBody>
      </p:sp>
      <p:sp>
        <p:nvSpPr>
          <p:cNvPr id="4" name="Rectangle 4"/>
          <p:cNvSpPr>
            <a:spLocks noGrp="1" noChangeArrowheads="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pPr>
              <a:defRPr/>
            </a:pPr>
            <a:fld id="{BA58DBD2-DAF7-4686-908D-FBE4A4C7898C}" type="datetime1">
              <a:rPr lang="zh-CN" altLang="en-US" smtClean="0"/>
              <a:t>2024/3/24</a:t>
            </a:fld>
            <a:endParaRPr lang="en-US" altLang="zh-CN"/>
          </a:p>
        </p:txBody>
      </p:sp>
      <p:sp>
        <p:nvSpPr>
          <p:cNvPr id="5" name="Rectangle 5"/>
          <p:cNvSpPr>
            <a:spLocks noGrp="1" noChangeArrowheads="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pPr>
              <a:defRPr/>
            </a:pPr>
            <a:fld id="{6E6425F8-8564-4543-A15C-E4EDED80C1B6}" type="slidenum">
              <a:rPr lang="en-US" altLang="zh-CN" smtClean="0"/>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31800" y="71438"/>
            <a:ext cx="11328400" cy="765175"/>
          </a:xfrm>
        </p:spPr>
        <p:txBody>
          <a:bodyPr/>
          <a:lstStyle/>
          <a:p>
            <a:r>
              <a:rPr lang="zh-CN" altLang="en-US"/>
              <a:t>单击此处编辑母版标题样式</a:t>
            </a:r>
          </a:p>
        </p:txBody>
      </p:sp>
      <p:sp>
        <p:nvSpPr>
          <p:cNvPr id="3" name="文本占位符 2"/>
          <p:cNvSpPr>
            <a:spLocks noGrp="1"/>
          </p:cNvSpPr>
          <p:nvPr>
            <p:ph type="body" sz="half" idx="1"/>
          </p:nvPr>
        </p:nvSpPr>
        <p:spPr>
          <a:xfrm>
            <a:off x="334434" y="1052514"/>
            <a:ext cx="5659967" cy="54371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1" y="1052514"/>
            <a:ext cx="5659967" cy="54371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154517" y="6578601"/>
            <a:ext cx="2844800" cy="206375"/>
          </a:xfrm>
        </p:spPr>
        <p:txBody>
          <a:bodyPr/>
          <a:lstStyle>
            <a:lvl1pPr>
              <a:defRPr/>
            </a:lvl1pPr>
          </a:lstStyle>
          <a:p>
            <a:endParaRPr lang="en-US" altLang="zh-CN"/>
          </a:p>
        </p:txBody>
      </p:sp>
      <p:sp>
        <p:nvSpPr>
          <p:cNvPr id="6" name="页脚占位符 5"/>
          <p:cNvSpPr>
            <a:spLocks noGrp="1"/>
          </p:cNvSpPr>
          <p:nvPr>
            <p:ph type="ftr" sz="quarter" idx="11"/>
          </p:nvPr>
        </p:nvSpPr>
        <p:spPr>
          <a:xfrm>
            <a:off x="4165600" y="6578601"/>
            <a:ext cx="3860800" cy="206375"/>
          </a:xfrm>
        </p:spPr>
        <p:txBody>
          <a:bodyPr/>
          <a:lstStyle>
            <a:lvl1pPr>
              <a:defRPr/>
            </a:lvl1pPr>
          </a:lstStyle>
          <a:p>
            <a:endParaRPr lang="en-US" altLang="zh-CN"/>
          </a:p>
        </p:txBody>
      </p:sp>
      <p:sp>
        <p:nvSpPr>
          <p:cNvPr id="7" name="灯片编号占位符 6"/>
          <p:cNvSpPr>
            <a:spLocks noGrp="1"/>
          </p:cNvSpPr>
          <p:nvPr>
            <p:ph type="sldNum" sz="quarter" idx="12"/>
          </p:nvPr>
        </p:nvSpPr>
        <p:spPr>
          <a:xfrm>
            <a:off x="9192684" y="6578601"/>
            <a:ext cx="2844800" cy="206375"/>
          </a:xfrm>
        </p:spPr>
        <p:txBody>
          <a:bodyPr/>
          <a:lstStyle>
            <a:lvl1pPr>
              <a:defRPr/>
            </a:lvl1pPr>
          </a:lstStyle>
          <a:p>
            <a:fld id="{2FD2C8D3-1F12-4428-A894-7E9301ED420F}" type="slidenum">
              <a:rPr lang="en-US" altLang="zh-CN"/>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标题">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solidFill>
                  <a:schemeClr val="tx1"/>
                </a:solidFill>
              </a:defRPr>
            </a:lvl1pPr>
          </a:lstStyle>
          <a:p>
            <a:fld id="{AD114FF1-719B-4583-9957-F1BB4F21B98A}" type="datetime1">
              <a:rPr lang="zh-CN" altLang="en-US" smtClean="0"/>
              <a:t>2024/3/24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8BB1146-E542-4D4E-B8E9-6919A11DDD48}" type="slidenum">
              <a:rPr lang="en-US" smtClean="0"/>
              <a:t>‹#›</a:t>
            </a:fld>
            <a:endParaRPr lang="en-US"/>
          </a:p>
        </p:txBody>
      </p:sp>
      <p:sp>
        <p:nvSpPr>
          <p:cNvPr id="6" name="标题 1"/>
          <p:cNvSpPr>
            <a:spLocks noGrp="1"/>
          </p:cNvSpPr>
          <p:nvPr>
            <p:ph type="title"/>
          </p:nvPr>
        </p:nvSpPr>
        <p:spPr>
          <a:xfrm>
            <a:off x="660400" y="128587"/>
            <a:ext cx="10858500" cy="900112"/>
          </a:xfrm>
          <a:prstGeom prst="rect">
            <a:avLst/>
          </a:prstGeom>
        </p:spPr>
        <p:txBody>
          <a:bodyPr/>
          <a:lstStyle/>
          <a:p>
            <a:r>
              <a:rPr lang="zh-CN" altLang="en-US" dirty="0"/>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标题 多级编辑框（中文）">
    <p:spTree>
      <p:nvGrpSpPr>
        <p:cNvPr id="1" name=""/>
        <p:cNvGrpSpPr/>
        <p:nvPr/>
      </p:nvGrpSpPr>
      <p:grpSpPr>
        <a:xfrm>
          <a:off x="0" y="0"/>
          <a:ext cx="0" cy="0"/>
          <a:chOff x="0" y="0"/>
          <a:chExt cx="0" cy="0"/>
        </a:xfrm>
      </p:grpSpPr>
      <p:sp>
        <p:nvSpPr>
          <p:cNvPr id="5" name="内容占位符 2"/>
          <p:cNvSpPr>
            <a:spLocks noGrp="1"/>
          </p:cNvSpPr>
          <p:nvPr>
            <p:ph idx="1" hasCustomPrompt="1"/>
          </p:nvPr>
        </p:nvSpPr>
        <p:spPr>
          <a:xfrm>
            <a:off x="660400" y="1130299"/>
            <a:ext cx="10858500" cy="5105401"/>
          </a:xfrm>
          <a:prstGeom prst="rect">
            <a:avLst/>
          </a:prstGeom>
        </p:spPr>
        <p:txBody>
          <a:bodyPr/>
          <a:lstStyle>
            <a:lvl1pPr marL="228600" indent="-228600">
              <a:buClrTx/>
              <a:buFont typeface="Wingdings" panose="05000000000000000000" pitchFamily="2" charset="2"/>
              <a:buChar char="n"/>
              <a:defRPr sz="2800" b="0">
                <a:latin typeface="+mn-lt"/>
                <a:ea typeface="+mn-ea"/>
              </a:defRPr>
            </a:lvl1pPr>
            <a:lvl2pPr marL="800100" indent="-342900">
              <a:buClrTx/>
              <a:buFont typeface="Wingdings" panose="05000000000000000000" pitchFamily="2" charset="2"/>
              <a:buChar char="Ø"/>
              <a:defRPr sz="2400">
                <a:latin typeface="+mn-lt"/>
                <a:ea typeface="+mn-ea"/>
              </a:defRPr>
            </a:lvl2pPr>
            <a:lvl3pPr marL="1143000" indent="-228600">
              <a:buClrTx/>
              <a:buFont typeface="Wingdings" panose="05000000000000000000" pitchFamily="2" charset="2"/>
              <a:buChar char="Ø"/>
              <a:defRPr sz="2000">
                <a:latin typeface="+mn-lt"/>
                <a:ea typeface="+mn-ea"/>
              </a:defRPr>
            </a:lvl3pPr>
            <a:lvl4pPr marL="1657350" indent="-285750">
              <a:buClrTx/>
              <a:buFont typeface="Wingdings" panose="05000000000000000000" pitchFamily="2" charset="2"/>
              <a:buChar char="Ø"/>
              <a:defRPr sz="1600">
                <a:latin typeface="+mn-lt"/>
                <a:ea typeface="+mn-ea"/>
              </a:defRPr>
            </a:lvl4pPr>
            <a:lvl5pPr>
              <a:buClr>
                <a:srgbClr val="C00000"/>
              </a:buClr>
              <a:defRPr sz="1100">
                <a:latin typeface="微软雅黑" panose="020B0503020204020204" pitchFamily="34" charset="-122"/>
                <a:ea typeface="微软雅黑" panose="020B0503020204020204" pitchFamily="34" charset="-122"/>
              </a:defRPr>
            </a:lvl5pPr>
          </a:lstStyle>
          <a:p>
            <a:r>
              <a:rPr lang="zh-CN" altLang="en-US" dirty="0"/>
              <a:t>单击此处输入文字</a:t>
            </a:r>
            <a:r>
              <a:rPr lang="en-US" altLang="zh-CN" dirty="0" err="1"/>
              <a:t>abd</a:t>
            </a:r>
            <a:endParaRPr lang="en-US" altLang="zh-CN" dirty="0"/>
          </a:p>
          <a:p>
            <a:pPr lvl="1"/>
            <a:r>
              <a:rPr lang="zh-CN" altLang="en-US" dirty="0"/>
              <a:t>单击此处输入文字</a:t>
            </a:r>
            <a:r>
              <a:rPr lang="en-US" altLang="zh-CN" dirty="0" err="1"/>
              <a:t>abd</a:t>
            </a:r>
            <a:endParaRPr lang="en-US" altLang="zh-CN" dirty="0"/>
          </a:p>
          <a:p>
            <a:pPr lvl="2"/>
            <a:r>
              <a:rPr lang="zh-CN" altLang="en-US" dirty="0"/>
              <a:t>单击此处输入文字</a:t>
            </a:r>
            <a:r>
              <a:rPr lang="en-US" altLang="zh-CN" dirty="0" err="1"/>
              <a:t>abd</a:t>
            </a:r>
            <a:endParaRPr lang="en-US" altLang="zh-CN" dirty="0"/>
          </a:p>
          <a:p>
            <a:pPr lvl="3"/>
            <a:r>
              <a:rPr lang="zh-CN" altLang="en-US" dirty="0"/>
              <a:t>单击此处输入文字</a:t>
            </a:r>
            <a:r>
              <a:rPr lang="en-US" altLang="zh-CN" dirty="0" err="1"/>
              <a:t>abd</a:t>
            </a:r>
            <a:endParaRPr lang="en-US" altLang="zh-CN" dirty="0"/>
          </a:p>
        </p:txBody>
      </p:sp>
      <p:sp>
        <p:nvSpPr>
          <p:cNvPr id="6" name="标题 1"/>
          <p:cNvSpPr>
            <a:spLocks noGrp="1"/>
          </p:cNvSpPr>
          <p:nvPr>
            <p:ph type="title"/>
          </p:nvPr>
        </p:nvSpPr>
        <p:spPr>
          <a:xfrm>
            <a:off x="660400" y="128587"/>
            <a:ext cx="10858500" cy="900112"/>
          </a:xfrm>
          <a:prstGeom prst="rect">
            <a:avLst/>
          </a:prstGeom>
        </p:spPr>
        <p:txBody>
          <a:bodyPr/>
          <a:lstStyle/>
          <a:p>
            <a:r>
              <a:rPr lang="zh-CN" altLang="en-US" dirty="0"/>
              <a:t>单击此处编辑母版标题样式</a:t>
            </a:r>
          </a:p>
        </p:txBody>
      </p:sp>
      <p:sp>
        <p:nvSpPr>
          <p:cNvPr id="2" name="日期占位符 1"/>
          <p:cNvSpPr>
            <a:spLocks noGrp="1"/>
          </p:cNvSpPr>
          <p:nvPr>
            <p:ph type="dt" sz="half" idx="10"/>
          </p:nvPr>
        </p:nvSpPr>
        <p:spPr/>
        <p:txBody>
          <a:bodyPr/>
          <a:lstStyle/>
          <a:p>
            <a:fld id="{46C1E7AA-D2A7-490D-95EA-7758A8C148F2}" type="datetime1">
              <a:rPr lang="zh-CN" altLang="en-US" smtClean="0"/>
              <a:t>2024/3/24</a:t>
            </a:fld>
            <a:endParaRPr lang="en-US"/>
          </a:p>
        </p:txBody>
      </p:sp>
      <p:sp>
        <p:nvSpPr>
          <p:cNvPr id="3" name="页脚占位符 2"/>
          <p:cNvSpPr>
            <a:spLocks noGrp="1"/>
          </p:cNvSpPr>
          <p:nvPr>
            <p:ph type="ftr" sz="quarter" idx="11"/>
          </p:nvPr>
        </p:nvSpPr>
        <p:spPr/>
        <p:txBody>
          <a:bodyPr/>
          <a:lstStyle/>
          <a:p>
            <a:endParaRPr lang="en-US" dirty="0"/>
          </a:p>
        </p:txBody>
      </p:sp>
      <p:sp>
        <p:nvSpPr>
          <p:cNvPr id="4" name="灯片编号占位符 3"/>
          <p:cNvSpPr>
            <a:spLocks noGrp="1"/>
          </p:cNvSpPr>
          <p:nvPr>
            <p:ph type="sldNum" sz="quarter" idx="12"/>
          </p:nvPr>
        </p:nvSpPr>
        <p:spPr/>
        <p:txBody>
          <a:bodyPr/>
          <a:lstStyle/>
          <a:p>
            <a:fld id="{C8BB1146-E542-4D4E-B8E9-6919A11DDD48}"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31800" y="71438"/>
            <a:ext cx="11328400" cy="765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en-US" altLang="zh-CN" dirty="0"/>
              <a:t>Click to edit Master title style</a:t>
            </a:r>
          </a:p>
        </p:txBody>
      </p:sp>
      <p:sp>
        <p:nvSpPr>
          <p:cNvPr id="1027" name="Rectangle 3"/>
          <p:cNvSpPr>
            <a:spLocks noGrp="1" noChangeArrowheads="1"/>
          </p:cNvSpPr>
          <p:nvPr>
            <p:ph type="body" idx="1"/>
          </p:nvPr>
        </p:nvSpPr>
        <p:spPr bwMode="auto">
          <a:xfrm>
            <a:off x="334434" y="1052514"/>
            <a:ext cx="11523133" cy="5437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en-US" altLang="zh-CN" dirty="0"/>
              <a:t>Click to edit Master text styles</a:t>
            </a:r>
          </a:p>
          <a:p>
            <a:pPr lvl="1"/>
            <a:r>
              <a:rPr lang="en-US" altLang="zh-CN" dirty="0"/>
              <a:t>Second level</a:t>
            </a:r>
          </a:p>
          <a:p>
            <a:pPr lvl="2"/>
            <a:r>
              <a:rPr lang="en-US" altLang="zh-CN" dirty="0"/>
              <a:t>Third level</a:t>
            </a:r>
          </a:p>
        </p:txBody>
      </p:sp>
      <p:sp>
        <p:nvSpPr>
          <p:cNvPr id="601092" name="Rectangle 4"/>
          <p:cNvSpPr>
            <a:spLocks noGrp="1" noChangeArrowheads="1"/>
          </p:cNvSpPr>
          <p:nvPr>
            <p:ph type="dt" sz="half" idx="2"/>
          </p:nvPr>
        </p:nvSpPr>
        <p:spPr bwMode="auto">
          <a:xfrm>
            <a:off x="154517" y="6453336"/>
            <a:ext cx="2844800" cy="20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400" baseline="0">
                <a:latin typeface="微软雅黑 Light" panose="020B0502040204020203" pitchFamily="34" charset="-122"/>
                <a:ea typeface="微软雅黑" panose="020B0503020204020204" pitchFamily="34" charset="-122"/>
                <a:cs typeface="Times New Roman" panose="02020603050405020304" pitchFamily="18" charset="0"/>
              </a:defRPr>
            </a:lvl1pPr>
          </a:lstStyle>
          <a:p>
            <a:pPr>
              <a:defRPr/>
            </a:pPr>
            <a:fld id="{2D1F4785-08EB-4209-AF19-1B7710BBBAF1}" type="datetime1">
              <a:rPr lang="zh-CN" altLang="en-US" smtClean="0"/>
              <a:t>2024/3/24</a:t>
            </a:fld>
            <a:endParaRPr lang="en-US" altLang="zh-CN" dirty="0"/>
          </a:p>
        </p:txBody>
      </p:sp>
      <p:sp>
        <p:nvSpPr>
          <p:cNvPr id="601093" name="Rectangle 5"/>
          <p:cNvSpPr>
            <a:spLocks noGrp="1" noChangeArrowheads="1"/>
          </p:cNvSpPr>
          <p:nvPr>
            <p:ph type="ftr" sz="quarter" idx="3"/>
          </p:nvPr>
        </p:nvSpPr>
        <p:spPr bwMode="auto">
          <a:xfrm>
            <a:off x="4165600" y="6453336"/>
            <a:ext cx="3860800" cy="20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400" baseline="0">
                <a:latin typeface="微软雅黑 Light" panose="020B0502040204020203" pitchFamily="34" charset="-122"/>
                <a:ea typeface="微软雅黑" panose="020B0503020204020204" pitchFamily="34" charset="-122"/>
                <a:cs typeface="Times New Roman" panose="02020603050405020304" pitchFamily="18" charset="0"/>
              </a:defRPr>
            </a:lvl1pPr>
          </a:lstStyle>
          <a:p>
            <a:pPr>
              <a:defRPr/>
            </a:pPr>
            <a:endParaRPr lang="en-US" altLang="zh-CN" dirty="0"/>
          </a:p>
        </p:txBody>
      </p:sp>
      <p:sp>
        <p:nvSpPr>
          <p:cNvPr id="601094" name="Rectangle 6"/>
          <p:cNvSpPr>
            <a:spLocks noGrp="1" noChangeArrowheads="1"/>
          </p:cNvSpPr>
          <p:nvPr>
            <p:ph type="sldNum" sz="quarter" idx="4"/>
          </p:nvPr>
        </p:nvSpPr>
        <p:spPr bwMode="auto">
          <a:xfrm>
            <a:off x="9192684" y="6453336"/>
            <a:ext cx="2844800" cy="20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400" baseline="0">
                <a:solidFill>
                  <a:schemeClr val="accent1">
                    <a:lumMod val="25000"/>
                  </a:schemeClr>
                </a:solidFill>
                <a:latin typeface="微软雅黑 Light" panose="020B0502040204020203" pitchFamily="34" charset="-122"/>
                <a:ea typeface="微软雅黑" panose="020B0503020204020204" pitchFamily="34" charset="-122"/>
                <a:cs typeface="Times New Roman" panose="02020603050405020304" pitchFamily="18" charset="0"/>
              </a:defRPr>
            </a:lvl1pPr>
          </a:lstStyle>
          <a:p>
            <a:pPr>
              <a:defRPr/>
            </a:pPr>
            <a:fld id="{E3FAE0D9-500F-4F53-BD2E-C1D74A0BC936}" type="slidenum">
              <a:rPr lang="en-US" altLang="zh-CN" smtClean="0"/>
              <a:t>‹#›</a:t>
            </a:fld>
            <a:endParaRPr lang="en-US" altLang="zh-CN" dirty="0"/>
          </a:p>
        </p:txBody>
      </p:sp>
      <p:sp>
        <p:nvSpPr>
          <p:cNvPr id="1031" name="Rectangle 7"/>
          <p:cNvSpPr>
            <a:spLocks noChangeArrowheads="1"/>
          </p:cNvSpPr>
          <p:nvPr/>
        </p:nvSpPr>
        <p:spPr bwMode="auto">
          <a:xfrm>
            <a:off x="2554818" y="863600"/>
            <a:ext cx="9637183" cy="71438"/>
          </a:xfrm>
          <a:prstGeom prst="rect">
            <a:avLst/>
          </a:prstGeom>
          <a:solidFill>
            <a:srgbClr val="0000C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a:solidFill>
                  <a:schemeClr val="tx1"/>
                </a:solidFill>
                <a:latin typeface="Arial" panose="020B0604020202020204" pitchFamily="34" charset="0"/>
                <a:ea typeface="黑体" panose="02010609060101010101" pitchFamily="49" charset="-122"/>
              </a:defRPr>
            </a:lvl1pPr>
            <a:lvl2pPr marL="742950" indent="-285750" eaLnBrk="0" hangingPunct="0">
              <a:defRPr sz="2000">
                <a:solidFill>
                  <a:schemeClr val="tx1"/>
                </a:solidFill>
                <a:latin typeface="Arial" panose="020B0604020202020204" pitchFamily="34" charset="0"/>
                <a:ea typeface="黑体" panose="02010609060101010101" pitchFamily="49" charset="-122"/>
              </a:defRPr>
            </a:lvl2pPr>
            <a:lvl3pPr marL="1143000" indent="-228600" eaLnBrk="0" hangingPunct="0">
              <a:defRPr sz="2000">
                <a:solidFill>
                  <a:schemeClr val="tx1"/>
                </a:solidFill>
                <a:latin typeface="Arial" panose="020B0604020202020204" pitchFamily="34" charset="0"/>
                <a:ea typeface="黑体" panose="02010609060101010101" pitchFamily="49" charset="-122"/>
              </a:defRPr>
            </a:lvl3pPr>
            <a:lvl4pPr marL="1600200" indent="-228600" eaLnBrk="0" hangingPunct="0">
              <a:defRPr sz="2000">
                <a:solidFill>
                  <a:schemeClr val="tx1"/>
                </a:solidFill>
                <a:latin typeface="Arial" panose="020B0604020202020204" pitchFamily="34" charset="0"/>
                <a:ea typeface="黑体" panose="02010609060101010101" pitchFamily="49" charset="-122"/>
              </a:defRPr>
            </a:lvl4pPr>
            <a:lvl5pPr marL="2057400" indent="-228600" eaLnBrk="0" hangingPunct="0">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9pPr>
          </a:lstStyle>
          <a:p>
            <a:pPr algn="ctr" eaLnBrk="1" hangingPunct="1">
              <a:defRPr/>
            </a:pPr>
            <a:endParaRPr lang="zh-CN" altLang="zh-CN" sz="1800" baseline="0" dirty="0">
              <a:latin typeface="微软雅黑 Light" panose="020B0502040204020203" pitchFamily="34" charset="-122"/>
              <a:ea typeface="微软雅黑" panose="020B0503020204020204" pitchFamily="34" charset="-122"/>
              <a:cs typeface="Times New Roman" panose="02020603050405020304" pitchFamily="18" charset="0"/>
            </a:endParaRPr>
          </a:p>
        </p:txBody>
      </p:sp>
      <p:sp>
        <p:nvSpPr>
          <p:cNvPr id="1032" name="Rectangle 8"/>
          <p:cNvSpPr>
            <a:spLocks noChangeArrowheads="1"/>
          </p:cNvSpPr>
          <p:nvPr/>
        </p:nvSpPr>
        <p:spPr bwMode="auto">
          <a:xfrm>
            <a:off x="0" y="863600"/>
            <a:ext cx="1295400" cy="71438"/>
          </a:xfrm>
          <a:prstGeom prst="rect">
            <a:avLst/>
          </a:prstGeom>
          <a:solidFill>
            <a:srgbClr val="C8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a:solidFill>
                  <a:schemeClr val="tx1"/>
                </a:solidFill>
                <a:latin typeface="Arial" panose="020B0604020202020204" pitchFamily="34" charset="0"/>
                <a:ea typeface="黑体" panose="02010609060101010101" pitchFamily="49" charset="-122"/>
              </a:defRPr>
            </a:lvl1pPr>
            <a:lvl2pPr marL="742950" indent="-285750" eaLnBrk="0" hangingPunct="0">
              <a:defRPr sz="2000">
                <a:solidFill>
                  <a:schemeClr val="tx1"/>
                </a:solidFill>
                <a:latin typeface="Arial" panose="020B0604020202020204" pitchFamily="34" charset="0"/>
                <a:ea typeface="黑体" panose="02010609060101010101" pitchFamily="49" charset="-122"/>
              </a:defRPr>
            </a:lvl2pPr>
            <a:lvl3pPr marL="1143000" indent="-228600" eaLnBrk="0" hangingPunct="0">
              <a:defRPr sz="2000">
                <a:solidFill>
                  <a:schemeClr val="tx1"/>
                </a:solidFill>
                <a:latin typeface="Arial" panose="020B0604020202020204" pitchFamily="34" charset="0"/>
                <a:ea typeface="黑体" panose="02010609060101010101" pitchFamily="49" charset="-122"/>
              </a:defRPr>
            </a:lvl3pPr>
            <a:lvl4pPr marL="1600200" indent="-228600" eaLnBrk="0" hangingPunct="0">
              <a:defRPr sz="2000">
                <a:solidFill>
                  <a:schemeClr val="tx1"/>
                </a:solidFill>
                <a:latin typeface="Arial" panose="020B0604020202020204" pitchFamily="34" charset="0"/>
                <a:ea typeface="黑体" panose="02010609060101010101" pitchFamily="49" charset="-122"/>
              </a:defRPr>
            </a:lvl4pPr>
            <a:lvl5pPr marL="2057400" indent="-228600" eaLnBrk="0" hangingPunct="0">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9pPr>
          </a:lstStyle>
          <a:p>
            <a:pPr algn="ctr" eaLnBrk="1" hangingPunct="1">
              <a:defRPr/>
            </a:pPr>
            <a:endParaRPr lang="zh-CN" altLang="zh-CN" sz="1800" baseline="0" dirty="0">
              <a:latin typeface="微软雅黑 Light" panose="020B0502040204020203" pitchFamily="34" charset="-122"/>
              <a:ea typeface="微软雅黑" panose="020B0503020204020204" pitchFamily="34" charset="-122"/>
              <a:cs typeface="Times New Roman" panose="02020603050405020304" pitchFamily="18" charset="0"/>
            </a:endParaRPr>
          </a:p>
        </p:txBody>
      </p:sp>
      <p:sp>
        <p:nvSpPr>
          <p:cNvPr id="1033" name="Rectangle 9"/>
          <p:cNvSpPr>
            <a:spLocks noChangeArrowheads="1"/>
          </p:cNvSpPr>
          <p:nvPr/>
        </p:nvSpPr>
        <p:spPr bwMode="auto">
          <a:xfrm>
            <a:off x="1295400" y="863600"/>
            <a:ext cx="1295400" cy="71438"/>
          </a:xfrm>
          <a:prstGeom prst="rect">
            <a:avLst/>
          </a:prstGeom>
          <a:solidFill>
            <a:srgbClr val="00C8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a:solidFill>
                  <a:schemeClr val="tx1"/>
                </a:solidFill>
                <a:latin typeface="Arial" panose="020B0604020202020204" pitchFamily="34" charset="0"/>
                <a:ea typeface="黑体" panose="02010609060101010101" pitchFamily="49" charset="-122"/>
              </a:defRPr>
            </a:lvl1pPr>
            <a:lvl2pPr marL="742950" indent="-285750" eaLnBrk="0" hangingPunct="0">
              <a:defRPr sz="2000">
                <a:solidFill>
                  <a:schemeClr val="tx1"/>
                </a:solidFill>
                <a:latin typeface="Arial" panose="020B0604020202020204" pitchFamily="34" charset="0"/>
                <a:ea typeface="黑体" panose="02010609060101010101" pitchFamily="49" charset="-122"/>
              </a:defRPr>
            </a:lvl2pPr>
            <a:lvl3pPr marL="1143000" indent="-228600" eaLnBrk="0" hangingPunct="0">
              <a:defRPr sz="2000">
                <a:solidFill>
                  <a:schemeClr val="tx1"/>
                </a:solidFill>
                <a:latin typeface="Arial" panose="020B0604020202020204" pitchFamily="34" charset="0"/>
                <a:ea typeface="黑体" panose="02010609060101010101" pitchFamily="49" charset="-122"/>
              </a:defRPr>
            </a:lvl3pPr>
            <a:lvl4pPr marL="1600200" indent="-228600" eaLnBrk="0" hangingPunct="0">
              <a:defRPr sz="2000">
                <a:solidFill>
                  <a:schemeClr val="tx1"/>
                </a:solidFill>
                <a:latin typeface="Arial" panose="020B0604020202020204" pitchFamily="34" charset="0"/>
                <a:ea typeface="黑体" panose="02010609060101010101" pitchFamily="49" charset="-122"/>
              </a:defRPr>
            </a:lvl4pPr>
            <a:lvl5pPr marL="2057400" indent="-228600" eaLnBrk="0" hangingPunct="0">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9pPr>
          </a:lstStyle>
          <a:p>
            <a:pPr algn="ctr" eaLnBrk="1" hangingPunct="1">
              <a:defRPr/>
            </a:pPr>
            <a:endParaRPr lang="zh-CN" altLang="zh-CN" sz="1800" baseline="0">
              <a:latin typeface="微软雅黑 Light" panose="020B0502040204020203" pitchFamily="34" charset="-122"/>
              <a:ea typeface="微软雅黑" panose="020B0503020204020204" pitchFamily="34" charset="-122"/>
              <a:cs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hdr="0" ftr="0" dt="0"/>
  <p:txStyles>
    <p:titleStyle>
      <a:lvl1pPr algn="l" rtl="0" eaLnBrk="0" fontAlgn="base" hangingPunct="0">
        <a:spcBef>
          <a:spcPct val="0"/>
        </a:spcBef>
        <a:spcAft>
          <a:spcPct val="0"/>
        </a:spcAft>
        <a:defRPr lang="en-US" altLang="zh-CN" sz="3200" baseline="0" dirty="0">
          <a:solidFill>
            <a:schemeClr val="tx1"/>
          </a:solidFill>
          <a:latin typeface="微软雅黑 Light" panose="020B0502040204020203" pitchFamily="34" charset="-122"/>
          <a:ea typeface="微软雅黑" panose="020B0503020204020204" pitchFamily="34" charset="-122"/>
          <a:cs typeface="Times New Roman" panose="02020603050405020304" pitchFamily="18" charset="0"/>
        </a:defRPr>
      </a:lvl1pPr>
      <a:lvl2pPr algn="l" rtl="0" eaLnBrk="0" fontAlgn="base" hangingPunct="0">
        <a:spcBef>
          <a:spcPct val="0"/>
        </a:spcBef>
        <a:spcAft>
          <a:spcPct val="0"/>
        </a:spcAft>
        <a:defRPr sz="4000">
          <a:solidFill>
            <a:schemeClr val="tx1"/>
          </a:solidFill>
          <a:latin typeface="Arial" panose="020B0604020202020204" pitchFamily="34" charset="0"/>
          <a:ea typeface="黑体" panose="02010609060101010101" pitchFamily="49" charset="-122"/>
        </a:defRPr>
      </a:lvl2pPr>
      <a:lvl3pPr algn="l" rtl="0" eaLnBrk="0" fontAlgn="base" hangingPunct="0">
        <a:spcBef>
          <a:spcPct val="0"/>
        </a:spcBef>
        <a:spcAft>
          <a:spcPct val="0"/>
        </a:spcAft>
        <a:defRPr sz="4000">
          <a:solidFill>
            <a:schemeClr val="tx1"/>
          </a:solidFill>
          <a:latin typeface="Arial" panose="020B0604020202020204" pitchFamily="34" charset="0"/>
          <a:ea typeface="黑体" panose="02010609060101010101" pitchFamily="49" charset="-122"/>
        </a:defRPr>
      </a:lvl3pPr>
      <a:lvl4pPr algn="l" rtl="0" eaLnBrk="0" fontAlgn="base" hangingPunct="0">
        <a:spcBef>
          <a:spcPct val="0"/>
        </a:spcBef>
        <a:spcAft>
          <a:spcPct val="0"/>
        </a:spcAft>
        <a:defRPr sz="4000">
          <a:solidFill>
            <a:schemeClr val="tx1"/>
          </a:solidFill>
          <a:latin typeface="Arial" panose="020B0604020202020204" pitchFamily="34" charset="0"/>
          <a:ea typeface="黑体" panose="02010609060101010101" pitchFamily="49" charset="-122"/>
        </a:defRPr>
      </a:lvl4pPr>
      <a:lvl5pPr algn="l" rtl="0" eaLnBrk="0" fontAlgn="base" hangingPunct="0">
        <a:spcBef>
          <a:spcPct val="0"/>
        </a:spcBef>
        <a:spcAft>
          <a:spcPct val="0"/>
        </a:spcAft>
        <a:defRPr sz="4000">
          <a:solidFill>
            <a:schemeClr val="tx1"/>
          </a:solidFill>
          <a:latin typeface="Arial" panose="020B0604020202020204" pitchFamily="34" charset="0"/>
          <a:ea typeface="黑体" panose="02010609060101010101" pitchFamily="49" charset="-122"/>
        </a:defRPr>
      </a:lvl5pPr>
      <a:lvl6pPr marL="457200" algn="l" rtl="0" fontAlgn="base">
        <a:spcBef>
          <a:spcPct val="0"/>
        </a:spcBef>
        <a:spcAft>
          <a:spcPct val="0"/>
        </a:spcAft>
        <a:defRPr sz="4000">
          <a:solidFill>
            <a:schemeClr val="tx1"/>
          </a:solidFill>
          <a:latin typeface="Arial" panose="020B0604020202020204" pitchFamily="34" charset="0"/>
          <a:ea typeface="黑体" panose="02010609060101010101" pitchFamily="49" charset="-122"/>
        </a:defRPr>
      </a:lvl6pPr>
      <a:lvl7pPr marL="914400" algn="l" rtl="0" fontAlgn="base">
        <a:spcBef>
          <a:spcPct val="0"/>
        </a:spcBef>
        <a:spcAft>
          <a:spcPct val="0"/>
        </a:spcAft>
        <a:defRPr sz="4000">
          <a:solidFill>
            <a:schemeClr val="tx1"/>
          </a:solidFill>
          <a:latin typeface="Arial" panose="020B0604020202020204" pitchFamily="34" charset="0"/>
          <a:ea typeface="黑体" panose="02010609060101010101" pitchFamily="49" charset="-122"/>
        </a:defRPr>
      </a:lvl7pPr>
      <a:lvl8pPr marL="1371600" algn="l" rtl="0" fontAlgn="base">
        <a:spcBef>
          <a:spcPct val="0"/>
        </a:spcBef>
        <a:spcAft>
          <a:spcPct val="0"/>
        </a:spcAft>
        <a:defRPr sz="4000">
          <a:solidFill>
            <a:schemeClr val="tx1"/>
          </a:solidFill>
          <a:latin typeface="Arial" panose="020B0604020202020204" pitchFamily="34" charset="0"/>
          <a:ea typeface="黑体" panose="02010609060101010101" pitchFamily="49" charset="-122"/>
        </a:defRPr>
      </a:lvl8pPr>
      <a:lvl9pPr marL="1828800" algn="l" rtl="0" fontAlgn="base">
        <a:spcBef>
          <a:spcPct val="0"/>
        </a:spcBef>
        <a:spcAft>
          <a:spcPct val="0"/>
        </a:spcAft>
        <a:defRPr sz="4000">
          <a:solidFill>
            <a:schemeClr val="tx1"/>
          </a:solidFill>
          <a:latin typeface="Arial" panose="020B0604020202020204" pitchFamily="34" charset="0"/>
          <a:ea typeface="黑体" panose="02010609060101010101" pitchFamily="49" charset="-122"/>
        </a:defRPr>
      </a:lvl9pPr>
    </p:titleStyle>
    <p:bodyStyle>
      <a:lvl1pPr marL="342900" indent="-342900" algn="l" rtl="0" eaLnBrk="0" fontAlgn="base" hangingPunct="0">
        <a:spcBef>
          <a:spcPct val="20000"/>
        </a:spcBef>
        <a:spcAft>
          <a:spcPct val="0"/>
        </a:spcAft>
        <a:buClr>
          <a:srgbClr val="C80000"/>
        </a:buClr>
        <a:buSzPct val="80000"/>
        <a:buFont typeface="Wingdings" panose="05000000000000000000" pitchFamily="2" charset="2"/>
        <a:buChar char="n"/>
        <a:defRPr sz="2800" baseline="0">
          <a:solidFill>
            <a:schemeClr val="tx1"/>
          </a:solidFill>
          <a:latin typeface="微软雅黑 Light" panose="020B0502040204020203" pitchFamily="34" charset="-122"/>
          <a:ea typeface="微软雅黑" panose="020B0503020204020204" pitchFamily="34" charset="-122"/>
          <a:cs typeface="Times New Roman" panose="02020603050405020304" pitchFamily="18" charset="0"/>
        </a:defRPr>
      </a:lvl1pPr>
      <a:lvl2pPr marL="742950" indent="-285750" algn="l" rtl="0" eaLnBrk="0" fontAlgn="base" hangingPunct="0">
        <a:spcBef>
          <a:spcPct val="20000"/>
        </a:spcBef>
        <a:spcAft>
          <a:spcPct val="0"/>
        </a:spcAft>
        <a:buClr>
          <a:srgbClr val="00C800"/>
        </a:buClr>
        <a:buSzPct val="80000"/>
        <a:buFont typeface="Wingdings" panose="05000000000000000000" pitchFamily="2" charset="2"/>
        <a:buChar char="n"/>
        <a:defRPr sz="2400" baseline="0">
          <a:solidFill>
            <a:schemeClr val="tx1"/>
          </a:solidFill>
          <a:latin typeface="微软雅黑 Light" panose="020B0502040204020203" pitchFamily="34" charset="-122"/>
          <a:ea typeface="微软雅黑" panose="020B0503020204020204" pitchFamily="34" charset="-122"/>
          <a:cs typeface="Times New Roman" panose="02020603050405020304" pitchFamily="18" charset="0"/>
        </a:defRPr>
      </a:lvl2pPr>
      <a:lvl3pPr marL="1143000" indent="-228600" algn="l" rtl="0" eaLnBrk="0" fontAlgn="base" hangingPunct="0">
        <a:spcBef>
          <a:spcPct val="20000"/>
        </a:spcBef>
        <a:spcAft>
          <a:spcPct val="0"/>
        </a:spcAft>
        <a:buClr>
          <a:srgbClr val="0000C8"/>
        </a:buClr>
        <a:buSzPct val="80000"/>
        <a:buFont typeface="Wingdings" panose="05000000000000000000" pitchFamily="2" charset="2"/>
        <a:buChar char="n"/>
        <a:defRPr sz="2000" baseline="0">
          <a:solidFill>
            <a:schemeClr val="tx1"/>
          </a:solidFill>
          <a:latin typeface="微软雅黑 Light" panose="020B0502040204020203" pitchFamily="34" charset="-122"/>
          <a:ea typeface="微软雅黑" panose="020B0503020204020204" pitchFamily="34" charset="-122"/>
          <a:cs typeface="Times New Roman" panose="02020603050405020304" pitchFamily="18" charset="0"/>
        </a:defRPr>
      </a:lvl3pPr>
      <a:lvl4pPr marL="1600200" indent="-228600" algn="l" rtl="0" eaLnBrk="0" fontAlgn="base" hangingPunct="0">
        <a:spcBef>
          <a:spcPct val="20000"/>
        </a:spcBef>
        <a:spcAft>
          <a:spcPct val="0"/>
        </a:spcAft>
        <a:buClr>
          <a:srgbClr val="FF7F00"/>
        </a:buClr>
        <a:buSzPct val="80000"/>
        <a:buFont typeface="Wingdings" panose="05000000000000000000" pitchFamily="2" charset="2"/>
        <a:buChar char="u"/>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lgn="l" rtl="0" eaLnBrk="0" fontAlgn="base" hangingPunct="0">
        <a:spcBef>
          <a:spcPct val="20000"/>
        </a:spcBef>
        <a:spcAft>
          <a:spcPct val="0"/>
        </a:spcAft>
        <a:buSzPct val="80000"/>
        <a:buFont typeface="Wingdings" panose="05000000000000000000" pitchFamily="2" charset="2"/>
        <a:buChar char="Ø"/>
        <a:defRPr sz="2000">
          <a:solidFill>
            <a:schemeClr val="tx1"/>
          </a:solidFill>
          <a:latin typeface="+mn-lt"/>
          <a:ea typeface="+mn-ea"/>
        </a:defRPr>
      </a:lvl5pPr>
      <a:lvl6pPr marL="2514600" indent="-228600" algn="l" rtl="0" fontAlgn="base">
        <a:spcBef>
          <a:spcPct val="20000"/>
        </a:spcBef>
        <a:spcAft>
          <a:spcPct val="0"/>
        </a:spcAft>
        <a:buSzPct val="80000"/>
        <a:buFont typeface="Wingdings" panose="05000000000000000000" pitchFamily="2" charset="2"/>
        <a:buChar char="Ø"/>
        <a:defRPr sz="2000">
          <a:solidFill>
            <a:schemeClr val="tx1"/>
          </a:solidFill>
          <a:latin typeface="+mn-lt"/>
          <a:ea typeface="+mn-ea"/>
        </a:defRPr>
      </a:lvl6pPr>
      <a:lvl7pPr marL="2971800" indent="-228600" algn="l" rtl="0" fontAlgn="base">
        <a:spcBef>
          <a:spcPct val="20000"/>
        </a:spcBef>
        <a:spcAft>
          <a:spcPct val="0"/>
        </a:spcAft>
        <a:buSzPct val="80000"/>
        <a:buFont typeface="Wingdings" panose="05000000000000000000" pitchFamily="2" charset="2"/>
        <a:buChar char="Ø"/>
        <a:defRPr sz="2000">
          <a:solidFill>
            <a:schemeClr val="tx1"/>
          </a:solidFill>
          <a:latin typeface="+mn-lt"/>
          <a:ea typeface="+mn-ea"/>
        </a:defRPr>
      </a:lvl7pPr>
      <a:lvl8pPr marL="3429000" indent="-228600" algn="l" rtl="0" fontAlgn="base">
        <a:spcBef>
          <a:spcPct val="20000"/>
        </a:spcBef>
        <a:spcAft>
          <a:spcPct val="0"/>
        </a:spcAft>
        <a:buSzPct val="80000"/>
        <a:buFont typeface="Wingdings" panose="05000000000000000000" pitchFamily="2" charset="2"/>
        <a:buChar char="Ø"/>
        <a:defRPr sz="2000">
          <a:solidFill>
            <a:schemeClr val="tx1"/>
          </a:solidFill>
          <a:latin typeface="+mn-lt"/>
          <a:ea typeface="+mn-ea"/>
        </a:defRPr>
      </a:lvl8pPr>
      <a:lvl9pPr marL="3886200" indent="-228600" algn="l" rtl="0" fontAlgn="base">
        <a:spcBef>
          <a:spcPct val="20000"/>
        </a:spcBef>
        <a:spcAft>
          <a:spcPct val="0"/>
        </a:spcAft>
        <a:buSzPct val="80000"/>
        <a:buFont typeface="Wingdings" panose="05000000000000000000" pitchFamily="2" charset="2"/>
        <a:buChar char="Ø"/>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9.svg"/></Relationships>
</file>

<file path=ppt/slides/_rels/slide6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9.sv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9.svg"/></Relationships>
</file>

<file path=ppt/slides/_rels/slide6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 Id="rId5" Type="http://schemas.openxmlformats.org/officeDocument/2006/relationships/image" Target="../media/image26.png"/><Relationship Id="rId4" Type="http://schemas.openxmlformats.org/officeDocument/2006/relationships/image" Target="../media/image25.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计算机网络</a:t>
            </a:r>
          </a:p>
        </p:txBody>
      </p:sp>
      <p:sp>
        <p:nvSpPr>
          <p:cNvPr id="3" name="副标题 2"/>
          <p:cNvSpPr>
            <a:spLocks noGrp="1"/>
          </p:cNvSpPr>
          <p:nvPr>
            <p:ph type="subTitle" idx="1"/>
          </p:nvPr>
        </p:nvSpPr>
        <p:spPr/>
        <p:txBody>
          <a:bodyPr/>
          <a:lstStyle/>
          <a:p>
            <a:r>
              <a:rPr lang="zh-CN" altLang="en-US" dirty="0">
                <a:latin typeface="+mn-ea"/>
                <a:ea typeface="+mn-ea"/>
                <a:cs typeface="华文琥珀" panose="02010800040101010101" charset="-122"/>
              </a:rPr>
              <a:t>胡亮</a:t>
            </a:r>
            <a:r>
              <a:rPr lang="en-US" altLang="zh-CN" dirty="0">
                <a:latin typeface="+mn-ea"/>
                <a:ea typeface="+mn-ea"/>
                <a:cs typeface="华文琥珀" panose="02010800040101010101" charset="-122"/>
              </a:rPr>
              <a:t> </a:t>
            </a:r>
            <a:r>
              <a:rPr lang="zh-CN" altLang="en-US" dirty="0">
                <a:latin typeface="+mn-ea"/>
                <a:ea typeface="+mn-ea"/>
                <a:cs typeface="华文琥珀" panose="02010800040101010101" charset="-122"/>
              </a:rPr>
              <a:t>等编著</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1CFDECCF-5931-4396-BA35-4A7EEF6894E3}" type="slidenum">
              <a:rPr lang="en-US" altLang="zh-CN"/>
              <a:t>2</a:t>
            </a:fld>
            <a:endParaRPr lang="en-US" altLang="zh-CN"/>
          </a:p>
        </p:txBody>
      </p:sp>
      <p:sp>
        <p:nvSpPr>
          <p:cNvPr id="240642" name="Rectangle 2"/>
          <p:cNvSpPr>
            <a:spLocks noGrp="1" noChangeArrowheads="1"/>
          </p:cNvSpPr>
          <p:nvPr>
            <p:ph type="title"/>
          </p:nvPr>
        </p:nvSpPr>
        <p:spPr/>
        <p:txBody>
          <a:bodyPr/>
          <a:lstStyle/>
          <a:p>
            <a:pPr algn="ctr"/>
            <a:r>
              <a:rPr lang="zh-CN" altLang="en-US" dirty="0"/>
              <a:t>第六章 传输层</a:t>
            </a:r>
          </a:p>
        </p:txBody>
      </p:sp>
      <p:sp>
        <p:nvSpPr>
          <p:cNvPr id="240643" name="Rectangle 3"/>
          <p:cNvSpPr>
            <a:spLocks noGrp="1" noChangeArrowheads="1"/>
          </p:cNvSpPr>
          <p:nvPr>
            <p:ph type="body" idx="1"/>
          </p:nvPr>
        </p:nvSpPr>
        <p:spPr/>
        <p:txBody>
          <a:bodyPr/>
          <a:lstStyle/>
          <a:p>
            <a:pPr marL="0" algn="l" latinLnBrk="0">
              <a:lnSpc>
                <a:spcPct val="100000"/>
              </a:lnSpc>
              <a:spcBef>
                <a:spcPct val="20000"/>
              </a:spcBef>
              <a:buNone/>
            </a:pPr>
            <a:r>
              <a:rPr lang="en-US" altLang="zh-CN" dirty="0"/>
              <a:t>6.1  传输层基本原理 </a:t>
            </a:r>
          </a:p>
          <a:p>
            <a:pPr marL="0" algn="l" latinLnBrk="0">
              <a:lnSpc>
                <a:spcPct val="100000"/>
              </a:lnSpc>
              <a:spcBef>
                <a:spcPct val="20000"/>
              </a:spcBef>
              <a:buNone/>
            </a:pPr>
            <a:r>
              <a:rPr lang="en-US" altLang="zh-CN" dirty="0"/>
              <a:t>6.2  用户数据报协议</a:t>
            </a:r>
          </a:p>
          <a:p>
            <a:pPr marL="0" algn="l" latinLnBrk="0">
              <a:lnSpc>
                <a:spcPct val="100000"/>
              </a:lnSpc>
              <a:spcBef>
                <a:spcPct val="20000"/>
              </a:spcBef>
              <a:buNone/>
            </a:pPr>
            <a:r>
              <a:rPr lang="en-US" altLang="zh-CN" dirty="0"/>
              <a:t>6.3  传输控制协议</a:t>
            </a:r>
          </a:p>
          <a:p>
            <a:pPr marL="0" algn="l" latinLnBrk="0">
              <a:lnSpc>
                <a:spcPct val="100000"/>
              </a:lnSpc>
              <a:spcBef>
                <a:spcPct val="20000"/>
              </a:spcBef>
              <a:buNone/>
            </a:pPr>
            <a:r>
              <a:rPr lang="en-US" altLang="zh-CN" dirty="0"/>
              <a:t>6.4  快速UDP网络连接</a:t>
            </a:r>
          </a:p>
          <a:p>
            <a:pPr marL="0" algn="l" latinLnBrk="0">
              <a:lnSpc>
                <a:spcPct val="100000"/>
              </a:lnSpc>
              <a:spcBef>
                <a:spcPct val="20000"/>
              </a:spcBef>
              <a:buNone/>
            </a:pPr>
            <a:r>
              <a:rPr lang="en-US" altLang="zh-CN" dirty="0"/>
              <a:t>6.5  socket程序设计</a:t>
            </a:r>
          </a:p>
          <a:p>
            <a:pPr marL="0" algn="l" latinLnBrk="0">
              <a:lnSpc>
                <a:spcPct val="100000"/>
              </a:lnSpc>
              <a:spcBef>
                <a:spcPct val="20000"/>
              </a:spcBef>
              <a:buNone/>
            </a:pPr>
            <a:r>
              <a:rPr lang="en-US" altLang="zh-CN" dirty="0"/>
              <a:t>6.6  本章总结</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D4A65705-26D7-471B-93D3-6680F470EFC8}" type="slidenum">
              <a:rPr lang="en-US" altLang="zh-CN"/>
              <a:t>3</a:t>
            </a:fld>
            <a:endParaRPr lang="en-US" altLang="zh-CN"/>
          </a:p>
        </p:txBody>
      </p:sp>
      <p:sp>
        <p:nvSpPr>
          <p:cNvPr id="241666" name="Rectangle 2"/>
          <p:cNvSpPr>
            <a:spLocks noGrp="1" noChangeArrowheads="1"/>
          </p:cNvSpPr>
          <p:nvPr>
            <p:ph type="title"/>
          </p:nvPr>
        </p:nvSpPr>
        <p:spPr/>
        <p:txBody>
          <a:bodyPr/>
          <a:lstStyle/>
          <a:p>
            <a:r>
              <a:rPr lang="en-US" altLang="zh-CN" dirty="0"/>
              <a:t>6.1</a:t>
            </a:r>
            <a:r>
              <a:rPr lang="zh-CN" altLang="en-US" dirty="0"/>
              <a:t>传输层基本原理</a:t>
            </a:r>
          </a:p>
        </p:txBody>
      </p:sp>
      <p:sp>
        <p:nvSpPr>
          <p:cNvPr id="241667" name="Rectangle 3"/>
          <p:cNvSpPr>
            <a:spLocks noGrp="1" noChangeArrowheads="1"/>
          </p:cNvSpPr>
          <p:nvPr>
            <p:ph type="body" idx="1"/>
          </p:nvPr>
        </p:nvSpPr>
        <p:spPr>
          <a:xfrm>
            <a:off x="334645" y="1052830"/>
            <a:ext cx="11522075" cy="1929765"/>
          </a:xfrm>
        </p:spPr>
        <p:txBody>
          <a:bodyPr/>
          <a:lstStyle/>
          <a:p>
            <a:pPr latinLnBrk="0">
              <a:lnSpc>
                <a:spcPct val="100000"/>
              </a:lnSpc>
              <a:spcBef>
                <a:spcPts val="0"/>
              </a:spcBef>
            </a:pPr>
            <a:r>
              <a:rPr lang="zh-CN" altLang="en-US" dirty="0">
                <a:latin typeface="+mn-lt"/>
              </a:rPr>
              <a:t>在</a:t>
            </a:r>
            <a:r>
              <a:rPr lang="en-US" altLang="zh-CN" dirty="0">
                <a:latin typeface="+mn-lt"/>
              </a:rPr>
              <a:t>OSI </a:t>
            </a:r>
            <a:r>
              <a:rPr lang="zh-CN" altLang="en-US" dirty="0">
                <a:latin typeface="+mn-lt"/>
              </a:rPr>
              <a:t>参考模型中，传输层位于通信子网和资源子网之间，是整个协议层次中最核心的一层</a:t>
            </a:r>
          </a:p>
          <a:p>
            <a:pPr latinLnBrk="0">
              <a:lnSpc>
                <a:spcPct val="100000"/>
              </a:lnSpc>
              <a:spcBef>
                <a:spcPts val="0"/>
              </a:spcBef>
            </a:pPr>
            <a:r>
              <a:rPr lang="zh-CN" altLang="en-US" dirty="0">
                <a:latin typeface="+mn-lt"/>
              </a:rPr>
              <a:t>传输层为源主机上的进程和目的主机上的进程之间提供可靠的透明数据传送，使高层用户在相互通信时不必关心通信子网实现的细节</a:t>
            </a:r>
          </a:p>
        </p:txBody>
      </p:sp>
      <p:grpSp>
        <p:nvGrpSpPr>
          <p:cNvPr id="5" name="组合 4"/>
          <p:cNvGrpSpPr/>
          <p:nvPr/>
        </p:nvGrpSpPr>
        <p:grpSpPr>
          <a:xfrm>
            <a:off x="2495600" y="3143375"/>
            <a:ext cx="6696744" cy="2844677"/>
            <a:chOff x="1774825" y="1491927"/>
            <a:chExt cx="8250238" cy="4313337"/>
          </a:xfrm>
        </p:grpSpPr>
        <p:sp>
          <p:nvSpPr>
            <p:cNvPr id="7" name="矩形 6"/>
            <p:cNvSpPr/>
            <p:nvPr/>
          </p:nvSpPr>
          <p:spPr bwMode="auto">
            <a:xfrm>
              <a:off x="4837385" y="1491927"/>
              <a:ext cx="2733254" cy="4313337"/>
            </a:xfrm>
            <a:prstGeom prst="rect">
              <a:avLst/>
            </a:prstGeom>
            <a:ln w="57150">
              <a:solidFill>
                <a:srgbClr val="333399"/>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8" name="Rectangle 64"/>
            <p:cNvSpPr>
              <a:spLocks noChangeArrowheads="1"/>
            </p:cNvSpPr>
            <p:nvPr/>
          </p:nvSpPr>
          <p:spPr bwMode="auto">
            <a:xfrm>
              <a:off x="5708650" y="5268914"/>
              <a:ext cx="947934" cy="466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a:solidFill>
                    <a:srgbClr val="000000"/>
                  </a:solidFill>
                  <a:latin typeface="微软雅黑 Light" panose="020B0502040204020203" pitchFamily="34" charset="-122"/>
                  <a:ea typeface="微软雅黑 Light" panose="020B0502040204020203" pitchFamily="34" charset="-122"/>
                </a:rPr>
                <a:t>物理层</a:t>
              </a:r>
              <a:endParaRPr lang="zh-CN" altLang="en-US" sz="1400">
                <a:latin typeface="微软雅黑 Light" panose="020B0502040204020203" pitchFamily="34" charset="-122"/>
                <a:ea typeface="微软雅黑 Light" panose="020B0502040204020203" pitchFamily="34" charset="-122"/>
              </a:endParaRPr>
            </a:p>
          </p:txBody>
        </p:sp>
        <p:sp>
          <p:nvSpPr>
            <p:cNvPr id="9" name="Rectangle 65"/>
            <p:cNvSpPr>
              <a:spLocks noChangeArrowheads="1"/>
            </p:cNvSpPr>
            <p:nvPr/>
          </p:nvSpPr>
          <p:spPr bwMode="auto">
            <a:xfrm>
              <a:off x="5387975" y="4649788"/>
              <a:ext cx="1579890" cy="466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a:solidFill>
                    <a:srgbClr val="000000"/>
                  </a:solidFill>
                  <a:latin typeface="微软雅黑 Light" panose="020B0502040204020203" pitchFamily="34" charset="-122"/>
                  <a:ea typeface="微软雅黑 Light" panose="020B0502040204020203" pitchFamily="34" charset="-122"/>
                </a:rPr>
                <a:t>数据链路层</a:t>
              </a:r>
              <a:endParaRPr lang="zh-CN" altLang="en-US" sz="1400">
                <a:latin typeface="微软雅黑 Light" panose="020B0502040204020203" pitchFamily="34" charset="-122"/>
                <a:ea typeface="微软雅黑 Light" panose="020B0502040204020203" pitchFamily="34" charset="-122"/>
              </a:endParaRPr>
            </a:p>
          </p:txBody>
        </p:sp>
        <p:sp>
          <p:nvSpPr>
            <p:cNvPr id="10" name="Rectangle 66"/>
            <p:cNvSpPr>
              <a:spLocks noChangeArrowheads="1"/>
            </p:cNvSpPr>
            <p:nvPr/>
          </p:nvSpPr>
          <p:spPr bwMode="auto">
            <a:xfrm>
              <a:off x="5708650" y="4030663"/>
              <a:ext cx="947934" cy="466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a:solidFill>
                    <a:srgbClr val="000000"/>
                  </a:solidFill>
                  <a:latin typeface="微软雅黑 Light" panose="020B0502040204020203" pitchFamily="34" charset="-122"/>
                  <a:ea typeface="微软雅黑 Light" panose="020B0502040204020203" pitchFamily="34" charset="-122"/>
                </a:rPr>
                <a:t>网络层</a:t>
              </a:r>
              <a:endParaRPr lang="zh-CN" altLang="en-US" sz="1400">
                <a:latin typeface="微软雅黑 Light" panose="020B0502040204020203" pitchFamily="34" charset="-122"/>
                <a:ea typeface="微软雅黑 Light" panose="020B0502040204020203" pitchFamily="34" charset="-122"/>
              </a:endParaRPr>
            </a:p>
          </p:txBody>
        </p:sp>
        <p:sp>
          <p:nvSpPr>
            <p:cNvPr id="11" name="Rectangle 67"/>
            <p:cNvSpPr>
              <a:spLocks noChangeArrowheads="1"/>
            </p:cNvSpPr>
            <p:nvPr/>
          </p:nvSpPr>
          <p:spPr bwMode="auto">
            <a:xfrm>
              <a:off x="5708650" y="3411537"/>
              <a:ext cx="947934" cy="466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a:solidFill>
                    <a:srgbClr val="000000"/>
                  </a:solidFill>
                  <a:latin typeface="微软雅黑 Light" panose="020B0502040204020203" pitchFamily="34" charset="-122"/>
                  <a:ea typeface="微软雅黑 Light" panose="020B0502040204020203" pitchFamily="34" charset="-122"/>
                </a:rPr>
                <a:t>传输层</a:t>
              </a:r>
              <a:endParaRPr lang="zh-CN" altLang="en-US" sz="1400">
                <a:latin typeface="微软雅黑 Light" panose="020B0502040204020203" pitchFamily="34" charset="-122"/>
                <a:ea typeface="微软雅黑 Light" panose="020B0502040204020203" pitchFamily="34" charset="-122"/>
              </a:endParaRPr>
            </a:p>
          </p:txBody>
        </p:sp>
        <p:sp>
          <p:nvSpPr>
            <p:cNvPr id="12" name="Rectangle 68"/>
            <p:cNvSpPr>
              <a:spLocks noChangeArrowheads="1"/>
            </p:cNvSpPr>
            <p:nvPr/>
          </p:nvSpPr>
          <p:spPr bwMode="auto">
            <a:xfrm>
              <a:off x="5708650" y="2792413"/>
              <a:ext cx="947934" cy="466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a:solidFill>
                    <a:srgbClr val="000000"/>
                  </a:solidFill>
                  <a:latin typeface="微软雅黑 Light" panose="020B0502040204020203" pitchFamily="34" charset="-122"/>
                  <a:ea typeface="微软雅黑 Light" panose="020B0502040204020203" pitchFamily="34" charset="-122"/>
                </a:rPr>
                <a:t>会话层</a:t>
              </a:r>
              <a:endParaRPr lang="zh-CN" altLang="en-US" sz="1400">
                <a:latin typeface="微软雅黑 Light" panose="020B0502040204020203" pitchFamily="34" charset="-122"/>
                <a:ea typeface="微软雅黑 Light" panose="020B0502040204020203" pitchFamily="34" charset="-122"/>
              </a:endParaRPr>
            </a:p>
          </p:txBody>
        </p:sp>
        <p:sp>
          <p:nvSpPr>
            <p:cNvPr id="13" name="Rectangle 69"/>
            <p:cNvSpPr>
              <a:spLocks noChangeArrowheads="1"/>
            </p:cNvSpPr>
            <p:nvPr/>
          </p:nvSpPr>
          <p:spPr bwMode="auto">
            <a:xfrm>
              <a:off x="5708650" y="2171700"/>
              <a:ext cx="947934" cy="466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a:solidFill>
                    <a:srgbClr val="000000"/>
                  </a:solidFill>
                  <a:latin typeface="微软雅黑 Light" panose="020B0502040204020203" pitchFamily="34" charset="-122"/>
                  <a:ea typeface="微软雅黑 Light" panose="020B0502040204020203" pitchFamily="34" charset="-122"/>
                </a:rPr>
                <a:t>表示层</a:t>
              </a:r>
              <a:endParaRPr lang="zh-CN" altLang="en-US" sz="1400">
                <a:latin typeface="微软雅黑 Light" panose="020B0502040204020203" pitchFamily="34" charset="-122"/>
                <a:ea typeface="微软雅黑 Light" panose="020B0502040204020203" pitchFamily="34" charset="-122"/>
              </a:endParaRPr>
            </a:p>
          </p:txBody>
        </p:sp>
        <p:sp>
          <p:nvSpPr>
            <p:cNvPr id="14" name="Rectangle 70"/>
            <p:cNvSpPr>
              <a:spLocks noChangeArrowheads="1"/>
            </p:cNvSpPr>
            <p:nvPr/>
          </p:nvSpPr>
          <p:spPr bwMode="auto">
            <a:xfrm>
              <a:off x="5708650" y="1552575"/>
              <a:ext cx="947934" cy="466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dirty="0">
                  <a:solidFill>
                    <a:srgbClr val="000000"/>
                  </a:solidFill>
                  <a:latin typeface="微软雅黑 Light" panose="020B0502040204020203" pitchFamily="34" charset="-122"/>
                  <a:ea typeface="微软雅黑 Light" panose="020B0502040204020203" pitchFamily="34" charset="-122"/>
                </a:rPr>
                <a:t>应用层</a:t>
              </a:r>
              <a:endParaRPr lang="zh-CN" altLang="en-US" sz="1400" dirty="0">
                <a:latin typeface="微软雅黑 Light" panose="020B0502040204020203" pitchFamily="34" charset="-122"/>
                <a:ea typeface="微软雅黑 Light" panose="020B0502040204020203" pitchFamily="34" charset="-122"/>
              </a:endParaRPr>
            </a:p>
          </p:txBody>
        </p:sp>
        <p:sp>
          <p:nvSpPr>
            <p:cNvPr id="15" name="Line 72"/>
            <p:cNvSpPr>
              <a:spLocks noChangeShapeType="1"/>
            </p:cNvSpPr>
            <p:nvPr/>
          </p:nvSpPr>
          <p:spPr bwMode="auto">
            <a:xfrm>
              <a:off x="4857750" y="2032000"/>
              <a:ext cx="2711450" cy="0"/>
            </a:xfrm>
            <a:prstGeom prst="line">
              <a:avLst/>
            </a:prstGeom>
            <a:ln w="28575">
              <a:solidFill>
                <a:srgbClr val="333399"/>
              </a:solidFill>
            </a:ln>
            <a:extLst>
              <a:ext uri="{909E8E84-426E-40DD-AFC4-6F175D3DCCD1}">
                <a14:hiddenFill xmlns:a14="http://schemas.microsoft.com/office/drawing/2010/main">
                  <a:noFill/>
                </a14:hiddenFill>
              </a:ext>
            </a:extLst>
          </p:spPr>
          <p:style>
            <a:lnRef idx="1">
              <a:schemeClr val="accent2"/>
            </a:lnRef>
            <a:fillRef idx="0">
              <a:schemeClr val="accent2"/>
            </a:fillRef>
            <a:effectRef idx="0">
              <a:schemeClr val="accent2"/>
            </a:effectRef>
            <a:fontRef idx="minor">
              <a:schemeClr val="tx1"/>
            </a:fontRef>
          </p:style>
          <p:txBody>
            <a:bodyPr/>
            <a:lstStyle/>
            <a:p>
              <a:endParaRPr lang="zh-CN" altLang="en-US" sz="1400">
                <a:latin typeface="微软雅黑 Light" panose="020B0502040204020203" pitchFamily="34" charset="-122"/>
                <a:ea typeface="微软雅黑 Light" panose="020B0502040204020203" pitchFamily="34" charset="-122"/>
              </a:endParaRPr>
            </a:p>
          </p:txBody>
        </p:sp>
        <p:sp>
          <p:nvSpPr>
            <p:cNvPr id="16" name="Line 73"/>
            <p:cNvSpPr>
              <a:spLocks noChangeShapeType="1"/>
            </p:cNvSpPr>
            <p:nvPr/>
          </p:nvSpPr>
          <p:spPr bwMode="auto">
            <a:xfrm>
              <a:off x="4857750" y="2651125"/>
              <a:ext cx="2711450" cy="0"/>
            </a:xfrm>
            <a:prstGeom prst="line">
              <a:avLst/>
            </a:prstGeom>
            <a:ln w="28575">
              <a:solidFill>
                <a:srgbClr val="333399"/>
              </a:solidFill>
            </a:ln>
            <a:extLst>
              <a:ext uri="{909E8E84-426E-40DD-AFC4-6F175D3DCCD1}">
                <a14:hiddenFill xmlns:a14="http://schemas.microsoft.com/office/drawing/2010/main">
                  <a:noFill/>
                </a14:hiddenFill>
              </a:ext>
            </a:extLst>
          </p:spPr>
          <p:style>
            <a:lnRef idx="1">
              <a:schemeClr val="accent2"/>
            </a:lnRef>
            <a:fillRef idx="0">
              <a:schemeClr val="accent2"/>
            </a:fillRef>
            <a:effectRef idx="0">
              <a:schemeClr val="accent2"/>
            </a:effectRef>
            <a:fontRef idx="minor">
              <a:schemeClr val="tx1"/>
            </a:fontRef>
          </p:style>
          <p:txBody>
            <a:bodyPr/>
            <a:lstStyle/>
            <a:p>
              <a:endParaRPr lang="zh-CN" altLang="en-US" sz="1400">
                <a:latin typeface="微软雅黑 Light" panose="020B0502040204020203" pitchFamily="34" charset="-122"/>
                <a:ea typeface="微软雅黑 Light" panose="020B0502040204020203" pitchFamily="34" charset="-122"/>
              </a:endParaRPr>
            </a:p>
          </p:txBody>
        </p:sp>
        <p:sp>
          <p:nvSpPr>
            <p:cNvPr id="17" name="Line 74"/>
            <p:cNvSpPr>
              <a:spLocks noChangeShapeType="1"/>
            </p:cNvSpPr>
            <p:nvPr/>
          </p:nvSpPr>
          <p:spPr bwMode="auto">
            <a:xfrm>
              <a:off x="4857750" y="3270250"/>
              <a:ext cx="2711450" cy="0"/>
            </a:xfrm>
            <a:prstGeom prst="line">
              <a:avLst/>
            </a:prstGeom>
            <a:ln w="28575">
              <a:solidFill>
                <a:srgbClr val="333399"/>
              </a:solidFill>
            </a:ln>
            <a:extLst>
              <a:ext uri="{909E8E84-426E-40DD-AFC4-6F175D3DCCD1}">
                <a14:hiddenFill xmlns:a14="http://schemas.microsoft.com/office/drawing/2010/main">
                  <a:noFill/>
                </a14:hiddenFill>
              </a:ext>
            </a:extLst>
          </p:spPr>
          <p:style>
            <a:lnRef idx="1">
              <a:schemeClr val="accent2"/>
            </a:lnRef>
            <a:fillRef idx="0">
              <a:schemeClr val="accent2"/>
            </a:fillRef>
            <a:effectRef idx="0">
              <a:schemeClr val="accent2"/>
            </a:effectRef>
            <a:fontRef idx="minor">
              <a:schemeClr val="tx1"/>
            </a:fontRef>
          </p:style>
          <p:txBody>
            <a:bodyPr/>
            <a:lstStyle/>
            <a:p>
              <a:endParaRPr lang="zh-CN" altLang="en-US" sz="1400">
                <a:latin typeface="微软雅黑 Light" panose="020B0502040204020203" pitchFamily="34" charset="-122"/>
                <a:ea typeface="微软雅黑 Light" panose="020B0502040204020203" pitchFamily="34" charset="-122"/>
              </a:endParaRPr>
            </a:p>
          </p:txBody>
        </p:sp>
        <p:sp>
          <p:nvSpPr>
            <p:cNvPr id="18" name="Line 75"/>
            <p:cNvSpPr>
              <a:spLocks noChangeShapeType="1"/>
            </p:cNvSpPr>
            <p:nvPr/>
          </p:nvSpPr>
          <p:spPr bwMode="auto">
            <a:xfrm>
              <a:off x="4857750" y="3889375"/>
              <a:ext cx="2711450" cy="0"/>
            </a:xfrm>
            <a:prstGeom prst="line">
              <a:avLst/>
            </a:prstGeom>
            <a:ln w="28575">
              <a:solidFill>
                <a:srgbClr val="333399"/>
              </a:solidFill>
            </a:ln>
            <a:extLst>
              <a:ext uri="{909E8E84-426E-40DD-AFC4-6F175D3DCCD1}">
                <a14:hiddenFill xmlns:a14="http://schemas.microsoft.com/office/drawing/2010/main">
                  <a:noFill/>
                </a14:hiddenFill>
              </a:ext>
            </a:extLst>
          </p:spPr>
          <p:style>
            <a:lnRef idx="1">
              <a:schemeClr val="accent2"/>
            </a:lnRef>
            <a:fillRef idx="0">
              <a:schemeClr val="accent2"/>
            </a:fillRef>
            <a:effectRef idx="0">
              <a:schemeClr val="accent2"/>
            </a:effectRef>
            <a:fontRef idx="minor">
              <a:schemeClr val="tx1"/>
            </a:fontRef>
          </p:style>
          <p:txBody>
            <a:bodyPr/>
            <a:lstStyle/>
            <a:p>
              <a:endParaRPr lang="zh-CN" altLang="en-US" sz="1400">
                <a:latin typeface="微软雅黑 Light" panose="020B0502040204020203" pitchFamily="34" charset="-122"/>
                <a:ea typeface="微软雅黑 Light" panose="020B0502040204020203" pitchFamily="34" charset="-122"/>
              </a:endParaRPr>
            </a:p>
          </p:txBody>
        </p:sp>
        <p:sp>
          <p:nvSpPr>
            <p:cNvPr id="19" name="Line 76"/>
            <p:cNvSpPr>
              <a:spLocks noChangeShapeType="1"/>
            </p:cNvSpPr>
            <p:nvPr/>
          </p:nvSpPr>
          <p:spPr bwMode="auto">
            <a:xfrm>
              <a:off x="4857750" y="4508500"/>
              <a:ext cx="2711450" cy="0"/>
            </a:xfrm>
            <a:prstGeom prst="line">
              <a:avLst/>
            </a:prstGeom>
            <a:ln w="28575">
              <a:solidFill>
                <a:srgbClr val="333399"/>
              </a:solidFill>
            </a:ln>
            <a:extLst>
              <a:ext uri="{909E8E84-426E-40DD-AFC4-6F175D3DCCD1}">
                <a14:hiddenFill xmlns:a14="http://schemas.microsoft.com/office/drawing/2010/main">
                  <a:noFill/>
                </a14:hiddenFill>
              </a:ext>
            </a:extLst>
          </p:spPr>
          <p:style>
            <a:lnRef idx="1">
              <a:schemeClr val="accent2"/>
            </a:lnRef>
            <a:fillRef idx="0">
              <a:schemeClr val="accent2"/>
            </a:fillRef>
            <a:effectRef idx="0">
              <a:schemeClr val="accent2"/>
            </a:effectRef>
            <a:fontRef idx="minor">
              <a:schemeClr val="tx1"/>
            </a:fontRef>
          </p:style>
          <p:txBody>
            <a:bodyPr/>
            <a:lstStyle/>
            <a:p>
              <a:endParaRPr lang="zh-CN" altLang="en-US" sz="1400">
                <a:latin typeface="微软雅黑 Light" panose="020B0502040204020203" pitchFamily="34" charset="-122"/>
                <a:ea typeface="微软雅黑 Light" panose="020B0502040204020203" pitchFamily="34" charset="-122"/>
              </a:endParaRPr>
            </a:p>
          </p:txBody>
        </p:sp>
        <p:sp>
          <p:nvSpPr>
            <p:cNvPr id="20" name="Line 77"/>
            <p:cNvSpPr>
              <a:spLocks noChangeShapeType="1"/>
            </p:cNvSpPr>
            <p:nvPr/>
          </p:nvSpPr>
          <p:spPr bwMode="auto">
            <a:xfrm>
              <a:off x="4857750" y="5129213"/>
              <a:ext cx="2711450" cy="0"/>
            </a:xfrm>
            <a:prstGeom prst="line">
              <a:avLst/>
            </a:prstGeom>
            <a:ln w="28575">
              <a:solidFill>
                <a:srgbClr val="333399"/>
              </a:solidFill>
            </a:ln>
            <a:extLst>
              <a:ext uri="{909E8E84-426E-40DD-AFC4-6F175D3DCCD1}">
                <a14:hiddenFill xmlns:a14="http://schemas.microsoft.com/office/drawing/2010/main">
                  <a:noFill/>
                </a14:hiddenFill>
              </a:ext>
            </a:extLst>
          </p:spPr>
          <p:style>
            <a:lnRef idx="1">
              <a:schemeClr val="accent2"/>
            </a:lnRef>
            <a:fillRef idx="0">
              <a:schemeClr val="accent2"/>
            </a:fillRef>
            <a:effectRef idx="0">
              <a:schemeClr val="accent2"/>
            </a:effectRef>
            <a:fontRef idx="minor">
              <a:schemeClr val="tx1"/>
            </a:fontRef>
          </p:style>
          <p:txBody>
            <a:bodyPr/>
            <a:lstStyle/>
            <a:p>
              <a:endParaRPr lang="zh-CN" altLang="en-US" sz="1400">
                <a:latin typeface="微软雅黑 Light" panose="020B0502040204020203" pitchFamily="34" charset="-122"/>
                <a:ea typeface="微软雅黑 Light" panose="020B0502040204020203" pitchFamily="34" charset="-122"/>
              </a:endParaRPr>
            </a:p>
          </p:txBody>
        </p:sp>
        <p:sp>
          <p:nvSpPr>
            <p:cNvPr id="21" name="Rectangle 80"/>
            <p:cNvSpPr>
              <a:spLocks noChangeArrowheads="1"/>
            </p:cNvSpPr>
            <p:nvPr/>
          </p:nvSpPr>
          <p:spPr bwMode="auto">
            <a:xfrm>
              <a:off x="1774825" y="1873250"/>
              <a:ext cx="2503488" cy="9333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r>
                <a:rPr lang="zh-CN" altLang="en-US" dirty="0">
                  <a:solidFill>
                    <a:srgbClr val="000000"/>
                  </a:solidFill>
                  <a:latin typeface="微软雅黑 Light" panose="020B0502040204020203" pitchFamily="34" charset="-122"/>
                  <a:ea typeface="微软雅黑 Light" panose="020B0502040204020203" pitchFamily="34" charset="-122"/>
                </a:rPr>
                <a:t>面向数据处理</a:t>
              </a:r>
            </a:p>
            <a:p>
              <a:pPr algn="ctr"/>
              <a:r>
                <a:rPr lang="zh-CN" altLang="en-US" dirty="0">
                  <a:solidFill>
                    <a:srgbClr val="000000"/>
                  </a:solidFill>
                  <a:latin typeface="微软雅黑 Light" panose="020B0502040204020203" pitchFamily="34" charset="-122"/>
                  <a:ea typeface="微软雅黑 Light" panose="020B0502040204020203" pitchFamily="34" charset="-122"/>
                </a:rPr>
                <a:t>传输的使用者</a:t>
              </a:r>
            </a:p>
          </p:txBody>
        </p:sp>
        <p:sp>
          <p:nvSpPr>
            <p:cNvPr id="22" name="Rectangle 82"/>
            <p:cNvSpPr>
              <a:spLocks noChangeArrowheads="1"/>
            </p:cNvSpPr>
            <p:nvPr/>
          </p:nvSpPr>
          <p:spPr bwMode="auto">
            <a:xfrm>
              <a:off x="1774825" y="4076701"/>
              <a:ext cx="2520950" cy="9333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r>
                <a:rPr lang="zh-CN" altLang="en-US">
                  <a:solidFill>
                    <a:srgbClr val="000000"/>
                  </a:solidFill>
                  <a:latin typeface="微软雅黑 Light" panose="020B0502040204020203" pitchFamily="34" charset="-122"/>
                  <a:ea typeface="微软雅黑 Light" panose="020B0502040204020203" pitchFamily="34" charset="-122"/>
                </a:rPr>
                <a:t>面向通信</a:t>
              </a:r>
            </a:p>
            <a:p>
              <a:pPr algn="ctr"/>
              <a:r>
                <a:rPr lang="zh-CN" altLang="en-US">
                  <a:solidFill>
                    <a:srgbClr val="000000"/>
                  </a:solidFill>
                  <a:latin typeface="微软雅黑 Light" panose="020B0502040204020203" pitchFamily="34" charset="-122"/>
                  <a:ea typeface="微软雅黑 Light" panose="020B0502040204020203" pitchFamily="34" charset="-122"/>
                </a:rPr>
                <a:t>传输的提供者</a:t>
              </a:r>
            </a:p>
          </p:txBody>
        </p:sp>
        <p:sp>
          <p:nvSpPr>
            <p:cNvPr id="23" name="Rectangle 84"/>
            <p:cNvSpPr>
              <a:spLocks noChangeArrowheads="1"/>
            </p:cNvSpPr>
            <p:nvPr/>
          </p:nvSpPr>
          <p:spPr bwMode="auto">
            <a:xfrm>
              <a:off x="8112125" y="2205038"/>
              <a:ext cx="1912938" cy="9333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r>
                <a:rPr lang="zh-CN" altLang="en-US">
                  <a:solidFill>
                    <a:srgbClr val="000000"/>
                  </a:solidFill>
                  <a:latin typeface="微软雅黑 Light" panose="020B0502040204020203" pitchFamily="34" charset="-122"/>
                  <a:ea typeface="微软雅黑 Light" panose="020B0502040204020203" pitchFamily="34" charset="-122"/>
                </a:rPr>
                <a:t>用户功能</a:t>
              </a:r>
            </a:p>
            <a:p>
              <a:pPr algn="ctr"/>
              <a:r>
                <a:rPr lang="zh-CN" altLang="en-US">
                  <a:solidFill>
                    <a:srgbClr val="000000"/>
                  </a:solidFill>
                  <a:latin typeface="微软雅黑 Light" panose="020B0502040204020203" pitchFamily="34" charset="-122"/>
                  <a:ea typeface="微软雅黑 Light" panose="020B0502040204020203" pitchFamily="34" charset="-122"/>
                </a:rPr>
                <a:t>资源子网</a:t>
              </a:r>
            </a:p>
          </p:txBody>
        </p:sp>
        <p:sp>
          <p:nvSpPr>
            <p:cNvPr id="24" name="Rectangle 86"/>
            <p:cNvSpPr>
              <a:spLocks noChangeArrowheads="1"/>
            </p:cNvSpPr>
            <p:nvPr/>
          </p:nvSpPr>
          <p:spPr bwMode="auto">
            <a:xfrm>
              <a:off x="8112126" y="4365626"/>
              <a:ext cx="1876425" cy="9333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r>
                <a:rPr lang="zh-CN" altLang="en-US">
                  <a:solidFill>
                    <a:srgbClr val="000000"/>
                  </a:solidFill>
                  <a:latin typeface="微软雅黑 Light" panose="020B0502040204020203" pitchFamily="34" charset="-122"/>
                  <a:ea typeface="微软雅黑 Light" panose="020B0502040204020203" pitchFamily="34" charset="-122"/>
                </a:rPr>
                <a:t>网络功能</a:t>
              </a:r>
            </a:p>
            <a:p>
              <a:pPr algn="ctr"/>
              <a:r>
                <a:rPr lang="zh-CN" altLang="en-US">
                  <a:solidFill>
                    <a:srgbClr val="000000"/>
                  </a:solidFill>
                  <a:latin typeface="微软雅黑 Light" panose="020B0502040204020203" pitchFamily="34" charset="-122"/>
                  <a:ea typeface="微软雅黑 Light" panose="020B0502040204020203" pitchFamily="34" charset="-122"/>
                </a:rPr>
                <a:t>通信子网</a:t>
              </a:r>
            </a:p>
          </p:txBody>
        </p:sp>
        <p:sp>
          <p:nvSpPr>
            <p:cNvPr id="25" name="Freeform 88"/>
            <p:cNvSpPr/>
            <p:nvPr/>
          </p:nvSpPr>
          <p:spPr bwMode="auto">
            <a:xfrm>
              <a:off x="7770813" y="4044951"/>
              <a:ext cx="246062" cy="1547813"/>
            </a:xfrm>
            <a:custGeom>
              <a:avLst/>
              <a:gdLst>
                <a:gd name="T0" fmla="*/ 0 w 20"/>
                <a:gd name="T1" fmla="*/ 0 h 110"/>
                <a:gd name="T2" fmla="*/ 10 w 20"/>
                <a:gd name="T3" fmla="*/ 9 h 110"/>
                <a:gd name="T4" fmla="*/ 10 w 20"/>
                <a:gd name="T5" fmla="*/ 46 h 110"/>
                <a:gd name="T6" fmla="*/ 20 w 20"/>
                <a:gd name="T7" fmla="*/ 55 h 110"/>
                <a:gd name="T8" fmla="*/ 10 w 20"/>
                <a:gd name="T9" fmla="*/ 64 h 110"/>
                <a:gd name="T10" fmla="*/ 10 w 20"/>
                <a:gd name="T11" fmla="*/ 101 h 110"/>
                <a:gd name="T12" fmla="*/ 0 w 20"/>
                <a:gd name="T13" fmla="*/ 110 h 110"/>
              </a:gdLst>
              <a:ahLst/>
              <a:cxnLst>
                <a:cxn ang="0">
                  <a:pos x="T0" y="T1"/>
                </a:cxn>
                <a:cxn ang="0">
                  <a:pos x="T2" y="T3"/>
                </a:cxn>
                <a:cxn ang="0">
                  <a:pos x="T4" y="T5"/>
                </a:cxn>
                <a:cxn ang="0">
                  <a:pos x="T6" y="T7"/>
                </a:cxn>
                <a:cxn ang="0">
                  <a:pos x="T8" y="T9"/>
                </a:cxn>
                <a:cxn ang="0">
                  <a:pos x="T10" y="T11"/>
                </a:cxn>
                <a:cxn ang="0">
                  <a:pos x="T12" y="T13"/>
                </a:cxn>
              </a:cxnLst>
              <a:rect l="0" t="0" r="r" b="b"/>
              <a:pathLst>
                <a:path w="20" h="110">
                  <a:moveTo>
                    <a:pt x="0" y="0"/>
                  </a:moveTo>
                  <a:cubicBezTo>
                    <a:pt x="6" y="0"/>
                    <a:pt x="10" y="4"/>
                    <a:pt x="10" y="9"/>
                  </a:cubicBezTo>
                  <a:lnTo>
                    <a:pt x="10" y="46"/>
                  </a:lnTo>
                  <a:cubicBezTo>
                    <a:pt x="10" y="51"/>
                    <a:pt x="14" y="55"/>
                    <a:pt x="20" y="55"/>
                  </a:cubicBezTo>
                  <a:cubicBezTo>
                    <a:pt x="14" y="55"/>
                    <a:pt x="10" y="59"/>
                    <a:pt x="10" y="64"/>
                  </a:cubicBezTo>
                  <a:lnTo>
                    <a:pt x="10" y="101"/>
                  </a:lnTo>
                  <a:cubicBezTo>
                    <a:pt x="10" y="106"/>
                    <a:pt x="6" y="110"/>
                    <a:pt x="0" y="110"/>
                  </a:cubicBezTo>
                </a:path>
              </a:pathLst>
            </a:custGeom>
            <a:noFill/>
            <a:ln w="19050" cap="flat"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a:latin typeface="微软雅黑 Light" panose="020B0502040204020203" pitchFamily="34" charset="-122"/>
                <a:ea typeface="微软雅黑 Light" panose="020B0502040204020203" pitchFamily="34" charset="-122"/>
              </a:endParaRPr>
            </a:p>
          </p:txBody>
        </p:sp>
        <p:sp>
          <p:nvSpPr>
            <p:cNvPr id="26" name="Freeform 89"/>
            <p:cNvSpPr/>
            <p:nvPr/>
          </p:nvSpPr>
          <p:spPr bwMode="auto">
            <a:xfrm>
              <a:off x="4440238" y="1511300"/>
              <a:ext cx="215900" cy="1701800"/>
            </a:xfrm>
            <a:custGeom>
              <a:avLst/>
              <a:gdLst>
                <a:gd name="T0" fmla="*/ 20 w 20"/>
                <a:gd name="T1" fmla="*/ 0 h 110"/>
                <a:gd name="T2" fmla="*/ 10 w 20"/>
                <a:gd name="T3" fmla="*/ 9 h 110"/>
                <a:gd name="T4" fmla="*/ 10 w 20"/>
                <a:gd name="T5" fmla="*/ 46 h 110"/>
                <a:gd name="T6" fmla="*/ 0 w 20"/>
                <a:gd name="T7" fmla="*/ 55 h 110"/>
                <a:gd name="T8" fmla="*/ 10 w 20"/>
                <a:gd name="T9" fmla="*/ 64 h 110"/>
                <a:gd name="T10" fmla="*/ 10 w 20"/>
                <a:gd name="T11" fmla="*/ 101 h 110"/>
                <a:gd name="T12" fmla="*/ 20 w 20"/>
                <a:gd name="T13" fmla="*/ 110 h 110"/>
              </a:gdLst>
              <a:ahLst/>
              <a:cxnLst>
                <a:cxn ang="0">
                  <a:pos x="T0" y="T1"/>
                </a:cxn>
                <a:cxn ang="0">
                  <a:pos x="T2" y="T3"/>
                </a:cxn>
                <a:cxn ang="0">
                  <a:pos x="T4" y="T5"/>
                </a:cxn>
                <a:cxn ang="0">
                  <a:pos x="T6" y="T7"/>
                </a:cxn>
                <a:cxn ang="0">
                  <a:pos x="T8" y="T9"/>
                </a:cxn>
                <a:cxn ang="0">
                  <a:pos x="T10" y="T11"/>
                </a:cxn>
                <a:cxn ang="0">
                  <a:pos x="T12" y="T13"/>
                </a:cxn>
              </a:cxnLst>
              <a:rect l="0" t="0" r="r" b="b"/>
              <a:pathLst>
                <a:path w="20" h="110">
                  <a:moveTo>
                    <a:pt x="20" y="0"/>
                  </a:moveTo>
                  <a:cubicBezTo>
                    <a:pt x="14" y="0"/>
                    <a:pt x="10" y="4"/>
                    <a:pt x="10" y="9"/>
                  </a:cubicBezTo>
                  <a:lnTo>
                    <a:pt x="10" y="46"/>
                  </a:lnTo>
                  <a:cubicBezTo>
                    <a:pt x="10" y="51"/>
                    <a:pt x="6" y="55"/>
                    <a:pt x="0" y="55"/>
                  </a:cubicBezTo>
                  <a:cubicBezTo>
                    <a:pt x="6" y="55"/>
                    <a:pt x="10" y="59"/>
                    <a:pt x="10" y="64"/>
                  </a:cubicBezTo>
                  <a:lnTo>
                    <a:pt x="10" y="101"/>
                  </a:lnTo>
                  <a:cubicBezTo>
                    <a:pt x="10" y="106"/>
                    <a:pt x="14" y="110"/>
                    <a:pt x="20" y="110"/>
                  </a:cubicBezTo>
                </a:path>
              </a:pathLst>
            </a:custGeom>
            <a:noFill/>
            <a:ln w="19050" cmpd="sng">
              <a:solidFill>
                <a:srgbClr val="333399"/>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sz="1400">
                <a:latin typeface="微软雅黑 Light" panose="020B0502040204020203" pitchFamily="34" charset="-122"/>
                <a:ea typeface="微软雅黑 Light" panose="020B0502040204020203" pitchFamily="34" charset="-122"/>
              </a:endParaRPr>
            </a:p>
          </p:txBody>
        </p:sp>
        <p:sp>
          <p:nvSpPr>
            <p:cNvPr id="27" name="Freeform 90"/>
            <p:cNvSpPr/>
            <p:nvPr/>
          </p:nvSpPr>
          <p:spPr bwMode="auto">
            <a:xfrm>
              <a:off x="4410075" y="3386139"/>
              <a:ext cx="265385" cy="2206625"/>
            </a:xfrm>
            <a:custGeom>
              <a:avLst/>
              <a:gdLst>
                <a:gd name="T0" fmla="*/ 20 w 20"/>
                <a:gd name="T1" fmla="*/ 0 h 110"/>
                <a:gd name="T2" fmla="*/ 10 w 20"/>
                <a:gd name="T3" fmla="*/ 9 h 110"/>
                <a:gd name="T4" fmla="*/ 10 w 20"/>
                <a:gd name="T5" fmla="*/ 46 h 110"/>
                <a:gd name="T6" fmla="*/ 0 w 20"/>
                <a:gd name="T7" fmla="*/ 55 h 110"/>
                <a:gd name="T8" fmla="*/ 10 w 20"/>
                <a:gd name="T9" fmla="*/ 64 h 110"/>
                <a:gd name="T10" fmla="*/ 10 w 20"/>
                <a:gd name="T11" fmla="*/ 101 h 110"/>
                <a:gd name="T12" fmla="*/ 20 w 20"/>
                <a:gd name="T13" fmla="*/ 110 h 110"/>
              </a:gdLst>
              <a:ahLst/>
              <a:cxnLst>
                <a:cxn ang="0">
                  <a:pos x="T0" y="T1"/>
                </a:cxn>
                <a:cxn ang="0">
                  <a:pos x="T2" y="T3"/>
                </a:cxn>
                <a:cxn ang="0">
                  <a:pos x="T4" y="T5"/>
                </a:cxn>
                <a:cxn ang="0">
                  <a:pos x="T6" y="T7"/>
                </a:cxn>
                <a:cxn ang="0">
                  <a:pos x="T8" y="T9"/>
                </a:cxn>
                <a:cxn ang="0">
                  <a:pos x="T10" y="T11"/>
                </a:cxn>
                <a:cxn ang="0">
                  <a:pos x="T12" y="T13"/>
                </a:cxn>
              </a:cxnLst>
              <a:rect l="0" t="0" r="r" b="b"/>
              <a:pathLst>
                <a:path w="20" h="110">
                  <a:moveTo>
                    <a:pt x="20" y="0"/>
                  </a:moveTo>
                  <a:cubicBezTo>
                    <a:pt x="14" y="0"/>
                    <a:pt x="10" y="4"/>
                    <a:pt x="10" y="9"/>
                  </a:cubicBezTo>
                  <a:lnTo>
                    <a:pt x="10" y="46"/>
                  </a:lnTo>
                  <a:cubicBezTo>
                    <a:pt x="10" y="51"/>
                    <a:pt x="6" y="55"/>
                    <a:pt x="0" y="55"/>
                  </a:cubicBezTo>
                  <a:cubicBezTo>
                    <a:pt x="6" y="55"/>
                    <a:pt x="10" y="59"/>
                    <a:pt x="10" y="64"/>
                  </a:cubicBezTo>
                  <a:lnTo>
                    <a:pt x="10" y="101"/>
                  </a:lnTo>
                  <a:cubicBezTo>
                    <a:pt x="10" y="106"/>
                    <a:pt x="14" y="110"/>
                    <a:pt x="20" y="110"/>
                  </a:cubicBezTo>
                </a:path>
              </a:pathLst>
            </a:custGeom>
            <a:noFill/>
            <a:ln w="19050" cap="flat"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a:latin typeface="微软雅黑 Light" panose="020B0502040204020203" pitchFamily="34" charset="-122"/>
                <a:ea typeface="微软雅黑 Light" panose="020B0502040204020203" pitchFamily="34" charset="-122"/>
              </a:endParaRPr>
            </a:p>
          </p:txBody>
        </p:sp>
        <p:sp>
          <p:nvSpPr>
            <p:cNvPr id="28" name="Freeform 91"/>
            <p:cNvSpPr/>
            <p:nvPr/>
          </p:nvSpPr>
          <p:spPr bwMode="auto">
            <a:xfrm>
              <a:off x="7751764" y="1511300"/>
              <a:ext cx="287337" cy="2306638"/>
            </a:xfrm>
            <a:custGeom>
              <a:avLst/>
              <a:gdLst>
                <a:gd name="T0" fmla="*/ 0 w 20"/>
                <a:gd name="T1" fmla="*/ 0 h 110"/>
                <a:gd name="T2" fmla="*/ 10 w 20"/>
                <a:gd name="T3" fmla="*/ 9 h 110"/>
                <a:gd name="T4" fmla="*/ 10 w 20"/>
                <a:gd name="T5" fmla="*/ 46 h 110"/>
                <a:gd name="T6" fmla="*/ 20 w 20"/>
                <a:gd name="T7" fmla="*/ 55 h 110"/>
                <a:gd name="T8" fmla="*/ 10 w 20"/>
                <a:gd name="T9" fmla="*/ 64 h 110"/>
                <a:gd name="T10" fmla="*/ 10 w 20"/>
                <a:gd name="T11" fmla="*/ 101 h 110"/>
                <a:gd name="T12" fmla="*/ 0 w 20"/>
                <a:gd name="T13" fmla="*/ 110 h 110"/>
              </a:gdLst>
              <a:ahLst/>
              <a:cxnLst>
                <a:cxn ang="0">
                  <a:pos x="T0" y="T1"/>
                </a:cxn>
                <a:cxn ang="0">
                  <a:pos x="T2" y="T3"/>
                </a:cxn>
                <a:cxn ang="0">
                  <a:pos x="T4" y="T5"/>
                </a:cxn>
                <a:cxn ang="0">
                  <a:pos x="T6" y="T7"/>
                </a:cxn>
                <a:cxn ang="0">
                  <a:pos x="T8" y="T9"/>
                </a:cxn>
                <a:cxn ang="0">
                  <a:pos x="T10" y="T11"/>
                </a:cxn>
                <a:cxn ang="0">
                  <a:pos x="T12" y="T13"/>
                </a:cxn>
              </a:cxnLst>
              <a:rect l="0" t="0" r="r" b="b"/>
              <a:pathLst>
                <a:path w="20" h="110">
                  <a:moveTo>
                    <a:pt x="0" y="0"/>
                  </a:moveTo>
                  <a:cubicBezTo>
                    <a:pt x="6" y="0"/>
                    <a:pt x="10" y="4"/>
                    <a:pt x="10" y="9"/>
                  </a:cubicBezTo>
                  <a:lnTo>
                    <a:pt x="10" y="46"/>
                  </a:lnTo>
                  <a:cubicBezTo>
                    <a:pt x="10" y="51"/>
                    <a:pt x="14" y="55"/>
                    <a:pt x="20" y="55"/>
                  </a:cubicBezTo>
                  <a:cubicBezTo>
                    <a:pt x="14" y="55"/>
                    <a:pt x="10" y="59"/>
                    <a:pt x="10" y="64"/>
                  </a:cubicBezTo>
                  <a:lnTo>
                    <a:pt x="10" y="101"/>
                  </a:lnTo>
                  <a:cubicBezTo>
                    <a:pt x="10" y="106"/>
                    <a:pt x="6" y="110"/>
                    <a:pt x="0" y="110"/>
                  </a:cubicBezTo>
                </a:path>
              </a:pathLst>
            </a:custGeom>
            <a:noFill/>
            <a:ln w="19050" cap="flat"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a:latin typeface="微软雅黑 Light" panose="020B0502040204020203" pitchFamily="34" charset="-122"/>
                <a:ea typeface="微软雅黑 Light" panose="020B0502040204020203" pitchFamily="34" charset="-122"/>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灯片编号占位符 5"/>
          <p:cNvSpPr>
            <a:spLocks noGrp="1"/>
          </p:cNvSpPr>
          <p:nvPr>
            <p:ph type="sldNum" sz="quarter" idx="12"/>
          </p:nvPr>
        </p:nvSpPr>
        <p:spPr/>
        <p:txBody>
          <a:bodyPr/>
          <a:lstStyle/>
          <a:p>
            <a:fld id="{8FF98B4C-56E4-4569-A359-64581E91463E}" type="slidenum">
              <a:rPr lang="en-US" altLang="zh-CN">
                <a:latin typeface="+mn-lt"/>
              </a:rPr>
              <a:t>4</a:t>
            </a:fld>
            <a:endParaRPr lang="en-US" altLang="zh-CN">
              <a:latin typeface="+mn-lt"/>
            </a:endParaRPr>
          </a:p>
        </p:txBody>
      </p:sp>
      <p:sp>
        <p:nvSpPr>
          <p:cNvPr id="307202" name="Rectangle 2"/>
          <p:cNvSpPr>
            <a:spLocks noGrp="1" noChangeArrowheads="1"/>
          </p:cNvSpPr>
          <p:nvPr>
            <p:ph type="title"/>
          </p:nvPr>
        </p:nvSpPr>
        <p:spPr/>
        <p:txBody>
          <a:bodyPr/>
          <a:lstStyle/>
          <a:p>
            <a:r>
              <a:rPr lang="zh-CN" altLang="en-US">
                <a:latin typeface="+mn-lt"/>
              </a:rPr>
              <a:t>传输层提供逻辑通信</a:t>
            </a:r>
          </a:p>
        </p:txBody>
      </p:sp>
      <p:sp>
        <p:nvSpPr>
          <p:cNvPr id="307203" name="Rectangle 3"/>
          <p:cNvSpPr>
            <a:spLocks noChangeArrowheads="1"/>
          </p:cNvSpPr>
          <p:nvPr/>
        </p:nvSpPr>
        <p:spPr bwMode="auto">
          <a:xfrm>
            <a:off x="1713706" y="1349375"/>
            <a:ext cx="1449388" cy="2538413"/>
          </a:xfrm>
          <a:prstGeom prst="rect">
            <a:avLst/>
          </a:prstGeom>
          <a:ln>
            <a:solidFill>
              <a:srgbClr val="333399"/>
            </a:solidFill>
          </a:ln>
        </p:spPr>
        <p:style>
          <a:lnRef idx="2">
            <a:schemeClr val="accent2"/>
          </a:lnRef>
          <a:fillRef idx="1">
            <a:schemeClr val="lt1"/>
          </a:fillRef>
          <a:effectRef idx="0">
            <a:schemeClr val="accent2"/>
          </a:effectRef>
          <a:fontRef idx="minor">
            <a:schemeClr val="dk1"/>
          </a:fontRef>
        </p:style>
        <p:txBody>
          <a:bodyPr wrap="none" anchor="ctr"/>
          <a:lstStyle/>
          <a:p>
            <a:pPr algn="ctr"/>
            <a:endParaRPr lang="zh-CN" altLang="zh-CN" sz="2800">
              <a:ea typeface="微软雅黑 Light" panose="020B0502040204020203" pitchFamily="34" charset="-122"/>
            </a:endParaRPr>
          </a:p>
        </p:txBody>
      </p:sp>
      <p:sp>
        <p:nvSpPr>
          <p:cNvPr id="307204" name="Rectangle 4"/>
          <p:cNvSpPr>
            <a:spLocks noChangeArrowheads="1"/>
          </p:cNvSpPr>
          <p:nvPr/>
        </p:nvSpPr>
        <p:spPr bwMode="auto">
          <a:xfrm>
            <a:off x="8953501" y="1349376"/>
            <a:ext cx="1452563" cy="2538413"/>
          </a:xfrm>
          <a:prstGeom prst="rect">
            <a:avLst/>
          </a:prstGeom>
          <a:ln>
            <a:solidFill>
              <a:srgbClr val="333399"/>
            </a:solidFill>
          </a:ln>
        </p:spPr>
        <p:style>
          <a:lnRef idx="2">
            <a:schemeClr val="accent2"/>
          </a:lnRef>
          <a:fillRef idx="1">
            <a:schemeClr val="lt1"/>
          </a:fillRef>
          <a:effectRef idx="0">
            <a:schemeClr val="accent2"/>
          </a:effectRef>
          <a:fontRef idx="minor">
            <a:schemeClr val="dk1"/>
          </a:fontRef>
        </p:style>
        <p:txBody>
          <a:bodyPr wrap="none" anchor="ctr"/>
          <a:lstStyle/>
          <a:p>
            <a:pPr algn="ctr"/>
            <a:endParaRPr lang="zh-CN" altLang="zh-CN" sz="2800">
              <a:ea typeface="微软雅黑 Light" panose="020B0502040204020203" pitchFamily="34" charset="-122"/>
            </a:endParaRPr>
          </a:p>
        </p:txBody>
      </p:sp>
      <p:sp>
        <p:nvSpPr>
          <p:cNvPr id="307206" name="Line 6"/>
          <p:cNvSpPr>
            <a:spLocks noChangeShapeType="1"/>
          </p:cNvSpPr>
          <p:nvPr/>
        </p:nvSpPr>
        <p:spPr bwMode="auto">
          <a:xfrm>
            <a:off x="3144838" y="5141913"/>
            <a:ext cx="5789612" cy="0"/>
          </a:xfrm>
          <a:prstGeom prst="line">
            <a:avLst/>
          </a:prstGeom>
          <a:noFill/>
          <a:ln w="57150">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mn-lt"/>
              <a:ea typeface="微软雅黑 Light" panose="020B0502040204020203" pitchFamily="34" charset="-122"/>
            </a:endParaRPr>
          </a:p>
        </p:txBody>
      </p:sp>
      <p:sp>
        <p:nvSpPr>
          <p:cNvPr id="307207" name="Line 7"/>
          <p:cNvSpPr>
            <a:spLocks noChangeShapeType="1"/>
          </p:cNvSpPr>
          <p:nvPr/>
        </p:nvSpPr>
        <p:spPr bwMode="auto">
          <a:xfrm>
            <a:off x="1704975" y="2935288"/>
            <a:ext cx="144780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7208" name="Line 8"/>
          <p:cNvSpPr>
            <a:spLocks noChangeShapeType="1"/>
          </p:cNvSpPr>
          <p:nvPr/>
        </p:nvSpPr>
        <p:spPr bwMode="auto">
          <a:xfrm>
            <a:off x="1704975" y="3414713"/>
            <a:ext cx="144780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7209" name="Rectangle 9"/>
          <p:cNvSpPr>
            <a:spLocks noChangeArrowheads="1"/>
          </p:cNvSpPr>
          <p:nvPr/>
        </p:nvSpPr>
        <p:spPr bwMode="auto">
          <a:xfrm>
            <a:off x="1721090" y="1992933"/>
            <a:ext cx="1439863" cy="447675"/>
          </a:xfrm>
          <a:prstGeom prst="rect">
            <a:avLst/>
          </a:prstGeom>
          <a:solidFill>
            <a:srgbClr val="3399FF"/>
          </a:solidFill>
          <a:ln w="19050">
            <a:solidFill>
              <a:schemeClr val="tx1"/>
            </a:solidFill>
            <a:miter lim="800000"/>
          </a:ln>
          <a:effectLst/>
        </p:spPr>
        <p:txBody>
          <a:bodyPr wrap="none" anchor="ctr"/>
          <a:lstStyle/>
          <a:p>
            <a:pPr algn="ctr"/>
            <a:endParaRPr lang="zh-CN" altLang="zh-CN" sz="2800">
              <a:latin typeface="+mn-lt"/>
              <a:ea typeface="微软雅黑 Light" panose="020B0502040204020203" pitchFamily="34" charset="-122"/>
            </a:endParaRPr>
          </a:p>
        </p:txBody>
      </p:sp>
      <p:sp>
        <p:nvSpPr>
          <p:cNvPr id="307210" name="Rectangle 10"/>
          <p:cNvSpPr>
            <a:spLocks noChangeArrowheads="1"/>
          </p:cNvSpPr>
          <p:nvPr/>
        </p:nvSpPr>
        <p:spPr bwMode="auto">
          <a:xfrm>
            <a:off x="1407320" y="1518996"/>
            <a:ext cx="310984" cy="23427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150000"/>
              </a:lnSpc>
            </a:pPr>
            <a:r>
              <a:rPr lang="en-US" altLang="zh-CN" sz="2000" dirty="0">
                <a:solidFill>
                  <a:srgbClr val="333399"/>
                </a:solidFill>
                <a:latin typeface="+mn-lt"/>
                <a:ea typeface="微软雅黑 Light" panose="020B0502040204020203" pitchFamily="34" charset="-122"/>
              </a:rPr>
              <a:t>5</a:t>
            </a:r>
          </a:p>
          <a:p>
            <a:pPr eaLnBrk="0" hangingPunct="0">
              <a:lnSpc>
                <a:spcPct val="150000"/>
              </a:lnSpc>
            </a:pPr>
            <a:r>
              <a:rPr lang="en-US" altLang="zh-CN" sz="2000" dirty="0">
                <a:solidFill>
                  <a:srgbClr val="333399"/>
                </a:solidFill>
                <a:latin typeface="+mn-lt"/>
                <a:ea typeface="微软雅黑 Light" panose="020B0502040204020203" pitchFamily="34" charset="-122"/>
              </a:rPr>
              <a:t>4</a:t>
            </a:r>
          </a:p>
          <a:p>
            <a:pPr eaLnBrk="0" hangingPunct="0">
              <a:lnSpc>
                <a:spcPct val="150000"/>
              </a:lnSpc>
            </a:pPr>
            <a:r>
              <a:rPr lang="en-US" altLang="zh-CN" sz="2000" dirty="0">
                <a:solidFill>
                  <a:srgbClr val="333399"/>
                </a:solidFill>
                <a:latin typeface="+mn-lt"/>
                <a:ea typeface="微软雅黑 Light" panose="020B0502040204020203" pitchFamily="34" charset="-122"/>
              </a:rPr>
              <a:t>3</a:t>
            </a:r>
          </a:p>
          <a:p>
            <a:pPr eaLnBrk="0" hangingPunct="0">
              <a:lnSpc>
                <a:spcPct val="150000"/>
              </a:lnSpc>
            </a:pPr>
            <a:r>
              <a:rPr lang="en-US" altLang="zh-CN" sz="2000" dirty="0">
                <a:solidFill>
                  <a:srgbClr val="333399"/>
                </a:solidFill>
                <a:latin typeface="+mn-lt"/>
                <a:ea typeface="微软雅黑 Light" panose="020B0502040204020203" pitchFamily="34" charset="-122"/>
              </a:rPr>
              <a:t>2</a:t>
            </a:r>
          </a:p>
          <a:p>
            <a:pPr eaLnBrk="0" hangingPunct="0">
              <a:lnSpc>
                <a:spcPct val="150000"/>
              </a:lnSpc>
            </a:pPr>
            <a:r>
              <a:rPr lang="en-US" altLang="zh-CN" sz="2000" dirty="0">
                <a:solidFill>
                  <a:srgbClr val="333399"/>
                </a:solidFill>
                <a:latin typeface="+mn-lt"/>
                <a:ea typeface="微软雅黑 Light" panose="020B0502040204020203" pitchFamily="34" charset="-122"/>
              </a:rPr>
              <a:t>1</a:t>
            </a:r>
          </a:p>
        </p:txBody>
      </p:sp>
      <p:grpSp>
        <p:nvGrpSpPr>
          <p:cNvPr id="307211" name="Group 11"/>
          <p:cNvGrpSpPr/>
          <p:nvPr/>
        </p:nvGrpSpPr>
        <p:grpSpPr bwMode="auto">
          <a:xfrm>
            <a:off x="4418014" y="2468564"/>
            <a:ext cx="1062037" cy="1419225"/>
            <a:chOff x="2017" y="1543"/>
            <a:chExt cx="619" cy="922"/>
          </a:xfrm>
        </p:grpSpPr>
        <p:sp>
          <p:nvSpPr>
            <p:cNvPr id="307212" name="Rectangle 12"/>
            <p:cNvSpPr>
              <a:spLocks noChangeArrowheads="1"/>
            </p:cNvSpPr>
            <p:nvPr/>
          </p:nvSpPr>
          <p:spPr bwMode="auto">
            <a:xfrm>
              <a:off x="2017" y="1543"/>
              <a:ext cx="619" cy="922"/>
            </a:xfrm>
            <a:prstGeom prst="rect">
              <a:avLst/>
            </a:prstGeom>
          </p:spPr>
          <p:style>
            <a:lnRef idx="2">
              <a:schemeClr val="accent2"/>
            </a:lnRef>
            <a:fillRef idx="1">
              <a:schemeClr val="lt1"/>
            </a:fillRef>
            <a:effectRef idx="0">
              <a:schemeClr val="accent2"/>
            </a:effectRef>
            <a:fontRef idx="minor">
              <a:schemeClr val="dk1"/>
            </a:fontRef>
          </p:style>
          <p:txBody>
            <a:bodyPr wrap="none" anchor="ctr"/>
            <a:lstStyle/>
            <a:p>
              <a:endParaRPr lang="zh-CN" altLang="en-US">
                <a:ea typeface="微软雅黑 Light" panose="020B0502040204020203" pitchFamily="34" charset="-122"/>
              </a:endParaRPr>
            </a:p>
          </p:txBody>
        </p:sp>
        <p:sp>
          <p:nvSpPr>
            <p:cNvPr id="307213" name="Line 13"/>
            <p:cNvSpPr>
              <a:spLocks noChangeShapeType="1"/>
            </p:cNvSpPr>
            <p:nvPr/>
          </p:nvSpPr>
          <p:spPr bwMode="auto">
            <a:xfrm>
              <a:off x="2017" y="1845"/>
              <a:ext cx="619" cy="0"/>
            </a:xfrm>
            <a:prstGeom prst="line">
              <a:avLst/>
            </a:prstGeom>
          </p:spPr>
          <p:style>
            <a:lnRef idx="2">
              <a:schemeClr val="accent2"/>
            </a:lnRef>
            <a:fillRef idx="1">
              <a:schemeClr val="lt1"/>
            </a:fillRef>
            <a:effectRef idx="0">
              <a:schemeClr val="accent2"/>
            </a:effectRef>
            <a:fontRef idx="minor">
              <a:schemeClr val="dk1"/>
            </a:fontRef>
          </p:style>
          <p:txBody>
            <a:bodyPr wrap="none" anchor="ctr"/>
            <a:lstStyle/>
            <a:p>
              <a:endParaRPr lang="zh-CN" altLang="en-US">
                <a:ea typeface="微软雅黑 Light" panose="020B0502040204020203" pitchFamily="34" charset="-122"/>
              </a:endParaRPr>
            </a:p>
          </p:txBody>
        </p:sp>
        <p:sp>
          <p:nvSpPr>
            <p:cNvPr id="307214" name="Line 14"/>
            <p:cNvSpPr>
              <a:spLocks noChangeShapeType="1"/>
            </p:cNvSpPr>
            <p:nvPr/>
          </p:nvSpPr>
          <p:spPr bwMode="auto">
            <a:xfrm>
              <a:off x="2017" y="2157"/>
              <a:ext cx="619" cy="0"/>
            </a:xfrm>
            <a:prstGeom prst="line">
              <a:avLst/>
            </a:prstGeom>
          </p:spPr>
          <p:style>
            <a:lnRef idx="2">
              <a:schemeClr val="accent2"/>
            </a:lnRef>
            <a:fillRef idx="1">
              <a:schemeClr val="lt1"/>
            </a:fillRef>
            <a:effectRef idx="0">
              <a:schemeClr val="accent2"/>
            </a:effectRef>
            <a:fontRef idx="minor">
              <a:schemeClr val="dk1"/>
            </a:fontRef>
          </p:style>
          <p:txBody>
            <a:bodyPr wrap="none" anchor="ctr"/>
            <a:lstStyle/>
            <a:p>
              <a:endParaRPr lang="zh-CN" altLang="en-US">
                <a:ea typeface="微软雅黑 Light" panose="020B0502040204020203" pitchFamily="34" charset="-122"/>
              </a:endParaRPr>
            </a:p>
          </p:txBody>
        </p:sp>
      </p:grpSp>
      <p:sp>
        <p:nvSpPr>
          <p:cNvPr id="307215" name="Line 15"/>
          <p:cNvSpPr>
            <a:spLocks noChangeShapeType="1"/>
          </p:cNvSpPr>
          <p:nvPr/>
        </p:nvSpPr>
        <p:spPr bwMode="auto">
          <a:xfrm>
            <a:off x="8953501" y="2935288"/>
            <a:ext cx="14509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7216" name="Line 16"/>
          <p:cNvSpPr>
            <a:spLocks noChangeShapeType="1"/>
          </p:cNvSpPr>
          <p:nvPr/>
        </p:nvSpPr>
        <p:spPr bwMode="auto">
          <a:xfrm>
            <a:off x="8953501" y="3414713"/>
            <a:ext cx="14509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7217" name="Rectangle 17"/>
          <p:cNvSpPr>
            <a:spLocks noChangeArrowheads="1"/>
          </p:cNvSpPr>
          <p:nvPr/>
        </p:nvSpPr>
        <p:spPr bwMode="auto">
          <a:xfrm>
            <a:off x="8958263" y="2011364"/>
            <a:ext cx="1447800" cy="447675"/>
          </a:xfrm>
          <a:prstGeom prst="rect">
            <a:avLst/>
          </a:prstGeom>
          <a:solidFill>
            <a:srgbClr val="3399FF"/>
          </a:solidFill>
          <a:ln w="19050">
            <a:solidFill>
              <a:schemeClr val="tx1"/>
            </a:solidFill>
            <a:miter lim="800000"/>
          </a:ln>
          <a:effectLst/>
        </p:spPr>
        <p:txBody>
          <a:bodyPr wrap="none" anchor="ctr"/>
          <a:lstStyle/>
          <a:p>
            <a:pPr algn="ctr"/>
            <a:endParaRPr lang="zh-CN" altLang="zh-CN" sz="2800">
              <a:latin typeface="+mn-lt"/>
              <a:ea typeface="微软雅黑 Light" panose="020B0502040204020203" pitchFamily="34" charset="-122"/>
            </a:endParaRPr>
          </a:p>
        </p:txBody>
      </p:sp>
      <p:grpSp>
        <p:nvGrpSpPr>
          <p:cNvPr id="307218" name="Group 18"/>
          <p:cNvGrpSpPr/>
          <p:nvPr/>
        </p:nvGrpSpPr>
        <p:grpSpPr bwMode="auto">
          <a:xfrm>
            <a:off x="6611939" y="2468564"/>
            <a:ext cx="1062037" cy="1419225"/>
            <a:chOff x="3295" y="1543"/>
            <a:chExt cx="619" cy="922"/>
          </a:xfrm>
        </p:grpSpPr>
        <p:sp>
          <p:nvSpPr>
            <p:cNvPr id="307219" name="Rectangle 19"/>
            <p:cNvSpPr>
              <a:spLocks noChangeArrowheads="1"/>
            </p:cNvSpPr>
            <p:nvPr/>
          </p:nvSpPr>
          <p:spPr bwMode="auto">
            <a:xfrm>
              <a:off x="3295" y="1543"/>
              <a:ext cx="619" cy="922"/>
            </a:xfrm>
            <a:prstGeom prst="rect">
              <a:avLst/>
            </a:prstGeom>
          </p:spPr>
          <p:style>
            <a:lnRef idx="2">
              <a:schemeClr val="accent2"/>
            </a:lnRef>
            <a:fillRef idx="1">
              <a:schemeClr val="lt1"/>
            </a:fillRef>
            <a:effectRef idx="0">
              <a:schemeClr val="accent2"/>
            </a:effectRef>
            <a:fontRef idx="minor">
              <a:schemeClr val="dk1"/>
            </a:fontRef>
          </p:style>
          <p:txBody>
            <a:bodyPr wrap="none" anchor="ctr"/>
            <a:lstStyle/>
            <a:p>
              <a:endParaRPr lang="zh-CN" altLang="en-US">
                <a:ea typeface="微软雅黑 Light" panose="020B0502040204020203" pitchFamily="34" charset="-122"/>
              </a:endParaRPr>
            </a:p>
          </p:txBody>
        </p:sp>
        <p:sp>
          <p:nvSpPr>
            <p:cNvPr id="307220" name="Line 20"/>
            <p:cNvSpPr>
              <a:spLocks noChangeShapeType="1"/>
            </p:cNvSpPr>
            <p:nvPr/>
          </p:nvSpPr>
          <p:spPr bwMode="auto">
            <a:xfrm>
              <a:off x="3295" y="1845"/>
              <a:ext cx="619" cy="0"/>
            </a:xfrm>
            <a:prstGeom prst="line">
              <a:avLst/>
            </a:prstGeom>
          </p:spPr>
          <p:style>
            <a:lnRef idx="2">
              <a:schemeClr val="accent2"/>
            </a:lnRef>
            <a:fillRef idx="1">
              <a:schemeClr val="lt1"/>
            </a:fillRef>
            <a:effectRef idx="0">
              <a:schemeClr val="accent2"/>
            </a:effectRef>
            <a:fontRef idx="minor">
              <a:schemeClr val="dk1"/>
            </a:fontRef>
          </p:style>
          <p:txBody>
            <a:bodyPr wrap="none" anchor="ctr"/>
            <a:lstStyle/>
            <a:p>
              <a:endParaRPr lang="zh-CN" altLang="en-US">
                <a:ea typeface="微软雅黑 Light" panose="020B0502040204020203" pitchFamily="34" charset="-122"/>
              </a:endParaRPr>
            </a:p>
          </p:txBody>
        </p:sp>
        <p:sp>
          <p:nvSpPr>
            <p:cNvPr id="307221" name="Line 21"/>
            <p:cNvSpPr>
              <a:spLocks noChangeShapeType="1"/>
            </p:cNvSpPr>
            <p:nvPr/>
          </p:nvSpPr>
          <p:spPr bwMode="auto">
            <a:xfrm>
              <a:off x="3295" y="2157"/>
              <a:ext cx="619" cy="0"/>
            </a:xfrm>
            <a:prstGeom prst="line">
              <a:avLst/>
            </a:prstGeom>
          </p:spPr>
          <p:style>
            <a:lnRef idx="2">
              <a:schemeClr val="accent2"/>
            </a:lnRef>
            <a:fillRef idx="1">
              <a:schemeClr val="lt1"/>
            </a:fillRef>
            <a:effectRef idx="0">
              <a:schemeClr val="accent2"/>
            </a:effectRef>
            <a:fontRef idx="minor">
              <a:schemeClr val="dk1"/>
            </a:fontRef>
          </p:style>
          <p:txBody>
            <a:bodyPr wrap="none" anchor="ctr"/>
            <a:lstStyle/>
            <a:p>
              <a:endParaRPr lang="zh-CN" altLang="en-US">
                <a:ea typeface="微软雅黑 Light" panose="020B0502040204020203" pitchFamily="34" charset="-122"/>
              </a:endParaRPr>
            </a:p>
          </p:txBody>
        </p:sp>
      </p:grpSp>
      <p:sp>
        <p:nvSpPr>
          <p:cNvPr id="307222" name="Rectangle 22"/>
          <p:cNvSpPr>
            <a:spLocks noChangeArrowheads="1"/>
          </p:cNvSpPr>
          <p:nvPr/>
        </p:nvSpPr>
        <p:spPr bwMode="auto">
          <a:xfrm>
            <a:off x="4078228" y="1773240"/>
            <a:ext cx="40894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传输层提供应用进程</a:t>
            </a:r>
            <a:r>
              <a:rPr lang="zh-CN" altLang="zh-CN" sz="2000" dirty="0">
                <a:latin typeface="+mn-lt"/>
                <a:ea typeface="微软雅黑 Light" panose="020B0502040204020203" pitchFamily="34" charset="-122"/>
              </a:rPr>
              <a:t>间的逻辑</a:t>
            </a:r>
            <a:r>
              <a:rPr lang="zh-CN" altLang="en-US" sz="2000" dirty="0">
                <a:latin typeface="+mn-lt"/>
                <a:ea typeface="微软雅黑 Light" panose="020B0502040204020203" pitchFamily="34" charset="-122"/>
              </a:rPr>
              <a:t>通信</a:t>
            </a:r>
          </a:p>
        </p:txBody>
      </p:sp>
      <p:sp>
        <p:nvSpPr>
          <p:cNvPr id="307223" name="Rectangle 23"/>
          <p:cNvSpPr>
            <a:spLocks noChangeArrowheads="1"/>
          </p:cNvSpPr>
          <p:nvPr/>
        </p:nvSpPr>
        <p:spPr bwMode="auto">
          <a:xfrm>
            <a:off x="1704975" y="4673601"/>
            <a:ext cx="1447800" cy="885825"/>
          </a:xfrm>
          <a:prstGeom prst="rect">
            <a:avLst/>
          </a:prstGeom>
          <a:ln>
            <a:solidFill>
              <a:srgbClr val="333399"/>
            </a:solidFill>
          </a:ln>
        </p:spPr>
        <p:style>
          <a:lnRef idx="2">
            <a:schemeClr val="accent2"/>
          </a:lnRef>
          <a:fillRef idx="1">
            <a:schemeClr val="lt1"/>
          </a:fillRef>
          <a:effectRef idx="0">
            <a:schemeClr val="accent2"/>
          </a:effectRef>
          <a:fontRef idx="minor">
            <a:schemeClr val="dk1"/>
          </a:fontRef>
        </p:style>
        <p:txBody>
          <a:bodyPr wrap="none" anchor="ctr"/>
          <a:lstStyle/>
          <a:p>
            <a:pPr algn="ctr"/>
            <a:endParaRPr lang="zh-CN" altLang="zh-CN" sz="2800">
              <a:ea typeface="微软雅黑 Light" panose="020B0502040204020203" pitchFamily="34" charset="-122"/>
            </a:endParaRPr>
          </a:p>
        </p:txBody>
      </p:sp>
      <p:sp>
        <p:nvSpPr>
          <p:cNvPr id="307224" name="Freeform 24"/>
          <p:cNvSpPr/>
          <p:nvPr/>
        </p:nvSpPr>
        <p:spPr bwMode="auto">
          <a:xfrm>
            <a:off x="2500314" y="4967288"/>
            <a:ext cx="655637" cy="165100"/>
          </a:xfrm>
          <a:custGeom>
            <a:avLst/>
            <a:gdLst>
              <a:gd name="T0" fmla="*/ 0 w 382"/>
              <a:gd name="T1" fmla="*/ 0 h 277"/>
              <a:gd name="T2" fmla="*/ 9 w 382"/>
              <a:gd name="T3" fmla="*/ 0 h 277"/>
              <a:gd name="T4" fmla="*/ 18 w 382"/>
              <a:gd name="T5" fmla="*/ 6 h 277"/>
              <a:gd name="T6" fmla="*/ 27 w 382"/>
              <a:gd name="T7" fmla="*/ 6 h 277"/>
              <a:gd name="T8" fmla="*/ 36 w 382"/>
              <a:gd name="T9" fmla="*/ 9 h 277"/>
              <a:gd name="T10" fmla="*/ 48 w 382"/>
              <a:gd name="T11" fmla="*/ 12 h 277"/>
              <a:gd name="T12" fmla="*/ 57 w 382"/>
              <a:gd name="T13" fmla="*/ 15 h 277"/>
              <a:gd name="T14" fmla="*/ 66 w 382"/>
              <a:gd name="T15" fmla="*/ 18 h 277"/>
              <a:gd name="T16" fmla="*/ 75 w 382"/>
              <a:gd name="T17" fmla="*/ 21 h 277"/>
              <a:gd name="T18" fmla="*/ 84 w 382"/>
              <a:gd name="T19" fmla="*/ 24 h 277"/>
              <a:gd name="T20" fmla="*/ 93 w 382"/>
              <a:gd name="T21" fmla="*/ 30 h 277"/>
              <a:gd name="T22" fmla="*/ 102 w 382"/>
              <a:gd name="T23" fmla="*/ 33 h 277"/>
              <a:gd name="T24" fmla="*/ 111 w 382"/>
              <a:gd name="T25" fmla="*/ 36 h 277"/>
              <a:gd name="T26" fmla="*/ 120 w 382"/>
              <a:gd name="T27" fmla="*/ 42 h 277"/>
              <a:gd name="T28" fmla="*/ 132 w 382"/>
              <a:gd name="T29" fmla="*/ 45 h 277"/>
              <a:gd name="T30" fmla="*/ 144 w 382"/>
              <a:gd name="T31" fmla="*/ 54 h 277"/>
              <a:gd name="T32" fmla="*/ 153 w 382"/>
              <a:gd name="T33" fmla="*/ 57 h 277"/>
              <a:gd name="T34" fmla="*/ 162 w 382"/>
              <a:gd name="T35" fmla="*/ 66 h 277"/>
              <a:gd name="T36" fmla="*/ 171 w 382"/>
              <a:gd name="T37" fmla="*/ 66 h 277"/>
              <a:gd name="T38" fmla="*/ 180 w 382"/>
              <a:gd name="T39" fmla="*/ 72 h 277"/>
              <a:gd name="T40" fmla="*/ 192 w 382"/>
              <a:gd name="T41" fmla="*/ 78 h 277"/>
              <a:gd name="T42" fmla="*/ 213 w 382"/>
              <a:gd name="T43" fmla="*/ 84 h 277"/>
              <a:gd name="T44" fmla="*/ 225 w 382"/>
              <a:gd name="T45" fmla="*/ 90 h 277"/>
              <a:gd name="T46" fmla="*/ 234 w 382"/>
              <a:gd name="T47" fmla="*/ 96 h 277"/>
              <a:gd name="T48" fmla="*/ 243 w 382"/>
              <a:gd name="T49" fmla="*/ 105 h 277"/>
              <a:gd name="T50" fmla="*/ 252 w 382"/>
              <a:gd name="T51" fmla="*/ 111 h 277"/>
              <a:gd name="T52" fmla="*/ 261 w 382"/>
              <a:gd name="T53" fmla="*/ 117 h 277"/>
              <a:gd name="T54" fmla="*/ 267 w 382"/>
              <a:gd name="T55" fmla="*/ 126 h 277"/>
              <a:gd name="T56" fmla="*/ 276 w 382"/>
              <a:gd name="T57" fmla="*/ 132 h 277"/>
              <a:gd name="T58" fmla="*/ 285 w 382"/>
              <a:gd name="T59" fmla="*/ 138 h 277"/>
              <a:gd name="T60" fmla="*/ 294 w 382"/>
              <a:gd name="T61" fmla="*/ 144 h 277"/>
              <a:gd name="T62" fmla="*/ 300 w 382"/>
              <a:gd name="T63" fmla="*/ 153 h 277"/>
              <a:gd name="T64" fmla="*/ 303 w 382"/>
              <a:gd name="T65" fmla="*/ 162 h 277"/>
              <a:gd name="T66" fmla="*/ 312 w 382"/>
              <a:gd name="T67" fmla="*/ 168 h 277"/>
              <a:gd name="T68" fmla="*/ 321 w 382"/>
              <a:gd name="T69" fmla="*/ 177 h 277"/>
              <a:gd name="T70" fmla="*/ 333 w 382"/>
              <a:gd name="T71" fmla="*/ 186 h 277"/>
              <a:gd name="T72" fmla="*/ 345 w 382"/>
              <a:gd name="T73" fmla="*/ 195 h 277"/>
              <a:gd name="T74" fmla="*/ 348 w 382"/>
              <a:gd name="T75" fmla="*/ 204 h 277"/>
              <a:gd name="T76" fmla="*/ 357 w 382"/>
              <a:gd name="T77" fmla="*/ 210 h 277"/>
              <a:gd name="T78" fmla="*/ 360 w 382"/>
              <a:gd name="T79" fmla="*/ 219 h 277"/>
              <a:gd name="T80" fmla="*/ 366 w 382"/>
              <a:gd name="T81" fmla="*/ 228 h 277"/>
              <a:gd name="T82" fmla="*/ 369 w 382"/>
              <a:gd name="T83" fmla="*/ 237 h 277"/>
              <a:gd name="T84" fmla="*/ 372 w 382"/>
              <a:gd name="T85" fmla="*/ 246 h 277"/>
              <a:gd name="T86" fmla="*/ 372 w 382"/>
              <a:gd name="T87" fmla="*/ 258 h 277"/>
              <a:gd name="T88" fmla="*/ 378 w 382"/>
              <a:gd name="T89" fmla="*/ 267 h 277"/>
              <a:gd name="T90" fmla="*/ 381 w 382"/>
              <a:gd name="T91" fmla="*/ 276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82" h="277">
                <a:moveTo>
                  <a:pt x="0" y="0"/>
                </a:moveTo>
                <a:lnTo>
                  <a:pt x="9" y="0"/>
                </a:lnTo>
                <a:lnTo>
                  <a:pt x="18" y="6"/>
                </a:lnTo>
                <a:lnTo>
                  <a:pt x="27" y="6"/>
                </a:lnTo>
                <a:lnTo>
                  <a:pt x="36" y="9"/>
                </a:lnTo>
                <a:lnTo>
                  <a:pt x="48" y="12"/>
                </a:lnTo>
                <a:lnTo>
                  <a:pt x="57" y="15"/>
                </a:lnTo>
                <a:lnTo>
                  <a:pt x="66" y="18"/>
                </a:lnTo>
                <a:lnTo>
                  <a:pt x="75" y="21"/>
                </a:lnTo>
                <a:lnTo>
                  <a:pt x="84" y="24"/>
                </a:lnTo>
                <a:lnTo>
                  <a:pt x="93" y="30"/>
                </a:lnTo>
                <a:lnTo>
                  <a:pt x="102" y="33"/>
                </a:lnTo>
                <a:lnTo>
                  <a:pt x="111" y="36"/>
                </a:lnTo>
                <a:lnTo>
                  <a:pt x="120" y="42"/>
                </a:lnTo>
                <a:lnTo>
                  <a:pt x="132" y="45"/>
                </a:lnTo>
                <a:lnTo>
                  <a:pt x="144" y="54"/>
                </a:lnTo>
                <a:lnTo>
                  <a:pt x="153" y="57"/>
                </a:lnTo>
                <a:lnTo>
                  <a:pt x="162" y="66"/>
                </a:lnTo>
                <a:lnTo>
                  <a:pt x="171" y="66"/>
                </a:lnTo>
                <a:lnTo>
                  <a:pt x="180" y="72"/>
                </a:lnTo>
                <a:lnTo>
                  <a:pt x="192" y="78"/>
                </a:lnTo>
                <a:lnTo>
                  <a:pt x="213" y="84"/>
                </a:lnTo>
                <a:lnTo>
                  <a:pt x="225" y="90"/>
                </a:lnTo>
                <a:lnTo>
                  <a:pt x="234" y="96"/>
                </a:lnTo>
                <a:lnTo>
                  <a:pt x="243" y="105"/>
                </a:lnTo>
                <a:lnTo>
                  <a:pt x="252" y="111"/>
                </a:lnTo>
                <a:lnTo>
                  <a:pt x="261" y="117"/>
                </a:lnTo>
                <a:lnTo>
                  <a:pt x="267" y="126"/>
                </a:lnTo>
                <a:lnTo>
                  <a:pt x="276" y="132"/>
                </a:lnTo>
                <a:lnTo>
                  <a:pt x="285" y="138"/>
                </a:lnTo>
                <a:lnTo>
                  <a:pt x="294" y="144"/>
                </a:lnTo>
                <a:lnTo>
                  <a:pt x="300" y="153"/>
                </a:lnTo>
                <a:lnTo>
                  <a:pt x="303" y="162"/>
                </a:lnTo>
                <a:lnTo>
                  <a:pt x="312" y="168"/>
                </a:lnTo>
                <a:lnTo>
                  <a:pt x="321" y="177"/>
                </a:lnTo>
                <a:lnTo>
                  <a:pt x="333" y="186"/>
                </a:lnTo>
                <a:lnTo>
                  <a:pt x="345" y="195"/>
                </a:lnTo>
                <a:lnTo>
                  <a:pt x="348" y="204"/>
                </a:lnTo>
                <a:lnTo>
                  <a:pt x="357" y="210"/>
                </a:lnTo>
                <a:lnTo>
                  <a:pt x="360" y="219"/>
                </a:lnTo>
                <a:lnTo>
                  <a:pt x="366" y="228"/>
                </a:lnTo>
                <a:lnTo>
                  <a:pt x="369" y="237"/>
                </a:lnTo>
                <a:lnTo>
                  <a:pt x="372" y="246"/>
                </a:lnTo>
                <a:lnTo>
                  <a:pt x="372" y="258"/>
                </a:lnTo>
                <a:lnTo>
                  <a:pt x="378" y="267"/>
                </a:lnTo>
                <a:lnTo>
                  <a:pt x="381" y="276"/>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307225" name="Freeform 25"/>
          <p:cNvSpPr/>
          <p:nvPr/>
        </p:nvSpPr>
        <p:spPr bwMode="auto">
          <a:xfrm>
            <a:off x="2438400" y="5154613"/>
            <a:ext cx="712788" cy="184150"/>
          </a:xfrm>
          <a:custGeom>
            <a:avLst/>
            <a:gdLst>
              <a:gd name="T0" fmla="*/ 0 w 334"/>
              <a:gd name="T1" fmla="*/ 243 h 244"/>
              <a:gd name="T2" fmla="*/ 12 w 334"/>
              <a:gd name="T3" fmla="*/ 243 h 244"/>
              <a:gd name="T4" fmla="*/ 31 w 334"/>
              <a:gd name="T5" fmla="*/ 237 h 244"/>
              <a:gd name="T6" fmla="*/ 40 w 334"/>
              <a:gd name="T7" fmla="*/ 234 h 244"/>
              <a:gd name="T8" fmla="*/ 49 w 334"/>
              <a:gd name="T9" fmla="*/ 231 h 244"/>
              <a:gd name="T10" fmla="*/ 59 w 334"/>
              <a:gd name="T11" fmla="*/ 225 h 244"/>
              <a:gd name="T12" fmla="*/ 71 w 334"/>
              <a:gd name="T13" fmla="*/ 222 h 244"/>
              <a:gd name="T14" fmla="*/ 80 w 334"/>
              <a:gd name="T15" fmla="*/ 216 h 244"/>
              <a:gd name="T16" fmla="*/ 89 w 334"/>
              <a:gd name="T17" fmla="*/ 210 h 244"/>
              <a:gd name="T18" fmla="*/ 99 w 334"/>
              <a:gd name="T19" fmla="*/ 204 h 244"/>
              <a:gd name="T20" fmla="*/ 108 w 334"/>
              <a:gd name="T21" fmla="*/ 198 h 244"/>
              <a:gd name="T22" fmla="*/ 117 w 334"/>
              <a:gd name="T23" fmla="*/ 195 h 244"/>
              <a:gd name="T24" fmla="*/ 126 w 334"/>
              <a:gd name="T25" fmla="*/ 189 h 244"/>
              <a:gd name="T26" fmla="*/ 136 w 334"/>
              <a:gd name="T27" fmla="*/ 183 h 244"/>
              <a:gd name="T28" fmla="*/ 145 w 334"/>
              <a:gd name="T29" fmla="*/ 177 h 244"/>
              <a:gd name="T30" fmla="*/ 154 w 334"/>
              <a:gd name="T31" fmla="*/ 174 h 244"/>
              <a:gd name="T32" fmla="*/ 163 w 334"/>
              <a:gd name="T33" fmla="*/ 171 h 244"/>
              <a:gd name="T34" fmla="*/ 173 w 334"/>
              <a:gd name="T35" fmla="*/ 165 h 244"/>
              <a:gd name="T36" fmla="*/ 182 w 334"/>
              <a:gd name="T37" fmla="*/ 162 h 244"/>
              <a:gd name="T38" fmla="*/ 194 w 334"/>
              <a:gd name="T39" fmla="*/ 156 h 244"/>
              <a:gd name="T40" fmla="*/ 207 w 334"/>
              <a:gd name="T41" fmla="*/ 150 h 244"/>
              <a:gd name="T42" fmla="*/ 213 w 334"/>
              <a:gd name="T43" fmla="*/ 141 h 244"/>
              <a:gd name="T44" fmla="*/ 222 w 334"/>
              <a:gd name="T45" fmla="*/ 138 h 244"/>
              <a:gd name="T46" fmla="*/ 231 w 334"/>
              <a:gd name="T47" fmla="*/ 129 h 244"/>
              <a:gd name="T48" fmla="*/ 241 w 334"/>
              <a:gd name="T49" fmla="*/ 120 h 244"/>
              <a:gd name="T50" fmla="*/ 247 w 334"/>
              <a:gd name="T51" fmla="*/ 111 h 244"/>
              <a:gd name="T52" fmla="*/ 256 w 334"/>
              <a:gd name="T53" fmla="*/ 102 h 244"/>
              <a:gd name="T54" fmla="*/ 259 w 334"/>
              <a:gd name="T55" fmla="*/ 93 h 244"/>
              <a:gd name="T56" fmla="*/ 268 w 334"/>
              <a:gd name="T57" fmla="*/ 87 h 244"/>
              <a:gd name="T58" fmla="*/ 271 w 334"/>
              <a:gd name="T59" fmla="*/ 78 h 244"/>
              <a:gd name="T60" fmla="*/ 278 w 334"/>
              <a:gd name="T61" fmla="*/ 69 h 244"/>
              <a:gd name="T62" fmla="*/ 284 w 334"/>
              <a:gd name="T63" fmla="*/ 60 h 244"/>
              <a:gd name="T64" fmla="*/ 290 w 334"/>
              <a:gd name="T65" fmla="*/ 51 h 244"/>
              <a:gd name="T66" fmla="*/ 293 w 334"/>
              <a:gd name="T67" fmla="*/ 42 h 244"/>
              <a:gd name="T68" fmla="*/ 299 w 334"/>
              <a:gd name="T69" fmla="*/ 33 h 244"/>
              <a:gd name="T70" fmla="*/ 308 w 334"/>
              <a:gd name="T71" fmla="*/ 27 h 244"/>
              <a:gd name="T72" fmla="*/ 311 w 334"/>
              <a:gd name="T73" fmla="*/ 18 h 244"/>
              <a:gd name="T74" fmla="*/ 321 w 334"/>
              <a:gd name="T75" fmla="*/ 15 h 244"/>
              <a:gd name="T76" fmla="*/ 324 w 334"/>
              <a:gd name="T77" fmla="*/ 6 h 244"/>
              <a:gd name="T78" fmla="*/ 333 w 334"/>
              <a:gd name="T79"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34" h="244">
                <a:moveTo>
                  <a:pt x="0" y="243"/>
                </a:moveTo>
                <a:lnTo>
                  <a:pt x="12" y="243"/>
                </a:lnTo>
                <a:lnTo>
                  <a:pt x="31" y="237"/>
                </a:lnTo>
                <a:lnTo>
                  <a:pt x="40" y="234"/>
                </a:lnTo>
                <a:lnTo>
                  <a:pt x="49" y="231"/>
                </a:lnTo>
                <a:lnTo>
                  <a:pt x="59" y="225"/>
                </a:lnTo>
                <a:lnTo>
                  <a:pt x="71" y="222"/>
                </a:lnTo>
                <a:lnTo>
                  <a:pt x="80" y="216"/>
                </a:lnTo>
                <a:lnTo>
                  <a:pt x="89" y="210"/>
                </a:lnTo>
                <a:lnTo>
                  <a:pt x="99" y="204"/>
                </a:lnTo>
                <a:lnTo>
                  <a:pt x="108" y="198"/>
                </a:lnTo>
                <a:lnTo>
                  <a:pt x="117" y="195"/>
                </a:lnTo>
                <a:lnTo>
                  <a:pt x="126" y="189"/>
                </a:lnTo>
                <a:lnTo>
                  <a:pt x="136" y="183"/>
                </a:lnTo>
                <a:lnTo>
                  <a:pt x="145" y="177"/>
                </a:lnTo>
                <a:lnTo>
                  <a:pt x="154" y="174"/>
                </a:lnTo>
                <a:lnTo>
                  <a:pt x="163" y="171"/>
                </a:lnTo>
                <a:lnTo>
                  <a:pt x="173" y="165"/>
                </a:lnTo>
                <a:lnTo>
                  <a:pt x="182" y="162"/>
                </a:lnTo>
                <a:lnTo>
                  <a:pt x="194" y="156"/>
                </a:lnTo>
                <a:lnTo>
                  <a:pt x="207" y="150"/>
                </a:lnTo>
                <a:lnTo>
                  <a:pt x="213" y="141"/>
                </a:lnTo>
                <a:lnTo>
                  <a:pt x="222" y="138"/>
                </a:lnTo>
                <a:lnTo>
                  <a:pt x="231" y="129"/>
                </a:lnTo>
                <a:lnTo>
                  <a:pt x="241" y="120"/>
                </a:lnTo>
                <a:lnTo>
                  <a:pt x="247" y="111"/>
                </a:lnTo>
                <a:lnTo>
                  <a:pt x="256" y="102"/>
                </a:lnTo>
                <a:lnTo>
                  <a:pt x="259" y="93"/>
                </a:lnTo>
                <a:lnTo>
                  <a:pt x="268" y="87"/>
                </a:lnTo>
                <a:lnTo>
                  <a:pt x="271" y="78"/>
                </a:lnTo>
                <a:lnTo>
                  <a:pt x="278" y="69"/>
                </a:lnTo>
                <a:lnTo>
                  <a:pt x="284" y="60"/>
                </a:lnTo>
                <a:lnTo>
                  <a:pt x="290" y="51"/>
                </a:lnTo>
                <a:lnTo>
                  <a:pt x="293" y="42"/>
                </a:lnTo>
                <a:lnTo>
                  <a:pt x="299" y="33"/>
                </a:lnTo>
                <a:lnTo>
                  <a:pt x="308" y="27"/>
                </a:lnTo>
                <a:lnTo>
                  <a:pt x="311" y="18"/>
                </a:lnTo>
                <a:lnTo>
                  <a:pt x="321" y="15"/>
                </a:lnTo>
                <a:lnTo>
                  <a:pt x="324" y="6"/>
                </a:lnTo>
                <a:lnTo>
                  <a:pt x="333" y="0"/>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307226" name="Rectangle 26"/>
          <p:cNvSpPr>
            <a:spLocks noChangeArrowheads="1"/>
          </p:cNvSpPr>
          <p:nvPr/>
        </p:nvSpPr>
        <p:spPr bwMode="auto">
          <a:xfrm>
            <a:off x="1935164" y="4306889"/>
            <a:ext cx="94577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solidFill>
                  <a:srgbClr val="333399"/>
                </a:solidFill>
                <a:latin typeface="+mn-lt"/>
                <a:ea typeface="微软雅黑 Light" panose="020B0502040204020203" pitchFamily="34" charset="-122"/>
              </a:rPr>
              <a:t>主机 </a:t>
            </a:r>
            <a:r>
              <a:rPr lang="en-US" altLang="zh-CN" sz="2000" dirty="0">
                <a:solidFill>
                  <a:srgbClr val="333399"/>
                </a:solidFill>
                <a:latin typeface="+mn-lt"/>
                <a:ea typeface="微软雅黑 Light" panose="020B0502040204020203" pitchFamily="34" charset="-122"/>
              </a:rPr>
              <a:t>A</a:t>
            </a:r>
          </a:p>
        </p:txBody>
      </p:sp>
      <p:sp>
        <p:nvSpPr>
          <p:cNvPr id="307227" name="Rectangle 27"/>
          <p:cNvSpPr>
            <a:spLocks noChangeArrowheads="1"/>
          </p:cNvSpPr>
          <p:nvPr/>
        </p:nvSpPr>
        <p:spPr bwMode="auto">
          <a:xfrm>
            <a:off x="9178925" y="4306889"/>
            <a:ext cx="93775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solidFill>
                  <a:srgbClr val="333399"/>
                </a:solidFill>
                <a:latin typeface="+mn-lt"/>
                <a:ea typeface="微软雅黑 Light" panose="020B0502040204020203" pitchFamily="34" charset="-122"/>
              </a:rPr>
              <a:t>主机 </a:t>
            </a:r>
            <a:r>
              <a:rPr lang="en-US" altLang="zh-CN" sz="2000">
                <a:solidFill>
                  <a:srgbClr val="333399"/>
                </a:solidFill>
                <a:latin typeface="+mn-lt"/>
                <a:ea typeface="微软雅黑 Light" panose="020B0502040204020203" pitchFamily="34" charset="-122"/>
              </a:rPr>
              <a:t>B</a:t>
            </a:r>
          </a:p>
        </p:txBody>
      </p:sp>
      <p:sp>
        <p:nvSpPr>
          <p:cNvPr id="307229" name="Rectangle 29"/>
          <p:cNvSpPr>
            <a:spLocks noChangeArrowheads="1"/>
          </p:cNvSpPr>
          <p:nvPr/>
        </p:nvSpPr>
        <p:spPr bwMode="auto">
          <a:xfrm>
            <a:off x="3344864" y="1201739"/>
            <a:ext cx="1106073"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1800" dirty="0">
                <a:latin typeface="+mn-lt"/>
                <a:ea typeface="微软雅黑 Light" panose="020B0502040204020203" pitchFamily="34" charset="-122"/>
              </a:rPr>
              <a:t>应用进程</a:t>
            </a:r>
          </a:p>
        </p:txBody>
      </p:sp>
      <p:sp>
        <p:nvSpPr>
          <p:cNvPr id="307230" name="Freeform 30"/>
          <p:cNvSpPr/>
          <p:nvPr/>
        </p:nvSpPr>
        <p:spPr bwMode="auto">
          <a:xfrm>
            <a:off x="8535988" y="1492251"/>
            <a:ext cx="538162" cy="161925"/>
          </a:xfrm>
          <a:custGeom>
            <a:avLst/>
            <a:gdLst>
              <a:gd name="T0" fmla="*/ 0 w 297"/>
              <a:gd name="T1" fmla="*/ 0 h 105"/>
              <a:gd name="T2" fmla="*/ 297 w 297"/>
              <a:gd name="T3" fmla="*/ 105 h 105"/>
            </a:gdLst>
            <a:ahLst/>
            <a:cxnLst>
              <a:cxn ang="0">
                <a:pos x="T0" y="T1"/>
              </a:cxn>
              <a:cxn ang="0">
                <a:pos x="T2" y="T3"/>
              </a:cxn>
            </a:cxnLst>
            <a:rect l="0" t="0" r="r" b="b"/>
            <a:pathLst>
              <a:path w="297" h="105">
                <a:moveTo>
                  <a:pt x="0" y="0"/>
                </a:moveTo>
                <a:lnTo>
                  <a:pt x="297" y="105"/>
                </a:lnTo>
              </a:path>
            </a:pathLst>
          </a:custGeom>
          <a:noFill/>
          <a:ln w="28575" cmpd="sng">
            <a:solidFill>
              <a:srgbClr val="333399"/>
            </a:solidFill>
            <a:round/>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7231" name="Rectangle 31"/>
          <p:cNvSpPr>
            <a:spLocks noChangeArrowheads="1"/>
          </p:cNvSpPr>
          <p:nvPr/>
        </p:nvSpPr>
        <p:spPr bwMode="auto">
          <a:xfrm>
            <a:off x="7453313" y="1201738"/>
            <a:ext cx="1106073"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1800" dirty="0">
                <a:latin typeface="+mn-lt"/>
                <a:ea typeface="微软雅黑 Light" panose="020B0502040204020203" pitchFamily="34" charset="-122"/>
              </a:rPr>
              <a:t>应用进程</a:t>
            </a:r>
          </a:p>
        </p:txBody>
      </p:sp>
      <p:sp>
        <p:nvSpPr>
          <p:cNvPr id="307232" name="AutoShape 32"/>
          <p:cNvSpPr>
            <a:spLocks noChangeArrowheads="1"/>
          </p:cNvSpPr>
          <p:nvPr/>
        </p:nvSpPr>
        <p:spPr bwMode="auto">
          <a:xfrm>
            <a:off x="3215680" y="2110758"/>
            <a:ext cx="5678488" cy="238122"/>
          </a:xfrm>
          <a:prstGeom prst="leftRightArrow">
            <a:avLst>
              <a:gd name="adj1" fmla="val 59167"/>
              <a:gd name="adj2" fmla="val 215634"/>
            </a:avLst>
          </a:prstGeom>
          <a:noFill/>
          <a:ln w="28575">
            <a:solidFill>
              <a:srgbClr val="0000C8"/>
            </a:solidFill>
            <a:miter lim="800000"/>
          </a:ln>
          <a:effectLst/>
        </p:spPr>
        <p:txBody>
          <a:bodyPr wrap="none" anchor="ctr"/>
          <a:lstStyle/>
          <a:p>
            <a:pPr algn="ctr"/>
            <a:endParaRPr lang="zh-CN" altLang="zh-CN" sz="2800">
              <a:latin typeface="+mn-lt"/>
              <a:ea typeface="微软雅黑 Light" panose="020B0502040204020203" pitchFamily="34" charset="-122"/>
            </a:endParaRPr>
          </a:p>
        </p:txBody>
      </p:sp>
      <p:sp>
        <p:nvSpPr>
          <p:cNvPr id="307233" name="Rectangle 33"/>
          <p:cNvSpPr>
            <a:spLocks noChangeArrowheads="1"/>
          </p:cNvSpPr>
          <p:nvPr/>
        </p:nvSpPr>
        <p:spPr bwMode="auto">
          <a:xfrm>
            <a:off x="4475640" y="4479131"/>
            <a:ext cx="11557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路由器 </a:t>
            </a:r>
            <a:r>
              <a:rPr lang="en-US" altLang="zh-CN" sz="2000" dirty="0">
                <a:latin typeface="+mn-lt"/>
                <a:ea typeface="微软雅黑 Light" panose="020B0502040204020203" pitchFamily="34" charset="-122"/>
              </a:rPr>
              <a:t>1</a:t>
            </a:r>
          </a:p>
        </p:txBody>
      </p:sp>
      <p:sp>
        <p:nvSpPr>
          <p:cNvPr id="307235" name="Rectangle 35"/>
          <p:cNvSpPr>
            <a:spLocks noChangeArrowheads="1"/>
          </p:cNvSpPr>
          <p:nvPr/>
        </p:nvSpPr>
        <p:spPr bwMode="auto">
          <a:xfrm>
            <a:off x="6639008" y="4479435"/>
            <a:ext cx="117019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路由器 </a:t>
            </a:r>
            <a:r>
              <a:rPr lang="en-US" altLang="zh-CN" sz="2000" dirty="0">
                <a:latin typeface="+mn-lt"/>
                <a:ea typeface="微软雅黑 Light" panose="020B0502040204020203" pitchFamily="34" charset="-122"/>
              </a:rPr>
              <a:t>2</a:t>
            </a:r>
          </a:p>
        </p:txBody>
      </p:sp>
      <p:sp>
        <p:nvSpPr>
          <p:cNvPr id="307236" name="Oval 36"/>
          <p:cNvSpPr>
            <a:spLocks noChangeArrowheads="1"/>
          </p:cNvSpPr>
          <p:nvPr/>
        </p:nvSpPr>
        <p:spPr bwMode="auto">
          <a:xfrm>
            <a:off x="1958976" y="4783139"/>
            <a:ext cx="631825" cy="314325"/>
          </a:xfrm>
          <a:prstGeom prst="ellipse">
            <a:avLst/>
          </a:prstGeom>
          <a:ln w="12700">
            <a:solidFill>
              <a:srgbClr val="333399"/>
            </a:solidFill>
          </a:ln>
        </p:spPr>
        <p:style>
          <a:lnRef idx="2">
            <a:schemeClr val="accent2"/>
          </a:lnRef>
          <a:fillRef idx="1">
            <a:schemeClr val="lt1"/>
          </a:fillRef>
          <a:effectRef idx="0">
            <a:schemeClr val="accent2"/>
          </a:effectRef>
          <a:fontRef idx="minor">
            <a:schemeClr val="dk1"/>
          </a:fontRef>
        </p:style>
        <p:txBody>
          <a:bodyPr wrap="none" anchor="ctr"/>
          <a:lstStyle/>
          <a:p>
            <a:pPr algn="ctr"/>
            <a:endParaRPr lang="zh-CN" altLang="zh-CN" sz="2800">
              <a:ea typeface="微软雅黑 Light" panose="020B0502040204020203" pitchFamily="34" charset="-122"/>
            </a:endParaRPr>
          </a:p>
        </p:txBody>
      </p:sp>
      <p:sp>
        <p:nvSpPr>
          <p:cNvPr id="307237" name="Rectangle 37"/>
          <p:cNvSpPr>
            <a:spLocks noChangeArrowheads="1"/>
          </p:cNvSpPr>
          <p:nvPr/>
        </p:nvSpPr>
        <p:spPr bwMode="auto">
          <a:xfrm>
            <a:off x="2003425" y="4732339"/>
            <a:ext cx="59631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sz="2000" dirty="0">
                <a:solidFill>
                  <a:srgbClr val="333399"/>
                </a:solidFill>
                <a:latin typeface="+mn-lt"/>
                <a:ea typeface="微软雅黑 Light" panose="020B0502040204020203" pitchFamily="34" charset="-122"/>
              </a:rPr>
              <a:t>AP</a:t>
            </a:r>
            <a:r>
              <a:rPr lang="en-US" altLang="zh-CN" sz="2000" baseline="-25000" dirty="0">
                <a:solidFill>
                  <a:srgbClr val="333399"/>
                </a:solidFill>
                <a:latin typeface="+mn-lt"/>
                <a:ea typeface="微软雅黑 Light" panose="020B0502040204020203" pitchFamily="34" charset="-122"/>
              </a:rPr>
              <a:t>1</a:t>
            </a:r>
            <a:endParaRPr lang="en-US" altLang="zh-CN" sz="2000" dirty="0">
              <a:solidFill>
                <a:srgbClr val="333399"/>
              </a:solidFill>
              <a:latin typeface="+mn-lt"/>
              <a:ea typeface="微软雅黑 Light" panose="020B0502040204020203" pitchFamily="34" charset="-122"/>
            </a:endParaRPr>
          </a:p>
        </p:txBody>
      </p:sp>
      <p:sp>
        <p:nvSpPr>
          <p:cNvPr id="307238" name="Oval 38"/>
          <p:cNvSpPr>
            <a:spLocks noChangeArrowheads="1"/>
          </p:cNvSpPr>
          <p:nvPr/>
        </p:nvSpPr>
        <p:spPr bwMode="auto">
          <a:xfrm>
            <a:off x="9652001" y="1376363"/>
            <a:ext cx="631825" cy="355600"/>
          </a:xfrm>
          <a:prstGeom prst="ellipse">
            <a:avLst/>
          </a:prstGeom>
          <a:ln w="12700">
            <a:solidFill>
              <a:srgbClr val="333399"/>
            </a:solidFill>
          </a:ln>
        </p:spPr>
        <p:style>
          <a:lnRef idx="2">
            <a:schemeClr val="accent2"/>
          </a:lnRef>
          <a:fillRef idx="1">
            <a:schemeClr val="lt1"/>
          </a:fillRef>
          <a:effectRef idx="0">
            <a:schemeClr val="accent2"/>
          </a:effectRef>
          <a:fontRef idx="minor">
            <a:schemeClr val="dk1"/>
          </a:fontRef>
        </p:style>
        <p:txBody>
          <a:bodyPr wrap="none" anchor="ctr"/>
          <a:lstStyle/>
          <a:p>
            <a:pPr algn="ctr"/>
            <a:endParaRPr lang="zh-CN" altLang="zh-CN" sz="2800">
              <a:ea typeface="微软雅黑 Light" panose="020B0502040204020203" pitchFamily="34" charset="-122"/>
            </a:endParaRPr>
          </a:p>
        </p:txBody>
      </p:sp>
      <p:sp>
        <p:nvSpPr>
          <p:cNvPr id="307239" name="Line 39"/>
          <p:cNvSpPr>
            <a:spLocks noChangeShapeType="1"/>
          </p:cNvSpPr>
          <p:nvPr/>
        </p:nvSpPr>
        <p:spPr bwMode="auto">
          <a:xfrm rot="5400000">
            <a:off x="4465638" y="3409950"/>
            <a:ext cx="94615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7240" name="Line 40"/>
          <p:cNvSpPr>
            <a:spLocks noChangeShapeType="1"/>
          </p:cNvSpPr>
          <p:nvPr/>
        </p:nvSpPr>
        <p:spPr bwMode="auto">
          <a:xfrm rot="5400000">
            <a:off x="6655594" y="3407569"/>
            <a:ext cx="957262"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7245" name="Oval 45"/>
          <p:cNvSpPr>
            <a:spLocks noChangeArrowheads="1"/>
          </p:cNvSpPr>
          <p:nvPr/>
        </p:nvSpPr>
        <p:spPr bwMode="auto">
          <a:xfrm>
            <a:off x="3076575" y="5067301"/>
            <a:ext cx="153988" cy="138113"/>
          </a:xfrm>
          <a:prstGeom prst="ellipse">
            <a:avLst/>
          </a:prstGeom>
          <a:solidFill>
            <a:schemeClr val="bg1"/>
          </a:solidFill>
          <a:ln w="28575">
            <a:solidFill>
              <a:srgbClr val="3333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a:latin typeface="+mn-lt"/>
              <a:ea typeface="微软雅黑 Light" panose="020B0502040204020203" pitchFamily="34" charset="-122"/>
            </a:endParaRPr>
          </a:p>
        </p:txBody>
      </p:sp>
      <p:sp>
        <p:nvSpPr>
          <p:cNvPr id="307246" name="Oval 46"/>
          <p:cNvSpPr>
            <a:spLocks noChangeArrowheads="1"/>
          </p:cNvSpPr>
          <p:nvPr/>
        </p:nvSpPr>
        <p:spPr bwMode="auto">
          <a:xfrm>
            <a:off x="1943101" y="5153026"/>
            <a:ext cx="633413" cy="314325"/>
          </a:xfrm>
          <a:prstGeom prst="ellipse">
            <a:avLst/>
          </a:prstGeom>
          <a:ln w="12700">
            <a:solidFill>
              <a:srgbClr val="333399"/>
            </a:solidFill>
          </a:ln>
        </p:spPr>
        <p:style>
          <a:lnRef idx="2">
            <a:schemeClr val="accent2"/>
          </a:lnRef>
          <a:fillRef idx="1">
            <a:schemeClr val="lt1"/>
          </a:fillRef>
          <a:effectRef idx="0">
            <a:schemeClr val="accent2"/>
          </a:effectRef>
          <a:fontRef idx="minor">
            <a:schemeClr val="dk1"/>
          </a:fontRef>
        </p:style>
        <p:txBody>
          <a:bodyPr wrap="none" anchor="ctr"/>
          <a:lstStyle/>
          <a:p>
            <a:pPr algn="ctr"/>
            <a:endParaRPr lang="zh-CN" altLang="zh-CN" sz="2800">
              <a:ea typeface="微软雅黑 Light" panose="020B0502040204020203" pitchFamily="34" charset="-122"/>
            </a:endParaRPr>
          </a:p>
        </p:txBody>
      </p:sp>
      <p:sp>
        <p:nvSpPr>
          <p:cNvPr id="307247" name="Rectangle 47"/>
          <p:cNvSpPr>
            <a:spLocks noChangeArrowheads="1"/>
          </p:cNvSpPr>
          <p:nvPr/>
        </p:nvSpPr>
        <p:spPr bwMode="auto">
          <a:xfrm>
            <a:off x="1962150" y="5102226"/>
            <a:ext cx="59631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sz="2000">
                <a:solidFill>
                  <a:srgbClr val="333399"/>
                </a:solidFill>
                <a:latin typeface="+mn-lt"/>
                <a:ea typeface="微软雅黑 Light" panose="020B0502040204020203" pitchFamily="34" charset="-122"/>
              </a:rPr>
              <a:t>AP</a:t>
            </a:r>
            <a:r>
              <a:rPr lang="en-US" altLang="zh-CN" sz="2000" baseline="-25000">
                <a:solidFill>
                  <a:srgbClr val="333399"/>
                </a:solidFill>
                <a:latin typeface="+mn-lt"/>
                <a:ea typeface="微软雅黑 Light" panose="020B0502040204020203" pitchFamily="34" charset="-122"/>
              </a:rPr>
              <a:t>2</a:t>
            </a:r>
            <a:endParaRPr lang="en-US" altLang="zh-CN" sz="2000">
              <a:solidFill>
                <a:srgbClr val="333399"/>
              </a:solidFill>
              <a:latin typeface="+mn-lt"/>
              <a:ea typeface="微软雅黑 Light" panose="020B0502040204020203" pitchFamily="34" charset="-122"/>
            </a:endParaRPr>
          </a:p>
        </p:txBody>
      </p:sp>
      <p:sp>
        <p:nvSpPr>
          <p:cNvPr id="307248" name="Rectangle 48"/>
          <p:cNvSpPr>
            <a:spLocks noChangeArrowheads="1"/>
          </p:cNvSpPr>
          <p:nvPr/>
        </p:nvSpPr>
        <p:spPr bwMode="auto">
          <a:xfrm flipH="1">
            <a:off x="8948738" y="4673601"/>
            <a:ext cx="1447800" cy="885825"/>
          </a:xfrm>
          <a:prstGeom prst="rect">
            <a:avLst/>
          </a:prstGeom>
          <a:ln>
            <a:solidFill>
              <a:srgbClr val="333399"/>
            </a:solidFill>
          </a:ln>
        </p:spPr>
        <p:style>
          <a:lnRef idx="2">
            <a:schemeClr val="accent2"/>
          </a:lnRef>
          <a:fillRef idx="1">
            <a:schemeClr val="lt1"/>
          </a:fillRef>
          <a:effectRef idx="0">
            <a:schemeClr val="accent2"/>
          </a:effectRef>
          <a:fontRef idx="minor">
            <a:schemeClr val="dk1"/>
          </a:fontRef>
        </p:style>
        <p:txBody>
          <a:bodyPr wrap="none" anchor="ctr"/>
          <a:lstStyle/>
          <a:p>
            <a:pPr algn="ctr"/>
            <a:endParaRPr lang="zh-CN" altLang="zh-CN" sz="2800">
              <a:ea typeface="微软雅黑 Light" panose="020B0502040204020203" pitchFamily="34" charset="-122"/>
            </a:endParaRPr>
          </a:p>
        </p:txBody>
      </p:sp>
      <p:sp>
        <p:nvSpPr>
          <p:cNvPr id="307249" name="Freeform 49"/>
          <p:cNvSpPr/>
          <p:nvPr/>
        </p:nvSpPr>
        <p:spPr bwMode="auto">
          <a:xfrm flipH="1">
            <a:off x="8948739" y="4967288"/>
            <a:ext cx="655637" cy="165100"/>
          </a:xfrm>
          <a:custGeom>
            <a:avLst/>
            <a:gdLst>
              <a:gd name="T0" fmla="*/ 0 w 382"/>
              <a:gd name="T1" fmla="*/ 0 h 277"/>
              <a:gd name="T2" fmla="*/ 9 w 382"/>
              <a:gd name="T3" fmla="*/ 0 h 277"/>
              <a:gd name="T4" fmla="*/ 18 w 382"/>
              <a:gd name="T5" fmla="*/ 6 h 277"/>
              <a:gd name="T6" fmla="*/ 27 w 382"/>
              <a:gd name="T7" fmla="*/ 6 h 277"/>
              <a:gd name="T8" fmla="*/ 36 w 382"/>
              <a:gd name="T9" fmla="*/ 9 h 277"/>
              <a:gd name="T10" fmla="*/ 48 w 382"/>
              <a:gd name="T11" fmla="*/ 12 h 277"/>
              <a:gd name="T12" fmla="*/ 57 w 382"/>
              <a:gd name="T13" fmla="*/ 15 h 277"/>
              <a:gd name="T14" fmla="*/ 66 w 382"/>
              <a:gd name="T15" fmla="*/ 18 h 277"/>
              <a:gd name="T16" fmla="*/ 75 w 382"/>
              <a:gd name="T17" fmla="*/ 21 h 277"/>
              <a:gd name="T18" fmla="*/ 84 w 382"/>
              <a:gd name="T19" fmla="*/ 24 h 277"/>
              <a:gd name="T20" fmla="*/ 93 w 382"/>
              <a:gd name="T21" fmla="*/ 30 h 277"/>
              <a:gd name="T22" fmla="*/ 102 w 382"/>
              <a:gd name="T23" fmla="*/ 33 h 277"/>
              <a:gd name="T24" fmla="*/ 111 w 382"/>
              <a:gd name="T25" fmla="*/ 36 h 277"/>
              <a:gd name="T26" fmla="*/ 120 w 382"/>
              <a:gd name="T27" fmla="*/ 42 h 277"/>
              <a:gd name="T28" fmla="*/ 132 w 382"/>
              <a:gd name="T29" fmla="*/ 45 h 277"/>
              <a:gd name="T30" fmla="*/ 144 w 382"/>
              <a:gd name="T31" fmla="*/ 54 h 277"/>
              <a:gd name="T32" fmla="*/ 153 w 382"/>
              <a:gd name="T33" fmla="*/ 57 h 277"/>
              <a:gd name="T34" fmla="*/ 162 w 382"/>
              <a:gd name="T35" fmla="*/ 66 h 277"/>
              <a:gd name="T36" fmla="*/ 171 w 382"/>
              <a:gd name="T37" fmla="*/ 66 h 277"/>
              <a:gd name="T38" fmla="*/ 180 w 382"/>
              <a:gd name="T39" fmla="*/ 72 h 277"/>
              <a:gd name="T40" fmla="*/ 192 w 382"/>
              <a:gd name="T41" fmla="*/ 78 h 277"/>
              <a:gd name="T42" fmla="*/ 213 w 382"/>
              <a:gd name="T43" fmla="*/ 84 h 277"/>
              <a:gd name="T44" fmla="*/ 225 w 382"/>
              <a:gd name="T45" fmla="*/ 90 h 277"/>
              <a:gd name="T46" fmla="*/ 234 w 382"/>
              <a:gd name="T47" fmla="*/ 96 h 277"/>
              <a:gd name="T48" fmla="*/ 243 w 382"/>
              <a:gd name="T49" fmla="*/ 105 h 277"/>
              <a:gd name="T50" fmla="*/ 252 w 382"/>
              <a:gd name="T51" fmla="*/ 111 h 277"/>
              <a:gd name="T52" fmla="*/ 261 w 382"/>
              <a:gd name="T53" fmla="*/ 117 h 277"/>
              <a:gd name="T54" fmla="*/ 267 w 382"/>
              <a:gd name="T55" fmla="*/ 126 h 277"/>
              <a:gd name="T56" fmla="*/ 276 w 382"/>
              <a:gd name="T57" fmla="*/ 132 h 277"/>
              <a:gd name="T58" fmla="*/ 285 w 382"/>
              <a:gd name="T59" fmla="*/ 138 h 277"/>
              <a:gd name="T60" fmla="*/ 294 w 382"/>
              <a:gd name="T61" fmla="*/ 144 h 277"/>
              <a:gd name="T62" fmla="*/ 300 w 382"/>
              <a:gd name="T63" fmla="*/ 153 h 277"/>
              <a:gd name="T64" fmla="*/ 303 w 382"/>
              <a:gd name="T65" fmla="*/ 162 h 277"/>
              <a:gd name="T66" fmla="*/ 312 w 382"/>
              <a:gd name="T67" fmla="*/ 168 h 277"/>
              <a:gd name="T68" fmla="*/ 321 w 382"/>
              <a:gd name="T69" fmla="*/ 177 h 277"/>
              <a:gd name="T70" fmla="*/ 333 w 382"/>
              <a:gd name="T71" fmla="*/ 186 h 277"/>
              <a:gd name="T72" fmla="*/ 345 w 382"/>
              <a:gd name="T73" fmla="*/ 195 h 277"/>
              <a:gd name="T74" fmla="*/ 348 w 382"/>
              <a:gd name="T75" fmla="*/ 204 h 277"/>
              <a:gd name="T76" fmla="*/ 357 w 382"/>
              <a:gd name="T77" fmla="*/ 210 h 277"/>
              <a:gd name="T78" fmla="*/ 360 w 382"/>
              <a:gd name="T79" fmla="*/ 219 h 277"/>
              <a:gd name="T80" fmla="*/ 366 w 382"/>
              <a:gd name="T81" fmla="*/ 228 h 277"/>
              <a:gd name="T82" fmla="*/ 369 w 382"/>
              <a:gd name="T83" fmla="*/ 237 h 277"/>
              <a:gd name="T84" fmla="*/ 372 w 382"/>
              <a:gd name="T85" fmla="*/ 246 h 277"/>
              <a:gd name="T86" fmla="*/ 372 w 382"/>
              <a:gd name="T87" fmla="*/ 258 h 277"/>
              <a:gd name="T88" fmla="*/ 378 w 382"/>
              <a:gd name="T89" fmla="*/ 267 h 277"/>
              <a:gd name="T90" fmla="*/ 381 w 382"/>
              <a:gd name="T91" fmla="*/ 276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82" h="277">
                <a:moveTo>
                  <a:pt x="0" y="0"/>
                </a:moveTo>
                <a:lnTo>
                  <a:pt x="9" y="0"/>
                </a:lnTo>
                <a:lnTo>
                  <a:pt x="18" y="6"/>
                </a:lnTo>
                <a:lnTo>
                  <a:pt x="27" y="6"/>
                </a:lnTo>
                <a:lnTo>
                  <a:pt x="36" y="9"/>
                </a:lnTo>
                <a:lnTo>
                  <a:pt x="48" y="12"/>
                </a:lnTo>
                <a:lnTo>
                  <a:pt x="57" y="15"/>
                </a:lnTo>
                <a:lnTo>
                  <a:pt x="66" y="18"/>
                </a:lnTo>
                <a:lnTo>
                  <a:pt x="75" y="21"/>
                </a:lnTo>
                <a:lnTo>
                  <a:pt x="84" y="24"/>
                </a:lnTo>
                <a:lnTo>
                  <a:pt x="93" y="30"/>
                </a:lnTo>
                <a:lnTo>
                  <a:pt x="102" y="33"/>
                </a:lnTo>
                <a:lnTo>
                  <a:pt x="111" y="36"/>
                </a:lnTo>
                <a:lnTo>
                  <a:pt x="120" y="42"/>
                </a:lnTo>
                <a:lnTo>
                  <a:pt x="132" y="45"/>
                </a:lnTo>
                <a:lnTo>
                  <a:pt x="144" y="54"/>
                </a:lnTo>
                <a:lnTo>
                  <a:pt x="153" y="57"/>
                </a:lnTo>
                <a:lnTo>
                  <a:pt x="162" y="66"/>
                </a:lnTo>
                <a:lnTo>
                  <a:pt x="171" y="66"/>
                </a:lnTo>
                <a:lnTo>
                  <a:pt x="180" y="72"/>
                </a:lnTo>
                <a:lnTo>
                  <a:pt x="192" y="78"/>
                </a:lnTo>
                <a:lnTo>
                  <a:pt x="213" y="84"/>
                </a:lnTo>
                <a:lnTo>
                  <a:pt x="225" y="90"/>
                </a:lnTo>
                <a:lnTo>
                  <a:pt x="234" y="96"/>
                </a:lnTo>
                <a:lnTo>
                  <a:pt x="243" y="105"/>
                </a:lnTo>
                <a:lnTo>
                  <a:pt x="252" y="111"/>
                </a:lnTo>
                <a:lnTo>
                  <a:pt x="261" y="117"/>
                </a:lnTo>
                <a:lnTo>
                  <a:pt x="267" y="126"/>
                </a:lnTo>
                <a:lnTo>
                  <a:pt x="276" y="132"/>
                </a:lnTo>
                <a:lnTo>
                  <a:pt x="285" y="138"/>
                </a:lnTo>
                <a:lnTo>
                  <a:pt x="294" y="144"/>
                </a:lnTo>
                <a:lnTo>
                  <a:pt x="300" y="153"/>
                </a:lnTo>
                <a:lnTo>
                  <a:pt x="303" y="162"/>
                </a:lnTo>
                <a:lnTo>
                  <a:pt x="312" y="168"/>
                </a:lnTo>
                <a:lnTo>
                  <a:pt x="321" y="177"/>
                </a:lnTo>
                <a:lnTo>
                  <a:pt x="333" y="186"/>
                </a:lnTo>
                <a:lnTo>
                  <a:pt x="345" y="195"/>
                </a:lnTo>
                <a:lnTo>
                  <a:pt x="348" y="204"/>
                </a:lnTo>
                <a:lnTo>
                  <a:pt x="357" y="210"/>
                </a:lnTo>
                <a:lnTo>
                  <a:pt x="360" y="219"/>
                </a:lnTo>
                <a:lnTo>
                  <a:pt x="366" y="228"/>
                </a:lnTo>
                <a:lnTo>
                  <a:pt x="369" y="237"/>
                </a:lnTo>
                <a:lnTo>
                  <a:pt x="372" y="246"/>
                </a:lnTo>
                <a:lnTo>
                  <a:pt x="372" y="258"/>
                </a:lnTo>
                <a:lnTo>
                  <a:pt x="378" y="267"/>
                </a:lnTo>
                <a:lnTo>
                  <a:pt x="381" y="276"/>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307250" name="Freeform 50"/>
          <p:cNvSpPr/>
          <p:nvPr/>
        </p:nvSpPr>
        <p:spPr bwMode="auto">
          <a:xfrm flipH="1">
            <a:off x="8948738" y="5154613"/>
            <a:ext cx="711200" cy="184150"/>
          </a:xfrm>
          <a:custGeom>
            <a:avLst/>
            <a:gdLst>
              <a:gd name="T0" fmla="*/ 0 w 334"/>
              <a:gd name="T1" fmla="*/ 243 h 244"/>
              <a:gd name="T2" fmla="*/ 12 w 334"/>
              <a:gd name="T3" fmla="*/ 243 h 244"/>
              <a:gd name="T4" fmla="*/ 31 w 334"/>
              <a:gd name="T5" fmla="*/ 237 h 244"/>
              <a:gd name="T6" fmla="*/ 40 w 334"/>
              <a:gd name="T7" fmla="*/ 234 h 244"/>
              <a:gd name="T8" fmla="*/ 49 w 334"/>
              <a:gd name="T9" fmla="*/ 231 h 244"/>
              <a:gd name="T10" fmla="*/ 59 w 334"/>
              <a:gd name="T11" fmla="*/ 225 h 244"/>
              <a:gd name="T12" fmla="*/ 71 w 334"/>
              <a:gd name="T13" fmla="*/ 222 h 244"/>
              <a:gd name="T14" fmla="*/ 80 w 334"/>
              <a:gd name="T15" fmla="*/ 216 h 244"/>
              <a:gd name="T16" fmla="*/ 89 w 334"/>
              <a:gd name="T17" fmla="*/ 210 h 244"/>
              <a:gd name="T18" fmla="*/ 99 w 334"/>
              <a:gd name="T19" fmla="*/ 204 h 244"/>
              <a:gd name="T20" fmla="*/ 108 w 334"/>
              <a:gd name="T21" fmla="*/ 198 h 244"/>
              <a:gd name="T22" fmla="*/ 117 w 334"/>
              <a:gd name="T23" fmla="*/ 195 h 244"/>
              <a:gd name="T24" fmla="*/ 126 w 334"/>
              <a:gd name="T25" fmla="*/ 189 h 244"/>
              <a:gd name="T26" fmla="*/ 136 w 334"/>
              <a:gd name="T27" fmla="*/ 183 h 244"/>
              <a:gd name="T28" fmla="*/ 145 w 334"/>
              <a:gd name="T29" fmla="*/ 177 h 244"/>
              <a:gd name="T30" fmla="*/ 154 w 334"/>
              <a:gd name="T31" fmla="*/ 174 h 244"/>
              <a:gd name="T32" fmla="*/ 163 w 334"/>
              <a:gd name="T33" fmla="*/ 171 h 244"/>
              <a:gd name="T34" fmla="*/ 173 w 334"/>
              <a:gd name="T35" fmla="*/ 165 h 244"/>
              <a:gd name="T36" fmla="*/ 182 w 334"/>
              <a:gd name="T37" fmla="*/ 162 h 244"/>
              <a:gd name="T38" fmla="*/ 194 w 334"/>
              <a:gd name="T39" fmla="*/ 156 h 244"/>
              <a:gd name="T40" fmla="*/ 207 w 334"/>
              <a:gd name="T41" fmla="*/ 150 h 244"/>
              <a:gd name="T42" fmla="*/ 213 w 334"/>
              <a:gd name="T43" fmla="*/ 141 h 244"/>
              <a:gd name="T44" fmla="*/ 222 w 334"/>
              <a:gd name="T45" fmla="*/ 138 h 244"/>
              <a:gd name="T46" fmla="*/ 231 w 334"/>
              <a:gd name="T47" fmla="*/ 129 h 244"/>
              <a:gd name="T48" fmla="*/ 241 w 334"/>
              <a:gd name="T49" fmla="*/ 120 h 244"/>
              <a:gd name="T50" fmla="*/ 247 w 334"/>
              <a:gd name="T51" fmla="*/ 111 h 244"/>
              <a:gd name="T52" fmla="*/ 256 w 334"/>
              <a:gd name="T53" fmla="*/ 102 h 244"/>
              <a:gd name="T54" fmla="*/ 259 w 334"/>
              <a:gd name="T55" fmla="*/ 93 h 244"/>
              <a:gd name="T56" fmla="*/ 268 w 334"/>
              <a:gd name="T57" fmla="*/ 87 h 244"/>
              <a:gd name="T58" fmla="*/ 271 w 334"/>
              <a:gd name="T59" fmla="*/ 78 h 244"/>
              <a:gd name="T60" fmla="*/ 278 w 334"/>
              <a:gd name="T61" fmla="*/ 69 h 244"/>
              <a:gd name="T62" fmla="*/ 284 w 334"/>
              <a:gd name="T63" fmla="*/ 60 h 244"/>
              <a:gd name="T64" fmla="*/ 290 w 334"/>
              <a:gd name="T65" fmla="*/ 51 h 244"/>
              <a:gd name="T66" fmla="*/ 293 w 334"/>
              <a:gd name="T67" fmla="*/ 42 h 244"/>
              <a:gd name="T68" fmla="*/ 299 w 334"/>
              <a:gd name="T69" fmla="*/ 33 h 244"/>
              <a:gd name="T70" fmla="*/ 308 w 334"/>
              <a:gd name="T71" fmla="*/ 27 h 244"/>
              <a:gd name="T72" fmla="*/ 311 w 334"/>
              <a:gd name="T73" fmla="*/ 18 h 244"/>
              <a:gd name="T74" fmla="*/ 321 w 334"/>
              <a:gd name="T75" fmla="*/ 15 h 244"/>
              <a:gd name="T76" fmla="*/ 324 w 334"/>
              <a:gd name="T77" fmla="*/ 6 h 244"/>
              <a:gd name="T78" fmla="*/ 333 w 334"/>
              <a:gd name="T79"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34" h="244">
                <a:moveTo>
                  <a:pt x="0" y="243"/>
                </a:moveTo>
                <a:lnTo>
                  <a:pt x="12" y="243"/>
                </a:lnTo>
                <a:lnTo>
                  <a:pt x="31" y="237"/>
                </a:lnTo>
                <a:lnTo>
                  <a:pt x="40" y="234"/>
                </a:lnTo>
                <a:lnTo>
                  <a:pt x="49" y="231"/>
                </a:lnTo>
                <a:lnTo>
                  <a:pt x="59" y="225"/>
                </a:lnTo>
                <a:lnTo>
                  <a:pt x="71" y="222"/>
                </a:lnTo>
                <a:lnTo>
                  <a:pt x="80" y="216"/>
                </a:lnTo>
                <a:lnTo>
                  <a:pt x="89" y="210"/>
                </a:lnTo>
                <a:lnTo>
                  <a:pt x="99" y="204"/>
                </a:lnTo>
                <a:lnTo>
                  <a:pt x="108" y="198"/>
                </a:lnTo>
                <a:lnTo>
                  <a:pt x="117" y="195"/>
                </a:lnTo>
                <a:lnTo>
                  <a:pt x="126" y="189"/>
                </a:lnTo>
                <a:lnTo>
                  <a:pt x="136" y="183"/>
                </a:lnTo>
                <a:lnTo>
                  <a:pt x="145" y="177"/>
                </a:lnTo>
                <a:lnTo>
                  <a:pt x="154" y="174"/>
                </a:lnTo>
                <a:lnTo>
                  <a:pt x="163" y="171"/>
                </a:lnTo>
                <a:lnTo>
                  <a:pt x="173" y="165"/>
                </a:lnTo>
                <a:lnTo>
                  <a:pt x="182" y="162"/>
                </a:lnTo>
                <a:lnTo>
                  <a:pt x="194" y="156"/>
                </a:lnTo>
                <a:lnTo>
                  <a:pt x="207" y="150"/>
                </a:lnTo>
                <a:lnTo>
                  <a:pt x="213" y="141"/>
                </a:lnTo>
                <a:lnTo>
                  <a:pt x="222" y="138"/>
                </a:lnTo>
                <a:lnTo>
                  <a:pt x="231" y="129"/>
                </a:lnTo>
                <a:lnTo>
                  <a:pt x="241" y="120"/>
                </a:lnTo>
                <a:lnTo>
                  <a:pt x="247" y="111"/>
                </a:lnTo>
                <a:lnTo>
                  <a:pt x="256" y="102"/>
                </a:lnTo>
                <a:lnTo>
                  <a:pt x="259" y="93"/>
                </a:lnTo>
                <a:lnTo>
                  <a:pt x="268" y="87"/>
                </a:lnTo>
                <a:lnTo>
                  <a:pt x="271" y="78"/>
                </a:lnTo>
                <a:lnTo>
                  <a:pt x="278" y="69"/>
                </a:lnTo>
                <a:lnTo>
                  <a:pt x="284" y="60"/>
                </a:lnTo>
                <a:lnTo>
                  <a:pt x="290" y="51"/>
                </a:lnTo>
                <a:lnTo>
                  <a:pt x="293" y="42"/>
                </a:lnTo>
                <a:lnTo>
                  <a:pt x="299" y="33"/>
                </a:lnTo>
                <a:lnTo>
                  <a:pt x="308" y="27"/>
                </a:lnTo>
                <a:lnTo>
                  <a:pt x="311" y="18"/>
                </a:lnTo>
                <a:lnTo>
                  <a:pt x="321" y="15"/>
                </a:lnTo>
                <a:lnTo>
                  <a:pt x="324" y="6"/>
                </a:lnTo>
                <a:lnTo>
                  <a:pt x="333" y="0"/>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307251" name="Oval 51"/>
          <p:cNvSpPr>
            <a:spLocks noChangeArrowheads="1"/>
          </p:cNvSpPr>
          <p:nvPr/>
        </p:nvSpPr>
        <p:spPr bwMode="auto">
          <a:xfrm flipH="1">
            <a:off x="9405939" y="4783139"/>
            <a:ext cx="631825" cy="314325"/>
          </a:xfrm>
          <a:prstGeom prst="ellipse">
            <a:avLst/>
          </a:prstGeom>
          <a:ln w="12700">
            <a:solidFill>
              <a:srgbClr val="333399"/>
            </a:solidFill>
          </a:ln>
        </p:spPr>
        <p:style>
          <a:lnRef idx="2">
            <a:schemeClr val="accent2"/>
          </a:lnRef>
          <a:fillRef idx="1">
            <a:schemeClr val="lt1"/>
          </a:fillRef>
          <a:effectRef idx="0">
            <a:schemeClr val="accent2"/>
          </a:effectRef>
          <a:fontRef idx="minor">
            <a:schemeClr val="dk1"/>
          </a:fontRef>
        </p:style>
        <p:txBody>
          <a:bodyPr wrap="none" anchor="ctr"/>
          <a:lstStyle/>
          <a:p>
            <a:pPr algn="ctr"/>
            <a:endParaRPr lang="zh-CN" altLang="zh-CN" sz="2800">
              <a:ea typeface="微软雅黑 Light" panose="020B0502040204020203" pitchFamily="34" charset="-122"/>
            </a:endParaRPr>
          </a:p>
        </p:txBody>
      </p:sp>
      <p:sp>
        <p:nvSpPr>
          <p:cNvPr id="307252" name="Rectangle 52"/>
          <p:cNvSpPr>
            <a:spLocks noChangeArrowheads="1"/>
          </p:cNvSpPr>
          <p:nvPr/>
        </p:nvSpPr>
        <p:spPr bwMode="auto">
          <a:xfrm flipH="1">
            <a:off x="9417050" y="4732339"/>
            <a:ext cx="59631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sz="2000">
                <a:solidFill>
                  <a:srgbClr val="333399"/>
                </a:solidFill>
                <a:latin typeface="+mn-lt"/>
                <a:ea typeface="微软雅黑 Light" panose="020B0502040204020203" pitchFamily="34" charset="-122"/>
              </a:rPr>
              <a:t>AP</a:t>
            </a:r>
            <a:r>
              <a:rPr lang="en-US" altLang="zh-CN" sz="2000" baseline="-25000">
                <a:solidFill>
                  <a:srgbClr val="333399"/>
                </a:solidFill>
                <a:latin typeface="+mn-lt"/>
                <a:ea typeface="微软雅黑 Light" panose="020B0502040204020203" pitchFamily="34" charset="-122"/>
              </a:rPr>
              <a:t>3</a:t>
            </a:r>
            <a:endParaRPr lang="en-US" altLang="zh-CN" sz="2000">
              <a:solidFill>
                <a:srgbClr val="333399"/>
              </a:solidFill>
              <a:latin typeface="+mn-lt"/>
              <a:ea typeface="微软雅黑 Light" panose="020B0502040204020203" pitchFamily="34" charset="-122"/>
            </a:endParaRPr>
          </a:p>
        </p:txBody>
      </p:sp>
      <p:sp>
        <p:nvSpPr>
          <p:cNvPr id="307253" name="Oval 53"/>
          <p:cNvSpPr>
            <a:spLocks noChangeArrowheads="1"/>
          </p:cNvSpPr>
          <p:nvPr/>
        </p:nvSpPr>
        <p:spPr bwMode="auto">
          <a:xfrm flipH="1">
            <a:off x="9391651" y="5153026"/>
            <a:ext cx="631825" cy="314325"/>
          </a:xfrm>
          <a:prstGeom prst="ellipse">
            <a:avLst/>
          </a:prstGeom>
          <a:ln w="12700">
            <a:solidFill>
              <a:srgbClr val="333399"/>
            </a:solidFill>
          </a:ln>
        </p:spPr>
        <p:style>
          <a:lnRef idx="2">
            <a:schemeClr val="accent2"/>
          </a:lnRef>
          <a:fillRef idx="1">
            <a:schemeClr val="lt1"/>
          </a:fillRef>
          <a:effectRef idx="0">
            <a:schemeClr val="accent2"/>
          </a:effectRef>
          <a:fontRef idx="minor">
            <a:schemeClr val="dk1"/>
          </a:fontRef>
        </p:style>
        <p:txBody>
          <a:bodyPr wrap="none" anchor="ctr"/>
          <a:lstStyle/>
          <a:p>
            <a:pPr algn="ctr"/>
            <a:endParaRPr lang="zh-CN" altLang="zh-CN" sz="2800">
              <a:ea typeface="微软雅黑 Light" panose="020B0502040204020203" pitchFamily="34" charset="-122"/>
            </a:endParaRPr>
          </a:p>
        </p:txBody>
      </p:sp>
      <p:sp>
        <p:nvSpPr>
          <p:cNvPr id="307254" name="Rectangle 54"/>
          <p:cNvSpPr>
            <a:spLocks noChangeArrowheads="1"/>
          </p:cNvSpPr>
          <p:nvPr/>
        </p:nvSpPr>
        <p:spPr bwMode="auto">
          <a:xfrm flipH="1">
            <a:off x="9417050" y="5116514"/>
            <a:ext cx="59631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sz="2000">
                <a:solidFill>
                  <a:srgbClr val="333399"/>
                </a:solidFill>
                <a:latin typeface="+mn-lt"/>
                <a:ea typeface="微软雅黑 Light" panose="020B0502040204020203" pitchFamily="34" charset="-122"/>
              </a:rPr>
              <a:t>AP</a:t>
            </a:r>
            <a:r>
              <a:rPr lang="en-US" altLang="zh-CN" sz="2000" baseline="-25000">
                <a:solidFill>
                  <a:srgbClr val="333399"/>
                </a:solidFill>
                <a:latin typeface="+mn-lt"/>
                <a:ea typeface="微软雅黑 Light" panose="020B0502040204020203" pitchFamily="34" charset="-122"/>
              </a:rPr>
              <a:t>4</a:t>
            </a:r>
            <a:endParaRPr lang="en-US" altLang="zh-CN" sz="2000">
              <a:solidFill>
                <a:srgbClr val="333399"/>
              </a:solidFill>
              <a:latin typeface="+mn-lt"/>
              <a:ea typeface="微软雅黑 Light" panose="020B0502040204020203" pitchFamily="34" charset="-122"/>
            </a:endParaRPr>
          </a:p>
        </p:txBody>
      </p:sp>
      <p:sp>
        <p:nvSpPr>
          <p:cNvPr id="307258" name="Freeform 58"/>
          <p:cNvSpPr/>
          <p:nvPr/>
        </p:nvSpPr>
        <p:spPr bwMode="auto">
          <a:xfrm>
            <a:off x="3070226" y="1506539"/>
            <a:ext cx="327025" cy="128587"/>
          </a:xfrm>
          <a:custGeom>
            <a:avLst/>
            <a:gdLst>
              <a:gd name="T0" fmla="*/ 174 w 174"/>
              <a:gd name="T1" fmla="*/ 0 h 84"/>
              <a:gd name="T2" fmla="*/ 0 w 174"/>
              <a:gd name="T3" fmla="*/ 84 h 84"/>
            </a:gdLst>
            <a:ahLst/>
            <a:cxnLst>
              <a:cxn ang="0">
                <a:pos x="T0" y="T1"/>
              </a:cxn>
              <a:cxn ang="0">
                <a:pos x="T2" y="T3"/>
              </a:cxn>
            </a:cxnLst>
            <a:rect l="0" t="0" r="r" b="b"/>
            <a:pathLst>
              <a:path w="174" h="84">
                <a:moveTo>
                  <a:pt x="174" y="0"/>
                </a:moveTo>
                <a:lnTo>
                  <a:pt x="0" y="84"/>
                </a:lnTo>
              </a:path>
            </a:pathLst>
          </a:custGeom>
          <a:noFill/>
          <a:ln w="28575" cmpd="sng">
            <a:solidFill>
              <a:srgbClr val="333399"/>
            </a:solidFill>
            <a:round/>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7259" name="Oval 59"/>
          <p:cNvSpPr>
            <a:spLocks noChangeArrowheads="1"/>
          </p:cNvSpPr>
          <p:nvPr/>
        </p:nvSpPr>
        <p:spPr bwMode="auto">
          <a:xfrm>
            <a:off x="1781176" y="1373188"/>
            <a:ext cx="633413" cy="354012"/>
          </a:xfrm>
          <a:prstGeom prst="ellipse">
            <a:avLst/>
          </a:prstGeom>
          <a:ln w="12700">
            <a:solidFill>
              <a:srgbClr val="333399"/>
            </a:solidFill>
          </a:ln>
        </p:spPr>
        <p:style>
          <a:lnRef idx="2">
            <a:schemeClr val="accent2"/>
          </a:lnRef>
          <a:fillRef idx="1">
            <a:schemeClr val="lt1"/>
          </a:fillRef>
          <a:effectRef idx="0">
            <a:schemeClr val="accent2"/>
          </a:effectRef>
          <a:fontRef idx="minor">
            <a:schemeClr val="dk1"/>
          </a:fontRef>
        </p:style>
        <p:txBody>
          <a:bodyPr wrap="none" anchor="ctr"/>
          <a:lstStyle/>
          <a:p>
            <a:pPr algn="ctr"/>
            <a:endParaRPr lang="zh-CN" altLang="zh-CN" sz="2800">
              <a:ea typeface="微软雅黑 Light" panose="020B0502040204020203" pitchFamily="34" charset="-122"/>
            </a:endParaRPr>
          </a:p>
        </p:txBody>
      </p:sp>
      <p:sp>
        <p:nvSpPr>
          <p:cNvPr id="307260" name="Rectangle 60"/>
          <p:cNvSpPr>
            <a:spLocks noChangeArrowheads="1"/>
          </p:cNvSpPr>
          <p:nvPr/>
        </p:nvSpPr>
        <p:spPr bwMode="auto">
          <a:xfrm>
            <a:off x="1828800" y="1333501"/>
            <a:ext cx="59631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sz="2000" dirty="0">
                <a:solidFill>
                  <a:srgbClr val="333399"/>
                </a:solidFill>
                <a:latin typeface="+mn-lt"/>
                <a:ea typeface="微软雅黑 Light" panose="020B0502040204020203" pitchFamily="34" charset="-122"/>
              </a:rPr>
              <a:t>AP</a:t>
            </a:r>
            <a:r>
              <a:rPr lang="en-US" altLang="zh-CN" sz="2000" baseline="-25000" dirty="0">
                <a:solidFill>
                  <a:srgbClr val="333399"/>
                </a:solidFill>
                <a:latin typeface="+mn-lt"/>
                <a:ea typeface="微软雅黑 Light" panose="020B0502040204020203" pitchFamily="34" charset="-122"/>
              </a:rPr>
              <a:t>1</a:t>
            </a:r>
            <a:endParaRPr lang="en-US" altLang="zh-CN" sz="2000" dirty="0">
              <a:solidFill>
                <a:srgbClr val="333399"/>
              </a:solidFill>
              <a:latin typeface="+mn-lt"/>
              <a:ea typeface="微软雅黑 Light" panose="020B0502040204020203" pitchFamily="34" charset="-122"/>
            </a:endParaRPr>
          </a:p>
        </p:txBody>
      </p:sp>
      <p:sp>
        <p:nvSpPr>
          <p:cNvPr id="307261" name="Oval 61"/>
          <p:cNvSpPr>
            <a:spLocks noChangeArrowheads="1"/>
          </p:cNvSpPr>
          <p:nvPr/>
        </p:nvSpPr>
        <p:spPr bwMode="auto">
          <a:xfrm>
            <a:off x="2463801" y="1447800"/>
            <a:ext cx="633413" cy="376238"/>
          </a:xfrm>
          <a:prstGeom prst="ellipse">
            <a:avLst/>
          </a:prstGeom>
          <a:ln w="12700">
            <a:solidFill>
              <a:srgbClr val="333399"/>
            </a:solidFill>
          </a:ln>
        </p:spPr>
        <p:style>
          <a:lnRef idx="2">
            <a:schemeClr val="accent2"/>
          </a:lnRef>
          <a:fillRef idx="1">
            <a:schemeClr val="lt1"/>
          </a:fillRef>
          <a:effectRef idx="0">
            <a:schemeClr val="accent2"/>
          </a:effectRef>
          <a:fontRef idx="minor">
            <a:schemeClr val="dk1"/>
          </a:fontRef>
        </p:style>
        <p:txBody>
          <a:bodyPr wrap="none" anchor="ctr"/>
          <a:lstStyle/>
          <a:p>
            <a:pPr algn="ctr"/>
            <a:endParaRPr lang="zh-CN" altLang="zh-CN" sz="2800">
              <a:ea typeface="微软雅黑 Light" panose="020B0502040204020203" pitchFamily="34" charset="-122"/>
            </a:endParaRPr>
          </a:p>
        </p:txBody>
      </p:sp>
      <p:sp>
        <p:nvSpPr>
          <p:cNvPr id="307262" name="Rectangle 62"/>
          <p:cNvSpPr>
            <a:spLocks noChangeArrowheads="1"/>
          </p:cNvSpPr>
          <p:nvPr/>
        </p:nvSpPr>
        <p:spPr bwMode="auto">
          <a:xfrm>
            <a:off x="2493963" y="1422401"/>
            <a:ext cx="596318" cy="39754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sz="2000" dirty="0">
                <a:solidFill>
                  <a:srgbClr val="333399"/>
                </a:solidFill>
                <a:latin typeface="+mn-lt"/>
                <a:ea typeface="微软雅黑 Light" panose="020B0502040204020203" pitchFamily="34" charset="-122"/>
              </a:rPr>
              <a:t>AP</a:t>
            </a:r>
            <a:r>
              <a:rPr lang="en-US" altLang="zh-CN" sz="2000" baseline="-25000" dirty="0">
                <a:solidFill>
                  <a:srgbClr val="333399"/>
                </a:solidFill>
                <a:latin typeface="+mn-lt"/>
                <a:ea typeface="微软雅黑 Light" panose="020B0502040204020203" pitchFamily="34" charset="-122"/>
              </a:rPr>
              <a:t>2</a:t>
            </a:r>
            <a:endParaRPr lang="en-US" altLang="zh-CN" sz="2000" dirty="0">
              <a:solidFill>
                <a:srgbClr val="333399"/>
              </a:solidFill>
              <a:latin typeface="+mn-lt"/>
              <a:ea typeface="微软雅黑 Light" panose="020B0502040204020203" pitchFamily="34" charset="-122"/>
            </a:endParaRPr>
          </a:p>
        </p:txBody>
      </p:sp>
      <p:sp>
        <p:nvSpPr>
          <p:cNvPr id="307263" name="Oval 63"/>
          <p:cNvSpPr>
            <a:spLocks noChangeArrowheads="1"/>
          </p:cNvSpPr>
          <p:nvPr/>
        </p:nvSpPr>
        <p:spPr bwMode="auto">
          <a:xfrm>
            <a:off x="2314575" y="2395539"/>
            <a:ext cx="153988" cy="136525"/>
          </a:xfrm>
          <a:prstGeom prst="ellipse">
            <a:avLst/>
          </a:prstGeom>
          <a:solidFill>
            <a:schemeClr val="bg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a:latin typeface="+mn-lt"/>
              <a:ea typeface="微软雅黑 Light" panose="020B0502040204020203" pitchFamily="34" charset="-122"/>
            </a:endParaRPr>
          </a:p>
        </p:txBody>
      </p:sp>
      <p:sp>
        <p:nvSpPr>
          <p:cNvPr id="307264" name="Rectangle 64"/>
          <p:cNvSpPr>
            <a:spLocks noChangeArrowheads="1"/>
          </p:cNvSpPr>
          <p:nvPr/>
        </p:nvSpPr>
        <p:spPr bwMode="auto">
          <a:xfrm>
            <a:off x="9693275" y="1327151"/>
            <a:ext cx="59631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sz="2000">
                <a:solidFill>
                  <a:srgbClr val="333399"/>
                </a:solidFill>
                <a:latin typeface="+mn-lt"/>
                <a:ea typeface="微软雅黑 Light" panose="020B0502040204020203" pitchFamily="34" charset="-122"/>
              </a:rPr>
              <a:t>AP</a:t>
            </a:r>
            <a:r>
              <a:rPr lang="en-US" altLang="zh-CN" sz="2000" baseline="-25000">
                <a:solidFill>
                  <a:srgbClr val="333399"/>
                </a:solidFill>
                <a:latin typeface="+mn-lt"/>
                <a:ea typeface="微软雅黑 Light" panose="020B0502040204020203" pitchFamily="34" charset="-122"/>
              </a:rPr>
              <a:t>4</a:t>
            </a:r>
            <a:endParaRPr lang="en-US" altLang="zh-CN" sz="2000">
              <a:solidFill>
                <a:srgbClr val="333399"/>
              </a:solidFill>
              <a:latin typeface="+mn-lt"/>
              <a:ea typeface="微软雅黑 Light" panose="020B0502040204020203" pitchFamily="34" charset="-122"/>
            </a:endParaRPr>
          </a:p>
        </p:txBody>
      </p:sp>
      <p:sp>
        <p:nvSpPr>
          <p:cNvPr id="307265" name="Oval 65"/>
          <p:cNvSpPr>
            <a:spLocks noChangeArrowheads="1"/>
          </p:cNvSpPr>
          <p:nvPr/>
        </p:nvSpPr>
        <p:spPr bwMode="auto">
          <a:xfrm>
            <a:off x="9644063" y="2395539"/>
            <a:ext cx="150812" cy="136525"/>
          </a:xfrm>
          <a:prstGeom prst="ellipse">
            <a:avLst/>
          </a:prstGeom>
          <a:solidFill>
            <a:schemeClr val="bg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a:latin typeface="+mn-lt"/>
              <a:ea typeface="微软雅黑 Light" panose="020B0502040204020203" pitchFamily="34" charset="-122"/>
            </a:endParaRPr>
          </a:p>
        </p:txBody>
      </p:sp>
      <p:sp>
        <p:nvSpPr>
          <p:cNvPr id="307266" name="Rectangle 66"/>
          <p:cNvSpPr>
            <a:spLocks noChangeArrowheads="1"/>
          </p:cNvSpPr>
          <p:nvPr/>
        </p:nvSpPr>
        <p:spPr bwMode="auto">
          <a:xfrm>
            <a:off x="3344863" y="1662114"/>
            <a:ext cx="644408"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1800" dirty="0">
                <a:latin typeface="+mn-lt"/>
                <a:ea typeface="微软雅黑 Light" panose="020B0502040204020203" pitchFamily="34" charset="-122"/>
              </a:rPr>
              <a:t>端口</a:t>
            </a:r>
          </a:p>
        </p:txBody>
      </p:sp>
      <p:sp>
        <p:nvSpPr>
          <p:cNvPr id="307267" name="Rectangle 67"/>
          <p:cNvSpPr>
            <a:spLocks noChangeArrowheads="1"/>
          </p:cNvSpPr>
          <p:nvPr/>
        </p:nvSpPr>
        <p:spPr bwMode="auto">
          <a:xfrm>
            <a:off x="8093076" y="1571625"/>
            <a:ext cx="644408"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1800" dirty="0">
                <a:latin typeface="+mn-lt"/>
                <a:ea typeface="微软雅黑 Light" panose="020B0502040204020203" pitchFamily="34" charset="-122"/>
              </a:rPr>
              <a:t>端口</a:t>
            </a:r>
          </a:p>
        </p:txBody>
      </p:sp>
      <p:sp>
        <p:nvSpPr>
          <p:cNvPr id="307268" name="Line 68"/>
          <p:cNvSpPr>
            <a:spLocks noChangeShapeType="1"/>
          </p:cNvSpPr>
          <p:nvPr/>
        </p:nvSpPr>
        <p:spPr bwMode="auto">
          <a:xfrm>
            <a:off x="8659813" y="1814514"/>
            <a:ext cx="577850" cy="136525"/>
          </a:xfrm>
          <a:prstGeom prst="line">
            <a:avLst/>
          </a:prstGeom>
          <a:noFill/>
          <a:ln w="28575">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307269" name="Line 69"/>
          <p:cNvSpPr>
            <a:spLocks noChangeShapeType="1"/>
          </p:cNvSpPr>
          <p:nvPr/>
        </p:nvSpPr>
        <p:spPr bwMode="auto">
          <a:xfrm flipH="1">
            <a:off x="2830513" y="1828800"/>
            <a:ext cx="544512" cy="122238"/>
          </a:xfrm>
          <a:prstGeom prst="line">
            <a:avLst/>
          </a:prstGeom>
          <a:noFill/>
          <a:ln w="28575">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307270" name="Rectangle 70"/>
          <p:cNvSpPr>
            <a:spLocks noChangeArrowheads="1"/>
          </p:cNvSpPr>
          <p:nvPr/>
        </p:nvSpPr>
        <p:spPr bwMode="auto">
          <a:xfrm>
            <a:off x="10392985" y="1518996"/>
            <a:ext cx="310984" cy="23427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150000"/>
              </a:lnSpc>
            </a:pPr>
            <a:r>
              <a:rPr lang="en-US" altLang="zh-CN" sz="2000" dirty="0">
                <a:solidFill>
                  <a:srgbClr val="333399"/>
                </a:solidFill>
                <a:latin typeface="+mn-lt"/>
                <a:ea typeface="微软雅黑 Light" panose="020B0502040204020203" pitchFamily="34" charset="-122"/>
              </a:rPr>
              <a:t>5</a:t>
            </a:r>
          </a:p>
          <a:p>
            <a:pPr eaLnBrk="0" hangingPunct="0">
              <a:lnSpc>
                <a:spcPct val="150000"/>
              </a:lnSpc>
            </a:pPr>
            <a:r>
              <a:rPr lang="en-US" altLang="zh-CN" sz="2000" dirty="0">
                <a:solidFill>
                  <a:srgbClr val="333399"/>
                </a:solidFill>
                <a:latin typeface="+mn-lt"/>
                <a:ea typeface="微软雅黑 Light" panose="020B0502040204020203" pitchFamily="34" charset="-122"/>
              </a:rPr>
              <a:t>4</a:t>
            </a:r>
          </a:p>
          <a:p>
            <a:pPr eaLnBrk="0" hangingPunct="0">
              <a:lnSpc>
                <a:spcPct val="150000"/>
              </a:lnSpc>
            </a:pPr>
            <a:r>
              <a:rPr lang="en-US" altLang="zh-CN" sz="2000" dirty="0">
                <a:solidFill>
                  <a:srgbClr val="333399"/>
                </a:solidFill>
                <a:latin typeface="+mn-lt"/>
                <a:ea typeface="微软雅黑 Light" panose="020B0502040204020203" pitchFamily="34" charset="-122"/>
              </a:rPr>
              <a:t>3</a:t>
            </a:r>
          </a:p>
          <a:p>
            <a:pPr eaLnBrk="0" hangingPunct="0">
              <a:lnSpc>
                <a:spcPct val="150000"/>
              </a:lnSpc>
            </a:pPr>
            <a:r>
              <a:rPr lang="en-US" altLang="zh-CN" sz="2000" dirty="0">
                <a:solidFill>
                  <a:srgbClr val="333399"/>
                </a:solidFill>
                <a:latin typeface="+mn-lt"/>
                <a:ea typeface="微软雅黑 Light" panose="020B0502040204020203" pitchFamily="34" charset="-122"/>
              </a:rPr>
              <a:t>2</a:t>
            </a:r>
          </a:p>
          <a:p>
            <a:pPr eaLnBrk="0" hangingPunct="0">
              <a:lnSpc>
                <a:spcPct val="150000"/>
              </a:lnSpc>
            </a:pPr>
            <a:r>
              <a:rPr lang="en-US" altLang="zh-CN" sz="2000" dirty="0">
                <a:solidFill>
                  <a:srgbClr val="333399"/>
                </a:solidFill>
                <a:latin typeface="+mn-lt"/>
                <a:ea typeface="微软雅黑 Light" panose="020B0502040204020203" pitchFamily="34" charset="-122"/>
              </a:rPr>
              <a:t>1</a:t>
            </a:r>
          </a:p>
        </p:txBody>
      </p:sp>
      <p:sp>
        <p:nvSpPr>
          <p:cNvPr id="307271" name="Line 71"/>
          <p:cNvSpPr>
            <a:spLocks noChangeShapeType="1"/>
          </p:cNvSpPr>
          <p:nvPr/>
        </p:nvSpPr>
        <p:spPr bwMode="auto">
          <a:xfrm>
            <a:off x="3179763" y="5759450"/>
            <a:ext cx="5765800" cy="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307272" name="Line 72"/>
          <p:cNvSpPr>
            <a:spLocks noChangeShapeType="1"/>
          </p:cNvSpPr>
          <p:nvPr/>
        </p:nvSpPr>
        <p:spPr bwMode="auto">
          <a:xfrm flipH="1">
            <a:off x="3179763" y="5635625"/>
            <a:ext cx="0" cy="300038"/>
          </a:xfrm>
          <a:prstGeom prst="line">
            <a:avLst/>
          </a:prstGeom>
          <a:noFill/>
          <a:ln w="12700">
            <a:solidFill>
              <a:schemeClr val="tx1"/>
            </a:solidFill>
            <a:prstDash val="dash"/>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307273" name="Line 73"/>
          <p:cNvSpPr>
            <a:spLocks noChangeShapeType="1"/>
          </p:cNvSpPr>
          <p:nvPr/>
        </p:nvSpPr>
        <p:spPr bwMode="auto">
          <a:xfrm>
            <a:off x="8948739" y="5635625"/>
            <a:ext cx="7937" cy="228600"/>
          </a:xfrm>
          <a:prstGeom prst="line">
            <a:avLst/>
          </a:prstGeom>
          <a:noFill/>
          <a:ln w="12700">
            <a:solidFill>
              <a:schemeClr val="tx1"/>
            </a:solidFill>
            <a:prstDash val="dash"/>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307274" name="Rectangle 74"/>
          <p:cNvSpPr>
            <a:spLocks noChangeArrowheads="1"/>
          </p:cNvSpPr>
          <p:nvPr/>
        </p:nvSpPr>
        <p:spPr bwMode="auto">
          <a:xfrm>
            <a:off x="4910139" y="5556250"/>
            <a:ext cx="2268537" cy="39370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sz="2000" dirty="0">
                <a:latin typeface="+mn-lt"/>
                <a:ea typeface="微软雅黑 Light" panose="020B0502040204020203" pitchFamily="34" charset="-122"/>
              </a:rPr>
              <a:t>IP </a:t>
            </a:r>
            <a:r>
              <a:rPr lang="zh-CN" altLang="en-US" sz="2000" dirty="0">
                <a:latin typeface="+mn-lt"/>
                <a:ea typeface="微软雅黑 Light" panose="020B0502040204020203" pitchFamily="34" charset="-122"/>
              </a:rPr>
              <a:t>协议的作用范围</a:t>
            </a:r>
          </a:p>
        </p:txBody>
      </p:sp>
      <p:sp>
        <p:nvSpPr>
          <p:cNvPr id="307275" name="Line 75"/>
          <p:cNvSpPr>
            <a:spLocks noChangeShapeType="1"/>
          </p:cNvSpPr>
          <p:nvPr/>
        </p:nvSpPr>
        <p:spPr bwMode="auto">
          <a:xfrm>
            <a:off x="2190750" y="5486401"/>
            <a:ext cx="0" cy="849313"/>
          </a:xfrm>
          <a:prstGeom prst="line">
            <a:avLst/>
          </a:prstGeom>
          <a:noFill/>
          <a:ln w="12700">
            <a:solidFill>
              <a:schemeClr val="tx1"/>
            </a:solidFill>
            <a:prstDash val="dash"/>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307276" name="Line 76"/>
          <p:cNvSpPr>
            <a:spLocks noChangeShapeType="1"/>
          </p:cNvSpPr>
          <p:nvPr/>
        </p:nvSpPr>
        <p:spPr bwMode="auto">
          <a:xfrm>
            <a:off x="9688513" y="5413376"/>
            <a:ext cx="0" cy="904875"/>
          </a:xfrm>
          <a:prstGeom prst="line">
            <a:avLst/>
          </a:prstGeom>
          <a:noFill/>
          <a:ln w="12700">
            <a:solidFill>
              <a:schemeClr val="tx1"/>
            </a:solidFill>
            <a:prstDash val="dash"/>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307277" name="Line 77"/>
          <p:cNvSpPr>
            <a:spLocks noChangeShapeType="1"/>
          </p:cNvSpPr>
          <p:nvPr/>
        </p:nvSpPr>
        <p:spPr bwMode="auto">
          <a:xfrm>
            <a:off x="2190751" y="6159500"/>
            <a:ext cx="7497763" cy="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307278" name="Rectangle 78"/>
          <p:cNvSpPr>
            <a:spLocks noChangeArrowheads="1"/>
          </p:cNvSpPr>
          <p:nvPr/>
        </p:nvSpPr>
        <p:spPr bwMode="auto">
          <a:xfrm>
            <a:off x="3838576" y="5949950"/>
            <a:ext cx="4302125" cy="39370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传输层协议 </a:t>
            </a:r>
            <a:r>
              <a:rPr lang="en-US" altLang="zh-CN" sz="2000" dirty="0">
                <a:latin typeface="+mn-lt"/>
                <a:ea typeface="微软雅黑 Light" panose="020B0502040204020203" pitchFamily="34" charset="-122"/>
              </a:rPr>
              <a:t>TCP </a:t>
            </a:r>
            <a:r>
              <a:rPr lang="zh-CN" altLang="en-US" sz="2000" dirty="0">
                <a:latin typeface="+mn-lt"/>
                <a:ea typeface="微软雅黑 Light" panose="020B0502040204020203" pitchFamily="34" charset="-122"/>
              </a:rPr>
              <a:t>和 </a:t>
            </a:r>
            <a:r>
              <a:rPr lang="en-US" altLang="zh-CN" sz="2000" dirty="0">
                <a:latin typeface="+mn-lt"/>
                <a:ea typeface="微软雅黑 Light" panose="020B0502040204020203" pitchFamily="34" charset="-122"/>
              </a:rPr>
              <a:t>UDP </a:t>
            </a:r>
            <a:r>
              <a:rPr lang="zh-CN" altLang="en-US" sz="2000" dirty="0">
                <a:latin typeface="+mn-lt"/>
                <a:ea typeface="微软雅黑 Light" panose="020B0502040204020203" pitchFamily="34" charset="-122"/>
              </a:rPr>
              <a:t>的作用范围</a:t>
            </a:r>
          </a:p>
        </p:txBody>
      </p:sp>
      <p:sp>
        <p:nvSpPr>
          <p:cNvPr id="307280" name="Rectangle 80"/>
          <p:cNvSpPr>
            <a:spLocks noChangeArrowheads="1"/>
          </p:cNvSpPr>
          <p:nvPr/>
        </p:nvSpPr>
        <p:spPr bwMode="auto">
          <a:xfrm>
            <a:off x="2035175" y="1890713"/>
            <a:ext cx="215900" cy="215900"/>
          </a:xfrm>
          <a:prstGeom prst="rect">
            <a:avLst/>
          </a:prstGeom>
          <a:noFill/>
          <a:ln w="38100">
            <a:solidFill>
              <a:srgbClr val="CC33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a:latin typeface="+mn-lt"/>
              <a:ea typeface="微软雅黑 Light" panose="020B0502040204020203" pitchFamily="34" charset="-122"/>
            </a:endParaRPr>
          </a:p>
        </p:txBody>
      </p:sp>
      <p:sp>
        <p:nvSpPr>
          <p:cNvPr id="307281" name="Rectangle 81"/>
          <p:cNvSpPr>
            <a:spLocks noChangeArrowheads="1"/>
          </p:cNvSpPr>
          <p:nvPr/>
        </p:nvSpPr>
        <p:spPr bwMode="auto">
          <a:xfrm>
            <a:off x="2619375" y="1890713"/>
            <a:ext cx="215900" cy="215900"/>
          </a:xfrm>
          <a:prstGeom prst="rect">
            <a:avLst/>
          </a:prstGeom>
          <a:noFill/>
          <a:ln w="38100">
            <a:solidFill>
              <a:srgbClr val="CC33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a:latin typeface="+mn-lt"/>
              <a:ea typeface="微软雅黑 Light" panose="020B0502040204020203" pitchFamily="34" charset="-122"/>
            </a:endParaRPr>
          </a:p>
        </p:txBody>
      </p:sp>
      <p:sp>
        <p:nvSpPr>
          <p:cNvPr id="307282" name="Rectangle 82"/>
          <p:cNvSpPr>
            <a:spLocks noChangeArrowheads="1"/>
          </p:cNvSpPr>
          <p:nvPr/>
        </p:nvSpPr>
        <p:spPr bwMode="auto">
          <a:xfrm>
            <a:off x="9210675" y="1903413"/>
            <a:ext cx="215900" cy="215900"/>
          </a:xfrm>
          <a:prstGeom prst="rect">
            <a:avLst/>
          </a:prstGeom>
          <a:noFill/>
          <a:ln w="38100">
            <a:solidFill>
              <a:srgbClr val="CC33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a:latin typeface="+mn-lt"/>
              <a:ea typeface="微软雅黑 Light" panose="020B0502040204020203" pitchFamily="34" charset="-122"/>
            </a:endParaRPr>
          </a:p>
        </p:txBody>
      </p:sp>
      <p:sp>
        <p:nvSpPr>
          <p:cNvPr id="307283" name="Rectangle 83"/>
          <p:cNvSpPr>
            <a:spLocks noChangeArrowheads="1"/>
          </p:cNvSpPr>
          <p:nvPr/>
        </p:nvSpPr>
        <p:spPr bwMode="auto">
          <a:xfrm>
            <a:off x="9947275" y="1903413"/>
            <a:ext cx="215900" cy="215900"/>
          </a:xfrm>
          <a:prstGeom prst="rect">
            <a:avLst/>
          </a:prstGeom>
          <a:noFill/>
          <a:ln w="38100">
            <a:solidFill>
              <a:srgbClr val="CC33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a:latin typeface="+mn-lt"/>
              <a:ea typeface="微软雅黑 Light" panose="020B0502040204020203" pitchFamily="34" charset="-122"/>
            </a:endParaRPr>
          </a:p>
        </p:txBody>
      </p:sp>
      <p:sp>
        <p:nvSpPr>
          <p:cNvPr id="307284" name="Freeform 84"/>
          <p:cNvSpPr/>
          <p:nvPr/>
        </p:nvSpPr>
        <p:spPr bwMode="auto">
          <a:xfrm>
            <a:off x="9321800" y="1733551"/>
            <a:ext cx="331788" cy="695325"/>
          </a:xfrm>
          <a:custGeom>
            <a:avLst/>
            <a:gdLst>
              <a:gd name="T0" fmla="*/ 4 w 193"/>
              <a:gd name="T1" fmla="*/ 0 h 453"/>
              <a:gd name="T2" fmla="*/ 13 w 193"/>
              <a:gd name="T3" fmla="*/ 306 h 453"/>
              <a:gd name="T4" fmla="*/ 85 w 193"/>
              <a:gd name="T5" fmla="*/ 399 h 453"/>
              <a:gd name="T6" fmla="*/ 157 w 193"/>
              <a:gd name="T7" fmla="*/ 444 h 453"/>
              <a:gd name="T8" fmla="*/ 193 w 193"/>
              <a:gd name="T9" fmla="*/ 453 h 453"/>
            </a:gdLst>
            <a:ahLst/>
            <a:cxnLst>
              <a:cxn ang="0">
                <a:pos x="T0" y="T1"/>
              </a:cxn>
              <a:cxn ang="0">
                <a:pos x="T2" y="T3"/>
              </a:cxn>
              <a:cxn ang="0">
                <a:pos x="T4" y="T5"/>
              </a:cxn>
              <a:cxn ang="0">
                <a:pos x="T6" y="T7"/>
              </a:cxn>
              <a:cxn ang="0">
                <a:pos x="T8" y="T9"/>
              </a:cxn>
            </a:cxnLst>
            <a:rect l="0" t="0" r="r" b="b"/>
            <a:pathLst>
              <a:path w="193" h="453">
                <a:moveTo>
                  <a:pt x="4" y="0"/>
                </a:moveTo>
                <a:cubicBezTo>
                  <a:pt x="6" y="51"/>
                  <a:pt x="0" y="240"/>
                  <a:pt x="13" y="306"/>
                </a:cubicBezTo>
                <a:cubicBezTo>
                  <a:pt x="26" y="372"/>
                  <a:pt x="61" y="376"/>
                  <a:pt x="85" y="399"/>
                </a:cubicBezTo>
                <a:cubicBezTo>
                  <a:pt x="109" y="422"/>
                  <a:pt x="139" y="435"/>
                  <a:pt x="157" y="444"/>
                </a:cubicBezTo>
                <a:cubicBezTo>
                  <a:pt x="175" y="453"/>
                  <a:pt x="186" y="451"/>
                  <a:pt x="193" y="453"/>
                </a:cubicBezTo>
              </a:path>
            </a:pathLst>
          </a:custGeom>
          <a:noFill/>
          <a:ln w="28575" cap="flat"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7285" name="Freeform 85"/>
          <p:cNvSpPr/>
          <p:nvPr/>
        </p:nvSpPr>
        <p:spPr bwMode="auto">
          <a:xfrm>
            <a:off x="9772650" y="1736726"/>
            <a:ext cx="292100" cy="688975"/>
          </a:xfrm>
          <a:custGeom>
            <a:avLst/>
            <a:gdLst>
              <a:gd name="T0" fmla="*/ 170 w 171"/>
              <a:gd name="T1" fmla="*/ 0 h 447"/>
              <a:gd name="T2" fmla="*/ 165 w 171"/>
              <a:gd name="T3" fmla="*/ 264 h 447"/>
              <a:gd name="T4" fmla="*/ 135 w 171"/>
              <a:gd name="T5" fmla="*/ 351 h 447"/>
              <a:gd name="T6" fmla="*/ 81 w 171"/>
              <a:gd name="T7" fmla="*/ 411 h 447"/>
              <a:gd name="T8" fmla="*/ 0 w 171"/>
              <a:gd name="T9" fmla="*/ 447 h 447"/>
            </a:gdLst>
            <a:ahLst/>
            <a:cxnLst>
              <a:cxn ang="0">
                <a:pos x="T0" y="T1"/>
              </a:cxn>
              <a:cxn ang="0">
                <a:pos x="T2" y="T3"/>
              </a:cxn>
              <a:cxn ang="0">
                <a:pos x="T4" y="T5"/>
              </a:cxn>
              <a:cxn ang="0">
                <a:pos x="T6" y="T7"/>
              </a:cxn>
              <a:cxn ang="0">
                <a:pos x="T8" y="T9"/>
              </a:cxn>
            </a:cxnLst>
            <a:rect l="0" t="0" r="r" b="b"/>
            <a:pathLst>
              <a:path w="171" h="447">
                <a:moveTo>
                  <a:pt x="170" y="0"/>
                </a:moveTo>
                <a:cubicBezTo>
                  <a:pt x="169" y="44"/>
                  <a:pt x="171" y="206"/>
                  <a:pt x="165" y="264"/>
                </a:cubicBezTo>
                <a:cubicBezTo>
                  <a:pt x="159" y="322"/>
                  <a:pt x="149" y="326"/>
                  <a:pt x="135" y="351"/>
                </a:cubicBezTo>
                <a:cubicBezTo>
                  <a:pt x="121" y="376"/>
                  <a:pt x="103" y="395"/>
                  <a:pt x="81" y="411"/>
                </a:cubicBezTo>
                <a:cubicBezTo>
                  <a:pt x="59" y="427"/>
                  <a:pt x="17" y="440"/>
                  <a:pt x="0" y="447"/>
                </a:cubicBezTo>
              </a:path>
            </a:pathLst>
          </a:custGeom>
          <a:noFill/>
          <a:ln w="28575" cap="flat"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7286" name="Oval 86"/>
          <p:cNvSpPr>
            <a:spLocks noChangeArrowheads="1"/>
          </p:cNvSpPr>
          <p:nvPr/>
        </p:nvSpPr>
        <p:spPr bwMode="auto">
          <a:xfrm>
            <a:off x="9026525" y="1511301"/>
            <a:ext cx="630238" cy="352425"/>
          </a:xfrm>
          <a:prstGeom prst="ellipse">
            <a:avLst/>
          </a:prstGeom>
          <a:ln w="12700">
            <a:solidFill>
              <a:srgbClr val="333399"/>
            </a:solidFill>
          </a:ln>
        </p:spPr>
        <p:style>
          <a:lnRef idx="2">
            <a:schemeClr val="accent2"/>
          </a:lnRef>
          <a:fillRef idx="1">
            <a:schemeClr val="lt1"/>
          </a:fillRef>
          <a:effectRef idx="0">
            <a:schemeClr val="accent2"/>
          </a:effectRef>
          <a:fontRef idx="minor">
            <a:schemeClr val="dk1"/>
          </a:fontRef>
        </p:style>
        <p:txBody>
          <a:bodyPr wrap="none" anchor="ctr"/>
          <a:lstStyle/>
          <a:p>
            <a:pPr algn="ctr"/>
            <a:endParaRPr lang="zh-CN" altLang="zh-CN" sz="2800">
              <a:ea typeface="微软雅黑 Light" panose="020B0502040204020203" pitchFamily="34" charset="-122"/>
            </a:endParaRPr>
          </a:p>
        </p:txBody>
      </p:sp>
      <p:sp>
        <p:nvSpPr>
          <p:cNvPr id="307287" name="Rectangle 87"/>
          <p:cNvSpPr>
            <a:spLocks noChangeArrowheads="1"/>
          </p:cNvSpPr>
          <p:nvPr/>
        </p:nvSpPr>
        <p:spPr bwMode="auto">
          <a:xfrm>
            <a:off x="9051925" y="1463676"/>
            <a:ext cx="59631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sz="2000" dirty="0">
                <a:solidFill>
                  <a:srgbClr val="333399"/>
                </a:solidFill>
                <a:latin typeface="+mn-lt"/>
                <a:ea typeface="微软雅黑 Light" panose="020B0502040204020203" pitchFamily="34" charset="-122"/>
              </a:rPr>
              <a:t>AP</a:t>
            </a:r>
            <a:r>
              <a:rPr lang="en-US" altLang="zh-CN" sz="2000" baseline="-25000" dirty="0">
                <a:solidFill>
                  <a:srgbClr val="333399"/>
                </a:solidFill>
                <a:latin typeface="+mn-lt"/>
                <a:ea typeface="微软雅黑 Light" panose="020B0502040204020203" pitchFamily="34" charset="-122"/>
              </a:rPr>
              <a:t>3</a:t>
            </a:r>
            <a:endParaRPr lang="en-US" altLang="zh-CN" sz="2000" dirty="0">
              <a:solidFill>
                <a:srgbClr val="333399"/>
              </a:solidFill>
              <a:latin typeface="+mn-lt"/>
              <a:ea typeface="微软雅黑 Light" panose="020B0502040204020203" pitchFamily="34" charset="-122"/>
            </a:endParaRPr>
          </a:p>
        </p:txBody>
      </p:sp>
      <p:sp>
        <p:nvSpPr>
          <p:cNvPr id="307288" name="Freeform 88"/>
          <p:cNvSpPr/>
          <p:nvPr/>
        </p:nvSpPr>
        <p:spPr bwMode="auto">
          <a:xfrm>
            <a:off x="2470151" y="1797050"/>
            <a:ext cx="271463" cy="628650"/>
          </a:xfrm>
          <a:custGeom>
            <a:avLst/>
            <a:gdLst>
              <a:gd name="T0" fmla="*/ 156 w 159"/>
              <a:gd name="T1" fmla="*/ 0 h 408"/>
              <a:gd name="T2" fmla="*/ 147 w 159"/>
              <a:gd name="T3" fmla="*/ 279 h 408"/>
              <a:gd name="T4" fmla="*/ 81 w 159"/>
              <a:gd name="T5" fmla="*/ 372 h 408"/>
              <a:gd name="T6" fmla="*/ 0 w 159"/>
              <a:gd name="T7" fmla="*/ 408 h 408"/>
            </a:gdLst>
            <a:ahLst/>
            <a:cxnLst>
              <a:cxn ang="0">
                <a:pos x="T0" y="T1"/>
              </a:cxn>
              <a:cxn ang="0">
                <a:pos x="T2" y="T3"/>
              </a:cxn>
              <a:cxn ang="0">
                <a:pos x="T4" y="T5"/>
              </a:cxn>
              <a:cxn ang="0">
                <a:pos x="T6" y="T7"/>
              </a:cxn>
            </a:cxnLst>
            <a:rect l="0" t="0" r="r" b="b"/>
            <a:pathLst>
              <a:path w="159" h="408">
                <a:moveTo>
                  <a:pt x="156" y="0"/>
                </a:moveTo>
                <a:cubicBezTo>
                  <a:pt x="155" y="46"/>
                  <a:pt x="159" y="217"/>
                  <a:pt x="147" y="279"/>
                </a:cubicBezTo>
                <a:cubicBezTo>
                  <a:pt x="135" y="341"/>
                  <a:pt x="105" y="351"/>
                  <a:pt x="81" y="372"/>
                </a:cubicBezTo>
                <a:cubicBezTo>
                  <a:pt x="57" y="393"/>
                  <a:pt x="17" y="401"/>
                  <a:pt x="0" y="408"/>
                </a:cubicBezTo>
              </a:path>
            </a:pathLst>
          </a:custGeom>
          <a:noFill/>
          <a:ln w="28575" cap="flat"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7289" name="Freeform 89"/>
          <p:cNvSpPr/>
          <p:nvPr/>
        </p:nvSpPr>
        <p:spPr bwMode="auto">
          <a:xfrm>
            <a:off x="2125664" y="1709739"/>
            <a:ext cx="255587" cy="757237"/>
          </a:xfrm>
          <a:custGeom>
            <a:avLst/>
            <a:gdLst>
              <a:gd name="T0" fmla="*/ 8 w 149"/>
              <a:gd name="T1" fmla="*/ 0 h 492"/>
              <a:gd name="T2" fmla="*/ 5 w 149"/>
              <a:gd name="T3" fmla="*/ 285 h 492"/>
              <a:gd name="T4" fmla="*/ 38 w 149"/>
              <a:gd name="T5" fmla="*/ 414 h 492"/>
              <a:gd name="T6" fmla="*/ 149 w 149"/>
              <a:gd name="T7" fmla="*/ 492 h 492"/>
            </a:gdLst>
            <a:ahLst/>
            <a:cxnLst>
              <a:cxn ang="0">
                <a:pos x="T0" y="T1"/>
              </a:cxn>
              <a:cxn ang="0">
                <a:pos x="T2" y="T3"/>
              </a:cxn>
              <a:cxn ang="0">
                <a:pos x="T4" y="T5"/>
              </a:cxn>
              <a:cxn ang="0">
                <a:pos x="T6" y="T7"/>
              </a:cxn>
            </a:cxnLst>
            <a:rect l="0" t="0" r="r" b="b"/>
            <a:pathLst>
              <a:path w="149" h="492">
                <a:moveTo>
                  <a:pt x="8" y="0"/>
                </a:moveTo>
                <a:cubicBezTo>
                  <a:pt x="8" y="47"/>
                  <a:pt x="0" y="216"/>
                  <a:pt x="5" y="285"/>
                </a:cubicBezTo>
                <a:cubicBezTo>
                  <a:pt x="10" y="354"/>
                  <a:pt x="14" y="380"/>
                  <a:pt x="38" y="414"/>
                </a:cubicBezTo>
                <a:cubicBezTo>
                  <a:pt x="62" y="448"/>
                  <a:pt x="126" y="476"/>
                  <a:pt x="149" y="492"/>
                </a:cubicBezTo>
              </a:path>
            </a:pathLst>
          </a:custGeom>
          <a:noFill/>
          <a:ln w="28575" cap="flat"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7290" name="Oval 90"/>
          <p:cNvSpPr>
            <a:spLocks noChangeArrowheads="1"/>
          </p:cNvSpPr>
          <p:nvPr/>
        </p:nvSpPr>
        <p:spPr bwMode="auto">
          <a:xfrm flipH="1">
            <a:off x="8866188" y="5067301"/>
            <a:ext cx="152400" cy="138113"/>
          </a:xfrm>
          <a:prstGeom prst="ellipse">
            <a:avLst/>
          </a:prstGeom>
          <a:solidFill>
            <a:schemeClr val="bg1"/>
          </a:solidFill>
          <a:ln w="28575">
            <a:solidFill>
              <a:srgbClr val="3333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a:latin typeface="+mn-lt"/>
              <a:ea typeface="微软雅黑 Light" panose="020B0502040204020203" pitchFamily="34" charset="-122"/>
            </a:endParaRPr>
          </a:p>
        </p:txBody>
      </p:sp>
      <p:sp>
        <p:nvSpPr>
          <p:cNvPr id="307205" name="Rectangle 5"/>
          <p:cNvSpPr>
            <a:spLocks noChangeArrowheads="1"/>
          </p:cNvSpPr>
          <p:nvPr/>
        </p:nvSpPr>
        <p:spPr bwMode="auto">
          <a:xfrm>
            <a:off x="1722439" y="2459038"/>
            <a:ext cx="8688387" cy="469900"/>
          </a:xfrm>
          <a:prstGeom prst="rect">
            <a:avLst/>
          </a:prstGeom>
          <a:solidFill>
            <a:srgbClr val="CCECFF">
              <a:alpha val="67999"/>
            </a:srgbClr>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a:latin typeface="+mn-lt"/>
              <a:ea typeface="微软雅黑 Light" panose="020B0502040204020203" pitchFamily="34" charset="-122"/>
            </a:endParaRPr>
          </a:p>
        </p:txBody>
      </p:sp>
      <p:sp>
        <p:nvSpPr>
          <p:cNvPr id="307255" name="Rectangle 55"/>
          <p:cNvSpPr>
            <a:spLocks noChangeArrowheads="1"/>
          </p:cNvSpPr>
          <p:nvPr/>
        </p:nvSpPr>
        <p:spPr bwMode="auto">
          <a:xfrm>
            <a:off x="5724904" y="2535115"/>
            <a:ext cx="746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sz="2000" dirty="0">
                <a:latin typeface="+mn-lt"/>
                <a:ea typeface="微软雅黑 Light" panose="020B0502040204020203" pitchFamily="34" charset="-122"/>
              </a:rPr>
              <a:t>IP </a:t>
            </a:r>
            <a:r>
              <a:rPr lang="zh-CN" altLang="en-US" sz="2000" dirty="0">
                <a:latin typeface="+mn-lt"/>
                <a:ea typeface="微软雅黑 Light" panose="020B0502040204020203" pitchFamily="34" charset="-122"/>
              </a:rPr>
              <a:t>层</a:t>
            </a:r>
          </a:p>
        </p:txBody>
      </p:sp>
      <p:sp>
        <p:nvSpPr>
          <p:cNvPr id="307228" name="Freeform 28"/>
          <p:cNvSpPr/>
          <p:nvPr/>
        </p:nvSpPr>
        <p:spPr bwMode="auto">
          <a:xfrm>
            <a:off x="2397126" y="2459038"/>
            <a:ext cx="7332663" cy="1751012"/>
          </a:xfrm>
          <a:custGeom>
            <a:avLst/>
            <a:gdLst>
              <a:gd name="T0" fmla="*/ 0 w 4272"/>
              <a:gd name="T1" fmla="*/ 0 h 1138"/>
              <a:gd name="T2" fmla="*/ 0 w 4272"/>
              <a:gd name="T3" fmla="*/ 996 h 1138"/>
              <a:gd name="T4" fmla="*/ 9 w 4272"/>
              <a:gd name="T5" fmla="*/ 1056 h 1138"/>
              <a:gd name="T6" fmla="*/ 36 w 4272"/>
              <a:gd name="T7" fmla="*/ 1094 h 1138"/>
              <a:gd name="T8" fmla="*/ 75 w 4272"/>
              <a:gd name="T9" fmla="*/ 1110 h 1138"/>
              <a:gd name="T10" fmla="*/ 127 w 4272"/>
              <a:gd name="T11" fmla="*/ 1116 h 1138"/>
              <a:gd name="T12" fmla="*/ 1211 w 4272"/>
              <a:gd name="T13" fmla="*/ 1116 h 1138"/>
              <a:gd name="T14" fmla="*/ 1250 w 4272"/>
              <a:gd name="T15" fmla="*/ 1116 h 1138"/>
              <a:gd name="T16" fmla="*/ 1287 w 4272"/>
              <a:gd name="T17" fmla="*/ 1100 h 1138"/>
              <a:gd name="T18" fmla="*/ 1305 w 4272"/>
              <a:gd name="T19" fmla="*/ 1056 h 1138"/>
              <a:gd name="T20" fmla="*/ 1308 w 4272"/>
              <a:gd name="T21" fmla="*/ 1022 h 1138"/>
              <a:gd name="T22" fmla="*/ 1308 w 4272"/>
              <a:gd name="T23" fmla="*/ 307 h 1138"/>
              <a:gd name="T24" fmla="*/ 1311 w 4272"/>
              <a:gd name="T25" fmla="*/ 261 h 1138"/>
              <a:gd name="T26" fmla="*/ 1376 w 4272"/>
              <a:gd name="T27" fmla="*/ 191 h 1138"/>
              <a:gd name="T28" fmla="*/ 1620 w 4272"/>
              <a:gd name="T29" fmla="*/ 191 h 1138"/>
              <a:gd name="T30" fmla="*/ 1676 w 4272"/>
              <a:gd name="T31" fmla="*/ 252 h 1138"/>
              <a:gd name="T32" fmla="*/ 1680 w 4272"/>
              <a:gd name="T33" fmla="*/ 280 h 1138"/>
              <a:gd name="T34" fmla="*/ 1680 w 4272"/>
              <a:gd name="T35" fmla="*/ 1014 h 1138"/>
              <a:gd name="T36" fmla="*/ 1683 w 4272"/>
              <a:gd name="T37" fmla="*/ 1047 h 1138"/>
              <a:gd name="T38" fmla="*/ 1701 w 4272"/>
              <a:gd name="T39" fmla="*/ 1100 h 1138"/>
              <a:gd name="T40" fmla="*/ 1755 w 4272"/>
              <a:gd name="T41" fmla="*/ 1116 h 1138"/>
              <a:gd name="T42" fmla="*/ 1808 w 4272"/>
              <a:gd name="T43" fmla="*/ 1116 h 1138"/>
              <a:gd name="T44" fmla="*/ 2486 w 4272"/>
              <a:gd name="T45" fmla="*/ 1116 h 1138"/>
              <a:gd name="T46" fmla="*/ 2564 w 4272"/>
              <a:gd name="T47" fmla="*/ 1116 h 1138"/>
              <a:gd name="T48" fmla="*/ 2600 w 4272"/>
              <a:gd name="T49" fmla="*/ 1091 h 1138"/>
              <a:gd name="T50" fmla="*/ 2608 w 4272"/>
              <a:gd name="T51" fmla="*/ 999 h 1138"/>
              <a:gd name="T52" fmla="*/ 2608 w 4272"/>
              <a:gd name="T53" fmla="*/ 264 h 1138"/>
              <a:gd name="T54" fmla="*/ 2616 w 4272"/>
              <a:gd name="T55" fmla="*/ 227 h 1138"/>
              <a:gd name="T56" fmla="*/ 2676 w 4272"/>
              <a:gd name="T57" fmla="*/ 191 h 1138"/>
              <a:gd name="T58" fmla="*/ 2868 w 4272"/>
              <a:gd name="T59" fmla="*/ 195 h 1138"/>
              <a:gd name="T60" fmla="*/ 2928 w 4272"/>
              <a:gd name="T61" fmla="*/ 251 h 1138"/>
              <a:gd name="T62" fmla="*/ 2928 w 4272"/>
              <a:gd name="T63" fmla="*/ 280 h 1138"/>
              <a:gd name="T64" fmla="*/ 2928 w 4272"/>
              <a:gd name="T65" fmla="*/ 1002 h 1138"/>
              <a:gd name="T66" fmla="*/ 2944 w 4272"/>
              <a:gd name="T67" fmla="*/ 1087 h 1138"/>
              <a:gd name="T68" fmla="*/ 3014 w 4272"/>
              <a:gd name="T69" fmla="*/ 1116 h 1138"/>
              <a:gd name="T70" fmla="*/ 3071 w 4272"/>
              <a:gd name="T71" fmla="*/ 1116 h 1138"/>
              <a:gd name="T72" fmla="*/ 4117 w 4272"/>
              <a:gd name="T73" fmla="*/ 1116 h 1138"/>
              <a:gd name="T74" fmla="*/ 4190 w 4272"/>
              <a:gd name="T75" fmla="*/ 1116 h 1138"/>
              <a:gd name="T76" fmla="*/ 4251 w 4272"/>
              <a:gd name="T77" fmla="*/ 1097 h 1138"/>
              <a:gd name="T78" fmla="*/ 4269 w 4272"/>
              <a:gd name="T79" fmla="*/ 1044 h 1138"/>
              <a:gd name="T80" fmla="*/ 4271 w 4272"/>
              <a:gd name="T81" fmla="*/ 994 h 1138"/>
              <a:gd name="T82" fmla="*/ 4272 w 4272"/>
              <a:gd name="T83" fmla="*/ 0 h 1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2" h="1138">
                <a:moveTo>
                  <a:pt x="0" y="0"/>
                </a:moveTo>
                <a:lnTo>
                  <a:pt x="0" y="996"/>
                </a:lnTo>
                <a:lnTo>
                  <a:pt x="9" y="1056"/>
                </a:lnTo>
                <a:lnTo>
                  <a:pt x="36" y="1094"/>
                </a:lnTo>
                <a:lnTo>
                  <a:pt x="75" y="1110"/>
                </a:lnTo>
                <a:lnTo>
                  <a:pt x="127" y="1116"/>
                </a:lnTo>
                <a:lnTo>
                  <a:pt x="1211" y="1116"/>
                </a:lnTo>
                <a:lnTo>
                  <a:pt x="1250" y="1116"/>
                </a:lnTo>
                <a:lnTo>
                  <a:pt x="1287" y="1100"/>
                </a:lnTo>
                <a:lnTo>
                  <a:pt x="1305" y="1056"/>
                </a:lnTo>
                <a:lnTo>
                  <a:pt x="1308" y="1022"/>
                </a:lnTo>
                <a:lnTo>
                  <a:pt x="1308" y="307"/>
                </a:lnTo>
                <a:lnTo>
                  <a:pt x="1311" y="261"/>
                </a:lnTo>
                <a:cubicBezTo>
                  <a:pt x="1322" y="241"/>
                  <a:pt x="1325" y="202"/>
                  <a:pt x="1376" y="191"/>
                </a:cubicBezTo>
                <a:cubicBezTo>
                  <a:pt x="1430" y="181"/>
                  <a:pt x="1567" y="182"/>
                  <a:pt x="1620" y="191"/>
                </a:cubicBezTo>
                <a:cubicBezTo>
                  <a:pt x="1673" y="200"/>
                  <a:pt x="1669" y="238"/>
                  <a:pt x="1676" y="252"/>
                </a:cubicBezTo>
                <a:lnTo>
                  <a:pt x="1680" y="280"/>
                </a:lnTo>
                <a:lnTo>
                  <a:pt x="1680" y="1014"/>
                </a:lnTo>
                <a:lnTo>
                  <a:pt x="1683" y="1047"/>
                </a:lnTo>
                <a:lnTo>
                  <a:pt x="1701" y="1100"/>
                </a:lnTo>
                <a:lnTo>
                  <a:pt x="1755" y="1116"/>
                </a:lnTo>
                <a:lnTo>
                  <a:pt x="1808" y="1116"/>
                </a:lnTo>
                <a:lnTo>
                  <a:pt x="2486" y="1116"/>
                </a:lnTo>
                <a:lnTo>
                  <a:pt x="2564" y="1116"/>
                </a:lnTo>
                <a:cubicBezTo>
                  <a:pt x="2583" y="1112"/>
                  <a:pt x="2593" y="1111"/>
                  <a:pt x="2600" y="1091"/>
                </a:cubicBezTo>
                <a:cubicBezTo>
                  <a:pt x="2607" y="1072"/>
                  <a:pt x="2610" y="1138"/>
                  <a:pt x="2608" y="999"/>
                </a:cubicBezTo>
                <a:lnTo>
                  <a:pt x="2608" y="264"/>
                </a:lnTo>
                <a:lnTo>
                  <a:pt x="2616" y="227"/>
                </a:lnTo>
                <a:cubicBezTo>
                  <a:pt x="2627" y="215"/>
                  <a:pt x="2634" y="196"/>
                  <a:pt x="2676" y="191"/>
                </a:cubicBezTo>
                <a:cubicBezTo>
                  <a:pt x="2721" y="184"/>
                  <a:pt x="2824" y="187"/>
                  <a:pt x="2868" y="195"/>
                </a:cubicBezTo>
                <a:cubicBezTo>
                  <a:pt x="2912" y="203"/>
                  <a:pt x="2925" y="238"/>
                  <a:pt x="2928" y="251"/>
                </a:cubicBezTo>
                <a:lnTo>
                  <a:pt x="2928" y="280"/>
                </a:lnTo>
                <a:cubicBezTo>
                  <a:pt x="2928" y="280"/>
                  <a:pt x="2925" y="867"/>
                  <a:pt x="2928" y="1002"/>
                </a:cubicBezTo>
                <a:cubicBezTo>
                  <a:pt x="2930" y="1136"/>
                  <a:pt x="2930" y="1068"/>
                  <a:pt x="2944" y="1087"/>
                </a:cubicBezTo>
                <a:cubicBezTo>
                  <a:pt x="2958" y="1107"/>
                  <a:pt x="2995" y="1113"/>
                  <a:pt x="3014" y="1116"/>
                </a:cubicBezTo>
                <a:lnTo>
                  <a:pt x="3071" y="1116"/>
                </a:lnTo>
                <a:lnTo>
                  <a:pt x="4117" y="1116"/>
                </a:lnTo>
                <a:lnTo>
                  <a:pt x="4190" y="1116"/>
                </a:lnTo>
                <a:lnTo>
                  <a:pt x="4251" y="1097"/>
                </a:lnTo>
                <a:lnTo>
                  <a:pt x="4269" y="1044"/>
                </a:lnTo>
                <a:lnTo>
                  <a:pt x="4271" y="994"/>
                </a:lnTo>
                <a:lnTo>
                  <a:pt x="4272" y="0"/>
                </a:lnTo>
              </a:path>
            </a:pathLst>
          </a:custGeom>
          <a:noFill/>
          <a:ln w="76200" cap="flat" cmpd="sng">
            <a:solidFill>
              <a:srgbClr val="FF0000"/>
            </a:solidFill>
            <a:prstDash val="sysDot"/>
            <a:round/>
            <a:headEnd type="none" w="med" len="lg"/>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2" name="云形 1"/>
          <p:cNvSpPr/>
          <p:nvPr/>
        </p:nvSpPr>
        <p:spPr bwMode="auto">
          <a:xfrm>
            <a:off x="3449620" y="4899945"/>
            <a:ext cx="933468" cy="489619"/>
          </a:xfrm>
          <a:prstGeom prst="cloud">
            <a:avLst/>
          </a:prstGeom>
          <a:solidFill>
            <a:schemeClr val="bg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a:ln>
                  <a:noFill/>
                </a:ln>
                <a:effectLst/>
                <a:latin typeface="+mn-lt"/>
                <a:ea typeface="微软雅黑 Light" panose="020B0502040204020203" pitchFamily="34" charset="-122"/>
              </a:rPr>
              <a:t>LAN</a:t>
            </a:r>
            <a:r>
              <a:rPr kumimoji="0" lang="en-US" altLang="zh-CN" sz="1800" b="0" i="0" u="none" strike="noStrike" cap="none" normalizeH="0" baseline="-25000" dirty="0">
                <a:ln>
                  <a:noFill/>
                </a:ln>
                <a:effectLst/>
                <a:latin typeface="+mn-lt"/>
                <a:ea typeface="微软雅黑 Light" panose="020B0502040204020203" pitchFamily="34" charset="-122"/>
              </a:rPr>
              <a:t>1</a:t>
            </a:r>
            <a:endParaRPr kumimoji="0" lang="zh-CN" altLang="en-US" sz="3600" b="0" i="0" u="none" strike="noStrike" cap="none" normalizeH="0" baseline="-25000" dirty="0">
              <a:ln>
                <a:noFill/>
              </a:ln>
              <a:effectLst/>
              <a:latin typeface="+mn-lt"/>
              <a:ea typeface="微软雅黑 Light" panose="020B0502040204020203" pitchFamily="34" charset="-122"/>
            </a:endParaRPr>
          </a:p>
        </p:txBody>
      </p:sp>
      <p:sp>
        <p:nvSpPr>
          <p:cNvPr id="95" name="云形 94"/>
          <p:cNvSpPr/>
          <p:nvPr/>
        </p:nvSpPr>
        <p:spPr bwMode="auto">
          <a:xfrm>
            <a:off x="5665153" y="4881563"/>
            <a:ext cx="933468" cy="489619"/>
          </a:xfrm>
          <a:prstGeom prst="cloud">
            <a:avLst/>
          </a:prstGeom>
          <a:solidFill>
            <a:schemeClr val="bg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a:ln>
                  <a:noFill/>
                </a:ln>
                <a:effectLst/>
                <a:latin typeface="+mn-lt"/>
                <a:ea typeface="微软雅黑 Light" panose="020B0502040204020203" pitchFamily="34" charset="-122"/>
              </a:rPr>
              <a:t>WAN</a:t>
            </a:r>
            <a:endParaRPr kumimoji="0" lang="zh-CN" altLang="en-US" sz="3600" b="0" i="0" u="none" strike="noStrike" cap="none" normalizeH="0" baseline="-25000" dirty="0">
              <a:ln>
                <a:noFill/>
              </a:ln>
              <a:effectLst/>
              <a:latin typeface="+mn-lt"/>
              <a:ea typeface="微软雅黑 Light" panose="020B0502040204020203" pitchFamily="34" charset="-122"/>
            </a:endParaRPr>
          </a:p>
        </p:txBody>
      </p:sp>
      <p:sp>
        <p:nvSpPr>
          <p:cNvPr id="96" name="云形 95"/>
          <p:cNvSpPr/>
          <p:nvPr/>
        </p:nvSpPr>
        <p:spPr bwMode="auto">
          <a:xfrm>
            <a:off x="7777137" y="4834273"/>
            <a:ext cx="933468" cy="489619"/>
          </a:xfrm>
          <a:prstGeom prst="cloud">
            <a:avLst/>
          </a:prstGeom>
          <a:solidFill>
            <a:schemeClr val="bg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a:ln>
                  <a:noFill/>
                </a:ln>
                <a:effectLst/>
                <a:latin typeface="+mn-lt"/>
                <a:ea typeface="微软雅黑 Light" panose="020B0502040204020203" pitchFamily="34" charset="-122"/>
              </a:rPr>
              <a:t>LAN</a:t>
            </a:r>
            <a:r>
              <a:rPr kumimoji="0" lang="en-US" altLang="zh-CN" sz="1800" b="0" i="0" u="none" strike="noStrike" cap="none" normalizeH="0" baseline="-25000" dirty="0">
                <a:ln>
                  <a:noFill/>
                </a:ln>
                <a:effectLst/>
                <a:latin typeface="+mn-lt"/>
                <a:ea typeface="微软雅黑 Light" panose="020B0502040204020203" pitchFamily="34" charset="-122"/>
              </a:rPr>
              <a:t>2</a:t>
            </a:r>
            <a:endParaRPr kumimoji="0" lang="zh-CN" altLang="en-US" sz="3600" b="0" i="0" u="none" strike="noStrike" cap="none" normalizeH="0" baseline="-25000" dirty="0">
              <a:ln>
                <a:noFill/>
              </a:ln>
              <a:effectLst/>
              <a:latin typeface="+mn-lt"/>
              <a:ea typeface="微软雅黑 Light" panose="020B0502040204020203" pitchFamily="34" charset="-122"/>
            </a:endParaRPr>
          </a:p>
        </p:txBody>
      </p:sp>
      <p:pic>
        <p:nvPicPr>
          <p:cNvPr id="3" name="图片 2">
            <a:extLst>
              <a:ext uri="{FF2B5EF4-FFF2-40B4-BE49-F238E27FC236}">
                <a16:creationId xmlns:a16="http://schemas.microsoft.com/office/drawing/2014/main" id="{FE834203-29AE-09A8-C39C-65718DA8CA17}"/>
              </a:ext>
            </a:extLst>
          </p:cNvPr>
          <p:cNvPicPr>
            <a:picLocks noChangeAspect="1"/>
          </p:cNvPicPr>
          <p:nvPr/>
        </p:nvPicPr>
        <p:blipFill>
          <a:blip r:embed="rId2"/>
          <a:stretch>
            <a:fillRect/>
          </a:stretch>
        </p:blipFill>
        <p:spPr>
          <a:xfrm>
            <a:off x="4714705" y="4850903"/>
            <a:ext cx="562473" cy="562473"/>
          </a:xfrm>
          <a:prstGeom prst="rect">
            <a:avLst/>
          </a:prstGeom>
        </p:spPr>
      </p:pic>
      <p:pic>
        <p:nvPicPr>
          <p:cNvPr id="5" name="图片 4">
            <a:extLst>
              <a:ext uri="{FF2B5EF4-FFF2-40B4-BE49-F238E27FC236}">
                <a16:creationId xmlns:a16="http://schemas.microsoft.com/office/drawing/2014/main" id="{12EF6053-448E-49F9-CA2F-BEBD7E6AFD6D}"/>
              </a:ext>
            </a:extLst>
          </p:cNvPr>
          <p:cNvPicPr>
            <a:picLocks noChangeAspect="1"/>
          </p:cNvPicPr>
          <p:nvPr/>
        </p:nvPicPr>
        <p:blipFill>
          <a:blip r:embed="rId2"/>
          <a:stretch>
            <a:fillRect/>
          </a:stretch>
        </p:blipFill>
        <p:spPr>
          <a:xfrm>
            <a:off x="6942867" y="4845135"/>
            <a:ext cx="562473" cy="56247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8E3F4B58-8317-4AE0-ACFA-229E630F0522}" type="slidenum">
              <a:rPr lang="en-US" altLang="zh-CN"/>
              <a:t>5</a:t>
            </a:fld>
            <a:endParaRPr lang="en-US" altLang="zh-CN"/>
          </a:p>
        </p:txBody>
      </p:sp>
      <p:sp>
        <p:nvSpPr>
          <p:cNvPr id="249858" name="Rectangle 2"/>
          <p:cNvSpPr>
            <a:spLocks noGrp="1" noChangeArrowheads="1"/>
          </p:cNvSpPr>
          <p:nvPr>
            <p:ph type="title"/>
          </p:nvPr>
        </p:nvSpPr>
        <p:spPr/>
        <p:txBody>
          <a:bodyPr/>
          <a:lstStyle/>
          <a:p>
            <a:r>
              <a:rPr lang="zh-CN" altLang="en-US" dirty="0"/>
              <a:t>传输协议</a:t>
            </a:r>
          </a:p>
        </p:txBody>
      </p:sp>
      <p:sp>
        <p:nvSpPr>
          <p:cNvPr id="249859" name="Rectangle 3"/>
          <p:cNvSpPr>
            <a:spLocks noGrp="1" noChangeArrowheads="1"/>
          </p:cNvSpPr>
          <p:nvPr>
            <p:ph type="body" idx="1"/>
          </p:nvPr>
        </p:nvSpPr>
        <p:spPr>
          <a:xfrm>
            <a:off x="334645" y="1052830"/>
            <a:ext cx="11523345" cy="1598197"/>
          </a:xfrm>
        </p:spPr>
        <p:txBody>
          <a:bodyPr>
            <a:normAutofit/>
          </a:bodyPr>
          <a:lstStyle/>
          <a:p>
            <a:pPr latinLnBrk="0">
              <a:lnSpc>
                <a:spcPct val="120000"/>
              </a:lnSpc>
              <a:spcBef>
                <a:spcPts val="0"/>
              </a:spcBef>
            </a:pPr>
            <a:r>
              <a:rPr lang="zh-CN" altLang="en-US" dirty="0"/>
              <a:t>传输服务是通过传输层实体间使用传输协议来实现的 </a:t>
            </a:r>
          </a:p>
          <a:p>
            <a:pPr latinLnBrk="0">
              <a:lnSpc>
                <a:spcPct val="120000"/>
              </a:lnSpc>
              <a:spcBef>
                <a:spcPts val="0"/>
              </a:spcBef>
            </a:pPr>
            <a:r>
              <a:rPr lang="zh-CN" altLang="en-US" dirty="0"/>
              <a:t>通信不仅仅是发生在从源计算机到目的计算机，而且是从端应用程序到端应用程序</a:t>
            </a:r>
          </a:p>
        </p:txBody>
      </p:sp>
      <p:grpSp>
        <p:nvGrpSpPr>
          <p:cNvPr id="5" name="组合 4"/>
          <p:cNvGrpSpPr/>
          <p:nvPr/>
        </p:nvGrpSpPr>
        <p:grpSpPr>
          <a:xfrm>
            <a:off x="3208799" y="2616748"/>
            <a:ext cx="5961059" cy="3488550"/>
            <a:chOff x="2730501" y="1628775"/>
            <a:chExt cx="6877050" cy="4200525"/>
          </a:xfrm>
        </p:grpSpPr>
        <p:sp>
          <p:nvSpPr>
            <p:cNvPr id="7" name="Line 3"/>
            <p:cNvSpPr>
              <a:spLocks noChangeShapeType="1"/>
            </p:cNvSpPr>
            <p:nvPr/>
          </p:nvSpPr>
          <p:spPr bwMode="auto">
            <a:xfrm flipV="1">
              <a:off x="3741738" y="3781424"/>
              <a:ext cx="4662030" cy="1"/>
            </a:xfrm>
            <a:prstGeom prst="line">
              <a:avLst/>
            </a:prstGeom>
            <a:noFill/>
            <a:ln w="38100">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Light" panose="020B0502040204020203" pitchFamily="34" charset="-122"/>
                <a:ea typeface="微软雅黑 Light" panose="020B0502040204020203" pitchFamily="34" charset="-122"/>
              </a:endParaRPr>
            </a:p>
          </p:txBody>
        </p:sp>
        <p:sp>
          <p:nvSpPr>
            <p:cNvPr id="8" name="Rectangle 4"/>
            <p:cNvSpPr>
              <a:spLocks noChangeArrowheads="1"/>
            </p:cNvSpPr>
            <p:nvPr/>
          </p:nvSpPr>
          <p:spPr bwMode="auto">
            <a:xfrm>
              <a:off x="2730501" y="2084388"/>
              <a:ext cx="1781175" cy="1033462"/>
            </a:xfrm>
            <a:prstGeom prst="rect">
              <a:avLst/>
            </a:prstGeom>
            <a:ln>
              <a:solidFill>
                <a:srgbClr val="333399"/>
              </a:solidFill>
            </a:ln>
          </p:spPr>
          <p:style>
            <a:lnRef idx="2">
              <a:schemeClr val="accent2"/>
            </a:lnRef>
            <a:fillRef idx="1">
              <a:schemeClr val="lt1"/>
            </a:fillRef>
            <a:effectRef idx="0">
              <a:schemeClr val="accent2"/>
            </a:effectRef>
            <a:fontRef idx="minor">
              <a:schemeClr val="dk1"/>
            </a:fontRef>
          </p:style>
          <p:txBody>
            <a:bodyPr wrap="none" anchor="ctr"/>
            <a:lstStyle/>
            <a:p>
              <a:pPr algn="ctr"/>
              <a:endParaRPr lang="zh-CN" altLang="zh-CN" sz="1800">
                <a:latin typeface="微软雅黑 Light" panose="020B0502040204020203" pitchFamily="34" charset="-122"/>
                <a:ea typeface="微软雅黑 Light" panose="020B0502040204020203" pitchFamily="34" charset="-122"/>
              </a:endParaRPr>
            </a:p>
          </p:txBody>
        </p:sp>
        <p:sp>
          <p:nvSpPr>
            <p:cNvPr id="9" name="Rectangle 5"/>
            <p:cNvSpPr>
              <a:spLocks noChangeArrowheads="1"/>
            </p:cNvSpPr>
            <p:nvPr/>
          </p:nvSpPr>
          <p:spPr bwMode="auto">
            <a:xfrm>
              <a:off x="7826376" y="2084388"/>
              <a:ext cx="1781175" cy="1033462"/>
            </a:xfrm>
            <a:prstGeom prst="rect">
              <a:avLst/>
            </a:prstGeom>
            <a:ln>
              <a:solidFill>
                <a:srgbClr val="333399"/>
              </a:solidFill>
            </a:ln>
          </p:spPr>
          <p:style>
            <a:lnRef idx="2">
              <a:schemeClr val="accent2"/>
            </a:lnRef>
            <a:fillRef idx="1">
              <a:schemeClr val="lt1"/>
            </a:fillRef>
            <a:effectRef idx="0">
              <a:schemeClr val="accent2"/>
            </a:effectRef>
            <a:fontRef idx="minor">
              <a:schemeClr val="dk1"/>
            </a:fontRef>
          </p:style>
          <p:txBody>
            <a:bodyPr wrap="none" anchor="ctr"/>
            <a:lstStyle/>
            <a:p>
              <a:pPr algn="ctr"/>
              <a:endParaRPr lang="zh-CN" altLang="zh-CN" sz="1800">
                <a:latin typeface="微软雅黑 Light" panose="020B0502040204020203" pitchFamily="34" charset="-122"/>
                <a:ea typeface="微软雅黑 Light" panose="020B0502040204020203" pitchFamily="34" charset="-122"/>
              </a:endParaRPr>
            </a:p>
          </p:txBody>
        </p:sp>
        <p:sp>
          <p:nvSpPr>
            <p:cNvPr id="10" name="Text Box 6"/>
            <p:cNvSpPr txBox="1">
              <a:spLocks noChangeArrowheads="1"/>
            </p:cNvSpPr>
            <p:nvPr/>
          </p:nvSpPr>
          <p:spPr bwMode="auto">
            <a:xfrm>
              <a:off x="2730501" y="1981200"/>
              <a:ext cx="711385" cy="989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5400" dirty="0">
                  <a:solidFill>
                    <a:srgbClr val="333399"/>
                  </a:solidFill>
                  <a:latin typeface="微软雅黑 Light" panose="020B0502040204020203" pitchFamily="34" charset="-122"/>
                  <a:ea typeface="微软雅黑 Light" panose="020B0502040204020203" pitchFamily="34" charset="-122"/>
                  <a:sym typeface="Wingdings" panose="05000000000000000000" pitchFamily="2" charset="2"/>
                </a:rPr>
                <a:t></a:t>
              </a:r>
              <a:endParaRPr kumimoji="1" lang="en-US" altLang="zh-CN" sz="5400" dirty="0">
                <a:solidFill>
                  <a:srgbClr val="333399"/>
                </a:solidFill>
                <a:latin typeface="微软雅黑 Light" panose="020B0502040204020203" pitchFamily="34" charset="-122"/>
                <a:ea typeface="微软雅黑 Light" panose="020B0502040204020203" pitchFamily="34" charset="-122"/>
              </a:endParaRPr>
            </a:p>
          </p:txBody>
        </p:sp>
        <p:sp>
          <p:nvSpPr>
            <p:cNvPr id="11" name="Rectangle 7"/>
            <p:cNvSpPr>
              <a:spLocks noChangeArrowheads="1"/>
            </p:cNvSpPr>
            <p:nvPr/>
          </p:nvSpPr>
          <p:spPr bwMode="auto">
            <a:xfrm>
              <a:off x="3000375" y="1628775"/>
              <a:ext cx="1157678" cy="4045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1600" dirty="0">
                  <a:latin typeface="微软雅黑 Light" panose="020B0502040204020203" pitchFamily="34" charset="-122"/>
                  <a:ea typeface="微软雅黑 Light" panose="020B0502040204020203" pitchFamily="34" charset="-122"/>
                </a:rPr>
                <a:t>应用进程</a:t>
              </a:r>
            </a:p>
          </p:txBody>
        </p:sp>
        <p:sp>
          <p:nvSpPr>
            <p:cNvPr id="12" name="Rectangle 8"/>
            <p:cNvSpPr>
              <a:spLocks noChangeArrowheads="1"/>
            </p:cNvSpPr>
            <p:nvPr/>
          </p:nvSpPr>
          <p:spPr bwMode="auto">
            <a:xfrm>
              <a:off x="3413125" y="2554289"/>
              <a:ext cx="332504" cy="3270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sz="1400" b="1">
                  <a:solidFill>
                    <a:srgbClr val="333399"/>
                  </a:solidFill>
                  <a:latin typeface="微软雅黑 Light" panose="020B0502040204020203" pitchFamily="34" charset="-122"/>
                  <a:ea typeface="微软雅黑 Light" panose="020B0502040204020203" pitchFamily="34" charset="-122"/>
                </a:rPr>
                <a:t>…</a:t>
              </a:r>
            </a:p>
          </p:txBody>
        </p:sp>
        <p:sp>
          <p:nvSpPr>
            <p:cNvPr id="13" name="Text Box 9"/>
            <p:cNvSpPr txBox="1">
              <a:spLocks noChangeArrowheads="1"/>
            </p:cNvSpPr>
            <p:nvPr/>
          </p:nvSpPr>
          <p:spPr bwMode="auto">
            <a:xfrm>
              <a:off x="3709989" y="1981200"/>
              <a:ext cx="711385" cy="989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5400" dirty="0">
                  <a:solidFill>
                    <a:srgbClr val="333399"/>
                  </a:solidFill>
                  <a:latin typeface="微软雅黑 Light" panose="020B0502040204020203" pitchFamily="34" charset="-122"/>
                  <a:ea typeface="微软雅黑 Light" panose="020B0502040204020203" pitchFamily="34" charset="-122"/>
                  <a:sym typeface="Wingdings" panose="05000000000000000000" pitchFamily="2" charset="2"/>
                </a:rPr>
                <a:t></a:t>
              </a:r>
              <a:endParaRPr kumimoji="1" lang="en-US" altLang="zh-CN" sz="5400" dirty="0">
                <a:solidFill>
                  <a:srgbClr val="333399"/>
                </a:solidFill>
                <a:latin typeface="微软雅黑 Light" panose="020B0502040204020203" pitchFamily="34" charset="-122"/>
                <a:ea typeface="微软雅黑 Light" panose="020B0502040204020203" pitchFamily="34" charset="-122"/>
              </a:endParaRPr>
            </a:p>
          </p:txBody>
        </p:sp>
        <p:sp>
          <p:nvSpPr>
            <p:cNvPr id="14" name="Text Box 10"/>
            <p:cNvSpPr txBox="1">
              <a:spLocks noChangeArrowheads="1"/>
            </p:cNvSpPr>
            <p:nvPr/>
          </p:nvSpPr>
          <p:spPr bwMode="auto">
            <a:xfrm>
              <a:off x="7826376" y="1981200"/>
              <a:ext cx="711385" cy="989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5400">
                  <a:solidFill>
                    <a:srgbClr val="333399"/>
                  </a:solidFill>
                  <a:latin typeface="微软雅黑 Light" panose="020B0502040204020203" pitchFamily="34" charset="-122"/>
                  <a:ea typeface="微软雅黑 Light" panose="020B0502040204020203" pitchFamily="34" charset="-122"/>
                  <a:sym typeface="Wingdings" panose="05000000000000000000" pitchFamily="2" charset="2"/>
                </a:rPr>
                <a:t></a:t>
              </a:r>
              <a:endParaRPr kumimoji="1" lang="en-US" altLang="zh-CN" sz="5400">
                <a:solidFill>
                  <a:srgbClr val="333399"/>
                </a:solidFill>
                <a:latin typeface="微软雅黑 Light" panose="020B0502040204020203" pitchFamily="34" charset="-122"/>
                <a:ea typeface="微软雅黑 Light" panose="020B0502040204020203" pitchFamily="34" charset="-122"/>
              </a:endParaRPr>
            </a:p>
          </p:txBody>
        </p:sp>
        <p:sp>
          <p:nvSpPr>
            <p:cNvPr id="15" name="Rectangle 11"/>
            <p:cNvSpPr>
              <a:spLocks noChangeArrowheads="1"/>
            </p:cNvSpPr>
            <p:nvPr/>
          </p:nvSpPr>
          <p:spPr bwMode="auto">
            <a:xfrm>
              <a:off x="8096250" y="1628775"/>
              <a:ext cx="1157678" cy="4045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1600" dirty="0">
                  <a:latin typeface="微软雅黑 Light" panose="020B0502040204020203" pitchFamily="34" charset="-122"/>
                  <a:ea typeface="微软雅黑 Light" panose="020B0502040204020203" pitchFamily="34" charset="-122"/>
                </a:rPr>
                <a:t>应用进程</a:t>
              </a:r>
            </a:p>
          </p:txBody>
        </p:sp>
        <p:sp>
          <p:nvSpPr>
            <p:cNvPr id="16" name="Rectangle 12"/>
            <p:cNvSpPr>
              <a:spLocks noChangeArrowheads="1"/>
            </p:cNvSpPr>
            <p:nvPr/>
          </p:nvSpPr>
          <p:spPr bwMode="auto">
            <a:xfrm>
              <a:off x="8509000" y="2554289"/>
              <a:ext cx="332504" cy="3270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sz="1400" b="1">
                  <a:solidFill>
                    <a:srgbClr val="333399"/>
                  </a:solidFill>
                  <a:latin typeface="微软雅黑 Light" panose="020B0502040204020203" pitchFamily="34" charset="-122"/>
                  <a:ea typeface="微软雅黑 Light" panose="020B0502040204020203" pitchFamily="34" charset="-122"/>
                </a:rPr>
                <a:t>…</a:t>
              </a:r>
            </a:p>
          </p:txBody>
        </p:sp>
        <p:sp>
          <p:nvSpPr>
            <p:cNvPr id="17" name="Text Box 13"/>
            <p:cNvSpPr txBox="1">
              <a:spLocks noChangeArrowheads="1"/>
            </p:cNvSpPr>
            <p:nvPr/>
          </p:nvSpPr>
          <p:spPr bwMode="auto">
            <a:xfrm>
              <a:off x="8805864" y="1981200"/>
              <a:ext cx="711385" cy="989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5400">
                  <a:solidFill>
                    <a:srgbClr val="333399"/>
                  </a:solidFill>
                  <a:latin typeface="微软雅黑 Light" panose="020B0502040204020203" pitchFamily="34" charset="-122"/>
                  <a:ea typeface="微软雅黑 Light" panose="020B0502040204020203" pitchFamily="34" charset="-122"/>
                  <a:sym typeface="Wingdings" panose="05000000000000000000" pitchFamily="2" charset="2"/>
                </a:rPr>
                <a:t></a:t>
              </a:r>
              <a:endParaRPr kumimoji="1" lang="en-US" altLang="zh-CN" sz="5400">
                <a:solidFill>
                  <a:srgbClr val="333399"/>
                </a:solidFill>
                <a:latin typeface="微软雅黑 Light" panose="020B0502040204020203" pitchFamily="34" charset="-122"/>
                <a:ea typeface="微软雅黑 Light" panose="020B0502040204020203" pitchFamily="34" charset="-122"/>
              </a:endParaRPr>
            </a:p>
          </p:txBody>
        </p:sp>
        <p:sp>
          <p:nvSpPr>
            <p:cNvPr id="18" name="Line 17"/>
            <p:cNvSpPr>
              <a:spLocks noChangeShapeType="1"/>
            </p:cNvSpPr>
            <p:nvPr/>
          </p:nvSpPr>
          <p:spPr bwMode="auto">
            <a:xfrm>
              <a:off x="3656013" y="3865563"/>
              <a:ext cx="0" cy="1109662"/>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Light" panose="020B0502040204020203" pitchFamily="34" charset="-122"/>
                <a:ea typeface="微软雅黑 Light" panose="020B0502040204020203" pitchFamily="34" charset="-122"/>
              </a:endParaRPr>
            </a:p>
          </p:txBody>
        </p:sp>
        <p:sp>
          <p:nvSpPr>
            <p:cNvPr id="19" name="Line 18"/>
            <p:cNvSpPr>
              <a:spLocks noChangeShapeType="1"/>
            </p:cNvSpPr>
            <p:nvPr/>
          </p:nvSpPr>
          <p:spPr bwMode="auto">
            <a:xfrm>
              <a:off x="8753475" y="3865563"/>
              <a:ext cx="0" cy="1109662"/>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Light" panose="020B0502040204020203" pitchFamily="34" charset="-122"/>
                <a:ea typeface="微软雅黑 Light" panose="020B0502040204020203" pitchFamily="34" charset="-122"/>
              </a:endParaRPr>
            </a:p>
          </p:txBody>
        </p:sp>
        <p:sp>
          <p:nvSpPr>
            <p:cNvPr id="20" name="Line 19"/>
            <p:cNvSpPr>
              <a:spLocks noChangeShapeType="1"/>
            </p:cNvSpPr>
            <p:nvPr/>
          </p:nvSpPr>
          <p:spPr bwMode="auto">
            <a:xfrm>
              <a:off x="3656013" y="4719638"/>
              <a:ext cx="5097462" cy="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Light" panose="020B0502040204020203" pitchFamily="34" charset="-122"/>
                <a:ea typeface="微软雅黑 Light" panose="020B0502040204020203" pitchFamily="34" charset="-122"/>
              </a:endParaRPr>
            </a:p>
          </p:txBody>
        </p:sp>
        <p:sp>
          <p:nvSpPr>
            <p:cNvPr id="21" name="Rectangle 20"/>
            <p:cNvSpPr>
              <a:spLocks noChangeArrowheads="1"/>
            </p:cNvSpPr>
            <p:nvPr/>
          </p:nvSpPr>
          <p:spPr bwMode="auto">
            <a:xfrm>
              <a:off x="4556726" y="4262438"/>
              <a:ext cx="3288101" cy="70103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r>
                <a:rPr lang="en-US" altLang="zh-CN" sz="1600" dirty="0">
                  <a:latin typeface="+mn-lt"/>
                  <a:ea typeface="微软雅黑 Light" panose="020B0502040204020203" pitchFamily="34" charset="-122"/>
                </a:rPr>
                <a:t>IP </a:t>
              </a:r>
              <a:r>
                <a:rPr lang="zh-CN" altLang="en-US" sz="1600" dirty="0">
                  <a:latin typeface="+mn-lt"/>
                  <a:ea typeface="微软雅黑 Light" panose="020B0502040204020203" pitchFamily="34" charset="-122"/>
                </a:rPr>
                <a:t>协议的作用范围</a:t>
              </a:r>
            </a:p>
            <a:p>
              <a:pPr algn="ctr" eaLnBrk="0" hangingPunct="0"/>
              <a:r>
                <a:rPr lang="zh-CN" altLang="en-US" sz="1600" dirty="0">
                  <a:latin typeface="+mn-lt"/>
                  <a:ea typeface="微软雅黑 Light" panose="020B0502040204020203" pitchFamily="34" charset="-122"/>
                </a:rPr>
                <a:t>（提供主机之间的逻辑通信）</a:t>
              </a:r>
            </a:p>
          </p:txBody>
        </p:sp>
        <p:sp>
          <p:nvSpPr>
            <p:cNvPr id="22" name="Line 21"/>
            <p:cNvSpPr>
              <a:spLocks noChangeShapeType="1"/>
            </p:cNvSpPr>
            <p:nvPr/>
          </p:nvSpPr>
          <p:spPr bwMode="auto">
            <a:xfrm>
              <a:off x="3059114" y="2967038"/>
              <a:ext cx="3175" cy="2862262"/>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Light" panose="020B0502040204020203" pitchFamily="34" charset="-122"/>
                <a:ea typeface="微软雅黑 Light" panose="020B0502040204020203" pitchFamily="34" charset="-122"/>
              </a:endParaRPr>
            </a:p>
          </p:txBody>
        </p:sp>
        <p:sp>
          <p:nvSpPr>
            <p:cNvPr id="23" name="Line 22"/>
            <p:cNvSpPr>
              <a:spLocks noChangeShapeType="1"/>
            </p:cNvSpPr>
            <p:nvPr/>
          </p:nvSpPr>
          <p:spPr bwMode="auto">
            <a:xfrm>
              <a:off x="9323388" y="3013075"/>
              <a:ext cx="6350" cy="2770188"/>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Light" panose="020B0502040204020203" pitchFamily="34" charset="-122"/>
                <a:ea typeface="微软雅黑 Light" panose="020B0502040204020203" pitchFamily="34" charset="-122"/>
              </a:endParaRPr>
            </a:p>
          </p:txBody>
        </p:sp>
        <p:sp>
          <p:nvSpPr>
            <p:cNvPr id="24" name="Line 23"/>
            <p:cNvSpPr>
              <a:spLocks noChangeShapeType="1"/>
            </p:cNvSpPr>
            <p:nvPr/>
          </p:nvSpPr>
          <p:spPr bwMode="auto">
            <a:xfrm>
              <a:off x="3062288" y="5486400"/>
              <a:ext cx="6284912" cy="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Light" panose="020B0502040204020203" pitchFamily="34" charset="-122"/>
                <a:ea typeface="微软雅黑 Light" panose="020B0502040204020203" pitchFamily="34" charset="-122"/>
              </a:endParaRPr>
            </a:p>
          </p:txBody>
        </p:sp>
        <p:sp>
          <p:nvSpPr>
            <p:cNvPr id="25" name="Rectangle 24"/>
            <p:cNvSpPr>
              <a:spLocks noChangeArrowheads="1"/>
            </p:cNvSpPr>
            <p:nvPr/>
          </p:nvSpPr>
          <p:spPr bwMode="auto">
            <a:xfrm>
              <a:off x="4636100" y="5122865"/>
              <a:ext cx="3288101" cy="70103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r>
                <a:rPr lang="en-US" altLang="zh-CN" sz="1600" dirty="0">
                  <a:latin typeface="+mn-lt"/>
                  <a:ea typeface="微软雅黑 Light" panose="020B0502040204020203" pitchFamily="34" charset="-122"/>
                </a:rPr>
                <a:t>TCP </a:t>
              </a:r>
              <a:r>
                <a:rPr lang="zh-CN" altLang="en-US" sz="1600" dirty="0">
                  <a:latin typeface="+mn-lt"/>
                  <a:ea typeface="微软雅黑 Light" panose="020B0502040204020203" pitchFamily="34" charset="-122"/>
                </a:rPr>
                <a:t>和 </a:t>
              </a:r>
              <a:r>
                <a:rPr lang="en-US" altLang="zh-CN" sz="1600" dirty="0">
                  <a:latin typeface="+mn-lt"/>
                  <a:ea typeface="微软雅黑 Light" panose="020B0502040204020203" pitchFamily="34" charset="-122"/>
                </a:rPr>
                <a:t>UDP </a:t>
              </a:r>
              <a:r>
                <a:rPr lang="zh-CN" altLang="en-US" sz="1600" dirty="0">
                  <a:latin typeface="+mn-lt"/>
                  <a:ea typeface="微软雅黑 Light" panose="020B0502040204020203" pitchFamily="34" charset="-122"/>
                </a:rPr>
                <a:t>协议的作用范围</a:t>
              </a:r>
            </a:p>
            <a:p>
              <a:pPr algn="ctr" eaLnBrk="0" hangingPunct="0"/>
              <a:r>
                <a:rPr lang="zh-CN" altLang="en-US" sz="1600" dirty="0">
                  <a:latin typeface="+mn-lt"/>
                  <a:ea typeface="微软雅黑 Light" panose="020B0502040204020203" pitchFamily="34" charset="-122"/>
                </a:rPr>
                <a:t>（提供进程之间的逻辑通信）</a:t>
              </a:r>
            </a:p>
          </p:txBody>
        </p:sp>
        <p:sp>
          <p:nvSpPr>
            <p:cNvPr id="26" name="AutoShape 25"/>
            <p:cNvSpPr>
              <a:spLocks noChangeArrowheads="1"/>
            </p:cNvSpPr>
            <p:nvPr/>
          </p:nvSpPr>
          <p:spPr bwMode="auto">
            <a:xfrm>
              <a:off x="3555207" y="3055960"/>
              <a:ext cx="153987" cy="385093"/>
            </a:xfrm>
            <a:prstGeom prst="upDownArrow">
              <a:avLst>
                <a:gd name="adj1" fmla="val 50000"/>
                <a:gd name="adj2" fmla="val 44845"/>
              </a:avLst>
            </a:prstGeom>
            <a:ln w="12700">
              <a:solidFill>
                <a:srgbClr val="333399"/>
              </a:solidFill>
            </a:ln>
          </p:spPr>
          <p:style>
            <a:lnRef idx="2">
              <a:schemeClr val="accent2"/>
            </a:lnRef>
            <a:fillRef idx="1">
              <a:schemeClr val="lt1"/>
            </a:fillRef>
            <a:effectRef idx="0">
              <a:schemeClr val="accent2"/>
            </a:effectRef>
            <a:fontRef idx="minor">
              <a:schemeClr val="dk1"/>
            </a:fontRef>
          </p:style>
          <p:txBody>
            <a:bodyPr wrap="none" anchor="ctr"/>
            <a:lstStyle/>
            <a:p>
              <a:pPr algn="ctr"/>
              <a:endParaRPr lang="zh-CN" altLang="zh-CN" sz="1800">
                <a:latin typeface="微软雅黑 Light" panose="020B0502040204020203" pitchFamily="34" charset="-122"/>
                <a:ea typeface="微软雅黑 Light" panose="020B0502040204020203" pitchFamily="34" charset="-122"/>
              </a:endParaRPr>
            </a:p>
          </p:txBody>
        </p:sp>
        <p:graphicFrame>
          <p:nvGraphicFramePr>
            <p:cNvPr id="27" name="Object 26"/>
            <p:cNvGraphicFramePr>
              <a:graphicFrameLocks noChangeAspect="1"/>
            </p:cNvGraphicFramePr>
            <p:nvPr/>
          </p:nvGraphicFramePr>
          <p:xfrm>
            <a:off x="4560888" y="2786064"/>
            <a:ext cx="3200400" cy="1525587"/>
          </p:xfrm>
          <a:graphic>
            <a:graphicData uri="http://schemas.openxmlformats.org/presentationml/2006/ole">
              <mc:AlternateContent xmlns:mc="http://schemas.openxmlformats.org/markup-compatibility/2006">
                <mc:Choice xmlns:v="urn:schemas-microsoft-com:vml" Requires="v">
                  <p:oleObj name="VISIO" r:id="rId2" imgW="1687195" imgH="964565" progId="Visio.Drawing.6">
                    <p:embed/>
                  </p:oleObj>
                </mc:Choice>
                <mc:Fallback>
                  <p:oleObj name="VISIO" r:id="rId2" imgW="1687195" imgH="964565" progId="Visio.Drawing.6">
                    <p:embed/>
                    <p:pic>
                      <p:nvPicPr>
                        <p:cNvPr id="27" name="Object 2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60888" y="2786064"/>
                          <a:ext cx="3200400" cy="1525587"/>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28" name="Rectangle 27"/>
            <p:cNvSpPr>
              <a:spLocks noChangeArrowheads="1"/>
            </p:cNvSpPr>
            <p:nvPr/>
          </p:nvSpPr>
          <p:spPr bwMode="auto">
            <a:xfrm>
              <a:off x="5375275" y="3298826"/>
              <a:ext cx="1327816" cy="441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1800" dirty="0">
                  <a:latin typeface="微软雅黑 Light" panose="020B0502040204020203" pitchFamily="34" charset="-122"/>
                  <a:ea typeface="微软雅黑 Light" panose="020B0502040204020203" pitchFamily="34" charset="-122"/>
                </a:rPr>
                <a:t>因  特  网</a:t>
              </a:r>
            </a:p>
          </p:txBody>
        </p:sp>
        <p:sp>
          <p:nvSpPr>
            <p:cNvPr id="29" name="AutoShape 25"/>
            <p:cNvSpPr>
              <a:spLocks noChangeArrowheads="1"/>
            </p:cNvSpPr>
            <p:nvPr/>
          </p:nvSpPr>
          <p:spPr bwMode="auto">
            <a:xfrm>
              <a:off x="8693742" y="3060700"/>
              <a:ext cx="153987" cy="385093"/>
            </a:xfrm>
            <a:prstGeom prst="upDownArrow">
              <a:avLst>
                <a:gd name="adj1" fmla="val 50000"/>
                <a:gd name="adj2" fmla="val 44845"/>
              </a:avLst>
            </a:prstGeom>
            <a:ln w="12700">
              <a:solidFill>
                <a:srgbClr val="333399"/>
              </a:solidFill>
            </a:ln>
          </p:spPr>
          <p:style>
            <a:lnRef idx="2">
              <a:schemeClr val="accent2"/>
            </a:lnRef>
            <a:fillRef idx="1">
              <a:schemeClr val="lt1"/>
            </a:fillRef>
            <a:effectRef idx="0">
              <a:schemeClr val="accent2"/>
            </a:effectRef>
            <a:fontRef idx="minor">
              <a:schemeClr val="dk1"/>
            </a:fontRef>
          </p:style>
          <p:txBody>
            <a:bodyPr wrap="none" anchor="ctr"/>
            <a:lstStyle/>
            <a:p>
              <a:pPr algn="ctr"/>
              <a:endParaRPr lang="zh-CN" altLang="zh-CN" sz="1800">
                <a:latin typeface="微软雅黑 Light" panose="020B0502040204020203" pitchFamily="34" charset="-122"/>
                <a:ea typeface="微软雅黑 Light" panose="020B0502040204020203" pitchFamily="34" charset="-122"/>
              </a:endParaRPr>
            </a:p>
          </p:txBody>
        </p:sp>
        <p:pic>
          <p:nvPicPr>
            <p:cNvPr id="30" name="图形 29"/>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253169" y="3429000"/>
              <a:ext cx="604860" cy="499796"/>
            </a:xfrm>
            <a:prstGeom prst="rect">
              <a:avLst/>
            </a:prstGeom>
          </p:spPr>
        </p:pic>
        <p:pic>
          <p:nvPicPr>
            <p:cNvPr id="31" name="图形 30"/>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403768" y="3421612"/>
              <a:ext cx="604860" cy="499796"/>
            </a:xfrm>
            <a:prstGeom prst="rect">
              <a:avLst/>
            </a:prstGeom>
          </p:spPr>
        </p:pic>
      </p:grpSp>
      <p:sp>
        <p:nvSpPr>
          <p:cNvPr id="32" name="文本框 31"/>
          <p:cNvSpPr txBox="1"/>
          <p:nvPr/>
        </p:nvSpPr>
        <p:spPr bwMode="auto">
          <a:xfrm>
            <a:off x="4695401" y="6125234"/>
            <a:ext cx="3275880" cy="400110"/>
          </a:xfrm>
          <a:prstGeom prst="rect">
            <a:avLst/>
          </a:prstGeom>
          <a:solidFill>
            <a:schemeClr val="bg1"/>
          </a:solidFill>
          <a:ln>
            <a:noFill/>
          </a:ln>
          <a:effectLst/>
        </p:spPr>
        <p:txBody>
          <a:bodyPr wrap="square">
            <a:spAutoFit/>
          </a:bodyPr>
          <a:lstStyle/>
          <a:p>
            <a:r>
              <a:rPr lang="zh-CN" altLang="en-US" dirty="0">
                <a:latin typeface="微软雅黑 Light" panose="020B0502040204020203" pitchFamily="34" charset="-122"/>
                <a:ea typeface="微软雅黑 Light" panose="020B0502040204020203" pitchFamily="34" charset="-122"/>
              </a:rPr>
              <a:t>传输层和网络层协议的区别</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E18E75E5-99D6-4D92-9A49-BD81E277FABC}" type="slidenum">
              <a:rPr lang="en-US" altLang="zh-CN"/>
              <a:t>6</a:t>
            </a:fld>
            <a:endParaRPr lang="en-US" altLang="zh-CN"/>
          </a:p>
        </p:txBody>
      </p:sp>
      <p:sp>
        <p:nvSpPr>
          <p:cNvPr id="243714" name="Rectangle 2"/>
          <p:cNvSpPr>
            <a:spLocks noGrp="1" noChangeArrowheads="1"/>
          </p:cNvSpPr>
          <p:nvPr>
            <p:ph type="title"/>
          </p:nvPr>
        </p:nvSpPr>
        <p:spPr/>
        <p:txBody>
          <a:bodyPr/>
          <a:lstStyle/>
          <a:p>
            <a:r>
              <a:rPr lang="zh-CN" altLang="en-US"/>
              <a:t>传输层功能</a:t>
            </a:r>
          </a:p>
        </p:txBody>
      </p:sp>
      <p:sp>
        <p:nvSpPr>
          <p:cNvPr id="243715" name="Rectangle 3"/>
          <p:cNvSpPr>
            <a:spLocks noGrp="1" noChangeArrowheads="1"/>
          </p:cNvSpPr>
          <p:nvPr>
            <p:ph type="body" idx="1"/>
          </p:nvPr>
        </p:nvSpPr>
        <p:spPr/>
        <p:txBody>
          <a:bodyPr/>
          <a:lstStyle/>
          <a:p>
            <a:pPr indent="-342265" latinLnBrk="0">
              <a:lnSpc>
                <a:spcPct val="120000"/>
              </a:lnSpc>
              <a:spcBef>
                <a:spcPts val="0"/>
              </a:spcBef>
            </a:pPr>
            <a:r>
              <a:rPr lang="zh-CN" altLang="en-US" dirty="0"/>
              <a:t>具体功能包括：</a:t>
            </a:r>
          </a:p>
          <a:p>
            <a:pPr lvl="1" indent="-342265" latinLnBrk="0">
              <a:lnSpc>
                <a:spcPct val="120000"/>
              </a:lnSpc>
              <a:spcBef>
                <a:spcPts val="0"/>
              </a:spcBef>
            </a:pPr>
            <a:r>
              <a:rPr lang="zh-CN" altLang="en-US" dirty="0"/>
              <a:t>端到端的报文传递</a:t>
            </a:r>
          </a:p>
          <a:p>
            <a:pPr lvl="1" indent="-342265" latinLnBrk="0">
              <a:lnSpc>
                <a:spcPct val="120000"/>
              </a:lnSpc>
              <a:spcBef>
                <a:spcPts val="0"/>
              </a:spcBef>
            </a:pPr>
            <a:r>
              <a:rPr lang="zh-CN" altLang="en-US" dirty="0"/>
              <a:t>服务点的寻址</a:t>
            </a:r>
          </a:p>
          <a:p>
            <a:pPr lvl="1" indent="-342265" latinLnBrk="0">
              <a:lnSpc>
                <a:spcPct val="120000"/>
              </a:lnSpc>
              <a:spcBef>
                <a:spcPts val="0"/>
              </a:spcBef>
            </a:pPr>
            <a:r>
              <a:rPr lang="zh-CN" altLang="en-US" dirty="0"/>
              <a:t>拆分和组装</a:t>
            </a:r>
          </a:p>
          <a:p>
            <a:pPr lvl="1" indent="-342265" latinLnBrk="0">
              <a:lnSpc>
                <a:spcPct val="120000"/>
              </a:lnSpc>
              <a:spcBef>
                <a:spcPts val="0"/>
              </a:spcBef>
            </a:pPr>
            <a:r>
              <a:rPr lang="zh-CN" altLang="en-US" dirty="0"/>
              <a:t>连接控制</a:t>
            </a:r>
          </a:p>
          <a:p>
            <a:pPr indent="-342265" latinLnBrk="0">
              <a:lnSpc>
                <a:spcPct val="120000"/>
              </a:lnSpc>
              <a:spcBef>
                <a:spcPts val="0"/>
              </a:spcBef>
            </a:pPr>
            <a:r>
              <a:rPr lang="zh-CN" altLang="en-US" dirty="0"/>
              <a:t>传输层为上层提供两种类型服务：</a:t>
            </a:r>
          </a:p>
          <a:p>
            <a:pPr lvl="1" indent="-342265" latinLnBrk="0">
              <a:lnSpc>
                <a:spcPct val="120000"/>
              </a:lnSpc>
              <a:spcBef>
                <a:spcPts val="0"/>
              </a:spcBef>
            </a:pPr>
            <a:r>
              <a:rPr lang="zh-CN" altLang="en-US" dirty="0"/>
              <a:t>面向连接的传输服务</a:t>
            </a:r>
          </a:p>
          <a:p>
            <a:pPr lvl="1" indent="-342265" latinLnBrk="0">
              <a:lnSpc>
                <a:spcPct val="120000"/>
              </a:lnSpc>
              <a:spcBef>
                <a:spcPts val="0"/>
              </a:spcBef>
            </a:pPr>
            <a:r>
              <a:rPr lang="zh-CN" altLang="en-US" dirty="0"/>
              <a:t>无连接的传输服务</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FA4D75A6-5644-4983-BE2E-C89628611538}" type="slidenum">
              <a:rPr lang="en-US" altLang="zh-CN"/>
              <a:t>7</a:t>
            </a:fld>
            <a:endParaRPr lang="en-US" altLang="zh-CN"/>
          </a:p>
        </p:txBody>
      </p:sp>
      <p:sp>
        <p:nvSpPr>
          <p:cNvPr id="250882" name="Rectangle 2"/>
          <p:cNvSpPr>
            <a:spLocks noGrp="1" noChangeArrowheads="1"/>
          </p:cNvSpPr>
          <p:nvPr>
            <p:ph type="title"/>
          </p:nvPr>
        </p:nvSpPr>
        <p:spPr/>
        <p:txBody>
          <a:bodyPr/>
          <a:lstStyle/>
          <a:p>
            <a:r>
              <a:rPr lang="zh-CN" altLang="en-US" dirty="0"/>
              <a:t>传输层地址</a:t>
            </a:r>
          </a:p>
        </p:txBody>
      </p:sp>
      <p:sp>
        <p:nvSpPr>
          <p:cNvPr id="250883" name="Rectangle 3"/>
          <p:cNvSpPr>
            <a:spLocks noGrp="1" noChangeArrowheads="1"/>
          </p:cNvSpPr>
          <p:nvPr>
            <p:ph type="body" idx="1"/>
          </p:nvPr>
        </p:nvSpPr>
        <p:spPr/>
        <p:txBody>
          <a:bodyPr/>
          <a:lstStyle/>
          <a:p>
            <a:pPr indent="-342265" latinLnBrk="0">
              <a:lnSpc>
                <a:spcPct val="120000"/>
              </a:lnSpc>
              <a:spcBef>
                <a:spcPts val="0"/>
              </a:spcBef>
            </a:pPr>
            <a:r>
              <a:rPr lang="zh-CN" altLang="en-US" dirty="0">
                <a:latin typeface="+mn-lt"/>
              </a:rPr>
              <a:t>由一台计算机上的应用程序所产生的数据不仅必须被另外一台计算机所接收，而且必须被这台计算机上正确的应用程序所接收</a:t>
            </a:r>
          </a:p>
          <a:p>
            <a:pPr indent="-342265" latinLnBrk="0">
              <a:lnSpc>
                <a:spcPct val="120000"/>
              </a:lnSpc>
              <a:spcBef>
                <a:spcPts val="0"/>
              </a:spcBef>
            </a:pPr>
            <a:r>
              <a:rPr lang="zh-CN" altLang="en-US" dirty="0">
                <a:latin typeface="+mn-lt"/>
              </a:rPr>
              <a:t>一个应用程序同一个远程应用程序通信时，它必须知道两个地址：</a:t>
            </a:r>
          </a:p>
          <a:p>
            <a:pPr lvl="1" indent="-342265" latinLnBrk="0">
              <a:lnSpc>
                <a:spcPct val="120000"/>
              </a:lnSpc>
              <a:spcBef>
                <a:spcPts val="0"/>
              </a:spcBef>
            </a:pPr>
            <a:r>
              <a:rPr lang="en-US" altLang="zh-CN" dirty="0">
                <a:latin typeface="+mn-lt"/>
              </a:rPr>
              <a:t>TSAP</a:t>
            </a:r>
            <a:r>
              <a:rPr lang="zh-CN" altLang="en-US" dirty="0">
                <a:latin typeface="+mn-lt"/>
              </a:rPr>
              <a:t>地址</a:t>
            </a:r>
            <a:r>
              <a:rPr lang="en-US" altLang="zh-CN" dirty="0">
                <a:latin typeface="+mn-lt"/>
              </a:rPr>
              <a:t>(</a:t>
            </a:r>
            <a:r>
              <a:rPr lang="zh-CN" altLang="en-US" dirty="0">
                <a:latin typeface="+mn-lt"/>
              </a:rPr>
              <a:t>传输访问服务点，称为端口号</a:t>
            </a:r>
            <a:r>
              <a:rPr lang="en-US" altLang="zh-CN" dirty="0">
                <a:latin typeface="+mn-lt"/>
              </a:rPr>
              <a:t>)</a:t>
            </a:r>
          </a:p>
          <a:p>
            <a:pPr lvl="1" indent="-342265" latinLnBrk="0">
              <a:lnSpc>
                <a:spcPct val="120000"/>
              </a:lnSpc>
              <a:spcBef>
                <a:spcPts val="0"/>
              </a:spcBef>
            </a:pPr>
            <a:r>
              <a:rPr lang="en-US" altLang="zh-CN" dirty="0">
                <a:latin typeface="+mn-lt"/>
              </a:rPr>
              <a:t>NSAP</a:t>
            </a:r>
            <a:r>
              <a:rPr lang="zh-CN" altLang="en-US" dirty="0">
                <a:latin typeface="+mn-lt"/>
              </a:rPr>
              <a:t>地址</a:t>
            </a:r>
            <a:r>
              <a:rPr lang="en-US" altLang="zh-CN" dirty="0">
                <a:latin typeface="+mn-lt"/>
              </a:rPr>
              <a:t>(</a:t>
            </a:r>
            <a:r>
              <a:rPr lang="zh-CN" altLang="en-US" dirty="0">
                <a:latin typeface="+mn-lt"/>
              </a:rPr>
              <a:t>网络服务访问点</a:t>
            </a:r>
            <a:r>
              <a:rPr lang="en-US" altLang="zh-CN" dirty="0">
                <a:latin typeface="+mn-lt"/>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灯片编号占位符 5"/>
          <p:cNvSpPr>
            <a:spLocks noGrp="1"/>
          </p:cNvSpPr>
          <p:nvPr>
            <p:ph type="sldNum" sz="quarter" idx="12"/>
          </p:nvPr>
        </p:nvSpPr>
        <p:spPr/>
        <p:txBody>
          <a:bodyPr/>
          <a:lstStyle/>
          <a:p>
            <a:fld id="{E86C9F3F-47E1-4432-8585-26163AF13CDC}" type="slidenum">
              <a:rPr lang="en-US" altLang="zh-CN"/>
              <a:t>8</a:t>
            </a:fld>
            <a:endParaRPr lang="en-US" altLang="zh-CN"/>
          </a:p>
        </p:txBody>
      </p:sp>
      <p:sp>
        <p:nvSpPr>
          <p:cNvPr id="198661" name="Rectangle 5"/>
          <p:cNvSpPr>
            <a:spLocks noGrp="1" noChangeArrowheads="1"/>
          </p:cNvSpPr>
          <p:nvPr>
            <p:ph type="title"/>
          </p:nvPr>
        </p:nvSpPr>
        <p:spPr>
          <a:noFill/>
        </p:spPr>
        <p:txBody>
          <a:bodyPr/>
          <a:lstStyle/>
          <a:p>
            <a:r>
              <a:rPr lang="zh-CN" altLang="en-US" dirty="0"/>
              <a:t>访问点通信</a:t>
            </a:r>
          </a:p>
        </p:txBody>
      </p:sp>
      <p:grpSp>
        <p:nvGrpSpPr>
          <p:cNvPr id="2" name="组合 1"/>
          <p:cNvGrpSpPr/>
          <p:nvPr/>
        </p:nvGrpSpPr>
        <p:grpSpPr>
          <a:xfrm>
            <a:off x="2135189" y="1196976"/>
            <a:ext cx="7777162" cy="5426074"/>
            <a:chOff x="2135189" y="1196976"/>
            <a:chExt cx="7777162" cy="5426074"/>
          </a:xfrm>
        </p:grpSpPr>
        <p:sp>
          <p:nvSpPr>
            <p:cNvPr id="198662" name="Rectangle 6"/>
            <p:cNvSpPr>
              <a:spLocks noChangeArrowheads="1"/>
            </p:cNvSpPr>
            <p:nvPr/>
          </p:nvSpPr>
          <p:spPr bwMode="auto">
            <a:xfrm>
              <a:off x="2136776" y="1196976"/>
              <a:ext cx="2879725" cy="4824413"/>
            </a:xfrm>
            <a:prstGeom prst="rect">
              <a:avLst/>
            </a:prstGeom>
            <a:noFill/>
            <a:ln w="28575" algn="ctr">
              <a:solidFill>
                <a:srgbClr val="333399"/>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198663" name="Line 7"/>
            <p:cNvSpPr>
              <a:spLocks noChangeShapeType="1"/>
            </p:cNvSpPr>
            <p:nvPr/>
          </p:nvSpPr>
          <p:spPr bwMode="auto">
            <a:xfrm>
              <a:off x="2136776" y="4076700"/>
              <a:ext cx="2879725"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198664" name="Line 8"/>
            <p:cNvSpPr>
              <a:spLocks noChangeShapeType="1"/>
            </p:cNvSpPr>
            <p:nvPr/>
          </p:nvSpPr>
          <p:spPr bwMode="auto">
            <a:xfrm>
              <a:off x="2136776" y="4581525"/>
              <a:ext cx="2879725"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198665" name="Line 9"/>
            <p:cNvSpPr>
              <a:spLocks noChangeShapeType="1"/>
            </p:cNvSpPr>
            <p:nvPr/>
          </p:nvSpPr>
          <p:spPr bwMode="auto">
            <a:xfrm>
              <a:off x="2136776" y="5084763"/>
              <a:ext cx="2879725"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198666" name="Line 10"/>
            <p:cNvSpPr>
              <a:spLocks noChangeShapeType="1"/>
            </p:cNvSpPr>
            <p:nvPr/>
          </p:nvSpPr>
          <p:spPr bwMode="auto">
            <a:xfrm>
              <a:off x="2135189" y="2708275"/>
              <a:ext cx="2879725"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198668" name="Text Box 12"/>
            <p:cNvSpPr txBox="1">
              <a:spLocks noChangeArrowheads="1"/>
            </p:cNvSpPr>
            <p:nvPr/>
          </p:nvSpPr>
          <p:spPr bwMode="auto">
            <a:xfrm>
              <a:off x="2351088" y="1484313"/>
              <a:ext cx="576262" cy="519112"/>
            </a:xfrm>
            <a:prstGeom prst="rect">
              <a:avLst/>
            </a:prstGeom>
            <a:solidFill>
              <a:schemeClr val="bg2">
                <a:lumMod val="50000"/>
              </a:schemeClr>
            </a:solidFill>
            <a:ln>
              <a:noFill/>
            </a:ln>
            <a:effectLst/>
          </p:spPr>
          <p:txBody>
            <a:bodyPr>
              <a:spAutoFit/>
            </a:bodyPr>
            <a:lstStyle/>
            <a:p>
              <a:pPr algn="ctr">
                <a:spcBef>
                  <a:spcPct val="50000"/>
                </a:spcBef>
              </a:pPr>
              <a:r>
                <a:rPr lang="en-US" altLang="zh-CN" sz="2800" dirty="0">
                  <a:solidFill>
                    <a:schemeClr val="bg1"/>
                  </a:solidFill>
                  <a:latin typeface="+mn-lt"/>
                  <a:ea typeface="微软雅黑 Light" panose="020B0502040204020203" pitchFamily="34" charset="-122"/>
                </a:rPr>
                <a:t>P</a:t>
              </a:r>
              <a:r>
                <a:rPr lang="en-US" altLang="zh-CN" sz="2800" baseline="-25000" dirty="0">
                  <a:solidFill>
                    <a:schemeClr val="bg1"/>
                  </a:solidFill>
                  <a:latin typeface="+mn-lt"/>
                  <a:ea typeface="微软雅黑 Light" panose="020B0502040204020203" pitchFamily="34" charset="-122"/>
                </a:rPr>
                <a:t>1</a:t>
              </a:r>
            </a:p>
          </p:txBody>
        </p:sp>
        <p:sp>
          <p:nvSpPr>
            <p:cNvPr id="198669" name="Text Box 13"/>
            <p:cNvSpPr txBox="1">
              <a:spLocks noChangeArrowheads="1"/>
            </p:cNvSpPr>
            <p:nvPr/>
          </p:nvSpPr>
          <p:spPr bwMode="auto">
            <a:xfrm>
              <a:off x="3287713" y="1484313"/>
              <a:ext cx="576262" cy="519112"/>
            </a:xfrm>
            <a:prstGeom prst="rect">
              <a:avLst/>
            </a:prstGeom>
            <a:solidFill>
              <a:schemeClr val="bg2">
                <a:lumMod val="75000"/>
              </a:schemeClr>
            </a:solidFill>
            <a:ln>
              <a:noFill/>
            </a:ln>
            <a:effectLst/>
          </p:spPr>
          <p:txBody>
            <a:bodyPr>
              <a:spAutoFit/>
            </a:bodyPr>
            <a:lstStyle/>
            <a:p>
              <a:pPr algn="ctr">
                <a:spcBef>
                  <a:spcPct val="50000"/>
                </a:spcBef>
              </a:pPr>
              <a:r>
                <a:rPr lang="en-US" altLang="zh-CN" sz="2800" dirty="0">
                  <a:latin typeface="+mn-lt"/>
                  <a:ea typeface="微软雅黑 Light" panose="020B0502040204020203" pitchFamily="34" charset="-122"/>
                </a:rPr>
                <a:t>P</a:t>
              </a:r>
              <a:r>
                <a:rPr lang="en-US" altLang="zh-CN" sz="2800" baseline="-25000" dirty="0">
                  <a:latin typeface="+mn-lt"/>
                  <a:ea typeface="微软雅黑 Light" panose="020B0502040204020203" pitchFamily="34" charset="-122"/>
                </a:rPr>
                <a:t>2</a:t>
              </a:r>
            </a:p>
          </p:txBody>
        </p:sp>
        <p:sp>
          <p:nvSpPr>
            <p:cNvPr id="198670" name="Text Box 14"/>
            <p:cNvSpPr txBox="1">
              <a:spLocks noChangeArrowheads="1"/>
            </p:cNvSpPr>
            <p:nvPr/>
          </p:nvSpPr>
          <p:spPr bwMode="auto">
            <a:xfrm>
              <a:off x="4224338" y="1484313"/>
              <a:ext cx="576262" cy="519112"/>
            </a:xfrm>
            <a:prstGeom prst="rect">
              <a:avLst/>
            </a:prstGeom>
            <a:solidFill>
              <a:schemeClr val="bg2">
                <a:lumMod val="90000"/>
              </a:schemeClr>
            </a:solidFill>
            <a:ln>
              <a:noFill/>
            </a:ln>
            <a:effectLst/>
          </p:spPr>
          <p:txBody>
            <a:bodyPr>
              <a:spAutoFit/>
            </a:bodyPr>
            <a:lstStyle/>
            <a:p>
              <a:pPr algn="ctr">
                <a:spcBef>
                  <a:spcPct val="50000"/>
                </a:spcBef>
              </a:pPr>
              <a:r>
                <a:rPr lang="en-US" altLang="zh-CN" sz="2800" dirty="0">
                  <a:latin typeface="+mn-lt"/>
                  <a:ea typeface="微软雅黑 Light" panose="020B0502040204020203" pitchFamily="34" charset="-122"/>
                </a:rPr>
                <a:t>P</a:t>
              </a:r>
              <a:r>
                <a:rPr lang="en-US" altLang="zh-CN" sz="2800" baseline="-25000" dirty="0">
                  <a:latin typeface="+mn-lt"/>
                  <a:ea typeface="微软雅黑 Light" panose="020B0502040204020203" pitchFamily="34" charset="-122"/>
                </a:rPr>
                <a:t>3</a:t>
              </a:r>
            </a:p>
          </p:txBody>
        </p:sp>
        <p:sp>
          <p:nvSpPr>
            <p:cNvPr id="198671" name="Text Box 15"/>
            <p:cNvSpPr txBox="1">
              <a:spLocks noChangeArrowheads="1"/>
            </p:cNvSpPr>
            <p:nvPr/>
          </p:nvSpPr>
          <p:spPr bwMode="auto">
            <a:xfrm>
              <a:off x="2424113" y="2492375"/>
              <a:ext cx="431800" cy="528638"/>
            </a:xfrm>
            <a:prstGeom prst="rect">
              <a:avLst/>
            </a:prstGeom>
            <a:solidFill>
              <a:schemeClr val="bg2"/>
            </a:solidFill>
            <a:ln w="9525" algn="ctr">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800">
                  <a:latin typeface="+mn-lt"/>
                  <a:ea typeface="微软雅黑 Light" panose="020B0502040204020203" pitchFamily="34" charset="-122"/>
                </a:rPr>
                <a:t>1</a:t>
              </a:r>
            </a:p>
          </p:txBody>
        </p:sp>
        <p:sp>
          <p:nvSpPr>
            <p:cNvPr id="198672" name="Text Box 16"/>
            <p:cNvSpPr txBox="1">
              <a:spLocks noChangeArrowheads="1"/>
            </p:cNvSpPr>
            <p:nvPr/>
          </p:nvSpPr>
          <p:spPr bwMode="auto">
            <a:xfrm>
              <a:off x="3359150" y="2492375"/>
              <a:ext cx="431800" cy="528638"/>
            </a:xfrm>
            <a:prstGeom prst="rect">
              <a:avLst/>
            </a:prstGeom>
            <a:solidFill>
              <a:schemeClr val="bg2"/>
            </a:solidFill>
            <a:ln w="9525" algn="ctr">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800">
                  <a:latin typeface="+mn-lt"/>
                  <a:ea typeface="微软雅黑 Light" panose="020B0502040204020203" pitchFamily="34" charset="-122"/>
                </a:rPr>
                <a:t>2</a:t>
              </a:r>
            </a:p>
          </p:txBody>
        </p:sp>
        <p:sp>
          <p:nvSpPr>
            <p:cNvPr id="198673" name="Text Box 17"/>
            <p:cNvSpPr txBox="1">
              <a:spLocks noChangeArrowheads="1"/>
            </p:cNvSpPr>
            <p:nvPr/>
          </p:nvSpPr>
          <p:spPr bwMode="auto">
            <a:xfrm>
              <a:off x="4295775" y="2492375"/>
              <a:ext cx="431800" cy="528638"/>
            </a:xfrm>
            <a:prstGeom prst="rect">
              <a:avLst/>
            </a:prstGeom>
            <a:solidFill>
              <a:schemeClr val="bg2"/>
            </a:solidFill>
            <a:ln w="9525" algn="ctr">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800">
                  <a:latin typeface="+mn-lt"/>
                  <a:ea typeface="微软雅黑 Light" panose="020B0502040204020203" pitchFamily="34" charset="-122"/>
                </a:rPr>
                <a:t>3</a:t>
              </a:r>
            </a:p>
          </p:txBody>
        </p:sp>
        <p:sp>
          <p:nvSpPr>
            <p:cNvPr id="198674" name="Line 18"/>
            <p:cNvSpPr>
              <a:spLocks noChangeShapeType="1"/>
            </p:cNvSpPr>
            <p:nvPr/>
          </p:nvSpPr>
          <p:spPr bwMode="auto">
            <a:xfrm>
              <a:off x="2640013" y="1916114"/>
              <a:ext cx="0" cy="64928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tailEnd type="triangl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198675" name="Line 19"/>
            <p:cNvSpPr>
              <a:spLocks noChangeShapeType="1"/>
            </p:cNvSpPr>
            <p:nvPr/>
          </p:nvSpPr>
          <p:spPr bwMode="auto">
            <a:xfrm>
              <a:off x="2640013" y="2008189"/>
              <a:ext cx="0" cy="465137"/>
            </a:xfrm>
            <a:prstGeom prst="line">
              <a:avLst/>
            </a:prstGeom>
            <a:noFill/>
            <a:ln w="28575">
              <a:solidFill>
                <a:srgbClr val="FF33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198676" name="Line 20"/>
            <p:cNvSpPr>
              <a:spLocks noChangeShapeType="1"/>
            </p:cNvSpPr>
            <p:nvPr/>
          </p:nvSpPr>
          <p:spPr bwMode="auto">
            <a:xfrm>
              <a:off x="3575050" y="2008189"/>
              <a:ext cx="0" cy="465137"/>
            </a:xfrm>
            <a:prstGeom prst="line">
              <a:avLst/>
            </a:prstGeom>
            <a:noFill/>
            <a:ln w="28575">
              <a:solidFill>
                <a:srgbClr val="FF33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198677" name="Line 21"/>
            <p:cNvSpPr>
              <a:spLocks noChangeShapeType="1"/>
            </p:cNvSpPr>
            <p:nvPr/>
          </p:nvSpPr>
          <p:spPr bwMode="auto">
            <a:xfrm>
              <a:off x="4511675" y="2008189"/>
              <a:ext cx="0" cy="465137"/>
            </a:xfrm>
            <a:prstGeom prst="line">
              <a:avLst/>
            </a:prstGeom>
            <a:noFill/>
            <a:ln w="28575">
              <a:solidFill>
                <a:srgbClr val="FF33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198679" name="Text Box 23"/>
            <p:cNvSpPr txBox="1">
              <a:spLocks noChangeArrowheads="1"/>
            </p:cNvSpPr>
            <p:nvPr/>
          </p:nvSpPr>
          <p:spPr bwMode="auto">
            <a:xfrm>
              <a:off x="4083050" y="3644901"/>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zh-CN" altLang="en-US">
                  <a:latin typeface="+mn-lt"/>
                  <a:ea typeface="微软雅黑 Light" panose="020B0502040204020203" pitchFamily="34" charset="-122"/>
                </a:rPr>
                <a:t>传输层</a:t>
              </a:r>
            </a:p>
          </p:txBody>
        </p:sp>
        <p:sp>
          <p:nvSpPr>
            <p:cNvPr id="198680" name="Text Box 24"/>
            <p:cNvSpPr txBox="1">
              <a:spLocks noChangeArrowheads="1"/>
            </p:cNvSpPr>
            <p:nvPr/>
          </p:nvSpPr>
          <p:spPr bwMode="auto">
            <a:xfrm>
              <a:off x="4083050" y="4149726"/>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zh-CN" altLang="en-US">
                  <a:latin typeface="+mn-lt"/>
                  <a:ea typeface="微软雅黑 Light" panose="020B0502040204020203" pitchFamily="34" charset="-122"/>
                </a:rPr>
                <a:t>网络层</a:t>
              </a:r>
            </a:p>
          </p:txBody>
        </p:sp>
        <p:sp>
          <p:nvSpPr>
            <p:cNvPr id="198681" name="Text Box 25"/>
            <p:cNvSpPr txBox="1">
              <a:spLocks noChangeArrowheads="1"/>
            </p:cNvSpPr>
            <p:nvPr/>
          </p:nvSpPr>
          <p:spPr bwMode="auto">
            <a:xfrm>
              <a:off x="3575050" y="4652964"/>
              <a:ext cx="1454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zh-CN" altLang="en-US">
                  <a:latin typeface="+mn-lt"/>
                  <a:ea typeface="微软雅黑 Light" panose="020B0502040204020203" pitchFamily="34" charset="-122"/>
                </a:rPr>
                <a:t>数据链路层</a:t>
              </a:r>
            </a:p>
          </p:txBody>
        </p:sp>
        <p:sp>
          <p:nvSpPr>
            <p:cNvPr id="198682" name="Text Box 26"/>
            <p:cNvSpPr txBox="1">
              <a:spLocks noChangeArrowheads="1"/>
            </p:cNvSpPr>
            <p:nvPr/>
          </p:nvSpPr>
          <p:spPr bwMode="auto">
            <a:xfrm>
              <a:off x="4083050" y="5589589"/>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zh-CN" altLang="en-US">
                  <a:latin typeface="+mn-lt"/>
                  <a:ea typeface="微软雅黑 Light" panose="020B0502040204020203" pitchFamily="34" charset="-122"/>
                </a:rPr>
                <a:t>物理层</a:t>
              </a:r>
            </a:p>
          </p:txBody>
        </p:sp>
        <p:sp>
          <p:nvSpPr>
            <p:cNvPr id="198683" name="Rectangle 27"/>
            <p:cNvSpPr>
              <a:spLocks noChangeArrowheads="1"/>
            </p:cNvSpPr>
            <p:nvPr/>
          </p:nvSpPr>
          <p:spPr bwMode="auto">
            <a:xfrm>
              <a:off x="7032626" y="1196976"/>
              <a:ext cx="2879725" cy="4824413"/>
            </a:xfrm>
            <a:prstGeom prst="rect">
              <a:avLst/>
            </a:prstGeom>
            <a:noFill/>
            <a:ln w="28575" algn="ctr">
              <a:solidFill>
                <a:srgbClr val="333399"/>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198684" name="Line 28"/>
            <p:cNvSpPr>
              <a:spLocks noChangeShapeType="1"/>
            </p:cNvSpPr>
            <p:nvPr/>
          </p:nvSpPr>
          <p:spPr bwMode="auto">
            <a:xfrm>
              <a:off x="7032626" y="4076700"/>
              <a:ext cx="2879725"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198685" name="Line 29"/>
            <p:cNvSpPr>
              <a:spLocks noChangeShapeType="1"/>
            </p:cNvSpPr>
            <p:nvPr/>
          </p:nvSpPr>
          <p:spPr bwMode="auto">
            <a:xfrm>
              <a:off x="7032626" y="4581525"/>
              <a:ext cx="2879725"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198686" name="Line 30"/>
            <p:cNvSpPr>
              <a:spLocks noChangeShapeType="1"/>
            </p:cNvSpPr>
            <p:nvPr/>
          </p:nvSpPr>
          <p:spPr bwMode="auto">
            <a:xfrm>
              <a:off x="7032626" y="5084763"/>
              <a:ext cx="2879725"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198687" name="Line 31"/>
            <p:cNvSpPr>
              <a:spLocks noChangeShapeType="1"/>
            </p:cNvSpPr>
            <p:nvPr/>
          </p:nvSpPr>
          <p:spPr bwMode="auto">
            <a:xfrm>
              <a:off x="7031039" y="2708275"/>
              <a:ext cx="2879725"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198688" name="Text Box 32"/>
            <p:cNvSpPr txBox="1">
              <a:spLocks noChangeArrowheads="1"/>
            </p:cNvSpPr>
            <p:nvPr/>
          </p:nvSpPr>
          <p:spPr bwMode="auto">
            <a:xfrm>
              <a:off x="7246938" y="1484313"/>
              <a:ext cx="576262" cy="519112"/>
            </a:xfrm>
            <a:prstGeom prst="rect">
              <a:avLst/>
            </a:prstGeom>
            <a:solidFill>
              <a:schemeClr val="bg2">
                <a:lumMod val="50000"/>
              </a:schemeClr>
            </a:solidFill>
            <a:ln>
              <a:noFill/>
            </a:ln>
            <a:effectLst/>
          </p:spPr>
          <p:txBody>
            <a:bodyPr>
              <a:spAutoFit/>
            </a:bodyPr>
            <a:lstStyle/>
            <a:p>
              <a:pPr algn="ctr">
                <a:spcBef>
                  <a:spcPct val="50000"/>
                </a:spcBef>
              </a:pPr>
              <a:r>
                <a:rPr lang="en-US" altLang="zh-CN" sz="2800" dirty="0">
                  <a:solidFill>
                    <a:schemeClr val="bg1"/>
                  </a:solidFill>
                  <a:latin typeface="+mn-lt"/>
                  <a:ea typeface="微软雅黑 Light" panose="020B0502040204020203" pitchFamily="34" charset="-122"/>
                </a:rPr>
                <a:t>P</a:t>
              </a:r>
              <a:r>
                <a:rPr lang="en-US" altLang="zh-CN" sz="2800" baseline="-25000" dirty="0">
                  <a:solidFill>
                    <a:schemeClr val="bg1"/>
                  </a:solidFill>
                  <a:latin typeface="+mn-lt"/>
                  <a:ea typeface="微软雅黑 Light" panose="020B0502040204020203" pitchFamily="34" charset="-122"/>
                </a:rPr>
                <a:t>4</a:t>
              </a:r>
            </a:p>
          </p:txBody>
        </p:sp>
        <p:sp>
          <p:nvSpPr>
            <p:cNvPr id="198689" name="Text Box 33"/>
            <p:cNvSpPr txBox="1">
              <a:spLocks noChangeArrowheads="1"/>
            </p:cNvSpPr>
            <p:nvPr/>
          </p:nvSpPr>
          <p:spPr bwMode="auto">
            <a:xfrm>
              <a:off x="8183563" y="1484313"/>
              <a:ext cx="576262" cy="519112"/>
            </a:xfrm>
            <a:prstGeom prst="rect">
              <a:avLst/>
            </a:prstGeom>
            <a:solidFill>
              <a:schemeClr val="bg2">
                <a:lumMod val="75000"/>
              </a:schemeClr>
            </a:solidFill>
            <a:ln>
              <a:noFill/>
            </a:ln>
            <a:effectLst/>
          </p:spPr>
          <p:txBody>
            <a:bodyPr>
              <a:spAutoFit/>
            </a:bodyPr>
            <a:lstStyle/>
            <a:p>
              <a:pPr algn="ctr">
                <a:spcBef>
                  <a:spcPct val="50000"/>
                </a:spcBef>
              </a:pPr>
              <a:r>
                <a:rPr lang="en-US" altLang="zh-CN" sz="2800">
                  <a:latin typeface="+mn-lt"/>
                  <a:ea typeface="微软雅黑 Light" panose="020B0502040204020203" pitchFamily="34" charset="-122"/>
                </a:rPr>
                <a:t>P</a:t>
              </a:r>
              <a:r>
                <a:rPr lang="en-US" altLang="zh-CN" sz="2800" baseline="-25000">
                  <a:latin typeface="+mn-lt"/>
                  <a:ea typeface="微软雅黑 Light" panose="020B0502040204020203" pitchFamily="34" charset="-122"/>
                </a:rPr>
                <a:t>5</a:t>
              </a:r>
            </a:p>
          </p:txBody>
        </p:sp>
        <p:sp>
          <p:nvSpPr>
            <p:cNvPr id="198690" name="Text Box 34"/>
            <p:cNvSpPr txBox="1">
              <a:spLocks noChangeArrowheads="1"/>
            </p:cNvSpPr>
            <p:nvPr/>
          </p:nvSpPr>
          <p:spPr bwMode="auto">
            <a:xfrm>
              <a:off x="9120188" y="1484313"/>
              <a:ext cx="576262" cy="519112"/>
            </a:xfrm>
            <a:prstGeom prst="rect">
              <a:avLst/>
            </a:prstGeom>
            <a:solidFill>
              <a:schemeClr val="bg2">
                <a:lumMod val="90000"/>
              </a:schemeClr>
            </a:solidFill>
            <a:ln>
              <a:noFill/>
            </a:ln>
            <a:effectLst/>
          </p:spPr>
          <p:txBody>
            <a:bodyPr>
              <a:spAutoFit/>
            </a:bodyPr>
            <a:lstStyle/>
            <a:p>
              <a:pPr algn="ctr">
                <a:spcBef>
                  <a:spcPct val="50000"/>
                </a:spcBef>
              </a:pPr>
              <a:r>
                <a:rPr lang="en-US" altLang="zh-CN" sz="2800" dirty="0">
                  <a:latin typeface="+mn-lt"/>
                  <a:ea typeface="微软雅黑 Light" panose="020B0502040204020203" pitchFamily="34" charset="-122"/>
                </a:rPr>
                <a:t>P</a:t>
              </a:r>
              <a:r>
                <a:rPr lang="en-US" altLang="zh-CN" sz="2800" baseline="-25000" dirty="0">
                  <a:latin typeface="+mn-lt"/>
                  <a:ea typeface="微软雅黑 Light" panose="020B0502040204020203" pitchFamily="34" charset="-122"/>
                </a:rPr>
                <a:t>6</a:t>
              </a:r>
            </a:p>
          </p:txBody>
        </p:sp>
        <p:sp>
          <p:nvSpPr>
            <p:cNvPr id="198691" name="Text Box 35"/>
            <p:cNvSpPr txBox="1">
              <a:spLocks noChangeArrowheads="1"/>
            </p:cNvSpPr>
            <p:nvPr/>
          </p:nvSpPr>
          <p:spPr bwMode="auto">
            <a:xfrm>
              <a:off x="7319963" y="2492375"/>
              <a:ext cx="431800" cy="528638"/>
            </a:xfrm>
            <a:prstGeom prst="rect">
              <a:avLst/>
            </a:prstGeom>
            <a:solidFill>
              <a:schemeClr val="bg2"/>
            </a:solidFill>
            <a:ln w="9525" algn="ctr">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800">
                  <a:latin typeface="+mn-lt"/>
                  <a:ea typeface="微软雅黑 Light" panose="020B0502040204020203" pitchFamily="34" charset="-122"/>
                </a:rPr>
                <a:t>8</a:t>
              </a:r>
            </a:p>
          </p:txBody>
        </p:sp>
        <p:sp>
          <p:nvSpPr>
            <p:cNvPr id="198692" name="Text Box 36"/>
            <p:cNvSpPr txBox="1">
              <a:spLocks noChangeArrowheads="1"/>
            </p:cNvSpPr>
            <p:nvPr/>
          </p:nvSpPr>
          <p:spPr bwMode="auto">
            <a:xfrm>
              <a:off x="8255000" y="2492375"/>
              <a:ext cx="431800" cy="528638"/>
            </a:xfrm>
            <a:prstGeom prst="rect">
              <a:avLst/>
            </a:prstGeom>
            <a:solidFill>
              <a:schemeClr val="bg2"/>
            </a:solidFill>
            <a:ln w="9525" algn="ctr">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800">
                  <a:latin typeface="+mn-lt"/>
                  <a:ea typeface="微软雅黑 Light" panose="020B0502040204020203" pitchFamily="34" charset="-122"/>
                </a:rPr>
                <a:t>7</a:t>
              </a:r>
            </a:p>
          </p:txBody>
        </p:sp>
        <p:sp>
          <p:nvSpPr>
            <p:cNvPr id="198693" name="Text Box 37"/>
            <p:cNvSpPr txBox="1">
              <a:spLocks noChangeArrowheads="1"/>
            </p:cNvSpPr>
            <p:nvPr/>
          </p:nvSpPr>
          <p:spPr bwMode="auto">
            <a:xfrm>
              <a:off x="9191625" y="2492375"/>
              <a:ext cx="431800" cy="528638"/>
            </a:xfrm>
            <a:prstGeom prst="rect">
              <a:avLst/>
            </a:prstGeom>
            <a:solidFill>
              <a:schemeClr val="bg2"/>
            </a:solidFill>
            <a:ln w="9525" algn="ctr">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800">
                  <a:latin typeface="+mn-lt"/>
                  <a:ea typeface="微软雅黑 Light" panose="020B0502040204020203" pitchFamily="34" charset="-122"/>
                </a:rPr>
                <a:t>6</a:t>
              </a:r>
            </a:p>
          </p:txBody>
        </p:sp>
        <p:grpSp>
          <p:nvGrpSpPr>
            <p:cNvPr id="198694" name="Group 38"/>
            <p:cNvGrpSpPr/>
            <p:nvPr/>
          </p:nvGrpSpPr>
          <p:grpSpPr bwMode="auto">
            <a:xfrm>
              <a:off x="7535863" y="1916114"/>
              <a:ext cx="1871662" cy="649287"/>
              <a:chOff x="703" y="1253"/>
              <a:chExt cx="1179" cy="317"/>
            </a:xfrm>
          </p:grpSpPr>
          <p:sp>
            <p:nvSpPr>
              <p:cNvPr id="198695" name="Line 39"/>
              <p:cNvSpPr>
                <a:spLocks noChangeShapeType="1"/>
              </p:cNvSpPr>
              <p:nvPr/>
            </p:nvSpPr>
            <p:spPr bwMode="auto">
              <a:xfrm>
                <a:off x="703" y="1253"/>
                <a:ext cx="0" cy="31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tailEnd type="triangl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198696" name="Line 40"/>
              <p:cNvSpPr>
                <a:spLocks noChangeShapeType="1"/>
              </p:cNvSpPr>
              <p:nvPr/>
            </p:nvSpPr>
            <p:spPr bwMode="auto">
              <a:xfrm>
                <a:off x="703" y="1298"/>
                <a:ext cx="0" cy="227"/>
              </a:xfrm>
              <a:prstGeom prst="line">
                <a:avLst/>
              </a:prstGeom>
              <a:noFill/>
              <a:ln w="28575">
                <a:solidFill>
                  <a:srgbClr val="FF33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198697" name="Line 41"/>
              <p:cNvSpPr>
                <a:spLocks noChangeShapeType="1"/>
              </p:cNvSpPr>
              <p:nvPr/>
            </p:nvSpPr>
            <p:spPr bwMode="auto">
              <a:xfrm>
                <a:off x="1292" y="1298"/>
                <a:ext cx="0" cy="227"/>
              </a:xfrm>
              <a:prstGeom prst="line">
                <a:avLst/>
              </a:prstGeom>
              <a:noFill/>
              <a:ln w="28575">
                <a:solidFill>
                  <a:srgbClr val="FF33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198698" name="Line 42"/>
              <p:cNvSpPr>
                <a:spLocks noChangeShapeType="1"/>
              </p:cNvSpPr>
              <p:nvPr/>
            </p:nvSpPr>
            <p:spPr bwMode="auto">
              <a:xfrm>
                <a:off x="1882" y="1298"/>
                <a:ext cx="0" cy="227"/>
              </a:xfrm>
              <a:prstGeom prst="line">
                <a:avLst/>
              </a:prstGeom>
              <a:noFill/>
              <a:ln w="28575">
                <a:solidFill>
                  <a:srgbClr val="FF33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grpSp>
        <p:sp>
          <p:nvSpPr>
            <p:cNvPr id="198699" name="Text Box 43"/>
            <p:cNvSpPr txBox="1">
              <a:spLocks noChangeArrowheads="1"/>
            </p:cNvSpPr>
            <p:nvPr/>
          </p:nvSpPr>
          <p:spPr bwMode="auto">
            <a:xfrm>
              <a:off x="7104063" y="3644901"/>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a:latin typeface="+mn-lt"/>
                  <a:ea typeface="微软雅黑 Light" panose="020B0502040204020203" pitchFamily="34" charset="-122"/>
                </a:rPr>
                <a:t>传输层</a:t>
              </a:r>
            </a:p>
          </p:txBody>
        </p:sp>
        <p:sp>
          <p:nvSpPr>
            <p:cNvPr id="198700" name="Text Box 44"/>
            <p:cNvSpPr txBox="1">
              <a:spLocks noChangeArrowheads="1"/>
            </p:cNvSpPr>
            <p:nvPr/>
          </p:nvSpPr>
          <p:spPr bwMode="auto">
            <a:xfrm>
              <a:off x="7104063" y="4149726"/>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a:latin typeface="+mn-lt"/>
                  <a:ea typeface="微软雅黑 Light" panose="020B0502040204020203" pitchFamily="34" charset="-122"/>
                </a:rPr>
                <a:t>网络层</a:t>
              </a:r>
            </a:p>
          </p:txBody>
        </p:sp>
        <p:sp>
          <p:nvSpPr>
            <p:cNvPr id="198701" name="Text Box 45"/>
            <p:cNvSpPr txBox="1">
              <a:spLocks noChangeArrowheads="1"/>
            </p:cNvSpPr>
            <p:nvPr/>
          </p:nvSpPr>
          <p:spPr bwMode="auto">
            <a:xfrm>
              <a:off x="7104063" y="4652964"/>
              <a:ext cx="1454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a:latin typeface="+mn-lt"/>
                  <a:ea typeface="微软雅黑 Light" panose="020B0502040204020203" pitchFamily="34" charset="-122"/>
                </a:rPr>
                <a:t>数据链路层</a:t>
              </a:r>
            </a:p>
          </p:txBody>
        </p:sp>
        <p:sp>
          <p:nvSpPr>
            <p:cNvPr id="198702" name="Text Box 46"/>
            <p:cNvSpPr txBox="1">
              <a:spLocks noChangeArrowheads="1"/>
            </p:cNvSpPr>
            <p:nvPr/>
          </p:nvSpPr>
          <p:spPr bwMode="auto">
            <a:xfrm>
              <a:off x="7104063" y="5589589"/>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a:latin typeface="+mn-lt"/>
                  <a:ea typeface="微软雅黑 Light" panose="020B0502040204020203" pitchFamily="34" charset="-122"/>
                </a:rPr>
                <a:t>物理层</a:t>
              </a:r>
            </a:p>
          </p:txBody>
        </p:sp>
        <p:sp>
          <p:nvSpPr>
            <p:cNvPr id="198703" name="Freeform 47"/>
            <p:cNvSpPr/>
            <p:nvPr/>
          </p:nvSpPr>
          <p:spPr bwMode="auto">
            <a:xfrm>
              <a:off x="2640013" y="3068639"/>
              <a:ext cx="6769100" cy="2447925"/>
            </a:xfrm>
            <a:custGeom>
              <a:avLst/>
              <a:gdLst>
                <a:gd name="T0" fmla="*/ 0 w 4264"/>
                <a:gd name="T1" fmla="*/ 0 h 1619"/>
                <a:gd name="T2" fmla="*/ 278 w 4264"/>
                <a:gd name="T3" fmla="*/ 638 h 1619"/>
                <a:gd name="T4" fmla="*/ 278 w 4264"/>
                <a:gd name="T5" fmla="*/ 1619 h 1619"/>
                <a:gd name="T6" fmla="*/ 3990 w 4264"/>
                <a:gd name="T7" fmla="*/ 1598 h 1619"/>
                <a:gd name="T8" fmla="*/ 3985 w 4264"/>
                <a:gd name="T9" fmla="*/ 627 h 1619"/>
                <a:gd name="T10" fmla="*/ 4264 w 4264"/>
                <a:gd name="T11" fmla="*/ 1 h 1619"/>
              </a:gdLst>
              <a:ahLst/>
              <a:cxnLst>
                <a:cxn ang="0">
                  <a:pos x="T0" y="T1"/>
                </a:cxn>
                <a:cxn ang="0">
                  <a:pos x="T2" y="T3"/>
                </a:cxn>
                <a:cxn ang="0">
                  <a:pos x="T4" y="T5"/>
                </a:cxn>
                <a:cxn ang="0">
                  <a:pos x="T6" y="T7"/>
                </a:cxn>
                <a:cxn ang="0">
                  <a:pos x="T8" y="T9"/>
                </a:cxn>
                <a:cxn ang="0">
                  <a:pos x="T10" y="T11"/>
                </a:cxn>
              </a:cxnLst>
              <a:rect l="0" t="0" r="r" b="b"/>
              <a:pathLst>
                <a:path w="4264" h="1619">
                  <a:moveTo>
                    <a:pt x="0" y="0"/>
                  </a:moveTo>
                  <a:lnTo>
                    <a:pt x="278" y="638"/>
                  </a:lnTo>
                  <a:lnTo>
                    <a:pt x="278" y="1619"/>
                  </a:lnTo>
                  <a:lnTo>
                    <a:pt x="3990" y="1598"/>
                  </a:lnTo>
                  <a:lnTo>
                    <a:pt x="3985" y="627"/>
                  </a:lnTo>
                  <a:lnTo>
                    <a:pt x="4264" y="1"/>
                  </a:lnTo>
                </a:path>
              </a:pathLst>
            </a:custGeom>
            <a:noFill/>
            <a:ln w="57150" cap="flat" cmpd="sng">
              <a:solidFill>
                <a:srgbClr val="FF3300"/>
              </a:solidFill>
              <a:prstDash val="solid"/>
              <a:round/>
              <a:headEnd type="triangl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198704" name="Text Box 48"/>
            <p:cNvSpPr txBox="1">
              <a:spLocks noChangeArrowheads="1"/>
            </p:cNvSpPr>
            <p:nvPr/>
          </p:nvSpPr>
          <p:spPr bwMode="auto">
            <a:xfrm>
              <a:off x="4224338" y="6165850"/>
              <a:ext cx="414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400">
                  <a:latin typeface="+mn-lt"/>
                  <a:ea typeface="微软雅黑 Light" panose="020B0502040204020203" pitchFamily="34" charset="-122"/>
                </a:rPr>
                <a:t>应用程序使用服务访问点通信</a:t>
              </a:r>
            </a:p>
          </p:txBody>
        </p:sp>
        <p:sp>
          <p:nvSpPr>
            <p:cNvPr id="198706" name="AutoShape 50"/>
            <p:cNvSpPr>
              <a:spLocks noChangeArrowheads="1"/>
            </p:cNvSpPr>
            <p:nvPr/>
          </p:nvSpPr>
          <p:spPr bwMode="auto">
            <a:xfrm>
              <a:off x="5159375" y="2349501"/>
              <a:ext cx="1728788" cy="720725"/>
            </a:xfrm>
            <a:prstGeom prst="leftRightArrow">
              <a:avLst>
                <a:gd name="adj1" fmla="val 63722"/>
                <a:gd name="adj2" fmla="val 54759"/>
              </a:avLst>
            </a:prstGeom>
            <a:solidFill>
              <a:schemeClr val="bg2"/>
            </a:solidFill>
            <a:ln w="9525" algn="ctr">
              <a:noFill/>
              <a:miter lim="800000"/>
            </a:ln>
            <a:effectLst/>
          </p:spPr>
          <p:txBody>
            <a:bodyPr wrap="none" anchor="ctr"/>
            <a:lstStyle/>
            <a:p>
              <a:pPr algn="ctr"/>
              <a:r>
                <a:rPr lang="en-US" altLang="zh-CN" sz="1800" dirty="0">
                  <a:latin typeface="+mn-lt"/>
                  <a:ea typeface="微软雅黑 Light" panose="020B0502040204020203" pitchFamily="34" charset="-122"/>
                </a:rPr>
                <a:t>TSAP</a:t>
              </a:r>
              <a:r>
                <a:rPr lang="zh-CN" altLang="en-US" sz="1800" dirty="0">
                  <a:latin typeface="+mn-lt"/>
                  <a:ea typeface="微软雅黑 Light" panose="020B0502040204020203" pitchFamily="34" charset="-122"/>
                </a:rPr>
                <a:t>地址</a:t>
              </a:r>
            </a:p>
          </p:txBody>
        </p:sp>
        <p:sp>
          <p:nvSpPr>
            <p:cNvPr id="198707" name="AutoShape 51"/>
            <p:cNvSpPr>
              <a:spLocks noChangeArrowheads="1"/>
            </p:cNvSpPr>
            <p:nvPr/>
          </p:nvSpPr>
          <p:spPr bwMode="auto">
            <a:xfrm>
              <a:off x="5159375" y="3716339"/>
              <a:ext cx="1728788" cy="720725"/>
            </a:xfrm>
            <a:prstGeom prst="leftRightArrow">
              <a:avLst>
                <a:gd name="adj1" fmla="val 63722"/>
                <a:gd name="adj2" fmla="val 54759"/>
              </a:avLst>
            </a:prstGeom>
            <a:solidFill>
              <a:schemeClr val="bg2">
                <a:lumMod val="75000"/>
              </a:schemeClr>
            </a:solidFill>
            <a:ln w="9525" algn="ctr">
              <a:noFill/>
              <a:miter lim="800000"/>
            </a:ln>
            <a:effectLst/>
          </p:spPr>
          <p:txBody>
            <a:bodyPr wrap="none" anchor="ctr"/>
            <a:lstStyle/>
            <a:p>
              <a:pPr algn="ctr"/>
              <a:r>
                <a:rPr lang="en-US" altLang="zh-CN" sz="1800">
                  <a:latin typeface="+mn-lt"/>
                  <a:ea typeface="微软雅黑 Light" panose="020B0502040204020203" pitchFamily="34" charset="-122"/>
                </a:rPr>
                <a:t>NSAP</a:t>
              </a:r>
              <a:r>
                <a:rPr lang="zh-CN" altLang="en-US" sz="1800">
                  <a:latin typeface="+mn-lt"/>
                  <a:ea typeface="微软雅黑 Light" panose="020B0502040204020203" pitchFamily="34" charset="-122"/>
                </a:rPr>
                <a:t>地址</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灯片编号占位符 5"/>
          <p:cNvSpPr>
            <a:spLocks noGrp="1"/>
          </p:cNvSpPr>
          <p:nvPr>
            <p:ph type="sldNum" sz="quarter" idx="12"/>
          </p:nvPr>
        </p:nvSpPr>
        <p:spPr/>
        <p:txBody>
          <a:bodyPr/>
          <a:lstStyle/>
          <a:p>
            <a:fld id="{6946AE1B-0130-4AE2-A0C1-24E55DBAFCA0}" type="slidenum">
              <a:rPr lang="en-US" altLang="zh-CN"/>
              <a:t>9</a:t>
            </a:fld>
            <a:endParaRPr lang="en-US" altLang="zh-CN"/>
          </a:p>
        </p:txBody>
      </p:sp>
      <p:sp>
        <p:nvSpPr>
          <p:cNvPr id="251906" name="Rectangle 2"/>
          <p:cNvSpPr>
            <a:spLocks noGrp="1" noChangeArrowheads="1"/>
          </p:cNvSpPr>
          <p:nvPr>
            <p:ph type="title"/>
          </p:nvPr>
        </p:nvSpPr>
        <p:spPr/>
        <p:txBody>
          <a:bodyPr/>
          <a:lstStyle/>
          <a:p>
            <a:r>
              <a:rPr lang="zh-CN" altLang="en-US" dirty="0"/>
              <a:t>传输层复用</a:t>
            </a:r>
            <a:r>
              <a:rPr lang="en-US" altLang="zh-CN" dirty="0"/>
              <a:t>—</a:t>
            </a:r>
            <a:r>
              <a:rPr lang="zh-CN" altLang="en-US" dirty="0"/>
              <a:t>向上复用、向下复用</a:t>
            </a:r>
          </a:p>
        </p:txBody>
      </p:sp>
      <p:sp>
        <p:nvSpPr>
          <p:cNvPr id="251909" name="Rectangle 5"/>
          <p:cNvSpPr>
            <a:spLocks noChangeArrowheads="1"/>
          </p:cNvSpPr>
          <p:nvPr/>
        </p:nvSpPr>
        <p:spPr bwMode="auto">
          <a:xfrm>
            <a:off x="2627114" y="1409803"/>
            <a:ext cx="2879725" cy="3960812"/>
          </a:xfrm>
          <a:prstGeom prst="rect">
            <a:avLst/>
          </a:prstGeom>
          <a:noFill/>
          <a:ln w="28575" algn="ctr">
            <a:solidFill>
              <a:srgbClr val="333399"/>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微软雅黑 Light" panose="020B0502040204020203" pitchFamily="34" charset="-122"/>
              <a:ea typeface="微软雅黑 Light" panose="020B0502040204020203" pitchFamily="34" charset="-122"/>
            </a:endParaRPr>
          </a:p>
        </p:txBody>
      </p:sp>
      <p:sp>
        <p:nvSpPr>
          <p:cNvPr id="251910" name="Line 6"/>
          <p:cNvSpPr>
            <a:spLocks noChangeShapeType="1"/>
          </p:cNvSpPr>
          <p:nvPr/>
        </p:nvSpPr>
        <p:spPr bwMode="auto">
          <a:xfrm>
            <a:off x="2627114" y="4218090"/>
            <a:ext cx="2879725"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1913" name="Line 9"/>
          <p:cNvSpPr>
            <a:spLocks noChangeShapeType="1"/>
          </p:cNvSpPr>
          <p:nvPr/>
        </p:nvSpPr>
        <p:spPr bwMode="auto">
          <a:xfrm>
            <a:off x="2625527" y="2921103"/>
            <a:ext cx="2879725"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1914" name="Text Box 10"/>
          <p:cNvSpPr txBox="1">
            <a:spLocks noChangeArrowheads="1"/>
          </p:cNvSpPr>
          <p:nvPr/>
        </p:nvSpPr>
        <p:spPr bwMode="auto">
          <a:xfrm>
            <a:off x="2841426" y="1697141"/>
            <a:ext cx="576262" cy="519113"/>
          </a:xfrm>
          <a:prstGeom prst="rect">
            <a:avLst/>
          </a:prstGeom>
          <a:solidFill>
            <a:schemeClr val="bg2">
              <a:lumMod val="50000"/>
            </a:schemeClr>
          </a:solidFill>
          <a:ln>
            <a:noFill/>
          </a:ln>
          <a:effectLst/>
        </p:spPr>
        <p:txBody>
          <a:bodyPr>
            <a:spAutoFit/>
          </a:bodyPr>
          <a:lstStyle/>
          <a:p>
            <a:pPr algn="ctr">
              <a:spcBef>
                <a:spcPct val="50000"/>
              </a:spcBef>
            </a:pPr>
            <a:r>
              <a:rPr lang="en-US" altLang="zh-CN" sz="2800" dirty="0">
                <a:solidFill>
                  <a:schemeClr val="bg1"/>
                </a:solidFill>
                <a:latin typeface="微软雅黑 Light" panose="020B0502040204020203" pitchFamily="34" charset="-122"/>
                <a:ea typeface="微软雅黑 Light" panose="020B0502040204020203" pitchFamily="34" charset="-122"/>
              </a:rPr>
              <a:t>P</a:t>
            </a:r>
            <a:r>
              <a:rPr lang="en-US" altLang="zh-CN" sz="2800" baseline="-25000" dirty="0">
                <a:solidFill>
                  <a:schemeClr val="bg1"/>
                </a:solidFill>
                <a:latin typeface="微软雅黑 Light" panose="020B0502040204020203" pitchFamily="34" charset="-122"/>
                <a:ea typeface="微软雅黑 Light" panose="020B0502040204020203" pitchFamily="34" charset="-122"/>
              </a:rPr>
              <a:t>1</a:t>
            </a:r>
          </a:p>
        </p:txBody>
      </p:sp>
      <p:sp>
        <p:nvSpPr>
          <p:cNvPr id="251915" name="Text Box 11"/>
          <p:cNvSpPr txBox="1">
            <a:spLocks noChangeArrowheads="1"/>
          </p:cNvSpPr>
          <p:nvPr/>
        </p:nvSpPr>
        <p:spPr bwMode="auto">
          <a:xfrm>
            <a:off x="3778051" y="1697141"/>
            <a:ext cx="576262" cy="519113"/>
          </a:xfrm>
          <a:prstGeom prst="rect">
            <a:avLst/>
          </a:prstGeom>
          <a:solidFill>
            <a:schemeClr val="bg2">
              <a:lumMod val="75000"/>
            </a:schemeClr>
          </a:solidFill>
          <a:ln>
            <a:noFill/>
          </a:ln>
          <a:effectLst/>
        </p:spPr>
        <p:txBody>
          <a:bodyPr>
            <a:spAutoFit/>
          </a:bodyPr>
          <a:lstStyle/>
          <a:p>
            <a:pPr algn="ctr">
              <a:spcBef>
                <a:spcPct val="50000"/>
              </a:spcBef>
            </a:pPr>
            <a:r>
              <a:rPr lang="en-US" altLang="zh-CN" sz="2800" dirty="0">
                <a:solidFill>
                  <a:schemeClr val="bg1"/>
                </a:solidFill>
                <a:latin typeface="微软雅黑 Light" panose="020B0502040204020203" pitchFamily="34" charset="-122"/>
                <a:ea typeface="微软雅黑 Light" panose="020B0502040204020203" pitchFamily="34" charset="-122"/>
              </a:rPr>
              <a:t>P</a:t>
            </a:r>
            <a:r>
              <a:rPr lang="en-US" altLang="zh-CN" sz="2800" baseline="-25000" dirty="0">
                <a:solidFill>
                  <a:schemeClr val="bg1"/>
                </a:solidFill>
                <a:latin typeface="微软雅黑 Light" panose="020B0502040204020203" pitchFamily="34" charset="-122"/>
                <a:ea typeface="微软雅黑 Light" panose="020B0502040204020203" pitchFamily="34" charset="-122"/>
              </a:rPr>
              <a:t>2</a:t>
            </a:r>
          </a:p>
        </p:txBody>
      </p:sp>
      <p:sp>
        <p:nvSpPr>
          <p:cNvPr id="251916" name="Text Box 12"/>
          <p:cNvSpPr txBox="1">
            <a:spLocks noChangeArrowheads="1"/>
          </p:cNvSpPr>
          <p:nvPr/>
        </p:nvSpPr>
        <p:spPr bwMode="auto">
          <a:xfrm>
            <a:off x="4714676" y="1697141"/>
            <a:ext cx="576262" cy="519113"/>
          </a:xfrm>
          <a:prstGeom prst="rect">
            <a:avLst/>
          </a:prstGeom>
          <a:solidFill>
            <a:schemeClr val="bg2">
              <a:lumMod val="90000"/>
            </a:schemeClr>
          </a:solidFill>
          <a:ln>
            <a:noFill/>
          </a:ln>
          <a:effectLst/>
        </p:spPr>
        <p:txBody>
          <a:bodyPr>
            <a:spAutoFit/>
          </a:bodyPr>
          <a:lstStyle/>
          <a:p>
            <a:pPr algn="ctr">
              <a:spcBef>
                <a:spcPct val="50000"/>
              </a:spcBef>
            </a:pPr>
            <a:r>
              <a:rPr lang="en-US" altLang="zh-CN" sz="2800" dirty="0">
                <a:latin typeface="微软雅黑 Light" panose="020B0502040204020203" pitchFamily="34" charset="-122"/>
                <a:ea typeface="微软雅黑 Light" panose="020B0502040204020203" pitchFamily="34" charset="-122"/>
              </a:rPr>
              <a:t>P</a:t>
            </a:r>
            <a:r>
              <a:rPr lang="en-US" altLang="zh-CN" sz="2800" baseline="-25000" dirty="0">
                <a:latin typeface="微软雅黑 Light" panose="020B0502040204020203" pitchFamily="34" charset="-122"/>
                <a:ea typeface="微软雅黑 Light" panose="020B0502040204020203" pitchFamily="34" charset="-122"/>
              </a:rPr>
              <a:t>3</a:t>
            </a:r>
          </a:p>
        </p:txBody>
      </p:sp>
      <p:sp>
        <p:nvSpPr>
          <p:cNvPr id="251920" name="Line 16"/>
          <p:cNvSpPr>
            <a:spLocks noChangeShapeType="1"/>
          </p:cNvSpPr>
          <p:nvPr/>
        </p:nvSpPr>
        <p:spPr bwMode="auto">
          <a:xfrm>
            <a:off x="3130351" y="2128940"/>
            <a:ext cx="0" cy="649288"/>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tailEnd type="triangl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1921" name="Line 17"/>
          <p:cNvSpPr>
            <a:spLocks noChangeShapeType="1"/>
          </p:cNvSpPr>
          <p:nvPr/>
        </p:nvSpPr>
        <p:spPr bwMode="auto">
          <a:xfrm>
            <a:off x="3130351" y="2221015"/>
            <a:ext cx="0" cy="465138"/>
          </a:xfrm>
          <a:prstGeom prst="line">
            <a:avLst/>
          </a:prstGeom>
          <a:noFill/>
          <a:ln w="28575">
            <a:solidFill>
              <a:srgbClr val="FF33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1922" name="Line 18"/>
          <p:cNvSpPr>
            <a:spLocks noChangeShapeType="1"/>
          </p:cNvSpPr>
          <p:nvPr/>
        </p:nvSpPr>
        <p:spPr bwMode="auto">
          <a:xfrm>
            <a:off x="4065388" y="2221015"/>
            <a:ext cx="0" cy="465138"/>
          </a:xfrm>
          <a:prstGeom prst="line">
            <a:avLst/>
          </a:prstGeom>
          <a:noFill/>
          <a:ln w="28575">
            <a:solidFill>
              <a:srgbClr val="FF33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1923" name="Line 19"/>
          <p:cNvSpPr>
            <a:spLocks noChangeShapeType="1"/>
          </p:cNvSpPr>
          <p:nvPr/>
        </p:nvSpPr>
        <p:spPr bwMode="auto">
          <a:xfrm>
            <a:off x="5002013" y="2221015"/>
            <a:ext cx="0" cy="465138"/>
          </a:xfrm>
          <a:prstGeom prst="line">
            <a:avLst/>
          </a:prstGeom>
          <a:noFill/>
          <a:ln w="28575">
            <a:solidFill>
              <a:srgbClr val="FF33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1924" name="Text Box 20"/>
          <p:cNvSpPr txBox="1">
            <a:spLocks noChangeArrowheads="1"/>
          </p:cNvSpPr>
          <p:nvPr/>
        </p:nvSpPr>
        <p:spPr bwMode="auto">
          <a:xfrm>
            <a:off x="4573388" y="3498954"/>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zh-CN" altLang="en-US">
                <a:latin typeface="微软雅黑 Light" panose="020B0502040204020203" pitchFamily="34" charset="-122"/>
                <a:ea typeface="微软雅黑 Light" panose="020B0502040204020203" pitchFamily="34" charset="-122"/>
              </a:rPr>
              <a:t>传输层</a:t>
            </a:r>
          </a:p>
        </p:txBody>
      </p:sp>
      <p:sp>
        <p:nvSpPr>
          <p:cNvPr id="251925" name="Text Box 21"/>
          <p:cNvSpPr txBox="1">
            <a:spLocks noChangeArrowheads="1"/>
          </p:cNvSpPr>
          <p:nvPr/>
        </p:nvSpPr>
        <p:spPr bwMode="auto">
          <a:xfrm>
            <a:off x="4573388" y="4757841"/>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zh-CN" altLang="en-US">
                <a:latin typeface="微软雅黑 Light" panose="020B0502040204020203" pitchFamily="34" charset="-122"/>
                <a:ea typeface="微软雅黑 Light" panose="020B0502040204020203" pitchFamily="34" charset="-122"/>
              </a:rPr>
              <a:t>网络层</a:t>
            </a:r>
          </a:p>
        </p:txBody>
      </p:sp>
      <p:sp>
        <p:nvSpPr>
          <p:cNvPr id="251928" name="Text Box 24"/>
          <p:cNvSpPr txBox="1">
            <a:spLocks noChangeArrowheads="1"/>
          </p:cNvSpPr>
          <p:nvPr/>
        </p:nvSpPr>
        <p:spPr bwMode="auto">
          <a:xfrm>
            <a:off x="3503413" y="4002190"/>
            <a:ext cx="1081088" cy="406400"/>
          </a:xfrm>
          <a:prstGeom prst="rect">
            <a:avLst/>
          </a:prstGeom>
          <a:solidFill>
            <a:schemeClr val="bg2"/>
          </a:solidFill>
          <a:ln w="9525" algn="ctr">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a:latin typeface="微软雅黑 Light" panose="020B0502040204020203" pitchFamily="34" charset="-122"/>
                <a:ea typeface="微软雅黑 Light" panose="020B0502040204020203" pitchFamily="34" charset="-122"/>
              </a:rPr>
              <a:t>NSAP</a:t>
            </a:r>
          </a:p>
        </p:txBody>
      </p:sp>
      <p:sp>
        <p:nvSpPr>
          <p:cNvPr id="251929" name="Line 25"/>
          <p:cNvSpPr>
            <a:spLocks noChangeShapeType="1"/>
          </p:cNvSpPr>
          <p:nvPr/>
        </p:nvSpPr>
        <p:spPr bwMode="auto">
          <a:xfrm>
            <a:off x="4079676" y="3283054"/>
            <a:ext cx="0" cy="719137"/>
          </a:xfrm>
          <a:prstGeom prst="line">
            <a:avLst/>
          </a:prstGeom>
          <a:noFill/>
          <a:ln w="28575">
            <a:solidFill>
              <a:srgbClr val="FF33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1930" name="Line 26"/>
          <p:cNvSpPr>
            <a:spLocks noChangeShapeType="1"/>
          </p:cNvSpPr>
          <p:nvPr/>
        </p:nvSpPr>
        <p:spPr bwMode="auto">
          <a:xfrm>
            <a:off x="3143051" y="3283054"/>
            <a:ext cx="792162" cy="719137"/>
          </a:xfrm>
          <a:prstGeom prst="line">
            <a:avLst/>
          </a:prstGeom>
          <a:noFill/>
          <a:ln w="28575">
            <a:solidFill>
              <a:srgbClr val="FF33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1931" name="Line 27"/>
          <p:cNvSpPr>
            <a:spLocks noChangeShapeType="1"/>
          </p:cNvSpPr>
          <p:nvPr/>
        </p:nvSpPr>
        <p:spPr bwMode="auto">
          <a:xfrm flipH="1">
            <a:off x="4222552" y="3283054"/>
            <a:ext cx="720725" cy="719137"/>
          </a:xfrm>
          <a:prstGeom prst="line">
            <a:avLst/>
          </a:prstGeom>
          <a:noFill/>
          <a:ln w="28575">
            <a:solidFill>
              <a:srgbClr val="FF33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1932" name="Line 28"/>
          <p:cNvSpPr>
            <a:spLocks noChangeShapeType="1"/>
          </p:cNvSpPr>
          <p:nvPr/>
        </p:nvSpPr>
        <p:spPr bwMode="auto">
          <a:xfrm>
            <a:off x="4079676" y="4435579"/>
            <a:ext cx="0" cy="719137"/>
          </a:xfrm>
          <a:prstGeom prst="line">
            <a:avLst/>
          </a:prstGeom>
          <a:noFill/>
          <a:ln w="28575">
            <a:solidFill>
              <a:srgbClr val="FF33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1933" name="Rectangle 29"/>
          <p:cNvSpPr>
            <a:spLocks noChangeArrowheads="1"/>
          </p:cNvSpPr>
          <p:nvPr/>
        </p:nvSpPr>
        <p:spPr bwMode="auto">
          <a:xfrm>
            <a:off x="6672064" y="1409803"/>
            <a:ext cx="2879725" cy="3960812"/>
          </a:xfrm>
          <a:prstGeom prst="rect">
            <a:avLst/>
          </a:prstGeom>
          <a:noFill/>
          <a:ln w="28575" algn="ctr">
            <a:solidFill>
              <a:srgbClr val="333399"/>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dirty="0">
              <a:latin typeface="微软雅黑 Light" panose="020B0502040204020203" pitchFamily="34" charset="-122"/>
              <a:ea typeface="微软雅黑 Light" panose="020B0502040204020203" pitchFamily="34" charset="-122"/>
            </a:endParaRPr>
          </a:p>
        </p:txBody>
      </p:sp>
      <p:sp>
        <p:nvSpPr>
          <p:cNvPr id="251934" name="Line 30"/>
          <p:cNvSpPr>
            <a:spLocks noChangeShapeType="1"/>
          </p:cNvSpPr>
          <p:nvPr/>
        </p:nvSpPr>
        <p:spPr bwMode="auto">
          <a:xfrm>
            <a:off x="6672064" y="4218090"/>
            <a:ext cx="2879725"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1935" name="Line 31"/>
          <p:cNvSpPr>
            <a:spLocks noChangeShapeType="1"/>
          </p:cNvSpPr>
          <p:nvPr/>
        </p:nvSpPr>
        <p:spPr bwMode="auto">
          <a:xfrm>
            <a:off x="6670477" y="2921103"/>
            <a:ext cx="2879725"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1937" name="Text Box 33"/>
          <p:cNvSpPr txBox="1">
            <a:spLocks noChangeArrowheads="1"/>
          </p:cNvSpPr>
          <p:nvPr/>
        </p:nvSpPr>
        <p:spPr bwMode="auto">
          <a:xfrm>
            <a:off x="7823001" y="1697141"/>
            <a:ext cx="576262" cy="519113"/>
          </a:xfrm>
          <a:prstGeom prst="rect">
            <a:avLst/>
          </a:prstGeom>
          <a:solidFill>
            <a:schemeClr val="bg2">
              <a:lumMod val="50000"/>
            </a:schemeClr>
          </a:solidFill>
          <a:ln>
            <a:noFill/>
          </a:ln>
          <a:effectLst/>
        </p:spPr>
        <p:txBody>
          <a:bodyPr>
            <a:spAutoFit/>
          </a:bodyPr>
          <a:lstStyle/>
          <a:p>
            <a:pPr algn="ctr">
              <a:spcBef>
                <a:spcPct val="50000"/>
              </a:spcBef>
            </a:pPr>
            <a:r>
              <a:rPr lang="en-US" altLang="zh-CN" sz="2800" dirty="0">
                <a:solidFill>
                  <a:schemeClr val="bg1"/>
                </a:solidFill>
                <a:latin typeface="微软雅黑 Light" panose="020B0502040204020203" pitchFamily="34" charset="-122"/>
                <a:ea typeface="微软雅黑 Light" panose="020B0502040204020203" pitchFamily="34" charset="-122"/>
              </a:rPr>
              <a:t>P</a:t>
            </a:r>
            <a:r>
              <a:rPr lang="en-US" altLang="zh-CN" sz="2800" baseline="-25000" dirty="0">
                <a:solidFill>
                  <a:schemeClr val="bg1"/>
                </a:solidFill>
                <a:latin typeface="微软雅黑 Light" panose="020B0502040204020203" pitchFamily="34" charset="-122"/>
                <a:ea typeface="微软雅黑 Light" panose="020B0502040204020203" pitchFamily="34" charset="-122"/>
              </a:rPr>
              <a:t>1</a:t>
            </a:r>
          </a:p>
        </p:txBody>
      </p:sp>
      <p:sp>
        <p:nvSpPr>
          <p:cNvPr id="251944" name="Line 40"/>
          <p:cNvSpPr>
            <a:spLocks noChangeShapeType="1"/>
          </p:cNvSpPr>
          <p:nvPr/>
        </p:nvSpPr>
        <p:spPr bwMode="auto">
          <a:xfrm>
            <a:off x="8110338" y="2221015"/>
            <a:ext cx="0" cy="465138"/>
          </a:xfrm>
          <a:prstGeom prst="line">
            <a:avLst/>
          </a:prstGeom>
          <a:noFill/>
          <a:ln w="28575">
            <a:solidFill>
              <a:srgbClr val="FF33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1946" name="Text Box 42"/>
          <p:cNvSpPr txBox="1">
            <a:spLocks noChangeArrowheads="1"/>
          </p:cNvSpPr>
          <p:nvPr/>
        </p:nvSpPr>
        <p:spPr bwMode="auto">
          <a:xfrm>
            <a:off x="6599038" y="3317979"/>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a:latin typeface="微软雅黑 Light" panose="020B0502040204020203" pitchFamily="34" charset="-122"/>
                <a:ea typeface="微软雅黑 Light" panose="020B0502040204020203" pitchFamily="34" charset="-122"/>
              </a:rPr>
              <a:t>传输层</a:t>
            </a:r>
          </a:p>
        </p:txBody>
      </p:sp>
      <p:sp>
        <p:nvSpPr>
          <p:cNvPr id="251947" name="Text Box 43"/>
          <p:cNvSpPr txBox="1">
            <a:spLocks noChangeArrowheads="1"/>
          </p:cNvSpPr>
          <p:nvPr/>
        </p:nvSpPr>
        <p:spPr bwMode="auto">
          <a:xfrm>
            <a:off x="6599038" y="4830866"/>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a:latin typeface="微软雅黑 Light" panose="020B0502040204020203" pitchFamily="34" charset="-122"/>
                <a:ea typeface="微软雅黑 Light" panose="020B0502040204020203" pitchFamily="34" charset="-122"/>
              </a:rPr>
              <a:t>网络层</a:t>
            </a:r>
          </a:p>
        </p:txBody>
      </p:sp>
      <p:sp>
        <p:nvSpPr>
          <p:cNvPr id="251948" name="Text Box 44"/>
          <p:cNvSpPr txBox="1">
            <a:spLocks noChangeArrowheads="1"/>
          </p:cNvSpPr>
          <p:nvPr/>
        </p:nvSpPr>
        <p:spPr bwMode="auto">
          <a:xfrm>
            <a:off x="7765852" y="4057327"/>
            <a:ext cx="788987" cy="307777"/>
          </a:xfrm>
          <a:prstGeom prst="rect">
            <a:avLst/>
          </a:prstGeom>
          <a:solidFill>
            <a:schemeClr val="bg2">
              <a:lumMod val="75000"/>
            </a:schemeClr>
          </a:solidFill>
          <a:ln w="9525" algn="ctr">
            <a:noFill/>
            <a:miter lim="800000"/>
          </a:ln>
          <a:effectLst/>
        </p:spPr>
        <p:txBody>
          <a:bodyPr wrap="square">
            <a:spAutoFit/>
          </a:bodyPr>
          <a:lstStyle/>
          <a:p>
            <a:pPr algn="ctr">
              <a:spcBef>
                <a:spcPct val="50000"/>
              </a:spcBef>
            </a:pPr>
            <a:r>
              <a:rPr lang="en-US" altLang="zh-CN" sz="1400" dirty="0">
                <a:solidFill>
                  <a:schemeClr val="bg1"/>
                </a:solidFill>
                <a:latin typeface="微软雅黑 Light" panose="020B0502040204020203" pitchFamily="34" charset="-122"/>
                <a:ea typeface="微软雅黑 Light" panose="020B0502040204020203" pitchFamily="34" charset="-122"/>
              </a:rPr>
              <a:t>NSAP2</a:t>
            </a:r>
          </a:p>
        </p:txBody>
      </p:sp>
      <p:sp>
        <p:nvSpPr>
          <p:cNvPr id="251949" name="Line 45"/>
          <p:cNvSpPr>
            <a:spLocks noChangeShapeType="1"/>
          </p:cNvSpPr>
          <p:nvPr/>
        </p:nvSpPr>
        <p:spPr bwMode="auto">
          <a:xfrm flipH="1" flipV="1">
            <a:off x="8124625" y="3283053"/>
            <a:ext cx="11113" cy="771846"/>
          </a:xfrm>
          <a:prstGeom prst="line">
            <a:avLst/>
          </a:prstGeom>
          <a:noFill/>
          <a:ln w="28575">
            <a:solidFill>
              <a:srgbClr val="FF33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1950" name="Line 46"/>
          <p:cNvSpPr>
            <a:spLocks noChangeShapeType="1"/>
          </p:cNvSpPr>
          <p:nvPr/>
        </p:nvSpPr>
        <p:spPr bwMode="auto">
          <a:xfrm flipV="1">
            <a:off x="7270551" y="3283053"/>
            <a:ext cx="709613" cy="771846"/>
          </a:xfrm>
          <a:prstGeom prst="line">
            <a:avLst/>
          </a:prstGeom>
          <a:noFill/>
          <a:ln w="28575">
            <a:solidFill>
              <a:srgbClr val="FF33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1951" name="Line 47"/>
          <p:cNvSpPr>
            <a:spLocks noChangeShapeType="1"/>
          </p:cNvSpPr>
          <p:nvPr/>
        </p:nvSpPr>
        <p:spPr bwMode="auto">
          <a:xfrm flipH="1" flipV="1">
            <a:off x="8267501" y="3283052"/>
            <a:ext cx="777867" cy="771841"/>
          </a:xfrm>
          <a:prstGeom prst="line">
            <a:avLst/>
          </a:prstGeom>
          <a:noFill/>
          <a:ln w="28575">
            <a:solidFill>
              <a:srgbClr val="FF33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1953" name="Text Box 49"/>
          <p:cNvSpPr txBox="1">
            <a:spLocks noChangeArrowheads="1"/>
          </p:cNvSpPr>
          <p:nvPr/>
        </p:nvSpPr>
        <p:spPr bwMode="auto">
          <a:xfrm>
            <a:off x="3447851" y="5442054"/>
            <a:ext cx="1200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a:latin typeface="微软雅黑 Light" panose="020B0502040204020203" pitchFamily="34" charset="-122"/>
                <a:ea typeface="微软雅黑 Light" panose="020B0502040204020203" pitchFamily="34" charset="-122"/>
              </a:rPr>
              <a:t>向上复用</a:t>
            </a:r>
          </a:p>
        </p:txBody>
      </p:sp>
      <p:sp>
        <p:nvSpPr>
          <p:cNvPr id="251954" name="Text Box 50"/>
          <p:cNvSpPr txBox="1">
            <a:spLocks noChangeArrowheads="1"/>
          </p:cNvSpPr>
          <p:nvPr/>
        </p:nvSpPr>
        <p:spPr bwMode="auto">
          <a:xfrm>
            <a:off x="7535663" y="5442054"/>
            <a:ext cx="1200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a:latin typeface="微软雅黑 Light" panose="020B0502040204020203" pitchFamily="34" charset="-122"/>
                <a:ea typeface="微软雅黑 Light" panose="020B0502040204020203" pitchFamily="34" charset="-122"/>
              </a:rPr>
              <a:t>向下复用</a:t>
            </a:r>
          </a:p>
        </p:txBody>
      </p:sp>
      <p:sp>
        <p:nvSpPr>
          <p:cNvPr id="251955" name="Text Box 51"/>
          <p:cNvSpPr txBox="1">
            <a:spLocks noChangeArrowheads="1"/>
          </p:cNvSpPr>
          <p:nvPr/>
        </p:nvSpPr>
        <p:spPr bwMode="auto">
          <a:xfrm>
            <a:off x="6960988" y="4057327"/>
            <a:ext cx="719138" cy="307777"/>
          </a:xfrm>
          <a:prstGeom prst="rect">
            <a:avLst/>
          </a:prstGeom>
          <a:solidFill>
            <a:schemeClr val="bg2">
              <a:lumMod val="50000"/>
            </a:schemeClr>
          </a:solidFill>
          <a:ln w="9525" algn="ctr">
            <a:noFill/>
            <a:miter lim="800000"/>
          </a:ln>
          <a:effectLst/>
        </p:spPr>
        <p:txBody>
          <a:bodyPr>
            <a:spAutoFit/>
          </a:bodyPr>
          <a:lstStyle/>
          <a:p>
            <a:pPr algn="ctr">
              <a:spcBef>
                <a:spcPct val="50000"/>
              </a:spcBef>
            </a:pPr>
            <a:r>
              <a:rPr lang="en-US" altLang="zh-CN" sz="1400" dirty="0">
                <a:solidFill>
                  <a:schemeClr val="bg1"/>
                </a:solidFill>
                <a:latin typeface="微软雅黑 Light" panose="020B0502040204020203" pitchFamily="34" charset="-122"/>
                <a:ea typeface="微软雅黑 Light" panose="020B0502040204020203" pitchFamily="34" charset="-122"/>
              </a:rPr>
              <a:t>NSAP1</a:t>
            </a:r>
          </a:p>
        </p:txBody>
      </p:sp>
      <p:sp>
        <p:nvSpPr>
          <p:cNvPr id="251956" name="Text Box 52"/>
          <p:cNvSpPr txBox="1">
            <a:spLocks noChangeArrowheads="1"/>
          </p:cNvSpPr>
          <p:nvPr/>
        </p:nvSpPr>
        <p:spPr bwMode="auto">
          <a:xfrm>
            <a:off x="8616752" y="4057327"/>
            <a:ext cx="788983" cy="307777"/>
          </a:xfrm>
          <a:prstGeom prst="rect">
            <a:avLst/>
          </a:prstGeom>
          <a:solidFill>
            <a:schemeClr val="bg2">
              <a:lumMod val="90000"/>
            </a:schemeClr>
          </a:solidFill>
          <a:ln w="9525" algn="ctr">
            <a:noFill/>
            <a:miter lim="800000"/>
          </a:ln>
          <a:effectLst/>
        </p:spPr>
        <p:txBody>
          <a:bodyPr wrap="square">
            <a:spAutoFit/>
          </a:bodyPr>
          <a:lstStyle/>
          <a:p>
            <a:pPr algn="ctr">
              <a:spcBef>
                <a:spcPct val="50000"/>
              </a:spcBef>
            </a:pPr>
            <a:r>
              <a:rPr lang="en-US" altLang="zh-CN" sz="1400" dirty="0">
                <a:latin typeface="微软雅黑 Light" panose="020B0502040204020203" pitchFamily="34" charset="-122"/>
                <a:ea typeface="微软雅黑 Light" panose="020B0502040204020203" pitchFamily="34" charset="-122"/>
              </a:rPr>
              <a:t>NSAP3</a:t>
            </a:r>
          </a:p>
        </p:txBody>
      </p:sp>
      <p:grpSp>
        <p:nvGrpSpPr>
          <p:cNvPr id="251961" name="Group 57"/>
          <p:cNvGrpSpPr/>
          <p:nvPr/>
        </p:nvGrpSpPr>
        <p:grpSpPr bwMode="auto">
          <a:xfrm>
            <a:off x="7270551" y="4475266"/>
            <a:ext cx="1657350" cy="358775"/>
            <a:chOff x="3560" y="3046"/>
            <a:chExt cx="1044" cy="293"/>
          </a:xfrm>
        </p:grpSpPr>
        <p:sp>
          <p:nvSpPr>
            <p:cNvPr id="251958" name="Line 54"/>
            <p:cNvSpPr>
              <a:spLocks noChangeShapeType="1"/>
            </p:cNvSpPr>
            <p:nvPr/>
          </p:nvSpPr>
          <p:spPr bwMode="auto">
            <a:xfrm>
              <a:off x="3560" y="3046"/>
              <a:ext cx="0" cy="293"/>
            </a:xfrm>
            <a:prstGeom prst="line">
              <a:avLst/>
            </a:prstGeom>
            <a:noFill/>
            <a:ln w="28575">
              <a:solidFill>
                <a:srgbClr val="FF33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1959" name="Line 55"/>
            <p:cNvSpPr>
              <a:spLocks noChangeShapeType="1"/>
            </p:cNvSpPr>
            <p:nvPr/>
          </p:nvSpPr>
          <p:spPr bwMode="auto">
            <a:xfrm>
              <a:off x="4105" y="3046"/>
              <a:ext cx="0" cy="293"/>
            </a:xfrm>
            <a:prstGeom prst="line">
              <a:avLst/>
            </a:prstGeom>
            <a:noFill/>
            <a:ln w="28575">
              <a:solidFill>
                <a:srgbClr val="FF33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1960" name="Line 56"/>
            <p:cNvSpPr>
              <a:spLocks noChangeShapeType="1"/>
            </p:cNvSpPr>
            <p:nvPr/>
          </p:nvSpPr>
          <p:spPr bwMode="auto">
            <a:xfrm>
              <a:off x="4604" y="3046"/>
              <a:ext cx="0" cy="293"/>
            </a:xfrm>
            <a:prstGeom prst="line">
              <a:avLst/>
            </a:prstGeom>
            <a:noFill/>
            <a:ln w="28575">
              <a:solidFill>
                <a:srgbClr val="FF33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grpSp>
      <p:sp>
        <p:nvSpPr>
          <p:cNvPr id="44" name="Text Box 13"/>
          <p:cNvSpPr txBox="1">
            <a:spLocks noChangeArrowheads="1"/>
          </p:cNvSpPr>
          <p:nvPr/>
        </p:nvSpPr>
        <p:spPr bwMode="auto">
          <a:xfrm>
            <a:off x="2921595" y="2705203"/>
            <a:ext cx="431800" cy="528637"/>
          </a:xfrm>
          <a:prstGeom prst="rect">
            <a:avLst/>
          </a:prstGeom>
          <a:solidFill>
            <a:schemeClr val="bg2">
              <a:lumMod val="50000"/>
            </a:schemeClr>
          </a:solidFill>
          <a:ln w="9525" algn="ctr">
            <a:noFill/>
            <a:miter lim="800000"/>
          </a:ln>
          <a:effectLst/>
        </p:spPr>
        <p:txBody>
          <a:bodyPr>
            <a:spAutoFit/>
          </a:bodyPr>
          <a:lstStyle/>
          <a:p>
            <a:pPr algn="ctr">
              <a:spcBef>
                <a:spcPct val="50000"/>
              </a:spcBef>
            </a:pPr>
            <a:r>
              <a:rPr lang="en-US" altLang="zh-CN" sz="2800" dirty="0">
                <a:solidFill>
                  <a:schemeClr val="bg1"/>
                </a:solidFill>
                <a:latin typeface="微软雅黑 Light" panose="020B0502040204020203" pitchFamily="34" charset="-122"/>
                <a:ea typeface="微软雅黑 Light" panose="020B0502040204020203" pitchFamily="34" charset="-122"/>
              </a:rPr>
              <a:t>1</a:t>
            </a:r>
          </a:p>
        </p:txBody>
      </p:sp>
      <p:sp>
        <p:nvSpPr>
          <p:cNvPr id="45" name="Text Box 14"/>
          <p:cNvSpPr txBox="1">
            <a:spLocks noChangeArrowheads="1"/>
          </p:cNvSpPr>
          <p:nvPr/>
        </p:nvSpPr>
        <p:spPr bwMode="auto">
          <a:xfrm>
            <a:off x="3857425" y="2717110"/>
            <a:ext cx="431800" cy="528637"/>
          </a:xfrm>
          <a:prstGeom prst="rect">
            <a:avLst/>
          </a:prstGeom>
          <a:solidFill>
            <a:schemeClr val="bg2">
              <a:lumMod val="75000"/>
            </a:schemeClr>
          </a:solidFill>
          <a:ln w="9525" algn="ctr">
            <a:noFill/>
            <a:miter lim="800000"/>
          </a:ln>
          <a:effectLst/>
        </p:spPr>
        <p:txBody>
          <a:bodyPr>
            <a:spAutoFit/>
          </a:bodyPr>
          <a:lstStyle/>
          <a:p>
            <a:pPr algn="ctr">
              <a:spcBef>
                <a:spcPct val="50000"/>
              </a:spcBef>
            </a:pPr>
            <a:r>
              <a:rPr lang="en-US" altLang="zh-CN" sz="2800" dirty="0">
                <a:solidFill>
                  <a:schemeClr val="bg1"/>
                </a:solidFill>
                <a:latin typeface="微软雅黑 Light" panose="020B0502040204020203" pitchFamily="34" charset="-122"/>
                <a:ea typeface="微软雅黑 Light" panose="020B0502040204020203" pitchFamily="34" charset="-122"/>
              </a:rPr>
              <a:t>2</a:t>
            </a:r>
          </a:p>
        </p:txBody>
      </p:sp>
      <p:sp>
        <p:nvSpPr>
          <p:cNvPr id="47" name="Text Box 15"/>
          <p:cNvSpPr txBox="1">
            <a:spLocks noChangeArrowheads="1"/>
          </p:cNvSpPr>
          <p:nvPr/>
        </p:nvSpPr>
        <p:spPr bwMode="auto">
          <a:xfrm>
            <a:off x="4785437" y="2717110"/>
            <a:ext cx="431800" cy="528637"/>
          </a:xfrm>
          <a:prstGeom prst="rect">
            <a:avLst/>
          </a:prstGeom>
          <a:solidFill>
            <a:schemeClr val="bg2">
              <a:lumMod val="90000"/>
            </a:schemeClr>
          </a:solidFill>
          <a:ln w="9525" algn="ctr">
            <a:noFill/>
            <a:miter lim="800000"/>
          </a:ln>
          <a:effectLst/>
        </p:spPr>
        <p:txBody>
          <a:bodyPr>
            <a:spAutoFit/>
          </a:bodyPr>
          <a:lstStyle/>
          <a:p>
            <a:pPr algn="ctr">
              <a:spcBef>
                <a:spcPct val="50000"/>
              </a:spcBef>
            </a:pPr>
            <a:r>
              <a:rPr lang="en-US" altLang="zh-CN" sz="2800" dirty="0">
                <a:solidFill>
                  <a:schemeClr val="bg1"/>
                </a:solidFill>
                <a:latin typeface="微软雅黑 Light" panose="020B0502040204020203" pitchFamily="34" charset="-122"/>
                <a:ea typeface="微软雅黑 Light" panose="020B0502040204020203" pitchFamily="34" charset="-122"/>
              </a:rPr>
              <a:t>3</a:t>
            </a:r>
          </a:p>
        </p:txBody>
      </p:sp>
      <p:sp>
        <p:nvSpPr>
          <p:cNvPr id="48" name="Text Box 36"/>
          <p:cNvSpPr txBox="1">
            <a:spLocks noChangeArrowheads="1"/>
          </p:cNvSpPr>
          <p:nvPr/>
        </p:nvSpPr>
        <p:spPr bwMode="auto">
          <a:xfrm>
            <a:off x="7894438" y="2712239"/>
            <a:ext cx="431800" cy="528637"/>
          </a:xfrm>
          <a:prstGeom prst="rect">
            <a:avLst/>
          </a:prstGeom>
          <a:solidFill>
            <a:schemeClr val="bg2">
              <a:lumMod val="50000"/>
            </a:schemeClr>
          </a:solidFill>
          <a:ln w="9525" algn="ctr">
            <a:noFill/>
            <a:miter lim="800000"/>
          </a:ln>
          <a:effectLst/>
        </p:spPr>
        <p:txBody>
          <a:bodyPr>
            <a:spAutoFit/>
          </a:bodyPr>
          <a:lstStyle/>
          <a:p>
            <a:pPr algn="ctr">
              <a:spcBef>
                <a:spcPct val="50000"/>
              </a:spcBef>
            </a:pPr>
            <a:r>
              <a:rPr lang="en-US" altLang="zh-CN" sz="2800" dirty="0">
                <a:solidFill>
                  <a:schemeClr val="bg1"/>
                </a:solidFill>
                <a:latin typeface="微软雅黑 Light" panose="020B0502040204020203" pitchFamily="34" charset="-122"/>
                <a:ea typeface="微软雅黑 Light" panose="020B0502040204020203" pitchFamily="34" charset="-122"/>
              </a:rPr>
              <a:t>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1E324C09-90E8-45AA-A19E-5122EA446073}" type="slidenum">
              <a:rPr lang="en-US" altLang="zh-CN"/>
              <a:t>10</a:t>
            </a:fld>
            <a:endParaRPr lang="en-US" altLang="zh-CN"/>
          </a:p>
        </p:txBody>
      </p:sp>
      <p:sp>
        <p:nvSpPr>
          <p:cNvPr id="252930" name="Rectangle 2"/>
          <p:cNvSpPr>
            <a:spLocks noGrp="1" noChangeArrowheads="1"/>
          </p:cNvSpPr>
          <p:nvPr>
            <p:ph type="title"/>
          </p:nvPr>
        </p:nvSpPr>
        <p:spPr/>
        <p:txBody>
          <a:bodyPr/>
          <a:lstStyle/>
          <a:p>
            <a:r>
              <a:rPr lang="zh-CN" altLang="en-US" dirty="0"/>
              <a:t>可靠传输</a:t>
            </a:r>
          </a:p>
        </p:txBody>
      </p:sp>
      <p:sp>
        <p:nvSpPr>
          <p:cNvPr id="252931" name="Rectangle 3"/>
          <p:cNvSpPr>
            <a:spLocks noGrp="1" noChangeArrowheads="1"/>
          </p:cNvSpPr>
          <p:nvPr>
            <p:ph type="body" idx="1"/>
          </p:nvPr>
        </p:nvSpPr>
        <p:spPr/>
        <p:txBody>
          <a:bodyPr/>
          <a:lstStyle/>
          <a:p>
            <a:pPr indent="-342265" latinLnBrk="0">
              <a:lnSpc>
                <a:spcPct val="120000"/>
              </a:lnSpc>
              <a:spcBef>
                <a:spcPts val="0"/>
              </a:spcBef>
            </a:pPr>
            <a:r>
              <a:rPr lang="zh-CN" altLang="en-US" dirty="0">
                <a:latin typeface="+mn-lt"/>
              </a:rPr>
              <a:t>可靠传输包括以下</a:t>
            </a:r>
            <a:r>
              <a:rPr lang="en-US" altLang="zh-CN" dirty="0">
                <a:latin typeface="+mn-lt"/>
              </a:rPr>
              <a:t>4</a:t>
            </a:r>
            <a:r>
              <a:rPr lang="zh-CN" altLang="en-US" dirty="0">
                <a:latin typeface="+mn-lt"/>
              </a:rPr>
              <a:t>个方面：</a:t>
            </a:r>
          </a:p>
          <a:p>
            <a:pPr lvl="1" indent="-342265" latinLnBrk="0">
              <a:lnSpc>
                <a:spcPct val="120000"/>
              </a:lnSpc>
              <a:spcBef>
                <a:spcPts val="0"/>
              </a:spcBef>
            </a:pPr>
            <a:r>
              <a:rPr lang="zh-CN" altLang="en-US" dirty="0">
                <a:latin typeface="+mn-lt"/>
              </a:rPr>
              <a:t>差错控制：保证可靠性</a:t>
            </a:r>
          </a:p>
          <a:p>
            <a:pPr lvl="1" indent="-342265" latinLnBrk="0">
              <a:lnSpc>
                <a:spcPct val="120000"/>
              </a:lnSpc>
              <a:spcBef>
                <a:spcPts val="0"/>
              </a:spcBef>
            </a:pPr>
            <a:r>
              <a:rPr lang="zh-CN" altLang="en-US" dirty="0">
                <a:latin typeface="+mn-lt"/>
              </a:rPr>
              <a:t>次序控制：分段和拼接 、次序编号</a:t>
            </a:r>
          </a:p>
          <a:p>
            <a:pPr lvl="1" indent="-342265" latinLnBrk="0">
              <a:lnSpc>
                <a:spcPct val="120000"/>
              </a:lnSpc>
              <a:spcBef>
                <a:spcPts val="0"/>
              </a:spcBef>
            </a:pPr>
            <a:r>
              <a:rPr lang="zh-CN" altLang="en-US" dirty="0">
                <a:latin typeface="+mn-lt"/>
              </a:rPr>
              <a:t>丢失控制：丢失重传 </a:t>
            </a:r>
          </a:p>
          <a:p>
            <a:pPr lvl="1" indent="-342265" latinLnBrk="0">
              <a:lnSpc>
                <a:spcPct val="120000"/>
              </a:lnSpc>
              <a:spcBef>
                <a:spcPts val="0"/>
              </a:spcBef>
            </a:pPr>
            <a:r>
              <a:rPr lang="zh-CN" altLang="en-US" dirty="0">
                <a:latin typeface="+mn-lt"/>
              </a:rPr>
              <a:t>重复控制：通过序列编号完成</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灯片编号占位符 5"/>
          <p:cNvSpPr>
            <a:spLocks noGrp="1"/>
          </p:cNvSpPr>
          <p:nvPr>
            <p:ph type="sldNum" sz="quarter" idx="12"/>
          </p:nvPr>
        </p:nvSpPr>
        <p:spPr/>
        <p:txBody>
          <a:bodyPr/>
          <a:lstStyle/>
          <a:p>
            <a:fld id="{06AE1E55-4477-4722-8DC6-43FA0589B596}" type="slidenum">
              <a:rPr lang="en-US" altLang="zh-CN"/>
              <a:t>11</a:t>
            </a:fld>
            <a:endParaRPr lang="en-US" altLang="zh-CN"/>
          </a:p>
        </p:txBody>
      </p:sp>
      <p:sp>
        <p:nvSpPr>
          <p:cNvPr id="253954" name="Rectangle 2"/>
          <p:cNvSpPr>
            <a:spLocks noGrp="1" noChangeArrowheads="1"/>
          </p:cNvSpPr>
          <p:nvPr>
            <p:ph type="title"/>
          </p:nvPr>
        </p:nvSpPr>
        <p:spPr/>
        <p:txBody>
          <a:bodyPr/>
          <a:lstStyle/>
          <a:p>
            <a:r>
              <a:rPr lang="zh-CN" altLang="en-US"/>
              <a:t>差错控制</a:t>
            </a:r>
          </a:p>
        </p:txBody>
      </p:sp>
      <p:sp>
        <p:nvSpPr>
          <p:cNvPr id="253961" name="Line 9"/>
          <p:cNvSpPr>
            <a:spLocks noChangeShapeType="1"/>
          </p:cNvSpPr>
          <p:nvPr/>
        </p:nvSpPr>
        <p:spPr bwMode="auto">
          <a:xfrm>
            <a:off x="2855913" y="3429000"/>
            <a:ext cx="0" cy="2305050"/>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3962" name="Line 10"/>
          <p:cNvSpPr>
            <a:spLocks noChangeShapeType="1"/>
          </p:cNvSpPr>
          <p:nvPr/>
        </p:nvSpPr>
        <p:spPr bwMode="auto">
          <a:xfrm>
            <a:off x="9625013" y="3429000"/>
            <a:ext cx="0" cy="2305050"/>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grpSp>
        <p:nvGrpSpPr>
          <p:cNvPr id="253965" name="Group 13"/>
          <p:cNvGrpSpPr/>
          <p:nvPr/>
        </p:nvGrpSpPr>
        <p:grpSpPr bwMode="auto">
          <a:xfrm>
            <a:off x="4656139" y="2493963"/>
            <a:ext cx="719137" cy="1655762"/>
            <a:chOff x="1973" y="1752"/>
            <a:chExt cx="453" cy="1452"/>
          </a:xfrm>
        </p:grpSpPr>
        <p:sp>
          <p:nvSpPr>
            <p:cNvPr id="253963" name="Line 11"/>
            <p:cNvSpPr>
              <a:spLocks noChangeShapeType="1"/>
            </p:cNvSpPr>
            <p:nvPr/>
          </p:nvSpPr>
          <p:spPr bwMode="auto">
            <a:xfrm>
              <a:off x="1973" y="1752"/>
              <a:ext cx="0" cy="1452"/>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3964" name="Line 12"/>
            <p:cNvSpPr>
              <a:spLocks noChangeShapeType="1"/>
            </p:cNvSpPr>
            <p:nvPr/>
          </p:nvSpPr>
          <p:spPr bwMode="auto">
            <a:xfrm>
              <a:off x="2426" y="1752"/>
              <a:ext cx="0" cy="1452"/>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grpSp>
      <p:grpSp>
        <p:nvGrpSpPr>
          <p:cNvPr id="253966" name="Group 14"/>
          <p:cNvGrpSpPr/>
          <p:nvPr/>
        </p:nvGrpSpPr>
        <p:grpSpPr bwMode="auto">
          <a:xfrm>
            <a:off x="7104064" y="2565401"/>
            <a:ext cx="719137" cy="1655763"/>
            <a:chOff x="1973" y="1752"/>
            <a:chExt cx="453" cy="1452"/>
          </a:xfrm>
        </p:grpSpPr>
        <p:sp>
          <p:nvSpPr>
            <p:cNvPr id="253967" name="Line 15"/>
            <p:cNvSpPr>
              <a:spLocks noChangeShapeType="1"/>
            </p:cNvSpPr>
            <p:nvPr/>
          </p:nvSpPr>
          <p:spPr bwMode="auto">
            <a:xfrm>
              <a:off x="1973" y="1752"/>
              <a:ext cx="0" cy="1452"/>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3968" name="Line 16"/>
            <p:cNvSpPr>
              <a:spLocks noChangeShapeType="1"/>
            </p:cNvSpPr>
            <p:nvPr/>
          </p:nvSpPr>
          <p:spPr bwMode="auto">
            <a:xfrm>
              <a:off x="2426" y="1752"/>
              <a:ext cx="0" cy="1452"/>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grpSp>
      <p:sp>
        <p:nvSpPr>
          <p:cNvPr id="253969" name="Line 17"/>
          <p:cNvSpPr>
            <a:spLocks noChangeShapeType="1"/>
          </p:cNvSpPr>
          <p:nvPr/>
        </p:nvSpPr>
        <p:spPr bwMode="auto">
          <a:xfrm>
            <a:off x="2855914" y="3717925"/>
            <a:ext cx="1800225" cy="0"/>
          </a:xfrm>
          <a:prstGeom prst="line">
            <a:avLst/>
          </a:prstGeom>
          <a:noFill/>
          <a:ln w="1905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3970" name="Line 18"/>
          <p:cNvSpPr>
            <a:spLocks noChangeShapeType="1"/>
          </p:cNvSpPr>
          <p:nvPr/>
        </p:nvSpPr>
        <p:spPr bwMode="auto">
          <a:xfrm>
            <a:off x="7824789" y="3717925"/>
            <a:ext cx="1800225" cy="0"/>
          </a:xfrm>
          <a:prstGeom prst="line">
            <a:avLst/>
          </a:prstGeom>
          <a:noFill/>
          <a:ln w="1905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3971" name="Line 19"/>
          <p:cNvSpPr>
            <a:spLocks noChangeShapeType="1"/>
          </p:cNvSpPr>
          <p:nvPr/>
        </p:nvSpPr>
        <p:spPr bwMode="auto">
          <a:xfrm>
            <a:off x="5375275" y="3717925"/>
            <a:ext cx="1728788" cy="0"/>
          </a:xfrm>
          <a:prstGeom prst="line">
            <a:avLst/>
          </a:prstGeom>
          <a:noFill/>
          <a:ln w="1905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3972" name="Line 20"/>
          <p:cNvSpPr>
            <a:spLocks noChangeShapeType="1"/>
          </p:cNvSpPr>
          <p:nvPr/>
        </p:nvSpPr>
        <p:spPr bwMode="auto">
          <a:xfrm>
            <a:off x="2855913" y="5229225"/>
            <a:ext cx="6769100" cy="0"/>
          </a:xfrm>
          <a:prstGeom prst="line">
            <a:avLst/>
          </a:prstGeom>
          <a:noFill/>
          <a:ln w="1905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3973" name="Line 21"/>
          <p:cNvSpPr>
            <a:spLocks noChangeShapeType="1"/>
          </p:cNvSpPr>
          <p:nvPr/>
        </p:nvSpPr>
        <p:spPr bwMode="auto">
          <a:xfrm>
            <a:off x="4656139" y="2709863"/>
            <a:ext cx="719137" cy="0"/>
          </a:xfrm>
          <a:prstGeom prst="line">
            <a:avLst/>
          </a:prstGeom>
          <a:noFill/>
          <a:ln w="1905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3974" name="Line 22"/>
          <p:cNvSpPr>
            <a:spLocks noChangeShapeType="1"/>
          </p:cNvSpPr>
          <p:nvPr/>
        </p:nvSpPr>
        <p:spPr bwMode="auto">
          <a:xfrm>
            <a:off x="7104064" y="2709863"/>
            <a:ext cx="719137" cy="0"/>
          </a:xfrm>
          <a:prstGeom prst="line">
            <a:avLst/>
          </a:prstGeom>
          <a:noFill/>
          <a:ln w="1905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3976" name="AutoShape 24"/>
          <p:cNvSpPr>
            <a:spLocks noChangeArrowheads="1"/>
          </p:cNvSpPr>
          <p:nvPr/>
        </p:nvSpPr>
        <p:spPr bwMode="auto">
          <a:xfrm>
            <a:off x="5303839" y="1341438"/>
            <a:ext cx="1800225" cy="647700"/>
          </a:xfrm>
          <a:prstGeom prst="roundRect">
            <a:avLst>
              <a:gd name="adj" fmla="val 16667"/>
            </a:avLst>
          </a:prstGeom>
          <a:solidFill>
            <a:schemeClr val="bg2">
              <a:lumMod val="90000"/>
            </a:schemeClr>
          </a:solidFill>
          <a:ln>
            <a:noFill/>
          </a:ln>
          <a:effectLst/>
        </p:spPr>
        <p:txBody>
          <a:bodyPr wrap="none" anchor="ctr"/>
          <a:lstStyle/>
          <a:p>
            <a:pPr algn="ctr"/>
            <a:r>
              <a:rPr lang="zh-CN" altLang="en-US" sz="1800" dirty="0">
                <a:latin typeface="微软雅黑 Light" panose="020B0502040204020203" pitchFamily="34" charset="-122"/>
                <a:ea typeface="微软雅黑 Light" panose="020B0502040204020203" pitchFamily="34" charset="-122"/>
              </a:rPr>
              <a:t>不被数据链路层</a:t>
            </a:r>
          </a:p>
          <a:p>
            <a:pPr algn="ctr"/>
            <a:r>
              <a:rPr lang="zh-CN" altLang="en-US" sz="1800" dirty="0">
                <a:latin typeface="微软雅黑 Light" panose="020B0502040204020203" pitchFamily="34" charset="-122"/>
                <a:ea typeface="微软雅黑 Light" panose="020B0502040204020203" pitchFamily="34" charset="-122"/>
              </a:rPr>
              <a:t>所检查的差错</a:t>
            </a:r>
          </a:p>
        </p:txBody>
      </p:sp>
      <p:sp>
        <p:nvSpPr>
          <p:cNvPr id="253977" name="Rectangle 25"/>
          <p:cNvSpPr>
            <a:spLocks noChangeArrowheads="1"/>
          </p:cNvSpPr>
          <p:nvPr/>
        </p:nvSpPr>
        <p:spPr bwMode="auto">
          <a:xfrm>
            <a:off x="2927351" y="3789363"/>
            <a:ext cx="1655763"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sz="1800" dirty="0">
                <a:latin typeface="微软雅黑 Light" panose="020B0502040204020203" pitchFamily="34" charset="-122"/>
                <a:ea typeface="微软雅黑 Light" panose="020B0502040204020203" pitchFamily="34" charset="-122"/>
              </a:rPr>
              <a:t>被数据链路层</a:t>
            </a:r>
          </a:p>
          <a:p>
            <a:pPr algn="ctr"/>
            <a:r>
              <a:rPr lang="zh-CN" altLang="en-US" sz="1800" dirty="0">
                <a:latin typeface="微软雅黑 Light" panose="020B0502040204020203" pitchFamily="34" charset="-122"/>
                <a:ea typeface="微软雅黑 Light" panose="020B0502040204020203" pitchFamily="34" charset="-122"/>
              </a:rPr>
              <a:t>所检查的差错</a:t>
            </a:r>
          </a:p>
        </p:txBody>
      </p:sp>
      <p:sp>
        <p:nvSpPr>
          <p:cNvPr id="253980" name="Rectangle 28"/>
          <p:cNvSpPr>
            <a:spLocks noChangeArrowheads="1"/>
          </p:cNvSpPr>
          <p:nvPr/>
        </p:nvSpPr>
        <p:spPr bwMode="auto">
          <a:xfrm>
            <a:off x="5375276" y="3717925"/>
            <a:ext cx="1655763"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sz="1800">
                <a:latin typeface="微软雅黑 Light" panose="020B0502040204020203" pitchFamily="34" charset="-122"/>
                <a:ea typeface="微软雅黑 Light" panose="020B0502040204020203" pitchFamily="34" charset="-122"/>
              </a:rPr>
              <a:t>被数据链路层</a:t>
            </a:r>
          </a:p>
          <a:p>
            <a:pPr algn="ctr"/>
            <a:r>
              <a:rPr lang="zh-CN" altLang="en-US" sz="1800">
                <a:latin typeface="微软雅黑 Light" panose="020B0502040204020203" pitchFamily="34" charset="-122"/>
                <a:ea typeface="微软雅黑 Light" panose="020B0502040204020203" pitchFamily="34" charset="-122"/>
              </a:rPr>
              <a:t>所检查的差错</a:t>
            </a:r>
          </a:p>
        </p:txBody>
      </p:sp>
      <p:sp>
        <p:nvSpPr>
          <p:cNvPr id="253981" name="Rectangle 29"/>
          <p:cNvSpPr>
            <a:spLocks noChangeArrowheads="1"/>
          </p:cNvSpPr>
          <p:nvPr/>
        </p:nvSpPr>
        <p:spPr bwMode="auto">
          <a:xfrm>
            <a:off x="7967663" y="3717925"/>
            <a:ext cx="1655762"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sz="1800">
                <a:latin typeface="微软雅黑 Light" panose="020B0502040204020203" pitchFamily="34" charset="-122"/>
                <a:ea typeface="微软雅黑 Light" panose="020B0502040204020203" pitchFamily="34" charset="-122"/>
              </a:rPr>
              <a:t>被数据链路层</a:t>
            </a:r>
          </a:p>
          <a:p>
            <a:pPr algn="ctr"/>
            <a:r>
              <a:rPr lang="zh-CN" altLang="en-US" sz="1800">
                <a:latin typeface="微软雅黑 Light" panose="020B0502040204020203" pitchFamily="34" charset="-122"/>
                <a:ea typeface="微软雅黑 Light" panose="020B0502040204020203" pitchFamily="34" charset="-122"/>
              </a:rPr>
              <a:t>所检查的差错</a:t>
            </a:r>
          </a:p>
        </p:txBody>
      </p:sp>
      <p:sp>
        <p:nvSpPr>
          <p:cNvPr id="253982" name="Rectangle 30"/>
          <p:cNvSpPr>
            <a:spLocks noChangeArrowheads="1"/>
          </p:cNvSpPr>
          <p:nvPr/>
        </p:nvSpPr>
        <p:spPr bwMode="auto">
          <a:xfrm>
            <a:off x="4800600" y="4797426"/>
            <a:ext cx="3168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sz="1800">
                <a:latin typeface="微软雅黑 Light" panose="020B0502040204020203" pitchFamily="34" charset="-122"/>
                <a:ea typeface="微软雅黑 Light" panose="020B0502040204020203" pitchFamily="34" charset="-122"/>
              </a:rPr>
              <a:t>被传输层所检测的差错</a:t>
            </a:r>
          </a:p>
        </p:txBody>
      </p:sp>
      <p:sp>
        <p:nvSpPr>
          <p:cNvPr id="253983" name="Line 31"/>
          <p:cNvSpPr>
            <a:spLocks noChangeShapeType="1"/>
          </p:cNvSpPr>
          <p:nvPr/>
        </p:nvSpPr>
        <p:spPr bwMode="auto">
          <a:xfrm flipH="1">
            <a:off x="5016501" y="1989139"/>
            <a:ext cx="574675" cy="720725"/>
          </a:xfrm>
          <a:prstGeom prst="line">
            <a:avLst/>
          </a:prstGeom>
          <a:noFill/>
          <a:ln w="57150">
            <a:solidFill>
              <a:srgbClr val="FF33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3984" name="Line 32"/>
          <p:cNvSpPr>
            <a:spLocks noChangeShapeType="1"/>
          </p:cNvSpPr>
          <p:nvPr/>
        </p:nvSpPr>
        <p:spPr bwMode="auto">
          <a:xfrm>
            <a:off x="6886575" y="1989139"/>
            <a:ext cx="577850" cy="720725"/>
          </a:xfrm>
          <a:prstGeom prst="line">
            <a:avLst/>
          </a:prstGeom>
          <a:noFill/>
          <a:ln w="57150">
            <a:solidFill>
              <a:srgbClr val="FF33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pic>
        <p:nvPicPr>
          <p:cNvPr id="29" name="图形 28"/>
          <p:cNvPicPr>
            <a:picLocks noChangeAspect="1"/>
          </p:cNvPicPr>
          <p:nvPr/>
        </p:nvPicPr>
        <p:blipFill>
          <a:blip r:embed="rId2"/>
          <a:stretch>
            <a:fillRect/>
          </a:stretch>
        </p:blipFill>
        <p:spPr>
          <a:xfrm>
            <a:off x="2358335" y="2754576"/>
            <a:ext cx="786506" cy="622673"/>
          </a:xfrm>
          <a:prstGeom prst="rect">
            <a:avLst/>
          </a:prstGeom>
        </p:spPr>
      </p:pic>
      <p:pic>
        <p:nvPicPr>
          <p:cNvPr id="31" name="图形 30"/>
          <p:cNvPicPr>
            <a:picLocks noChangeAspect="1"/>
          </p:cNvPicPr>
          <p:nvPr/>
        </p:nvPicPr>
        <p:blipFill>
          <a:blip r:embed="rId2"/>
          <a:stretch>
            <a:fillRect/>
          </a:stretch>
        </p:blipFill>
        <p:spPr>
          <a:xfrm>
            <a:off x="9069705" y="2754576"/>
            <a:ext cx="786506" cy="622673"/>
          </a:xfrm>
          <a:prstGeom prst="rect">
            <a:avLst/>
          </a:prstGeom>
        </p:spPr>
      </p:pic>
      <p:pic>
        <p:nvPicPr>
          <p:cNvPr id="2" name="图片 1">
            <a:extLst>
              <a:ext uri="{FF2B5EF4-FFF2-40B4-BE49-F238E27FC236}">
                <a16:creationId xmlns:a16="http://schemas.microsoft.com/office/drawing/2014/main" id="{CC7B684B-FD2E-7EFA-6C07-4D96FE427161}"/>
              </a:ext>
            </a:extLst>
          </p:cNvPr>
          <p:cNvPicPr>
            <a:picLocks noChangeAspect="1"/>
          </p:cNvPicPr>
          <p:nvPr/>
        </p:nvPicPr>
        <p:blipFill>
          <a:blip r:embed="rId3"/>
          <a:stretch>
            <a:fillRect/>
          </a:stretch>
        </p:blipFill>
        <p:spPr>
          <a:xfrm>
            <a:off x="4729165" y="2767999"/>
            <a:ext cx="562473" cy="562473"/>
          </a:xfrm>
          <a:prstGeom prst="rect">
            <a:avLst/>
          </a:prstGeom>
        </p:spPr>
      </p:pic>
      <p:pic>
        <p:nvPicPr>
          <p:cNvPr id="3" name="图片 2">
            <a:extLst>
              <a:ext uri="{FF2B5EF4-FFF2-40B4-BE49-F238E27FC236}">
                <a16:creationId xmlns:a16="http://schemas.microsoft.com/office/drawing/2014/main" id="{D80AB08C-A00E-A6AA-2680-F227C5F3190A}"/>
              </a:ext>
            </a:extLst>
          </p:cNvPr>
          <p:cNvPicPr>
            <a:picLocks noChangeAspect="1"/>
          </p:cNvPicPr>
          <p:nvPr/>
        </p:nvPicPr>
        <p:blipFill>
          <a:blip r:embed="rId3"/>
          <a:stretch>
            <a:fillRect/>
          </a:stretch>
        </p:blipFill>
        <p:spPr>
          <a:xfrm>
            <a:off x="7182396" y="2774950"/>
            <a:ext cx="562473" cy="56247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灯片编号占位符 5"/>
          <p:cNvSpPr>
            <a:spLocks noGrp="1"/>
          </p:cNvSpPr>
          <p:nvPr>
            <p:ph type="sldNum" sz="quarter" idx="12"/>
          </p:nvPr>
        </p:nvSpPr>
        <p:spPr/>
        <p:txBody>
          <a:bodyPr/>
          <a:lstStyle/>
          <a:p>
            <a:fld id="{A4A0F1B3-E4E8-480A-97DC-954365151175}" type="slidenum">
              <a:rPr lang="en-US" altLang="zh-CN"/>
              <a:t>12</a:t>
            </a:fld>
            <a:endParaRPr lang="en-US" altLang="zh-CN"/>
          </a:p>
        </p:txBody>
      </p:sp>
      <p:sp>
        <p:nvSpPr>
          <p:cNvPr id="256002" name="Rectangle 2"/>
          <p:cNvSpPr>
            <a:spLocks noGrp="1" noChangeArrowheads="1"/>
          </p:cNvSpPr>
          <p:nvPr>
            <p:ph type="title"/>
          </p:nvPr>
        </p:nvSpPr>
        <p:spPr/>
        <p:txBody>
          <a:bodyPr/>
          <a:lstStyle/>
          <a:p>
            <a:r>
              <a:rPr lang="zh-CN" altLang="en-US"/>
              <a:t>次序控制</a:t>
            </a:r>
            <a:r>
              <a:rPr lang="en-US" altLang="zh-CN"/>
              <a:t>—</a:t>
            </a:r>
            <a:r>
              <a:rPr lang="zh-CN" altLang="en-US"/>
              <a:t>分段和组合</a:t>
            </a:r>
          </a:p>
        </p:txBody>
      </p:sp>
      <p:graphicFrame>
        <p:nvGraphicFramePr>
          <p:cNvPr id="256707" name="Group 707"/>
          <p:cNvGraphicFramePr>
            <a:graphicFrameLocks noGrp="1"/>
          </p:cNvGraphicFramePr>
          <p:nvPr/>
        </p:nvGraphicFramePr>
        <p:xfrm>
          <a:off x="1703389" y="2276475"/>
          <a:ext cx="1944687" cy="365760"/>
        </p:xfrm>
        <a:graphic>
          <a:graphicData uri="http://schemas.openxmlformats.org/drawingml/2006/table">
            <a:tbl>
              <a:tblPr/>
              <a:tblGrid>
                <a:gridCol w="1368425">
                  <a:extLst>
                    <a:ext uri="{9D8B030D-6E8A-4147-A177-3AD203B41FA5}">
                      <a16:colId xmlns:a16="http://schemas.microsoft.com/office/drawing/2014/main" val="20000"/>
                    </a:ext>
                  </a:extLst>
                </a:gridCol>
                <a:gridCol w="287337">
                  <a:extLst>
                    <a:ext uri="{9D8B030D-6E8A-4147-A177-3AD203B41FA5}">
                      <a16:colId xmlns:a16="http://schemas.microsoft.com/office/drawing/2014/main" val="20001"/>
                    </a:ext>
                  </a:extLst>
                </a:gridCol>
                <a:gridCol w="288925">
                  <a:extLst>
                    <a:ext uri="{9D8B030D-6E8A-4147-A177-3AD203B41FA5}">
                      <a16:colId xmlns:a16="http://schemas.microsoft.com/office/drawing/2014/main" val="20002"/>
                    </a:ext>
                  </a:extLst>
                </a:gridCol>
              </a:tblGrid>
              <a:tr h="215900">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1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数据</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j</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k</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56706" name="Group 706"/>
          <p:cNvGraphicFramePr>
            <a:graphicFrameLocks noGrp="1"/>
          </p:cNvGraphicFramePr>
          <p:nvPr/>
        </p:nvGraphicFramePr>
        <p:xfrm>
          <a:off x="1849438" y="3429000"/>
          <a:ext cx="2735262" cy="365760"/>
        </p:xfrm>
        <a:graphic>
          <a:graphicData uri="http://schemas.openxmlformats.org/drawingml/2006/table">
            <a:tbl>
              <a:tblPr/>
              <a:tblGrid>
                <a:gridCol w="719137">
                  <a:extLst>
                    <a:ext uri="{9D8B030D-6E8A-4147-A177-3AD203B41FA5}">
                      <a16:colId xmlns:a16="http://schemas.microsoft.com/office/drawing/2014/main" val="20000"/>
                    </a:ext>
                  </a:extLst>
                </a:gridCol>
                <a:gridCol w="865188">
                  <a:extLst>
                    <a:ext uri="{9D8B030D-6E8A-4147-A177-3AD203B41FA5}">
                      <a16:colId xmlns:a16="http://schemas.microsoft.com/office/drawing/2014/main" val="20001"/>
                    </a:ext>
                  </a:extLst>
                </a:gridCol>
                <a:gridCol w="287337">
                  <a:extLst>
                    <a:ext uri="{9D8B030D-6E8A-4147-A177-3AD203B41FA5}">
                      <a16:colId xmlns:a16="http://schemas.microsoft.com/office/drawing/2014/main" val="20002"/>
                    </a:ext>
                  </a:extLst>
                </a:gridCol>
                <a:gridCol w="287338">
                  <a:extLst>
                    <a:ext uri="{9D8B030D-6E8A-4147-A177-3AD203B41FA5}">
                      <a16:colId xmlns:a16="http://schemas.microsoft.com/office/drawing/2014/main" val="20003"/>
                    </a:ext>
                  </a:extLst>
                </a:gridCol>
                <a:gridCol w="287337">
                  <a:extLst>
                    <a:ext uri="{9D8B030D-6E8A-4147-A177-3AD203B41FA5}">
                      <a16:colId xmlns:a16="http://schemas.microsoft.com/office/drawing/2014/main" val="20004"/>
                    </a:ext>
                  </a:extLst>
                </a:gridCol>
                <a:gridCol w="288925">
                  <a:extLst>
                    <a:ext uri="{9D8B030D-6E8A-4147-A177-3AD203B41FA5}">
                      <a16:colId xmlns:a16="http://schemas.microsoft.com/office/drawing/2014/main" val="20005"/>
                    </a:ext>
                  </a:extLst>
                </a:gridCol>
              </a:tblGrid>
              <a:tr h="215900">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分段</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1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序号</a:t>
                      </a:r>
                      <a:r>
                        <a:rPr kumimoji="0" lang="en-US" altLang="zh-CN" sz="1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j</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k</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P</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56705" name="Group 705"/>
          <p:cNvGraphicFramePr>
            <a:graphicFrameLocks noGrp="1"/>
          </p:cNvGraphicFramePr>
          <p:nvPr/>
        </p:nvGraphicFramePr>
        <p:xfrm>
          <a:off x="1703388" y="3068638"/>
          <a:ext cx="2735262" cy="365760"/>
        </p:xfrm>
        <a:graphic>
          <a:graphicData uri="http://schemas.openxmlformats.org/drawingml/2006/table">
            <a:tbl>
              <a:tblPr/>
              <a:tblGrid>
                <a:gridCol w="719137">
                  <a:extLst>
                    <a:ext uri="{9D8B030D-6E8A-4147-A177-3AD203B41FA5}">
                      <a16:colId xmlns:a16="http://schemas.microsoft.com/office/drawing/2014/main" val="20000"/>
                    </a:ext>
                  </a:extLst>
                </a:gridCol>
                <a:gridCol w="865188">
                  <a:extLst>
                    <a:ext uri="{9D8B030D-6E8A-4147-A177-3AD203B41FA5}">
                      <a16:colId xmlns:a16="http://schemas.microsoft.com/office/drawing/2014/main" val="20001"/>
                    </a:ext>
                  </a:extLst>
                </a:gridCol>
                <a:gridCol w="287337">
                  <a:extLst>
                    <a:ext uri="{9D8B030D-6E8A-4147-A177-3AD203B41FA5}">
                      <a16:colId xmlns:a16="http://schemas.microsoft.com/office/drawing/2014/main" val="20002"/>
                    </a:ext>
                  </a:extLst>
                </a:gridCol>
                <a:gridCol w="287338">
                  <a:extLst>
                    <a:ext uri="{9D8B030D-6E8A-4147-A177-3AD203B41FA5}">
                      <a16:colId xmlns:a16="http://schemas.microsoft.com/office/drawing/2014/main" val="20003"/>
                    </a:ext>
                  </a:extLst>
                </a:gridCol>
                <a:gridCol w="287337">
                  <a:extLst>
                    <a:ext uri="{9D8B030D-6E8A-4147-A177-3AD203B41FA5}">
                      <a16:colId xmlns:a16="http://schemas.microsoft.com/office/drawing/2014/main" val="20004"/>
                    </a:ext>
                  </a:extLst>
                </a:gridCol>
                <a:gridCol w="288925">
                  <a:extLst>
                    <a:ext uri="{9D8B030D-6E8A-4147-A177-3AD203B41FA5}">
                      <a16:colId xmlns:a16="http://schemas.microsoft.com/office/drawing/2014/main" val="20005"/>
                    </a:ext>
                  </a:extLst>
                </a:gridCol>
              </a:tblGrid>
              <a:tr h="215900">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1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分段</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1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序号</a:t>
                      </a:r>
                      <a:r>
                        <a:rPr kumimoji="0" lang="en-US" altLang="zh-CN" sz="1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j</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k</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P</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56712" name="Group 712"/>
          <p:cNvGraphicFramePr>
            <a:graphicFrameLocks noGrp="1"/>
          </p:cNvGraphicFramePr>
          <p:nvPr/>
        </p:nvGraphicFramePr>
        <p:xfrm>
          <a:off x="1703388" y="4221163"/>
          <a:ext cx="3816350" cy="365760"/>
        </p:xfrm>
        <a:graphic>
          <a:graphicData uri="http://schemas.openxmlformats.org/drawingml/2006/table">
            <a:tbl>
              <a:tblPr/>
              <a:tblGrid>
                <a:gridCol w="503237">
                  <a:extLst>
                    <a:ext uri="{9D8B030D-6E8A-4147-A177-3AD203B41FA5}">
                      <a16:colId xmlns:a16="http://schemas.microsoft.com/office/drawing/2014/main" val="20000"/>
                    </a:ext>
                  </a:extLst>
                </a:gridCol>
                <a:gridCol w="719138">
                  <a:extLst>
                    <a:ext uri="{9D8B030D-6E8A-4147-A177-3AD203B41FA5}">
                      <a16:colId xmlns:a16="http://schemas.microsoft.com/office/drawing/2014/main" val="20001"/>
                    </a:ext>
                  </a:extLst>
                </a:gridCol>
                <a:gridCol w="865187">
                  <a:extLst>
                    <a:ext uri="{9D8B030D-6E8A-4147-A177-3AD203B41FA5}">
                      <a16:colId xmlns:a16="http://schemas.microsoft.com/office/drawing/2014/main" val="20002"/>
                    </a:ext>
                  </a:extLst>
                </a:gridCol>
                <a:gridCol w="287338">
                  <a:extLst>
                    <a:ext uri="{9D8B030D-6E8A-4147-A177-3AD203B41FA5}">
                      <a16:colId xmlns:a16="http://schemas.microsoft.com/office/drawing/2014/main" val="20003"/>
                    </a:ext>
                  </a:extLst>
                </a:gridCol>
                <a:gridCol w="287337">
                  <a:extLst>
                    <a:ext uri="{9D8B030D-6E8A-4147-A177-3AD203B41FA5}">
                      <a16:colId xmlns:a16="http://schemas.microsoft.com/office/drawing/2014/main" val="20004"/>
                    </a:ext>
                  </a:extLst>
                </a:gridCol>
                <a:gridCol w="287338">
                  <a:extLst>
                    <a:ext uri="{9D8B030D-6E8A-4147-A177-3AD203B41FA5}">
                      <a16:colId xmlns:a16="http://schemas.microsoft.com/office/drawing/2014/main" val="20005"/>
                    </a:ext>
                  </a:extLst>
                </a:gridCol>
                <a:gridCol w="288925">
                  <a:extLst>
                    <a:ext uri="{9D8B030D-6E8A-4147-A177-3AD203B41FA5}">
                      <a16:colId xmlns:a16="http://schemas.microsoft.com/office/drawing/2014/main" val="20006"/>
                    </a:ext>
                  </a:extLst>
                </a:gridCol>
                <a:gridCol w="577850">
                  <a:extLst>
                    <a:ext uri="{9D8B030D-6E8A-4147-A177-3AD203B41FA5}">
                      <a16:colId xmlns:a16="http://schemas.microsoft.com/office/drawing/2014/main" val="20007"/>
                    </a:ext>
                  </a:extLst>
                </a:gridCol>
              </a:tblGrid>
              <a:tr h="215900">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1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分段</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1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序号</a:t>
                      </a:r>
                      <a:r>
                        <a:rPr kumimoji="0" lang="en-US" altLang="zh-CN" sz="1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j</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k</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P</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H2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56713" name="Group 713"/>
          <p:cNvGraphicFramePr>
            <a:graphicFrameLocks noGrp="1"/>
          </p:cNvGraphicFramePr>
          <p:nvPr/>
        </p:nvGraphicFramePr>
        <p:xfrm>
          <a:off x="1847850" y="4581525"/>
          <a:ext cx="3816350" cy="365760"/>
        </p:xfrm>
        <a:graphic>
          <a:graphicData uri="http://schemas.openxmlformats.org/drawingml/2006/table">
            <a:tbl>
              <a:tblPr/>
              <a:tblGrid>
                <a:gridCol w="503238">
                  <a:extLst>
                    <a:ext uri="{9D8B030D-6E8A-4147-A177-3AD203B41FA5}">
                      <a16:colId xmlns:a16="http://schemas.microsoft.com/office/drawing/2014/main" val="20000"/>
                    </a:ext>
                  </a:extLst>
                </a:gridCol>
                <a:gridCol w="719137">
                  <a:extLst>
                    <a:ext uri="{9D8B030D-6E8A-4147-A177-3AD203B41FA5}">
                      <a16:colId xmlns:a16="http://schemas.microsoft.com/office/drawing/2014/main" val="20001"/>
                    </a:ext>
                  </a:extLst>
                </a:gridCol>
                <a:gridCol w="865188">
                  <a:extLst>
                    <a:ext uri="{9D8B030D-6E8A-4147-A177-3AD203B41FA5}">
                      <a16:colId xmlns:a16="http://schemas.microsoft.com/office/drawing/2014/main" val="20002"/>
                    </a:ext>
                  </a:extLst>
                </a:gridCol>
                <a:gridCol w="287337">
                  <a:extLst>
                    <a:ext uri="{9D8B030D-6E8A-4147-A177-3AD203B41FA5}">
                      <a16:colId xmlns:a16="http://schemas.microsoft.com/office/drawing/2014/main" val="20003"/>
                    </a:ext>
                  </a:extLst>
                </a:gridCol>
                <a:gridCol w="287338">
                  <a:extLst>
                    <a:ext uri="{9D8B030D-6E8A-4147-A177-3AD203B41FA5}">
                      <a16:colId xmlns:a16="http://schemas.microsoft.com/office/drawing/2014/main" val="20004"/>
                    </a:ext>
                  </a:extLst>
                </a:gridCol>
                <a:gridCol w="287337">
                  <a:extLst>
                    <a:ext uri="{9D8B030D-6E8A-4147-A177-3AD203B41FA5}">
                      <a16:colId xmlns:a16="http://schemas.microsoft.com/office/drawing/2014/main" val="20005"/>
                    </a:ext>
                  </a:extLst>
                </a:gridCol>
                <a:gridCol w="288925">
                  <a:extLst>
                    <a:ext uri="{9D8B030D-6E8A-4147-A177-3AD203B41FA5}">
                      <a16:colId xmlns:a16="http://schemas.microsoft.com/office/drawing/2014/main" val="20006"/>
                    </a:ext>
                  </a:extLst>
                </a:gridCol>
                <a:gridCol w="577850">
                  <a:extLst>
                    <a:ext uri="{9D8B030D-6E8A-4147-A177-3AD203B41FA5}">
                      <a16:colId xmlns:a16="http://schemas.microsoft.com/office/drawing/2014/main" val="20007"/>
                    </a:ext>
                  </a:extLst>
                </a:gridCol>
              </a:tblGrid>
              <a:tr h="215900">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1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分段</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1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序号</a:t>
                      </a:r>
                      <a:r>
                        <a:rPr kumimoji="0" lang="en-US" altLang="zh-CN" sz="1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j</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k</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P</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H2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56734" name="Group 734"/>
          <p:cNvGraphicFramePr>
            <a:graphicFrameLocks noGrp="1"/>
          </p:cNvGraphicFramePr>
          <p:nvPr/>
        </p:nvGraphicFramePr>
        <p:xfrm>
          <a:off x="8543925" y="2276475"/>
          <a:ext cx="1944688" cy="365760"/>
        </p:xfrm>
        <a:graphic>
          <a:graphicData uri="http://schemas.openxmlformats.org/drawingml/2006/table">
            <a:tbl>
              <a:tblPr/>
              <a:tblGrid>
                <a:gridCol w="1368425">
                  <a:extLst>
                    <a:ext uri="{9D8B030D-6E8A-4147-A177-3AD203B41FA5}">
                      <a16:colId xmlns:a16="http://schemas.microsoft.com/office/drawing/2014/main" val="20000"/>
                    </a:ext>
                  </a:extLst>
                </a:gridCol>
                <a:gridCol w="287338">
                  <a:extLst>
                    <a:ext uri="{9D8B030D-6E8A-4147-A177-3AD203B41FA5}">
                      <a16:colId xmlns:a16="http://schemas.microsoft.com/office/drawing/2014/main" val="20001"/>
                    </a:ext>
                  </a:extLst>
                </a:gridCol>
                <a:gridCol w="288925">
                  <a:extLst>
                    <a:ext uri="{9D8B030D-6E8A-4147-A177-3AD203B41FA5}">
                      <a16:colId xmlns:a16="http://schemas.microsoft.com/office/drawing/2014/main" val="20002"/>
                    </a:ext>
                  </a:extLst>
                </a:gridCol>
              </a:tblGrid>
              <a:tr h="215900">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1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数据</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j</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k</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56744" name="Group 744"/>
          <p:cNvGraphicFramePr>
            <a:graphicFrameLocks noGrp="1"/>
          </p:cNvGraphicFramePr>
          <p:nvPr/>
        </p:nvGraphicFramePr>
        <p:xfrm>
          <a:off x="7610476" y="3429000"/>
          <a:ext cx="2735263" cy="365760"/>
        </p:xfrm>
        <a:graphic>
          <a:graphicData uri="http://schemas.openxmlformats.org/drawingml/2006/table">
            <a:tbl>
              <a:tblPr/>
              <a:tblGrid>
                <a:gridCol w="719138">
                  <a:extLst>
                    <a:ext uri="{9D8B030D-6E8A-4147-A177-3AD203B41FA5}">
                      <a16:colId xmlns:a16="http://schemas.microsoft.com/office/drawing/2014/main" val="20000"/>
                    </a:ext>
                  </a:extLst>
                </a:gridCol>
                <a:gridCol w="865187">
                  <a:extLst>
                    <a:ext uri="{9D8B030D-6E8A-4147-A177-3AD203B41FA5}">
                      <a16:colId xmlns:a16="http://schemas.microsoft.com/office/drawing/2014/main" val="20001"/>
                    </a:ext>
                  </a:extLst>
                </a:gridCol>
                <a:gridCol w="287338">
                  <a:extLst>
                    <a:ext uri="{9D8B030D-6E8A-4147-A177-3AD203B41FA5}">
                      <a16:colId xmlns:a16="http://schemas.microsoft.com/office/drawing/2014/main" val="20002"/>
                    </a:ext>
                  </a:extLst>
                </a:gridCol>
                <a:gridCol w="287337">
                  <a:extLst>
                    <a:ext uri="{9D8B030D-6E8A-4147-A177-3AD203B41FA5}">
                      <a16:colId xmlns:a16="http://schemas.microsoft.com/office/drawing/2014/main" val="20003"/>
                    </a:ext>
                  </a:extLst>
                </a:gridCol>
                <a:gridCol w="287338">
                  <a:extLst>
                    <a:ext uri="{9D8B030D-6E8A-4147-A177-3AD203B41FA5}">
                      <a16:colId xmlns:a16="http://schemas.microsoft.com/office/drawing/2014/main" val="20004"/>
                    </a:ext>
                  </a:extLst>
                </a:gridCol>
                <a:gridCol w="288925">
                  <a:extLst>
                    <a:ext uri="{9D8B030D-6E8A-4147-A177-3AD203B41FA5}">
                      <a16:colId xmlns:a16="http://schemas.microsoft.com/office/drawing/2014/main" val="20005"/>
                    </a:ext>
                  </a:extLst>
                </a:gridCol>
              </a:tblGrid>
              <a:tr h="215900">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1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分段</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1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序号</a:t>
                      </a:r>
                      <a:r>
                        <a:rPr kumimoji="0" lang="en-US" altLang="zh-CN" sz="1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j</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k</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P</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56760" name="Group 760"/>
          <p:cNvGraphicFramePr>
            <a:graphicFrameLocks noGrp="1"/>
          </p:cNvGraphicFramePr>
          <p:nvPr/>
        </p:nvGraphicFramePr>
        <p:xfrm>
          <a:off x="7753351" y="3068638"/>
          <a:ext cx="2735263" cy="365760"/>
        </p:xfrm>
        <a:graphic>
          <a:graphicData uri="http://schemas.openxmlformats.org/drawingml/2006/table">
            <a:tbl>
              <a:tblPr/>
              <a:tblGrid>
                <a:gridCol w="719138">
                  <a:extLst>
                    <a:ext uri="{9D8B030D-6E8A-4147-A177-3AD203B41FA5}">
                      <a16:colId xmlns:a16="http://schemas.microsoft.com/office/drawing/2014/main" val="20000"/>
                    </a:ext>
                  </a:extLst>
                </a:gridCol>
                <a:gridCol w="865187">
                  <a:extLst>
                    <a:ext uri="{9D8B030D-6E8A-4147-A177-3AD203B41FA5}">
                      <a16:colId xmlns:a16="http://schemas.microsoft.com/office/drawing/2014/main" val="20001"/>
                    </a:ext>
                  </a:extLst>
                </a:gridCol>
                <a:gridCol w="287338">
                  <a:extLst>
                    <a:ext uri="{9D8B030D-6E8A-4147-A177-3AD203B41FA5}">
                      <a16:colId xmlns:a16="http://schemas.microsoft.com/office/drawing/2014/main" val="20002"/>
                    </a:ext>
                  </a:extLst>
                </a:gridCol>
                <a:gridCol w="287337">
                  <a:extLst>
                    <a:ext uri="{9D8B030D-6E8A-4147-A177-3AD203B41FA5}">
                      <a16:colId xmlns:a16="http://schemas.microsoft.com/office/drawing/2014/main" val="20003"/>
                    </a:ext>
                  </a:extLst>
                </a:gridCol>
                <a:gridCol w="287338">
                  <a:extLst>
                    <a:ext uri="{9D8B030D-6E8A-4147-A177-3AD203B41FA5}">
                      <a16:colId xmlns:a16="http://schemas.microsoft.com/office/drawing/2014/main" val="20004"/>
                    </a:ext>
                  </a:extLst>
                </a:gridCol>
                <a:gridCol w="288925">
                  <a:extLst>
                    <a:ext uri="{9D8B030D-6E8A-4147-A177-3AD203B41FA5}">
                      <a16:colId xmlns:a16="http://schemas.microsoft.com/office/drawing/2014/main" val="20005"/>
                    </a:ext>
                  </a:extLst>
                </a:gridCol>
              </a:tblGrid>
              <a:tr h="215900">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分段</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1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序号</a:t>
                      </a:r>
                      <a:r>
                        <a:rPr kumimoji="0" lang="en-US" altLang="zh-CN" sz="1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j</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k</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P</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56776" name="Group 776"/>
          <p:cNvGraphicFramePr>
            <a:graphicFrameLocks noGrp="1"/>
          </p:cNvGraphicFramePr>
          <p:nvPr/>
        </p:nvGraphicFramePr>
        <p:xfrm>
          <a:off x="6672263" y="4221163"/>
          <a:ext cx="3816350" cy="365760"/>
        </p:xfrm>
        <a:graphic>
          <a:graphicData uri="http://schemas.openxmlformats.org/drawingml/2006/table">
            <a:tbl>
              <a:tblPr/>
              <a:tblGrid>
                <a:gridCol w="503237">
                  <a:extLst>
                    <a:ext uri="{9D8B030D-6E8A-4147-A177-3AD203B41FA5}">
                      <a16:colId xmlns:a16="http://schemas.microsoft.com/office/drawing/2014/main" val="20000"/>
                    </a:ext>
                  </a:extLst>
                </a:gridCol>
                <a:gridCol w="719138">
                  <a:extLst>
                    <a:ext uri="{9D8B030D-6E8A-4147-A177-3AD203B41FA5}">
                      <a16:colId xmlns:a16="http://schemas.microsoft.com/office/drawing/2014/main" val="20001"/>
                    </a:ext>
                  </a:extLst>
                </a:gridCol>
                <a:gridCol w="865187">
                  <a:extLst>
                    <a:ext uri="{9D8B030D-6E8A-4147-A177-3AD203B41FA5}">
                      <a16:colId xmlns:a16="http://schemas.microsoft.com/office/drawing/2014/main" val="20002"/>
                    </a:ext>
                  </a:extLst>
                </a:gridCol>
                <a:gridCol w="287338">
                  <a:extLst>
                    <a:ext uri="{9D8B030D-6E8A-4147-A177-3AD203B41FA5}">
                      <a16:colId xmlns:a16="http://schemas.microsoft.com/office/drawing/2014/main" val="20003"/>
                    </a:ext>
                  </a:extLst>
                </a:gridCol>
                <a:gridCol w="287337">
                  <a:extLst>
                    <a:ext uri="{9D8B030D-6E8A-4147-A177-3AD203B41FA5}">
                      <a16:colId xmlns:a16="http://schemas.microsoft.com/office/drawing/2014/main" val="20004"/>
                    </a:ext>
                  </a:extLst>
                </a:gridCol>
                <a:gridCol w="287338">
                  <a:extLst>
                    <a:ext uri="{9D8B030D-6E8A-4147-A177-3AD203B41FA5}">
                      <a16:colId xmlns:a16="http://schemas.microsoft.com/office/drawing/2014/main" val="20005"/>
                    </a:ext>
                  </a:extLst>
                </a:gridCol>
                <a:gridCol w="288925">
                  <a:extLst>
                    <a:ext uri="{9D8B030D-6E8A-4147-A177-3AD203B41FA5}">
                      <a16:colId xmlns:a16="http://schemas.microsoft.com/office/drawing/2014/main" val="20006"/>
                    </a:ext>
                  </a:extLst>
                </a:gridCol>
                <a:gridCol w="577850">
                  <a:extLst>
                    <a:ext uri="{9D8B030D-6E8A-4147-A177-3AD203B41FA5}">
                      <a16:colId xmlns:a16="http://schemas.microsoft.com/office/drawing/2014/main" val="20007"/>
                    </a:ext>
                  </a:extLst>
                </a:gridCol>
              </a:tblGrid>
              <a:tr h="215900">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分段</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1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序号</a:t>
                      </a:r>
                      <a:r>
                        <a:rPr kumimoji="0" lang="en-US" altLang="zh-CN" sz="1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j</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k</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P</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H2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56796" name="Group 796"/>
          <p:cNvGraphicFramePr>
            <a:graphicFrameLocks noGrp="1"/>
          </p:cNvGraphicFramePr>
          <p:nvPr/>
        </p:nvGraphicFramePr>
        <p:xfrm>
          <a:off x="6527800" y="4579938"/>
          <a:ext cx="3816350" cy="365760"/>
        </p:xfrm>
        <a:graphic>
          <a:graphicData uri="http://schemas.openxmlformats.org/drawingml/2006/table">
            <a:tbl>
              <a:tblPr/>
              <a:tblGrid>
                <a:gridCol w="503238">
                  <a:extLst>
                    <a:ext uri="{9D8B030D-6E8A-4147-A177-3AD203B41FA5}">
                      <a16:colId xmlns:a16="http://schemas.microsoft.com/office/drawing/2014/main" val="20000"/>
                    </a:ext>
                  </a:extLst>
                </a:gridCol>
                <a:gridCol w="719137">
                  <a:extLst>
                    <a:ext uri="{9D8B030D-6E8A-4147-A177-3AD203B41FA5}">
                      <a16:colId xmlns:a16="http://schemas.microsoft.com/office/drawing/2014/main" val="20001"/>
                    </a:ext>
                  </a:extLst>
                </a:gridCol>
                <a:gridCol w="865188">
                  <a:extLst>
                    <a:ext uri="{9D8B030D-6E8A-4147-A177-3AD203B41FA5}">
                      <a16:colId xmlns:a16="http://schemas.microsoft.com/office/drawing/2014/main" val="20002"/>
                    </a:ext>
                  </a:extLst>
                </a:gridCol>
                <a:gridCol w="287337">
                  <a:extLst>
                    <a:ext uri="{9D8B030D-6E8A-4147-A177-3AD203B41FA5}">
                      <a16:colId xmlns:a16="http://schemas.microsoft.com/office/drawing/2014/main" val="20003"/>
                    </a:ext>
                  </a:extLst>
                </a:gridCol>
                <a:gridCol w="287338">
                  <a:extLst>
                    <a:ext uri="{9D8B030D-6E8A-4147-A177-3AD203B41FA5}">
                      <a16:colId xmlns:a16="http://schemas.microsoft.com/office/drawing/2014/main" val="20004"/>
                    </a:ext>
                  </a:extLst>
                </a:gridCol>
                <a:gridCol w="287337">
                  <a:extLst>
                    <a:ext uri="{9D8B030D-6E8A-4147-A177-3AD203B41FA5}">
                      <a16:colId xmlns:a16="http://schemas.microsoft.com/office/drawing/2014/main" val="20005"/>
                    </a:ext>
                  </a:extLst>
                </a:gridCol>
                <a:gridCol w="288925">
                  <a:extLst>
                    <a:ext uri="{9D8B030D-6E8A-4147-A177-3AD203B41FA5}">
                      <a16:colId xmlns:a16="http://schemas.microsoft.com/office/drawing/2014/main" val="20006"/>
                    </a:ext>
                  </a:extLst>
                </a:gridCol>
                <a:gridCol w="577850">
                  <a:extLst>
                    <a:ext uri="{9D8B030D-6E8A-4147-A177-3AD203B41FA5}">
                      <a16:colId xmlns:a16="http://schemas.microsoft.com/office/drawing/2014/main" val="20007"/>
                    </a:ext>
                  </a:extLst>
                </a:gridCol>
              </a:tblGrid>
              <a:tr h="215900">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分段</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1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序号</a:t>
                      </a:r>
                      <a:r>
                        <a:rPr kumimoji="0" lang="en-US" altLang="zh-CN" sz="1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j</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k</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P</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H2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56818" name="Line 818"/>
          <p:cNvSpPr>
            <a:spLocks noChangeShapeType="1"/>
          </p:cNvSpPr>
          <p:nvPr/>
        </p:nvSpPr>
        <p:spPr bwMode="auto">
          <a:xfrm>
            <a:off x="1919288" y="5373688"/>
            <a:ext cx="8280400" cy="0"/>
          </a:xfrm>
          <a:prstGeom prst="line">
            <a:avLst/>
          </a:prstGeom>
          <a:noFill/>
          <a:ln w="571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6819" name="Text Box 819"/>
          <p:cNvSpPr txBox="1">
            <a:spLocks noChangeArrowheads="1"/>
          </p:cNvSpPr>
          <p:nvPr/>
        </p:nvSpPr>
        <p:spPr bwMode="auto">
          <a:xfrm>
            <a:off x="5529263" y="5405439"/>
            <a:ext cx="1200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a:latin typeface="微软雅黑 Light" panose="020B0502040204020203" pitchFamily="34" charset="-122"/>
                <a:ea typeface="微软雅黑 Light" panose="020B0502040204020203" pitchFamily="34" charset="-122"/>
              </a:rPr>
              <a:t>物理链路</a:t>
            </a:r>
          </a:p>
        </p:txBody>
      </p:sp>
      <p:sp>
        <p:nvSpPr>
          <p:cNvPr id="256820" name="Line 820"/>
          <p:cNvSpPr>
            <a:spLocks noChangeShapeType="1"/>
          </p:cNvSpPr>
          <p:nvPr/>
        </p:nvSpPr>
        <p:spPr bwMode="auto">
          <a:xfrm>
            <a:off x="2711450" y="1844675"/>
            <a:ext cx="0" cy="431800"/>
          </a:xfrm>
          <a:prstGeom prst="line">
            <a:avLst/>
          </a:prstGeom>
          <a:noFill/>
          <a:ln w="28575">
            <a:solidFill>
              <a:srgbClr val="0066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6821" name="Line 821"/>
          <p:cNvSpPr>
            <a:spLocks noChangeShapeType="1"/>
          </p:cNvSpPr>
          <p:nvPr/>
        </p:nvSpPr>
        <p:spPr bwMode="auto">
          <a:xfrm>
            <a:off x="2711450" y="2636838"/>
            <a:ext cx="0" cy="431800"/>
          </a:xfrm>
          <a:prstGeom prst="line">
            <a:avLst/>
          </a:prstGeom>
          <a:noFill/>
          <a:ln w="28575">
            <a:solidFill>
              <a:srgbClr val="0066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6822" name="Line 822"/>
          <p:cNvSpPr>
            <a:spLocks noChangeShapeType="1"/>
          </p:cNvSpPr>
          <p:nvPr/>
        </p:nvSpPr>
        <p:spPr bwMode="auto">
          <a:xfrm>
            <a:off x="2711450" y="3789363"/>
            <a:ext cx="0" cy="431800"/>
          </a:xfrm>
          <a:prstGeom prst="line">
            <a:avLst/>
          </a:prstGeom>
          <a:noFill/>
          <a:ln w="28575">
            <a:solidFill>
              <a:srgbClr val="0066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6823" name="Line 823"/>
          <p:cNvSpPr>
            <a:spLocks noChangeShapeType="1"/>
          </p:cNvSpPr>
          <p:nvPr/>
        </p:nvSpPr>
        <p:spPr bwMode="auto">
          <a:xfrm>
            <a:off x="2711450" y="4941888"/>
            <a:ext cx="0" cy="431800"/>
          </a:xfrm>
          <a:prstGeom prst="line">
            <a:avLst/>
          </a:prstGeom>
          <a:noFill/>
          <a:ln w="28575">
            <a:solidFill>
              <a:srgbClr val="0066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6824" name="Line 824"/>
          <p:cNvSpPr>
            <a:spLocks noChangeShapeType="1"/>
          </p:cNvSpPr>
          <p:nvPr/>
        </p:nvSpPr>
        <p:spPr bwMode="auto">
          <a:xfrm>
            <a:off x="9625013" y="1844675"/>
            <a:ext cx="0" cy="431800"/>
          </a:xfrm>
          <a:prstGeom prst="line">
            <a:avLst/>
          </a:prstGeom>
          <a:noFill/>
          <a:ln w="28575">
            <a:solidFill>
              <a:srgbClr val="0066FF"/>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6825" name="Line 825"/>
          <p:cNvSpPr>
            <a:spLocks noChangeShapeType="1"/>
          </p:cNvSpPr>
          <p:nvPr/>
        </p:nvSpPr>
        <p:spPr bwMode="auto">
          <a:xfrm>
            <a:off x="9625013" y="2636838"/>
            <a:ext cx="0" cy="431800"/>
          </a:xfrm>
          <a:prstGeom prst="line">
            <a:avLst/>
          </a:prstGeom>
          <a:noFill/>
          <a:ln w="28575">
            <a:solidFill>
              <a:srgbClr val="0066FF"/>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6826" name="Line 826"/>
          <p:cNvSpPr>
            <a:spLocks noChangeShapeType="1"/>
          </p:cNvSpPr>
          <p:nvPr/>
        </p:nvSpPr>
        <p:spPr bwMode="auto">
          <a:xfrm>
            <a:off x="9625013" y="3789363"/>
            <a:ext cx="0" cy="431800"/>
          </a:xfrm>
          <a:prstGeom prst="line">
            <a:avLst/>
          </a:prstGeom>
          <a:noFill/>
          <a:ln w="28575">
            <a:solidFill>
              <a:srgbClr val="0066FF"/>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6827" name="Line 827"/>
          <p:cNvSpPr>
            <a:spLocks noChangeShapeType="1"/>
          </p:cNvSpPr>
          <p:nvPr/>
        </p:nvSpPr>
        <p:spPr bwMode="auto">
          <a:xfrm>
            <a:off x="9625013" y="4941888"/>
            <a:ext cx="0" cy="431800"/>
          </a:xfrm>
          <a:prstGeom prst="line">
            <a:avLst/>
          </a:prstGeom>
          <a:noFill/>
          <a:ln w="28575">
            <a:solidFill>
              <a:srgbClr val="0066FF"/>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6828" name="Text Box 828"/>
          <p:cNvSpPr txBox="1">
            <a:spLocks noChangeArrowheads="1"/>
          </p:cNvSpPr>
          <p:nvPr/>
        </p:nvSpPr>
        <p:spPr bwMode="auto">
          <a:xfrm>
            <a:off x="2423592" y="6025345"/>
            <a:ext cx="7705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dirty="0">
                <a:latin typeface="微软雅黑 Light" panose="020B0502040204020203" pitchFamily="34" charset="-122"/>
                <a:ea typeface="微软雅黑 Light" panose="020B0502040204020203" pitchFamily="34" charset="-122"/>
              </a:rPr>
              <a:t>H2</a:t>
            </a:r>
            <a:r>
              <a:rPr lang="zh-CN" altLang="en-US" dirty="0">
                <a:latin typeface="微软雅黑 Light" panose="020B0502040204020203" pitchFamily="34" charset="-122"/>
                <a:ea typeface="微软雅黑 Light" panose="020B0502040204020203" pitchFamily="34" charset="-122"/>
              </a:rPr>
              <a:t>、</a:t>
            </a:r>
            <a:r>
              <a:rPr lang="en-US" altLang="zh-CN" dirty="0">
                <a:latin typeface="微软雅黑 Light" panose="020B0502040204020203" pitchFamily="34" charset="-122"/>
                <a:ea typeface="微软雅黑 Light" panose="020B0502040204020203" pitchFamily="34" charset="-122"/>
              </a:rPr>
              <a:t>T2</a:t>
            </a:r>
            <a:r>
              <a:rPr lang="zh-CN" altLang="en-US" dirty="0">
                <a:latin typeface="微软雅黑 Light" panose="020B0502040204020203" pitchFamily="34" charset="-122"/>
                <a:ea typeface="微软雅黑 Light" panose="020B0502040204020203" pitchFamily="34" charset="-122"/>
              </a:rPr>
              <a:t>：数据链路层帧首尾， </a:t>
            </a:r>
            <a:r>
              <a:rPr lang="en-US" altLang="zh-CN" dirty="0">
                <a:latin typeface="微软雅黑 Light" panose="020B0502040204020203" pitchFamily="34" charset="-122"/>
                <a:ea typeface="微软雅黑 Light" panose="020B0502040204020203" pitchFamily="34" charset="-122"/>
              </a:rPr>
              <a:t>A</a:t>
            </a:r>
            <a:r>
              <a:rPr lang="zh-CN" altLang="en-US" dirty="0">
                <a:latin typeface="微软雅黑 Light" panose="020B0502040204020203" pitchFamily="34" charset="-122"/>
                <a:ea typeface="微软雅黑 Light" panose="020B0502040204020203" pitchFamily="34" charset="-122"/>
              </a:rPr>
              <a:t>、</a:t>
            </a:r>
            <a:r>
              <a:rPr lang="en-US" altLang="zh-CN" dirty="0">
                <a:latin typeface="微软雅黑 Light" panose="020B0502040204020203" pitchFamily="34" charset="-122"/>
                <a:ea typeface="微软雅黑 Light" panose="020B0502040204020203" pitchFamily="34" charset="-122"/>
              </a:rPr>
              <a:t>P</a:t>
            </a:r>
            <a:r>
              <a:rPr lang="zh-CN" altLang="en-US" dirty="0">
                <a:latin typeface="微软雅黑 Light" panose="020B0502040204020203" pitchFamily="34" charset="-122"/>
                <a:ea typeface="微软雅黑 Light" panose="020B0502040204020203" pitchFamily="34" charset="-122"/>
              </a:rPr>
              <a:t>：网络地址， </a:t>
            </a:r>
            <a:r>
              <a:rPr lang="en-US" altLang="zh-CN" dirty="0">
                <a:latin typeface="微软雅黑 Light" panose="020B0502040204020203" pitchFamily="34" charset="-122"/>
                <a:ea typeface="微软雅黑 Light" panose="020B0502040204020203" pitchFamily="34" charset="-122"/>
              </a:rPr>
              <a:t>j</a:t>
            </a:r>
            <a:r>
              <a:rPr lang="zh-CN" altLang="en-US" dirty="0">
                <a:latin typeface="微软雅黑 Light" panose="020B0502040204020203" pitchFamily="34" charset="-122"/>
                <a:ea typeface="微软雅黑 Light" panose="020B0502040204020203" pitchFamily="34" charset="-122"/>
              </a:rPr>
              <a:t>、</a:t>
            </a:r>
            <a:r>
              <a:rPr lang="en-US" altLang="zh-CN" dirty="0">
                <a:latin typeface="微软雅黑 Light" panose="020B0502040204020203" pitchFamily="34" charset="-122"/>
                <a:ea typeface="微软雅黑 Light" panose="020B0502040204020203" pitchFamily="34" charset="-122"/>
              </a:rPr>
              <a:t>k</a:t>
            </a:r>
            <a:r>
              <a:rPr lang="zh-CN" altLang="en-US" dirty="0">
                <a:latin typeface="微软雅黑 Light" panose="020B0502040204020203" pitchFamily="34" charset="-122"/>
                <a:ea typeface="微软雅黑 Light" panose="020B0502040204020203" pitchFamily="34" charset="-122"/>
              </a:rPr>
              <a:t>：端口号</a:t>
            </a:r>
          </a:p>
        </p:txBody>
      </p:sp>
      <p:sp>
        <p:nvSpPr>
          <p:cNvPr id="256829" name="Text Box 829"/>
          <p:cNvSpPr txBox="1">
            <a:spLocks noChangeArrowheads="1"/>
          </p:cNvSpPr>
          <p:nvPr/>
        </p:nvSpPr>
        <p:spPr bwMode="auto">
          <a:xfrm>
            <a:off x="5589589" y="2205039"/>
            <a:ext cx="10810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a:latin typeface="微软雅黑 Light" panose="020B0502040204020203" pitchFamily="34" charset="-122"/>
                <a:ea typeface="微软雅黑 Light" panose="020B0502040204020203" pitchFamily="34" charset="-122"/>
              </a:rPr>
              <a:t>传输层</a:t>
            </a:r>
          </a:p>
        </p:txBody>
      </p:sp>
      <p:sp>
        <p:nvSpPr>
          <p:cNvPr id="256830" name="Text Box 830"/>
          <p:cNvSpPr txBox="1">
            <a:spLocks noChangeArrowheads="1"/>
          </p:cNvSpPr>
          <p:nvPr/>
        </p:nvSpPr>
        <p:spPr bwMode="auto">
          <a:xfrm>
            <a:off x="5589589" y="3103564"/>
            <a:ext cx="10810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a:latin typeface="微软雅黑 Light" panose="020B0502040204020203" pitchFamily="34" charset="-122"/>
                <a:ea typeface="微软雅黑 Light" panose="020B0502040204020203" pitchFamily="34" charset="-122"/>
              </a:rPr>
              <a:t>网络层</a:t>
            </a:r>
          </a:p>
        </p:txBody>
      </p:sp>
      <p:sp>
        <p:nvSpPr>
          <p:cNvPr id="256831" name="Text Box 831"/>
          <p:cNvSpPr txBox="1">
            <a:spLocks noChangeArrowheads="1"/>
          </p:cNvSpPr>
          <p:nvPr/>
        </p:nvSpPr>
        <p:spPr bwMode="auto">
          <a:xfrm>
            <a:off x="5375275" y="3860801"/>
            <a:ext cx="1511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a:latin typeface="微软雅黑 Light" panose="020B0502040204020203" pitchFamily="34" charset="-122"/>
                <a:ea typeface="微软雅黑 Light" panose="020B0502040204020203" pitchFamily="34" charset="-122"/>
              </a:rPr>
              <a:t>数据链路层</a:t>
            </a:r>
          </a:p>
        </p:txBody>
      </p:sp>
      <p:sp>
        <p:nvSpPr>
          <p:cNvPr id="256832" name="Text Box 832"/>
          <p:cNvSpPr txBox="1">
            <a:spLocks noChangeArrowheads="1"/>
          </p:cNvSpPr>
          <p:nvPr/>
        </p:nvSpPr>
        <p:spPr bwMode="auto">
          <a:xfrm>
            <a:off x="2640014" y="2636839"/>
            <a:ext cx="10810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a:solidFill>
                  <a:srgbClr val="FF3300"/>
                </a:solidFill>
                <a:latin typeface="微软雅黑 Light" panose="020B0502040204020203" pitchFamily="34" charset="-122"/>
                <a:ea typeface="微软雅黑 Light" panose="020B0502040204020203" pitchFamily="34" charset="-122"/>
              </a:rPr>
              <a:t>分段</a:t>
            </a:r>
          </a:p>
        </p:txBody>
      </p:sp>
      <p:sp>
        <p:nvSpPr>
          <p:cNvPr id="256833" name="Text Box 833"/>
          <p:cNvSpPr txBox="1">
            <a:spLocks noChangeArrowheads="1"/>
          </p:cNvSpPr>
          <p:nvPr/>
        </p:nvSpPr>
        <p:spPr bwMode="auto">
          <a:xfrm>
            <a:off x="8472489" y="2636839"/>
            <a:ext cx="10810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a:solidFill>
                  <a:srgbClr val="FF3300"/>
                </a:solidFill>
                <a:latin typeface="微软雅黑 Light" panose="020B0502040204020203" pitchFamily="34" charset="-122"/>
                <a:ea typeface="微软雅黑 Light" panose="020B0502040204020203" pitchFamily="34" charset="-122"/>
              </a:rPr>
              <a:t>组合</a:t>
            </a:r>
          </a:p>
        </p:txBody>
      </p:sp>
      <p:sp>
        <p:nvSpPr>
          <p:cNvPr id="256834" name="Text Box 834"/>
          <p:cNvSpPr txBox="1">
            <a:spLocks noChangeArrowheads="1"/>
          </p:cNvSpPr>
          <p:nvPr/>
        </p:nvSpPr>
        <p:spPr bwMode="auto">
          <a:xfrm>
            <a:off x="3143251" y="1268414"/>
            <a:ext cx="3603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a:solidFill>
                  <a:srgbClr val="006600"/>
                </a:solidFill>
                <a:latin typeface="微软雅黑 Light" panose="020B0502040204020203" pitchFamily="34" charset="-122"/>
                <a:ea typeface="微软雅黑 Light" panose="020B0502040204020203" pitchFamily="34" charset="-122"/>
              </a:rPr>
              <a:t>A</a:t>
            </a:r>
          </a:p>
        </p:txBody>
      </p:sp>
      <p:sp>
        <p:nvSpPr>
          <p:cNvPr id="256835" name="Text Box 835"/>
          <p:cNvSpPr txBox="1">
            <a:spLocks noChangeArrowheads="1"/>
          </p:cNvSpPr>
          <p:nvPr/>
        </p:nvSpPr>
        <p:spPr bwMode="auto">
          <a:xfrm>
            <a:off x="8832851" y="1268414"/>
            <a:ext cx="3603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dirty="0">
                <a:solidFill>
                  <a:srgbClr val="006600"/>
                </a:solidFill>
                <a:latin typeface="微软雅黑 Light" panose="020B0502040204020203" pitchFamily="34" charset="-122"/>
                <a:ea typeface="微软雅黑 Light" panose="020B0502040204020203" pitchFamily="34" charset="-122"/>
              </a:rPr>
              <a:t>P</a:t>
            </a:r>
          </a:p>
        </p:txBody>
      </p:sp>
      <p:pic>
        <p:nvPicPr>
          <p:cNvPr id="34" name="图形 33"/>
          <p:cNvPicPr>
            <a:picLocks noChangeAspect="1"/>
          </p:cNvPicPr>
          <p:nvPr/>
        </p:nvPicPr>
        <p:blipFill>
          <a:blip r:embed="rId2"/>
          <a:stretch>
            <a:fillRect/>
          </a:stretch>
        </p:blipFill>
        <p:spPr>
          <a:xfrm>
            <a:off x="2351089" y="1353215"/>
            <a:ext cx="600874" cy="454948"/>
          </a:xfrm>
          <a:prstGeom prst="rect">
            <a:avLst/>
          </a:prstGeom>
        </p:spPr>
      </p:pic>
      <p:pic>
        <p:nvPicPr>
          <p:cNvPr id="35" name="图形 34"/>
          <p:cNvPicPr>
            <a:picLocks noChangeAspect="1"/>
          </p:cNvPicPr>
          <p:nvPr/>
        </p:nvPicPr>
        <p:blipFill>
          <a:blip r:embed="rId2"/>
          <a:stretch>
            <a:fillRect/>
          </a:stretch>
        </p:blipFill>
        <p:spPr>
          <a:xfrm>
            <a:off x="9322988" y="1379914"/>
            <a:ext cx="600874" cy="45494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灯片编号占位符 5"/>
          <p:cNvSpPr>
            <a:spLocks noGrp="1"/>
          </p:cNvSpPr>
          <p:nvPr>
            <p:ph type="sldNum" sz="quarter" idx="12"/>
          </p:nvPr>
        </p:nvSpPr>
        <p:spPr/>
        <p:txBody>
          <a:bodyPr/>
          <a:lstStyle/>
          <a:p>
            <a:fld id="{F906E9A2-7962-450E-9B63-CFB568EC4DF5}" type="slidenum">
              <a:rPr lang="en-US" altLang="zh-CN"/>
              <a:t>13</a:t>
            </a:fld>
            <a:endParaRPr lang="en-US" altLang="zh-CN"/>
          </a:p>
        </p:txBody>
      </p:sp>
      <p:sp>
        <p:nvSpPr>
          <p:cNvPr id="254978" name="Rectangle 2"/>
          <p:cNvSpPr>
            <a:spLocks noGrp="1" noChangeArrowheads="1"/>
          </p:cNvSpPr>
          <p:nvPr>
            <p:ph type="title"/>
          </p:nvPr>
        </p:nvSpPr>
        <p:spPr/>
        <p:txBody>
          <a:bodyPr/>
          <a:lstStyle/>
          <a:p>
            <a:r>
              <a:rPr lang="zh-CN" altLang="en-US"/>
              <a:t>次序控制</a:t>
            </a:r>
            <a:r>
              <a:rPr lang="en-US" altLang="zh-CN"/>
              <a:t>—</a:t>
            </a:r>
            <a:r>
              <a:rPr lang="zh-CN" altLang="en-US"/>
              <a:t>连接和分割</a:t>
            </a:r>
          </a:p>
        </p:txBody>
      </p:sp>
      <p:graphicFrame>
        <p:nvGraphicFramePr>
          <p:cNvPr id="255162" name="Group 186"/>
          <p:cNvGraphicFramePr>
            <a:graphicFrameLocks noGrp="1"/>
          </p:cNvGraphicFramePr>
          <p:nvPr/>
        </p:nvGraphicFramePr>
        <p:xfrm>
          <a:off x="1774826" y="2276475"/>
          <a:ext cx="1368425" cy="365760"/>
        </p:xfrm>
        <a:graphic>
          <a:graphicData uri="http://schemas.openxmlformats.org/drawingml/2006/table">
            <a:tbl>
              <a:tblPr/>
              <a:tblGrid>
                <a:gridCol w="792163">
                  <a:extLst>
                    <a:ext uri="{9D8B030D-6E8A-4147-A177-3AD203B41FA5}">
                      <a16:colId xmlns:a16="http://schemas.microsoft.com/office/drawing/2014/main" val="20000"/>
                    </a:ext>
                  </a:extLst>
                </a:gridCol>
                <a:gridCol w="287337">
                  <a:extLst>
                    <a:ext uri="{9D8B030D-6E8A-4147-A177-3AD203B41FA5}">
                      <a16:colId xmlns:a16="http://schemas.microsoft.com/office/drawing/2014/main" val="20001"/>
                    </a:ext>
                  </a:extLst>
                </a:gridCol>
                <a:gridCol w="288925">
                  <a:extLst>
                    <a:ext uri="{9D8B030D-6E8A-4147-A177-3AD203B41FA5}">
                      <a16:colId xmlns:a16="http://schemas.microsoft.com/office/drawing/2014/main" val="20002"/>
                    </a:ext>
                  </a:extLst>
                </a:gridCol>
              </a:tblGrid>
              <a:tr h="215900">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1800" b="0" i="0" u="none" strike="noStrike" cap="none" normalizeH="0" baseline="0" dirty="0">
                          <a:ln>
                            <a:noFill/>
                          </a:ln>
                          <a:solidFill>
                            <a:schemeClr val="tx1"/>
                          </a:solidFill>
                          <a:effectLst/>
                          <a:latin typeface="+mn-lt"/>
                          <a:ea typeface="微软雅黑 Light" panose="020B0502040204020203" pitchFamily="34" charset="-122"/>
                        </a:rPr>
                        <a:t>数据</a:t>
                      </a:r>
                      <a:r>
                        <a:rPr kumimoji="0" lang="en-US" altLang="zh-CN" sz="1800" b="0" i="0" u="none" strike="noStrike" cap="none" normalizeH="0" baseline="0" dirty="0">
                          <a:ln>
                            <a:noFill/>
                          </a:ln>
                          <a:solidFill>
                            <a:schemeClr val="tx1"/>
                          </a:solidFill>
                          <a:effectLst/>
                          <a:latin typeface="+mn-lt"/>
                          <a:ea typeface="微软雅黑 Light" panose="020B0502040204020203" pitchFamily="34"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mn-lt"/>
                          <a:ea typeface="微软雅黑 Light" panose="020B0502040204020203" pitchFamily="34" charset="-122"/>
                        </a:rPr>
                        <a:t>j</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mn-lt"/>
                          <a:ea typeface="微软雅黑 Light" panose="020B0502040204020203" pitchFamily="34" charset="-122"/>
                        </a:rPr>
                        <a:t>k</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55174" name="Group 198"/>
          <p:cNvGraphicFramePr>
            <a:graphicFrameLocks noGrp="1"/>
          </p:cNvGraphicFramePr>
          <p:nvPr/>
        </p:nvGraphicFramePr>
        <p:xfrm>
          <a:off x="1776413" y="3208338"/>
          <a:ext cx="2806700" cy="365760"/>
        </p:xfrm>
        <a:graphic>
          <a:graphicData uri="http://schemas.openxmlformats.org/drawingml/2006/table">
            <a:tbl>
              <a:tblPr/>
              <a:tblGrid>
                <a:gridCol w="790575">
                  <a:extLst>
                    <a:ext uri="{9D8B030D-6E8A-4147-A177-3AD203B41FA5}">
                      <a16:colId xmlns:a16="http://schemas.microsoft.com/office/drawing/2014/main" val="20000"/>
                    </a:ext>
                  </a:extLst>
                </a:gridCol>
                <a:gridCol w="865187">
                  <a:extLst>
                    <a:ext uri="{9D8B030D-6E8A-4147-A177-3AD203B41FA5}">
                      <a16:colId xmlns:a16="http://schemas.microsoft.com/office/drawing/2014/main" val="20001"/>
                    </a:ext>
                  </a:extLst>
                </a:gridCol>
                <a:gridCol w="287338">
                  <a:extLst>
                    <a:ext uri="{9D8B030D-6E8A-4147-A177-3AD203B41FA5}">
                      <a16:colId xmlns:a16="http://schemas.microsoft.com/office/drawing/2014/main" val="20002"/>
                    </a:ext>
                  </a:extLst>
                </a:gridCol>
                <a:gridCol w="287337">
                  <a:extLst>
                    <a:ext uri="{9D8B030D-6E8A-4147-A177-3AD203B41FA5}">
                      <a16:colId xmlns:a16="http://schemas.microsoft.com/office/drawing/2014/main" val="20003"/>
                    </a:ext>
                  </a:extLst>
                </a:gridCol>
                <a:gridCol w="287338">
                  <a:extLst>
                    <a:ext uri="{9D8B030D-6E8A-4147-A177-3AD203B41FA5}">
                      <a16:colId xmlns:a16="http://schemas.microsoft.com/office/drawing/2014/main" val="20004"/>
                    </a:ext>
                  </a:extLst>
                </a:gridCol>
                <a:gridCol w="288925">
                  <a:extLst>
                    <a:ext uri="{9D8B030D-6E8A-4147-A177-3AD203B41FA5}">
                      <a16:colId xmlns:a16="http://schemas.microsoft.com/office/drawing/2014/main" val="20005"/>
                    </a:ext>
                  </a:extLst>
                </a:gridCol>
              </a:tblGrid>
              <a:tr h="215900">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1800" b="0" i="0" u="none" strike="noStrike" cap="none" normalizeH="0" baseline="0" dirty="0">
                          <a:ln>
                            <a:noFill/>
                          </a:ln>
                          <a:solidFill>
                            <a:schemeClr val="tx1"/>
                          </a:solidFill>
                          <a:effectLst/>
                          <a:latin typeface="+mn-lt"/>
                          <a:ea typeface="微软雅黑 Light" panose="020B0502040204020203" pitchFamily="34" charset="-122"/>
                        </a:rPr>
                        <a:t>数据</a:t>
                      </a:r>
                      <a:r>
                        <a:rPr kumimoji="0" lang="en-US" altLang="zh-CN" sz="1800" b="0" i="0" u="none" strike="noStrike" cap="none" normalizeH="0" baseline="0" dirty="0">
                          <a:ln>
                            <a:noFill/>
                          </a:ln>
                          <a:solidFill>
                            <a:schemeClr val="tx1"/>
                          </a:solidFill>
                          <a:effectLst/>
                          <a:latin typeface="+mn-lt"/>
                          <a:ea typeface="微软雅黑 Light" panose="020B0502040204020203" pitchFamily="34"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1800" b="0" i="0" u="none" strike="noStrike" cap="none" normalizeH="0" baseline="0">
                          <a:ln>
                            <a:noFill/>
                          </a:ln>
                          <a:solidFill>
                            <a:schemeClr val="tx1"/>
                          </a:solidFill>
                          <a:effectLst/>
                          <a:latin typeface="+mn-lt"/>
                          <a:ea typeface="微软雅黑 Light" panose="020B0502040204020203" pitchFamily="34" charset="-122"/>
                        </a:rPr>
                        <a:t>数据</a:t>
                      </a:r>
                      <a:r>
                        <a:rPr kumimoji="0" lang="en-US" altLang="zh-CN" sz="1800" b="0" i="0" u="none" strike="noStrike" cap="none" normalizeH="0" baseline="0">
                          <a:ln>
                            <a:noFill/>
                          </a:ln>
                          <a:solidFill>
                            <a:schemeClr val="tx1"/>
                          </a:solidFill>
                          <a:effectLst/>
                          <a:latin typeface="+mn-lt"/>
                          <a:ea typeface="微软雅黑 Light" panose="020B0502040204020203" pitchFamily="34"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a:ln>
                            <a:noFill/>
                          </a:ln>
                          <a:solidFill>
                            <a:schemeClr val="tx1"/>
                          </a:solidFill>
                          <a:effectLst/>
                          <a:latin typeface="+mn-lt"/>
                          <a:ea typeface="微软雅黑 Light" panose="020B0502040204020203" pitchFamily="34" charset="-122"/>
                        </a:rPr>
                        <a:t>j</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a:ln>
                            <a:noFill/>
                          </a:ln>
                          <a:solidFill>
                            <a:schemeClr val="tx1"/>
                          </a:solidFill>
                          <a:effectLst/>
                          <a:latin typeface="+mn-lt"/>
                          <a:ea typeface="微软雅黑 Light" panose="020B0502040204020203" pitchFamily="34" charset="-122"/>
                        </a:rPr>
                        <a:t>k</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a:ln>
                            <a:noFill/>
                          </a:ln>
                          <a:solidFill>
                            <a:schemeClr val="tx1"/>
                          </a:solidFill>
                          <a:effectLst/>
                          <a:latin typeface="+mn-lt"/>
                          <a:ea typeface="微软雅黑 Light" panose="020B0502040204020203" pitchFamily="34" charset="-122"/>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mn-lt"/>
                          <a:ea typeface="微软雅黑 Light" panose="020B0502040204020203" pitchFamily="34" charset="-122"/>
                        </a:rPr>
                        <a:t>P</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55177" name="Group 201"/>
          <p:cNvGraphicFramePr>
            <a:graphicFrameLocks noGrp="1"/>
          </p:cNvGraphicFramePr>
          <p:nvPr/>
        </p:nvGraphicFramePr>
        <p:xfrm>
          <a:off x="1776414" y="4359275"/>
          <a:ext cx="3887787" cy="365760"/>
        </p:xfrm>
        <a:graphic>
          <a:graphicData uri="http://schemas.openxmlformats.org/drawingml/2006/table">
            <a:tbl>
              <a:tblPr/>
              <a:tblGrid>
                <a:gridCol w="504825">
                  <a:extLst>
                    <a:ext uri="{9D8B030D-6E8A-4147-A177-3AD203B41FA5}">
                      <a16:colId xmlns:a16="http://schemas.microsoft.com/office/drawing/2014/main" val="20000"/>
                    </a:ext>
                  </a:extLst>
                </a:gridCol>
                <a:gridCol w="788987">
                  <a:extLst>
                    <a:ext uri="{9D8B030D-6E8A-4147-A177-3AD203B41FA5}">
                      <a16:colId xmlns:a16="http://schemas.microsoft.com/office/drawing/2014/main" val="20001"/>
                    </a:ext>
                  </a:extLst>
                </a:gridCol>
                <a:gridCol w="865188">
                  <a:extLst>
                    <a:ext uri="{9D8B030D-6E8A-4147-A177-3AD203B41FA5}">
                      <a16:colId xmlns:a16="http://schemas.microsoft.com/office/drawing/2014/main" val="20002"/>
                    </a:ext>
                  </a:extLst>
                </a:gridCol>
                <a:gridCol w="287337">
                  <a:extLst>
                    <a:ext uri="{9D8B030D-6E8A-4147-A177-3AD203B41FA5}">
                      <a16:colId xmlns:a16="http://schemas.microsoft.com/office/drawing/2014/main" val="20003"/>
                    </a:ext>
                  </a:extLst>
                </a:gridCol>
                <a:gridCol w="287338">
                  <a:extLst>
                    <a:ext uri="{9D8B030D-6E8A-4147-A177-3AD203B41FA5}">
                      <a16:colId xmlns:a16="http://schemas.microsoft.com/office/drawing/2014/main" val="20004"/>
                    </a:ext>
                  </a:extLst>
                </a:gridCol>
                <a:gridCol w="287337">
                  <a:extLst>
                    <a:ext uri="{9D8B030D-6E8A-4147-A177-3AD203B41FA5}">
                      <a16:colId xmlns:a16="http://schemas.microsoft.com/office/drawing/2014/main" val="20005"/>
                    </a:ext>
                  </a:extLst>
                </a:gridCol>
                <a:gridCol w="288925">
                  <a:extLst>
                    <a:ext uri="{9D8B030D-6E8A-4147-A177-3AD203B41FA5}">
                      <a16:colId xmlns:a16="http://schemas.microsoft.com/office/drawing/2014/main" val="20006"/>
                    </a:ext>
                  </a:extLst>
                </a:gridCol>
                <a:gridCol w="577850">
                  <a:extLst>
                    <a:ext uri="{9D8B030D-6E8A-4147-A177-3AD203B41FA5}">
                      <a16:colId xmlns:a16="http://schemas.microsoft.com/office/drawing/2014/main" val="20007"/>
                    </a:ext>
                  </a:extLst>
                </a:gridCol>
              </a:tblGrid>
              <a:tr h="215900">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a:ln>
                            <a:noFill/>
                          </a:ln>
                          <a:solidFill>
                            <a:schemeClr val="tx1"/>
                          </a:solidFill>
                          <a:effectLst/>
                          <a:latin typeface="+mn-lt"/>
                          <a:ea typeface="微软雅黑 Light" panose="020B0502040204020203" pitchFamily="34" charset="-122"/>
                        </a:rPr>
                        <a:t>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1800" b="0" i="0" u="none" strike="noStrike" cap="none" normalizeH="0" baseline="0">
                          <a:ln>
                            <a:noFill/>
                          </a:ln>
                          <a:solidFill>
                            <a:schemeClr val="tx1"/>
                          </a:solidFill>
                          <a:effectLst/>
                          <a:latin typeface="+mn-lt"/>
                          <a:ea typeface="微软雅黑 Light" panose="020B0502040204020203" pitchFamily="34" charset="-122"/>
                        </a:rPr>
                        <a:t>数据</a:t>
                      </a:r>
                      <a:r>
                        <a:rPr kumimoji="0" lang="en-US" altLang="zh-CN" sz="1800" b="0" i="0" u="none" strike="noStrike" cap="none" normalizeH="0" baseline="0">
                          <a:ln>
                            <a:noFill/>
                          </a:ln>
                          <a:solidFill>
                            <a:schemeClr val="tx1"/>
                          </a:solidFill>
                          <a:effectLst/>
                          <a:latin typeface="+mn-lt"/>
                          <a:ea typeface="微软雅黑 Light" panose="020B0502040204020203" pitchFamily="34"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1800" b="0" i="0" u="none" strike="noStrike" cap="none" normalizeH="0" baseline="0" dirty="0">
                          <a:ln>
                            <a:noFill/>
                          </a:ln>
                          <a:solidFill>
                            <a:schemeClr val="tx1"/>
                          </a:solidFill>
                          <a:effectLst/>
                          <a:latin typeface="+mn-lt"/>
                          <a:ea typeface="微软雅黑 Light" panose="020B0502040204020203" pitchFamily="34" charset="-122"/>
                        </a:rPr>
                        <a:t>数据</a:t>
                      </a:r>
                      <a:r>
                        <a:rPr kumimoji="0" lang="en-US" altLang="zh-CN" sz="1800" b="0" i="0" u="none" strike="noStrike" cap="none" normalizeH="0" baseline="0" dirty="0">
                          <a:ln>
                            <a:noFill/>
                          </a:ln>
                          <a:solidFill>
                            <a:schemeClr val="tx1"/>
                          </a:solidFill>
                          <a:effectLst/>
                          <a:latin typeface="+mn-lt"/>
                          <a:ea typeface="微软雅黑 Light" panose="020B0502040204020203" pitchFamily="34"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a:ln>
                            <a:noFill/>
                          </a:ln>
                          <a:solidFill>
                            <a:schemeClr val="tx1"/>
                          </a:solidFill>
                          <a:effectLst/>
                          <a:latin typeface="+mn-lt"/>
                          <a:ea typeface="微软雅黑 Light" panose="020B0502040204020203" pitchFamily="34" charset="-122"/>
                        </a:rPr>
                        <a:t>j</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a:ln>
                            <a:noFill/>
                          </a:ln>
                          <a:solidFill>
                            <a:schemeClr val="tx1"/>
                          </a:solidFill>
                          <a:effectLst/>
                          <a:latin typeface="+mn-lt"/>
                          <a:ea typeface="微软雅黑 Light" panose="020B0502040204020203" pitchFamily="34" charset="-122"/>
                        </a:rPr>
                        <a:t>k</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a:ln>
                            <a:noFill/>
                          </a:ln>
                          <a:solidFill>
                            <a:schemeClr val="tx1"/>
                          </a:solidFill>
                          <a:effectLst/>
                          <a:latin typeface="+mn-lt"/>
                          <a:ea typeface="微软雅黑 Light" panose="020B0502040204020203" pitchFamily="34" charset="-122"/>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a:ln>
                            <a:noFill/>
                          </a:ln>
                          <a:solidFill>
                            <a:schemeClr val="tx1"/>
                          </a:solidFill>
                          <a:effectLst/>
                          <a:latin typeface="+mn-lt"/>
                          <a:ea typeface="微软雅黑 Light" panose="020B0502040204020203" pitchFamily="34" charset="-122"/>
                        </a:rPr>
                        <a:t>P</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mn-lt"/>
                          <a:ea typeface="微软雅黑 Light" panose="020B0502040204020203" pitchFamily="34" charset="-122"/>
                        </a:rPr>
                        <a:t>H2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55147" name="Line 171"/>
          <p:cNvSpPr>
            <a:spLocks noChangeShapeType="1"/>
          </p:cNvSpPr>
          <p:nvPr/>
        </p:nvSpPr>
        <p:spPr bwMode="auto">
          <a:xfrm>
            <a:off x="1919288" y="5373688"/>
            <a:ext cx="8280400" cy="0"/>
          </a:xfrm>
          <a:prstGeom prst="line">
            <a:avLst/>
          </a:prstGeom>
          <a:noFill/>
          <a:ln w="571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255148" name="Text Box 172"/>
          <p:cNvSpPr txBox="1">
            <a:spLocks noChangeArrowheads="1"/>
          </p:cNvSpPr>
          <p:nvPr/>
        </p:nvSpPr>
        <p:spPr bwMode="auto">
          <a:xfrm>
            <a:off x="5529263" y="5405439"/>
            <a:ext cx="1200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a:latin typeface="+mn-lt"/>
                <a:ea typeface="微软雅黑 Light" panose="020B0502040204020203" pitchFamily="34" charset="-122"/>
              </a:rPr>
              <a:t>物理链路</a:t>
            </a:r>
          </a:p>
        </p:txBody>
      </p:sp>
      <p:sp>
        <p:nvSpPr>
          <p:cNvPr id="255149" name="Line 173"/>
          <p:cNvSpPr>
            <a:spLocks noChangeShapeType="1"/>
          </p:cNvSpPr>
          <p:nvPr/>
        </p:nvSpPr>
        <p:spPr bwMode="auto">
          <a:xfrm>
            <a:off x="2711450" y="1844675"/>
            <a:ext cx="0" cy="431800"/>
          </a:xfrm>
          <a:prstGeom prst="line">
            <a:avLst/>
          </a:prstGeom>
          <a:noFill/>
          <a:ln w="28575">
            <a:solidFill>
              <a:srgbClr val="0066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255150" name="Line 174"/>
          <p:cNvSpPr>
            <a:spLocks noChangeShapeType="1"/>
          </p:cNvSpPr>
          <p:nvPr/>
        </p:nvSpPr>
        <p:spPr bwMode="auto">
          <a:xfrm>
            <a:off x="2711450" y="2636838"/>
            <a:ext cx="0" cy="576262"/>
          </a:xfrm>
          <a:prstGeom prst="line">
            <a:avLst/>
          </a:prstGeom>
          <a:noFill/>
          <a:ln w="28575">
            <a:solidFill>
              <a:srgbClr val="0066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255151" name="Line 175"/>
          <p:cNvSpPr>
            <a:spLocks noChangeShapeType="1"/>
          </p:cNvSpPr>
          <p:nvPr/>
        </p:nvSpPr>
        <p:spPr bwMode="auto">
          <a:xfrm>
            <a:off x="2711450" y="3573463"/>
            <a:ext cx="0" cy="792162"/>
          </a:xfrm>
          <a:prstGeom prst="line">
            <a:avLst/>
          </a:prstGeom>
          <a:noFill/>
          <a:ln w="28575">
            <a:solidFill>
              <a:srgbClr val="0066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255152" name="Line 176"/>
          <p:cNvSpPr>
            <a:spLocks noChangeShapeType="1"/>
          </p:cNvSpPr>
          <p:nvPr/>
        </p:nvSpPr>
        <p:spPr bwMode="auto">
          <a:xfrm>
            <a:off x="2711450" y="4724400"/>
            <a:ext cx="0" cy="649288"/>
          </a:xfrm>
          <a:prstGeom prst="line">
            <a:avLst/>
          </a:prstGeom>
          <a:noFill/>
          <a:ln w="28575">
            <a:solidFill>
              <a:srgbClr val="0066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255157" name="Text Box 181"/>
          <p:cNvSpPr txBox="1">
            <a:spLocks noChangeArrowheads="1"/>
          </p:cNvSpPr>
          <p:nvPr/>
        </p:nvSpPr>
        <p:spPr bwMode="auto">
          <a:xfrm>
            <a:off x="2351089" y="6030684"/>
            <a:ext cx="7705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dirty="0">
                <a:latin typeface="+mn-lt"/>
                <a:ea typeface="微软雅黑 Light" panose="020B0502040204020203" pitchFamily="34" charset="-122"/>
              </a:rPr>
              <a:t>H2</a:t>
            </a:r>
            <a:r>
              <a:rPr lang="zh-CN" altLang="en-US" dirty="0">
                <a:latin typeface="+mn-lt"/>
                <a:ea typeface="微软雅黑 Light" panose="020B0502040204020203" pitchFamily="34" charset="-122"/>
              </a:rPr>
              <a:t>、</a:t>
            </a:r>
            <a:r>
              <a:rPr lang="en-US" altLang="zh-CN" dirty="0">
                <a:latin typeface="+mn-lt"/>
                <a:ea typeface="微软雅黑 Light" panose="020B0502040204020203" pitchFamily="34" charset="-122"/>
              </a:rPr>
              <a:t>T2</a:t>
            </a:r>
            <a:r>
              <a:rPr lang="zh-CN" altLang="en-US" dirty="0">
                <a:latin typeface="+mn-lt"/>
                <a:ea typeface="微软雅黑 Light" panose="020B0502040204020203" pitchFamily="34" charset="-122"/>
              </a:rPr>
              <a:t>：数据链路层帧首尾， </a:t>
            </a:r>
            <a:r>
              <a:rPr lang="en-US" altLang="zh-CN" dirty="0">
                <a:latin typeface="+mn-lt"/>
                <a:ea typeface="微软雅黑 Light" panose="020B0502040204020203" pitchFamily="34" charset="-122"/>
              </a:rPr>
              <a:t>A</a:t>
            </a:r>
            <a:r>
              <a:rPr lang="zh-CN" altLang="en-US" dirty="0">
                <a:latin typeface="+mn-lt"/>
                <a:ea typeface="微软雅黑 Light" panose="020B0502040204020203" pitchFamily="34" charset="-122"/>
              </a:rPr>
              <a:t>、</a:t>
            </a:r>
            <a:r>
              <a:rPr lang="en-US" altLang="zh-CN" dirty="0">
                <a:latin typeface="+mn-lt"/>
                <a:ea typeface="微软雅黑 Light" panose="020B0502040204020203" pitchFamily="34" charset="-122"/>
              </a:rPr>
              <a:t>P</a:t>
            </a:r>
            <a:r>
              <a:rPr lang="zh-CN" altLang="en-US" dirty="0">
                <a:latin typeface="+mn-lt"/>
                <a:ea typeface="微软雅黑 Light" panose="020B0502040204020203" pitchFamily="34" charset="-122"/>
              </a:rPr>
              <a:t>：网络地址， </a:t>
            </a:r>
            <a:r>
              <a:rPr lang="en-US" altLang="zh-CN" dirty="0">
                <a:latin typeface="+mn-lt"/>
                <a:ea typeface="微软雅黑 Light" panose="020B0502040204020203" pitchFamily="34" charset="-122"/>
              </a:rPr>
              <a:t>j</a:t>
            </a:r>
            <a:r>
              <a:rPr lang="zh-CN" altLang="en-US" dirty="0">
                <a:latin typeface="+mn-lt"/>
                <a:ea typeface="微软雅黑 Light" panose="020B0502040204020203" pitchFamily="34" charset="-122"/>
              </a:rPr>
              <a:t>、</a:t>
            </a:r>
            <a:r>
              <a:rPr lang="en-US" altLang="zh-CN" dirty="0">
                <a:latin typeface="+mn-lt"/>
                <a:ea typeface="微软雅黑 Light" panose="020B0502040204020203" pitchFamily="34" charset="-122"/>
              </a:rPr>
              <a:t>k</a:t>
            </a:r>
            <a:r>
              <a:rPr lang="zh-CN" altLang="en-US" dirty="0">
                <a:latin typeface="+mn-lt"/>
                <a:ea typeface="微软雅黑 Light" panose="020B0502040204020203" pitchFamily="34" charset="-122"/>
              </a:rPr>
              <a:t>：端口号</a:t>
            </a:r>
          </a:p>
        </p:txBody>
      </p:sp>
      <p:sp>
        <p:nvSpPr>
          <p:cNvPr id="255158" name="Text Box 182"/>
          <p:cNvSpPr txBox="1">
            <a:spLocks noChangeArrowheads="1"/>
          </p:cNvSpPr>
          <p:nvPr/>
        </p:nvSpPr>
        <p:spPr bwMode="auto">
          <a:xfrm>
            <a:off x="5589589" y="2205039"/>
            <a:ext cx="10810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a:latin typeface="+mn-lt"/>
                <a:ea typeface="微软雅黑 Light" panose="020B0502040204020203" pitchFamily="34" charset="-122"/>
              </a:rPr>
              <a:t>传输层</a:t>
            </a:r>
          </a:p>
        </p:txBody>
      </p:sp>
      <p:sp>
        <p:nvSpPr>
          <p:cNvPr id="255159" name="Text Box 183"/>
          <p:cNvSpPr txBox="1">
            <a:spLocks noChangeArrowheads="1"/>
          </p:cNvSpPr>
          <p:nvPr/>
        </p:nvSpPr>
        <p:spPr bwMode="auto">
          <a:xfrm>
            <a:off x="5589589" y="3103564"/>
            <a:ext cx="10810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a:latin typeface="+mn-lt"/>
                <a:ea typeface="微软雅黑 Light" panose="020B0502040204020203" pitchFamily="34" charset="-122"/>
              </a:rPr>
              <a:t>网络层</a:t>
            </a:r>
          </a:p>
        </p:txBody>
      </p:sp>
      <p:sp>
        <p:nvSpPr>
          <p:cNvPr id="255160" name="Text Box 184"/>
          <p:cNvSpPr txBox="1">
            <a:spLocks noChangeArrowheads="1"/>
          </p:cNvSpPr>
          <p:nvPr/>
        </p:nvSpPr>
        <p:spPr bwMode="auto">
          <a:xfrm>
            <a:off x="5375275" y="3860801"/>
            <a:ext cx="1511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a:latin typeface="+mn-lt"/>
                <a:ea typeface="微软雅黑 Light" panose="020B0502040204020203" pitchFamily="34" charset="-122"/>
              </a:rPr>
              <a:t>数据链路层</a:t>
            </a:r>
          </a:p>
        </p:txBody>
      </p:sp>
      <p:graphicFrame>
        <p:nvGraphicFramePr>
          <p:cNvPr id="255163" name="Group 187"/>
          <p:cNvGraphicFramePr>
            <a:graphicFrameLocks noGrp="1"/>
          </p:cNvGraphicFramePr>
          <p:nvPr/>
        </p:nvGraphicFramePr>
        <p:xfrm>
          <a:off x="3216276" y="2276475"/>
          <a:ext cx="1368425" cy="365760"/>
        </p:xfrm>
        <a:graphic>
          <a:graphicData uri="http://schemas.openxmlformats.org/drawingml/2006/table">
            <a:tbl>
              <a:tblPr/>
              <a:tblGrid>
                <a:gridCol w="792163">
                  <a:extLst>
                    <a:ext uri="{9D8B030D-6E8A-4147-A177-3AD203B41FA5}">
                      <a16:colId xmlns:a16="http://schemas.microsoft.com/office/drawing/2014/main" val="20000"/>
                    </a:ext>
                  </a:extLst>
                </a:gridCol>
                <a:gridCol w="287337">
                  <a:extLst>
                    <a:ext uri="{9D8B030D-6E8A-4147-A177-3AD203B41FA5}">
                      <a16:colId xmlns:a16="http://schemas.microsoft.com/office/drawing/2014/main" val="20001"/>
                    </a:ext>
                  </a:extLst>
                </a:gridCol>
                <a:gridCol w="288925">
                  <a:extLst>
                    <a:ext uri="{9D8B030D-6E8A-4147-A177-3AD203B41FA5}">
                      <a16:colId xmlns:a16="http://schemas.microsoft.com/office/drawing/2014/main" val="20002"/>
                    </a:ext>
                  </a:extLst>
                </a:gridCol>
              </a:tblGrid>
              <a:tr h="215900">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1800" b="0" i="0" u="none" strike="noStrike" cap="none" normalizeH="0" baseline="0" dirty="0">
                          <a:ln>
                            <a:noFill/>
                          </a:ln>
                          <a:solidFill>
                            <a:schemeClr val="tx1"/>
                          </a:solidFill>
                          <a:effectLst/>
                          <a:latin typeface="+mn-lt"/>
                          <a:ea typeface="微软雅黑 Light" panose="020B0502040204020203" pitchFamily="34" charset="-122"/>
                        </a:rPr>
                        <a:t>数据</a:t>
                      </a:r>
                      <a:r>
                        <a:rPr kumimoji="0" lang="en-US" altLang="zh-CN" sz="1800" b="0" i="0" u="none" strike="noStrike" cap="none" normalizeH="0" baseline="0" dirty="0">
                          <a:ln>
                            <a:noFill/>
                          </a:ln>
                          <a:solidFill>
                            <a:schemeClr val="tx1"/>
                          </a:solidFill>
                          <a:effectLst/>
                          <a:latin typeface="+mn-lt"/>
                          <a:ea typeface="微软雅黑 Light" panose="020B0502040204020203" pitchFamily="34"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mn-lt"/>
                          <a:ea typeface="微软雅黑 Light" panose="020B0502040204020203" pitchFamily="34" charset="-122"/>
                        </a:rPr>
                        <a:t>j</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mn-lt"/>
                          <a:ea typeface="微软雅黑 Light" panose="020B0502040204020203" pitchFamily="34" charset="-122"/>
                        </a:rPr>
                        <a:t>k</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55238" name="Group 262"/>
          <p:cNvGraphicFramePr>
            <a:graphicFrameLocks noGrp="1"/>
          </p:cNvGraphicFramePr>
          <p:nvPr/>
        </p:nvGraphicFramePr>
        <p:xfrm>
          <a:off x="7464426" y="2276475"/>
          <a:ext cx="1368425" cy="365760"/>
        </p:xfrm>
        <a:graphic>
          <a:graphicData uri="http://schemas.openxmlformats.org/drawingml/2006/table">
            <a:tbl>
              <a:tblPr/>
              <a:tblGrid>
                <a:gridCol w="792163">
                  <a:extLst>
                    <a:ext uri="{9D8B030D-6E8A-4147-A177-3AD203B41FA5}">
                      <a16:colId xmlns:a16="http://schemas.microsoft.com/office/drawing/2014/main" val="20000"/>
                    </a:ext>
                  </a:extLst>
                </a:gridCol>
                <a:gridCol w="287337">
                  <a:extLst>
                    <a:ext uri="{9D8B030D-6E8A-4147-A177-3AD203B41FA5}">
                      <a16:colId xmlns:a16="http://schemas.microsoft.com/office/drawing/2014/main" val="20001"/>
                    </a:ext>
                  </a:extLst>
                </a:gridCol>
                <a:gridCol w="288925">
                  <a:extLst>
                    <a:ext uri="{9D8B030D-6E8A-4147-A177-3AD203B41FA5}">
                      <a16:colId xmlns:a16="http://schemas.microsoft.com/office/drawing/2014/main" val="20002"/>
                    </a:ext>
                  </a:extLst>
                </a:gridCol>
              </a:tblGrid>
              <a:tr h="360363">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1800" b="0" i="0" u="none" strike="noStrike" cap="none" normalizeH="0" baseline="0" dirty="0">
                          <a:ln>
                            <a:noFill/>
                          </a:ln>
                          <a:solidFill>
                            <a:schemeClr val="tx1"/>
                          </a:solidFill>
                          <a:effectLst/>
                          <a:latin typeface="+mn-lt"/>
                          <a:ea typeface="微软雅黑 Light" panose="020B0502040204020203" pitchFamily="34" charset="-122"/>
                        </a:rPr>
                        <a:t>数据</a:t>
                      </a:r>
                      <a:r>
                        <a:rPr kumimoji="0" lang="en-US" altLang="zh-CN" sz="1800" b="0" i="0" u="none" strike="noStrike" cap="none" normalizeH="0" baseline="0" dirty="0">
                          <a:ln>
                            <a:noFill/>
                          </a:ln>
                          <a:solidFill>
                            <a:schemeClr val="tx1"/>
                          </a:solidFill>
                          <a:effectLst/>
                          <a:latin typeface="+mn-lt"/>
                          <a:ea typeface="微软雅黑 Light" panose="020B0502040204020203" pitchFamily="34"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a:ln>
                            <a:noFill/>
                          </a:ln>
                          <a:solidFill>
                            <a:schemeClr val="tx1"/>
                          </a:solidFill>
                          <a:effectLst/>
                          <a:latin typeface="+mn-lt"/>
                          <a:ea typeface="微软雅黑 Light" panose="020B0502040204020203" pitchFamily="34" charset="-122"/>
                        </a:rPr>
                        <a:t>j</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mn-lt"/>
                          <a:ea typeface="微软雅黑 Light" panose="020B0502040204020203" pitchFamily="34" charset="-122"/>
                        </a:rPr>
                        <a:t>k</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55188" name="Group 212"/>
          <p:cNvGraphicFramePr>
            <a:graphicFrameLocks noGrp="1"/>
          </p:cNvGraphicFramePr>
          <p:nvPr/>
        </p:nvGraphicFramePr>
        <p:xfrm>
          <a:off x="7466013" y="3208338"/>
          <a:ext cx="2806700" cy="365760"/>
        </p:xfrm>
        <a:graphic>
          <a:graphicData uri="http://schemas.openxmlformats.org/drawingml/2006/table">
            <a:tbl>
              <a:tblPr/>
              <a:tblGrid>
                <a:gridCol w="790575">
                  <a:extLst>
                    <a:ext uri="{9D8B030D-6E8A-4147-A177-3AD203B41FA5}">
                      <a16:colId xmlns:a16="http://schemas.microsoft.com/office/drawing/2014/main" val="20000"/>
                    </a:ext>
                  </a:extLst>
                </a:gridCol>
                <a:gridCol w="865187">
                  <a:extLst>
                    <a:ext uri="{9D8B030D-6E8A-4147-A177-3AD203B41FA5}">
                      <a16:colId xmlns:a16="http://schemas.microsoft.com/office/drawing/2014/main" val="20001"/>
                    </a:ext>
                  </a:extLst>
                </a:gridCol>
                <a:gridCol w="287338">
                  <a:extLst>
                    <a:ext uri="{9D8B030D-6E8A-4147-A177-3AD203B41FA5}">
                      <a16:colId xmlns:a16="http://schemas.microsoft.com/office/drawing/2014/main" val="20002"/>
                    </a:ext>
                  </a:extLst>
                </a:gridCol>
                <a:gridCol w="287337">
                  <a:extLst>
                    <a:ext uri="{9D8B030D-6E8A-4147-A177-3AD203B41FA5}">
                      <a16:colId xmlns:a16="http://schemas.microsoft.com/office/drawing/2014/main" val="20003"/>
                    </a:ext>
                  </a:extLst>
                </a:gridCol>
                <a:gridCol w="287338">
                  <a:extLst>
                    <a:ext uri="{9D8B030D-6E8A-4147-A177-3AD203B41FA5}">
                      <a16:colId xmlns:a16="http://schemas.microsoft.com/office/drawing/2014/main" val="20004"/>
                    </a:ext>
                  </a:extLst>
                </a:gridCol>
                <a:gridCol w="288925">
                  <a:extLst>
                    <a:ext uri="{9D8B030D-6E8A-4147-A177-3AD203B41FA5}">
                      <a16:colId xmlns:a16="http://schemas.microsoft.com/office/drawing/2014/main" val="20005"/>
                    </a:ext>
                  </a:extLst>
                </a:gridCol>
              </a:tblGrid>
              <a:tr h="215900">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1800" b="0" i="0" u="none" strike="noStrike" cap="none" normalizeH="0" baseline="0" dirty="0">
                          <a:ln>
                            <a:noFill/>
                          </a:ln>
                          <a:solidFill>
                            <a:schemeClr val="tx1"/>
                          </a:solidFill>
                          <a:effectLst/>
                          <a:latin typeface="+mn-lt"/>
                          <a:ea typeface="微软雅黑 Light" panose="020B0502040204020203" pitchFamily="34" charset="-122"/>
                        </a:rPr>
                        <a:t>数据</a:t>
                      </a:r>
                      <a:r>
                        <a:rPr kumimoji="0" lang="en-US" altLang="zh-CN" sz="1800" b="0" i="0" u="none" strike="noStrike" cap="none" normalizeH="0" baseline="0" dirty="0">
                          <a:ln>
                            <a:noFill/>
                          </a:ln>
                          <a:solidFill>
                            <a:schemeClr val="tx1"/>
                          </a:solidFill>
                          <a:effectLst/>
                          <a:latin typeface="+mn-lt"/>
                          <a:ea typeface="微软雅黑 Light" panose="020B0502040204020203" pitchFamily="34"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1800" b="0" i="0" u="none" strike="noStrike" cap="none" normalizeH="0" baseline="0">
                          <a:ln>
                            <a:noFill/>
                          </a:ln>
                          <a:solidFill>
                            <a:schemeClr val="tx1"/>
                          </a:solidFill>
                          <a:effectLst/>
                          <a:latin typeface="+mn-lt"/>
                          <a:ea typeface="微软雅黑 Light" panose="020B0502040204020203" pitchFamily="34" charset="-122"/>
                        </a:rPr>
                        <a:t>数据</a:t>
                      </a:r>
                      <a:r>
                        <a:rPr kumimoji="0" lang="en-US" altLang="zh-CN" sz="1800" b="0" i="0" u="none" strike="noStrike" cap="none" normalizeH="0" baseline="0">
                          <a:ln>
                            <a:noFill/>
                          </a:ln>
                          <a:solidFill>
                            <a:schemeClr val="tx1"/>
                          </a:solidFill>
                          <a:effectLst/>
                          <a:latin typeface="+mn-lt"/>
                          <a:ea typeface="微软雅黑 Light" panose="020B0502040204020203" pitchFamily="34"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a:ln>
                            <a:noFill/>
                          </a:ln>
                          <a:solidFill>
                            <a:schemeClr val="tx1"/>
                          </a:solidFill>
                          <a:effectLst/>
                          <a:latin typeface="+mn-lt"/>
                          <a:ea typeface="微软雅黑 Light" panose="020B0502040204020203" pitchFamily="34" charset="-122"/>
                        </a:rPr>
                        <a:t>j</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a:ln>
                            <a:noFill/>
                          </a:ln>
                          <a:solidFill>
                            <a:schemeClr val="tx1"/>
                          </a:solidFill>
                          <a:effectLst/>
                          <a:latin typeface="+mn-lt"/>
                          <a:ea typeface="微软雅黑 Light" panose="020B0502040204020203" pitchFamily="34" charset="-122"/>
                        </a:rPr>
                        <a:t>k</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a:ln>
                            <a:noFill/>
                          </a:ln>
                          <a:solidFill>
                            <a:schemeClr val="tx1"/>
                          </a:solidFill>
                          <a:effectLst/>
                          <a:latin typeface="+mn-lt"/>
                          <a:ea typeface="微软雅黑 Light" panose="020B0502040204020203" pitchFamily="34" charset="-122"/>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mn-lt"/>
                          <a:ea typeface="微软雅黑 Light" panose="020B0502040204020203" pitchFamily="34" charset="-122"/>
                        </a:rPr>
                        <a:t>P</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55204" name="Group 228"/>
          <p:cNvGraphicFramePr>
            <a:graphicFrameLocks noGrp="1"/>
          </p:cNvGraphicFramePr>
          <p:nvPr/>
        </p:nvGraphicFramePr>
        <p:xfrm>
          <a:off x="6456364" y="4359275"/>
          <a:ext cx="3887787" cy="365760"/>
        </p:xfrm>
        <a:graphic>
          <a:graphicData uri="http://schemas.openxmlformats.org/drawingml/2006/table">
            <a:tbl>
              <a:tblPr/>
              <a:tblGrid>
                <a:gridCol w="504825">
                  <a:extLst>
                    <a:ext uri="{9D8B030D-6E8A-4147-A177-3AD203B41FA5}">
                      <a16:colId xmlns:a16="http://schemas.microsoft.com/office/drawing/2014/main" val="20000"/>
                    </a:ext>
                  </a:extLst>
                </a:gridCol>
                <a:gridCol w="788987">
                  <a:extLst>
                    <a:ext uri="{9D8B030D-6E8A-4147-A177-3AD203B41FA5}">
                      <a16:colId xmlns:a16="http://schemas.microsoft.com/office/drawing/2014/main" val="20001"/>
                    </a:ext>
                  </a:extLst>
                </a:gridCol>
                <a:gridCol w="865188">
                  <a:extLst>
                    <a:ext uri="{9D8B030D-6E8A-4147-A177-3AD203B41FA5}">
                      <a16:colId xmlns:a16="http://schemas.microsoft.com/office/drawing/2014/main" val="20002"/>
                    </a:ext>
                  </a:extLst>
                </a:gridCol>
                <a:gridCol w="287337">
                  <a:extLst>
                    <a:ext uri="{9D8B030D-6E8A-4147-A177-3AD203B41FA5}">
                      <a16:colId xmlns:a16="http://schemas.microsoft.com/office/drawing/2014/main" val="20003"/>
                    </a:ext>
                  </a:extLst>
                </a:gridCol>
                <a:gridCol w="287338">
                  <a:extLst>
                    <a:ext uri="{9D8B030D-6E8A-4147-A177-3AD203B41FA5}">
                      <a16:colId xmlns:a16="http://schemas.microsoft.com/office/drawing/2014/main" val="20004"/>
                    </a:ext>
                  </a:extLst>
                </a:gridCol>
                <a:gridCol w="287337">
                  <a:extLst>
                    <a:ext uri="{9D8B030D-6E8A-4147-A177-3AD203B41FA5}">
                      <a16:colId xmlns:a16="http://schemas.microsoft.com/office/drawing/2014/main" val="20005"/>
                    </a:ext>
                  </a:extLst>
                </a:gridCol>
                <a:gridCol w="288925">
                  <a:extLst>
                    <a:ext uri="{9D8B030D-6E8A-4147-A177-3AD203B41FA5}">
                      <a16:colId xmlns:a16="http://schemas.microsoft.com/office/drawing/2014/main" val="20006"/>
                    </a:ext>
                  </a:extLst>
                </a:gridCol>
                <a:gridCol w="577850">
                  <a:extLst>
                    <a:ext uri="{9D8B030D-6E8A-4147-A177-3AD203B41FA5}">
                      <a16:colId xmlns:a16="http://schemas.microsoft.com/office/drawing/2014/main" val="20007"/>
                    </a:ext>
                  </a:extLst>
                </a:gridCol>
              </a:tblGrid>
              <a:tr h="215900">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a:ln>
                            <a:noFill/>
                          </a:ln>
                          <a:solidFill>
                            <a:schemeClr val="tx1"/>
                          </a:solidFill>
                          <a:effectLst/>
                          <a:latin typeface="+mn-lt"/>
                          <a:ea typeface="微软雅黑 Light" panose="020B0502040204020203" pitchFamily="34" charset="-122"/>
                        </a:rPr>
                        <a:t>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1800" b="0" i="0" u="none" strike="noStrike" cap="none" normalizeH="0" baseline="0">
                          <a:ln>
                            <a:noFill/>
                          </a:ln>
                          <a:solidFill>
                            <a:schemeClr val="tx1"/>
                          </a:solidFill>
                          <a:effectLst/>
                          <a:latin typeface="+mn-lt"/>
                          <a:ea typeface="微软雅黑 Light" panose="020B0502040204020203" pitchFamily="34" charset="-122"/>
                        </a:rPr>
                        <a:t>数据</a:t>
                      </a:r>
                      <a:r>
                        <a:rPr kumimoji="0" lang="en-US" altLang="zh-CN" sz="1800" b="0" i="0" u="none" strike="noStrike" cap="none" normalizeH="0" baseline="0">
                          <a:ln>
                            <a:noFill/>
                          </a:ln>
                          <a:solidFill>
                            <a:schemeClr val="tx1"/>
                          </a:solidFill>
                          <a:effectLst/>
                          <a:latin typeface="+mn-lt"/>
                          <a:ea typeface="微软雅黑 Light" panose="020B0502040204020203" pitchFamily="34"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1800" b="0" i="0" u="none" strike="noStrike" cap="none" normalizeH="0" baseline="0" dirty="0">
                          <a:ln>
                            <a:noFill/>
                          </a:ln>
                          <a:solidFill>
                            <a:schemeClr val="tx1"/>
                          </a:solidFill>
                          <a:effectLst/>
                          <a:latin typeface="+mn-lt"/>
                          <a:ea typeface="微软雅黑 Light" panose="020B0502040204020203" pitchFamily="34" charset="-122"/>
                        </a:rPr>
                        <a:t>数据</a:t>
                      </a:r>
                      <a:r>
                        <a:rPr kumimoji="0" lang="en-US" altLang="zh-CN" sz="1800" b="0" i="0" u="none" strike="noStrike" cap="none" normalizeH="0" baseline="0" dirty="0">
                          <a:ln>
                            <a:noFill/>
                          </a:ln>
                          <a:solidFill>
                            <a:schemeClr val="tx1"/>
                          </a:solidFill>
                          <a:effectLst/>
                          <a:latin typeface="+mn-lt"/>
                          <a:ea typeface="微软雅黑 Light" panose="020B0502040204020203" pitchFamily="34"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a:ln>
                            <a:noFill/>
                          </a:ln>
                          <a:solidFill>
                            <a:schemeClr val="tx1"/>
                          </a:solidFill>
                          <a:effectLst/>
                          <a:latin typeface="+mn-lt"/>
                          <a:ea typeface="微软雅黑 Light" panose="020B0502040204020203" pitchFamily="34" charset="-122"/>
                        </a:rPr>
                        <a:t>j</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a:ln>
                            <a:noFill/>
                          </a:ln>
                          <a:solidFill>
                            <a:schemeClr val="tx1"/>
                          </a:solidFill>
                          <a:effectLst/>
                          <a:latin typeface="+mn-lt"/>
                          <a:ea typeface="微软雅黑 Light" panose="020B0502040204020203" pitchFamily="34" charset="-122"/>
                        </a:rPr>
                        <a:t>k</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a:ln>
                            <a:noFill/>
                          </a:ln>
                          <a:solidFill>
                            <a:schemeClr val="tx1"/>
                          </a:solidFill>
                          <a:effectLst/>
                          <a:latin typeface="+mn-lt"/>
                          <a:ea typeface="微软雅黑 Light" panose="020B0502040204020203" pitchFamily="34" charset="-122"/>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a:ln>
                            <a:noFill/>
                          </a:ln>
                          <a:solidFill>
                            <a:schemeClr val="tx1"/>
                          </a:solidFill>
                          <a:effectLst/>
                          <a:latin typeface="+mn-lt"/>
                          <a:ea typeface="微软雅黑 Light" panose="020B0502040204020203" pitchFamily="34" charset="-122"/>
                        </a:rPr>
                        <a:t>P</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mn-lt"/>
                          <a:ea typeface="微软雅黑 Light" panose="020B0502040204020203" pitchFamily="34" charset="-122"/>
                        </a:rPr>
                        <a:t>H2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55224" name="Line 248"/>
          <p:cNvSpPr>
            <a:spLocks noChangeShapeType="1"/>
          </p:cNvSpPr>
          <p:nvPr/>
        </p:nvSpPr>
        <p:spPr bwMode="auto">
          <a:xfrm>
            <a:off x="9623425" y="1844675"/>
            <a:ext cx="0" cy="431800"/>
          </a:xfrm>
          <a:prstGeom prst="line">
            <a:avLst/>
          </a:prstGeom>
          <a:noFill/>
          <a:ln w="28575">
            <a:solidFill>
              <a:srgbClr val="0066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255225" name="Line 249"/>
          <p:cNvSpPr>
            <a:spLocks noChangeShapeType="1"/>
          </p:cNvSpPr>
          <p:nvPr/>
        </p:nvSpPr>
        <p:spPr bwMode="auto">
          <a:xfrm>
            <a:off x="9623425" y="2636838"/>
            <a:ext cx="0" cy="576262"/>
          </a:xfrm>
          <a:prstGeom prst="line">
            <a:avLst/>
          </a:prstGeom>
          <a:noFill/>
          <a:ln w="28575">
            <a:solidFill>
              <a:srgbClr val="0066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255226" name="Line 250"/>
          <p:cNvSpPr>
            <a:spLocks noChangeShapeType="1"/>
          </p:cNvSpPr>
          <p:nvPr/>
        </p:nvSpPr>
        <p:spPr bwMode="auto">
          <a:xfrm>
            <a:off x="9623425" y="3573463"/>
            <a:ext cx="0" cy="792162"/>
          </a:xfrm>
          <a:prstGeom prst="line">
            <a:avLst/>
          </a:prstGeom>
          <a:noFill/>
          <a:ln w="28575">
            <a:solidFill>
              <a:srgbClr val="0066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255227" name="Line 251"/>
          <p:cNvSpPr>
            <a:spLocks noChangeShapeType="1"/>
          </p:cNvSpPr>
          <p:nvPr/>
        </p:nvSpPr>
        <p:spPr bwMode="auto">
          <a:xfrm>
            <a:off x="9623425" y="4724400"/>
            <a:ext cx="0" cy="649288"/>
          </a:xfrm>
          <a:prstGeom prst="line">
            <a:avLst/>
          </a:prstGeom>
          <a:noFill/>
          <a:ln w="28575">
            <a:solidFill>
              <a:srgbClr val="0066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graphicFrame>
        <p:nvGraphicFramePr>
          <p:cNvPr id="255228" name="Group 252"/>
          <p:cNvGraphicFramePr>
            <a:graphicFrameLocks noGrp="1"/>
          </p:cNvGraphicFramePr>
          <p:nvPr/>
        </p:nvGraphicFramePr>
        <p:xfrm>
          <a:off x="8905876" y="2276475"/>
          <a:ext cx="1368425" cy="365760"/>
        </p:xfrm>
        <a:graphic>
          <a:graphicData uri="http://schemas.openxmlformats.org/drawingml/2006/table">
            <a:tbl>
              <a:tblPr/>
              <a:tblGrid>
                <a:gridCol w="792163">
                  <a:extLst>
                    <a:ext uri="{9D8B030D-6E8A-4147-A177-3AD203B41FA5}">
                      <a16:colId xmlns:a16="http://schemas.microsoft.com/office/drawing/2014/main" val="20000"/>
                    </a:ext>
                  </a:extLst>
                </a:gridCol>
                <a:gridCol w="287337">
                  <a:extLst>
                    <a:ext uri="{9D8B030D-6E8A-4147-A177-3AD203B41FA5}">
                      <a16:colId xmlns:a16="http://schemas.microsoft.com/office/drawing/2014/main" val="20001"/>
                    </a:ext>
                  </a:extLst>
                </a:gridCol>
                <a:gridCol w="288925">
                  <a:extLst>
                    <a:ext uri="{9D8B030D-6E8A-4147-A177-3AD203B41FA5}">
                      <a16:colId xmlns:a16="http://schemas.microsoft.com/office/drawing/2014/main" val="20002"/>
                    </a:ext>
                  </a:extLst>
                </a:gridCol>
              </a:tblGrid>
              <a:tr h="215900">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1800" b="0" i="0" u="none" strike="noStrike" cap="none" normalizeH="0" baseline="0" dirty="0">
                          <a:ln>
                            <a:noFill/>
                          </a:ln>
                          <a:solidFill>
                            <a:schemeClr val="tx1"/>
                          </a:solidFill>
                          <a:effectLst/>
                          <a:latin typeface="+mn-lt"/>
                          <a:ea typeface="微软雅黑 Light" panose="020B0502040204020203" pitchFamily="34" charset="-122"/>
                        </a:rPr>
                        <a:t>数据</a:t>
                      </a:r>
                      <a:r>
                        <a:rPr kumimoji="0" lang="en-US" altLang="zh-CN" sz="1800" b="0" i="0" u="none" strike="noStrike" cap="none" normalizeH="0" baseline="0" dirty="0">
                          <a:ln>
                            <a:noFill/>
                          </a:ln>
                          <a:solidFill>
                            <a:schemeClr val="tx1"/>
                          </a:solidFill>
                          <a:effectLst/>
                          <a:latin typeface="+mn-lt"/>
                          <a:ea typeface="微软雅黑 Light" panose="020B0502040204020203" pitchFamily="34"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a:ln>
                            <a:noFill/>
                          </a:ln>
                          <a:solidFill>
                            <a:schemeClr val="tx1"/>
                          </a:solidFill>
                          <a:effectLst/>
                          <a:latin typeface="+mn-lt"/>
                          <a:ea typeface="微软雅黑 Light" panose="020B0502040204020203" pitchFamily="34" charset="-122"/>
                        </a:rPr>
                        <a:t>j</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mn-lt"/>
                          <a:ea typeface="微软雅黑 Light" panose="020B0502040204020203" pitchFamily="34" charset="-122"/>
                        </a:rPr>
                        <a:t>k</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55239" name="Text Box 263"/>
          <p:cNvSpPr txBox="1">
            <a:spLocks noChangeArrowheads="1"/>
          </p:cNvSpPr>
          <p:nvPr/>
        </p:nvSpPr>
        <p:spPr bwMode="auto">
          <a:xfrm>
            <a:off x="2640014" y="2636839"/>
            <a:ext cx="10810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a:solidFill>
                  <a:srgbClr val="FF3300"/>
                </a:solidFill>
                <a:latin typeface="+mn-lt"/>
                <a:ea typeface="微软雅黑 Light" panose="020B0502040204020203" pitchFamily="34" charset="-122"/>
              </a:rPr>
              <a:t>连接</a:t>
            </a:r>
          </a:p>
        </p:txBody>
      </p:sp>
      <p:sp>
        <p:nvSpPr>
          <p:cNvPr id="255240" name="Text Box 264"/>
          <p:cNvSpPr txBox="1">
            <a:spLocks noChangeArrowheads="1"/>
          </p:cNvSpPr>
          <p:nvPr/>
        </p:nvSpPr>
        <p:spPr bwMode="auto">
          <a:xfrm>
            <a:off x="8472489" y="2636839"/>
            <a:ext cx="10810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a:solidFill>
                  <a:srgbClr val="FF3300"/>
                </a:solidFill>
                <a:latin typeface="+mn-lt"/>
                <a:ea typeface="微软雅黑 Light" panose="020B0502040204020203" pitchFamily="34" charset="-122"/>
              </a:rPr>
              <a:t>分割</a:t>
            </a:r>
          </a:p>
        </p:txBody>
      </p:sp>
      <p:sp>
        <p:nvSpPr>
          <p:cNvPr id="255241" name="Text Box 265"/>
          <p:cNvSpPr txBox="1">
            <a:spLocks noChangeArrowheads="1"/>
          </p:cNvSpPr>
          <p:nvPr/>
        </p:nvSpPr>
        <p:spPr bwMode="auto">
          <a:xfrm>
            <a:off x="3143251" y="1268414"/>
            <a:ext cx="3603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dirty="0">
                <a:latin typeface="+mn-lt"/>
                <a:ea typeface="微软雅黑 Light" panose="020B0502040204020203" pitchFamily="34" charset="-122"/>
              </a:rPr>
              <a:t>A</a:t>
            </a:r>
          </a:p>
        </p:txBody>
      </p:sp>
      <p:sp>
        <p:nvSpPr>
          <p:cNvPr id="255242" name="Text Box 266"/>
          <p:cNvSpPr txBox="1">
            <a:spLocks noChangeArrowheads="1"/>
          </p:cNvSpPr>
          <p:nvPr/>
        </p:nvSpPr>
        <p:spPr bwMode="auto">
          <a:xfrm>
            <a:off x="8832851" y="1268414"/>
            <a:ext cx="3603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dirty="0">
                <a:latin typeface="+mn-lt"/>
                <a:ea typeface="微软雅黑 Light" panose="020B0502040204020203" pitchFamily="34" charset="-122"/>
              </a:rPr>
              <a:t>P</a:t>
            </a:r>
          </a:p>
        </p:txBody>
      </p:sp>
      <p:pic>
        <p:nvPicPr>
          <p:cNvPr id="32" name="图形 31"/>
          <p:cNvPicPr>
            <a:picLocks noChangeAspect="1"/>
          </p:cNvPicPr>
          <p:nvPr/>
        </p:nvPicPr>
        <p:blipFill>
          <a:blip r:embed="rId2"/>
          <a:stretch>
            <a:fillRect/>
          </a:stretch>
        </p:blipFill>
        <p:spPr>
          <a:xfrm>
            <a:off x="2351089" y="1353215"/>
            <a:ext cx="600874" cy="454948"/>
          </a:xfrm>
          <a:prstGeom prst="rect">
            <a:avLst/>
          </a:prstGeom>
        </p:spPr>
      </p:pic>
      <p:pic>
        <p:nvPicPr>
          <p:cNvPr id="33" name="图形 32"/>
          <p:cNvPicPr>
            <a:picLocks noChangeAspect="1"/>
          </p:cNvPicPr>
          <p:nvPr/>
        </p:nvPicPr>
        <p:blipFill>
          <a:blip r:embed="rId2"/>
          <a:stretch>
            <a:fillRect/>
          </a:stretch>
        </p:blipFill>
        <p:spPr>
          <a:xfrm>
            <a:off x="9322988" y="1379914"/>
            <a:ext cx="600874" cy="45494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17C3339B-0CAC-48EB-A9DB-C94AB1BF8798}" type="slidenum">
              <a:rPr lang="en-US" altLang="zh-CN"/>
              <a:t>14</a:t>
            </a:fld>
            <a:endParaRPr lang="en-US" altLang="zh-CN"/>
          </a:p>
        </p:txBody>
      </p:sp>
      <p:sp>
        <p:nvSpPr>
          <p:cNvPr id="270338" name="Rectangle 2"/>
          <p:cNvSpPr>
            <a:spLocks noGrp="1" noChangeArrowheads="1"/>
          </p:cNvSpPr>
          <p:nvPr>
            <p:ph type="title"/>
          </p:nvPr>
        </p:nvSpPr>
        <p:spPr/>
        <p:txBody>
          <a:bodyPr/>
          <a:lstStyle/>
          <a:p>
            <a:r>
              <a:rPr lang="zh-CN" altLang="en-US" dirty="0"/>
              <a:t>丢失控制与重复控制</a:t>
            </a:r>
          </a:p>
        </p:txBody>
      </p:sp>
      <p:sp>
        <p:nvSpPr>
          <p:cNvPr id="270339" name="Rectangle 3"/>
          <p:cNvSpPr>
            <a:spLocks noGrp="1" noChangeArrowheads="1"/>
          </p:cNvSpPr>
          <p:nvPr>
            <p:ph type="body" idx="1"/>
          </p:nvPr>
        </p:nvSpPr>
        <p:spPr/>
        <p:txBody>
          <a:bodyPr/>
          <a:lstStyle/>
          <a:p>
            <a:pPr latinLnBrk="0">
              <a:lnSpc>
                <a:spcPct val="120000"/>
              </a:lnSpc>
              <a:spcBef>
                <a:spcPts val="0"/>
              </a:spcBef>
            </a:pPr>
            <a:r>
              <a:rPr lang="zh-CN" altLang="en-US" dirty="0"/>
              <a:t>传输层要确保一次传输的所有片段都到达目的地</a:t>
            </a:r>
          </a:p>
          <a:p>
            <a:pPr latinLnBrk="0">
              <a:lnSpc>
                <a:spcPct val="120000"/>
              </a:lnSpc>
              <a:spcBef>
                <a:spcPts val="0"/>
              </a:spcBef>
            </a:pPr>
            <a:r>
              <a:rPr lang="zh-CN" altLang="en-US" dirty="0"/>
              <a:t>如果发生了丢失要重传</a:t>
            </a:r>
            <a:endParaRPr lang="en-US" altLang="zh-CN" dirty="0"/>
          </a:p>
          <a:p>
            <a:pPr latinLnBrk="0">
              <a:lnSpc>
                <a:spcPct val="120000"/>
              </a:lnSpc>
              <a:spcBef>
                <a:spcPts val="0"/>
              </a:spcBef>
            </a:pPr>
            <a:r>
              <a:rPr lang="zh-CN" altLang="en-US" dirty="0"/>
              <a:t>使用序列编号保证接收方丢弃重复数据</a:t>
            </a:r>
          </a:p>
          <a:p>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5F62C612-234E-4CC4-B043-9548E2CF4FE6}" type="slidenum">
              <a:rPr lang="en-US" altLang="zh-CN"/>
              <a:t>15</a:t>
            </a:fld>
            <a:endParaRPr lang="en-US" altLang="zh-CN"/>
          </a:p>
        </p:txBody>
      </p:sp>
      <p:sp>
        <p:nvSpPr>
          <p:cNvPr id="257026" name="Rectangle 2"/>
          <p:cNvSpPr>
            <a:spLocks noGrp="1" noChangeArrowheads="1"/>
          </p:cNvSpPr>
          <p:nvPr>
            <p:ph type="title"/>
          </p:nvPr>
        </p:nvSpPr>
        <p:spPr/>
        <p:txBody>
          <a:bodyPr/>
          <a:lstStyle/>
          <a:p>
            <a:r>
              <a:rPr lang="zh-CN" altLang="en-US" dirty="0"/>
              <a:t>传输层流量控制</a:t>
            </a:r>
          </a:p>
        </p:txBody>
      </p:sp>
      <p:sp>
        <p:nvSpPr>
          <p:cNvPr id="257027" name="Rectangle 3"/>
          <p:cNvSpPr>
            <a:spLocks noGrp="1" noChangeArrowheads="1"/>
          </p:cNvSpPr>
          <p:nvPr>
            <p:ph type="body" idx="1"/>
          </p:nvPr>
        </p:nvSpPr>
        <p:spPr/>
        <p:txBody>
          <a:bodyPr/>
          <a:lstStyle/>
          <a:p>
            <a:pPr latinLnBrk="0">
              <a:lnSpc>
                <a:spcPct val="120000"/>
              </a:lnSpc>
              <a:spcBef>
                <a:spcPts val="0"/>
              </a:spcBef>
            </a:pPr>
            <a:r>
              <a:rPr lang="zh-CN" altLang="en-US" dirty="0">
                <a:latin typeface="+mn-lt"/>
              </a:rPr>
              <a:t>和数据链路层一样，传输层也负责流量控制。但是，传输层中的流量控制是作用在端到端上的，而不是作用在单条链路上的</a:t>
            </a:r>
          </a:p>
          <a:p>
            <a:pPr latinLnBrk="0">
              <a:lnSpc>
                <a:spcPct val="120000"/>
              </a:lnSpc>
              <a:spcBef>
                <a:spcPts val="0"/>
              </a:spcBef>
            </a:pPr>
            <a:r>
              <a:rPr lang="zh-CN" altLang="en-US" dirty="0">
                <a:latin typeface="+mn-lt"/>
              </a:rPr>
              <a:t>传输层流量控制也使用滑动窗口协议，但是传输层中的窗口在大小上是可以变化的，以适应可使用的缓冲区的变化情况</a:t>
            </a:r>
          </a:p>
          <a:p>
            <a:pPr latinLnBrk="0">
              <a:lnSpc>
                <a:spcPct val="120000"/>
              </a:lnSpc>
              <a:spcBef>
                <a:spcPts val="0"/>
              </a:spcBef>
            </a:pPr>
            <a:r>
              <a:rPr lang="zh-CN" altLang="en-US" dirty="0">
                <a:latin typeface="+mn-lt"/>
              </a:rPr>
              <a:t>使用</a:t>
            </a:r>
            <a:r>
              <a:rPr lang="en-US" altLang="zh-CN" dirty="0">
                <a:latin typeface="+mn-lt"/>
              </a:rPr>
              <a:t>3</a:t>
            </a:r>
            <a:r>
              <a:rPr lang="zh-CN" altLang="en-US" dirty="0">
                <a:latin typeface="+mn-lt"/>
              </a:rPr>
              <a:t>个指针识别缓冲区</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灯片编号占位符 5"/>
          <p:cNvSpPr>
            <a:spLocks noGrp="1"/>
          </p:cNvSpPr>
          <p:nvPr>
            <p:ph type="sldNum" sz="quarter" idx="12"/>
          </p:nvPr>
        </p:nvSpPr>
        <p:spPr/>
        <p:txBody>
          <a:bodyPr/>
          <a:lstStyle/>
          <a:p>
            <a:fld id="{DCA3E7F3-B74B-4066-91A8-125E56058FB1}" type="slidenum">
              <a:rPr lang="en-US" altLang="zh-CN"/>
              <a:t>16</a:t>
            </a:fld>
            <a:endParaRPr lang="en-US" altLang="zh-CN"/>
          </a:p>
        </p:txBody>
      </p:sp>
      <p:sp>
        <p:nvSpPr>
          <p:cNvPr id="258050" name="Rectangle 2"/>
          <p:cNvSpPr>
            <a:spLocks noGrp="1" noChangeArrowheads="1"/>
          </p:cNvSpPr>
          <p:nvPr>
            <p:ph type="title"/>
          </p:nvPr>
        </p:nvSpPr>
        <p:spPr/>
        <p:txBody>
          <a:bodyPr/>
          <a:lstStyle/>
          <a:p>
            <a:r>
              <a:rPr lang="zh-CN" altLang="en-US"/>
              <a:t>滑动窗口</a:t>
            </a:r>
          </a:p>
        </p:txBody>
      </p:sp>
      <p:graphicFrame>
        <p:nvGraphicFramePr>
          <p:cNvPr id="258424" name="Group 376"/>
          <p:cNvGraphicFramePr>
            <a:graphicFrameLocks noGrp="1"/>
          </p:cNvGraphicFramePr>
          <p:nvPr>
            <p:ph idx="1"/>
          </p:nvPr>
        </p:nvGraphicFramePr>
        <p:xfrm>
          <a:off x="1774825" y="3141664"/>
          <a:ext cx="8642350" cy="358775"/>
        </p:xfrm>
        <a:graphic>
          <a:graphicData uri="http://schemas.openxmlformats.org/drawingml/2006/table">
            <a:tbl>
              <a:tblPr/>
              <a:tblGrid>
                <a:gridCol w="412750">
                  <a:extLst>
                    <a:ext uri="{9D8B030D-6E8A-4147-A177-3AD203B41FA5}">
                      <a16:colId xmlns:a16="http://schemas.microsoft.com/office/drawing/2014/main" val="20000"/>
                    </a:ext>
                  </a:extLst>
                </a:gridCol>
                <a:gridCol w="411163">
                  <a:extLst>
                    <a:ext uri="{9D8B030D-6E8A-4147-A177-3AD203B41FA5}">
                      <a16:colId xmlns:a16="http://schemas.microsoft.com/office/drawing/2014/main" val="20001"/>
                    </a:ext>
                  </a:extLst>
                </a:gridCol>
                <a:gridCol w="411162">
                  <a:extLst>
                    <a:ext uri="{9D8B030D-6E8A-4147-A177-3AD203B41FA5}">
                      <a16:colId xmlns:a16="http://schemas.microsoft.com/office/drawing/2014/main" val="20002"/>
                    </a:ext>
                  </a:extLst>
                </a:gridCol>
                <a:gridCol w="411163">
                  <a:extLst>
                    <a:ext uri="{9D8B030D-6E8A-4147-A177-3AD203B41FA5}">
                      <a16:colId xmlns:a16="http://schemas.microsoft.com/office/drawing/2014/main" val="20003"/>
                    </a:ext>
                  </a:extLst>
                </a:gridCol>
                <a:gridCol w="412750">
                  <a:extLst>
                    <a:ext uri="{9D8B030D-6E8A-4147-A177-3AD203B41FA5}">
                      <a16:colId xmlns:a16="http://schemas.microsoft.com/office/drawing/2014/main" val="20004"/>
                    </a:ext>
                  </a:extLst>
                </a:gridCol>
                <a:gridCol w="409575">
                  <a:extLst>
                    <a:ext uri="{9D8B030D-6E8A-4147-A177-3AD203B41FA5}">
                      <a16:colId xmlns:a16="http://schemas.microsoft.com/office/drawing/2014/main" val="20005"/>
                    </a:ext>
                  </a:extLst>
                </a:gridCol>
                <a:gridCol w="412750">
                  <a:extLst>
                    <a:ext uri="{9D8B030D-6E8A-4147-A177-3AD203B41FA5}">
                      <a16:colId xmlns:a16="http://schemas.microsoft.com/office/drawing/2014/main" val="20006"/>
                    </a:ext>
                  </a:extLst>
                </a:gridCol>
                <a:gridCol w="409575">
                  <a:extLst>
                    <a:ext uri="{9D8B030D-6E8A-4147-A177-3AD203B41FA5}">
                      <a16:colId xmlns:a16="http://schemas.microsoft.com/office/drawing/2014/main" val="20007"/>
                    </a:ext>
                  </a:extLst>
                </a:gridCol>
                <a:gridCol w="412750">
                  <a:extLst>
                    <a:ext uri="{9D8B030D-6E8A-4147-A177-3AD203B41FA5}">
                      <a16:colId xmlns:a16="http://schemas.microsoft.com/office/drawing/2014/main" val="20008"/>
                    </a:ext>
                  </a:extLst>
                </a:gridCol>
                <a:gridCol w="411162">
                  <a:extLst>
                    <a:ext uri="{9D8B030D-6E8A-4147-A177-3AD203B41FA5}">
                      <a16:colId xmlns:a16="http://schemas.microsoft.com/office/drawing/2014/main" val="20009"/>
                    </a:ext>
                  </a:extLst>
                </a:gridCol>
                <a:gridCol w="412750">
                  <a:extLst>
                    <a:ext uri="{9D8B030D-6E8A-4147-A177-3AD203B41FA5}">
                      <a16:colId xmlns:a16="http://schemas.microsoft.com/office/drawing/2014/main" val="20010"/>
                    </a:ext>
                  </a:extLst>
                </a:gridCol>
                <a:gridCol w="412750">
                  <a:extLst>
                    <a:ext uri="{9D8B030D-6E8A-4147-A177-3AD203B41FA5}">
                      <a16:colId xmlns:a16="http://schemas.microsoft.com/office/drawing/2014/main" val="20011"/>
                    </a:ext>
                  </a:extLst>
                </a:gridCol>
                <a:gridCol w="411163">
                  <a:extLst>
                    <a:ext uri="{9D8B030D-6E8A-4147-A177-3AD203B41FA5}">
                      <a16:colId xmlns:a16="http://schemas.microsoft.com/office/drawing/2014/main" val="20012"/>
                    </a:ext>
                  </a:extLst>
                </a:gridCol>
                <a:gridCol w="411162">
                  <a:extLst>
                    <a:ext uri="{9D8B030D-6E8A-4147-A177-3AD203B41FA5}">
                      <a16:colId xmlns:a16="http://schemas.microsoft.com/office/drawing/2014/main" val="20013"/>
                    </a:ext>
                  </a:extLst>
                </a:gridCol>
                <a:gridCol w="411163">
                  <a:extLst>
                    <a:ext uri="{9D8B030D-6E8A-4147-A177-3AD203B41FA5}">
                      <a16:colId xmlns:a16="http://schemas.microsoft.com/office/drawing/2014/main" val="20014"/>
                    </a:ext>
                  </a:extLst>
                </a:gridCol>
                <a:gridCol w="412750">
                  <a:extLst>
                    <a:ext uri="{9D8B030D-6E8A-4147-A177-3AD203B41FA5}">
                      <a16:colId xmlns:a16="http://schemas.microsoft.com/office/drawing/2014/main" val="20015"/>
                    </a:ext>
                  </a:extLst>
                </a:gridCol>
                <a:gridCol w="409575">
                  <a:extLst>
                    <a:ext uri="{9D8B030D-6E8A-4147-A177-3AD203B41FA5}">
                      <a16:colId xmlns:a16="http://schemas.microsoft.com/office/drawing/2014/main" val="20016"/>
                    </a:ext>
                  </a:extLst>
                </a:gridCol>
                <a:gridCol w="412750">
                  <a:extLst>
                    <a:ext uri="{9D8B030D-6E8A-4147-A177-3AD203B41FA5}">
                      <a16:colId xmlns:a16="http://schemas.microsoft.com/office/drawing/2014/main" val="20017"/>
                    </a:ext>
                  </a:extLst>
                </a:gridCol>
                <a:gridCol w="409575">
                  <a:extLst>
                    <a:ext uri="{9D8B030D-6E8A-4147-A177-3AD203B41FA5}">
                      <a16:colId xmlns:a16="http://schemas.microsoft.com/office/drawing/2014/main" val="20018"/>
                    </a:ext>
                  </a:extLst>
                </a:gridCol>
                <a:gridCol w="412750">
                  <a:extLst>
                    <a:ext uri="{9D8B030D-6E8A-4147-A177-3AD203B41FA5}">
                      <a16:colId xmlns:a16="http://schemas.microsoft.com/office/drawing/2014/main" val="20019"/>
                    </a:ext>
                  </a:extLst>
                </a:gridCol>
                <a:gridCol w="411162">
                  <a:extLst>
                    <a:ext uri="{9D8B030D-6E8A-4147-A177-3AD203B41FA5}">
                      <a16:colId xmlns:a16="http://schemas.microsoft.com/office/drawing/2014/main" val="20020"/>
                    </a:ext>
                  </a:extLst>
                </a:gridCol>
              </a:tblGrid>
              <a:tr h="358775">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6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50000"/>
                      </a:schemeClr>
                    </a:solid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6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50000"/>
                      </a:schemeClr>
                    </a:solid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6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50000"/>
                      </a:schemeClr>
                    </a:solid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6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50000"/>
                      </a:schemeClr>
                    </a:solid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6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50000"/>
                      </a:schemeClr>
                    </a:solid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6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6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6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6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75000"/>
                      </a:schemeClr>
                    </a:solid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90000"/>
                      </a:schemeClr>
                    </a:solid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90000"/>
                      </a:schemeClr>
                    </a:solid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90000"/>
                      </a:schemeClr>
                    </a:solid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90000"/>
                      </a:schemeClr>
                    </a:solid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90000"/>
                      </a:schemeClr>
                    </a:solid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90000"/>
                      </a:schemeClr>
                    </a:solid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21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90000"/>
                      </a:schemeClr>
                    </a:solidFill>
                  </a:tcPr>
                </a:tc>
                <a:extLst>
                  <a:ext uri="{0D108BD9-81ED-4DB2-BD59-A6C34878D82A}">
                    <a16:rowId xmlns:a16="http://schemas.microsoft.com/office/drawing/2014/main" val="10000"/>
                  </a:ext>
                </a:extLst>
              </a:tr>
            </a:tbl>
          </a:graphicData>
        </a:graphic>
      </p:graphicFrame>
      <p:sp>
        <p:nvSpPr>
          <p:cNvPr id="258425" name="Line 377"/>
          <p:cNvSpPr>
            <a:spLocks noChangeShapeType="1"/>
          </p:cNvSpPr>
          <p:nvPr/>
        </p:nvSpPr>
        <p:spPr bwMode="auto">
          <a:xfrm>
            <a:off x="3830638" y="1844675"/>
            <a:ext cx="0" cy="3168650"/>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8426" name="Line 378"/>
          <p:cNvSpPr>
            <a:spLocks noChangeShapeType="1"/>
          </p:cNvSpPr>
          <p:nvPr/>
        </p:nvSpPr>
        <p:spPr bwMode="auto">
          <a:xfrm>
            <a:off x="7535863" y="1844675"/>
            <a:ext cx="0" cy="3168650"/>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8427" name="Line 379"/>
          <p:cNvSpPr>
            <a:spLocks noChangeShapeType="1"/>
          </p:cNvSpPr>
          <p:nvPr/>
        </p:nvSpPr>
        <p:spPr bwMode="auto">
          <a:xfrm>
            <a:off x="5880100" y="2565401"/>
            <a:ext cx="0" cy="2447925"/>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8428" name="Line 380"/>
          <p:cNvSpPr>
            <a:spLocks noChangeShapeType="1"/>
          </p:cNvSpPr>
          <p:nvPr/>
        </p:nvSpPr>
        <p:spPr bwMode="auto">
          <a:xfrm>
            <a:off x="1774825" y="1844676"/>
            <a:ext cx="0" cy="1655763"/>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8429" name="Line 381"/>
          <p:cNvSpPr>
            <a:spLocks noChangeShapeType="1"/>
          </p:cNvSpPr>
          <p:nvPr/>
        </p:nvSpPr>
        <p:spPr bwMode="auto">
          <a:xfrm>
            <a:off x="10417175" y="1844676"/>
            <a:ext cx="0" cy="1655763"/>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8430" name="Line 382"/>
          <p:cNvSpPr>
            <a:spLocks noChangeShapeType="1"/>
          </p:cNvSpPr>
          <p:nvPr/>
        </p:nvSpPr>
        <p:spPr bwMode="auto">
          <a:xfrm>
            <a:off x="1774826" y="2636838"/>
            <a:ext cx="2017713" cy="0"/>
          </a:xfrm>
          <a:prstGeom prst="line">
            <a:avLst/>
          </a:prstGeom>
          <a:noFill/>
          <a:ln w="1905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8431" name="Line 383"/>
          <p:cNvSpPr>
            <a:spLocks noChangeShapeType="1"/>
          </p:cNvSpPr>
          <p:nvPr/>
        </p:nvSpPr>
        <p:spPr bwMode="auto">
          <a:xfrm>
            <a:off x="3863976" y="2852738"/>
            <a:ext cx="2017713" cy="0"/>
          </a:xfrm>
          <a:prstGeom prst="line">
            <a:avLst/>
          </a:prstGeom>
          <a:noFill/>
          <a:ln w="1905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8432" name="Line 384"/>
          <p:cNvSpPr>
            <a:spLocks noChangeShapeType="1"/>
          </p:cNvSpPr>
          <p:nvPr/>
        </p:nvSpPr>
        <p:spPr bwMode="auto">
          <a:xfrm>
            <a:off x="5880101" y="2852738"/>
            <a:ext cx="1655763" cy="0"/>
          </a:xfrm>
          <a:prstGeom prst="line">
            <a:avLst/>
          </a:prstGeom>
          <a:noFill/>
          <a:ln w="1905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8433" name="Line 385"/>
          <p:cNvSpPr>
            <a:spLocks noChangeShapeType="1"/>
          </p:cNvSpPr>
          <p:nvPr/>
        </p:nvSpPr>
        <p:spPr bwMode="auto">
          <a:xfrm>
            <a:off x="7535863" y="2636838"/>
            <a:ext cx="2881312" cy="0"/>
          </a:xfrm>
          <a:prstGeom prst="line">
            <a:avLst/>
          </a:prstGeom>
          <a:noFill/>
          <a:ln w="1905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8434" name="Text Box 386"/>
          <p:cNvSpPr txBox="1">
            <a:spLocks noChangeArrowheads="1"/>
          </p:cNvSpPr>
          <p:nvPr/>
        </p:nvSpPr>
        <p:spPr bwMode="auto">
          <a:xfrm>
            <a:off x="1919289" y="2205039"/>
            <a:ext cx="18002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dirty="0">
                <a:latin typeface="微软雅黑 Light" panose="020B0502040204020203" pitchFamily="34" charset="-122"/>
                <a:ea typeface="微软雅黑 Light" panose="020B0502040204020203" pitchFamily="34" charset="-122"/>
              </a:rPr>
              <a:t>发送并被确认</a:t>
            </a:r>
          </a:p>
        </p:txBody>
      </p:sp>
      <p:sp>
        <p:nvSpPr>
          <p:cNvPr id="258435" name="Text Box 387"/>
          <p:cNvSpPr txBox="1">
            <a:spLocks noChangeArrowheads="1"/>
          </p:cNvSpPr>
          <p:nvPr/>
        </p:nvSpPr>
        <p:spPr bwMode="auto">
          <a:xfrm>
            <a:off x="8112126" y="2205039"/>
            <a:ext cx="18002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a:latin typeface="微软雅黑 Light" panose="020B0502040204020203" pitchFamily="34" charset="-122"/>
                <a:ea typeface="微软雅黑 Light" panose="020B0502040204020203" pitchFamily="34" charset="-122"/>
              </a:rPr>
              <a:t>不能发送</a:t>
            </a:r>
          </a:p>
        </p:txBody>
      </p:sp>
      <p:sp>
        <p:nvSpPr>
          <p:cNvPr id="258436" name="Line 388"/>
          <p:cNvSpPr>
            <a:spLocks noChangeShapeType="1"/>
          </p:cNvSpPr>
          <p:nvPr/>
        </p:nvSpPr>
        <p:spPr bwMode="auto">
          <a:xfrm>
            <a:off x="3863975" y="2205038"/>
            <a:ext cx="3671888" cy="0"/>
          </a:xfrm>
          <a:prstGeom prst="line">
            <a:avLst/>
          </a:prstGeom>
          <a:noFill/>
          <a:ln w="1905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8437" name="Text Box 389"/>
          <p:cNvSpPr txBox="1">
            <a:spLocks noChangeArrowheads="1"/>
          </p:cNvSpPr>
          <p:nvPr/>
        </p:nvSpPr>
        <p:spPr bwMode="auto">
          <a:xfrm>
            <a:off x="5016501" y="1773239"/>
            <a:ext cx="18002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a:latin typeface="微软雅黑 Light" panose="020B0502040204020203" pitchFamily="34" charset="-122"/>
                <a:ea typeface="微软雅黑 Light" panose="020B0502040204020203" pitchFamily="34" charset="-122"/>
              </a:rPr>
              <a:t>窗口大小</a:t>
            </a:r>
          </a:p>
        </p:txBody>
      </p:sp>
      <p:sp>
        <p:nvSpPr>
          <p:cNvPr id="258438" name="Text Box 390"/>
          <p:cNvSpPr txBox="1">
            <a:spLocks noChangeArrowheads="1"/>
          </p:cNvSpPr>
          <p:nvPr/>
        </p:nvSpPr>
        <p:spPr bwMode="auto">
          <a:xfrm>
            <a:off x="4079875" y="2420939"/>
            <a:ext cx="17287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a:latin typeface="微软雅黑 Light" panose="020B0502040204020203" pitchFamily="34" charset="-122"/>
                <a:ea typeface="微软雅黑 Light" panose="020B0502040204020203" pitchFamily="34" charset="-122"/>
              </a:rPr>
              <a:t>发送没被确认</a:t>
            </a:r>
          </a:p>
        </p:txBody>
      </p:sp>
      <p:sp>
        <p:nvSpPr>
          <p:cNvPr id="258439" name="Text Box 391"/>
          <p:cNvSpPr txBox="1">
            <a:spLocks noChangeArrowheads="1"/>
          </p:cNvSpPr>
          <p:nvPr/>
        </p:nvSpPr>
        <p:spPr bwMode="auto">
          <a:xfrm>
            <a:off x="6024563" y="2420939"/>
            <a:ext cx="14398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a:latin typeface="微软雅黑 Light" panose="020B0502040204020203" pitchFamily="34" charset="-122"/>
                <a:ea typeface="微软雅黑 Light" panose="020B0502040204020203" pitchFamily="34" charset="-122"/>
              </a:rPr>
              <a:t>可以发送</a:t>
            </a:r>
          </a:p>
        </p:txBody>
      </p:sp>
      <p:sp>
        <p:nvSpPr>
          <p:cNvPr id="258440" name="AutoShape 392"/>
          <p:cNvSpPr>
            <a:spLocks noChangeArrowheads="1"/>
          </p:cNvSpPr>
          <p:nvPr/>
        </p:nvSpPr>
        <p:spPr bwMode="auto">
          <a:xfrm>
            <a:off x="2046289" y="4508501"/>
            <a:ext cx="1601787" cy="1008063"/>
          </a:xfrm>
          <a:prstGeom prst="wedgeRoundRectCallout">
            <a:avLst>
              <a:gd name="adj1" fmla="val 59417"/>
              <a:gd name="adj2" fmla="val -74880"/>
              <a:gd name="adj3" fmla="val 16667"/>
            </a:avLst>
          </a:prstGeom>
          <a:noFill/>
          <a:ln w="19050" algn="ctr">
            <a:solidFill>
              <a:schemeClr val="bg2">
                <a:lumMod val="50000"/>
              </a:schemeClr>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a:latin typeface="微软雅黑 Light" panose="020B0502040204020203" pitchFamily="34" charset="-122"/>
                <a:ea typeface="微软雅黑 Light" panose="020B0502040204020203" pitchFamily="34" charset="-122"/>
              </a:rPr>
              <a:t>当收到确认帧时，该指针右移</a:t>
            </a:r>
          </a:p>
        </p:txBody>
      </p:sp>
      <p:sp>
        <p:nvSpPr>
          <p:cNvPr id="258441" name="AutoShape 393"/>
          <p:cNvSpPr>
            <a:spLocks noChangeArrowheads="1"/>
          </p:cNvSpPr>
          <p:nvPr/>
        </p:nvSpPr>
        <p:spPr bwMode="auto">
          <a:xfrm>
            <a:off x="4079875" y="4508501"/>
            <a:ext cx="1601788" cy="1008063"/>
          </a:xfrm>
          <a:prstGeom prst="wedgeRoundRectCallout">
            <a:avLst>
              <a:gd name="adj1" fmla="val 59417"/>
              <a:gd name="adj2" fmla="val -74880"/>
              <a:gd name="adj3" fmla="val 16667"/>
            </a:avLst>
          </a:prstGeom>
          <a:noFill/>
          <a:ln w="19050" algn="ctr">
            <a:solidFill>
              <a:schemeClr val="bg2">
                <a:lumMod val="75000"/>
              </a:schemeClr>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a:latin typeface="微软雅黑 Light" panose="020B0502040204020203" pitchFamily="34" charset="-122"/>
                <a:ea typeface="微软雅黑 Light" panose="020B0502040204020203" pitchFamily="34" charset="-122"/>
              </a:rPr>
              <a:t>当数据发送的时候，该指针右移</a:t>
            </a:r>
          </a:p>
        </p:txBody>
      </p:sp>
      <p:sp>
        <p:nvSpPr>
          <p:cNvPr id="258442" name="AutoShape 394"/>
          <p:cNvSpPr>
            <a:spLocks noChangeArrowheads="1"/>
          </p:cNvSpPr>
          <p:nvPr/>
        </p:nvSpPr>
        <p:spPr bwMode="auto">
          <a:xfrm>
            <a:off x="7734300" y="4581526"/>
            <a:ext cx="1601788" cy="1008063"/>
          </a:xfrm>
          <a:prstGeom prst="wedgeRoundRectCallout">
            <a:avLst>
              <a:gd name="adj1" fmla="val -59218"/>
              <a:gd name="adj2" fmla="val -76931"/>
              <a:gd name="adj3" fmla="val 16667"/>
            </a:avLst>
          </a:prstGeom>
          <a:noFill/>
          <a:ln w="19050" algn="ctr">
            <a:solidFill>
              <a:schemeClr val="bg2">
                <a:lumMod val="90000"/>
              </a:schemeClr>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a:latin typeface="微软雅黑 Light" panose="020B0502040204020203" pitchFamily="34" charset="-122"/>
                <a:ea typeface="微软雅黑 Light" panose="020B0502040204020203" pitchFamily="34" charset="-122"/>
              </a:rPr>
              <a:t>左右移动，改变窗口大小</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灯片编号占位符 5"/>
          <p:cNvSpPr>
            <a:spLocks noGrp="1"/>
          </p:cNvSpPr>
          <p:nvPr>
            <p:ph type="sldNum" sz="quarter" idx="12"/>
          </p:nvPr>
        </p:nvSpPr>
        <p:spPr/>
        <p:txBody>
          <a:bodyPr/>
          <a:lstStyle/>
          <a:p>
            <a:fld id="{0CFB40A5-B2F4-46A8-89A7-697B293A3340}" type="slidenum">
              <a:rPr lang="en-US" altLang="zh-CN"/>
              <a:t>17</a:t>
            </a:fld>
            <a:endParaRPr lang="en-US" altLang="zh-CN"/>
          </a:p>
        </p:txBody>
      </p:sp>
      <p:sp>
        <p:nvSpPr>
          <p:cNvPr id="259074" name="Rectangle 2"/>
          <p:cNvSpPr>
            <a:spLocks noGrp="1" noChangeArrowheads="1"/>
          </p:cNvSpPr>
          <p:nvPr>
            <p:ph type="title"/>
          </p:nvPr>
        </p:nvSpPr>
        <p:spPr/>
        <p:txBody>
          <a:bodyPr/>
          <a:lstStyle/>
          <a:p>
            <a:r>
              <a:rPr lang="zh-CN" altLang="en-US"/>
              <a:t>传输层的流量控制</a:t>
            </a:r>
          </a:p>
        </p:txBody>
      </p:sp>
      <p:grpSp>
        <p:nvGrpSpPr>
          <p:cNvPr id="2" name="组合 1"/>
          <p:cNvGrpSpPr/>
          <p:nvPr/>
        </p:nvGrpSpPr>
        <p:grpSpPr>
          <a:xfrm>
            <a:off x="1919289" y="1052513"/>
            <a:ext cx="8497887" cy="5545138"/>
            <a:chOff x="1919289" y="1052513"/>
            <a:chExt cx="8497887" cy="5545138"/>
          </a:xfrm>
        </p:grpSpPr>
        <p:sp>
          <p:nvSpPr>
            <p:cNvPr id="259077" name="Line 5"/>
            <p:cNvSpPr>
              <a:spLocks noChangeShapeType="1"/>
            </p:cNvSpPr>
            <p:nvPr/>
          </p:nvSpPr>
          <p:spPr bwMode="auto">
            <a:xfrm>
              <a:off x="4440238" y="1412876"/>
              <a:ext cx="0" cy="5184775"/>
            </a:xfrm>
            <a:prstGeom prst="line">
              <a:avLst/>
            </a:prstGeom>
            <a:noFill/>
            <a:ln w="19050">
              <a:solidFill>
                <a:schemeClr val="tx1"/>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9078" name="Line 6"/>
            <p:cNvSpPr>
              <a:spLocks noChangeShapeType="1"/>
            </p:cNvSpPr>
            <p:nvPr/>
          </p:nvSpPr>
          <p:spPr bwMode="auto">
            <a:xfrm>
              <a:off x="7535863" y="1412876"/>
              <a:ext cx="0" cy="5184775"/>
            </a:xfrm>
            <a:prstGeom prst="line">
              <a:avLst/>
            </a:prstGeom>
            <a:noFill/>
            <a:ln w="19050">
              <a:solidFill>
                <a:schemeClr val="tx1"/>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9093" name="Line 21"/>
            <p:cNvSpPr>
              <a:spLocks noChangeShapeType="1"/>
            </p:cNvSpPr>
            <p:nvPr/>
          </p:nvSpPr>
          <p:spPr bwMode="auto">
            <a:xfrm flipV="1">
              <a:off x="5735639" y="6237289"/>
              <a:ext cx="1800225" cy="71437"/>
            </a:xfrm>
            <a:prstGeom prst="line">
              <a:avLst/>
            </a:prstGeom>
            <a:noFill/>
            <a:ln w="19050">
              <a:solidFill>
                <a:srgbClr val="00B05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9094" name="Line 22"/>
            <p:cNvSpPr>
              <a:spLocks noChangeShapeType="1"/>
            </p:cNvSpPr>
            <p:nvPr/>
          </p:nvSpPr>
          <p:spPr bwMode="auto">
            <a:xfrm>
              <a:off x="4440238" y="3068638"/>
              <a:ext cx="1655762" cy="144462"/>
            </a:xfrm>
            <a:prstGeom prst="line">
              <a:avLst/>
            </a:prstGeom>
            <a:noFill/>
            <a:ln w="19050">
              <a:solidFill>
                <a:schemeClr val="bg2">
                  <a:lumMod val="50000"/>
                </a:schemeClr>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grpSp>
          <p:nvGrpSpPr>
            <p:cNvPr id="259111" name="Group 39"/>
            <p:cNvGrpSpPr/>
            <p:nvPr/>
          </p:nvGrpSpPr>
          <p:grpSpPr bwMode="auto">
            <a:xfrm>
              <a:off x="3935413" y="1773239"/>
              <a:ext cx="3600450" cy="287337"/>
              <a:chOff x="1519" y="1117"/>
              <a:chExt cx="2268" cy="181"/>
            </a:xfrm>
          </p:grpSpPr>
          <p:sp>
            <p:nvSpPr>
              <p:cNvPr id="259079" name="Line 7"/>
              <p:cNvSpPr>
                <a:spLocks noChangeShapeType="1"/>
              </p:cNvSpPr>
              <p:nvPr/>
            </p:nvSpPr>
            <p:spPr bwMode="auto">
              <a:xfrm>
                <a:off x="1837" y="1117"/>
                <a:ext cx="1950" cy="181"/>
              </a:xfrm>
              <a:prstGeom prst="line">
                <a:avLst/>
              </a:prstGeom>
              <a:noFill/>
              <a:ln w="19050">
                <a:solidFill>
                  <a:schemeClr val="bg2">
                    <a:lumMod val="50000"/>
                  </a:schemeClr>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9095" name="Line 23"/>
              <p:cNvSpPr>
                <a:spLocks noChangeShapeType="1"/>
              </p:cNvSpPr>
              <p:nvPr/>
            </p:nvSpPr>
            <p:spPr bwMode="auto">
              <a:xfrm>
                <a:off x="1519" y="1117"/>
                <a:ext cx="318" cy="0"/>
              </a:xfrm>
              <a:prstGeom prst="line">
                <a:avLst/>
              </a:prstGeom>
              <a:noFill/>
              <a:ln w="19050">
                <a:solidFill>
                  <a:schemeClr val="bg2">
                    <a:lumMod val="50000"/>
                  </a:schemeClr>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grpSp>
        <p:grpSp>
          <p:nvGrpSpPr>
            <p:cNvPr id="259112" name="Group 40"/>
            <p:cNvGrpSpPr/>
            <p:nvPr/>
          </p:nvGrpSpPr>
          <p:grpSpPr bwMode="auto">
            <a:xfrm>
              <a:off x="3935413" y="2492375"/>
              <a:ext cx="3600450" cy="287338"/>
              <a:chOff x="1519" y="1570"/>
              <a:chExt cx="2268" cy="181"/>
            </a:xfrm>
          </p:grpSpPr>
          <p:sp>
            <p:nvSpPr>
              <p:cNvPr id="259081" name="Line 9"/>
              <p:cNvSpPr>
                <a:spLocks noChangeShapeType="1"/>
              </p:cNvSpPr>
              <p:nvPr/>
            </p:nvSpPr>
            <p:spPr bwMode="auto">
              <a:xfrm>
                <a:off x="1837" y="1570"/>
                <a:ext cx="1950" cy="181"/>
              </a:xfrm>
              <a:prstGeom prst="line">
                <a:avLst/>
              </a:prstGeom>
              <a:noFill/>
              <a:ln w="19050">
                <a:solidFill>
                  <a:schemeClr val="bg2">
                    <a:lumMod val="50000"/>
                  </a:schemeClr>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9096" name="Line 24"/>
              <p:cNvSpPr>
                <a:spLocks noChangeShapeType="1"/>
              </p:cNvSpPr>
              <p:nvPr/>
            </p:nvSpPr>
            <p:spPr bwMode="auto">
              <a:xfrm>
                <a:off x="1519" y="1570"/>
                <a:ext cx="318" cy="0"/>
              </a:xfrm>
              <a:prstGeom prst="line">
                <a:avLst/>
              </a:prstGeom>
              <a:noFill/>
              <a:ln w="19050">
                <a:solidFill>
                  <a:schemeClr val="bg2">
                    <a:lumMod val="50000"/>
                  </a:schemeClr>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grpSp>
        <p:grpSp>
          <p:nvGrpSpPr>
            <p:cNvPr id="259113" name="Group 41"/>
            <p:cNvGrpSpPr/>
            <p:nvPr/>
          </p:nvGrpSpPr>
          <p:grpSpPr bwMode="auto">
            <a:xfrm>
              <a:off x="3935413" y="2781300"/>
              <a:ext cx="3600450" cy="287338"/>
              <a:chOff x="1519" y="1752"/>
              <a:chExt cx="2268" cy="181"/>
            </a:xfrm>
          </p:grpSpPr>
          <p:sp>
            <p:nvSpPr>
              <p:cNvPr id="259082" name="Line 10"/>
              <p:cNvSpPr>
                <a:spLocks noChangeShapeType="1"/>
              </p:cNvSpPr>
              <p:nvPr/>
            </p:nvSpPr>
            <p:spPr bwMode="auto">
              <a:xfrm>
                <a:off x="1837" y="1752"/>
                <a:ext cx="1950" cy="181"/>
              </a:xfrm>
              <a:prstGeom prst="line">
                <a:avLst/>
              </a:prstGeom>
              <a:noFill/>
              <a:ln w="19050">
                <a:solidFill>
                  <a:schemeClr val="bg2">
                    <a:lumMod val="50000"/>
                  </a:schemeClr>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9097" name="Line 25"/>
              <p:cNvSpPr>
                <a:spLocks noChangeShapeType="1"/>
              </p:cNvSpPr>
              <p:nvPr/>
            </p:nvSpPr>
            <p:spPr bwMode="auto">
              <a:xfrm>
                <a:off x="1519" y="1752"/>
                <a:ext cx="318" cy="0"/>
              </a:xfrm>
              <a:prstGeom prst="line">
                <a:avLst/>
              </a:prstGeom>
              <a:noFill/>
              <a:ln w="19050">
                <a:solidFill>
                  <a:schemeClr val="bg2">
                    <a:lumMod val="50000"/>
                  </a:schemeClr>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grpSp>
        <p:sp>
          <p:nvSpPr>
            <p:cNvPr id="259098" name="Line 26"/>
            <p:cNvSpPr>
              <a:spLocks noChangeShapeType="1"/>
            </p:cNvSpPr>
            <p:nvPr/>
          </p:nvSpPr>
          <p:spPr bwMode="auto">
            <a:xfrm>
              <a:off x="3935414" y="3068638"/>
              <a:ext cx="504825" cy="0"/>
            </a:xfrm>
            <a:prstGeom prst="line">
              <a:avLst/>
            </a:prstGeom>
            <a:noFill/>
            <a:ln w="19050">
              <a:solidFill>
                <a:schemeClr val="bg2">
                  <a:lumMod val="50000"/>
                </a:schemeClr>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grpSp>
          <p:nvGrpSpPr>
            <p:cNvPr id="259114" name="Group 42"/>
            <p:cNvGrpSpPr/>
            <p:nvPr/>
          </p:nvGrpSpPr>
          <p:grpSpPr bwMode="auto">
            <a:xfrm>
              <a:off x="3935413" y="3789364"/>
              <a:ext cx="3600450" cy="287337"/>
              <a:chOff x="1519" y="2387"/>
              <a:chExt cx="2268" cy="181"/>
            </a:xfrm>
          </p:grpSpPr>
          <p:sp>
            <p:nvSpPr>
              <p:cNvPr id="259083" name="Line 11"/>
              <p:cNvSpPr>
                <a:spLocks noChangeShapeType="1"/>
              </p:cNvSpPr>
              <p:nvPr/>
            </p:nvSpPr>
            <p:spPr bwMode="auto">
              <a:xfrm>
                <a:off x="1837" y="2387"/>
                <a:ext cx="1950" cy="181"/>
              </a:xfrm>
              <a:prstGeom prst="line">
                <a:avLst/>
              </a:prstGeom>
              <a:noFill/>
              <a:ln w="19050">
                <a:solidFill>
                  <a:schemeClr val="bg2">
                    <a:lumMod val="50000"/>
                  </a:schemeClr>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9099" name="Line 27"/>
              <p:cNvSpPr>
                <a:spLocks noChangeShapeType="1"/>
              </p:cNvSpPr>
              <p:nvPr/>
            </p:nvSpPr>
            <p:spPr bwMode="auto">
              <a:xfrm>
                <a:off x="1519" y="2387"/>
                <a:ext cx="318" cy="0"/>
              </a:xfrm>
              <a:prstGeom prst="line">
                <a:avLst/>
              </a:prstGeom>
              <a:noFill/>
              <a:ln w="19050">
                <a:solidFill>
                  <a:schemeClr val="bg2">
                    <a:lumMod val="50000"/>
                  </a:schemeClr>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grpSp>
        <p:grpSp>
          <p:nvGrpSpPr>
            <p:cNvPr id="259115" name="Group 43"/>
            <p:cNvGrpSpPr/>
            <p:nvPr/>
          </p:nvGrpSpPr>
          <p:grpSpPr bwMode="auto">
            <a:xfrm>
              <a:off x="3935413" y="4078289"/>
              <a:ext cx="3600450" cy="287337"/>
              <a:chOff x="1519" y="2569"/>
              <a:chExt cx="2268" cy="181"/>
            </a:xfrm>
          </p:grpSpPr>
          <p:sp>
            <p:nvSpPr>
              <p:cNvPr id="259084" name="Line 12"/>
              <p:cNvSpPr>
                <a:spLocks noChangeShapeType="1"/>
              </p:cNvSpPr>
              <p:nvPr/>
            </p:nvSpPr>
            <p:spPr bwMode="auto">
              <a:xfrm>
                <a:off x="1837" y="2569"/>
                <a:ext cx="1950" cy="181"/>
              </a:xfrm>
              <a:prstGeom prst="line">
                <a:avLst/>
              </a:prstGeom>
              <a:noFill/>
              <a:ln w="19050">
                <a:solidFill>
                  <a:schemeClr val="bg2">
                    <a:lumMod val="50000"/>
                  </a:schemeClr>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9100" name="Line 28"/>
              <p:cNvSpPr>
                <a:spLocks noChangeShapeType="1"/>
              </p:cNvSpPr>
              <p:nvPr/>
            </p:nvSpPr>
            <p:spPr bwMode="auto">
              <a:xfrm>
                <a:off x="1519" y="2569"/>
                <a:ext cx="318" cy="0"/>
              </a:xfrm>
              <a:prstGeom prst="line">
                <a:avLst/>
              </a:prstGeom>
              <a:noFill/>
              <a:ln w="19050">
                <a:solidFill>
                  <a:schemeClr val="bg2">
                    <a:lumMod val="50000"/>
                  </a:schemeClr>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grpSp>
        <p:grpSp>
          <p:nvGrpSpPr>
            <p:cNvPr id="259116" name="Group 44"/>
            <p:cNvGrpSpPr/>
            <p:nvPr/>
          </p:nvGrpSpPr>
          <p:grpSpPr bwMode="auto">
            <a:xfrm>
              <a:off x="3935413" y="4365625"/>
              <a:ext cx="3600450" cy="287338"/>
              <a:chOff x="1519" y="2750"/>
              <a:chExt cx="2268" cy="181"/>
            </a:xfrm>
          </p:grpSpPr>
          <p:sp>
            <p:nvSpPr>
              <p:cNvPr id="259085" name="Line 13"/>
              <p:cNvSpPr>
                <a:spLocks noChangeShapeType="1"/>
              </p:cNvSpPr>
              <p:nvPr/>
            </p:nvSpPr>
            <p:spPr bwMode="auto">
              <a:xfrm>
                <a:off x="1837" y="2750"/>
                <a:ext cx="1950" cy="181"/>
              </a:xfrm>
              <a:prstGeom prst="line">
                <a:avLst/>
              </a:prstGeom>
              <a:noFill/>
              <a:ln w="19050">
                <a:solidFill>
                  <a:schemeClr val="bg2">
                    <a:lumMod val="50000"/>
                  </a:schemeClr>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9101" name="Line 29"/>
              <p:cNvSpPr>
                <a:spLocks noChangeShapeType="1"/>
              </p:cNvSpPr>
              <p:nvPr/>
            </p:nvSpPr>
            <p:spPr bwMode="auto">
              <a:xfrm>
                <a:off x="1519" y="2750"/>
                <a:ext cx="318" cy="0"/>
              </a:xfrm>
              <a:prstGeom prst="line">
                <a:avLst/>
              </a:prstGeom>
              <a:noFill/>
              <a:ln w="19050">
                <a:solidFill>
                  <a:schemeClr val="bg2">
                    <a:lumMod val="50000"/>
                  </a:schemeClr>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grpSp>
        <p:grpSp>
          <p:nvGrpSpPr>
            <p:cNvPr id="259117" name="Group 45"/>
            <p:cNvGrpSpPr/>
            <p:nvPr/>
          </p:nvGrpSpPr>
          <p:grpSpPr bwMode="auto">
            <a:xfrm>
              <a:off x="3935413" y="5300664"/>
              <a:ext cx="3600450" cy="287337"/>
              <a:chOff x="1519" y="3339"/>
              <a:chExt cx="2268" cy="181"/>
            </a:xfrm>
          </p:grpSpPr>
          <p:sp>
            <p:nvSpPr>
              <p:cNvPr id="259086" name="Line 14"/>
              <p:cNvSpPr>
                <a:spLocks noChangeShapeType="1"/>
              </p:cNvSpPr>
              <p:nvPr/>
            </p:nvSpPr>
            <p:spPr bwMode="auto">
              <a:xfrm>
                <a:off x="1837" y="3339"/>
                <a:ext cx="1950" cy="181"/>
              </a:xfrm>
              <a:prstGeom prst="line">
                <a:avLst/>
              </a:prstGeom>
              <a:noFill/>
              <a:ln w="19050">
                <a:solidFill>
                  <a:schemeClr val="bg2">
                    <a:lumMod val="50000"/>
                  </a:schemeClr>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9102" name="Line 30"/>
              <p:cNvSpPr>
                <a:spLocks noChangeShapeType="1"/>
              </p:cNvSpPr>
              <p:nvPr/>
            </p:nvSpPr>
            <p:spPr bwMode="auto">
              <a:xfrm>
                <a:off x="1519" y="3339"/>
                <a:ext cx="318" cy="0"/>
              </a:xfrm>
              <a:prstGeom prst="line">
                <a:avLst/>
              </a:prstGeom>
              <a:noFill/>
              <a:ln w="19050">
                <a:solidFill>
                  <a:schemeClr val="bg2">
                    <a:lumMod val="50000"/>
                  </a:schemeClr>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grpSp>
        <p:grpSp>
          <p:nvGrpSpPr>
            <p:cNvPr id="259118" name="Group 46"/>
            <p:cNvGrpSpPr/>
            <p:nvPr/>
          </p:nvGrpSpPr>
          <p:grpSpPr bwMode="auto">
            <a:xfrm>
              <a:off x="3935413" y="5589589"/>
              <a:ext cx="3600450" cy="287337"/>
              <a:chOff x="1519" y="3521"/>
              <a:chExt cx="2268" cy="181"/>
            </a:xfrm>
          </p:grpSpPr>
          <p:sp>
            <p:nvSpPr>
              <p:cNvPr id="259087" name="Line 15"/>
              <p:cNvSpPr>
                <a:spLocks noChangeShapeType="1"/>
              </p:cNvSpPr>
              <p:nvPr/>
            </p:nvSpPr>
            <p:spPr bwMode="auto">
              <a:xfrm>
                <a:off x="1837" y="3521"/>
                <a:ext cx="1950" cy="181"/>
              </a:xfrm>
              <a:prstGeom prst="line">
                <a:avLst/>
              </a:prstGeom>
              <a:noFill/>
              <a:ln w="19050">
                <a:solidFill>
                  <a:schemeClr val="bg2">
                    <a:lumMod val="50000"/>
                  </a:schemeClr>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9103" name="Line 31"/>
              <p:cNvSpPr>
                <a:spLocks noChangeShapeType="1"/>
              </p:cNvSpPr>
              <p:nvPr/>
            </p:nvSpPr>
            <p:spPr bwMode="auto">
              <a:xfrm>
                <a:off x="1519" y="3521"/>
                <a:ext cx="318" cy="0"/>
              </a:xfrm>
              <a:prstGeom prst="line">
                <a:avLst/>
              </a:prstGeom>
              <a:noFill/>
              <a:ln w="19050">
                <a:solidFill>
                  <a:schemeClr val="bg2">
                    <a:lumMod val="50000"/>
                  </a:schemeClr>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grpSp>
        <p:grpSp>
          <p:nvGrpSpPr>
            <p:cNvPr id="259124" name="Group 52"/>
            <p:cNvGrpSpPr/>
            <p:nvPr/>
          </p:nvGrpSpPr>
          <p:grpSpPr bwMode="auto">
            <a:xfrm>
              <a:off x="4440238" y="2133600"/>
              <a:ext cx="3600450" cy="71438"/>
              <a:chOff x="1837" y="1344"/>
              <a:chExt cx="2268" cy="45"/>
            </a:xfrm>
          </p:grpSpPr>
          <p:sp>
            <p:nvSpPr>
              <p:cNvPr id="259080" name="Line 8"/>
              <p:cNvSpPr>
                <a:spLocks noChangeShapeType="1"/>
              </p:cNvSpPr>
              <p:nvPr/>
            </p:nvSpPr>
            <p:spPr bwMode="auto">
              <a:xfrm flipV="1">
                <a:off x="1837" y="1344"/>
                <a:ext cx="1950" cy="45"/>
              </a:xfrm>
              <a:prstGeom prst="line">
                <a:avLst/>
              </a:prstGeom>
              <a:noFill/>
              <a:ln w="19050">
                <a:solidFill>
                  <a:srgbClr val="00B05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9104" name="Line 32"/>
              <p:cNvSpPr>
                <a:spLocks noChangeShapeType="1"/>
              </p:cNvSpPr>
              <p:nvPr/>
            </p:nvSpPr>
            <p:spPr bwMode="auto">
              <a:xfrm>
                <a:off x="3787" y="1344"/>
                <a:ext cx="318" cy="0"/>
              </a:xfrm>
              <a:prstGeom prst="line">
                <a:avLst/>
              </a:prstGeom>
              <a:noFill/>
              <a:ln w="19050">
                <a:solidFill>
                  <a:srgbClr val="00B05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grpSp>
        <p:sp>
          <p:nvSpPr>
            <p:cNvPr id="259105" name="Line 33"/>
            <p:cNvSpPr>
              <a:spLocks noChangeShapeType="1"/>
            </p:cNvSpPr>
            <p:nvPr/>
          </p:nvSpPr>
          <p:spPr bwMode="auto">
            <a:xfrm>
              <a:off x="7535864" y="6237288"/>
              <a:ext cx="504825" cy="0"/>
            </a:xfrm>
            <a:prstGeom prst="line">
              <a:avLst/>
            </a:prstGeom>
            <a:noFill/>
            <a:ln w="19050">
              <a:solidFill>
                <a:srgbClr val="00B05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grpSp>
          <p:nvGrpSpPr>
            <p:cNvPr id="259119" name="Group 47"/>
            <p:cNvGrpSpPr/>
            <p:nvPr/>
          </p:nvGrpSpPr>
          <p:grpSpPr bwMode="auto">
            <a:xfrm>
              <a:off x="4440238" y="6021389"/>
              <a:ext cx="3600450" cy="71437"/>
              <a:chOff x="1837" y="3793"/>
              <a:chExt cx="2268" cy="45"/>
            </a:xfrm>
          </p:grpSpPr>
          <p:sp>
            <p:nvSpPr>
              <p:cNvPr id="259092" name="Line 20"/>
              <p:cNvSpPr>
                <a:spLocks noChangeShapeType="1"/>
              </p:cNvSpPr>
              <p:nvPr/>
            </p:nvSpPr>
            <p:spPr bwMode="auto">
              <a:xfrm flipV="1">
                <a:off x="1837" y="3793"/>
                <a:ext cx="1950" cy="45"/>
              </a:xfrm>
              <a:prstGeom prst="line">
                <a:avLst/>
              </a:prstGeom>
              <a:noFill/>
              <a:ln w="19050">
                <a:solidFill>
                  <a:srgbClr val="00B05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9106" name="Line 34"/>
              <p:cNvSpPr>
                <a:spLocks noChangeShapeType="1"/>
              </p:cNvSpPr>
              <p:nvPr/>
            </p:nvSpPr>
            <p:spPr bwMode="auto">
              <a:xfrm>
                <a:off x="3787" y="3793"/>
                <a:ext cx="318" cy="0"/>
              </a:xfrm>
              <a:prstGeom prst="line">
                <a:avLst/>
              </a:prstGeom>
              <a:noFill/>
              <a:ln w="19050">
                <a:solidFill>
                  <a:srgbClr val="00B05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grpSp>
        <p:grpSp>
          <p:nvGrpSpPr>
            <p:cNvPr id="259123" name="Group 51"/>
            <p:cNvGrpSpPr/>
            <p:nvPr/>
          </p:nvGrpSpPr>
          <p:grpSpPr bwMode="auto">
            <a:xfrm>
              <a:off x="4440238" y="3573464"/>
              <a:ext cx="3600450" cy="71437"/>
              <a:chOff x="1837" y="2251"/>
              <a:chExt cx="2268" cy="45"/>
            </a:xfrm>
          </p:grpSpPr>
          <p:sp>
            <p:nvSpPr>
              <p:cNvPr id="259088" name="Line 16"/>
              <p:cNvSpPr>
                <a:spLocks noChangeShapeType="1"/>
              </p:cNvSpPr>
              <p:nvPr/>
            </p:nvSpPr>
            <p:spPr bwMode="auto">
              <a:xfrm flipV="1">
                <a:off x="1837" y="2251"/>
                <a:ext cx="1950" cy="45"/>
              </a:xfrm>
              <a:prstGeom prst="line">
                <a:avLst/>
              </a:prstGeom>
              <a:noFill/>
              <a:ln w="19050">
                <a:solidFill>
                  <a:srgbClr val="00B05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9107" name="Line 35"/>
              <p:cNvSpPr>
                <a:spLocks noChangeShapeType="1"/>
              </p:cNvSpPr>
              <p:nvPr/>
            </p:nvSpPr>
            <p:spPr bwMode="auto">
              <a:xfrm>
                <a:off x="3787" y="2251"/>
                <a:ext cx="318" cy="0"/>
              </a:xfrm>
              <a:prstGeom prst="line">
                <a:avLst/>
              </a:prstGeom>
              <a:noFill/>
              <a:ln w="19050">
                <a:solidFill>
                  <a:srgbClr val="00B05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grpSp>
        <p:grpSp>
          <p:nvGrpSpPr>
            <p:cNvPr id="259122" name="Group 50"/>
            <p:cNvGrpSpPr/>
            <p:nvPr/>
          </p:nvGrpSpPr>
          <p:grpSpPr bwMode="auto">
            <a:xfrm>
              <a:off x="4440238" y="4797425"/>
              <a:ext cx="3600450" cy="71438"/>
              <a:chOff x="1837" y="3022"/>
              <a:chExt cx="2268" cy="45"/>
            </a:xfrm>
          </p:grpSpPr>
          <p:sp>
            <p:nvSpPr>
              <p:cNvPr id="259089" name="Line 17"/>
              <p:cNvSpPr>
                <a:spLocks noChangeShapeType="1"/>
              </p:cNvSpPr>
              <p:nvPr/>
            </p:nvSpPr>
            <p:spPr bwMode="auto">
              <a:xfrm flipV="1">
                <a:off x="1837" y="3022"/>
                <a:ext cx="1950" cy="45"/>
              </a:xfrm>
              <a:prstGeom prst="line">
                <a:avLst/>
              </a:prstGeom>
              <a:noFill/>
              <a:ln w="19050">
                <a:solidFill>
                  <a:srgbClr val="00B05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9108" name="Line 36"/>
              <p:cNvSpPr>
                <a:spLocks noChangeShapeType="1"/>
              </p:cNvSpPr>
              <p:nvPr/>
            </p:nvSpPr>
            <p:spPr bwMode="auto">
              <a:xfrm>
                <a:off x="3787" y="3022"/>
                <a:ext cx="318" cy="0"/>
              </a:xfrm>
              <a:prstGeom prst="line">
                <a:avLst/>
              </a:prstGeom>
              <a:noFill/>
              <a:ln w="19050">
                <a:solidFill>
                  <a:srgbClr val="00B05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grpSp>
        <p:grpSp>
          <p:nvGrpSpPr>
            <p:cNvPr id="259120" name="Group 48"/>
            <p:cNvGrpSpPr/>
            <p:nvPr/>
          </p:nvGrpSpPr>
          <p:grpSpPr bwMode="auto">
            <a:xfrm>
              <a:off x="4440238" y="5373689"/>
              <a:ext cx="3600450" cy="71437"/>
              <a:chOff x="1837" y="3385"/>
              <a:chExt cx="2268" cy="45"/>
            </a:xfrm>
          </p:grpSpPr>
          <p:sp>
            <p:nvSpPr>
              <p:cNvPr id="259091" name="Line 19"/>
              <p:cNvSpPr>
                <a:spLocks noChangeShapeType="1"/>
              </p:cNvSpPr>
              <p:nvPr/>
            </p:nvSpPr>
            <p:spPr bwMode="auto">
              <a:xfrm flipV="1">
                <a:off x="1837" y="3385"/>
                <a:ext cx="1950" cy="45"/>
              </a:xfrm>
              <a:prstGeom prst="line">
                <a:avLst/>
              </a:prstGeom>
              <a:noFill/>
              <a:ln w="19050">
                <a:solidFill>
                  <a:srgbClr val="00B05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9109" name="Line 37"/>
              <p:cNvSpPr>
                <a:spLocks noChangeShapeType="1"/>
              </p:cNvSpPr>
              <p:nvPr/>
            </p:nvSpPr>
            <p:spPr bwMode="auto">
              <a:xfrm>
                <a:off x="3787" y="3385"/>
                <a:ext cx="318" cy="0"/>
              </a:xfrm>
              <a:prstGeom prst="line">
                <a:avLst/>
              </a:prstGeom>
              <a:noFill/>
              <a:ln w="19050">
                <a:solidFill>
                  <a:srgbClr val="00B05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grpSp>
        <p:grpSp>
          <p:nvGrpSpPr>
            <p:cNvPr id="259121" name="Group 49"/>
            <p:cNvGrpSpPr/>
            <p:nvPr/>
          </p:nvGrpSpPr>
          <p:grpSpPr bwMode="auto">
            <a:xfrm>
              <a:off x="4440238" y="5084764"/>
              <a:ext cx="3600450" cy="73025"/>
              <a:chOff x="1837" y="3203"/>
              <a:chExt cx="2268" cy="46"/>
            </a:xfrm>
          </p:grpSpPr>
          <p:sp>
            <p:nvSpPr>
              <p:cNvPr id="259090" name="Line 18"/>
              <p:cNvSpPr>
                <a:spLocks noChangeShapeType="1"/>
              </p:cNvSpPr>
              <p:nvPr/>
            </p:nvSpPr>
            <p:spPr bwMode="auto">
              <a:xfrm flipV="1">
                <a:off x="1837" y="3204"/>
                <a:ext cx="1950" cy="45"/>
              </a:xfrm>
              <a:prstGeom prst="line">
                <a:avLst/>
              </a:prstGeom>
              <a:noFill/>
              <a:ln w="19050">
                <a:solidFill>
                  <a:srgbClr val="00B05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259110" name="Line 38"/>
              <p:cNvSpPr>
                <a:spLocks noChangeShapeType="1"/>
              </p:cNvSpPr>
              <p:nvPr/>
            </p:nvSpPr>
            <p:spPr bwMode="auto">
              <a:xfrm>
                <a:off x="3787" y="3203"/>
                <a:ext cx="318" cy="0"/>
              </a:xfrm>
              <a:prstGeom prst="line">
                <a:avLst/>
              </a:prstGeom>
              <a:noFill/>
              <a:ln w="19050">
                <a:solidFill>
                  <a:srgbClr val="00B05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grpSp>
        <p:sp>
          <p:nvSpPr>
            <p:cNvPr id="259125" name="Text Box 53"/>
            <p:cNvSpPr txBox="1">
              <a:spLocks noChangeArrowheads="1"/>
            </p:cNvSpPr>
            <p:nvPr/>
          </p:nvSpPr>
          <p:spPr bwMode="auto">
            <a:xfrm>
              <a:off x="4224338" y="1052514"/>
              <a:ext cx="360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a:latin typeface="微软雅黑 Light" panose="020B0502040204020203" pitchFamily="34" charset="-122"/>
                  <a:ea typeface="微软雅黑 Light" panose="020B0502040204020203" pitchFamily="34" charset="-122"/>
                </a:rPr>
                <a:t>A</a:t>
              </a:r>
            </a:p>
          </p:txBody>
        </p:sp>
        <p:sp>
          <p:nvSpPr>
            <p:cNvPr id="259126" name="Text Box 54"/>
            <p:cNvSpPr txBox="1">
              <a:spLocks noChangeArrowheads="1"/>
            </p:cNvSpPr>
            <p:nvPr/>
          </p:nvSpPr>
          <p:spPr bwMode="auto">
            <a:xfrm>
              <a:off x="7391401" y="1052514"/>
              <a:ext cx="3603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a:latin typeface="微软雅黑 Light" panose="020B0502040204020203" pitchFamily="34" charset="-122"/>
                  <a:ea typeface="微软雅黑 Light" panose="020B0502040204020203" pitchFamily="34" charset="-122"/>
                </a:rPr>
                <a:t>B</a:t>
              </a:r>
            </a:p>
          </p:txBody>
        </p:sp>
        <p:sp>
          <p:nvSpPr>
            <p:cNvPr id="259127" name="Text Box 55"/>
            <p:cNvSpPr txBox="1">
              <a:spLocks noChangeArrowheads="1"/>
            </p:cNvSpPr>
            <p:nvPr/>
          </p:nvSpPr>
          <p:spPr bwMode="auto">
            <a:xfrm>
              <a:off x="7969251" y="1916113"/>
              <a:ext cx="24479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1800" dirty="0">
                  <a:latin typeface="微软雅黑 Light" panose="020B0502040204020203" pitchFamily="34" charset="-122"/>
                  <a:ea typeface="微软雅黑 Light" panose="020B0502040204020203" pitchFamily="34" charset="-122"/>
                </a:rPr>
                <a:t>(2)ACK0 buf.4</a:t>
              </a:r>
            </a:p>
          </p:txBody>
        </p:sp>
        <p:sp>
          <p:nvSpPr>
            <p:cNvPr id="259128" name="Text Box 56"/>
            <p:cNvSpPr txBox="1">
              <a:spLocks noChangeArrowheads="1"/>
            </p:cNvSpPr>
            <p:nvPr/>
          </p:nvSpPr>
          <p:spPr bwMode="auto">
            <a:xfrm>
              <a:off x="7969251" y="3357563"/>
              <a:ext cx="24479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1800">
                  <a:latin typeface="微软雅黑 Light" panose="020B0502040204020203" pitchFamily="34" charset="-122"/>
                  <a:ea typeface="微软雅黑 Light" panose="020B0502040204020203" pitchFamily="34" charset="-122"/>
                </a:rPr>
                <a:t>(6)ACK2 buf.3</a:t>
              </a:r>
            </a:p>
          </p:txBody>
        </p:sp>
        <p:sp>
          <p:nvSpPr>
            <p:cNvPr id="259129" name="Text Box 57"/>
            <p:cNvSpPr txBox="1">
              <a:spLocks noChangeArrowheads="1"/>
            </p:cNvSpPr>
            <p:nvPr/>
          </p:nvSpPr>
          <p:spPr bwMode="auto">
            <a:xfrm>
              <a:off x="7969251" y="4581526"/>
              <a:ext cx="24479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1800">
                  <a:latin typeface="微软雅黑 Light" panose="020B0502040204020203" pitchFamily="34" charset="-122"/>
                  <a:ea typeface="微软雅黑 Light" panose="020B0502040204020203" pitchFamily="34" charset="-122"/>
                </a:rPr>
                <a:t>(10)ACK5 buf.0</a:t>
              </a:r>
            </a:p>
          </p:txBody>
        </p:sp>
        <p:sp>
          <p:nvSpPr>
            <p:cNvPr id="259130" name="Text Box 58"/>
            <p:cNvSpPr txBox="1">
              <a:spLocks noChangeArrowheads="1"/>
            </p:cNvSpPr>
            <p:nvPr/>
          </p:nvSpPr>
          <p:spPr bwMode="auto">
            <a:xfrm>
              <a:off x="7969251" y="4868863"/>
              <a:ext cx="24479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1800">
                  <a:latin typeface="微软雅黑 Light" panose="020B0502040204020203" pitchFamily="34" charset="-122"/>
                  <a:ea typeface="微软雅黑 Light" panose="020B0502040204020203" pitchFamily="34" charset="-122"/>
                </a:rPr>
                <a:t>(11)ACK5 buf.1</a:t>
              </a:r>
            </a:p>
          </p:txBody>
        </p:sp>
        <p:sp>
          <p:nvSpPr>
            <p:cNvPr id="259131" name="Text Box 59"/>
            <p:cNvSpPr txBox="1">
              <a:spLocks noChangeArrowheads="1"/>
            </p:cNvSpPr>
            <p:nvPr/>
          </p:nvSpPr>
          <p:spPr bwMode="auto">
            <a:xfrm>
              <a:off x="7969251" y="5157788"/>
              <a:ext cx="24479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1800">
                  <a:latin typeface="微软雅黑 Light" panose="020B0502040204020203" pitchFamily="34" charset="-122"/>
                  <a:ea typeface="微软雅黑 Light" panose="020B0502040204020203" pitchFamily="34" charset="-122"/>
                </a:rPr>
                <a:t>(12)ACK5 buf.2</a:t>
              </a:r>
            </a:p>
          </p:txBody>
        </p:sp>
        <p:sp>
          <p:nvSpPr>
            <p:cNvPr id="259132" name="Text Box 60"/>
            <p:cNvSpPr txBox="1">
              <a:spLocks noChangeArrowheads="1"/>
            </p:cNvSpPr>
            <p:nvPr/>
          </p:nvSpPr>
          <p:spPr bwMode="auto">
            <a:xfrm>
              <a:off x="7969251" y="5805488"/>
              <a:ext cx="24479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1800">
                  <a:latin typeface="微软雅黑 Light" panose="020B0502040204020203" pitchFamily="34" charset="-122"/>
                  <a:ea typeface="微软雅黑 Light" panose="020B0502040204020203" pitchFamily="34" charset="-122"/>
                </a:rPr>
                <a:t>(15)ACK7 buf.0</a:t>
              </a:r>
            </a:p>
          </p:txBody>
        </p:sp>
        <p:sp>
          <p:nvSpPr>
            <p:cNvPr id="259133" name="Text Box 61"/>
            <p:cNvSpPr txBox="1">
              <a:spLocks noChangeArrowheads="1"/>
            </p:cNvSpPr>
            <p:nvPr/>
          </p:nvSpPr>
          <p:spPr bwMode="auto">
            <a:xfrm>
              <a:off x="7969251" y="6092826"/>
              <a:ext cx="24479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1800">
                  <a:latin typeface="微软雅黑 Light" panose="020B0502040204020203" pitchFamily="34" charset="-122"/>
                  <a:ea typeface="微软雅黑 Light" panose="020B0502040204020203" pitchFamily="34" charset="-122"/>
                </a:rPr>
                <a:t>(16)ACK7 buf.1</a:t>
              </a:r>
            </a:p>
          </p:txBody>
        </p:sp>
        <p:sp>
          <p:nvSpPr>
            <p:cNvPr id="259134" name="Text Box 62"/>
            <p:cNvSpPr txBox="1">
              <a:spLocks noChangeArrowheads="1"/>
            </p:cNvSpPr>
            <p:nvPr/>
          </p:nvSpPr>
          <p:spPr bwMode="auto">
            <a:xfrm>
              <a:off x="1919289" y="1557338"/>
              <a:ext cx="20161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r>
                <a:rPr lang="en-US" altLang="zh-CN" sz="1800" dirty="0">
                  <a:latin typeface="微软雅黑 Light" panose="020B0502040204020203" pitchFamily="34" charset="-122"/>
                  <a:ea typeface="微软雅黑 Light" panose="020B0502040204020203" pitchFamily="34" charset="-122"/>
                </a:rPr>
                <a:t>(1)REQ buf.8</a:t>
              </a:r>
            </a:p>
          </p:txBody>
        </p:sp>
        <p:sp>
          <p:nvSpPr>
            <p:cNvPr id="259135" name="Text Box 63"/>
            <p:cNvSpPr txBox="1">
              <a:spLocks noChangeArrowheads="1"/>
            </p:cNvSpPr>
            <p:nvPr/>
          </p:nvSpPr>
          <p:spPr bwMode="auto">
            <a:xfrm>
              <a:off x="1919289" y="2276476"/>
              <a:ext cx="20161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r>
                <a:rPr lang="en-US" altLang="zh-CN" sz="1800">
                  <a:latin typeface="微软雅黑 Light" panose="020B0502040204020203" pitchFamily="34" charset="-122"/>
                  <a:ea typeface="微软雅黑 Light" panose="020B0502040204020203" pitchFamily="34" charset="-122"/>
                </a:rPr>
                <a:t>(3)Seq0, m0</a:t>
              </a:r>
            </a:p>
          </p:txBody>
        </p:sp>
        <p:sp>
          <p:nvSpPr>
            <p:cNvPr id="259144" name="Text Box 72"/>
            <p:cNvSpPr txBox="1">
              <a:spLocks noChangeArrowheads="1"/>
            </p:cNvSpPr>
            <p:nvPr/>
          </p:nvSpPr>
          <p:spPr bwMode="auto">
            <a:xfrm>
              <a:off x="1919473" y="2564904"/>
              <a:ext cx="20161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r>
                <a:rPr lang="en-US" altLang="zh-CN" sz="1800">
                  <a:latin typeface="微软雅黑 Light" panose="020B0502040204020203" pitchFamily="34" charset="-122"/>
                  <a:ea typeface="微软雅黑 Light" panose="020B0502040204020203" pitchFamily="34" charset="-122"/>
                </a:rPr>
                <a:t>(4)Seq1, m1</a:t>
              </a:r>
            </a:p>
          </p:txBody>
        </p:sp>
        <p:sp>
          <p:nvSpPr>
            <p:cNvPr id="259145" name="Text Box 73"/>
            <p:cNvSpPr txBox="1">
              <a:spLocks noChangeArrowheads="1"/>
            </p:cNvSpPr>
            <p:nvPr/>
          </p:nvSpPr>
          <p:spPr bwMode="auto">
            <a:xfrm>
              <a:off x="1919289" y="2852738"/>
              <a:ext cx="20161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r>
                <a:rPr lang="en-US" altLang="zh-CN" sz="1800">
                  <a:latin typeface="微软雅黑 Light" panose="020B0502040204020203" pitchFamily="34" charset="-122"/>
                  <a:ea typeface="微软雅黑 Light" panose="020B0502040204020203" pitchFamily="34" charset="-122"/>
                </a:rPr>
                <a:t>(5)Seq2, m2</a:t>
              </a:r>
            </a:p>
          </p:txBody>
        </p:sp>
        <p:sp>
          <p:nvSpPr>
            <p:cNvPr id="259146" name="Text Box 74"/>
            <p:cNvSpPr txBox="1">
              <a:spLocks noChangeArrowheads="1"/>
            </p:cNvSpPr>
            <p:nvPr/>
          </p:nvSpPr>
          <p:spPr bwMode="auto">
            <a:xfrm>
              <a:off x="1919289" y="3565526"/>
              <a:ext cx="20161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r>
                <a:rPr lang="en-US" altLang="zh-CN" sz="1800">
                  <a:latin typeface="微软雅黑 Light" panose="020B0502040204020203" pitchFamily="34" charset="-122"/>
                  <a:ea typeface="微软雅黑 Light" panose="020B0502040204020203" pitchFamily="34" charset="-122"/>
                </a:rPr>
                <a:t>(7)Seq3, m3</a:t>
              </a:r>
            </a:p>
          </p:txBody>
        </p:sp>
        <p:sp>
          <p:nvSpPr>
            <p:cNvPr id="259147" name="Text Box 75"/>
            <p:cNvSpPr txBox="1">
              <a:spLocks noChangeArrowheads="1"/>
            </p:cNvSpPr>
            <p:nvPr/>
          </p:nvSpPr>
          <p:spPr bwMode="auto">
            <a:xfrm>
              <a:off x="1919289" y="3854451"/>
              <a:ext cx="20161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r>
                <a:rPr lang="en-US" altLang="zh-CN" sz="1800">
                  <a:latin typeface="微软雅黑 Light" panose="020B0502040204020203" pitchFamily="34" charset="-122"/>
                  <a:ea typeface="微软雅黑 Light" panose="020B0502040204020203" pitchFamily="34" charset="-122"/>
                </a:rPr>
                <a:t>(8)Seq4, m4</a:t>
              </a:r>
            </a:p>
          </p:txBody>
        </p:sp>
        <p:sp>
          <p:nvSpPr>
            <p:cNvPr id="259148" name="Text Box 76"/>
            <p:cNvSpPr txBox="1">
              <a:spLocks noChangeArrowheads="1"/>
            </p:cNvSpPr>
            <p:nvPr/>
          </p:nvSpPr>
          <p:spPr bwMode="auto">
            <a:xfrm>
              <a:off x="1919289" y="4141788"/>
              <a:ext cx="20161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r>
                <a:rPr lang="en-US" altLang="zh-CN" sz="1800">
                  <a:latin typeface="微软雅黑 Light" panose="020B0502040204020203" pitchFamily="34" charset="-122"/>
                  <a:ea typeface="微软雅黑 Light" panose="020B0502040204020203" pitchFamily="34" charset="-122"/>
                </a:rPr>
                <a:t>(9)Seq2, m2</a:t>
              </a:r>
            </a:p>
          </p:txBody>
        </p:sp>
        <p:sp>
          <p:nvSpPr>
            <p:cNvPr id="259149" name="Text Box 77"/>
            <p:cNvSpPr txBox="1">
              <a:spLocks noChangeArrowheads="1"/>
            </p:cNvSpPr>
            <p:nvPr/>
          </p:nvSpPr>
          <p:spPr bwMode="auto">
            <a:xfrm>
              <a:off x="1919289" y="5084763"/>
              <a:ext cx="20161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r>
                <a:rPr lang="en-US" altLang="zh-CN" sz="1800">
                  <a:latin typeface="微软雅黑 Light" panose="020B0502040204020203" pitchFamily="34" charset="-122"/>
                  <a:ea typeface="微软雅黑 Light" panose="020B0502040204020203" pitchFamily="34" charset="-122"/>
                </a:rPr>
                <a:t>(13)Seq5, m5</a:t>
              </a:r>
            </a:p>
          </p:txBody>
        </p:sp>
        <p:sp>
          <p:nvSpPr>
            <p:cNvPr id="259150" name="Text Box 78"/>
            <p:cNvSpPr txBox="1">
              <a:spLocks noChangeArrowheads="1"/>
            </p:cNvSpPr>
            <p:nvPr/>
          </p:nvSpPr>
          <p:spPr bwMode="auto">
            <a:xfrm>
              <a:off x="1919289" y="5373688"/>
              <a:ext cx="20161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r>
                <a:rPr lang="en-US" altLang="zh-CN" sz="1800">
                  <a:latin typeface="微软雅黑 Light" panose="020B0502040204020203" pitchFamily="34" charset="-122"/>
                  <a:ea typeface="微软雅黑 Light" panose="020B0502040204020203" pitchFamily="34" charset="-122"/>
                </a:rPr>
                <a:t>(14)Seq6, m6</a:t>
              </a:r>
            </a:p>
          </p:txBody>
        </p:sp>
        <p:sp>
          <p:nvSpPr>
            <p:cNvPr id="259154" name="Text Box 82"/>
            <p:cNvSpPr txBox="1">
              <a:spLocks noChangeArrowheads="1"/>
            </p:cNvSpPr>
            <p:nvPr/>
          </p:nvSpPr>
          <p:spPr bwMode="auto">
            <a:xfrm>
              <a:off x="8040689" y="1052513"/>
              <a:ext cx="2376487" cy="645160"/>
            </a:xfrm>
            <a:prstGeom prst="rect">
              <a:avLst/>
            </a:prstGeom>
            <a:solidFill>
              <a:schemeClr val="bg2">
                <a:lumMod val="75000"/>
              </a:schemeClr>
            </a:solidFill>
            <a:ln>
              <a:noFill/>
            </a:ln>
            <a:effectLst/>
          </p:spPr>
          <p:txBody>
            <a:bodyPr>
              <a:spAutoFit/>
            </a:bodyPr>
            <a:lstStyle/>
            <a:p>
              <a:r>
                <a:rPr lang="en-US" altLang="zh-CN" sz="1800" dirty="0">
                  <a:solidFill>
                    <a:schemeClr val="bg1"/>
                  </a:solidFill>
                  <a:latin typeface="微软雅黑 Light" panose="020B0502040204020203" pitchFamily="34" charset="-122"/>
                  <a:ea typeface="微软雅黑 Light" panose="020B0502040204020203" pitchFamily="34" charset="-122"/>
                </a:rPr>
                <a:t>A</a:t>
              </a:r>
              <a:r>
                <a:rPr lang="zh-CN" altLang="en-US" sz="1800" dirty="0">
                  <a:solidFill>
                    <a:schemeClr val="bg1"/>
                  </a:solidFill>
                  <a:latin typeface="微软雅黑 Light" panose="020B0502040204020203" pitchFamily="34" charset="-122"/>
                  <a:ea typeface="微软雅黑 Light" panose="020B0502040204020203" pitchFamily="34" charset="-122"/>
                </a:rPr>
                <a:t>请求</a:t>
              </a:r>
              <a:r>
                <a:rPr lang="en-US" altLang="zh-CN" sz="1800" dirty="0">
                  <a:solidFill>
                    <a:schemeClr val="bg1"/>
                  </a:solidFill>
                  <a:latin typeface="微软雅黑 Light" panose="020B0502040204020203" pitchFamily="34" charset="-122"/>
                  <a:ea typeface="微软雅黑 Light" panose="020B0502040204020203" pitchFamily="34" charset="-122"/>
                </a:rPr>
                <a:t>B</a:t>
              </a:r>
              <a:r>
                <a:rPr lang="zh-CN" altLang="en-US" sz="1800" dirty="0">
                  <a:solidFill>
                    <a:schemeClr val="bg1"/>
                  </a:solidFill>
                  <a:latin typeface="微软雅黑 Light" panose="020B0502040204020203" pitchFamily="34" charset="-122"/>
                  <a:ea typeface="微软雅黑 Light" panose="020B0502040204020203" pitchFamily="34" charset="-122"/>
                </a:rPr>
                <a:t>分配</a:t>
              </a:r>
              <a:r>
                <a:rPr lang="en-US" altLang="zh-CN" sz="1800" dirty="0">
                  <a:solidFill>
                    <a:schemeClr val="bg1"/>
                  </a:solidFill>
                  <a:latin typeface="微软雅黑 Light" panose="020B0502040204020203" pitchFamily="34" charset="-122"/>
                  <a:ea typeface="微软雅黑 Light" panose="020B0502040204020203" pitchFamily="34" charset="-122"/>
                </a:rPr>
                <a:t>8</a:t>
              </a:r>
              <a:r>
                <a:rPr lang="zh-CN" altLang="en-US" sz="1800" dirty="0">
                  <a:solidFill>
                    <a:schemeClr val="bg1"/>
                  </a:solidFill>
                  <a:latin typeface="微软雅黑 Light" panose="020B0502040204020203" pitchFamily="34" charset="-122"/>
                  <a:ea typeface="微软雅黑 Light" panose="020B0502040204020203" pitchFamily="34" charset="-122"/>
                </a:rPr>
                <a:t>个缓冲区，但仅得到</a:t>
              </a:r>
              <a:r>
                <a:rPr lang="en-US" altLang="zh-CN" sz="1800" dirty="0">
                  <a:solidFill>
                    <a:schemeClr val="bg1"/>
                  </a:solidFill>
                  <a:latin typeface="微软雅黑 Light" panose="020B0502040204020203" pitchFamily="34" charset="-122"/>
                  <a:ea typeface="微软雅黑 Light" panose="020B0502040204020203" pitchFamily="34" charset="-122"/>
                </a:rPr>
                <a:t>4</a:t>
              </a:r>
              <a:r>
                <a:rPr lang="zh-CN" altLang="en-US" sz="1800" dirty="0">
                  <a:solidFill>
                    <a:schemeClr val="bg1"/>
                  </a:solidFill>
                  <a:latin typeface="微软雅黑 Light" panose="020B0502040204020203" pitchFamily="34" charset="-122"/>
                  <a:ea typeface="微软雅黑 Light" panose="020B0502040204020203" pitchFamily="34" charset="-122"/>
                </a:rPr>
                <a:t>个</a:t>
              </a:r>
            </a:p>
          </p:txBody>
        </p:sp>
        <p:sp>
          <p:nvSpPr>
            <p:cNvPr id="259155" name="AutoShape 83"/>
            <p:cNvSpPr>
              <a:spLocks noChangeArrowheads="1"/>
            </p:cNvSpPr>
            <p:nvPr/>
          </p:nvSpPr>
          <p:spPr bwMode="auto">
            <a:xfrm>
              <a:off x="6024564" y="2852739"/>
              <a:ext cx="871537" cy="719137"/>
            </a:xfrm>
            <a:prstGeom prst="irregularSeal1">
              <a:avLst/>
            </a:prstGeom>
            <a:solidFill>
              <a:srgbClr val="FF0000"/>
            </a:solidFill>
            <a:ln w="9525">
              <a:solidFill>
                <a:schemeClr va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latin typeface="微软雅黑 Light" panose="020B0502040204020203" pitchFamily="34" charset="-122"/>
                  <a:ea typeface="微软雅黑 Light" panose="020B0502040204020203" pitchFamily="34" charset="-122"/>
                </a:rPr>
                <a:t>丢失</a:t>
              </a:r>
            </a:p>
          </p:txBody>
        </p:sp>
      </p:grpSp>
      <p:sp>
        <p:nvSpPr>
          <p:cNvPr id="259156" name="AutoShape 84"/>
          <p:cNvSpPr>
            <a:spLocks noChangeArrowheads="1"/>
          </p:cNvSpPr>
          <p:nvPr/>
        </p:nvSpPr>
        <p:spPr bwMode="auto">
          <a:xfrm>
            <a:off x="4943475" y="5949950"/>
            <a:ext cx="871538" cy="719138"/>
          </a:xfrm>
          <a:prstGeom prst="irregularSeal1">
            <a:avLst/>
          </a:prstGeom>
          <a:solidFill>
            <a:srgbClr val="FF0000"/>
          </a:solidFill>
          <a:ln w="9525">
            <a:solidFill>
              <a:schemeClr va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latin typeface="微软雅黑 Light" panose="020B0502040204020203" pitchFamily="34" charset="-122"/>
                <a:ea typeface="微软雅黑 Light" panose="020B0502040204020203" pitchFamily="34" charset="-122"/>
              </a:rPr>
              <a:t>丢失</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7380BADF-56AE-47CA-84FF-E7175BCC2B4B}" type="slidenum">
              <a:rPr lang="en-US" altLang="zh-CN"/>
              <a:t>18</a:t>
            </a:fld>
            <a:endParaRPr lang="en-US" altLang="zh-CN"/>
          </a:p>
        </p:txBody>
      </p:sp>
      <p:sp>
        <p:nvSpPr>
          <p:cNvPr id="265218" name="Rectangle 2"/>
          <p:cNvSpPr>
            <a:spLocks noGrp="1" noChangeArrowheads="1"/>
          </p:cNvSpPr>
          <p:nvPr>
            <p:ph type="title"/>
          </p:nvPr>
        </p:nvSpPr>
        <p:spPr/>
        <p:txBody>
          <a:bodyPr/>
          <a:lstStyle/>
          <a:p>
            <a:r>
              <a:rPr lang="zh-CN" altLang="en-US" dirty="0"/>
              <a:t>传输连接</a:t>
            </a:r>
          </a:p>
        </p:txBody>
      </p:sp>
      <p:sp>
        <p:nvSpPr>
          <p:cNvPr id="265219" name="Rectangle 3"/>
          <p:cNvSpPr>
            <a:spLocks noGrp="1" noChangeArrowheads="1"/>
          </p:cNvSpPr>
          <p:nvPr>
            <p:ph type="body" idx="1"/>
          </p:nvPr>
        </p:nvSpPr>
        <p:spPr/>
        <p:txBody>
          <a:bodyPr/>
          <a:lstStyle/>
          <a:p>
            <a:pPr>
              <a:lnSpc>
                <a:spcPct val="120000"/>
              </a:lnSpc>
            </a:pPr>
            <a:r>
              <a:rPr lang="zh-CN" altLang="en-US" dirty="0"/>
              <a:t>传输层端到端的传送可以采用两种模式来完成：</a:t>
            </a:r>
          </a:p>
          <a:p>
            <a:pPr lvl="1">
              <a:lnSpc>
                <a:spcPct val="120000"/>
              </a:lnSpc>
            </a:pPr>
            <a:r>
              <a:rPr lang="zh-CN" altLang="en-US" dirty="0"/>
              <a:t>面向连接</a:t>
            </a:r>
          </a:p>
          <a:p>
            <a:pPr lvl="1">
              <a:lnSpc>
                <a:spcPct val="120000"/>
              </a:lnSpc>
            </a:pPr>
            <a:r>
              <a:rPr lang="zh-CN" altLang="en-US" dirty="0"/>
              <a:t>无连接</a:t>
            </a:r>
          </a:p>
          <a:p>
            <a:pPr>
              <a:lnSpc>
                <a:spcPct val="120000"/>
              </a:lnSpc>
            </a:pPr>
            <a:r>
              <a:rPr lang="zh-CN" altLang="en-US" dirty="0"/>
              <a:t>面向连接传输有三个步骤：</a:t>
            </a:r>
            <a:endParaRPr lang="en-US" altLang="zh-CN" dirty="0"/>
          </a:p>
          <a:p>
            <a:pPr lvl="1">
              <a:lnSpc>
                <a:spcPct val="120000"/>
              </a:lnSpc>
            </a:pPr>
            <a:r>
              <a:rPr lang="zh-CN" altLang="en-US" dirty="0"/>
              <a:t>连接建立</a:t>
            </a:r>
            <a:endParaRPr lang="en-US" altLang="zh-CN" dirty="0"/>
          </a:p>
          <a:p>
            <a:pPr lvl="1">
              <a:lnSpc>
                <a:spcPct val="120000"/>
              </a:lnSpc>
            </a:pPr>
            <a:r>
              <a:rPr lang="zh-CN" altLang="en-US" dirty="0"/>
              <a:t>数据传输</a:t>
            </a:r>
            <a:endParaRPr lang="en-US" altLang="zh-CN" dirty="0"/>
          </a:p>
          <a:p>
            <a:pPr lvl="1">
              <a:lnSpc>
                <a:spcPct val="120000"/>
              </a:lnSpc>
            </a:pPr>
            <a:r>
              <a:rPr lang="zh-CN" altLang="en-US" dirty="0"/>
              <a:t>连接终止</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灯片编号占位符 5"/>
          <p:cNvSpPr>
            <a:spLocks noGrp="1"/>
          </p:cNvSpPr>
          <p:nvPr>
            <p:ph type="sldNum" sz="quarter" idx="12"/>
          </p:nvPr>
        </p:nvSpPr>
        <p:spPr/>
        <p:txBody>
          <a:bodyPr/>
          <a:lstStyle/>
          <a:p>
            <a:fld id="{98B24C3D-CA41-43B5-8928-286AC1459D99}" type="slidenum">
              <a:rPr lang="en-US" altLang="zh-CN"/>
              <a:t>19</a:t>
            </a:fld>
            <a:endParaRPr lang="en-US" altLang="zh-CN"/>
          </a:p>
        </p:txBody>
      </p:sp>
      <p:sp>
        <p:nvSpPr>
          <p:cNvPr id="266242" name="Rectangle 2"/>
          <p:cNvSpPr>
            <a:spLocks noGrp="1" noChangeArrowheads="1"/>
          </p:cNvSpPr>
          <p:nvPr>
            <p:ph type="title"/>
          </p:nvPr>
        </p:nvSpPr>
        <p:spPr/>
        <p:txBody>
          <a:bodyPr/>
          <a:lstStyle/>
          <a:p>
            <a:r>
              <a:rPr lang="zh-CN" altLang="en-US"/>
              <a:t>连接建立</a:t>
            </a:r>
          </a:p>
        </p:txBody>
      </p:sp>
      <p:grpSp>
        <p:nvGrpSpPr>
          <p:cNvPr id="2" name="组合 1"/>
          <p:cNvGrpSpPr/>
          <p:nvPr/>
        </p:nvGrpSpPr>
        <p:grpSpPr>
          <a:xfrm>
            <a:off x="2065770" y="1291903"/>
            <a:ext cx="7913688" cy="4921249"/>
            <a:chOff x="2065770" y="1291903"/>
            <a:chExt cx="7913688" cy="4921249"/>
          </a:xfrm>
        </p:grpSpPr>
        <p:grpSp>
          <p:nvGrpSpPr>
            <p:cNvPr id="266259" name="Group 19"/>
            <p:cNvGrpSpPr/>
            <p:nvPr/>
          </p:nvGrpSpPr>
          <p:grpSpPr bwMode="auto">
            <a:xfrm>
              <a:off x="2281670" y="1795140"/>
              <a:ext cx="3095625" cy="3311525"/>
              <a:chOff x="1837" y="890"/>
              <a:chExt cx="1950" cy="3266"/>
            </a:xfrm>
          </p:grpSpPr>
          <p:sp>
            <p:nvSpPr>
              <p:cNvPr id="266245" name="Line 5"/>
              <p:cNvSpPr>
                <a:spLocks noChangeShapeType="1"/>
              </p:cNvSpPr>
              <p:nvPr/>
            </p:nvSpPr>
            <p:spPr bwMode="auto">
              <a:xfrm>
                <a:off x="1837" y="890"/>
                <a:ext cx="0" cy="3266"/>
              </a:xfrm>
              <a:prstGeom prst="line">
                <a:avLst/>
              </a:prstGeom>
              <a:noFill/>
              <a:ln w="19050">
                <a:solidFill>
                  <a:schemeClr val="tx1"/>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266246" name="Line 6"/>
              <p:cNvSpPr>
                <a:spLocks noChangeShapeType="1"/>
              </p:cNvSpPr>
              <p:nvPr/>
            </p:nvSpPr>
            <p:spPr bwMode="auto">
              <a:xfrm>
                <a:off x="3787" y="890"/>
                <a:ext cx="0" cy="3266"/>
              </a:xfrm>
              <a:prstGeom prst="line">
                <a:avLst/>
              </a:prstGeom>
              <a:noFill/>
              <a:ln w="19050">
                <a:solidFill>
                  <a:schemeClr val="tx1"/>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grpSp>
        <p:sp>
          <p:nvSpPr>
            <p:cNvPr id="266248" name="Line 8"/>
            <p:cNvSpPr>
              <a:spLocks noChangeShapeType="1"/>
            </p:cNvSpPr>
            <p:nvPr/>
          </p:nvSpPr>
          <p:spPr bwMode="auto">
            <a:xfrm>
              <a:off x="2281670" y="2155502"/>
              <a:ext cx="3095625" cy="576262"/>
            </a:xfrm>
            <a:prstGeom prst="line">
              <a:avLst/>
            </a:prstGeom>
            <a:noFill/>
            <a:ln w="19050">
              <a:solidFill>
                <a:schemeClr val="bg2">
                  <a:lumMod val="50000"/>
                </a:schemeClr>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266254" name="Line 14"/>
            <p:cNvSpPr>
              <a:spLocks noChangeShapeType="1"/>
            </p:cNvSpPr>
            <p:nvPr/>
          </p:nvSpPr>
          <p:spPr bwMode="auto">
            <a:xfrm flipV="1">
              <a:off x="2281670" y="3019102"/>
              <a:ext cx="3095625" cy="647700"/>
            </a:xfrm>
            <a:prstGeom prst="line">
              <a:avLst/>
            </a:prstGeom>
            <a:noFill/>
            <a:ln w="19050">
              <a:solidFill>
                <a:srgbClr val="00B05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266256" name="Text Box 16"/>
            <p:cNvSpPr txBox="1">
              <a:spLocks noChangeArrowheads="1"/>
            </p:cNvSpPr>
            <p:nvPr/>
          </p:nvSpPr>
          <p:spPr bwMode="auto">
            <a:xfrm>
              <a:off x="2065770" y="1318890"/>
              <a:ext cx="3603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a:latin typeface="+mn-lt"/>
                  <a:ea typeface="微软雅黑 Light" panose="020B0502040204020203" pitchFamily="34" charset="-122"/>
                </a:rPr>
                <a:t>A</a:t>
              </a:r>
            </a:p>
          </p:txBody>
        </p:sp>
        <p:sp>
          <p:nvSpPr>
            <p:cNvPr id="266257" name="Text Box 17"/>
            <p:cNvSpPr txBox="1">
              <a:spLocks noChangeArrowheads="1"/>
            </p:cNvSpPr>
            <p:nvPr/>
          </p:nvSpPr>
          <p:spPr bwMode="auto">
            <a:xfrm>
              <a:off x="5232832" y="1318890"/>
              <a:ext cx="360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a:latin typeface="+mn-lt"/>
                  <a:ea typeface="微软雅黑 Light" panose="020B0502040204020203" pitchFamily="34" charset="-122"/>
                </a:rPr>
                <a:t>B</a:t>
              </a:r>
            </a:p>
          </p:txBody>
        </p:sp>
        <p:sp>
          <p:nvSpPr>
            <p:cNvPr id="266258" name="Line 18"/>
            <p:cNvSpPr>
              <a:spLocks noChangeShapeType="1"/>
            </p:cNvSpPr>
            <p:nvPr/>
          </p:nvSpPr>
          <p:spPr bwMode="auto">
            <a:xfrm>
              <a:off x="2281670" y="4027165"/>
              <a:ext cx="3095625" cy="576263"/>
            </a:xfrm>
            <a:prstGeom prst="line">
              <a:avLst/>
            </a:prstGeom>
            <a:noFill/>
            <a:ln w="19050">
              <a:solidFill>
                <a:schemeClr val="bg2">
                  <a:lumMod val="50000"/>
                </a:schemeClr>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266260" name="Text Box 20"/>
            <p:cNvSpPr txBox="1">
              <a:spLocks noChangeArrowheads="1"/>
            </p:cNvSpPr>
            <p:nvPr/>
          </p:nvSpPr>
          <p:spPr bwMode="auto">
            <a:xfrm>
              <a:off x="3217350" y="1895153"/>
              <a:ext cx="131157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a:latin typeface="+mn-lt"/>
                  <a:ea typeface="微软雅黑 Light" panose="020B0502040204020203" pitchFamily="34" charset="-122"/>
                </a:rPr>
                <a:t>CR(seq=x)</a:t>
              </a:r>
            </a:p>
          </p:txBody>
        </p:sp>
        <p:sp>
          <p:nvSpPr>
            <p:cNvPr id="266261" name="Text Box 21"/>
            <p:cNvSpPr txBox="1">
              <a:spLocks noChangeArrowheads="1"/>
            </p:cNvSpPr>
            <p:nvPr/>
          </p:nvSpPr>
          <p:spPr bwMode="auto">
            <a:xfrm>
              <a:off x="2744770" y="2903215"/>
              <a:ext cx="22599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a:latin typeface="+mn-lt"/>
                  <a:ea typeface="微软雅黑 Light" panose="020B0502040204020203" pitchFamily="34" charset="-122"/>
                </a:rPr>
                <a:t>CR(seq=y,ack=x+1)</a:t>
              </a:r>
            </a:p>
          </p:txBody>
        </p:sp>
        <p:sp>
          <p:nvSpPr>
            <p:cNvPr id="266262" name="Text Box 22"/>
            <p:cNvSpPr txBox="1">
              <a:spLocks noChangeArrowheads="1"/>
            </p:cNvSpPr>
            <p:nvPr/>
          </p:nvSpPr>
          <p:spPr bwMode="auto">
            <a:xfrm>
              <a:off x="2557315" y="3789040"/>
              <a:ext cx="254909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a:latin typeface="+mn-lt"/>
                  <a:ea typeface="微软雅黑 Light" panose="020B0502040204020203" pitchFamily="34" charset="-122"/>
                </a:rPr>
                <a:t>CR(seq=x+1,ack=y+1)</a:t>
              </a:r>
            </a:p>
          </p:txBody>
        </p:sp>
        <p:grpSp>
          <p:nvGrpSpPr>
            <p:cNvPr id="266263" name="Group 23"/>
            <p:cNvGrpSpPr/>
            <p:nvPr/>
          </p:nvGrpSpPr>
          <p:grpSpPr bwMode="auto">
            <a:xfrm>
              <a:off x="6667933" y="1768153"/>
              <a:ext cx="3095625" cy="3311525"/>
              <a:chOff x="1837" y="890"/>
              <a:chExt cx="1950" cy="3266"/>
            </a:xfrm>
          </p:grpSpPr>
          <p:sp>
            <p:nvSpPr>
              <p:cNvPr id="266264" name="Line 24"/>
              <p:cNvSpPr>
                <a:spLocks noChangeShapeType="1"/>
              </p:cNvSpPr>
              <p:nvPr/>
            </p:nvSpPr>
            <p:spPr bwMode="auto">
              <a:xfrm>
                <a:off x="1837" y="890"/>
                <a:ext cx="0" cy="3266"/>
              </a:xfrm>
              <a:prstGeom prst="line">
                <a:avLst/>
              </a:prstGeom>
              <a:noFill/>
              <a:ln w="19050">
                <a:solidFill>
                  <a:schemeClr val="tx1"/>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266265" name="Line 25"/>
              <p:cNvSpPr>
                <a:spLocks noChangeShapeType="1"/>
              </p:cNvSpPr>
              <p:nvPr/>
            </p:nvSpPr>
            <p:spPr bwMode="auto">
              <a:xfrm>
                <a:off x="3787" y="890"/>
                <a:ext cx="0" cy="3266"/>
              </a:xfrm>
              <a:prstGeom prst="line">
                <a:avLst/>
              </a:prstGeom>
              <a:noFill/>
              <a:ln w="19050">
                <a:solidFill>
                  <a:schemeClr val="tx1"/>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grpSp>
        <p:sp>
          <p:nvSpPr>
            <p:cNvPr id="266266" name="Line 26"/>
            <p:cNvSpPr>
              <a:spLocks noChangeShapeType="1"/>
            </p:cNvSpPr>
            <p:nvPr/>
          </p:nvSpPr>
          <p:spPr bwMode="auto">
            <a:xfrm>
              <a:off x="6667933" y="2128515"/>
              <a:ext cx="3095625" cy="576263"/>
            </a:xfrm>
            <a:prstGeom prst="line">
              <a:avLst/>
            </a:prstGeom>
            <a:noFill/>
            <a:ln w="19050">
              <a:solidFill>
                <a:schemeClr val="bg2">
                  <a:lumMod val="50000"/>
                </a:schemeClr>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266267" name="Line 27"/>
            <p:cNvSpPr>
              <a:spLocks noChangeShapeType="1"/>
            </p:cNvSpPr>
            <p:nvPr/>
          </p:nvSpPr>
          <p:spPr bwMode="auto">
            <a:xfrm flipV="1">
              <a:off x="6667933" y="2992114"/>
              <a:ext cx="3095625" cy="647700"/>
            </a:xfrm>
            <a:prstGeom prst="line">
              <a:avLst/>
            </a:prstGeom>
            <a:noFill/>
            <a:ln w="19050">
              <a:solidFill>
                <a:srgbClr val="00B05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266268" name="Text Box 28"/>
            <p:cNvSpPr txBox="1">
              <a:spLocks noChangeArrowheads="1"/>
            </p:cNvSpPr>
            <p:nvPr/>
          </p:nvSpPr>
          <p:spPr bwMode="auto">
            <a:xfrm>
              <a:off x="6452032" y="1291903"/>
              <a:ext cx="360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a:latin typeface="+mn-lt"/>
                  <a:ea typeface="微软雅黑 Light" panose="020B0502040204020203" pitchFamily="34" charset="-122"/>
                </a:rPr>
                <a:t>A</a:t>
              </a:r>
            </a:p>
          </p:txBody>
        </p:sp>
        <p:sp>
          <p:nvSpPr>
            <p:cNvPr id="266269" name="Text Box 29"/>
            <p:cNvSpPr txBox="1">
              <a:spLocks noChangeArrowheads="1"/>
            </p:cNvSpPr>
            <p:nvPr/>
          </p:nvSpPr>
          <p:spPr bwMode="auto">
            <a:xfrm>
              <a:off x="9619095" y="1291903"/>
              <a:ext cx="3603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a:latin typeface="+mn-lt"/>
                  <a:ea typeface="微软雅黑 Light" panose="020B0502040204020203" pitchFamily="34" charset="-122"/>
                </a:rPr>
                <a:t>B</a:t>
              </a:r>
            </a:p>
          </p:txBody>
        </p:sp>
        <p:sp>
          <p:nvSpPr>
            <p:cNvPr id="266270" name="Line 30"/>
            <p:cNvSpPr>
              <a:spLocks noChangeShapeType="1"/>
            </p:cNvSpPr>
            <p:nvPr/>
          </p:nvSpPr>
          <p:spPr bwMode="auto">
            <a:xfrm>
              <a:off x="6667933" y="4000177"/>
              <a:ext cx="3095625" cy="576262"/>
            </a:xfrm>
            <a:prstGeom prst="line">
              <a:avLst/>
            </a:prstGeom>
            <a:noFill/>
            <a:ln w="19050">
              <a:solidFill>
                <a:schemeClr val="bg2">
                  <a:lumMod val="50000"/>
                </a:schemeClr>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266271" name="Text Box 31"/>
            <p:cNvSpPr txBox="1">
              <a:spLocks noChangeArrowheads="1"/>
            </p:cNvSpPr>
            <p:nvPr/>
          </p:nvSpPr>
          <p:spPr bwMode="auto">
            <a:xfrm>
              <a:off x="7191641" y="1868165"/>
              <a:ext cx="213552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a:latin typeface="+mn-lt"/>
                  <a:ea typeface="微软雅黑 Light" panose="020B0502040204020203" pitchFamily="34" charset="-122"/>
                </a:rPr>
                <a:t>重复的</a:t>
              </a:r>
              <a:r>
                <a:rPr lang="en-US" altLang="zh-CN">
                  <a:latin typeface="+mn-lt"/>
                  <a:ea typeface="微软雅黑 Light" panose="020B0502040204020203" pitchFamily="34" charset="-122"/>
                </a:rPr>
                <a:t>CR(seq=x)</a:t>
              </a:r>
            </a:p>
          </p:txBody>
        </p:sp>
        <p:sp>
          <p:nvSpPr>
            <p:cNvPr id="266272" name="Text Box 32"/>
            <p:cNvSpPr txBox="1">
              <a:spLocks noChangeArrowheads="1"/>
            </p:cNvSpPr>
            <p:nvPr/>
          </p:nvSpPr>
          <p:spPr bwMode="auto">
            <a:xfrm>
              <a:off x="7131032" y="2876228"/>
              <a:ext cx="22599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a:latin typeface="+mn-lt"/>
                  <a:ea typeface="微软雅黑 Light" panose="020B0502040204020203" pitchFamily="34" charset="-122"/>
                </a:rPr>
                <a:t>CR(seq=y,ack=x+1)</a:t>
              </a:r>
            </a:p>
          </p:txBody>
        </p:sp>
        <p:sp>
          <p:nvSpPr>
            <p:cNvPr id="266273" name="Text Box 33"/>
            <p:cNvSpPr txBox="1">
              <a:spLocks noChangeArrowheads="1"/>
            </p:cNvSpPr>
            <p:nvPr/>
          </p:nvSpPr>
          <p:spPr bwMode="auto">
            <a:xfrm>
              <a:off x="7440524" y="3762053"/>
              <a:ext cx="155202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a:latin typeface="+mn-lt"/>
                  <a:ea typeface="微软雅黑 Light" panose="020B0502040204020203" pitchFamily="34" charset="-122"/>
                </a:rPr>
                <a:t>RJ(ack=y+1)</a:t>
              </a:r>
            </a:p>
          </p:txBody>
        </p:sp>
        <p:sp>
          <p:nvSpPr>
            <p:cNvPr id="266274" name="Text Box 34"/>
            <p:cNvSpPr txBox="1">
              <a:spLocks noChangeArrowheads="1"/>
            </p:cNvSpPr>
            <p:nvPr/>
          </p:nvSpPr>
          <p:spPr bwMode="auto">
            <a:xfrm>
              <a:off x="2818244" y="5108252"/>
              <a:ext cx="1708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400">
                  <a:latin typeface="+mn-lt"/>
                  <a:ea typeface="微软雅黑 Light" panose="020B0502040204020203" pitchFamily="34" charset="-122"/>
                </a:rPr>
                <a:t>连接的建立</a:t>
              </a:r>
            </a:p>
          </p:txBody>
        </p:sp>
        <p:sp>
          <p:nvSpPr>
            <p:cNvPr id="266275" name="Text Box 35"/>
            <p:cNvSpPr txBox="1">
              <a:spLocks noChangeArrowheads="1"/>
            </p:cNvSpPr>
            <p:nvPr/>
          </p:nvSpPr>
          <p:spPr bwMode="auto">
            <a:xfrm>
              <a:off x="6745719" y="5108252"/>
              <a:ext cx="2927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400">
                  <a:latin typeface="+mn-lt"/>
                  <a:ea typeface="微软雅黑 Light" panose="020B0502040204020203" pitchFamily="34" charset="-122"/>
                </a:rPr>
                <a:t>拒绝重复的连接请求</a:t>
              </a:r>
            </a:p>
          </p:txBody>
        </p:sp>
        <p:sp>
          <p:nvSpPr>
            <p:cNvPr id="266276" name="Rectangle 36"/>
            <p:cNvSpPr>
              <a:spLocks noChangeArrowheads="1"/>
            </p:cNvSpPr>
            <p:nvPr/>
          </p:nvSpPr>
          <p:spPr bwMode="auto">
            <a:xfrm>
              <a:off x="4369232" y="5755952"/>
              <a:ext cx="3232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a:latin typeface="+mn-lt"/>
                  <a:ea typeface="微软雅黑 Light" panose="020B0502040204020203" pitchFamily="34" charset="-122"/>
                </a:rPr>
                <a:t>三次握手方法建立连接</a:t>
              </a: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灯片编号占位符 5"/>
          <p:cNvSpPr>
            <a:spLocks noGrp="1"/>
          </p:cNvSpPr>
          <p:nvPr>
            <p:ph type="sldNum" sz="quarter" idx="12"/>
          </p:nvPr>
        </p:nvSpPr>
        <p:spPr/>
        <p:txBody>
          <a:bodyPr/>
          <a:lstStyle/>
          <a:p>
            <a:fld id="{CCCB4EAC-1C2D-4CEB-AD3F-5DBBAA488692}" type="slidenum">
              <a:rPr lang="en-US" altLang="zh-CN"/>
              <a:t>20</a:t>
            </a:fld>
            <a:endParaRPr lang="en-US" altLang="zh-CN"/>
          </a:p>
        </p:txBody>
      </p:sp>
      <p:sp>
        <p:nvSpPr>
          <p:cNvPr id="267266" name="Rectangle 2"/>
          <p:cNvSpPr>
            <a:spLocks noGrp="1" noChangeArrowheads="1"/>
          </p:cNvSpPr>
          <p:nvPr>
            <p:ph type="title"/>
          </p:nvPr>
        </p:nvSpPr>
        <p:spPr/>
        <p:txBody>
          <a:bodyPr/>
          <a:lstStyle/>
          <a:p>
            <a:r>
              <a:rPr lang="zh-CN" altLang="en-US"/>
              <a:t>连接终止</a:t>
            </a:r>
          </a:p>
        </p:txBody>
      </p:sp>
      <p:grpSp>
        <p:nvGrpSpPr>
          <p:cNvPr id="2" name="组合 1"/>
          <p:cNvGrpSpPr/>
          <p:nvPr/>
        </p:nvGrpSpPr>
        <p:grpSpPr>
          <a:xfrm>
            <a:off x="1848247" y="1339602"/>
            <a:ext cx="8785225" cy="4500562"/>
            <a:chOff x="1848247" y="1339602"/>
            <a:chExt cx="8785225" cy="4500562"/>
          </a:xfrm>
        </p:grpSpPr>
        <p:sp>
          <p:nvSpPr>
            <p:cNvPr id="267270" name="Line 6"/>
            <p:cNvSpPr>
              <a:spLocks noChangeShapeType="1"/>
            </p:cNvSpPr>
            <p:nvPr/>
          </p:nvSpPr>
          <p:spPr bwMode="auto">
            <a:xfrm>
              <a:off x="7321947" y="1815852"/>
              <a:ext cx="0" cy="3311525"/>
            </a:xfrm>
            <a:prstGeom prst="line">
              <a:avLst/>
            </a:prstGeom>
            <a:noFill/>
            <a:ln w="19050">
              <a:solidFill>
                <a:schemeClr val="tx1"/>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267271" name="Line 7"/>
            <p:cNvSpPr>
              <a:spLocks noChangeShapeType="1"/>
            </p:cNvSpPr>
            <p:nvPr/>
          </p:nvSpPr>
          <p:spPr bwMode="auto">
            <a:xfrm>
              <a:off x="9553972" y="1815852"/>
              <a:ext cx="0" cy="3311525"/>
            </a:xfrm>
            <a:prstGeom prst="line">
              <a:avLst/>
            </a:prstGeom>
            <a:noFill/>
            <a:ln w="19050">
              <a:solidFill>
                <a:schemeClr val="tx1"/>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267272" name="Line 8"/>
            <p:cNvSpPr>
              <a:spLocks noChangeShapeType="1"/>
            </p:cNvSpPr>
            <p:nvPr/>
          </p:nvSpPr>
          <p:spPr bwMode="auto">
            <a:xfrm>
              <a:off x="7321947" y="2176213"/>
              <a:ext cx="2230438" cy="603250"/>
            </a:xfrm>
            <a:prstGeom prst="line">
              <a:avLst/>
            </a:prstGeom>
            <a:noFill/>
            <a:ln w="19050">
              <a:solidFill>
                <a:schemeClr val="bg2">
                  <a:lumMod val="50000"/>
                </a:schemeClr>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267273" name="Line 9"/>
            <p:cNvSpPr>
              <a:spLocks noChangeShapeType="1"/>
            </p:cNvSpPr>
            <p:nvPr/>
          </p:nvSpPr>
          <p:spPr bwMode="auto">
            <a:xfrm flipV="1">
              <a:off x="7321947" y="3139827"/>
              <a:ext cx="2230438" cy="547687"/>
            </a:xfrm>
            <a:prstGeom prst="line">
              <a:avLst/>
            </a:prstGeom>
            <a:noFill/>
            <a:ln w="19050">
              <a:solidFill>
                <a:srgbClr val="00B05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267274" name="Text Box 10"/>
            <p:cNvSpPr txBox="1">
              <a:spLocks noChangeArrowheads="1"/>
            </p:cNvSpPr>
            <p:nvPr/>
          </p:nvSpPr>
          <p:spPr bwMode="auto">
            <a:xfrm>
              <a:off x="7106048" y="1339602"/>
              <a:ext cx="3603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a:latin typeface="+mn-lt"/>
                  <a:ea typeface="微软雅黑 Light" panose="020B0502040204020203" pitchFamily="34" charset="-122"/>
                </a:rPr>
                <a:t>A</a:t>
              </a:r>
            </a:p>
          </p:txBody>
        </p:sp>
        <p:sp>
          <p:nvSpPr>
            <p:cNvPr id="267275" name="Text Box 11"/>
            <p:cNvSpPr txBox="1">
              <a:spLocks noChangeArrowheads="1"/>
            </p:cNvSpPr>
            <p:nvPr/>
          </p:nvSpPr>
          <p:spPr bwMode="auto">
            <a:xfrm>
              <a:off x="9409510" y="1339602"/>
              <a:ext cx="360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a:latin typeface="+mn-lt"/>
                  <a:ea typeface="微软雅黑 Light" panose="020B0502040204020203" pitchFamily="34" charset="-122"/>
                </a:rPr>
                <a:t>B</a:t>
              </a:r>
            </a:p>
          </p:txBody>
        </p:sp>
        <p:sp>
          <p:nvSpPr>
            <p:cNvPr id="267276" name="Line 12"/>
            <p:cNvSpPr>
              <a:spLocks noChangeShapeType="1"/>
            </p:cNvSpPr>
            <p:nvPr/>
          </p:nvSpPr>
          <p:spPr bwMode="auto">
            <a:xfrm>
              <a:off x="7321947" y="4047877"/>
              <a:ext cx="2230438" cy="460375"/>
            </a:xfrm>
            <a:prstGeom prst="line">
              <a:avLst/>
            </a:prstGeom>
            <a:noFill/>
            <a:ln w="19050">
              <a:solidFill>
                <a:schemeClr val="bg2">
                  <a:lumMod val="50000"/>
                </a:schemeClr>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267277" name="Text Box 13"/>
            <p:cNvSpPr txBox="1">
              <a:spLocks noChangeArrowheads="1"/>
            </p:cNvSpPr>
            <p:nvPr/>
          </p:nvSpPr>
          <p:spPr bwMode="auto">
            <a:xfrm>
              <a:off x="6312298" y="1915864"/>
              <a:ext cx="98266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r>
                <a:rPr lang="zh-CN" altLang="en-US">
                  <a:latin typeface="+mn-lt"/>
                  <a:ea typeface="微软雅黑 Light" panose="020B0502040204020203" pitchFamily="34" charset="-122"/>
                </a:rPr>
                <a:t>连接终止请求</a:t>
              </a:r>
            </a:p>
          </p:txBody>
        </p:sp>
        <p:sp>
          <p:nvSpPr>
            <p:cNvPr id="267278" name="Text Box 14"/>
            <p:cNvSpPr txBox="1">
              <a:spLocks noChangeArrowheads="1"/>
            </p:cNvSpPr>
            <p:nvPr/>
          </p:nvSpPr>
          <p:spPr bwMode="auto">
            <a:xfrm>
              <a:off x="9625410" y="2850902"/>
              <a:ext cx="1008062"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a:latin typeface="+mn-lt"/>
                  <a:ea typeface="微软雅黑 Light" panose="020B0502040204020203" pitchFamily="34" charset="-122"/>
                </a:rPr>
                <a:t>连接终止确认</a:t>
              </a:r>
            </a:p>
          </p:txBody>
        </p:sp>
        <p:sp>
          <p:nvSpPr>
            <p:cNvPr id="267279" name="Text Box 15"/>
            <p:cNvSpPr txBox="1">
              <a:spLocks noChangeArrowheads="1"/>
            </p:cNvSpPr>
            <p:nvPr/>
          </p:nvSpPr>
          <p:spPr bwMode="auto">
            <a:xfrm>
              <a:off x="6024960" y="3858964"/>
              <a:ext cx="1230312"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r>
                <a:rPr lang="zh-CN" altLang="en-US">
                  <a:latin typeface="+mn-lt"/>
                  <a:ea typeface="微软雅黑 Light" panose="020B0502040204020203" pitchFamily="34" charset="-122"/>
                </a:rPr>
                <a:t>对确认帧的响应</a:t>
              </a:r>
            </a:p>
          </p:txBody>
        </p:sp>
        <p:sp>
          <p:nvSpPr>
            <p:cNvPr id="267290" name="Line 26"/>
            <p:cNvSpPr>
              <a:spLocks noChangeShapeType="1"/>
            </p:cNvSpPr>
            <p:nvPr/>
          </p:nvSpPr>
          <p:spPr bwMode="auto">
            <a:xfrm>
              <a:off x="2710260" y="1915864"/>
              <a:ext cx="0" cy="3311525"/>
            </a:xfrm>
            <a:prstGeom prst="line">
              <a:avLst/>
            </a:prstGeom>
            <a:noFill/>
            <a:ln w="19050">
              <a:solidFill>
                <a:schemeClr val="tx1"/>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267291" name="Line 27"/>
            <p:cNvSpPr>
              <a:spLocks noChangeShapeType="1"/>
            </p:cNvSpPr>
            <p:nvPr/>
          </p:nvSpPr>
          <p:spPr bwMode="auto">
            <a:xfrm>
              <a:off x="4943872" y="1915864"/>
              <a:ext cx="0" cy="3311525"/>
            </a:xfrm>
            <a:prstGeom prst="line">
              <a:avLst/>
            </a:prstGeom>
            <a:noFill/>
            <a:ln w="19050">
              <a:solidFill>
                <a:schemeClr val="tx1"/>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267292" name="Line 28"/>
            <p:cNvSpPr>
              <a:spLocks noChangeShapeType="1"/>
            </p:cNvSpPr>
            <p:nvPr/>
          </p:nvSpPr>
          <p:spPr bwMode="auto">
            <a:xfrm>
              <a:off x="2710261" y="2276226"/>
              <a:ext cx="2230437" cy="603250"/>
            </a:xfrm>
            <a:prstGeom prst="line">
              <a:avLst/>
            </a:prstGeom>
            <a:noFill/>
            <a:ln w="19050">
              <a:solidFill>
                <a:schemeClr val="bg2">
                  <a:lumMod val="50000"/>
                </a:schemeClr>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267293" name="Line 29"/>
            <p:cNvSpPr>
              <a:spLocks noChangeShapeType="1"/>
            </p:cNvSpPr>
            <p:nvPr/>
          </p:nvSpPr>
          <p:spPr bwMode="auto">
            <a:xfrm flipV="1">
              <a:off x="2710261" y="3239838"/>
              <a:ext cx="2230437" cy="547688"/>
            </a:xfrm>
            <a:prstGeom prst="line">
              <a:avLst/>
            </a:prstGeom>
            <a:noFill/>
            <a:ln w="19050">
              <a:solidFill>
                <a:srgbClr val="00B05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267294" name="Text Box 30"/>
            <p:cNvSpPr txBox="1">
              <a:spLocks noChangeArrowheads="1"/>
            </p:cNvSpPr>
            <p:nvPr/>
          </p:nvSpPr>
          <p:spPr bwMode="auto">
            <a:xfrm>
              <a:off x="2532460" y="1439614"/>
              <a:ext cx="360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a:latin typeface="+mn-lt"/>
                  <a:ea typeface="微软雅黑 Light" panose="020B0502040204020203" pitchFamily="34" charset="-122"/>
                </a:rPr>
                <a:t>A</a:t>
              </a:r>
            </a:p>
          </p:txBody>
        </p:sp>
        <p:sp>
          <p:nvSpPr>
            <p:cNvPr id="267295" name="Text Box 31"/>
            <p:cNvSpPr txBox="1">
              <a:spLocks noChangeArrowheads="1"/>
            </p:cNvSpPr>
            <p:nvPr/>
          </p:nvSpPr>
          <p:spPr bwMode="auto">
            <a:xfrm>
              <a:off x="4835923" y="1439614"/>
              <a:ext cx="3603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a:latin typeface="+mn-lt"/>
                  <a:ea typeface="微软雅黑 Light" panose="020B0502040204020203" pitchFamily="34" charset="-122"/>
                </a:rPr>
                <a:t>B</a:t>
              </a:r>
            </a:p>
          </p:txBody>
        </p:sp>
        <p:sp>
          <p:nvSpPr>
            <p:cNvPr id="267296" name="Line 32"/>
            <p:cNvSpPr>
              <a:spLocks noChangeShapeType="1"/>
            </p:cNvSpPr>
            <p:nvPr/>
          </p:nvSpPr>
          <p:spPr bwMode="auto">
            <a:xfrm>
              <a:off x="2710261" y="3500189"/>
              <a:ext cx="2230437" cy="460375"/>
            </a:xfrm>
            <a:prstGeom prst="line">
              <a:avLst/>
            </a:prstGeom>
            <a:noFill/>
            <a:ln w="19050">
              <a:solidFill>
                <a:schemeClr val="bg2">
                  <a:lumMod val="50000"/>
                </a:schemeClr>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267297" name="Text Box 33"/>
            <p:cNvSpPr txBox="1">
              <a:spLocks noChangeArrowheads="1"/>
            </p:cNvSpPr>
            <p:nvPr/>
          </p:nvSpPr>
          <p:spPr bwMode="auto">
            <a:xfrm>
              <a:off x="2135586" y="2015877"/>
              <a:ext cx="5857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r>
                <a:rPr lang="zh-CN" altLang="en-US" dirty="0">
                  <a:latin typeface="+mn-lt"/>
                  <a:ea typeface="微软雅黑 Light" panose="020B0502040204020203" pitchFamily="34" charset="-122"/>
                </a:rPr>
                <a:t>包</a:t>
              </a:r>
              <a:r>
                <a:rPr lang="en-US" altLang="zh-CN" dirty="0">
                  <a:latin typeface="+mn-lt"/>
                  <a:ea typeface="微软雅黑 Light" panose="020B0502040204020203" pitchFamily="34" charset="-122"/>
                </a:rPr>
                <a:t>1</a:t>
              </a:r>
            </a:p>
          </p:txBody>
        </p:sp>
        <p:sp>
          <p:nvSpPr>
            <p:cNvPr id="267299" name="Text Box 35"/>
            <p:cNvSpPr txBox="1">
              <a:spLocks noChangeArrowheads="1"/>
            </p:cNvSpPr>
            <p:nvPr/>
          </p:nvSpPr>
          <p:spPr bwMode="auto">
            <a:xfrm>
              <a:off x="1848247" y="3355727"/>
              <a:ext cx="82708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r>
                <a:rPr lang="zh-CN" altLang="en-US" dirty="0">
                  <a:latin typeface="+mn-lt"/>
                  <a:ea typeface="微软雅黑 Light" panose="020B0502040204020203" pitchFamily="34" charset="-122"/>
                </a:rPr>
                <a:t>断连请求</a:t>
              </a:r>
            </a:p>
          </p:txBody>
        </p:sp>
        <p:sp>
          <p:nvSpPr>
            <p:cNvPr id="267300" name="Line 36"/>
            <p:cNvSpPr>
              <a:spLocks noChangeShapeType="1"/>
            </p:cNvSpPr>
            <p:nvPr/>
          </p:nvSpPr>
          <p:spPr bwMode="auto">
            <a:xfrm>
              <a:off x="2710261" y="2852489"/>
              <a:ext cx="1296987" cy="360363"/>
            </a:xfrm>
            <a:prstGeom prst="line">
              <a:avLst/>
            </a:prstGeom>
            <a:noFill/>
            <a:ln w="19050">
              <a:solidFill>
                <a:schemeClr val="bg2">
                  <a:lumMod val="50000"/>
                </a:schemeClr>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267301" name="Text Box 37"/>
            <p:cNvSpPr txBox="1">
              <a:spLocks noChangeArrowheads="1"/>
            </p:cNvSpPr>
            <p:nvPr/>
          </p:nvSpPr>
          <p:spPr bwMode="auto">
            <a:xfrm>
              <a:off x="2135586" y="2563564"/>
              <a:ext cx="5857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r>
                <a:rPr lang="zh-CN" altLang="en-US">
                  <a:latin typeface="+mn-lt"/>
                  <a:ea typeface="微软雅黑 Light" panose="020B0502040204020203" pitchFamily="34" charset="-122"/>
                </a:rPr>
                <a:t>包</a:t>
              </a:r>
              <a:r>
                <a:rPr lang="en-US" altLang="zh-CN">
                  <a:latin typeface="+mn-lt"/>
                  <a:ea typeface="微软雅黑 Light" panose="020B0502040204020203" pitchFamily="34" charset="-122"/>
                </a:rPr>
                <a:t>2</a:t>
              </a:r>
            </a:p>
          </p:txBody>
        </p:sp>
        <p:sp>
          <p:nvSpPr>
            <p:cNvPr id="267302" name="Text Box 38"/>
            <p:cNvSpPr txBox="1">
              <a:spLocks noChangeArrowheads="1"/>
            </p:cNvSpPr>
            <p:nvPr/>
          </p:nvSpPr>
          <p:spPr bwMode="auto">
            <a:xfrm>
              <a:off x="4943872" y="2996952"/>
              <a:ext cx="82708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a:latin typeface="+mn-lt"/>
                  <a:ea typeface="微软雅黑 Light" panose="020B0502040204020203" pitchFamily="34" charset="-122"/>
                </a:rPr>
                <a:t>断连请求</a:t>
              </a:r>
            </a:p>
          </p:txBody>
        </p:sp>
        <p:sp>
          <p:nvSpPr>
            <p:cNvPr id="267303" name="Text Box 39"/>
            <p:cNvSpPr txBox="1">
              <a:spLocks noChangeArrowheads="1"/>
            </p:cNvSpPr>
            <p:nvPr/>
          </p:nvSpPr>
          <p:spPr bwMode="auto">
            <a:xfrm>
              <a:off x="2495948" y="5443289"/>
              <a:ext cx="27352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a:latin typeface="+mn-lt"/>
                  <a:ea typeface="微软雅黑 Light" panose="020B0502040204020203" pitchFamily="34" charset="-122"/>
                </a:rPr>
                <a:t>错误断连，数据丢失</a:t>
              </a:r>
            </a:p>
          </p:txBody>
        </p:sp>
        <p:sp>
          <p:nvSpPr>
            <p:cNvPr id="267304" name="Text Box 40"/>
            <p:cNvSpPr txBox="1">
              <a:spLocks noChangeArrowheads="1"/>
            </p:cNvSpPr>
            <p:nvPr/>
          </p:nvSpPr>
          <p:spPr bwMode="auto">
            <a:xfrm>
              <a:off x="7033023" y="5443289"/>
              <a:ext cx="27352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a:latin typeface="+mn-lt"/>
                  <a:ea typeface="微软雅黑 Light" panose="020B0502040204020203" pitchFamily="34" charset="-122"/>
                </a:rPr>
                <a:t>正确的断连方式</a:t>
              </a: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灯片编号占位符 5"/>
          <p:cNvSpPr>
            <a:spLocks noGrp="1"/>
          </p:cNvSpPr>
          <p:nvPr>
            <p:ph type="sldNum" sz="quarter" idx="12"/>
          </p:nvPr>
        </p:nvSpPr>
        <p:spPr/>
        <p:txBody>
          <a:bodyPr/>
          <a:lstStyle/>
          <a:p>
            <a:fld id="{DC227B0A-96BA-4BB5-AEB2-52C669C3C958}" type="slidenum">
              <a:rPr lang="en-US" altLang="zh-CN"/>
              <a:t>21</a:t>
            </a:fld>
            <a:endParaRPr lang="en-US" altLang="zh-CN"/>
          </a:p>
        </p:txBody>
      </p:sp>
      <p:sp>
        <p:nvSpPr>
          <p:cNvPr id="275458" name="Rectangle 2"/>
          <p:cNvSpPr>
            <a:spLocks noGrp="1" noChangeArrowheads="1"/>
          </p:cNvSpPr>
          <p:nvPr>
            <p:ph type="title"/>
          </p:nvPr>
        </p:nvSpPr>
        <p:spPr/>
        <p:txBody>
          <a:bodyPr/>
          <a:lstStyle/>
          <a:p>
            <a:r>
              <a:rPr lang="zh-CN" altLang="en-US"/>
              <a:t>三次握手方法的连接释放</a:t>
            </a:r>
          </a:p>
        </p:txBody>
      </p:sp>
      <p:sp>
        <p:nvSpPr>
          <p:cNvPr id="275472" name="Text Box 16"/>
          <p:cNvSpPr txBox="1">
            <a:spLocks noChangeArrowheads="1"/>
          </p:cNvSpPr>
          <p:nvPr/>
        </p:nvSpPr>
        <p:spPr bwMode="auto">
          <a:xfrm>
            <a:off x="4366694" y="6381750"/>
            <a:ext cx="409150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US" altLang="zh-CN" sz="1600" dirty="0">
                <a:latin typeface="微软雅黑 Light" panose="020B0502040204020203" pitchFamily="34" charset="-122"/>
                <a:ea typeface="微软雅黑 Light" panose="020B0502040204020203" pitchFamily="34" charset="-122"/>
              </a:rPr>
              <a:t>DR</a:t>
            </a:r>
            <a:r>
              <a:rPr lang="zh-CN" altLang="en-US" sz="1600" dirty="0">
                <a:latin typeface="微软雅黑 Light" panose="020B0502040204020203" pitchFamily="34" charset="-122"/>
                <a:ea typeface="微软雅黑 Light" panose="020B0502040204020203" pitchFamily="34" charset="-122"/>
              </a:rPr>
              <a:t>：断连请求  </a:t>
            </a:r>
            <a:r>
              <a:rPr lang="en-US" altLang="zh-CN" sz="1600" dirty="0">
                <a:latin typeface="微软雅黑 Light" panose="020B0502040204020203" pitchFamily="34" charset="-122"/>
                <a:ea typeface="微软雅黑 Light" panose="020B0502040204020203" pitchFamily="34" charset="-122"/>
              </a:rPr>
              <a:t>DC</a:t>
            </a:r>
            <a:r>
              <a:rPr lang="zh-CN" altLang="en-US" sz="1600" dirty="0">
                <a:latin typeface="微软雅黑 Light" panose="020B0502040204020203" pitchFamily="34" charset="-122"/>
                <a:ea typeface="微软雅黑 Light" panose="020B0502040204020203" pitchFamily="34" charset="-122"/>
              </a:rPr>
              <a:t>：断连证实  </a:t>
            </a:r>
            <a:r>
              <a:rPr lang="en-US" altLang="zh-CN" sz="1600" dirty="0">
                <a:latin typeface="微软雅黑 Light" panose="020B0502040204020203" pitchFamily="34" charset="-122"/>
                <a:ea typeface="微软雅黑 Light" panose="020B0502040204020203" pitchFamily="34" charset="-122"/>
              </a:rPr>
              <a:t>ACK</a:t>
            </a:r>
            <a:r>
              <a:rPr lang="zh-CN" altLang="en-US" sz="1600" dirty="0">
                <a:latin typeface="微软雅黑 Light" panose="020B0502040204020203" pitchFamily="34" charset="-122"/>
                <a:ea typeface="微软雅黑 Light" panose="020B0502040204020203" pitchFamily="34" charset="-122"/>
              </a:rPr>
              <a:t>：确认</a:t>
            </a:r>
          </a:p>
        </p:txBody>
      </p:sp>
      <p:grpSp>
        <p:nvGrpSpPr>
          <p:cNvPr id="2" name="组合 1"/>
          <p:cNvGrpSpPr/>
          <p:nvPr/>
        </p:nvGrpSpPr>
        <p:grpSpPr>
          <a:xfrm>
            <a:off x="1550988" y="909639"/>
            <a:ext cx="8937625" cy="5184775"/>
            <a:chOff x="1550988" y="909639"/>
            <a:chExt cx="8937625" cy="5184775"/>
          </a:xfrm>
        </p:grpSpPr>
        <p:grpSp>
          <p:nvGrpSpPr>
            <p:cNvPr id="275460" name="Group 4"/>
            <p:cNvGrpSpPr/>
            <p:nvPr/>
          </p:nvGrpSpPr>
          <p:grpSpPr bwMode="auto">
            <a:xfrm>
              <a:off x="3260726" y="1298575"/>
              <a:ext cx="1679575" cy="1447800"/>
              <a:chOff x="1837" y="890"/>
              <a:chExt cx="1950" cy="3266"/>
            </a:xfrm>
          </p:grpSpPr>
          <p:sp>
            <p:nvSpPr>
              <p:cNvPr id="275461" name="Line 5"/>
              <p:cNvSpPr>
                <a:spLocks noChangeShapeType="1"/>
              </p:cNvSpPr>
              <p:nvPr/>
            </p:nvSpPr>
            <p:spPr bwMode="auto">
              <a:xfrm>
                <a:off x="1837" y="890"/>
                <a:ext cx="0" cy="3266"/>
              </a:xfrm>
              <a:prstGeom prst="line">
                <a:avLst/>
              </a:prstGeom>
              <a:noFill/>
              <a:ln w="19050">
                <a:solidFill>
                  <a:schemeClr val="tx1"/>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275462" name="Line 6"/>
              <p:cNvSpPr>
                <a:spLocks noChangeShapeType="1"/>
              </p:cNvSpPr>
              <p:nvPr/>
            </p:nvSpPr>
            <p:spPr bwMode="auto">
              <a:xfrm>
                <a:off x="3787" y="890"/>
                <a:ext cx="0" cy="3266"/>
              </a:xfrm>
              <a:prstGeom prst="line">
                <a:avLst/>
              </a:prstGeom>
              <a:noFill/>
              <a:ln w="19050">
                <a:solidFill>
                  <a:schemeClr val="tx1"/>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grpSp>
        <p:sp>
          <p:nvSpPr>
            <p:cNvPr id="275463" name="Line 7"/>
            <p:cNvSpPr>
              <a:spLocks noChangeShapeType="1"/>
            </p:cNvSpPr>
            <p:nvPr/>
          </p:nvSpPr>
          <p:spPr bwMode="auto">
            <a:xfrm>
              <a:off x="3260726" y="1457326"/>
              <a:ext cx="1679575" cy="250825"/>
            </a:xfrm>
            <a:prstGeom prst="line">
              <a:avLst/>
            </a:prstGeom>
            <a:noFill/>
            <a:ln w="19050">
              <a:solidFill>
                <a:schemeClr val="bg2">
                  <a:lumMod val="50000"/>
                </a:schemeClr>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275464" name="Line 8"/>
            <p:cNvSpPr>
              <a:spLocks noChangeShapeType="1"/>
            </p:cNvSpPr>
            <p:nvPr/>
          </p:nvSpPr>
          <p:spPr bwMode="auto">
            <a:xfrm flipV="1">
              <a:off x="3260726" y="1833563"/>
              <a:ext cx="1679575" cy="284162"/>
            </a:xfrm>
            <a:prstGeom prst="line">
              <a:avLst/>
            </a:prstGeom>
            <a:noFill/>
            <a:ln w="19050">
              <a:solidFill>
                <a:srgbClr val="00B05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275465" name="Text Box 9"/>
            <p:cNvSpPr txBox="1">
              <a:spLocks noChangeArrowheads="1"/>
            </p:cNvSpPr>
            <p:nvPr/>
          </p:nvSpPr>
          <p:spPr bwMode="auto">
            <a:xfrm>
              <a:off x="3090863" y="909639"/>
              <a:ext cx="2587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a:latin typeface="+mn-lt"/>
                  <a:ea typeface="微软雅黑 Light" panose="020B0502040204020203" pitchFamily="34" charset="-122"/>
                </a:rPr>
                <a:t>A</a:t>
              </a:r>
            </a:p>
          </p:txBody>
        </p:sp>
        <p:sp>
          <p:nvSpPr>
            <p:cNvPr id="275466" name="Text Box 10"/>
            <p:cNvSpPr txBox="1">
              <a:spLocks noChangeArrowheads="1"/>
            </p:cNvSpPr>
            <p:nvPr/>
          </p:nvSpPr>
          <p:spPr bwMode="auto">
            <a:xfrm>
              <a:off x="4779963" y="909639"/>
              <a:ext cx="2587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a:latin typeface="+mn-lt"/>
                  <a:ea typeface="微软雅黑 Light" panose="020B0502040204020203" pitchFamily="34" charset="-122"/>
                </a:rPr>
                <a:t>B</a:t>
              </a:r>
            </a:p>
          </p:txBody>
        </p:sp>
        <p:sp>
          <p:nvSpPr>
            <p:cNvPr id="275467" name="Line 11"/>
            <p:cNvSpPr>
              <a:spLocks noChangeShapeType="1"/>
            </p:cNvSpPr>
            <p:nvPr/>
          </p:nvSpPr>
          <p:spPr bwMode="auto">
            <a:xfrm>
              <a:off x="3260726" y="2273301"/>
              <a:ext cx="1679575" cy="252413"/>
            </a:xfrm>
            <a:prstGeom prst="line">
              <a:avLst/>
            </a:prstGeom>
            <a:noFill/>
            <a:ln w="19050">
              <a:solidFill>
                <a:schemeClr val="bg2">
                  <a:lumMod val="50000"/>
                </a:schemeClr>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275468" name="Text Box 12"/>
            <p:cNvSpPr txBox="1">
              <a:spLocks noChangeArrowheads="1"/>
            </p:cNvSpPr>
            <p:nvPr/>
          </p:nvSpPr>
          <p:spPr bwMode="auto">
            <a:xfrm>
              <a:off x="2370139" y="1319214"/>
              <a:ext cx="871537" cy="611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zh-CN" altLang="en-US" sz="1600" dirty="0">
                  <a:latin typeface="+mn-lt"/>
                  <a:ea typeface="微软雅黑 Light" panose="020B0502040204020203" pitchFamily="34" charset="-122"/>
                </a:rPr>
                <a:t>发送</a:t>
              </a:r>
              <a:r>
                <a:rPr lang="en-US" altLang="zh-CN" sz="1600" dirty="0">
                  <a:latin typeface="+mn-lt"/>
                  <a:ea typeface="微软雅黑 Light" panose="020B0502040204020203" pitchFamily="34" charset="-122"/>
                </a:rPr>
                <a:t>DR</a:t>
              </a:r>
            </a:p>
            <a:p>
              <a:pPr algn="r"/>
              <a:r>
                <a:rPr lang="zh-CN" altLang="en-US" sz="1600" dirty="0">
                  <a:latin typeface="+mn-lt"/>
                  <a:ea typeface="微软雅黑 Light" panose="020B0502040204020203" pitchFamily="34" charset="-122"/>
                </a:rPr>
                <a:t>启动</a:t>
              </a:r>
              <a:r>
                <a:rPr lang="zh-CN" altLang="en-US" sz="1800" dirty="0">
                  <a:latin typeface="+mn-lt"/>
                  <a:ea typeface="微软雅黑 Light" panose="020B0502040204020203" pitchFamily="34" charset="-122"/>
                  <a:sym typeface="Wingdings 2" panose="05020102010507070707" pitchFamily="18" charset="2"/>
                </a:rPr>
                <a:t></a:t>
              </a:r>
            </a:p>
          </p:txBody>
        </p:sp>
        <p:sp>
          <p:nvSpPr>
            <p:cNvPr id="275469" name="Text Box 13"/>
            <p:cNvSpPr txBox="1">
              <a:spLocks noChangeArrowheads="1"/>
            </p:cNvSpPr>
            <p:nvPr/>
          </p:nvSpPr>
          <p:spPr bwMode="auto">
            <a:xfrm>
              <a:off x="5006975" y="1341438"/>
              <a:ext cx="881973"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dirty="0">
                  <a:latin typeface="+mn-lt"/>
                  <a:ea typeface="微软雅黑 Light" panose="020B0502040204020203" pitchFamily="34" charset="-122"/>
                </a:rPr>
                <a:t>DR</a:t>
              </a:r>
              <a:r>
                <a:rPr lang="zh-CN" altLang="en-US" sz="1600" dirty="0">
                  <a:latin typeface="+mn-lt"/>
                  <a:ea typeface="微软雅黑 Light" panose="020B0502040204020203" pitchFamily="34" charset="-122"/>
                </a:rPr>
                <a:t>到达</a:t>
              </a:r>
            </a:p>
            <a:p>
              <a:r>
                <a:rPr lang="zh-CN" altLang="en-US" sz="1600" dirty="0">
                  <a:latin typeface="+mn-lt"/>
                  <a:ea typeface="微软雅黑 Light" panose="020B0502040204020203" pitchFamily="34" charset="-122"/>
                </a:rPr>
                <a:t>发送</a:t>
              </a:r>
              <a:r>
                <a:rPr lang="en-US" altLang="zh-CN" sz="1600" dirty="0">
                  <a:latin typeface="+mn-lt"/>
                  <a:ea typeface="微软雅黑 Light" panose="020B0502040204020203" pitchFamily="34" charset="-122"/>
                </a:rPr>
                <a:t>DC</a:t>
              </a:r>
            </a:p>
            <a:p>
              <a:r>
                <a:rPr lang="zh-CN" altLang="en-US" sz="1600" dirty="0">
                  <a:latin typeface="+mn-lt"/>
                  <a:ea typeface="微软雅黑 Light" panose="020B0502040204020203" pitchFamily="34" charset="-122"/>
                </a:rPr>
                <a:t>启动</a:t>
              </a:r>
              <a:r>
                <a:rPr lang="zh-CN" altLang="en-US" sz="1800" dirty="0">
                  <a:latin typeface="+mn-lt"/>
                  <a:ea typeface="微软雅黑 Light" panose="020B0502040204020203" pitchFamily="34" charset="-122"/>
                  <a:sym typeface="Wingdings 2" panose="05020102010507070707" pitchFamily="18" charset="2"/>
                </a:rPr>
                <a:t></a:t>
              </a:r>
            </a:p>
          </p:txBody>
        </p:sp>
        <p:sp>
          <p:nvSpPr>
            <p:cNvPr id="275470" name="Text Box 14"/>
            <p:cNvSpPr txBox="1">
              <a:spLocks noChangeArrowheads="1"/>
            </p:cNvSpPr>
            <p:nvPr/>
          </p:nvSpPr>
          <p:spPr bwMode="auto">
            <a:xfrm>
              <a:off x="2198689" y="2027238"/>
              <a:ext cx="1017587"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US" altLang="zh-CN" sz="1600" dirty="0">
                  <a:latin typeface="+mn-lt"/>
                  <a:ea typeface="微软雅黑 Light" panose="020B0502040204020203" pitchFamily="34" charset="-122"/>
                </a:rPr>
                <a:t>DC</a:t>
              </a:r>
              <a:r>
                <a:rPr lang="zh-CN" altLang="en-US" sz="1600" dirty="0">
                  <a:latin typeface="+mn-lt"/>
                  <a:ea typeface="微软雅黑 Light" panose="020B0502040204020203" pitchFamily="34" charset="-122"/>
                </a:rPr>
                <a:t>到达</a:t>
              </a:r>
            </a:p>
            <a:p>
              <a:pPr algn="r"/>
              <a:r>
                <a:rPr lang="zh-CN" altLang="en-US" sz="1600" dirty="0">
                  <a:latin typeface="+mn-lt"/>
                  <a:ea typeface="微软雅黑 Light" panose="020B0502040204020203" pitchFamily="34" charset="-122"/>
                </a:rPr>
                <a:t>发送</a:t>
              </a:r>
              <a:r>
                <a:rPr lang="en-US" altLang="zh-CN" sz="1600" dirty="0">
                  <a:latin typeface="+mn-lt"/>
                  <a:ea typeface="微软雅黑 Light" panose="020B0502040204020203" pitchFamily="34" charset="-122"/>
                </a:rPr>
                <a:t>ACK</a:t>
              </a:r>
            </a:p>
            <a:p>
              <a:pPr algn="r"/>
              <a:r>
                <a:rPr lang="zh-CN" altLang="en-US" sz="1600" dirty="0">
                  <a:latin typeface="+mn-lt"/>
                  <a:ea typeface="微软雅黑 Light" panose="020B0502040204020203" pitchFamily="34" charset="-122"/>
                </a:rPr>
                <a:t>删除连接</a:t>
              </a:r>
            </a:p>
          </p:txBody>
        </p:sp>
        <p:grpSp>
          <p:nvGrpSpPr>
            <p:cNvPr id="275474" name="Group 18"/>
            <p:cNvGrpSpPr/>
            <p:nvPr/>
          </p:nvGrpSpPr>
          <p:grpSpPr bwMode="auto">
            <a:xfrm>
              <a:off x="7718426" y="1320800"/>
              <a:ext cx="1679575" cy="1447800"/>
              <a:chOff x="1837" y="890"/>
              <a:chExt cx="1950" cy="3266"/>
            </a:xfrm>
          </p:grpSpPr>
          <p:sp>
            <p:nvSpPr>
              <p:cNvPr id="275475" name="Line 19"/>
              <p:cNvSpPr>
                <a:spLocks noChangeShapeType="1"/>
              </p:cNvSpPr>
              <p:nvPr/>
            </p:nvSpPr>
            <p:spPr bwMode="auto">
              <a:xfrm>
                <a:off x="1837" y="890"/>
                <a:ext cx="0" cy="3266"/>
              </a:xfrm>
              <a:prstGeom prst="line">
                <a:avLst/>
              </a:prstGeom>
              <a:noFill/>
              <a:ln w="19050">
                <a:solidFill>
                  <a:schemeClr val="tx1"/>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275476" name="Line 20"/>
              <p:cNvSpPr>
                <a:spLocks noChangeShapeType="1"/>
              </p:cNvSpPr>
              <p:nvPr/>
            </p:nvSpPr>
            <p:spPr bwMode="auto">
              <a:xfrm>
                <a:off x="3787" y="890"/>
                <a:ext cx="0" cy="3266"/>
              </a:xfrm>
              <a:prstGeom prst="line">
                <a:avLst/>
              </a:prstGeom>
              <a:noFill/>
              <a:ln w="19050">
                <a:solidFill>
                  <a:schemeClr val="tx1"/>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grpSp>
        <p:sp>
          <p:nvSpPr>
            <p:cNvPr id="275477" name="Line 21"/>
            <p:cNvSpPr>
              <a:spLocks noChangeShapeType="1"/>
            </p:cNvSpPr>
            <p:nvPr/>
          </p:nvSpPr>
          <p:spPr bwMode="auto">
            <a:xfrm>
              <a:off x="7718426" y="1479551"/>
              <a:ext cx="1679575" cy="250825"/>
            </a:xfrm>
            <a:prstGeom prst="line">
              <a:avLst/>
            </a:prstGeom>
            <a:noFill/>
            <a:ln w="19050">
              <a:solidFill>
                <a:schemeClr val="bg2">
                  <a:lumMod val="50000"/>
                </a:schemeClr>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275478" name="Line 22"/>
            <p:cNvSpPr>
              <a:spLocks noChangeShapeType="1"/>
            </p:cNvSpPr>
            <p:nvPr/>
          </p:nvSpPr>
          <p:spPr bwMode="auto">
            <a:xfrm flipV="1">
              <a:off x="7718426" y="1855788"/>
              <a:ext cx="1679575" cy="284162"/>
            </a:xfrm>
            <a:prstGeom prst="line">
              <a:avLst/>
            </a:prstGeom>
            <a:noFill/>
            <a:ln w="19050">
              <a:solidFill>
                <a:srgbClr val="00B05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275479" name="Text Box 23"/>
            <p:cNvSpPr txBox="1">
              <a:spLocks noChangeArrowheads="1"/>
            </p:cNvSpPr>
            <p:nvPr/>
          </p:nvSpPr>
          <p:spPr bwMode="auto">
            <a:xfrm>
              <a:off x="7548563" y="931864"/>
              <a:ext cx="2587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a:latin typeface="+mn-lt"/>
                  <a:ea typeface="微软雅黑 Light" panose="020B0502040204020203" pitchFamily="34" charset="-122"/>
                </a:rPr>
                <a:t>A</a:t>
              </a:r>
            </a:p>
          </p:txBody>
        </p:sp>
        <p:sp>
          <p:nvSpPr>
            <p:cNvPr id="275480" name="Text Box 24"/>
            <p:cNvSpPr txBox="1">
              <a:spLocks noChangeArrowheads="1"/>
            </p:cNvSpPr>
            <p:nvPr/>
          </p:nvSpPr>
          <p:spPr bwMode="auto">
            <a:xfrm>
              <a:off x="9237663" y="931864"/>
              <a:ext cx="2587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a:latin typeface="+mn-lt"/>
                  <a:ea typeface="微软雅黑 Light" panose="020B0502040204020203" pitchFamily="34" charset="-122"/>
                </a:rPr>
                <a:t>B</a:t>
              </a:r>
            </a:p>
          </p:txBody>
        </p:sp>
        <p:sp>
          <p:nvSpPr>
            <p:cNvPr id="275481" name="Line 25"/>
            <p:cNvSpPr>
              <a:spLocks noChangeShapeType="1"/>
            </p:cNvSpPr>
            <p:nvPr/>
          </p:nvSpPr>
          <p:spPr bwMode="auto">
            <a:xfrm>
              <a:off x="7718426" y="2295526"/>
              <a:ext cx="549275" cy="53975"/>
            </a:xfrm>
            <a:prstGeom prst="line">
              <a:avLst/>
            </a:prstGeom>
            <a:noFill/>
            <a:ln w="19050">
              <a:solidFill>
                <a:schemeClr val="bg2">
                  <a:lumMod val="50000"/>
                </a:schemeClr>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275482" name="Text Box 26"/>
            <p:cNvSpPr txBox="1">
              <a:spLocks noChangeArrowheads="1"/>
            </p:cNvSpPr>
            <p:nvPr/>
          </p:nvSpPr>
          <p:spPr bwMode="auto">
            <a:xfrm>
              <a:off x="6827839" y="1341439"/>
              <a:ext cx="871537" cy="611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zh-CN" altLang="en-US" sz="1600" dirty="0">
                  <a:latin typeface="+mn-lt"/>
                  <a:ea typeface="微软雅黑 Light" panose="020B0502040204020203" pitchFamily="34" charset="-122"/>
                </a:rPr>
                <a:t>发送</a:t>
              </a:r>
              <a:r>
                <a:rPr lang="en-US" altLang="zh-CN" sz="1600" dirty="0">
                  <a:latin typeface="+mn-lt"/>
                  <a:ea typeface="微软雅黑 Light" panose="020B0502040204020203" pitchFamily="34" charset="-122"/>
                </a:rPr>
                <a:t>DR</a:t>
              </a:r>
            </a:p>
            <a:p>
              <a:pPr algn="r"/>
              <a:r>
                <a:rPr lang="zh-CN" altLang="en-US" sz="1600" dirty="0">
                  <a:latin typeface="+mn-lt"/>
                  <a:ea typeface="微软雅黑 Light" panose="020B0502040204020203" pitchFamily="34" charset="-122"/>
                </a:rPr>
                <a:t>启动</a:t>
              </a:r>
              <a:r>
                <a:rPr lang="zh-CN" altLang="en-US" sz="1800" dirty="0">
                  <a:latin typeface="+mn-lt"/>
                  <a:ea typeface="微软雅黑 Light" panose="020B0502040204020203" pitchFamily="34" charset="-122"/>
                  <a:sym typeface="Wingdings 2" panose="05020102010507070707" pitchFamily="18" charset="2"/>
                </a:rPr>
                <a:t></a:t>
              </a:r>
            </a:p>
          </p:txBody>
        </p:sp>
        <p:sp>
          <p:nvSpPr>
            <p:cNvPr id="275483" name="Text Box 27"/>
            <p:cNvSpPr txBox="1">
              <a:spLocks noChangeArrowheads="1"/>
            </p:cNvSpPr>
            <p:nvPr/>
          </p:nvSpPr>
          <p:spPr bwMode="auto">
            <a:xfrm>
              <a:off x="9491664" y="1412876"/>
              <a:ext cx="881973"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dirty="0">
                  <a:latin typeface="+mn-lt"/>
                  <a:ea typeface="微软雅黑 Light" panose="020B0502040204020203" pitchFamily="34" charset="-122"/>
                </a:rPr>
                <a:t>DR</a:t>
              </a:r>
              <a:r>
                <a:rPr lang="zh-CN" altLang="en-US" sz="1600" dirty="0">
                  <a:latin typeface="+mn-lt"/>
                  <a:ea typeface="微软雅黑 Light" panose="020B0502040204020203" pitchFamily="34" charset="-122"/>
                </a:rPr>
                <a:t>到达</a:t>
              </a:r>
            </a:p>
            <a:p>
              <a:r>
                <a:rPr lang="zh-CN" altLang="en-US" sz="1600" dirty="0">
                  <a:latin typeface="+mn-lt"/>
                  <a:ea typeface="微软雅黑 Light" panose="020B0502040204020203" pitchFamily="34" charset="-122"/>
                </a:rPr>
                <a:t>发送</a:t>
              </a:r>
              <a:r>
                <a:rPr lang="en-US" altLang="zh-CN" sz="1600" dirty="0">
                  <a:latin typeface="+mn-lt"/>
                  <a:ea typeface="微软雅黑 Light" panose="020B0502040204020203" pitchFamily="34" charset="-122"/>
                </a:rPr>
                <a:t>DC</a:t>
              </a:r>
            </a:p>
            <a:p>
              <a:r>
                <a:rPr lang="zh-CN" altLang="en-US" sz="1600" dirty="0">
                  <a:latin typeface="+mn-lt"/>
                  <a:ea typeface="微软雅黑 Light" panose="020B0502040204020203" pitchFamily="34" charset="-122"/>
                </a:rPr>
                <a:t>启动</a:t>
              </a:r>
              <a:r>
                <a:rPr lang="zh-CN" altLang="en-US" sz="1800" dirty="0">
                  <a:latin typeface="+mn-lt"/>
                  <a:ea typeface="微软雅黑 Light" panose="020B0502040204020203" pitchFamily="34" charset="-122"/>
                  <a:sym typeface="Wingdings 2" panose="05020102010507070707" pitchFamily="18" charset="2"/>
                </a:rPr>
                <a:t></a:t>
              </a:r>
            </a:p>
          </p:txBody>
        </p:sp>
        <p:sp>
          <p:nvSpPr>
            <p:cNvPr id="275484" name="Text Box 28"/>
            <p:cNvSpPr txBox="1">
              <a:spLocks noChangeArrowheads="1"/>
            </p:cNvSpPr>
            <p:nvPr/>
          </p:nvSpPr>
          <p:spPr bwMode="auto">
            <a:xfrm>
              <a:off x="6656389" y="2049463"/>
              <a:ext cx="1017587"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US" altLang="zh-CN" sz="1600">
                  <a:latin typeface="+mn-lt"/>
                  <a:ea typeface="微软雅黑 Light" panose="020B0502040204020203" pitchFamily="34" charset="-122"/>
                </a:rPr>
                <a:t>DC</a:t>
              </a:r>
              <a:r>
                <a:rPr lang="zh-CN" altLang="en-US" sz="1600">
                  <a:latin typeface="+mn-lt"/>
                  <a:ea typeface="微软雅黑 Light" panose="020B0502040204020203" pitchFamily="34" charset="-122"/>
                </a:rPr>
                <a:t>到达</a:t>
              </a:r>
            </a:p>
            <a:p>
              <a:pPr algn="r"/>
              <a:r>
                <a:rPr lang="zh-CN" altLang="en-US" sz="1600">
                  <a:latin typeface="+mn-lt"/>
                  <a:ea typeface="微软雅黑 Light" panose="020B0502040204020203" pitchFamily="34" charset="-122"/>
                </a:rPr>
                <a:t>发送</a:t>
              </a:r>
              <a:r>
                <a:rPr lang="en-US" altLang="zh-CN" sz="1600">
                  <a:latin typeface="+mn-lt"/>
                  <a:ea typeface="微软雅黑 Light" panose="020B0502040204020203" pitchFamily="34" charset="-122"/>
                </a:rPr>
                <a:t>ACK</a:t>
              </a:r>
            </a:p>
            <a:p>
              <a:pPr algn="r"/>
              <a:r>
                <a:rPr lang="zh-CN" altLang="en-US" sz="1600">
                  <a:latin typeface="+mn-lt"/>
                  <a:ea typeface="微软雅黑 Light" panose="020B0502040204020203" pitchFamily="34" charset="-122"/>
                </a:rPr>
                <a:t>删除连接</a:t>
              </a:r>
            </a:p>
          </p:txBody>
        </p:sp>
        <p:sp>
          <p:nvSpPr>
            <p:cNvPr id="275485" name="AutoShape 29"/>
            <p:cNvSpPr>
              <a:spLocks noChangeArrowheads="1"/>
            </p:cNvSpPr>
            <p:nvPr/>
          </p:nvSpPr>
          <p:spPr bwMode="auto">
            <a:xfrm>
              <a:off x="8194675" y="1989139"/>
              <a:ext cx="871538" cy="719137"/>
            </a:xfrm>
            <a:prstGeom prst="irregularSeal1">
              <a:avLst/>
            </a:prstGeom>
            <a:solidFill>
              <a:srgbClr val="FF0000"/>
            </a:solidFill>
            <a:ln w="9525">
              <a:solidFill>
                <a:schemeClr va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latin typeface="+mn-lt"/>
                  <a:ea typeface="微软雅黑 Light" panose="020B0502040204020203" pitchFamily="34" charset="-122"/>
                </a:rPr>
                <a:t>丢失</a:t>
              </a:r>
            </a:p>
          </p:txBody>
        </p:sp>
        <p:sp>
          <p:nvSpPr>
            <p:cNvPr id="275486" name="Text Box 30"/>
            <p:cNvSpPr txBox="1">
              <a:spLocks noChangeArrowheads="1"/>
            </p:cNvSpPr>
            <p:nvPr/>
          </p:nvSpPr>
          <p:spPr bwMode="auto">
            <a:xfrm>
              <a:off x="5006975" y="2349501"/>
              <a:ext cx="1017588"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dirty="0">
                  <a:latin typeface="+mn-lt"/>
                  <a:ea typeface="微软雅黑 Light" panose="020B0502040204020203" pitchFamily="34" charset="-122"/>
                </a:rPr>
                <a:t>ACK</a:t>
              </a:r>
              <a:r>
                <a:rPr lang="zh-CN" altLang="en-US" sz="1600" dirty="0">
                  <a:latin typeface="+mn-lt"/>
                  <a:ea typeface="微软雅黑 Light" panose="020B0502040204020203" pitchFamily="34" charset="-122"/>
                </a:rPr>
                <a:t>到达</a:t>
              </a:r>
            </a:p>
            <a:p>
              <a:r>
                <a:rPr lang="zh-CN" altLang="en-US" sz="1600" dirty="0">
                  <a:latin typeface="+mn-lt"/>
                  <a:ea typeface="微软雅黑 Light" panose="020B0502040204020203" pitchFamily="34" charset="-122"/>
                </a:rPr>
                <a:t>删除连接</a:t>
              </a:r>
              <a:endParaRPr lang="zh-CN" altLang="en-US" sz="1800" dirty="0">
                <a:latin typeface="+mn-lt"/>
                <a:ea typeface="微软雅黑 Light" panose="020B0502040204020203" pitchFamily="34" charset="-122"/>
                <a:sym typeface="Wingdings 2" panose="05020102010507070707" pitchFamily="18" charset="2"/>
              </a:endParaRPr>
            </a:p>
          </p:txBody>
        </p:sp>
        <p:sp>
          <p:nvSpPr>
            <p:cNvPr id="275487" name="Text Box 31"/>
            <p:cNvSpPr txBox="1">
              <a:spLocks noChangeArrowheads="1"/>
            </p:cNvSpPr>
            <p:nvPr/>
          </p:nvSpPr>
          <p:spPr bwMode="auto">
            <a:xfrm>
              <a:off x="9491663" y="2492376"/>
              <a:ext cx="9969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a:latin typeface="+mn-lt"/>
                  <a:ea typeface="微软雅黑 Light" panose="020B0502040204020203" pitchFamily="34" charset="-122"/>
                </a:rPr>
                <a:t>超时</a:t>
              </a:r>
            </a:p>
            <a:p>
              <a:r>
                <a:rPr lang="zh-CN" altLang="en-US" sz="1600">
                  <a:latin typeface="+mn-lt"/>
                  <a:ea typeface="微软雅黑 Light" panose="020B0502040204020203" pitchFamily="34" charset="-122"/>
                </a:rPr>
                <a:t>删除连接</a:t>
              </a:r>
              <a:endParaRPr lang="zh-CN" altLang="en-US" sz="1800">
                <a:latin typeface="+mn-lt"/>
                <a:ea typeface="微软雅黑 Light" panose="020B0502040204020203" pitchFamily="34" charset="-122"/>
                <a:sym typeface="Wingdings 2" panose="05020102010507070707" pitchFamily="18" charset="2"/>
              </a:endParaRPr>
            </a:p>
          </p:txBody>
        </p:sp>
        <p:grpSp>
          <p:nvGrpSpPr>
            <p:cNvPr id="275488" name="Group 32"/>
            <p:cNvGrpSpPr/>
            <p:nvPr/>
          </p:nvGrpSpPr>
          <p:grpSpPr bwMode="auto">
            <a:xfrm>
              <a:off x="3244851" y="3529013"/>
              <a:ext cx="1679575" cy="2563812"/>
              <a:chOff x="1837" y="890"/>
              <a:chExt cx="1950" cy="3266"/>
            </a:xfrm>
          </p:grpSpPr>
          <p:sp>
            <p:nvSpPr>
              <p:cNvPr id="275489" name="Line 33"/>
              <p:cNvSpPr>
                <a:spLocks noChangeShapeType="1"/>
              </p:cNvSpPr>
              <p:nvPr/>
            </p:nvSpPr>
            <p:spPr bwMode="auto">
              <a:xfrm>
                <a:off x="1837" y="890"/>
                <a:ext cx="0" cy="3266"/>
              </a:xfrm>
              <a:prstGeom prst="line">
                <a:avLst/>
              </a:prstGeom>
              <a:noFill/>
              <a:ln w="19050">
                <a:solidFill>
                  <a:schemeClr val="tx1"/>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275490" name="Line 34"/>
              <p:cNvSpPr>
                <a:spLocks noChangeShapeType="1"/>
              </p:cNvSpPr>
              <p:nvPr/>
            </p:nvSpPr>
            <p:spPr bwMode="auto">
              <a:xfrm>
                <a:off x="3787" y="890"/>
                <a:ext cx="0" cy="3266"/>
              </a:xfrm>
              <a:prstGeom prst="line">
                <a:avLst/>
              </a:prstGeom>
              <a:noFill/>
              <a:ln w="19050">
                <a:solidFill>
                  <a:schemeClr val="tx1"/>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grpSp>
        <p:sp>
          <p:nvSpPr>
            <p:cNvPr id="275491" name="Line 35"/>
            <p:cNvSpPr>
              <a:spLocks noChangeShapeType="1"/>
            </p:cNvSpPr>
            <p:nvPr/>
          </p:nvSpPr>
          <p:spPr bwMode="auto">
            <a:xfrm>
              <a:off x="3244851" y="3687764"/>
              <a:ext cx="1679575" cy="250825"/>
            </a:xfrm>
            <a:prstGeom prst="line">
              <a:avLst/>
            </a:prstGeom>
            <a:noFill/>
            <a:ln w="19050">
              <a:solidFill>
                <a:schemeClr val="bg2">
                  <a:lumMod val="50000"/>
                </a:schemeClr>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275492" name="Line 36"/>
            <p:cNvSpPr>
              <a:spLocks noChangeShapeType="1"/>
            </p:cNvSpPr>
            <p:nvPr/>
          </p:nvSpPr>
          <p:spPr bwMode="auto">
            <a:xfrm flipV="1">
              <a:off x="4286251" y="4064001"/>
              <a:ext cx="638175" cy="85725"/>
            </a:xfrm>
            <a:prstGeom prst="line">
              <a:avLst/>
            </a:prstGeom>
            <a:noFill/>
            <a:ln w="19050">
              <a:solidFill>
                <a:srgbClr val="00B05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275493" name="Text Box 37"/>
            <p:cNvSpPr txBox="1">
              <a:spLocks noChangeArrowheads="1"/>
            </p:cNvSpPr>
            <p:nvPr/>
          </p:nvSpPr>
          <p:spPr bwMode="auto">
            <a:xfrm>
              <a:off x="3074988" y="3140076"/>
              <a:ext cx="2587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a:latin typeface="+mn-lt"/>
                  <a:ea typeface="微软雅黑 Light" panose="020B0502040204020203" pitchFamily="34" charset="-122"/>
                </a:rPr>
                <a:t>A</a:t>
              </a:r>
            </a:p>
          </p:txBody>
        </p:sp>
        <p:sp>
          <p:nvSpPr>
            <p:cNvPr id="275494" name="Text Box 38"/>
            <p:cNvSpPr txBox="1">
              <a:spLocks noChangeArrowheads="1"/>
            </p:cNvSpPr>
            <p:nvPr/>
          </p:nvSpPr>
          <p:spPr bwMode="auto">
            <a:xfrm>
              <a:off x="4764088" y="3140076"/>
              <a:ext cx="2587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a:latin typeface="+mn-lt"/>
                  <a:ea typeface="微软雅黑 Light" panose="020B0502040204020203" pitchFamily="34" charset="-122"/>
                </a:rPr>
                <a:t>B</a:t>
              </a:r>
            </a:p>
          </p:txBody>
        </p:sp>
        <p:sp>
          <p:nvSpPr>
            <p:cNvPr id="275495" name="Line 39"/>
            <p:cNvSpPr>
              <a:spLocks noChangeShapeType="1"/>
            </p:cNvSpPr>
            <p:nvPr/>
          </p:nvSpPr>
          <p:spPr bwMode="auto">
            <a:xfrm>
              <a:off x="3244850" y="4503738"/>
              <a:ext cx="1690688" cy="220662"/>
            </a:xfrm>
            <a:prstGeom prst="line">
              <a:avLst/>
            </a:prstGeom>
            <a:noFill/>
            <a:ln w="19050">
              <a:solidFill>
                <a:schemeClr val="bg2">
                  <a:lumMod val="50000"/>
                </a:schemeClr>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275496" name="Text Box 40"/>
            <p:cNvSpPr txBox="1">
              <a:spLocks noChangeArrowheads="1"/>
            </p:cNvSpPr>
            <p:nvPr/>
          </p:nvSpPr>
          <p:spPr bwMode="auto">
            <a:xfrm>
              <a:off x="2343150" y="3429000"/>
              <a:ext cx="871538" cy="611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zh-CN" altLang="en-US" sz="1600" dirty="0">
                  <a:latin typeface="+mn-lt"/>
                  <a:ea typeface="微软雅黑 Light" panose="020B0502040204020203" pitchFamily="34" charset="-122"/>
                </a:rPr>
                <a:t>发送</a:t>
              </a:r>
              <a:r>
                <a:rPr lang="en-US" altLang="zh-CN" sz="1600" dirty="0">
                  <a:latin typeface="+mn-lt"/>
                  <a:ea typeface="微软雅黑 Light" panose="020B0502040204020203" pitchFamily="34" charset="-122"/>
                </a:rPr>
                <a:t>DR</a:t>
              </a:r>
            </a:p>
            <a:p>
              <a:pPr algn="r"/>
              <a:r>
                <a:rPr lang="zh-CN" altLang="en-US" sz="1600" dirty="0">
                  <a:latin typeface="+mn-lt"/>
                  <a:ea typeface="微软雅黑 Light" panose="020B0502040204020203" pitchFamily="34" charset="-122"/>
                </a:rPr>
                <a:t>启动</a:t>
              </a:r>
              <a:r>
                <a:rPr lang="zh-CN" altLang="en-US" sz="1800" dirty="0">
                  <a:latin typeface="+mn-lt"/>
                  <a:ea typeface="微软雅黑 Light" panose="020B0502040204020203" pitchFamily="34" charset="-122"/>
                  <a:sym typeface="Wingdings 2" panose="05020102010507070707" pitchFamily="18" charset="2"/>
                </a:rPr>
                <a:t></a:t>
              </a:r>
            </a:p>
          </p:txBody>
        </p:sp>
        <p:sp>
          <p:nvSpPr>
            <p:cNvPr id="275497" name="Text Box 41"/>
            <p:cNvSpPr txBox="1">
              <a:spLocks noChangeArrowheads="1"/>
            </p:cNvSpPr>
            <p:nvPr/>
          </p:nvSpPr>
          <p:spPr bwMode="auto">
            <a:xfrm>
              <a:off x="5018089" y="3621088"/>
              <a:ext cx="881973"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dirty="0">
                  <a:latin typeface="+mn-lt"/>
                  <a:ea typeface="微软雅黑 Light" panose="020B0502040204020203" pitchFamily="34" charset="-122"/>
                </a:rPr>
                <a:t>DR</a:t>
              </a:r>
              <a:r>
                <a:rPr lang="zh-CN" altLang="en-US" sz="1600" dirty="0">
                  <a:latin typeface="+mn-lt"/>
                  <a:ea typeface="微软雅黑 Light" panose="020B0502040204020203" pitchFamily="34" charset="-122"/>
                </a:rPr>
                <a:t>到达</a:t>
              </a:r>
            </a:p>
            <a:p>
              <a:r>
                <a:rPr lang="zh-CN" altLang="en-US" sz="1600" dirty="0">
                  <a:latin typeface="+mn-lt"/>
                  <a:ea typeface="微软雅黑 Light" panose="020B0502040204020203" pitchFamily="34" charset="-122"/>
                </a:rPr>
                <a:t>发送</a:t>
              </a:r>
              <a:r>
                <a:rPr lang="en-US" altLang="zh-CN" sz="1600" dirty="0">
                  <a:latin typeface="+mn-lt"/>
                  <a:ea typeface="微软雅黑 Light" panose="020B0502040204020203" pitchFamily="34" charset="-122"/>
                </a:rPr>
                <a:t>DC</a:t>
              </a:r>
            </a:p>
            <a:p>
              <a:r>
                <a:rPr lang="zh-CN" altLang="en-US" sz="1600" dirty="0">
                  <a:latin typeface="+mn-lt"/>
                  <a:ea typeface="微软雅黑 Light" panose="020B0502040204020203" pitchFamily="34" charset="-122"/>
                </a:rPr>
                <a:t>启动</a:t>
              </a:r>
              <a:r>
                <a:rPr lang="zh-CN" altLang="en-US" sz="1800" dirty="0">
                  <a:latin typeface="+mn-lt"/>
                  <a:ea typeface="微软雅黑 Light" panose="020B0502040204020203" pitchFamily="34" charset="-122"/>
                  <a:sym typeface="Wingdings 2" panose="05020102010507070707" pitchFamily="18" charset="2"/>
                </a:rPr>
                <a:t></a:t>
              </a:r>
            </a:p>
          </p:txBody>
        </p:sp>
        <p:sp>
          <p:nvSpPr>
            <p:cNvPr id="275498" name="Text Box 42"/>
            <p:cNvSpPr txBox="1">
              <a:spLocks noChangeArrowheads="1"/>
            </p:cNvSpPr>
            <p:nvPr/>
          </p:nvSpPr>
          <p:spPr bwMode="auto">
            <a:xfrm>
              <a:off x="2198689" y="5013325"/>
              <a:ext cx="1017587"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US" altLang="zh-CN" sz="1600" dirty="0">
                  <a:latin typeface="+mn-lt"/>
                  <a:ea typeface="微软雅黑 Light" panose="020B0502040204020203" pitchFamily="34" charset="-122"/>
                </a:rPr>
                <a:t>DC</a:t>
              </a:r>
              <a:r>
                <a:rPr lang="zh-CN" altLang="en-US" sz="1600" dirty="0">
                  <a:latin typeface="+mn-lt"/>
                  <a:ea typeface="微软雅黑 Light" panose="020B0502040204020203" pitchFamily="34" charset="-122"/>
                </a:rPr>
                <a:t>到达</a:t>
              </a:r>
            </a:p>
            <a:p>
              <a:pPr algn="r"/>
              <a:r>
                <a:rPr lang="zh-CN" altLang="en-US" sz="1600" dirty="0">
                  <a:latin typeface="+mn-lt"/>
                  <a:ea typeface="微软雅黑 Light" panose="020B0502040204020203" pitchFamily="34" charset="-122"/>
                </a:rPr>
                <a:t>发送</a:t>
              </a:r>
              <a:r>
                <a:rPr lang="en-US" altLang="zh-CN" sz="1600" dirty="0">
                  <a:latin typeface="+mn-lt"/>
                  <a:ea typeface="微软雅黑 Light" panose="020B0502040204020203" pitchFamily="34" charset="-122"/>
                </a:rPr>
                <a:t>ACK</a:t>
              </a:r>
            </a:p>
            <a:p>
              <a:pPr algn="r"/>
              <a:r>
                <a:rPr lang="zh-CN" altLang="en-US" sz="1600" dirty="0">
                  <a:latin typeface="+mn-lt"/>
                  <a:ea typeface="微软雅黑 Light" panose="020B0502040204020203" pitchFamily="34" charset="-122"/>
                </a:rPr>
                <a:t>删除连接</a:t>
              </a:r>
            </a:p>
          </p:txBody>
        </p:sp>
        <p:sp>
          <p:nvSpPr>
            <p:cNvPr id="275499" name="AutoShape 43"/>
            <p:cNvSpPr>
              <a:spLocks noChangeArrowheads="1"/>
            </p:cNvSpPr>
            <p:nvPr/>
          </p:nvSpPr>
          <p:spPr bwMode="auto">
            <a:xfrm>
              <a:off x="3422650" y="3789364"/>
              <a:ext cx="871538" cy="719137"/>
            </a:xfrm>
            <a:prstGeom prst="irregularSeal1">
              <a:avLst/>
            </a:prstGeom>
            <a:solidFill>
              <a:srgbClr val="FF0000"/>
            </a:solidFill>
            <a:ln w="9525">
              <a:solidFill>
                <a:schemeClr va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latin typeface="+mn-lt"/>
                  <a:ea typeface="微软雅黑 Light" panose="020B0502040204020203" pitchFamily="34" charset="-122"/>
                </a:rPr>
                <a:t>丢失</a:t>
              </a:r>
            </a:p>
          </p:txBody>
        </p:sp>
        <p:sp>
          <p:nvSpPr>
            <p:cNvPr id="275501" name="Text Box 45"/>
            <p:cNvSpPr txBox="1">
              <a:spLocks noChangeArrowheads="1"/>
            </p:cNvSpPr>
            <p:nvPr/>
          </p:nvSpPr>
          <p:spPr bwMode="auto">
            <a:xfrm>
              <a:off x="1550988" y="3992564"/>
              <a:ext cx="1663700" cy="611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r>
                <a:rPr lang="zh-CN" altLang="en-US" sz="1600" dirty="0">
                  <a:latin typeface="+mn-lt"/>
                  <a:ea typeface="微软雅黑 Light" panose="020B0502040204020203" pitchFamily="34" charset="-122"/>
                </a:rPr>
                <a:t>超时，发送</a:t>
              </a:r>
              <a:r>
                <a:rPr lang="en-US" altLang="zh-CN" sz="1600" dirty="0">
                  <a:latin typeface="+mn-lt"/>
                  <a:ea typeface="微软雅黑 Light" panose="020B0502040204020203" pitchFamily="34" charset="-122"/>
                </a:rPr>
                <a:t>DR</a:t>
              </a:r>
            </a:p>
            <a:p>
              <a:pPr algn="r"/>
              <a:r>
                <a:rPr lang="zh-CN" altLang="en-US" sz="1600" dirty="0">
                  <a:latin typeface="+mn-lt"/>
                  <a:ea typeface="微软雅黑 Light" panose="020B0502040204020203" pitchFamily="34" charset="-122"/>
                </a:rPr>
                <a:t>启动</a:t>
              </a:r>
              <a:r>
                <a:rPr lang="zh-CN" altLang="en-US" sz="1800" dirty="0">
                  <a:latin typeface="+mn-lt"/>
                  <a:ea typeface="微软雅黑 Light" panose="020B0502040204020203" pitchFamily="34" charset="-122"/>
                  <a:sym typeface="Wingdings 2" panose="05020102010507070707" pitchFamily="18" charset="2"/>
                </a:rPr>
                <a:t></a:t>
              </a:r>
            </a:p>
          </p:txBody>
        </p:sp>
        <p:sp>
          <p:nvSpPr>
            <p:cNvPr id="275502" name="Text Box 46"/>
            <p:cNvSpPr txBox="1">
              <a:spLocks noChangeArrowheads="1"/>
            </p:cNvSpPr>
            <p:nvPr/>
          </p:nvSpPr>
          <p:spPr bwMode="auto">
            <a:xfrm>
              <a:off x="5006975" y="4437063"/>
              <a:ext cx="881973"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dirty="0">
                  <a:latin typeface="+mn-lt"/>
                  <a:ea typeface="微软雅黑 Light" panose="020B0502040204020203" pitchFamily="34" charset="-122"/>
                </a:rPr>
                <a:t>DR</a:t>
              </a:r>
              <a:r>
                <a:rPr lang="zh-CN" altLang="en-US" sz="1600" dirty="0">
                  <a:latin typeface="+mn-lt"/>
                  <a:ea typeface="微软雅黑 Light" panose="020B0502040204020203" pitchFamily="34" charset="-122"/>
                </a:rPr>
                <a:t>到达</a:t>
              </a:r>
            </a:p>
            <a:p>
              <a:r>
                <a:rPr lang="zh-CN" altLang="en-US" sz="1600" dirty="0">
                  <a:latin typeface="+mn-lt"/>
                  <a:ea typeface="微软雅黑 Light" panose="020B0502040204020203" pitchFamily="34" charset="-122"/>
                </a:rPr>
                <a:t>发送</a:t>
              </a:r>
              <a:r>
                <a:rPr lang="en-US" altLang="zh-CN" sz="1600" dirty="0">
                  <a:latin typeface="+mn-lt"/>
                  <a:ea typeface="微软雅黑 Light" panose="020B0502040204020203" pitchFamily="34" charset="-122"/>
                </a:rPr>
                <a:t>DC</a:t>
              </a:r>
            </a:p>
            <a:p>
              <a:r>
                <a:rPr lang="zh-CN" altLang="en-US" sz="1600" dirty="0">
                  <a:latin typeface="+mn-lt"/>
                  <a:ea typeface="微软雅黑 Light" panose="020B0502040204020203" pitchFamily="34" charset="-122"/>
                </a:rPr>
                <a:t>启动</a:t>
              </a:r>
              <a:r>
                <a:rPr lang="zh-CN" altLang="en-US" sz="1800" dirty="0">
                  <a:latin typeface="+mn-lt"/>
                  <a:ea typeface="微软雅黑 Light" panose="020B0502040204020203" pitchFamily="34" charset="-122"/>
                  <a:sym typeface="Wingdings 2" panose="05020102010507070707" pitchFamily="18" charset="2"/>
                </a:rPr>
                <a:t></a:t>
              </a:r>
            </a:p>
          </p:txBody>
        </p:sp>
        <p:sp>
          <p:nvSpPr>
            <p:cNvPr id="275503" name="Line 47"/>
            <p:cNvSpPr>
              <a:spLocks noChangeShapeType="1"/>
            </p:cNvSpPr>
            <p:nvPr/>
          </p:nvSpPr>
          <p:spPr bwMode="auto">
            <a:xfrm flipV="1">
              <a:off x="3278189" y="4868863"/>
              <a:ext cx="1679575" cy="284162"/>
            </a:xfrm>
            <a:prstGeom prst="line">
              <a:avLst/>
            </a:prstGeom>
            <a:noFill/>
            <a:ln w="19050">
              <a:solidFill>
                <a:srgbClr val="00B05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275504" name="Line 48"/>
            <p:cNvSpPr>
              <a:spLocks noChangeShapeType="1"/>
            </p:cNvSpPr>
            <p:nvPr/>
          </p:nvSpPr>
          <p:spPr bwMode="auto">
            <a:xfrm>
              <a:off x="3235325" y="5373688"/>
              <a:ext cx="1690688" cy="220662"/>
            </a:xfrm>
            <a:prstGeom prst="line">
              <a:avLst/>
            </a:prstGeom>
            <a:noFill/>
            <a:ln w="19050">
              <a:solidFill>
                <a:schemeClr val="bg2">
                  <a:lumMod val="50000"/>
                </a:schemeClr>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275505" name="Text Box 49"/>
            <p:cNvSpPr txBox="1">
              <a:spLocks noChangeArrowheads="1"/>
            </p:cNvSpPr>
            <p:nvPr/>
          </p:nvSpPr>
          <p:spPr bwMode="auto">
            <a:xfrm>
              <a:off x="5006975" y="5445126"/>
              <a:ext cx="1017588"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dirty="0">
                  <a:latin typeface="+mn-lt"/>
                  <a:ea typeface="微软雅黑 Light" panose="020B0502040204020203" pitchFamily="34" charset="-122"/>
                </a:rPr>
                <a:t>ACK</a:t>
              </a:r>
              <a:r>
                <a:rPr lang="zh-CN" altLang="en-US" sz="1600" dirty="0">
                  <a:latin typeface="+mn-lt"/>
                  <a:ea typeface="微软雅黑 Light" panose="020B0502040204020203" pitchFamily="34" charset="-122"/>
                </a:rPr>
                <a:t>到达</a:t>
              </a:r>
            </a:p>
            <a:p>
              <a:r>
                <a:rPr lang="zh-CN" altLang="en-US" sz="1600" dirty="0">
                  <a:latin typeface="+mn-lt"/>
                  <a:ea typeface="微软雅黑 Light" panose="020B0502040204020203" pitchFamily="34" charset="-122"/>
                </a:rPr>
                <a:t>删除连接</a:t>
              </a:r>
              <a:endParaRPr lang="zh-CN" altLang="en-US" sz="1800" dirty="0">
                <a:latin typeface="+mn-lt"/>
                <a:ea typeface="微软雅黑 Light" panose="020B0502040204020203" pitchFamily="34" charset="-122"/>
                <a:sym typeface="Wingdings 2" panose="05020102010507070707" pitchFamily="18" charset="2"/>
              </a:endParaRPr>
            </a:p>
          </p:txBody>
        </p:sp>
        <p:grpSp>
          <p:nvGrpSpPr>
            <p:cNvPr id="275506" name="Group 50"/>
            <p:cNvGrpSpPr/>
            <p:nvPr/>
          </p:nvGrpSpPr>
          <p:grpSpPr bwMode="auto">
            <a:xfrm>
              <a:off x="7691439" y="3530601"/>
              <a:ext cx="1679575" cy="2563813"/>
              <a:chOff x="1837" y="890"/>
              <a:chExt cx="1950" cy="3266"/>
            </a:xfrm>
          </p:grpSpPr>
          <p:sp>
            <p:nvSpPr>
              <p:cNvPr id="275507" name="Line 51"/>
              <p:cNvSpPr>
                <a:spLocks noChangeShapeType="1"/>
              </p:cNvSpPr>
              <p:nvPr/>
            </p:nvSpPr>
            <p:spPr bwMode="auto">
              <a:xfrm>
                <a:off x="1837" y="890"/>
                <a:ext cx="0" cy="3266"/>
              </a:xfrm>
              <a:prstGeom prst="line">
                <a:avLst/>
              </a:prstGeom>
              <a:noFill/>
              <a:ln w="19050">
                <a:solidFill>
                  <a:schemeClr val="tx1"/>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275508" name="Line 52"/>
              <p:cNvSpPr>
                <a:spLocks noChangeShapeType="1"/>
              </p:cNvSpPr>
              <p:nvPr/>
            </p:nvSpPr>
            <p:spPr bwMode="auto">
              <a:xfrm>
                <a:off x="3787" y="890"/>
                <a:ext cx="0" cy="3266"/>
              </a:xfrm>
              <a:prstGeom prst="line">
                <a:avLst/>
              </a:prstGeom>
              <a:noFill/>
              <a:ln w="19050">
                <a:solidFill>
                  <a:schemeClr val="tx1"/>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grpSp>
        <p:sp>
          <p:nvSpPr>
            <p:cNvPr id="275509" name="Line 53"/>
            <p:cNvSpPr>
              <a:spLocks noChangeShapeType="1"/>
            </p:cNvSpPr>
            <p:nvPr/>
          </p:nvSpPr>
          <p:spPr bwMode="auto">
            <a:xfrm>
              <a:off x="7691439" y="3689351"/>
              <a:ext cx="1679575" cy="250825"/>
            </a:xfrm>
            <a:prstGeom prst="line">
              <a:avLst/>
            </a:prstGeom>
            <a:noFill/>
            <a:ln w="19050">
              <a:solidFill>
                <a:schemeClr val="bg2">
                  <a:lumMod val="50000"/>
                </a:schemeClr>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275510" name="Line 54"/>
            <p:cNvSpPr>
              <a:spLocks noChangeShapeType="1"/>
            </p:cNvSpPr>
            <p:nvPr/>
          </p:nvSpPr>
          <p:spPr bwMode="auto">
            <a:xfrm flipV="1">
              <a:off x="8732839" y="4065589"/>
              <a:ext cx="638175" cy="85725"/>
            </a:xfrm>
            <a:prstGeom prst="line">
              <a:avLst/>
            </a:prstGeom>
            <a:noFill/>
            <a:ln w="19050">
              <a:solidFill>
                <a:srgbClr val="00B05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275511" name="Text Box 55"/>
            <p:cNvSpPr txBox="1">
              <a:spLocks noChangeArrowheads="1"/>
            </p:cNvSpPr>
            <p:nvPr/>
          </p:nvSpPr>
          <p:spPr bwMode="auto">
            <a:xfrm>
              <a:off x="7521576" y="3141664"/>
              <a:ext cx="2587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a:latin typeface="+mn-lt"/>
                  <a:ea typeface="微软雅黑 Light" panose="020B0502040204020203" pitchFamily="34" charset="-122"/>
                </a:rPr>
                <a:t>A</a:t>
              </a:r>
            </a:p>
          </p:txBody>
        </p:sp>
        <p:sp>
          <p:nvSpPr>
            <p:cNvPr id="275512" name="Text Box 56"/>
            <p:cNvSpPr txBox="1">
              <a:spLocks noChangeArrowheads="1"/>
            </p:cNvSpPr>
            <p:nvPr/>
          </p:nvSpPr>
          <p:spPr bwMode="auto">
            <a:xfrm>
              <a:off x="9210676" y="3141664"/>
              <a:ext cx="2587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a:latin typeface="+mn-lt"/>
                  <a:ea typeface="微软雅黑 Light" panose="020B0502040204020203" pitchFamily="34" charset="-122"/>
                </a:rPr>
                <a:t>B</a:t>
              </a:r>
            </a:p>
          </p:txBody>
        </p:sp>
        <p:sp>
          <p:nvSpPr>
            <p:cNvPr id="275513" name="Line 57"/>
            <p:cNvSpPr>
              <a:spLocks noChangeShapeType="1"/>
            </p:cNvSpPr>
            <p:nvPr/>
          </p:nvSpPr>
          <p:spPr bwMode="auto">
            <a:xfrm>
              <a:off x="7680325" y="4581525"/>
              <a:ext cx="647700" cy="76200"/>
            </a:xfrm>
            <a:prstGeom prst="line">
              <a:avLst/>
            </a:prstGeom>
            <a:noFill/>
            <a:ln w="19050">
              <a:solidFill>
                <a:schemeClr val="bg2">
                  <a:lumMod val="50000"/>
                </a:schemeClr>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275514" name="Text Box 58"/>
            <p:cNvSpPr txBox="1">
              <a:spLocks noChangeArrowheads="1"/>
            </p:cNvSpPr>
            <p:nvPr/>
          </p:nvSpPr>
          <p:spPr bwMode="auto">
            <a:xfrm>
              <a:off x="6827839" y="3429000"/>
              <a:ext cx="871537" cy="611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zh-CN" altLang="en-US" sz="1600">
                  <a:latin typeface="+mn-lt"/>
                  <a:ea typeface="微软雅黑 Light" panose="020B0502040204020203" pitchFamily="34" charset="-122"/>
                </a:rPr>
                <a:t>发送</a:t>
              </a:r>
              <a:r>
                <a:rPr lang="en-US" altLang="zh-CN" sz="1600">
                  <a:latin typeface="+mn-lt"/>
                  <a:ea typeface="微软雅黑 Light" panose="020B0502040204020203" pitchFamily="34" charset="-122"/>
                </a:rPr>
                <a:t>DR</a:t>
              </a:r>
            </a:p>
            <a:p>
              <a:pPr algn="r"/>
              <a:r>
                <a:rPr lang="zh-CN" altLang="en-US" sz="1600">
                  <a:latin typeface="+mn-lt"/>
                  <a:ea typeface="微软雅黑 Light" panose="020B0502040204020203" pitchFamily="34" charset="-122"/>
                </a:rPr>
                <a:t>启动</a:t>
              </a:r>
              <a:r>
                <a:rPr lang="zh-CN" altLang="en-US" sz="1800">
                  <a:latin typeface="+mn-lt"/>
                  <a:ea typeface="微软雅黑 Light" panose="020B0502040204020203" pitchFamily="34" charset="-122"/>
                  <a:sym typeface="Wingdings 2" panose="05020102010507070707" pitchFamily="18" charset="2"/>
                </a:rPr>
                <a:t></a:t>
              </a:r>
            </a:p>
          </p:txBody>
        </p:sp>
        <p:sp>
          <p:nvSpPr>
            <p:cNvPr id="275515" name="Text Box 59"/>
            <p:cNvSpPr txBox="1">
              <a:spLocks noChangeArrowheads="1"/>
            </p:cNvSpPr>
            <p:nvPr/>
          </p:nvSpPr>
          <p:spPr bwMode="auto">
            <a:xfrm>
              <a:off x="9464675" y="3622676"/>
              <a:ext cx="881973"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a:latin typeface="+mn-lt"/>
                  <a:ea typeface="微软雅黑 Light" panose="020B0502040204020203" pitchFamily="34" charset="-122"/>
                </a:rPr>
                <a:t>DR</a:t>
              </a:r>
              <a:r>
                <a:rPr lang="zh-CN" altLang="en-US" sz="1600">
                  <a:latin typeface="+mn-lt"/>
                  <a:ea typeface="微软雅黑 Light" panose="020B0502040204020203" pitchFamily="34" charset="-122"/>
                </a:rPr>
                <a:t>到达</a:t>
              </a:r>
            </a:p>
            <a:p>
              <a:r>
                <a:rPr lang="zh-CN" altLang="en-US" sz="1600">
                  <a:latin typeface="+mn-lt"/>
                  <a:ea typeface="微软雅黑 Light" panose="020B0502040204020203" pitchFamily="34" charset="-122"/>
                </a:rPr>
                <a:t>发送</a:t>
              </a:r>
              <a:r>
                <a:rPr lang="en-US" altLang="zh-CN" sz="1600">
                  <a:latin typeface="+mn-lt"/>
                  <a:ea typeface="微软雅黑 Light" panose="020B0502040204020203" pitchFamily="34" charset="-122"/>
                </a:rPr>
                <a:t>DC</a:t>
              </a:r>
            </a:p>
            <a:p>
              <a:r>
                <a:rPr lang="zh-CN" altLang="en-US" sz="1600">
                  <a:latin typeface="+mn-lt"/>
                  <a:ea typeface="微软雅黑 Light" panose="020B0502040204020203" pitchFamily="34" charset="-122"/>
                </a:rPr>
                <a:t>启动</a:t>
              </a:r>
              <a:r>
                <a:rPr lang="zh-CN" altLang="en-US" sz="1800">
                  <a:latin typeface="+mn-lt"/>
                  <a:ea typeface="微软雅黑 Light" panose="020B0502040204020203" pitchFamily="34" charset="-122"/>
                  <a:sym typeface="Wingdings 2" panose="05020102010507070707" pitchFamily="18" charset="2"/>
                </a:rPr>
                <a:t></a:t>
              </a:r>
            </a:p>
          </p:txBody>
        </p:sp>
        <p:sp>
          <p:nvSpPr>
            <p:cNvPr id="275516" name="Text Box 60"/>
            <p:cNvSpPr txBox="1">
              <a:spLocks noChangeArrowheads="1"/>
            </p:cNvSpPr>
            <p:nvPr/>
          </p:nvSpPr>
          <p:spPr bwMode="auto">
            <a:xfrm>
              <a:off x="6056313" y="5014914"/>
              <a:ext cx="16065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zh-CN" altLang="en-US" sz="1600">
                  <a:latin typeface="+mn-lt"/>
                  <a:ea typeface="微软雅黑 Light" panose="020B0502040204020203" pitchFamily="34" charset="-122"/>
                </a:rPr>
                <a:t>多次重复</a:t>
              </a:r>
              <a:r>
                <a:rPr lang="en-US" altLang="zh-CN" sz="1600">
                  <a:latin typeface="+mn-lt"/>
                  <a:ea typeface="微软雅黑 Light" panose="020B0502040204020203" pitchFamily="34" charset="-122"/>
                </a:rPr>
                <a:t>DR</a:t>
              </a:r>
            </a:p>
            <a:p>
              <a:pPr algn="r"/>
              <a:r>
                <a:rPr lang="zh-CN" altLang="en-US" sz="1600">
                  <a:latin typeface="+mn-lt"/>
                  <a:ea typeface="微软雅黑 Light" panose="020B0502040204020203" pitchFamily="34" charset="-122"/>
                </a:rPr>
                <a:t>超时，删除连接</a:t>
              </a:r>
            </a:p>
          </p:txBody>
        </p:sp>
        <p:sp>
          <p:nvSpPr>
            <p:cNvPr id="275517" name="AutoShape 61"/>
            <p:cNvSpPr>
              <a:spLocks noChangeArrowheads="1"/>
            </p:cNvSpPr>
            <p:nvPr/>
          </p:nvSpPr>
          <p:spPr bwMode="auto">
            <a:xfrm>
              <a:off x="8328025" y="4292600"/>
              <a:ext cx="871538" cy="719138"/>
            </a:xfrm>
            <a:prstGeom prst="irregularSeal1">
              <a:avLst/>
            </a:prstGeom>
            <a:solidFill>
              <a:srgbClr val="FF0000"/>
            </a:solidFill>
            <a:ln w="9525">
              <a:solidFill>
                <a:schemeClr va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latin typeface="+mn-lt"/>
                  <a:ea typeface="微软雅黑 Light" panose="020B0502040204020203" pitchFamily="34" charset="-122"/>
                </a:rPr>
                <a:t>丢失</a:t>
              </a:r>
            </a:p>
          </p:txBody>
        </p:sp>
        <p:sp>
          <p:nvSpPr>
            <p:cNvPr id="275521" name="Text Box 65"/>
            <p:cNvSpPr txBox="1">
              <a:spLocks noChangeArrowheads="1"/>
            </p:cNvSpPr>
            <p:nvPr/>
          </p:nvSpPr>
          <p:spPr bwMode="auto">
            <a:xfrm>
              <a:off x="9453563" y="5434014"/>
              <a:ext cx="9969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a:latin typeface="+mn-lt"/>
                  <a:ea typeface="微软雅黑 Light" panose="020B0502040204020203" pitchFamily="34" charset="-122"/>
                </a:rPr>
                <a:t>超时</a:t>
              </a:r>
            </a:p>
            <a:p>
              <a:r>
                <a:rPr lang="zh-CN" altLang="en-US" sz="1600">
                  <a:latin typeface="+mn-lt"/>
                  <a:ea typeface="微软雅黑 Light" panose="020B0502040204020203" pitchFamily="34" charset="-122"/>
                </a:rPr>
                <a:t>删除连接</a:t>
              </a:r>
              <a:endParaRPr lang="zh-CN" altLang="en-US" sz="1800">
                <a:latin typeface="+mn-lt"/>
                <a:ea typeface="微软雅黑 Light" panose="020B0502040204020203" pitchFamily="34" charset="-122"/>
                <a:sym typeface="Wingdings 2" panose="05020102010507070707" pitchFamily="18" charset="2"/>
              </a:endParaRPr>
            </a:p>
          </p:txBody>
        </p:sp>
        <p:sp>
          <p:nvSpPr>
            <p:cNvPr id="275522" name="AutoShape 66"/>
            <p:cNvSpPr>
              <a:spLocks noChangeArrowheads="1"/>
            </p:cNvSpPr>
            <p:nvPr/>
          </p:nvSpPr>
          <p:spPr bwMode="auto">
            <a:xfrm>
              <a:off x="7907339" y="3789364"/>
              <a:ext cx="871537" cy="719137"/>
            </a:xfrm>
            <a:prstGeom prst="irregularSeal1">
              <a:avLst/>
            </a:prstGeom>
            <a:solidFill>
              <a:srgbClr val="FF0000"/>
            </a:solidFill>
            <a:ln w="9525">
              <a:solidFill>
                <a:schemeClr va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latin typeface="+mn-lt"/>
                  <a:ea typeface="微软雅黑 Light" panose="020B0502040204020203" pitchFamily="34" charset="-122"/>
                </a:rPr>
                <a:t>丢失</a:t>
              </a: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CC44ACFD-72B9-496B-8398-B8894BD47691}" type="slidenum">
              <a:rPr lang="en-US" altLang="zh-CN"/>
              <a:t>22</a:t>
            </a:fld>
            <a:endParaRPr lang="en-US" altLang="zh-CN"/>
          </a:p>
        </p:txBody>
      </p:sp>
      <p:sp>
        <p:nvSpPr>
          <p:cNvPr id="499714" name="Rectangle 2"/>
          <p:cNvSpPr>
            <a:spLocks noGrp="1" noChangeArrowheads="1"/>
          </p:cNvSpPr>
          <p:nvPr>
            <p:ph type="title"/>
          </p:nvPr>
        </p:nvSpPr>
        <p:spPr/>
        <p:txBody>
          <a:bodyPr/>
          <a:lstStyle/>
          <a:p>
            <a:r>
              <a:rPr lang="en-US" altLang="zh-CN" dirty="0"/>
              <a:t>6.2 </a:t>
            </a:r>
            <a:r>
              <a:rPr lang="zh-CN" altLang="en-US" dirty="0"/>
              <a:t>用户数据报协议</a:t>
            </a:r>
            <a:endParaRPr lang="en-US" altLang="zh-CN" dirty="0"/>
          </a:p>
        </p:txBody>
      </p:sp>
      <p:sp>
        <p:nvSpPr>
          <p:cNvPr id="499715" name="Rectangle 3"/>
          <p:cNvSpPr>
            <a:spLocks noGrp="1" noChangeArrowheads="1"/>
          </p:cNvSpPr>
          <p:nvPr>
            <p:ph type="body" idx="1"/>
          </p:nvPr>
        </p:nvSpPr>
        <p:spPr/>
        <p:txBody>
          <a:bodyPr/>
          <a:lstStyle/>
          <a:p>
            <a:pPr>
              <a:lnSpc>
                <a:spcPct val="120000"/>
              </a:lnSpc>
            </a:pPr>
            <a:r>
              <a:rPr lang="en-US" altLang="zh-CN" dirty="0">
                <a:latin typeface="+mn-lt"/>
              </a:rPr>
              <a:t>UDP</a:t>
            </a:r>
            <a:r>
              <a:rPr lang="zh-CN" altLang="en-US" dirty="0">
                <a:latin typeface="+mn-lt"/>
              </a:rPr>
              <a:t>采用非连接的方式提供网络应用层的事务处理</a:t>
            </a:r>
          </a:p>
          <a:p>
            <a:pPr>
              <a:lnSpc>
                <a:spcPct val="120000"/>
              </a:lnSpc>
            </a:pPr>
            <a:r>
              <a:rPr lang="en-US" altLang="zh-CN" dirty="0">
                <a:latin typeface="+mn-lt"/>
              </a:rPr>
              <a:t>UDP</a:t>
            </a:r>
            <a:r>
              <a:rPr lang="zh-CN" altLang="en-US" dirty="0">
                <a:latin typeface="+mn-lt"/>
              </a:rPr>
              <a:t>不提供可靠性，即</a:t>
            </a:r>
            <a:r>
              <a:rPr lang="en-US" altLang="zh-CN" dirty="0">
                <a:latin typeface="+mn-lt"/>
              </a:rPr>
              <a:t>UDP</a:t>
            </a:r>
            <a:r>
              <a:rPr lang="zh-CN" altLang="en-US" dirty="0">
                <a:latin typeface="+mn-lt"/>
              </a:rPr>
              <a:t>协议不提供端到端的确认和重传功能，它不保证数据包一定能到达目的地，因此称为不可靠协议</a:t>
            </a:r>
          </a:p>
          <a:p>
            <a:pPr lvl="1">
              <a:lnSpc>
                <a:spcPct val="120000"/>
              </a:lnSpc>
            </a:pPr>
            <a:r>
              <a:rPr lang="zh-CN" altLang="en-US" dirty="0">
                <a:latin typeface="+mn-lt"/>
              </a:rPr>
              <a:t>不可靠：丢失、重复、延迟、乱序和损坏</a:t>
            </a:r>
          </a:p>
          <a:p>
            <a:pPr>
              <a:lnSpc>
                <a:spcPct val="120000"/>
              </a:lnSpc>
            </a:pPr>
            <a:r>
              <a:rPr lang="en-US" altLang="zh-CN" dirty="0">
                <a:latin typeface="+mn-lt"/>
              </a:rPr>
              <a:t>UDP</a:t>
            </a:r>
            <a:r>
              <a:rPr lang="zh-CN" altLang="en-US" dirty="0">
                <a:latin typeface="+mn-lt"/>
              </a:rPr>
              <a:t>必需在</a:t>
            </a:r>
            <a:r>
              <a:rPr lang="en-US" altLang="zh-CN" dirty="0">
                <a:latin typeface="+mn-lt"/>
              </a:rPr>
              <a:t>IP</a:t>
            </a:r>
            <a:r>
              <a:rPr lang="zh-CN" altLang="en-US" dirty="0">
                <a:latin typeface="+mn-lt"/>
              </a:rPr>
              <a:t>上运行。它的下层协议是以</a:t>
            </a:r>
            <a:r>
              <a:rPr lang="en-US" altLang="zh-CN" dirty="0">
                <a:latin typeface="+mn-lt"/>
              </a:rPr>
              <a:t>IP</a:t>
            </a:r>
            <a:r>
              <a:rPr lang="zh-CN" altLang="en-US" dirty="0">
                <a:latin typeface="+mn-lt"/>
              </a:rPr>
              <a:t>作为前提的</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F88BCA3A-2313-4431-886D-3FAB64FEBF4F}" type="slidenum">
              <a:rPr lang="en-US" altLang="zh-CN"/>
              <a:t>23</a:t>
            </a:fld>
            <a:endParaRPr lang="en-US" altLang="zh-CN"/>
          </a:p>
        </p:txBody>
      </p:sp>
      <p:sp>
        <p:nvSpPr>
          <p:cNvPr id="824322" name="Rectangle 2"/>
          <p:cNvSpPr>
            <a:spLocks noGrp="1" noChangeArrowheads="1"/>
          </p:cNvSpPr>
          <p:nvPr>
            <p:ph type="title"/>
          </p:nvPr>
        </p:nvSpPr>
        <p:spPr/>
        <p:txBody>
          <a:bodyPr/>
          <a:lstStyle/>
          <a:p>
            <a:r>
              <a:rPr lang="en-US" altLang="zh-CN" dirty="0"/>
              <a:t>UDP</a:t>
            </a:r>
            <a:r>
              <a:rPr lang="zh-CN" altLang="en-US" dirty="0"/>
              <a:t>特征</a:t>
            </a:r>
          </a:p>
        </p:txBody>
      </p:sp>
      <p:sp>
        <p:nvSpPr>
          <p:cNvPr id="824323" name="Rectangle 3"/>
          <p:cNvSpPr>
            <a:spLocks noGrp="1" noChangeArrowheads="1"/>
          </p:cNvSpPr>
          <p:nvPr>
            <p:ph type="body" idx="1"/>
          </p:nvPr>
        </p:nvSpPr>
        <p:spPr/>
        <p:txBody>
          <a:bodyPr>
            <a:normAutofit/>
          </a:bodyPr>
          <a:lstStyle/>
          <a:p>
            <a:pPr>
              <a:lnSpc>
                <a:spcPct val="120000"/>
              </a:lnSpc>
            </a:pPr>
            <a:r>
              <a:rPr lang="en-US" altLang="zh-CN" dirty="0">
                <a:latin typeface="+mn-lt"/>
              </a:rPr>
              <a:t>UDP</a:t>
            </a:r>
            <a:r>
              <a:rPr lang="zh-CN" altLang="en-US" dirty="0">
                <a:latin typeface="+mn-lt"/>
              </a:rPr>
              <a:t>提供端到端服务，允许应用进程发送和接收单个报文，每个报文被装进单个数据报中进行传输</a:t>
            </a:r>
          </a:p>
          <a:p>
            <a:pPr>
              <a:lnSpc>
                <a:spcPct val="120000"/>
              </a:lnSpc>
            </a:pPr>
            <a:r>
              <a:rPr lang="en-US" altLang="zh-CN" dirty="0">
                <a:latin typeface="+mn-lt"/>
              </a:rPr>
              <a:t>UDP</a:t>
            </a:r>
            <a:r>
              <a:rPr lang="zh-CN" altLang="en-US" dirty="0">
                <a:latin typeface="+mn-lt"/>
              </a:rPr>
              <a:t>可以被表征为：</a:t>
            </a:r>
          </a:p>
          <a:p>
            <a:pPr lvl="1">
              <a:lnSpc>
                <a:spcPct val="120000"/>
              </a:lnSpc>
            </a:pPr>
            <a:r>
              <a:rPr lang="zh-CN" altLang="en-US" dirty="0">
                <a:latin typeface="+mn-lt"/>
              </a:rPr>
              <a:t>端到端</a:t>
            </a:r>
          </a:p>
          <a:p>
            <a:pPr lvl="1">
              <a:lnSpc>
                <a:spcPct val="120000"/>
              </a:lnSpc>
            </a:pPr>
            <a:r>
              <a:rPr lang="zh-CN" altLang="en-US" dirty="0">
                <a:latin typeface="+mn-lt"/>
              </a:rPr>
              <a:t>无连接</a:t>
            </a:r>
          </a:p>
          <a:p>
            <a:pPr lvl="1">
              <a:lnSpc>
                <a:spcPct val="120000"/>
              </a:lnSpc>
            </a:pPr>
            <a:r>
              <a:rPr lang="zh-CN" altLang="en-US" dirty="0">
                <a:latin typeface="+mn-lt"/>
              </a:rPr>
              <a:t>面向报文</a:t>
            </a:r>
          </a:p>
          <a:p>
            <a:pPr lvl="1">
              <a:lnSpc>
                <a:spcPct val="120000"/>
              </a:lnSpc>
            </a:pPr>
            <a:r>
              <a:rPr lang="zh-CN" altLang="en-US" dirty="0">
                <a:latin typeface="+mn-lt"/>
              </a:rPr>
              <a:t>尽力而为</a:t>
            </a:r>
          </a:p>
          <a:p>
            <a:pPr lvl="1">
              <a:lnSpc>
                <a:spcPct val="120000"/>
              </a:lnSpc>
            </a:pPr>
            <a:r>
              <a:rPr lang="zh-CN" altLang="en-US" dirty="0">
                <a:latin typeface="+mn-lt"/>
              </a:rPr>
              <a:t>任意交互</a:t>
            </a:r>
          </a:p>
          <a:p>
            <a:pPr lvl="1">
              <a:lnSpc>
                <a:spcPct val="120000"/>
              </a:lnSpc>
            </a:pPr>
            <a:r>
              <a:rPr lang="zh-CN" altLang="en-US" dirty="0">
                <a:latin typeface="+mn-lt"/>
              </a:rPr>
              <a:t>操作系统无关</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44AD3EE5-1424-4707-9D9D-461A4A17F5EF}" type="slidenum">
              <a:rPr lang="en-US" altLang="zh-CN"/>
              <a:t>24</a:t>
            </a:fld>
            <a:endParaRPr lang="en-US" altLang="zh-CN"/>
          </a:p>
        </p:txBody>
      </p:sp>
      <p:sp>
        <p:nvSpPr>
          <p:cNvPr id="825346" name="Rectangle 2"/>
          <p:cNvSpPr>
            <a:spLocks noGrp="1" noChangeArrowheads="1"/>
          </p:cNvSpPr>
          <p:nvPr>
            <p:ph type="title"/>
          </p:nvPr>
        </p:nvSpPr>
        <p:spPr/>
        <p:txBody>
          <a:bodyPr/>
          <a:lstStyle/>
          <a:p>
            <a:r>
              <a:rPr lang="zh-CN" altLang="en-US" dirty="0"/>
              <a:t>采用的通信方式</a:t>
            </a:r>
          </a:p>
        </p:txBody>
      </p:sp>
      <p:sp>
        <p:nvSpPr>
          <p:cNvPr id="825347" name="Rectangle 3"/>
          <p:cNvSpPr>
            <a:spLocks noGrp="1" noChangeArrowheads="1"/>
          </p:cNvSpPr>
          <p:nvPr>
            <p:ph type="body" idx="1"/>
          </p:nvPr>
        </p:nvSpPr>
        <p:spPr/>
        <p:txBody>
          <a:bodyPr>
            <a:normAutofit/>
          </a:bodyPr>
          <a:lstStyle/>
          <a:p>
            <a:r>
              <a:rPr lang="en-US" altLang="zh-CN" dirty="0">
                <a:latin typeface="+mn-lt"/>
              </a:rPr>
              <a:t>UDP</a:t>
            </a:r>
            <a:r>
              <a:rPr lang="zh-CN" altLang="en-US" dirty="0">
                <a:latin typeface="+mn-lt"/>
              </a:rPr>
              <a:t>允许采用</a:t>
            </a:r>
            <a:r>
              <a:rPr lang="en-US" altLang="zh-CN" dirty="0">
                <a:latin typeface="+mn-lt"/>
              </a:rPr>
              <a:t>2</a:t>
            </a:r>
            <a:r>
              <a:rPr lang="zh-CN" altLang="en-US" dirty="0">
                <a:latin typeface="+mn-lt"/>
              </a:rPr>
              <a:t>种交互通信方式</a:t>
            </a:r>
          </a:p>
          <a:p>
            <a:pPr lvl="1"/>
            <a:r>
              <a:rPr lang="zh-CN" altLang="en-US" dirty="0">
                <a:latin typeface="+mn-lt"/>
              </a:rPr>
              <a:t>一对一</a:t>
            </a:r>
          </a:p>
          <a:p>
            <a:pPr lvl="1"/>
            <a:r>
              <a:rPr lang="zh-CN" altLang="en-US" dirty="0">
                <a:latin typeface="+mn-lt"/>
              </a:rPr>
              <a:t>一对多</a:t>
            </a:r>
          </a:p>
          <a:p>
            <a:r>
              <a:rPr lang="zh-CN" altLang="en-US" dirty="0">
                <a:latin typeface="+mn-lt"/>
              </a:rPr>
              <a:t>使用协议端口号标识端点</a:t>
            </a:r>
          </a:p>
          <a:p>
            <a:pPr lvl="1"/>
            <a:r>
              <a:rPr lang="zh-CN" altLang="en-US" dirty="0">
                <a:latin typeface="+mn-lt"/>
              </a:rPr>
              <a:t>必须跨越异构计算机，</a:t>
            </a:r>
            <a:r>
              <a:rPr lang="en-US" altLang="zh-CN" dirty="0">
                <a:latin typeface="+mn-lt"/>
              </a:rPr>
              <a:t>UDP</a:t>
            </a:r>
            <a:r>
              <a:rPr lang="zh-CN" altLang="en-US" dirty="0">
                <a:latin typeface="+mn-lt"/>
              </a:rPr>
              <a:t>定义了一个标识符抽象集</a:t>
            </a:r>
            <a:r>
              <a:rPr lang="en-US" altLang="zh-CN" dirty="0">
                <a:latin typeface="+mn-lt"/>
              </a:rPr>
              <a:t>—</a:t>
            </a:r>
            <a:r>
              <a:rPr lang="zh-CN" altLang="en-US" dirty="0">
                <a:latin typeface="+mn-lt"/>
              </a:rPr>
              <a:t>协议端口号</a:t>
            </a:r>
            <a:r>
              <a:rPr lang="en-US" altLang="zh-CN" dirty="0">
                <a:latin typeface="+mn-lt"/>
              </a:rPr>
              <a:t>(protocol port number)</a:t>
            </a:r>
            <a:endParaRPr lang="zh-CN" altLang="en-US" dirty="0">
              <a:latin typeface="+mn-lt"/>
            </a:endParaRPr>
          </a:p>
          <a:p>
            <a:pPr lvl="1"/>
            <a:r>
              <a:rPr lang="zh-CN" altLang="en-US" dirty="0">
                <a:latin typeface="+mn-lt"/>
              </a:rPr>
              <a:t>在每台计算机内提供端口号与操作系统所用的程序标识符之间的映射关系</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6341" name="Rectangle 5"/>
          <p:cNvSpPr>
            <a:spLocks noGrp="1" noChangeArrowheads="1"/>
          </p:cNvSpPr>
          <p:nvPr>
            <p:ph type="title"/>
          </p:nvPr>
        </p:nvSpPr>
        <p:spPr/>
        <p:txBody>
          <a:bodyPr/>
          <a:lstStyle/>
          <a:p>
            <a:r>
              <a:rPr lang="en-US" altLang="zh-CN" dirty="0"/>
              <a:t>UDP</a:t>
            </a:r>
            <a:r>
              <a:rPr lang="zh-CN" altLang="en-US" dirty="0"/>
              <a:t>报头格式</a:t>
            </a:r>
          </a:p>
        </p:txBody>
      </p:sp>
      <p:sp>
        <p:nvSpPr>
          <p:cNvPr id="3" name="内容占位符 2"/>
          <p:cNvSpPr>
            <a:spLocks noGrp="1"/>
          </p:cNvSpPr>
          <p:nvPr>
            <p:ph idx="1"/>
          </p:nvPr>
        </p:nvSpPr>
        <p:spPr>
          <a:xfrm>
            <a:off x="334434" y="1052514"/>
            <a:ext cx="11523133" cy="1458713"/>
          </a:xfrm>
        </p:spPr>
        <p:txBody>
          <a:bodyPr>
            <a:normAutofit/>
          </a:bodyPr>
          <a:lstStyle/>
          <a:p>
            <a:r>
              <a:rPr lang="en-US" altLang="zh-CN" dirty="0"/>
              <a:t>UDP</a:t>
            </a:r>
            <a:r>
              <a:rPr lang="zh-CN" altLang="en-US" dirty="0"/>
              <a:t>协议直接利用</a:t>
            </a:r>
            <a:r>
              <a:rPr lang="en-US" altLang="zh-CN" dirty="0"/>
              <a:t>IP</a:t>
            </a:r>
            <a:r>
              <a:rPr lang="zh-CN" altLang="en-US" dirty="0"/>
              <a:t>协议进行</a:t>
            </a:r>
            <a:r>
              <a:rPr lang="en-US" altLang="zh-CN" dirty="0"/>
              <a:t>UDP</a:t>
            </a:r>
            <a:r>
              <a:rPr lang="zh-CN" altLang="en-US" dirty="0"/>
              <a:t>数据报的传输</a:t>
            </a:r>
          </a:p>
          <a:p>
            <a:r>
              <a:rPr lang="en-US" altLang="zh-CN" dirty="0"/>
              <a:t>UDP</a:t>
            </a:r>
            <a:r>
              <a:rPr lang="zh-CN" altLang="en-US" dirty="0"/>
              <a:t>数据报封装在</a:t>
            </a:r>
            <a:r>
              <a:rPr lang="en-US" altLang="zh-CN" dirty="0"/>
              <a:t>IP</a:t>
            </a:r>
            <a:r>
              <a:rPr lang="zh-CN" altLang="en-US" dirty="0"/>
              <a:t>数据报中</a:t>
            </a:r>
          </a:p>
        </p:txBody>
      </p:sp>
      <p:sp>
        <p:nvSpPr>
          <p:cNvPr id="25" name="灯片编号占位符 6"/>
          <p:cNvSpPr>
            <a:spLocks noGrp="1"/>
          </p:cNvSpPr>
          <p:nvPr>
            <p:ph type="sldNum" sz="quarter" idx="12"/>
          </p:nvPr>
        </p:nvSpPr>
        <p:spPr/>
        <p:txBody>
          <a:bodyPr/>
          <a:lstStyle/>
          <a:p>
            <a:fld id="{8E7F7E67-0553-4114-BA89-DC2E1810A6F2}" type="slidenum">
              <a:rPr lang="en-US" altLang="zh-CN"/>
              <a:t>25</a:t>
            </a:fld>
            <a:endParaRPr lang="en-US" altLang="zh-CN"/>
          </a:p>
        </p:txBody>
      </p:sp>
      <p:grpSp>
        <p:nvGrpSpPr>
          <p:cNvPr id="2" name="组合 1"/>
          <p:cNvGrpSpPr/>
          <p:nvPr/>
        </p:nvGrpSpPr>
        <p:grpSpPr>
          <a:xfrm>
            <a:off x="2147977" y="2276872"/>
            <a:ext cx="7896046" cy="3887788"/>
            <a:chOff x="2208783" y="2169046"/>
            <a:chExt cx="7896046" cy="3887788"/>
          </a:xfrm>
        </p:grpSpPr>
        <p:sp>
          <p:nvSpPr>
            <p:cNvPr id="526365" name="Freeform 29"/>
            <p:cNvSpPr/>
            <p:nvPr/>
          </p:nvSpPr>
          <p:spPr bwMode="auto">
            <a:xfrm flipV="1">
              <a:off x="2281808" y="3504133"/>
              <a:ext cx="7775575" cy="1219200"/>
            </a:xfrm>
            <a:custGeom>
              <a:avLst/>
              <a:gdLst>
                <a:gd name="T0" fmla="*/ 0 w 4898"/>
                <a:gd name="T1" fmla="*/ 768 h 768"/>
                <a:gd name="T2" fmla="*/ 1274 w 4898"/>
                <a:gd name="T3" fmla="*/ 0 h 768"/>
                <a:gd name="T4" fmla="*/ 2269 w 4898"/>
                <a:gd name="T5" fmla="*/ 0 h 768"/>
                <a:gd name="T6" fmla="*/ 4898 w 4898"/>
                <a:gd name="T7" fmla="*/ 768 h 768"/>
              </a:gdLst>
              <a:ahLst/>
              <a:cxnLst>
                <a:cxn ang="0">
                  <a:pos x="T0" y="T1"/>
                </a:cxn>
                <a:cxn ang="0">
                  <a:pos x="T2" y="T3"/>
                </a:cxn>
                <a:cxn ang="0">
                  <a:pos x="T4" y="T5"/>
                </a:cxn>
                <a:cxn ang="0">
                  <a:pos x="T6" y="T7"/>
                </a:cxn>
              </a:cxnLst>
              <a:rect l="0" t="0" r="r" b="b"/>
              <a:pathLst>
                <a:path w="4898" h="768">
                  <a:moveTo>
                    <a:pt x="0" y="768"/>
                  </a:moveTo>
                  <a:lnTo>
                    <a:pt x="1274" y="0"/>
                  </a:lnTo>
                  <a:lnTo>
                    <a:pt x="2269" y="0"/>
                  </a:lnTo>
                  <a:lnTo>
                    <a:pt x="4898" y="768"/>
                  </a:lnTo>
                </a:path>
              </a:pathLst>
            </a:custGeom>
            <a:noFill/>
            <a:ln w="9525" cap="flat" cmpd="sng">
              <a:solidFill>
                <a:srgbClr val="333399"/>
              </a:solidFill>
              <a:prstDash val="solid"/>
              <a:round/>
              <a:headEnd type="none" w="med" len="med"/>
              <a:tailEnd type="none" w="med" len="med"/>
            </a:ln>
            <a:effectLst/>
          </p:spPr>
          <p:txBody>
            <a:bodyPr anchor="ctr"/>
            <a:lstStyle/>
            <a:p>
              <a:endParaRPr lang="zh-CN" altLang="en-US">
                <a:latin typeface="+mn-lt"/>
                <a:ea typeface="微软雅黑 Light" panose="020B0502040204020203" pitchFamily="34" charset="-122"/>
              </a:endParaRPr>
            </a:p>
          </p:txBody>
        </p:sp>
        <p:sp>
          <p:nvSpPr>
            <p:cNvPr id="526344" name="Rectangle 8"/>
            <p:cNvSpPr>
              <a:spLocks noChangeArrowheads="1"/>
            </p:cNvSpPr>
            <p:nvPr/>
          </p:nvSpPr>
          <p:spPr bwMode="auto">
            <a:xfrm>
              <a:off x="2715195" y="4721746"/>
              <a:ext cx="1584325" cy="504825"/>
            </a:xfrm>
            <a:prstGeom prst="rect">
              <a:avLst/>
            </a:prstGeom>
            <a:noFill/>
            <a:ln w="19050" algn="ctr">
              <a:solidFill>
                <a:srgbClr val="333399"/>
              </a:solidFill>
              <a:miter lim="800000"/>
            </a:ln>
            <a:effectLst/>
          </p:spPr>
          <p:txBody>
            <a:bodyPr wrap="none" anchor="ctr"/>
            <a:lstStyle/>
            <a:p>
              <a:pPr algn="ctr"/>
              <a:r>
                <a:rPr lang="en-US" altLang="zh-CN" sz="2400" dirty="0">
                  <a:latin typeface="+mn-lt"/>
                  <a:ea typeface="微软雅黑 Light" panose="020B0502040204020203" pitchFamily="34" charset="-122"/>
                </a:rPr>
                <a:t>IP</a:t>
              </a:r>
              <a:r>
                <a:rPr lang="zh-CN" altLang="en-US" sz="2400" dirty="0">
                  <a:latin typeface="+mn-lt"/>
                  <a:ea typeface="微软雅黑 Light" panose="020B0502040204020203" pitchFamily="34" charset="-122"/>
                </a:rPr>
                <a:t>首部</a:t>
              </a:r>
            </a:p>
          </p:txBody>
        </p:sp>
        <p:sp>
          <p:nvSpPr>
            <p:cNvPr id="526345" name="Rectangle 9"/>
            <p:cNvSpPr>
              <a:spLocks noChangeArrowheads="1"/>
            </p:cNvSpPr>
            <p:nvPr/>
          </p:nvSpPr>
          <p:spPr bwMode="auto">
            <a:xfrm>
              <a:off x="4299520" y="4721746"/>
              <a:ext cx="1584325" cy="504825"/>
            </a:xfrm>
            <a:prstGeom prst="rect">
              <a:avLst/>
            </a:prstGeom>
            <a:noFill/>
            <a:ln w="19050" algn="ctr">
              <a:solidFill>
                <a:srgbClr val="333399"/>
              </a:solidFill>
              <a:miter lim="800000"/>
            </a:ln>
            <a:effectLst/>
          </p:spPr>
          <p:txBody>
            <a:bodyPr wrap="none" anchor="ctr"/>
            <a:lstStyle/>
            <a:p>
              <a:pPr algn="ctr"/>
              <a:r>
                <a:rPr lang="en-US" altLang="zh-CN" sz="2400" dirty="0">
                  <a:latin typeface="+mn-lt"/>
                  <a:ea typeface="微软雅黑 Light" panose="020B0502040204020203" pitchFamily="34" charset="-122"/>
                </a:rPr>
                <a:t>UDP</a:t>
              </a:r>
              <a:r>
                <a:rPr lang="zh-CN" altLang="en-US" sz="2400" dirty="0">
                  <a:latin typeface="+mn-lt"/>
                  <a:ea typeface="微软雅黑 Light" panose="020B0502040204020203" pitchFamily="34" charset="-122"/>
                </a:rPr>
                <a:t>首部</a:t>
              </a:r>
            </a:p>
          </p:txBody>
        </p:sp>
        <p:sp>
          <p:nvSpPr>
            <p:cNvPr id="526346" name="Rectangle 10"/>
            <p:cNvSpPr>
              <a:spLocks noChangeArrowheads="1"/>
            </p:cNvSpPr>
            <p:nvPr/>
          </p:nvSpPr>
          <p:spPr bwMode="auto">
            <a:xfrm>
              <a:off x="5883844" y="4721746"/>
              <a:ext cx="3600450" cy="504825"/>
            </a:xfrm>
            <a:prstGeom prst="rect">
              <a:avLst/>
            </a:prstGeom>
            <a:noFill/>
            <a:ln w="19050" algn="ctr">
              <a:solidFill>
                <a:srgbClr val="333399"/>
              </a:solidFill>
              <a:miter lim="800000"/>
            </a:ln>
            <a:effectLst/>
          </p:spPr>
          <p:txBody>
            <a:bodyPr wrap="none" anchor="ctr"/>
            <a:lstStyle/>
            <a:p>
              <a:pPr algn="ctr"/>
              <a:r>
                <a:rPr lang="en-US" altLang="zh-CN" sz="2400" dirty="0">
                  <a:latin typeface="+mn-lt"/>
                  <a:ea typeface="微软雅黑 Light" panose="020B0502040204020203" pitchFamily="34" charset="-122"/>
                </a:rPr>
                <a:t>UDP</a:t>
              </a:r>
              <a:r>
                <a:rPr lang="zh-CN" altLang="en-US" sz="2400" dirty="0">
                  <a:latin typeface="+mn-lt"/>
                  <a:ea typeface="微软雅黑 Light" panose="020B0502040204020203" pitchFamily="34" charset="-122"/>
                </a:rPr>
                <a:t>数据</a:t>
              </a:r>
            </a:p>
          </p:txBody>
        </p:sp>
        <p:sp>
          <p:nvSpPr>
            <p:cNvPr id="526348" name="Line 12"/>
            <p:cNvSpPr>
              <a:spLocks noChangeShapeType="1"/>
            </p:cNvSpPr>
            <p:nvPr/>
          </p:nvSpPr>
          <p:spPr bwMode="auto">
            <a:xfrm>
              <a:off x="2715194" y="5228158"/>
              <a:ext cx="0" cy="79216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526349" name="Line 13"/>
            <p:cNvSpPr>
              <a:spLocks noChangeShapeType="1"/>
            </p:cNvSpPr>
            <p:nvPr/>
          </p:nvSpPr>
          <p:spPr bwMode="auto">
            <a:xfrm>
              <a:off x="9484294" y="5228158"/>
              <a:ext cx="0" cy="79216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526350" name="Line 14"/>
            <p:cNvSpPr>
              <a:spLocks noChangeShapeType="1"/>
            </p:cNvSpPr>
            <p:nvPr/>
          </p:nvSpPr>
          <p:spPr bwMode="auto">
            <a:xfrm>
              <a:off x="4299519" y="5226571"/>
              <a:ext cx="0" cy="36036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526351" name="Line 15"/>
            <p:cNvSpPr>
              <a:spLocks noChangeShapeType="1"/>
            </p:cNvSpPr>
            <p:nvPr/>
          </p:nvSpPr>
          <p:spPr bwMode="auto">
            <a:xfrm>
              <a:off x="2715194" y="5840933"/>
              <a:ext cx="6769100"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526352" name="Line 16"/>
            <p:cNvSpPr>
              <a:spLocks noChangeShapeType="1"/>
            </p:cNvSpPr>
            <p:nvPr/>
          </p:nvSpPr>
          <p:spPr bwMode="auto">
            <a:xfrm>
              <a:off x="4299520" y="5515495"/>
              <a:ext cx="5184775"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mn-lt"/>
                <a:ea typeface="微软雅黑 Light" panose="020B0502040204020203" pitchFamily="34" charset="-122"/>
              </a:endParaRPr>
            </a:p>
          </p:txBody>
        </p:sp>
        <p:sp>
          <p:nvSpPr>
            <p:cNvPr id="526353" name="Text Box 17"/>
            <p:cNvSpPr txBox="1">
              <a:spLocks noChangeArrowheads="1"/>
            </p:cNvSpPr>
            <p:nvPr/>
          </p:nvSpPr>
          <p:spPr bwMode="auto">
            <a:xfrm>
              <a:off x="5450457" y="5659959"/>
              <a:ext cx="1185862"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a:latin typeface="+mn-lt"/>
                  <a:ea typeface="微软雅黑 Light" panose="020B0502040204020203" pitchFamily="34" charset="-122"/>
                </a:rPr>
                <a:t>IP</a:t>
              </a:r>
              <a:r>
                <a:rPr lang="zh-CN" altLang="en-US">
                  <a:latin typeface="+mn-lt"/>
                  <a:ea typeface="微软雅黑 Light" panose="020B0502040204020203" pitchFamily="34" charset="-122"/>
                </a:rPr>
                <a:t>数据报</a:t>
              </a:r>
            </a:p>
          </p:txBody>
        </p:sp>
        <p:sp>
          <p:nvSpPr>
            <p:cNvPr id="526354" name="Text Box 18"/>
            <p:cNvSpPr txBox="1">
              <a:spLocks noChangeArrowheads="1"/>
            </p:cNvSpPr>
            <p:nvPr/>
          </p:nvSpPr>
          <p:spPr bwMode="auto">
            <a:xfrm>
              <a:off x="6526782" y="5299596"/>
              <a:ext cx="1484312"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a:latin typeface="+mn-lt"/>
                  <a:ea typeface="微软雅黑 Light" panose="020B0502040204020203" pitchFamily="34" charset="-122"/>
                </a:rPr>
                <a:t>UDP</a:t>
              </a:r>
              <a:r>
                <a:rPr lang="zh-CN" altLang="en-US">
                  <a:latin typeface="+mn-lt"/>
                  <a:ea typeface="微软雅黑 Light" panose="020B0502040204020203" pitchFamily="34" charset="-122"/>
                </a:rPr>
                <a:t>数据报</a:t>
              </a:r>
            </a:p>
          </p:txBody>
        </p:sp>
        <p:sp>
          <p:nvSpPr>
            <p:cNvPr id="526355" name="Rectangle 19"/>
            <p:cNvSpPr>
              <a:spLocks noChangeArrowheads="1"/>
            </p:cNvSpPr>
            <p:nvPr/>
          </p:nvSpPr>
          <p:spPr bwMode="auto">
            <a:xfrm>
              <a:off x="2280220" y="2492896"/>
              <a:ext cx="3889375" cy="504825"/>
            </a:xfrm>
            <a:prstGeom prst="rect">
              <a:avLst/>
            </a:prstGeom>
            <a:noFill/>
            <a:ln w="19050" algn="ctr">
              <a:solidFill>
                <a:srgbClr val="333399"/>
              </a:solidFill>
              <a:miter lim="800000"/>
            </a:ln>
            <a:effectLst/>
          </p:spPr>
          <p:txBody>
            <a:bodyPr wrap="none" anchor="ctr"/>
            <a:lstStyle/>
            <a:p>
              <a:pPr algn="ctr"/>
              <a:r>
                <a:rPr lang="zh-CN" altLang="en-US" sz="2400" dirty="0">
                  <a:latin typeface="+mn-lt"/>
                  <a:ea typeface="微软雅黑 Light" panose="020B0502040204020203" pitchFamily="34" charset="-122"/>
                </a:rPr>
                <a:t>源端口号</a:t>
              </a:r>
            </a:p>
          </p:txBody>
        </p:sp>
        <p:sp>
          <p:nvSpPr>
            <p:cNvPr id="526357" name="Rectangle 21"/>
            <p:cNvSpPr>
              <a:spLocks noChangeArrowheads="1"/>
            </p:cNvSpPr>
            <p:nvPr/>
          </p:nvSpPr>
          <p:spPr bwMode="auto">
            <a:xfrm>
              <a:off x="6168008" y="2492896"/>
              <a:ext cx="3887787" cy="504825"/>
            </a:xfrm>
            <a:prstGeom prst="rect">
              <a:avLst/>
            </a:prstGeom>
            <a:noFill/>
            <a:ln w="19050" algn="ctr">
              <a:solidFill>
                <a:srgbClr val="333399"/>
              </a:solidFill>
              <a:miter lim="800000"/>
            </a:ln>
            <a:effectLst/>
          </p:spPr>
          <p:txBody>
            <a:bodyPr wrap="none" anchor="ctr"/>
            <a:lstStyle/>
            <a:p>
              <a:pPr algn="ctr"/>
              <a:r>
                <a:rPr lang="zh-CN" altLang="en-US" sz="2400" dirty="0">
                  <a:latin typeface="+mn-lt"/>
                  <a:ea typeface="微软雅黑 Light" panose="020B0502040204020203" pitchFamily="34" charset="-122"/>
                </a:rPr>
                <a:t>目的端口号</a:t>
              </a:r>
            </a:p>
          </p:txBody>
        </p:sp>
        <p:sp>
          <p:nvSpPr>
            <p:cNvPr id="526358" name="Text Box 22"/>
            <p:cNvSpPr txBox="1">
              <a:spLocks noChangeArrowheads="1"/>
            </p:cNvSpPr>
            <p:nvPr/>
          </p:nvSpPr>
          <p:spPr bwMode="auto">
            <a:xfrm>
              <a:off x="2208783" y="2169046"/>
              <a:ext cx="31290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mn-lt"/>
                  <a:ea typeface="微软雅黑 Light" panose="020B0502040204020203" pitchFamily="34" charset="-122"/>
                </a:rPr>
                <a:t>0</a:t>
              </a:r>
            </a:p>
          </p:txBody>
        </p:sp>
        <p:sp>
          <p:nvSpPr>
            <p:cNvPr id="526360" name="Text Box 24"/>
            <p:cNvSpPr txBox="1">
              <a:spLocks noChangeArrowheads="1"/>
            </p:cNvSpPr>
            <p:nvPr/>
          </p:nvSpPr>
          <p:spPr bwMode="auto">
            <a:xfrm>
              <a:off x="5737794" y="2169046"/>
              <a:ext cx="76174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latin typeface="+mn-lt"/>
                  <a:ea typeface="微软雅黑 Light" panose="020B0502040204020203" pitchFamily="34" charset="-122"/>
                </a:rPr>
                <a:t>15 16</a:t>
              </a:r>
            </a:p>
          </p:txBody>
        </p:sp>
        <p:sp>
          <p:nvSpPr>
            <p:cNvPr id="526361" name="Text Box 25"/>
            <p:cNvSpPr txBox="1">
              <a:spLocks noChangeArrowheads="1"/>
            </p:cNvSpPr>
            <p:nvPr/>
          </p:nvSpPr>
          <p:spPr bwMode="auto">
            <a:xfrm>
              <a:off x="9663683" y="2169046"/>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latin typeface="+mn-lt"/>
                  <a:ea typeface="微软雅黑 Light" panose="020B0502040204020203" pitchFamily="34" charset="-122"/>
                </a:rPr>
                <a:t>31</a:t>
              </a:r>
            </a:p>
          </p:txBody>
        </p:sp>
        <p:sp>
          <p:nvSpPr>
            <p:cNvPr id="526366" name="Rectangle 30"/>
            <p:cNvSpPr>
              <a:spLocks noChangeArrowheads="1"/>
            </p:cNvSpPr>
            <p:nvPr/>
          </p:nvSpPr>
          <p:spPr bwMode="auto">
            <a:xfrm>
              <a:off x="2281808" y="2999309"/>
              <a:ext cx="3889375" cy="504825"/>
            </a:xfrm>
            <a:prstGeom prst="rect">
              <a:avLst/>
            </a:prstGeom>
            <a:noFill/>
            <a:ln w="19050" algn="ctr">
              <a:solidFill>
                <a:srgbClr val="333399"/>
              </a:solidFill>
              <a:miter lim="800000"/>
            </a:ln>
            <a:effectLst/>
          </p:spPr>
          <p:txBody>
            <a:bodyPr wrap="none" anchor="ctr"/>
            <a:lstStyle/>
            <a:p>
              <a:pPr algn="ctr"/>
              <a:r>
                <a:rPr lang="zh-CN" altLang="en-US" sz="2400" dirty="0">
                  <a:latin typeface="+mn-lt"/>
                  <a:ea typeface="微软雅黑 Light" panose="020B0502040204020203" pitchFamily="34" charset="-122"/>
                </a:rPr>
                <a:t>报文长度</a:t>
              </a:r>
              <a:r>
                <a:rPr lang="en-US" altLang="zh-CN" sz="2400" dirty="0">
                  <a:latin typeface="+mn-lt"/>
                  <a:ea typeface="微软雅黑 Light" panose="020B0502040204020203" pitchFamily="34" charset="-122"/>
                </a:rPr>
                <a:t>(</a:t>
              </a:r>
              <a:r>
                <a:rPr lang="zh-CN" altLang="en-US" sz="2400" dirty="0">
                  <a:latin typeface="+mn-lt"/>
                  <a:ea typeface="微软雅黑 Light" panose="020B0502040204020203" pitchFamily="34" charset="-122"/>
                </a:rPr>
                <a:t>字节</a:t>
              </a:r>
              <a:r>
                <a:rPr lang="en-US" altLang="zh-CN" sz="2400" dirty="0">
                  <a:latin typeface="+mn-lt"/>
                  <a:ea typeface="微软雅黑 Light" panose="020B0502040204020203" pitchFamily="34" charset="-122"/>
                </a:rPr>
                <a:t>)</a:t>
              </a:r>
            </a:p>
          </p:txBody>
        </p:sp>
        <p:sp>
          <p:nvSpPr>
            <p:cNvPr id="526367" name="Rectangle 31"/>
            <p:cNvSpPr>
              <a:spLocks noChangeArrowheads="1"/>
            </p:cNvSpPr>
            <p:nvPr/>
          </p:nvSpPr>
          <p:spPr bwMode="auto">
            <a:xfrm>
              <a:off x="6169594" y="2999309"/>
              <a:ext cx="3887788" cy="504825"/>
            </a:xfrm>
            <a:prstGeom prst="rect">
              <a:avLst/>
            </a:prstGeom>
            <a:noFill/>
            <a:ln w="19050" algn="ctr">
              <a:solidFill>
                <a:srgbClr val="333399"/>
              </a:solidFill>
              <a:miter lim="800000"/>
            </a:ln>
            <a:effectLst/>
          </p:spPr>
          <p:txBody>
            <a:bodyPr wrap="none" anchor="ctr"/>
            <a:lstStyle/>
            <a:p>
              <a:pPr algn="ctr"/>
              <a:r>
                <a:rPr lang="zh-CN" altLang="en-US" sz="2400">
                  <a:latin typeface="+mn-lt"/>
                  <a:ea typeface="微软雅黑 Light" panose="020B0502040204020203" pitchFamily="34" charset="-122"/>
                </a:rPr>
                <a:t>校验和</a:t>
              </a: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0434" name="Rectangle 2"/>
          <p:cNvSpPr>
            <a:spLocks noGrp="1" noChangeArrowheads="1"/>
          </p:cNvSpPr>
          <p:nvPr>
            <p:ph type="title"/>
          </p:nvPr>
        </p:nvSpPr>
        <p:spPr/>
        <p:txBody>
          <a:bodyPr/>
          <a:lstStyle/>
          <a:p>
            <a:r>
              <a:rPr lang="en-US" altLang="zh-CN" dirty="0"/>
              <a:t>UDP</a:t>
            </a:r>
            <a:r>
              <a:rPr lang="zh-CN" altLang="en-US" dirty="0"/>
              <a:t>报头格式</a:t>
            </a:r>
            <a:endParaRPr lang="en-US" altLang="zh-CN" dirty="0"/>
          </a:p>
        </p:txBody>
      </p:sp>
      <p:sp>
        <p:nvSpPr>
          <p:cNvPr id="530435" name="Rectangle 3"/>
          <p:cNvSpPr>
            <a:spLocks noGrp="1" noChangeArrowheads="1"/>
          </p:cNvSpPr>
          <p:nvPr>
            <p:ph idx="1"/>
          </p:nvPr>
        </p:nvSpPr>
        <p:spPr>
          <a:xfrm>
            <a:off x="334434" y="2708920"/>
            <a:ext cx="11523133" cy="3780781"/>
          </a:xfrm>
        </p:spPr>
        <p:txBody>
          <a:bodyPr/>
          <a:lstStyle/>
          <a:p>
            <a:pPr>
              <a:lnSpc>
                <a:spcPct val="120000"/>
              </a:lnSpc>
            </a:pPr>
            <a:r>
              <a:rPr lang="en-US" altLang="zh-CN" dirty="0">
                <a:latin typeface="+mn-lt"/>
              </a:rPr>
              <a:t>16</a:t>
            </a:r>
            <a:r>
              <a:rPr lang="zh-CN" altLang="en-US" dirty="0">
                <a:latin typeface="+mn-lt"/>
              </a:rPr>
              <a:t>位</a:t>
            </a:r>
            <a:r>
              <a:rPr lang="en-US" altLang="zh-CN" dirty="0">
                <a:latin typeface="+mn-lt"/>
              </a:rPr>
              <a:t>UDP</a:t>
            </a:r>
            <a:r>
              <a:rPr lang="zh-CN" altLang="en-US" dirty="0">
                <a:latin typeface="+mn-lt"/>
              </a:rPr>
              <a:t>源端口号</a:t>
            </a:r>
            <a:r>
              <a:rPr lang="en-US" altLang="zh-CN" dirty="0">
                <a:latin typeface="+mn-lt"/>
              </a:rPr>
              <a:t>(Source Port)</a:t>
            </a:r>
            <a:r>
              <a:rPr lang="zh-CN" altLang="en-US" dirty="0">
                <a:latin typeface="+mn-lt"/>
              </a:rPr>
              <a:t>：该端口号作为接收进程返回数据时的目的端口</a:t>
            </a:r>
          </a:p>
          <a:p>
            <a:pPr lvl="1">
              <a:lnSpc>
                <a:spcPct val="120000"/>
              </a:lnSpc>
            </a:pPr>
            <a:r>
              <a:rPr lang="zh-CN" altLang="en-US" dirty="0">
                <a:latin typeface="+mn-lt"/>
              </a:rPr>
              <a:t>可选字段。若不选用，其值为</a:t>
            </a:r>
            <a:r>
              <a:rPr lang="en-US" altLang="zh-CN" dirty="0">
                <a:latin typeface="+mn-lt"/>
              </a:rPr>
              <a:t>0</a:t>
            </a:r>
            <a:endParaRPr lang="zh-CN" altLang="en-US" dirty="0">
              <a:latin typeface="+mn-lt"/>
            </a:endParaRPr>
          </a:p>
          <a:p>
            <a:pPr>
              <a:lnSpc>
                <a:spcPct val="120000"/>
              </a:lnSpc>
            </a:pPr>
            <a:r>
              <a:rPr lang="en-US" altLang="zh-CN" dirty="0">
                <a:latin typeface="+mn-lt"/>
              </a:rPr>
              <a:t>16</a:t>
            </a:r>
            <a:r>
              <a:rPr lang="zh-CN" altLang="en-US" dirty="0">
                <a:latin typeface="+mn-lt"/>
              </a:rPr>
              <a:t>位</a:t>
            </a:r>
            <a:r>
              <a:rPr lang="en-US" altLang="zh-CN" dirty="0">
                <a:latin typeface="+mn-lt"/>
              </a:rPr>
              <a:t>UDP</a:t>
            </a:r>
            <a:r>
              <a:rPr lang="zh-CN" altLang="en-US" dirty="0">
                <a:latin typeface="+mn-lt"/>
              </a:rPr>
              <a:t>目的端口号</a:t>
            </a:r>
            <a:r>
              <a:rPr lang="en-US" altLang="zh-CN" dirty="0">
                <a:latin typeface="+mn-lt"/>
              </a:rPr>
              <a:t>(Destination Port)</a:t>
            </a:r>
            <a:r>
              <a:rPr lang="zh-CN" altLang="en-US" dirty="0">
                <a:latin typeface="+mn-lt"/>
              </a:rPr>
              <a:t>：该端口号是作为接收主机内与特定应用进程相关联的地址</a:t>
            </a:r>
          </a:p>
        </p:txBody>
      </p:sp>
      <p:sp>
        <p:nvSpPr>
          <p:cNvPr id="14" name="灯片编号占位符 5"/>
          <p:cNvSpPr>
            <a:spLocks noGrp="1"/>
          </p:cNvSpPr>
          <p:nvPr>
            <p:ph type="sldNum" sz="quarter" idx="12"/>
          </p:nvPr>
        </p:nvSpPr>
        <p:spPr/>
        <p:txBody>
          <a:bodyPr/>
          <a:lstStyle/>
          <a:p>
            <a:fld id="{43C7CDF6-A31A-49A8-965F-8BBBA09516DF}" type="slidenum">
              <a:rPr lang="en-US" altLang="zh-CN"/>
              <a:t>26</a:t>
            </a:fld>
            <a:endParaRPr lang="en-US" altLang="zh-CN"/>
          </a:p>
        </p:txBody>
      </p:sp>
      <p:sp>
        <p:nvSpPr>
          <p:cNvPr id="13" name="Rectangle 5"/>
          <p:cNvSpPr>
            <a:spLocks noChangeArrowheads="1"/>
          </p:cNvSpPr>
          <p:nvPr/>
        </p:nvSpPr>
        <p:spPr bwMode="auto">
          <a:xfrm>
            <a:off x="2206626" y="1449389"/>
            <a:ext cx="3889375" cy="504825"/>
          </a:xfrm>
          <a:prstGeom prst="rect">
            <a:avLst/>
          </a:prstGeom>
          <a:noFill/>
          <a:ln w="19050" algn="ctr">
            <a:solidFill>
              <a:srgbClr val="333399"/>
            </a:solidFill>
            <a:miter lim="800000"/>
          </a:ln>
          <a:effectLst/>
        </p:spPr>
        <p:txBody>
          <a:bodyPr wrap="none" anchor="ctr"/>
          <a:lstStyle/>
          <a:p>
            <a:pPr algn="ctr"/>
            <a:r>
              <a:rPr lang="zh-CN" altLang="en-US" sz="2400">
                <a:latin typeface="微软雅黑 Light" panose="020B0502040204020203" pitchFamily="34" charset="-122"/>
                <a:ea typeface="微软雅黑 Light" panose="020B0502040204020203" pitchFamily="34" charset="-122"/>
              </a:rPr>
              <a:t>源端口号</a:t>
            </a:r>
          </a:p>
        </p:txBody>
      </p:sp>
      <p:sp>
        <p:nvSpPr>
          <p:cNvPr id="15" name="Rectangle 6"/>
          <p:cNvSpPr>
            <a:spLocks noChangeArrowheads="1"/>
          </p:cNvSpPr>
          <p:nvPr/>
        </p:nvSpPr>
        <p:spPr bwMode="auto">
          <a:xfrm>
            <a:off x="6094414" y="1449389"/>
            <a:ext cx="3887787" cy="504825"/>
          </a:xfrm>
          <a:prstGeom prst="rect">
            <a:avLst/>
          </a:prstGeom>
          <a:noFill/>
          <a:ln w="19050" algn="ctr">
            <a:solidFill>
              <a:srgbClr val="333399"/>
            </a:solidFill>
            <a:miter lim="800000"/>
          </a:ln>
          <a:effectLst/>
        </p:spPr>
        <p:txBody>
          <a:bodyPr wrap="none" anchor="ctr"/>
          <a:lstStyle/>
          <a:p>
            <a:pPr algn="ctr"/>
            <a:r>
              <a:rPr lang="zh-CN" altLang="en-US" sz="2400">
                <a:latin typeface="微软雅黑 Light" panose="020B0502040204020203" pitchFamily="34" charset="-122"/>
                <a:ea typeface="微软雅黑 Light" panose="020B0502040204020203" pitchFamily="34" charset="-122"/>
              </a:rPr>
              <a:t>目的端口号</a:t>
            </a:r>
          </a:p>
        </p:txBody>
      </p:sp>
      <p:sp>
        <p:nvSpPr>
          <p:cNvPr id="16" name="Text Box 7"/>
          <p:cNvSpPr txBox="1">
            <a:spLocks noChangeArrowheads="1"/>
          </p:cNvSpPr>
          <p:nvPr/>
        </p:nvSpPr>
        <p:spPr bwMode="auto">
          <a:xfrm>
            <a:off x="2135189" y="1125539"/>
            <a:ext cx="3254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latin typeface="微软雅黑 Light" panose="020B0502040204020203" pitchFamily="34" charset="-122"/>
                <a:ea typeface="微软雅黑 Light" panose="020B0502040204020203" pitchFamily="34" charset="-122"/>
              </a:rPr>
              <a:t>0</a:t>
            </a:r>
          </a:p>
        </p:txBody>
      </p:sp>
      <p:sp>
        <p:nvSpPr>
          <p:cNvPr id="17" name="Text Box 8"/>
          <p:cNvSpPr txBox="1">
            <a:spLocks noChangeArrowheads="1"/>
          </p:cNvSpPr>
          <p:nvPr/>
        </p:nvSpPr>
        <p:spPr bwMode="auto">
          <a:xfrm>
            <a:off x="5664200" y="1125539"/>
            <a:ext cx="74411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latin typeface="微软雅黑 Light" panose="020B0502040204020203" pitchFamily="34" charset="-122"/>
                <a:ea typeface="微软雅黑 Light" panose="020B0502040204020203" pitchFamily="34" charset="-122"/>
              </a:rPr>
              <a:t>15 16</a:t>
            </a:r>
          </a:p>
        </p:txBody>
      </p:sp>
      <p:sp>
        <p:nvSpPr>
          <p:cNvPr id="18" name="Text Box 9"/>
          <p:cNvSpPr txBox="1">
            <a:spLocks noChangeArrowheads="1"/>
          </p:cNvSpPr>
          <p:nvPr/>
        </p:nvSpPr>
        <p:spPr bwMode="auto">
          <a:xfrm>
            <a:off x="9590089" y="1125539"/>
            <a:ext cx="42672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latin typeface="微软雅黑 Light" panose="020B0502040204020203" pitchFamily="34" charset="-122"/>
                <a:ea typeface="微软雅黑 Light" panose="020B0502040204020203" pitchFamily="34" charset="-122"/>
              </a:rPr>
              <a:t>31</a:t>
            </a:r>
          </a:p>
        </p:txBody>
      </p:sp>
      <p:sp>
        <p:nvSpPr>
          <p:cNvPr id="19" name="Rectangle 10"/>
          <p:cNvSpPr>
            <a:spLocks noChangeArrowheads="1"/>
          </p:cNvSpPr>
          <p:nvPr/>
        </p:nvSpPr>
        <p:spPr bwMode="auto">
          <a:xfrm>
            <a:off x="2208214" y="1955801"/>
            <a:ext cx="3889375" cy="504825"/>
          </a:xfrm>
          <a:prstGeom prst="rect">
            <a:avLst/>
          </a:prstGeom>
          <a:noFill/>
          <a:ln w="19050" algn="ctr">
            <a:solidFill>
              <a:srgbClr val="333399"/>
            </a:solidFill>
            <a:miter lim="800000"/>
          </a:ln>
          <a:effectLst/>
        </p:spPr>
        <p:txBody>
          <a:bodyPr wrap="none" anchor="ctr"/>
          <a:lstStyle/>
          <a:p>
            <a:pPr algn="ctr"/>
            <a:r>
              <a:rPr lang="zh-CN" altLang="en-US" sz="2400">
                <a:latin typeface="微软雅黑 Light" panose="020B0502040204020203" pitchFamily="34" charset="-122"/>
                <a:ea typeface="微软雅黑 Light" panose="020B0502040204020203" pitchFamily="34" charset="-122"/>
              </a:rPr>
              <a:t>报文长度</a:t>
            </a:r>
            <a:r>
              <a:rPr lang="en-US" altLang="zh-CN" sz="2400">
                <a:latin typeface="微软雅黑 Light" panose="020B0502040204020203" pitchFamily="34" charset="-122"/>
                <a:ea typeface="微软雅黑 Light" panose="020B0502040204020203" pitchFamily="34" charset="-122"/>
              </a:rPr>
              <a:t>(</a:t>
            </a:r>
            <a:r>
              <a:rPr lang="zh-CN" altLang="en-US" sz="2400">
                <a:latin typeface="微软雅黑 Light" panose="020B0502040204020203" pitchFamily="34" charset="-122"/>
                <a:ea typeface="微软雅黑 Light" panose="020B0502040204020203" pitchFamily="34" charset="-122"/>
              </a:rPr>
              <a:t>字节</a:t>
            </a:r>
            <a:r>
              <a:rPr lang="en-US" altLang="zh-CN" sz="2400">
                <a:latin typeface="微软雅黑 Light" panose="020B0502040204020203" pitchFamily="34" charset="-122"/>
                <a:ea typeface="微软雅黑 Light" panose="020B0502040204020203" pitchFamily="34" charset="-122"/>
              </a:rPr>
              <a:t>)</a:t>
            </a:r>
          </a:p>
        </p:txBody>
      </p:sp>
      <p:sp>
        <p:nvSpPr>
          <p:cNvPr id="20" name="Rectangle 11"/>
          <p:cNvSpPr>
            <a:spLocks noChangeArrowheads="1"/>
          </p:cNvSpPr>
          <p:nvPr/>
        </p:nvSpPr>
        <p:spPr bwMode="auto">
          <a:xfrm>
            <a:off x="6096000" y="1955801"/>
            <a:ext cx="3887788" cy="504825"/>
          </a:xfrm>
          <a:prstGeom prst="rect">
            <a:avLst/>
          </a:prstGeom>
          <a:noFill/>
          <a:ln w="19050" algn="ctr">
            <a:solidFill>
              <a:srgbClr val="333399"/>
            </a:solidFill>
            <a:miter lim="800000"/>
          </a:ln>
          <a:effectLst/>
        </p:spPr>
        <p:txBody>
          <a:bodyPr wrap="none" anchor="ctr"/>
          <a:lstStyle/>
          <a:p>
            <a:pPr algn="ctr"/>
            <a:r>
              <a:rPr lang="zh-CN" altLang="en-US" sz="2400">
                <a:latin typeface="微软雅黑 Light" panose="020B0502040204020203" pitchFamily="34" charset="-122"/>
                <a:ea typeface="微软雅黑 Light" panose="020B0502040204020203" pitchFamily="34" charset="-122"/>
              </a:rPr>
              <a:t>校验和</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3362" name="Rectangle 2"/>
          <p:cNvSpPr>
            <a:spLocks noGrp="1" noChangeArrowheads="1"/>
          </p:cNvSpPr>
          <p:nvPr>
            <p:ph type="title"/>
          </p:nvPr>
        </p:nvSpPr>
        <p:spPr/>
        <p:txBody>
          <a:bodyPr/>
          <a:lstStyle/>
          <a:p>
            <a:r>
              <a:rPr lang="en-US" altLang="zh-CN" dirty="0"/>
              <a:t>UDP</a:t>
            </a:r>
            <a:r>
              <a:rPr lang="zh-CN" altLang="en-US" dirty="0"/>
              <a:t>报头格式</a:t>
            </a:r>
            <a:endParaRPr lang="en-US" altLang="zh-CN" dirty="0"/>
          </a:p>
        </p:txBody>
      </p:sp>
      <p:sp>
        <p:nvSpPr>
          <p:cNvPr id="783363" name="Rectangle 3"/>
          <p:cNvSpPr>
            <a:spLocks noGrp="1" noChangeArrowheads="1"/>
          </p:cNvSpPr>
          <p:nvPr>
            <p:ph idx="1"/>
          </p:nvPr>
        </p:nvSpPr>
        <p:spPr>
          <a:xfrm>
            <a:off x="334434" y="2636912"/>
            <a:ext cx="11523133" cy="3852789"/>
          </a:xfrm>
        </p:spPr>
        <p:txBody>
          <a:bodyPr/>
          <a:lstStyle/>
          <a:p>
            <a:pPr>
              <a:lnSpc>
                <a:spcPct val="120000"/>
              </a:lnSpc>
            </a:pPr>
            <a:r>
              <a:rPr lang="en-US" altLang="zh-CN" dirty="0">
                <a:latin typeface="+mn-lt"/>
              </a:rPr>
              <a:t>UDP</a:t>
            </a:r>
            <a:r>
              <a:rPr lang="zh-CN" altLang="en-US" dirty="0">
                <a:latin typeface="+mn-lt"/>
              </a:rPr>
              <a:t>数据报的长度</a:t>
            </a:r>
            <a:r>
              <a:rPr lang="en-US" altLang="zh-CN" dirty="0">
                <a:latin typeface="+mn-lt"/>
              </a:rPr>
              <a:t>(Length)</a:t>
            </a:r>
            <a:r>
              <a:rPr lang="zh-CN" altLang="en-US" dirty="0">
                <a:latin typeface="+mn-lt"/>
              </a:rPr>
              <a:t>：</a:t>
            </a:r>
            <a:r>
              <a:rPr lang="en-US" altLang="zh-CN" dirty="0">
                <a:latin typeface="+mn-lt"/>
              </a:rPr>
              <a:t>UDP</a:t>
            </a:r>
            <a:r>
              <a:rPr lang="zh-CN" altLang="en-US" dirty="0">
                <a:latin typeface="+mn-lt"/>
              </a:rPr>
              <a:t>长度字段指的是</a:t>
            </a:r>
            <a:r>
              <a:rPr lang="en-US" altLang="zh-CN" dirty="0">
                <a:latin typeface="+mn-lt"/>
              </a:rPr>
              <a:t>UDP</a:t>
            </a:r>
            <a:r>
              <a:rPr lang="zh-CN" altLang="en-US" dirty="0">
                <a:latin typeface="+mn-lt"/>
              </a:rPr>
              <a:t>首部和</a:t>
            </a:r>
            <a:r>
              <a:rPr lang="en-US" altLang="zh-CN" dirty="0">
                <a:latin typeface="+mn-lt"/>
              </a:rPr>
              <a:t>UDP</a:t>
            </a:r>
            <a:r>
              <a:rPr lang="zh-CN" altLang="en-US" dirty="0">
                <a:latin typeface="+mn-lt"/>
              </a:rPr>
              <a:t>数据的字节长度。</a:t>
            </a:r>
            <a:r>
              <a:rPr lang="en-US" altLang="zh-CN" dirty="0">
                <a:latin typeface="+mn-lt"/>
              </a:rPr>
              <a:t>UDP</a:t>
            </a:r>
            <a:r>
              <a:rPr lang="zh-CN" altLang="en-US" dirty="0">
                <a:latin typeface="+mn-lt"/>
              </a:rPr>
              <a:t>数据报长度是</a:t>
            </a:r>
            <a:r>
              <a:rPr lang="en-US" altLang="zh-CN" dirty="0">
                <a:latin typeface="+mn-lt"/>
              </a:rPr>
              <a:t>IP</a:t>
            </a:r>
            <a:r>
              <a:rPr lang="zh-CN" altLang="en-US" dirty="0">
                <a:latin typeface="+mn-lt"/>
              </a:rPr>
              <a:t>全长减去</a:t>
            </a:r>
            <a:r>
              <a:rPr lang="en-US" altLang="zh-CN" dirty="0">
                <a:latin typeface="+mn-lt"/>
              </a:rPr>
              <a:t>IP</a:t>
            </a:r>
            <a:r>
              <a:rPr lang="zh-CN" altLang="en-US" dirty="0">
                <a:latin typeface="+mn-lt"/>
              </a:rPr>
              <a:t>首部的长度。最小值是</a:t>
            </a:r>
            <a:r>
              <a:rPr lang="en-US" altLang="zh-CN" dirty="0">
                <a:latin typeface="+mn-lt"/>
              </a:rPr>
              <a:t>8</a:t>
            </a:r>
            <a:endParaRPr lang="zh-CN" altLang="en-US" dirty="0">
              <a:latin typeface="+mn-lt"/>
            </a:endParaRPr>
          </a:p>
          <a:p>
            <a:pPr>
              <a:lnSpc>
                <a:spcPct val="120000"/>
              </a:lnSpc>
            </a:pPr>
            <a:r>
              <a:rPr lang="en-US" altLang="zh-CN" dirty="0">
                <a:latin typeface="+mn-lt"/>
              </a:rPr>
              <a:t>UDP</a:t>
            </a:r>
            <a:r>
              <a:rPr lang="zh-CN" altLang="en-US" dirty="0">
                <a:latin typeface="+mn-lt"/>
              </a:rPr>
              <a:t>检验和</a:t>
            </a:r>
            <a:r>
              <a:rPr lang="en-US" altLang="zh-CN" dirty="0">
                <a:latin typeface="+mn-lt"/>
              </a:rPr>
              <a:t>(Checksum)</a:t>
            </a:r>
            <a:r>
              <a:rPr lang="zh-CN" altLang="en-US" dirty="0">
                <a:latin typeface="+mn-lt"/>
              </a:rPr>
              <a:t>：可选字段，用来检验传输过程中是否出现了错误。</a:t>
            </a:r>
            <a:r>
              <a:rPr lang="en-US" altLang="zh-CN" dirty="0">
                <a:latin typeface="+mn-lt"/>
              </a:rPr>
              <a:t>UDP</a:t>
            </a:r>
            <a:r>
              <a:rPr lang="zh-CN" altLang="en-US" dirty="0">
                <a:latin typeface="+mn-lt"/>
              </a:rPr>
              <a:t>检验和覆盖伪首部、 </a:t>
            </a:r>
            <a:r>
              <a:rPr lang="en-US" altLang="zh-CN" dirty="0">
                <a:latin typeface="+mn-lt"/>
              </a:rPr>
              <a:t>UDP</a:t>
            </a:r>
            <a:r>
              <a:rPr lang="zh-CN" altLang="en-US" dirty="0">
                <a:latin typeface="+mn-lt"/>
              </a:rPr>
              <a:t>首部和</a:t>
            </a:r>
            <a:r>
              <a:rPr lang="en-US" altLang="zh-CN" dirty="0">
                <a:latin typeface="+mn-lt"/>
              </a:rPr>
              <a:t>UDP</a:t>
            </a:r>
            <a:r>
              <a:rPr lang="zh-CN" altLang="en-US" dirty="0">
                <a:latin typeface="+mn-lt"/>
              </a:rPr>
              <a:t>数据</a:t>
            </a:r>
          </a:p>
        </p:txBody>
      </p:sp>
      <p:sp>
        <p:nvSpPr>
          <p:cNvPr id="14" name="灯片编号占位符 5"/>
          <p:cNvSpPr>
            <a:spLocks noGrp="1"/>
          </p:cNvSpPr>
          <p:nvPr>
            <p:ph type="sldNum" sz="quarter" idx="12"/>
          </p:nvPr>
        </p:nvSpPr>
        <p:spPr/>
        <p:txBody>
          <a:bodyPr/>
          <a:lstStyle/>
          <a:p>
            <a:fld id="{299DE113-90BD-4B4C-928D-3DAE95BAB017}" type="slidenum">
              <a:rPr lang="en-US" altLang="zh-CN"/>
              <a:t>27</a:t>
            </a:fld>
            <a:endParaRPr lang="en-US" altLang="zh-CN"/>
          </a:p>
        </p:txBody>
      </p:sp>
      <p:sp>
        <p:nvSpPr>
          <p:cNvPr id="783365" name="Rectangle 5"/>
          <p:cNvSpPr>
            <a:spLocks noChangeArrowheads="1"/>
          </p:cNvSpPr>
          <p:nvPr/>
        </p:nvSpPr>
        <p:spPr bwMode="auto">
          <a:xfrm>
            <a:off x="2206626" y="1449389"/>
            <a:ext cx="3889375" cy="504825"/>
          </a:xfrm>
          <a:prstGeom prst="rect">
            <a:avLst/>
          </a:prstGeom>
          <a:noFill/>
          <a:ln w="19050" algn="ctr">
            <a:solidFill>
              <a:srgbClr val="333399"/>
            </a:solidFill>
            <a:miter lim="800000"/>
          </a:ln>
          <a:effectLst/>
        </p:spPr>
        <p:txBody>
          <a:bodyPr wrap="none" anchor="ctr"/>
          <a:lstStyle/>
          <a:p>
            <a:pPr algn="ctr"/>
            <a:r>
              <a:rPr lang="zh-CN" altLang="en-US" sz="2400">
                <a:latin typeface="微软雅黑 Light" panose="020B0502040204020203" pitchFamily="34" charset="-122"/>
                <a:ea typeface="微软雅黑 Light" panose="020B0502040204020203" pitchFamily="34" charset="-122"/>
              </a:rPr>
              <a:t>源端口号</a:t>
            </a:r>
          </a:p>
        </p:txBody>
      </p:sp>
      <p:sp>
        <p:nvSpPr>
          <p:cNvPr id="783366" name="Rectangle 6"/>
          <p:cNvSpPr>
            <a:spLocks noChangeArrowheads="1"/>
          </p:cNvSpPr>
          <p:nvPr/>
        </p:nvSpPr>
        <p:spPr bwMode="auto">
          <a:xfrm>
            <a:off x="6094414" y="1449389"/>
            <a:ext cx="3887787" cy="504825"/>
          </a:xfrm>
          <a:prstGeom prst="rect">
            <a:avLst/>
          </a:prstGeom>
          <a:noFill/>
          <a:ln w="19050" algn="ctr">
            <a:solidFill>
              <a:srgbClr val="333399"/>
            </a:solidFill>
            <a:miter lim="800000"/>
          </a:ln>
          <a:effectLst/>
        </p:spPr>
        <p:txBody>
          <a:bodyPr wrap="none" anchor="ctr"/>
          <a:lstStyle/>
          <a:p>
            <a:pPr algn="ctr"/>
            <a:r>
              <a:rPr lang="zh-CN" altLang="en-US" sz="2400" dirty="0">
                <a:latin typeface="微软雅黑 Light" panose="020B0502040204020203" pitchFamily="34" charset="-122"/>
                <a:ea typeface="微软雅黑 Light" panose="020B0502040204020203" pitchFamily="34" charset="-122"/>
              </a:rPr>
              <a:t>目的端口号</a:t>
            </a:r>
          </a:p>
        </p:txBody>
      </p:sp>
      <p:sp>
        <p:nvSpPr>
          <p:cNvPr id="783367" name="Text Box 7"/>
          <p:cNvSpPr txBox="1">
            <a:spLocks noChangeArrowheads="1"/>
          </p:cNvSpPr>
          <p:nvPr/>
        </p:nvSpPr>
        <p:spPr bwMode="auto">
          <a:xfrm>
            <a:off x="2135189" y="1125539"/>
            <a:ext cx="3254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latin typeface="微软雅黑 Light" panose="020B0502040204020203" pitchFamily="34" charset="-122"/>
                <a:ea typeface="微软雅黑 Light" panose="020B0502040204020203" pitchFamily="34" charset="-122"/>
              </a:rPr>
              <a:t>0</a:t>
            </a:r>
          </a:p>
        </p:txBody>
      </p:sp>
      <p:sp>
        <p:nvSpPr>
          <p:cNvPr id="783368" name="Text Box 8"/>
          <p:cNvSpPr txBox="1">
            <a:spLocks noChangeArrowheads="1"/>
          </p:cNvSpPr>
          <p:nvPr/>
        </p:nvSpPr>
        <p:spPr bwMode="auto">
          <a:xfrm>
            <a:off x="5664200" y="1125539"/>
            <a:ext cx="74411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latin typeface="微软雅黑 Light" panose="020B0502040204020203" pitchFamily="34" charset="-122"/>
                <a:ea typeface="微软雅黑 Light" panose="020B0502040204020203" pitchFamily="34" charset="-122"/>
              </a:rPr>
              <a:t>15 16</a:t>
            </a:r>
          </a:p>
        </p:txBody>
      </p:sp>
      <p:sp>
        <p:nvSpPr>
          <p:cNvPr id="783369" name="Text Box 9"/>
          <p:cNvSpPr txBox="1">
            <a:spLocks noChangeArrowheads="1"/>
          </p:cNvSpPr>
          <p:nvPr/>
        </p:nvSpPr>
        <p:spPr bwMode="auto">
          <a:xfrm>
            <a:off x="9590089" y="1125539"/>
            <a:ext cx="42672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latin typeface="微软雅黑 Light" panose="020B0502040204020203" pitchFamily="34" charset="-122"/>
                <a:ea typeface="微软雅黑 Light" panose="020B0502040204020203" pitchFamily="34" charset="-122"/>
              </a:rPr>
              <a:t>31</a:t>
            </a:r>
          </a:p>
        </p:txBody>
      </p:sp>
      <p:sp>
        <p:nvSpPr>
          <p:cNvPr id="783370" name="Rectangle 10"/>
          <p:cNvSpPr>
            <a:spLocks noChangeArrowheads="1"/>
          </p:cNvSpPr>
          <p:nvPr/>
        </p:nvSpPr>
        <p:spPr bwMode="auto">
          <a:xfrm>
            <a:off x="2208214" y="1955801"/>
            <a:ext cx="3889375" cy="504825"/>
          </a:xfrm>
          <a:prstGeom prst="rect">
            <a:avLst/>
          </a:prstGeom>
          <a:noFill/>
          <a:ln w="19050" algn="ctr">
            <a:solidFill>
              <a:srgbClr val="333399"/>
            </a:solidFill>
            <a:miter lim="800000"/>
          </a:ln>
          <a:effectLst/>
        </p:spPr>
        <p:txBody>
          <a:bodyPr wrap="none" anchor="ctr"/>
          <a:lstStyle/>
          <a:p>
            <a:pPr algn="ctr"/>
            <a:r>
              <a:rPr lang="zh-CN" altLang="en-US" sz="2400" dirty="0">
                <a:latin typeface="微软雅黑 Light" panose="020B0502040204020203" pitchFamily="34" charset="-122"/>
                <a:ea typeface="微软雅黑 Light" panose="020B0502040204020203" pitchFamily="34" charset="-122"/>
              </a:rPr>
              <a:t>报文长度</a:t>
            </a:r>
            <a:r>
              <a:rPr lang="en-US" altLang="zh-CN" sz="2400" dirty="0">
                <a:latin typeface="微软雅黑 Light" panose="020B0502040204020203" pitchFamily="34" charset="-122"/>
                <a:ea typeface="微软雅黑 Light" panose="020B0502040204020203" pitchFamily="34" charset="-122"/>
              </a:rPr>
              <a:t>(</a:t>
            </a:r>
            <a:r>
              <a:rPr lang="zh-CN" altLang="en-US" sz="2400" dirty="0">
                <a:latin typeface="微软雅黑 Light" panose="020B0502040204020203" pitchFamily="34" charset="-122"/>
                <a:ea typeface="微软雅黑 Light" panose="020B0502040204020203" pitchFamily="34" charset="-122"/>
              </a:rPr>
              <a:t>字节</a:t>
            </a:r>
            <a:r>
              <a:rPr lang="en-US" altLang="zh-CN" sz="2400" dirty="0">
                <a:latin typeface="微软雅黑 Light" panose="020B0502040204020203" pitchFamily="34" charset="-122"/>
                <a:ea typeface="微软雅黑 Light" panose="020B0502040204020203" pitchFamily="34" charset="-122"/>
              </a:rPr>
              <a:t>)</a:t>
            </a:r>
          </a:p>
        </p:txBody>
      </p:sp>
      <p:sp>
        <p:nvSpPr>
          <p:cNvPr id="783371" name="Rectangle 11"/>
          <p:cNvSpPr>
            <a:spLocks noChangeArrowheads="1"/>
          </p:cNvSpPr>
          <p:nvPr/>
        </p:nvSpPr>
        <p:spPr bwMode="auto">
          <a:xfrm>
            <a:off x="6096000" y="1955801"/>
            <a:ext cx="3887788" cy="504825"/>
          </a:xfrm>
          <a:prstGeom prst="rect">
            <a:avLst/>
          </a:prstGeom>
          <a:noFill/>
          <a:ln w="19050" algn="ctr">
            <a:solidFill>
              <a:srgbClr val="333399"/>
            </a:solidFill>
            <a:miter lim="800000"/>
          </a:ln>
          <a:effectLst/>
        </p:spPr>
        <p:txBody>
          <a:bodyPr wrap="none" anchor="ctr"/>
          <a:lstStyle/>
          <a:p>
            <a:pPr algn="ctr"/>
            <a:r>
              <a:rPr lang="zh-CN" altLang="en-US" sz="2400">
                <a:latin typeface="微软雅黑 Light" panose="020B0502040204020203" pitchFamily="34" charset="-122"/>
                <a:ea typeface="微软雅黑 Light" panose="020B0502040204020203" pitchFamily="34" charset="-122"/>
              </a:rPr>
              <a:t>校验和</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灯片编号占位符 5"/>
          <p:cNvSpPr>
            <a:spLocks noGrp="1"/>
          </p:cNvSpPr>
          <p:nvPr>
            <p:ph type="sldNum" sz="quarter" idx="12"/>
          </p:nvPr>
        </p:nvSpPr>
        <p:spPr/>
        <p:txBody>
          <a:bodyPr/>
          <a:lstStyle/>
          <a:p>
            <a:fld id="{41845EAC-4635-49F3-AE4D-408EAB8E8098}" type="slidenum">
              <a:rPr lang="en-US" altLang="zh-CN"/>
              <a:t>28</a:t>
            </a:fld>
            <a:endParaRPr lang="en-US" altLang="zh-CN"/>
          </a:p>
        </p:txBody>
      </p:sp>
      <p:sp>
        <p:nvSpPr>
          <p:cNvPr id="531458" name="Rectangle 2"/>
          <p:cNvSpPr>
            <a:spLocks noGrp="1" noChangeArrowheads="1"/>
          </p:cNvSpPr>
          <p:nvPr>
            <p:ph type="title"/>
          </p:nvPr>
        </p:nvSpPr>
        <p:spPr/>
        <p:txBody>
          <a:bodyPr/>
          <a:lstStyle/>
          <a:p>
            <a:r>
              <a:rPr lang="en-US" altLang="zh-CN" dirty="0"/>
              <a:t>UDP</a:t>
            </a:r>
            <a:r>
              <a:rPr lang="zh-CN" altLang="en-US" dirty="0"/>
              <a:t>校验和</a:t>
            </a:r>
          </a:p>
        </p:txBody>
      </p:sp>
      <p:sp>
        <p:nvSpPr>
          <p:cNvPr id="531459" name="Rectangle 3"/>
          <p:cNvSpPr>
            <a:spLocks noGrp="1" noChangeArrowheads="1"/>
          </p:cNvSpPr>
          <p:nvPr>
            <p:ph type="body" idx="1"/>
          </p:nvPr>
        </p:nvSpPr>
        <p:spPr>
          <a:xfrm>
            <a:off x="334434" y="1052515"/>
            <a:ext cx="11523133" cy="1293812"/>
          </a:xfrm>
        </p:spPr>
        <p:txBody>
          <a:bodyPr>
            <a:normAutofit/>
          </a:bodyPr>
          <a:lstStyle/>
          <a:p>
            <a:pPr>
              <a:lnSpc>
                <a:spcPct val="130000"/>
              </a:lnSpc>
            </a:pPr>
            <a:r>
              <a:rPr lang="en-US" altLang="zh-CN" dirty="0">
                <a:latin typeface="+mn-lt"/>
              </a:rPr>
              <a:t>UDP</a:t>
            </a:r>
            <a:r>
              <a:rPr lang="zh-CN" altLang="en-US" dirty="0">
                <a:latin typeface="+mn-lt"/>
              </a:rPr>
              <a:t>在数据报中包含一个</a:t>
            </a:r>
            <a:r>
              <a:rPr lang="en-US" altLang="zh-CN" dirty="0">
                <a:latin typeface="+mn-lt"/>
              </a:rPr>
              <a:t>12</a:t>
            </a:r>
            <a:r>
              <a:rPr lang="zh-CN" altLang="en-US" dirty="0">
                <a:latin typeface="+mn-lt"/>
              </a:rPr>
              <a:t>字节的伪报头以计算校验和。该伪报头包含</a:t>
            </a:r>
            <a:r>
              <a:rPr lang="en-US" altLang="zh-CN" dirty="0">
                <a:latin typeface="+mn-lt"/>
              </a:rPr>
              <a:t>IP</a:t>
            </a:r>
            <a:r>
              <a:rPr lang="zh-CN" altLang="en-US" dirty="0">
                <a:latin typeface="+mn-lt"/>
              </a:rPr>
              <a:t>报头的某些域，目的是让</a:t>
            </a:r>
            <a:r>
              <a:rPr lang="en-US" altLang="zh-CN" dirty="0">
                <a:latin typeface="+mn-lt"/>
              </a:rPr>
              <a:t>UDP </a:t>
            </a:r>
            <a:r>
              <a:rPr lang="zh-CN" altLang="en-US" dirty="0">
                <a:latin typeface="+mn-lt"/>
              </a:rPr>
              <a:t>检测数据确已到达正确的目的端</a:t>
            </a:r>
          </a:p>
        </p:txBody>
      </p:sp>
      <p:sp>
        <p:nvSpPr>
          <p:cNvPr id="531463" name="Rectangle 7"/>
          <p:cNvSpPr>
            <a:spLocks noChangeArrowheads="1"/>
          </p:cNvSpPr>
          <p:nvPr/>
        </p:nvSpPr>
        <p:spPr bwMode="auto">
          <a:xfrm>
            <a:off x="2710036" y="4073426"/>
            <a:ext cx="3241675" cy="504825"/>
          </a:xfrm>
          <a:prstGeom prst="rect">
            <a:avLst/>
          </a:prstGeom>
          <a:noFill/>
          <a:ln w="19050" algn="ctr">
            <a:solidFill>
              <a:srgbClr val="333399"/>
            </a:solidFill>
            <a:miter lim="800000"/>
          </a:ln>
          <a:effectLst/>
        </p:spPr>
        <p:txBody>
          <a:bodyPr wrap="none" anchor="ctr"/>
          <a:lstStyle/>
          <a:p>
            <a:pPr algn="ctr"/>
            <a:r>
              <a:rPr lang="zh-CN" altLang="en-US" sz="2400">
                <a:latin typeface="微软雅黑 Light" panose="020B0502040204020203" pitchFamily="34" charset="-122"/>
                <a:ea typeface="微软雅黑 Light" panose="020B0502040204020203" pitchFamily="34" charset="-122"/>
              </a:rPr>
              <a:t>源端口号</a:t>
            </a:r>
          </a:p>
        </p:txBody>
      </p:sp>
      <p:sp>
        <p:nvSpPr>
          <p:cNvPr id="531464" name="Rectangle 8"/>
          <p:cNvSpPr>
            <a:spLocks noChangeArrowheads="1"/>
          </p:cNvSpPr>
          <p:nvPr/>
        </p:nvSpPr>
        <p:spPr bwMode="auto">
          <a:xfrm>
            <a:off x="5950124" y="4073426"/>
            <a:ext cx="3240087" cy="504825"/>
          </a:xfrm>
          <a:prstGeom prst="rect">
            <a:avLst/>
          </a:prstGeom>
          <a:noFill/>
          <a:ln w="19050" algn="ctr">
            <a:solidFill>
              <a:srgbClr val="333399"/>
            </a:solidFill>
            <a:miter lim="800000"/>
          </a:ln>
          <a:effectLst/>
        </p:spPr>
        <p:txBody>
          <a:bodyPr wrap="none" anchor="ctr"/>
          <a:lstStyle/>
          <a:p>
            <a:pPr algn="ctr"/>
            <a:r>
              <a:rPr lang="zh-CN" altLang="en-US" sz="2400">
                <a:latin typeface="微软雅黑 Light" panose="020B0502040204020203" pitchFamily="34" charset="-122"/>
                <a:ea typeface="微软雅黑 Light" panose="020B0502040204020203" pitchFamily="34" charset="-122"/>
              </a:rPr>
              <a:t>目的端口号</a:t>
            </a:r>
          </a:p>
        </p:txBody>
      </p:sp>
      <p:sp>
        <p:nvSpPr>
          <p:cNvPr id="531465" name="Rectangle 9"/>
          <p:cNvSpPr>
            <a:spLocks noChangeArrowheads="1"/>
          </p:cNvSpPr>
          <p:nvPr/>
        </p:nvSpPr>
        <p:spPr bwMode="auto">
          <a:xfrm>
            <a:off x="2711624" y="4579838"/>
            <a:ext cx="3241675" cy="504825"/>
          </a:xfrm>
          <a:prstGeom prst="rect">
            <a:avLst/>
          </a:prstGeom>
          <a:noFill/>
          <a:ln w="19050" algn="ctr">
            <a:solidFill>
              <a:srgbClr val="333399"/>
            </a:solidFill>
            <a:miter lim="800000"/>
          </a:ln>
          <a:effectLst/>
        </p:spPr>
        <p:txBody>
          <a:bodyPr wrap="none" anchor="ctr"/>
          <a:lstStyle/>
          <a:p>
            <a:pPr algn="ctr"/>
            <a:r>
              <a:rPr lang="zh-CN" altLang="en-US" sz="2400">
                <a:latin typeface="微软雅黑 Light" panose="020B0502040204020203" pitchFamily="34" charset="-122"/>
                <a:ea typeface="微软雅黑 Light" panose="020B0502040204020203" pitchFamily="34" charset="-122"/>
              </a:rPr>
              <a:t>报文长度</a:t>
            </a:r>
            <a:r>
              <a:rPr lang="en-US" altLang="zh-CN" sz="2400">
                <a:latin typeface="微软雅黑 Light" panose="020B0502040204020203" pitchFamily="34" charset="-122"/>
                <a:ea typeface="微软雅黑 Light" panose="020B0502040204020203" pitchFamily="34" charset="-122"/>
              </a:rPr>
              <a:t>(</a:t>
            </a:r>
            <a:r>
              <a:rPr lang="zh-CN" altLang="en-US" sz="2400">
                <a:latin typeface="微软雅黑 Light" panose="020B0502040204020203" pitchFamily="34" charset="-122"/>
                <a:ea typeface="微软雅黑 Light" panose="020B0502040204020203" pitchFamily="34" charset="-122"/>
              </a:rPr>
              <a:t>字节</a:t>
            </a:r>
            <a:r>
              <a:rPr lang="en-US" altLang="zh-CN" sz="2400">
                <a:latin typeface="微软雅黑 Light" panose="020B0502040204020203" pitchFamily="34" charset="-122"/>
                <a:ea typeface="微软雅黑 Light" panose="020B0502040204020203" pitchFamily="34" charset="-122"/>
              </a:rPr>
              <a:t>)</a:t>
            </a:r>
          </a:p>
        </p:txBody>
      </p:sp>
      <p:sp>
        <p:nvSpPr>
          <p:cNvPr id="531466" name="Rectangle 10"/>
          <p:cNvSpPr>
            <a:spLocks noChangeArrowheads="1"/>
          </p:cNvSpPr>
          <p:nvPr/>
        </p:nvSpPr>
        <p:spPr bwMode="auto">
          <a:xfrm>
            <a:off x="5951710" y="4579838"/>
            <a:ext cx="3240088" cy="504825"/>
          </a:xfrm>
          <a:prstGeom prst="rect">
            <a:avLst/>
          </a:prstGeom>
          <a:noFill/>
          <a:ln w="19050" algn="ctr">
            <a:solidFill>
              <a:srgbClr val="333399"/>
            </a:solidFill>
            <a:miter lim="800000"/>
          </a:ln>
          <a:effectLst/>
        </p:spPr>
        <p:txBody>
          <a:bodyPr wrap="none" anchor="ctr"/>
          <a:lstStyle/>
          <a:p>
            <a:pPr algn="ctr"/>
            <a:r>
              <a:rPr lang="zh-CN" altLang="en-US" sz="2400">
                <a:latin typeface="微软雅黑 Light" panose="020B0502040204020203" pitchFamily="34" charset="-122"/>
                <a:ea typeface="微软雅黑 Light" panose="020B0502040204020203" pitchFamily="34" charset="-122"/>
              </a:rPr>
              <a:t>校验和</a:t>
            </a:r>
          </a:p>
        </p:txBody>
      </p:sp>
      <p:sp>
        <p:nvSpPr>
          <p:cNvPr id="531467" name="Rectangle 11"/>
          <p:cNvSpPr>
            <a:spLocks noChangeArrowheads="1"/>
          </p:cNvSpPr>
          <p:nvPr/>
        </p:nvSpPr>
        <p:spPr bwMode="auto">
          <a:xfrm>
            <a:off x="2711624" y="5084663"/>
            <a:ext cx="6480175" cy="936625"/>
          </a:xfrm>
          <a:prstGeom prst="rect">
            <a:avLst/>
          </a:prstGeom>
          <a:noFill/>
          <a:ln w="19050" algn="ctr">
            <a:solidFill>
              <a:srgbClr val="333399"/>
            </a:solidFill>
            <a:miter lim="800000"/>
          </a:ln>
          <a:effectLst/>
        </p:spPr>
        <p:txBody>
          <a:bodyPr wrap="none" anchor="ctr"/>
          <a:lstStyle/>
          <a:p>
            <a:pPr algn="ctr"/>
            <a:r>
              <a:rPr lang="zh-CN" altLang="en-US" sz="2400">
                <a:latin typeface="微软雅黑 Light" panose="020B0502040204020203" pitchFamily="34" charset="-122"/>
                <a:ea typeface="微软雅黑 Light" panose="020B0502040204020203" pitchFamily="34" charset="-122"/>
              </a:rPr>
              <a:t>数据</a:t>
            </a:r>
          </a:p>
        </p:txBody>
      </p:sp>
      <p:sp>
        <p:nvSpPr>
          <p:cNvPr id="531468" name="Rectangle 12"/>
          <p:cNvSpPr>
            <a:spLocks noChangeArrowheads="1"/>
          </p:cNvSpPr>
          <p:nvPr/>
        </p:nvSpPr>
        <p:spPr bwMode="auto">
          <a:xfrm>
            <a:off x="2711623" y="3573363"/>
            <a:ext cx="1582737" cy="504825"/>
          </a:xfrm>
          <a:prstGeom prst="rect">
            <a:avLst/>
          </a:prstGeom>
          <a:noFill/>
          <a:ln w="19050" algn="ctr">
            <a:solidFill>
              <a:srgbClr val="333399"/>
            </a:solidFill>
            <a:miter lim="800000"/>
          </a:ln>
          <a:effectLst/>
        </p:spPr>
        <p:txBody>
          <a:bodyPr wrap="none" anchor="ctr"/>
          <a:lstStyle/>
          <a:p>
            <a:pPr algn="ctr"/>
            <a:r>
              <a:rPr lang="en-US" altLang="zh-CN" sz="2400">
                <a:latin typeface="微软雅黑 Light" panose="020B0502040204020203" pitchFamily="34" charset="-122"/>
                <a:ea typeface="微软雅黑 Light" panose="020B0502040204020203" pitchFamily="34" charset="-122"/>
              </a:rPr>
              <a:t>0</a:t>
            </a:r>
          </a:p>
        </p:txBody>
      </p:sp>
      <p:sp>
        <p:nvSpPr>
          <p:cNvPr id="531469" name="Rectangle 13"/>
          <p:cNvSpPr>
            <a:spLocks noChangeArrowheads="1"/>
          </p:cNvSpPr>
          <p:nvPr/>
        </p:nvSpPr>
        <p:spPr bwMode="auto">
          <a:xfrm>
            <a:off x="5951710" y="3573363"/>
            <a:ext cx="3240088" cy="504825"/>
          </a:xfrm>
          <a:prstGeom prst="rect">
            <a:avLst/>
          </a:prstGeom>
          <a:noFill/>
          <a:ln w="19050" algn="ctr">
            <a:solidFill>
              <a:srgbClr val="333399"/>
            </a:solidFill>
            <a:miter lim="800000"/>
          </a:ln>
          <a:effectLst/>
        </p:spPr>
        <p:txBody>
          <a:bodyPr wrap="none" anchor="ctr"/>
          <a:lstStyle/>
          <a:p>
            <a:pPr algn="ctr"/>
            <a:r>
              <a:rPr lang="en-US" altLang="zh-CN" sz="2400">
                <a:latin typeface="微软雅黑 Light" panose="020B0502040204020203" pitchFamily="34" charset="-122"/>
                <a:ea typeface="微软雅黑 Light" panose="020B0502040204020203" pitchFamily="34" charset="-122"/>
              </a:rPr>
              <a:t>UDP</a:t>
            </a:r>
            <a:r>
              <a:rPr lang="zh-CN" altLang="en-US" sz="2400">
                <a:latin typeface="微软雅黑 Light" panose="020B0502040204020203" pitchFamily="34" charset="-122"/>
                <a:ea typeface="微软雅黑 Light" panose="020B0502040204020203" pitchFamily="34" charset="-122"/>
              </a:rPr>
              <a:t>长度</a:t>
            </a:r>
          </a:p>
        </p:txBody>
      </p:sp>
      <p:sp>
        <p:nvSpPr>
          <p:cNvPr id="531470" name="Rectangle 14"/>
          <p:cNvSpPr>
            <a:spLocks noChangeArrowheads="1"/>
          </p:cNvSpPr>
          <p:nvPr/>
        </p:nvSpPr>
        <p:spPr bwMode="auto">
          <a:xfrm>
            <a:off x="4295948" y="3573363"/>
            <a:ext cx="1655762" cy="504825"/>
          </a:xfrm>
          <a:prstGeom prst="rect">
            <a:avLst/>
          </a:prstGeom>
          <a:noFill/>
          <a:ln w="19050" algn="ctr">
            <a:solidFill>
              <a:srgbClr val="333399"/>
            </a:solidFill>
            <a:miter lim="800000"/>
          </a:ln>
          <a:effectLst/>
        </p:spPr>
        <p:txBody>
          <a:bodyPr wrap="none" anchor="ctr"/>
          <a:lstStyle/>
          <a:p>
            <a:pPr algn="ctr"/>
            <a:r>
              <a:rPr lang="zh-CN" altLang="en-US" sz="2400">
                <a:latin typeface="微软雅黑 Light" panose="020B0502040204020203" pitchFamily="34" charset="-122"/>
                <a:ea typeface="微软雅黑 Light" panose="020B0502040204020203" pitchFamily="34" charset="-122"/>
              </a:rPr>
              <a:t>协议</a:t>
            </a:r>
            <a:r>
              <a:rPr lang="en-US" altLang="zh-CN" sz="2400">
                <a:latin typeface="微软雅黑 Light" panose="020B0502040204020203" pitchFamily="34" charset="-122"/>
                <a:ea typeface="微软雅黑 Light" panose="020B0502040204020203" pitchFamily="34" charset="-122"/>
              </a:rPr>
              <a:t>(17)</a:t>
            </a:r>
          </a:p>
        </p:txBody>
      </p:sp>
      <p:sp>
        <p:nvSpPr>
          <p:cNvPr id="531471" name="Rectangle 15"/>
          <p:cNvSpPr>
            <a:spLocks noChangeArrowheads="1"/>
          </p:cNvSpPr>
          <p:nvPr/>
        </p:nvSpPr>
        <p:spPr bwMode="auto">
          <a:xfrm>
            <a:off x="2711624" y="3068538"/>
            <a:ext cx="6480175" cy="504825"/>
          </a:xfrm>
          <a:prstGeom prst="rect">
            <a:avLst/>
          </a:prstGeom>
          <a:noFill/>
          <a:ln w="19050" algn="ctr">
            <a:solidFill>
              <a:srgbClr val="333399"/>
            </a:solidFill>
            <a:miter lim="800000"/>
          </a:ln>
          <a:effectLst/>
        </p:spPr>
        <p:txBody>
          <a:bodyPr wrap="none" anchor="ctr"/>
          <a:lstStyle/>
          <a:p>
            <a:pPr algn="ctr"/>
            <a:r>
              <a:rPr lang="zh-CN" altLang="en-US" sz="2400">
                <a:latin typeface="微软雅黑 Light" panose="020B0502040204020203" pitchFamily="34" charset="-122"/>
                <a:ea typeface="微软雅黑 Light" panose="020B0502040204020203" pitchFamily="34" charset="-122"/>
              </a:rPr>
              <a:t>目的</a:t>
            </a:r>
            <a:r>
              <a:rPr lang="en-US" altLang="zh-CN" sz="2400">
                <a:latin typeface="微软雅黑 Light" panose="020B0502040204020203" pitchFamily="34" charset="-122"/>
                <a:ea typeface="微软雅黑 Light" panose="020B0502040204020203" pitchFamily="34" charset="-122"/>
              </a:rPr>
              <a:t>IP</a:t>
            </a:r>
            <a:r>
              <a:rPr lang="zh-CN" altLang="en-US" sz="2400">
                <a:latin typeface="微软雅黑 Light" panose="020B0502040204020203" pitchFamily="34" charset="-122"/>
                <a:ea typeface="微软雅黑 Light" panose="020B0502040204020203" pitchFamily="34" charset="-122"/>
              </a:rPr>
              <a:t>地址</a:t>
            </a:r>
          </a:p>
        </p:txBody>
      </p:sp>
      <p:sp>
        <p:nvSpPr>
          <p:cNvPr id="531472" name="Rectangle 16"/>
          <p:cNvSpPr>
            <a:spLocks noChangeArrowheads="1"/>
          </p:cNvSpPr>
          <p:nvPr/>
        </p:nvSpPr>
        <p:spPr bwMode="auto">
          <a:xfrm>
            <a:off x="2711624" y="2565301"/>
            <a:ext cx="6480175" cy="504825"/>
          </a:xfrm>
          <a:prstGeom prst="rect">
            <a:avLst/>
          </a:prstGeom>
          <a:noFill/>
          <a:ln w="19050" algn="ctr">
            <a:solidFill>
              <a:srgbClr val="333399"/>
            </a:solidFill>
            <a:miter lim="800000"/>
          </a:ln>
          <a:effectLst/>
        </p:spPr>
        <p:txBody>
          <a:bodyPr wrap="none" anchor="ctr"/>
          <a:lstStyle/>
          <a:p>
            <a:pPr algn="ctr"/>
            <a:r>
              <a:rPr lang="zh-CN" altLang="en-US" sz="2400">
                <a:latin typeface="微软雅黑 Light" panose="020B0502040204020203" pitchFamily="34" charset="-122"/>
                <a:ea typeface="微软雅黑 Light" panose="020B0502040204020203" pitchFamily="34" charset="-122"/>
              </a:rPr>
              <a:t>源</a:t>
            </a:r>
            <a:r>
              <a:rPr lang="en-US" altLang="zh-CN" sz="2400">
                <a:latin typeface="微软雅黑 Light" panose="020B0502040204020203" pitchFamily="34" charset="-122"/>
                <a:ea typeface="微软雅黑 Light" panose="020B0502040204020203" pitchFamily="34" charset="-122"/>
              </a:rPr>
              <a:t>IP</a:t>
            </a:r>
            <a:r>
              <a:rPr lang="zh-CN" altLang="en-US" sz="2400">
                <a:latin typeface="微软雅黑 Light" panose="020B0502040204020203" pitchFamily="34" charset="-122"/>
                <a:ea typeface="微软雅黑 Light" panose="020B0502040204020203" pitchFamily="34" charset="-122"/>
              </a:rPr>
              <a:t>地址</a:t>
            </a:r>
          </a:p>
        </p:txBody>
      </p:sp>
      <p:sp>
        <p:nvSpPr>
          <p:cNvPr id="531473" name="Line 17"/>
          <p:cNvSpPr>
            <a:spLocks noChangeShapeType="1"/>
          </p:cNvSpPr>
          <p:nvPr/>
        </p:nvSpPr>
        <p:spPr bwMode="auto">
          <a:xfrm>
            <a:off x="9191798" y="5084662"/>
            <a:ext cx="64770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531474" name="Line 18"/>
          <p:cNvSpPr>
            <a:spLocks noChangeShapeType="1"/>
          </p:cNvSpPr>
          <p:nvPr/>
        </p:nvSpPr>
        <p:spPr bwMode="auto">
          <a:xfrm>
            <a:off x="9191798" y="4076600"/>
            <a:ext cx="64770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531475" name="Line 19"/>
          <p:cNvSpPr>
            <a:spLocks noChangeShapeType="1"/>
          </p:cNvSpPr>
          <p:nvPr/>
        </p:nvSpPr>
        <p:spPr bwMode="auto">
          <a:xfrm>
            <a:off x="9191798" y="2565300"/>
            <a:ext cx="64770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531476" name="Line 20"/>
          <p:cNvSpPr>
            <a:spLocks noChangeShapeType="1"/>
          </p:cNvSpPr>
          <p:nvPr/>
        </p:nvSpPr>
        <p:spPr bwMode="auto">
          <a:xfrm>
            <a:off x="9696623" y="2565300"/>
            <a:ext cx="0" cy="151130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531477" name="Line 21"/>
          <p:cNvSpPr>
            <a:spLocks noChangeShapeType="1"/>
          </p:cNvSpPr>
          <p:nvPr/>
        </p:nvSpPr>
        <p:spPr bwMode="auto">
          <a:xfrm>
            <a:off x="9696623" y="4076600"/>
            <a:ext cx="0" cy="1008062"/>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latin typeface="微软雅黑 Light" panose="020B0502040204020203" pitchFamily="34" charset="-122"/>
              <a:ea typeface="微软雅黑 Light" panose="020B0502040204020203" pitchFamily="34" charset="-122"/>
            </a:endParaRPr>
          </a:p>
        </p:txBody>
      </p:sp>
      <p:sp>
        <p:nvSpPr>
          <p:cNvPr id="531478" name="Text Box 22"/>
          <p:cNvSpPr txBox="1">
            <a:spLocks noChangeArrowheads="1"/>
          </p:cNvSpPr>
          <p:nvPr/>
        </p:nvSpPr>
        <p:spPr bwMode="auto">
          <a:xfrm>
            <a:off x="9480723" y="2852638"/>
            <a:ext cx="379412" cy="10064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a:latin typeface="微软雅黑 Light" panose="020B0502040204020203" pitchFamily="34" charset="-122"/>
                <a:ea typeface="微软雅黑 Light" panose="020B0502040204020203" pitchFamily="34" charset="-122"/>
              </a:rPr>
              <a:t>伪报头</a:t>
            </a:r>
          </a:p>
        </p:txBody>
      </p:sp>
      <p:sp>
        <p:nvSpPr>
          <p:cNvPr id="531479" name="Text Box 23"/>
          <p:cNvSpPr txBox="1">
            <a:spLocks noChangeArrowheads="1"/>
          </p:cNvSpPr>
          <p:nvPr/>
        </p:nvSpPr>
        <p:spPr bwMode="auto">
          <a:xfrm>
            <a:off x="9337849" y="4221063"/>
            <a:ext cx="790575" cy="7016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a:latin typeface="微软雅黑 Light" panose="020B0502040204020203" pitchFamily="34" charset="-122"/>
                <a:ea typeface="微软雅黑 Light" panose="020B0502040204020203" pitchFamily="34" charset="-122"/>
              </a:rPr>
              <a:t>UDP</a:t>
            </a:r>
            <a:r>
              <a:rPr lang="zh-CN" altLang="en-US">
                <a:latin typeface="微软雅黑 Light" panose="020B0502040204020203" pitchFamily="34" charset="-122"/>
                <a:ea typeface="微软雅黑 Light" panose="020B0502040204020203" pitchFamily="34" charset="-122"/>
              </a:rPr>
              <a:t>报头</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灯片编号占位符 5"/>
          <p:cNvSpPr>
            <a:spLocks noGrp="1"/>
          </p:cNvSpPr>
          <p:nvPr>
            <p:ph type="sldNum" sz="quarter" idx="12"/>
          </p:nvPr>
        </p:nvSpPr>
        <p:spPr/>
        <p:txBody>
          <a:bodyPr/>
          <a:lstStyle/>
          <a:p>
            <a:fld id="{95661E93-4C93-49AD-8E64-74A0F8DD0D6C}" type="slidenum">
              <a:rPr lang="en-US" altLang="zh-CN"/>
              <a:t>29</a:t>
            </a:fld>
            <a:endParaRPr lang="en-US" altLang="zh-CN"/>
          </a:p>
        </p:txBody>
      </p:sp>
      <p:sp>
        <p:nvSpPr>
          <p:cNvPr id="839682" name="Rectangle 2"/>
          <p:cNvSpPr>
            <a:spLocks noGrp="1" noChangeArrowheads="1"/>
          </p:cNvSpPr>
          <p:nvPr>
            <p:ph type="title"/>
          </p:nvPr>
        </p:nvSpPr>
        <p:spPr/>
        <p:txBody>
          <a:bodyPr/>
          <a:lstStyle/>
          <a:p>
            <a:r>
              <a:rPr lang="zh-CN" altLang="en-US"/>
              <a:t>计算 </a:t>
            </a:r>
            <a:r>
              <a:rPr lang="en-US" altLang="zh-CN"/>
              <a:t>UDP </a:t>
            </a:r>
            <a:r>
              <a:rPr lang="zh-CN" altLang="en-US"/>
              <a:t>检验和的例子 </a:t>
            </a:r>
          </a:p>
        </p:txBody>
      </p:sp>
      <p:sp>
        <p:nvSpPr>
          <p:cNvPr id="839684" name="Rectangle 4"/>
          <p:cNvSpPr>
            <a:spLocks noChangeArrowheads="1"/>
          </p:cNvSpPr>
          <p:nvPr/>
        </p:nvSpPr>
        <p:spPr bwMode="auto">
          <a:xfrm>
            <a:off x="4999038" y="3363913"/>
            <a:ext cx="609600" cy="3619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839685" name="Rectangle 5"/>
          <p:cNvSpPr>
            <a:spLocks noChangeArrowheads="1"/>
          </p:cNvSpPr>
          <p:nvPr/>
        </p:nvSpPr>
        <p:spPr bwMode="auto">
          <a:xfrm>
            <a:off x="3036888" y="2349501"/>
            <a:ext cx="2571750" cy="671513"/>
          </a:xfrm>
          <a:prstGeom prst="rect">
            <a:avLst/>
          </a:prstGeom>
          <a:solidFill>
            <a:schemeClr val="bg2">
              <a:lumMod val="75000"/>
            </a:schemeClr>
          </a:solidFill>
          <a:ln>
            <a:noFill/>
          </a:ln>
          <a:effectLst/>
        </p:spPr>
        <p:txBody>
          <a:bodyPr wrap="none" anchor="ctr"/>
          <a:lstStyle/>
          <a:p>
            <a:pPr algn="ctr"/>
            <a:endParaRPr lang="zh-CN" altLang="zh-CN"/>
          </a:p>
        </p:txBody>
      </p:sp>
      <p:sp>
        <p:nvSpPr>
          <p:cNvPr id="839686" name="Text Box 6"/>
          <p:cNvSpPr txBox="1">
            <a:spLocks noChangeArrowheads="1"/>
          </p:cNvSpPr>
          <p:nvPr/>
        </p:nvSpPr>
        <p:spPr bwMode="auto">
          <a:xfrm>
            <a:off x="5718176" y="1023938"/>
            <a:ext cx="4843463" cy="5213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dirty="0">
                <a:latin typeface="Times New Roman" panose="02020603050405020304" pitchFamily="18" charset="0"/>
                <a:ea typeface="宋体" panose="02010600030101010101" pitchFamily="2" charset="-122"/>
              </a:rPr>
              <a:t>10011001 00010011  →  153.19</a:t>
            </a:r>
          </a:p>
          <a:p>
            <a:r>
              <a:rPr kumimoji="1" lang="en-US" altLang="zh-CN" dirty="0">
                <a:latin typeface="Times New Roman" panose="02020603050405020304" pitchFamily="18" charset="0"/>
                <a:ea typeface="宋体" panose="02010600030101010101" pitchFamily="2" charset="-122"/>
              </a:rPr>
              <a:t>00001000 01101000  →  8.104</a:t>
            </a:r>
          </a:p>
          <a:p>
            <a:r>
              <a:rPr kumimoji="1" lang="en-US" altLang="zh-CN" dirty="0">
                <a:latin typeface="Times New Roman" panose="02020603050405020304" pitchFamily="18" charset="0"/>
                <a:ea typeface="宋体" panose="02010600030101010101" pitchFamily="2" charset="-122"/>
              </a:rPr>
              <a:t>10101011 00000011  →  171.3</a:t>
            </a:r>
          </a:p>
          <a:p>
            <a:r>
              <a:rPr kumimoji="1" lang="en-US" altLang="zh-CN" dirty="0">
                <a:latin typeface="Times New Roman" panose="02020603050405020304" pitchFamily="18" charset="0"/>
                <a:ea typeface="宋体" panose="02010600030101010101" pitchFamily="2" charset="-122"/>
              </a:rPr>
              <a:t>00001110 00001011  →  14.11</a:t>
            </a:r>
          </a:p>
          <a:p>
            <a:r>
              <a:rPr kumimoji="1" lang="en-US" altLang="zh-CN" dirty="0">
                <a:latin typeface="Times New Roman" panose="02020603050405020304" pitchFamily="18" charset="0"/>
                <a:ea typeface="宋体" panose="02010600030101010101" pitchFamily="2" charset="-122"/>
              </a:rPr>
              <a:t>00000000 00010001  →  0 </a:t>
            </a:r>
            <a:r>
              <a:rPr kumimoji="1" lang="zh-CN" altLang="en-US" dirty="0">
                <a:latin typeface="Times New Roman" panose="02020603050405020304" pitchFamily="18" charset="0"/>
                <a:ea typeface="宋体" panose="02010600030101010101" pitchFamily="2" charset="-122"/>
              </a:rPr>
              <a:t>和 </a:t>
            </a:r>
            <a:r>
              <a:rPr kumimoji="1" lang="en-US" altLang="zh-CN" dirty="0">
                <a:latin typeface="Times New Roman" panose="02020603050405020304" pitchFamily="18" charset="0"/>
                <a:ea typeface="宋体" panose="02010600030101010101" pitchFamily="2" charset="-122"/>
              </a:rPr>
              <a:t>17</a:t>
            </a:r>
          </a:p>
          <a:p>
            <a:r>
              <a:rPr kumimoji="1" lang="en-US" altLang="zh-CN" dirty="0">
                <a:latin typeface="Times New Roman" panose="02020603050405020304" pitchFamily="18" charset="0"/>
                <a:ea typeface="宋体" panose="02010600030101010101" pitchFamily="2" charset="-122"/>
              </a:rPr>
              <a:t>00000000 00001111  →  15</a:t>
            </a:r>
          </a:p>
          <a:p>
            <a:r>
              <a:rPr kumimoji="1" lang="en-US" altLang="zh-CN" dirty="0">
                <a:latin typeface="Times New Roman" panose="02020603050405020304" pitchFamily="18" charset="0"/>
                <a:ea typeface="宋体" panose="02010600030101010101" pitchFamily="2" charset="-122"/>
              </a:rPr>
              <a:t>00000100 00111111  →  1087</a:t>
            </a:r>
          </a:p>
          <a:p>
            <a:r>
              <a:rPr kumimoji="1" lang="en-US" altLang="zh-CN" dirty="0">
                <a:latin typeface="Times New Roman" panose="02020603050405020304" pitchFamily="18" charset="0"/>
                <a:ea typeface="宋体" panose="02010600030101010101" pitchFamily="2" charset="-122"/>
              </a:rPr>
              <a:t>00000000 00001101  →  13</a:t>
            </a:r>
          </a:p>
          <a:p>
            <a:r>
              <a:rPr kumimoji="1" lang="en-US" altLang="zh-CN" dirty="0">
                <a:latin typeface="Times New Roman" panose="02020603050405020304" pitchFamily="18" charset="0"/>
                <a:ea typeface="宋体" panose="02010600030101010101" pitchFamily="2" charset="-122"/>
              </a:rPr>
              <a:t>00000000 00001111  →  15</a:t>
            </a:r>
          </a:p>
          <a:p>
            <a:r>
              <a:rPr kumimoji="1" lang="en-US" altLang="zh-CN" dirty="0">
                <a:latin typeface="Times New Roman" panose="02020603050405020304" pitchFamily="18" charset="0"/>
                <a:ea typeface="宋体" panose="02010600030101010101" pitchFamily="2" charset="-122"/>
              </a:rPr>
              <a:t>00000000 00000000  →  0</a:t>
            </a:r>
            <a:r>
              <a:rPr kumimoji="1" lang="zh-CN" altLang="en-US" dirty="0">
                <a:latin typeface="Times New Roman" panose="02020603050405020304" pitchFamily="18" charset="0"/>
                <a:ea typeface="宋体" panose="02010600030101010101" pitchFamily="2" charset="-122"/>
              </a:rPr>
              <a:t>（检验和）</a:t>
            </a:r>
          </a:p>
          <a:p>
            <a:r>
              <a:rPr kumimoji="1" lang="en-US" altLang="zh-CN" dirty="0">
                <a:latin typeface="Times New Roman" panose="02020603050405020304" pitchFamily="18" charset="0"/>
                <a:ea typeface="宋体" panose="02010600030101010101" pitchFamily="2" charset="-122"/>
              </a:rPr>
              <a:t>01010100 01000101  →  </a:t>
            </a:r>
            <a:r>
              <a:rPr kumimoji="1" lang="zh-CN" altLang="en-US" dirty="0">
                <a:latin typeface="Times New Roman" panose="02020603050405020304" pitchFamily="18" charset="0"/>
                <a:ea typeface="宋体" panose="02010600030101010101" pitchFamily="2" charset="-122"/>
              </a:rPr>
              <a:t>数据</a:t>
            </a:r>
          </a:p>
          <a:p>
            <a:r>
              <a:rPr kumimoji="1" lang="en-US" altLang="zh-CN" dirty="0">
                <a:latin typeface="Times New Roman" panose="02020603050405020304" pitchFamily="18" charset="0"/>
                <a:ea typeface="宋体" panose="02010600030101010101" pitchFamily="2" charset="-122"/>
              </a:rPr>
              <a:t>01010011 01010100  →  </a:t>
            </a:r>
            <a:r>
              <a:rPr kumimoji="1" lang="zh-CN" altLang="en-US" dirty="0">
                <a:latin typeface="Times New Roman" panose="02020603050405020304" pitchFamily="18" charset="0"/>
                <a:ea typeface="宋体" panose="02010600030101010101" pitchFamily="2" charset="-122"/>
              </a:rPr>
              <a:t>数据</a:t>
            </a:r>
          </a:p>
          <a:p>
            <a:r>
              <a:rPr kumimoji="1" lang="en-US" altLang="zh-CN" dirty="0">
                <a:latin typeface="Times New Roman" panose="02020603050405020304" pitchFamily="18" charset="0"/>
                <a:ea typeface="宋体" panose="02010600030101010101" pitchFamily="2" charset="-122"/>
              </a:rPr>
              <a:t>01001001 01001110  →  </a:t>
            </a:r>
            <a:r>
              <a:rPr kumimoji="1" lang="zh-CN" altLang="en-US" dirty="0">
                <a:latin typeface="Times New Roman" panose="02020603050405020304" pitchFamily="18" charset="0"/>
                <a:ea typeface="宋体" panose="02010600030101010101" pitchFamily="2" charset="-122"/>
              </a:rPr>
              <a:t>数据</a:t>
            </a:r>
          </a:p>
          <a:p>
            <a:r>
              <a:rPr kumimoji="1" lang="en-US" altLang="zh-CN" dirty="0">
                <a:latin typeface="Times New Roman" panose="02020603050405020304" pitchFamily="18" charset="0"/>
                <a:ea typeface="宋体" panose="02010600030101010101" pitchFamily="2" charset="-122"/>
              </a:rPr>
              <a:t>01000111 00000000  →  </a:t>
            </a:r>
            <a:r>
              <a:rPr kumimoji="1" lang="zh-CN" altLang="en-US" dirty="0">
                <a:latin typeface="Times New Roman" panose="02020603050405020304" pitchFamily="18" charset="0"/>
                <a:ea typeface="宋体" panose="02010600030101010101" pitchFamily="2" charset="-122"/>
              </a:rPr>
              <a:t>数据和 </a:t>
            </a:r>
            <a:r>
              <a:rPr kumimoji="1" lang="en-US" altLang="zh-CN" dirty="0">
                <a:latin typeface="Times New Roman" panose="02020603050405020304" pitchFamily="18" charset="0"/>
                <a:ea typeface="宋体" panose="02010600030101010101" pitchFamily="2" charset="-122"/>
              </a:rPr>
              <a:t>0</a:t>
            </a:r>
            <a:r>
              <a:rPr kumimoji="1" lang="zh-CN" altLang="en-US" dirty="0">
                <a:latin typeface="Times New Roman" panose="02020603050405020304" pitchFamily="18" charset="0"/>
                <a:ea typeface="宋体" panose="02010600030101010101" pitchFamily="2" charset="-122"/>
              </a:rPr>
              <a:t>（填充）</a:t>
            </a:r>
          </a:p>
          <a:p>
            <a:endParaRPr kumimoji="1" lang="zh-CN" altLang="en-US" sz="1000" dirty="0">
              <a:latin typeface="Times New Roman" panose="02020603050405020304" pitchFamily="18" charset="0"/>
              <a:ea typeface="宋体" panose="02010600030101010101" pitchFamily="2" charset="-122"/>
            </a:endParaRPr>
          </a:p>
          <a:p>
            <a:r>
              <a:rPr kumimoji="1" lang="en-US" altLang="zh-CN" dirty="0">
                <a:latin typeface="Times New Roman" panose="02020603050405020304" pitchFamily="18" charset="0"/>
                <a:ea typeface="宋体" panose="02010600030101010101" pitchFamily="2" charset="-122"/>
              </a:rPr>
              <a:t>10010110 11101101  →  </a:t>
            </a:r>
            <a:r>
              <a:rPr kumimoji="1" lang="zh-CN" altLang="en-US" dirty="0">
                <a:latin typeface="Times New Roman" panose="02020603050405020304" pitchFamily="18" charset="0"/>
                <a:ea typeface="宋体" panose="02010600030101010101" pitchFamily="2" charset="-122"/>
              </a:rPr>
              <a:t>求和得出的结果</a:t>
            </a:r>
          </a:p>
          <a:p>
            <a:pPr>
              <a:lnSpc>
                <a:spcPct val="130000"/>
              </a:lnSpc>
            </a:pPr>
            <a:r>
              <a:rPr kumimoji="1" lang="en-US" altLang="zh-CN" dirty="0">
                <a:latin typeface="Times New Roman" panose="02020603050405020304" pitchFamily="18" charset="0"/>
                <a:ea typeface="宋体" panose="02010600030101010101" pitchFamily="2" charset="-122"/>
              </a:rPr>
              <a:t>01101001 00010010  →  </a:t>
            </a:r>
            <a:r>
              <a:rPr kumimoji="1" lang="zh-CN" altLang="en-US" dirty="0">
                <a:latin typeface="Times New Roman" panose="02020603050405020304" pitchFamily="18" charset="0"/>
                <a:ea typeface="宋体" panose="02010600030101010101" pitchFamily="2" charset="-122"/>
              </a:rPr>
              <a:t>检验和 </a:t>
            </a:r>
          </a:p>
        </p:txBody>
      </p:sp>
      <p:sp>
        <p:nvSpPr>
          <p:cNvPr id="839687" name="Freeform 7"/>
          <p:cNvSpPr/>
          <p:nvPr/>
        </p:nvSpPr>
        <p:spPr bwMode="auto">
          <a:xfrm>
            <a:off x="3036888" y="3044825"/>
            <a:ext cx="2597150" cy="673100"/>
          </a:xfrm>
          <a:custGeom>
            <a:avLst/>
            <a:gdLst>
              <a:gd name="T0" fmla="*/ 0 w 1536"/>
              <a:gd name="T1" fmla="*/ 0 h 480"/>
              <a:gd name="T2" fmla="*/ 1536 w 1536"/>
              <a:gd name="T3" fmla="*/ 0 h 480"/>
              <a:gd name="T4" fmla="*/ 1536 w 1536"/>
              <a:gd name="T5" fmla="*/ 240 h 480"/>
              <a:gd name="T6" fmla="*/ 1152 w 1536"/>
              <a:gd name="T7" fmla="*/ 240 h 480"/>
              <a:gd name="T8" fmla="*/ 1152 w 1536"/>
              <a:gd name="T9" fmla="*/ 480 h 480"/>
              <a:gd name="T10" fmla="*/ 0 w 1536"/>
              <a:gd name="T11" fmla="*/ 480 h 480"/>
              <a:gd name="T12" fmla="*/ 0 w 1536"/>
              <a:gd name="T13" fmla="*/ 0 h 480"/>
            </a:gdLst>
            <a:ahLst/>
            <a:cxnLst>
              <a:cxn ang="0">
                <a:pos x="T0" y="T1"/>
              </a:cxn>
              <a:cxn ang="0">
                <a:pos x="T2" y="T3"/>
              </a:cxn>
              <a:cxn ang="0">
                <a:pos x="T4" y="T5"/>
              </a:cxn>
              <a:cxn ang="0">
                <a:pos x="T6" y="T7"/>
              </a:cxn>
              <a:cxn ang="0">
                <a:pos x="T8" y="T9"/>
              </a:cxn>
              <a:cxn ang="0">
                <a:pos x="T10" y="T11"/>
              </a:cxn>
              <a:cxn ang="0">
                <a:pos x="T12" y="T13"/>
              </a:cxn>
            </a:cxnLst>
            <a:rect l="0" t="0" r="r" b="b"/>
            <a:pathLst>
              <a:path w="1536" h="480">
                <a:moveTo>
                  <a:pt x="0" y="0"/>
                </a:moveTo>
                <a:lnTo>
                  <a:pt x="1536" y="0"/>
                </a:lnTo>
                <a:lnTo>
                  <a:pt x="1536" y="240"/>
                </a:lnTo>
                <a:lnTo>
                  <a:pt x="1152" y="240"/>
                </a:lnTo>
                <a:lnTo>
                  <a:pt x="1152" y="480"/>
                </a:lnTo>
                <a:lnTo>
                  <a:pt x="0" y="480"/>
                </a:lnTo>
                <a:lnTo>
                  <a:pt x="0" y="0"/>
                </a:lnTo>
                <a:close/>
              </a:path>
            </a:pathLst>
          </a:custGeom>
          <a:solidFill>
            <a:schemeClr val="bg2">
              <a:lumMod val="90000"/>
            </a:schemeClr>
          </a:solidFill>
          <a:ln>
            <a:noFill/>
          </a:ln>
          <a:effectLst/>
        </p:spPr>
        <p:txBody>
          <a:bodyPr/>
          <a:lstStyle/>
          <a:p>
            <a:endParaRPr lang="zh-CN" altLang="en-US"/>
          </a:p>
        </p:txBody>
      </p:sp>
      <p:sp>
        <p:nvSpPr>
          <p:cNvPr id="839688" name="Rectangle 8"/>
          <p:cNvSpPr>
            <a:spLocks noChangeArrowheads="1"/>
          </p:cNvSpPr>
          <p:nvPr/>
        </p:nvSpPr>
        <p:spPr bwMode="auto">
          <a:xfrm>
            <a:off x="3036888" y="1360488"/>
            <a:ext cx="2597150" cy="1009650"/>
          </a:xfrm>
          <a:prstGeom prst="rect">
            <a:avLst/>
          </a:prstGeom>
          <a:solidFill>
            <a:schemeClr val="bg2">
              <a:lumMod val="50000"/>
            </a:schemeClr>
          </a:solidFill>
          <a:ln>
            <a:noFill/>
          </a:ln>
          <a:effectLst/>
        </p:spPr>
        <p:txBody>
          <a:bodyPr wrap="none" anchor="ctr"/>
          <a:lstStyle/>
          <a:p>
            <a:pPr algn="ctr"/>
            <a:endParaRPr lang="zh-CN" altLang="zh-CN"/>
          </a:p>
        </p:txBody>
      </p:sp>
      <p:sp>
        <p:nvSpPr>
          <p:cNvPr id="839689" name="Rectangle 9"/>
          <p:cNvSpPr>
            <a:spLocks noChangeArrowheads="1"/>
          </p:cNvSpPr>
          <p:nvPr/>
        </p:nvSpPr>
        <p:spPr bwMode="auto">
          <a:xfrm>
            <a:off x="3038475" y="1360488"/>
            <a:ext cx="2592388" cy="2351088"/>
          </a:xfrm>
          <a:prstGeom prst="rect">
            <a:avLst/>
          </a:prstGeom>
          <a:noFill/>
          <a:ln w="19050">
            <a:solidFill>
              <a:schemeClr val="tx1"/>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839690" name="Line 10"/>
          <p:cNvSpPr>
            <a:spLocks noChangeShapeType="1"/>
          </p:cNvSpPr>
          <p:nvPr/>
        </p:nvSpPr>
        <p:spPr bwMode="auto">
          <a:xfrm>
            <a:off x="3036888" y="1697039"/>
            <a:ext cx="2597150" cy="15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9691" name="Line 11"/>
          <p:cNvSpPr>
            <a:spLocks noChangeShapeType="1"/>
          </p:cNvSpPr>
          <p:nvPr/>
        </p:nvSpPr>
        <p:spPr bwMode="auto">
          <a:xfrm>
            <a:off x="3036888" y="2033589"/>
            <a:ext cx="2597150" cy="15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9692" name="Line 12"/>
          <p:cNvSpPr>
            <a:spLocks noChangeShapeType="1"/>
          </p:cNvSpPr>
          <p:nvPr/>
        </p:nvSpPr>
        <p:spPr bwMode="auto">
          <a:xfrm>
            <a:off x="3036888" y="2370139"/>
            <a:ext cx="2597150" cy="158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9693" name="Line 13"/>
          <p:cNvSpPr>
            <a:spLocks noChangeShapeType="1"/>
          </p:cNvSpPr>
          <p:nvPr/>
        </p:nvSpPr>
        <p:spPr bwMode="auto">
          <a:xfrm>
            <a:off x="3036888" y="2708275"/>
            <a:ext cx="2597150" cy="15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9694" name="Line 14"/>
          <p:cNvSpPr>
            <a:spLocks noChangeShapeType="1"/>
          </p:cNvSpPr>
          <p:nvPr/>
        </p:nvSpPr>
        <p:spPr bwMode="auto">
          <a:xfrm>
            <a:off x="3036888" y="3044825"/>
            <a:ext cx="2597150" cy="15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9695" name="Line 15"/>
          <p:cNvSpPr>
            <a:spLocks noChangeShapeType="1"/>
          </p:cNvSpPr>
          <p:nvPr/>
        </p:nvSpPr>
        <p:spPr bwMode="auto">
          <a:xfrm>
            <a:off x="3036888" y="3381375"/>
            <a:ext cx="2597150" cy="15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9696" name="Line 16"/>
          <p:cNvSpPr>
            <a:spLocks noChangeShapeType="1"/>
          </p:cNvSpPr>
          <p:nvPr/>
        </p:nvSpPr>
        <p:spPr bwMode="auto">
          <a:xfrm>
            <a:off x="4335463" y="2033589"/>
            <a:ext cx="0" cy="168433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9697" name="Line 17"/>
          <p:cNvSpPr>
            <a:spLocks noChangeShapeType="1"/>
          </p:cNvSpPr>
          <p:nvPr/>
        </p:nvSpPr>
        <p:spPr bwMode="auto">
          <a:xfrm>
            <a:off x="4983163" y="3044825"/>
            <a:ext cx="0" cy="6731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9698" name="Line 18"/>
          <p:cNvSpPr>
            <a:spLocks noChangeShapeType="1"/>
          </p:cNvSpPr>
          <p:nvPr/>
        </p:nvSpPr>
        <p:spPr bwMode="auto">
          <a:xfrm>
            <a:off x="3675063" y="3025775"/>
            <a:ext cx="0" cy="6731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9699" name="Line 19"/>
          <p:cNvSpPr>
            <a:spLocks noChangeShapeType="1"/>
          </p:cNvSpPr>
          <p:nvPr/>
        </p:nvSpPr>
        <p:spPr bwMode="auto">
          <a:xfrm>
            <a:off x="3686175" y="2054225"/>
            <a:ext cx="0" cy="33655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9700" name="Text Box 20"/>
          <p:cNvSpPr txBox="1">
            <a:spLocks noChangeArrowheads="1"/>
          </p:cNvSpPr>
          <p:nvPr/>
        </p:nvSpPr>
        <p:spPr bwMode="auto">
          <a:xfrm>
            <a:off x="3541713" y="1341439"/>
            <a:ext cx="15176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solidFill>
                  <a:schemeClr val="bg1"/>
                </a:solidFill>
                <a:latin typeface="Times New Roman" panose="02020603050405020304" pitchFamily="18" charset="0"/>
                <a:ea typeface="宋体" panose="02010600030101010101" pitchFamily="2" charset="-122"/>
              </a:rPr>
              <a:t>153.19.8.104</a:t>
            </a:r>
          </a:p>
        </p:txBody>
      </p:sp>
      <p:sp>
        <p:nvSpPr>
          <p:cNvPr id="839701" name="Text Box 21"/>
          <p:cNvSpPr txBox="1">
            <a:spLocks noChangeArrowheads="1"/>
          </p:cNvSpPr>
          <p:nvPr/>
        </p:nvSpPr>
        <p:spPr bwMode="auto">
          <a:xfrm>
            <a:off x="3575050" y="1682751"/>
            <a:ext cx="13906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solidFill>
                  <a:schemeClr val="bg1"/>
                </a:solidFill>
                <a:latin typeface="Times New Roman" panose="02020603050405020304" pitchFamily="18" charset="0"/>
                <a:ea typeface="宋体" panose="02010600030101010101" pitchFamily="2" charset="-122"/>
              </a:rPr>
              <a:t>171.3.14.11</a:t>
            </a:r>
          </a:p>
        </p:txBody>
      </p:sp>
      <p:sp>
        <p:nvSpPr>
          <p:cNvPr id="839702" name="AutoShape 22"/>
          <p:cNvSpPr/>
          <p:nvPr/>
        </p:nvSpPr>
        <p:spPr bwMode="auto">
          <a:xfrm>
            <a:off x="2895600" y="1322388"/>
            <a:ext cx="69850" cy="1039812"/>
          </a:xfrm>
          <a:prstGeom prst="leftBrace">
            <a:avLst>
              <a:gd name="adj1" fmla="val 124053"/>
              <a:gd name="adj2" fmla="val 50000"/>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a:endParaRPr lang="zh-CN" altLang="zh-CN">
              <a:latin typeface="微软雅黑 Light" panose="020B0502040204020203" pitchFamily="34" charset="-122"/>
              <a:ea typeface="微软雅黑 Light" panose="020B0502040204020203" pitchFamily="34" charset="-122"/>
            </a:endParaRPr>
          </a:p>
        </p:txBody>
      </p:sp>
      <p:sp>
        <p:nvSpPr>
          <p:cNvPr id="839703" name="AutoShape 23"/>
          <p:cNvSpPr/>
          <p:nvPr/>
        </p:nvSpPr>
        <p:spPr bwMode="auto">
          <a:xfrm>
            <a:off x="2887664" y="2420939"/>
            <a:ext cx="77787" cy="604837"/>
          </a:xfrm>
          <a:prstGeom prst="leftBrace">
            <a:avLst>
              <a:gd name="adj1" fmla="val 64796"/>
              <a:gd name="adj2" fmla="val 50000"/>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a:endParaRPr lang="zh-CN" altLang="zh-CN">
              <a:latin typeface="微软雅黑 Light" panose="020B0502040204020203" pitchFamily="34" charset="-122"/>
              <a:ea typeface="微软雅黑 Light" panose="020B0502040204020203" pitchFamily="34" charset="-122"/>
            </a:endParaRPr>
          </a:p>
        </p:txBody>
      </p:sp>
      <p:sp>
        <p:nvSpPr>
          <p:cNvPr id="839704" name="AutoShape 24"/>
          <p:cNvSpPr/>
          <p:nvPr/>
        </p:nvSpPr>
        <p:spPr bwMode="auto">
          <a:xfrm>
            <a:off x="2894014" y="3062288"/>
            <a:ext cx="77787" cy="635000"/>
          </a:xfrm>
          <a:prstGeom prst="leftBrace">
            <a:avLst>
              <a:gd name="adj1" fmla="val 68028"/>
              <a:gd name="adj2" fmla="val 50000"/>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839705" name="Text Box 25"/>
          <p:cNvSpPr txBox="1">
            <a:spLocks noChangeArrowheads="1"/>
          </p:cNvSpPr>
          <p:nvPr/>
        </p:nvSpPr>
        <p:spPr bwMode="auto">
          <a:xfrm>
            <a:off x="1858169" y="1474541"/>
            <a:ext cx="104298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r>
              <a:rPr kumimoji="1" lang="en-US" altLang="zh-CN" dirty="0">
                <a:latin typeface="微软雅黑 Light" panose="020B0502040204020203" pitchFamily="34" charset="-122"/>
                <a:ea typeface="微软雅黑 Light" panose="020B0502040204020203" pitchFamily="34" charset="-122"/>
              </a:rPr>
              <a:t>12 </a:t>
            </a:r>
            <a:r>
              <a:rPr kumimoji="1" lang="zh-CN" altLang="en-US" dirty="0">
                <a:latin typeface="微软雅黑 Light" panose="020B0502040204020203" pitchFamily="34" charset="-122"/>
                <a:ea typeface="微软雅黑 Light" panose="020B0502040204020203" pitchFamily="34" charset="-122"/>
              </a:rPr>
              <a:t>字节</a:t>
            </a:r>
          </a:p>
          <a:p>
            <a:pPr algn="r"/>
            <a:r>
              <a:rPr kumimoji="1" lang="zh-CN" altLang="en-US" dirty="0">
                <a:latin typeface="微软雅黑 Light" panose="020B0502040204020203" pitchFamily="34" charset="-122"/>
                <a:ea typeface="微软雅黑 Light" panose="020B0502040204020203" pitchFamily="34" charset="-122"/>
              </a:rPr>
              <a:t>伪首部</a:t>
            </a:r>
          </a:p>
        </p:txBody>
      </p:sp>
      <p:sp>
        <p:nvSpPr>
          <p:cNvPr id="839706" name="Text Box 26"/>
          <p:cNvSpPr txBox="1">
            <a:spLocks noChangeArrowheads="1"/>
          </p:cNvSpPr>
          <p:nvPr/>
        </p:nvSpPr>
        <p:spPr bwMode="auto">
          <a:xfrm>
            <a:off x="1622729" y="2328369"/>
            <a:ext cx="128913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kumimoji="1" lang="en-US" altLang="zh-CN" dirty="0">
                <a:latin typeface="微软雅黑 Light" panose="020B0502040204020203" pitchFamily="34" charset="-122"/>
                <a:ea typeface="微软雅黑 Light" panose="020B0502040204020203" pitchFamily="34" charset="-122"/>
              </a:rPr>
              <a:t>8 </a:t>
            </a:r>
            <a:r>
              <a:rPr kumimoji="1" lang="zh-CN" altLang="en-US" dirty="0">
                <a:latin typeface="微软雅黑 Light" panose="020B0502040204020203" pitchFamily="34" charset="-122"/>
                <a:ea typeface="微软雅黑 Light" panose="020B0502040204020203" pitchFamily="34" charset="-122"/>
              </a:rPr>
              <a:t>字节</a:t>
            </a:r>
          </a:p>
          <a:p>
            <a:pPr algn="r"/>
            <a:r>
              <a:rPr kumimoji="1" lang="en-US" altLang="zh-CN" dirty="0">
                <a:latin typeface="微软雅黑 Light" panose="020B0502040204020203" pitchFamily="34" charset="-122"/>
                <a:ea typeface="微软雅黑 Light" panose="020B0502040204020203" pitchFamily="34" charset="-122"/>
              </a:rPr>
              <a:t>UDP </a:t>
            </a:r>
            <a:r>
              <a:rPr kumimoji="1" lang="zh-CN" altLang="en-US" dirty="0">
                <a:latin typeface="微软雅黑 Light" panose="020B0502040204020203" pitchFamily="34" charset="-122"/>
                <a:ea typeface="微软雅黑 Light" panose="020B0502040204020203" pitchFamily="34" charset="-122"/>
              </a:rPr>
              <a:t>首部</a:t>
            </a:r>
          </a:p>
        </p:txBody>
      </p:sp>
      <p:sp>
        <p:nvSpPr>
          <p:cNvPr id="839707" name="Text Box 27"/>
          <p:cNvSpPr txBox="1">
            <a:spLocks noChangeArrowheads="1"/>
          </p:cNvSpPr>
          <p:nvPr/>
        </p:nvSpPr>
        <p:spPr bwMode="auto">
          <a:xfrm>
            <a:off x="1960762" y="3009901"/>
            <a:ext cx="91082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kumimoji="1" lang="en-US" altLang="zh-CN">
                <a:latin typeface="微软雅黑 Light" panose="020B0502040204020203" pitchFamily="34" charset="-122"/>
                <a:ea typeface="微软雅黑 Light" panose="020B0502040204020203" pitchFamily="34" charset="-122"/>
              </a:rPr>
              <a:t>7 </a:t>
            </a:r>
            <a:r>
              <a:rPr kumimoji="1" lang="zh-CN" altLang="en-US">
                <a:latin typeface="微软雅黑 Light" panose="020B0502040204020203" pitchFamily="34" charset="-122"/>
                <a:ea typeface="微软雅黑 Light" panose="020B0502040204020203" pitchFamily="34" charset="-122"/>
              </a:rPr>
              <a:t>字节</a:t>
            </a:r>
          </a:p>
          <a:p>
            <a:pPr algn="r"/>
            <a:r>
              <a:rPr kumimoji="1" lang="zh-CN" altLang="en-US">
                <a:latin typeface="微软雅黑 Light" panose="020B0502040204020203" pitchFamily="34" charset="-122"/>
                <a:ea typeface="微软雅黑 Light" panose="020B0502040204020203" pitchFamily="34" charset="-122"/>
              </a:rPr>
              <a:t>数据</a:t>
            </a:r>
          </a:p>
        </p:txBody>
      </p:sp>
      <p:grpSp>
        <p:nvGrpSpPr>
          <p:cNvPr id="839708" name="Group 28"/>
          <p:cNvGrpSpPr/>
          <p:nvPr/>
        </p:nvGrpSpPr>
        <p:grpSpPr bwMode="auto">
          <a:xfrm>
            <a:off x="4721225" y="3638551"/>
            <a:ext cx="692150" cy="627063"/>
            <a:chOff x="1651" y="2763"/>
            <a:chExt cx="436" cy="395"/>
          </a:xfrm>
        </p:grpSpPr>
        <p:sp>
          <p:nvSpPr>
            <p:cNvPr id="839709" name="Text Box 29"/>
            <p:cNvSpPr txBox="1">
              <a:spLocks noChangeArrowheads="1"/>
            </p:cNvSpPr>
            <p:nvPr/>
          </p:nvSpPr>
          <p:spPr bwMode="auto">
            <a:xfrm>
              <a:off x="1651" y="2908"/>
              <a:ext cx="4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a:latin typeface="Times New Roman" panose="02020603050405020304" pitchFamily="18" charset="0"/>
                  <a:ea typeface="宋体" panose="02010600030101010101" pitchFamily="2" charset="-122"/>
                </a:rPr>
                <a:t>填充</a:t>
              </a:r>
            </a:p>
          </p:txBody>
        </p:sp>
        <p:sp>
          <p:nvSpPr>
            <p:cNvPr id="839710" name="Line 30"/>
            <p:cNvSpPr>
              <a:spLocks noChangeShapeType="1"/>
            </p:cNvSpPr>
            <p:nvPr/>
          </p:nvSpPr>
          <p:spPr bwMode="auto">
            <a:xfrm flipV="1">
              <a:off x="1890" y="2763"/>
              <a:ext cx="134" cy="207"/>
            </a:xfrm>
            <a:prstGeom prst="line">
              <a:avLst/>
            </a:prstGeom>
            <a:noFill/>
            <a:ln w="28575">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839711" name="Line 31"/>
          <p:cNvSpPr>
            <a:spLocks noChangeShapeType="1"/>
          </p:cNvSpPr>
          <p:nvPr/>
        </p:nvSpPr>
        <p:spPr bwMode="auto">
          <a:xfrm flipV="1">
            <a:off x="5588001" y="5411789"/>
            <a:ext cx="4818063" cy="9525"/>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9712" name="Text Box 32"/>
          <p:cNvSpPr txBox="1">
            <a:spLocks noChangeArrowheads="1"/>
          </p:cNvSpPr>
          <p:nvPr/>
        </p:nvSpPr>
        <p:spPr bwMode="auto">
          <a:xfrm>
            <a:off x="3024268" y="5438776"/>
            <a:ext cx="2749471" cy="7571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kumimoji="1" lang="zh-CN" altLang="en-US" dirty="0">
                <a:latin typeface="微软雅黑 Light" panose="020B0502040204020203" pitchFamily="34" charset="-122"/>
                <a:ea typeface="微软雅黑 Light" panose="020B0502040204020203" pitchFamily="34" charset="-122"/>
              </a:rPr>
              <a:t>按二进制反码运算求和</a:t>
            </a:r>
          </a:p>
          <a:p>
            <a:pPr algn="r">
              <a:lnSpc>
                <a:spcPct val="130000"/>
              </a:lnSpc>
            </a:pPr>
            <a:r>
              <a:rPr kumimoji="1" lang="zh-CN" altLang="en-US" dirty="0">
                <a:latin typeface="微软雅黑 Light" panose="020B0502040204020203" pitchFamily="34" charset="-122"/>
                <a:ea typeface="微软雅黑 Light" panose="020B0502040204020203" pitchFamily="34" charset="-122"/>
              </a:rPr>
              <a:t>将得出的结果求反码</a:t>
            </a:r>
          </a:p>
        </p:txBody>
      </p:sp>
      <p:sp>
        <p:nvSpPr>
          <p:cNvPr id="839713" name="Text Box 33"/>
          <p:cNvSpPr txBox="1">
            <a:spLocks noChangeArrowheads="1"/>
          </p:cNvSpPr>
          <p:nvPr/>
        </p:nvSpPr>
        <p:spPr bwMode="auto">
          <a:xfrm>
            <a:off x="2999656" y="1994380"/>
            <a:ext cx="2881312" cy="1766888"/>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10000"/>
              </a:lnSpc>
            </a:pPr>
            <a:r>
              <a:rPr kumimoji="1" lang="zh-CN" altLang="en-US" dirty="0">
                <a:solidFill>
                  <a:schemeClr val="bg1"/>
                </a:solidFill>
                <a:latin typeface="Times New Roman" panose="02020603050405020304" pitchFamily="18" charset="0"/>
                <a:ea typeface="宋体" panose="02010600030101010101" pitchFamily="2" charset="-122"/>
              </a:rPr>
              <a:t>全 </a:t>
            </a:r>
            <a:r>
              <a:rPr kumimoji="1" lang="en-US" altLang="zh-CN" dirty="0">
                <a:solidFill>
                  <a:schemeClr val="bg1"/>
                </a:solidFill>
                <a:latin typeface="Times New Roman" panose="02020603050405020304" pitchFamily="18" charset="0"/>
                <a:ea typeface="宋体" panose="02010600030101010101" pitchFamily="2" charset="-122"/>
              </a:rPr>
              <a:t>0   17          15</a:t>
            </a:r>
          </a:p>
          <a:p>
            <a:pPr>
              <a:lnSpc>
                <a:spcPct val="110000"/>
              </a:lnSpc>
            </a:pPr>
            <a:r>
              <a:rPr kumimoji="1" lang="en-US" altLang="zh-CN" dirty="0">
                <a:solidFill>
                  <a:schemeClr val="bg1"/>
                </a:solidFill>
                <a:latin typeface="Times New Roman" panose="02020603050405020304" pitchFamily="18" charset="0"/>
                <a:ea typeface="宋体" panose="02010600030101010101" pitchFamily="2" charset="-122"/>
              </a:rPr>
              <a:t>    1087            13</a:t>
            </a:r>
          </a:p>
          <a:p>
            <a:pPr>
              <a:lnSpc>
                <a:spcPct val="110000"/>
              </a:lnSpc>
            </a:pPr>
            <a:r>
              <a:rPr kumimoji="1" lang="en-US" altLang="zh-CN" dirty="0">
                <a:solidFill>
                  <a:schemeClr val="bg1"/>
                </a:solidFill>
                <a:latin typeface="Times New Roman" panose="02020603050405020304" pitchFamily="18" charset="0"/>
                <a:ea typeface="宋体" panose="02010600030101010101" pitchFamily="2" charset="-122"/>
              </a:rPr>
              <a:t>      15             </a:t>
            </a:r>
            <a:r>
              <a:rPr kumimoji="1" lang="zh-CN" altLang="en-US" dirty="0">
                <a:solidFill>
                  <a:schemeClr val="bg1"/>
                </a:solidFill>
                <a:latin typeface="Times New Roman" panose="02020603050405020304" pitchFamily="18" charset="0"/>
                <a:ea typeface="宋体" panose="02010600030101010101" pitchFamily="2" charset="-122"/>
              </a:rPr>
              <a:t>全 </a:t>
            </a:r>
            <a:r>
              <a:rPr kumimoji="1" lang="en-US" altLang="zh-CN" dirty="0">
                <a:solidFill>
                  <a:schemeClr val="bg1"/>
                </a:solidFill>
                <a:latin typeface="Times New Roman" panose="02020603050405020304" pitchFamily="18" charset="0"/>
                <a:ea typeface="宋体" panose="02010600030101010101" pitchFamily="2" charset="-122"/>
              </a:rPr>
              <a:t>0</a:t>
            </a:r>
          </a:p>
          <a:p>
            <a:pPr>
              <a:lnSpc>
                <a:spcPct val="110000"/>
              </a:lnSpc>
            </a:pPr>
            <a:r>
              <a:rPr kumimoji="1" lang="zh-CN" altLang="en-US" dirty="0">
                <a:solidFill>
                  <a:schemeClr val="bg1"/>
                </a:solidFill>
                <a:latin typeface="Times New Roman" panose="02020603050405020304" pitchFamily="18" charset="0"/>
                <a:ea typeface="宋体" panose="02010600030101010101" pitchFamily="2" charset="-122"/>
              </a:rPr>
              <a:t>数据  数据   数据  数据</a:t>
            </a:r>
          </a:p>
          <a:p>
            <a:pPr>
              <a:lnSpc>
                <a:spcPct val="110000"/>
              </a:lnSpc>
            </a:pPr>
            <a:r>
              <a:rPr kumimoji="1" lang="zh-CN" altLang="en-US" dirty="0">
                <a:solidFill>
                  <a:schemeClr val="bg1"/>
                </a:solidFill>
                <a:latin typeface="Times New Roman" panose="02020603050405020304" pitchFamily="18" charset="0"/>
                <a:ea typeface="宋体" panose="02010600030101010101" pitchFamily="2" charset="-122"/>
              </a:rPr>
              <a:t>数据  数据   数据</a:t>
            </a:r>
            <a:r>
              <a:rPr kumimoji="1" lang="zh-CN" altLang="en-US" dirty="0">
                <a:latin typeface="Times New Roman" panose="02020603050405020304" pitchFamily="18" charset="0"/>
                <a:ea typeface="宋体" panose="02010600030101010101" pitchFamily="2" charset="-122"/>
              </a:rPr>
              <a:t>  全 </a:t>
            </a:r>
            <a:r>
              <a:rPr kumimoji="1" lang="en-US" altLang="zh-CN" dirty="0">
                <a:latin typeface="Times New Roman" panose="02020603050405020304" pitchFamily="18" charset="0"/>
                <a:ea typeface="宋体" panose="02010600030101010101" pitchFamily="2" charset="-122"/>
              </a:rPr>
              <a:t>0</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EE5B7BAA-F974-4673-86ED-0955B42CF46D}" type="slidenum">
              <a:rPr lang="en-US" altLang="zh-CN"/>
              <a:t>30</a:t>
            </a:fld>
            <a:endParaRPr lang="en-US" altLang="zh-CN"/>
          </a:p>
        </p:txBody>
      </p:sp>
      <p:sp>
        <p:nvSpPr>
          <p:cNvPr id="500738" name="Rectangle 2"/>
          <p:cNvSpPr>
            <a:spLocks noGrp="1" noChangeArrowheads="1"/>
          </p:cNvSpPr>
          <p:nvPr>
            <p:ph type="title"/>
          </p:nvPr>
        </p:nvSpPr>
        <p:spPr/>
        <p:txBody>
          <a:bodyPr/>
          <a:lstStyle/>
          <a:p>
            <a:r>
              <a:rPr lang="en-US" altLang="zh-CN" dirty="0"/>
              <a:t>6.3 </a:t>
            </a:r>
            <a:r>
              <a:rPr lang="zh-CN" altLang="en-US" dirty="0"/>
              <a:t>传输控制协议</a:t>
            </a:r>
            <a:endParaRPr lang="en-US" altLang="zh-CN" dirty="0"/>
          </a:p>
        </p:txBody>
      </p:sp>
      <p:sp>
        <p:nvSpPr>
          <p:cNvPr id="500739" name="Rectangle 3"/>
          <p:cNvSpPr>
            <a:spLocks noGrp="1" noChangeArrowheads="1"/>
          </p:cNvSpPr>
          <p:nvPr>
            <p:ph type="body" idx="1"/>
          </p:nvPr>
        </p:nvSpPr>
        <p:spPr/>
        <p:txBody>
          <a:bodyPr/>
          <a:lstStyle/>
          <a:p>
            <a:pPr>
              <a:lnSpc>
                <a:spcPct val="120000"/>
              </a:lnSpc>
            </a:pPr>
            <a:r>
              <a:rPr lang="en-US" altLang="zh-CN" dirty="0"/>
              <a:t>TCP</a:t>
            </a:r>
            <a:r>
              <a:rPr lang="zh-CN" altLang="en-US" dirty="0"/>
              <a:t>提供了一种可靠的面向连接的字节流传输层服务，</a:t>
            </a:r>
            <a:r>
              <a:rPr lang="en-US" altLang="zh-CN" dirty="0"/>
              <a:t>TCP</a:t>
            </a:r>
            <a:r>
              <a:rPr lang="zh-CN" altLang="en-US" dirty="0"/>
              <a:t>提供端到端的流量控制，并计算和验证一个强制性的端到端检查和</a:t>
            </a:r>
            <a:endParaRPr lang="en-US" altLang="zh-CN" dirty="0"/>
          </a:p>
          <a:p>
            <a:r>
              <a:rPr lang="en-US" altLang="zh-CN" dirty="0"/>
              <a:t>TCP</a:t>
            </a:r>
            <a:r>
              <a:rPr lang="zh-CN" altLang="en-US" dirty="0"/>
              <a:t>提供的服务有以下主要特点：</a:t>
            </a:r>
          </a:p>
          <a:p>
            <a:pPr lvl="1"/>
            <a:r>
              <a:rPr lang="zh-CN" altLang="en-US" dirty="0"/>
              <a:t>面向连接</a:t>
            </a:r>
          </a:p>
          <a:p>
            <a:pPr lvl="1"/>
            <a:r>
              <a:rPr lang="zh-CN" altLang="en-US" dirty="0"/>
              <a:t>点对点</a:t>
            </a:r>
          </a:p>
          <a:p>
            <a:pPr lvl="1"/>
            <a:r>
              <a:rPr lang="zh-CN" altLang="en-US" dirty="0"/>
              <a:t>完全的可靠性</a:t>
            </a:r>
          </a:p>
          <a:p>
            <a:pPr lvl="1"/>
            <a:r>
              <a:rPr lang="zh-CN" altLang="en-US" dirty="0"/>
              <a:t>全双工通信</a:t>
            </a:r>
          </a:p>
          <a:p>
            <a:pPr lvl="1"/>
            <a:r>
              <a:rPr lang="zh-CN" altLang="en-US" dirty="0"/>
              <a:t>流接口</a:t>
            </a:r>
          </a:p>
          <a:p>
            <a:pPr lvl="1"/>
            <a:r>
              <a:rPr lang="zh-CN" altLang="en-US" dirty="0"/>
              <a:t>可靠的连接建立</a:t>
            </a:r>
          </a:p>
          <a:p>
            <a:pPr lvl="1"/>
            <a:r>
              <a:rPr lang="zh-CN" altLang="en-US" dirty="0"/>
              <a:t>友好的连接关闭</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582D8B5C-D63D-4945-B4DF-7EC8B6B7908C}" type="slidenum">
              <a:rPr lang="en-US" altLang="zh-CN"/>
              <a:t>31</a:t>
            </a:fld>
            <a:endParaRPr lang="en-US" altLang="zh-CN"/>
          </a:p>
        </p:txBody>
      </p:sp>
      <p:sp>
        <p:nvSpPr>
          <p:cNvPr id="523266" name="Rectangle 2"/>
          <p:cNvSpPr>
            <a:spLocks noGrp="1" noChangeArrowheads="1"/>
          </p:cNvSpPr>
          <p:nvPr>
            <p:ph type="title"/>
          </p:nvPr>
        </p:nvSpPr>
        <p:spPr/>
        <p:txBody>
          <a:bodyPr/>
          <a:lstStyle/>
          <a:p>
            <a:r>
              <a:rPr lang="en-US" altLang="zh-CN" dirty="0"/>
              <a:t>TCP</a:t>
            </a:r>
            <a:r>
              <a:rPr lang="zh-CN" altLang="en-US" dirty="0"/>
              <a:t>提供的服务</a:t>
            </a:r>
          </a:p>
        </p:txBody>
      </p:sp>
      <p:sp>
        <p:nvSpPr>
          <p:cNvPr id="523267" name="Rectangle 3"/>
          <p:cNvSpPr>
            <a:spLocks noGrp="1" noChangeArrowheads="1"/>
          </p:cNvSpPr>
          <p:nvPr>
            <p:ph type="body" idx="1"/>
          </p:nvPr>
        </p:nvSpPr>
        <p:spPr/>
        <p:txBody>
          <a:bodyPr/>
          <a:lstStyle/>
          <a:p>
            <a:pPr>
              <a:lnSpc>
                <a:spcPct val="120000"/>
              </a:lnSpc>
            </a:pPr>
            <a:r>
              <a:rPr lang="en-US" altLang="zh-CN" dirty="0">
                <a:latin typeface="+mn-lt"/>
              </a:rPr>
              <a:t>TCP</a:t>
            </a:r>
            <a:r>
              <a:rPr lang="zh-CN" altLang="en-US" dirty="0">
                <a:latin typeface="+mn-lt"/>
              </a:rPr>
              <a:t>在</a:t>
            </a:r>
            <a:r>
              <a:rPr lang="en-US" altLang="zh-CN" dirty="0">
                <a:latin typeface="+mn-lt"/>
              </a:rPr>
              <a:t>IP</a:t>
            </a:r>
            <a:r>
              <a:rPr lang="zh-CN" altLang="en-US" dirty="0">
                <a:latin typeface="+mn-lt"/>
              </a:rPr>
              <a:t>数据报中的封装</a:t>
            </a:r>
          </a:p>
          <a:p>
            <a:pPr>
              <a:lnSpc>
                <a:spcPct val="120000"/>
              </a:lnSpc>
            </a:pPr>
            <a:r>
              <a:rPr lang="zh-CN" altLang="en-US" dirty="0">
                <a:latin typeface="+mn-lt"/>
              </a:rPr>
              <a:t>尽管</a:t>
            </a:r>
            <a:r>
              <a:rPr lang="en-US" altLang="zh-CN" dirty="0">
                <a:latin typeface="+mn-lt"/>
              </a:rPr>
              <a:t>TCP</a:t>
            </a:r>
            <a:r>
              <a:rPr lang="zh-CN" altLang="en-US" dirty="0">
                <a:latin typeface="+mn-lt"/>
              </a:rPr>
              <a:t>和</a:t>
            </a:r>
            <a:r>
              <a:rPr lang="en-US" altLang="zh-CN" dirty="0">
                <a:latin typeface="+mn-lt"/>
              </a:rPr>
              <a:t>UDP</a:t>
            </a:r>
            <a:r>
              <a:rPr lang="zh-CN" altLang="en-US" dirty="0">
                <a:latin typeface="+mn-lt"/>
              </a:rPr>
              <a:t>都使用相同的网络层（</a:t>
            </a:r>
            <a:r>
              <a:rPr lang="en-US" altLang="zh-CN" dirty="0">
                <a:latin typeface="+mn-lt"/>
              </a:rPr>
              <a:t>IP</a:t>
            </a:r>
            <a:r>
              <a:rPr lang="zh-CN" altLang="en-US" dirty="0">
                <a:latin typeface="+mn-lt"/>
              </a:rPr>
              <a:t>），</a:t>
            </a:r>
            <a:r>
              <a:rPr lang="en-US" altLang="zh-CN" dirty="0">
                <a:latin typeface="+mn-lt"/>
              </a:rPr>
              <a:t>TCP</a:t>
            </a:r>
            <a:r>
              <a:rPr lang="zh-CN" altLang="en-US" dirty="0">
                <a:latin typeface="+mn-lt"/>
              </a:rPr>
              <a:t>却向应用层提供与</a:t>
            </a:r>
            <a:r>
              <a:rPr lang="en-US" altLang="zh-CN" dirty="0">
                <a:latin typeface="+mn-lt"/>
              </a:rPr>
              <a:t>UDP</a:t>
            </a:r>
            <a:r>
              <a:rPr lang="zh-CN" altLang="en-US" dirty="0">
                <a:latin typeface="+mn-lt"/>
              </a:rPr>
              <a:t>完全不同的服务。</a:t>
            </a:r>
            <a:r>
              <a:rPr lang="en-US" altLang="zh-CN" dirty="0">
                <a:latin typeface="+mn-lt"/>
              </a:rPr>
              <a:t>TCP</a:t>
            </a:r>
            <a:r>
              <a:rPr lang="zh-CN" altLang="en-US" dirty="0">
                <a:latin typeface="+mn-lt"/>
              </a:rPr>
              <a:t>提供一种面向连接的、可靠的字节流服务</a:t>
            </a:r>
          </a:p>
          <a:p>
            <a:pPr>
              <a:lnSpc>
                <a:spcPct val="120000"/>
              </a:lnSpc>
            </a:pPr>
            <a:r>
              <a:rPr lang="en-US" altLang="zh-CN" dirty="0">
                <a:latin typeface="+mn-lt"/>
              </a:rPr>
              <a:t>TCP</a:t>
            </a:r>
            <a:r>
              <a:rPr lang="zh-CN" altLang="en-US" dirty="0">
                <a:latin typeface="+mn-lt"/>
              </a:rPr>
              <a:t>协议可以表述为一个没有选择确认或否认的滑动窗口协议，它的窗口大小是可变的</a:t>
            </a:r>
          </a:p>
          <a:p>
            <a:endParaRPr lang="en-US" altLang="zh-CN"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灯片编号占位符 5"/>
          <p:cNvSpPr>
            <a:spLocks noGrp="1"/>
          </p:cNvSpPr>
          <p:nvPr>
            <p:ph type="sldNum" sz="quarter" idx="12"/>
          </p:nvPr>
        </p:nvSpPr>
        <p:spPr/>
        <p:txBody>
          <a:bodyPr/>
          <a:lstStyle/>
          <a:p>
            <a:fld id="{7BD69B39-C16A-4C17-819E-8B560CBF3112}" type="slidenum">
              <a:rPr lang="en-US" altLang="zh-CN"/>
              <a:t>32</a:t>
            </a:fld>
            <a:endParaRPr lang="en-US" altLang="zh-CN"/>
          </a:p>
        </p:txBody>
      </p:sp>
      <p:sp>
        <p:nvSpPr>
          <p:cNvPr id="366692" name="Rectangle 100"/>
          <p:cNvSpPr>
            <a:spLocks noGrp="1" noChangeArrowheads="1"/>
          </p:cNvSpPr>
          <p:nvPr>
            <p:ph type="title"/>
          </p:nvPr>
        </p:nvSpPr>
        <p:spPr>
          <a:noFill/>
        </p:spPr>
        <p:txBody>
          <a:bodyPr/>
          <a:lstStyle/>
          <a:p>
            <a:r>
              <a:rPr lang="en-US" altLang="zh-CN" dirty="0"/>
              <a:t>TCP</a:t>
            </a:r>
            <a:r>
              <a:rPr lang="zh-CN" altLang="en-US" dirty="0"/>
              <a:t>的报头格式</a:t>
            </a:r>
          </a:p>
        </p:txBody>
      </p:sp>
      <p:grpSp>
        <p:nvGrpSpPr>
          <p:cNvPr id="2" name="组合 1"/>
          <p:cNvGrpSpPr/>
          <p:nvPr/>
        </p:nvGrpSpPr>
        <p:grpSpPr>
          <a:xfrm>
            <a:off x="2247900" y="1171576"/>
            <a:ext cx="7616825" cy="5345113"/>
            <a:chOff x="2247900" y="1171576"/>
            <a:chExt cx="7616825" cy="5345113"/>
          </a:xfrm>
        </p:grpSpPr>
        <p:sp>
          <p:nvSpPr>
            <p:cNvPr id="366597" name="AutoShape 5"/>
            <p:cNvSpPr>
              <a:spLocks noChangeArrowheads="1"/>
            </p:cNvSpPr>
            <p:nvPr/>
          </p:nvSpPr>
          <p:spPr bwMode="auto">
            <a:xfrm>
              <a:off x="2266950" y="6137276"/>
              <a:ext cx="635000" cy="252413"/>
            </a:xfrm>
            <a:prstGeom prst="leftArrow">
              <a:avLst>
                <a:gd name="adj1" fmla="val 50000"/>
                <a:gd name="adj2" fmla="val 62893"/>
              </a:avLst>
            </a:prstGeom>
            <a:solidFill>
              <a:schemeClr val="hlink"/>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366598" name="Rectangle 6"/>
            <p:cNvSpPr>
              <a:spLocks noChangeArrowheads="1"/>
            </p:cNvSpPr>
            <p:nvPr/>
          </p:nvSpPr>
          <p:spPr bwMode="auto">
            <a:xfrm>
              <a:off x="2868613" y="6011864"/>
              <a:ext cx="1225550" cy="504825"/>
            </a:xfrm>
            <a:prstGeom prst="rect">
              <a:avLst/>
            </a:prstGeom>
            <a:solidFill>
              <a:srgbClr val="FFC000"/>
            </a:solidFill>
            <a:ln w="12700">
              <a:solidFill>
                <a:srgbClr val="333399"/>
              </a:solidFill>
              <a:miter lim="800000"/>
            </a:ln>
            <a:effectLst/>
          </p:spPr>
          <p:txBody>
            <a:bodyPr wrap="none" anchor="ctr"/>
            <a:lstStyle/>
            <a:p>
              <a:pPr algn="ctr"/>
              <a:endParaRPr lang="zh-CN" altLang="zh-CN">
                <a:latin typeface="+mn-lt"/>
                <a:ea typeface="微软雅黑 Light" panose="020B0502040204020203" pitchFamily="34" charset="-122"/>
              </a:endParaRPr>
            </a:p>
          </p:txBody>
        </p:sp>
        <p:sp>
          <p:nvSpPr>
            <p:cNvPr id="366599" name="Line 7"/>
            <p:cNvSpPr>
              <a:spLocks noChangeShapeType="1"/>
            </p:cNvSpPr>
            <p:nvPr/>
          </p:nvSpPr>
          <p:spPr bwMode="auto">
            <a:xfrm flipH="1">
              <a:off x="2538414" y="1544639"/>
              <a:ext cx="15875" cy="2757487"/>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66600" name="Rectangle 8"/>
            <p:cNvSpPr>
              <a:spLocks noChangeArrowheads="1"/>
            </p:cNvSpPr>
            <p:nvPr/>
          </p:nvSpPr>
          <p:spPr bwMode="auto">
            <a:xfrm>
              <a:off x="2247900" y="2614613"/>
              <a:ext cx="593112" cy="53296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90000"/>
                </a:lnSpc>
              </a:pPr>
              <a:r>
                <a:rPr lang="en-US" altLang="zh-CN" sz="1600">
                  <a:solidFill>
                    <a:srgbClr val="333399"/>
                  </a:solidFill>
                  <a:latin typeface="+mn-lt"/>
                  <a:ea typeface="微软雅黑 Light" panose="020B0502040204020203" pitchFamily="34" charset="-122"/>
                </a:rPr>
                <a:t>TCP</a:t>
              </a:r>
            </a:p>
            <a:p>
              <a:pPr eaLnBrk="0" hangingPunct="0">
                <a:lnSpc>
                  <a:spcPct val="90000"/>
                </a:lnSpc>
              </a:pPr>
              <a:r>
                <a:rPr lang="zh-CN" altLang="en-US" sz="1600">
                  <a:solidFill>
                    <a:srgbClr val="333399"/>
                  </a:solidFill>
                  <a:latin typeface="+mn-lt"/>
                  <a:ea typeface="微软雅黑 Light" panose="020B0502040204020203" pitchFamily="34" charset="-122"/>
                </a:rPr>
                <a:t>首部</a:t>
              </a:r>
            </a:p>
          </p:txBody>
        </p:sp>
        <p:sp>
          <p:nvSpPr>
            <p:cNvPr id="366602" name="Rectangle 10"/>
            <p:cNvSpPr>
              <a:spLocks noChangeArrowheads="1"/>
            </p:cNvSpPr>
            <p:nvPr/>
          </p:nvSpPr>
          <p:spPr bwMode="auto">
            <a:xfrm>
              <a:off x="2827339" y="1543050"/>
              <a:ext cx="6810375" cy="2763838"/>
            </a:xfrm>
            <a:prstGeom prst="rect">
              <a:avLst/>
            </a:prstGeom>
            <a:solidFill>
              <a:schemeClr val="bg2"/>
            </a:solidFill>
            <a:ln w="25400">
              <a:solidFill>
                <a:schemeClr val="tx1"/>
              </a:solidFill>
              <a:miter lim="800000"/>
            </a:ln>
            <a:effectLst/>
          </p:spPr>
          <p:txBody>
            <a:bodyPr wrap="none" anchor="ctr"/>
            <a:lstStyle/>
            <a:p>
              <a:pPr algn="ctr"/>
              <a:endParaRPr lang="zh-CN" altLang="zh-CN">
                <a:latin typeface="+mn-lt"/>
                <a:ea typeface="微软雅黑 Light" panose="020B0502040204020203" pitchFamily="34" charset="-122"/>
              </a:endParaRPr>
            </a:p>
          </p:txBody>
        </p:sp>
        <p:sp>
          <p:nvSpPr>
            <p:cNvPr id="366603" name="Freeform 11"/>
            <p:cNvSpPr/>
            <p:nvPr/>
          </p:nvSpPr>
          <p:spPr bwMode="auto">
            <a:xfrm>
              <a:off x="2827338" y="4311651"/>
              <a:ext cx="6811962" cy="752475"/>
            </a:xfrm>
            <a:custGeom>
              <a:avLst/>
              <a:gdLst>
                <a:gd name="T0" fmla="*/ 0 w 4291"/>
                <a:gd name="T1" fmla="*/ 1 h 474"/>
                <a:gd name="T2" fmla="*/ 806 w 4291"/>
                <a:gd name="T3" fmla="*/ 474 h 474"/>
                <a:gd name="T4" fmla="*/ 1692 w 4291"/>
                <a:gd name="T5" fmla="*/ 474 h 474"/>
                <a:gd name="T6" fmla="*/ 4291 w 4291"/>
                <a:gd name="T7" fmla="*/ 0 h 474"/>
                <a:gd name="T8" fmla="*/ 0 w 4291"/>
                <a:gd name="T9" fmla="*/ 1 h 474"/>
              </a:gdLst>
              <a:ahLst/>
              <a:cxnLst>
                <a:cxn ang="0">
                  <a:pos x="T0" y="T1"/>
                </a:cxn>
                <a:cxn ang="0">
                  <a:pos x="T2" y="T3"/>
                </a:cxn>
                <a:cxn ang="0">
                  <a:pos x="T4" y="T5"/>
                </a:cxn>
                <a:cxn ang="0">
                  <a:pos x="T6" y="T7"/>
                </a:cxn>
                <a:cxn ang="0">
                  <a:pos x="T8" y="T9"/>
                </a:cxn>
              </a:cxnLst>
              <a:rect l="0" t="0" r="r" b="b"/>
              <a:pathLst>
                <a:path w="4291" h="474">
                  <a:moveTo>
                    <a:pt x="0" y="1"/>
                  </a:moveTo>
                  <a:lnTo>
                    <a:pt x="806" y="474"/>
                  </a:lnTo>
                  <a:lnTo>
                    <a:pt x="1692" y="474"/>
                  </a:lnTo>
                  <a:lnTo>
                    <a:pt x="4291" y="0"/>
                  </a:lnTo>
                  <a:lnTo>
                    <a:pt x="0" y="1"/>
                  </a:lnTo>
                  <a:close/>
                </a:path>
              </a:pathLst>
            </a:custGeom>
            <a:solidFill>
              <a:schemeClr val="bg2"/>
            </a:solidFill>
            <a:ln w="12700" cap="flat" cmpd="sng">
              <a:solidFill>
                <a:srgbClr val="C0C0C0"/>
              </a:solidFill>
              <a:prstDash val="solid"/>
              <a:round/>
            </a:ln>
            <a:effectLst/>
          </p:spPr>
          <p:txBody>
            <a:bodyPr/>
            <a:lstStyle/>
            <a:p>
              <a:endParaRPr lang="zh-CN" altLang="en-US">
                <a:latin typeface="+mn-lt"/>
                <a:ea typeface="微软雅黑 Light" panose="020B0502040204020203" pitchFamily="34" charset="-122"/>
              </a:endParaRPr>
            </a:p>
          </p:txBody>
        </p:sp>
        <p:sp>
          <p:nvSpPr>
            <p:cNvPr id="366604" name="Line 12"/>
            <p:cNvSpPr>
              <a:spLocks noChangeShapeType="1"/>
            </p:cNvSpPr>
            <p:nvPr/>
          </p:nvSpPr>
          <p:spPr bwMode="auto">
            <a:xfrm>
              <a:off x="2820989" y="2012950"/>
              <a:ext cx="682148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66605" name="Line 13"/>
            <p:cNvSpPr>
              <a:spLocks noChangeShapeType="1"/>
            </p:cNvSpPr>
            <p:nvPr/>
          </p:nvSpPr>
          <p:spPr bwMode="auto">
            <a:xfrm>
              <a:off x="2833689" y="2478088"/>
              <a:ext cx="680878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66606" name="Line 14"/>
            <p:cNvSpPr>
              <a:spLocks noChangeShapeType="1"/>
            </p:cNvSpPr>
            <p:nvPr/>
          </p:nvSpPr>
          <p:spPr bwMode="auto">
            <a:xfrm>
              <a:off x="2820989" y="2941638"/>
              <a:ext cx="682148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66607" name="Line 15"/>
            <p:cNvSpPr>
              <a:spLocks noChangeShapeType="1"/>
            </p:cNvSpPr>
            <p:nvPr/>
          </p:nvSpPr>
          <p:spPr bwMode="auto">
            <a:xfrm>
              <a:off x="2820989" y="3405188"/>
              <a:ext cx="682148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66608" name="Line 16"/>
            <p:cNvSpPr>
              <a:spLocks noChangeShapeType="1"/>
            </p:cNvSpPr>
            <p:nvPr/>
          </p:nvSpPr>
          <p:spPr bwMode="auto">
            <a:xfrm>
              <a:off x="2833689" y="3870325"/>
              <a:ext cx="680878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66609" name="Line 17"/>
            <p:cNvSpPr>
              <a:spLocks noChangeShapeType="1"/>
            </p:cNvSpPr>
            <p:nvPr/>
          </p:nvSpPr>
          <p:spPr bwMode="auto">
            <a:xfrm>
              <a:off x="6234113" y="1547813"/>
              <a:ext cx="0" cy="47466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66610" name="Rectangle 18"/>
            <p:cNvSpPr>
              <a:spLocks noChangeArrowheads="1"/>
            </p:cNvSpPr>
            <p:nvPr/>
          </p:nvSpPr>
          <p:spPr bwMode="auto">
            <a:xfrm>
              <a:off x="7297739" y="1633539"/>
              <a:ext cx="1311257"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1600" dirty="0">
                  <a:latin typeface="+mn-lt"/>
                  <a:ea typeface="微软雅黑 Light" panose="020B0502040204020203" pitchFamily="34" charset="-122"/>
                </a:rPr>
                <a:t>目  的  端  口</a:t>
              </a:r>
            </a:p>
          </p:txBody>
        </p:sp>
        <p:sp>
          <p:nvSpPr>
            <p:cNvPr id="366611" name="Rectangle 19"/>
            <p:cNvSpPr>
              <a:spLocks noChangeArrowheads="1"/>
            </p:cNvSpPr>
            <p:nvPr/>
          </p:nvSpPr>
          <p:spPr bwMode="auto">
            <a:xfrm>
              <a:off x="2978913" y="2932151"/>
              <a:ext cx="541816"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1400" dirty="0">
                  <a:latin typeface="+mn-lt"/>
                  <a:ea typeface="微软雅黑 Light" panose="020B0502040204020203" pitchFamily="34" charset="-122"/>
                </a:rPr>
                <a:t>数据</a:t>
              </a:r>
            </a:p>
            <a:p>
              <a:pPr eaLnBrk="0" hangingPunct="0"/>
              <a:r>
                <a:rPr lang="zh-CN" altLang="en-US" sz="1400" dirty="0">
                  <a:latin typeface="+mn-lt"/>
                  <a:ea typeface="微软雅黑 Light" panose="020B0502040204020203" pitchFamily="34" charset="-122"/>
                </a:rPr>
                <a:t>偏移</a:t>
              </a:r>
            </a:p>
          </p:txBody>
        </p:sp>
        <p:sp>
          <p:nvSpPr>
            <p:cNvPr id="366612" name="Rectangle 20"/>
            <p:cNvSpPr>
              <a:spLocks noChangeArrowheads="1"/>
            </p:cNvSpPr>
            <p:nvPr/>
          </p:nvSpPr>
          <p:spPr bwMode="auto">
            <a:xfrm>
              <a:off x="3919539" y="3497264"/>
              <a:ext cx="1106073"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1600">
                  <a:latin typeface="+mn-lt"/>
                  <a:ea typeface="微软雅黑 Light" panose="020B0502040204020203" pitchFamily="34" charset="-122"/>
                </a:rPr>
                <a:t>检   验   和</a:t>
              </a:r>
            </a:p>
          </p:txBody>
        </p:sp>
        <p:sp>
          <p:nvSpPr>
            <p:cNvPr id="366613" name="Rectangle 21"/>
            <p:cNvSpPr>
              <a:spLocks noChangeArrowheads="1"/>
            </p:cNvSpPr>
            <p:nvPr/>
          </p:nvSpPr>
          <p:spPr bwMode="auto">
            <a:xfrm>
              <a:off x="4098925" y="3925889"/>
              <a:ext cx="2833688"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1600" dirty="0">
                  <a:latin typeface="+mn-lt"/>
                  <a:ea typeface="微软雅黑 Light" panose="020B0502040204020203" pitchFamily="34" charset="-122"/>
                </a:rPr>
                <a:t>选    项    （长  度  可  变）</a:t>
              </a:r>
            </a:p>
          </p:txBody>
        </p:sp>
        <p:sp>
          <p:nvSpPr>
            <p:cNvPr id="366614" name="Rectangle 22"/>
            <p:cNvSpPr>
              <a:spLocks noChangeArrowheads="1"/>
            </p:cNvSpPr>
            <p:nvPr/>
          </p:nvSpPr>
          <p:spPr bwMode="auto">
            <a:xfrm>
              <a:off x="4021139" y="1633539"/>
              <a:ext cx="1041953"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1600" dirty="0">
                  <a:latin typeface="+mn-lt"/>
                  <a:ea typeface="微软雅黑 Light" panose="020B0502040204020203" pitchFamily="34" charset="-122"/>
                </a:rPr>
                <a:t>源  端  口</a:t>
              </a:r>
            </a:p>
          </p:txBody>
        </p:sp>
        <p:sp>
          <p:nvSpPr>
            <p:cNvPr id="366615" name="Rectangle 23"/>
            <p:cNvSpPr>
              <a:spLocks noChangeArrowheads="1"/>
            </p:cNvSpPr>
            <p:nvPr/>
          </p:nvSpPr>
          <p:spPr bwMode="auto">
            <a:xfrm>
              <a:off x="5840414" y="2092326"/>
              <a:ext cx="769937"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1600">
                  <a:latin typeface="+mn-lt"/>
                  <a:ea typeface="微软雅黑 Light" panose="020B0502040204020203" pitchFamily="34" charset="-122"/>
                </a:rPr>
                <a:t>序   号</a:t>
              </a:r>
            </a:p>
          </p:txBody>
        </p:sp>
        <p:sp>
          <p:nvSpPr>
            <p:cNvPr id="366616" name="Line 24"/>
            <p:cNvSpPr>
              <a:spLocks noChangeShapeType="1"/>
            </p:cNvSpPr>
            <p:nvPr/>
          </p:nvSpPr>
          <p:spPr bwMode="auto">
            <a:xfrm>
              <a:off x="6238875" y="2947989"/>
              <a:ext cx="0" cy="91598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66617" name="Rectangle 25"/>
            <p:cNvSpPr>
              <a:spLocks noChangeArrowheads="1"/>
            </p:cNvSpPr>
            <p:nvPr/>
          </p:nvSpPr>
          <p:spPr bwMode="auto">
            <a:xfrm>
              <a:off x="7154863" y="3497264"/>
              <a:ext cx="1465146"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1600">
                  <a:latin typeface="+mn-lt"/>
                  <a:ea typeface="微软雅黑 Light" panose="020B0502040204020203" pitchFamily="34" charset="-122"/>
                </a:rPr>
                <a:t>紧   急   指   针</a:t>
              </a:r>
            </a:p>
          </p:txBody>
        </p:sp>
        <p:sp>
          <p:nvSpPr>
            <p:cNvPr id="366618" name="Rectangle 26"/>
            <p:cNvSpPr>
              <a:spLocks noChangeArrowheads="1"/>
            </p:cNvSpPr>
            <p:nvPr/>
          </p:nvSpPr>
          <p:spPr bwMode="auto">
            <a:xfrm>
              <a:off x="7553325" y="3016251"/>
              <a:ext cx="775854"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1600">
                  <a:latin typeface="+mn-lt"/>
                  <a:ea typeface="微软雅黑 Light" panose="020B0502040204020203" pitchFamily="34" charset="-122"/>
                </a:rPr>
                <a:t>窗   口</a:t>
              </a:r>
            </a:p>
          </p:txBody>
        </p:sp>
        <p:sp>
          <p:nvSpPr>
            <p:cNvPr id="366619" name="Rectangle 27"/>
            <p:cNvSpPr>
              <a:spLocks noChangeArrowheads="1"/>
            </p:cNvSpPr>
            <p:nvPr/>
          </p:nvSpPr>
          <p:spPr bwMode="auto">
            <a:xfrm>
              <a:off x="5622925" y="2576514"/>
              <a:ext cx="1296988"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1600" dirty="0">
                  <a:latin typeface="+mn-lt"/>
                  <a:ea typeface="微软雅黑 Light" panose="020B0502040204020203" pitchFamily="34" charset="-122"/>
                </a:rPr>
                <a:t>确    认    号</a:t>
              </a:r>
            </a:p>
          </p:txBody>
        </p:sp>
        <p:sp>
          <p:nvSpPr>
            <p:cNvPr id="366620" name="Line 28"/>
            <p:cNvSpPr>
              <a:spLocks noChangeShapeType="1"/>
            </p:cNvSpPr>
            <p:nvPr/>
          </p:nvSpPr>
          <p:spPr bwMode="auto">
            <a:xfrm>
              <a:off x="3675063" y="2947988"/>
              <a:ext cx="0" cy="4635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66621" name="Line 29"/>
            <p:cNvSpPr>
              <a:spLocks noChangeShapeType="1"/>
            </p:cNvSpPr>
            <p:nvPr/>
          </p:nvSpPr>
          <p:spPr bwMode="auto">
            <a:xfrm>
              <a:off x="5383213" y="2943225"/>
              <a:ext cx="0" cy="4572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66622" name="Line 30"/>
            <p:cNvSpPr>
              <a:spLocks noChangeShapeType="1"/>
            </p:cNvSpPr>
            <p:nvPr/>
          </p:nvSpPr>
          <p:spPr bwMode="auto">
            <a:xfrm>
              <a:off x="4945063" y="2947988"/>
              <a:ext cx="0" cy="4635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mn-lt"/>
                <a:ea typeface="微软雅黑 Light" panose="020B0502040204020203" pitchFamily="34" charset="-122"/>
              </a:endParaRPr>
            </a:p>
          </p:txBody>
        </p:sp>
        <p:sp>
          <p:nvSpPr>
            <p:cNvPr id="366623" name="Line 31"/>
            <p:cNvSpPr>
              <a:spLocks noChangeShapeType="1"/>
            </p:cNvSpPr>
            <p:nvPr/>
          </p:nvSpPr>
          <p:spPr bwMode="auto">
            <a:xfrm>
              <a:off x="5162550" y="2947988"/>
              <a:ext cx="0" cy="4556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66624" name="Line 32"/>
            <p:cNvSpPr>
              <a:spLocks noChangeShapeType="1"/>
            </p:cNvSpPr>
            <p:nvPr/>
          </p:nvSpPr>
          <p:spPr bwMode="auto">
            <a:xfrm>
              <a:off x="5808663" y="2947988"/>
              <a:ext cx="0" cy="4556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66625" name="Line 33"/>
            <p:cNvSpPr>
              <a:spLocks noChangeShapeType="1"/>
            </p:cNvSpPr>
            <p:nvPr/>
          </p:nvSpPr>
          <p:spPr bwMode="auto">
            <a:xfrm>
              <a:off x="5595938" y="2947988"/>
              <a:ext cx="0" cy="4556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66626" name="Line 34"/>
            <p:cNvSpPr>
              <a:spLocks noChangeShapeType="1"/>
            </p:cNvSpPr>
            <p:nvPr/>
          </p:nvSpPr>
          <p:spPr bwMode="auto">
            <a:xfrm>
              <a:off x="6026150" y="2947988"/>
              <a:ext cx="0" cy="4556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66627" name="Rectangle 35"/>
            <p:cNvSpPr>
              <a:spLocks noChangeArrowheads="1"/>
            </p:cNvSpPr>
            <p:nvPr/>
          </p:nvSpPr>
          <p:spPr bwMode="auto">
            <a:xfrm>
              <a:off x="3787888" y="3019987"/>
              <a:ext cx="593112"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1600" dirty="0">
                  <a:latin typeface="+mn-lt"/>
                  <a:ea typeface="微软雅黑 Light" panose="020B0502040204020203" pitchFamily="34" charset="-122"/>
                </a:rPr>
                <a:t>保留</a:t>
              </a:r>
            </a:p>
          </p:txBody>
        </p:sp>
        <p:sp>
          <p:nvSpPr>
            <p:cNvPr id="366630" name="Line 38"/>
            <p:cNvSpPr>
              <a:spLocks noChangeShapeType="1"/>
            </p:cNvSpPr>
            <p:nvPr/>
          </p:nvSpPr>
          <p:spPr bwMode="auto">
            <a:xfrm>
              <a:off x="2824163" y="1438275"/>
              <a:ext cx="680085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66631" name="Line 39"/>
            <p:cNvSpPr>
              <a:spLocks noChangeShapeType="1"/>
            </p:cNvSpPr>
            <p:nvPr/>
          </p:nvSpPr>
          <p:spPr bwMode="auto">
            <a:xfrm>
              <a:off x="2824163" y="1304925"/>
              <a:ext cx="0" cy="1333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66632" name="Line 40"/>
            <p:cNvSpPr>
              <a:spLocks noChangeShapeType="1"/>
            </p:cNvSpPr>
            <p:nvPr/>
          </p:nvSpPr>
          <p:spPr bwMode="auto">
            <a:xfrm>
              <a:off x="3036888" y="1238251"/>
              <a:ext cx="0" cy="2000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66633" name="Line 41"/>
            <p:cNvSpPr>
              <a:spLocks noChangeShapeType="1"/>
            </p:cNvSpPr>
            <p:nvPr/>
          </p:nvSpPr>
          <p:spPr bwMode="auto">
            <a:xfrm>
              <a:off x="3249613" y="1238251"/>
              <a:ext cx="0" cy="2000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66634" name="Line 42"/>
            <p:cNvSpPr>
              <a:spLocks noChangeShapeType="1"/>
            </p:cNvSpPr>
            <p:nvPr/>
          </p:nvSpPr>
          <p:spPr bwMode="auto">
            <a:xfrm>
              <a:off x="3462338" y="1238251"/>
              <a:ext cx="0" cy="2000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66635" name="Line 43"/>
            <p:cNvSpPr>
              <a:spLocks noChangeShapeType="1"/>
            </p:cNvSpPr>
            <p:nvPr/>
          </p:nvSpPr>
          <p:spPr bwMode="auto">
            <a:xfrm>
              <a:off x="3675063" y="1238251"/>
              <a:ext cx="0" cy="2000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66636" name="Line 44"/>
            <p:cNvSpPr>
              <a:spLocks noChangeShapeType="1"/>
            </p:cNvSpPr>
            <p:nvPr/>
          </p:nvSpPr>
          <p:spPr bwMode="auto">
            <a:xfrm>
              <a:off x="3887788" y="1238251"/>
              <a:ext cx="0" cy="2000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66637" name="Line 45"/>
            <p:cNvSpPr>
              <a:spLocks noChangeShapeType="1"/>
            </p:cNvSpPr>
            <p:nvPr/>
          </p:nvSpPr>
          <p:spPr bwMode="auto">
            <a:xfrm>
              <a:off x="4098925" y="1238251"/>
              <a:ext cx="0" cy="2000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66638" name="Line 46"/>
            <p:cNvSpPr>
              <a:spLocks noChangeShapeType="1"/>
            </p:cNvSpPr>
            <p:nvPr/>
          </p:nvSpPr>
          <p:spPr bwMode="auto">
            <a:xfrm>
              <a:off x="4311650" y="1238251"/>
              <a:ext cx="0" cy="2000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66639" name="Line 47"/>
            <p:cNvSpPr>
              <a:spLocks noChangeShapeType="1"/>
            </p:cNvSpPr>
            <p:nvPr/>
          </p:nvSpPr>
          <p:spPr bwMode="auto">
            <a:xfrm>
              <a:off x="4524375" y="1304925"/>
              <a:ext cx="0" cy="1333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66640" name="Line 48"/>
            <p:cNvSpPr>
              <a:spLocks noChangeShapeType="1"/>
            </p:cNvSpPr>
            <p:nvPr/>
          </p:nvSpPr>
          <p:spPr bwMode="auto">
            <a:xfrm>
              <a:off x="4737100" y="1238251"/>
              <a:ext cx="0" cy="2000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66641" name="Line 49"/>
            <p:cNvSpPr>
              <a:spLocks noChangeShapeType="1"/>
            </p:cNvSpPr>
            <p:nvPr/>
          </p:nvSpPr>
          <p:spPr bwMode="auto">
            <a:xfrm>
              <a:off x="4949825" y="1238251"/>
              <a:ext cx="0" cy="2000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66642" name="Line 50"/>
            <p:cNvSpPr>
              <a:spLocks noChangeShapeType="1"/>
            </p:cNvSpPr>
            <p:nvPr/>
          </p:nvSpPr>
          <p:spPr bwMode="auto">
            <a:xfrm>
              <a:off x="5162550" y="1238251"/>
              <a:ext cx="0" cy="2000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66643" name="Line 51"/>
            <p:cNvSpPr>
              <a:spLocks noChangeShapeType="1"/>
            </p:cNvSpPr>
            <p:nvPr/>
          </p:nvSpPr>
          <p:spPr bwMode="auto">
            <a:xfrm>
              <a:off x="5375275" y="1238251"/>
              <a:ext cx="0" cy="2000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66644" name="Line 52"/>
            <p:cNvSpPr>
              <a:spLocks noChangeShapeType="1"/>
            </p:cNvSpPr>
            <p:nvPr/>
          </p:nvSpPr>
          <p:spPr bwMode="auto">
            <a:xfrm>
              <a:off x="5588000" y="1238251"/>
              <a:ext cx="0" cy="2000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66645" name="Line 53"/>
            <p:cNvSpPr>
              <a:spLocks noChangeShapeType="1"/>
            </p:cNvSpPr>
            <p:nvPr/>
          </p:nvSpPr>
          <p:spPr bwMode="auto">
            <a:xfrm>
              <a:off x="5799138" y="1238251"/>
              <a:ext cx="0" cy="2000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66646" name="Line 54"/>
            <p:cNvSpPr>
              <a:spLocks noChangeShapeType="1"/>
            </p:cNvSpPr>
            <p:nvPr/>
          </p:nvSpPr>
          <p:spPr bwMode="auto">
            <a:xfrm>
              <a:off x="6011863" y="1238251"/>
              <a:ext cx="0" cy="2000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66647" name="Line 55"/>
            <p:cNvSpPr>
              <a:spLocks noChangeShapeType="1"/>
            </p:cNvSpPr>
            <p:nvPr/>
          </p:nvSpPr>
          <p:spPr bwMode="auto">
            <a:xfrm>
              <a:off x="6224588" y="1304925"/>
              <a:ext cx="0" cy="1333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66648" name="Line 56"/>
            <p:cNvSpPr>
              <a:spLocks noChangeShapeType="1"/>
            </p:cNvSpPr>
            <p:nvPr/>
          </p:nvSpPr>
          <p:spPr bwMode="auto">
            <a:xfrm>
              <a:off x="6437313" y="1238251"/>
              <a:ext cx="0" cy="2000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66649" name="Line 57"/>
            <p:cNvSpPr>
              <a:spLocks noChangeShapeType="1"/>
            </p:cNvSpPr>
            <p:nvPr/>
          </p:nvSpPr>
          <p:spPr bwMode="auto">
            <a:xfrm>
              <a:off x="6650038" y="1238251"/>
              <a:ext cx="0" cy="2000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66650" name="Line 58"/>
            <p:cNvSpPr>
              <a:spLocks noChangeShapeType="1"/>
            </p:cNvSpPr>
            <p:nvPr/>
          </p:nvSpPr>
          <p:spPr bwMode="auto">
            <a:xfrm>
              <a:off x="6862763" y="1238251"/>
              <a:ext cx="0" cy="2000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66651" name="Line 59"/>
            <p:cNvSpPr>
              <a:spLocks noChangeShapeType="1"/>
            </p:cNvSpPr>
            <p:nvPr/>
          </p:nvSpPr>
          <p:spPr bwMode="auto">
            <a:xfrm>
              <a:off x="7075488" y="1238251"/>
              <a:ext cx="0" cy="2000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66652" name="Line 60"/>
            <p:cNvSpPr>
              <a:spLocks noChangeShapeType="1"/>
            </p:cNvSpPr>
            <p:nvPr/>
          </p:nvSpPr>
          <p:spPr bwMode="auto">
            <a:xfrm>
              <a:off x="7288213" y="1238251"/>
              <a:ext cx="0" cy="2000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66653" name="Line 61"/>
            <p:cNvSpPr>
              <a:spLocks noChangeShapeType="1"/>
            </p:cNvSpPr>
            <p:nvPr/>
          </p:nvSpPr>
          <p:spPr bwMode="auto">
            <a:xfrm>
              <a:off x="7499350" y="1238251"/>
              <a:ext cx="0" cy="2000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66654" name="Line 62"/>
            <p:cNvSpPr>
              <a:spLocks noChangeShapeType="1"/>
            </p:cNvSpPr>
            <p:nvPr/>
          </p:nvSpPr>
          <p:spPr bwMode="auto">
            <a:xfrm>
              <a:off x="7712075" y="1238251"/>
              <a:ext cx="0" cy="2000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66655" name="Line 63"/>
            <p:cNvSpPr>
              <a:spLocks noChangeShapeType="1"/>
            </p:cNvSpPr>
            <p:nvPr/>
          </p:nvSpPr>
          <p:spPr bwMode="auto">
            <a:xfrm>
              <a:off x="7924800" y="1304925"/>
              <a:ext cx="0" cy="1333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66656" name="Line 64"/>
            <p:cNvSpPr>
              <a:spLocks noChangeShapeType="1"/>
            </p:cNvSpPr>
            <p:nvPr/>
          </p:nvSpPr>
          <p:spPr bwMode="auto">
            <a:xfrm>
              <a:off x="8137525" y="1238251"/>
              <a:ext cx="0" cy="2000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66657" name="Line 65"/>
            <p:cNvSpPr>
              <a:spLocks noChangeShapeType="1"/>
            </p:cNvSpPr>
            <p:nvPr/>
          </p:nvSpPr>
          <p:spPr bwMode="auto">
            <a:xfrm>
              <a:off x="8350250" y="1238251"/>
              <a:ext cx="0" cy="2000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66658" name="Line 66"/>
            <p:cNvSpPr>
              <a:spLocks noChangeShapeType="1"/>
            </p:cNvSpPr>
            <p:nvPr/>
          </p:nvSpPr>
          <p:spPr bwMode="auto">
            <a:xfrm>
              <a:off x="8562975" y="1238251"/>
              <a:ext cx="0" cy="2000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66659" name="Line 67"/>
            <p:cNvSpPr>
              <a:spLocks noChangeShapeType="1"/>
            </p:cNvSpPr>
            <p:nvPr/>
          </p:nvSpPr>
          <p:spPr bwMode="auto">
            <a:xfrm>
              <a:off x="8775700" y="1238251"/>
              <a:ext cx="0" cy="2000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66660" name="Line 68"/>
            <p:cNvSpPr>
              <a:spLocks noChangeShapeType="1"/>
            </p:cNvSpPr>
            <p:nvPr/>
          </p:nvSpPr>
          <p:spPr bwMode="auto">
            <a:xfrm>
              <a:off x="8988425" y="1238251"/>
              <a:ext cx="0" cy="2000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66661" name="Line 69"/>
            <p:cNvSpPr>
              <a:spLocks noChangeShapeType="1"/>
            </p:cNvSpPr>
            <p:nvPr/>
          </p:nvSpPr>
          <p:spPr bwMode="auto">
            <a:xfrm>
              <a:off x="9199563" y="1238251"/>
              <a:ext cx="0" cy="2000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66662" name="Line 70"/>
            <p:cNvSpPr>
              <a:spLocks noChangeShapeType="1"/>
            </p:cNvSpPr>
            <p:nvPr/>
          </p:nvSpPr>
          <p:spPr bwMode="auto">
            <a:xfrm>
              <a:off x="9412288" y="1238251"/>
              <a:ext cx="0" cy="2000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66663" name="Line 71"/>
            <p:cNvSpPr>
              <a:spLocks noChangeShapeType="1"/>
            </p:cNvSpPr>
            <p:nvPr/>
          </p:nvSpPr>
          <p:spPr bwMode="auto">
            <a:xfrm>
              <a:off x="9625013" y="1304925"/>
              <a:ext cx="0" cy="1333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66664" name="Rectangle 72"/>
            <p:cNvSpPr>
              <a:spLocks noChangeArrowheads="1"/>
            </p:cNvSpPr>
            <p:nvPr/>
          </p:nvSpPr>
          <p:spPr bwMode="auto">
            <a:xfrm>
              <a:off x="2965450" y="1171576"/>
              <a:ext cx="1417638" cy="2000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366665" name="Rectangle 73"/>
            <p:cNvSpPr>
              <a:spLocks noChangeArrowheads="1"/>
            </p:cNvSpPr>
            <p:nvPr/>
          </p:nvSpPr>
          <p:spPr bwMode="auto">
            <a:xfrm>
              <a:off x="4665664" y="1171576"/>
              <a:ext cx="1417637" cy="2000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366666" name="Rectangle 74"/>
            <p:cNvSpPr>
              <a:spLocks noChangeArrowheads="1"/>
            </p:cNvSpPr>
            <p:nvPr/>
          </p:nvSpPr>
          <p:spPr bwMode="auto">
            <a:xfrm>
              <a:off x="6365875" y="1171576"/>
              <a:ext cx="1417638" cy="2000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366667" name="Rectangle 75"/>
            <p:cNvSpPr>
              <a:spLocks noChangeArrowheads="1"/>
            </p:cNvSpPr>
            <p:nvPr/>
          </p:nvSpPr>
          <p:spPr bwMode="auto">
            <a:xfrm>
              <a:off x="8066089" y="1171576"/>
              <a:ext cx="1417637" cy="2000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366674" name="Line 82"/>
            <p:cNvSpPr>
              <a:spLocks noChangeShapeType="1"/>
            </p:cNvSpPr>
            <p:nvPr/>
          </p:nvSpPr>
          <p:spPr bwMode="auto">
            <a:xfrm flipH="1">
              <a:off x="7923214" y="3881438"/>
              <a:ext cx="3175" cy="4302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366675" name="Rectangle 83"/>
            <p:cNvSpPr>
              <a:spLocks noChangeArrowheads="1"/>
            </p:cNvSpPr>
            <p:nvPr/>
          </p:nvSpPr>
          <p:spPr bwMode="auto">
            <a:xfrm>
              <a:off x="5512473" y="5075236"/>
              <a:ext cx="4305300" cy="493713"/>
            </a:xfrm>
            <a:prstGeom prst="rect">
              <a:avLst/>
            </a:prstGeom>
            <a:solidFill>
              <a:schemeClr val="bg2">
                <a:lumMod val="75000"/>
              </a:schemeClr>
            </a:solidFill>
            <a:ln>
              <a:noFill/>
            </a:ln>
            <a:effectLst/>
          </p:spPr>
          <p:txBody>
            <a:bodyPr wrap="none" anchor="ctr"/>
            <a:lstStyle/>
            <a:p>
              <a:pPr algn="ctr"/>
              <a:endParaRPr lang="zh-CN" altLang="zh-CN" dirty="0">
                <a:latin typeface="+mn-lt"/>
                <a:ea typeface="微软雅黑 Light" panose="020B0502040204020203" pitchFamily="34" charset="-122"/>
              </a:endParaRPr>
            </a:p>
          </p:txBody>
        </p:sp>
        <p:sp>
          <p:nvSpPr>
            <p:cNvPr id="366676" name="Rectangle 84"/>
            <p:cNvSpPr>
              <a:spLocks noChangeArrowheads="1"/>
            </p:cNvSpPr>
            <p:nvPr/>
          </p:nvSpPr>
          <p:spPr bwMode="auto">
            <a:xfrm>
              <a:off x="8377239" y="3925889"/>
              <a:ext cx="877588"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1600" dirty="0">
                  <a:latin typeface="+mn-lt"/>
                  <a:ea typeface="微软雅黑 Light" panose="020B0502040204020203" pitchFamily="34" charset="-122"/>
                </a:rPr>
                <a:t>填    充</a:t>
              </a:r>
            </a:p>
          </p:txBody>
        </p:sp>
        <p:sp>
          <p:nvSpPr>
            <p:cNvPr id="366677" name="Rectangle 85"/>
            <p:cNvSpPr>
              <a:spLocks noChangeArrowheads="1"/>
            </p:cNvSpPr>
            <p:nvPr/>
          </p:nvSpPr>
          <p:spPr bwMode="auto">
            <a:xfrm>
              <a:off x="6919914" y="5145089"/>
              <a:ext cx="1455737" cy="3333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sz="1600" dirty="0">
                  <a:latin typeface="+mn-lt"/>
                  <a:ea typeface="微软雅黑 Light" panose="020B0502040204020203" pitchFamily="34" charset="-122"/>
                </a:rPr>
                <a:t>TCP </a:t>
              </a:r>
              <a:r>
                <a:rPr lang="zh-CN" altLang="en-US" sz="1600" dirty="0">
                  <a:latin typeface="+mn-lt"/>
                  <a:ea typeface="微软雅黑 Light" panose="020B0502040204020203" pitchFamily="34" charset="-122"/>
                </a:rPr>
                <a:t>数据部分</a:t>
              </a:r>
            </a:p>
          </p:txBody>
        </p:sp>
        <p:sp>
          <p:nvSpPr>
            <p:cNvPr id="366678" name="Rectangle 86"/>
            <p:cNvSpPr>
              <a:spLocks noChangeArrowheads="1"/>
            </p:cNvSpPr>
            <p:nvPr/>
          </p:nvSpPr>
          <p:spPr bwMode="auto">
            <a:xfrm>
              <a:off x="4106864" y="5064126"/>
              <a:ext cx="1406525" cy="506413"/>
            </a:xfrm>
            <a:prstGeom prst="rect">
              <a:avLst/>
            </a:prstGeom>
            <a:solidFill>
              <a:schemeClr val="bg2"/>
            </a:solidFill>
            <a:ln>
              <a:noFill/>
            </a:ln>
            <a:effectLst/>
          </p:spPr>
          <p:txBody>
            <a:bodyPr wrap="none" anchor="ctr"/>
            <a:lstStyle/>
            <a:p>
              <a:pPr algn="ctr"/>
              <a:endParaRPr lang="zh-CN" altLang="zh-CN">
                <a:latin typeface="+mn-lt"/>
                <a:ea typeface="微软雅黑 Light" panose="020B0502040204020203" pitchFamily="34" charset="-122"/>
              </a:endParaRPr>
            </a:p>
          </p:txBody>
        </p:sp>
        <p:sp>
          <p:nvSpPr>
            <p:cNvPr id="366679" name="Rectangle 87"/>
            <p:cNvSpPr>
              <a:spLocks noChangeArrowheads="1"/>
            </p:cNvSpPr>
            <p:nvPr/>
          </p:nvSpPr>
          <p:spPr bwMode="auto">
            <a:xfrm>
              <a:off x="4106863" y="5064126"/>
              <a:ext cx="5710910" cy="506413"/>
            </a:xfrm>
            <a:prstGeom prst="rect">
              <a:avLst/>
            </a:prstGeom>
            <a:noFill/>
            <a:ln w="19050">
              <a:solidFill>
                <a:srgbClr val="333399"/>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366680" name="Line 88"/>
            <p:cNvSpPr>
              <a:spLocks noChangeShapeType="1"/>
            </p:cNvSpPr>
            <p:nvPr/>
          </p:nvSpPr>
          <p:spPr bwMode="auto">
            <a:xfrm flipH="1">
              <a:off x="5513388" y="5075238"/>
              <a:ext cx="0" cy="4953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366681" name="Rectangle 89"/>
            <p:cNvSpPr>
              <a:spLocks noChangeArrowheads="1"/>
            </p:cNvSpPr>
            <p:nvPr/>
          </p:nvSpPr>
          <p:spPr bwMode="auto">
            <a:xfrm>
              <a:off x="4302126" y="5192714"/>
              <a:ext cx="720725" cy="2698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366682" name="Rectangle 90"/>
            <p:cNvSpPr>
              <a:spLocks noChangeArrowheads="1"/>
            </p:cNvSpPr>
            <p:nvPr/>
          </p:nvSpPr>
          <p:spPr bwMode="auto">
            <a:xfrm>
              <a:off x="4310064" y="5145089"/>
              <a:ext cx="1049337" cy="3333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sz="1600" dirty="0">
                  <a:latin typeface="+mn-lt"/>
                  <a:ea typeface="微软雅黑 Light" panose="020B0502040204020203" pitchFamily="34" charset="-122"/>
                </a:rPr>
                <a:t>TCP </a:t>
              </a:r>
              <a:r>
                <a:rPr lang="zh-CN" altLang="en-US" sz="1600" dirty="0">
                  <a:latin typeface="+mn-lt"/>
                  <a:ea typeface="微软雅黑 Light" panose="020B0502040204020203" pitchFamily="34" charset="-122"/>
                </a:rPr>
                <a:t>首部</a:t>
              </a:r>
            </a:p>
          </p:txBody>
        </p:sp>
        <p:sp>
          <p:nvSpPr>
            <p:cNvPr id="366683" name="Rectangle 91"/>
            <p:cNvSpPr>
              <a:spLocks noChangeArrowheads="1"/>
            </p:cNvSpPr>
            <p:nvPr/>
          </p:nvSpPr>
          <p:spPr bwMode="auto">
            <a:xfrm>
              <a:off x="2679701" y="5162550"/>
              <a:ext cx="1630363" cy="363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sz="1800">
                  <a:solidFill>
                    <a:srgbClr val="333399"/>
                  </a:solidFill>
                  <a:latin typeface="+mn-lt"/>
                  <a:ea typeface="微软雅黑 Light" panose="020B0502040204020203" pitchFamily="34" charset="-122"/>
                </a:rPr>
                <a:t>TCP </a:t>
              </a:r>
              <a:r>
                <a:rPr lang="zh-CN" altLang="en-US" sz="1800">
                  <a:solidFill>
                    <a:srgbClr val="333399"/>
                  </a:solidFill>
                  <a:latin typeface="+mn-lt"/>
                  <a:ea typeface="微软雅黑 Light" panose="020B0502040204020203" pitchFamily="34" charset="-122"/>
                </a:rPr>
                <a:t>报文段</a:t>
              </a:r>
            </a:p>
          </p:txBody>
        </p:sp>
        <p:sp>
          <p:nvSpPr>
            <p:cNvPr id="366684" name="Rectangle 92"/>
            <p:cNvSpPr>
              <a:spLocks noChangeArrowheads="1"/>
            </p:cNvSpPr>
            <p:nvPr/>
          </p:nvSpPr>
          <p:spPr bwMode="auto">
            <a:xfrm>
              <a:off x="4094163" y="6011864"/>
              <a:ext cx="5770562" cy="504825"/>
            </a:xfrm>
            <a:prstGeom prst="rect">
              <a:avLst/>
            </a:prstGeom>
            <a:solidFill>
              <a:schemeClr val="tx2">
                <a:lumMod val="40000"/>
                <a:lumOff val="60000"/>
              </a:schemeClr>
            </a:solidFill>
            <a:ln w="19050">
              <a:solidFill>
                <a:srgbClr val="333399"/>
              </a:solidFill>
              <a:miter lim="800000"/>
            </a:ln>
            <a:effectLst/>
          </p:spPr>
          <p:txBody>
            <a:bodyPr wrap="none" anchor="ctr"/>
            <a:lstStyle/>
            <a:p>
              <a:pPr algn="ctr"/>
              <a:endParaRPr lang="zh-CN" altLang="zh-CN">
                <a:latin typeface="+mn-lt"/>
                <a:ea typeface="微软雅黑 Light" panose="020B0502040204020203" pitchFamily="34" charset="-122"/>
              </a:endParaRPr>
            </a:p>
          </p:txBody>
        </p:sp>
        <p:sp>
          <p:nvSpPr>
            <p:cNvPr id="366685" name="Rectangle 93"/>
            <p:cNvSpPr>
              <a:spLocks noChangeArrowheads="1"/>
            </p:cNvSpPr>
            <p:nvPr/>
          </p:nvSpPr>
          <p:spPr bwMode="auto">
            <a:xfrm>
              <a:off x="6115051" y="6070600"/>
              <a:ext cx="1374775" cy="36353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sz="1800" dirty="0">
                  <a:latin typeface="+mn-lt"/>
                  <a:ea typeface="微软雅黑 Light" panose="020B0502040204020203" pitchFamily="34" charset="-122"/>
                </a:rPr>
                <a:t>IP </a:t>
              </a:r>
              <a:r>
                <a:rPr lang="zh-CN" altLang="en-US" sz="1800" dirty="0">
                  <a:latin typeface="+mn-lt"/>
                  <a:ea typeface="微软雅黑 Light" panose="020B0502040204020203" pitchFamily="34" charset="-122"/>
                </a:rPr>
                <a:t>数据部分</a:t>
              </a:r>
            </a:p>
          </p:txBody>
        </p:sp>
        <p:sp>
          <p:nvSpPr>
            <p:cNvPr id="366686" name="Rectangle 94"/>
            <p:cNvSpPr>
              <a:spLocks noChangeArrowheads="1"/>
            </p:cNvSpPr>
            <p:nvPr/>
          </p:nvSpPr>
          <p:spPr bwMode="auto">
            <a:xfrm>
              <a:off x="3105151" y="6070600"/>
              <a:ext cx="917575" cy="36353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sz="1800" dirty="0">
                  <a:solidFill>
                    <a:srgbClr val="333399"/>
                  </a:solidFill>
                  <a:latin typeface="+mn-lt"/>
                  <a:ea typeface="微软雅黑 Light" panose="020B0502040204020203" pitchFamily="34" charset="-122"/>
                </a:rPr>
                <a:t>IP </a:t>
              </a:r>
              <a:r>
                <a:rPr lang="zh-CN" altLang="en-US" sz="1800" dirty="0">
                  <a:solidFill>
                    <a:srgbClr val="333399"/>
                  </a:solidFill>
                  <a:latin typeface="+mn-lt"/>
                  <a:ea typeface="微软雅黑 Light" panose="020B0502040204020203" pitchFamily="34" charset="-122"/>
                </a:rPr>
                <a:t>首部</a:t>
              </a:r>
            </a:p>
          </p:txBody>
        </p:sp>
        <p:sp>
          <p:nvSpPr>
            <p:cNvPr id="366687" name="AutoShape 95"/>
            <p:cNvSpPr>
              <a:spLocks noChangeArrowheads="1"/>
            </p:cNvSpPr>
            <p:nvPr/>
          </p:nvSpPr>
          <p:spPr bwMode="auto">
            <a:xfrm rot="16200000">
              <a:off x="4464845" y="5814220"/>
              <a:ext cx="758825" cy="268287"/>
            </a:xfrm>
            <a:prstGeom prst="leftArrow">
              <a:avLst>
                <a:gd name="adj1" fmla="val 50000"/>
                <a:gd name="adj2" fmla="val 70710"/>
              </a:avLst>
            </a:prstGeom>
            <a:solidFill>
              <a:schemeClr val="accent2">
                <a:alpha val="42999"/>
              </a:schemeClr>
            </a:solidFill>
            <a:ln w="12700">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a:endParaRPr lang="zh-CN" altLang="zh-CN">
                <a:latin typeface="+mn-lt"/>
                <a:ea typeface="微软雅黑 Light" panose="020B0502040204020203" pitchFamily="34" charset="-122"/>
              </a:endParaRPr>
            </a:p>
          </p:txBody>
        </p:sp>
        <p:sp>
          <p:nvSpPr>
            <p:cNvPr id="366688" name="AutoShape 96"/>
            <p:cNvSpPr>
              <a:spLocks noChangeArrowheads="1"/>
            </p:cNvSpPr>
            <p:nvPr/>
          </p:nvSpPr>
          <p:spPr bwMode="auto">
            <a:xfrm rot="16200000">
              <a:off x="7408863" y="5815013"/>
              <a:ext cx="758825" cy="266700"/>
            </a:xfrm>
            <a:prstGeom prst="leftArrow">
              <a:avLst>
                <a:gd name="adj1" fmla="val 50000"/>
                <a:gd name="adj2" fmla="val 71131"/>
              </a:avLst>
            </a:prstGeom>
            <a:solidFill>
              <a:schemeClr val="accent1">
                <a:alpha val="42999"/>
              </a:schemeClr>
            </a:solidFill>
            <a:ln w="12700">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a:endParaRPr lang="zh-CN" altLang="zh-CN">
                <a:latin typeface="+mn-lt"/>
                <a:ea typeface="微软雅黑 Light" panose="020B0502040204020203" pitchFamily="34" charset="-122"/>
              </a:endParaRPr>
            </a:p>
          </p:txBody>
        </p:sp>
        <p:sp>
          <p:nvSpPr>
            <p:cNvPr id="366689" name="Line 97"/>
            <p:cNvSpPr>
              <a:spLocks noChangeShapeType="1"/>
            </p:cNvSpPr>
            <p:nvPr/>
          </p:nvSpPr>
          <p:spPr bwMode="auto">
            <a:xfrm>
              <a:off x="2300288" y="1552575"/>
              <a:ext cx="46990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366690" name="Line 98"/>
            <p:cNvSpPr>
              <a:spLocks noChangeShapeType="1"/>
            </p:cNvSpPr>
            <p:nvPr/>
          </p:nvSpPr>
          <p:spPr bwMode="auto">
            <a:xfrm>
              <a:off x="2312988" y="4294188"/>
              <a:ext cx="46990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97" name="Line 32"/>
            <p:cNvSpPr>
              <a:spLocks noChangeShapeType="1"/>
            </p:cNvSpPr>
            <p:nvPr/>
          </p:nvSpPr>
          <p:spPr bwMode="auto">
            <a:xfrm>
              <a:off x="4734173" y="2934689"/>
              <a:ext cx="0" cy="4556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9" name="Line 33"/>
            <p:cNvSpPr>
              <a:spLocks noChangeShapeType="1"/>
            </p:cNvSpPr>
            <p:nvPr/>
          </p:nvSpPr>
          <p:spPr bwMode="auto">
            <a:xfrm>
              <a:off x="4521448" y="2934689"/>
              <a:ext cx="0" cy="4556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grpSp>
      <p:sp>
        <p:nvSpPr>
          <p:cNvPr id="3" name="Rectangle 82">
            <a:extLst>
              <a:ext uri="{FF2B5EF4-FFF2-40B4-BE49-F238E27FC236}">
                <a16:creationId xmlns:a16="http://schemas.microsoft.com/office/drawing/2014/main" id="{71BA020D-E169-76B5-F5D3-DB1F1B88A8B3}"/>
              </a:ext>
            </a:extLst>
          </p:cNvPr>
          <p:cNvSpPr>
            <a:spLocks noChangeArrowheads="1"/>
          </p:cNvSpPr>
          <p:nvPr/>
        </p:nvSpPr>
        <p:spPr bwMode="auto">
          <a:xfrm>
            <a:off x="2344735" y="908720"/>
            <a:ext cx="7730067"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位 </a:t>
            </a:r>
            <a:r>
              <a:rPr lang="en-US" altLang="zh-CN" sz="2000" dirty="0">
                <a:latin typeface="+mn-lt"/>
                <a:ea typeface="微软雅黑 Light" panose="020B0502040204020203" pitchFamily="34" charset="-122"/>
              </a:rPr>
              <a:t>0                         8                        16                       24                      31</a:t>
            </a:r>
          </a:p>
        </p:txBody>
      </p:sp>
      <p:sp>
        <p:nvSpPr>
          <p:cNvPr id="4" name="Rectangle 38">
            <a:extLst>
              <a:ext uri="{FF2B5EF4-FFF2-40B4-BE49-F238E27FC236}">
                <a16:creationId xmlns:a16="http://schemas.microsoft.com/office/drawing/2014/main" id="{866FD660-EB44-E77A-FFEE-674629112319}"/>
              </a:ext>
            </a:extLst>
          </p:cNvPr>
          <p:cNvSpPr>
            <a:spLocks noChangeArrowheads="1"/>
          </p:cNvSpPr>
          <p:nvPr/>
        </p:nvSpPr>
        <p:spPr bwMode="auto">
          <a:xfrm rot="16200000">
            <a:off x="5914387" y="3054946"/>
            <a:ext cx="492122" cy="2530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lnSpc>
                <a:spcPct val="75000"/>
              </a:lnSpc>
            </a:pPr>
            <a:r>
              <a:rPr lang="en-US" altLang="zh-CN" sz="1400" b="1" dirty="0">
                <a:latin typeface="+mn-lt"/>
                <a:ea typeface="微软雅黑 Light" panose="020B0502040204020203" pitchFamily="34" charset="-122"/>
              </a:rPr>
              <a:t>FIN</a:t>
            </a:r>
          </a:p>
        </p:txBody>
      </p:sp>
      <p:sp>
        <p:nvSpPr>
          <p:cNvPr id="5" name="Rectangle 77">
            <a:extLst>
              <a:ext uri="{FF2B5EF4-FFF2-40B4-BE49-F238E27FC236}">
                <a16:creationId xmlns:a16="http://schemas.microsoft.com/office/drawing/2014/main" id="{17171241-B183-754C-06AA-2669E5E523B2}"/>
              </a:ext>
            </a:extLst>
          </p:cNvPr>
          <p:cNvSpPr>
            <a:spLocks noChangeArrowheads="1"/>
          </p:cNvSpPr>
          <p:nvPr/>
        </p:nvSpPr>
        <p:spPr bwMode="auto">
          <a:xfrm rot="16200000">
            <a:off x="5701598" y="3032693"/>
            <a:ext cx="541816" cy="2530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400" b="1" dirty="0">
                <a:latin typeface="+mn-lt"/>
                <a:ea typeface="微软雅黑 Light" panose="020B0502040204020203" pitchFamily="34" charset="-122"/>
              </a:rPr>
              <a:t>SYN</a:t>
            </a:r>
          </a:p>
        </p:txBody>
      </p:sp>
      <p:sp>
        <p:nvSpPr>
          <p:cNvPr id="6" name="Rectangle 78">
            <a:extLst>
              <a:ext uri="{FF2B5EF4-FFF2-40B4-BE49-F238E27FC236}">
                <a16:creationId xmlns:a16="http://schemas.microsoft.com/office/drawing/2014/main" id="{8D21842E-5FFB-59AA-62A1-AB68BF58A480}"/>
              </a:ext>
            </a:extLst>
          </p:cNvPr>
          <p:cNvSpPr>
            <a:spLocks noChangeArrowheads="1"/>
          </p:cNvSpPr>
          <p:nvPr/>
        </p:nvSpPr>
        <p:spPr bwMode="auto">
          <a:xfrm rot="16200000">
            <a:off x="5440322" y="2993313"/>
            <a:ext cx="618290" cy="2530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400" b="1" dirty="0">
                <a:latin typeface="+mn-lt"/>
                <a:ea typeface="微软雅黑 Light" panose="020B0502040204020203" pitchFamily="34" charset="-122"/>
              </a:rPr>
              <a:t>RST</a:t>
            </a:r>
          </a:p>
        </p:txBody>
      </p:sp>
      <p:sp>
        <p:nvSpPr>
          <p:cNvPr id="7" name="Rectangle 79">
            <a:extLst>
              <a:ext uri="{FF2B5EF4-FFF2-40B4-BE49-F238E27FC236}">
                <a16:creationId xmlns:a16="http://schemas.microsoft.com/office/drawing/2014/main" id="{90427448-C9A0-5DFF-C8C0-B5524DCFFF53}"/>
              </a:ext>
            </a:extLst>
          </p:cNvPr>
          <p:cNvSpPr>
            <a:spLocks noChangeArrowheads="1"/>
          </p:cNvSpPr>
          <p:nvPr/>
        </p:nvSpPr>
        <p:spPr bwMode="auto">
          <a:xfrm rot="16200000">
            <a:off x="5213754" y="3005428"/>
            <a:ext cx="600108" cy="2530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400" b="1" dirty="0">
                <a:latin typeface="+mn-lt"/>
                <a:ea typeface="微软雅黑 Light" panose="020B0502040204020203" pitchFamily="34" charset="-122"/>
              </a:rPr>
              <a:t>PSH  </a:t>
            </a:r>
          </a:p>
        </p:txBody>
      </p:sp>
      <p:sp>
        <p:nvSpPr>
          <p:cNvPr id="8" name="Rectangle 80">
            <a:extLst>
              <a:ext uri="{FF2B5EF4-FFF2-40B4-BE49-F238E27FC236}">
                <a16:creationId xmlns:a16="http://schemas.microsoft.com/office/drawing/2014/main" id="{DA568D80-DDC2-DFBB-9F83-3994EE14FCDB}"/>
              </a:ext>
            </a:extLst>
          </p:cNvPr>
          <p:cNvSpPr>
            <a:spLocks noChangeArrowheads="1"/>
          </p:cNvSpPr>
          <p:nvPr/>
        </p:nvSpPr>
        <p:spPr bwMode="auto">
          <a:xfrm rot="16200000">
            <a:off x="4957763" y="2979402"/>
            <a:ext cx="730250" cy="2530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400" b="1" dirty="0">
                <a:latin typeface="+mn-lt"/>
                <a:ea typeface="微软雅黑 Light" panose="020B0502040204020203" pitchFamily="34" charset="-122"/>
              </a:rPr>
              <a:t>ACK</a:t>
            </a:r>
          </a:p>
        </p:txBody>
      </p:sp>
      <p:sp>
        <p:nvSpPr>
          <p:cNvPr id="9" name="Rectangle 81">
            <a:extLst>
              <a:ext uri="{FF2B5EF4-FFF2-40B4-BE49-F238E27FC236}">
                <a16:creationId xmlns:a16="http://schemas.microsoft.com/office/drawing/2014/main" id="{763000A2-5896-D840-E053-20EC0E97F2DD}"/>
              </a:ext>
            </a:extLst>
          </p:cNvPr>
          <p:cNvSpPr>
            <a:spLocks noChangeArrowheads="1"/>
          </p:cNvSpPr>
          <p:nvPr/>
        </p:nvSpPr>
        <p:spPr bwMode="auto">
          <a:xfrm rot="16200000">
            <a:off x="4704857" y="2957974"/>
            <a:ext cx="761997" cy="2530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400" b="1" dirty="0">
                <a:latin typeface="+mn-lt"/>
                <a:ea typeface="微软雅黑 Light" panose="020B0502040204020203" pitchFamily="34" charset="-122"/>
              </a:rPr>
              <a:t>URG</a:t>
            </a:r>
          </a:p>
        </p:txBody>
      </p:sp>
      <p:sp>
        <p:nvSpPr>
          <p:cNvPr id="10" name="Rectangle 81">
            <a:extLst>
              <a:ext uri="{FF2B5EF4-FFF2-40B4-BE49-F238E27FC236}">
                <a16:creationId xmlns:a16="http://schemas.microsoft.com/office/drawing/2014/main" id="{B775D677-2BF0-7C7C-DDE0-1C7A94E8F21D}"/>
              </a:ext>
            </a:extLst>
          </p:cNvPr>
          <p:cNvSpPr>
            <a:spLocks noChangeArrowheads="1"/>
          </p:cNvSpPr>
          <p:nvPr/>
        </p:nvSpPr>
        <p:spPr bwMode="auto">
          <a:xfrm rot="16200000">
            <a:off x="4282011" y="2997556"/>
            <a:ext cx="721634" cy="2530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400" b="1" dirty="0">
                <a:latin typeface="+mn-lt"/>
                <a:ea typeface="微软雅黑 Light" panose="020B0502040204020203" pitchFamily="34" charset="-122"/>
              </a:rPr>
              <a:t>CWR</a:t>
            </a:r>
          </a:p>
        </p:txBody>
      </p:sp>
      <p:sp>
        <p:nvSpPr>
          <p:cNvPr id="11" name="Rectangle 81">
            <a:extLst>
              <a:ext uri="{FF2B5EF4-FFF2-40B4-BE49-F238E27FC236}">
                <a16:creationId xmlns:a16="http://schemas.microsoft.com/office/drawing/2014/main" id="{96CB49B1-A17D-71A8-EE6A-F015AE3C3B58}"/>
              </a:ext>
            </a:extLst>
          </p:cNvPr>
          <p:cNvSpPr>
            <a:spLocks noChangeArrowheads="1"/>
          </p:cNvSpPr>
          <p:nvPr/>
        </p:nvSpPr>
        <p:spPr bwMode="auto">
          <a:xfrm rot="16200000">
            <a:off x="4521432" y="2963049"/>
            <a:ext cx="704221" cy="2530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400" b="1" dirty="0">
                <a:latin typeface="+mn-lt"/>
                <a:ea typeface="微软雅黑 Light" panose="020B0502040204020203" pitchFamily="34" charset="-122"/>
              </a:rPr>
              <a:t>ECE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灯片编号占位符 5"/>
          <p:cNvSpPr>
            <a:spLocks noGrp="1"/>
          </p:cNvSpPr>
          <p:nvPr>
            <p:ph type="sldNum" sz="quarter" idx="12"/>
          </p:nvPr>
        </p:nvSpPr>
        <p:spPr/>
        <p:txBody>
          <a:bodyPr/>
          <a:lstStyle/>
          <a:p>
            <a:fld id="{722281A0-73EA-47B2-8F72-96430757013D}" type="slidenum">
              <a:rPr lang="en-US" altLang="zh-CN"/>
              <a:t>33</a:t>
            </a:fld>
            <a:endParaRPr lang="en-US" altLang="zh-CN"/>
          </a:p>
        </p:txBody>
      </p:sp>
      <p:sp>
        <p:nvSpPr>
          <p:cNvPr id="301145" name="Text Box 89"/>
          <p:cNvSpPr txBox="1">
            <a:spLocks noChangeArrowheads="1"/>
          </p:cNvSpPr>
          <p:nvPr/>
        </p:nvSpPr>
        <p:spPr bwMode="auto">
          <a:xfrm>
            <a:off x="1056000" y="5905015"/>
            <a:ext cx="10080000" cy="707886"/>
          </a:xfrm>
          <a:prstGeom prst="rect">
            <a:avLst/>
          </a:prstGeom>
          <a:noFill/>
          <a:ln>
            <a:noFill/>
          </a:ln>
          <a:effectLst/>
        </p:spPr>
        <p:txBody>
          <a:bodyPr>
            <a:spAutoFit/>
          </a:bodyPr>
          <a:lstStyle>
            <a:defPPr>
              <a:defRPr lang="zh-CN"/>
            </a:defPPr>
            <a:lvl1pPr>
              <a:defRPr>
                <a:latin typeface="微软雅黑 Light" panose="020B0502040204020203" pitchFamily="34" charset="-122"/>
                <a:ea typeface="微软雅黑 Light" panose="020B0502040204020203" pitchFamily="34" charset="-122"/>
              </a:defRPr>
            </a:lvl1pPr>
          </a:lstStyle>
          <a:p>
            <a:pPr marL="342900" indent="-342900">
              <a:buFont typeface="Wingdings" panose="05000000000000000000" pitchFamily="2" charset="2"/>
              <a:buChar char="Ø"/>
            </a:pPr>
            <a:r>
              <a:rPr lang="zh-CN" altLang="en-US" dirty="0"/>
              <a:t>源端口、目的端口：各占 </a:t>
            </a:r>
            <a:r>
              <a:rPr lang="en-US" altLang="zh-CN" dirty="0"/>
              <a:t>2 </a:t>
            </a:r>
            <a:r>
              <a:rPr lang="zh-CN" altLang="en-US" dirty="0"/>
              <a:t>字节。端口是传输层与应用层的服务接口。传输层的复用和分用功能都要通过端口才能实现  </a:t>
            </a:r>
          </a:p>
        </p:txBody>
      </p:sp>
      <p:sp>
        <p:nvSpPr>
          <p:cNvPr id="301150" name="Rectangle 94"/>
          <p:cNvSpPr>
            <a:spLocks noGrp="1" noChangeArrowheads="1"/>
          </p:cNvSpPr>
          <p:nvPr>
            <p:ph type="title"/>
          </p:nvPr>
        </p:nvSpPr>
        <p:spPr>
          <a:noFill/>
        </p:spPr>
        <p:txBody>
          <a:bodyPr/>
          <a:lstStyle/>
          <a:p>
            <a:r>
              <a:rPr lang="en-US" altLang="zh-CN" dirty="0"/>
              <a:t>TCP</a:t>
            </a:r>
            <a:r>
              <a:rPr lang="zh-CN" altLang="en-US" dirty="0"/>
              <a:t>的报头字段</a:t>
            </a:r>
            <a:endParaRPr lang="en-US" altLang="zh-CN" dirty="0"/>
          </a:p>
        </p:txBody>
      </p:sp>
      <p:grpSp>
        <p:nvGrpSpPr>
          <p:cNvPr id="2" name="组合 1"/>
          <p:cNvGrpSpPr/>
          <p:nvPr/>
        </p:nvGrpSpPr>
        <p:grpSpPr>
          <a:xfrm>
            <a:off x="1524000" y="1109664"/>
            <a:ext cx="9080500" cy="4695826"/>
            <a:chOff x="1524000" y="1109664"/>
            <a:chExt cx="9080500" cy="4695826"/>
          </a:xfrm>
        </p:grpSpPr>
        <p:sp>
          <p:nvSpPr>
            <p:cNvPr id="301065" name="Line 9"/>
            <p:cNvSpPr>
              <a:spLocks noChangeShapeType="1"/>
            </p:cNvSpPr>
            <p:nvPr/>
          </p:nvSpPr>
          <p:spPr bwMode="auto">
            <a:xfrm flipH="1">
              <a:off x="1852613" y="1668464"/>
              <a:ext cx="17463" cy="4122738"/>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1066" name="Rectangle 10"/>
            <p:cNvSpPr>
              <a:spLocks noChangeArrowheads="1"/>
            </p:cNvSpPr>
            <p:nvPr/>
          </p:nvSpPr>
          <p:spPr bwMode="auto">
            <a:xfrm>
              <a:off x="1524000" y="3268664"/>
              <a:ext cx="696913" cy="6445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90000"/>
                </a:lnSpc>
              </a:pPr>
              <a:r>
                <a:rPr lang="en-US" altLang="zh-CN" sz="2000">
                  <a:latin typeface="+mn-lt"/>
                  <a:ea typeface="微软雅黑 Light" panose="020B0502040204020203" pitchFamily="34" charset="-122"/>
                </a:rPr>
                <a:t>TCP</a:t>
              </a:r>
            </a:p>
            <a:p>
              <a:pPr eaLnBrk="0" hangingPunct="0">
                <a:lnSpc>
                  <a:spcPct val="90000"/>
                </a:lnSpc>
              </a:pPr>
              <a:r>
                <a:rPr lang="zh-CN" altLang="en-US" sz="2000">
                  <a:latin typeface="+mn-lt"/>
                  <a:ea typeface="微软雅黑 Light" panose="020B0502040204020203" pitchFamily="34" charset="-122"/>
                </a:rPr>
                <a:t>首部</a:t>
              </a:r>
            </a:p>
          </p:txBody>
        </p:sp>
        <p:sp>
          <p:nvSpPr>
            <p:cNvPr id="301067" name="Line 11"/>
            <p:cNvSpPr>
              <a:spLocks noChangeShapeType="1"/>
            </p:cNvSpPr>
            <p:nvPr/>
          </p:nvSpPr>
          <p:spPr bwMode="auto">
            <a:xfrm>
              <a:off x="10272713" y="1658939"/>
              <a:ext cx="0" cy="3463925"/>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1068" name="Rectangle 12"/>
            <p:cNvSpPr>
              <a:spLocks noChangeArrowheads="1"/>
            </p:cNvSpPr>
            <p:nvPr/>
          </p:nvSpPr>
          <p:spPr bwMode="auto">
            <a:xfrm>
              <a:off x="9909175" y="2736852"/>
              <a:ext cx="695325" cy="119697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lnSpc>
                  <a:spcPct val="90000"/>
                </a:lnSpc>
              </a:pPr>
              <a:r>
                <a:rPr lang="en-US" altLang="zh-CN" sz="2000">
                  <a:latin typeface="+mn-lt"/>
                  <a:ea typeface="微软雅黑 Light" panose="020B0502040204020203" pitchFamily="34" charset="-122"/>
                </a:rPr>
                <a:t>20</a:t>
              </a:r>
            </a:p>
            <a:p>
              <a:pPr algn="ctr" eaLnBrk="0" hangingPunct="0">
                <a:lnSpc>
                  <a:spcPct val="90000"/>
                </a:lnSpc>
              </a:pPr>
              <a:r>
                <a:rPr lang="zh-CN" altLang="en-US" sz="2000">
                  <a:latin typeface="+mn-lt"/>
                  <a:ea typeface="微软雅黑 Light" panose="020B0502040204020203" pitchFamily="34" charset="-122"/>
                </a:rPr>
                <a:t>字节</a:t>
              </a:r>
            </a:p>
            <a:p>
              <a:pPr algn="ctr" eaLnBrk="0" hangingPunct="0">
                <a:lnSpc>
                  <a:spcPct val="90000"/>
                </a:lnSpc>
              </a:pPr>
              <a:r>
                <a:rPr lang="zh-CN" altLang="en-US" sz="2000">
                  <a:latin typeface="+mn-lt"/>
                  <a:ea typeface="微软雅黑 Light" panose="020B0502040204020203" pitchFamily="34" charset="-122"/>
                </a:rPr>
                <a:t>固定</a:t>
              </a:r>
            </a:p>
            <a:p>
              <a:pPr algn="ctr" eaLnBrk="0" hangingPunct="0">
                <a:lnSpc>
                  <a:spcPct val="90000"/>
                </a:lnSpc>
              </a:pPr>
              <a:r>
                <a:rPr lang="zh-CN" altLang="en-US" sz="2000">
                  <a:latin typeface="+mn-lt"/>
                  <a:ea typeface="微软雅黑 Light" panose="020B0502040204020203" pitchFamily="34" charset="-122"/>
                </a:rPr>
                <a:t>首部</a:t>
              </a:r>
            </a:p>
          </p:txBody>
        </p:sp>
        <p:sp>
          <p:nvSpPr>
            <p:cNvPr id="301069" name="Rectangle 13"/>
            <p:cNvSpPr>
              <a:spLocks noChangeArrowheads="1"/>
            </p:cNvSpPr>
            <p:nvPr/>
          </p:nvSpPr>
          <p:spPr bwMode="auto">
            <a:xfrm>
              <a:off x="2178050" y="1665289"/>
              <a:ext cx="7686675" cy="4133850"/>
            </a:xfrm>
            <a:prstGeom prst="rect">
              <a:avLst/>
            </a:prstGeom>
            <a:solidFill>
              <a:schemeClr val="bg2"/>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301070" name="Line 14"/>
            <p:cNvSpPr>
              <a:spLocks noChangeShapeType="1"/>
            </p:cNvSpPr>
            <p:nvPr/>
          </p:nvSpPr>
          <p:spPr bwMode="auto">
            <a:xfrm>
              <a:off x="2170113" y="2368552"/>
              <a:ext cx="76993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1071" name="Line 15"/>
            <p:cNvSpPr>
              <a:spLocks noChangeShapeType="1"/>
            </p:cNvSpPr>
            <p:nvPr/>
          </p:nvSpPr>
          <p:spPr bwMode="auto">
            <a:xfrm>
              <a:off x="2184400" y="3063877"/>
              <a:ext cx="768508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1072" name="Line 16"/>
            <p:cNvSpPr>
              <a:spLocks noChangeShapeType="1"/>
            </p:cNvSpPr>
            <p:nvPr/>
          </p:nvSpPr>
          <p:spPr bwMode="auto">
            <a:xfrm>
              <a:off x="2170113" y="3757614"/>
              <a:ext cx="76993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1073" name="Line 17"/>
            <p:cNvSpPr>
              <a:spLocks noChangeShapeType="1"/>
            </p:cNvSpPr>
            <p:nvPr/>
          </p:nvSpPr>
          <p:spPr bwMode="auto">
            <a:xfrm>
              <a:off x="2170113" y="4449764"/>
              <a:ext cx="76993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1074" name="Line 18"/>
            <p:cNvSpPr>
              <a:spLocks noChangeShapeType="1"/>
            </p:cNvSpPr>
            <p:nvPr/>
          </p:nvSpPr>
          <p:spPr bwMode="auto">
            <a:xfrm>
              <a:off x="2184400" y="5145089"/>
              <a:ext cx="768508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1075" name="Line 19"/>
            <p:cNvSpPr>
              <a:spLocks noChangeShapeType="1"/>
            </p:cNvSpPr>
            <p:nvPr/>
          </p:nvSpPr>
          <p:spPr bwMode="auto">
            <a:xfrm>
              <a:off x="6022975" y="1673227"/>
              <a:ext cx="0" cy="7096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1076" name="Rectangle 20"/>
            <p:cNvSpPr>
              <a:spLocks noChangeArrowheads="1"/>
            </p:cNvSpPr>
            <p:nvPr/>
          </p:nvSpPr>
          <p:spPr bwMode="auto">
            <a:xfrm>
              <a:off x="7223125" y="1800227"/>
              <a:ext cx="1593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目  的  端  口</a:t>
              </a:r>
            </a:p>
          </p:txBody>
        </p:sp>
        <p:sp>
          <p:nvSpPr>
            <p:cNvPr id="301077" name="Rectangle 21"/>
            <p:cNvSpPr>
              <a:spLocks noChangeArrowheads="1"/>
            </p:cNvSpPr>
            <p:nvPr/>
          </p:nvSpPr>
          <p:spPr bwMode="auto">
            <a:xfrm>
              <a:off x="2332038" y="3722689"/>
              <a:ext cx="695325" cy="704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数据</a:t>
              </a:r>
            </a:p>
            <a:p>
              <a:pPr eaLnBrk="0" hangingPunct="0"/>
              <a:r>
                <a:rPr lang="zh-CN" altLang="en-US" sz="2000" dirty="0">
                  <a:latin typeface="+mn-lt"/>
                  <a:ea typeface="微软雅黑 Light" panose="020B0502040204020203" pitchFamily="34" charset="-122"/>
                </a:rPr>
                <a:t>偏移</a:t>
              </a:r>
            </a:p>
          </p:txBody>
        </p:sp>
        <p:sp>
          <p:nvSpPr>
            <p:cNvPr id="301078" name="Rectangle 22"/>
            <p:cNvSpPr>
              <a:spLocks noChangeArrowheads="1"/>
            </p:cNvSpPr>
            <p:nvPr/>
          </p:nvSpPr>
          <p:spPr bwMode="auto">
            <a:xfrm>
              <a:off x="3411538" y="4587877"/>
              <a:ext cx="13366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检   验   和</a:t>
              </a:r>
            </a:p>
          </p:txBody>
        </p:sp>
        <p:sp>
          <p:nvSpPr>
            <p:cNvPr id="301079" name="Rectangle 23"/>
            <p:cNvSpPr>
              <a:spLocks noChangeArrowheads="1"/>
            </p:cNvSpPr>
            <p:nvPr/>
          </p:nvSpPr>
          <p:spPr bwMode="auto">
            <a:xfrm>
              <a:off x="3694113" y="5237164"/>
              <a:ext cx="31988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选    项 长  度  可  变）</a:t>
              </a:r>
            </a:p>
          </p:txBody>
        </p:sp>
        <p:sp>
          <p:nvSpPr>
            <p:cNvPr id="301080" name="Rectangle 24"/>
            <p:cNvSpPr>
              <a:spLocks noChangeArrowheads="1"/>
            </p:cNvSpPr>
            <p:nvPr/>
          </p:nvSpPr>
          <p:spPr bwMode="auto">
            <a:xfrm>
              <a:off x="3525838" y="1800227"/>
              <a:ext cx="12541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源  端  口</a:t>
              </a:r>
            </a:p>
          </p:txBody>
        </p:sp>
        <p:sp>
          <p:nvSpPr>
            <p:cNvPr id="301081" name="Rectangle 25"/>
            <p:cNvSpPr>
              <a:spLocks noChangeArrowheads="1"/>
            </p:cNvSpPr>
            <p:nvPr/>
          </p:nvSpPr>
          <p:spPr bwMode="auto">
            <a:xfrm>
              <a:off x="5578475" y="2487614"/>
              <a:ext cx="1381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序   号</a:t>
              </a:r>
            </a:p>
          </p:txBody>
        </p:sp>
        <p:sp>
          <p:nvSpPr>
            <p:cNvPr id="301082" name="Line 26"/>
            <p:cNvSpPr>
              <a:spLocks noChangeShapeType="1"/>
            </p:cNvSpPr>
            <p:nvPr/>
          </p:nvSpPr>
          <p:spPr bwMode="auto">
            <a:xfrm>
              <a:off x="6029325" y="3767139"/>
              <a:ext cx="0" cy="13700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1083" name="Rectangle 27"/>
            <p:cNvSpPr>
              <a:spLocks noChangeArrowheads="1"/>
            </p:cNvSpPr>
            <p:nvPr/>
          </p:nvSpPr>
          <p:spPr bwMode="auto">
            <a:xfrm>
              <a:off x="7062788" y="4587877"/>
              <a:ext cx="17859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紧   急   指   针</a:t>
              </a:r>
            </a:p>
          </p:txBody>
        </p:sp>
        <p:sp>
          <p:nvSpPr>
            <p:cNvPr id="301084" name="Rectangle 28"/>
            <p:cNvSpPr>
              <a:spLocks noChangeArrowheads="1"/>
            </p:cNvSpPr>
            <p:nvPr/>
          </p:nvSpPr>
          <p:spPr bwMode="auto">
            <a:xfrm>
              <a:off x="7512050" y="3868739"/>
              <a:ext cx="9223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窗   口</a:t>
              </a:r>
            </a:p>
          </p:txBody>
        </p:sp>
        <p:sp>
          <p:nvSpPr>
            <p:cNvPr id="301085" name="Rectangle 29"/>
            <p:cNvSpPr>
              <a:spLocks noChangeArrowheads="1"/>
            </p:cNvSpPr>
            <p:nvPr/>
          </p:nvSpPr>
          <p:spPr bwMode="auto">
            <a:xfrm>
              <a:off x="5334000" y="3211514"/>
              <a:ext cx="18415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确    认    号</a:t>
              </a:r>
            </a:p>
          </p:txBody>
        </p:sp>
        <p:sp>
          <p:nvSpPr>
            <p:cNvPr id="301086" name="Line 30"/>
            <p:cNvSpPr>
              <a:spLocks noChangeShapeType="1"/>
            </p:cNvSpPr>
            <p:nvPr/>
          </p:nvSpPr>
          <p:spPr bwMode="auto">
            <a:xfrm>
              <a:off x="3135313" y="3767139"/>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1095" name="Line 39"/>
            <p:cNvSpPr>
              <a:spLocks noChangeShapeType="1"/>
            </p:cNvSpPr>
            <p:nvPr/>
          </p:nvSpPr>
          <p:spPr bwMode="auto">
            <a:xfrm>
              <a:off x="2174875" y="1508127"/>
              <a:ext cx="767556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1096" name="Line 40"/>
            <p:cNvSpPr>
              <a:spLocks noChangeShapeType="1"/>
            </p:cNvSpPr>
            <p:nvPr/>
          </p:nvSpPr>
          <p:spPr bwMode="auto">
            <a:xfrm>
              <a:off x="2174875"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1097" name="Line 41"/>
            <p:cNvSpPr>
              <a:spLocks noChangeShapeType="1"/>
            </p:cNvSpPr>
            <p:nvPr/>
          </p:nvSpPr>
          <p:spPr bwMode="auto">
            <a:xfrm>
              <a:off x="241458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1098" name="Line 42"/>
            <p:cNvSpPr>
              <a:spLocks noChangeShapeType="1"/>
            </p:cNvSpPr>
            <p:nvPr/>
          </p:nvSpPr>
          <p:spPr bwMode="auto">
            <a:xfrm>
              <a:off x="2654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1099" name="Line 43"/>
            <p:cNvSpPr>
              <a:spLocks noChangeShapeType="1"/>
            </p:cNvSpPr>
            <p:nvPr/>
          </p:nvSpPr>
          <p:spPr bwMode="auto">
            <a:xfrm>
              <a:off x="289401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1100" name="Line 44"/>
            <p:cNvSpPr>
              <a:spLocks noChangeShapeType="1"/>
            </p:cNvSpPr>
            <p:nvPr/>
          </p:nvSpPr>
          <p:spPr bwMode="auto">
            <a:xfrm>
              <a:off x="313531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1101" name="Line 45"/>
            <p:cNvSpPr>
              <a:spLocks noChangeShapeType="1"/>
            </p:cNvSpPr>
            <p:nvPr/>
          </p:nvSpPr>
          <p:spPr bwMode="auto">
            <a:xfrm>
              <a:off x="337502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1102" name="Line 46"/>
            <p:cNvSpPr>
              <a:spLocks noChangeShapeType="1"/>
            </p:cNvSpPr>
            <p:nvPr/>
          </p:nvSpPr>
          <p:spPr bwMode="auto">
            <a:xfrm>
              <a:off x="361315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1103" name="Line 47"/>
            <p:cNvSpPr>
              <a:spLocks noChangeShapeType="1"/>
            </p:cNvSpPr>
            <p:nvPr/>
          </p:nvSpPr>
          <p:spPr bwMode="auto">
            <a:xfrm>
              <a:off x="385286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1104" name="Line 48"/>
            <p:cNvSpPr>
              <a:spLocks noChangeShapeType="1"/>
            </p:cNvSpPr>
            <p:nvPr/>
          </p:nvSpPr>
          <p:spPr bwMode="auto">
            <a:xfrm>
              <a:off x="4094163"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1105" name="Line 49"/>
            <p:cNvSpPr>
              <a:spLocks noChangeShapeType="1"/>
            </p:cNvSpPr>
            <p:nvPr/>
          </p:nvSpPr>
          <p:spPr bwMode="auto">
            <a:xfrm>
              <a:off x="433387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1106" name="Line 50"/>
            <p:cNvSpPr>
              <a:spLocks noChangeShapeType="1"/>
            </p:cNvSpPr>
            <p:nvPr/>
          </p:nvSpPr>
          <p:spPr bwMode="auto">
            <a:xfrm>
              <a:off x="457358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1107" name="Line 51"/>
            <p:cNvSpPr>
              <a:spLocks noChangeShapeType="1"/>
            </p:cNvSpPr>
            <p:nvPr/>
          </p:nvSpPr>
          <p:spPr bwMode="auto">
            <a:xfrm>
              <a:off x="4813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1108" name="Line 52"/>
            <p:cNvSpPr>
              <a:spLocks noChangeShapeType="1"/>
            </p:cNvSpPr>
            <p:nvPr/>
          </p:nvSpPr>
          <p:spPr bwMode="auto">
            <a:xfrm>
              <a:off x="50546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1109" name="Line 53"/>
            <p:cNvSpPr>
              <a:spLocks noChangeShapeType="1"/>
            </p:cNvSpPr>
            <p:nvPr/>
          </p:nvSpPr>
          <p:spPr bwMode="auto">
            <a:xfrm>
              <a:off x="529431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1110" name="Line 54"/>
            <p:cNvSpPr>
              <a:spLocks noChangeShapeType="1"/>
            </p:cNvSpPr>
            <p:nvPr/>
          </p:nvSpPr>
          <p:spPr bwMode="auto">
            <a:xfrm>
              <a:off x="553243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1111" name="Line 55"/>
            <p:cNvSpPr>
              <a:spLocks noChangeShapeType="1"/>
            </p:cNvSpPr>
            <p:nvPr/>
          </p:nvSpPr>
          <p:spPr bwMode="auto">
            <a:xfrm>
              <a:off x="577215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1112" name="Line 56"/>
            <p:cNvSpPr>
              <a:spLocks noChangeShapeType="1"/>
            </p:cNvSpPr>
            <p:nvPr/>
          </p:nvSpPr>
          <p:spPr bwMode="auto">
            <a:xfrm>
              <a:off x="6011863"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1113" name="Line 57"/>
            <p:cNvSpPr>
              <a:spLocks noChangeShapeType="1"/>
            </p:cNvSpPr>
            <p:nvPr/>
          </p:nvSpPr>
          <p:spPr bwMode="auto">
            <a:xfrm>
              <a:off x="625316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1114" name="Line 58"/>
            <p:cNvSpPr>
              <a:spLocks noChangeShapeType="1"/>
            </p:cNvSpPr>
            <p:nvPr/>
          </p:nvSpPr>
          <p:spPr bwMode="auto">
            <a:xfrm>
              <a:off x="649287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1115" name="Line 59"/>
            <p:cNvSpPr>
              <a:spLocks noChangeShapeType="1"/>
            </p:cNvSpPr>
            <p:nvPr/>
          </p:nvSpPr>
          <p:spPr bwMode="auto">
            <a:xfrm>
              <a:off x="673258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1116" name="Line 60"/>
            <p:cNvSpPr>
              <a:spLocks noChangeShapeType="1"/>
            </p:cNvSpPr>
            <p:nvPr/>
          </p:nvSpPr>
          <p:spPr bwMode="auto">
            <a:xfrm>
              <a:off x="6972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1117" name="Line 61"/>
            <p:cNvSpPr>
              <a:spLocks noChangeShapeType="1"/>
            </p:cNvSpPr>
            <p:nvPr/>
          </p:nvSpPr>
          <p:spPr bwMode="auto">
            <a:xfrm>
              <a:off x="72136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1118" name="Line 62"/>
            <p:cNvSpPr>
              <a:spLocks noChangeShapeType="1"/>
            </p:cNvSpPr>
            <p:nvPr/>
          </p:nvSpPr>
          <p:spPr bwMode="auto">
            <a:xfrm>
              <a:off x="745172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1119" name="Line 63"/>
            <p:cNvSpPr>
              <a:spLocks noChangeShapeType="1"/>
            </p:cNvSpPr>
            <p:nvPr/>
          </p:nvSpPr>
          <p:spPr bwMode="auto">
            <a:xfrm>
              <a:off x="769143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1120" name="Line 64"/>
            <p:cNvSpPr>
              <a:spLocks noChangeShapeType="1"/>
            </p:cNvSpPr>
            <p:nvPr/>
          </p:nvSpPr>
          <p:spPr bwMode="auto">
            <a:xfrm>
              <a:off x="7931150"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1121" name="Line 65"/>
            <p:cNvSpPr>
              <a:spLocks noChangeShapeType="1"/>
            </p:cNvSpPr>
            <p:nvPr/>
          </p:nvSpPr>
          <p:spPr bwMode="auto">
            <a:xfrm>
              <a:off x="817086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1122" name="Line 66"/>
            <p:cNvSpPr>
              <a:spLocks noChangeShapeType="1"/>
            </p:cNvSpPr>
            <p:nvPr/>
          </p:nvSpPr>
          <p:spPr bwMode="auto">
            <a:xfrm>
              <a:off x="841216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1123" name="Line 67"/>
            <p:cNvSpPr>
              <a:spLocks noChangeShapeType="1"/>
            </p:cNvSpPr>
            <p:nvPr/>
          </p:nvSpPr>
          <p:spPr bwMode="auto">
            <a:xfrm>
              <a:off x="865187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1124" name="Line 68"/>
            <p:cNvSpPr>
              <a:spLocks noChangeShapeType="1"/>
            </p:cNvSpPr>
            <p:nvPr/>
          </p:nvSpPr>
          <p:spPr bwMode="auto">
            <a:xfrm>
              <a:off x="889158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1125" name="Line 69"/>
            <p:cNvSpPr>
              <a:spLocks noChangeShapeType="1"/>
            </p:cNvSpPr>
            <p:nvPr/>
          </p:nvSpPr>
          <p:spPr bwMode="auto">
            <a:xfrm>
              <a:off x="9131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1126" name="Line 70"/>
            <p:cNvSpPr>
              <a:spLocks noChangeShapeType="1"/>
            </p:cNvSpPr>
            <p:nvPr/>
          </p:nvSpPr>
          <p:spPr bwMode="auto">
            <a:xfrm>
              <a:off x="937101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1127" name="Line 71"/>
            <p:cNvSpPr>
              <a:spLocks noChangeShapeType="1"/>
            </p:cNvSpPr>
            <p:nvPr/>
          </p:nvSpPr>
          <p:spPr bwMode="auto">
            <a:xfrm>
              <a:off x="961072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1128" name="Line 72"/>
            <p:cNvSpPr>
              <a:spLocks noChangeShapeType="1"/>
            </p:cNvSpPr>
            <p:nvPr/>
          </p:nvSpPr>
          <p:spPr bwMode="auto">
            <a:xfrm>
              <a:off x="9850438"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1129" name="Rectangle 73"/>
            <p:cNvSpPr>
              <a:spLocks noChangeArrowheads="1"/>
            </p:cNvSpPr>
            <p:nvPr/>
          </p:nvSpPr>
          <p:spPr bwMode="auto">
            <a:xfrm>
              <a:off x="2333625"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301130" name="Rectangle 74"/>
            <p:cNvSpPr>
              <a:spLocks noChangeArrowheads="1"/>
            </p:cNvSpPr>
            <p:nvPr/>
          </p:nvSpPr>
          <p:spPr bwMode="auto">
            <a:xfrm>
              <a:off x="4252913"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301131" name="Rectangle 75"/>
            <p:cNvSpPr>
              <a:spLocks noChangeArrowheads="1"/>
            </p:cNvSpPr>
            <p:nvPr/>
          </p:nvSpPr>
          <p:spPr bwMode="auto">
            <a:xfrm>
              <a:off x="6172200"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301132" name="Rectangle 76"/>
            <p:cNvSpPr>
              <a:spLocks noChangeArrowheads="1"/>
            </p:cNvSpPr>
            <p:nvPr/>
          </p:nvSpPr>
          <p:spPr bwMode="auto">
            <a:xfrm>
              <a:off x="8091488"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301139" name="Line 83"/>
            <p:cNvSpPr>
              <a:spLocks noChangeShapeType="1"/>
            </p:cNvSpPr>
            <p:nvPr/>
          </p:nvSpPr>
          <p:spPr bwMode="auto">
            <a:xfrm flipH="1">
              <a:off x="7929563" y="5162552"/>
              <a:ext cx="3175" cy="6429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301140" name="Rectangle 84"/>
            <p:cNvSpPr>
              <a:spLocks noChangeArrowheads="1"/>
            </p:cNvSpPr>
            <p:nvPr/>
          </p:nvSpPr>
          <p:spPr bwMode="auto">
            <a:xfrm>
              <a:off x="8442325" y="5229227"/>
              <a:ext cx="1254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填    充</a:t>
              </a:r>
            </a:p>
          </p:txBody>
        </p:sp>
        <p:sp>
          <p:nvSpPr>
            <p:cNvPr id="301141" name="Line 85"/>
            <p:cNvSpPr>
              <a:spLocks noChangeShapeType="1"/>
            </p:cNvSpPr>
            <p:nvPr/>
          </p:nvSpPr>
          <p:spPr bwMode="auto">
            <a:xfrm>
              <a:off x="9971088" y="1641477"/>
              <a:ext cx="5175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301142" name="Line 86"/>
            <p:cNvSpPr>
              <a:spLocks noChangeShapeType="1"/>
            </p:cNvSpPr>
            <p:nvPr/>
          </p:nvSpPr>
          <p:spPr bwMode="auto">
            <a:xfrm>
              <a:off x="9971088" y="5137152"/>
              <a:ext cx="5175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301143" name="Line 87"/>
            <p:cNvSpPr>
              <a:spLocks noChangeShapeType="1"/>
            </p:cNvSpPr>
            <p:nvPr/>
          </p:nvSpPr>
          <p:spPr bwMode="auto">
            <a:xfrm>
              <a:off x="1582738" y="1679577"/>
              <a:ext cx="5302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301144" name="Line 88"/>
            <p:cNvSpPr>
              <a:spLocks noChangeShapeType="1"/>
            </p:cNvSpPr>
            <p:nvPr/>
          </p:nvSpPr>
          <p:spPr bwMode="auto">
            <a:xfrm>
              <a:off x="1597025" y="5780089"/>
              <a:ext cx="5302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106" name="Line 30"/>
            <p:cNvSpPr>
              <a:spLocks noChangeShapeType="1"/>
            </p:cNvSpPr>
            <p:nvPr/>
          </p:nvSpPr>
          <p:spPr bwMode="auto">
            <a:xfrm>
              <a:off x="3135313" y="3767139"/>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07" name="Line 31"/>
            <p:cNvSpPr>
              <a:spLocks noChangeShapeType="1"/>
            </p:cNvSpPr>
            <p:nvPr/>
          </p:nvSpPr>
          <p:spPr bwMode="auto">
            <a:xfrm>
              <a:off x="5062538" y="3759202"/>
              <a:ext cx="0" cy="6842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08" name="Line 32"/>
            <p:cNvSpPr>
              <a:spLocks noChangeShapeType="1"/>
            </p:cNvSpPr>
            <p:nvPr/>
          </p:nvSpPr>
          <p:spPr bwMode="auto">
            <a:xfrm>
              <a:off x="4572001" y="3761583"/>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09" name="Line 33"/>
            <p:cNvSpPr>
              <a:spLocks noChangeShapeType="1"/>
            </p:cNvSpPr>
            <p:nvPr/>
          </p:nvSpPr>
          <p:spPr bwMode="auto">
            <a:xfrm>
              <a:off x="4813300"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10" name="Line 34"/>
            <p:cNvSpPr>
              <a:spLocks noChangeShapeType="1"/>
            </p:cNvSpPr>
            <p:nvPr/>
          </p:nvSpPr>
          <p:spPr bwMode="auto">
            <a:xfrm>
              <a:off x="5543550"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11" name="Line 35"/>
            <p:cNvSpPr>
              <a:spLocks noChangeShapeType="1"/>
            </p:cNvSpPr>
            <p:nvPr/>
          </p:nvSpPr>
          <p:spPr bwMode="auto">
            <a:xfrm>
              <a:off x="5302250"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12" name="Line 36"/>
            <p:cNvSpPr>
              <a:spLocks noChangeShapeType="1"/>
            </p:cNvSpPr>
            <p:nvPr/>
          </p:nvSpPr>
          <p:spPr bwMode="auto">
            <a:xfrm>
              <a:off x="5788025"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13" name="Rectangle 37"/>
            <p:cNvSpPr>
              <a:spLocks noChangeArrowheads="1"/>
            </p:cNvSpPr>
            <p:nvPr/>
          </p:nvSpPr>
          <p:spPr bwMode="auto">
            <a:xfrm>
              <a:off x="3198280" y="3867686"/>
              <a:ext cx="72548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保留</a:t>
              </a:r>
            </a:p>
          </p:txBody>
        </p:sp>
        <p:sp>
          <p:nvSpPr>
            <p:cNvPr id="120" name="Line 32"/>
            <p:cNvSpPr>
              <a:spLocks noChangeShapeType="1"/>
            </p:cNvSpPr>
            <p:nvPr/>
          </p:nvSpPr>
          <p:spPr bwMode="auto">
            <a:xfrm>
              <a:off x="4079776" y="3757614"/>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21" name="Line 33"/>
            <p:cNvSpPr>
              <a:spLocks noChangeShapeType="1"/>
            </p:cNvSpPr>
            <p:nvPr/>
          </p:nvSpPr>
          <p:spPr bwMode="auto">
            <a:xfrm>
              <a:off x="4314850" y="3768726"/>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grpSp>
      <p:sp>
        <p:nvSpPr>
          <p:cNvPr id="301146" name="Rectangle 90"/>
          <p:cNvSpPr>
            <a:spLocks noChangeArrowheads="1"/>
          </p:cNvSpPr>
          <p:nvPr/>
        </p:nvSpPr>
        <p:spPr bwMode="auto">
          <a:xfrm>
            <a:off x="2142331" y="1659012"/>
            <a:ext cx="7754937" cy="717550"/>
          </a:xfrm>
          <a:prstGeom prst="rect">
            <a:avLst/>
          </a:prstGeom>
          <a:noFill/>
          <a:ln w="7620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微软雅黑 Light" panose="020B0502040204020203" pitchFamily="34" charset="-122"/>
              <a:ea typeface="微软雅黑 Light" panose="020B0502040204020203" pitchFamily="34" charset="-122"/>
            </a:endParaRPr>
          </a:p>
        </p:txBody>
      </p:sp>
      <p:sp>
        <p:nvSpPr>
          <p:cNvPr id="3" name="Rectangle 82">
            <a:extLst>
              <a:ext uri="{FF2B5EF4-FFF2-40B4-BE49-F238E27FC236}">
                <a16:creationId xmlns:a16="http://schemas.microsoft.com/office/drawing/2014/main" id="{1F2665A4-0D44-A8B1-3127-04DB6D8B192C}"/>
              </a:ext>
            </a:extLst>
          </p:cNvPr>
          <p:cNvSpPr>
            <a:spLocks noChangeArrowheads="1"/>
          </p:cNvSpPr>
          <p:nvPr/>
        </p:nvSpPr>
        <p:spPr bwMode="auto">
          <a:xfrm>
            <a:off x="1812925" y="908720"/>
            <a:ext cx="8261878"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位 </a:t>
            </a:r>
            <a:r>
              <a:rPr lang="en-US" altLang="zh-CN" sz="2000" dirty="0">
                <a:latin typeface="+mn-lt"/>
                <a:ea typeface="微软雅黑 Light" panose="020B0502040204020203" pitchFamily="34" charset="-122"/>
              </a:rPr>
              <a:t>0                           8                           16                          24                          31</a:t>
            </a:r>
          </a:p>
        </p:txBody>
      </p:sp>
      <p:sp>
        <p:nvSpPr>
          <p:cNvPr id="4" name="Rectangle 38">
            <a:extLst>
              <a:ext uri="{FF2B5EF4-FFF2-40B4-BE49-F238E27FC236}">
                <a16:creationId xmlns:a16="http://schemas.microsoft.com/office/drawing/2014/main" id="{CA5D1DBC-042F-8B44-067C-EC5EBE86A592}"/>
              </a:ext>
            </a:extLst>
          </p:cNvPr>
          <p:cNvSpPr>
            <a:spLocks noChangeArrowheads="1"/>
          </p:cNvSpPr>
          <p:nvPr/>
        </p:nvSpPr>
        <p:spPr bwMode="auto">
          <a:xfrm rot="16200000">
            <a:off x="5655327" y="3952704"/>
            <a:ext cx="535405"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lnSpc>
                <a:spcPct val="75000"/>
              </a:lnSpc>
            </a:pPr>
            <a:r>
              <a:rPr lang="en-US" altLang="zh-CN" sz="1600" b="1" dirty="0">
                <a:latin typeface="+mn-lt"/>
                <a:ea typeface="微软雅黑 Light" panose="020B0502040204020203" pitchFamily="34" charset="-122"/>
              </a:rPr>
              <a:t>FIN</a:t>
            </a:r>
          </a:p>
        </p:txBody>
      </p:sp>
      <p:sp>
        <p:nvSpPr>
          <p:cNvPr id="5" name="Rectangle 77">
            <a:extLst>
              <a:ext uri="{FF2B5EF4-FFF2-40B4-BE49-F238E27FC236}">
                <a16:creationId xmlns:a16="http://schemas.microsoft.com/office/drawing/2014/main" id="{A07E57B0-6448-530B-2DEB-46DA741F4B36}"/>
              </a:ext>
            </a:extLst>
          </p:cNvPr>
          <p:cNvSpPr>
            <a:spLocks noChangeArrowheads="1"/>
          </p:cNvSpPr>
          <p:nvPr/>
        </p:nvSpPr>
        <p:spPr bwMode="auto">
          <a:xfrm rot="16200000">
            <a:off x="5401703" y="3936764"/>
            <a:ext cx="591510"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SYN</a:t>
            </a:r>
          </a:p>
        </p:txBody>
      </p:sp>
      <p:sp>
        <p:nvSpPr>
          <p:cNvPr id="6" name="Rectangle 78">
            <a:extLst>
              <a:ext uri="{FF2B5EF4-FFF2-40B4-BE49-F238E27FC236}">
                <a16:creationId xmlns:a16="http://schemas.microsoft.com/office/drawing/2014/main" id="{129ED89A-35B4-1198-40F2-6CB2A8C227F0}"/>
              </a:ext>
            </a:extLst>
          </p:cNvPr>
          <p:cNvSpPr>
            <a:spLocks noChangeArrowheads="1"/>
          </p:cNvSpPr>
          <p:nvPr/>
        </p:nvSpPr>
        <p:spPr bwMode="auto">
          <a:xfrm rot="16200000">
            <a:off x="5115446" y="3917780"/>
            <a:ext cx="618290"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RST</a:t>
            </a:r>
          </a:p>
        </p:txBody>
      </p:sp>
      <p:sp>
        <p:nvSpPr>
          <p:cNvPr id="7" name="Rectangle 79">
            <a:extLst>
              <a:ext uri="{FF2B5EF4-FFF2-40B4-BE49-F238E27FC236}">
                <a16:creationId xmlns:a16="http://schemas.microsoft.com/office/drawing/2014/main" id="{5E4CD4DA-F644-5C6A-76DA-A0DD9B4A1EDF}"/>
              </a:ext>
            </a:extLst>
          </p:cNvPr>
          <p:cNvSpPr>
            <a:spLocks noChangeArrowheads="1"/>
          </p:cNvSpPr>
          <p:nvPr/>
        </p:nvSpPr>
        <p:spPr bwMode="auto">
          <a:xfrm rot="16200000">
            <a:off x="4890356" y="3938731"/>
            <a:ext cx="600108"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PSH  </a:t>
            </a:r>
          </a:p>
        </p:txBody>
      </p:sp>
      <p:sp>
        <p:nvSpPr>
          <p:cNvPr id="8" name="Rectangle 80">
            <a:extLst>
              <a:ext uri="{FF2B5EF4-FFF2-40B4-BE49-F238E27FC236}">
                <a16:creationId xmlns:a16="http://schemas.microsoft.com/office/drawing/2014/main" id="{530E8A2C-C39C-9E07-C962-E3F1C9217AC1}"/>
              </a:ext>
            </a:extLst>
          </p:cNvPr>
          <p:cNvSpPr>
            <a:spLocks noChangeArrowheads="1"/>
          </p:cNvSpPr>
          <p:nvPr/>
        </p:nvSpPr>
        <p:spPr bwMode="auto">
          <a:xfrm rot="16200000">
            <a:off x="4579000" y="3916214"/>
            <a:ext cx="730250"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ACK</a:t>
            </a:r>
          </a:p>
        </p:txBody>
      </p:sp>
      <p:sp>
        <p:nvSpPr>
          <p:cNvPr id="9" name="Rectangle 81">
            <a:extLst>
              <a:ext uri="{FF2B5EF4-FFF2-40B4-BE49-F238E27FC236}">
                <a16:creationId xmlns:a16="http://schemas.microsoft.com/office/drawing/2014/main" id="{E2193404-C1AF-6FA0-AAA9-F7E654E88F22}"/>
              </a:ext>
            </a:extLst>
          </p:cNvPr>
          <p:cNvSpPr>
            <a:spLocks noChangeArrowheads="1"/>
          </p:cNvSpPr>
          <p:nvPr/>
        </p:nvSpPr>
        <p:spPr bwMode="auto">
          <a:xfrm rot="16200000">
            <a:off x="4342408" y="3894364"/>
            <a:ext cx="761997"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URG</a:t>
            </a:r>
          </a:p>
        </p:txBody>
      </p:sp>
      <p:sp>
        <p:nvSpPr>
          <p:cNvPr id="10" name="Rectangle 81">
            <a:extLst>
              <a:ext uri="{FF2B5EF4-FFF2-40B4-BE49-F238E27FC236}">
                <a16:creationId xmlns:a16="http://schemas.microsoft.com/office/drawing/2014/main" id="{03CEEDD7-D5A2-3087-A887-BD61553CE886}"/>
              </a:ext>
            </a:extLst>
          </p:cNvPr>
          <p:cNvSpPr>
            <a:spLocks noChangeArrowheads="1"/>
          </p:cNvSpPr>
          <p:nvPr/>
        </p:nvSpPr>
        <p:spPr bwMode="auto">
          <a:xfrm rot="16200000">
            <a:off x="3855770" y="3928543"/>
            <a:ext cx="721634"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CWR</a:t>
            </a:r>
          </a:p>
        </p:txBody>
      </p:sp>
      <p:sp>
        <p:nvSpPr>
          <p:cNvPr id="11" name="Rectangle 81">
            <a:extLst>
              <a:ext uri="{FF2B5EF4-FFF2-40B4-BE49-F238E27FC236}">
                <a16:creationId xmlns:a16="http://schemas.microsoft.com/office/drawing/2014/main" id="{487A2AF5-E6A7-7036-6137-684381DA1B9B}"/>
              </a:ext>
            </a:extLst>
          </p:cNvPr>
          <p:cNvSpPr>
            <a:spLocks noChangeArrowheads="1"/>
          </p:cNvSpPr>
          <p:nvPr/>
        </p:nvSpPr>
        <p:spPr bwMode="auto">
          <a:xfrm rot="16200000">
            <a:off x="4124919" y="3912163"/>
            <a:ext cx="704221"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ECE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1146"/>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30114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1146" grpId="0" animBg="1"/>
      <p:bldP spid="301146" grpId="1"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灯片编号占位符 5"/>
          <p:cNvSpPr>
            <a:spLocks noGrp="1"/>
          </p:cNvSpPr>
          <p:nvPr>
            <p:ph type="sldNum" sz="quarter" idx="12"/>
          </p:nvPr>
        </p:nvSpPr>
        <p:spPr/>
        <p:txBody>
          <a:bodyPr/>
          <a:lstStyle/>
          <a:p>
            <a:fld id="{A972067F-220B-4994-B5A5-F45687F5E105}" type="slidenum">
              <a:rPr lang="en-US" altLang="zh-CN"/>
              <a:t>34</a:t>
            </a:fld>
            <a:endParaRPr lang="en-US" altLang="zh-CN"/>
          </a:p>
        </p:txBody>
      </p:sp>
      <p:sp>
        <p:nvSpPr>
          <p:cNvPr id="427092" name="Text Box 84"/>
          <p:cNvSpPr txBox="1">
            <a:spLocks noChangeArrowheads="1"/>
          </p:cNvSpPr>
          <p:nvPr/>
        </p:nvSpPr>
        <p:spPr bwMode="auto">
          <a:xfrm>
            <a:off x="1056000" y="5929467"/>
            <a:ext cx="10080000" cy="707886"/>
          </a:xfrm>
          <a:prstGeom prst="rect">
            <a:avLst/>
          </a:prstGeom>
          <a:noFill/>
          <a:ln>
            <a:noFill/>
          </a:ln>
          <a:effectLst/>
        </p:spPr>
        <p:txBody>
          <a:bodyPr>
            <a:spAutoFit/>
          </a:bodyPr>
          <a:lstStyle>
            <a:defPPr>
              <a:defRPr lang="zh-CN"/>
            </a:defPPr>
            <a:lvl1pPr>
              <a:defRPr>
                <a:latin typeface="微软雅黑 Light" panose="020B0502040204020203" pitchFamily="34" charset="-122"/>
                <a:ea typeface="微软雅黑 Light" panose="020B0502040204020203" pitchFamily="34" charset="-122"/>
              </a:defRPr>
            </a:lvl1pPr>
          </a:lstStyle>
          <a:p>
            <a:pPr marL="342900" indent="-342900">
              <a:buFont typeface="Wingdings" panose="05000000000000000000" pitchFamily="2" charset="2"/>
              <a:buChar char="Ø"/>
            </a:pPr>
            <a:r>
              <a:rPr lang="zh-CN" altLang="en-US" dirty="0">
                <a:latin typeface="+mn-lt"/>
              </a:rPr>
              <a:t>序号：占</a:t>
            </a:r>
            <a:r>
              <a:rPr lang="en-US" altLang="zh-CN" dirty="0">
                <a:latin typeface="+mn-lt"/>
              </a:rPr>
              <a:t>4</a:t>
            </a:r>
            <a:r>
              <a:rPr lang="zh-CN" altLang="en-US" dirty="0">
                <a:latin typeface="+mn-lt"/>
              </a:rPr>
              <a:t>字节。</a:t>
            </a:r>
            <a:r>
              <a:rPr lang="en-US" altLang="zh-CN" dirty="0">
                <a:latin typeface="+mn-lt"/>
              </a:rPr>
              <a:t>TCP </a:t>
            </a:r>
            <a:r>
              <a:rPr lang="zh-CN" altLang="en-US" dirty="0">
                <a:latin typeface="+mn-lt"/>
              </a:rPr>
              <a:t>连接中传送的数据流中的每一个字节都编上一个序号。序号字段的值则指的是本报文段所发送的数据的第一个字节的序号 </a:t>
            </a:r>
          </a:p>
        </p:txBody>
      </p:sp>
      <p:sp>
        <p:nvSpPr>
          <p:cNvPr id="427178" name="Rectangle 170"/>
          <p:cNvSpPr>
            <a:spLocks noGrp="1" noChangeArrowheads="1"/>
          </p:cNvSpPr>
          <p:nvPr>
            <p:ph type="title"/>
          </p:nvPr>
        </p:nvSpPr>
        <p:spPr>
          <a:noFill/>
        </p:spPr>
        <p:txBody>
          <a:bodyPr/>
          <a:lstStyle/>
          <a:p>
            <a:r>
              <a:rPr lang="en-US" altLang="zh-CN" dirty="0"/>
              <a:t>TCP</a:t>
            </a:r>
            <a:r>
              <a:rPr lang="zh-CN" altLang="en-US" dirty="0"/>
              <a:t>的报头字段</a:t>
            </a:r>
            <a:endParaRPr lang="en-US" altLang="zh-CN" dirty="0"/>
          </a:p>
        </p:txBody>
      </p:sp>
      <p:grpSp>
        <p:nvGrpSpPr>
          <p:cNvPr id="3" name="组合 2"/>
          <p:cNvGrpSpPr/>
          <p:nvPr/>
        </p:nvGrpSpPr>
        <p:grpSpPr>
          <a:xfrm>
            <a:off x="1524000" y="1109664"/>
            <a:ext cx="9080500" cy="4695826"/>
            <a:chOff x="1524000" y="1109664"/>
            <a:chExt cx="9080500" cy="4695826"/>
          </a:xfrm>
        </p:grpSpPr>
        <p:sp>
          <p:nvSpPr>
            <p:cNvPr id="172" name="Line 9"/>
            <p:cNvSpPr>
              <a:spLocks noChangeShapeType="1"/>
            </p:cNvSpPr>
            <p:nvPr/>
          </p:nvSpPr>
          <p:spPr bwMode="auto">
            <a:xfrm flipH="1">
              <a:off x="1852613" y="1668464"/>
              <a:ext cx="17463" cy="4122738"/>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3" name="Rectangle 10"/>
            <p:cNvSpPr>
              <a:spLocks noChangeArrowheads="1"/>
            </p:cNvSpPr>
            <p:nvPr/>
          </p:nvSpPr>
          <p:spPr bwMode="auto">
            <a:xfrm>
              <a:off x="1524000" y="3268664"/>
              <a:ext cx="696913" cy="6445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90000"/>
                </a:lnSpc>
              </a:pPr>
              <a:r>
                <a:rPr lang="en-US" altLang="zh-CN" sz="2000">
                  <a:latin typeface="+mn-lt"/>
                  <a:ea typeface="微软雅黑 Light" panose="020B0502040204020203" pitchFamily="34" charset="-122"/>
                </a:rPr>
                <a:t>TCP</a:t>
              </a:r>
            </a:p>
            <a:p>
              <a:pPr eaLnBrk="0" hangingPunct="0">
                <a:lnSpc>
                  <a:spcPct val="90000"/>
                </a:lnSpc>
              </a:pPr>
              <a:r>
                <a:rPr lang="zh-CN" altLang="en-US" sz="2000">
                  <a:latin typeface="+mn-lt"/>
                  <a:ea typeface="微软雅黑 Light" panose="020B0502040204020203" pitchFamily="34" charset="-122"/>
                </a:rPr>
                <a:t>首部</a:t>
              </a:r>
            </a:p>
          </p:txBody>
        </p:sp>
        <p:sp>
          <p:nvSpPr>
            <p:cNvPr id="174" name="Line 11"/>
            <p:cNvSpPr>
              <a:spLocks noChangeShapeType="1"/>
            </p:cNvSpPr>
            <p:nvPr/>
          </p:nvSpPr>
          <p:spPr bwMode="auto">
            <a:xfrm>
              <a:off x="10272713" y="1658939"/>
              <a:ext cx="0" cy="3463925"/>
            </a:xfrm>
            <a:prstGeom prst="line">
              <a:avLst/>
            </a:prstGeom>
            <a:noFill/>
            <a:ln w="1905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5" name="Rectangle 12"/>
            <p:cNvSpPr>
              <a:spLocks noChangeArrowheads="1"/>
            </p:cNvSpPr>
            <p:nvPr/>
          </p:nvSpPr>
          <p:spPr bwMode="auto">
            <a:xfrm>
              <a:off x="9909175" y="2736852"/>
              <a:ext cx="695325" cy="119697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lnSpc>
                  <a:spcPct val="90000"/>
                </a:lnSpc>
              </a:pPr>
              <a:r>
                <a:rPr lang="en-US" altLang="zh-CN" sz="2000">
                  <a:latin typeface="+mn-lt"/>
                  <a:ea typeface="微软雅黑 Light" panose="020B0502040204020203" pitchFamily="34" charset="-122"/>
                </a:rPr>
                <a:t>20</a:t>
              </a:r>
            </a:p>
            <a:p>
              <a:pPr algn="ctr" eaLnBrk="0" hangingPunct="0">
                <a:lnSpc>
                  <a:spcPct val="90000"/>
                </a:lnSpc>
              </a:pPr>
              <a:r>
                <a:rPr lang="zh-CN" altLang="en-US" sz="2000">
                  <a:latin typeface="+mn-lt"/>
                  <a:ea typeface="微软雅黑 Light" panose="020B0502040204020203" pitchFamily="34" charset="-122"/>
                </a:rPr>
                <a:t>字节</a:t>
              </a:r>
            </a:p>
            <a:p>
              <a:pPr algn="ctr" eaLnBrk="0" hangingPunct="0">
                <a:lnSpc>
                  <a:spcPct val="90000"/>
                </a:lnSpc>
              </a:pPr>
              <a:r>
                <a:rPr lang="zh-CN" altLang="en-US" sz="2000">
                  <a:latin typeface="+mn-lt"/>
                  <a:ea typeface="微软雅黑 Light" panose="020B0502040204020203" pitchFamily="34" charset="-122"/>
                </a:rPr>
                <a:t>固定</a:t>
              </a:r>
            </a:p>
            <a:p>
              <a:pPr algn="ctr" eaLnBrk="0" hangingPunct="0">
                <a:lnSpc>
                  <a:spcPct val="90000"/>
                </a:lnSpc>
              </a:pPr>
              <a:r>
                <a:rPr lang="zh-CN" altLang="en-US" sz="2000">
                  <a:latin typeface="+mn-lt"/>
                  <a:ea typeface="微软雅黑 Light" panose="020B0502040204020203" pitchFamily="34" charset="-122"/>
                </a:rPr>
                <a:t>首部</a:t>
              </a:r>
            </a:p>
          </p:txBody>
        </p:sp>
        <p:sp>
          <p:nvSpPr>
            <p:cNvPr id="202" name="Line 39"/>
            <p:cNvSpPr>
              <a:spLocks noChangeShapeType="1"/>
            </p:cNvSpPr>
            <p:nvPr/>
          </p:nvSpPr>
          <p:spPr bwMode="auto">
            <a:xfrm>
              <a:off x="2174875" y="1508127"/>
              <a:ext cx="767556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3" name="Line 40"/>
            <p:cNvSpPr>
              <a:spLocks noChangeShapeType="1"/>
            </p:cNvSpPr>
            <p:nvPr/>
          </p:nvSpPr>
          <p:spPr bwMode="auto">
            <a:xfrm>
              <a:off x="2174875"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4" name="Line 41"/>
            <p:cNvSpPr>
              <a:spLocks noChangeShapeType="1"/>
            </p:cNvSpPr>
            <p:nvPr/>
          </p:nvSpPr>
          <p:spPr bwMode="auto">
            <a:xfrm>
              <a:off x="241458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5" name="Line 42"/>
            <p:cNvSpPr>
              <a:spLocks noChangeShapeType="1"/>
            </p:cNvSpPr>
            <p:nvPr/>
          </p:nvSpPr>
          <p:spPr bwMode="auto">
            <a:xfrm>
              <a:off x="2654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6" name="Line 43"/>
            <p:cNvSpPr>
              <a:spLocks noChangeShapeType="1"/>
            </p:cNvSpPr>
            <p:nvPr/>
          </p:nvSpPr>
          <p:spPr bwMode="auto">
            <a:xfrm>
              <a:off x="289401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7" name="Line 44"/>
            <p:cNvSpPr>
              <a:spLocks noChangeShapeType="1"/>
            </p:cNvSpPr>
            <p:nvPr/>
          </p:nvSpPr>
          <p:spPr bwMode="auto">
            <a:xfrm>
              <a:off x="313531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8" name="Line 45"/>
            <p:cNvSpPr>
              <a:spLocks noChangeShapeType="1"/>
            </p:cNvSpPr>
            <p:nvPr/>
          </p:nvSpPr>
          <p:spPr bwMode="auto">
            <a:xfrm>
              <a:off x="337502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9" name="Line 46"/>
            <p:cNvSpPr>
              <a:spLocks noChangeShapeType="1"/>
            </p:cNvSpPr>
            <p:nvPr/>
          </p:nvSpPr>
          <p:spPr bwMode="auto">
            <a:xfrm>
              <a:off x="361315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0" name="Line 47"/>
            <p:cNvSpPr>
              <a:spLocks noChangeShapeType="1"/>
            </p:cNvSpPr>
            <p:nvPr/>
          </p:nvSpPr>
          <p:spPr bwMode="auto">
            <a:xfrm>
              <a:off x="385286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1" name="Line 48"/>
            <p:cNvSpPr>
              <a:spLocks noChangeShapeType="1"/>
            </p:cNvSpPr>
            <p:nvPr/>
          </p:nvSpPr>
          <p:spPr bwMode="auto">
            <a:xfrm>
              <a:off x="4094163"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2" name="Line 49"/>
            <p:cNvSpPr>
              <a:spLocks noChangeShapeType="1"/>
            </p:cNvSpPr>
            <p:nvPr/>
          </p:nvSpPr>
          <p:spPr bwMode="auto">
            <a:xfrm>
              <a:off x="433387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3" name="Line 50"/>
            <p:cNvSpPr>
              <a:spLocks noChangeShapeType="1"/>
            </p:cNvSpPr>
            <p:nvPr/>
          </p:nvSpPr>
          <p:spPr bwMode="auto">
            <a:xfrm>
              <a:off x="457358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4" name="Line 51"/>
            <p:cNvSpPr>
              <a:spLocks noChangeShapeType="1"/>
            </p:cNvSpPr>
            <p:nvPr/>
          </p:nvSpPr>
          <p:spPr bwMode="auto">
            <a:xfrm>
              <a:off x="4813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5" name="Line 52"/>
            <p:cNvSpPr>
              <a:spLocks noChangeShapeType="1"/>
            </p:cNvSpPr>
            <p:nvPr/>
          </p:nvSpPr>
          <p:spPr bwMode="auto">
            <a:xfrm>
              <a:off x="50546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6" name="Line 53"/>
            <p:cNvSpPr>
              <a:spLocks noChangeShapeType="1"/>
            </p:cNvSpPr>
            <p:nvPr/>
          </p:nvSpPr>
          <p:spPr bwMode="auto">
            <a:xfrm>
              <a:off x="529431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7" name="Line 54"/>
            <p:cNvSpPr>
              <a:spLocks noChangeShapeType="1"/>
            </p:cNvSpPr>
            <p:nvPr/>
          </p:nvSpPr>
          <p:spPr bwMode="auto">
            <a:xfrm>
              <a:off x="553243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8" name="Line 55"/>
            <p:cNvSpPr>
              <a:spLocks noChangeShapeType="1"/>
            </p:cNvSpPr>
            <p:nvPr/>
          </p:nvSpPr>
          <p:spPr bwMode="auto">
            <a:xfrm>
              <a:off x="577215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9" name="Line 56"/>
            <p:cNvSpPr>
              <a:spLocks noChangeShapeType="1"/>
            </p:cNvSpPr>
            <p:nvPr/>
          </p:nvSpPr>
          <p:spPr bwMode="auto">
            <a:xfrm>
              <a:off x="6011863"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0" name="Line 57"/>
            <p:cNvSpPr>
              <a:spLocks noChangeShapeType="1"/>
            </p:cNvSpPr>
            <p:nvPr/>
          </p:nvSpPr>
          <p:spPr bwMode="auto">
            <a:xfrm>
              <a:off x="625316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1" name="Line 58"/>
            <p:cNvSpPr>
              <a:spLocks noChangeShapeType="1"/>
            </p:cNvSpPr>
            <p:nvPr/>
          </p:nvSpPr>
          <p:spPr bwMode="auto">
            <a:xfrm>
              <a:off x="649287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2" name="Line 59"/>
            <p:cNvSpPr>
              <a:spLocks noChangeShapeType="1"/>
            </p:cNvSpPr>
            <p:nvPr/>
          </p:nvSpPr>
          <p:spPr bwMode="auto">
            <a:xfrm>
              <a:off x="673258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3" name="Line 60"/>
            <p:cNvSpPr>
              <a:spLocks noChangeShapeType="1"/>
            </p:cNvSpPr>
            <p:nvPr/>
          </p:nvSpPr>
          <p:spPr bwMode="auto">
            <a:xfrm>
              <a:off x="6972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4" name="Line 61"/>
            <p:cNvSpPr>
              <a:spLocks noChangeShapeType="1"/>
            </p:cNvSpPr>
            <p:nvPr/>
          </p:nvSpPr>
          <p:spPr bwMode="auto">
            <a:xfrm>
              <a:off x="72136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5" name="Line 62"/>
            <p:cNvSpPr>
              <a:spLocks noChangeShapeType="1"/>
            </p:cNvSpPr>
            <p:nvPr/>
          </p:nvSpPr>
          <p:spPr bwMode="auto">
            <a:xfrm>
              <a:off x="745172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6" name="Line 63"/>
            <p:cNvSpPr>
              <a:spLocks noChangeShapeType="1"/>
            </p:cNvSpPr>
            <p:nvPr/>
          </p:nvSpPr>
          <p:spPr bwMode="auto">
            <a:xfrm>
              <a:off x="769143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7" name="Line 64"/>
            <p:cNvSpPr>
              <a:spLocks noChangeShapeType="1"/>
            </p:cNvSpPr>
            <p:nvPr/>
          </p:nvSpPr>
          <p:spPr bwMode="auto">
            <a:xfrm>
              <a:off x="7931150"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8" name="Line 65"/>
            <p:cNvSpPr>
              <a:spLocks noChangeShapeType="1"/>
            </p:cNvSpPr>
            <p:nvPr/>
          </p:nvSpPr>
          <p:spPr bwMode="auto">
            <a:xfrm>
              <a:off x="817086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9" name="Line 66"/>
            <p:cNvSpPr>
              <a:spLocks noChangeShapeType="1"/>
            </p:cNvSpPr>
            <p:nvPr/>
          </p:nvSpPr>
          <p:spPr bwMode="auto">
            <a:xfrm>
              <a:off x="841216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30" name="Line 67"/>
            <p:cNvSpPr>
              <a:spLocks noChangeShapeType="1"/>
            </p:cNvSpPr>
            <p:nvPr/>
          </p:nvSpPr>
          <p:spPr bwMode="auto">
            <a:xfrm>
              <a:off x="865187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31" name="Line 68"/>
            <p:cNvSpPr>
              <a:spLocks noChangeShapeType="1"/>
            </p:cNvSpPr>
            <p:nvPr/>
          </p:nvSpPr>
          <p:spPr bwMode="auto">
            <a:xfrm>
              <a:off x="889158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32" name="Line 69"/>
            <p:cNvSpPr>
              <a:spLocks noChangeShapeType="1"/>
            </p:cNvSpPr>
            <p:nvPr/>
          </p:nvSpPr>
          <p:spPr bwMode="auto">
            <a:xfrm>
              <a:off x="9131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33" name="Line 70"/>
            <p:cNvSpPr>
              <a:spLocks noChangeShapeType="1"/>
            </p:cNvSpPr>
            <p:nvPr/>
          </p:nvSpPr>
          <p:spPr bwMode="auto">
            <a:xfrm>
              <a:off x="937101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34" name="Line 71"/>
            <p:cNvSpPr>
              <a:spLocks noChangeShapeType="1"/>
            </p:cNvSpPr>
            <p:nvPr/>
          </p:nvSpPr>
          <p:spPr bwMode="auto">
            <a:xfrm>
              <a:off x="961072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35" name="Line 72"/>
            <p:cNvSpPr>
              <a:spLocks noChangeShapeType="1"/>
            </p:cNvSpPr>
            <p:nvPr/>
          </p:nvSpPr>
          <p:spPr bwMode="auto">
            <a:xfrm>
              <a:off x="9850438"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36" name="Rectangle 73"/>
            <p:cNvSpPr>
              <a:spLocks noChangeArrowheads="1"/>
            </p:cNvSpPr>
            <p:nvPr/>
          </p:nvSpPr>
          <p:spPr bwMode="auto">
            <a:xfrm>
              <a:off x="2333625"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237" name="Rectangle 74"/>
            <p:cNvSpPr>
              <a:spLocks noChangeArrowheads="1"/>
            </p:cNvSpPr>
            <p:nvPr/>
          </p:nvSpPr>
          <p:spPr bwMode="auto">
            <a:xfrm>
              <a:off x="4252913"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238" name="Rectangle 75"/>
            <p:cNvSpPr>
              <a:spLocks noChangeArrowheads="1"/>
            </p:cNvSpPr>
            <p:nvPr/>
          </p:nvSpPr>
          <p:spPr bwMode="auto">
            <a:xfrm>
              <a:off x="6172200"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239" name="Rectangle 76"/>
            <p:cNvSpPr>
              <a:spLocks noChangeArrowheads="1"/>
            </p:cNvSpPr>
            <p:nvPr/>
          </p:nvSpPr>
          <p:spPr bwMode="auto">
            <a:xfrm>
              <a:off x="8091488"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248" name="Line 85"/>
            <p:cNvSpPr>
              <a:spLocks noChangeShapeType="1"/>
            </p:cNvSpPr>
            <p:nvPr/>
          </p:nvSpPr>
          <p:spPr bwMode="auto">
            <a:xfrm>
              <a:off x="9971088" y="1641477"/>
              <a:ext cx="5175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249" name="Line 86"/>
            <p:cNvSpPr>
              <a:spLocks noChangeShapeType="1"/>
            </p:cNvSpPr>
            <p:nvPr/>
          </p:nvSpPr>
          <p:spPr bwMode="auto">
            <a:xfrm>
              <a:off x="9971088" y="5137152"/>
              <a:ext cx="5175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250" name="Line 87"/>
            <p:cNvSpPr>
              <a:spLocks noChangeShapeType="1"/>
            </p:cNvSpPr>
            <p:nvPr/>
          </p:nvSpPr>
          <p:spPr bwMode="auto">
            <a:xfrm>
              <a:off x="1582738" y="1679577"/>
              <a:ext cx="5302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251" name="Line 88"/>
            <p:cNvSpPr>
              <a:spLocks noChangeShapeType="1"/>
            </p:cNvSpPr>
            <p:nvPr/>
          </p:nvSpPr>
          <p:spPr bwMode="auto">
            <a:xfrm>
              <a:off x="1597025" y="5780089"/>
              <a:ext cx="5302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176" name="Rectangle 13"/>
            <p:cNvSpPr>
              <a:spLocks noChangeArrowheads="1"/>
            </p:cNvSpPr>
            <p:nvPr/>
          </p:nvSpPr>
          <p:spPr bwMode="auto">
            <a:xfrm>
              <a:off x="2182813" y="1658035"/>
              <a:ext cx="7686675" cy="4133850"/>
            </a:xfrm>
            <a:prstGeom prst="rect">
              <a:avLst/>
            </a:prstGeom>
            <a:solidFill>
              <a:schemeClr val="bg2"/>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177" name="Line 14"/>
            <p:cNvSpPr>
              <a:spLocks noChangeShapeType="1"/>
            </p:cNvSpPr>
            <p:nvPr/>
          </p:nvSpPr>
          <p:spPr bwMode="auto">
            <a:xfrm>
              <a:off x="2170113" y="2368552"/>
              <a:ext cx="76993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8" name="Line 15"/>
            <p:cNvSpPr>
              <a:spLocks noChangeShapeType="1"/>
            </p:cNvSpPr>
            <p:nvPr/>
          </p:nvSpPr>
          <p:spPr bwMode="auto">
            <a:xfrm>
              <a:off x="2184400" y="3063877"/>
              <a:ext cx="768508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9" name="Line 16"/>
            <p:cNvSpPr>
              <a:spLocks noChangeShapeType="1"/>
            </p:cNvSpPr>
            <p:nvPr/>
          </p:nvSpPr>
          <p:spPr bwMode="auto">
            <a:xfrm>
              <a:off x="2170113" y="3757614"/>
              <a:ext cx="76993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80" name="Line 17"/>
            <p:cNvSpPr>
              <a:spLocks noChangeShapeType="1"/>
            </p:cNvSpPr>
            <p:nvPr/>
          </p:nvSpPr>
          <p:spPr bwMode="auto">
            <a:xfrm>
              <a:off x="2170113" y="4449764"/>
              <a:ext cx="76993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81" name="Line 18"/>
            <p:cNvSpPr>
              <a:spLocks noChangeShapeType="1"/>
            </p:cNvSpPr>
            <p:nvPr/>
          </p:nvSpPr>
          <p:spPr bwMode="auto">
            <a:xfrm>
              <a:off x="2184400" y="5145089"/>
              <a:ext cx="768508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82" name="Line 19"/>
            <p:cNvSpPr>
              <a:spLocks noChangeShapeType="1"/>
            </p:cNvSpPr>
            <p:nvPr/>
          </p:nvSpPr>
          <p:spPr bwMode="auto">
            <a:xfrm>
              <a:off x="6022975" y="1673227"/>
              <a:ext cx="0" cy="7096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83" name="Rectangle 20"/>
            <p:cNvSpPr>
              <a:spLocks noChangeArrowheads="1"/>
            </p:cNvSpPr>
            <p:nvPr/>
          </p:nvSpPr>
          <p:spPr bwMode="auto">
            <a:xfrm>
              <a:off x="7223125" y="1800227"/>
              <a:ext cx="1593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目  的  端  口</a:t>
              </a:r>
            </a:p>
          </p:txBody>
        </p:sp>
        <p:sp>
          <p:nvSpPr>
            <p:cNvPr id="184" name="Rectangle 21"/>
            <p:cNvSpPr>
              <a:spLocks noChangeArrowheads="1"/>
            </p:cNvSpPr>
            <p:nvPr/>
          </p:nvSpPr>
          <p:spPr bwMode="auto">
            <a:xfrm>
              <a:off x="2332038" y="3722689"/>
              <a:ext cx="695325" cy="704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数据</a:t>
              </a:r>
            </a:p>
            <a:p>
              <a:pPr eaLnBrk="0" hangingPunct="0"/>
              <a:r>
                <a:rPr lang="zh-CN" altLang="en-US" sz="2000" dirty="0">
                  <a:latin typeface="+mn-lt"/>
                  <a:ea typeface="微软雅黑 Light" panose="020B0502040204020203" pitchFamily="34" charset="-122"/>
                </a:rPr>
                <a:t>偏移</a:t>
              </a:r>
            </a:p>
          </p:txBody>
        </p:sp>
        <p:sp>
          <p:nvSpPr>
            <p:cNvPr id="185" name="Rectangle 22"/>
            <p:cNvSpPr>
              <a:spLocks noChangeArrowheads="1"/>
            </p:cNvSpPr>
            <p:nvPr/>
          </p:nvSpPr>
          <p:spPr bwMode="auto">
            <a:xfrm>
              <a:off x="3411538" y="4587877"/>
              <a:ext cx="13366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检   验   和</a:t>
              </a:r>
            </a:p>
          </p:txBody>
        </p:sp>
        <p:sp>
          <p:nvSpPr>
            <p:cNvPr id="186" name="Rectangle 23"/>
            <p:cNvSpPr>
              <a:spLocks noChangeArrowheads="1"/>
            </p:cNvSpPr>
            <p:nvPr/>
          </p:nvSpPr>
          <p:spPr bwMode="auto">
            <a:xfrm>
              <a:off x="3694113" y="5237164"/>
              <a:ext cx="31988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选    项 长  度  可  变）</a:t>
              </a:r>
            </a:p>
          </p:txBody>
        </p:sp>
        <p:sp>
          <p:nvSpPr>
            <p:cNvPr id="187" name="Rectangle 24"/>
            <p:cNvSpPr>
              <a:spLocks noChangeArrowheads="1"/>
            </p:cNvSpPr>
            <p:nvPr/>
          </p:nvSpPr>
          <p:spPr bwMode="auto">
            <a:xfrm>
              <a:off x="3525838" y="1800227"/>
              <a:ext cx="12541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源  端  口</a:t>
              </a:r>
            </a:p>
          </p:txBody>
        </p:sp>
        <p:sp>
          <p:nvSpPr>
            <p:cNvPr id="188" name="Rectangle 25"/>
            <p:cNvSpPr>
              <a:spLocks noChangeArrowheads="1"/>
            </p:cNvSpPr>
            <p:nvPr/>
          </p:nvSpPr>
          <p:spPr bwMode="auto">
            <a:xfrm>
              <a:off x="5578475" y="2487614"/>
              <a:ext cx="1381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序   号</a:t>
              </a:r>
            </a:p>
          </p:txBody>
        </p:sp>
        <p:sp>
          <p:nvSpPr>
            <p:cNvPr id="189" name="Line 26"/>
            <p:cNvSpPr>
              <a:spLocks noChangeShapeType="1"/>
            </p:cNvSpPr>
            <p:nvPr/>
          </p:nvSpPr>
          <p:spPr bwMode="auto">
            <a:xfrm>
              <a:off x="6029325" y="3767139"/>
              <a:ext cx="0" cy="13700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90" name="Rectangle 27"/>
            <p:cNvSpPr>
              <a:spLocks noChangeArrowheads="1"/>
            </p:cNvSpPr>
            <p:nvPr/>
          </p:nvSpPr>
          <p:spPr bwMode="auto">
            <a:xfrm>
              <a:off x="7062788" y="4587877"/>
              <a:ext cx="17859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紧   急   指   针</a:t>
              </a:r>
            </a:p>
          </p:txBody>
        </p:sp>
        <p:sp>
          <p:nvSpPr>
            <p:cNvPr id="191" name="Rectangle 28"/>
            <p:cNvSpPr>
              <a:spLocks noChangeArrowheads="1"/>
            </p:cNvSpPr>
            <p:nvPr/>
          </p:nvSpPr>
          <p:spPr bwMode="auto">
            <a:xfrm>
              <a:off x="7512050" y="3868739"/>
              <a:ext cx="9223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窗   口</a:t>
              </a:r>
            </a:p>
          </p:txBody>
        </p:sp>
        <p:sp>
          <p:nvSpPr>
            <p:cNvPr id="192" name="Rectangle 29"/>
            <p:cNvSpPr>
              <a:spLocks noChangeArrowheads="1"/>
            </p:cNvSpPr>
            <p:nvPr/>
          </p:nvSpPr>
          <p:spPr bwMode="auto">
            <a:xfrm>
              <a:off x="5334000" y="3211514"/>
              <a:ext cx="18415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确    认    号</a:t>
              </a:r>
            </a:p>
          </p:txBody>
        </p:sp>
        <p:sp>
          <p:nvSpPr>
            <p:cNvPr id="193" name="Line 30"/>
            <p:cNvSpPr>
              <a:spLocks noChangeShapeType="1"/>
            </p:cNvSpPr>
            <p:nvPr/>
          </p:nvSpPr>
          <p:spPr bwMode="auto">
            <a:xfrm>
              <a:off x="3135313" y="3767139"/>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94" name="Line 31"/>
            <p:cNvSpPr>
              <a:spLocks noChangeShapeType="1"/>
            </p:cNvSpPr>
            <p:nvPr/>
          </p:nvSpPr>
          <p:spPr bwMode="auto">
            <a:xfrm>
              <a:off x="5062538" y="3759202"/>
              <a:ext cx="0" cy="6842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95" name="Line 32"/>
            <p:cNvSpPr>
              <a:spLocks noChangeShapeType="1"/>
            </p:cNvSpPr>
            <p:nvPr/>
          </p:nvSpPr>
          <p:spPr bwMode="auto">
            <a:xfrm>
              <a:off x="4572001" y="3761583"/>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96" name="Line 33"/>
            <p:cNvSpPr>
              <a:spLocks noChangeShapeType="1"/>
            </p:cNvSpPr>
            <p:nvPr/>
          </p:nvSpPr>
          <p:spPr bwMode="auto">
            <a:xfrm>
              <a:off x="4813300"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97" name="Line 34"/>
            <p:cNvSpPr>
              <a:spLocks noChangeShapeType="1"/>
            </p:cNvSpPr>
            <p:nvPr/>
          </p:nvSpPr>
          <p:spPr bwMode="auto">
            <a:xfrm>
              <a:off x="5543550"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98" name="Line 35"/>
            <p:cNvSpPr>
              <a:spLocks noChangeShapeType="1"/>
            </p:cNvSpPr>
            <p:nvPr/>
          </p:nvSpPr>
          <p:spPr bwMode="auto">
            <a:xfrm>
              <a:off x="5302250"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99" name="Line 36"/>
            <p:cNvSpPr>
              <a:spLocks noChangeShapeType="1"/>
            </p:cNvSpPr>
            <p:nvPr/>
          </p:nvSpPr>
          <p:spPr bwMode="auto">
            <a:xfrm>
              <a:off x="5788025"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0" name="Rectangle 37"/>
            <p:cNvSpPr>
              <a:spLocks noChangeArrowheads="1"/>
            </p:cNvSpPr>
            <p:nvPr/>
          </p:nvSpPr>
          <p:spPr bwMode="auto">
            <a:xfrm>
              <a:off x="3198280" y="3867686"/>
              <a:ext cx="72548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保留</a:t>
              </a:r>
            </a:p>
          </p:txBody>
        </p:sp>
        <p:sp>
          <p:nvSpPr>
            <p:cNvPr id="246" name="Line 83"/>
            <p:cNvSpPr>
              <a:spLocks noChangeShapeType="1"/>
            </p:cNvSpPr>
            <p:nvPr/>
          </p:nvSpPr>
          <p:spPr bwMode="auto">
            <a:xfrm flipH="1">
              <a:off x="7929563" y="5162552"/>
              <a:ext cx="3175" cy="6429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247" name="Rectangle 84"/>
            <p:cNvSpPr>
              <a:spLocks noChangeArrowheads="1"/>
            </p:cNvSpPr>
            <p:nvPr/>
          </p:nvSpPr>
          <p:spPr bwMode="auto">
            <a:xfrm>
              <a:off x="8442325" y="5229227"/>
              <a:ext cx="1254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填    充</a:t>
              </a:r>
            </a:p>
          </p:txBody>
        </p:sp>
        <p:sp>
          <p:nvSpPr>
            <p:cNvPr id="103" name="Line 32"/>
            <p:cNvSpPr>
              <a:spLocks noChangeShapeType="1"/>
            </p:cNvSpPr>
            <p:nvPr/>
          </p:nvSpPr>
          <p:spPr bwMode="auto">
            <a:xfrm>
              <a:off x="4079776" y="3757614"/>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04" name="Line 33"/>
            <p:cNvSpPr>
              <a:spLocks noChangeShapeType="1"/>
            </p:cNvSpPr>
            <p:nvPr/>
          </p:nvSpPr>
          <p:spPr bwMode="auto">
            <a:xfrm>
              <a:off x="4314850" y="3768726"/>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grpSp>
      <p:sp>
        <p:nvSpPr>
          <p:cNvPr id="427093" name="Rectangle 85"/>
          <p:cNvSpPr>
            <a:spLocks noChangeArrowheads="1"/>
          </p:cNvSpPr>
          <p:nvPr/>
        </p:nvSpPr>
        <p:spPr bwMode="auto">
          <a:xfrm>
            <a:off x="2142331" y="2359820"/>
            <a:ext cx="7754937" cy="717550"/>
          </a:xfrm>
          <a:prstGeom prst="rect">
            <a:avLst/>
          </a:prstGeom>
          <a:noFill/>
          <a:ln w="7620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2" name="Rectangle 82">
            <a:extLst>
              <a:ext uri="{FF2B5EF4-FFF2-40B4-BE49-F238E27FC236}">
                <a16:creationId xmlns:a16="http://schemas.microsoft.com/office/drawing/2014/main" id="{6120EDDA-0CDB-BA21-6E4D-8D26C0BB9F7C}"/>
              </a:ext>
            </a:extLst>
          </p:cNvPr>
          <p:cNvSpPr>
            <a:spLocks noChangeArrowheads="1"/>
          </p:cNvSpPr>
          <p:nvPr/>
        </p:nvSpPr>
        <p:spPr bwMode="auto">
          <a:xfrm>
            <a:off x="1812925" y="908720"/>
            <a:ext cx="8261878"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位 </a:t>
            </a:r>
            <a:r>
              <a:rPr lang="en-US" altLang="zh-CN" sz="2000" dirty="0">
                <a:latin typeface="+mn-lt"/>
                <a:ea typeface="微软雅黑 Light" panose="020B0502040204020203" pitchFamily="34" charset="-122"/>
              </a:rPr>
              <a:t>0                           8                           16                          24                          31</a:t>
            </a:r>
          </a:p>
        </p:txBody>
      </p:sp>
      <p:sp>
        <p:nvSpPr>
          <p:cNvPr id="4" name="Rectangle 38">
            <a:extLst>
              <a:ext uri="{FF2B5EF4-FFF2-40B4-BE49-F238E27FC236}">
                <a16:creationId xmlns:a16="http://schemas.microsoft.com/office/drawing/2014/main" id="{C8FE3BEB-772E-5BEE-C67E-00A00E7E1EFD}"/>
              </a:ext>
            </a:extLst>
          </p:cNvPr>
          <p:cNvSpPr>
            <a:spLocks noChangeArrowheads="1"/>
          </p:cNvSpPr>
          <p:nvPr/>
        </p:nvSpPr>
        <p:spPr bwMode="auto">
          <a:xfrm rot="16200000">
            <a:off x="5668052" y="3977778"/>
            <a:ext cx="535405"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lnSpc>
                <a:spcPct val="75000"/>
              </a:lnSpc>
            </a:pPr>
            <a:r>
              <a:rPr lang="en-US" altLang="zh-CN" sz="1600" b="1" dirty="0">
                <a:latin typeface="+mn-lt"/>
                <a:ea typeface="微软雅黑 Light" panose="020B0502040204020203" pitchFamily="34" charset="-122"/>
              </a:rPr>
              <a:t>FIN</a:t>
            </a:r>
          </a:p>
        </p:txBody>
      </p:sp>
      <p:sp>
        <p:nvSpPr>
          <p:cNvPr id="5" name="Rectangle 77">
            <a:extLst>
              <a:ext uri="{FF2B5EF4-FFF2-40B4-BE49-F238E27FC236}">
                <a16:creationId xmlns:a16="http://schemas.microsoft.com/office/drawing/2014/main" id="{09A51B3B-FA7E-B7ED-9938-D5E73217CC1F}"/>
              </a:ext>
            </a:extLst>
          </p:cNvPr>
          <p:cNvSpPr>
            <a:spLocks noChangeArrowheads="1"/>
          </p:cNvSpPr>
          <p:nvPr/>
        </p:nvSpPr>
        <p:spPr bwMode="auto">
          <a:xfrm rot="16200000">
            <a:off x="5401703" y="3936764"/>
            <a:ext cx="591510"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SYN</a:t>
            </a:r>
          </a:p>
        </p:txBody>
      </p:sp>
      <p:sp>
        <p:nvSpPr>
          <p:cNvPr id="6" name="Rectangle 78">
            <a:extLst>
              <a:ext uri="{FF2B5EF4-FFF2-40B4-BE49-F238E27FC236}">
                <a16:creationId xmlns:a16="http://schemas.microsoft.com/office/drawing/2014/main" id="{AF245608-64C7-6D1F-E667-B0A91A069A36}"/>
              </a:ext>
            </a:extLst>
          </p:cNvPr>
          <p:cNvSpPr>
            <a:spLocks noChangeArrowheads="1"/>
          </p:cNvSpPr>
          <p:nvPr/>
        </p:nvSpPr>
        <p:spPr bwMode="auto">
          <a:xfrm rot="16200000">
            <a:off x="5115446" y="3917780"/>
            <a:ext cx="618290"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RST</a:t>
            </a:r>
          </a:p>
        </p:txBody>
      </p:sp>
      <p:sp>
        <p:nvSpPr>
          <p:cNvPr id="7" name="Rectangle 79">
            <a:extLst>
              <a:ext uri="{FF2B5EF4-FFF2-40B4-BE49-F238E27FC236}">
                <a16:creationId xmlns:a16="http://schemas.microsoft.com/office/drawing/2014/main" id="{EB9F3B22-A833-03C7-F594-FC781F572942}"/>
              </a:ext>
            </a:extLst>
          </p:cNvPr>
          <p:cNvSpPr>
            <a:spLocks noChangeArrowheads="1"/>
          </p:cNvSpPr>
          <p:nvPr/>
        </p:nvSpPr>
        <p:spPr bwMode="auto">
          <a:xfrm rot="16200000">
            <a:off x="4890356" y="3938731"/>
            <a:ext cx="600108"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PSH  </a:t>
            </a:r>
          </a:p>
        </p:txBody>
      </p:sp>
      <p:sp>
        <p:nvSpPr>
          <p:cNvPr id="8" name="Rectangle 80">
            <a:extLst>
              <a:ext uri="{FF2B5EF4-FFF2-40B4-BE49-F238E27FC236}">
                <a16:creationId xmlns:a16="http://schemas.microsoft.com/office/drawing/2014/main" id="{E6AC576E-E1D6-0E73-3398-13FA0289795A}"/>
              </a:ext>
            </a:extLst>
          </p:cNvPr>
          <p:cNvSpPr>
            <a:spLocks noChangeArrowheads="1"/>
          </p:cNvSpPr>
          <p:nvPr/>
        </p:nvSpPr>
        <p:spPr bwMode="auto">
          <a:xfrm rot="16200000">
            <a:off x="4579000" y="3916214"/>
            <a:ext cx="730250"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ACK</a:t>
            </a:r>
          </a:p>
        </p:txBody>
      </p:sp>
      <p:sp>
        <p:nvSpPr>
          <p:cNvPr id="9" name="Rectangle 81">
            <a:extLst>
              <a:ext uri="{FF2B5EF4-FFF2-40B4-BE49-F238E27FC236}">
                <a16:creationId xmlns:a16="http://schemas.microsoft.com/office/drawing/2014/main" id="{357047BD-845F-0DFE-0C8A-441DC62A3DC0}"/>
              </a:ext>
            </a:extLst>
          </p:cNvPr>
          <p:cNvSpPr>
            <a:spLocks noChangeArrowheads="1"/>
          </p:cNvSpPr>
          <p:nvPr/>
        </p:nvSpPr>
        <p:spPr bwMode="auto">
          <a:xfrm rot="16200000">
            <a:off x="4342408" y="3894364"/>
            <a:ext cx="761997"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URG</a:t>
            </a:r>
          </a:p>
        </p:txBody>
      </p:sp>
      <p:sp>
        <p:nvSpPr>
          <p:cNvPr id="10" name="Rectangle 81">
            <a:extLst>
              <a:ext uri="{FF2B5EF4-FFF2-40B4-BE49-F238E27FC236}">
                <a16:creationId xmlns:a16="http://schemas.microsoft.com/office/drawing/2014/main" id="{7E337ED8-230A-906E-CEEE-6A039F28A8FF}"/>
              </a:ext>
            </a:extLst>
          </p:cNvPr>
          <p:cNvSpPr>
            <a:spLocks noChangeArrowheads="1"/>
          </p:cNvSpPr>
          <p:nvPr/>
        </p:nvSpPr>
        <p:spPr bwMode="auto">
          <a:xfrm rot="16200000">
            <a:off x="3855770" y="3928543"/>
            <a:ext cx="721634"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CWR</a:t>
            </a:r>
          </a:p>
        </p:txBody>
      </p:sp>
      <p:sp>
        <p:nvSpPr>
          <p:cNvPr id="11" name="Rectangle 81">
            <a:extLst>
              <a:ext uri="{FF2B5EF4-FFF2-40B4-BE49-F238E27FC236}">
                <a16:creationId xmlns:a16="http://schemas.microsoft.com/office/drawing/2014/main" id="{62B2695B-AD9A-4CD1-8620-FAE6CDDB43B0}"/>
              </a:ext>
            </a:extLst>
          </p:cNvPr>
          <p:cNvSpPr>
            <a:spLocks noChangeArrowheads="1"/>
          </p:cNvSpPr>
          <p:nvPr/>
        </p:nvSpPr>
        <p:spPr bwMode="auto">
          <a:xfrm rot="16200000">
            <a:off x="4124919" y="3912163"/>
            <a:ext cx="704221"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ECE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7093"/>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42709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7093" grpId="0" animBg="1"/>
      <p:bldP spid="427093" grpId="1"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灯片编号占位符 5"/>
          <p:cNvSpPr>
            <a:spLocks noGrp="1"/>
          </p:cNvSpPr>
          <p:nvPr>
            <p:ph type="sldNum" sz="quarter" idx="12"/>
          </p:nvPr>
        </p:nvSpPr>
        <p:spPr/>
        <p:txBody>
          <a:bodyPr/>
          <a:lstStyle/>
          <a:p>
            <a:fld id="{01C9B6B9-ACF5-40B8-BA72-8C5F6E9F1770}" type="slidenum">
              <a:rPr lang="en-US" altLang="zh-CN"/>
              <a:t>35</a:t>
            </a:fld>
            <a:endParaRPr lang="en-US" altLang="zh-CN"/>
          </a:p>
        </p:txBody>
      </p:sp>
      <p:sp>
        <p:nvSpPr>
          <p:cNvPr id="428116" name="Text Box 84"/>
          <p:cNvSpPr txBox="1">
            <a:spLocks noChangeArrowheads="1"/>
          </p:cNvSpPr>
          <p:nvPr/>
        </p:nvSpPr>
        <p:spPr bwMode="auto">
          <a:xfrm>
            <a:off x="1049650" y="6000691"/>
            <a:ext cx="10080000" cy="398780"/>
          </a:xfrm>
          <a:prstGeom prst="rect">
            <a:avLst/>
          </a:prstGeom>
          <a:noFill/>
          <a:ln>
            <a:noFill/>
          </a:ln>
          <a:effectLst/>
        </p:spPr>
        <p:txBody>
          <a:bodyPr>
            <a:spAutoFit/>
          </a:bodyPr>
          <a:lstStyle>
            <a:defPPr>
              <a:defRPr lang="zh-CN"/>
            </a:defPPr>
            <a:lvl1pPr>
              <a:defRPr>
                <a:latin typeface="微软雅黑 Light" panose="020B0502040204020203" pitchFamily="34" charset="-122"/>
                <a:ea typeface="微软雅黑 Light" panose="020B0502040204020203" pitchFamily="34" charset="-122"/>
              </a:defRPr>
            </a:lvl1pPr>
          </a:lstStyle>
          <a:p>
            <a:pPr marL="342900" indent="-342900">
              <a:buFont typeface="Wingdings" panose="05000000000000000000" pitchFamily="2" charset="2"/>
              <a:buChar char="Ø"/>
            </a:pPr>
            <a:r>
              <a:rPr lang="zh-CN" altLang="en-US" dirty="0">
                <a:latin typeface="+mn-lt"/>
              </a:rPr>
              <a:t>确认号：占</a:t>
            </a:r>
            <a:r>
              <a:rPr lang="en-US" altLang="zh-CN" dirty="0">
                <a:latin typeface="+mn-lt"/>
              </a:rPr>
              <a:t>4</a:t>
            </a:r>
            <a:r>
              <a:rPr lang="zh-CN" altLang="en-US" dirty="0">
                <a:latin typeface="+mn-lt"/>
              </a:rPr>
              <a:t>字节，是期望收到对方的下一个报文段的数据的第一个字节的序号 </a:t>
            </a:r>
          </a:p>
        </p:txBody>
      </p:sp>
      <p:sp>
        <p:nvSpPr>
          <p:cNvPr id="428200" name="Rectangle 168"/>
          <p:cNvSpPr>
            <a:spLocks noGrp="1" noChangeArrowheads="1"/>
          </p:cNvSpPr>
          <p:nvPr>
            <p:ph type="title"/>
          </p:nvPr>
        </p:nvSpPr>
        <p:spPr>
          <a:noFill/>
        </p:spPr>
        <p:txBody>
          <a:bodyPr/>
          <a:lstStyle/>
          <a:p>
            <a:r>
              <a:rPr lang="en-US" altLang="zh-CN" dirty="0"/>
              <a:t>TCP</a:t>
            </a:r>
            <a:r>
              <a:rPr lang="zh-CN" altLang="en-US" dirty="0"/>
              <a:t>的报头字段</a:t>
            </a:r>
            <a:endParaRPr lang="en-US" altLang="zh-CN" dirty="0"/>
          </a:p>
        </p:txBody>
      </p:sp>
      <p:grpSp>
        <p:nvGrpSpPr>
          <p:cNvPr id="2" name="组合 1"/>
          <p:cNvGrpSpPr/>
          <p:nvPr/>
        </p:nvGrpSpPr>
        <p:grpSpPr>
          <a:xfrm>
            <a:off x="1416049" y="1109664"/>
            <a:ext cx="9188451" cy="4695826"/>
            <a:chOff x="1416049" y="1109664"/>
            <a:chExt cx="9188451" cy="4695826"/>
          </a:xfrm>
        </p:grpSpPr>
        <p:sp>
          <p:nvSpPr>
            <p:cNvPr id="90" name="Line 9"/>
            <p:cNvSpPr>
              <a:spLocks noChangeShapeType="1"/>
            </p:cNvSpPr>
            <p:nvPr/>
          </p:nvSpPr>
          <p:spPr bwMode="auto">
            <a:xfrm flipH="1">
              <a:off x="1806574" y="1668464"/>
              <a:ext cx="17463" cy="4122738"/>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1" name="Rectangle 10"/>
            <p:cNvSpPr>
              <a:spLocks noChangeArrowheads="1"/>
            </p:cNvSpPr>
            <p:nvPr/>
          </p:nvSpPr>
          <p:spPr bwMode="auto">
            <a:xfrm>
              <a:off x="1416049" y="3268664"/>
              <a:ext cx="696913" cy="6445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90000"/>
                </a:lnSpc>
              </a:pPr>
              <a:r>
                <a:rPr lang="en-US" altLang="zh-CN" sz="2000" dirty="0">
                  <a:latin typeface="+mn-lt"/>
                  <a:ea typeface="微软雅黑 Light" panose="020B0502040204020203" pitchFamily="34" charset="-122"/>
                </a:rPr>
                <a:t>TCP</a:t>
              </a:r>
            </a:p>
            <a:p>
              <a:pPr eaLnBrk="0" hangingPunct="0">
                <a:lnSpc>
                  <a:spcPct val="90000"/>
                </a:lnSpc>
              </a:pPr>
              <a:r>
                <a:rPr lang="zh-CN" altLang="en-US" sz="2000" dirty="0">
                  <a:latin typeface="+mn-lt"/>
                  <a:ea typeface="微软雅黑 Light" panose="020B0502040204020203" pitchFamily="34" charset="-122"/>
                </a:rPr>
                <a:t>首部</a:t>
              </a:r>
            </a:p>
          </p:txBody>
        </p:sp>
        <p:sp>
          <p:nvSpPr>
            <p:cNvPr id="92" name="Line 11"/>
            <p:cNvSpPr>
              <a:spLocks noChangeShapeType="1"/>
            </p:cNvSpPr>
            <p:nvPr/>
          </p:nvSpPr>
          <p:spPr bwMode="auto">
            <a:xfrm>
              <a:off x="10272712" y="1658939"/>
              <a:ext cx="0" cy="3463925"/>
            </a:xfrm>
            <a:prstGeom prst="line">
              <a:avLst/>
            </a:prstGeom>
            <a:noFill/>
            <a:ln w="2857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3" name="Rectangle 12"/>
            <p:cNvSpPr>
              <a:spLocks noChangeArrowheads="1"/>
            </p:cNvSpPr>
            <p:nvPr/>
          </p:nvSpPr>
          <p:spPr bwMode="auto">
            <a:xfrm>
              <a:off x="9909175" y="2736852"/>
              <a:ext cx="695325" cy="119697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lnSpc>
                  <a:spcPct val="90000"/>
                </a:lnSpc>
              </a:pPr>
              <a:r>
                <a:rPr lang="en-US" altLang="zh-CN" sz="2000">
                  <a:latin typeface="+mn-lt"/>
                  <a:ea typeface="微软雅黑 Light" panose="020B0502040204020203" pitchFamily="34" charset="-122"/>
                </a:rPr>
                <a:t>20</a:t>
              </a:r>
            </a:p>
            <a:p>
              <a:pPr algn="ctr" eaLnBrk="0" hangingPunct="0">
                <a:lnSpc>
                  <a:spcPct val="90000"/>
                </a:lnSpc>
              </a:pPr>
              <a:r>
                <a:rPr lang="zh-CN" altLang="en-US" sz="2000">
                  <a:latin typeface="+mn-lt"/>
                  <a:ea typeface="微软雅黑 Light" panose="020B0502040204020203" pitchFamily="34" charset="-122"/>
                </a:rPr>
                <a:t>字节</a:t>
              </a:r>
            </a:p>
            <a:p>
              <a:pPr algn="ctr" eaLnBrk="0" hangingPunct="0">
                <a:lnSpc>
                  <a:spcPct val="90000"/>
                </a:lnSpc>
              </a:pPr>
              <a:r>
                <a:rPr lang="zh-CN" altLang="en-US" sz="2000">
                  <a:latin typeface="+mn-lt"/>
                  <a:ea typeface="微软雅黑 Light" panose="020B0502040204020203" pitchFamily="34" charset="-122"/>
                </a:rPr>
                <a:t>固定</a:t>
              </a:r>
            </a:p>
            <a:p>
              <a:pPr algn="ctr" eaLnBrk="0" hangingPunct="0">
                <a:lnSpc>
                  <a:spcPct val="90000"/>
                </a:lnSpc>
              </a:pPr>
              <a:r>
                <a:rPr lang="zh-CN" altLang="en-US" sz="2000">
                  <a:latin typeface="+mn-lt"/>
                  <a:ea typeface="微软雅黑 Light" panose="020B0502040204020203" pitchFamily="34" charset="-122"/>
                </a:rPr>
                <a:t>首部</a:t>
              </a:r>
            </a:p>
          </p:txBody>
        </p:sp>
        <p:sp>
          <p:nvSpPr>
            <p:cNvPr id="94" name="Rectangle 13"/>
            <p:cNvSpPr>
              <a:spLocks noChangeArrowheads="1"/>
            </p:cNvSpPr>
            <p:nvPr/>
          </p:nvSpPr>
          <p:spPr bwMode="auto">
            <a:xfrm>
              <a:off x="2178049" y="1665289"/>
              <a:ext cx="7686676" cy="4133850"/>
            </a:xfrm>
            <a:prstGeom prst="rect">
              <a:avLst/>
            </a:prstGeom>
            <a:solidFill>
              <a:schemeClr val="bg2"/>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dirty="0">
                <a:latin typeface="+mn-lt"/>
                <a:ea typeface="微软雅黑 Light" panose="020B0502040204020203" pitchFamily="34" charset="-122"/>
              </a:endParaRPr>
            </a:p>
          </p:txBody>
        </p:sp>
        <p:sp>
          <p:nvSpPr>
            <p:cNvPr id="95" name="Line 14"/>
            <p:cNvSpPr>
              <a:spLocks noChangeShapeType="1"/>
            </p:cNvSpPr>
            <p:nvPr/>
          </p:nvSpPr>
          <p:spPr bwMode="auto">
            <a:xfrm>
              <a:off x="2170112" y="2368552"/>
              <a:ext cx="76993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6" name="Line 15"/>
            <p:cNvSpPr>
              <a:spLocks noChangeShapeType="1"/>
            </p:cNvSpPr>
            <p:nvPr/>
          </p:nvSpPr>
          <p:spPr bwMode="auto">
            <a:xfrm>
              <a:off x="2184399" y="3063877"/>
              <a:ext cx="768508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7" name="Line 16"/>
            <p:cNvSpPr>
              <a:spLocks noChangeShapeType="1"/>
            </p:cNvSpPr>
            <p:nvPr/>
          </p:nvSpPr>
          <p:spPr bwMode="auto">
            <a:xfrm>
              <a:off x="2170112" y="3757614"/>
              <a:ext cx="76993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8" name="Line 17"/>
            <p:cNvSpPr>
              <a:spLocks noChangeShapeType="1"/>
            </p:cNvSpPr>
            <p:nvPr/>
          </p:nvSpPr>
          <p:spPr bwMode="auto">
            <a:xfrm>
              <a:off x="2170112" y="4449764"/>
              <a:ext cx="76993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9" name="Line 18"/>
            <p:cNvSpPr>
              <a:spLocks noChangeShapeType="1"/>
            </p:cNvSpPr>
            <p:nvPr/>
          </p:nvSpPr>
          <p:spPr bwMode="auto">
            <a:xfrm>
              <a:off x="2184399" y="5145089"/>
              <a:ext cx="768508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00" name="Line 19"/>
            <p:cNvSpPr>
              <a:spLocks noChangeShapeType="1"/>
            </p:cNvSpPr>
            <p:nvPr/>
          </p:nvSpPr>
          <p:spPr bwMode="auto">
            <a:xfrm>
              <a:off x="6022975" y="1673227"/>
              <a:ext cx="0" cy="7096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01" name="Rectangle 20"/>
            <p:cNvSpPr>
              <a:spLocks noChangeArrowheads="1"/>
            </p:cNvSpPr>
            <p:nvPr/>
          </p:nvSpPr>
          <p:spPr bwMode="auto">
            <a:xfrm>
              <a:off x="7223125" y="1800227"/>
              <a:ext cx="1593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目  的  端  口</a:t>
              </a:r>
            </a:p>
          </p:txBody>
        </p:sp>
        <p:sp>
          <p:nvSpPr>
            <p:cNvPr id="102" name="Rectangle 21"/>
            <p:cNvSpPr>
              <a:spLocks noChangeArrowheads="1"/>
            </p:cNvSpPr>
            <p:nvPr/>
          </p:nvSpPr>
          <p:spPr bwMode="auto">
            <a:xfrm>
              <a:off x="2332037" y="3722689"/>
              <a:ext cx="695325" cy="704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数据</a:t>
              </a:r>
            </a:p>
            <a:p>
              <a:pPr eaLnBrk="0" hangingPunct="0"/>
              <a:r>
                <a:rPr lang="zh-CN" altLang="en-US" sz="2000" dirty="0">
                  <a:latin typeface="+mn-lt"/>
                  <a:ea typeface="微软雅黑 Light" panose="020B0502040204020203" pitchFamily="34" charset="-122"/>
                </a:rPr>
                <a:t>偏移</a:t>
              </a:r>
            </a:p>
          </p:txBody>
        </p:sp>
        <p:sp>
          <p:nvSpPr>
            <p:cNvPr id="103" name="Rectangle 22"/>
            <p:cNvSpPr>
              <a:spLocks noChangeArrowheads="1"/>
            </p:cNvSpPr>
            <p:nvPr/>
          </p:nvSpPr>
          <p:spPr bwMode="auto">
            <a:xfrm>
              <a:off x="3411537" y="4587877"/>
              <a:ext cx="13366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检   验   和</a:t>
              </a:r>
            </a:p>
          </p:txBody>
        </p:sp>
        <p:sp>
          <p:nvSpPr>
            <p:cNvPr id="104" name="Rectangle 23"/>
            <p:cNvSpPr>
              <a:spLocks noChangeArrowheads="1"/>
            </p:cNvSpPr>
            <p:nvPr/>
          </p:nvSpPr>
          <p:spPr bwMode="auto">
            <a:xfrm>
              <a:off x="3694112" y="5237164"/>
              <a:ext cx="31988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选    项 长  度  可  变）</a:t>
              </a:r>
            </a:p>
          </p:txBody>
        </p:sp>
        <p:sp>
          <p:nvSpPr>
            <p:cNvPr id="105" name="Rectangle 24"/>
            <p:cNvSpPr>
              <a:spLocks noChangeArrowheads="1"/>
            </p:cNvSpPr>
            <p:nvPr/>
          </p:nvSpPr>
          <p:spPr bwMode="auto">
            <a:xfrm>
              <a:off x="3525837" y="1800227"/>
              <a:ext cx="12541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源  端  口</a:t>
              </a:r>
            </a:p>
          </p:txBody>
        </p:sp>
        <p:sp>
          <p:nvSpPr>
            <p:cNvPr id="106" name="Rectangle 25"/>
            <p:cNvSpPr>
              <a:spLocks noChangeArrowheads="1"/>
            </p:cNvSpPr>
            <p:nvPr/>
          </p:nvSpPr>
          <p:spPr bwMode="auto">
            <a:xfrm>
              <a:off x="5578474" y="2487614"/>
              <a:ext cx="1381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序   号</a:t>
              </a:r>
            </a:p>
          </p:txBody>
        </p:sp>
        <p:sp>
          <p:nvSpPr>
            <p:cNvPr id="107" name="Line 26"/>
            <p:cNvSpPr>
              <a:spLocks noChangeShapeType="1"/>
            </p:cNvSpPr>
            <p:nvPr/>
          </p:nvSpPr>
          <p:spPr bwMode="auto">
            <a:xfrm>
              <a:off x="6029325" y="3767139"/>
              <a:ext cx="0" cy="13700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08" name="Rectangle 27"/>
            <p:cNvSpPr>
              <a:spLocks noChangeArrowheads="1"/>
            </p:cNvSpPr>
            <p:nvPr/>
          </p:nvSpPr>
          <p:spPr bwMode="auto">
            <a:xfrm>
              <a:off x="7062787" y="4587877"/>
              <a:ext cx="17859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紧   急   指   针</a:t>
              </a:r>
            </a:p>
          </p:txBody>
        </p:sp>
        <p:sp>
          <p:nvSpPr>
            <p:cNvPr id="109" name="Rectangle 28"/>
            <p:cNvSpPr>
              <a:spLocks noChangeArrowheads="1"/>
            </p:cNvSpPr>
            <p:nvPr/>
          </p:nvSpPr>
          <p:spPr bwMode="auto">
            <a:xfrm>
              <a:off x="7512050" y="3868739"/>
              <a:ext cx="9223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窗   口</a:t>
              </a:r>
            </a:p>
          </p:txBody>
        </p:sp>
        <p:sp>
          <p:nvSpPr>
            <p:cNvPr id="110" name="Rectangle 29"/>
            <p:cNvSpPr>
              <a:spLocks noChangeArrowheads="1"/>
            </p:cNvSpPr>
            <p:nvPr/>
          </p:nvSpPr>
          <p:spPr bwMode="auto">
            <a:xfrm>
              <a:off x="5333999" y="3211514"/>
              <a:ext cx="18415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确    认    号</a:t>
              </a:r>
            </a:p>
          </p:txBody>
        </p:sp>
        <p:sp>
          <p:nvSpPr>
            <p:cNvPr id="111" name="Line 30"/>
            <p:cNvSpPr>
              <a:spLocks noChangeShapeType="1"/>
            </p:cNvSpPr>
            <p:nvPr/>
          </p:nvSpPr>
          <p:spPr bwMode="auto">
            <a:xfrm>
              <a:off x="3135312" y="3767139"/>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20" name="Line 39"/>
            <p:cNvSpPr>
              <a:spLocks noChangeShapeType="1"/>
            </p:cNvSpPr>
            <p:nvPr/>
          </p:nvSpPr>
          <p:spPr bwMode="auto">
            <a:xfrm>
              <a:off x="2174874" y="1508127"/>
              <a:ext cx="767556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21" name="Line 40"/>
            <p:cNvSpPr>
              <a:spLocks noChangeShapeType="1"/>
            </p:cNvSpPr>
            <p:nvPr/>
          </p:nvSpPr>
          <p:spPr bwMode="auto">
            <a:xfrm>
              <a:off x="2174874"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22" name="Line 41"/>
            <p:cNvSpPr>
              <a:spLocks noChangeShapeType="1"/>
            </p:cNvSpPr>
            <p:nvPr/>
          </p:nvSpPr>
          <p:spPr bwMode="auto">
            <a:xfrm>
              <a:off x="2414587"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23" name="Line 42"/>
            <p:cNvSpPr>
              <a:spLocks noChangeShapeType="1"/>
            </p:cNvSpPr>
            <p:nvPr/>
          </p:nvSpPr>
          <p:spPr bwMode="auto">
            <a:xfrm>
              <a:off x="2654299"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24" name="Line 43"/>
            <p:cNvSpPr>
              <a:spLocks noChangeShapeType="1"/>
            </p:cNvSpPr>
            <p:nvPr/>
          </p:nvSpPr>
          <p:spPr bwMode="auto">
            <a:xfrm>
              <a:off x="2894012"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25" name="Line 44"/>
            <p:cNvSpPr>
              <a:spLocks noChangeShapeType="1"/>
            </p:cNvSpPr>
            <p:nvPr/>
          </p:nvSpPr>
          <p:spPr bwMode="auto">
            <a:xfrm>
              <a:off x="3135312"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26" name="Line 45"/>
            <p:cNvSpPr>
              <a:spLocks noChangeShapeType="1"/>
            </p:cNvSpPr>
            <p:nvPr/>
          </p:nvSpPr>
          <p:spPr bwMode="auto">
            <a:xfrm>
              <a:off x="3375024"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27" name="Line 46"/>
            <p:cNvSpPr>
              <a:spLocks noChangeShapeType="1"/>
            </p:cNvSpPr>
            <p:nvPr/>
          </p:nvSpPr>
          <p:spPr bwMode="auto">
            <a:xfrm>
              <a:off x="3613149"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28" name="Line 47"/>
            <p:cNvSpPr>
              <a:spLocks noChangeShapeType="1"/>
            </p:cNvSpPr>
            <p:nvPr/>
          </p:nvSpPr>
          <p:spPr bwMode="auto">
            <a:xfrm>
              <a:off x="3852862"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29" name="Line 48"/>
            <p:cNvSpPr>
              <a:spLocks noChangeShapeType="1"/>
            </p:cNvSpPr>
            <p:nvPr/>
          </p:nvSpPr>
          <p:spPr bwMode="auto">
            <a:xfrm>
              <a:off x="4094162"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30" name="Line 49"/>
            <p:cNvSpPr>
              <a:spLocks noChangeShapeType="1"/>
            </p:cNvSpPr>
            <p:nvPr/>
          </p:nvSpPr>
          <p:spPr bwMode="auto">
            <a:xfrm>
              <a:off x="4333874"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31" name="Line 50"/>
            <p:cNvSpPr>
              <a:spLocks noChangeShapeType="1"/>
            </p:cNvSpPr>
            <p:nvPr/>
          </p:nvSpPr>
          <p:spPr bwMode="auto">
            <a:xfrm>
              <a:off x="4573587"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32" name="Line 51"/>
            <p:cNvSpPr>
              <a:spLocks noChangeShapeType="1"/>
            </p:cNvSpPr>
            <p:nvPr/>
          </p:nvSpPr>
          <p:spPr bwMode="auto">
            <a:xfrm>
              <a:off x="4813299"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33" name="Line 52"/>
            <p:cNvSpPr>
              <a:spLocks noChangeShapeType="1"/>
            </p:cNvSpPr>
            <p:nvPr/>
          </p:nvSpPr>
          <p:spPr bwMode="auto">
            <a:xfrm>
              <a:off x="5054599"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34" name="Line 53"/>
            <p:cNvSpPr>
              <a:spLocks noChangeShapeType="1"/>
            </p:cNvSpPr>
            <p:nvPr/>
          </p:nvSpPr>
          <p:spPr bwMode="auto">
            <a:xfrm>
              <a:off x="5294312"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35" name="Line 54"/>
            <p:cNvSpPr>
              <a:spLocks noChangeShapeType="1"/>
            </p:cNvSpPr>
            <p:nvPr/>
          </p:nvSpPr>
          <p:spPr bwMode="auto">
            <a:xfrm>
              <a:off x="5532437"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36" name="Line 55"/>
            <p:cNvSpPr>
              <a:spLocks noChangeShapeType="1"/>
            </p:cNvSpPr>
            <p:nvPr/>
          </p:nvSpPr>
          <p:spPr bwMode="auto">
            <a:xfrm>
              <a:off x="5772149"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37" name="Line 56"/>
            <p:cNvSpPr>
              <a:spLocks noChangeShapeType="1"/>
            </p:cNvSpPr>
            <p:nvPr/>
          </p:nvSpPr>
          <p:spPr bwMode="auto">
            <a:xfrm>
              <a:off x="6011862"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38" name="Line 57"/>
            <p:cNvSpPr>
              <a:spLocks noChangeShapeType="1"/>
            </p:cNvSpPr>
            <p:nvPr/>
          </p:nvSpPr>
          <p:spPr bwMode="auto">
            <a:xfrm>
              <a:off x="6253162"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39" name="Line 58"/>
            <p:cNvSpPr>
              <a:spLocks noChangeShapeType="1"/>
            </p:cNvSpPr>
            <p:nvPr/>
          </p:nvSpPr>
          <p:spPr bwMode="auto">
            <a:xfrm>
              <a:off x="649287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40" name="Line 59"/>
            <p:cNvSpPr>
              <a:spLocks noChangeShapeType="1"/>
            </p:cNvSpPr>
            <p:nvPr/>
          </p:nvSpPr>
          <p:spPr bwMode="auto">
            <a:xfrm>
              <a:off x="6732587"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41" name="Line 60"/>
            <p:cNvSpPr>
              <a:spLocks noChangeShapeType="1"/>
            </p:cNvSpPr>
            <p:nvPr/>
          </p:nvSpPr>
          <p:spPr bwMode="auto">
            <a:xfrm>
              <a:off x="6972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42" name="Line 61"/>
            <p:cNvSpPr>
              <a:spLocks noChangeShapeType="1"/>
            </p:cNvSpPr>
            <p:nvPr/>
          </p:nvSpPr>
          <p:spPr bwMode="auto">
            <a:xfrm>
              <a:off x="72136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43" name="Line 62"/>
            <p:cNvSpPr>
              <a:spLocks noChangeShapeType="1"/>
            </p:cNvSpPr>
            <p:nvPr/>
          </p:nvSpPr>
          <p:spPr bwMode="auto">
            <a:xfrm>
              <a:off x="745172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44" name="Line 63"/>
            <p:cNvSpPr>
              <a:spLocks noChangeShapeType="1"/>
            </p:cNvSpPr>
            <p:nvPr/>
          </p:nvSpPr>
          <p:spPr bwMode="auto">
            <a:xfrm>
              <a:off x="7691437"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45" name="Line 64"/>
            <p:cNvSpPr>
              <a:spLocks noChangeShapeType="1"/>
            </p:cNvSpPr>
            <p:nvPr/>
          </p:nvSpPr>
          <p:spPr bwMode="auto">
            <a:xfrm>
              <a:off x="7931150"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46" name="Line 65"/>
            <p:cNvSpPr>
              <a:spLocks noChangeShapeType="1"/>
            </p:cNvSpPr>
            <p:nvPr/>
          </p:nvSpPr>
          <p:spPr bwMode="auto">
            <a:xfrm>
              <a:off x="8170862"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47" name="Line 66"/>
            <p:cNvSpPr>
              <a:spLocks noChangeShapeType="1"/>
            </p:cNvSpPr>
            <p:nvPr/>
          </p:nvSpPr>
          <p:spPr bwMode="auto">
            <a:xfrm>
              <a:off x="8412162"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48" name="Line 67"/>
            <p:cNvSpPr>
              <a:spLocks noChangeShapeType="1"/>
            </p:cNvSpPr>
            <p:nvPr/>
          </p:nvSpPr>
          <p:spPr bwMode="auto">
            <a:xfrm>
              <a:off x="865187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49" name="Line 68"/>
            <p:cNvSpPr>
              <a:spLocks noChangeShapeType="1"/>
            </p:cNvSpPr>
            <p:nvPr/>
          </p:nvSpPr>
          <p:spPr bwMode="auto">
            <a:xfrm>
              <a:off x="8891587"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50" name="Line 69"/>
            <p:cNvSpPr>
              <a:spLocks noChangeShapeType="1"/>
            </p:cNvSpPr>
            <p:nvPr/>
          </p:nvSpPr>
          <p:spPr bwMode="auto">
            <a:xfrm>
              <a:off x="9131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51" name="Line 70"/>
            <p:cNvSpPr>
              <a:spLocks noChangeShapeType="1"/>
            </p:cNvSpPr>
            <p:nvPr/>
          </p:nvSpPr>
          <p:spPr bwMode="auto">
            <a:xfrm>
              <a:off x="9371012"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52" name="Line 71"/>
            <p:cNvSpPr>
              <a:spLocks noChangeShapeType="1"/>
            </p:cNvSpPr>
            <p:nvPr/>
          </p:nvSpPr>
          <p:spPr bwMode="auto">
            <a:xfrm>
              <a:off x="961072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53" name="Line 72"/>
            <p:cNvSpPr>
              <a:spLocks noChangeShapeType="1"/>
            </p:cNvSpPr>
            <p:nvPr/>
          </p:nvSpPr>
          <p:spPr bwMode="auto">
            <a:xfrm>
              <a:off x="9850437"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54" name="Rectangle 73"/>
            <p:cNvSpPr>
              <a:spLocks noChangeArrowheads="1"/>
            </p:cNvSpPr>
            <p:nvPr/>
          </p:nvSpPr>
          <p:spPr bwMode="auto">
            <a:xfrm>
              <a:off x="2333624"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155" name="Rectangle 74"/>
            <p:cNvSpPr>
              <a:spLocks noChangeArrowheads="1"/>
            </p:cNvSpPr>
            <p:nvPr/>
          </p:nvSpPr>
          <p:spPr bwMode="auto">
            <a:xfrm>
              <a:off x="4252912"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156" name="Rectangle 75"/>
            <p:cNvSpPr>
              <a:spLocks noChangeArrowheads="1"/>
            </p:cNvSpPr>
            <p:nvPr/>
          </p:nvSpPr>
          <p:spPr bwMode="auto">
            <a:xfrm>
              <a:off x="6172200"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157" name="Rectangle 76"/>
            <p:cNvSpPr>
              <a:spLocks noChangeArrowheads="1"/>
            </p:cNvSpPr>
            <p:nvPr/>
          </p:nvSpPr>
          <p:spPr bwMode="auto">
            <a:xfrm>
              <a:off x="8091487"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164" name="Line 83"/>
            <p:cNvSpPr>
              <a:spLocks noChangeShapeType="1"/>
            </p:cNvSpPr>
            <p:nvPr/>
          </p:nvSpPr>
          <p:spPr bwMode="auto">
            <a:xfrm flipH="1">
              <a:off x="7929562" y="5162552"/>
              <a:ext cx="3175" cy="6429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165" name="Rectangle 84"/>
            <p:cNvSpPr>
              <a:spLocks noChangeArrowheads="1"/>
            </p:cNvSpPr>
            <p:nvPr/>
          </p:nvSpPr>
          <p:spPr bwMode="auto">
            <a:xfrm>
              <a:off x="8442325" y="5229227"/>
              <a:ext cx="1254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填    充</a:t>
              </a:r>
            </a:p>
          </p:txBody>
        </p:sp>
        <p:sp>
          <p:nvSpPr>
            <p:cNvPr id="166" name="Line 85"/>
            <p:cNvSpPr>
              <a:spLocks noChangeShapeType="1"/>
            </p:cNvSpPr>
            <p:nvPr/>
          </p:nvSpPr>
          <p:spPr bwMode="auto">
            <a:xfrm>
              <a:off x="9971087" y="1641477"/>
              <a:ext cx="5175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167" name="Line 86"/>
            <p:cNvSpPr>
              <a:spLocks noChangeShapeType="1"/>
            </p:cNvSpPr>
            <p:nvPr/>
          </p:nvSpPr>
          <p:spPr bwMode="auto">
            <a:xfrm>
              <a:off x="9971087" y="5137152"/>
              <a:ext cx="5175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168" name="Line 87"/>
            <p:cNvSpPr>
              <a:spLocks noChangeShapeType="1"/>
            </p:cNvSpPr>
            <p:nvPr/>
          </p:nvSpPr>
          <p:spPr bwMode="auto">
            <a:xfrm>
              <a:off x="1558924" y="1679577"/>
              <a:ext cx="5302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169" name="Line 88"/>
            <p:cNvSpPr>
              <a:spLocks noChangeShapeType="1"/>
            </p:cNvSpPr>
            <p:nvPr/>
          </p:nvSpPr>
          <p:spPr bwMode="auto">
            <a:xfrm>
              <a:off x="1573212" y="5780089"/>
              <a:ext cx="5302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170" name="Line 30"/>
            <p:cNvSpPr>
              <a:spLocks noChangeShapeType="1"/>
            </p:cNvSpPr>
            <p:nvPr/>
          </p:nvSpPr>
          <p:spPr bwMode="auto">
            <a:xfrm>
              <a:off x="3135313" y="3767139"/>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1" name="Line 31"/>
            <p:cNvSpPr>
              <a:spLocks noChangeShapeType="1"/>
            </p:cNvSpPr>
            <p:nvPr/>
          </p:nvSpPr>
          <p:spPr bwMode="auto">
            <a:xfrm>
              <a:off x="5062538" y="3759202"/>
              <a:ext cx="0" cy="6842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2" name="Line 32"/>
            <p:cNvSpPr>
              <a:spLocks noChangeShapeType="1"/>
            </p:cNvSpPr>
            <p:nvPr/>
          </p:nvSpPr>
          <p:spPr bwMode="auto">
            <a:xfrm>
              <a:off x="4572001" y="3761583"/>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3" name="Line 33"/>
            <p:cNvSpPr>
              <a:spLocks noChangeShapeType="1"/>
            </p:cNvSpPr>
            <p:nvPr/>
          </p:nvSpPr>
          <p:spPr bwMode="auto">
            <a:xfrm>
              <a:off x="4813300"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4" name="Line 34"/>
            <p:cNvSpPr>
              <a:spLocks noChangeShapeType="1"/>
            </p:cNvSpPr>
            <p:nvPr/>
          </p:nvSpPr>
          <p:spPr bwMode="auto">
            <a:xfrm>
              <a:off x="5543550"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5" name="Line 35"/>
            <p:cNvSpPr>
              <a:spLocks noChangeShapeType="1"/>
            </p:cNvSpPr>
            <p:nvPr/>
          </p:nvSpPr>
          <p:spPr bwMode="auto">
            <a:xfrm>
              <a:off x="5302250"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6" name="Line 36"/>
            <p:cNvSpPr>
              <a:spLocks noChangeShapeType="1"/>
            </p:cNvSpPr>
            <p:nvPr/>
          </p:nvSpPr>
          <p:spPr bwMode="auto">
            <a:xfrm>
              <a:off x="5788025"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7" name="Rectangle 37"/>
            <p:cNvSpPr>
              <a:spLocks noChangeArrowheads="1"/>
            </p:cNvSpPr>
            <p:nvPr/>
          </p:nvSpPr>
          <p:spPr bwMode="auto">
            <a:xfrm>
              <a:off x="3198280" y="3867686"/>
              <a:ext cx="72548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保留</a:t>
              </a:r>
            </a:p>
          </p:txBody>
        </p:sp>
        <p:sp>
          <p:nvSpPr>
            <p:cNvPr id="184" name="Line 32"/>
            <p:cNvSpPr>
              <a:spLocks noChangeShapeType="1"/>
            </p:cNvSpPr>
            <p:nvPr/>
          </p:nvSpPr>
          <p:spPr bwMode="auto">
            <a:xfrm>
              <a:off x="4079776" y="3757614"/>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85" name="Line 33"/>
            <p:cNvSpPr>
              <a:spLocks noChangeShapeType="1"/>
            </p:cNvSpPr>
            <p:nvPr/>
          </p:nvSpPr>
          <p:spPr bwMode="auto">
            <a:xfrm>
              <a:off x="4314850" y="3768726"/>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grpSp>
      <p:sp>
        <p:nvSpPr>
          <p:cNvPr id="428117" name="Rectangle 85"/>
          <p:cNvSpPr>
            <a:spLocks noChangeArrowheads="1"/>
          </p:cNvSpPr>
          <p:nvPr/>
        </p:nvSpPr>
        <p:spPr bwMode="auto">
          <a:xfrm>
            <a:off x="2135189" y="3068638"/>
            <a:ext cx="7754937" cy="717550"/>
          </a:xfrm>
          <a:prstGeom prst="rect">
            <a:avLst/>
          </a:prstGeom>
          <a:noFill/>
          <a:ln w="7620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3" name="Rectangle 82">
            <a:extLst>
              <a:ext uri="{FF2B5EF4-FFF2-40B4-BE49-F238E27FC236}">
                <a16:creationId xmlns:a16="http://schemas.microsoft.com/office/drawing/2014/main" id="{50C0F0E6-2302-71C7-62F3-92E8F59A969D}"/>
              </a:ext>
            </a:extLst>
          </p:cNvPr>
          <p:cNvSpPr>
            <a:spLocks noChangeArrowheads="1"/>
          </p:cNvSpPr>
          <p:nvPr/>
        </p:nvSpPr>
        <p:spPr bwMode="auto">
          <a:xfrm>
            <a:off x="1812925" y="908720"/>
            <a:ext cx="8261878"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位 </a:t>
            </a:r>
            <a:r>
              <a:rPr lang="en-US" altLang="zh-CN" sz="2000" dirty="0">
                <a:latin typeface="+mn-lt"/>
                <a:ea typeface="微软雅黑 Light" panose="020B0502040204020203" pitchFamily="34" charset="-122"/>
              </a:rPr>
              <a:t>0                           8                           16                          24                          31</a:t>
            </a:r>
          </a:p>
        </p:txBody>
      </p:sp>
      <p:sp>
        <p:nvSpPr>
          <p:cNvPr id="4" name="Rectangle 38">
            <a:extLst>
              <a:ext uri="{FF2B5EF4-FFF2-40B4-BE49-F238E27FC236}">
                <a16:creationId xmlns:a16="http://schemas.microsoft.com/office/drawing/2014/main" id="{5FD451BE-FE53-8E43-3DA8-35FBAEE1BDA8}"/>
              </a:ext>
            </a:extLst>
          </p:cNvPr>
          <p:cNvSpPr>
            <a:spLocks noChangeArrowheads="1"/>
          </p:cNvSpPr>
          <p:nvPr/>
        </p:nvSpPr>
        <p:spPr bwMode="auto">
          <a:xfrm rot="16200000">
            <a:off x="5668052" y="3959222"/>
            <a:ext cx="535405"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lnSpc>
                <a:spcPct val="75000"/>
              </a:lnSpc>
            </a:pPr>
            <a:r>
              <a:rPr lang="en-US" altLang="zh-CN" sz="1600" b="1" dirty="0">
                <a:latin typeface="+mn-lt"/>
                <a:ea typeface="微软雅黑 Light" panose="020B0502040204020203" pitchFamily="34" charset="-122"/>
              </a:rPr>
              <a:t>FIN</a:t>
            </a:r>
          </a:p>
        </p:txBody>
      </p:sp>
      <p:sp>
        <p:nvSpPr>
          <p:cNvPr id="5" name="Rectangle 77">
            <a:extLst>
              <a:ext uri="{FF2B5EF4-FFF2-40B4-BE49-F238E27FC236}">
                <a16:creationId xmlns:a16="http://schemas.microsoft.com/office/drawing/2014/main" id="{4F976400-4E1F-75B9-5B9D-84FAC536CA16}"/>
              </a:ext>
            </a:extLst>
          </p:cNvPr>
          <p:cNvSpPr>
            <a:spLocks noChangeArrowheads="1"/>
          </p:cNvSpPr>
          <p:nvPr/>
        </p:nvSpPr>
        <p:spPr bwMode="auto">
          <a:xfrm rot="16200000">
            <a:off x="5401703" y="3936764"/>
            <a:ext cx="591510"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SYN</a:t>
            </a:r>
          </a:p>
        </p:txBody>
      </p:sp>
      <p:sp>
        <p:nvSpPr>
          <p:cNvPr id="6" name="Rectangle 78">
            <a:extLst>
              <a:ext uri="{FF2B5EF4-FFF2-40B4-BE49-F238E27FC236}">
                <a16:creationId xmlns:a16="http://schemas.microsoft.com/office/drawing/2014/main" id="{55C41954-6FFA-3D80-2B62-B6DD5890817A}"/>
              </a:ext>
            </a:extLst>
          </p:cNvPr>
          <p:cNvSpPr>
            <a:spLocks noChangeArrowheads="1"/>
          </p:cNvSpPr>
          <p:nvPr/>
        </p:nvSpPr>
        <p:spPr bwMode="auto">
          <a:xfrm rot="16200000">
            <a:off x="5115446" y="3917780"/>
            <a:ext cx="618290"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RST</a:t>
            </a:r>
          </a:p>
        </p:txBody>
      </p:sp>
      <p:sp>
        <p:nvSpPr>
          <p:cNvPr id="7" name="Rectangle 79">
            <a:extLst>
              <a:ext uri="{FF2B5EF4-FFF2-40B4-BE49-F238E27FC236}">
                <a16:creationId xmlns:a16="http://schemas.microsoft.com/office/drawing/2014/main" id="{167A9B5D-AA4A-3F62-23EF-B7D143D80A60}"/>
              </a:ext>
            </a:extLst>
          </p:cNvPr>
          <p:cNvSpPr>
            <a:spLocks noChangeArrowheads="1"/>
          </p:cNvSpPr>
          <p:nvPr/>
        </p:nvSpPr>
        <p:spPr bwMode="auto">
          <a:xfrm rot="16200000">
            <a:off x="4890356" y="3938731"/>
            <a:ext cx="600108"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PSH  </a:t>
            </a:r>
          </a:p>
        </p:txBody>
      </p:sp>
      <p:sp>
        <p:nvSpPr>
          <p:cNvPr id="8" name="Rectangle 80">
            <a:extLst>
              <a:ext uri="{FF2B5EF4-FFF2-40B4-BE49-F238E27FC236}">
                <a16:creationId xmlns:a16="http://schemas.microsoft.com/office/drawing/2014/main" id="{AE2CA9EF-4862-5972-5C3E-5FB9BFDFC832}"/>
              </a:ext>
            </a:extLst>
          </p:cNvPr>
          <p:cNvSpPr>
            <a:spLocks noChangeArrowheads="1"/>
          </p:cNvSpPr>
          <p:nvPr/>
        </p:nvSpPr>
        <p:spPr bwMode="auto">
          <a:xfrm rot="16200000">
            <a:off x="4579000" y="3916214"/>
            <a:ext cx="730250"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ACK</a:t>
            </a:r>
          </a:p>
        </p:txBody>
      </p:sp>
      <p:sp>
        <p:nvSpPr>
          <p:cNvPr id="9" name="Rectangle 81">
            <a:extLst>
              <a:ext uri="{FF2B5EF4-FFF2-40B4-BE49-F238E27FC236}">
                <a16:creationId xmlns:a16="http://schemas.microsoft.com/office/drawing/2014/main" id="{94BD295D-E314-6248-51B7-FE6C4D37A515}"/>
              </a:ext>
            </a:extLst>
          </p:cNvPr>
          <p:cNvSpPr>
            <a:spLocks noChangeArrowheads="1"/>
          </p:cNvSpPr>
          <p:nvPr/>
        </p:nvSpPr>
        <p:spPr bwMode="auto">
          <a:xfrm rot="16200000">
            <a:off x="4342408" y="3894364"/>
            <a:ext cx="761997"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URG</a:t>
            </a:r>
          </a:p>
        </p:txBody>
      </p:sp>
      <p:sp>
        <p:nvSpPr>
          <p:cNvPr id="10" name="Rectangle 81">
            <a:extLst>
              <a:ext uri="{FF2B5EF4-FFF2-40B4-BE49-F238E27FC236}">
                <a16:creationId xmlns:a16="http://schemas.microsoft.com/office/drawing/2014/main" id="{19EB2995-6435-A96F-8A3D-B15AED1E319A}"/>
              </a:ext>
            </a:extLst>
          </p:cNvPr>
          <p:cNvSpPr>
            <a:spLocks noChangeArrowheads="1"/>
          </p:cNvSpPr>
          <p:nvPr/>
        </p:nvSpPr>
        <p:spPr bwMode="auto">
          <a:xfrm rot="16200000">
            <a:off x="3855770" y="3928543"/>
            <a:ext cx="721634"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CWR</a:t>
            </a:r>
          </a:p>
        </p:txBody>
      </p:sp>
      <p:sp>
        <p:nvSpPr>
          <p:cNvPr id="11" name="Rectangle 81">
            <a:extLst>
              <a:ext uri="{FF2B5EF4-FFF2-40B4-BE49-F238E27FC236}">
                <a16:creationId xmlns:a16="http://schemas.microsoft.com/office/drawing/2014/main" id="{A2A2382A-1E19-120D-BA58-A8D750847D46}"/>
              </a:ext>
            </a:extLst>
          </p:cNvPr>
          <p:cNvSpPr>
            <a:spLocks noChangeArrowheads="1"/>
          </p:cNvSpPr>
          <p:nvPr/>
        </p:nvSpPr>
        <p:spPr bwMode="auto">
          <a:xfrm rot="16200000">
            <a:off x="4124919" y="3912163"/>
            <a:ext cx="704221"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ECE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8117"/>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42811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8117" grpId="0" animBg="1"/>
      <p:bldP spid="428117" grpId="1"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Rectangle 13"/>
          <p:cNvSpPr>
            <a:spLocks noChangeArrowheads="1"/>
          </p:cNvSpPr>
          <p:nvPr/>
        </p:nvSpPr>
        <p:spPr bwMode="auto">
          <a:xfrm>
            <a:off x="2178050" y="1665289"/>
            <a:ext cx="7686675" cy="4133850"/>
          </a:xfrm>
          <a:prstGeom prst="rect">
            <a:avLst/>
          </a:prstGeom>
          <a:solidFill>
            <a:schemeClr val="bg2"/>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164" name="Line 83"/>
          <p:cNvSpPr>
            <a:spLocks noChangeShapeType="1"/>
          </p:cNvSpPr>
          <p:nvPr/>
        </p:nvSpPr>
        <p:spPr bwMode="auto">
          <a:xfrm flipH="1">
            <a:off x="7929563" y="5162552"/>
            <a:ext cx="3175" cy="6429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89" name="灯片编号占位符 5"/>
          <p:cNvSpPr>
            <a:spLocks noGrp="1"/>
          </p:cNvSpPr>
          <p:nvPr>
            <p:ph type="sldNum" sz="quarter" idx="12"/>
          </p:nvPr>
        </p:nvSpPr>
        <p:spPr/>
        <p:txBody>
          <a:bodyPr/>
          <a:lstStyle/>
          <a:p>
            <a:fld id="{1D0B5E65-E950-4056-B72F-C742557B4C4E}" type="slidenum">
              <a:rPr lang="en-US" altLang="zh-CN"/>
              <a:t>36</a:t>
            </a:fld>
            <a:endParaRPr lang="en-US" altLang="zh-CN"/>
          </a:p>
        </p:txBody>
      </p:sp>
      <p:sp>
        <p:nvSpPr>
          <p:cNvPr id="429140" name="Text Box 84"/>
          <p:cNvSpPr txBox="1">
            <a:spLocks noChangeArrowheads="1"/>
          </p:cNvSpPr>
          <p:nvPr/>
        </p:nvSpPr>
        <p:spPr bwMode="auto">
          <a:xfrm>
            <a:off x="1049650" y="5892870"/>
            <a:ext cx="10080000" cy="706755"/>
          </a:xfrm>
          <a:prstGeom prst="rect">
            <a:avLst/>
          </a:prstGeom>
          <a:noFill/>
          <a:ln>
            <a:noFill/>
          </a:ln>
          <a:effectLst/>
        </p:spPr>
        <p:txBody>
          <a:bodyPr>
            <a:spAutoFit/>
          </a:bodyPr>
          <a:lstStyle>
            <a:defPPr>
              <a:defRPr lang="zh-CN"/>
            </a:defPPr>
            <a:lvl1pPr>
              <a:defRPr>
                <a:latin typeface="微软雅黑 Light" panose="020B0502040204020203" pitchFamily="34" charset="-122"/>
                <a:ea typeface="微软雅黑 Light" panose="020B0502040204020203" pitchFamily="34" charset="-122"/>
              </a:defRPr>
            </a:lvl1pPr>
          </a:lstStyle>
          <a:p>
            <a:pPr marL="342900" indent="-342900">
              <a:buFont typeface="Wingdings" panose="05000000000000000000" pitchFamily="2" charset="2"/>
              <a:buChar char="Ø"/>
            </a:pPr>
            <a:r>
              <a:rPr lang="zh-CN" altLang="en-US" dirty="0"/>
              <a:t>数据偏移</a:t>
            </a:r>
            <a:r>
              <a:rPr lang="en-US" altLang="zh-CN" dirty="0"/>
              <a:t>(</a:t>
            </a:r>
            <a:r>
              <a:rPr lang="zh-CN" altLang="en-US" dirty="0"/>
              <a:t>即首部长度</a:t>
            </a:r>
            <a:r>
              <a:rPr lang="en-US" altLang="zh-CN" dirty="0"/>
              <a:t>)</a:t>
            </a:r>
            <a:r>
              <a:rPr lang="zh-CN" altLang="en-US" dirty="0"/>
              <a:t>：占</a:t>
            </a:r>
            <a:r>
              <a:rPr lang="en-US" altLang="zh-CN" dirty="0"/>
              <a:t>4</a:t>
            </a:r>
            <a:r>
              <a:rPr lang="zh-CN" altLang="en-US" dirty="0"/>
              <a:t>位，它指出 </a:t>
            </a:r>
            <a:r>
              <a:rPr lang="en-US" altLang="zh-CN" dirty="0"/>
              <a:t>TCP </a:t>
            </a:r>
            <a:r>
              <a:rPr lang="zh-CN" altLang="en-US" dirty="0"/>
              <a:t>报文段的数据起始处距离 </a:t>
            </a:r>
            <a:r>
              <a:rPr lang="en-US" altLang="zh-CN" dirty="0"/>
              <a:t>TCP </a:t>
            </a:r>
            <a:r>
              <a:rPr lang="zh-CN" altLang="en-US" dirty="0"/>
              <a:t>报文段的起始处有多远。“数据偏移”的单位是 </a:t>
            </a:r>
            <a:r>
              <a:rPr lang="en-US" altLang="zh-CN" dirty="0"/>
              <a:t>32 </a:t>
            </a:r>
            <a:r>
              <a:rPr lang="zh-CN" altLang="en-US" dirty="0"/>
              <a:t>位字</a:t>
            </a:r>
            <a:r>
              <a:rPr lang="en-US" altLang="zh-CN" dirty="0"/>
              <a:t>(</a:t>
            </a:r>
            <a:r>
              <a:rPr lang="zh-CN" altLang="en-US" dirty="0"/>
              <a:t>以 </a:t>
            </a:r>
            <a:r>
              <a:rPr lang="en-US" altLang="zh-CN" dirty="0"/>
              <a:t>4 </a:t>
            </a:r>
            <a:r>
              <a:rPr lang="zh-CN" altLang="en-US" dirty="0"/>
              <a:t>字节为计算单位</a:t>
            </a:r>
            <a:r>
              <a:rPr lang="en-US" altLang="zh-CN" dirty="0"/>
              <a:t>)</a:t>
            </a:r>
            <a:endParaRPr lang="zh-CN" altLang="en-US" dirty="0"/>
          </a:p>
        </p:txBody>
      </p:sp>
      <p:sp>
        <p:nvSpPr>
          <p:cNvPr id="429224" name="Rectangle 168"/>
          <p:cNvSpPr>
            <a:spLocks noGrp="1" noChangeArrowheads="1"/>
          </p:cNvSpPr>
          <p:nvPr>
            <p:ph type="title"/>
          </p:nvPr>
        </p:nvSpPr>
        <p:spPr>
          <a:noFill/>
        </p:spPr>
        <p:txBody>
          <a:bodyPr/>
          <a:lstStyle/>
          <a:p>
            <a:r>
              <a:rPr lang="en-US" altLang="zh-CN" dirty="0"/>
              <a:t>TCP</a:t>
            </a:r>
            <a:r>
              <a:rPr lang="zh-CN" altLang="en-US" dirty="0"/>
              <a:t>的报头字段</a:t>
            </a:r>
            <a:endParaRPr lang="en-US" altLang="zh-CN" dirty="0"/>
          </a:p>
        </p:txBody>
      </p:sp>
      <p:grpSp>
        <p:nvGrpSpPr>
          <p:cNvPr id="2" name="组合 1"/>
          <p:cNvGrpSpPr/>
          <p:nvPr/>
        </p:nvGrpSpPr>
        <p:grpSpPr>
          <a:xfrm>
            <a:off x="1448656" y="1109664"/>
            <a:ext cx="9155844" cy="4681538"/>
            <a:chOff x="1448656" y="1109664"/>
            <a:chExt cx="9155844" cy="4681538"/>
          </a:xfrm>
        </p:grpSpPr>
        <p:sp>
          <p:nvSpPr>
            <p:cNvPr id="90" name="Line 9"/>
            <p:cNvSpPr>
              <a:spLocks noChangeShapeType="1"/>
            </p:cNvSpPr>
            <p:nvPr/>
          </p:nvSpPr>
          <p:spPr bwMode="auto">
            <a:xfrm flipH="1">
              <a:off x="1852613" y="1668464"/>
              <a:ext cx="17463" cy="4122738"/>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1" name="Rectangle 10"/>
            <p:cNvSpPr>
              <a:spLocks noChangeArrowheads="1"/>
            </p:cNvSpPr>
            <p:nvPr/>
          </p:nvSpPr>
          <p:spPr bwMode="auto">
            <a:xfrm>
              <a:off x="1448656" y="3260091"/>
              <a:ext cx="696913" cy="6445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90000"/>
                </a:lnSpc>
              </a:pPr>
              <a:r>
                <a:rPr lang="en-US" altLang="zh-CN" sz="2000" dirty="0">
                  <a:latin typeface="+mn-lt"/>
                  <a:ea typeface="微软雅黑 Light" panose="020B0502040204020203" pitchFamily="34" charset="-122"/>
                </a:rPr>
                <a:t>TCP</a:t>
              </a:r>
            </a:p>
            <a:p>
              <a:pPr eaLnBrk="0" hangingPunct="0">
                <a:lnSpc>
                  <a:spcPct val="90000"/>
                </a:lnSpc>
              </a:pPr>
              <a:r>
                <a:rPr lang="zh-CN" altLang="en-US" sz="2000" dirty="0">
                  <a:latin typeface="+mn-lt"/>
                  <a:ea typeface="微软雅黑 Light" panose="020B0502040204020203" pitchFamily="34" charset="-122"/>
                </a:rPr>
                <a:t>首部</a:t>
              </a:r>
            </a:p>
          </p:txBody>
        </p:sp>
        <p:sp>
          <p:nvSpPr>
            <p:cNvPr id="92" name="Line 11"/>
            <p:cNvSpPr>
              <a:spLocks noChangeShapeType="1"/>
            </p:cNvSpPr>
            <p:nvPr/>
          </p:nvSpPr>
          <p:spPr bwMode="auto">
            <a:xfrm>
              <a:off x="10272713" y="1658939"/>
              <a:ext cx="0" cy="3463925"/>
            </a:xfrm>
            <a:prstGeom prst="line">
              <a:avLst/>
            </a:prstGeom>
            <a:noFill/>
            <a:ln w="1905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3" name="Rectangle 12"/>
            <p:cNvSpPr>
              <a:spLocks noChangeArrowheads="1"/>
            </p:cNvSpPr>
            <p:nvPr/>
          </p:nvSpPr>
          <p:spPr bwMode="auto">
            <a:xfrm>
              <a:off x="9909175" y="2736852"/>
              <a:ext cx="695325" cy="119697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lnSpc>
                  <a:spcPct val="90000"/>
                </a:lnSpc>
              </a:pPr>
              <a:r>
                <a:rPr lang="en-US" altLang="zh-CN" sz="2000" dirty="0">
                  <a:latin typeface="+mn-lt"/>
                  <a:ea typeface="微软雅黑 Light" panose="020B0502040204020203" pitchFamily="34" charset="-122"/>
                </a:rPr>
                <a:t>20</a:t>
              </a:r>
            </a:p>
            <a:p>
              <a:pPr algn="ctr" eaLnBrk="0" hangingPunct="0">
                <a:lnSpc>
                  <a:spcPct val="90000"/>
                </a:lnSpc>
              </a:pPr>
              <a:r>
                <a:rPr lang="zh-CN" altLang="en-US" sz="2000" dirty="0">
                  <a:latin typeface="+mn-lt"/>
                  <a:ea typeface="微软雅黑 Light" panose="020B0502040204020203" pitchFamily="34" charset="-122"/>
                </a:rPr>
                <a:t>字节</a:t>
              </a:r>
            </a:p>
            <a:p>
              <a:pPr algn="ctr" eaLnBrk="0" hangingPunct="0">
                <a:lnSpc>
                  <a:spcPct val="90000"/>
                </a:lnSpc>
              </a:pPr>
              <a:r>
                <a:rPr lang="zh-CN" altLang="en-US" sz="2000" dirty="0">
                  <a:latin typeface="+mn-lt"/>
                  <a:ea typeface="微软雅黑 Light" panose="020B0502040204020203" pitchFamily="34" charset="-122"/>
                </a:rPr>
                <a:t>固定</a:t>
              </a:r>
            </a:p>
            <a:p>
              <a:pPr algn="ctr" eaLnBrk="0" hangingPunct="0">
                <a:lnSpc>
                  <a:spcPct val="90000"/>
                </a:lnSpc>
              </a:pPr>
              <a:r>
                <a:rPr lang="zh-CN" altLang="en-US" sz="2000" dirty="0">
                  <a:latin typeface="+mn-lt"/>
                  <a:ea typeface="微软雅黑 Light" panose="020B0502040204020203" pitchFamily="34" charset="-122"/>
                </a:rPr>
                <a:t>首部</a:t>
              </a:r>
            </a:p>
          </p:txBody>
        </p:sp>
        <p:sp>
          <p:nvSpPr>
            <p:cNvPr id="95" name="Line 14"/>
            <p:cNvSpPr>
              <a:spLocks noChangeShapeType="1"/>
            </p:cNvSpPr>
            <p:nvPr/>
          </p:nvSpPr>
          <p:spPr bwMode="auto">
            <a:xfrm>
              <a:off x="2170113" y="2368552"/>
              <a:ext cx="76993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6" name="Line 15"/>
            <p:cNvSpPr>
              <a:spLocks noChangeShapeType="1"/>
            </p:cNvSpPr>
            <p:nvPr/>
          </p:nvSpPr>
          <p:spPr bwMode="auto">
            <a:xfrm>
              <a:off x="2184400" y="3063877"/>
              <a:ext cx="768508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7" name="Line 16"/>
            <p:cNvSpPr>
              <a:spLocks noChangeShapeType="1"/>
            </p:cNvSpPr>
            <p:nvPr/>
          </p:nvSpPr>
          <p:spPr bwMode="auto">
            <a:xfrm>
              <a:off x="2170113" y="3757614"/>
              <a:ext cx="76993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8" name="Line 17"/>
            <p:cNvSpPr>
              <a:spLocks noChangeShapeType="1"/>
            </p:cNvSpPr>
            <p:nvPr/>
          </p:nvSpPr>
          <p:spPr bwMode="auto">
            <a:xfrm>
              <a:off x="2170113" y="4449764"/>
              <a:ext cx="76993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9" name="Line 18"/>
            <p:cNvSpPr>
              <a:spLocks noChangeShapeType="1"/>
            </p:cNvSpPr>
            <p:nvPr/>
          </p:nvSpPr>
          <p:spPr bwMode="auto">
            <a:xfrm>
              <a:off x="2184400" y="5145089"/>
              <a:ext cx="768508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00" name="Line 19"/>
            <p:cNvSpPr>
              <a:spLocks noChangeShapeType="1"/>
            </p:cNvSpPr>
            <p:nvPr/>
          </p:nvSpPr>
          <p:spPr bwMode="auto">
            <a:xfrm>
              <a:off x="6022975" y="1673227"/>
              <a:ext cx="0" cy="7096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01" name="Rectangle 20"/>
            <p:cNvSpPr>
              <a:spLocks noChangeArrowheads="1"/>
            </p:cNvSpPr>
            <p:nvPr/>
          </p:nvSpPr>
          <p:spPr bwMode="auto">
            <a:xfrm>
              <a:off x="7223125" y="1800227"/>
              <a:ext cx="1593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目  的  端  口</a:t>
              </a:r>
            </a:p>
          </p:txBody>
        </p:sp>
        <p:sp>
          <p:nvSpPr>
            <p:cNvPr id="102" name="Rectangle 21"/>
            <p:cNvSpPr>
              <a:spLocks noChangeArrowheads="1"/>
            </p:cNvSpPr>
            <p:nvPr/>
          </p:nvSpPr>
          <p:spPr bwMode="auto">
            <a:xfrm>
              <a:off x="2332038" y="3722689"/>
              <a:ext cx="695325" cy="704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数据</a:t>
              </a:r>
            </a:p>
            <a:p>
              <a:pPr eaLnBrk="0" hangingPunct="0"/>
              <a:r>
                <a:rPr lang="zh-CN" altLang="en-US" sz="2000" dirty="0">
                  <a:latin typeface="+mn-lt"/>
                  <a:ea typeface="微软雅黑 Light" panose="020B0502040204020203" pitchFamily="34" charset="-122"/>
                </a:rPr>
                <a:t>偏移</a:t>
              </a:r>
            </a:p>
          </p:txBody>
        </p:sp>
        <p:sp>
          <p:nvSpPr>
            <p:cNvPr id="103" name="Rectangle 22"/>
            <p:cNvSpPr>
              <a:spLocks noChangeArrowheads="1"/>
            </p:cNvSpPr>
            <p:nvPr/>
          </p:nvSpPr>
          <p:spPr bwMode="auto">
            <a:xfrm>
              <a:off x="3411538" y="4587877"/>
              <a:ext cx="13366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检   验   和</a:t>
              </a:r>
            </a:p>
          </p:txBody>
        </p:sp>
        <p:sp>
          <p:nvSpPr>
            <p:cNvPr id="104" name="Rectangle 23"/>
            <p:cNvSpPr>
              <a:spLocks noChangeArrowheads="1"/>
            </p:cNvSpPr>
            <p:nvPr/>
          </p:nvSpPr>
          <p:spPr bwMode="auto">
            <a:xfrm>
              <a:off x="3694113" y="5237164"/>
              <a:ext cx="31988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选    项 长  度  可  变）</a:t>
              </a:r>
            </a:p>
          </p:txBody>
        </p:sp>
        <p:sp>
          <p:nvSpPr>
            <p:cNvPr id="105" name="Rectangle 24"/>
            <p:cNvSpPr>
              <a:spLocks noChangeArrowheads="1"/>
            </p:cNvSpPr>
            <p:nvPr/>
          </p:nvSpPr>
          <p:spPr bwMode="auto">
            <a:xfrm>
              <a:off x="3525838" y="1800227"/>
              <a:ext cx="12541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源  端  口</a:t>
              </a:r>
            </a:p>
          </p:txBody>
        </p:sp>
        <p:sp>
          <p:nvSpPr>
            <p:cNvPr id="106" name="Rectangle 25"/>
            <p:cNvSpPr>
              <a:spLocks noChangeArrowheads="1"/>
            </p:cNvSpPr>
            <p:nvPr/>
          </p:nvSpPr>
          <p:spPr bwMode="auto">
            <a:xfrm>
              <a:off x="5578475" y="2487614"/>
              <a:ext cx="1381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序   号</a:t>
              </a:r>
            </a:p>
          </p:txBody>
        </p:sp>
        <p:sp>
          <p:nvSpPr>
            <p:cNvPr id="107" name="Line 26"/>
            <p:cNvSpPr>
              <a:spLocks noChangeShapeType="1"/>
            </p:cNvSpPr>
            <p:nvPr/>
          </p:nvSpPr>
          <p:spPr bwMode="auto">
            <a:xfrm>
              <a:off x="6029325" y="3767139"/>
              <a:ext cx="0" cy="13700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08" name="Rectangle 27"/>
            <p:cNvSpPr>
              <a:spLocks noChangeArrowheads="1"/>
            </p:cNvSpPr>
            <p:nvPr/>
          </p:nvSpPr>
          <p:spPr bwMode="auto">
            <a:xfrm>
              <a:off x="7062788" y="4587877"/>
              <a:ext cx="17859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紧   急   指   针</a:t>
              </a:r>
            </a:p>
          </p:txBody>
        </p:sp>
        <p:sp>
          <p:nvSpPr>
            <p:cNvPr id="109" name="Rectangle 28"/>
            <p:cNvSpPr>
              <a:spLocks noChangeArrowheads="1"/>
            </p:cNvSpPr>
            <p:nvPr/>
          </p:nvSpPr>
          <p:spPr bwMode="auto">
            <a:xfrm>
              <a:off x="7512050" y="3868739"/>
              <a:ext cx="9223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窗   口</a:t>
              </a:r>
            </a:p>
          </p:txBody>
        </p:sp>
        <p:sp>
          <p:nvSpPr>
            <p:cNvPr id="110" name="Rectangle 29"/>
            <p:cNvSpPr>
              <a:spLocks noChangeArrowheads="1"/>
            </p:cNvSpPr>
            <p:nvPr/>
          </p:nvSpPr>
          <p:spPr bwMode="auto">
            <a:xfrm>
              <a:off x="5334000" y="3211514"/>
              <a:ext cx="18415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确    认    号</a:t>
              </a:r>
            </a:p>
          </p:txBody>
        </p:sp>
        <p:sp>
          <p:nvSpPr>
            <p:cNvPr id="111" name="Line 30"/>
            <p:cNvSpPr>
              <a:spLocks noChangeShapeType="1"/>
            </p:cNvSpPr>
            <p:nvPr/>
          </p:nvSpPr>
          <p:spPr bwMode="auto">
            <a:xfrm>
              <a:off x="3135313" y="3767139"/>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13" name="Line 32"/>
            <p:cNvSpPr>
              <a:spLocks noChangeShapeType="1"/>
            </p:cNvSpPr>
            <p:nvPr/>
          </p:nvSpPr>
          <p:spPr bwMode="auto">
            <a:xfrm>
              <a:off x="4568825" y="3767139"/>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20" name="Line 39"/>
            <p:cNvSpPr>
              <a:spLocks noChangeShapeType="1"/>
            </p:cNvSpPr>
            <p:nvPr/>
          </p:nvSpPr>
          <p:spPr bwMode="auto">
            <a:xfrm>
              <a:off x="2174875" y="1508127"/>
              <a:ext cx="767556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21" name="Line 40"/>
            <p:cNvSpPr>
              <a:spLocks noChangeShapeType="1"/>
            </p:cNvSpPr>
            <p:nvPr/>
          </p:nvSpPr>
          <p:spPr bwMode="auto">
            <a:xfrm>
              <a:off x="2174875"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22" name="Line 41"/>
            <p:cNvSpPr>
              <a:spLocks noChangeShapeType="1"/>
            </p:cNvSpPr>
            <p:nvPr/>
          </p:nvSpPr>
          <p:spPr bwMode="auto">
            <a:xfrm>
              <a:off x="241458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23" name="Line 42"/>
            <p:cNvSpPr>
              <a:spLocks noChangeShapeType="1"/>
            </p:cNvSpPr>
            <p:nvPr/>
          </p:nvSpPr>
          <p:spPr bwMode="auto">
            <a:xfrm>
              <a:off x="2654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24" name="Line 43"/>
            <p:cNvSpPr>
              <a:spLocks noChangeShapeType="1"/>
            </p:cNvSpPr>
            <p:nvPr/>
          </p:nvSpPr>
          <p:spPr bwMode="auto">
            <a:xfrm>
              <a:off x="289401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25" name="Line 44"/>
            <p:cNvSpPr>
              <a:spLocks noChangeShapeType="1"/>
            </p:cNvSpPr>
            <p:nvPr/>
          </p:nvSpPr>
          <p:spPr bwMode="auto">
            <a:xfrm>
              <a:off x="313531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26" name="Line 45"/>
            <p:cNvSpPr>
              <a:spLocks noChangeShapeType="1"/>
            </p:cNvSpPr>
            <p:nvPr/>
          </p:nvSpPr>
          <p:spPr bwMode="auto">
            <a:xfrm>
              <a:off x="337502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27" name="Line 46"/>
            <p:cNvSpPr>
              <a:spLocks noChangeShapeType="1"/>
            </p:cNvSpPr>
            <p:nvPr/>
          </p:nvSpPr>
          <p:spPr bwMode="auto">
            <a:xfrm>
              <a:off x="361315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28" name="Line 47"/>
            <p:cNvSpPr>
              <a:spLocks noChangeShapeType="1"/>
            </p:cNvSpPr>
            <p:nvPr/>
          </p:nvSpPr>
          <p:spPr bwMode="auto">
            <a:xfrm>
              <a:off x="385286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29" name="Line 48"/>
            <p:cNvSpPr>
              <a:spLocks noChangeShapeType="1"/>
            </p:cNvSpPr>
            <p:nvPr/>
          </p:nvSpPr>
          <p:spPr bwMode="auto">
            <a:xfrm>
              <a:off x="4094163"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30" name="Line 49"/>
            <p:cNvSpPr>
              <a:spLocks noChangeShapeType="1"/>
            </p:cNvSpPr>
            <p:nvPr/>
          </p:nvSpPr>
          <p:spPr bwMode="auto">
            <a:xfrm>
              <a:off x="433387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31" name="Line 50"/>
            <p:cNvSpPr>
              <a:spLocks noChangeShapeType="1"/>
            </p:cNvSpPr>
            <p:nvPr/>
          </p:nvSpPr>
          <p:spPr bwMode="auto">
            <a:xfrm>
              <a:off x="457358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32" name="Line 51"/>
            <p:cNvSpPr>
              <a:spLocks noChangeShapeType="1"/>
            </p:cNvSpPr>
            <p:nvPr/>
          </p:nvSpPr>
          <p:spPr bwMode="auto">
            <a:xfrm>
              <a:off x="4813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33" name="Line 52"/>
            <p:cNvSpPr>
              <a:spLocks noChangeShapeType="1"/>
            </p:cNvSpPr>
            <p:nvPr/>
          </p:nvSpPr>
          <p:spPr bwMode="auto">
            <a:xfrm>
              <a:off x="50546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34" name="Line 53"/>
            <p:cNvSpPr>
              <a:spLocks noChangeShapeType="1"/>
            </p:cNvSpPr>
            <p:nvPr/>
          </p:nvSpPr>
          <p:spPr bwMode="auto">
            <a:xfrm>
              <a:off x="529431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35" name="Line 54"/>
            <p:cNvSpPr>
              <a:spLocks noChangeShapeType="1"/>
            </p:cNvSpPr>
            <p:nvPr/>
          </p:nvSpPr>
          <p:spPr bwMode="auto">
            <a:xfrm>
              <a:off x="553243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36" name="Line 55"/>
            <p:cNvSpPr>
              <a:spLocks noChangeShapeType="1"/>
            </p:cNvSpPr>
            <p:nvPr/>
          </p:nvSpPr>
          <p:spPr bwMode="auto">
            <a:xfrm>
              <a:off x="577215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37" name="Line 56"/>
            <p:cNvSpPr>
              <a:spLocks noChangeShapeType="1"/>
            </p:cNvSpPr>
            <p:nvPr/>
          </p:nvSpPr>
          <p:spPr bwMode="auto">
            <a:xfrm>
              <a:off x="6011863"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38" name="Line 57"/>
            <p:cNvSpPr>
              <a:spLocks noChangeShapeType="1"/>
            </p:cNvSpPr>
            <p:nvPr/>
          </p:nvSpPr>
          <p:spPr bwMode="auto">
            <a:xfrm>
              <a:off x="625316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39" name="Line 58"/>
            <p:cNvSpPr>
              <a:spLocks noChangeShapeType="1"/>
            </p:cNvSpPr>
            <p:nvPr/>
          </p:nvSpPr>
          <p:spPr bwMode="auto">
            <a:xfrm>
              <a:off x="649287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40" name="Line 59"/>
            <p:cNvSpPr>
              <a:spLocks noChangeShapeType="1"/>
            </p:cNvSpPr>
            <p:nvPr/>
          </p:nvSpPr>
          <p:spPr bwMode="auto">
            <a:xfrm>
              <a:off x="673258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41" name="Line 60"/>
            <p:cNvSpPr>
              <a:spLocks noChangeShapeType="1"/>
            </p:cNvSpPr>
            <p:nvPr/>
          </p:nvSpPr>
          <p:spPr bwMode="auto">
            <a:xfrm>
              <a:off x="6972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42" name="Line 61"/>
            <p:cNvSpPr>
              <a:spLocks noChangeShapeType="1"/>
            </p:cNvSpPr>
            <p:nvPr/>
          </p:nvSpPr>
          <p:spPr bwMode="auto">
            <a:xfrm>
              <a:off x="72136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43" name="Line 62"/>
            <p:cNvSpPr>
              <a:spLocks noChangeShapeType="1"/>
            </p:cNvSpPr>
            <p:nvPr/>
          </p:nvSpPr>
          <p:spPr bwMode="auto">
            <a:xfrm>
              <a:off x="745172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44" name="Line 63"/>
            <p:cNvSpPr>
              <a:spLocks noChangeShapeType="1"/>
            </p:cNvSpPr>
            <p:nvPr/>
          </p:nvSpPr>
          <p:spPr bwMode="auto">
            <a:xfrm>
              <a:off x="769143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45" name="Line 64"/>
            <p:cNvSpPr>
              <a:spLocks noChangeShapeType="1"/>
            </p:cNvSpPr>
            <p:nvPr/>
          </p:nvSpPr>
          <p:spPr bwMode="auto">
            <a:xfrm>
              <a:off x="7931150"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46" name="Line 65"/>
            <p:cNvSpPr>
              <a:spLocks noChangeShapeType="1"/>
            </p:cNvSpPr>
            <p:nvPr/>
          </p:nvSpPr>
          <p:spPr bwMode="auto">
            <a:xfrm>
              <a:off x="817086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47" name="Line 66"/>
            <p:cNvSpPr>
              <a:spLocks noChangeShapeType="1"/>
            </p:cNvSpPr>
            <p:nvPr/>
          </p:nvSpPr>
          <p:spPr bwMode="auto">
            <a:xfrm>
              <a:off x="841216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48" name="Line 67"/>
            <p:cNvSpPr>
              <a:spLocks noChangeShapeType="1"/>
            </p:cNvSpPr>
            <p:nvPr/>
          </p:nvSpPr>
          <p:spPr bwMode="auto">
            <a:xfrm>
              <a:off x="865187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49" name="Line 68"/>
            <p:cNvSpPr>
              <a:spLocks noChangeShapeType="1"/>
            </p:cNvSpPr>
            <p:nvPr/>
          </p:nvSpPr>
          <p:spPr bwMode="auto">
            <a:xfrm>
              <a:off x="889158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50" name="Line 69"/>
            <p:cNvSpPr>
              <a:spLocks noChangeShapeType="1"/>
            </p:cNvSpPr>
            <p:nvPr/>
          </p:nvSpPr>
          <p:spPr bwMode="auto">
            <a:xfrm>
              <a:off x="9131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51" name="Line 70"/>
            <p:cNvSpPr>
              <a:spLocks noChangeShapeType="1"/>
            </p:cNvSpPr>
            <p:nvPr/>
          </p:nvSpPr>
          <p:spPr bwMode="auto">
            <a:xfrm>
              <a:off x="937101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52" name="Line 71"/>
            <p:cNvSpPr>
              <a:spLocks noChangeShapeType="1"/>
            </p:cNvSpPr>
            <p:nvPr/>
          </p:nvSpPr>
          <p:spPr bwMode="auto">
            <a:xfrm>
              <a:off x="961072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53" name="Line 72"/>
            <p:cNvSpPr>
              <a:spLocks noChangeShapeType="1"/>
            </p:cNvSpPr>
            <p:nvPr/>
          </p:nvSpPr>
          <p:spPr bwMode="auto">
            <a:xfrm>
              <a:off x="9850438"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54" name="Rectangle 73"/>
            <p:cNvSpPr>
              <a:spLocks noChangeArrowheads="1"/>
            </p:cNvSpPr>
            <p:nvPr/>
          </p:nvSpPr>
          <p:spPr bwMode="auto">
            <a:xfrm>
              <a:off x="2333625"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155" name="Rectangle 74"/>
            <p:cNvSpPr>
              <a:spLocks noChangeArrowheads="1"/>
            </p:cNvSpPr>
            <p:nvPr/>
          </p:nvSpPr>
          <p:spPr bwMode="auto">
            <a:xfrm>
              <a:off x="4252913"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156" name="Rectangle 75"/>
            <p:cNvSpPr>
              <a:spLocks noChangeArrowheads="1"/>
            </p:cNvSpPr>
            <p:nvPr/>
          </p:nvSpPr>
          <p:spPr bwMode="auto">
            <a:xfrm>
              <a:off x="6172200"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157" name="Rectangle 76"/>
            <p:cNvSpPr>
              <a:spLocks noChangeArrowheads="1"/>
            </p:cNvSpPr>
            <p:nvPr/>
          </p:nvSpPr>
          <p:spPr bwMode="auto">
            <a:xfrm>
              <a:off x="8091488"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165" name="Rectangle 84"/>
            <p:cNvSpPr>
              <a:spLocks noChangeArrowheads="1"/>
            </p:cNvSpPr>
            <p:nvPr/>
          </p:nvSpPr>
          <p:spPr bwMode="auto">
            <a:xfrm>
              <a:off x="8442325" y="5229227"/>
              <a:ext cx="1254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填    充</a:t>
              </a:r>
            </a:p>
          </p:txBody>
        </p:sp>
        <p:sp>
          <p:nvSpPr>
            <p:cNvPr id="166" name="Line 85"/>
            <p:cNvSpPr>
              <a:spLocks noChangeShapeType="1"/>
            </p:cNvSpPr>
            <p:nvPr/>
          </p:nvSpPr>
          <p:spPr bwMode="auto">
            <a:xfrm>
              <a:off x="9971088" y="1641477"/>
              <a:ext cx="5175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167" name="Line 86"/>
            <p:cNvSpPr>
              <a:spLocks noChangeShapeType="1"/>
            </p:cNvSpPr>
            <p:nvPr/>
          </p:nvSpPr>
          <p:spPr bwMode="auto">
            <a:xfrm>
              <a:off x="9971088" y="5137152"/>
              <a:ext cx="5175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168" name="Line 87"/>
            <p:cNvSpPr>
              <a:spLocks noChangeShapeType="1"/>
            </p:cNvSpPr>
            <p:nvPr/>
          </p:nvSpPr>
          <p:spPr bwMode="auto">
            <a:xfrm>
              <a:off x="1582738" y="1679577"/>
              <a:ext cx="5302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169" name="Line 88"/>
            <p:cNvSpPr>
              <a:spLocks noChangeShapeType="1"/>
            </p:cNvSpPr>
            <p:nvPr/>
          </p:nvSpPr>
          <p:spPr bwMode="auto">
            <a:xfrm>
              <a:off x="1597025" y="5780089"/>
              <a:ext cx="5302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87" name="Line 30"/>
            <p:cNvSpPr>
              <a:spLocks noChangeShapeType="1"/>
            </p:cNvSpPr>
            <p:nvPr/>
          </p:nvSpPr>
          <p:spPr bwMode="auto">
            <a:xfrm>
              <a:off x="3135313" y="3767139"/>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0" name="Line 31"/>
            <p:cNvSpPr>
              <a:spLocks noChangeShapeType="1"/>
            </p:cNvSpPr>
            <p:nvPr/>
          </p:nvSpPr>
          <p:spPr bwMode="auto">
            <a:xfrm>
              <a:off x="5062538" y="3759202"/>
              <a:ext cx="0" cy="6842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1" name="Line 32"/>
            <p:cNvSpPr>
              <a:spLocks noChangeShapeType="1"/>
            </p:cNvSpPr>
            <p:nvPr/>
          </p:nvSpPr>
          <p:spPr bwMode="auto">
            <a:xfrm>
              <a:off x="4572001" y="3761583"/>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2" name="Line 33"/>
            <p:cNvSpPr>
              <a:spLocks noChangeShapeType="1"/>
            </p:cNvSpPr>
            <p:nvPr/>
          </p:nvSpPr>
          <p:spPr bwMode="auto">
            <a:xfrm>
              <a:off x="4813300"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3" name="Line 34"/>
            <p:cNvSpPr>
              <a:spLocks noChangeShapeType="1"/>
            </p:cNvSpPr>
            <p:nvPr/>
          </p:nvSpPr>
          <p:spPr bwMode="auto">
            <a:xfrm>
              <a:off x="5543550"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4" name="Line 35"/>
            <p:cNvSpPr>
              <a:spLocks noChangeShapeType="1"/>
            </p:cNvSpPr>
            <p:nvPr/>
          </p:nvSpPr>
          <p:spPr bwMode="auto">
            <a:xfrm>
              <a:off x="5302250"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5" name="Line 36"/>
            <p:cNvSpPr>
              <a:spLocks noChangeShapeType="1"/>
            </p:cNvSpPr>
            <p:nvPr/>
          </p:nvSpPr>
          <p:spPr bwMode="auto">
            <a:xfrm>
              <a:off x="5788025"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6" name="Rectangle 37"/>
            <p:cNvSpPr>
              <a:spLocks noChangeArrowheads="1"/>
            </p:cNvSpPr>
            <p:nvPr/>
          </p:nvSpPr>
          <p:spPr bwMode="auto">
            <a:xfrm>
              <a:off x="3198280" y="3867686"/>
              <a:ext cx="72548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保留</a:t>
              </a:r>
            </a:p>
          </p:txBody>
        </p:sp>
        <p:sp>
          <p:nvSpPr>
            <p:cNvPr id="183" name="Line 32"/>
            <p:cNvSpPr>
              <a:spLocks noChangeShapeType="1"/>
            </p:cNvSpPr>
            <p:nvPr/>
          </p:nvSpPr>
          <p:spPr bwMode="auto">
            <a:xfrm>
              <a:off x="4079776" y="3757614"/>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84" name="Line 33"/>
            <p:cNvSpPr>
              <a:spLocks noChangeShapeType="1"/>
            </p:cNvSpPr>
            <p:nvPr/>
          </p:nvSpPr>
          <p:spPr bwMode="auto">
            <a:xfrm>
              <a:off x="4314850" y="3768726"/>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grpSp>
      <p:sp>
        <p:nvSpPr>
          <p:cNvPr id="429141" name="Rectangle 85"/>
          <p:cNvSpPr>
            <a:spLocks noChangeArrowheads="1"/>
          </p:cNvSpPr>
          <p:nvPr/>
        </p:nvSpPr>
        <p:spPr bwMode="auto">
          <a:xfrm>
            <a:off x="2135188" y="3716338"/>
            <a:ext cx="1008062" cy="717550"/>
          </a:xfrm>
          <a:prstGeom prst="rect">
            <a:avLst/>
          </a:prstGeom>
          <a:noFill/>
          <a:ln w="7620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3" name="Rectangle 82">
            <a:extLst>
              <a:ext uri="{FF2B5EF4-FFF2-40B4-BE49-F238E27FC236}">
                <a16:creationId xmlns:a16="http://schemas.microsoft.com/office/drawing/2014/main" id="{F994AFC8-05DF-1BCA-4653-9AB625EB3EA3}"/>
              </a:ext>
            </a:extLst>
          </p:cNvPr>
          <p:cNvSpPr>
            <a:spLocks noChangeArrowheads="1"/>
          </p:cNvSpPr>
          <p:nvPr/>
        </p:nvSpPr>
        <p:spPr bwMode="auto">
          <a:xfrm>
            <a:off x="1812925" y="908720"/>
            <a:ext cx="8261878"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位 </a:t>
            </a:r>
            <a:r>
              <a:rPr lang="en-US" altLang="zh-CN" sz="2000" dirty="0">
                <a:latin typeface="+mn-lt"/>
                <a:ea typeface="微软雅黑 Light" panose="020B0502040204020203" pitchFamily="34" charset="-122"/>
              </a:rPr>
              <a:t>0                           8                           16                          24                          31</a:t>
            </a:r>
          </a:p>
        </p:txBody>
      </p:sp>
      <p:sp>
        <p:nvSpPr>
          <p:cNvPr id="4" name="Rectangle 38">
            <a:extLst>
              <a:ext uri="{FF2B5EF4-FFF2-40B4-BE49-F238E27FC236}">
                <a16:creationId xmlns:a16="http://schemas.microsoft.com/office/drawing/2014/main" id="{57CA6BC6-3D3A-0312-0344-FEE31CA20696}"/>
              </a:ext>
            </a:extLst>
          </p:cNvPr>
          <p:cNvSpPr>
            <a:spLocks noChangeArrowheads="1"/>
          </p:cNvSpPr>
          <p:nvPr/>
        </p:nvSpPr>
        <p:spPr bwMode="auto">
          <a:xfrm rot="16200000">
            <a:off x="5659748" y="3962560"/>
            <a:ext cx="535405"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lnSpc>
                <a:spcPct val="75000"/>
              </a:lnSpc>
            </a:pPr>
            <a:r>
              <a:rPr lang="en-US" altLang="zh-CN" sz="1600" b="1" dirty="0">
                <a:latin typeface="+mn-lt"/>
                <a:ea typeface="微软雅黑 Light" panose="020B0502040204020203" pitchFamily="34" charset="-122"/>
              </a:rPr>
              <a:t>FIN</a:t>
            </a:r>
          </a:p>
        </p:txBody>
      </p:sp>
      <p:sp>
        <p:nvSpPr>
          <p:cNvPr id="5" name="Rectangle 77">
            <a:extLst>
              <a:ext uri="{FF2B5EF4-FFF2-40B4-BE49-F238E27FC236}">
                <a16:creationId xmlns:a16="http://schemas.microsoft.com/office/drawing/2014/main" id="{ED1E52B4-461E-7784-BB76-8B05F0F518ED}"/>
              </a:ext>
            </a:extLst>
          </p:cNvPr>
          <p:cNvSpPr>
            <a:spLocks noChangeArrowheads="1"/>
          </p:cNvSpPr>
          <p:nvPr/>
        </p:nvSpPr>
        <p:spPr bwMode="auto">
          <a:xfrm rot="16200000">
            <a:off x="5401703" y="3936764"/>
            <a:ext cx="591510"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SYN</a:t>
            </a:r>
          </a:p>
        </p:txBody>
      </p:sp>
      <p:sp>
        <p:nvSpPr>
          <p:cNvPr id="6" name="Rectangle 78">
            <a:extLst>
              <a:ext uri="{FF2B5EF4-FFF2-40B4-BE49-F238E27FC236}">
                <a16:creationId xmlns:a16="http://schemas.microsoft.com/office/drawing/2014/main" id="{1D2D9E54-7DF5-0482-B292-2E343B33ADF5}"/>
              </a:ext>
            </a:extLst>
          </p:cNvPr>
          <p:cNvSpPr>
            <a:spLocks noChangeArrowheads="1"/>
          </p:cNvSpPr>
          <p:nvPr/>
        </p:nvSpPr>
        <p:spPr bwMode="auto">
          <a:xfrm rot="16200000">
            <a:off x="5115446" y="3917780"/>
            <a:ext cx="618290"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RST</a:t>
            </a:r>
          </a:p>
        </p:txBody>
      </p:sp>
      <p:sp>
        <p:nvSpPr>
          <p:cNvPr id="7" name="Rectangle 79">
            <a:extLst>
              <a:ext uri="{FF2B5EF4-FFF2-40B4-BE49-F238E27FC236}">
                <a16:creationId xmlns:a16="http://schemas.microsoft.com/office/drawing/2014/main" id="{15567D67-EF51-F360-64D6-BC2BAE5D8350}"/>
              </a:ext>
            </a:extLst>
          </p:cNvPr>
          <p:cNvSpPr>
            <a:spLocks noChangeArrowheads="1"/>
          </p:cNvSpPr>
          <p:nvPr/>
        </p:nvSpPr>
        <p:spPr bwMode="auto">
          <a:xfrm rot="16200000">
            <a:off x="4890356" y="3938731"/>
            <a:ext cx="600108"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PSH  </a:t>
            </a:r>
          </a:p>
        </p:txBody>
      </p:sp>
      <p:sp>
        <p:nvSpPr>
          <p:cNvPr id="8" name="Rectangle 80">
            <a:extLst>
              <a:ext uri="{FF2B5EF4-FFF2-40B4-BE49-F238E27FC236}">
                <a16:creationId xmlns:a16="http://schemas.microsoft.com/office/drawing/2014/main" id="{94D20CC3-CEBB-8335-B2BC-EE3E3CD98EF8}"/>
              </a:ext>
            </a:extLst>
          </p:cNvPr>
          <p:cNvSpPr>
            <a:spLocks noChangeArrowheads="1"/>
          </p:cNvSpPr>
          <p:nvPr/>
        </p:nvSpPr>
        <p:spPr bwMode="auto">
          <a:xfrm rot="16200000">
            <a:off x="4579000" y="3916214"/>
            <a:ext cx="730250"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ACK</a:t>
            </a:r>
          </a:p>
        </p:txBody>
      </p:sp>
      <p:sp>
        <p:nvSpPr>
          <p:cNvPr id="9" name="Rectangle 81">
            <a:extLst>
              <a:ext uri="{FF2B5EF4-FFF2-40B4-BE49-F238E27FC236}">
                <a16:creationId xmlns:a16="http://schemas.microsoft.com/office/drawing/2014/main" id="{3B98E5F5-D0B0-C6C5-3EC7-0927ADF64BFD}"/>
              </a:ext>
            </a:extLst>
          </p:cNvPr>
          <p:cNvSpPr>
            <a:spLocks noChangeArrowheads="1"/>
          </p:cNvSpPr>
          <p:nvPr/>
        </p:nvSpPr>
        <p:spPr bwMode="auto">
          <a:xfrm rot="16200000">
            <a:off x="4342408" y="3894364"/>
            <a:ext cx="761997"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URG</a:t>
            </a:r>
          </a:p>
        </p:txBody>
      </p:sp>
      <p:sp>
        <p:nvSpPr>
          <p:cNvPr id="10" name="Rectangle 81">
            <a:extLst>
              <a:ext uri="{FF2B5EF4-FFF2-40B4-BE49-F238E27FC236}">
                <a16:creationId xmlns:a16="http://schemas.microsoft.com/office/drawing/2014/main" id="{4BF4613D-6984-8127-3896-EDDE25E02AE6}"/>
              </a:ext>
            </a:extLst>
          </p:cNvPr>
          <p:cNvSpPr>
            <a:spLocks noChangeArrowheads="1"/>
          </p:cNvSpPr>
          <p:nvPr/>
        </p:nvSpPr>
        <p:spPr bwMode="auto">
          <a:xfrm rot="16200000">
            <a:off x="3855770" y="3928543"/>
            <a:ext cx="721634"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CWR</a:t>
            </a:r>
          </a:p>
        </p:txBody>
      </p:sp>
      <p:sp>
        <p:nvSpPr>
          <p:cNvPr id="11" name="Rectangle 81">
            <a:extLst>
              <a:ext uri="{FF2B5EF4-FFF2-40B4-BE49-F238E27FC236}">
                <a16:creationId xmlns:a16="http://schemas.microsoft.com/office/drawing/2014/main" id="{0D25306D-8F16-9DFF-43D6-10278DF20783}"/>
              </a:ext>
            </a:extLst>
          </p:cNvPr>
          <p:cNvSpPr>
            <a:spLocks noChangeArrowheads="1"/>
          </p:cNvSpPr>
          <p:nvPr/>
        </p:nvSpPr>
        <p:spPr bwMode="auto">
          <a:xfrm rot="16200000">
            <a:off x="4124919" y="3912163"/>
            <a:ext cx="704221"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ECE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9141"/>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42914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9141" grpId="0" animBg="1"/>
      <p:bldP spid="429141" grpId="1"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3">
            <a:extLst>
              <a:ext uri="{FF2B5EF4-FFF2-40B4-BE49-F238E27FC236}">
                <a16:creationId xmlns:a16="http://schemas.microsoft.com/office/drawing/2014/main" id="{125560AC-DFF2-2FC9-48D1-4F25081A9B88}"/>
              </a:ext>
            </a:extLst>
          </p:cNvPr>
          <p:cNvSpPr>
            <a:spLocks noChangeArrowheads="1"/>
          </p:cNvSpPr>
          <p:nvPr/>
        </p:nvSpPr>
        <p:spPr bwMode="auto">
          <a:xfrm>
            <a:off x="2178050" y="1665289"/>
            <a:ext cx="7686675" cy="4133850"/>
          </a:xfrm>
          <a:prstGeom prst="rect">
            <a:avLst/>
          </a:prstGeom>
          <a:solidFill>
            <a:schemeClr val="bg2"/>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89" name="灯片编号占位符 5"/>
          <p:cNvSpPr>
            <a:spLocks noGrp="1"/>
          </p:cNvSpPr>
          <p:nvPr>
            <p:ph type="sldNum" sz="quarter" idx="12"/>
          </p:nvPr>
        </p:nvSpPr>
        <p:spPr/>
        <p:txBody>
          <a:bodyPr/>
          <a:lstStyle/>
          <a:p>
            <a:fld id="{5DB2301C-C6CA-4294-98B7-04EF17E9BC5B}" type="slidenum">
              <a:rPr lang="en-US" altLang="zh-CN"/>
              <a:t>37</a:t>
            </a:fld>
            <a:endParaRPr lang="en-US" altLang="zh-CN"/>
          </a:p>
        </p:txBody>
      </p:sp>
      <p:sp>
        <p:nvSpPr>
          <p:cNvPr id="430164" name="Text Box 84"/>
          <p:cNvSpPr txBox="1">
            <a:spLocks noChangeArrowheads="1"/>
          </p:cNvSpPr>
          <p:nvPr/>
        </p:nvSpPr>
        <p:spPr bwMode="auto">
          <a:xfrm>
            <a:off x="1056000" y="6003925"/>
            <a:ext cx="10080000" cy="400110"/>
          </a:xfrm>
          <a:prstGeom prst="rect">
            <a:avLst/>
          </a:prstGeom>
          <a:noFill/>
          <a:ln>
            <a:noFill/>
          </a:ln>
          <a:effectLst/>
        </p:spPr>
        <p:txBody>
          <a:bodyPr>
            <a:spAutoFit/>
          </a:bodyPr>
          <a:lstStyle>
            <a:defPPr>
              <a:defRPr lang="zh-CN"/>
            </a:defPPr>
            <a:lvl1pPr>
              <a:defRPr>
                <a:latin typeface="微软雅黑 Light" panose="020B0502040204020203" pitchFamily="34" charset="-122"/>
                <a:ea typeface="微软雅黑 Light" panose="020B0502040204020203" pitchFamily="34" charset="-122"/>
              </a:defRPr>
            </a:lvl1pPr>
          </a:lstStyle>
          <a:p>
            <a:pPr marL="342900" indent="-342900" algn="ctr">
              <a:buFont typeface="Wingdings" panose="05000000000000000000" pitchFamily="2" charset="2"/>
              <a:buChar char="Ø"/>
            </a:pPr>
            <a:r>
              <a:rPr lang="zh-CN" altLang="en-US" dirty="0"/>
              <a:t>保留字段：占 </a:t>
            </a:r>
            <a:r>
              <a:rPr lang="en-US" altLang="zh-CN" dirty="0"/>
              <a:t>4</a:t>
            </a:r>
            <a:r>
              <a:rPr lang="zh-CN" altLang="en-US" dirty="0"/>
              <a:t>位，保留为今后使用，未用时应置为 </a:t>
            </a:r>
            <a:r>
              <a:rPr lang="en-US" altLang="zh-CN" dirty="0"/>
              <a:t>0</a:t>
            </a:r>
            <a:r>
              <a:rPr lang="zh-CN" altLang="en-US" dirty="0"/>
              <a:t> </a:t>
            </a:r>
          </a:p>
        </p:txBody>
      </p:sp>
      <p:sp>
        <p:nvSpPr>
          <p:cNvPr id="430248" name="Rectangle 168"/>
          <p:cNvSpPr>
            <a:spLocks noGrp="1" noChangeArrowheads="1"/>
          </p:cNvSpPr>
          <p:nvPr>
            <p:ph type="title"/>
          </p:nvPr>
        </p:nvSpPr>
        <p:spPr>
          <a:noFill/>
        </p:spPr>
        <p:txBody>
          <a:bodyPr/>
          <a:lstStyle/>
          <a:p>
            <a:r>
              <a:rPr lang="en-US" altLang="zh-CN" dirty="0"/>
              <a:t>TCP</a:t>
            </a:r>
            <a:r>
              <a:rPr lang="zh-CN" altLang="en-US" dirty="0"/>
              <a:t>的报头字段</a:t>
            </a:r>
            <a:endParaRPr lang="en-US" altLang="zh-CN" dirty="0"/>
          </a:p>
        </p:txBody>
      </p:sp>
      <p:grpSp>
        <p:nvGrpSpPr>
          <p:cNvPr id="2" name="组合 1"/>
          <p:cNvGrpSpPr/>
          <p:nvPr/>
        </p:nvGrpSpPr>
        <p:grpSpPr>
          <a:xfrm>
            <a:off x="1409870" y="1109664"/>
            <a:ext cx="9194630" cy="4695826"/>
            <a:chOff x="1409870" y="1109664"/>
            <a:chExt cx="9194630" cy="4695826"/>
          </a:xfrm>
        </p:grpSpPr>
        <p:sp>
          <p:nvSpPr>
            <p:cNvPr id="90" name="Line 9"/>
            <p:cNvSpPr>
              <a:spLocks noChangeShapeType="1"/>
            </p:cNvSpPr>
            <p:nvPr/>
          </p:nvSpPr>
          <p:spPr bwMode="auto">
            <a:xfrm flipH="1">
              <a:off x="1852613" y="1668464"/>
              <a:ext cx="17463" cy="4122738"/>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1" name="Rectangle 10"/>
            <p:cNvSpPr>
              <a:spLocks noChangeArrowheads="1"/>
            </p:cNvSpPr>
            <p:nvPr/>
          </p:nvSpPr>
          <p:spPr bwMode="auto">
            <a:xfrm>
              <a:off x="1409870" y="3276996"/>
              <a:ext cx="696913" cy="6445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90000"/>
                </a:lnSpc>
              </a:pPr>
              <a:r>
                <a:rPr lang="en-US" altLang="zh-CN" sz="2000" dirty="0">
                  <a:latin typeface="+mn-lt"/>
                  <a:ea typeface="微软雅黑 Light" panose="020B0502040204020203" pitchFamily="34" charset="-122"/>
                </a:rPr>
                <a:t>TCP</a:t>
              </a:r>
            </a:p>
            <a:p>
              <a:pPr eaLnBrk="0" hangingPunct="0">
                <a:lnSpc>
                  <a:spcPct val="90000"/>
                </a:lnSpc>
              </a:pPr>
              <a:r>
                <a:rPr lang="zh-CN" altLang="en-US" sz="2000" dirty="0">
                  <a:latin typeface="+mn-lt"/>
                  <a:ea typeface="微软雅黑 Light" panose="020B0502040204020203" pitchFamily="34" charset="-122"/>
                </a:rPr>
                <a:t>首部</a:t>
              </a:r>
            </a:p>
          </p:txBody>
        </p:sp>
        <p:sp>
          <p:nvSpPr>
            <p:cNvPr id="92" name="Line 11"/>
            <p:cNvSpPr>
              <a:spLocks noChangeShapeType="1"/>
            </p:cNvSpPr>
            <p:nvPr/>
          </p:nvSpPr>
          <p:spPr bwMode="auto">
            <a:xfrm>
              <a:off x="10272713" y="1658939"/>
              <a:ext cx="0" cy="3463925"/>
            </a:xfrm>
            <a:prstGeom prst="line">
              <a:avLst/>
            </a:prstGeom>
            <a:noFill/>
            <a:ln w="1905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3" name="Rectangle 12"/>
            <p:cNvSpPr>
              <a:spLocks noChangeArrowheads="1"/>
            </p:cNvSpPr>
            <p:nvPr/>
          </p:nvSpPr>
          <p:spPr bwMode="auto">
            <a:xfrm>
              <a:off x="9909175" y="2736852"/>
              <a:ext cx="695325" cy="119697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lnSpc>
                  <a:spcPct val="90000"/>
                </a:lnSpc>
              </a:pPr>
              <a:r>
                <a:rPr lang="en-US" altLang="zh-CN" sz="2000">
                  <a:latin typeface="+mn-lt"/>
                  <a:ea typeface="微软雅黑 Light" panose="020B0502040204020203" pitchFamily="34" charset="-122"/>
                </a:rPr>
                <a:t>20</a:t>
              </a:r>
            </a:p>
            <a:p>
              <a:pPr algn="ctr" eaLnBrk="0" hangingPunct="0">
                <a:lnSpc>
                  <a:spcPct val="90000"/>
                </a:lnSpc>
              </a:pPr>
              <a:r>
                <a:rPr lang="zh-CN" altLang="en-US" sz="2000">
                  <a:latin typeface="+mn-lt"/>
                  <a:ea typeface="微软雅黑 Light" panose="020B0502040204020203" pitchFamily="34" charset="-122"/>
                </a:rPr>
                <a:t>字节</a:t>
              </a:r>
            </a:p>
            <a:p>
              <a:pPr algn="ctr" eaLnBrk="0" hangingPunct="0">
                <a:lnSpc>
                  <a:spcPct val="90000"/>
                </a:lnSpc>
              </a:pPr>
              <a:r>
                <a:rPr lang="zh-CN" altLang="en-US" sz="2000">
                  <a:latin typeface="+mn-lt"/>
                  <a:ea typeface="微软雅黑 Light" panose="020B0502040204020203" pitchFamily="34" charset="-122"/>
                </a:rPr>
                <a:t>固定</a:t>
              </a:r>
            </a:p>
            <a:p>
              <a:pPr algn="ctr" eaLnBrk="0" hangingPunct="0">
                <a:lnSpc>
                  <a:spcPct val="90000"/>
                </a:lnSpc>
              </a:pPr>
              <a:r>
                <a:rPr lang="zh-CN" altLang="en-US" sz="2000">
                  <a:latin typeface="+mn-lt"/>
                  <a:ea typeface="微软雅黑 Light" panose="020B0502040204020203" pitchFamily="34" charset="-122"/>
                </a:rPr>
                <a:t>首部</a:t>
              </a:r>
            </a:p>
          </p:txBody>
        </p:sp>
        <p:sp>
          <p:nvSpPr>
            <p:cNvPr id="95" name="Line 14"/>
            <p:cNvSpPr>
              <a:spLocks noChangeShapeType="1"/>
            </p:cNvSpPr>
            <p:nvPr/>
          </p:nvSpPr>
          <p:spPr bwMode="auto">
            <a:xfrm>
              <a:off x="2170113" y="2368552"/>
              <a:ext cx="76993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6" name="Line 15"/>
            <p:cNvSpPr>
              <a:spLocks noChangeShapeType="1"/>
            </p:cNvSpPr>
            <p:nvPr/>
          </p:nvSpPr>
          <p:spPr bwMode="auto">
            <a:xfrm>
              <a:off x="2184400" y="3063877"/>
              <a:ext cx="768508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7" name="Line 16"/>
            <p:cNvSpPr>
              <a:spLocks noChangeShapeType="1"/>
            </p:cNvSpPr>
            <p:nvPr/>
          </p:nvSpPr>
          <p:spPr bwMode="auto">
            <a:xfrm>
              <a:off x="2170113" y="3757614"/>
              <a:ext cx="76993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8" name="Line 17"/>
            <p:cNvSpPr>
              <a:spLocks noChangeShapeType="1"/>
            </p:cNvSpPr>
            <p:nvPr/>
          </p:nvSpPr>
          <p:spPr bwMode="auto">
            <a:xfrm>
              <a:off x="2170113" y="4449764"/>
              <a:ext cx="76993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9" name="Line 18"/>
            <p:cNvSpPr>
              <a:spLocks noChangeShapeType="1"/>
            </p:cNvSpPr>
            <p:nvPr/>
          </p:nvSpPr>
          <p:spPr bwMode="auto">
            <a:xfrm>
              <a:off x="2184400" y="5145089"/>
              <a:ext cx="768508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00" name="Line 19"/>
            <p:cNvSpPr>
              <a:spLocks noChangeShapeType="1"/>
            </p:cNvSpPr>
            <p:nvPr/>
          </p:nvSpPr>
          <p:spPr bwMode="auto">
            <a:xfrm>
              <a:off x="6022975" y="1673227"/>
              <a:ext cx="0" cy="7096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01" name="Rectangle 20"/>
            <p:cNvSpPr>
              <a:spLocks noChangeArrowheads="1"/>
            </p:cNvSpPr>
            <p:nvPr/>
          </p:nvSpPr>
          <p:spPr bwMode="auto">
            <a:xfrm>
              <a:off x="7223125" y="1800227"/>
              <a:ext cx="1593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目  的  端  口</a:t>
              </a:r>
            </a:p>
          </p:txBody>
        </p:sp>
        <p:sp>
          <p:nvSpPr>
            <p:cNvPr id="102" name="Rectangle 21"/>
            <p:cNvSpPr>
              <a:spLocks noChangeArrowheads="1"/>
            </p:cNvSpPr>
            <p:nvPr/>
          </p:nvSpPr>
          <p:spPr bwMode="auto">
            <a:xfrm>
              <a:off x="2332038" y="3722689"/>
              <a:ext cx="695325" cy="704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数据</a:t>
              </a:r>
            </a:p>
            <a:p>
              <a:pPr eaLnBrk="0" hangingPunct="0"/>
              <a:r>
                <a:rPr lang="zh-CN" altLang="en-US" sz="2000" dirty="0">
                  <a:latin typeface="+mn-lt"/>
                  <a:ea typeface="微软雅黑 Light" panose="020B0502040204020203" pitchFamily="34" charset="-122"/>
                </a:rPr>
                <a:t>偏移</a:t>
              </a:r>
            </a:p>
          </p:txBody>
        </p:sp>
        <p:sp>
          <p:nvSpPr>
            <p:cNvPr id="103" name="Rectangle 22"/>
            <p:cNvSpPr>
              <a:spLocks noChangeArrowheads="1"/>
            </p:cNvSpPr>
            <p:nvPr/>
          </p:nvSpPr>
          <p:spPr bwMode="auto">
            <a:xfrm>
              <a:off x="3411538" y="4587877"/>
              <a:ext cx="13366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检   验   和</a:t>
              </a:r>
            </a:p>
          </p:txBody>
        </p:sp>
        <p:sp>
          <p:nvSpPr>
            <p:cNvPr id="104" name="Rectangle 23"/>
            <p:cNvSpPr>
              <a:spLocks noChangeArrowheads="1"/>
            </p:cNvSpPr>
            <p:nvPr/>
          </p:nvSpPr>
          <p:spPr bwMode="auto">
            <a:xfrm>
              <a:off x="3694113" y="5237164"/>
              <a:ext cx="31988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选    项 长  度  可  变）</a:t>
              </a:r>
            </a:p>
          </p:txBody>
        </p:sp>
        <p:sp>
          <p:nvSpPr>
            <p:cNvPr id="105" name="Rectangle 24"/>
            <p:cNvSpPr>
              <a:spLocks noChangeArrowheads="1"/>
            </p:cNvSpPr>
            <p:nvPr/>
          </p:nvSpPr>
          <p:spPr bwMode="auto">
            <a:xfrm>
              <a:off x="3525838" y="1800227"/>
              <a:ext cx="12541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源  端  口</a:t>
              </a:r>
            </a:p>
          </p:txBody>
        </p:sp>
        <p:sp>
          <p:nvSpPr>
            <p:cNvPr id="106" name="Rectangle 25"/>
            <p:cNvSpPr>
              <a:spLocks noChangeArrowheads="1"/>
            </p:cNvSpPr>
            <p:nvPr/>
          </p:nvSpPr>
          <p:spPr bwMode="auto">
            <a:xfrm>
              <a:off x="5578475" y="2487614"/>
              <a:ext cx="1381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序   号</a:t>
              </a:r>
            </a:p>
          </p:txBody>
        </p:sp>
        <p:sp>
          <p:nvSpPr>
            <p:cNvPr id="107" name="Line 26"/>
            <p:cNvSpPr>
              <a:spLocks noChangeShapeType="1"/>
            </p:cNvSpPr>
            <p:nvPr/>
          </p:nvSpPr>
          <p:spPr bwMode="auto">
            <a:xfrm>
              <a:off x="6029325" y="3767139"/>
              <a:ext cx="0" cy="13700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08" name="Rectangle 27"/>
            <p:cNvSpPr>
              <a:spLocks noChangeArrowheads="1"/>
            </p:cNvSpPr>
            <p:nvPr/>
          </p:nvSpPr>
          <p:spPr bwMode="auto">
            <a:xfrm>
              <a:off x="7062788" y="4587877"/>
              <a:ext cx="17859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紧   急   指   针</a:t>
              </a:r>
            </a:p>
          </p:txBody>
        </p:sp>
        <p:sp>
          <p:nvSpPr>
            <p:cNvPr id="109" name="Rectangle 28"/>
            <p:cNvSpPr>
              <a:spLocks noChangeArrowheads="1"/>
            </p:cNvSpPr>
            <p:nvPr/>
          </p:nvSpPr>
          <p:spPr bwMode="auto">
            <a:xfrm>
              <a:off x="7512050" y="3868739"/>
              <a:ext cx="9223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窗   口</a:t>
              </a:r>
            </a:p>
          </p:txBody>
        </p:sp>
        <p:sp>
          <p:nvSpPr>
            <p:cNvPr id="110" name="Rectangle 29"/>
            <p:cNvSpPr>
              <a:spLocks noChangeArrowheads="1"/>
            </p:cNvSpPr>
            <p:nvPr/>
          </p:nvSpPr>
          <p:spPr bwMode="auto">
            <a:xfrm>
              <a:off x="5334000" y="3211514"/>
              <a:ext cx="18415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确    认    号</a:t>
              </a:r>
            </a:p>
          </p:txBody>
        </p:sp>
        <p:sp>
          <p:nvSpPr>
            <p:cNvPr id="111" name="Line 30"/>
            <p:cNvSpPr>
              <a:spLocks noChangeShapeType="1"/>
            </p:cNvSpPr>
            <p:nvPr/>
          </p:nvSpPr>
          <p:spPr bwMode="auto">
            <a:xfrm>
              <a:off x="3135313" y="3767139"/>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12" name="Line 31"/>
            <p:cNvSpPr>
              <a:spLocks noChangeShapeType="1"/>
            </p:cNvSpPr>
            <p:nvPr/>
          </p:nvSpPr>
          <p:spPr bwMode="auto">
            <a:xfrm>
              <a:off x="5062538" y="3759202"/>
              <a:ext cx="0" cy="6842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13" name="Line 32"/>
            <p:cNvSpPr>
              <a:spLocks noChangeShapeType="1"/>
            </p:cNvSpPr>
            <p:nvPr/>
          </p:nvSpPr>
          <p:spPr bwMode="auto">
            <a:xfrm>
              <a:off x="4568825" y="3767139"/>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14" name="Line 33"/>
            <p:cNvSpPr>
              <a:spLocks noChangeShapeType="1"/>
            </p:cNvSpPr>
            <p:nvPr/>
          </p:nvSpPr>
          <p:spPr bwMode="auto">
            <a:xfrm>
              <a:off x="4813300"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15" name="Line 34"/>
            <p:cNvSpPr>
              <a:spLocks noChangeShapeType="1"/>
            </p:cNvSpPr>
            <p:nvPr/>
          </p:nvSpPr>
          <p:spPr bwMode="auto">
            <a:xfrm>
              <a:off x="5543550"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16" name="Line 35"/>
            <p:cNvSpPr>
              <a:spLocks noChangeShapeType="1"/>
            </p:cNvSpPr>
            <p:nvPr/>
          </p:nvSpPr>
          <p:spPr bwMode="auto">
            <a:xfrm>
              <a:off x="5302250"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17" name="Line 36"/>
            <p:cNvSpPr>
              <a:spLocks noChangeShapeType="1"/>
            </p:cNvSpPr>
            <p:nvPr/>
          </p:nvSpPr>
          <p:spPr bwMode="auto">
            <a:xfrm>
              <a:off x="5788025"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20" name="Line 39"/>
            <p:cNvSpPr>
              <a:spLocks noChangeShapeType="1"/>
            </p:cNvSpPr>
            <p:nvPr/>
          </p:nvSpPr>
          <p:spPr bwMode="auto">
            <a:xfrm>
              <a:off x="2174875" y="1508127"/>
              <a:ext cx="767556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21" name="Line 40"/>
            <p:cNvSpPr>
              <a:spLocks noChangeShapeType="1"/>
            </p:cNvSpPr>
            <p:nvPr/>
          </p:nvSpPr>
          <p:spPr bwMode="auto">
            <a:xfrm>
              <a:off x="2174875"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22" name="Line 41"/>
            <p:cNvSpPr>
              <a:spLocks noChangeShapeType="1"/>
            </p:cNvSpPr>
            <p:nvPr/>
          </p:nvSpPr>
          <p:spPr bwMode="auto">
            <a:xfrm>
              <a:off x="241458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23" name="Line 42"/>
            <p:cNvSpPr>
              <a:spLocks noChangeShapeType="1"/>
            </p:cNvSpPr>
            <p:nvPr/>
          </p:nvSpPr>
          <p:spPr bwMode="auto">
            <a:xfrm>
              <a:off x="2654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24" name="Line 43"/>
            <p:cNvSpPr>
              <a:spLocks noChangeShapeType="1"/>
            </p:cNvSpPr>
            <p:nvPr/>
          </p:nvSpPr>
          <p:spPr bwMode="auto">
            <a:xfrm>
              <a:off x="289401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25" name="Line 44"/>
            <p:cNvSpPr>
              <a:spLocks noChangeShapeType="1"/>
            </p:cNvSpPr>
            <p:nvPr/>
          </p:nvSpPr>
          <p:spPr bwMode="auto">
            <a:xfrm>
              <a:off x="313531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26" name="Line 45"/>
            <p:cNvSpPr>
              <a:spLocks noChangeShapeType="1"/>
            </p:cNvSpPr>
            <p:nvPr/>
          </p:nvSpPr>
          <p:spPr bwMode="auto">
            <a:xfrm>
              <a:off x="337502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27" name="Line 46"/>
            <p:cNvSpPr>
              <a:spLocks noChangeShapeType="1"/>
            </p:cNvSpPr>
            <p:nvPr/>
          </p:nvSpPr>
          <p:spPr bwMode="auto">
            <a:xfrm>
              <a:off x="361315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28" name="Line 47"/>
            <p:cNvSpPr>
              <a:spLocks noChangeShapeType="1"/>
            </p:cNvSpPr>
            <p:nvPr/>
          </p:nvSpPr>
          <p:spPr bwMode="auto">
            <a:xfrm>
              <a:off x="385286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29" name="Line 48"/>
            <p:cNvSpPr>
              <a:spLocks noChangeShapeType="1"/>
            </p:cNvSpPr>
            <p:nvPr/>
          </p:nvSpPr>
          <p:spPr bwMode="auto">
            <a:xfrm>
              <a:off x="4094163"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30" name="Line 49"/>
            <p:cNvSpPr>
              <a:spLocks noChangeShapeType="1"/>
            </p:cNvSpPr>
            <p:nvPr/>
          </p:nvSpPr>
          <p:spPr bwMode="auto">
            <a:xfrm>
              <a:off x="433387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31" name="Line 50"/>
            <p:cNvSpPr>
              <a:spLocks noChangeShapeType="1"/>
            </p:cNvSpPr>
            <p:nvPr/>
          </p:nvSpPr>
          <p:spPr bwMode="auto">
            <a:xfrm>
              <a:off x="457358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32" name="Line 51"/>
            <p:cNvSpPr>
              <a:spLocks noChangeShapeType="1"/>
            </p:cNvSpPr>
            <p:nvPr/>
          </p:nvSpPr>
          <p:spPr bwMode="auto">
            <a:xfrm>
              <a:off x="4813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33" name="Line 52"/>
            <p:cNvSpPr>
              <a:spLocks noChangeShapeType="1"/>
            </p:cNvSpPr>
            <p:nvPr/>
          </p:nvSpPr>
          <p:spPr bwMode="auto">
            <a:xfrm>
              <a:off x="50546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34" name="Line 53"/>
            <p:cNvSpPr>
              <a:spLocks noChangeShapeType="1"/>
            </p:cNvSpPr>
            <p:nvPr/>
          </p:nvSpPr>
          <p:spPr bwMode="auto">
            <a:xfrm>
              <a:off x="529431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35" name="Line 54"/>
            <p:cNvSpPr>
              <a:spLocks noChangeShapeType="1"/>
            </p:cNvSpPr>
            <p:nvPr/>
          </p:nvSpPr>
          <p:spPr bwMode="auto">
            <a:xfrm>
              <a:off x="553243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36" name="Line 55"/>
            <p:cNvSpPr>
              <a:spLocks noChangeShapeType="1"/>
            </p:cNvSpPr>
            <p:nvPr/>
          </p:nvSpPr>
          <p:spPr bwMode="auto">
            <a:xfrm>
              <a:off x="577215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37" name="Line 56"/>
            <p:cNvSpPr>
              <a:spLocks noChangeShapeType="1"/>
            </p:cNvSpPr>
            <p:nvPr/>
          </p:nvSpPr>
          <p:spPr bwMode="auto">
            <a:xfrm>
              <a:off x="6011863"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38" name="Line 57"/>
            <p:cNvSpPr>
              <a:spLocks noChangeShapeType="1"/>
            </p:cNvSpPr>
            <p:nvPr/>
          </p:nvSpPr>
          <p:spPr bwMode="auto">
            <a:xfrm>
              <a:off x="625316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39" name="Line 58"/>
            <p:cNvSpPr>
              <a:spLocks noChangeShapeType="1"/>
            </p:cNvSpPr>
            <p:nvPr/>
          </p:nvSpPr>
          <p:spPr bwMode="auto">
            <a:xfrm>
              <a:off x="649287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40" name="Line 59"/>
            <p:cNvSpPr>
              <a:spLocks noChangeShapeType="1"/>
            </p:cNvSpPr>
            <p:nvPr/>
          </p:nvSpPr>
          <p:spPr bwMode="auto">
            <a:xfrm>
              <a:off x="673258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41" name="Line 60"/>
            <p:cNvSpPr>
              <a:spLocks noChangeShapeType="1"/>
            </p:cNvSpPr>
            <p:nvPr/>
          </p:nvSpPr>
          <p:spPr bwMode="auto">
            <a:xfrm>
              <a:off x="6972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42" name="Line 61"/>
            <p:cNvSpPr>
              <a:spLocks noChangeShapeType="1"/>
            </p:cNvSpPr>
            <p:nvPr/>
          </p:nvSpPr>
          <p:spPr bwMode="auto">
            <a:xfrm>
              <a:off x="72136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43" name="Line 62"/>
            <p:cNvSpPr>
              <a:spLocks noChangeShapeType="1"/>
            </p:cNvSpPr>
            <p:nvPr/>
          </p:nvSpPr>
          <p:spPr bwMode="auto">
            <a:xfrm>
              <a:off x="745172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44" name="Line 63"/>
            <p:cNvSpPr>
              <a:spLocks noChangeShapeType="1"/>
            </p:cNvSpPr>
            <p:nvPr/>
          </p:nvSpPr>
          <p:spPr bwMode="auto">
            <a:xfrm>
              <a:off x="769143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45" name="Line 64"/>
            <p:cNvSpPr>
              <a:spLocks noChangeShapeType="1"/>
            </p:cNvSpPr>
            <p:nvPr/>
          </p:nvSpPr>
          <p:spPr bwMode="auto">
            <a:xfrm>
              <a:off x="7931150"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46" name="Line 65"/>
            <p:cNvSpPr>
              <a:spLocks noChangeShapeType="1"/>
            </p:cNvSpPr>
            <p:nvPr/>
          </p:nvSpPr>
          <p:spPr bwMode="auto">
            <a:xfrm>
              <a:off x="817086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47" name="Line 66"/>
            <p:cNvSpPr>
              <a:spLocks noChangeShapeType="1"/>
            </p:cNvSpPr>
            <p:nvPr/>
          </p:nvSpPr>
          <p:spPr bwMode="auto">
            <a:xfrm>
              <a:off x="841216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48" name="Line 67"/>
            <p:cNvSpPr>
              <a:spLocks noChangeShapeType="1"/>
            </p:cNvSpPr>
            <p:nvPr/>
          </p:nvSpPr>
          <p:spPr bwMode="auto">
            <a:xfrm>
              <a:off x="865187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49" name="Line 68"/>
            <p:cNvSpPr>
              <a:spLocks noChangeShapeType="1"/>
            </p:cNvSpPr>
            <p:nvPr/>
          </p:nvSpPr>
          <p:spPr bwMode="auto">
            <a:xfrm>
              <a:off x="889158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50" name="Line 69"/>
            <p:cNvSpPr>
              <a:spLocks noChangeShapeType="1"/>
            </p:cNvSpPr>
            <p:nvPr/>
          </p:nvSpPr>
          <p:spPr bwMode="auto">
            <a:xfrm>
              <a:off x="9131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51" name="Line 70"/>
            <p:cNvSpPr>
              <a:spLocks noChangeShapeType="1"/>
            </p:cNvSpPr>
            <p:nvPr/>
          </p:nvSpPr>
          <p:spPr bwMode="auto">
            <a:xfrm>
              <a:off x="937101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52" name="Line 71"/>
            <p:cNvSpPr>
              <a:spLocks noChangeShapeType="1"/>
            </p:cNvSpPr>
            <p:nvPr/>
          </p:nvSpPr>
          <p:spPr bwMode="auto">
            <a:xfrm>
              <a:off x="961072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53" name="Line 72"/>
            <p:cNvSpPr>
              <a:spLocks noChangeShapeType="1"/>
            </p:cNvSpPr>
            <p:nvPr/>
          </p:nvSpPr>
          <p:spPr bwMode="auto">
            <a:xfrm>
              <a:off x="9850438"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54" name="Rectangle 73"/>
            <p:cNvSpPr>
              <a:spLocks noChangeArrowheads="1"/>
            </p:cNvSpPr>
            <p:nvPr/>
          </p:nvSpPr>
          <p:spPr bwMode="auto">
            <a:xfrm>
              <a:off x="2333625"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155" name="Rectangle 74"/>
            <p:cNvSpPr>
              <a:spLocks noChangeArrowheads="1"/>
            </p:cNvSpPr>
            <p:nvPr/>
          </p:nvSpPr>
          <p:spPr bwMode="auto">
            <a:xfrm>
              <a:off x="4252913"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156" name="Rectangle 75"/>
            <p:cNvSpPr>
              <a:spLocks noChangeArrowheads="1"/>
            </p:cNvSpPr>
            <p:nvPr/>
          </p:nvSpPr>
          <p:spPr bwMode="auto">
            <a:xfrm>
              <a:off x="6172200"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157" name="Rectangle 76"/>
            <p:cNvSpPr>
              <a:spLocks noChangeArrowheads="1"/>
            </p:cNvSpPr>
            <p:nvPr/>
          </p:nvSpPr>
          <p:spPr bwMode="auto">
            <a:xfrm>
              <a:off x="8091488"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164" name="Line 83"/>
            <p:cNvSpPr>
              <a:spLocks noChangeShapeType="1"/>
            </p:cNvSpPr>
            <p:nvPr/>
          </p:nvSpPr>
          <p:spPr bwMode="auto">
            <a:xfrm flipH="1">
              <a:off x="7929563" y="5162552"/>
              <a:ext cx="3175" cy="6429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165" name="Rectangle 84"/>
            <p:cNvSpPr>
              <a:spLocks noChangeArrowheads="1"/>
            </p:cNvSpPr>
            <p:nvPr/>
          </p:nvSpPr>
          <p:spPr bwMode="auto">
            <a:xfrm>
              <a:off x="8442325" y="5229227"/>
              <a:ext cx="1254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填    充</a:t>
              </a:r>
            </a:p>
          </p:txBody>
        </p:sp>
        <p:sp>
          <p:nvSpPr>
            <p:cNvPr id="166" name="Line 85"/>
            <p:cNvSpPr>
              <a:spLocks noChangeShapeType="1"/>
            </p:cNvSpPr>
            <p:nvPr/>
          </p:nvSpPr>
          <p:spPr bwMode="auto">
            <a:xfrm>
              <a:off x="9971088" y="1641477"/>
              <a:ext cx="5175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167" name="Line 86"/>
            <p:cNvSpPr>
              <a:spLocks noChangeShapeType="1"/>
            </p:cNvSpPr>
            <p:nvPr/>
          </p:nvSpPr>
          <p:spPr bwMode="auto">
            <a:xfrm>
              <a:off x="9971088" y="5137152"/>
              <a:ext cx="5175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168" name="Line 87"/>
            <p:cNvSpPr>
              <a:spLocks noChangeShapeType="1"/>
            </p:cNvSpPr>
            <p:nvPr/>
          </p:nvSpPr>
          <p:spPr bwMode="auto">
            <a:xfrm>
              <a:off x="1582738" y="1679577"/>
              <a:ext cx="5302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169" name="Line 88"/>
            <p:cNvSpPr>
              <a:spLocks noChangeShapeType="1"/>
            </p:cNvSpPr>
            <p:nvPr/>
          </p:nvSpPr>
          <p:spPr bwMode="auto">
            <a:xfrm>
              <a:off x="1597025" y="5780089"/>
              <a:ext cx="5302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87" name="Line 30"/>
            <p:cNvSpPr>
              <a:spLocks noChangeShapeType="1"/>
            </p:cNvSpPr>
            <p:nvPr/>
          </p:nvSpPr>
          <p:spPr bwMode="auto">
            <a:xfrm>
              <a:off x="3135313" y="3767139"/>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0" name="Line 31"/>
            <p:cNvSpPr>
              <a:spLocks noChangeShapeType="1"/>
            </p:cNvSpPr>
            <p:nvPr/>
          </p:nvSpPr>
          <p:spPr bwMode="auto">
            <a:xfrm>
              <a:off x="5062538" y="3759202"/>
              <a:ext cx="0" cy="6842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1" name="Line 32"/>
            <p:cNvSpPr>
              <a:spLocks noChangeShapeType="1"/>
            </p:cNvSpPr>
            <p:nvPr/>
          </p:nvSpPr>
          <p:spPr bwMode="auto">
            <a:xfrm>
              <a:off x="4572001" y="3761583"/>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2" name="Line 33"/>
            <p:cNvSpPr>
              <a:spLocks noChangeShapeType="1"/>
            </p:cNvSpPr>
            <p:nvPr/>
          </p:nvSpPr>
          <p:spPr bwMode="auto">
            <a:xfrm>
              <a:off x="4813300"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3" name="Line 34"/>
            <p:cNvSpPr>
              <a:spLocks noChangeShapeType="1"/>
            </p:cNvSpPr>
            <p:nvPr/>
          </p:nvSpPr>
          <p:spPr bwMode="auto">
            <a:xfrm>
              <a:off x="5543550"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4" name="Line 35"/>
            <p:cNvSpPr>
              <a:spLocks noChangeShapeType="1"/>
            </p:cNvSpPr>
            <p:nvPr/>
          </p:nvSpPr>
          <p:spPr bwMode="auto">
            <a:xfrm>
              <a:off x="5302250"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5" name="Line 36"/>
            <p:cNvSpPr>
              <a:spLocks noChangeShapeType="1"/>
            </p:cNvSpPr>
            <p:nvPr/>
          </p:nvSpPr>
          <p:spPr bwMode="auto">
            <a:xfrm>
              <a:off x="5788025"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6" name="Rectangle 37"/>
            <p:cNvSpPr>
              <a:spLocks noChangeArrowheads="1"/>
            </p:cNvSpPr>
            <p:nvPr/>
          </p:nvSpPr>
          <p:spPr bwMode="auto">
            <a:xfrm>
              <a:off x="3198280" y="3867686"/>
              <a:ext cx="72548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保留</a:t>
              </a:r>
            </a:p>
          </p:txBody>
        </p:sp>
        <p:sp>
          <p:nvSpPr>
            <p:cNvPr id="183" name="Line 32"/>
            <p:cNvSpPr>
              <a:spLocks noChangeShapeType="1"/>
            </p:cNvSpPr>
            <p:nvPr/>
          </p:nvSpPr>
          <p:spPr bwMode="auto">
            <a:xfrm>
              <a:off x="4079776" y="3757614"/>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84" name="Line 33"/>
            <p:cNvSpPr>
              <a:spLocks noChangeShapeType="1"/>
            </p:cNvSpPr>
            <p:nvPr/>
          </p:nvSpPr>
          <p:spPr bwMode="auto">
            <a:xfrm>
              <a:off x="4314850" y="3768726"/>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grpSp>
      <p:sp>
        <p:nvSpPr>
          <p:cNvPr id="430165" name="Rectangle 85"/>
          <p:cNvSpPr>
            <a:spLocks noChangeArrowheads="1"/>
          </p:cNvSpPr>
          <p:nvPr/>
        </p:nvSpPr>
        <p:spPr bwMode="auto">
          <a:xfrm>
            <a:off x="3082315" y="3740153"/>
            <a:ext cx="930301" cy="717550"/>
          </a:xfrm>
          <a:prstGeom prst="rect">
            <a:avLst/>
          </a:prstGeom>
          <a:noFill/>
          <a:ln w="7620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3" name="Rectangle 82">
            <a:extLst>
              <a:ext uri="{FF2B5EF4-FFF2-40B4-BE49-F238E27FC236}">
                <a16:creationId xmlns:a16="http://schemas.microsoft.com/office/drawing/2014/main" id="{E85258D6-CFDD-D024-D714-CC2F6716C734}"/>
              </a:ext>
            </a:extLst>
          </p:cNvPr>
          <p:cNvSpPr>
            <a:spLocks noChangeArrowheads="1"/>
          </p:cNvSpPr>
          <p:nvPr/>
        </p:nvSpPr>
        <p:spPr bwMode="auto">
          <a:xfrm>
            <a:off x="1812925" y="908720"/>
            <a:ext cx="8261878"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位 </a:t>
            </a:r>
            <a:r>
              <a:rPr lang="en-US" altLang="zh-CN" sz="2000" dirty="0">
                <a:latin typeface="+mn-lt"/>
                <a:ea typeface="微软雅黑 Light" panose="020B0502040204020203" pitchFamily="34" charset="-122"/>
              </a:rPr>
              <a:t>0                           8                           16                          24                          31</a:t>
            </a:r>
          </a:p>
        </p:txBody>
      </p:sp>
      <p:sp>
        <p:nvSpPr>
          <p:cNvPr id="4" name="Rectangle 38">
            <a:extLst>
              <a:ext uri="{FF2B5EF4-FFF2-40B4-BE49-F238E27FC236}">
                <a16:creationId xmlns:a16="http://schemas.microsoft.com/office/drawing/2014/main" id="{B5F4FC69-0293-D126-8E6E-41E6215BBA4D}"/>
              </a:ext>
            </a:extLst>
          </p:cNvPr>
          <p:cNvSpPr>
            <a:spLocks noChangeArrowheads="1"/>
          </p:cNvSpPr>
          <p:nvPr/>
        </p:nvSpPr>
        <p:spPr bwMode="auto">
          <a:xfrm rot="16200000">
            <a:off x="5685895" y="3966403"/>
            <a:ext cx="535405"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lnSpc>
                <a:spcPct val="75000"/>
              </a:lnSpc>
            </a:pPr>
            <a:r>
              <a:rPr lang="en-US" altLang="zh-CN" sz="1600" b="1" dirty="0">
                <a:latin typeface="+mn-lt"/>
                <a:ea typeface="微软雅黑 Light" panose="020B0502040204020203" pitchFamily="34" charset="-122"/>
              </a:rPr>
              <a:t>FIN</a:t>
            </a:r>
          </a:p>
        </p:txBody>
      </p:sp>
      <p:sp>
        <p:nvSpPr>
          <p:cNvPr id="5" name="Rectangle 77">
            <a:extLst>
              <a:ext uri="{FF2B5EF4-FFF2-40B4-BE49-F238E27FC236}">
                <a16:creationId xmlns:a16="http://schemas.microsoft.com/office/drawing/2014/main" id="{D3B9584D-7B4C-F56B-035E-D38BAAA7F54B}"/>
              </a:ext>
            </a:extLst>
          </p:cNvPr>
          <p:cNvSpPr>
            <a:spLocks noChangeArrowheads="1"/>
          </p:cNvSpPr>
          <p:nvPr/>
        </p:nvSpPr>
        <p:spPr bwMode="auto">
          <a:xfrm rot="16200000">
            <a:off x="5401703" y="3936764"/>
            <a:ext cx="591510"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SYN</a:t>
            </a:r>
          </a:p>
        </p:txBody>
      </p:sp>
      <p:sp>
        <p:nvSpPr>
          <p:cNvPr id="6" name="Rectangle 78">
            <a:extLst>
              <a:ext uri="{FF2B5EF4-FFF2-40B4-BE49-F238E27FC236}">
                <a16:creationId xmlns:a16="http://schemas.microsoft.com/office/drawing/2014/main" id="{358020CA-39B5-1117-5867-0E58C0B4617C}"/>
              </a:ext>
            </a:extLst>
          </p:cNvPr>
          <p:cNvSpPr>
            <a:spLocks noChangeArrowheads="1"/>
          </p:cNvSpPr>
          <p:nvPr/>
        </p:nvSpPr>
        <p:spPr bwMode="auto">
          <a:xfrm rot="16200000">
            <a:off x="5115446" y="3917780"/>
            <a:ext cx="618290"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RST</a:t>
            </a:r>
          </a:p>
        </p:txBody>
      </p:sp>
      <p:sp>
        <p:nvSpPr>
          <p:cNvPr id="7" name="Rectangle 79">
            <a:extLst>
              <a:ext uri="{FF2B5EF4-FFF2-40B4-BE49-F238E27FC236}">
                <a16:creationId xmlns:a16="http://schemas.microsoft.com/office/drawing/2014/main" id="{22AB9E6F-1C88-885E-A398-4A5DB56A4883}"/>
              </a:ext>
            </a:extLst>
          </p:cNvPr>
          <p:cNvSpPr>
            <a:spLocks noChangeArrowheads="1"/>
          </p:cNvSpPr>
          <p:nvPr/>
        </p:nvSpPr>
        <p:spPr bwMode="auto">
          <a:xfrm rot="16200000">
            <a:off x="4890356" y="3938731"/>
            <a:ext cx="600108"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PSH  </a:t>
            </a:r>
          </a:p>
        </p:txBody>
      </p:sp>
      <p:sp>
        <p:nvSpPr>
          <p:cNvPr id="8" name="Rectangle 80">
            <a:extLst>
              <a:ext uri="{FF2B5EF4-FFF2-40B4-BE49-F238E27FC236}">
                <a16:creationId xmlns:a16="http://schemas.microsoft.com/office/drawing/2014/main" id="{56FADF22-C40A-3EC5-5194-72E8F324DD42}"/>
              </a:ext>
            </a:extLst>
          </p:cNvPr>
          <p:cNvSpPr>
            <a:spLocks noChangeArrowheads="1"/>
          </p:cNvSpPr>
          <p:nvPr/>
        </p:nvSpPr>
        <p:spPr bwMode="auto">
          <a:xfrm rot="16200000">
            <a:off x="4579000" y="3916214"/>
            <a:ext cx="730250"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ACK</a:t>
            </a:r>
          </a:p>
        </p:txBody>
      </p:sp>
      <p:sp>
        <p:nvSpPr>
          <p:cNvPr id="9" name="Rectangle 81">
            <a:extLst>
              <a:ext uri="{FF2B5EF4-FFF2-40B4-BE49-F238E27FC236}">
                <a16:creationId xmlns:a16="http://schemas.microsoft.com/office/drawing/2014/main" id="{1C6465BA-4F6A-FB26-412E-5121233763D6}"/>
              </a:ext>
            </a:extLst>
          </p:cNvPr>
          <p:cNvSpPr>
            <a:spLocks noChangeArrowheads="1"/>
          </p:cNvSpPr>
          <p:nvPr/>
        </p:nvSpPr>
        <p:spPr bwMode="auto">
          <a:xfrm rot="16200000">
            <a:off x="4342408" y="3894364"/>
            <a:ext cx="761997"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URG</a:t>
            </a:r>
          </a:p>
        </p:txBody>
      </p:sp>
      <p:sp>
        <p:nvSpPr>
          <p:cNvPr id="10" name="Rectangle 81">
            <a:extLst>
              <a:ext uri="{FF2B5EF4-FFF2-40B4-BE49-F238E27FC236}">
                <a16:creationId xmlns:a16="http://schemas.microsoft.com/office/drawing/2014/main" id="{AFBE4E4B-FFE0-5921-D6BF-170ADD974381}"/>
              </a:ext>
            </a:extLst>
          </p:cNvPr>
          <p:cNvSpPr>
            <a:spLocks noChangeArrowheads="1"/>
          </p:cNvSpPr>
          <p:nvPr/>
        </p:nvSpPr>
        <p:spPr bwMode="auto">
          <a:xfrm rot="16200000">
            <a:off x="3855770" y="3928543"/>
            <a:ext cx="721634"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CWR</a:t>
            </a:r>
          </a:p>
        </p:txBody>
      </p:sp>
      <p:sp>
        <p:nvSpPr>
          <p:cNvPr id="11" name="Rectangle 81">
            <a:extLst>
              <a:ext uri="{FF2B5EF4-FFF2-40B4-BE49-F238E27FC236}">
                <a16:creationId xmlns:a16="http://schemas.microsoft.com/office/drawing/2014/main" id="{49479F4B-A7E6-671C-027B-EEFC1C3B6FED}"/>
              </a:ext>
            </a:extLst>
          </p:cNvPr>
          <p:cNvSpPr>
            <a:spLocks noChangeArrowheads="1"/>
          </p:cNvSpPr>
          <p:nvPr/>
        </p:nvSpPr>
        <p:spPr bwMode="auto">
          <a:xfrm rot="16200000">
            <a:off x="4124919" y="3912163"/>
            <a:ext cx="704221"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ECE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0165"/>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43016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65" grpId="0" animBg="1"/>
      <p:bldP spid="430165" grpId="1"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t>38</a:t>
            </a:fld>
            <a:endParaRPr lang="en-US" altLang="zh-CN" dirty="0"/>
          </a:p>
        </p:txBody>
      </p:sp>
      <p:grpSp>
        <p:nvGrpSpPr>
          <p:cNvPr id="6" name="组合 5"/>
          <p:cNvGrpSpPr/>
          <p:nvPr/>
        </p:nvGrpSpPr>
        <p:grpSpPr>
          <a:xfrm>
            <a:off x="1524000" y="1109664"/>
            <a:ext cx="9080500" cy="4695826"/>
            <a:chOff x="1524000" y="1109664"/>
            <a:chExt cx="9080500" cy="4695826"/>
          </a:xfrm>
        </p:grpSpPr>
        <p:sp>
          <p:nvSpPr>
            <p:cNvPr id="7" name="Line 9"/>
            <p:cNvSpPr>
              <a:spLocks noChangeShapeType="1"/>
            </p:cNvSpPr>
            <p:nvPr/>
          </p:nvSpPr>
          <p:spPr bwMode="auto">
            <a:xfrm flipH="1">
              <a:off x="1852613" y="1668464"/>
              <a:ext cx="17463" cy="4122738"/>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8" name="Rectangle 10"/>
            <p:cNvSpPr>
              <a:spLocks noChangeArrowheads="1"/>
            </p:cNvSpPr>
            <p:nvPr/>
          </p:nvSpPr>
          <p:spPr bwMode="auto">
            <a:xfrm>
              <a:off x="1524000" y="3268664"/>
              <a:ext cx="696913" cy="6445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90000"/>
                </a:lnSpc>
              </a:pPr>
              <a:r>
                <a:rPr lang="en-US" altLang="zh-CN" sz="2000">
                  <a:latin typeface="+mn-lt"/>
                  <a:ea typeface="微软雅黑 Light" panose="020B0502040204020203" pitchFamily="34" charset="-122"/>
                </a:rPr>
                <a:t>TCP</a:t>
              </a:r>
            </a:p>
            <a:p>
              <a:pPr eaLnBrk="0" hangingPunct="0">
                <a:lnSpc>
                  <a:spcPct val="90000"/>
                </a:lnSpc>
              </a:pPr>
              <a:r>
                <a:rPr lang="zh-CN" altLang="en-US" sz="2000">
                  <a:latin typeface="+mn-lt"/>
                  <a:ea typeface="微软雅黑 Light" panose="020B0502040204020203" pitchFamily="34" charset="-122"/>
                </a:rPr>
                <a:t>首部</a:t>
              </a:r>
            </a:p>
          </p:txBody>
        </p:sp>
        <p:sp>
          <p:nvSpPr>
            <p:cNvPr id="9" name="Line 11"/>
            <p:cNvSpPr>
              <a:spLocks noChangeShapeType="1"/>
            </p:cNvSpPr>
            <p:nvPr/>
          </p:nvSpPr>
          <p:spPr bwMode="auto">
            <a:xfrm>
              <a:off x="10272713" y="1658939"/>
              <a:ext cx="0" cy="3463925"/>
            </a:xfrm>
            <a:prstGeom prst="line">
              <a:avLst/>
            </a:prstGeom>
            <a:noFill/>
            <a:ln w="1905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0" name="Rectangle 12"/>
            <p:cNvSpPr>
              <a:spLocks noChangeArrowheads="1"/>
            </p:cNvSpPr>
            <p:nvPr/>
          </p:nvSpPr>
          <p:spPr bwMode="auto">
            <a:xfrm>
              <a:off x="9909175" y="2736852"/>
              <a:ext cx="695325" cy="119697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lnSpc>
                  <a:spcPct val="90000"/>
                </a:lnSpc>
              </a:pPr>
              <a:r>
                <a:rPr lang="en-US" altLang="zh-CN" sz="2000">
                  <a:latin typeface="+mn-lt"/>
                  <a:ea typeface="微软雅黑 Light" panose="020B0502040204020203" pitchFamily="34" charset="-122"/>
                </a:rPr>
                <a:t>20</a:t>
              </a:r>
            </a:p>
            <a:p>
              <a:pPr algn="ctr" eaLnBrk="0" hangingPunct="0">
                <a:lnSpc>
                  <a:spcPct val="90000"/>
                </a:lnSpc>
              </a:pPr>
              <a:r>
                <a:rPr lang="zh-CN" altLang="en-US" sz="2000">
                  <a:latin typeface="+mn-lt"/>
                  <a:ea typeface="微软雅黑 Light" panose="020B0502040204020203" pitchFamily="34" charset="-122"/>
                </a:rPr>
                <a:t>字节</a:t>
              </a:r>
            </a:p>
            <a:p>
              <a:pPr algn="ctr" eaLnBrk="0" hangingPunct="0">
                <a:lnSpc>
                  <a:spcPct val="90000"/>
                </a:lnSpc>
              </a:pPr>
              <a:r>
                <a:rPr lang="zh-CN" altLang="en-US" sz="2000">
                  <a:latin typeface="+mn-lt"/>
                  <a:ea typeface="微软雅黑 Light" panose="020B0502040204020203" pitchFamily="34" charset="-122"/>
                </a:rPr>
                <a:t>固定</a:t>
              </a:r>
            </a:p>
            <a:p>
              <a:pPr algn="ctr" eaLnBrk="0" hangingPunct="0">
                <a:lnSpc>
                  <a:spcPct val="90000"/>
                </a:lnSpc>
              </a:pPr>
              <a:r>
                <a:rPr lang="zh-CN" altLang="en-US" sz="2000">
                  <a:latin typeface="+mn-lt"/>
                  <a:ea typeface="微软雅黑 Light" panose="020B0502040204020203" pitchFamily="34" charset="-122"/>
                </a:rPr>
                <a:t>首部</a:t>
              </a:r>
            </a:p>
          </p:txBody>
        </p:sp>
        <p:sp>
          <p:nvSpPr>
            <p:cNvPr id="11" name="Rectangle 13"/>
            <p:cNvSpPr>
              <a:spLocks noChangeArrowheads="1"/>
            </p:cNvSpPr>
            <p:nvPr/>
          </p:nvSpPr>
          <p:spPr bwMode="auto">
            <a:xfrm>
              <a:off x="2178050" y="1665289"/>
              <a:ext cx="7686675" cy="4133850"/>
            </a:xfrm>
            <a:prstGeom prst="rect">
              <a:avLst/>
            </a:prstGeom>
            <a:solidFill>
              <a:schemeClr val="bg2"/>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12" name="Line 14"/>
            <p:cNvSpPr>
              <a:spLocks noChangeShapeType="1"/>
            </p:cNvSpPr>
            <p:nvPr/>
          </p:nvSpPr>
          <p:spPr bwMode="auto">
            <a:xfrm>
              <a:off x="2170113" y="2368552"/>
              <a:ext cx="76993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3" name="Line 15"/>
            <p:cNvSpPr>
              <a:spLocks noChangeShapeType="1"/>
            </p:cNvSpPr>
            <p:nvPr/>
          </p:nvSpPr>
          <p:spPr bwMode="auto">
            <a:xfrm>
              <a:off x="2184400" y="3063877"/>
              <a:ext cx="768508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4" name="Line 16"/>
            <p:cNvSpPr>
              <a:spLocks noChangeShapeType="1"/>
            </p:cNvSpPr>
            <p:nvPr/>
          </p:nvSpPr>
          <p:spPr bwMode="auto">
            <a:xfrm>
              <a:off x="2170113" y="3757614"/>
              <a:ext cx="76993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5" name="Line 17"/>
            <p:cNvSpPr>
              <a:spLocks noChangeShapeType="1"/>
            </p:cNvSpPr>
            <p:nvPr/>
          </p:nvSpPr>
          <p:spPr bwMode="auto">
            <a:xfrm>
              <a:off x="2170113" y="4449764"/>
              <a:ext cx="76993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6" name="Line 18"/>
            <p:cNvSpPr>
              <a:spLocks noChangeShapeType="1"/>
            </p:cNvSpPr>
            <p:nvPr/>
          </p:nvSpPr>
          <p:spPr bwMode="auto">
            <a:xfrm>
              <a:off x="2184400" y="5145089"/>
              <a:ext cx="768508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 name="Line 19"/>
            <p:cNvSpPr>
              <a:spLocks noChangeShapeType="1"/>
            </p:cNvSpPr>
            <p:nvPr/>
          </p:nvSpPr>
          <p:spPr bwMode="auto">
            <a:xfrm>
              <a:off x="6022975" y="1673227"/>
              <a:ext cx="0" cy="7096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8" name="Rectangle 20"/>
            <p:cNvSpPr>
              <a:spLocks noChangeArrowheads="1"/>
            </p:cNvSpPr>
            <p:nvPr/>
          </p:nvSpPr>
          <p:spPr bwMode="auto">
            <a:xfrm>
              <a:off x="7223125" y="1800227"/>
              <a:ext cx="1593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目  的  端  口</a:t>
              </a:r>
            </a:p>
          </p:txBody>
        </p:sp>
        <p:sp>
          <p:nvSpPr>
            <p:cNvPr id="19" name="Rectangle 21"/>
            <p:cNvSpPr>
              <a:spLocks noChangeArrowheads="1"/>
            </p:cNvSpPr>
            <p:nvPr/>
          </p:nvSpPr>
          <p:spPr bwMode="auto">
            <a:xfrm>
              <a:off x="2332038" y="3722689"/>
              <a:ext cx="695325" cy="704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数据</a:t>
              </a:r>
            </a:p>
            <a:p>
              <a:pPr eaLnBrk="0" hangingPunct="0"/>
              <a:r>
                <a:rPr lang="zh-CN" altLang="en-US" sz="2000" dirty="0">
                  <a:latin typeface="+mn-lt"/>
                  <a:ea typeface="微软雅黑 Light" panose="020B0502040204020203" pitchFamily="34" charset="-122"/>
                </a:rPr>
                <a:t>偏移</a:t>
              </a:r>
            </a:p>
          </p:txBody>
        </p:sp>
        <p:sp>
          <p:nvSpPr>
            <p:cNvPr id="20" name="Rectangle 22"/>
            <p:cNvSpPr>
              <a:spLocks noChangeArrowheads="1"/>
            </p:cNvSpPr>
            <p:nvPr/>
          </p:nvSpPr>
          <p:spPr bwMode="auto">
            <a:xfrm>
              <a:off x="3411538" y="4587877"/>
              <a:ext cx="13366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检   验   和</a:t>
              </a:r>
            </a:p>
          </p:txBody>
        </p:sp>
        <p:sp>
          <p:nvSpPr>
            <p:cNvPr id="21" name="Rectangle 23"/>
            <p:cNvSpPr>
              <a:spLocks noChangeArrowheads="1"/>
            </p:cNvSpPr>
            <p:nvPr/>
          </p:nvSpPr>
          <p:spPr bwMode="auto">
            <a:xfrm>
              <a:off x="3694113" y="5237164"/>
              <a:ext cx="31988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选    项 长  度  可  变）</a:t>
              </a:r>
            </a:p>
          </p:txBody>
        </p:sp>
        <p:sp>
          <p:nvSpPr>
            <p:cNvPr id="22" name="Rectangle 24"/>
            <p:cNvSpPr>
              <a:spLocks noChangeArrowheads="1"/>
            </p:cNvSpPr>
            <p:nvPr/>
          </p:nvSpPr>
          <p:spPr bwMode="auto">
            <a:xfrm>
              <a:off x="3525838" y="1800227"/>
              <a:ext cx="12541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源  端  口</a:t>
              </a:r>
            </a:p>
          </p:txBody>
        </p:sp>
        <p:sp>
          <p:nvSpPr>
            <p:cNvPr id="23" name="Rectangle 25"/>
            <p:cNvSpPr>
              <a:spLocks noChangeArrowheads="1"/>
            </p:cNvSpPr>
            <p:nvPr/>
          </p:nvSpPr>
          <p:spPr bwMode="auto">
            <a:xfrm>
              <a:off x="5578475" y="2487614"/>
              <a:ext cx="1381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序   号</a:t>
              </a:r>
            </a:p>
          </p:txBody>
        </p:sp>
        <p:sp>
          <p:nvSpPr>
            <p:cNvPr id="24" name="Line 26"/>
            <p:cNvSpPr>
              <a:spLocks noChangeShapeType="1"/>
            </p:cNvSpPr>
            <p:nvPr/>
          </p:nvSpPr>
          <p:spPr bwMode="auto">
            <a:xfrm>
              <a:off x="6029325" y="3767139"/>
              <a:ext cx="0" cy="13700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5" name="Rectangle 27"/>
            <p:cNvSpPr>
              <a:spLocks noChangeArrowheads="1"/>
            </p:cNvSpPr>
            <p:nvPr/>
          </p:nvSpPr>
          <p:spPr bwMode="auto">
            <a:xfrm>
              <a:off x="7062788" y="4587877"/>
              <a:ext cx="17859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紧   急   指   针</a:t>
              </a:r>
            </a:p>
          </p:txBody>
        </p:sp>
        <p:sp>
          <p:nvSpPr>
            <p:cNvPr id="26" name="Rectangle 28"/>
            <p:cNvSpPr>
              <a:spLocks noChangeArrowheads="1"/>
            </p:cNvSpPr>
            <p:nvPr/>
          </p:nvSpPr>
          <p:spPr bwMode="auto">
            <a:xfrm>
              <a:off x="7512050" y="3868739"/>
              <a:ext cx="9223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窗   口</a:t>
              </a:r>
            </a:p>
          </p:txBody>
        </p:sp>
        <p:sp>
          <p:nvSpPr>
            <p:cNvPr id="27" name="Rectangle 29"/>
            <p:cNvSpPr>
              <a:spLocks noChangeArrowheads="1"/>
            </p:cNvSpPr>
            <p:nvPr/>
          </p:nvSpPr>
          <p:spPr bwMode="auto">
            <a:xfrm>
              <a:off x="5334000" y="3211514"/>
              <a:ext cx="18415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确    认    号</a:t>
              </a:r>
            </a:p>
          </p:txBody>
        </p:sp>
        <p:sp>
          <p:nvSpPr>
            <p:cNvPr id="28" name="Line 30"/>
            <p:cNvSpPr>
              <a:spLocks noChangeShapeType="1"/>
            </p:cNvSpPr>
            <p:nvPr/>
          </p:nvSpPr>
          <p:spPr bwMode="auto">
            <a:xfrm>
              <a:off x="3135313" y="3767139"/>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9" name="Line 39"/>
            <p:cNvSpPr>
              <a:spLocks noChangeShapeType="1"/>
            </p:cNvSpPr>
            <p:nvPr/>
          </p:nvSpPr>
          <p:spPr bwMode="auto">
            <a:xfrm>
              <a:off x="2174875" y="1508127"/>
              <a:ext cx="767556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 name="Line 40"/>
            <p:cNvSpPr>
              <a:spLocks noChangeShapeType="1"/>
            </p:cNvSpPr>
            <p:nvPr/>
          </p:nvSpPr>
          <p:spPr bwMode="auto">
            <a:xfrm>
              <a:off x="2174875"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1" name="Line 41"/>
            <p:cNvSpPr>
              <a:spLocks noChangeShapeType="1"/>
            </p:cNvSpPr>
            <p:nvPr/>
          </p:nvSpPr>
          <p:spPr bwMode="auto">
            <a:xfrm>
              <a:off x="241458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2" name="Line 42"/>
            <p:cNvSpPr>
              <a:spLocks noChangeShapeType="1"/>
            </p:cNvSpPr>
            <p:nvPr/>
          </p:nvSpPr>
          <p:spPr bwMode="auto">
            <a:xfrm>
              <a:off x="2654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3" name="Line 43"/>
            <p:cNvSpPr>
              <a:spLocks noChangeShapeType="1"/>
            </p:cNvSpPr>
            <p:nvPr/>
          </p:nvSpPr>
          <p:spPr bwMode="auto">
            <a:xfrm>
              <a:off x="289401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4" name="Line 44"/>
            <p:cNvSpPr>
              <a:spLocks noChangeShapeType="1"/>
            </p:cNvSpPr>
            <p:nvPr/>
          </p:nvSpPr>
          <p:spPr bwMode="auto">
            <a:xfrm>
              <a:off x="313531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5" name="Line 45"/>
            <p:cNvSpPr>
              <a:spLocks noChangeShapeType="1"/>
            </p:cNvSpPr>
            <p:nvPr/>
          </p:nvSpPr>
          <p:spPr bwMode="auto">
            <a:xfrm>
              <a:off x="337502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6" name="Line 46"/>
            <p:cNvSpPr>
              <a:spLocks noChangeShapeType="1"/>
            </p:cNvSpPr>
            <p:nvPr/>
          </p:nvSpPr>
          <p:spPr bwMode="auto">
            <a:xfrm>
              <a:off x="361315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7" name="Line 47"/>
            <p:cNvSpPr>
              <a:spLocks noChangeShapeType="1"/>
            </p:cNvSpPr>
            <p:nvPr/>
          </p:nvSpPr>
          <p:spPr bwMode="auto">
            <a:xfrm>
              <a:off x="385286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8" name="Line 48"/>
            <p:cNvSpPr>
              <a:spLocks noChangeShapeType="1"/>
            </p:cNvSpPr>
            <p:nvPr/>
          </p:nvSpPr>
          <p:spPr bwMode="auto">
            <a:xfrm>
              <a:off x="4094163"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9" name="Line 49"/>
            <p:cNvSpPr>
              <a:spLocks noChangeShapeType="1"/>
            </p:cNvSpPr>
            <p:nvPr/>
          </p:nvSpPr>
          <p:spPr bwMode="auto">
            <a:xfrm>
              <a:off x="433387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40" name="Line 50"/>
            <p:cNvSpPr>
              <a:spLocks noChangeShapeType="1"/>
            </p:cNvSpPr>
            <p:nvPr/>
          </p:nvSpPr>
          <p:spPr bwMode="auto">
            <a:xfrm>
              <a:off x="457358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41" name="Line 51"/>
            <p:cNvSpPr>
              <a:spLocks noChangeShapeType="1"/>
            </p:cNvSpPr>
            <p:nvPr/>
          </p:nvSpPr>
          <p:spPr bwMode="auto">
            <a:xfrm>
              <a:off x="4813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42" name="Line 52"/>
            <p:cNvSpPr>
              <a:spLocks noChangeShapeType="1"/>
            </p:cNvSpPr>
            <p:nvPr/>
          </p:nvSpPr>
          <p:spPr bwMode="auto">
            <a:xfrm>
              <a:off x="50546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43" name="Line 53"/>
            <p:cNvSpPr>
              <a:spLocks noChangeShapeType="1"/>
            </p:cNvSpPr>
            <p:nvPr/>
          </p:nvSpPr>
          <p:spPr bwMode="auto">
            <a:xfrm>
              <a:off x="529431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44" name="Line 54"/>
            <p:cNvSpPr>
              <a:spLocks noChangeShapeType="1"/>
            </p:cNvSpPr>
            <p:nvPr/>
          </p:nvSpPr>
          <p:spPr bwMode="auto">
            <a:xfrm>
              <a:off x="553243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45" name="Line 55"/>
            <p:cNvSpPr>
              <a:spLocks noChangeShapeType="1"/>
            </p:cNvSpPr>
            <p:nvPr/>
          </p:nvSpPr>
          <p:spPr bwMode="auto">
            <a:xfrm>
              <a:off x="577215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46" name="Line 56"/>
            <p:cNvSpPr>
              <a:spLocks noChangeShapeType="1"/>
            </p:cNvSpPr>
            <p:nvPr/>
          </p:nvSpPr>
          <p:spPr bwMode="auto">
            <a:xfrm>
              <a:off x="6011863"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47" name="Line 57"/>
            <p:cNvSpPr>
              <a:spLocks noChangeShapeType="1"/>
            </p:cNvSpPr>
            <p:nvPr/>
          </p:nvSpPr>
          <p:spPr bwMode="auto">
            <a:xfrm>
              <a:off x="625316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48" name="Line 58"/>
            <p:cNvSpPr>
              <a:spLocks noChangeShapeType="1"/>
            </p:cNvSpPr>
            <p:nvPr/>
          </p:nvSpPr>
          <p:spPr bwMode="auto">
            <a:xfrm>
              <a:off x="649287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49" name="Line 59"/>
            <p:cNvSpPr>
              <a:spLocks noChangeShapeType="1"/>
            </p:cNvSpPr>
            <p:nvPr/>
          </p:nvSpPr>
          <p:spPr bwMode="auto">
            <a:xfrm>
              <a:off x="673258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50" name="Line 60"/>
            <p:cNvSpPr>
              <a:spLocks noChangeShapeType="1"/>
            </p:cNvSpPr>
            <p:nvPr/>
          </p:nvSpPr>
          <p:spPr bwMode="auto">
            <a:xfrm>
              <a:off x="6972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51" name="Line 61"/>
            <p:cNvSpPr>
              <a:spLocks noChangeShapeType="1"/>
            </p:cNvSpPr>
            <p:nvPr/>
          </p:nvSpPr>
          <p:spPr bwMode="auto">
            <a:xfrm>
              <a:off x="72136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52" name="Line 62"/>
            <p:cNvSpPr>
              <a:spLocks noChangeShapeType="1"/>
            </p:cNvSpPr>
            <p:nvPr/>
          </p:nvSpPr>
          <p:spPr bwMode="auto">
            <a:xfrm>
              <a:off x="745172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53" name="Line 63"/>
            <p:cNvSpPr>
              <a:spLocks noChangeShapeType="1"/>
            </p:cNvSpPr>
            <p:nvPr/>
          </p:nvSpPr>
          <p:spPr bwMode="auto">
            <a:xfrm>
              <a:off x="769143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54" name="Line 64"/>
            <p:cNvSpPr>
              <a:spLocks noChangeShapeType="1"/>
            </p:cNvSpPr>
            <p:nvPr/>
          </p:nvSpPr>
          <p:spPr bwMode="auto">
            <a:xfrm>
              <a:off x="7931150"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55" name="Line 65"/>
            <p:cNvSpPr>
              <a:spLocks noChangeShapeType="1"/>
            </p:cNvSpPr>
            <p:nvPr/>
          </p:nvSpPr>
          <p:spPr bwMode="auto">
            <a:xfrm>
              <a:off x="817086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56" name="Line 66"/>
            <p:cNvSpPr>
              <a:spLocks noChangeShapeType="1"/>
            </p:cNvSpPr>
            <p:nvPr/>
          </p:nvSpPr>
          <p:spPr bwMode="auto">
            <a:xfrm>
              <a:off x="841216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57" name="Line 67"/>
            <p:cNvSpPr>
              <a:spLocks noChangeShapeType="1"/>
            </p:cNvSpPr>
            <p:nvPr/>
          </p:nvSpPr>
          <p:spPr bwMode="auto">
            <a:xfrm>
              <a:off x="865187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58" name="Line 68"/>
            <p:cNvSpPr>
              <a:spLocks noChangeShapeType="1"/>
            </p:cNvSpPr>
            <p:nvPr/>
          </p:nvSpPr>
          <p:spPr bwMode="auto">
            <a:xfrm>
              <a:off x="889158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59" name="Line 69"/>
            <p:cNvSpPr>
              <a:spLocks noChangeShapeType="1"/>
            </p:cNvSpPr>
            <p:nvPr/>
          </p:nvSpPr>
          <p:spPr bwMode="auto">
            <a:xfrm>
              <a:off x="9131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60" name="Line 70"/>
            <p:cNvSpPr>
              <a:spLocks noChangeShapeType="1"/>
            </p:cNvSpPr>
            <p:nvPr/>
          </p:nvSpPr>
          <p:spPr bwMode="auto">
            <a:xfrm>
              <a:off x="937101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61" name="Line 71"/>
            <p:cNvSpPr>
              <a:spLocks noChangeShapeType="1"/>
            </p:cNvSpPr>
            <p:nvPr/>
          </p:nvSpPr>
          <p:spPr bwMode="auto">
            <a:xfrm>
              <a:off x="961072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62" name="Line 72"/>
            <p:cNvSpPr>
              <a:spLocks noChangeShapeType="1"/>
            </p:cNvSpPr>
            <p:nvPr/>
          </p:nvSpPr>
          <p:spPr bwMode="auto">
            <a:xfrm>
              <a:off x="9850438"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63" name="Rectangle 73"/>
            <p:cNvSpPr>
              <a:spLocks noChangeArrowheads="1"/>
            </p:cNvSpPr>
            <p:nvPr/>
          </p:nvSpPr>
          <p:spPr bwMode="auto">
            <a:xfrm>
              <a:off x="2333625"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64" name="Rectangle 74"/>
            <p:cNvSpPr>
              <a:spLocks noChangeArrowheads="1"/>
            </p:cNvSpPr>
            <p:nvPr/>
          </p:nvSpPr>
          <p:spPr bwMode="auto">
            <a:xfrm>
              <a:off x="4252913"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65" name="Rectangle 75"/>
            <p:cNvSpPr>
              <a:spLocks noChangeArrowheads="1"/>
            </p:cNvSpPr>
            <p:nvPr/>
          </p:nvSpPr>
          <p:spPr bwMode="auto">
            <a:xfrm>
              <a:off x="6172200"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66" name="Rectangle 76"/>
            <p:cNvSpPr>
              <a:spLocks noChangeArrowheads="1"/>
            </p:cNvSpPr>
            <p:nvPr/>
          </p:nvSpPr>
          <p:spPr bwMode="auto">
            <a:xfrm>
              <a:off x="8091488"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68" name="Line 83"/>
            <p:cNvSpPr>
              <a:spLocks noChangeShapeType="1"/>
            </p:cNvSpPr>
            <p:nvPr/>
          </p:nvSpPr>
          <p:spPr bwMode="auto">
            <a:xfrm flipH="1">
              <a:off x="7929563" y="5162552"/>
              <a:ext cx="3175" cy="6429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69" name="Rectangle 84"/>
            <p:cNvSpPr>
              <a:spLocks noChangeArrowheads="1"/>
            </p:cNvSpPr>
            <p:nvPr/>
          </p:nvSpPr>
          <p:spPr bwMode="auto">
            <a:xfrm>
              <a:off x="8442325" y="5229227"/>
              <a:ext cx="1254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填    充</a:t>
              </a:r>
            </a:p>
          </p:txBody>
        </p:sp>
        <p:sp>
          <p:nvSpPr>
            <p:cNvPr id="70" name="Line 85"/>
            <p:cNvSpPr>
              <a:spLocks noChangeShapeType="1"/>
            </p:cNvSpPr>
            <p:nvPr/>
          </p:nvSpPr>
          <p:spPr bwMode="auto">
            <a:xfrm>
              <a:off x="9971088" y="1641477"/>
              <a:ext cx="5175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71" name="Line 86"/>
            <p:cNvSpPr>
              <a:spLocks noChangeShapeType="1"/>
            </p:cNvSpPr>
            <p:nvPr/>
          </p:nvSpPr>
          <p:spPr bwMode="auto">
            <a:xfrm>
              <a:off x="9971088" y="5137152"/>
              <a:ext cx="5175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72" name="Line 87"/>
            <p:cNvSpPr>
              <a:spLocks noChangeShapeType="1"/>
            </p:cNvSpPr>
            <p:nvPr/>
          </p:nvSpPr>
          <p:spPr bwMode="auto">
            <a:xfrm>
              <a:off x="1582738" y="1679577"/>
              <a:ext cx="5302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73" name="Line 88"/>
            <p:cNvSpPr>
              <a:spLocks noChangeShapeType="1"/>
            </p:cNvSpPr>
            <p:nvPr/>
          </p:nvSpPr>
          <p:spPr bwMode="auto">
            <a:xfrm>
              <a:off x="1597025" y="5780089"/>
              <a:ext cx="5302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74" name="Line 31"/>
            <p:cNvSpPr>
              <a:spLocks noChangeShapeType="1"/>
            </p:cNvSpPr>
            <p:nvPr/>
          </p:nvSpPr>
          <p:spPr bwMode="auto">
            <a:xfrm>
              <a:off x="5062538" y="3759202"/>
              <a:ext cx="0" cy="6842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75" name="Line 32"/>
            <p:cNvSpPr>
              <a:spLocks noChangeShapeType="1"/>
            </p:cNvSpPr>
            <p:nvPr/>
          </p:nvSpPr>
          <p:spPr bwMode="auto">
            <a:xfrm>
              <a:off x="4572001" y="3761583"/>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76" name="Line 33"/>
            <p:cNvSpPr>
              <a:spLocks noChangeShapeType="1"/>
            </p:cNvSpPr>
            <p:nvPr/>
          </p:nvSpPr>
          <p:spPr bwMode="auto">
            <a:xfrm>
              <a:off x="4813300"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77" name="Line 34"/>
            <p:cNvSpPr>
              <a:spLocks noChangeShapeType="1"/>
            </p:cNvSpPr>
            <p:nvPr/>
          </p:nvSpPr>
          <p:spPr bwMode="auto">
            <a:xfrm>
              <a:off x="5543550"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78" name="Line 35"/>
            <p:cNvSpPr>
              <a:spLocks noChangeShapeType="1"/>
            </p:cNvSpPr>
            <p:nvPr/>
          </p:nvSpPr>
          <p:spPr bwMode="auto">
            <a:xfrm>
              <a:off x="5302250"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79" name="Line 36"/>
            <p:cNvSpPr>
              <a:spLocks noChangeShapeType="1"/>
            </p:cNvSpPr>
            <p:nvPr/>
          </p:nvSpPr>
          <p:spPr bwMode="auto">
            <a:xfrm>
              <a:off x="5788025"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80" name="Rectangle 37"/>
            <p:cNvSpPr>
              <a:spLocks noChangeArrowheads="1"/>
            </p:cNvSpPr>
            <p:nvPr/>
          </p:nvSpPr>
          <p:spPr bwMode="auto">
            <a:xfrm>
              <a:off x="3198280" y="3867686"/>
              <a:ext cx="72548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保留</a:t>
              </a:r>
            </a:p>
          </p:txBody>
        </p:sp>
        <p:sp>
          <p:nvSpPr>
            <p:cNvPr id="87" name="Line 32"/>
            <p:cNvSpPr>
              <a:spLocks noChangeShapeType="1"/>
            </p:cNvSpPr>
            <p:nvPr/>
          </p:nvSpPr>
          <p:spPr bwMode="auto">
            <a:xfrm>
              <a:off x="4079776" y="3757614"/>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88" name="Line 33"/>
            <p:cNvSpPr>
              <a:spLocks noChangeShapeType="1"/>
            </p:cNvSpPr>
            <p:nvPr/>
          </p:nvSpPr>
          <p:spPr bwMode="auto">
            <a:xfrm>
              <a:off x="4314850" y="3768726"/>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grpSp>
      <p:sp>
        <p:nvSpPr>
          <p:cNvPr id="91" name="Rectangle 168"/>
          <p:cNvSpPr>
            <a:spLocks noGrp="1" noChangeArrowheads="1"/>
          </p:cNvSpPr>
          <p:nvPr>
            <p:ph type="title"/>
          </p:nvPr>
        </p:nvSpPr>
        <p:spPr>
          <a:xfrm>
            <a:off x="431800" y="71438"/>
            <a:ext cx="11328400" cy="765175"/>
          </a:xfrm>
          <a:noFill/>
        </p:spPr>
        <p:txBody>
          <a:bodyPr/>
          <a:lstStyle/>
          <a:p>
            <a:r>
              <a:rPr lang="en-US" altLang="zh-CN" dirty="0"/>
              <a:t>TCP</a:t>
            </a:r>
            <a:r>
              <a:rPr lang="zh-CN" altLang="en-US" dirty="0"/>
              <a:t>的报头字段</a:t>
            </a:r>
            <a:endParaRPr lang="en-US" altLang="zh-CN" dirty="0"/>
          </a:p>
        </p:txBody>
      </p:sp>
      <p:sp>
        <p:nvSpPr>
          <p:cNvPr id="92" name="Rectangle 85"/>
          <p:cNvSpPr>
            <a:spLocks noChangeArrowheads="1"/>
          </p:cNvSpPr>
          <p:nvPr/>
        </p:nvSpPr>
        <p:spPr bwMode="auto">
          <a:xfrm>
            <a:off x="4036403" y="3713587"/>
            <a:ext cx="317500" cy="717550"/>
          </a:xfrm>
          <a:prstGeom prst="rect">
            <a:avLst/>
          </a:prstGeom>
          <a:noFill/>
          <a:ln w="7620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93" name="Text Box 84"/>
          <p:cNvSpPr txBox="1">
            <a:spLocks noChangeArrowheads="1"/>
          </p:cNvSpPr>
          <p:nvPr/>
        </p:nvSpPr>
        <p:spPr bwMode="auto">
          <a:xfrm>
            <a:off x="1056000" y="5934217"/>
            <a:ext cx="10080000" cy="706755"/>
          </a:xfrm>
          <a:prstGeom prst="rect">
            <a:avLst/>
          </a:prstGeom>
          <a:noFill/>
          <a:ln>
            <a:noFill/>
          </a:ln>
          <a:effectLst/>
        </p:spPr>
        <p:txBody>
          <a:bodyPr>
            <a:spAutoFit/>
          </a:bodyPr>
          <a:lstStyle>
            <a:defPPr>
              <a:defRPr lang="zh-CN"/>
            </a:defPPr>
            <a:lvl1pPr>
              <a:defRPr>
                <a:latin typeface="微软雅黑 Light" panose="020B0502040204020203" pitchFamily="34" charset="-122"/>
                <a:ea typeface="微软雅黑 Light" panose="020B0502040204020203" pitchFamily="34" charset="-122"/>
              </a:defRPr>
            </a:lvl1pPr>
          </a:lstStyle>
          <a:p>
            <a:pPr marL="342900" indent="-342900">
              <a:buFont typeface="Wingdings" panose="05000000000000000000" pitchFamily="2" charset="2"/>
              <a:buChar char="Ø"/>
            </a:pPr>
            <a:r>
              <a:rPr lang="zh-CN" altLang="en-US" dirty="0"/>
              <a:t>拥塞窗口减少</a:t>
            </a:r>
            <a:r>
              <a:rPr lang="en-US" altLang="zh-CN" dirty="0"/>
              <a:t>CWR</a:t>
            </a:r>
            <a:r>
              <a:rPr lang="zh-CN" altLang="en-US" dirty="0"/>
              <a:t>：用来表明它接收到了设置 </a:t>
            </a:r>
            <a:r>
              <a:rPr lang="en-US" altLang="zh-CN" dirty="0"/>
              <a:t>ECE </a:t>
            </a:r>
            <a:r>
              <a:rPr lang="zh-CN" altLang="en-US" dirty="0"/>
              <a:t>标志的 </a:t>
            </a:r>
            <a:r>
              <a:rPr lang="en-US" altLang="zh-CN" dirty="0"/>
              <a:t>TCP </a:t>
            </a:r>
            <a:r>
              <a:rPr lang="zh-CN" altLang="en-US" dirty="0"/>
              <a:t>包。并且，发送方收到消息之后，通过减小发送窗口的大小来降低发送速率 </a:t>
            </a:r>
          </a:p>
        </p:txBody>
      </p:sp>
      <p:sp>
        <p:nvSpPr>
          <p:cNvPr id="2" name="Rectangle 82">
            <a:extLst>
              <a:ext uri="{FF2B5EF4-FFF2-40B4-BE49-F238E27FC236}">
                <a16:creationId xmlns:a16="http://schemas.microsoft.com/office/drawing/2014/main" id="{8098FA03-2578-AF58-5E50-2BAA803B28DF}"/>
              </a:ext>
            </a:extLst>
          </p:cNvPr>
          <p:cNvSpPr>
            <a:spLocks noChangeArrowheads="1"/>
          </p:cNvSpPr>
          <p:nvPr/>
        </p:nvSpPr>
        <p:spPr bwMode="auto">
          <a:xfrm>
            <a:off x="1812925" y="908720"/>
            <a:ext cx="8261878"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位 </a:t>
            </a:r>
            <a:r>
              <a:rPr lang="en-US" altLang="zh-CN" sz="2000" dirty="0">
                <a:latin typeface="+mn-lt"/>
                <a:ea typeface="微软雅黑 Light" panose="020B0502040204020203" pitchFamily="34" charset="-122"/>
              </a:rPr>
              <a:t>0                           8                           16                          24                          31</a:t>
            </a:r>
          </a:p>
        </p:txBody>
      </p:sp>
      <p:sp>
        <p:nvSpPr>
          <p:cNvPr id="3" name="Rectangle 38">
            <a:extLst>
              <a:ext uri="{FF2B5EF4-FFF2-40B4-BE49-F238E27FC236}">
                <a16:creationId xmlns:a16="http://schemas.microsoft.com/office/drawing/2014/main" id="{FF4EEE58-7916-A548-0DEF-7614F46776A1}"/>
              </a:ext>
            </a:extLst>
          </p:cNvPr>
          <p:cNvSpPr>
            <a:spLocks noChangeArrowheads="1"/>
          </p:cNvSpPr>
          <p:nvPr/>
        </p:nvSpPr>
        <p:spPr bwMode="auto">
          <a:xfrm rot="16200000">
            <a:off x="5662924" y="3946047"/>
            <a:ext cx="535405"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lnSpc>
                <a:spcPct val="75000"/>
              </a:lnSpc>
            </a:pPr>
            <a:r>
              <a:rPr lang="en-US" altLang="zh-CN" sz="1600" b="1" dirty="0">
                <a:latin typeface="+mn-lt"/>
                <a:ea typeface="微软雅黑 Light" panose="020B0502040204020203" pitchFamily="34" charset="-122"/>
              </a:rPr>
              <a:t>FIN</a:t>
            </a:r>
          </a:p>
        </p:txBody>
      </p:sp>
      <p:sp>
        <p:nvSpPr>
          <p:cNvPr id="5" name="Rectangle 77">
            <a:extLst>
              <a:ext uri="{FF2B5EF4-FFF2-40B4-BE49-F238E27FC236}">
                <a16:creationId xmlns:a16="http://schemas.microsoft.com/office/drawing/2014/main" id="{1283FFF0-6ABB-9947-B18C-E6218DE886C9}"/>
              </a:ext>
            </a:extLst>
          </p:cNvPr>
          <p:cNvSpPr>
            <a:spLocks noChangeArrowheads="1"/>
          </p:cNvSpPr>
          <p:nvPr/>
        </p:nvSpPr>
        <p:spPr bwMode="auto">
          <a:xfrm rot="16200000">
            <a:off x="5401703" y="3936764"/>
            <a:ext cx="591510"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SYN</a:t>
            </a:r>
          </a:p>
        </p:txBody>
      </p:sp>
      <p:sp>
        <p:nvSpPr>
          <p:cNvPr id="67" name="Rectangle 78">
            <a:extLst>
              <a:ext uri="{FF2B5EF4-FFF2-40B4-BE49-F238E27FC236}">
                <a16:creationId xmlns:a16="http://schemas.microsoft.com/office/drawing/2014/main" id="{CC847235-94B9-E327-070A-3E188A1C9BAE}"/>
              </a:ext>
            </a:extLst>
          </p:cNvPr>
          <p:cNvSpPr>
            <a:spLocks noChangeArrowheads="1"/>
          </p:cNvSpPr>
          <p:nvPr/>
        </p:nvSpPr>
        <p:spPr bwMode="auto">
          <a:xfrm rot="16200000">
            <a:off x="5115446" y="3917780"/>
            <a:ext cx="618290"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RST</a:t>
            </a:r>
          </a:p>
        </p:txBody>
      </p:sp>
      <p:sp>
        <p:nvSpPr>
          <p:cNvPr id="94" name="Rectangle 79">
            <a:extLst>
              <a:ext uri="{FF2B5EF4-FFF2-40B4-BE49-F238E27FC236}">
                <a16:creationId xmlns:a16="http://schemas.microsoft.com/office/drawing/2014/main" id="{BB80EB8E-9DC8-C2A0-3C3E-09BE3499AE99}"/>
              </a:ext>
            </a:extLst>
          </p:cNvPr>
          <p:cNvSpPr>
            <a:spLocks noChangeArrowheads="1"/>
          </p:cNvSpPr>
          <p:nvPr/>
        </p:nvSpPr>
        <p:spPr bwMode="auto">
          <a:xfrm rot="16200000">
            <a:off x="4890356" y="3938731"/>
            <a:ext cx="600108"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PSH  </a:t>
            </a:r>
          </a:p>
        </p:txBody>
      </p:sp>
      <p:sp>
        <p:nvSpPr>
          <p:cNvPr id="95" name="Rectangle 80">
            <a:extLst>
              <a:ext uri="{FF2B5EF4-FFF2-40B4-BE49-F238E27FC236}">
                <a16:creationId xmlns:a16="http://schemas.microsoft.com/office/drawing/2014/main" id="{D4E9750A-9E60-6B79-0695-23C1A62A914B}"/>
              </a:ext>
            </a:extLst>
          </p:cNvPr>
          <p:cNvSpPr>
            <a:spLocks noChangeArrowheads="1"/>
          </p:cNvSpPr>
          <p:nvPr/>
        </p:nvSpPr>
        <p:spPr bwMode="auto">
          <a:xfrm rot="16200000">
            <a:off x="4579000" y="3916214"/>
            <a:ext cx="730250"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ACK</a:t>
            </a:r>
          </a:p>
        </p:txBody>
      </p:sp>
      <p:sp>
        <p:nvSpPr>
          <p:cNvPr id="96" name="Rectangle 81">
            <a:extLst>
              <a:ext uri="{FF2B5EF4-FFF2-40B4-BE49-F238E27FC236}">
                <a16:creationId xmlns:a16="http://schemas.microsoft.com/office/drawing/2014/main" id="{BBD89223-D7FE-F853-FBB0-AC8CDC5518AA}"/>
              </a:ext>
            </a:extLst>
          </p:cNvPr>
          <p:cNvSpPr>
            <a:spLocks noChangeArrowheads="1"/>
          </p:cNvSpPr>
          <p:nvPr/>
        </p:nvSpPr>
        <p:spPr bwMode="auto">
          <a:xfrm rot="16200000">
            <a:off x="4342408" y="3894364"/>
            <a:ext cx="761997"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URG</a:t>
            </a:r>
          </a:p>
        </p:txBody>
      </p:sp>
      <p:sp>
        <p:nvSpPr>
          <p:cNvPr id="97" name="Rectangle 81">
            <a:extLst>
              <a:ext uri="{FF2B5EF4-FFF2-40B4-BE49-F238E27FC236}">
                <a16:creationId xmlns:a16="http://schemas.microsoft.com/office/drawing/2014/main" id="{20EAD353-4CD4-46F0-3489-9605FE844763}"/>
              </a:ext>
            </a:extLst>
          </p:cNvPr>
          <p:cNvSpPr>
            <a:spLocks noChangeArrowheads="1"/>
          </p:cNvSpPr>
          <p:nvPr/>
        </p:nvSpPr>
        <p:spPr bwMode="auto">
          <a:xfrm rot="16200000">
            <a:off x="3855770" y="3928543"/>
            <a:ext cx="721634"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CWR</a:t>
            </a:r>
          </a:p>
        </p:txBody>
      </p:sp>
      <p:sp>
        <p:nvSpPr>
          <p:cNvPr id="98" name="Rectangle 81">
            <a:extLst>
              <a:ext uri="{FF2B5EF4-FFF2-40B4-BE49-F238E27FC236}">
                <a16:creationId xmlns:a16="http://schemas.microsoft.com/office/drawing/2014/main" id="{D7FDFBE1-4AF3-F6FD-F4AA-F322317BC7E8}"/>
              </a:ext>
            </a:extLst>
          </p:cNvPr>
          <p:cNvSpPr>
            <a:spLocks noChangeArrowheads="1"/>
          </p:cNvSpPr>
          <p:nvPr/>
        </p:nvSpPr>
        <p:spPr bwMode="auto">
          <a:xfrm rot="16200000">
            <a:off x="4124919" y="3912163"/>
            <a:ext cx="704221"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ECE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2"/>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9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0" animBg="1"/>
      <p:bldP spid="92" grpId="1"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TCP</a:t>
            </a:r>
            <a:r>
              <a:rPr lang="zh-CN" altLang="en-US" dirty="0"/>
              <a:t>的报头字段</a:t>
            </a:r>
          </a:p>
        </p:txBody>
      </p:sp>
      <p:sp>
        <p:nvSpPr>
          <p:cNvPr id="3" name="灯片编号占位符 2"/>
          <p:cNvSpPr>
            <a:spLocks noGrp="1"/>
          </p:cNvSpPr>
          <p:nvPr>
            <p:ph type="sldNum" sz="quarter" idx="12"/>
          </p:nvPr>
        </p:nvSpPr>
        <p:spPr/>
        <p:txBody>
          <a:bodyPr/>
          <a:lstStyle/>
          <a:p>
            <a:pPr>
              <a:defRPr/>
            </a:pPr>
            <a:fld id="{A48A0D3F-54C8-4397-8424-A82B96940146}" type="slidenum">
              <a:rPr lang="en-US" altLang="zh-CN" smtClean="0"/>
              <a:t>39</a:t>
            </a:fld>
            <a:endParaRPr lang="en-US" altLang="zh-CN"/>
          </a:p>
        </p:txBody>
      </p:sp>
      <p:grpSp>
        <p:nvGrpSpPr>
          <p:cNvPr id="4" name="组合 3"/>
          <p:cNvGrpSpPr/>
          <p:nvPr/>
        </p:nvGrpSpPr>
        <p:grpSpPr>
          <a:xfrm>
            <a:off x="1524000" y="1109664"/>
            <a:ext cx="9080500" cy="4695826"/>
            <a:chOff x="1524000" y="1109664"/>
            <a:chExt cx="9080500" cy="4695826"/>
          </a:xfrm>
        </p:grpSpPr>
        <p:sp>
          <p:nvSpPr>
            <p:cNvPr id="5" name="Line 9"/>
            <p:cNvSpPr>
              <a:spLocks noChangeShapeType="1"/>
            </p:cNvSpPr>
            <p:nvPr/>
          </p:nvSpPr>
          <p:spPr bwMode="auto">
            <a:xfrm flipH="1">
              <a:off x="1852613" y="1668464"/>
              <a:ext cx="17463" cy="4122738"/>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6" name="Rectangle 10"/>
            <p:cNvSpPr>
              <a:spLocks noChangeArrowheads="1"/>
            </p:cNvSpPr>
            <p:nvPr/>
          </p:nvSpPr>
          <p:spPr bwMode="auto">
            <a:xfrm>
              <a:off x="1524000" y="3268664"/>
              <a:ext cx="696913" cy="6445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90000"/>
                </a:lnSpc>
              </a:pPr>
              <a:r>
                <a:rPr lang="en-US" altLang="zh-CN" sz="2000">
                  <a:latin typeface="+mn-lt"/>
                  <a:ea typeface="微软雅黑 Light" panose="020B0502040204020203" pitchFamily="34" charset="-122"/>
                </a:rPr>
                <a:t>TCP</a:t>
              </a:r>
            </a:p>
            <a:p>
              <a:pPr eaLnBrk="0" hangingPunct="0">
                <a:lnSpc>
                  <a:spcPct val="90000"/>
                </a:lnSpc>
              </a:pPr>
              <a:r>
                <a:rPr lang="zh-CN" altLang="en-US" sz="2000">
                  <a:latin typeface="+mn-lt"/>
                  <a:ea typeface="微软雅黑 Light" panose="020B0502040204020203" pitchFamily="34" charset="-122"/>
                </a:rPr>
                <a:t>首部</a:t>
              </a:r>
            </a:p>
          </p:txBody>
        </p:sp>
        <p:sp>
          <p:nvSpPr>
            <p:cNvPr id="7" name="Line 11"/>
            <p:cNvSpPr>
              <a:spLocks noChangeShapeType="1"/>
            </p:cNvSpPr>
            <p:nvPr/>
          </p:nvSpPr>
          <p:spPr bwMode="auto">
            <a:xfrm>
              <a:off x="10272713" y="1658939"/>
              <a:ext cx="0" cy="3463925"/>
            </a:xfrm>
            <a:prstGeom prst="line">
              <a:avLst/>
            </a:prstGeom>
            <a:noFill/>
            <a:ln w="1905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8" name="Rectangle 12"/>
            <p:cNvSpPr>
              <a:spLocks noChangeArrowheads="1"/>
            </p:cNvSpPr>
            <p:nvPr/>
          </p:nvSpPr>
          <p:spPr bwMode="auto">
            <a:xfrm>
              <a:off x="9909175" y="2736852"/>
              <a:ext cx="695325" cy="119697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lnSpc>
                  <a:spcPct val="90000"/>
                </a:lnSpc>
              </a:pPr>
              <a:r>
                <a:rPr lang="en-US" altLang="zh-CN" sz="2000">
                  <a:latin typeface="+mn-lt"/>
                  <a:ea typeface="微软雅黑 Light" panose="020B0502040204020203" pitchFamily="34" charset="-122"/>
                </a:rPr>
                <a:t>20</a:t>
              </a:r>
            </a:p>
            <a:p>
              <a:pPr algn="ctr" eaLnBrk="0" hangingPunct="0">
                <a:lnSpc>
                  <a:spcPct val="90000"/>
                </a:lnSpc>
              </a:pPr>
              <a:r>
                <a:rPr lang="zh-CN" altLang="en-US" sz="2000">
                  <a:latin typeface="+mn-lt"/>
                  <a:ea typeface="微软雅黑 Light" panose="020B0502040204020203" pitchFamily="34" charset="-122"/>
                </a:rPr>
                <a:t>字节</a:t>
              </a:r>
            </a:p>
            <a:p>
              <a:pPr algn="ctr" eaLnBrk="0" hangingPunct="0">
                <a:lnSpc>
                  <a:spcPct val="90000"/>
                </a:lnSpc>
              </a:pPr>
              <a:r>
                <a:rPr lang="zh-CN" altLang="en-US" sz="2000">
                  <a:latin typeface="+mn-lt"/>
                  <a:ea typeface="微软雅黑 Light" panose="020B0502040204020203" pitchFamily="34" charset="-122"/>
                </a:rPr>
                <a:t>固定</a:t>
              </a:r>
            </a:p>
            <a:p>
              <a:pPr algn="ctr" eaLnBrk="0" hangingPunct="0">
                <a:lnSpc>
                  <a:spcPct val="90000"/>
                </a:lnSpc>
              </a:pPr>
              <a:r>
                <a:rPr lang="zh-CN" altLang="en-US" sz="2000">
                  <a:latin typeface="+mn-lt"/>
                  <a:ea typeface="微软雅黑 Light" panose="020B0502040204020203" pitchFamily="34" charset="-122"/>
                </a:rPr>
                <a:t>首部</a:t>
              </a:r>
            </a:p>
          </p:txBody>
        </p:sp>
        <p:sp>
          <p:nvSpPr>
            <p:cNvPr id="9" name="Rectangle 13"/>
            <p:cNvSpPr>
              <a:spLocks noChangeArrowheads="1"/>
            </p:cNvSpPr>
            <p:nvPr/>
          </p:nvSpPr>
          <p:spPr bwMode="auto">
            <a:xfrm>
              <a:off x="2178050" y="1665289"/>
              <a:ext cx="7686675" cy="4133850"/>
            </a:xfrm>
            <a:prstGeom prst="rect">
              <a:avLst/>
            </a:prstGeom>
            <a:solidFill>
              <a:schemeClr val="bg2"/>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10" name="Line 14"/>
            <p:cNvSpPr>
              <a:spLocks noChangeShapeType="1"/>
            </p:cNvSpPr>
            <p:nvPr/>
          </p:nvSpPr>
          <p:spPr bwMode="auto">
            <a:xfrm>
              <a:off x="2170113" y="2368552"/>
              <a:ext cx="76993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1" name="Line 15"/>
            <p:cNvSpPr>
              <a:spLocks noChangeShapeType="1"/>
            </p:cNvSpPr>
            <p:nvPr/>
          </p:nvSpPr>
          <p:spPr bwMode="auto">
            <a:xfrm>
              <a:off x="2184400" y="3063877"/>
              <a:ext cx="768508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2" name="Line 16"/>
            <p:cNvSpPr>
              <a:spLocks noChangeShapeType="1"/>
            </p:cNvSpPr>
            <p:nvPr/>
          </p:nvSpPr>
          <p:spPr bwMode="auto">
            <a:xfrm>
              <a:off x="2170113" y="3757614"/>
              <a:ext cx="76993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3" name="Line 17"/>
            <p:cNvSpPr>
              <a:spLocks noChangeShapeType="1"/>
            </p:cNvSpPr>
            <p:nvPr/>
          </p:nvSpPr>
          <p:spPr bwMode="auto">
            <a:xfrm>
              <a:off x="2170113" y="4449764"/>
              <a:ext cx="76993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4" name="Line 18"/>
            <p:cNvSpPr>
              <a:spLocks noChangeShapeType="1"/>
            </p:cNvSpPr>
            <p:nvPr/>
          </p:nvSpPr>
          <p:spPr bwMode="auto">
            <a:xfrm>
              <a:off x="2184400" y="5145089"/>
              <a:ext cx="768508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5" name="Line 19"/>
            <p:cNvSpPr>
              <a:spLocks noChangeShapeType="1"/>
            </p:cNvSpPr>
            <p:nvPr/>
          </p:nvSpPr>
          <p:spPr bwMode="auto">
            <a:xfrm>
              <a:off x="6022975" y="1673227"/>
              <a:ext cx="0" cy="7096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6" name="Rectangle 20"/>
            <p:cNvSpPr>
              <a:spLocks noChangeArrowheads="1"/>
            </p:cNvSpPr>
            <p:nvPr/>
          </p:nvSpPr>
          <p:spPr bwMode="auto">
            <a:xfrm>
              <a:off x="7223125" y="1800227"/>
              <a:ext cx="1593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目  的  端  口</a:t>
              </a:r>
            </a:p>
          </p:txBody>
        </p:sp>
        <p:sp>
          <p:nvSpPr>
            <p:cNvPr id="17" name="Rectangle 21"/>
            <p:cNvSpPr>
              <a:spLocks noChangeArrowheads="1"/>
            </p:cNvSpPr>
            <p:nvPr/>
          </p:nvSpPr>
          <p:spPr bwMode="auto">
            <a:xfrm>
              <a:off x="2332038" y="3722689"/>
              <a:ext cx="695325" cy="704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数据</a:t>
              </a:r>
            </a:p>
            <a:p>
              <a:pPr eaLnBrk="0" hangingPunct="0"/>
              <a:r>
                <a:rPr lang="zh-CN" altLang="en-US" sz="2000" dirty="0">
                  <a:latin typeface="+mn-lt"/>
                  <a:ea typeface="微软雅黑 Light" panose="020B0502040204020203" pitchFamily="34" charset="-122"/>
                </a:rPr>
                <a:t>偏移</a:t>
              </a:r>
            </a:p>
          </p:txBody>
        </p:sp>
        <p:sp>
          <p:nvSpPr>
            <p:cNvPr id="18" name="Rectangle 22"/>
            <p:cNvSpPr>
              <a:spLocks noChangeArrowheads="1"/>
            </p:cNvSpPr>
            <p:nvPr/>
          </p:nvSpPr>
          <p:spPr bwMode="auto">
            <a:xfrm>
              <a:off x="3411538" y="4587877"/>
              <a:ext cx="13366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检   验   和</a:t>
              </a:r>
            </a:p>
          </p:txBody>
        </p:sp>
        <p:sp>
          <p:nvSpPr>
            <p:cNvPr id="19" name="Rectangle 23"/>
            <p:cNvSpPr>
              <a:spLocks noChangeArrowheads="1"/>
            </p:cNvSpPr>
            <p:nvPr/>
          </p:nvSpPr>
          <p:spPr bwMode="auto">
            <a:xfrm>
              <a:off x="3694113" y="5237164"/>
              <a:ext cx="31988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选    项 长  度  可  变）</a:t>
              </a:r>
            </a:p>
          </p:txBody>
        </p:sp>
        <p:sp>
          <p:nvSpPr>
            <p:cNvPr id="20" name="Rectangle 24"/>
            <p:cNvSpPr>
              <a:spLocks noChangeArrowheads="1"/>
            </p:cNvSpPr>
            <p:nvPr/>
          </p:nvSpPr>
          <p:spPr bwMode="auto">
            <a:xfrm>
              <a:off x="3525838" y="1800227"/>
              <a:ext cx="12541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源  端  口</a:t>
              </a:r>
            </a:p>
          </p:txBody>
        </p:sp>
        <p:sp>
          <p:nvSpPr>
            <p:cNvPr id="21" name="Rectangle 25"/>
            <p:cNvSpPr>
              <a:spLocks noChangeArrowheads="1"/>
            </p:cNvSpPr>
            <p:nvPr/>
          </p:nvSpPr>
          <p:spPr bwMode="auto">
            <a:xfrm>
              <a:off x="5578475" y="2487614"/>
              <a:ext cx="1381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序   号</a:t>
              </a:r>
            </a:p>
          </p:txBody>
        </p:sp>
        <p:sp>
          <p:nvSpPr>
            <p:cNvPr id="22" name="Line 26"/>
            <p:cNvSpPr>
              <a:spLocks noChangeShapeType="1"/>
            </p:cNvSpPr>
            <p:nvPr/>
          </p:nvSpPr>
          <p:spPr bwMode="auto">
            <a:xfrm>
              <a:off x="6029325" y="3767139"/>
              <a:ext cx="0" cy="13700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3" name="Rectangle 27"/>
            <p:cNvSpPr>
              <a:spLocks noChangeArrowheads="1"/>
            </p:cNvSpPr>
            <p:nvPr/>
          </p:nvSpPr>
          <p:spPr bwMode="auto">
            <a:xfrm>
              <a:off x="7062788" y="4587877"/>
              <a:ext cx="17859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紧   急   指   针</a:t>
              </a:r>
            </a:p>
          </p:txBody>
        </p:sp>
        <p:sp>
          <p:nvSpPr>
            <p:cNvPr id="24" name="Rectangle 28"/>
            <p:cNvSpPr>
              <a:spLocks noChangeArrowheads="1"/>
            </p:cNvSpPr>
            <p:nvPr/>
          </p:nvSpPr>
          <p:spPr bwMode="auto">
            <a:xfrm>
              <a:off x="7512050" y="3868739"/>
              <a:ext cx="9223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窗   口</a:t>
              </a:r>
            </a:p>
          </p:txBody>
        </p:sp>
        <p:sp>
          <p:nvSpPr>
            <p:cNvPr id="25" name="Rectangle 29"/>
            <p:cNvSpPr>
              <a:spLocks noChangeArrowheads="1"/>
            </p:cNvSpPr>
            <p:nvPr/>
          </p:nvSpPr>
          <p:spPr bwMode="auto">
            <a:xfrm>
              <a:off x="5334000" y="3211514"/>
              <a:ext cx="18415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确    认    号</a:t>
              </a:r>
            </a:p>
          </p:txBody>
        </p:sp>
        <p:sp>
          <p:nvSpPr>
            <p:cNvPr id="26" name="Line 30"/>
            <p:cNvSpPr>
              <a:spLocks noChangeShapeType="1"/>
            </p:cNvSpPr>
            <p:nvPr/>
          </p:nvSpPr>
          <p:spPr bwMode="auto">
            <a:xfrm>
              <a:off x="3135313" y="3767139"/>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7" name="Line 39"/>
            <p:cNvSpPr>
              <a:spLocks noChangeShapeType="1"/>
            </p:cNvSpPr>
            <p:nvPr/>
          </p:nvSpPr>
          <p:spPr bwMode="auto">
            <a:xfrm>
              <a:off x="2174875" y="1508127"/>
              <a:ext cx="767556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8" name="Line 40"/>
            <p:cNvSpPr>
              <a:spLocks noChangeShapeType="1"/>
            </p:cNvSpPr>
            <p:nvPr/>
          </p:nvSpPr>
          <p:spPr bwMode="auto">
            <a:xfrm>
              <a:off x="2174875"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9" name="Line 41"/>
            <p:cNvSpPr>
              <a:spLocks noChangeShapeType="1"/>
            </p:cNvSpPr>
            <p:nvPr/>
          </p:nvSpPr>
          <p:spPr bwMode="auto">
            <a:xfrm>
              <a:off x="241458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 name="Line 42"/>
            <p:cNvSpPr>
              <a:spLocks noChangeShapeType="1"/>
            </p:cNvSpPr>
            <p:nvPr/>
          </p:nvSpPr>
          <p:spPr bwMode="auto">
            <a:xfrm>
              <a:off x="2654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1" name="Line 43"/>
            <p:cNvSpPr>
              <a:spLocks noChangeShapeType="1"/>
            </p:cNvSpPr>
            <p:nvPr/>
          </p:nvSpPr>
          <p:spPr bwMode="auto">
            <a:xfrm>
              <a:off x="289401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2" name="Line 44"/>
            <p:cNvSpPr>
              <a:spLocks noChangeShapeType="1"/>
            </p:cNvSpPr>
            <p:nvPr/>
          </p:nvSpPr>
          <p:spPr bwMode="auto">
            <a:xfrm>
              <a:off x="313531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3" name="Line 45"/>
            <p:cNvSpPr>
              <a:spLocks noChangeShapeType="1"/>
            </p:cNvSpPr>
            <p:nvPr/>
          </p:nvSpPr>
          <p:spPr bwMode="auto">
            <a:xfrm>
              <a:off x="337502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4" name="Line 46"/>
            <p:cNvSpPr>
              <a:spLocks noChangeShapeType="1"/>
            </p:cNvSpPr>
            <p:nvPr/>
          </p:nvSpPr>
          <p:spPr bwMode="auto">
            <a:xfrm>
              <a:off x="361315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5" name="Line 47"/>
            <p:cNvSpPr>
              <a:spLocks noChangeShapeType="1"/>
            </p:cNvSpPr>
            <p:nvPr/>
          </p:nvSpPr>
          <p:spPr bwMode="auto">
            <a:xfrm>
              <a:off x="385286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6" name="Line 48"/>
            <p:cNvSpPr>
              <a:spLocks noChangeShapeType="1"/>
            </p:cNvSpPr>
            <p:nvPr/>
          </p:nvSpPr>
          <p:spPr bwMode="auto">
            <a:xfrm>
              <a:off x="4094163"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7" name="Line 49"/>
            <p:cNvSpPr>
              <a:spLocks noChangeShapeType="1"/>
            </p:cNvSpPr>
            <p:nvPr/>
          </p:nvSpPr>
          <p:spPr bwMode="auto">
            <a:xfrm>
              <a:off x="433387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8" name="Line 50"/>
            <p:cNvSpPr>
              <a:spLocks noChangeShapeType="1"/>
            </p:cNvSpPr>
            <p:nvPr/>
          </p:nvSpPr>
          <p:spPr bwMode="auto">
            <a:xfrm>
              <a:off x="457358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9" name="Line 51"/>
            <p:cNvSpPr>
              <a:spLocks noChangeShapeType="1"/>
            </p:cNvSpPr>
            <p:nvPr/>
          </p:nvSpPr>
          <p:spPr bwMode="auto">
            <a:xfrm>
              <a:off x="4813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40" name="Line 52"/>
            <p:cNvSpPr>
              <a:spLocks noChangeShapeType="1"/>
            </p:cNvSpPr>
            <p:nvPr/>
          </p:nvSpPr>
          <p:spPr bwMode="auto">
            <a:xfrm>
              <a:off x="50546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41" name="Line 53"/>
            <p:cNvSpPr>
              <a:spLocks noChangeShapeType="1"/>
            </p:cNvSpPr>
            <p:nvPr/>
          </p:nvSpPr>
          <p:spPr bwMode="auto">
            <a:xfrm>
              <a:off x="529431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42" name="Line 54"/>
            <p:cNvSpPr>
              <a:spLocks noChangeShapeType="1"/>
            </p:cNvSpPr>
            <p:nvPr/>
          </p:nvSpPr>
          <p:spPr bwMode="auto">
            <a:xfrm>
              <a:off x="553243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43" name="Line 55"/>
            <p:cNvSpPr>
              <a:spLocks noChangeShapeType="1"/>
            </p:cNvSpPr>
            <p:nvPr/>
          </p:nvSpPr>
          <p:spPr bwMode="auto">
            <a:xfrm>
              <a:off x="577215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44" name="Line 56"/>
            <p:cNvSpPr>
              <a:spLocks noChangeShapeType="1"/>
            </p:cNvSpPr>
            <p:nvPr/>
          </p:nvSpPr>
          <p:spPr bwMode="auto">
            <a:xfrm>
              <a:off x="6011863"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45" name="Line 57"/>
            <p:cNvSpPr>
              <a:spLocks noChangeShapeType="1"/>
            </p:cNvSpPr>
            <p:nvPr/>
          </p:nvSpPr>
          <p:spPr bwMode="auto">
            <a:xfrm>
              <a:off x="625316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46" name="Line 58"/>
            <p:cNvSpPr>
              <a:spLocks noChangeShapeType="1"/>
            </p:cNvSpPr>
            <p:nvPr/>
          </p:nvSpPr>
          <p:spPr bwMode="auto">
            <a:xfrm>
              <a:off x="649287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47" name="Line 59"/>
            <p:cNvSpPr>
              <a:spLocks noChangeShapeType="1"/>
            </p:cNvSpPr>
            <p:nvPr/>
          </p:nvSpPr>
          <p:spPr bwMode="auto">
            <a:xfrm>
              <a:off x="673258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48" name="Line 60"/>
            <p:cNvSpPr>
              <a:spLocks noChangeShapeType="1"/>
            </p:cNvSpPr>
            <p:nvPr/>
          </p:nvSpPr>
          <p:spPr bwMode="auto">
            <a:xfrm>
              <a:off x="6972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49" name="Line 61"/>
            <p:cNvSpPr>
              <a:spLocks noChangeShapeType="1"/>
            </p:cNvSpPr>
            <p:nvPr/>
          </p:nvSpPr>
          <p:spPr bwMode="auto">
            <a:xfrm>
              <a:off x="72136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50" name="Line 62"/>
            <p:cNvSpPr>
              <a:spLocks noChangeShapeType="1"/>
            </p:cNvSpPr>
            <p:nvPr/>
          </p:nvSpPr>
          <p:spPr bwMode="auto">
            <a:xfrm>
              <a:off x="745172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51" name="Line 63"/>
            <p:cNvSpPr>
              <a:spLocks noChangeShapeType="1"/>
            </p:cNvSpPr>
            <p:nvPr/>
          </p:nvSpPr>
          <p:spPr bwMode="auto">
            <a:xfrm>
              <a:off x="769143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52" name="Line 64"/>
            <p:cNvSpPr>
              <a:spLocks noChangeShapeType="1"/>
            </p:cNvSpPr>
            <p:nvPr/>
          </p:nvSpPr>
          <p:spPr bwMode="auto">
            <a:xfrm>
              <a:off x="7931150"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53" name="Line 65"/>
            <p:cNvSpPr>
              <a:spLocks noChangeShapeType="1"/>
            </p:cNvSpPr>
            <p:nvPr/>
          </p:nvSpPr>
          <p:spPr bwMode="auto">
            <a:xfrm>
              <a:off x="817086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54" name="Line 66"/>
            <p:cNvSpPr>
              <a:spLocks noChangeShapeType="1"/>
            </p:cNvSpPr>
            <p:nvPr/>
          </p:nvSpPr>
          <p:spPr bwMode="auto">
            <a:xfrm>
              <a:off x="841216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55" name="Line 67"/>
            <p:cNvSpPr>
              <a:spLocks noChangeShapeType="1"/>
            </p:cNvSpPr>
            <p:nvPr/>
          </p:nvSpPr>
          <p:spPr bwMode="auto">
            <a:xfrm>
              <a:off x="865187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56" name="Line 68"/>
            <p:cNvSpPr>
              <a:spLocks noChangeShapeType="1"/>
            </p:cNvSpPr>
            <p:nvPr/>
          </p:nvSpPr>
          <p:spPr bwMode="auto">
            <a:xfrm>
              <a:off x="889158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57" name="Line 69"/>
            <p:cNvSpPr>
              <a:spLocks noChangeShapeType="1"/>
            </p:cNvSpPr>
            <p:nvPr/>
          </p:nvSpPr>
          <p:spPr bwMode="auto">
            <a:xfrm>
              <a:off x="9131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58" name="Line 70"/>
            <p:cNvSpPr>
              <a:spLocks noChangeShapeType="1"/>
            </p:cNvSpPr>
            <p:nvPr/>
          </p:nvSpPr>
          <p:spPr bwMode="auto">
            <a:xfrm>
              <a:off x="937101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59" name="Line 71"/>
            <p:cNvSpPr>
              <a:spLocks noChangeShapeType="1"/>
            </p:cNvSpPr>
            <p:nvPr/>
          </p:nvSpPr>
          <p:spPr bwMode="auto">
            <a:xfrm>
              <a:off x="961072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60" name="Line 72"/>
            <p:cNvSpPr>
              <a:spLocks noChangeShapeType="1"/>
            </p:cNvSpPr>
            <p:nvPr/>
          </p:nvSpPr>
          <p:spPr bwMode="auto">
            <a:xfrm>
              <a:off x="9850438"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61" name="Rectangle 73"/>
            <p:cNvSpPr>
              <a:spLocks noChangeArrowheads="1"/>
            </p:cNvSpPr>
            <p:nvPr/>
          </p:nvSpPr>
          <p:spPr bwMode="auto">
            <a:xfrm>
              <a:off x="2333625"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62" name="Rectangle 74"/>
            <p:cNvSpPr>
              <a:spLocks noChangeArrowheads="1"/>
            </p:cNvSpPr>
            <p:nvPr/>
          </p:nvSpPr>
          <p:spPr bwMode="auto">
            <a:xfrm>
              <a:off x="4252913"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63" name="Rectangle 75"/>
            <p:cNvSpPr>
              <a:spLocks noChangeArrowheads="1"/>
            </p:cNvSpPr>
            <p:nvPr/>
          </p:nvSpPr>
          <p:spPr bwMode="auto">
            <a:xfrm>
              <a:off x="6172200"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64" name="Rectangle 76"/>
            <p:cNvSpPr>
              <a:spLocks noChangeArrowheads="1"/>
            </p:cNvSpPr>
            <p:nvPr/>
          </p:nvSpPr>
          <p:spPr bwMode="auto">
            <a:xfrm>
              <a:off x="8091488"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66" name="Line 83"/>
            <p:cNvSpPr>
              <a:spLocks noChangeShapeType="1"/>
            </p:cNvSpPr>
            <p:nvPr/>
          </p:nvSpPr>
          <p:spPr bwMode="auto">
            <a:xfrm flipH="1">
              <a:off x="7929563" y="5162552"/>
              <a:ext cx="3175" cy="6429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67" name="Rectangle 84"/>
            <p:cNvSpPr>
              <a:spLocks noChangeArrowheads="1"/>
            </p:cNvSpPr>
            <p:nvPr/>
          </p:nvSpPr>
          <p:spPr bwMode="auto">
            <a:xfrm>
              <a:off x="8442325" y="5229227"/>
              <a:ext cx="1254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填    充</a:t>
              </a:r>
            </a:p>
          </p:txBody>
        </p:sp>
        <p:sp>
          <p:nvSpPr>
            <p:cNvPr id="68" name="Line 85"/>
            <p:cNvSpPr>
              <a:spLocks noChangeShapeType="1"/>
            </p:cNvSpPr>
            <p:nvPr/>
          </p:nvSpPr>
          <p:spPr bwMode="auto">
            <a:xfrm>
              <a:off x="9971088" y="1641477"/>
              <a:ext cx="5175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69" name="Line 86"/>
            <p:cNvSpPr>
              <a:spLocks noChangeShapeType="1"/>
            </p:cNvSpPr>
            <p:nvPr/>
          </p:nvSpPr>
          <p:spPr bwMode="auto">
            <a:xfrm>
              <a:off x="9971088" y="5137152"/>
              <a:ext cx="5175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70" name="Line 87"/>
            <p:cNvSpPr>
              <a:spLocks noChangeShapeType="1"/>
            </p:cNvSpPr>
            <p:nvPr/>
          </p:nvSpPr>
          <p:spPr bwMode="auto">
            <a:xfrm>
              <a:off x="1582738" y="1679577"/>
              <a:ext cx="5302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71" name="Line 88"/>
            <p:cNvSpPr>
              <a:spLocks noChangeShapeType="1"/>
            </p:cNvSpPr>
            <p:nvPr/>
          </p:nvSpPr>
          <p:spPr bwMode="auto">
            <a:xfrm>
              <a:off x="1597025" y="5780089"/>
              <a:ext cx="5302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72" name="Line 31"/>
            <p:cNvSpPr>
              <a:spLocks noChangeShapeType="1"/>
            </p:cNvSpPr>
            <p:nvPr/>
          </p:nvSpPr>
          <p:spPr bwMode="auto">
            <a:xfrm>
              <a:off x="5062538" y="3759202"/>
              <a:ext cx="0" cy="6842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73" name="Line 32"/>
            <p:cNvSpPr>
              <a:spLocks noChangeShapeType="1"/>
            </p:cNvSpPr>
            <p:nvPr/>
          </p:nvSpPr>
          <p:spPr bwMode="auto">
            <a:xfrm>
              <a:off x="4572001" y="3761583"/>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74" name="Line 33"/>
            <p:cNvSpPr>
              <a:spLocks noChangeShapeType="1"/>
            </p:cNvSpPr>
            <p:nvPr/>
          </p:nvSpPr>
          <p:spPr bwMode="auto">
            <a:xfrm>
              <a:off x="4813300"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75" name="Line 34"/>
            <p:cNvSpPr>
              <a:spLocks noChangeShapeType="1"/>
            </p:cNvSpPr>
            <p:nvPr/>
          </p:nvSpPr>
          <p:spPr bwMode="auto">
            <a:xfrm>
              <a:off x="5543550"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76" name="Line 35"/>
            <p:cNvSpPr>
              <a:spLocks noChangeShapeType="1"/>
            </p:cNvSpPr>
            <p:nvPr/>
          </p:nvSpPr>
          <p:spPr bwMode="auto">
            <a:xfrm>
              <a:off x="5302250"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77" name="Line 36"/>
            <p:cNvSpPr>
              <a:spLocks noChangeShapeType="1"/>
            </p:cNvSpPr>
            <p:nvPr/>
          </p:nvSpPr>
          <p:spPr bwMode="auto">
            <a:xfrm>
              <a:off x="5788025"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78" name="Rectangle 37"/>
            <p:cNvSpPr>
              <a:spLocks noChangeArrowheads="1"/>
            </p:cNvSpPr>
            <p:nvPr/>
          </p:nvSpPr>
          <p:spPr bwMode="auto">
            <a:xfrm>
              <a:off x="3198280" y="3867686"/>
              <a:ext cx="72548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保留</a:t>
              </a:r>
            </a:p>
          </p:txBody>
        </p:sp>
        <p:sp>
          <p:nvSpPr>
            <p:cNvPr id="85" name="Line 32"/>
            <p:cNvSpPr>
              <a:spLocks noChangeShapeType="1"/>
            </p:cNvSpPr>
            <p:nvPr/>
          </p:nvSpPr>
          <p:spPr bwMode="auto">
            <a:xfrm>
              <a:off x="4079776" y="3757614"/>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86" name="Line 33"/>
            <p:cNvSpPr>
              <a:spLocks noChangeShapeType="1"/>
            </p:cNvSpPr>
            <p:nvPr/>
          </p:nvSpPr>
          <p:spPr bwMode="auto">
            <a:xfrm>
              <a:off x="4314850" y="3768726"/>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grpSp>
      <p:sp>
        <p:nvSpPr>
          <p:cNvPr id="89" name="Rectangle 85"/>
          <p:cNvSpPr>
            <a:spLocks noChangeArrowheads="1"/>
          </p:cNvSpPr>
          <p:nvPr/>
        </p:nvSpPr>
        <p:spPr bwMode="auto">
          <a:xfrm>
            <a:off x="4285247" y="3729041"/>
            <a:ext cx="317500" cy="717550"/>
          </a:xfrm>
          <a:prstGeom prst="rect">
            <a:avLst/>
          </a:prstGeom>
          <a:noFill/>
          <a:ln w="7620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90" name="Text Box 84"/>
          <p:cNvSpPr txBox="1">
            <a:spLocks noChangeArrowheads="1"/>
          </p:cNvSpPr>
          <p:nvPr/>
        </p:nvSpPr>
        <p:spPr bwMode="auto">
          <a:xfrm>
            <a:off x="1055999" y="5934217"/>
            <a:ext cx="10197585" cy="706755"/>
          </a:xfrm>
          <a:prstGeom prst="rect">
            <a:avLst/>
          </a:prstGeom>
          <a:noFill/>
          <a:ln>
            <a:noFill/>
          </a:ln>
          <a:effectLst/>
        </p:spPr>
        <p:txBody>
          <a:bodyPr wrap="square">
            <a:spAutoFit/>
          </a:bodyPr>
          <a:lstStyle>
            <a:defPPr>
              <a:defRPr lang="zh-CN"/>
            </a:defPPr>
            <a:lvl1pPr>
              <a:defRPr>
                <a:latin typeface="微软雅黑 Light" panose="020B0502040204020203" pitchFamily="34" charset="-122"/>
                <a:ea typeface="微软雅黑 Light" panose="020B0502040204020203" pitchFamily="34" charset="-122"/>
              </a:defRPr>
            </a:lvl1pPr>
          </a:lstStyle>
          <a:p>
            <a:pPr marL="342900" indent="-342900">
              <a:buFont typeface="Wingdings" panose="05000000000000000000" pitchFamily="2" charset="2"/>
              <a:buChar char="Ø"/>
            </a:pPr>
            <a:r>
              <a:rPr lang="en-US" altLang="zh-CN" dirty="0"/>
              <a:t>ECN</a:t>
            </a:r>
            <a:r>
              <a:rPr lang="zh-CN" altLang="en-US" dirty="0"/>
              <a:t>响应标志</a:t>
            </a:r>
            <a:r>
              <a:rPr lang="en-US" altLang="zh-CN" dirty="0"/>
              <a:t>ECE </a:t>
            </a:r>
            <a:r>
              <a:rPr lang="zh-CN" altLang="en-US" dirty="0"/>
              <a:t>：当</a:t>
            </a:r>
            <a:r>
              <a:rPr lang="en-US" altLang="zh-CN" dirty="0"/>
              <a:t>ECE=1</a:t>
            </a:r>
            <a:r>
              <a:rPr lang="zh-CN" altLang="en-US" dirty="0"/>
              <a:t>，表明接收到的 </a:t>
            </a:r>
            <a:r>
              <a:rPr lang="en-US" altLang="zh-CN" dirty="0"/>
              <a:t>TCP </a:t>
            </a:r>
            <a:r>
              <a:rPr lang="zh-CN" altLang="en-US" dirty="0"/>
              <a:t>包的 </a:t>
            </a:r>
            <a:r>
              <a:rPr lang="en-US" altLang="zh-CN" dirty="0"/>
              <a:t>IP </a:t>
            </a:r>
            <a:r>
              <a:rPr lang="zh-CN" altLang="en-US" dirty="0"/>
              <a:t>头部的 </a:t>
            </a:r>
            <a:r>
              <a:rPr lang="en-US" altLang="zh-CN" dirty="0"/>
              <a:t>ECN </a:t>
            </a:r>
            <a:r>
              <a:rPr lang="zh-CN" altLang="en-US" dirty="0"/>
              <a:t>被设置为 </a:t>
            </a:r>
            <a:r>
              <a:rPr lang="en-US" altLang="zh-CN" dirty="0"/>
              <a:t>1</a:t>
            </a:r>
            <a:r>
              <a:rPr lang="zh-CN" altLang="en-US" dirty="0"/>
              <a:t>，即网络线路拥堵；在 </a:t>
            </a:r>
            <a:r>
              <a:rPr lang="en-US" altLang="zh-CN" dirty="0"/>
              <a:t>TCP </a:t>
            </a:r>
            <a:r>
              <a:rPr lang="zh-CN" altLang="en-US" dirty="0"/>
              <a:t>三次握手时表明一个 </a:t>
            </a:r>
            <a:r>
              <a:rPr lang="en-US" altLang="zh-CN" dirty="0"/>
              <a:t>TCP </a:t>
            </a:r>
            <a:r>
              <a:rPr lang="zh-CN" altLang="en-US" dirty="0"/>
              <a:t>端是具备 </a:t>
            </a:r>
            <a:r>
              <a:rPr lang="en-US" altLang="zh-CN" dirty="0"/>
              <a:t>ECN </a:t>
            </a:r>
            <a:r>
              <a:rPr lang="zh-CN" altLang="en-US" dirty="0"/>
              <a:t>功能的</a:t>
            </a:r>
          </a:p>
        </p:txBody>
      </p:sp>
      <p:sp>
        <p:nvSpPr>
          <p:cNvPr id="91" name="Rectangle 82">
            <a:extLst>
              <a:ext uri="{FF2B5EF4-FFF2-40B4-BE49-F238E27FC236}">
                <a16:creationId xmlns:a16="http://schemas.microsoft.com/office/drawing/2014/main" id="{297CB381-E559-A7DD-E3CB-8BCAD86C2E0C}"/>
              </a:ext>
            </a:extLst>
          </p:cNvPr>
          <p:cNvSpPr>
            <a:spLocks noChangeArrowheads="1"/>
          </p:cNvSpPr>
          <p:nvPr/>
        </p:nvSpPr>
        <p:spPr bwMode="auto">
          <a:xfrm>
            <a:off x="1812925" y="908720"/>
            <a:ext cx="8261878"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位 </a:t>
            </a:r>
            <a:r>
              <a:rPr lang="en-US" altLang="zh-CN" sz="2000" dirty="0">
                <a:latin typeface="+mn-lt"/>
                <a:ea typeface="微软雅黑 Light" panose="020B0502040204020203" pitchFamily="34" charset="-122"/>
              </a:rPr>
              <a:t>0                           8                           16                          24                          31</a:t>
            </a:r>
          </a:p>
        </p:txBody>
      </p:sp>
      <p:sp>
        <p:nvSpPr>
          <p:cNvPr id="65" name="Rectangle 38">
            <a:extLst>
              <a:ext uri="{FF2B5EF4-FFF2-40B4-BE49-F238E27FC236}">
                <a16:creationId xmlns:a16="http://schemas.microsoft.com/office/drawing/2014/main" id="{5CF7BA9A-1CD1-BD36-A1FA-A9CC1798966B}"/>
              </a:ext>
            </a:extLst>
          </p:cNvPr>
          <p:cNvSpPr>
            <a:spLocks noChangeArrowheads="1"/>
          </p:cNvSpPr>
          <p:nvPr/>
        </p:nvSpPr>
        <p:spPr bwMode="auto">
          <a:xfrm rot="16200000">
            <a:off x="5668052" y="3954202"/>
            <a:ext cx="535405"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lnSpc>
                <a:spcPct val="75000"/>
              </a:lnSpc>
            </a:pPr>
            <a:r>
              <a:rPr lang="en-US" altLang="zh-CN" sz="1600" b="1" dirty="0">
                <a:latin typeface="+mn-lt"/>
                <a:ea typeface="微软雅黑 Light" panose="020B0502040204020203" pitchFamily="34" charset="-122"/>
              </a:rPr>
              <a:t>FIN</a:t>
            </a:r>
          </a:p>
        </p:txBody>
      </p:sp>
      <p:sp>
        <p:nvSpPr>
          <p:cNvPr id="92" name="Rectangle 77">
            <a:extLst>
              <a:ext uri="{FF2B5EF4-FFF2-40B4-BE49-F238E27FC236}">
                <a16:creationId xmlns:a16="http://schemas.microsoft.com/office/drawing/2014/main" id="{3218DF1F-C6C1-58C5-1C63-AC2498FAA512}"/>
              </a:ext>
            </a:extLst>
          </p:cNvPr>
          <p:cNvSpPr>
            <a:spLocks noChangeArrowheads="1"/>
          </p:cNvSpPr>
          <p:nvPr/>
        </p:nvSpPr>
        <p:spPr bwMode="auto">
          <a:xfrm rot="16200000">
            <a:off x="5401703" y="3936764"/>
            <a:ext cx="591510"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SYN</a:t>
            </a:r>
          </a:p>
        </p:txBody>
      </p:sp>
      <p:sp>
        <p:nvSpPr>
          <p:cNvPr id="93" name="Rectangle 78">
            <a:extLst>
              <a:ext uri="{FF2B5EF4-FFF2-40B4-BE49-F238E27FC236}">
                <a16:creationId xmlns:a16="http://schemas.microsoft.com/office/drawing/2014/main" id="{E704154E-1218-3012-14C0-0139ED3EAC00}"/>
              </a:ext>
            </a:extLst>
          </p:cNvPr>
          <p:cNvSpPr>
            <a:spLocks noChangeArrowheads="1"/>
          </p:cNvSpPr>
          <p:nvPr/>
        </p:nvSpPr>
        <p:spPr bwMode="auto">
          <a:xfrm rot="16200000">
            <a:off x="5115446" y="3917780"/>
            <a:ext cx="618290"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RST</a:t>
            </a:r>
          </a:p>
        </p:txBody>
      </p:sp>
      <p:sp>
        <p:nvSpPr>
          <p:cNvPr id="94" name="Rectangle 79">
            <a:extLst>
              <a:ext uri="{FF2B5EF4-FFF2-40B4-BE49-F238E27FC236}">
                <a16:creationId xmlns:a16="http://schemas.microsoft.com/office/drawing/2014/main" id="{B8F82EA8-A30F-B788-1FEB-0CA9D1EB6C40}"/>
              </a:ext>
            </a:extLst>
          </p:cNvPr>
          <p:cNvSpPr>
            <a:spLocks noChangeArrowheads="1"/>
          </p:cNvSpPr>
          <p:nvPr/>
        </p:nvSpPr>
        <p:spPr bwMode="auto">
          <a:xfrm rot="16200000">
            <a:off x="4890356" y="3938731"/>
            <a:ext cx="600108"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PSH  </a:t>
            </a:r>
          </a:p>
        </p:txBody>
      </p:sp>
      <p:sp>
        <p:nvSpPr>
          <p:cNvPr id="95" name="Rectangle 80">
            <a:extLst>
              <a:ext uri="{FF2B5EF4-FFF2-40B4-BE49-F238E27FC236}">
                <a16:creationId xmlns:a16="http://schemas.microsoft.com/office/drawing/2014/main" id="{E2BD5D94-C50D-A9B6-0385-D77F3C22A10E}"/>
              </a:ext>
            </a:extLst>
          </p:cNvPr>
          <p:cNvSpPr>
            <a:spLocks noChangeArrowheads="1"/>
          </p:cNvSpPr>
          <p:nvPr/>
        </p:nvSpPr>
        <p:spPr bwMode="auto">
          <a:xfrm rot="16200000">
            <a:off x="4579000" y="3916214"/>
            <a:ext cx="730250"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ACK</a:t>
            </a:r>
          </a:p>
        </p:txBody>
      </p:sp>
      <p:sp>
        <p:nvSpPr>
          <p:cNvPr id="96" name="Rectangle 81">
            <a:extLst>
              <a:ext uri="{FF2B5EF4-FFF2-40B4-BE49-F238E27FC236}">
                <a16:creationId xmlns:a16="http://schemas.microsoft.com/office/drawing/2014/main" id="{332B25CC-4074-5A66-A216-0F186F21B84C}"/>
              </a:ext>
            </a:extLst>
          </p:cNvPr>
          <p:cNvSpPr>
            <a:spLocks noChangeArrowheads="1"/>
          </p:cNvSpPr>
          <p:nvPr/>
        </p:nvSpPr>
        <p:spPr bwMode="auto">
          <a:xfrm rot="16200000">
            <a:off x="4342408" y="3894364"/>
            <a:ext cx="761997"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URG</a:t>
            </a:r>
          </a:p>
        </p:txBody>
      </p:sp>
      <p:sp>
        <p:nvSpPr>
          <p:cNvPr id="97" name="Rectangle 81">
            <a:extLst>
              <a:ext uri="{FF2B5EF4-FFF2-40B4-BE49-F238E27FC236}">
                <a16:creationId xmlns:a16="http://schemas.microsoft.com/office/drawing/2014/main" id="{FDC72E45-29BC-D62F-5663-E365926F3827}"/>
              </a:ext>
            </a:extLst>
          </p:cNvPr>
          <p:cNvSpPr>
            <a:spLocks noChangeArrowheads="1"/>
          </p:cNvSpPr>
          <p:nvPr/>
        </p:nvSpPr>
        <p:spPr bwMode="auto">
          <a:xfrm rot="16200000">
            <a:off x="3855770" y="3928543"/>
            <a:ext cx="721634"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CWR</a:t>
            </a:r>
          </a:p>
        </p:txBody>
      </p:sp>
      <p:sp>
        <p:nvSpPr>
          <p:cNvPr id="98" name="Rectangle 81">
            <a:extLst>
              <a:ext uri="{FF2B5EF4-FFF2-40B4-BE49-F238E27FC236}">
                <a16:creationId xmlns:a16="http://schemas.microsoft.com/office/drawing/2014/main" id="{47A3E14C-9FDE-D2B5-E15A-4CCEC01C4857}"/>
              </a:ext>
            </a:extLst>
          </p:cNvPr>
          <p:cNvSpPr>
            <a:spLocks noChangeArrowheads="1"/>
          </p:cNvSpPr>
          <p:nvPr/>
        </p:nvSpPr>
        <p:spPr bwMode="auto">
          <a:xfrm rot="16200000">
            <a:off x="4124919" y="3912163"/>
            <a:ext cx="704221"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ECE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9"/>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8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 grpId="0" animBg="1"/>
      <p:bldP spid="89" grpId="1"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3">
            <a:extLst>
              <a:ext uri="{FF2B5EF4-FFF2-40B4-BE49-F238E27FC236}">
                <a16:creationId xmlns:a16="http://schemas.microsoft.com/office/drawing/2014/main" id="{92C4763C-E511-D924-615D-753ED23C062A}"/>
              </a:ext>
            </a:extLst>
          </p:cNvPr>
          <p:cNvSpPr>
            <a:spLocks noChangeArrowheads="1"/>
          </p:cNvSpPr>
          <p:nvPr/>
        </p:nvSpPr>
        <p:spPr bwMode="auto">
          <a:xfrm>
            <a:off x="2178050" y="1665289"/>
            <a:ext cx="7686675" cy="4133850"/>
          </a:xfrm>
          <a:prstGeom prst="rect">
            <a:avLst/>
          </a:prstGeom>
          <a:solidFill>
            <a:schemeClr val="bg2"/>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89" name="灯片编号占位符 5"/>
          <p:cNvSpPr>
            <a:spLocks noGrp="1"/>
          </p:cNvSpPr>
          <p:nvPr>
            <p:ph type="sldNum" sz="quarter" idx="12"/>
          </p:nvPr>
        </p:nvSpPr>
        <p:spPr/>
        <p:txBody>
          <a:bodyPr/>
          <a:lstStyle/>
          <a:p>
            <a:fld id="{3A9EAEDC-C1F9-43F7-A760-BD278C3E3096}" type="slidenum">
              <a:rPr lang="en-US" altLang="zh-CN"/>
              <a:t>40</a:t>
            </a:fld>
            <a:endParaRPr lang="en-US" altLang="zh-CN"/>
          </a:p>
        </p:txBody>
      </p:sp>
      <p:sp>
        <p:nvSpPr>
          <p:cNvPr id="431188" name="Text Box 84"/>
          <p:cNvSpPr txBox="1">
            <a:spLocks noChangeArrowheads="1"/>
          </p:cNvSpPr>
          <p:nvPr/>
        </p:nvSpPr>
        <p:spPr bwMode="auto">
          <a:xfrm>
            <a:off x="1056000" y="5934217"/>
            <a:ext cx="10080000" cy="706755"/>
          </a:xfrm>
          <a:prstGeom prst="rect">
            <a:avLst/>
          </a:prstGeom>
          <a:noFill/>
          <a:ln>
            <a:noFill/>
          </a:ln>
          <a:effectLst/>
        </p:spPr>
        <p:txBody>
          <a:bodyPr>
            <a:spAutoFit/>
          </a:bodyPr>
          <a:lstStyle>
            <a:defPPr>
              <a:defRPr lang="zh-CN"/>
            </a:defPPr>
            <a:lvl1pPr>
              <a:defRPr>
                <a:latin typeface="微软雅黑 Light" panose="020B0502040204020203" pitchFamily="34" charset="-122"/>
                <a:ea typeface="微软雅黑 Light" panose="020B0502040204020203" pitchFamily="34" charset="-122"/>
              </a:defRPr>
            </a:lvl1pPr>
          </a:lstStyle>
          <a:p>
            <a:pPr marL="342900" indent="-342900">
              <a:buFont typeface="Wingdings" panose="05000000000000000000" pitchFamily="2" charset="2"/>
              <a:buChar char="Ø"/>
            </a:pPr>
            <a:r>
              <a:rPr lang="zh-CN" altLang="en-US" dirty="0"/>
              <a:t>紧急</a:t>
            </a:r>
            <a:r>
              <a:rPr lang="en-US" altLang="zh-CN" dirty="0"/>
              <a:t>URG</a:t>
            </a:r>
            <a:r>
              <a:rPr lang="zh-CN" altLang="en-US" dirty="0"/>
              <a:t>：当</a:t>
            </a:r>
            <a:r>
              <a:rPr lang="en-US" altLang="zh-CN" dirty="0"/>
              <a:t>URG </a:t>
            </a:r>
            <a:r>
              <a:rPr lang="en-US" altLang="zh-CN" dirty="0">
                <a:sym typeface="Symbol" panose="05050102010706020507" pitchFamily="18" charset="2"/>
              </a:rPr>
              <a:t></a:t>
            </a:r>
            <a:r>
              <a:rPr lang="en-US" altLang="zh-CN" dirty="0"/>
              <a:t>1</a:t>
            </a:r>
            <a:r>
              <a:rPr lang="zh-CN" altLang="en-US" dirty="0"/>
              <a:t>时，表明紧急指针字段有效。此报文段中有紧急数据，系统应尽快传送</a:t>
            </a:r>
            <a:r>
              <a:rPr lang="en-US" altLang="zh-CN" dirty="0"/>
              <a:t>(</a:t>
            </a:r>
            <a:r>
              <a:rPr lang="zh-CN" altLang="en-US" dirty="0"/>
              <a:t>相当于高优先级的数据</a:t>
            </a:r>
            <a:r>
              <a:rPr lang="en-US" altLang="zh-CN" dirty="0"/>
              <a:t>)</a:t>
            </a:r>
            <a:r>
              <a:rPr lang="zh-CN" altLang="en-US" dirty="0"/>
              <a:t> </a:t>
            </a:r>
          </a:p>
        </p:txBody>
      </p:sp>
      <p:sp>
        <p:nvSpPr>
          <p:cNvPr id="431272" name="Rectangle 168"/>
          <p:cNvSpPr>
            <a:spLocks noGrp="1" noChangeArrowheads="1"/>
          </p:cNvSpPr>
          <p:nvPr>
            <p:ph type="title"/>
          </p:nvPr>
        </p:nvSpPr>
        <p:spPr>
          <a:noFill/>
        </p:spPr>
        <p:txBody>
          <a:bodyPr/>
          <a:lstStyle/>
          <a:p>
            <a:r>
              <a:rPr lang="en-US" altLang="zh-CN" dirty="0"/>
              <a:t>TCP</a:t>
            </a:r>
            <a:r>
              <a:rPr lang="zh-CN" altLang="en-US" dirty="0"/>
              <a:t>的报头字段</a:t>
            </a:r>
            <a:endParaRPr lang="en-US" altLang="zh-CN" dirty="0"/>
          </a:p>
        </p:txBody>
      </p:sp>
      <p:grpSp>
        <p:nvGrpSpPr>
          <p:cNvPr id="2" name="组合 1"/>
          <p:cNvGrpSpPr/>
          <p:nvPr/>
        </p:nvGrpSpPr>
        <p:grpSpPr>
          <a:xfrm>
            <a:off x="1415480" y="1109664"/>
            <a:ext cx="9189020" cy="4695826"/>
            <a:chOff x="1415480" y="1109664"/>
            <a:chExt cx="9189020" cy="4695826"/>
          </a:xfrm>
        </p:grpSpPr>
        <p:sp>
          <p:nvSpPr>
            <p:cNvPr id="90" name="Line 9"/>
            <p:cNvSpPr>
              <a:spLocks noChangeShapeType="1"/>
            </p:cNvSpPr>
            <p:nvPr/>
          </p:nvSpPr>
          <p:spPr bwMode="auto">
            <a:xfrm flipH="1">
              <a:off x="1852613" y="1668464"/>
              <a:ext cx="17463" cy="4122738"/>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1" name="Rectangle 10"/>
            <p:cNvSpPr>
              <a:spLocks noChangeArrowheads="1"/>
            </p:cNvSpPr>
            <p:nvPr/>
          </p:nvSpPr>
          <p:spPr bwMode="auto">
            <a:xfrm>
              <a:off x="1415480" y="3268664"/>
              <a:ext cx="696913" cy="6445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90000"/>
                </a:lnSpc>
              </a:pPr>
              <a:r>
                <a:rPr lang="en-US" altLang="zh-CN" sz="2000" dirty="0">
                  <a:latin typeface="+mn-lt"/>
                  <a:ea typeface="微软雅黑 Light" panose="020B0502040204020203" pitchFamily="34" charset="-122"/>
                </a:rPr>
                <a:t>TCP</a:t>
              </a:r>
            </a:p>
            <a:p>
              <a:pPr eaLnBrk="0" hangingPunct="0">
                <a:lnSpc>
                  <a:spcPct val="90000"/>
                </a:lnSpc>
              </a:pPr>
              <a:r>
                <a:rPr lang="zh-CN" altLang="en-US" sz="2000" dirty="0">
                  <a:latin typeface="+mn-lt"/>
                  <a:ea typeface="微软雅黑 Light" panose="020B0502040204020203" pitchFamily="34" charset="-122"/>
                </a:rPr>
                <a:t>首部</a:t>
              </a:r>
            </a:p>
          </p:txBody>
        </p:sp>
        <p:sp>
          <p:nvSpPr>
            <p:cNvPr id="92" name="Line 11"/>
            <p:cNvSpPr>
              <a:spLocks noChangeShapeType="1"/>
            </p:cNvSpPr>
            <p:nvPr/>
          </p:nvSpPr>
          <p:spPr bwMode="auto">
            <a:xfrm>
              <a:off x="10272713" y="1658939"/>
              <a:ext cx="0" cy="3463925"/>
            </a:xfrm>
            <a:prstGeom prst="line">
              <a:avLst/>
            </a:prstGeom>
            <a:noFill/>
            <a:ln w="1905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3" name="Rectangle 12"/>
            <p:cNvSpPr>
              <a:spLocks noChangeArrowheads="1"/>
            </p:cNvSpPr>
            <p:nvPr/>
          </p:nvSpPr>
          <p:spPr bwMode="auto">
            <a:xfrm>
              <a:off x="9909175" y="2736852"/>
              <a:ext cx="695325" cy="119697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lnSpc>
                  <a:spcPct val="90000"/>
                </a:lnSpc>
              </a:pPr>
              <a:r>
                <a:rPr lang="en-US" altLang="zh-CN" sz="2000">
                  <a:latin typeface="+mn-lt"/>
                  <a:ea typeface="微软雅黑 Light" panose="020B0502040204020203" pitchFamily="34" charset="-122"/>
                </a:rPr>
                <a:t>20</a:t>
              </a:r>
            </a:p>
            <a:p>
              <a:pPr algn="ctr" eaLnBrk="0" hangingPunct="0">
                <a:lnSpc>
                  <a:spcPct val="90000"/>
                </a:lnSpc>
              </a:pPr>
              <a:r>
                <a:rPr lang="zh-CN" altLang="en-US" sz="2000">
                  <a:latin typeface="+mn-lt"/>
                  <a:ea typeface="微软雅黑 Light" panose="020B0502040204020203" pitchFamily="34" charset="-122"/>
                </a:rPr>
                <a:t>字节</a:t>
              </a:r>
            </a:p>
            <a:p>
              <a:pPr algn="ctr" eaLnBrk="0" hangingPunct="0">
                <a:lnSpc>
                  <a:spcPct val="90000"/>
                </a:lnSpc>
              </a:pPr>
              <a:r>
                <a:rPr lang="zh-CN" altLang="en-US" sz="2000">
                  <a:latin typeface="+mn-lt"/>
                  <a:ea typeface="微软雅黑 Light" panose="020B0502040204020203" pitchFamily="34" charset="-122"/>
                </a:rPr>
                <a:t>固定</a:t>
              </a:r>
            </a:p>
            <a:p>
              <a:pPr algn="ctr" eaLnBrk="0" hangingPunct="0">
                <a:lnSpc>
                  <a:spcPct val="90000"/>
                </a:lnSpc>
              </a:pPr>
              <a:r>
                <a:rPr lang="zh-CN" altLang="en-US" sz="2000">
                  <a:latin typeface="+mn-lt"/>
                  <a:ea typeface="微软雅黑 Light" panose="020B0502040204020203" pitchFamily="34" charset="-122"/>
                </a:rPr>
                <a:t>首部</a:t>
              </a:r>
            </a:p>
          </p:txBody>
        </p:sp>
        <p:sp>
          <p:nvSpPr>
            <p:cNvPr id="95" name="Line 14"/>
            <p:cNvSpPr>
              <a:spLocks noChangeShapeType="1"/>
            </p:cNvSpPr>
            <p:nvPr/>
          </p:nvSpPr>
          <p:spPr bwMode="auto">
            <a:xfrm>
              <a:off x="2170113" y="2368552"/>
              <a:ext cx="76993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6" name="Line 15"/>
            <p:cNvSpPr>
              <a:spLocks noChangeShapeType="1"/>
            </p:cNvSpPr>
            <p:nvPr/>
          </p:nvSpPr>
          <p:spPr bwMode="auto">
            <a:xfrm>
              <a:off x="2184400" y="3063877"/>
              <a:ext cx="768508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7" name="Line 16"/>
            <p:cNvSpPr>
              <a:spLocks noChangeShapeType="1"/>
            </p:cNvSpPr>
            <p:nvPr/>
          </p:nvSpPr>
          <p:spPr bwMode="auto">
            <a:xfrm>
              <a:off x="2170113" y="3757614"/>
              <a:ext cx="76993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8" name="Line 17"/>
            <p:cNvSpPr>
              <a:spLocks noChangeShapeType="1"/>
            </p:cNvSpPr>
            <p:nvPr/>
          </p:nvSpPr>
          <p:spPr bwMode="auto">
            <a:xfrm>
              <a:off x="2170113" y="4449764"/>
              <a:ext cx="76993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9" name="Line 18"/>
            <p:cNvSpPr>
              <a:spLocks noChangeShapeType="1"/>
            </p:cNvSpPr>
            <p:nvPr/>
          </p:nvSpPr>
          <p:spPr bwMode="auto">
            <a:xfrm>
              <a:off x="2184400" y="5145089"/>
              <a:ext cx="768508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00" name="Line 19"/>
            <p:cNvSpPr>
              <a:spLocks noChangeShapeType="1"/>
            </p:cNvSpPr>
            <p:nvPr/>
          </p:nvSpPr>
          <p:spPr bwMode="auto">
            <a:xfrm>
              <a:off x="6022975" y="1673227"/>
              <a:ext cx="0" cy="7096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01" name="Rectangle 20"/>
            <p:cNvSpPr>
              <a:spLocks noChangeArrowheads="1"/>
            </p:cNvSpPr>
            <p:nvPr/>
          </p:nvSpPr>
          <p:spPr bwMode="auto">
            <a:xfrm>
              <a:off x="7223125" y="1800227"/>
              <a:ext cx="1593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目  的  端  口</a:t>
              </a:r>
            </a:p>
          </p:txBody>
        </p:sp>
        <p:sp>
          <p:nvSpPr>
            <p:cNvPr id="102" name="Rectangle 21"/>
            <p:cNvSpPr>
              <a:spLocks noChangeArrowheads="1"/>
            </p:cNvSpPr>
            <p:nvPr/>
          </p:nvSpPr>
          <p:spPr bwMode="auto">
            <a:xfrm>
              <a:off x="2332038" y="3722689"/>
              <a:ext cx="695325" cy="704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数据</a:t>
              </a:r>
            </a:p>
            <a:p>
              <a:pPr eaLnBrk="0" hangingPunct="0"/>
              <a:r>
                <a:rPr lang="zh-CN" altLang="en-US" sz="2000" dirty="0">
                  <a:latin typeface="+mn-lt"/>
                  <a:ea typeface="微软雅黑 Light" panose="020B0502040204020203" pitchFamily="34" charset="-122"/>
                </a:rPr>
                <a:t>偏移</a:t>
              </a:r>
            </a:p>
          </p:txBody>
        </p:sp>
        <p:sp>
          <p:nvSpPr>
            <p:cNvPr id="103" name="Rectangle 22"/>
            <p:cNvSpPr>
              <a:spLocks noChangeArrowheads="1"/>
            </p:cNvSpPr>
            <p:nvPr/>
          </p:nvSpPr>
          <p:spPr bwMode="auto">
            <a:xfrm>
              <a:off x="3411538" y="4587877"/>
              <a:ext cx="13366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检   验   和</a:t>
              </a:r>
            </a:p>
          </p:txBody>
        </p:sp>
        <p:sp>
          <p:nvSpPr>
            <p:cNvPr id="104" name="Rectangle 23"/>
            <p:cNvSpPr>
              <a:spLocks noChangeArrowheads="1"/>
            </p:cNvSpPr>
            <p:nvPr/>
          </p:nvSpPr>
          <p:spPr bwMode="auto">
            <a:xfrm>
              <a:off x="3694113" y="5237164"/>
              <a:ext cx="31988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选    项 长  度  可  变）</a:t>
              </a:r>
            </a:p>
          </p:txBody>
        </p:sp>
        <p:sp>
          <p:nvSpPr>
            <p:cNvPr id="105" name="Rectangle 24"/>
            <p:cNvSpPr>
              <a:spLocks noChangeArrowheads="1"/>
            </p:cNvSpPr>
            <p:nvPr/>
          </p:nvSpPr>
          <p:spPr bwMode="auto">
            <a:xfrm>
              <a:off x="3525838" y="1800227"/>
              <a:ext cx="12541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源  端  口</a:t>
              </a:r>
            </a:p>
          </p:txBody>
        </p:sp>
        <p:sp>
          <p:nvSpPr>
            <p:cNvPr id="106" name="Rectangle 25"/>
            <p:cNvSpPr>
              <a:spLocks noChangeArrowheads="1"/>
            </p:cNvSpPr>
            <p:nvPr/>
          </p:nvSpPr>
          <p:spPr bwMode="auto">
            <a:xfrm>
              <a:off x="5578475" y="2487614"/>
              <a:ext cx="1381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序   号</a:t>
              </a:r>
            </a:p>
          </p:txBody>
        </p:sp>
        <p:sp>
          <p:nvSpPr>
            <p:cNvPr id="107" name="Line 26"/>
            <p:cNvSpPr>
              <a:spLocks noChangeShapeType="1"/>
            </p:cNvSpPr>
            <p:nvPr/>
          </p:nvSpPr>
          <p:spPr bwMode="auto">
            <a:xfrm>
              <a:off x="6029325" y="3767139"/>
              <a:ext cx="0" cy="13700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08" name="Rectangle 27"/>
            <p:cNvSpPr>
              <a:spLocks noChangeArrowheads="1"/>
            </p:cNvSpPr>
            <p:nvPr/>
          </p:nvSpPr>
          <p:spPr bwMode="auto">
            <a:xfrm>
              <a:off x="7062788" y="4587877"/>
              <a:ext cx="17859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紧   急   指   针</a:t>
              </a:r>
            </a:p>
          </p:txBody>
        </p:sp>
        <p:sp>
          <p:nvSpPr>
            <p:cNvPr id="109" name="Rectangle 28"/>
            <p:cNvSpPr>
              <a:spLocks noChangeArrowheads="1"/>
            </p:cNvSpPr>
            <p:nvPr/>
          </p:nvSpPr>
          <p:spPr bwMode="auto">
            <a:xfrm>
              <a:off x="7512050" y="3868739"/>
              <a:ext cx="9223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窗   口</a:t>
              </a:r>
            </a:p>
          </p:txBody>
        </p:sp>
        <p:sp>
          <p:nvSpPr>
            <p:cNvPr id="110" name="Rectangle 29"/>
            <p:cNvSpPr>
              <a:spLocks noChangeArrowheads="1"/>
            </p:cNvSpPr>
            <p:nvPr/>
          </p:nvSpPr>
          <p:spPr bwMode="auto">
            <a:xfrm>
              <a:off x="5334000" y="3211514"/>
              <a:ext cx="18415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确    认    号</a:t>
              </a:r>
            </a:p>
          </p:txBody>
        </p:sp>
        <p:sp>
          <p:nvSpPr>
            <p:cNvPr id="111" name="Line 30"/>
            <p:cNvSpPr>
              <a:spLocks noChangeShapeType="1"/>
            </p:cNvSpPr>
            <p:nvPr/>
          </p:nvSpPr>
          <p:spPr bwMode="auto">
            <a:xfrm>
              <a:off x="3135313" y="3767139"/>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20" name="Line 39"/>
            <p:cNvSpPr>
              <a:spLocks noChangeShapeType="1"/>
            </p:cNvSpPr>
            <p:nvPr/>
          </p:nvSpPr>
          <p:spPr bwMode="auto">
            <a:xfrm>
              <a:off x="2174875" y="1508127"/>
              <a:ext cx="767556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21" name="Line 40"/>
            <p:cNvSpPr>
              <a:spLocks noChangeShapeType="1"/>
            </p:cNvSpPr>
            <p:nvPr/>
          </p:nvSpPr>
          <p:spPr bwMode="auto">
            <a:xfrm>
              <a:off x="2174875"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22" name="Line 41"/>
            <p:cNvSpPr>
              <a:spLocks noChangeShapeType="1"/>
            </p:cNvSpPr>
            <p:nvPr/>
          </p:nvSpPr>
          <p:spPr bwMode="auto">
            <a:xfrm>
              <a:off x="241458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23" name="Line 42"/>
            <p:cNvSpPr>
              <a:spLocks noChangeShapeType="1"/>
            </p:cNvSpPr>
            <p:nvPr/>
          </p:nvSpPr>
          <p:spPr bwMode="auto">
            <a:xfrm>
              <a:off x="2654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24" name="Line 43"/>
            <p:cNvSpPr>
              <a:spLocks noChangeShapeType="1"/>
            </p:cNvSpPr>
            <p:nvPr/>
          </p:nvSpPr>
          <p:spPr bwMode="auto">
            <a:xfrm>
              <a:off x="289401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25" name="Line 44"/>
            <p:cNvSpPr>
              <a:spLocks noChangeShapeType="1"/>
            </p:cNvSpPr>
            <p:nvPr/>
          </p:nvSpPr>
          <p:spPr bwMode="auto">
            <a:xfrm>
              <a:off x="313531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26" name="Line 45"/>
            <p:cNvSpPr>
              <a:spLocks noChangeShapeType="1"/>
            </p:cNvSpPr>
            <p:nvPr/>
          </p:nvSpPr>
          <p:spPr bwMode="auto">
            <a:xfrm>
              <a:off x="337502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27" name="Line 46"/>
            <p:cNvSpPr>
              <a:spLocks noChangeShapeType="1"/>
            </p:cNvSpPr>
            <p:nvPr/>
          </p:nvSpPr>
          <p:spPr bwMode="auto">
            <a:xfrm>
              <a:off x="361315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28" name="Line 47"/>
            <p:cNvSpPr>
              <a:spLocks noChangeShapeType="1"/>
            </p:cNvSpPr>
            <p:nvPr/>
          </p:nvSpPr>
          <p:spPr bwMode="auto">
            <a:xfrm>
              <a:off x="385286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29" name="Line 48"/>
            <p:cNvSpPr>
              <a:spLocks noChangeShapeType="1"/>
            </p:cNvSpPr>
            <p:nvPr/>
          </p:nvSpPr>
          <p:spPr bwMode="auto">
            <a:xfrm>
              <a:off x="4094163"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30" name="Line 49"/>
            <p:cNvSpPr>
              <a:spLocks noChangeShapeType="1"/>
            </p:cNvSpPr>
            <p:nvPr/>
          </p:nvSpPr>
          <p:spPr bwMode="auto">
            <a:xfrm>
              <a:off x="433387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31" name="Line 50"/>
            <p:cNvSpPr>
              <a:spLocks noChangeShapeType="1"/>
            </p:cNvSpPr>
            <p:nvPr/>
          </p:nvSpPr>
          <p:spPr bwMode="auto">
            <a:xfrm>
              <a:off x="457358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32" name="Line 51"/>
            <p:cNvSpPr>
              <a:spLocks noChangeShapeType="1"/>
            </p:cNvSpPr>
            <p:nvPr/>
          </p:nvSpPr>
          <p:spPr bwMode="auto">
            <a:xfrm>
              <a:off x="4813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33" name="Line 52"/>
            <p:cNvSpPr>
              <a:spLocks noChangeShapeType="1"/>
            </p:cNvSpPr>
            <p:nvPr/>
          </p:nvSpPr>
          <p:spPr bwMode="auto">
            <a:xfrm>
              <a:off x="50546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34" name="Line 53"/>
            <p:cNvSpPr>
              <a:spLocks noChangeShapeType="1"/>
            </p:cNvSpPr>
            <p:nvPr/>
          </p:nvSpPr>
          <p:spPr bwMode="auto">
            <a:xfrm>
              <a:off x="529431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35" name="Line 54"/>
            <p:cNvSpPr>
              <a:spLocks noChangeShapeType="1"/>
            </p:cNvSpPr>
            <p:nvPr/>
          </p:nvSpPr>
          <p:spPr bwMode="auto">
            <a:xfrm>
              <a:off x="553243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36" name="Line 55"/>
            <p:cNvSpPr>
              <a:spLocks noChangeShapeType="1"/>
            </p:cNvSpPr>
            <p:nvPr/>
          </p:nvSpPr>
          <p:spPr bwMode="auto">
            <a:xfrm>
              <a:off x="577215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37" name="Line 56"/>
            <p:cNvSpPr>
              <a:spLocks noChangeShapeType="1"/>
            </p:cNvSpPr>
            <p:nvPr/>
          </p:nvSpPr>
          <p:spPr bwMode="auto">
            <a:xfrm>
              <a:off x="6011863"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38" name="Line 57"/>
            <p:cNvSpPr>
              <a:spLocks noChangeShapeType="1"/>
            </p:cNvSpPr>
            <p:nvPr/>
          </p:nvSpPr>
          <p:spPr bwMode="auto">
            <a:xfrm>
              <a:off x="625316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39" name="Line 58"/>
            <p:cNvSpPr>
              <a:spLocks noChangeShapeType="1"/>
            </p:cNvSpPr>
            <p:nvPr/>
          </p:nvSpPr>
          <p:spPr bwMode="auto">
            <a:xfrm>
              <a:off x="649287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40" name="Line 59"/>
            <p:cNvSpPr>
              <a:spLocks noChangeShapeType="1"/>
            </p:cNvSpPr>
            <p:nvPr/>
          </p:nvSpPr>
          <p:spPr bwMode="auto">
            <a:xfrm>
              <a:off x="673258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41" name="Line 60"/>
            <p:cNvSpPr>
              <a:spLocks noChangeShapeType="1"/>
            </p:cNvSpPr>
            <p:nvPr/>
          </p:nvSpPr>
          <p:spPr bwMode="auto">
            <a:xfrm>
              <a:off x="6972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42" name="Line 61"/>
            <p:cNvSpPr>
              <a:spLocks noChangeShapeType="1"/>
            </p:cNvSpPr>
            <p:nvPr/>
          </p:nvSpPr>
          <p:spPr bwMode="auto">
            <a:xfrm>
              <a:off x="72136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43" name="Line 62"/>
            <p:cNvSpPr>
              <a:spLocks noChangeShapeType="1"/>
            </p:cNvSpPr>
            <p:nvPr/>
          </p:nvSpPr>
          <p:spPr bwMode="auto">
            <a:xfrm>
              <a:off x="745172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44" name="Line 63"/>
            <p:cNvSpPr>
              <a:spLocks noChangeShapeType="1"/>
            </p:cNvSpPr>
            <p:nvPr/>
          </p:nvSpPr>
          <p:spPr bwMode="auto">
            <a:xfrm>
              <a:off x="769143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45" name="Line 64"/>
            <p:cNvSpPr>
              <a:spLocks noChangeShapeType="1"/>
            </p:cNvSpPr>
            <p:nvPr/>
          </p:nvSpPr>
          <p:spPr bwMode="auto">
            <a:xfrm>
              <a:off x="7931150"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46" name="Line 65"/>
            <p:cNvSpPr>
              <a:spLocks noChangeShapeType="1"/>
            </p:cNvSpPr>
            <p:nvPr/>
          </p:nvSpPr>
          <p:spPr bwMode="auto">
            <a:xfrm>
              <a:off x="817086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47" name="Line 66"/>
            <p:cNvSpPr>
              <a:spLocks noChangeShapeType="1"/>
            </p:cNvSpPr>
            <p:nvPr/>
          </p:nvSpPr>
          <p:spPr bwMode="auto">
            <a:xfrm>
              <a:off x="841216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48" name="Line 67"/>
            <p:cNvSpPr>
              <a:spLocks noChangeShapeType="1"/>
            </p:cNvSpPr>
            <p:nvPr/>
          </p:nvSpPr>
          <p:spPr bwMode="auto">
            <a:xfrm>
              <a:off x="865187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49" name="Line 68"/>
            <p:cNvSpPr>
              <a:spLocks noChangeShapeType="1"/>
            </p:cNvSpPr>
            <p:nvPr/>
          </p:nvSpPr>
          <p:spPr bwMode="auto">
            <a:xfrm>
              <a:off x="889158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50" name="Line 69"/>
            <p:cNvSpPr>
              <a:spLocks noChangeShapeType="1"/>
            </p:cNvSpPr>
            <p:nvPr/>
          </p:nvSpPr>
          <p:spPr bwMode="auto">
            <a:xfrm>
              <a:off x="9131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51" name="Line 70"/>
            <p:cNvSpPr>
              <a:spLocks noChangeShapeType="1"/>
            </p:cNvSpPr>
            <p:nvPr/>
          </p:nvSpPr>
          <p:spPr bwMode="auto">
            <a:xfrm>
              <a:off x="937101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52" name="Line 71"/>
            <p:cNvSpPr>
              <a:spLocks noChangeShapeType="1"/>
            </p:cNvSpPr>
            <p:nvPr/>
          </p:nvSpPr>
          <p:spPr bwMode="auto">
            <a:xfrm>
              <a:off x="961072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53" name="Line 72"/>
            <p:cNvSpPr>
              <a:spLocks noChangeShapeType="1"/>
            </p:cNvSpPr>
            <p:nvPr/>
          </p:nvSpPr>
          <p:spPr bwMode="auto">
            <a:xfrm>
              <a:off x="9850438"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54" name="Rectangle 73"/>
            <p:cNvSpPr>
              <a:spLocks noChangeArrowheads="1"/>
            </p:cNvSpPr>
            <p:nvPr/>
          </p:nvSpPr>
          <p:spPr bwMode="auto">
            <a:xfrm>
              <a:off x="2333625"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155" name="Rectangle 74"/>
            <p:cNvSpPr>
              <a:spLocks noChangeArrowheads="1"/>
            </p:cNvSpPr>
            <p:nvPr/>
          </p:nvSpPr>
          <p:spPr bwMode="auto">
            <a:xfrm>
              <a:off x="4252913"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156" name="Rectangle 75"/>
            <p:cNvSpPr>
              <a:spLocks noChangeArrowheads="1"/>
            </p:cNvSpPr>
            <p:nvPr/>
          </p:nvSpPr>
          <p:spPr bwMode="auto">
            <a:xfrm>
              <a:off x="6172200"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157" name="Rectangle 76"/>
            <p:cNvSpPr>
              <a:spLocks noChangeArrowheads="1"/>
            </p:cNvSpPr>
            <p:nvPr/>
          </p:nvSpPr>
          <p:spPr bwMode="auto">
            <a:xfrm>
              <a:off x="8091488"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164" name="Line 83"/>
            <p:cNvSpPr>
              <a:spLocks noChangeShapeType="1"/>
            </p:cNvSpPr>
            <p:nvPr/>
          </p:nvSpPr>
          <p:spPr bwMode="auto">
            <a:xfrm flipH="1">
              <a:off x="7929563" y="5162552"/>
              <a:ext cx="3175" cy="6429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165" name="Rectangle 84"/>
            <p:cNvSpPr>
              <a:spLocks noChangeArrowheads="1"/>
            </p:cNvSpPr>
            <p:nvPr/>
          </p:nvSpPr>
          <p:spPr bwMode="auto">
            <a:xfrm>
              <a:off x="8442325" y="5229227"/>
              <a:ext cx="1254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填    充</a:t>
              </a:r>
            </a:p>
          </p:txBody>
        </p:sp>
        <p:sp>
          <p:nvSpPr>
            <p:cNvPr id="166" name="Line 85"/>
            <p:cNvSpPr>
              <a:spLocks noChangeShapeType="1"/>
            </p:cNvSpPr>
            <p:nvPr/>
          </p:nvSpPr>
          <p:spPr bwMode="auto">
            <a:xfrm>
              <a:off x="9971088" y="1641477"/>
              <a:ext cx="5175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167" name="Line 86"/>
            <p:cNvSpPr>
              <a:spLocks noChangeShapeType="1"/>
            </p:cNvSpPr>
            <p:nvPr/>
          </p:nvSpPr>
          <p:spPr bwMode="auto">
            <a:xfrm>
              <a:off x="9971088" y="5137152"/>
              <a:ext cx="5175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168" name="Line 87"/>
            <p:cNvSpPr>
              <a:spLocks noChangeShapeType="1"/>
            </p:cNvSpPr>
            <p:nvPr/>
          </p:nvSpPr>
          <p:spPr bwMode="auto">
            <a:xfrm>
              <a:off x="1582738" y="1679577"/>
              <a:ext cx="5302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169" name="Line 88"/>
            <p:cNvSpPr>
              <a:spLocks noChangeShapeType="1"/>
            </p:cNvSpPr>
            <p:nvPr/>
          </p:nvSpPr>
          <p:spPr bwMode="auto">
            <a:xfrm>
              <a:off x="1597025" y="5780089"/>
              <a:ext cx="5302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170" name="Line 31"/>
            <p:cNvSpPr>
              <a:spLocks noChangeShapeType="1"/>
            </p:cNvSpPr>
            <p:nvPr/>
          </p:nvSpPr>
          <p:spPr bwMode="auto">
            <a:xfrm>
              <a:off x="5062538" y="3759202"/>
              <a:ext cx="0" cy="6842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1" name="Line 32"/>
            <p:cNvSpPr>
              <a:spLocks noChangeShapeType="1"/>
            </p:cNvSpPr>
            <p:nvPr/>
          </p:nvSpPr>
          <p:spPr bwMode="auto">
            <a:xfrm>
              <a:off x="4572001" y="3761583"/>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2" name="Line 33"/>
            <p:cNvSpPr>
              <a:spLocks noChangeShapeType="1"/>
            </p:cNvSpPr>
            <p:nvPr/>
          </p:nvSpPr>
          <p:spPr bwMode="auto">
            <a:xfrm>
              <a:off x="4813300"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3" name="Line 34"/>
            <p:cNvSpPr>
              <a:spLocks noChangeShapeType="1"/>
            </p:cNvSpPr>
            <p:nvPr/>
          </p:nvSpPr>
          <p:spPr bwMode="auto">
            <a:xfrm>
              <a:off x="5543550"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4" name="Line 35"/>
            <p:cNvSpPr>
              <a:spLocks noChangeShapeType="1"/>
            </p:cNvSpPr>
            <p:nvPr/>
          </p:nvSpPr>
          <p:spPr bwMode="auto">
            <a:xfrm>
              <a:off x="5302250"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5" name="Line 36"/>
            <p:cNvSpPr>
              <a:spLocks noChangeShapeType="1"/>
            </p:cNvSpPr>
            <p:nvPr/>
          </p:nvSpPr>
          <p:spPr bwMode="auto">
            <a:xfrm>
              <a:off x="5788025"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6" name="Rectangle 37"/>
            <p:cNvSpPr>
              <a:spLocks noChangeArrowheads="1"/>
            </p:cNvSpPr>
            <p:nvPr/>
          </p:nvSpPr>
          <p:spPr bwMode="auto">
            <a:xfrm>
              <a:off x="3198280" y="3867686"/>
              <a:ext cx="72548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保留</a:t>
              </a:r>
            </a:p>
          </p:txBody>
        </p:sp>
        <p:sp>
          <p:nvSpPr>
            <p:cNvPr id="183" name="Line 32"/>
            <p:cNvSpPr>
              <a:spLocks noChangeShapeType="1"/>
            </p:cNvSpPr>
            <p:nvPr/>
          </p:nvSpPr>
          <p:spPr bwMode="auto">
            <a:xfrm>
              <a:off x="4079776" y="3757614"/>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84" name="Line 33"/>
            <p:cNvSpPr>
              <a:spLocks noChangeShapeType="1"/>
            </p:cNvSpPr>
            <p:nvPr/>
          </p:nvSpPr>
          <p:spPr bwMode="auto">
            <a:xfrm>
              <a:off x="4314850" y="3768726"/>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grpSp>
      <p:sp>
        <p:nvSpPr>
          <p:cNvPr id="431189" name="Rectangle 85"/>
          <p:cNvSpPr>
            <a:spLocks noChangeArrowheads="1"/>
          </p:cNvSpPr>
          <p:nvPr/>
        </p:nvSpPr>
        <p:spPr bwMode="auto">
          <a:xfrm>
            <a:off x="4522964" y="3717032"/>
            <a:ext cx="317500" cy="717550"/>
          </a:xfrm>
          <a:prstGeom prst="rect">
            <a:avLst/>
          </a:prstGeom>
          <a:noFill/>
          <a:ln w="7620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3" name="Rectangle 82">
            <a:extLst>
              <a:ext uri="{FF2B5EF4-FFF2-40B4-BE49-F238E27FC236}">
                <a16:creationId xmlns:a16="http://schemas.microsoft.com/office/drawing/2014/main" id="{3607A605-40D3-E66B-E179-3517626D9771}"/>
              </a:ext>
            </a:extLst>
          </p:cNvPr>
          <p:cNvSpPr>
            <a:spLocks noChangeArrowheads="1"/>
          </p:cNvSpPr>
          <p:nvPr/>
        </p:nvSpPr>
        <p:spPr bwMode="auto">
          <a:xfrm>
            <a:off x="1812925" y="908720"/>
            <a:ext cx="8261878"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位 </a:t>
            </a:r>
            <a:r>
              <a:rPr lang="en-US" altLang="zh-CN" sz="2000" dirty="0">
                <a:latin typeface="+mn-lt"/>
                <a:ea typeface="微软雅黑 Light" panose="020B0502040204020203" pitchFamily="34" charset="-122"/>
              </a:rPr>
              <a:t>0                           8                           16                          24                          31</a:t>
            </a:r>
          </a:p>
        </p:txBody>
      </p:sp>
      <p:sp>
        <p:nvSpPr>
          <p:cNvPr id="4" name="Rectangle 38">
            <a:extLst>
              <a:ext uri="{FF2B5EF4-FFF2-40B4-BE49-F238E27FC236}">
                <a16:creationId xmlns:a16="http://schemas.microsoft.com/office/drawing/2014/main" id="{6BA636A3-64FE-86C8-93E1-9D7447B2D3A7}"/>
              </a:ext>
            </a:extLst>
          </p:cNvPr>
          <p:cNvSpPr>
            <a:spLocks noChangeArrowheads="1"/>
          </p:cNvSpPr>
          <p:nvPr/>
        </p:nvSpPr>
        <p:spPr bwMode="auto">
          <a:xfrm rot="16200000">
            <a:off x="5660115" y="3970983"/>
            <a:ext cx="535405"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lnSpc>
                <a:spcPct val="75000"/>
              </a:lnSpc>
            </a:pPr>
            <a:r>
              <a:rPr lang="en-US" altLang="zh-CN" sz="1600" b="1" dirty="0">
                <a:latin typeface="+mn-lt"/>
                <a:ea typeface="微软雅黑 Light" panose="020B0502040204020203" pitchFamily="34" charset="-122"/>
              </a:rPr>
              <a:t>FIN</a:t>
            </a:r>
          </a:p>
        </p:txBody>
      </p:sp>
      <p:sp>
        <p:nvSpPr>
          <p:cNvPr id="5" name="Rectangle 77">
            <a:extLst>
              <a:ext uri="{FF2B5EF4-FFF2-40B4-BE49-F238E27FC236}">
                <a16:creationId xmlns:a16="http://schemas.microsoft.com/office/drawing/2014/main" id="{7161667E-3748-1CA9-EA51-65FF38A087A1}"/>
              </a:ext>
            </a:extLst>
          </p:cNvPr>
          <p:cNvSpPr>
            <a:spLocks noChangeArrowheads="1"/>
          </p:cNvSpPr>
          <p:nvPr/>
        </p:nvSpPr>
        <p:spPr bwMode="auto">
          <a:xfrm rot="16200000">
            <a:off x="5401703" y="3936764"/>
            <a:ext cx="591510"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SYN</a:t>
            </a:r>
          </a:p>
        </p:txBody>
      </p:sp>
      <p:sp>
        <p:nvSpPr>
          <p:cNvPr id="6" name="Rectangle 78">
            <a:extLst>
              <a:ext uri="{FF2B5EF4-FFF2-40B4-BE49-F238E27FC236}">
                <a16:creationId xmlns:a16="http://schemas.microsoft.com/office/drawing/2014/main" id="{2F114A84-E63E-A8D0-5E85-59ADBDB343CF}"/>
              </a:ext>
            </a:extLst>
          </p:cNvPr>
          <p:cNvSpPr>
            <a:spLocks noChangeArrowheads="1"/>
          </p:cNvSpPr>
          <p:nvPr/>
        </p:nvSpPr>
        <p:spPr bwMode="auto">
          <a:xfrm rot="16200000">
            <a:off x="5115446" y="3917780"/>
            <a:ext cx="618290"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RST</a:t>
            </a:r>
          </a:p>
        </p:txBody>
      </p:sp>
      <p:sp>
        <p:nvSpPr>
          <p:cNvPr id="7" name="Rectangle 79">
            <a:extLst>
              <a:ext uri="{FF2B5EF4-FFF2-40B4-BE49-F238E27FC236}">
                <a16:creationId xmlns:a16="http://schemas.microsoft.com/office/drawing/2014/main" id="{3FB55A4D-95A3-B559-8AD3-888C69A1EE1A}"/>
              </a:ext>
            </a:extLst>
          </p:cNvPr>
          <p:cNvSpPr>
            <a:spLocks noChangeArrowheads="1"/>
          </p:cNvSpPr>
          <p:nvPr/>
        </p:nvSpPr>
        <p:spPr bwMode="auto">
          <a:xfrm rot="16200000">
            <a:off x="4890356" y="3938731"/>
            <a:ext cx="600108"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PSH  </a:t>
            </a:r>
          </a:p>
        </p:txBody>
      </p:sp>
      <p:sp>
        <p:nvSpPr>
          <p:cNvPr id="8" name="Rectangle 80">
            <a:extLst>
              <a:ext uri="{FF2B5EF4-FFF2-40B4-BE49-F238E27FC236}">
                <a16:creationId xmlns:a16="http://schemas.microsoft.com/office/drawing/2014/main" id="{83AA3BA7-9C0C-9A00-9DCC-0CB99A05209C}"/>
              </a:ext>
            </a:extLst>
          </p:cNvPr>
          <p:cNvSpPr>
            <a:spLocks noChangeArrowheads="1"/>
          </p:cNvSpPr>
          <p:nvPr/>
        </p:nvSpPr>
        <p:spPr bwMode="auto">
          <a:xfrm rot="16200000">
            <a:off x="4579000" y="3916214"/>
            <a:ext cx="730250"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ACK</a:t>
            </a:r>
          </a:p>
        </p:txBody>
      </p:sp>
      <p:sp>
        <p:nvSpPr>
          <p:cNvPr id="9" name="Rectangle 81">
            <a:extLst>
              <a:ext uri="{FF2B5EF4-FFF2-40B4-BE49-F238E27FC236}">
                <a16:creationId xmlns:a16="http://schemas.microsoft.com/office/drawing/2014/main" id="{28AF261F-C8C3-B571-9839-1EBB629822FE}"/>
              </a:ext>
            </a:extLst>
          </p:cNvPr>
          <p:cNvSpPr>
            <a:spLocks noChangeArrowheads="1"/>
          </p:cNvSpPr>
          <p:nvPr/>
        </p:nvSpPr>
        <p:spPr bwMode="auto">
          <a:xfrm rot="16200000">
            <a:off x="4342408" y="3894364"/>
            <a:ext cx="761997"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URG</a:t>
            </a:r>
          </a:p>
        </p:txBody>
      </p:sp>
      <p:sp>
        <p:nvSpPr>
          <p:cNvPr id="10" name="Rectangle 81">
            <a:extLst>
              <a:ext uri="{FF2B5EF4-FFF2-40B4-BE49-F238E27FC236}">
                <a16:creationId xmlns:a16="http://schemas.microsoft.com/office/drawing/2014/main" id="{6D54F4BC-4E44-ED13-2F06-17D14FD75BA4}"/>
              </a:ext>
            </a:extLst>
          </p:cNvPr>
          <p:cNvSpPr>
            <a:spLocks noChangeArrowheads="1"/>
          </p:cNvSpPr>
          <p:nvPr/>
        </p:nvSpPr>
        <p:spPr bwMode="auto">
          <a:xfrm rot="16200000">
            <a:off x="3855770" y="3928543"/>
            <a:ext cx="721634"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CWR</a:t>
            </a:r>
          </a:p>
        </p:txBody>
      </p:sp>
      <p:sp>
        <p:nvSpPr>
          <p:cNvPr id="11" name="Rectangle 81">
            <a:extLst>
              <a:ext uri="{FF2B5EF4-FFF2-40B4-BE49-F238E27FC236}">
                <a16:creationId xmlns:a16="http://schemas.microsoft.com/office/drawing/2014/main" id="{149490FE-32DC-DD7A-1AFB-BFF3A818D982}"/>
              </a:ext>
            </a:extLst>
          </p:cNvPr>
          <p:cNvSpPr>
            <a:spLocks noChangeArrowheads="1"/>
          </p:cNvSpPr>
          <p:nvPr/>
        </p:nvSpPr>
        <p:spPr bwMode="auto">
          <a:xfrm rot="16200000">
            <a:off x="4124919" y="3912163"/>
            <a:ext cx="704221"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ECE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1189"/>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43118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1189" grpId="0" animBg="1"/>
      <p:bldP spid="431189" grpId="1"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Line 9"/>
          <p:cNvSpPr>
            <a:spLocks noChangeShapeType="1"/>
          </p:cNvSpPr>
          <p:nvPr/>
        </p:nvSpPr>
        <p:spPr bwMode="auto">
          <a:xfrm flipH="1">
            <a:off x="1852613" y="1668464"/>
            <a:ext cx="17463" cy="4122738"/>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1" name="Rectangle 10"/>
          <p:cNvSpPr>
            <a:spLocks noChangeArrowheads="1"/>
          </p:cNvSpPr>
          <p:nvPr/>
        </p:nvSpPr>
        <p:spPr bwMode="auto">
          <a:xfrm>
            <a:off x="1524000" y="3268664"/>
            <a:ext cx="696913" cy="6445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90000"/>
              </a:lnSpc>
            </a:pPr>
            <a:r>
              <a:rPr lang="en-US" altLang="zh-CN" sz="2000">
                <a:latin typeface="+mn-lt"/>
                <a:ea typeface="微软雅黑 Light" panose="020B0502040204020203" pitchFamily="34" charset="-122"/>
              </a:rPr>
              <a:t>TCP</a:t>
            </a:r>
          </a:p>
          <a:p>
            <a:pPr eaLnBrk="0" hangingPunct="0">
              <a:lnSpc>
                <a:spcPct val="90000"/>
              </a:lnSpc>
            </a:pPr>
            <a:r>
              <a:rPr lang="zh-CN" altLang="en-US" sz="2000">
                <a:latin typeface="+mn-lt"/>
                <a:ea typeface="微软雅黑 Light" panose="020B0502040204020203" pitchFamily="34" charset="-122"/>
              </a:rPr>
              <a:t>首部</a:t>
            </a:r>
          </a:p>
        </p:txBody>
      </p:sp>
      <p:sp>
        <p:nvSpPr>
          <p:cNvPr id="92" name="Line 11"/>
          <p:cNvSpPr>
            <a:spLocks noChangeShapeType="1"/>
          </p:cNvSpPr>
          <p:nvPr/>
        </p:nvSpPr>
        <p:spPr bwMode="auto">
          <a:xfrm>
            <a:off x="10272713" y="1658939"/>
            <a:ext cx="0" cy="3463925"/>
          </a:xfrm>
          <a:prstGeom prst="line">
            <a:avLst/>
          </a:prstGeom>
          <a:noFill/>
          <a:ln w="1905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3" name="Rectangle 12"/>
          <p:cNvSpPr>
            <a:spLocks noChangeArrowheads="1"/>
          </p:cNvSpPr>
          <p:nvPr/>
        </p:nvSpPr>
        <p:spPr bwMode="auto">
          <a:xfrm>
            <a:off x="9909175" y="2736852"/>
            <a:ext cx="695325" cy="119697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lnSpc>
                <a:spcPct val="90000"/>
              </a:lnSpc>
            </a:pPr>
            <a:r>
              <a:rPr lang="en-US" altLang="zh-CN" sz="2000">
                <a:latin typeface="+mn-lt"/>
                <a:ea typeface="微软雅黑 Light" panose="020B0502040204020203" pitchFamily="34" charset="-122"/>
              </a:rPr>
              <a:t>20</a:t>
            </a:r>
          </a:p>
          <a:p>
            <a:pPr algn="ctr" eaLnBrk="0" hangingPunct="0">
              <a:lnSpc>
                <a:spcPct val="90000"/>
              </a:lnSpc>
            </a:pPr>
            <a:r>
              <a:rPr lang="zh-CN" altLang="en-US" sz="2000">
                <a:latin typeface="+mn-lt"/>
                <a:ea typeface="微软雅黑 Light" panose="020B0502040204020203" pitchFamily="34" charset="-122"/>
              </a:rPr>
              <a:t>字节</a:t>
            </a:r>
          </a:p>
          <a:p>
            <a:pPr algn="ctr" eaLnBrk="0" hangingPunct="0">
              <a:lnSpc>
                <a:spcPct val="90000"/>
              </a:lnSpc>
            </a:pPr>
            <a:r>
              <a:rPr lang="zh-CN" altLang="en-US" sz="2000">
                <a:latin typeface="+mn-lt"/>
                <a:ea typeface="微软雅黑 Light" panose="020B0502040204020203" pitchFamily="34" charset="-122"/>
              </a:rPr>
              <a:t>固定</a:t>
            </a:r>
          </a:p>
          <a:p>
            <a:pPr algn="ctr" eaLnBrk="0" hangingPunct="0">
              <a:lnSpc>
                <a:spcPct val="90000"/>
              </a:lnSpc>
            </a:pPr>
            <a:r>
              <a:rPr lang="zh-CN" altLang="en-US" sz="2000">
                <a:latin typeface="+mn-lt"/>
                <a:ea typeface="微软雅黑 Light" panose="020B0502040204020203" pitchFamily="34" charset="-122"/>
              </a:rPr>
              <a:t>首部</a:t>
            </a:r>
          </a:p>
        </p:txBody>
      </p:sp>
      <p:sp>
        <p:nvSpPr>
          <p:cNvPr id="94" name="Rectangle 13"/>
          <p:cNvSpPr>
            <a:spLocks noChangeArrowheads="1"/>
          </p:cNvSpPr>
          <p:nvPr/>
        </p:nvSpPr>
        <p:spPr bwMode="auto">
          <a:xfrm>
            <a:off x="2178050" y="1665289"/>
            <a:ext cx="7686675" cy="4133850"/>
          </a:xfrm>
          <a:prstGeom prst="rect">
            <a:avLst/>
          </a:prstGeom>
          <a:solidFill>
            <a:schemeClr val="bg2"/>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95" name="Line 14"/>
          <p:cNvSpPr>
            <a:spLocks noChangeShapeType="1"/>
          </p:cNvSpPr>
          <p:nvPr/>
        </p:nvSpPr>
        <p:spPr bwMode="auto">
          <a:xfrm>
            <a:off x="2170113" y="2368552"/>
            <a:ext cx="76993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6" name="Line 15"/>
          <p:cNvSpPr>
            <a:spLocks noChangeShapeType="1"/>
          </p:cNvSpPr>
          <p:nvPr/>
        </p:nvSpPr>
        <p:spPr bwMode="auto">
          <a:xfrm>
            <a:off x="2184400" y="3063877"/>
            <a:ext cx="768508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7" name="Line 16"/>
          <p:cNvSpPr>
            <a:spLocks noChangeShapeType="1"/>
          </p:cNvSpPr>
          <p:nvPr/>
        </p:nvSpPr>
        <p:spPr bwMode="auto">
          <a:xfrm>
            <a:off x="2170113" y="3757614"/>
            <a:ext cx="76993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8" name="Line 17"/>
          <p:cNvSpPr>
            <a:spLocks noChangeShapeType="1"/>
          </p:cNvSpPr>
          <p:nvPr/>
        </p:nvSpPr>
        <p:spPr bwMode="auto">
          <a:xfrm>
            <a:off x="2170113" y="4449764"/>
            <a:ext cx="76993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9" name="Line 18"/>
          <p:cNvSpPr>
            <a:spLocks noChangeShapeType="1"/>
          </p:cNvSpPr>
          <p:nvPr/>
        </p:nvSpPr>
        <p:spPr bwMode="auto">
          <a:xfrm>
            <a:off x="2184400" y="5145089"/>
            <a:ext cx="768508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00" name="Line 19"/>
          <p:cNvSpPr>
            <a:spLocks noChangeShapeType="1"/>
          </p:cNvSpPr>
          <p:nvPr/>
        </p:nvSpPr>
        <p:spPr bwMode="auto">
          <a:xfrm>
            <a:off x="6022975" y="1673227"/>
            <a:ext cx="0" cy="7096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01" name="Rectangle 20"/>
          <p:cNvSpPr>
            <a:spLocks noChangeArrowheads="1"/>
          </p:cNvSpPr>
          <p:nvPr/>
        </p:nvSpPr>
        <p:spPr bwMode="auto">
          <a:xfrm>
            <a:off x="7223125" y="1800227"/>
            <a:ext cx="1593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目  的  端  口</a:t>
            </a:r>
          </a:p>
        </p:txBody>
      </p:sp>
      <p:sp>
        <p:nvSpPr>
          <p:cNvPr id="102" name="Rectangle 21"/>
          <p:cNvSpPr>
            <a:spLocks noChangeArrowheads="1"/>
          </p:cNvSpPr>
          <p:nvPr/>
        </p:nvSpPr>
        <p:spPr bwMode="auto">
          <a:xfrm>
            <a:off x="2332038" y="3722689"/>
            <a:ext cx="695325" cy="704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数据</a:t>
            </a:r>
          </a:p>
          <a:p>
            <a:pPr eaLnBrk="0" hangingPunct="0"/>
            <a:r>
              <a:rPr lang="zh-CN" altLang="en-US" sz="2000" dirty="0">
                <a:latin typeface="+mn-lt"/>
                <a:ea typeface="微软雅黑 Light" panose="020B0502040204020203" pitchFamily="34" charset="-122"/>
              </a:rPr>
              <a:t>偏移</a:t>
            </a:r>
          </a:p>
        </p:txBody>
      </p:sp>
      <p:sp>
        <p:nvSpPr>
          <p:cNvPr id="103" name="Rectangle 22"/>
          <p:cNvSpPr>
            <a:spLocks noChangeArrowheads="1"/>
          </p:cNvSpPr>
          <p:nvPr/>
        </p:nvSpPr>
        <p:spPr bwMode="auto">
          <a:xfrm>
            <a:off x="3411538" y="4587877"/>
            <a:ext cx="13366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检   验   和</a:t>
            </a:r>
          </a:p>
        </p:txBody>
      </p:sp>
      <p:sp>
        <p:nvSpPr>
          <p:cNvPr id="104" name="Rectangle 23"/>
          <p:cNvSpPr>
            <a:spLocks noChangeArrowheads="1"/>
          </p:cNvSpPr>
          <p:nvPr/>
        </p:nvSpPr>
        <p:spPr bwMode="auto">
          <a:xfrm>
            <a:off x="3694113" y="5237164"/>
            <a:ext cx="31988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选    项 长  度  可  变）</a:t>
            </a:r>
          </a:p>
        </p:txBody>
      </p:sp>
      <p:sp>
        <p:nvSpPr>
          <p:cNvPr id="105" name="Rectangle 24"/>
          <p:cNvSpPr>
            <a:spLocks noChangeArrowheads="1"/>
          </p:cNvSpPr>
          <p:nvPr/>
        </p:nvSpPr>
        <p:spPr bwMode="auto">
          <a:xfrm>
            <a:off x="3525838" y="1800227"/>
            <a:ext cx="12541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源  端  口</a:t>
            </a:r>
          </a:p>
        </p:txBody>
      </p:sp>
      <p:sp>
        <p:nvSpPr>
          <p:cNvPr id="106" name="Rectangle 25"/>
          <p:cNvSpPr>
            <a:spLocks noChangeArrowheads="1"/>
          </p:cNvSpPr>
          <p:nvPr/>
        </p:nvSpPr>
        <p:spPr bwMode="auto">
          <a:xfrm>
            <a:off x="5578475" y="2487614"/>
            <a:ext cx="1381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序   号</a:t>
            </a:r>
          </a:p>
        </p:txBody>
      </p:sp>
      <p:sp>
        <p:nvSpPr>
          <p:cNvPr id="107" name="Line 26"/>
          <p:cNvSpPr>
            <a:spLocks noChangeShapeType="1"/>
          </p:cNvSpPr>
          <p:nvPr/>
        </p:nvSpPr>
        <p:spPr bwMode="auto">
          <a:xfrm>
            <a:off x="6029325" y="3767139"/>
            <a:ext cx="0" cy="13700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08" name="Rectangle 27"/>
          <p:cNvSpPr>
            <a:spLocks noChangeArrowheads="1"/>
          </p:cNvSpPr>
          <p:nvPr/>
        </p:nvSpPr>
        <p:spPr bwMode="auto">
          <a:xfrm>
            <a:off x="7062788" y="4587877"/>
            <a:ext cx="17859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紧   急   指   针</a:t>
            </a:r>
          </a:p>
        </p:txBody>
      </p:sp>
      <p:sp>
        <p:nvSpPr>
          <p:cNvPr id="109" name="Rectangle 28"/>
          <p:cNvSpPr>
            <a:spLocks noChangeArrowheads="1"/>
          </p:cNvSpPr>
          <p:nvPr/>
        </p:nvSpPr>
        <p:spPr bwMode="auto">
          <a:xfrm>
            <a:off x="7512050" y="3868739"/>
            <a:ext cx="9223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窗   口</a:t>
            </a:r>
          </a:p>
        </p:txBody>
      </p:sp>
      <p:sp>
        <p:nvSpPr>
          <p:cNvPr id="110" name="Rectangle 29"/>
          <p:cNvSpPr>
            <a:spLocks noChangeArrowheads="1"/>
          </p:cNvSpPr>
          <p:nvPr/>
        </p:nvSpPr>
        <p:spPr bwMode="auto">
          <a:xfrm>
            <a:off x="5334000" y="3211514"/>
            <a:ext cx="18415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确    认    号</a:t>
            </a:r>
          </a:p>
        </p:txBody>
      </p:sp>
      <p:sp>
        <p:nvSpPr>
          <p:cNvPr id="111" name="Line 30"/>
          <p:cNvSpPr>
            <a:spLocks noChangeShapeType="1"/>
          </p:cNvSpPr>
          <p:nvPr/>
        </p:nvSpPr>
        <p:spPr bwMode="auto">
          <a:xfrm>
            <a:off x="3135313" y="3767139"/>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20" name="Line 39"/>
          <p:cNvSpPr>
            <a:spLocks noChangeShapeType="1"/>
          </p:cNvSpPr>
          <p:nvPr/>
        </p:nvSpPr>
        <p:spPr bwMode="auto">
          <a:xfrm>
            <a:off x="2174875" y="1508127"/>
            <a:ext cx="767556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21" name="Line 40"/>
          <p:cNvSpPr>
            <a:spLocks noChangeShapeType="1"/>
          </p:cNvSpPr>
          <p:nvPr/>
        </p:nvSpPr>
        <p:spPr bwMode="auto">
          <a:xfrm>
            <a:off x="2174875"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22" name="Line 41"/>
          <p:cNvSpPr>
            <a:spLocks noChangeShapeType="1"/>
          </p:cNvSpPr>
          <p:nvPr/>
        </p:nvSpPr>
        <p:spPr bwMode="auto">
          <a:xfrm>
            <a:off x="241458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23" name="Line 42"/>
          <p:cNvSpPr>
            <a:spLocks noChangeShapeType="1"/>
          </p:cNvSpPr>
          <p:nvPr/>
        </p:nvSpPr>
        <p:spPr bwMode="auto">
          <a:xfrm>
            <a:off x="2654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24" name="Line 43"/>
          <p:cNvSpPr>
            <a:spLocks noChangeShapeType="1"/>
          </p:cNvSpPr>
          <p:nvPr/>
        </p:nvSpPr>
        <p:spPr bwMode="auto">
          <a:xfrm>
            <a:off x="289401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25" name="Line 44"/>
          <p:cNvSpPr>
            <a:spLocks noChangeShapeType="1"/>
          </p:cNvSpPr>
          <p:nvPr/>
        </p:nvSpPr>
        <p:spPr bwMode="auto">
          <a:xfrm>
            <a:off x="313531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26" name="Line 45"/>
          <p:cNvSpPr>
            <a:spLocks noChangeShapeType="1"/>
          </p:cNvSpPr>
          <p:nvPr/>
        </p:nvSpPr>
        <p:spPr bwMode="auto">
          <a:xfrm>
            <a:off x="337502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27" name="Line 46"/>
          <p:cNvSpPr>
            <a:spLocks noChangeShapeType="1"/>
          </p:cNvSpPr>
          <p:nvPr/>
        </p:nvSpPr>
        <p:spPr bwMode="auto">
          <a:xfrm>
            <a:off x="361315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28" name="Line 47"/>
          <p:cNvSpPr>
            <a:spLocks noChangeShapeType="1"/>
          </p:cNvSpPr>
          <p:nvPr/>
        </p:nvSpPr>
        <p:spPr bwMode="auto">
          <a:xfrm>
            <a:off x="385286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29" name="Line 48"/>
          <p:cNvSpPr>
            <a:spLocks noChangeShapeType="1"/>
          </p:cNvSpPr>
          <p:nvPr/>
        </p:nvSpPr>
        <p:spPr bwMode="auto">
          <a:xfrm>
            <a:off x="4094163"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30" name="Line 49"/>
          <p:cNvSpPr>
            <a:spLocks noChangeShapeType="1"/>
          </p:cNvSpPr>
          <p:nvPr/>
        </p:nvSpPr>
        <p:spPr bwMode="auto">
          <a:xfrm>
            <a:off x="433387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31" name="Line 50"/>
          <p:cNvSpPr>
            <a:spLocks noChangeShapeType="1"/>
          </p:cNvSpPr>
          <p:nvPr/>
        </p:nvSpPr>
        <p:spPr bwMode="auto">
          <a:xfrm>
            <a:off x="457358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32" name="Line 51"/>
          <p:cNvSpPr>
            <a:spLocks noChangeShapeType="1"/>
          </p:cNvSpPr>
          <p:nvPr/>
        </p:nvSpPr>
        <p:spPr bwMode="auto">
          <a:xfrm>
            <a:off x="4813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33" name="Line 52"/>
          <p:cNvSpPr>
            <a:spLocks noChangeShapeType="1"/>
          </p:cNvSpPr>
          <p:nvPr/>
        </p:nvSpPr>
        <p:spPr bwMode="auto">
          <a:xfrm>
            <a:off x="50546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34" name="Line 53"/>
          <p:cNvSpPr>
            <a:spLocks noChangeShapeType="1"/>
          </p:cNvSpPr>
          <p:nvPr/>
        </p:nvSpPr>
        <p:spPr bwMode="auto">
          <a:xfrm>
            <a:off x="529431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35" name="Line 54"/>
          <p:cNvSpPr>
            <a:spLocks noChangeShapeType="1"/>
          </p:cNvSpPr>
          <p:nvPr/>
        </p:nvSpPr>
        <p:spPr bwMode="auto">
          <a:xfrm>
            <a:off x="553243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36" name="Line 55"/>
          <p:cNvSpPr>
            <a:spLocks noChangeShapeType="1"/>
          </p:cNvSpPr>
          <p:nvPr/>
        </p:nvSpPr>
        <p:spPr bwMode="auto">
          <a:xfrm>
            <a:off x="577215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37" name="Line 56"/>
          <p:cNvSpPr>
            <a:spLocks noChangeShapeType="1"/>
          </p:cNvSpPr>
          <p:nvPr/>
        </p:nvSpPr>
        <p:spPr bwMode="auto">
          <a:xfrm>
            <a:off x="6011863"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38" name="Line 57"/>
          <p:cNvSpPr>
            <a:spLocks noChangeShapeType="1"/>
          </p:cNvSpPr>
          <p:nvPr/>
        </p:nvSpPr>
        <p:spPr bwMode="auto">
          <a:xfrm>
            <a:off x="625316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39" name="Line 58"/>
          <p:cNvSpPr>
            <a:spLocks noChangeShapeType="1"/>
          </p:cNvSpPr>
          <p:nvPr/>
        </p:nvSpPr>
        <p:spPr bwMode="auto">
          <a:xfrm>
            <a:off x="649287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40" name="Line 59"/>
          <p:cNvSpPr>
            <a:spLocks noChangeShapeType="1"/>
          </p:cNvSpPr>
          <p:nvPr/>
        </p:nvSpPr>
        <p:spPr bwMode="auto">
          <a:xfrm>
            <a:off x="673258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41" name="Line 60"/>
          <p:cNvSpPr>
            <a:spLocks noChangeShapeType="1"/>
          </p:cNvSpPr>
          <p:nvPr/>
        </p:nvSpPr>
        <p:spPr bwMode="auto">
          <a:xfrm>
            <a:off x="6972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42" name="Line 61"/>
          <p:cNvSpPr>
            <a:spLocks noChangeShapeType="1"/>
          </p:cNvSpPr>
          <p:nvPr/>
        </p:nvSpPr>
        <p:spPr bwMode="auto">
          <a:xfrm>
            <a:off x="72136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43" name="Line 62"/>
          <p:cNvSpPr>
            <a:spLocks noChangeShapeType="1"/>
          </p:cNvSpPr>
          <p:nvPr/>
        </p:nvSpPr>
        <p:spPr bwMode="auto">
          <a:xfrm>
            <a:off x="745172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44" name="Line 63"/>
          <p:cNvSpPr>
            <a:spLocks noChangeShapeType="1"/>
          </p:cNvSpPr>
          <p:nvPr/>
        </p:nvSpPr>
        <p:spPr bwMode="auto">
          <a:xfrm>
            <a:off x="769143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45" name="Line 64"/>
          <p:cNvSpPr>
            <a:spLocks noChangeShapeType="1"/>
          </p:cNvSpPr>
          <p:nvPr/>
        </p:nvSpPr>
        <p:spPr bwMode="auto">
          <a:xfrm>
            <a:off x="7931150"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46" name="Line 65"/>
          <p:cNvSpPr>
            <a:spLocks noChangeShapeType="1"/>
          </p:cNvSpPr>
          <p:nvPr/>
        </p:nvSpPr>
        <p:spPr bwMode="auto">
          <a:xfrm>
            <a:off x="817086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47" name="Line 66"/>
          <p:cNvSpPr>
            <a:spLocks noChangeShapeType="1"/>
          </p:cNvSpPr>
          <p:nvPr/>
        </p:nvSpPr>
        <p:spPr bwMode="auto">
          <a:xfrm>
            <a:off x="841216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48" name="Line 67"/>
          <p:cNvSpPr>
            <a:spLocks noChangeShapeType="1"/>
          </p:cNvSpPr>
          <p:nvPr/>
        </p:nvSpPr>
        <p:spPr bwMode="auto">
          <a:xfrm>
            <a:off x="865187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49" name="Line 68"/>
          <p:cNvSpPr>
            <a:spLocks noChangeShapeType="1"/>
          </p:cNvSpPr>
          <p:nvPr/>
        </p:nvSpPr>
        <p:spPr bwMode="auto">
          <a:xfrm>
            <a:off x="889158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50" name="Line 69"/>
          <p:cNvSpPr>
            <a:spLocks noChangeShapeType="1"/>
          </p:cNvSpPr>
          <p:nvPr/>
        </p:nvSpPr>
        <p:spPr bwMode="auto">
          <a:xfrm>
            <a:off x="9131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51" name="Line 70"/>
          <p:cNvSpPr>
            <a:spLocks noChangeShapeType="1"/>
          </p:cNvSpPr>
          <p:nvPr/>
        </p:nvSpPr>
        <p:spPr bwMode="auto">
          <a:xfrm>
            <a:off x="937101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52" name="Line 71"/>
          <p:cNvSpPr>
            <a:spLocks noChangeShapeType="1"/>
          </p:cNvSpPr>
          <p:nvPr/>
        </p:nvSpPr>
        <p:spPr bwMode="auto">
          <a:xfrm>
            <a:off x="961072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53" name="Line 72"/>
          <p:cNvSpPr>
            <a:spLocks noChangeShapeType="1"/>
          </p:cNvSpPr>
          <p:nvPr/>
        </p:nvSpPr>
        <p:spPr bwMode="auto">
          <a:xfrm>
            <a:off x="9850438"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54" name="Rectangle 73"/>
          <p:cNvSpPr>
            <a:spLocks noChangeArrowheads="1"/>
          </p:cNvSpPr>
          <p:nvPr/>
        </p:nvSpPr>
        <p:spPr bwMode="auto">
          <a:xfrm>
            <a:off x="2333625"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155" name="Rectangle 74"/>
          <p:cNvSpPr>
            <a:spLocks noChangeArrowheads="1"/>
          </p:cNvSpPr>
          <p:nvPr/>
        </p:nvSpPr>
        <p:spPr bwMode="auto">
          <a:xfrm>
            <a:off x="4252913"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156" name="Rectangle 75"/>
          <p:cNvSpPr>
            <a:spLocks noChangeArrowheads="1"/>
          </p:cNvSpPr>
          <p:nvPr/>
        </p:nvSpPr>
        <p:spPr bwMode="auto">
          <a:xfrm>
            <a:off x="6172200"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157" name="Rectangle 76"/>
          <p:cNvSpPr>
            <a:spLocks noChangeArrowheads="1"/>
          </p:cNvSpPr>
          <p:nvPr/>
        </p:nvSpPr>
        <p:spPr bwMode="auto">
          <a:xfrm>
            <a:off x="8091488"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164" name="Line 83"/>
          <p:cNvSpPr>
            <a:spLocks noChangeShapeType="1"/>
          </p:cNvSpPr>
          <p:nvPr/>
        </p:nvSpPr>
        <p:spPr bwMode="auto">
          <a:xfrm flipH="1">
            <a:off x="7929563" y="5162552"/>
            <a:ext cx="3175" cy="6429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165" name="Rectangle 84"/>
          <p:cNvSpPr>
            <a:spLocks noChangeArrowheads="1"/>
          </p:cNvSpPr>
          <p:nvPr/>
        </p:nvSpPr>
        <p:spPr bwMode="auto">
          <a:xfrm>
            <a:off x="8442325" y="5229227"/>
            <a:ext cx="1254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填    充</a:t>
            </a:r>
          </a:p>
        </p:txBody>
      </p:sp>
      <p:sp>
        <p:nvSpPr>
          <p:cNvPr id="166" name="Line 85"/>
          <p:cNvSpPr>
            <a:spLocks noChangeShapeType="1"/>
          </p:cNvSpPr>
          <p:nvPr/>
        </p:nvSpPr>
        <p:spPr bwMode="auto">
          <a:xfrm>
            <a:off x="9971088" y="1641477"/>
            <a:ext cx="5175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167" name="Line 86"/>
          <p:cNvSpPr>
            <a:spLocks noChangeShapeType="1"/>
          </p:cNvSpPr>
          <p:nvPr/>
        </p:nvSpPr>
        <p:spPr bwMode="auto">
          <a:xfrm>
            <a:off x="9971088" y="5137152"/>
            <a:ext cx="5175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168" name="Line 87"/>
          <p:cNvSpPr>
            <a:spLocks noChangeShapeType="1"/>
          </p:cNvSpPr>
          <p:nvPr/>
        </p:nvSpPr>
        <p:spPr bwMode="auto">
          <a:xfrm>
            <a:off x="1582738" y="1679577"/>
            <a:ext cx="5302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169" name="Line 88"/>
          <p:cNvSpPr>
            <a:spLocks noChangeShapeType="1"/>
          </p:cNvSpPr>
          <p:nvPr/>
        </p:nvSpPr>
        <p:spPr bwMode="auto">
          <a:xfrm>
            <a:off x="1597025" y="5780089"/>
            <a:ext cx="5302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89" name="灯片编号占位符 5"/>
          <p:cNvSpPr>
            <a:spLocks noGrp="1"/>
          </p:cNvSpPr>
          <p:nvPr>
            <p:ph type="sldNum" sz="quarter" idx="12"/>
          </p:nvPr>
        </p:nvSpPr>
        <p:spPr/>
        <p:txBody>
          <a:bodyPr/>
          <a:lstStyle/>
          <a:p>
            <a:fld id="{ECC699C2-2367-44FE-A9CD-329AE490849B}" type="slidenum">
              <a:rPr lang="en-US" altLang="zh-CN"/>
              <a:t>41</a:t>
            </a:fld>
            <a:endParaRPr lang="en-US" altLang="zh-CN"/>
          </a:p>
        </p:txBody>
      </p:sp>
      <p:sp>
        <p:nvSpPr>
          <p:cNvPr id="432212" name="Text Box 84"/>
          <p:cNvSpPr txBox="1">
            <a:spLocks noChangeArrowheads="1"/>
          </p:cNvSpPr>
          <p:nvPr/>
        </p:nvSpPr>
        <p:spPr bwMode="auto">
          <a:xfrm>
            <a:off x="1056000" y="5972457"/>
            <a:ext cx="10080000" cy="398780"/>
          </a:xfrm>
          <a:prstGeom prst="rect">
            <a:avLst/>
          </a:prstGeom>
          <a:noFill/>
          <a:ln>
            <a:noFill/>
          </a:ln>
          <a:effectLst/>
        </p:spPr>
        <p:txBody>
          <a:bodyPr>
            <a:spAutoFit/>
          </a:bodyPr>
          <a:lstStyle>
            <a:defPPr>
              <a:defRPr lang="zh-CN"/>
            </a:defPPr>
            <a:lvl1pPr>
              <a:defRPr>
                <a:latin typeface="微软雅黑 Light" panose="020B0502040204020203" pitchFamily="34" charset="-122"/>
                <a:ea typeface="微软雅黑 Light" panose="020B0502040204020203" pitchFamily="34" charset="-122"/>
              </a:defRPr>
            </a:lvl1pPr>
          </a:lstStyle>
          <a:p>
            <a:pPr marL="342900" indent="-342900" algn="ctr">
              <a:buFont typeface="Wingdings" panose="05000000000000000000" pitchFamily="2" charset="2"/>
              <a:buChar char="Ø"/>
            </a:pPr>
            <a:r>
              <a:rPr lang="zh-CN" altLang="en-US" dirty="0"/>
              <a:t>确认</a:t>
            </a:r>
            <a:r>
              <a:rPr lang="en-US" altLang="zh-CN" dirty="0"/>
              <a:t>ACK</a:t>
            </a:r>
            <a:r>
              <a:rPr lang="zh-CN" altLang="en-US" dirty="0"/>
              <a:t>：只有当 </a:t>
            </a:r>
            <a:r>
              <a:rPr lang="en-US" altLang="zh-CN" dirty="0"/>
              <a:t>ACK</a:t>
            </a:r>
            <a:r>
              <a:rPr lang="en-US" altLang="zh-CN" dirty="0">
                <a:sym typeface="Symbol" panose="05050102010706020507" pitchFamily="18" charset="2"/>
              </a:rPr>
              <a:t></a:t>
            </a:r>
            <a:r>
              <a:rPr lang="en-US" altLang="zh-CN" dirty="0"/>
              <a:t>1</a:t>
            </a:r>
            <a:r>
              <a:rPr lang="zh-CN" altLang="en-US" dirty="0"/>
              <a:t>时确认号字段才有效。当</a:t>
            </a:r>
            <a:r>
              <a:rPr lang="en-US" altLang="zh-CN" dirty="0"/>
              <a:t>ACK</a:t>
            </a:r>
            <a:r>
              <a:rPr lang="en-US" altLang="zh-CN" dirty="0">
                <a:sym typeface="Symbol" panose="05050102010706020507" pitchFamily="18" charset="2"/>
              </a:rPr>
              <a:t></a:t>
            </a:r>
            <a:r>
              <a:rPr lang="en-US" altLang="zh-CN" dirty="0"/>
              <a:t>0 </a:t>
            </a:r>
            <a:r>
              <a:rPr lang="zh-CN" altLang="en-US" dirty="0"/>
              <a:t>时，确认号无效 </a:t>
            </a:r>
          </a:p>
        </p:txBody>
      </p:sp>
      <p:sp>
        <p:nvSpPr>
          <p:cNvPr id="432296" name="Rectangle 168"/>
          <p:cNvSpPr>
            <a:spLocks noGrp="1" noChangeArrowheads="1"/>
          </p:cNvSpPr>
          <p:nvPr>
            <p:ph type="title"/>
          </p:nvPr>
        </p:nvSpPr>
        <p:spPr>
          <a:noFill/>
        </p:spPr>
        <p:txBody>
          <a:bodyPr/>
          <a:lstStyle/>
          <a:p>
            <a:r>
              <a:rPr lang="en-US" altLang="zh-CN" dirty="0"/>
              <a:t>TCP</a:t>
            </a:r>
            <a:r>
              <a:rPr lang="zh-CN" altLang="en-US" dirty="0"/>
              <a:t>的报头字段</a:t>
            </a:r>
            <a:endParaRPr lang="en-US" altLang="zh-CN" dirty="0"/>
          </a:p>
        </p:txBody>
      </p:sp>
      <p:sp>
        <p:nvSpPr>
          <p:cNvPr id="87" name="Line 30"/>
          <p:cNvSpPr>
            <a:spLocks noChangeShapeType="1"/>
          </p:cNvSpPr>
          <p:nvPr/>
        </p:nvSpPr>
        <p:spPr bwMode="auto">
          <a:xfrm>
            <a:off x="3135313" y="3767139"/>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0" name="Line 31"/>
          <p:cNvSpPr>
            <a:spLocks noChangeShapeType="1"/>
          </p:cNvSpPr>
          <p:nvPr/>
        </p:nvSpPr>
        <p:spPr bwMode="auto">
          <a:xfrm>
            <a:off x="5062538" y="3759202"/>
            <a:ext cx="0" cy="6842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1" name="Line 32"/>
          <p:cNvSpPr>
            <a:spLocks noChangeShapeType="1"/>
          </p:cNvSpPr>
          <p:nvPr/>
        </p:nvSpPr>
        <p:spPr bwMode="auto">
          <a:xfrm>
            <a:off x="4572001" y="3761583"/>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2" name="Line 33"/>
          <p:cNvSpPr>
            <a:spLocks noChangeShapeType="1"/>
          </p:cNvSpPr>
          <p:nvPr/>
        </p:nvSpPr>
        <p:spPr bwMode="auto">
          <a:xfrm>
            <a:off x="4813300"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3" name="Line 34"/>
          <p:cNvSpPr>
            <a:spLocks noChangeShapeType="1"/>
          </p:cNvSpPr>
          <p:nvPr/>
        </p:nvSpPr>
        <p:spPr bwMode="auto">
          <a:xfrm>
            <a:off x="5543550"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4" name="Line 35"/>
          <p:cNvSpPr>
            <a:spLocks noChangeShapeType="1"/>
          </p:cNvSpPr>
          <p:nvPr/>
        </p:nvSpPr>
        <p:spPr bwMode="auto">
          <a:xfrm>
            <a:off x="5302250"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5" name="Line 36"/>
          <p:cNvSpPr>
            <a:spLocks noChangeShapeType="1"/>
          </p:cNvSpPr>
          <p:nvPr/>
        </p:nvSpPr>
        <p:spPr bwMode="auto">
          <a:xfrm>
            <a:off x="5788025"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6" name="Rectangle 37"/>
          <p:cNvSpPr>
            <a:spLocks noChangeArrowheads="1"/>
          </p:cNvSpPr>
          <p:nvPr/>
        </p:nvSpPr>
        <p:spPr bwMode="auto">
          <a:xfrm>
            <a:off x="3198280" y="3867686"/>
            <a:ext cx="72548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保留</a:t>
            </a:r>
          </a:p>
        </p:txBody>
      </p:sp>
      <p:sp>
        <p:nvSpPr>
          <p:cNvPr id="183" name="Line 32"/>
          <p:cNvSpPr>
            <a:spLocks noChangeShapeType="1"/>
          </p:cNvSpPr>
          <p:nvPr/>
        </p:nvSpPr>
        <p:spPr bwMode="auto">
          <a:xfrm>
            <a:off x="4079776" y="3757614"/>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84" name="Line 33"/>
          <p:cNvSpPr>
            <a:spLocks noChangeShapeType="1"/>
          </p:cNvSpPr>
          <p:nvPr/>
        </p:nvSpPr>
        <p:spPr bwMode="auto">
          <a:xfrm>
            <a:off x="4314850" y="3768726"/>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432213" name="Rectangle 85"/>
          <p:cNvSpPr>
            <a:spLocks noChangeArrowheads="1"/>
          </p:cNvSpPr>
          <p:nvPr/>
        </p:nvSpPr>
        <p:spPr bwMode="auto">
          <a:xfrm>
            <a:off x="4800600" y="3716338"/>
            <a:ext cx="317500" cy="717550"/>
          </a:xfrm>
          <a:prstGeom prst="rect">
            <a:avLst/>
          </a:prstGeom>
          <a:noFill/>
          <a:ln w="7620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2" name="Rectangle 82">
            <a:extLst>
              <a:ext uri="{FF2B5EF4-FFF2-40B4-BE49-F238E27FC236}">
                <a16:creationId xmlns:a16="http://schemas.microsoft.com/office/drawing/2014/main" id="{5F19E937-1C77-2927-0B19-C001CA26EA0D}"/>
              </a:ext>
            </a:extLst>
          </p:cNvPr>
          <p:cNvSpPr>
            <a:spLocks noChangeArrowheads="1"/>
          </p:cNvSpPr>
          <p:nvPr/>
        </p:nvSpPr>
        <p:spPr bwMode="auto">
          <a:xfrm>
            <a:off x="1812925" y="908720"/>
            <a:ext cx="8261878"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位 </a:t>
            </a:r>
            <a:r>
              <a:rPr lang="en-US" altLang="zh-CN" sz="2000" dirty="0">
                <a:latin typeface="+mn-lt"/>
                <a:ea typeface="微软雅黑 Light" panose="020B0502040204020203" pitchFamily="34" charset="-122"/>
              </a:rPr>
              <a:t>0                           8                           16                          24                          31</a:t>
            </a:r>
          </a:p>
        </p:txBody>
      </p:sp>
      <p:sp>
        <p:nvSpPr>
          <p:cNvPr id="3" name="Rectangle 38">
            <a:extLst>
              <a:ext uri="{FF2B5EF4-FFF2-40B4-BE49-F238E27FC236}">
                <a16:creationId xmlns:a16="http://schemas.microsoft.com/office/drawing/2014/main" id="{DFD93BE9-3F0C-DF00-1CBB-9535D7B38CC8}"/>
              </a:ext>
            </a:extLst>
          </p:cNvPr>
          <p:cNvSpPr>
            <a:spLocks noChangeArrowheads="1"/>
          </p:cNvSpPr>
          <p:nvPr/>
        </p:nvSpPr>
        <p:spPr bwMode="auto">
          <a:xfrm rot="16200000">
            <a:off x="5661677" y="3966403"/>
            <a:ext cx="535405"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lnSpc>
                <a:spcPct val="75000"/>
              </a:lnSpc>
            </a:pPr>
            <a:r>
              <a:rPr lang="en-US" altLang="zh-CN" sz="1600" b="1" dirty="0">
                <a:latin typeface="+mn-lt"/>
                <a:ea typeface="微软雅黑 Light" panose="020B0502040204020203" pitchFamily="34" charset="-122"/>
              </a:rPr>
              <a:t>FIN</a:t>
            </a:r>
          </a:p>
        </p:txBody>
      </p:sp>
      <p:sp>
        <p:nvSpPr>
          <p:cNvPr id="4" name="Rectangle 77">
            <a:extLst>
              <a:ext uri="{FF2B5EF4-FFF2-40B4-BE49-F238E27FC236}">
                <a16:creationId xmlns:a16="http://schemas.microsoft.com/office/drawing/2014/main" id="{C54EABA4-D7CB-6B23-F5CC-70F7EE124B93}"/>
              </a:ext>
            </a:extLst>
          </p:cNvPr>
          <p:cNvSpPr>
            <a:spLocks noChangeArrowheads="1"/>
          </p:cNvSpPr>
          <p:nvPr/>
        </p:nvSpPr>
        <p:spPr bwMode="auto">
          <a:xfrm rot="16200000">
            <a:off x="5401703" y="3936764"/>
            <a:ext cx="591510"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SYN</a:t>
            </a:r>
          </a:p>
        </p:txBody>
      </p:sp>
      <p:sp>
        <p:nvSpPr>
          <p:cNvPr id="5" name="Rectangle 78">
            <a:extLst>
              <a:ext uri="{FF2B5EF4-FFF2-40B4-BE49-F238E27FC236}">
                <a16:creationId xmlns:a16="http://schemas.microsoft.com/office/drawing/2014/main" id="{8B7ABDD6-6383-11E3-C24E-F1E2C888BCCF}"/>
              </a:ext>
            </a:extLst>
          </p:cNvPr>
          <p:cNvSpPr>
            <a:spLocks noChangeArrowheads="1"/>
          </p:cNvSpPr>
          <p:nvPr/>
        </p:nvSpPr>
        <p:spPr bwMode="auto">
          <a:xfrm rot="16200000">
            <a:off x="5115446" y="3917780"/>
            <a:ext cx="618290"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RST</a:t>
            </a:r>
          </a:p>
        </p:txBody>
      </p:sp>
      <p:sp>
        <p:nvSpPr>
          <p:cNvPr id="6" name="Rectangle 79">
            <a:extLst>
              <a:ext uri="{FF2B5EF4-FFF2-40B4-BE49-F238E27FC236}">
                <a16:creationId xmlns:a16="http://schemas.microsoft.com/office/drawing/2014/main" id="{2831EA9E-D626-006A-8AC8-F841CE882F51}"/>
              </a:ext>
            </a:extLst>
          </p:cNvPr>
          <p:cNvSpPr>
            <a:spLocks noChangeArrowheads="1"/>
          </p:cNvSpPr>
          <p:nvPr/>
        </p:nvSpPr>
        <p:spPr bwMode="auto">
          <a:xfrm rot="16200000">
            <a:off x="4890356" y="3938731"/>
            <a:ext cx="600108"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PSH  </a:t>
            </a:r>
          </a:p>
        </p:txBody>
      </p:sp>
      <p:sp>
        <p:nvSpPr>
          <p:cNvPr id="7" name="Rectangle 80">
            <a:extLst>
              <a:ext uri="{FF2B5EF4-FFF2-40B4-BE49-F238E27FC236}">
                <a16:creationId xmlns:a16="http://schemas.microsoft.com/office/drawing/2014/main" id="{06B88C80-EE96-7152-B86F-258578346E8B}"/>
              </a:ext>
            </a:extLst>
          </p:cNvPr>
          <p:cNvSpPr>
            <a:spLocks noChangeArrowheads="1"/>
          </p:cNvSpPr>
          <p:nvPr/>
        </p:nvSpPr>
        <p:spPr bwMode="auto">
          <a:xfrm rot="16200000">
            <a:off x="4579000" y="3916214"/>
            <a:ext cx="730250"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ACK</a:t>
            </a:r>
          </a:p>
        </p:txBody>
      </p:sp>
      <p:sp>
        <p:nvSpPr>
          <p:cNvPr id="8" name="Rectangle 81">
            <a:extLst>
              <a:ext uri="{FF2B5EF4-FFF2-40B4-BE49-F238E27FC236}">
                <a16:creationId xmlns:a16="http://schemas.microsoft.com/office/drawing/2014/main" id="{E663A71F-E5EC-374A-BCC0-12196972AD4A}"/>
              </a:ext>
            </a:extLst>
          </p:cNvPr>
          <p:cNvSpPr>
            <a:spLocks noChangeArrowheads="1"/>
          </p:cNvSpPr>
          <p:nvPr/>
        </p:nvSpPr>
        <p:spPr bwMode="auto">
          <a:xfrm rot="16200000">
            <a:off x="4342408" y="3894364"/>
            <a:ext cx="761997"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URG</a:t>
            </a:r>
          </a:p>
        </p:txBody>
      </p:sp>
      <p:sp>
        <p:nvSpPr>
          <p:cNvPr id="9" name="Rectangle 81">
            <a:extLst>
              <a:ext uri="{FF2B5EF4-FFF2-40B4-BE49-F238E27FC236}">
                <a16:creationId xmlns:a16="http://schemas.microsoft.com/office/drawing/2014/main" id="{A33A34CF-582E-0949-E73C-549F4676B242}"/>
              </a:ext>
            </a:extLst>
          </p:cNvPr>
          <p:cNvSpPr>
            <a:spLocks noChangeArrowheads="1"/>
          </p:cNvSpPr>
          <p:nvPr/>
        </p:nvSpPr>
        <p:spPr bwMode="auto">
          <a:xfrm rot="16200000">
            <a:off x="3855770" y="3928543"/>
            <a:ext cx="721634"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CWR</a:t>
            </a:r>
          </a:p>
        </p:txBody>
      </p:sp>
      <p:sp>
        <p:nvSpPr>
          <p:cNvPr id="10" name="Rectangle 81">
            <a:extLst>
              <a:ext uri="{FF2B5EF4-FFF2-40B4-BE49-F238E27FC236}">
                <a16:creationId xmlns:a16="http://schemas.microsoft.com/office/drawing/2014/main" id="{10C7ADF5-C0C9-BD28-7AE3-AF794F805A73}"/>
              </a:ext>
            </a:extLst>
          </p:cNvPr>
          <p:cNvSpPr>
            <a:spLocks noChangeArrowheads="1"/>
          </p:cNvSpPr>
          <p:nvPr/>
        </p:nvSpPr>
        <p:spPr bwMode="auto">
          <a:xfrm rot="16200000">
            <a:off x="4124919" y="3912163"/>
            <a:ext cx="704221"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ECE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2213"/>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43221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2213" grpId="0" animBg="1"/>
      <p:bldP spid="432213" grpId="1"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 name="Line 9"/>
          <p:cNvSpPr>
            <a:spLocks noChangeShapeType="1"/>
          </p:cNvSpPr>
          <p:nvPr/>
        </p:nvSpPr>
        <p:spPr bwMode="auto">
          <a:xfrm flipH="1">
            <a:off x="1852613" y="1668464"/>
            <a:ext cx="17463" cy="4122738"/>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52" name="Rectangle 10"/>
          <p:cNvSpPr>
            <a:spLocks noChangeArrowheads="1"/>
          </p:cNvSpPr>
          <p:nvPr/>
        </p:nvSpPr>
        <p:spPr bwMode="auto">
          <a:xfrm>
            <a:off x="1524000" y="3268664"/>
            <a:ext cx="696913" cy="6445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90000"/>
              </a:lnSpc>
            </a:pPr>
            <a:r>
              <a:rPr lang="en-US" altLang="zh-CN" sz="2000">
                <a:latin typeface="+mn-lt"/>
                <a:ea typeface="微软雅黑 Light" panose="020B0502040204020203" pitchFamily="34" charset="-122"/>
              </a:rPr>
              <a:t>TCP</a:t>
            </a:r>
          </a:p>
          <a:p>
            <a:pPr eaLnBrk="0" hangingPunct="0">
              <a:lnSpc>
                <a:spcPct val="90000"/>
              </a:lnSpc>
            </a:pPr>
            <a:r>
              <a:rPr lang="zh-CN" altLang="en-US" sz="2000">
                <a:latin typeface="+mn-lt"/>
                <a:ea typeface="微软雅黑 Light" panose="020B0502040204020203" pitchFamily="34" charset="-122"/>
              </a:rPr>
              <a:t>首部</a:t>
            </a:r>
          </a:p>
        </p:txBody>
      </p:sp>
      <p:sp>
        <p:nvSpPr>
          <p:cNvPr id="253" name="Line 11"/>
          <p:cNvSpPr>
            <a:spLocks noChangeShapeType="1"/>
          </p:cNvSpPr>
          <p:nvPr/>
        </p:nvSpPr>
        <p:spPr bwMode="auto">
          <a:xfrm>
            <a:off x="10272713" y="1658939"/>
            <a:ext cx="0" cy="3463925"/>
          </a:xfrm>
          <a:prstGeom prst="line">
            <a:avLst/>
          </a:prstGeom>
          <a:noFill/>
          <a:ln w="1905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54" name="Rectangle 12"/>
          <p:cNvSpPr>
            <a:spLocks noChangeArrowheads="1"/>
          </p:cNvSpPr>
          <p:nvPr/>
        </p:nvSpPr>
        <p:spPr bwMode="auto">
          <a:xfrm>
            <a:off x="9909175" y="2736852"/>
            <a:ext cx="695325" cy="119697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lnSpc>
                <a:spcPct val="90000"/>
              </a:lnSpc>
            </a:pPr>
            <a:r>
              <a:rPr lang="en-US" altLang="zh-CN" sz="2000">
                <a:latin typeface="+mn-lt"/>
                <a:ea typeface="微软雅黑 Light" panose="020B0502040204020203" pitchFamily="34" charset="-122"/>
              </a:rPr>
              <a:t>20</a:t>
            </a:r>
          </a:p>
          <a:p>
            <a:pPr algn="ctr" eaLnBrk="0" hangingPunct="0">
              <a:lnSpc>
                <a:spcPct val="90000"/>
              </a:lnSpc>
            </a:pPr>
            <a:r>
              <a:rPr lang="zh-CN" altLang="en-US" sz="2000">
                <a:latin typeface="+mn-lt"/>
                <a:ea typeface="微软雅黑 Light" panose="020B0502040204020203" pitchFamily="34" charset="-122"/>
              </a:rPr>
              <a:t>字节</a:t>
            </a:r>
          </a:p>
          <a:p>
            <a:pPr algn="ctr" eaLnBrk="0" hangingPunct="0">
              <a:lnSpc>
                <a:spcPct val="90000"/>
              </a:lnSpc>
            </a:pPr>
            <a:r>
              <a:rPr lang="zh-CN" altLang="en-US" sz="2000">
                <a:latin typeface="+mn-lt"/>
                <a:ea typeface="微软雅黑 Light" panose="020B0502040204020203" pitchFamily="34" charset="-122"/>
              </a:rPr>
              <a:t>固定</a:t>
            </a:r>
          </a:p>
          <a:p>
            <a:pPr algn="ctr" eaLnBrk="0" hangingPunct="0">
              <a:lnSpc>
                <a:spcPct val="90000"/>
              </a:lnSpc>
            </a:pPr>
            <a:r>
              <a:rPr lang="zh-CN" altLang="en-US" sz="2000">
                <a:latin typeface="+mn-lt"/>
                <a:ea typeface="微软雅黑 Light" panose="020B0502040204020203" pitchFamily="34" charset="-122"/>
              </a:rPr>
              <a:t>首部</a:t>
            </a:r>
          </a:p>
        </p:txBody>
      </p:sp>
      <p:sp>
        <p:nvSpPr>
          <p:cNvPr id="255" name="Rectangle 13"/>
          <p:cNvSpPr>
            <a:spLocks noChangeArrowheads="1"/>
          </p:cNvSpPr>
          <p:nvPr/>
        </p:nvSpPr>
        <p:spPr bwMode="auto">
          <a:xfrm>
            <a:off x="2178050" y="1665289"/>
            <a:ext cx="7686675" cy="4133850"/>
          </a:xfrm>
          <a:prstGeom prst="rect">
            <a:avLst/>
          </a:prstGeom>
          <a:solidFill>
            <a:schemeClr val="bg2"/>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256" name="Line 14"/>
          <p:cNvSpPr>
            <a:spLocks noChangeShapeType="1"/>
          </p:cNvSpPr>
          <p:nvPr/>
        </p:nvSpPr>
        <p:spPr bwMode="auto">
          <a:xfrm>
            <a:off x="2170113" y="2368552"/>
            <a:ext cx="76993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57" name="Line 15"/>
          <p:cNvSpPr>
            <a:spLocks noChangeShapeType="1"/>
          </p:cNvSpPr>
          <p:nvPr/>
        </p:nvSpPr>
        <p:spPr bwMode="auto">
          <a:xfrm>
            <a:off x="2184400" y="3063877"/>
            <a:ext cx="768508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58" name="Line 16"/>
          <p:cNvSpPr>
            <a:spLocks noChangeShapeType="1"/>
          </p:cNvSpPr>
          <p:nvPr/>
        </p:nvSpPr>
        <p:spPr bwMode="auto">
          <a:xfrm>
            <a:off x="2170113" y="3757614"/>
            <a:ext cx="76993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59" name="Line 17"/>
          <p:cNvSpPr>
            <a:spLocks noChangeShapeType="1"/>
          </p:cNvSpPr>
          <p:nvPr/>
        </p:nvSpPr>
        <p:spPr bwMode="auto">
          <a:xfrm>
            <a:off x="2170113" y="4449764"/>
            <a:ext cx="76993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60" name="Line 18"/>
          <p:cNvSpPr>
            <a:spLocks noChangeShapeType="1"/>
          </p:cNvSpPr>
          <p:nvPr/>
        </p:nvSpPr>
        <p:spPr bwMode="auto">
          <a:xfrm>
            <a:off x="2184400" y="5145089"/>
            <a:ext cx="768508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61" name="Line 19"/>
          <p:cNvSpPr>
            <a:spLocks noChangeShapeType="1"/>
          </p:cNvSpPr>
          <p:nvPr/>
        </p:nvSpPr>
        <p:spPr bwMode="auto">
          <a:xfrm>
            <a:off x="6022975" y="1673227"/>
            <a:ext cx="0" cy="7096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62" name="Rectangle 20"/>
          <p:cNvSpPr>
            <a:spLocks noChangeArrowheads="1"/>
          </p:cNvSpPr>
          <p:nvPr/>
        </p:nvSpPr>
        <p:spPr bwMode="auto">
          <a:xfrm>
            <a:off x="7223125" y="1800227"/>
            <a:ext cx="1593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目  的  端  口</a:t>
            </a:r>
          </a:p>
        </p:txBody>
      </p:sp>
      <p:sp>
        <p:nvSpPr>
          <p:cNvPr id="263" name="Rectangle 21"/>
          <p:cNvSpPr>
            <a:spLocks noChangeArrowheads="1"/>
          </p:cNvSpPr>
          <p:nvPr/>
        </p:nvSpPr>
        <p:spPr bwMode="auto">
          <a:xfrm>
            <a:off x="2332038" y="3722689"/>
            <a:ext cx="695325" cy="704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数据</a:t>
            </a:r>
          </a:p>
          <a:p>
            <a:pPr eaLnBrk="0" hangingPunct="0"/>
            <a:r>
              <a:rPr lang="zh-CN" altLang="en-US" sz="2000" dirty="0">
                <a:latin typeface="+mn-lt"/>
                <a:ea typeface="微软雅黑 Light" panose="020B0502040204020203" pitchFamily="34" charset="-122"/>
              </a:rPr>
              <a:t>偏移</a:t>
            </a:r>
          </a:p>
        </p:txBody>
      </p:sp>
      <p:sp>
        <p:nvSpPr>
          <p:cNvPr id="264" name="Rectangle 22"/>
          <p:cNvSpPr>
            <a:spLocks noChangeArrowheads="1"/>
          </p:cNvSpPr>
          <p:nvPr/>
        </p:nvSpPr>
        <p:spPr bwMode="auto">
          <a:xfrm>
            <a:off x="3411538" y="4587877"/>
            <a:ext cx="13366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检   验   和</a:t>
            </a:r>
          </a:p>
        </p:txBody>
      </p:sp>
      <p:sp>
        <p:nvSpPr>
          <p:cNvPr id="265" name="Rectangle 23"/>
          <p:cNvSpPr>
            <a:spLocks noChangeArrowheads="1"/>
          </p:cNvSpPr>
          <p:nvPr/>
        </p:nvSpPr>
        <p:spPr bwMode="auto">
          <a:xfrm>
            <a:off x="3694113" y="5237164"/>
            <a:ext cx="31988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选    项 长  度  可  变）</a:t>
            </a:r>
          </a:p>
        </p:txBody>
      </p:sp>
      <p:sp>
        <p:nvSpPr>
          <p:cNvPr id="266" name="Rectangle 24"/>
          <p:cNvSpPr>
            <a:spLocks noChangeArrowheads="1"/>
          </p:cNvSpPr>
          <p:nvPr/>
        </p:nvSpPr>
        <p:spPr bwMode="auto">
          <a:xfrm>
            <a:off x="3525838" y="1800227"/>
            <a:ext cx="12541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源  端  口</a:t>
            </a:r>
          </a:p>
        </p:txBody>
      </p:sp>
      <p:sp>
        <p:nvSpPr>
          <p:cNvPr id="267" name="Rectangle 25"/>
          <p:cNvSpPr>
            <a:spLocks noChangeArrowheads="1"/>
          </p:cNvSpPr>
          <p:nvPr/>
        </p:nvSpPr>
        <p:spPr bwMode="auto">
          <a:xfrm>
            <a:off x="5578475" y="2487614"/>
            <a:ext cx="1381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序   号</a:t>
            </a:r>
          </a:p>
        </p:txBody>
      </p:sp>
      <p:sp>
        <p:nvSpPr>
          <p:cNvPr id="268" name="Line 26"/>
          <p:cNvSpPr>
            <a:spLocks noChangeShapeType="1"/>
          </p:cNvSpPr>
          <p:nvPr/>
        </p:nvSpPr>
        <p:spPr bwMode="auto">
          <a:xfrm>
            <a:off x="6029325" y="3767139"/>
            <a:ext cx="0" cy="13700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69" name="Rectangle 27"/>
          <p:cNvSpPr>
            <a:spLocks noChangeArrowheads="1"/>
          </p:cNvSpPr>
          <p:nvPr/>
        </p:nvSpPr>
        <p:spPr bwMode="auto">
          <a:xfrm>
            <a:off x="7062788" y="4587877"/>
            <a:ext cx="17859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紧   急   指   针</a:t>
            </a:r>
          </a:p>
        </p:txBody>
      </p:sp>
      <p:sp>
        <p:nvSpPr>
          <p:cNvPr id="270" name="Rectangle 28"/>
          <p:cNvSpPr>
            <a:spLocks noChangeArrowheads="1"/>
          </p:cNvSpPr>
          <p:nvPr/>
        </p:nvSpPr>
        <p:spPr bwMode="auto">
          <a:xfrm>
            <a:off x="7512050" y="3868739"/>
            <a:ext cx="9223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窗   口</a:t>
            </a:r>
          </a:p>
        </p:txBody>
      </p:sp>
      <p:sp>
        <p:nvSpPr>
          <p:cNvPr id="271" name="Rectangle 29"/>
          <p:cNvSpPr>
            <a:spLocks noChangeArrowheads="1"/>
          </p:cNvSpPr>
          <p:nvPr/>
        </p:nvSpPr>
        <p:spPr bwMode="auto">
          <a:xfrm>
            <a:off x="5334000" y="3211514"/>
            <a:ext cx="18415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确    认    号</a:t>
            </a:r>
          </a:p>
        </p:txBody>
      </p:sp>
      <p:sp>
        <p:nvSpPr>
          <p:cNvPr id="281" name="Line 39"/>
          <p:cNvSpPr>
            <a:spLocks noChangeShapeType="1"/>
          </p:cNvSpPr>
          <p:nvPr/>
        </p:nvSpPr>
        <p:spPr bwMode="auto">
          <a:xfrm>
            <a:off x="2174875" y="1508127"/>
            <a:ext cx="767556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82" name="Line 40"/>
          <p:cNvSpPr>
            <a:spLocks noChangeShapeType="1"/>
          </p:cNvSpPr>
          <p:nvPr/>
        </p:nvSpPr>
        <p:spPr bwMode="auto">
          <a:xfrm>
            <a:off x="2174875"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83" name="Line 41"/>
          <p:cNvSpPr>
            <a:spLocks noChangeShapeType="1"/>
          </p:cNvSpPr>
          <p:nvPr/>
        </p:nvSpPr>
        <p:spPr bwMode="auto">
          <a:xfrm>
            <a:off x="241458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84" name="Line 42"/>
          <p:cNvSpPr>
            <a:spLocks noChangeShapeType="1"/>
          </p:cNvSpPr>
          <p:nvPr/>
        </p:nvSpPr>
        <p:spPr bwMode="auto">
          <a:xfrm>
            <a:off x="2654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85" name="Line 43"/>
          <p:cNvSpPr>
            <a:spLocks noChangeShapeType="1"/>
          </p:cNvSpPr>
          <p:nvPr/>
        </p:nvSpPr>
        <p:spPr bwMode="auto">
          <a:xfrm>
            <a:off x="289401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86" name="Line 44"/>
          <p:cNvSpPr>
            <a:spLocks noChangeShapeType="1"/>
          </p:cNvSpPr>
          <p:nvPr/>
        </p:nvSpPr>
        <p:spPr bwMode="auto">
          <a:xfrm>
            <a:off x="313531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87" name="Line 45"/>
          <p:cNvSpPr>
            <a:spLocks noChangeShapeType="1"/>
          </p:cNvSpPr>
          <p:nvPr/>
        </p:nvSpPr>
        <p:spPr bwMode="auto">
          <a:xfrm>
            <a:off x="337502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88" name="Line 46"/>
          <p:cNvSpPr>
            <a:spLocks noChangeShapeType="1"/>
          </p:cNvSpPr>
          <p:nvPr/>
        </p:nvSpPr>
        <p:spPr bwMode="auto">
          <a:xfrm>
            <a:off x="361315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89" name="Line 47"/>
          <p:cNvSpPr>
            <a:spLocks noChangeShapeType="1"/>
          </p:cNvSpPr>
          <p:nvPr/>
        </p:nvSpPr>
        <p:spPr bwMode="auto">
          <a:xfrm>
            <a:off x="385286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90" name="Line 48"/>
          <p:cNvSpPr>
            <a:spLocks noChangeShapeType="1"/>
          </p:cNvSpPr>
          <p:nvPr/>
        </p:nvSpPr>
        <p:spPr bwMode="auto">
          <a:xfrm>
            <a:off x="4094163"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91" name="Line 49"/>
          <p:cNvSpPr>
            <a:spLocks noChangeShapeType="1"/>
          </p:cNvSpPr>
          <p:nvPr/>
        </p:nvSpPr>
        <p:spPr bwMode="auto">
          <a:xfrm>
            <a:off x="433387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92" name="Line 50"/>
          <p:cNvSpPr>
            <a:spLocks noChangeShapeType="1"/>
          </p:cNvSpPr>
          <p:nvPr/>
        </p:nvSpPr>
        <p:spPr bwMode="auto">
          <a:xfrm>
            <a:off x="457358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93" name="Line 51"/>
          <p:cNvSpPr>
            <a:spLocks noChangeShapeType="1"/>
          </p:cNvSpPr>
          <p:nvPr/>
        </p:nvSpPr>
        <p:spPr bwMode="auto">
          <a:xfrm>
            <a:off x="4813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94" name="Line 52"/>
          <p:cNvSpPr>
            <a:spLocks noChangeShapeType="1"/>
          </p:cNvSpPr>
          <p:nvPr/>
        </p:nvSpPr>
        <p:spPr bwMode="auto">
          <a:xfrm>
            <a:off x="50546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95" name="Line 53"/>
          <p:cNvSpPr>
            <a:spLocks noChangeShapeType="1"/>
          </p:cNvSpPr>
          <p:nvPr/>
        </p:nvSpPr>
        <p:spPr bwMode="auto">
          <a:xfrm>
            <a:off x="529431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96" name="Line 54"/>
          <p:cNvSpPr>
            <a:spLocks noChangeShapeType="1"/>
          </p:cNvSpPr>
          <p:nvPr/>
        </p:nvSpPr>
        <p:spPr bwMode="auto">
          <a:xfrm>
            <a:off x="553243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97" name="Line 55"/>
          <p:cNvSpPr>
            <a:spLocks noChangeShapeType="1"/>
          </p:cNvSpPr>
          <p:nvPr/>
        </p:nvSpPr>
        <p:spPr bwMode="auto">
          <a:xfrm>
            <a:off x="577215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98" name="Line 56"/>
          <p:cNvSpPr>
            <a:spLocks noChangeShapeType="1"/>
          </p:cNvSpPr>
          <p:nvPr/>
        </p:nvSpPr>
        <p:spPr bwMode="auto">
          <a:xfrm>
            <a:off x="6011863"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99" name="Line 57"/>
          <p:cNvSpPr>
            <a:spLocks noChangeShapeType="1"/>
          </p:cNvSpPr>
          <p:nvPr/>
        </p:nvSpPr>
        <p:spPr bwMode="auto">
          <a:xfrm>
            <a:off x="625316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0" name="Line 58"/>
          <p:cNvSpPr>
            <a:spLocks noChangeShapeType="1"/>
          </p:cNvSpPr>
          <p:nvPr/>
        </p:nvSpPr>
        <p:spPr bwMode="auto">
          <a:xfrm>
            <a:off x="649287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1" name="Line 59"/>
          <p:cNvSpPr>
            <a:spLocks noChangeShapeType="1"/>
          </p:cNvSpPr>
          <p:nvPr/>
        </p:nvSpPr>
        <p:spPr bwMode="auto">
          <a:xfrm>
            <a:off x="673258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2" name="Line 60"/>
          <p:cNvSpPr>
            <a:spLocks noChangeShapeType="1"/>
          </p:cNvSpPr>
          <p:nvPr/>
        </p:nvSpPr>
        <p:spPr bwMode="auto">
          <a:xfrm>
            <a:off x="6972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3" name="Line 61"/>
          <p:cNvSpPr>
            <a:spLocks noChangeShapeType="1"/>
          </p:cNvSpPr>
          <p:nvPr/>
        </p:nvSpPr>
        <p:spPr bwMode="auto">
          <a:xfrm>
            <a:off x="72136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4" name="Line 62"/>
          <p:cNvSpPr>
            <a:spLocks noChangeShapeType="1"/>
          </p:cNvSpPr>
          <p:nvPr/>
        </p:nvSpPr>
        <p:spPr bwMode="auto">
          <a:xfrm>
            <a:off x="745172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5" name="Line 63"/>
          <p:cNvSpPr>
            <a:spLocks noChangeShapeType="1"/>
          </p:cNvSpPr>
          <p:nvPr/>
        </p:nvSpPr>
        <p:spPr bwMode="auto">
          <a:xfrm>
            <a:off x="769143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6" name="Line 64"/>
          <p:cNvSpPr>
            <a:spLocks noChangeShapeType="1"/>
          </p:cNvSpPr>
          <p:nvPr/>
        </p:nvSpPr>
        <p:spPr bwMode="auto">
          <a:xfrm>
            <a:off x="7931150"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7" name="Line 65"/>
          <p:cNvSpPr>
            <a:spLocks noChangeShapeType="1"/>
          </p:cNvSpPr>
          <p:nvPr/>
        </p:nvSpPr>
        <p:spPr bwMode="auto">
          <a:xfrm>
            <a:off x="817086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8" name="Line 66"/>
          <p:cNvSpPr>
            <a:spLocks noChangeShapeType="1"/>
          </p:cNvSpPr>
          <p:nvPr/>
        </p:nvSpPr>
        <p:spPr bwMode="auto">
          <a:xfrm>
            <a:off x="841216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09" name="Line 67"/>
          <p:cNvSpPr>
            <a:spLocks noChangeShapeType="1"/>
          </p:cNvSpPr>
          <p:nvPr/>
        </p:nvSpPr>
        <p:spPr bwMode="auto">
          <a:xfrm>
            <a:off x="865187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10" name="Line 68"/>
          <p:cNvSpPr>
            <a:spLocks noChangeShapeType="1"/>
          </p:cNvSpPr>
          <p:nvPr/>
        </p:nvSpPr>
        <p:spPr bwMode="auto">
          <a:xfrm>
            <a:off x="889158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11" name="Line 69"/>
          <p:cNvSpPr>
            <a:spLocks noChangeShapeType="1"/>
          </p:cNvSpPr>
          <p:nvPr/>
        </p:nvSpPr>
        <p:spPr bwMode="auto">
          <a:xfrm>
            <a:off x="9131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12" name="Line 70"/>
          <p:cNvSpPr>
            <a:spLocks noChangeShapeType="1"/>
          </p:cNvSpPr>
          <p:nvPr/>
        </p:nvSpPr>
        <p:spPr bwMode="auto">
          <a:xfrm>
            <a:off x="937101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13" name="Line 71"/>
          <p:cNvSpPr>
            <a:spLocks noChangeShapeType="1"/>
          </p:cNvSpPr>
          <p:nvPr/>
        </p:nvSpPr>
        <p:spPr bwMode="auto">
          <a:xfrm>
            <a:off x="961072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14" name="Line 72"/>
          <p:cNvSpPr>
            <a:spLocks noChangeShapeType="1"/>
          </p:cNvSpPr>
          <p:nvPr/>
        </p:nvSpPr>
        <p:spPr bwMode="auto">
          <a:xfrm>
            <a:off x="9850438"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15" name="Rectangle 73"/>
          <p:cNvSpPr>
            <a:spLocks noChangeArrowheads="1"/>
          </p:cNvSpPr>
          <p:nvPr/>
        </p:nvSpPr>
        <p:spPr bwMode="auto">
          <a:xfrm>
            <a:off x="2333625"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316" name="Rectangle 74"/>
          <p:cNvSpPr>
            <a:spLocks noChangeArrowheads="1"/>
          </p:cNvSpPr>
          <p:nvPr/>
        </p:nvSpPr>
        <p:spPr bwMode="auto">
          <a:xfrm>
            <a:off x="4252913"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317" name="Rectangle 75"/>
          <p:cNvSpPr>
            <a:spLocks noChangeArrowheads="1"/>
          </p:cNvSpPr>
          <p:nvPr/>
        </p:nvSpPr>
        <p:spPr bwMode="auto">
          <a:xfrm>
            <a:off x="6172200"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318" name="Rectangle 76"/>
          <p:cNvSpPr>
            <a:spLocks noChangeArrowheads="1"/>
          </p:cNvSpPr>
          <p:nvPr/>
        </p:nvSpPr>
        <p:spPr bwMode="auto">
          <a:xfrm>
            <a:off x="8091488"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325" name="Line 83"/>
          <p:cNvSpPr>
            <a:spLocks noChangeShapeType="1"/>
          </p:cNvSpPr>
          <p:nvPr/>
        </p:nvSpPr>
        <p:spPr bwMode="auto">
          <a:xfrm flipH="1">
            <a:off x="7929563" y="5162552"/>
            <a:ext cx="3175" cy="6429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326" name="Rectangle 84"/>
          <p:cNvSpPr>
            <a:spLocks noChangeArrowheads="1"/>
          </p:cNvSpPr>
          <p:nvPr/>
        </p:nvSpPr>
        <p:spPr bwMode="auto">
          <a:xfrm>
            <a:off x="8442325" y="5229227"/>
            <a:ext cx="1254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填    充</a:t>
            </a:r>
          </a:p>
        </p:txBody>
      </p:sp>
      <p:sp>
        <p:nvSpPr>
          <p:cNvPr id="327" name="Line 85"/>
          <p:cNvSpPr>
            <a:spLocks noChangeShapeType="1"/>
          </p:cNvSpPr>
          <p:nvPr/>
        </p:nvSpPr>
        <p:spPr bwMode="auto">
          <a:xfrm>
            <a:off x="9971088" y="1641477"/>
            <a:ext cx="5175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328" name="Line 86"/>
          <p:cNvSpPr>
            <a:spLocks noChangeShapeType="1"/>
          </p:cNvSpPr>
          <p:nvPr/>
        </p:nvSpPr>
        <p:spPr bwMode="auto">
          <a:xfrm>
            <a:off x="9971088" y="5137152"/>
            <a:ext cx="5175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329" name="Line 87"/>
          <p:cNvSpPr>
            <a:spLocks noChangeShapeType="1"/>
          </p:cNvSpPr>
          <p:nvPr/>
        </p:nvSpPr>
        <p:spPr bwMode="auto">
          <a:xfrm>
            <a:off x="1582738" y="1679577"/>
            <a:ext cx="5302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330" name="Line 88"/>
          <p:cNvSpPr>
            <a:spLocks noChangeShapeType="1"/>
          </p:cNvSpPr>
          <p:nvPr/>
        </p:nvSpPr>
        <p:spPr bwMode="auto">
          <a:xfrm>
            <a:off x="1597025" y="5780089"/>
            <a:ext cx="5302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89" name="灯片编号占位符 5"/>
          <p:cNvSpPr>
            <a:spLocks noGrp="1"/>
          </p:cNvSpPr>
          <p:nvPr>
            <p:ph type="sldNum" sz="quarter" idx="12"/>
          </p:nvPr>
        </p:nvSpPr>
        <p:spPr/>
        <p:txBody>
          <a:bodyPr/>
          <a:lstStyle/>
          <a:p>
            <a:fld id="{538F69F4-7019-4389-B0D8-0111243B55BB}" type="slidenum">
              <a:rPr lang="en-US" altLang="zh-CN"/>
              <a:t>42</a:t>
            </a:fld>
            <a:endParaRPr lang="en-US" altLang="zh-CN"/>
          </a:p>
        </p:txBody>
      </p:sp>
      <p:sp>
        <p:nvSpPr>
          <p:cNvPr id="433236" name="Text Box 84"/>
          <p:cNvSpPr txBox="1">
            <a:spLocks noChangeArrowheads="1"/>
          </p:cNvSpPr>
          <p:nvPr/>
        </p:nvSpPr>
        <p:spPr bwMode="auto">
          <a:xfrm>
            <a:off x="1056000" y="5927412"/>
            <a:ext cx="10080000" cy="706755"/>
          </a:xfrm>
          <a:prstGeom prst="rect">
            <a:avLst/>
          </a:prstGeom>
          <a:noFill/>
          <a:ln>
            <a:noFill/>
          </a:ln>
          <a:effectLst/>
        </p:spPr>
        <p:txBody>
          <a:bodyPr>
            <a:spAutoFit/>
          </a:bodyPr>
          <a:lstStyle>
            <a:defPPr>
              <a:defRPr lang="zh-CN"/>
            </a:defPPr>
            <a:lvl1pPr>
              <a:defRPr>
                <a:latin typeface="微软雅黑 Light" panose="020B0502040204020203" pitchFamily="34" charset="-122"/>
                <a:ea typeface="微软雅黑 Light" panose="020B0502040204020203" pitchFamily="34" charset="-122"/>
              </a:defRPr>
            </a:lvl1pPr>
          </a:lstStyle>
          <a:p>
            <a:pPr marL="342900" indent="-342900">
              <a:buFont typeface="Wingdings" panose="05000000000000000000" pitchFamily="2" charset="2"/>
              <a:buChar char="Ø"/>
            </a:pPr>
            <a:r>
              <a:rPr lang="zh-CN" altLang="en-US" dirty="0"/>
              <a:t>推送 </a:t>
            </a:r>
            <a:r>
              <a:rPr lang="en-US" altLang="zh-CN" dirty="0"/>
              <a:t>PSH </a:t>
            </a:r>
            <a:r>
              <a:rPr lang="zh-CN" altLang="en-US" dirty="0"/>
              <a:t>：接收</a:t>
            </a:r>
            <a:r>
              <a:rPr lang="en-US" altLang="zh-CN" dirty="0"/>
              <a:t>TCP</a:t>
            </a:r>
            <a:r>
              <a:rPr lang="zh-CN" altLang="en-US" dirty="0"/>
              <a:t>收到</a:t>
            </a:r>
            <a:r>
              <a:rPr lang="en-US" altLang="zh-CN" dirty="0"/>
              <a:t>PSH=1</a:t>
            </a:r>
            <a:r>
              <a:rPr lang="zh-CN" altLang="en-US" dirty="0"/>
              <a:t>的报文段，就尽快地交付接收应用进程，而不再等到整个缓存都填满后再向上交付  </a:t>
            </a:r>
          </a:p>
        </p:txBody>
      </p:sp>
      <p:sp>
        <p:nvSpPr>
          <p:cNvPr id="433320" name="Rectangle 168"/>
          <p:cNvSpPr>
            <a:spLocks noGrp="1" noChangeArrowheads="1"/>
          </p:cNvSpPr>
          <p:nvPr>
            <p:ph type="title"/>
          </p:nvPr>
        </p:nvSpPr>
        <p:spPr>
          <a:noFill/>
        </p:spPr>
        <p:txBody>
          <a:bodyPr/>
          <a:lstStyle/>
          <a:p>
            <a:r>
              <a:rPr lang="en-US" altLang="zh-CN" dirty="0"/>
              <a:t>TCP</a:t>
            </a:r>
            <a:r>
              <a:rPr lang="zh-CN" altLang="en-US" dirty="0"/>
              <a:t>的报头字段</a:t>
            </a:r>
            <a:endParaRPr lang="en-US" altLang="zh-CN" dirty="0"/>
          </a:p>
        </p:txBody>
      </p:sp>
      <p:sp>
        <p:nvSpPr>
          <p:cNvPr id="106" name="Line 30"/>
          <p:cNvSpPr>
            <a:spLocks noChangeShapeType="1"/>
          </p:cNvSpPr>
          <p:nvPr/>
        </p:nvSpPr>
        <p:spPr bwMode="auto">
          <a:xfrm>
            <a:off x="3135313" y="3767139"/>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07" name="Line 31"/>
          <p:cNvSpPr>
            <a:spLocks noChangeShapeType="1"/>
          </p:cNvSpPr>
          <p:nvPr/>
        </p:nvSpPr>
        <p:spPr bwMode="auto">
          <a:xfrm>
            <a:off x="5062538" y="3759202"/>
            <a:ext cx="0" cy="6842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08" name="Line 32"/>
          <p:cNvSpPr>
            <a:spLocks noChangeShapeType="1"/>
          </p:cNvSpPr>
          <p:nvPr/>
        </p:nvSpPr>
        <p:spPr bwMode="auto">
          <a:xfrm>
            <a:off x="4572001" y="3761583"/>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09" name="Line 33"/>
          <p:cNvSpPr>
            <a:spLocks noChangeShapeType="1"/>
          </p:cNvSpPr>
          <p:nvPr/>
        </p:nvSpPr>
        <p:spPr bwMode="auto">
          <a:xfrm>
            <a:off x="4813300"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10" name="Line 34"/>
          <p:cNvSpPr>
            <a:spLocks noChangeShapeType="1"/>
          </p:cNvSpPr>
          <p:nvPr/>
        </p:nvSpPr>
        <p:spPr bwMode="auto">
          <a:xfrm>
            <a:off x="5543550"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11" name="Line 35"/>
          <p:cNvSpPr>
            <a:spLocks noChangeShapeType="1"/>
          </p:cNvSpPr>
          <p:nvPr/>
        </p:nvSpPr>
        <p:spPr bwMode="auto">
          <a:xfrm>
            <a:off x="5302250"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12" name="Line 36"/>
          <p:cNvSpPr>
            <a:spLocks noChangeShapeType="1"/>
          </p:cNvSpPr>
          <p:nvPr/>
        </p:nvSpPr>
        <p:spPr bwMode="auto">
          <a:xfrm>
            <a:off x="5788025"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13" name="Rectangle 37"/>
          <p:cNvSpPr>
            <a:spLocks noChangeArrowheads="1"/>
          </p:cNvSpPr>
          <p:nvPr/>
        </p:nvSpPr>
        <p:spPr bwMode="auto">
          <a:xfrm>
            <a:off x="3198280" y="3867686"/>
            <a:ext cx="72548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保留</a:t>
            </a:r>
          </a:p>
        </p:txBody>
      </p:sp>
      <p:sp>
        <p:nvSpPr>
          <p:cNvPr id="120" name="Line 32"/>
          <p:cNvSpPr>
            <a:spLocks noChangeShapeType="1"/>
          </p:cNvSpPr>
          <p:nvPr/>
        </p:nvSpPr>
        <p:spPr bwMode="auto">
          <a:xfrm>
            <a:off x="4079776" y="3757614"/>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21" name="Line 33"/>
          <p:cNvSpPr>
            <a:spLocks noChangeShapeType="1"/>
          </p:cNvSpPr>
          <p:nvPr/>
        </p:nvSpPr>
        <p:spPr bwMode="auto">
          <a:xfrm>
            <a:off x="4314850" y="3768726"/>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433237" name="Rectangle 85"/>
          <p:cNvSpPr>
            <a:spLocks noChangeArrowheads="1"/>
          </p:cNvSpPr>
          <p:nvPr/>
        </p:nvSpPr>
        <p:spPr bwMode="auto">
          <a:xfrm>
            <a:off x="5016500" y="3716338"/>
            <a:ext cx="317500" cy="717550"/>
          </a:xfrm>
          <a:prstGeom prst="rect">
            <a:avLst/>
          </a:prstGeom>
          <a:noFill/>
          <a:ln w="7620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2" name="Rectangle 82">
            <a:extLst>
              <a:ext uri="{FF2B5EF4-FFF2-40B4-BE49-F238E27FC236}">
                <a16:creationId xmlns:a16="http://schemas.microsoft.com/office/drawing/2014/main" id="{7E3EBA90-9EC1-784C-6C31-7EEB927675FD}"/>
              </a:ext>
            </a:extLst>
          </p:cNvPr>
          <p:cNvSpPr>
            <a:spLocks noChangeArrowheads="1"/>
          </p:cNvSpPr>
          <p:nvPr/>
        </p:nvSpPr>
        <p:spPr bwMode="auto">
          <a:xfrm>
            <a:off x="1812925" y="908720"/>
            <a:ext cx="8261878"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位 </a:t>
            </a:r>
            <a:r>
              <a:rPr lang="en-US" altLang="zh-CN" sz="2000" dirty="0">
                <a:latin typeface="+mn-lt"/>
                <a:ea typeface="微软雅黑 Light" panose="020B0502040204020203" pitchFamily="34" charset="-122"/>
              </a:rPr>
              <a:t>0                           8                           16                          24                          31</a:t>
            </a:r>
          </a:p>
        </p:txBody>
      </p:sp>
      <p:sp>
        <p:nvSpPr>
          <p:cNvPr id="3" name="Rectangle 38">
            <a:extLst>
              <a:ext uri="{FF2B5EF4-FFF2-40B4-BE49-F238E27FC236}">
                <a16:creationId xmlns:a16="http://schemas.microsoft.com/office/drawing/2014/main" id="{C4F5F401-F070-8739-DE76-EADFE60AFCA1}"/>
              </a:ext>
            </a:extLst>
          </p:cNvPr>
          <p:cNvSpPr>
            <a:spLocks noChangeArrowheads="1"/>
          </p:cNvSpPr>
          <p:nvPr/>
        </p:nvSpPr>
        <p:spPr bwMode="auto">
          <a:xfrm rot="16200000">
            <a:off x="5658825" y="3959222"/>
            <a:ext cx="535405"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lnSpc>
                <a:spcPct val="75000"/>
              </a:lnSpc>
            </a:pPr>
            <a:r>
              <a:rPr lang="en-US" altLang="zh-CN" sz="1600" b="1" dirty="0">
                <a:latin typeface="+mn-lt"/>
                <a:ea typeface="微软雅黑 Light" panose="020B0502040204020203" pitchFamily="34" charset="-122"/>
              </a:rPr>
              <a:t>FIN</a:t>
            </a:r>
          </a:p>
        </p:txBody>
      </p:sp>
      <p:sp>
        <p:nvSpPr>
          <p:cNvPr id="4" name="Rectangle 77">
            <a:extLst>
              <a:ext uri="{FF2B5EF4-FFF2-40B4-BE49-F238E27FC236}">
                <a16:creationId xmlns:a16="http://schemas.microsoft.com/office/drawing/2014/main" id="{13DF84D1-BE1C-8366-37F3-85E15D369C3C}"/>
              </a:ext>
            </a:extLst>
          </p:cNvPr>
          <p:cNvSpPr>
            <a:spLocks noChangeArrowheads="1"/>
          </p:cNvSpPr>
          <p:nvPr/>
        </p:nvSpPr>
        <p:spPr bwMode="auto">
          <a:xfrm rot="16200000">
            <a:off x="5401703" y="3936764"/>
            <a:ext cx="591510"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SYN</a:t>
            </a:r>
          </a:p>
        </p:txBody>
      </p:sp>
      <p:sp>
        <p:nvSpPr>
          <p:cNvPr id="5" name="Rectangle 78">
            <a:extLst>
              <a:ext uri="{FF2B5EF4-FFF2-40B4-BE49-F238E27FC236}">
                <a16:creationId xmlns:a16="http://schemas.microsoft.com/office/drawing/2014/main" id="{BA03B140-3ECF-AA65-ED25-48A67CF15EFE}"/>
              </a:ext>
            </a:extLst>
          </p:cNvPr>
          <p:cNvSpPr>
            <a:spLocks noChangeArrowheads="1"/>
          </p:cNvSpPr>
          <p:nvPr/>
        </p:nvSpPr>
        <p:spPr bwMode="auto">
          <a:xfrm rot="16200000">
            <a:off x="5115446" y="3917780"/>
            <a:ext cx="618290"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RST</a:t>
            </a:r>
          </a:p>
        </p:txBody>
      </p:sp>
      <p:sp>
        <p:nvSpPr>
          <p:cNvPr id="6" name="Rectangle 79">
            <a:extLst>
              <a:ext uri="{FF2B5EF4-FFF2-40B4-BE49-F238E27FC236}">
                <a16:creationId xmlns:a16="http://schemas.microsoft.com/office/drawing/2014/main" id="{76C0B407-7DE8-3A7E-1C73-7EED9A5D988C}"/>
              </a:ext>
            </a:extLst>
          </p:cNvPr>
          <p:cNvSpPr>
            <a:spLocks noChangeArrowheads="1"/>
          </p:cNvSpPr>
          <p:nvPr/>
        </p:nvSpPr>
        <p:spPr bwMode="auto">
          <a:xfrm rot="16200000">
            <a:off x="4890356" y="3938731"/>
            <a:ext cx="600108"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PSH  </a:t>
            </a:r>
          </a:p>
        </p:txBody>
      </p:sp>
      <p:sp>
        <p:nvSpPr>
          <p:cNvPr id="7" name="Rectangle 80">
            <a:extLst>
              <a:ext uri="{FF2B5EF4-FFF2-40B4-BE49-F238E27FC236}">
                <a16:creationId xmlns:a16="http://schemas.microsoft.com/office/drawing/2014/main" id="{7F7FF1F9-4363-20BB-64A7-2285A82C154F}"/>
              </a:ext>
            </a:extLst>
          </p:cNvPr>
          <p:cNvSpPr>
            <a:spLocks noChangeArrowheads="1"/>
          </p:cNvSpPr>
          <p:nvPr/>
        </p:nvSpPr>
        <p:spPr bwMode="auto">
          <a:xfrm rot="16200000">
            <a:off x="4579000" y="3916214"/>
            <a:ext cx="730250"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ACK</a:t>
            </a:r>
          </a:p>
        </p:txBody>
      </p:sp>
      <p:sp>
        <p:nvSpPr>
          <p:cNvPr id="8" name="Rectangle 81">
            <a:extLst>
              <a:ext uri="{FF2B5EF4-FFF2-40B4-BE49-F238E27FC236}">
                <a16:creationId xmlns:a16="http://schemas.microsoft.com/office/drawing/2014/main" id="{A981DC68-553A-12E1-29E4-8FD017640D02}"/>
              </a:ext>
            </a:extLst>
          </p:cNvPr>
          <p:cNvSpPr>
            <a:spLocks noChangeArrowheads="1"/>
          </p:cNvSpPr>
          <p:nvPr/>
        </p:nvSpPr>
        <p:spPr bwMode="auto">
          <a:xfrm rot="16200000">
            <a:off x="4342408" y="3894364"/>
            <a:ext cx="761997"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URG</a:t>
            </a:r>
          </a:p>
        </p:txBody>
      </p:sp>
      <p:sp>
        <p:nvSpPr>
          <p:cNvPr id="9" name="Rectangle 81">
            <a:extLst>
              <a:ext uri="{FF2B5EF4-FFF2-40B4-BE49-F238E27FC236}">
                <a16:creationId xmlns:a16="http://schemas.microsoft.com/office/drawing/2014/main" id="{3B9B7668-1117-D393-212F-99B5597A4BB3}"/>
              </a:ext>
            </a:extLst>
          </p:cNvPr>
          <p:cNvSpPr>
            <a:spLocks noChangeArrowheads="1"/>
          </p:cNvSpPr>
          <p:nvPr/>
        </p:nvSpPr>
        <p:spPr bwMode="auto">
          <a:xfrm rot="16200000">
            <a:off x="3855770" y="3928543"/>
            <a:ext cx="721634"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CWR</a:t>
            </a:r>
          </a:p>
        </p:txBody>
      </p:sp>
      <p:sp>
        <p:nvSpPr>
          <p:cNvPr id="10" name="Rectangle 81">
            <a:extLst>
              <a:ext uri="{FF2B5EF4-FFF2-40B4-BE49-F238E27FC236}">
                <a16:creationId xmlns:a16="http://schemas.microsoft.com/office/drawing/2014/main" id="{58369879-6241-F281-4C69-3C0F8B7E521D}"/>
              </a:ext>
            </a:extLst>
          </p:cNvPr>
          <p:cNvSpPr>
            <a:spLocks noChangeArrowheads="1"/>
          </p:cNvSpPr>
          <p:nvPr/>
        </p:nvSpPr>
        <p:spPr bwMode="auto">
          <a:xfrm rot="16200000">
            <a:off x="4124919" y="3912163"/>
            <a:ext cx="704221"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ECE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3237"/>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43323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3237" grpId="0" animBg="1"/>
      <p:bldP spid="433237" grpId="1"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Line 9"/>
          <p:cNvSpPr>
            <a:spLocks noChangeShapeType="1"/>
          </p:cNvSpPr>
          <p:nvPr/>
        </p:nvSpPr>
        <p:spPr bwMode="auto">
          <a:xfrm flipH="1">
            <a:off x="1852613" y="1668464"/>
            <a:ext cx="17463" cy="4122738"/>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1" name="Rectangle 10"/>
          <p:cNvSpPr>
            <a:spLocks noChangeArrowheads="1"/>
          </p:cNvSpPr>
          <p:nvPr/>
        </p:nvSpPr>
        <p:spPr bwMode="auto">
          <a:xfrm>
            <a:off x="1524000" y="3268664"/>
            <a:ext cx="696913" cy="6445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90000"/>
              </a:lnSpc>
            </a:pPr>
            <a:r>
              <a:rPr lang="en-US" altLang="zh-CN" sz="2000">
                <a:latin typeface="+mn-lt"/>
                <a:ea typeface="微软雅黑 Light" panose="020B0502040204020203" pitchFamily="34" charset="-122"/>
              </a:rPr>
              <a:t>TCP</a:t>
            </a:r>
          </a:p>
          <a:p>
            <a:pPr eaLnBrk="0" hangingPunct="0">
              <a:lnSpc>
                <a:spcPct val="90000"/>
              </a:lnSpc>
            </a:pPr>
            <a:r>
              <a:rPr lang="zh-CN" altLang="en-US" sz="2000">
                <a:latin typeface="+mn-lt"/>
                <a:ea typeface="微软雅黑 Light" panose="020B0502040204020203" pitchFamily="34" charset="-122"/>
              </a:rPr>
              <a:t>首部</a:t>
            </a:r>
          </a:p>
        </p:txBody>
      </p:sp>
      <p:sp>
        <p:nvSpPr>
          <p:cNvPr id="172" name="Line 11"/>
          <p:cNvSpPr>
            <a:spLocks noChangeShapeType="1"/>
          </p:cNvSpPr>
          <p:nvPr/>
        </p:nvSpPr>
        <p:spPr bwMode="auto">
          <a:xfrm>
            <a:off x="10272713" y="1658939"/>
            <a:ext cx="0" cy="3463925"/>
          </a:xfrm>
          <a:prstGeom prst="line">
            <a:avLst/>
          </a:prstGeom>
          <a:noFill/>
          <a:ln w="1905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3" name="Rectangle 12"/>
          <p:cNvSpPr>
            <a:spLocks noChangeArrowheads="1"/>
          </p:cNvSpPr>
          <p:nvPr/>
        </p:nvSpPr>
        <p:spPr bwMode="auto">
          <a:xfrm>
            <a:off x="9909175" y="2736852"/>
            <a:ext cx="695325" cy="119697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lnSpc>
                <a:spcPct val="90000"/>
              </a:lnSpc>
            </a:pPr>
            <a:r>
              <a:rPr lang="en-US" altLang="zh-CN" sz="2000">
                <a:latin typeface="+mn-lt"/>
                <a:ea typeface="微软雅黑 Light" panose="020B0502040204020203" pitchFamily="34" charset="-122"/>
              </a:rPr>
              <a:t>20</a:t>
            </a:r>
          </a:p>
          <a:p>
            <a:pPr algn="ctr" eaLnBrk="0" hangingPunct="0">
              <a:lnSpc>
                <a:spcPct val="90000"/>
              </a:lnSpc>
            </a:pPr>
            <a:r>
              <a:rPr lang="zh-CN" altLang="en-US" sz="2000">
                <a:latin typeface="+mn-lt"/>
                <a:ea typeface="微软雅黑 Light" panose="020B0502040204020203" pitchFamily="34" charset="-122"/>
              </a:rPr>
              <a:t>字节</a:t>
            </a:r>
          </a:p>
          <a:p>
            <a:pPr algn="ctr" eaLnBrk="0" hangingPunct="0">
              <a:lnSpc>
                <a:spcPct val="90000"/>
              </a:lnSpc>
            </a:pPr>
            <a:r>
              <a:rPr lang="zh-CN" altLang="en-US" sz="2000">
                <a:latin typeface="+mn-lt"/>
                <a:ea typeface="微软雅黑 Light" panose="020B0502040204020203" pitchFamily="34" charset="-122"/>
              </a:rPr>
              <a:t>固定</a:t>
            </a:r>
          </a:p>
          <a:p>
            <a:pPr algn="ctr" eaLnBrk="0" hangingPunct="0">
              <a:lnSpc>
                <a:spcPct val="90000"/>
              </a:lnSpc>
            </a:pPr>
            <a:r>
              <a:rPr lang="zh-CN" altLang="en-US" sz="2000">
                <a:latin typeface="+mn-lt"/>
                <a:ea typeface="微软雅黑 Light" panose="020B0502040204020203" pitchFamily="34" charset="-122"/>
              </a:rPr>
              <a:t>首部</a:t>
            </a:r>
          </a:p>
        </p:txBody>
      </p:sp>
      <p:sp>
        <p:nvSpPr>
          <p:cNvPr id="174" name="Rectangle 13"/>
          <p:cNvSpPr>
            <a:spLocks noChangeArrowheads="1"/>
          </p:cNvSpPr>
          <p:nvPr/>
        </p:nvSpPr>
        <p:spPr bwMode="auto">
          <a:xfrm>
            <a:off x="2133994" y="1563836"/>
            <a:ext cx="7686675" cy="4133850"/>
          </a:xfrm>
          <a:prstGeom prst="rect">
            <a:avLst/>
          </a:prstGeom>
          <a:solidFill>
            <a:schemeClr val="bg2"/>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175" name="Line 14"/>
          <p:cNvSpPr>
            <a:spLocks noChangeShapeType="1"/>
          </p:cNvSpPr>
          <p:nvPr/>
        </p:nvSpPr>
        <p:spPr bwMode="auto">
          <a:xfrm>
            <a:off x="2170113" y="2368552"/>
            <a:ext cx="76993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6" name="Line 15"/>
          <p:cNvSpPr>
            <a:spLocks noChangeShapeType="1"/>
          </p:cNvSpPr>
          <p:nvPr/>
        </p:nvSpPr>
        <p:spPr bwMode="auto">
          <a:xfrm>
            <a:off x="2184400" y="3063877"/>
            <a:ext cx="768508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7" name="Line 16"/>
          <p:cNvSpPr>
            <a:spLocks noChangeShapeType="1"/>
          </p:cNvSpPr>
          <p:nvPr/>
        </p:nvSpPr>
        <p:spPr bwMode="auto">
          <a:xfrm>
            <a:off x="2170113" y="3757614"/>
            <a:ext cx="76993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8" name="Line 17"/>
          <p:cNvSpPr>
            <a:spLocks noChangeShapeType="1"/>
          </p:cNvSpPr>
          <p:nvPr/>
        </p:nvSpPr>
        <p:spPr bwMode="auto">
          <a:xfrm>
            <a:off x="2170113" y="4449764"/>
            <a:ext cx="76993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9" name="Line 18"/>
          <p:cNvSpPr>
            <a:spLocks noChangeShapeType="1"/>
          </p:cNvSpPr>
          <p:nvPr/>
        </p:nvSpPr>
        <p:spPr bwMode="auto">
          <a:xfrm>
            <a:off x="2184400" y="5145089"/>
            <a:ext cx="768508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80" name="Line 19"/>
          <p:cNvSpPr>
            <a:spLocks noChangeShapeType="1"/>
          </p:cNvSpPr>
          <p:nvPr/>
        </p:nvSpPr>
        <p:spPr bwMode="auto">
          <a:xfrm>
            <a:off x="6022975" y="1673227"/>
            <a:ext cx="0" cy="7096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81" name="Rectangle 20"/>
          <p:cNvSpPr>
            <a:spLocks noChangeArrowheads="1"/>
          </p:cNvSpPr>
          <p:nvPr/>
        </p:nvSpPr>
        <p:spPr bwMode="auto">
          <a:xfrm>
            <a:off x="7223125" y="1800227"/>
            <a:ext cx="1593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目  的  端  口</a:t>
            </a:r>
          </a:p>
        </p:txBody>
      </p:sp>
      <p:sp>
        <p:nvSpPr>
          <p:cNvPr id="182" name="Rectangle 21"/>
          <p:cNvSpPr>
            <a:spLocks noChangeArrowheads="1"/>
          </p:cNvSpPr>
          <p:nvPr/>
        </p:nvSpPr>
        <p:spPr bwMode="auto">
          <a:xfrm>
            <a:off x="2332038" y="3722689"/>
            <a:ext cx="695325" cy="704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数据</a:t>
            </a:r>
          </a:p>
          <a:p>
            <a:pPr eaLnBrk="0" hangingPunct="0"/>
            <a:r>
              <a:rPr lang="zh-CN" altLang="en-US" sz="2000" dirty="0">
                <a:latin typeface="+mn-lt"/>
                <a:ea typeface="微软雅黑 Light" panose="020B0502040204020203" pitchFamily="34" charset="-122"/>
              </a:rPr>
              <a:t>偏移</a:t>
            </a:r>
          </a:p>
        </p:txBody>
      </p:sp>
      <p:sp>
        <p:nvSpPr>
          <p:cNvPr id="183" name="Rectangle 22"/>
          <p:cNvSpPr>
            <a:spLocks noChangeArrowheads="1"/>
          </p:cNvSpPr>
          <p:nvPr/>
        </p:nvSpPr>
        <p:spPr bwMode="auto">
          <a:xfrm>
            <a:off x="3411538" y="4587877"/>
            <a:ext cx="13366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检   验   和</a:t>
            </a:r>
          </a:p>
        </p:txBody>
      </p:sp>
      <p:sp>
        <p:nvSpPr>
          <p:cNvPr id="184" name="Rectangle 23"/>
          <p:cNvSpPr>
            <a:spLocks noChangeArrowheads="1"/>
          </p:cNvSpPr>
          <p:nvPr/>
        </p:nvSpPr>
        <p:spPr bwMode="auto">
          <a:xfrm>
            <a:off x="3694113" y="5237164"/>
            <a:ext cx="31988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选    项 长  度  可  变）</a:t>
            </a:r>
          </a:p>
        </p:txBody>
      </p:sp>
      <p:sp>
        <p:nvSpPr>
          <p:cNvPr id="185" name="Rectangle 24"/>
          <p:cNvSpPr>
            <a:spLocks noChangeArrowheads="1"/>
          </p:cNvSpPr>
          <p:nvPr/>
        </p:nvSpPr>
        <p:spPr bwMode="auto">
          <a:xfrm>
            <a:off x="3525838" y="1800227"/>
            <a:ext cx="12541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源  端  口</a:t>
            </a:r>
          </a:p>
        </p:txBody>
      </p:sp>
      <p:sp>
        <p:nvSpPr>
          <p:cNvPr id="186" name="Rectangle 25"/>
          <p:cNvSpPr>
            <a:spLocks noChangeArrowheads="1"/>
          </p:cNvSpPr>
          <p:nvPr/>
        </p:nvSpPr>
        <p:spPr bwMode="auto">
          <a:xfrm>
            <a:off x="5578475" y="2487614"/>
            <a:ext cx="1381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序   号</a:t>
            </a:r>
          </a:p>
        </p:txBody>
      </p:sp>
      <p:sp>
        <p:nvSpPr>
          <p:cNvPr id="187" name="Line 26"/>
          <p:cNvSpPr>
            <a:spLocks noChangeShapeType="1"/>
          </p:cNvSpPr>
          <p:nvPr/>
        </p:nvSpPr>
        <p:spPr bwMode="auto">
          <a:xfrm>
            <a:off x="6029325" y="3767139"/>
            <a:ext cx="0" cy="13700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88" name="Rectangle 27"/>
          <p:cNvSpPr>
            <a:spLocks noChangeArrowheads="1"/>
          </p:cNvSpPr>
          <p:nvPr/>
        </p:nvSpPr>
        <p:spPr bwMode="auto">
          <a:xfrm>
            <a:off x="7062788" y="4587877"/>
            <a:ext cx="17859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紧   急   指   针</a:t>
            </a:r>
          </a:p>
        </p:txBody>
      </p:sp>
      <p:sp>
        <p:nvSpPr>
          <p:cNvPr id="189" name="Rectangle 28"/>
          <p:cNvSpPr>
            <a:spLocks noChangeArrowheads="1"/>
          </p:cNvSpPr>
          <p:nvPr/>
        </p:nvSpPr>
        <p:spPr bwMode="auto">
          <a:xfrm>
            <a:off x="7512050" y="3868739"/>
            <a:ext cx="9223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窗   口</a:t>
            </a:r>
          </a:p>
        </p:txBody>
      </p:sp>
      <p:sp>
        <p:nvSpPr>
          <p:cNvPr id="190" name="Rectangle 29"/>
          <p:cNvSpPr>
            <a:spLocks noChangeArrowheads="1"/>
          </p:cNvSpPr>
          <p:nvPr/>
        </p:nvSpPr>
        <p:spPr bwMode="auto">
          <a:xfrm>
            <a:off x="5334000" y="3211514"/>
            <a:ext cx="18415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确    认    号</a:t>
            </a:r>
          </a:p>
        </p:txBody>
      </p:sp>
      <p:sp>
        <p:nvSpPr>
          <p:cNvPr id="200" name="Line 39"/>
          <p:cNvSpPr>
            <a:spLocks noChangeShapeType="1"/>
          </p:cNvSpPr>
          <p:nvPr/>
        </p:nvSpPr>
        <p:spPr bwMode="auto">
          <a:xfrm>
            <a:off x="2174875" y="1508127"/>
            <a:ext cx="767556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1" name="Line 40"/>
          <p:cNvSpPr>
            <a:spLocks noChangeShapeType="1"/>
          </p:cNvSpPr>
          <p:nvPr/>
        </p:nvSpPr>
        <p:spPr bwMode="auto">
          <a:xfrm>
            <a:off x="2174875"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2" name="Line 41"/>
          <p:cNvSpPr>
            <a:spLocks noChangeShapeType="1"/>
          </p:cNvSpPr>
          <p:nvPr/>
        </p:nvSpPr>
        <p:spPr bwMode="auto">
          <a:xfrm>
            <a:off x="241458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3" name="Line 42"/>
          <p:cNvSpPr>
            <a:spLocks noChangeShapeType="1"/>
          </p:cNvSpPr>
          <p:nvPr/>
        </p:nvSpPr>
        <p:spPr bwMode="auto">
          <a:xfrm>
            <a:off x="2654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4" name="Line 43"/>
          <p:cNvSpPr>
            <a:spLocks noChangeShapeType="1"/>
          </p:cNvSpPr>
          <p:nvPr/>
        </p:nvSpPr>
        <p:spPr bwMode="auto">
          <a:xfrm>
            <a:off x="289401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5" name="Line 44"/>
          <p:cNvSpPr>
            <a:spLocks noChangeShapeType="1"/>
          </p:cNvSpPr>
          <p:nvPr/>
        </p:nvSpPr>
        <p:spPr bwMode="auto">
          <a:xfrm>
            <a:off x="313531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6" name="Line 45"/>
          <p:cNvSpPr>
            <a:spLocks noChangeShapeType="1"/>
          </p:cNvSpPr>
          <p:nvPr/>
        </p:nvSpPr>
        <p:spPr bwMode="auto">
          <a:xfrm>
            <a:off x="337502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7" name="Line 46"/>
          <p:cNvSpPr>
            <a:spLocks noChangeShapeType="1"/>
          </p:cNvSpPr>
          <p:nvPr/>
        </p:nvSpPr>
        <p:spPr bwMode="auto">
          <a:xfrm>
            <a:off x="361315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8" name="Line 47"/>
          <p:cNvSpPr>
            <a:spLocks noChangeShapeType="1"/>
          </p:cNvSpPr>
          <p:nvPr/>
        </p:nvSpPr>
        <p:spPr bwMode="auto">
          <a:xfrm>
            <a:off x="385286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9" name="Line 48"/>
          <p:cNvSpPr>
            <a:spLocks noChangeShapeType="1"/>
          </p:cNvSpPr>
          <p:nvPr/>
        </p:nvSpPr>
        <p:spPr bwMode="auto">
          <a:xfrm>
            <a:off x="4094163"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0" name="Line 49"/>
          <p:cNvSpPr>
            <a:spLocks noChangeShapeType="1"/>
          </p:cNvSpPr>
          <p:nvPr/>
        </p:nvSpPr>
        <p:spPr bwMode="auto">
          <a:xfrm>
            <a:off x="433387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1" name="Line 50"/>
          <p:cNvSpPr>
            <a:spLocks noChangeShapeType="1"/>
          </p:cNvSpPr>
          <p:nvPr/>
        </p:nvSpPr>
        <p:spPr bwMode="auto">
          <a:xfrm>
            <a:off x="457358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2" name="Line 51"/>
          <p:cNvSpPr>
            <a:spLocks noChangeShapeType="1"/>
          </p:cNvSpPr>
          <p:nvPr/>
        </p:nvSpPr>
        <p:spPr bwMode="auto">
          <a:xfrm>
            <a:off x="4813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3" name="Line 52"/>
          <p:cNvSpPr>
            <a:spLocks noChangeShapeType="1"/>
          </p:cNvSpPr>
          <p:nvPr/>
        </p:nvSpPr>
        <p:spPr bwMode="auto">
          <a:xfrm>
            <a:off x="50546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4" name="Line 53"/>
          <p:cNvSpPr>
            <a:spLocks noChangeShapeType="1"/>
          </p:cNvSpPr>
          <p:nvPr/>
        </p:nvSpPr>
        <p:spPr bwMode="auto">
          <a:xfrm>
            <a:off x="529431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5" name="Line 54"/>
          <p:cNvSpPr>
            <a:spLocks noChangeShapeType="1"/>
          </p:cNvSpPr>
          <p:nvPr/>
        </p:nvSpPr>
        <p:spPr bwMode="auto">
          <a:xfrm>
            <a:off x="553243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6" name="Line 55"/>
          <p:cNvSpPr>
            <a:spLocks noChangeShapeType="1"/>
          </p:cNvSpPr>
          <p:nvPr/>
        </p:nvSpPr>
        <p:spPr bwMode="auto">
          <a:xfrm>
            <a:off x="577215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7" name="Line 56"/>
          <p:cNvSpPr>
            <a:spLocks noChangeShapeType="1"/>
          </p:cNvSpPr>
          <p:nvPr/>
        </p:nvSpPr>
        <p:spPr bwMode="auto">
          <a:xfrm>
            <a:off x="6011863"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8" name="Line 57"/>
          <p:cNvSpPr>
            <a:spLocks noChangeShapeType="1"/>
          </p:cNvSpPr>
          <p:nvPr/>
        </p:nvSpPr>
        <p:spPr bwMode="auto">
          <a:xfrm>
            <a:off x="625316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9" name="Line 58"/>
          <p:cNvSpPr>
            <a:spLocks noChangeShapeType="1"/>
          </p:cNvSpPr>
          <p:nvPr/>
        </p:nvSpPr>
        <p:spPr bwMode="auto">
          <a:xfrm>
            <a:off x="649287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0" name="Line 59"/>
          <p:cNvSpPr>
            <a:spLocks noChangeShapeType="1"/>
          </p:cNvSpPr>
          <p:nvPr/>
        </p:nvSpPr>
        <p:spPr bwMode="auto">
          <a:xfrm>
            <a:off x="673258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1" name="Line 60"/>
          <p:cNvSpPr>
            <a:spLocks noChangeShapeType="1"/>
          </p:cNvSpPr>
          <p:nvPr/>
        </p:nvSpPr>
        <p:spPr bwMode="auto">
          <a:xfrm>
            <a:off x="6972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2" name="Line 61"/>
          <p:cNvSpPr>
            <a:spLocks noChangeShapeType="1"/>
          </p:cNvSpPr>
          <p:nvPr/>
        </p:nvSpPr>
        <p:spPr bwMode="auto">
          <a:xfrm>
            <a:off x="72136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3" name="Line 62"/>
          <p:cNvSpPr>
            <a:spLocks noChangeShapeType="1"/>
          </p:cNvSpPr>
          <p:nvPr/>
        </p:nvSpPr>
        <p:spPr bwMode="auto">
          <a:xfrm>
            <a:off x="745172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4" name="Line 63"/>
          <p:cNvSpPr>
            <a:spLocks noChangeShapeType="1"/>
          </p:cNvSpPr>
          <p:nvPr/>
        </p:nvSpPr>
        <p:spPr bwMode="auto">
          <a:xfrm>
            <a:off x="769143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5" name="Line 64"/>
          <p:cNvSpPr>
            <a:spLocks noChangeShapeType="1"/>
          </p:cNvSpPr>
          <p:nvPr/>
        </p:nvSpPr>
        <p:spPr bwMode="auto">
          <a:xfrm>
            <a:off x="7931150"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6" name="Line 65"/>
          <p:cNvSpPr>
            <a:spLocks noChangeShapeType="1"/>
          </p:cNvSpPr>
          <p:nvPr/>
        </p:nvSpPr>
        <p:spPr bwMode="auto">
          <a:xfrm>
            <a:off x="817086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7" name="Line 66"/>
          <p:cNvSpPr>
            <a:spLocks noChangeShapeType="1"/>
          </p:cNvSpPr>
          <p:nvPr/>
        </p:nvSpPr>
        <p:spPr bwMode="auto">
          <a:xfrm>
            <a:off x="841216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8" name="Line 67"/>
          <p:cNvSpPr>
            <a:spLocks noChangeShapeType="1"/>
          </p:cNvSpPr>
          <p:nvPr/>
        </p:nvSpPr>
        <p:spPr bwMode="auto">
          <a:xfrm>
            <a:off x="865187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9" name="Line 68"/>
          <p:cNvSpPr>
            <a:spLocks noChangeShapeType="1"/>
          </p:cNvSpPr>
          <p:nvPr/>
        </p:nvSpPr>
        <p:spPr bwMode="auto">
          <a:xfrm>
            <a:off x="889158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30" name="Line 69"/>
          <p:cNvSpPr>
            <a:spLocks noChangeShapeType="1"/>
          </p:cNvSpPr>
          <p:nvPr/>
        </p:nvSpPr>
        <p:spPr bwMode="auto">
          <a:xfrm>
            <a:off x="9131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31" name="Line 70"/>
          <p:cNvSpPr>
            <a:spLocks noChangeShapeType="1"/>
          </p:cNvSpPr>
          <p:nvPr/>
        </p:nvSpPr>
        <p:spPr bwMode="auto">
          <a:xfrm>
            <a:off x="937101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32" name="Line 71"/>
          <p:cNvSpPr>
            <a:spLocks noChangeShapeType="1"/>
          </p:cNvSpPr>
          <p:nvPr/>
        </p:nvSpPr>
        <p:spPr bwMode="auto">
          <a:xfrm>
            <a:off x="961072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33" name="Line 72"/>
          <p:cNvSpPr>
            <a:spLocks noChangeShapeType="1"/>
          </p:cNvSpPr>
          <p:nvPr/>
        </p:nvSpPr>
        <p:spPr bwMode="auto">
          <a:xfrm>
            <a:off x="9850438"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34" name="Rectangle 73"/>
          <p:cNvSpPr>
            <a:spLocks noChangeArrowheads="1"/>
          </p:cNvSpPr>
          <p:nvPr/>
        </p:nvSpPr>
        <p:spPr bwMode="auto">
          <a:xfrm>
            <a:off x="2333625"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235" name="Rectangle 74"/>
          <p:cNvSpPr>
            <a:spLocks noChangeArrowheads="1"/>
          </p:cNvSpPr>
          <p:nvPr/>
        </p:nvSpPr>
        <p:spPr bwMode="auto">
          <a:xfrm>
            <a:off x="4252913"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236" name="Rectangle 75"/>
          <p:cNvSpPr>
            <a:spLocks noChangeArrowheads="1"/>
          </p:cNvSpPr>
          <p:nvPr/>
        </p:nvSpPr>
        <p:spPr bwMode="auto">
          <a:xfrm>
            <a:off x="6172200"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237" name="Rectangle 76"/>
          <p:cNvSpPr>
            <a:spLocks noChangeArrowheads="1"/>
          </p:cNvSpPr>
          <p:nvPr/>
        </p:nvSpPr>
        <p:spPr bwMode="auto">
          <a:xfrm>
            <a:off x="8091488"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244" name="Line 83"/>
          <p:cNvSpPr>
            <a:spLocks noChangeShapeType="1"/>
          </p:cNvSpPr>
          <p:nvPr/>
        </p:nvSpPr>
        <p:spPr bwMode="auto">
          <a:xfrm flipH="1">
            <a:off x="7929563" y="5162552"/>
            <a:ext cx="3175" cy="6429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245" name="Rectangle 84"/>
          <p:cNvSpPr>
            <a:spLocks noChangeArrowheads="1"/>
          </p:cNvSpPr>
          <p:nvPr/>
        </p:nvSpPr>
        <p:spPr bwMode="auto">
          <a:xfrm>
            <a:off x="8442325" y="5229227"/>
            <a:ext cx="1254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填    充</a:t>
            </a:r>
          </a:p>
        </p:txBody>
      </p:sp>
      <p:sp>
        <p:nvSpPr>
          <p:cNvPr id="246" name="Line 85"/>
          <p:cNvSpPr>
            <a:spLocks noChangeShapeType="1"/>
          </p:cNvSpPr>
          <p:nvPr/>
        </p:nvSpPr>
        <p:spPr bwMode="auto">
          <a:xfrm>
            <a:off x="9971088" y="1641477"/>
            <a:ext cx="5175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247" name="Line 86"/>
          <p:cNvSpPr>
            <a:spLocks noChangeShapeType="1"/>
          </p:cNvSpPr>
          <p:nvPr/>
        </p:nvSpPr>
        <p:spPr bwMode="auto">
          <a:xfrm>
            <a:off x="9971088" y="5137152"/>
            <a:ext cx="5175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248" name="Line 87"/>
          <p:cNvSpPr>
            <a:spLocks noChangeShapeType="1"/>
          </p:cNvSpPr>
          <p:nvPr/>
        </p:nvSpPr>
        <p:spPr bwMode="auto">
          <a:xfrm>
            <a:off x="1582738" y="1679577"/>
            <a:ext cx="5302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249" name="Line 88"/>
          <p:cNvSpPr>
            <a:spLocks noChangeShapeType="1"/>
          </p:cNvSpPr>
          <p:nvPr/>
        </p:nvSpPr>
        <p:spPr bwMode="auto">
          <a:xfrm>
            <a:off x="1597025" y="5780089"/>
            <a:ext cx="5302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89" name="灯片编号占位符 5"/>
          <p:cNvSpPr>
            <a:spLocks noGrp="1"/>
          </p:cNvSpPr>
          <p:nvPr>
            <p:ph type="sldNum" sz="quarter" idx="12"/>
          </p:nvPr>
        </p:nvSpPr>
        <p:spPr/>
        <p:txBody>
          <a:bodyPr/>
          <a:lstStyle/>
          <a:p>
            <a:fld id="{3BF17D26-2DBA-47EF-A878-2573F5EABD90}" type="slidenum">
              <a:rPr lang="en-US" altLang="zh-CN"/>
              <a:t>43</a:t>
            </a:fld>
            <a:endParaRPr lang="en-US" altLang="zh-CN"/>
          </a:p>
        </p:txBody>
      </p:sp>
      <p:sp>
        <p:nvSpPr>
          <p:cNvPr id="800854" name="Rectangle 86"/>
          <p:cNvSpPr>
            <a:spLocks noGrp="1" noChangeArrowheads="1"/>
          </p:cNvSpPr>
          <p:nvPr>
            <p:ph type="title"/>
          </p:nvPr>
        </p:nvSpPr>
        <p:spPr>
          <a:noFill/>
        </p:spPr>
        <p:txBody>
          <a:bodyPr/>
          <a:lstStyle/>
          <a:p>
            <a:r>
              <a:rPr lang="en-US" altLang="zh-CN" dirty="0"/>
              <a:t>TCP</a:t>
            </a:r>
            <a:r>
              <a:rPr lang="zh-CN" altLang="en-US" dirty="0"/>
              <a:t>的报头字段</a:t>
            </a:r>
            <a:endParaRPr lang="en-US" altLang="zh-CN" dirty="0"/>
          </a:p>
        </p:txBody>
      </p:sp>
      <p:sp>
        <p:nvSpPr>
          <p:cNvPr id="800936" name="Text Box 168"/>
          <p:cNvSpPr txBox="1">
            <a:spLocks noChangeArrowheads="1"/>
          </p:cNvSpPr>
          <p:nvPr/>
        </p:nvSpPr>
        <p:spPr bwMode="auto">
          <a:xfrm>
            <a:off x="1003613" y="5835799"/>
            <a:ext cx="10080000" cy="707886"/>
          </a:xfrm>
          <a:prstGeom prst="rect">
            <a:avLst/>
          </a:prstGeom>
          <a:noFill/>
          <a:ln>
            <a:noFill/>
          </a:ln>
          <a:effectLst/>
        </p:spPr>
        <p:txBody>
          <a:bodyPr>
            <a:spAutoFit/>
          </a:bodyPr>
          <a:lstStyle/>
          <a:p>
            <a:pPr marL="342900" indent="-342900">
              <a:buFont typeface="Wingdings" panose="05000000000000000000" pitchFamily="2" charset="2"/>
              <a:buChar char="Ø"/>
            </a:pPr>
            <a:r>
              <a:rPr lang="zh-CN" altLang="en-US" dirty="0">
                <a:latin typeface="微软雅黑 Light" panose="020B0502040204020203" pitchFamily="34" charset="-122"/>
                <a:ea typeface="微软雅黑 Light" panose="020B0502040204020203" pitchFamily="34" charset="-122"/>
              </a:rPr>
              <a:t>复位 </a:t>
            </a:r>
            <a:r>
              <a:rPr lang="en-US" altLang="zh-CN" dirty="0">
                <a:latin typeface="微软雅黑 Light" panose="020B0502040204020203" pitchFamily="34" charset="-122"/>
                <a:ea typeface="微软雅黑 Light" panose="020B0502040204020203" pitchFamily="34" charset="-122"/>
              </a:rPr>
              <a:t>RST </a:t>
            </a:r>
            <a:r>
              <a:rPr lang="zh-CN" altLang="en-US" dirty="0">
                <a:latin typeface="微软雅黑 Light" panose="020B0502040204020203" pitchFamily="34" charset="-122"/>
                <a:ea typeface="微软雅黑 Light" panose="020B0502040204020203" pitchFamily="34" charset="-122"/>
              </a:rPr>
              <a:t>：当</a:t>
            </a:r>
            <a:r>
              <a:rPr lang="en-US" altLang="zh-CN" dirty="0">
                <a:latin typeface="微软雅黑 Light" panose="020B0502040204020203" pitchFamily="34" charset="-122"/>
                <a:ea typeface="微软雅黑 Light" panose="020B0502040204020203" pitchFamily="34" charset="-122"/>
              </a:rPr>
              <a:t>RST</a:t>
            </a:r>
            <a:r>
              <a:rPr lang="en-US" altLang="zh-CN" dirty="0">
                <a:latin typeface="微软雅黑 Light" panose="020B0502040204020203" pitchFamily="34" charset="-122"/>
                <a:ea typeface="微软雅黑 Light" panose="020B0502040204020203" pitchFamily="34" charset="-122"/>
                <a:sym typeface="Symbol" panose="05050102010706020507" pitchFamily="18" charset="2"/>
              </a:rPr>
              <a:t></a:t>
            </a:r>
            <a:r>
              <a:rPr lang="en-US" altLang="zh-CN" dirty="0">
                <a:latin typeface="微软雅黑 Light" panose="020B0502040204020203" pitchFamily="34" charset="-122"/>
                <a:ea typeface="微软雅黑 Light" panose="020B0502040204020203" pitchFamily="34" charset="-122"/>
              </a:rPr>
              <a:t>1</a:t>
            </a:r>
            <a:r>
              <a:rPr lang="zh-CN" altLang="en-US" dirty="0">
                <a:latin typeface="微软雅黑 Light" panose="020B0502040204020203" pitchFamily="34" charset="-122"/>
                <a:ea typeface="微软雅黑 Light" panose="020B0502040204020203" pitchFamily="34" charset="-122"/>
              </a:rPr>
              <a:t>时，表明</a:t>
            </a:r>
            <a:r>
              <a:rPr lang="en-US" altLang="zh-CN" dirty="0">
                <a:latin typeface="微软雅黑 Light" panose="020B0502040204020203" pitchFamily="34" charset="-122"/>
                <a:ea typeface="微软雅黑 Light" panose="020B0502040204020203" pitchFamily="34" charset="-122"/>
              </a:rPr>
              <a:t>TCP</a:t>
            </a:r>
            <a:r>
              <a:rPr lang="zh-CN" altLang="en-US" dirty="0">
                <a:latin typeface="微软雅黑 Light" panose="020B0502040204020203" pitchFamily="34" charset="-122"/>
                <a:ea typeface="微软雅黑 Light" panose="020B0502040204020203" pitchFamily="34" charset="-122"/>
              </a:rPr>
              <a:t>连接中出现严重差错</a:t>
            </a:r>
            <a:r>
              <a:rPr lang="en-US" altLang="zh-CN" dirty="0">
                <a:latin typeface="微软雅黑 Light" panose="020B0502040204020203" pitchFamily="34" charset="-122"/>
                <a:ea typeface="微软雅黑 Light" panose="020B0502040204020203" pitchFamily="34" charset="-122"/>
              </a:rPr>
              <a:t>(</a:t>
            </a:r>
            <a:r>
              <a:rPr lang="zh-CN" altLang="en-US" dirty="0">
                <a:latin typeface="微软雅黑 Light" panose="020B0502040204020203" pitchFamily="34" charset="-122"/>
                <a:ea typeface="微软雅黑 Light" panose="020B0502040204020203" pitchFamily="34" charset="-122"/>
              </a:rPr>
              <a:t>如由于主机崩溃或其他原因</a:t>
            </a:r>
            <a:r>
              <a:rPr lang="en-US" altLang="zh-CN" dirty="0">
                <a:latin typeface="微软雅黑 Light" panose="020B0502040204020203" pitchFamily="34" charset="-122"/>
                <a:ea typeface="微软雅黑 Light" panose="020B0502040204020203" pitchFamily="34" charset="-122"/>
              </a:rPr>
              <a:t>)</a:t>
            </a:r>
            <a:r>
              <a:rPr lang="zh-CN" altLang="en-US" dirty="0">
                <a:latin typeface="微软雅黑 Light" panose="020B0502040204020203" pitchFamily="34" charset="-122"/>
                <a:ea typeface="微软雅黑 Light" panose="020B0502040204020203" pitchFamily="34" charset="-122"/>
              </a:rPr>
              <a:t>，必须释放连接，然后再重新建立传输连接 </a:t>
            </a:r>
          </a:p>
        </p:txBody>
      </p:sp>
      <p:sp>
        <p:nvSpPr>
          <p:cNvPr id="88" name="Line 30"/>
          <p:cNvSpPr>
            <a:spLocks noChangeShapeType="1"/>
          </p:cNvSpPr>
          <p:nvPr/>
        </p:nvSpPr>
        <p:spPr bwMode="auto">
          <a:xfrm>
            <a:off x="3135313" y="3767139"/>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0" name="Line 31"/>
          <p:cNvSpPr>
            <a:spLocks noChangeShapeType="1"/>
          </p:cNvSpPr>
          <p:nvPr/>
        </p:nvSpPr>
        <p:spPr bwMode="auto">
          <a:xfrm>
            <a:off x="5062538" y="3759202"/>
            <a:ext cx="0" cy="6842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1" name="Line 32"/>
          <p:cNvSpPr>
            <a:spLocks noChangeShapeType="1"/>
          </p:cNvSpPr>
          <p:nvPr/>
        </p:nvSpPr>
        <p:spPr bwMode="auto">
          <a:xfrm>
            <a:off x="4572001" y="3761583"/>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2" name="Line 33"/>
          <p:cNvSpPr>
            <a:spLocks noChangeShapeType="1"/>
          </p:cNvSpPr>
          <p:nvPr/>
        </p:nvSpPr>
        <p:spPr bwMode="auto">
          <a:xfrm>
            <a:off x="4813300"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3" name="Line 34"/>
          <p:cNvSpPr>
            <a:spLocks noChangeShapeType="1"/>
          </p:cNvSpPr>
          <p:nvPr/>
        </p:nvSpPr>
        <p:spPr bwMode="auto">
          <a:xfrm>
            <a:off x="5543550"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4" name="Line 35"/>
          <p:cNvSpPr>
            <a:spLocks noChangeShapeType="1"/>
          </p:cNvSpPr>
          <p:nvPr/>
        </p:nvSpPr>
        <p:spPr bwMode="auto">
          <a:xfrm>
            <a:off x="5302250"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5" name="Line 36"/>
          <p:cNvSpPr>
            <a:spLocks noChangeShapeType="1"/>
          </p:cNvSpPr>
          <p:nvPr/>
        </p:nvSpPr>
        <p:spPr bwMode="auto">
          <a:xfrm>
            <a:off x="5788025"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6" name="Rectangle 37"/>
          <p:cNvSpPr>
            <a:spLocks noChangeArrowheads="1"/>
          </p:cNvSpPr>
          <p:nvPr/>
        </p:nvSpPr>
        <p:spPr bwMode="auto">
          <a:xfrm>
            <a:off x="3198280" y="3867686"/>
            <a:ext cx="72548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保留</a:t>
            </a:r>
          </a:p>
        </p:txBody>
      </p:sp>
      <p:sp>
        <p:nvSpPr>
          <p:cNvPr id="103" name="Line 32"/>
          <p:cNvSpPr>
            <a:spLocks noChangeShapeType="1"/>
          </p:cNvSpPr>
          <p:nvPr/>
        </p:nvSpPr>
        <p:spPr bwMode="auto">
          <a:xfrm>
            <a:off x="4079776" y="3757614"/>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04" name="Line 33"/>
          <p:cNvSpPr>
            <a:spLocks noChangeShapeType="1"/>
          </p:cNvSpPr>
          <p:nvPr/>
        </p:nvSpPr>
        <p:spPr bwMode="auto">
          <a:xfrm>
            <a:off x="4314850" y="3768726"/>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800937" name="Rectangle 169"/>
          <p:cNvSpPr>
            <a:spLocks noChangeArrowheads="1"/>
          </p:cNvSpPr>
          <p:nvPr/>
        </p:nvSpPr>
        <p:spPr bwMode="auto">
          <a:xfrm>
            <a:off x="5276056" y="3709989"/>
            <a:ext cx="317500" cy="717550"/>
          </a:xfrm>
          <a:prstGeom prst="rect">
            <a:avLst/>
          </a:prstGeom>
          <a:noFill/>
          <a:ln w="7620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2" name="Rectangle 82">
            <a:extLst>
              <a:ext uri="{FF2B5EF4-FFF2-40B4-BE49-F238E27FC236}">
                <a16:creationId xmlns:a16="http://schemas.microsoft.com/office/drawing/2014/main" id="{1AD4A5B3-E76F-4A26-85FC-EE0E636293ED}"/>
              </a:ext>
            </a:extLst>
          </p:cNvPr>
          <p:cNvSpPr>
            <a:spLocks noChangeArrowheads="1"/>
          </p:cNvSpPr>
          <p:nvPr/>
        </p:nvSpPr>
        <p:spPr bwMode="auto">
          <a:xfrm>
            <a:off x="1812925" y="908720"/>
            <a:ext cx="8261878"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位 </a:t>
            </a:r>
            <a:r>
              <a:rPr lang="en-US" altLang="zh-CN" sz="2000" dirty="0">
                <a:latin typeface="+mn-lt"/>
                <a:ea typeface="微软雅黑 Light" panose="020B0502040204020203" pitchFamily="34" charset="-122"/>
              </a:rPr>
              <a:t>0                           8                           16                          24                          31</a:t>
            </a:r>
          </a:p>
        </p:txBody>
      </p:sp>
      <p:sp>
        <p:nvSpPr>
          <p:cNvPr id="3" name="Rectangle 38">
            <a:extLst>
              <a:ext uri="{FF2B5EF4-FFF2-40B4-BE49-F238E27FC236}">
                <a16:creationId xmlns:a16="http://schemas.microsoft.com/office/drawing/2014/main" id="{97678281-E735-2048-3413-6444F385AD9D}"/>
              </a:ext>
            </a:extLst>
          </p:cNvPr>
          <p:cNvSpPr>
            <a:spLocks noChangeArrowheads="1"/>
          </p:cNvSpPr>
          <p:nvPr/>
        </p:nvSpPr>
        <p:spPr bwMode="auto">
          <a:xfrm rot="16200000">
            <a:off x="5668052" y="3946460"/>
            <a:ext cx="535405"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lnSpc>
                <a:spcPct val="75000"/>
              </a:lnSpc>
            </a:pPr>
            <a:r>
              <a:rPr lang="en-US" altLang="zh-CN" sz="1600" b="1" dirty="0">
                <a:latin typeface="+mn-lt"/>
                <a:ea typeface="微软雅黑 Light" panose="020B0502040204020203" pitchFamily="34" charset="-122"/>
              </a:rPr>
              <a:t>FIN</a:t>
            </a:r>
          </a:p>
        </p:txBody>
      </p:sp>
      <p:sp>
        <p:nvSpPr>
          <p:cNvPr id="4" name="Rectangle 77">
            <a:extLst>
              <a:ext uri="{FF2B5EF4-FFF2-40B4-BE49-F238E27FC236}">
                <a16:creationId xmlns:a16="http://schemas.microsoft.com/office/drawing/2014/main" id="{80BA0F03-CC1B-C963-2686-B1DB83F642E2}"/>
              </a:ext>
            </a:extLst>
          </p:cNvPr>
          <p:cNvSpPr>
            <a:spLocks noChangeArrowheads="1"/>
          </p:cNvSpPr>
          <p:nvPr/>
        </p:nvSpPr>
        <p:spPr bwMode="auto">
          <a:xfrm rot="16200000">
            <a:off x="5401703" y="3936764"/>
            <a:ext cx="591510"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SYN</a:t>
            </a:r>
          </a:p>
        </p:txBody>
      </p:sp>
      <p:sp>
        <p:nvSpPr>
          <p:cNvPr id="5" name="Rectangle 78">
            <a:extLst>
              <a:ext uri="{FF2B5EF4-FFF2-40B4-BE49-F238E27FC236}">
                <a16:creationId xmlns:a16="http://schemas.microsoft.com/office/drawing/2014/main" id="{705471A2-7CC1-70B7-D9AF-40D4478F1916}"/>
              </a:ext>
            </a:extLst>
          </p:cNvPr>
          <p:cNvSpPr>
            <a:spLocks noChangeArrowheads="1"/>
          </p:cNvSpPr>
          <p:nvPr/>
        </p:nvSpPr>
        <p:spPr bwMode="auto">
          <a:xfrm rot="16200000">
            <a:off x="5115446" y="3917780"/>
            <a:ext cx="618290"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RST</a:t>
            </a:r>
          </a:p>
        </p:txBody>
      </p:sp>
      <p:sp>
        <p:nvSpPr>
          <p:cNvPr id="6" name="Rectangle 79">
            <a:extLst>
              <a:ext uri="{FF2B5EF4-FFF2-40B4-BE49-F238E27FC236}">
                <a16:creationId xmlns:a16="http://schemas.microsoft.com/office/drawing/2014/main" id="{D5F90B8E-2ACD-7CE8-A798-C3519A806F85}"/>
              </a:ext>
            </a:extLst>
          </p:cNvPr>
          <p:cNvSpPr>
            <a:spLocks noChangeArrowheads="1"/>
          </p:cNvSpPr>
          <p:nvPr/>
        </p:nvSpPr>
        <p:spPr bwMode="auto">
          <a:xfrm rot="16200000">
            <a:off x="4890356" y="3938731"/>
            <a:ext cx="600108"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PSH  </a:t>
            </a:r>
          </a:p>
        </p:txBody>
      </p:sp>
      <p:sp>
        <p:nvSpPr>
          <p:cNvPr id="7" name="Rectangle 80">
            <a:extLst>
              <a:ext uri="{FF2B5EF4-FFF2-40B4-BE49-F238E27FC236}">
                <a16:creationId xmlns:a16="http://schemas.microsoft.com/office/drawing/2014/main" id="{4CF67C6F-A2F0-F27A-A1F8-391EDE26A33F}"/>
              </a:ext>
            </a:extLst>
          </p:cNvPr>
          <p:cNvSpPr>
            <a:spLocks noChangeArrowheads="1"/>
          </p:cNvSpPr>
          <p:nvPr/>
        </p:nvSpPr>
        <p:spPr bwMode="auto">
          <a:xfrm rot="16200000">
            <a:off x="4579000" y="3916214"/>
            <a:ext cx="730250"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ACK</a:t>
            </a:r>
          </a:p>
        </p:txBody>
      </p:sp>
      <p:sp>
        <p:nvSpPr>
          <p:cNvPr id="8" name="Rectangle 81">
            <a:extLst>
              <a:ext uri="{FF2B5EF4-FFF2-40B4-BE49-F238E27FC236}">
                <a16:creationId xmlns:a16="http://schemas.microsoft.com/office/drawing/2014/main" id="{342EE920-5C23-C3ED-161E-CA69C9907DC9}"/>
              </a:ext>
            </a:extLst>
          </p:cNvPr>
          <p:cNvSpPr>
            <a:spLocks noChangeArrowheads="1"/>
          </p:cNvSpPr>
          <p:nvPr/>
        </p:nvSpPr>
        <p:spPr bwMode="auto">
          <a:xfrm rot="16200000">
            <a:off x="4342408" y="3894364"/>
            <a:ext cx="761997"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URG</a:t>
            </a:r>
          </a:p>
        </p:txBody>
      </p:sp>
      <p:sp>
        <p:nvSpPr>
          <p:cNvPr id="9" name="Rectangle 81">
            <a:extLst>
              <a:ext uri="{FF2B5EF4-FFF2-40B4-BE49-F238E27FC236}">
                <a16:creationId xmlns:a16="http://schemas.microsoft.com/office/drawing/2014/main" id="{A21BBF0C-A60C-0AE0-2F32-25A76FED3596}"/>
              </a:ext>
            </a:extLst>
          </p:cNvPr>
          <p:cNvSpPr>
            <a:spLocks noChangeArrowheads="1"/>
          </p:cNvSpPr>
          <p:nvPr/>
        </p:nvSpPr>
        <p:spPr bwMode="auto">
          <a:xfrm rot="16200000">
            <a:off x="3855770" y="3928543"/>
            <a:ext cx="721634"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CWR</a:t>
            </a:r>
          </a:p>
        </p:txBody>
      </p:sp>
      <p:sp>
        <p:nvSpPr>
          <p:cNvPr id="10" name="Rectangle 81">
            <a:extLst>
              <a:ext uri="{FF2B5EF4-FFF2-40B4-BE49-F238E27FC236}">
                <a16:creationId xmlns:a16="http://schemas.microsoft.com/office/drawing/2014/main" id="{F3C67AB9-AF6D-B08B-BC92-CE8F19EA98CF}"/>
              </a:ext>
            </a:extLst>
          </p:cNvPr>
          <p:cNvSpPr>
            <a:spLocks noChangeArrowheads="1"/>
          </p:cNvSpPr>
          <p:nvPr/>
        </p:nvSpPr>
        <p:spPr bwMode="auto">
          <a:xfrm rot="16200000">
            <a:off x="4124919" y="3912163"/>
            <a:ext cx="704221"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ECE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937"/>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80093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937" grpId="0" animBg="1"/>
      <p:bldP spid="800937" grpId="1"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Line 9"/>
          <p:cNvSpPr>
            <a:spLocks noChangeShapeType="1"/>
          </p:cNvSpPr>
          <p:nvPr/>
        </p:nvSpPr>
        <p:spPr bwMode="auto">
          <a:xfrm flipH="1">
            <a:off x="1884363" y="1645320"/>
            <a:ext cx="17463" cy="4122738"/>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1" name="Rectangle 10"/>
          <p:cNvSpPr>
            <a:spLocks noChangeArrowheads="1"/>
          </p:cNvSpPr>
          <p:nvPr/>
        </p:nvSpPr>
        <p:spPr bwMode="auto">
          <a:xfrm>
            <a:off x="1555750" y="3245520"/>
            <a:ext cx="696913" cy="6445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90000"/>
              </a:lnSpc>
            </a:pPr>
            <a:r>
              <a:rPr lang="en-US" altLang="zh-CN" sz="2000">
                <a:latin typeface="+mn-lt"/>
                <a:ea typeface="微软雅黑 Light" panose="020B0502040204020203" pitchFamily="34" charset="-122"/>
              </a:rPr>
              <a:t>TCP</a:t>
            </a:r>
          </a:p>
          <a:p>
            <a:pPr eaLnBrk="0" hangingPunct="0">
              <a:lnSpc>
                <a:spcPct val="90000"/>
              </a:lnSpc>
            </a:pPr>
            <a:r>
              <a:rPr lang="zh-CN" altLang="en-US" sz="2000">
                <a:latin typeface="+mn-lt"/>
                <a:ea typeface="微软雅黑 Light" panose="020B0502040204020203" pitchFamily="34" charset="-122"/>
              </a:rPr>
              <a:t>首部</a:t>
            </a:r>
          </a:p>
        </p:txBody>
      </p:sp>
      <p:sp>
        <p:nvSpPr>
          <p:cNvPr id="172" name="Line 11"/>
          <p:cNvSpPr>
            <a:spLocks noChangeShapeType="1"/>
          </p:cNvSpPr>
          <p:nvPr/>
        </p:nvSpPr>
        <p:spPr bwMode="auto">
          <a:xfrm>
            <a:off x="10304463" y="1635795"/>
            <a:ext cx="0" cy="3463925"/>
          </a:xfrm>
          <a:prstGeom prst="line">
            <a:avLst/>
          </a:prstGeom>
          <a:noFill/>
          <a:ln w="1905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3" name="Rectangle 12"/>
          <p:cNvSpPr>
            <a:spLocks noChangeArrowheads="1"/>
          </p:cNvSpPr>
          <p:nvPr/>
        </p:nvSpPr>
        <p:spPr bwMode="auto">
          <a:xfrm>
            <a:off x="9940925" y="2713708"/>
            <a:ext cx="695325" cy="119697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lnSpc>
                <a:spcPct val="90000"/>
              </a:lnSpc>
            </a:pPr>
            <a:r>
              <a:rPr lang="en-US" altLang="zh-CN" sz="2000">
                <a:latin typeface="+mn-lt"/>
                <a:ea typeface="微软雅黑 Light" panose="020B0502040204020203" pitchFamily="34" charset="-122"/>
              </a:rPr>
              <a:t>20</a:t>
            </a:r>
          </a:p>
          <a:p>
            <a:pPr algn="ctr" eaLnBrk="0" hangingPunct="0">
              <a:lnSpc>
                <a:spcPct val="90000"/>
              </a:lnSpc>
            </a:pPr>
            <a:r>
              <a:rPr lang="zh-CN" altLang="en-US" sz="2000">
                <a:latin typeface="+mn-lt"/>
                <a:ea typeface="微软雅黑 Light" panose="020B0502040204020203" pitchFamily="34" charset="-122"/>
              </a:rPr>
              <a:t>字节</a:t>
            </a:r>
          </a:p>
          <a:p>
            <a:pPr algn="ctr" eaLnBrk="0" hangingPunct="0">
              <a:lnSpc>
                <a:spcPct val="90000"/>
              </a:lnSpc>
            </a:pPr>
            <a:r>
              <a:rPr lang="zh-CN" altLang="en-US" sz="2000">
                <a:latin typeface="+mn-lt"/>
                <a:ea typeface="微软雅黑 Light" panose="020B0502040204020203" pitchFamily="34" charset="-122"/>
              </a:rPr>
              <a:t>固定</a:t>
            </a:r>
          </a:p>
          <a:p>
            <a:pPr algn="ctr" eaLnBrk="0" hangingPunct="0">
              <a:lnSpc>
                <a:spcPct val="90000"/>
              </a:lnSpc>
            </a:pPr>
            <a:r>
              <a:rPr lang="zh-CN" altLang="en-US" sz="2000">
                <a:latin typeface="+mn-lt"/>
                <a:ea typeface="微软雅黑 Light" panose="020B0502040204020203" pitchFamily="34" charset="-122"/>
              </a:rPr>
              <a:t>首部</a:t>
            </a:r>
          </a:p>
        </p:txBody>
      </p:sp>
      <p:sp>
        <p:nvSpPr>
          <p:cNvPr id="174" name="Rectangle 13"/>
          <p:cNvSpPr>
            <a:spLocks noChangeArrowheads="1"/>
          </p:cNvSpPr>
          <p:nvPr/>
        </p:nvSpPr>
        <p:spPr bwMode="auto">
          <a:xfrm>
            <a:off x="2209800" y="1642145"/>
            <a:ext cx="7686675" cy="4133850"/>
          </a:xfrm>
          <a:prstGeom prst="rect">
            <a:avLst/>
          </a:prstGeom>
          <a:solidFill>
            <a:schemeClr val="bg2"/>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175" name="Line 14"/>
          <p:cNvSpPr>
            <a:spLocks noChangeShapeType="1"/>
          </p:cNvSpPr>
          <p:nvPr/>
        </p:nvSpPr>
        <p:spPr bwMode="auto">
          <a:xfrm>
            <a:off x="2201863" y="2345408"/>
            <a:ext cx="76993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6" name="Line 15"/>
          <p:cNvSpPr>
            <a:spLocks noChangeShapeType="1"/>
          </p:cNvSpPr>
          <p:nvPr/>
        </p:nvSpPr>
        <p:spPr bwMode="auto">
          <a:xfrm>
            <a:off x="2216150" y="3040733"/>
            <a:ext cx="768508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7" name="Line 16"/>
          <p:cNvSpPr>
            <a:spLocks noChangeShapeType="1"/>
          </p:cNvSpPr>
          <p:nvPr/>
        </p:nvSpPr>
        <p:spPr bwMode="auto">
          <a:xfrm>
            <a:off x="2201863" y="3734470"/>
            <a:ext cx="76993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8" name="Line 17"/>
          <p:cNvSpPr>
            <a:spLocks noChangeShapeType="1"/>
          </p:cNvSpPr>
          <p:nvPr/>
        </p:nvSpPr>
        <p:spPr bwMode="auto">
          <a:xfrm>
            <a:off x="2201863" y="4426620"/>
            <a:ext cx="76993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9" name="Line 18"/>
          <p:cNvSpPr>
            <a:spLocks noChangeShapeType="1"/>
          </p:cNvSpPr>
          <p:nvPr/>
        </p:nvSpPr>
        <p:spPr bwMode="auto">
          <a:xfrm>
            <a:off x="2216150" y="5121945"/>
            <a:ext cx="768508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80" name="Line 19"/>
          <p:cNvSpPr>
            <a:spLocks noChangeShapeType="1"/>
          </p:cNvSpPr>
          <p:nvPr/>
        </p:nvSpPr>
        <p:spPr bwMode="auto">
          <a:xfrm>
            <a:off x="6054725" y="1650083"/>
            <a:ext cx="0" cy="7096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81" name="Rectangle 20"/>
          <p:cNvSpPr>
            <a:spLocks noChangeArrowheads="1"/>
          </p:cNvSpPr>
          <p:nvPr/>
        </p:nvSpPr>
        <p:spPr bwMode="auto">
          <a:xfrm>
            <a:off x="7254875" y="1777083"/>
            <a:ext cx="1593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目  的  端  口</a:t>
            </a:r>
          </a:p>
        </p:txBody>
      </p:sp>
      <p:sp>
        <p:nvSpPr>
          <p:cNvPr id="182" name="Rectangle 21"/>
          <p:cNvSpPr>
            <a:spLocks noChangeArrowheads="1"/>
          </p:cNvSpPr>
          <p:nvPr/>
        </p:nvSpPr>
        <p:spPr bwMode="auto">
          <a:xfrm>
            <a:off x="2363788" y="3699545"/>
            <a:ext cx="695325" cy="704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数据</a:t>
            </a:r>
          </a:p>
          <a:p>
            <a:pPr eaLnBrk="0" hangingPunct="0"/>
            <a:r>
              <a:rPr lang="zh-CN" altLang="en-US" sz="2000" dirty="0">
                <a:latin typeface="+mn-lt"/>
                <a:ea typeface="微软雅黑 Light" panose="020B0502040204020203" pitchFamily="34" charset="-122"/>
              </a:rPr>
              <a:t>偏移</a:t>
            </a:r>
          </a:p>
        </p:txBody>
      </p:sp>
      <p:sp>
        <p:nvSpPr>
          <p:cNvPr id="183" name="Rectangle 22"/>
          <p:cNvSpPr>
            <a:spLocks noChangeArrowheads="1"/>
          </p:cNvSpPr>
          <p:nvPr/>
        </p:nvSpPr>
        <p:spPr bwMode="auto">
          <a:xfrm>
            <a:off x="3443288" y="4564733"/>
            <a:ext cx="13366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检   验   和</a:t>
            </a:r>
          </a:p>
        </p:txBody>
      </p:sp>
      <p:sp>
        <p:nvSpPr>
          <p:cNvPr id="184" name="Rectangle 23"/>
          <p:cNvSpPr>
            <a:spLocks noChangeArrowheads="1"/>
          </p:cNvSpPr>
          <p:nvPr/>
        </p:nvSpPr>
        <p:spPr bwMode="auto">
          <a:xfrm>
            <a:off x="3725863" y="5214020"/>
            <a:ext cx="31988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选    项 长  度  可  变）</a:t>
            </a:r>
          </a:p>
        </p:txBody>
      </p:sp>
      <p:sp>
        <p:nvSpPr>
          <p:cNvPr id="185" name="Rectangle 24"/>
          <p:cNvSpPr>
            <a:spLocks noChangeArrowheads="1"/>
          </p:cNvSpPr>
          <p:nvPr/>
        </p:nvSpPr>
        <p:spPr bwMode="auto">
          <a:xfrm>
            <a:off x="3557588" y="1777083"/>
            <a:ext cx="12541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源  端  口</a:t>
            </a:r>
          </a:p>
        </p:txBody>
      </p:sp>
      <p:sp>
        <p:nvSpPr>
          <p:cNvPr id="186" name="Rectangle 25"/>
          <p:cNvSpPr>
            <a:spLocks noChangeArrowheads="1"/>
          </p:cNvSpPr>
          <p:nvPr/>
        </p:nvSpPr>
        <p:spPr bwMode="auto">
          <a:xfrm>
            <a:off x="5610225" y="2464470"/>
            <a:ext cx="1381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序   号</a:t>
            </a:r>
          </a:p>
        </p:txBody>
      </p:sp>
      <p:sp>
        <p:nvSpPr>
          <p:cNvPr id="187" name="Line 26"/>
          <p:cNvSpPr>
            <a:spLocks noChangeShapeType="1"/>
          </p:cNvSpPr>
          <p:nvPr/>
        </p:nvSpPr>
        <p:spPr bwMode="auto">
          <a:xfrm>
            <a:off x="6061075" y="3743995"/>
            <a:ext cx="0" cy="13700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88" name="Rectangle 27"/>
          <p:cNvSpPr>
            <a:spLocks noChangeArrowheads="1"/>
          </p:cNvSpPr>
          <p:nvPr/>
        </p:nvSpPr>
        <p:spPr bwMode="auto">
          <a:xfrm>
            <a:off x="7094538" y="4564733"/>
            <a:ext cx="17859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紧   急   指   针</a:t>
            </a:r>
          </a:p>
        </p:txBody>
      </p:sp>
      <p:sp>
        <p:nvSpPr>
          <p:cNvPr id="189" name="Rectangle 28"/>
          <p:cNvSpPr>
            <a:spLocks noChangeArrowheads="1"/>
          </p:cNvSpPr>
          <p:nvPr/>
        </p:nvSpPr>
        <p:spPr bwMode="auto">
          <a:xfrm>
            <a:off x="7543800" y="3845595"/>
            <a:ext cx="9223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窗   口</a:t>
            </a:r>
          </a:p>
        </p:txBody>
      </p:sp>
      <p:sp>
        <p:nvSpPr>
          <p:cNvPr id="190" name="Rectangle 29"/>
          <p:cNvSpPr>
            <a:spLocks noChangeArrowheads="1"/>
          </p:cNvSpPr>
          <p:nvPr/>
        </p:nvSpPr>
        <p:spPr bwMode="auto">
          <a:xfrm>
            <a:off x="5365750" y="3188370"/>
            <a:ext cx="18415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确    认    号</a:t>
            </a:r>
          </a:p>
        </p:txBody>
      </p:sp>
      <p:sp>
        <p:nvSpPr>
          <p:cNvPr id="200" name="Line 39"/>
          <p:cNvSpPr>
            <a:spLocks noChangeShapeType="1"/>
          </p:cNvSpPr>
          <p:nvPr/>
        </p:nvSpPr>
        <p:spPr bwMode="auto">
          <a:xfrm>
            <a:off x="2206625" y="1484983"/>
            <a:ext cx="767556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1" name="Line 40"/>
          <p:cNvSpPr>
            <a:spLocks noChangeShapeType="1"/>
          </p:cNvSpPr>
          <p:nvPr/>
        </p:nvSpPr>
        <p:spPr bwMode="auto">
          <a:xfrm>
            <a:off x="2206625" y="1286545"/>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2" name="Line 41"/>
          <p:cNvSpPr>
            <a:spLocks noChangeShapeType="1"/>
          </p:cNvSpPr>
          <p:nvPr/>
        </p:nvSpPr>
        <p:spPr bwMode="auto">
          <a:xfrm>
            <a:off x="2446338" y="1186533"/>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3" name="Line 42"/>
          <p:cNvSpPr>
            <a:spLocks noChangeShapeType="1"/>
          </p:cNvSpPr>
          <p:nvPr/>
        </p:nvSpPr>
        <p:spPr bwMode="auto">
          <a:xfrm>
            <a:off x="2686050" y="1186533"/>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4" name="Line 43"/>
          <p:cNvSpPr>
            <a:spLocks noChangeShapeType="1"/>
          </p:cNvSpPr>
          <p:nvPr/>
        </p:nvSpPr>
        <p:spPr bwMode="auto">
          <a:xfrm>
            <a:off x="2925763" y="1186533"/>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5" name="Line 44"/>
          <p:cNvSpPr>
            <a:spLocks noChangeShapeType="1"/>
          </p:cNvSpPr>
          <p:nvPr/>
        </p:nvSpPr>
        <p:spPr bwMode="auto">
          <a:xfrm>
            <a:off x="3167063" y="1186533"/>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6" name="Line 45"/>
          <p:cNvSpPr>
            <a:spLocks noChangeShapeType="1"/>
          </p:cNvSpPr>
          <p:nvPr/>
        </p:nvSpPr>
        <p:spPr bwMode="auto">
          <a:xfrm>
            <a:off x="3406775" y="1186533"/>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7" name="Line 46"/>
          <p:cNvSpPr>
            <a:spLocks noChangeShapeType="1"/>
          </p:cNvSpPr>
          <p:nvPr/>
        </p:nvSpPr>
        <p:spPr bwMode="auto">
          <a:xfrm>
            <a:off x="3644900" y="1186533"/>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8" name="Line 47"/>
          <p:cNvSpPr>
            <a:spLocks noChangeShapeType="1"/>
          </p:cNvSpPr>
          <p:nvPr/>
        </p:nvSpPr>
        <p:spPr bwMode="auto">
          <a:xfrm>
            <a:off x="3884613" y="1186533"/>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9" name="Line 48"/>
          <p:cNvSpPr>
            <a:spLocks noChangeShapeType="1"/>
          </p:cNvSpPr>
          <p:nvPr/>
        </p:nvSpPr>
        <p:spPr bwMode="auto">
          <a:xfrm>
            <a:off x="4125913" y="1286545"/>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0" name="Line 49"/>
          <p:cNvSpPr>
            <a:spLocks noChangeShapeType="1"/>
          </p:cNvSpPr>
          <p:nvPr/>
        </p:nvSpPr>
        <p:spPr bwMode="auto">
          <a:xfrm>
            <a:off x="4365625" y="1186533"/>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1" name="Line 50"/>
          <p:cNvSpPr>
            <a:spLocks noChangeShapeType="1"/>
          </p:cNvSpPr>
          <p:nvPr/>
        </p:nvSpPr>
        <p:spPr bwMode="auto">
          <a:xfrm>
            <a:off x="4605338" y="1186533"/>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2" name="Line 51"/>
          <p:cNvSpPr>
            <a:spLocks noChangeShapeType="1"/>
          </p:cNvSpPr>
          <p:nvPr/>
        </p:nvSpPr>
        <p:spPr bwMode="auto">
          <a:xfrm>
            <a:off x="4845050" y="1186533"/>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3" name="Line 52"/>
          <p:cNvSpPr>
            <a:spLocks noChangeShapeType="1"/>
          </p:cNvSpPr>
          <p:nvPr/>
        </p:nvSpPr>
        <p:spPr bwMode="auto">
          <a:xfrm>
            <a:off x="5086350" y="1186533"/>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4" name="Line 53"/>
          <p:cNvSpPr>
            <a:spLocks noChangeShapeType="1"/>
          </p:cNvSpPr>
          <p:nvPr/>
        </p:nvSpPr>
        <p:spPr bwMode="auto">
          <a:xfrm>
            <a:off x="5326063" y="1186533"/>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5" name="Line 54"/>
          <p:cNvSpPr>
            <a:spLocks noChangeShapeType="1"/>
          </p:cNvSpPr>
          <p:nvPr/>
        </p:nvSpPr>
        <p:spPr bwMode="auto">
          <a:xfrm>
            <a:off x="5564188" y="1186533"/>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6" name="Line 55"/>
          <p:cNvSpPr>
            <a:spLocks noChangeShapeType="1"/>
          </p:cNvSpPr>
          <p:nvPr/>
        </p:nvSpPr>
        <p:spPr bwMode="auto">
          <a:xfrm>
            <a:off x="5803900" y="1186533"/>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7" name="Line 56"/>
          <p:cNvSpPr>
            <a:spLocks noChangeShapeType="1"/>
          </p:cNvSpPr>
          <p:nvPr/>
        </p:nvSpPr>
        <p:spPr bwMode="auto">
          <a:xfrm>
            <a:off x="6043613" y="1286545"/>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8" name="Line 57"/>
          <p:cNvSpPr>
            <a:spLocks noChangeShapeType="1"/>
          </p:cNvSpPr>
          <p:nvPr/>
        </p:nvSpPr>
        <p:spPr bwMode="auto">
          <a:xfrm>
            <a:off x="6284913" y="1186533"/>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9" name="Line 58"/>
          <p:cNvSpPr>
            <a:spLocks noChangeShapeType="1"/>
          </p:cNvSpPr>
          <p:nvPr/>
        </p:nvSpPr>
        <p:spPr bwMode="auto">
          <a:xfrm>
            <a:off x="6524625" y="1186533"/>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0" name="Line 59"/>
          <p:cNvSpPr>
            <a:spLocks noChangeShapeType="1"/>
          </p:cNvSpPr>
          <p:nvPr/>
        </p:nvSpPr>
        <p:spPr bwMode="auto">
          <a:xfrm>
            <a:off x="6764338" y="1186533"/>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1" name="Line 60"/>
          <p:cNvSpPr>
            <a:spLocks noChangeShapeType="1"/>
          </p:cNvSpPr>
          <p:nvPr/>
        </p:nvSpPr>
        <p:spPr bwMode="auto">
          <a:xfrm>
            <a:off x="7004050" y="1186533"/>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2" name="Line 61"/>
          <p:cNvSpPr>
            <a:spLocks noChangeShapeType="1"/>
          </p:cNvSpPr>
          <p:nvPr/>
        </p:nvSpPr>
        <p:spPr bwMode="auto">
          <a:xfrm>
            <a:off x="7245350" y="1186533"/>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3" name="Line 62"/>
          <p:cNvSpPr>
            <a:spLocks noChangeShapeType="1"/>
          </p:cNvSpPr>
          <p:nvPr/>
        </p:nvSpPr>
        <p:spPr bwMode="auto">
          <a:xfrm>
            <a:off x="7483475" y="1186533"/>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4" name="Line 63"/>
          <p:cNvSpPr>
            <a:spLocks noChangeShapeType="1"/>
          </p:cNvSpPr>
          <p:nvPr/>
        </p:nvSpPr>
        <p:spPr bwMode="auto">
          <a:xfrm>
            <a:off x="7723188" y="1186533"/>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5" name="Line 64"/>
          <p:cNvSpPr>
            <a:spLocks noChangeShapeType="1"/>
          </p:cNvSpPr>
          <p:nvPr/>
        </p:nvSpPr>
        <p:spPr bwMode="auto">
          <a:xfrm>
            <a:off x="7962900" y="1286545"/>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6" name="Line 65"/>
          <p:cNvSpPr>
            <a:spLocks noChangeShapeType="1"/>
          </p:cNvSpPr>
          <p:nvPr/>
        </p:nvSpPr>
        <p:spPr bwMode="auto">
          <a:xfrm>
            <a:off x="8202613" y="1186533"/>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7" name="Line 66"/>
          <p:cNvSpPr>
            <a:spLocks noChangeShapeType="1"/>
          </p:cNvSpPr>
          <p:nvPr/>
        </p:nvSpPr>
        <p:spPr bwMode="auto">
          <a:xfrm>
            <a:off x="8443913" y="1186533"/>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8" name="Line 67"/>
          <p:cNvSpPr>
            <a:spLocks noChangeShapeType="1"/>
          </p:cNvSpPr>
          <p:nvPr/>
        </p:nvSpPr>
        <p:spPr bwMode="auto">
          <a:xfrm>
            <a:off x="8683625" y="1186533"/>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9" name="Line 68"/>
          <p:cNvSpPr>
            <a:spLocks noChangeShapeType="1"/>
          </p:cNvSpPr>
          <p:nvPr/>
        </p:nvSpPr>
        <p:spPr bwMode="auto">
          <a:xfrm>
            <a:off x="8923338" y="1186533"/>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30" name="Line 69"/>
          <p:cNvSpPr>
            <a:spLocks noChangeShapeType="1"/>
          </p:cNvSpPr>
          <p:nvPr/>
        </p:nvSpPr>
        <p:spPr bwMode="auto">
          <a:xfrm>
            <a:off x="9163050" y="1186533"/>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31" name="Line 70"/>
          <p:cNvSpPr>
            <a:spLocks noChangeShapeType="1"/>
          </p:cNvSpPr>
          <p:nvPr/>
        </p:nvSpPr>
        <p:spPr bwMode="auto">
          <a:xfrm>
            <a:off x="9402763" y="1186533"/>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32" name="Line 71"/>
          <p:cNvSpPr>
            <a:spLocks noChangeShapeType="1"/>
          </p:cNvSpPr>
          <p:nvPr/>
        </p:nvSpPr>
        <p:spPr bwMode="auto">
          <a:xfrm>
            <a:off x="9642475" y="1186533"/>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33" name="Line 72"/>
          <p:cNvSpPr>
            <a:spLocks noChangeShapeType="1"/>
          </p:cNvSpPr>
          <p:nvPr/>
        </p:nvSpPr>
        <p:spPr bwMode="auto">
          <a:xfrm>
            <a:off x="9882188" y="1286545"/>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34" name="Rectangle 73"/>
          <p:cNvSpPr>
            <a:spLocks noChangeArrowheads="1"/>
          </p:cNvSpPr>
          <p:nvPr/>
        </p:nvSpPr>
        <p:spPr bwMode="auto">
          <a:xfrm>
            <a:off x="2365375" y="1086520"/>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235" name="Rectangle 74"/>
          <p:cNvSpPr>
            <a:spLocks noChangeArrowheads="1"/>
          </p:cNvSpPr>
          <p:nvPr/>
        </p:nvSpPr>
        <p:spPr bwMode="auto">
          <a:xfrm>
            <a:off x="4284663" y="1086520"/>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236" name="Rectangle 75"/>
          <p:cNvSpPr>
            <a:spLocks noChangeArrowheads="1"/>
          </p:cNvSpPr>
          <p:nvPr/>
        </p:nvSpPr>
        <p:spPr bwMode="auto">
          <a:xfrm>
            <a:off x="6203950" y="1086520"/>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237" name="Rectangle 76"/>
          <p:cNvSpPr>
            <a:spLocks noChangeArrowheads="1"/>
          </p:cNvSpPr>
          <p:nvPr/>
        </p:nvSpPr>
        <p:spPr bwMode="auto">
          <a:xfrm>
            <a:off x="8123238" y="1086520"/>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243" name="Rectangle 82"/>
          <p:cNvSpPr>
            <a:spLocks noChangeArrowheads="1"/>
          </p:cNvSpPr>
          <p:nvPr/>
        </p:nvSpPr>
        <p:spPr bwMode="auto">
          <a:xfrm>
            <a:off x="1812925" y="908720"/>
            <a:ext cx="8261878"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位 </a:t>
            </a:r>
            <a:r>
              <a:rPr lang="en-US" altLang="zh-CN" sz="2000" dirty="0">
                <a:latin typeface="+mn-lt"/>
                <a:ea typeface="微软雅黑 Light" panose="020B0502040204020203" pitchFamily="34" charset="-122"/>
              </a:rPr>
              <a:t>0                           8                           16                          24                          31</a:t>
            </a:r>
          </a:p>
        </p:txBody>
      </p:sp>
      <p:sp>
        <p:nvSpPr>
          <p:cNvPr id="244" name="Line 83"/>
          <p:cNvSpPr>
            <a:spLocks noChangeShapeType="1"/>
          </p:cNvSpPr>
          <p:nvPr/>
        </p:nvSpPr>
        <p:spPr bwMode="auto">
          <a:xfrm flipH="1">
            <a:off x="7961313" y="5139408"/>
            <a:ext cx="3175" cy="6429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245" name="Rectangle 84"/>
          <p:cNvSpPr>
            <a:spLocks noChangeArrowheads="1"/>
          </p:cNvSpPr>
          <p:nvPr/>
        </p:nvSpPr>
        <p:spPr bwMode="auto">
          <a:xfrm>
            <a:off x="8474075" y="5206083"/>
            <a:ext cx="1254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填    充</a:t>
            </a:r>
          </a:p>
        </p:txBody>
      </p:sp>
      <p:sp>
        <p:nvSpPr>
          <p:cNvPr id="246" name="Line 85"/>
          <p:cNvSpPr>
            <a:spLocks noChangeShapeType="1"/>
          </p:cNvSpPr>
          <p:nvPr/>
        </p:nvSpPr>
        <p:spPr bwMode="auto">
          <a:xfrm>
            <a:off x="10002838" y="1618333"/>
            <a:ext cx="5175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247" name="Line 86"/>
          <p:cNvSpPr>
            <a:spLocks noChangeShapeType="1"/>
          </p:cNvSpPr>
          <p:nvPr/>
        </p:nvSpPr>
        <p:spPr bwMode="auto">
          <a:xfrm>
            <a:off x="10002838" y="5114008"/>
            <a:ext cx="5175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248" name="Line 87"/>
          <p:cNvSpPr>
            <a:spLocks noChangeShapeType="1"/>
          </p:cNvSpPr>
          <p:nvPr/>
        </p:nvSpPr>
        <p:spPr bwMode="auto">
          <a:xfrm>
            <a:off x="1614488" y="1656433"/>
            <a:ext cx="5302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249" name="Line 88"/>
          <p:cNvSpPr>
            <a:spLocks noChangeShapeType="1"/>
          </p:cNvSpPr>
          <p:nvPr/>
        </p:nvSpPr>
        <p:spPr bwMode="auto">
          <a:xfrm>
            <a:off x="1628775" y="5756945"/>
            <a:ext cx="5302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89" name="灯片编号占位符 5"/>
          <p:cNvSpPr>
            <a:spLocks noGrp="1"/>
          </p:cNvSpPr>
          <p:nvPr>
            <p:ph type="sldNum" sz="quarter" idx="12"/>
          </p:nvPr>
        </p:nvSpPr>
        <p:spPr/>
        <p:txBody>
          <a:bodyPr/>
          <a:lstStyle/>
          <a:p>
            <a:fld id="{568EC3AB-38BC-46EE-BECB-C81A56CCA7BB}" type="slidenum">
              <a:rPr lang="en-US" altLang="zh-CN"/>
              <a:t>44</a:t>
            </a:fld>
            <a:endParaRPr lang="en-US" altLang="zh-CN"/>
          </a:p>
        </p:txBody>
      </p:sp>
      <p:sp>
        <p:nvSpPr>
          <p:cNvPr id="801795" name="Rectangle 3"/>
          <p:cNvSpPr>
            <a:spLocks noGrp="1" noChangeArrowheads="1"/>
          </p:cNvSpPr>
          <p:nvPr>
            <p:ph type="title"/>
          </p:nvPr>
        </p:nvSpPr>
        <p:spPr>
          <a:noFill/>
        </p:spPr>
        <p:txBody>
          <a:bodyPr/>
          <a:lstStyle/>
          <a:p>
            <a:r>
              <a:rPr lang="en-US" altLang="zh-CN" dirty="0"/>
              <a:t>TCP</a:t>
            </a:r>
            <a:r>
              <a:rPr lang="zh-CN" altLang="en-US" dirty="0"/>
              <a:t>的报头字段</a:t>
            </a:r>
            <a:endParaRPr lang="en-US" altLang="zh-CN" dirty="0"/>
          </a:p>
        </p:txBody>
      </p:sp>
      <p:sp>
        <p:nvSpPr>
          <p:cNvPr id="801877" name="Text Box 85"/>
          <p:cNvSpPr txBox="1">
            <a:spLocks noChangeArrowheads="1"/>
          </p:cNvSpPr>
          <p:nvPr/>
        </p:nvSpPr>
        <p:spPr bwMode="auto">
          <a:xfrm>
            <a:off x="1056000" y="5892742"/>
            <a:ext cx="10080000" cy="398780"/>
          </a:xfrm>
          <a:prstGeom prst="rect">
            <a:avLst/>
          </a:prstGeom>
          <a:noFill/>
          <a:ln>
            <a:noFill/>
          </a:ln>
          <a:effectLst/>
        </p:spPr>
        <p:txBody>
          <a:bodyPr>
            <a:spAutoFit/>
          </a:bodyPr>
          <a:lstStyle>
            <a:defPPr>
              <a:defRPr lang="zh-CN"/>
            </a:defPPr>
            <a:lvl1pPr>
              <a:defRPr>
                <a:latin typeface="微软雅黑 Light" panose="020B0502040204020203" pitchFamily="34" charset="-122"/>
                <a:ea typeface="微软雅黑 Light" panose="020B0502040204020203" pitchFamily="34" charset="-122"/>
              </a:defRPr>
            </a:lvl1pPr>
          </a:lstStyle>
          <a:p>
            <a:pPr marL="342900" indent="-342900" algn="ctr">
              <a:buFont typeface="Wingdings" panose="05000000000000000000" pitchFamily="2" charset="2"/>
              <a:buChar char="Ø"/>
            </a:pPr>
            <a:r>
              <a:rPr lang="zh-CN" altLang="en-US" dirty="0"/>
              <a:t>同步 </a:t>
            </a:r>
            <a:r>
              <a:rPr lang="en-US" altLang="zh-CN" dirty="0"/>
              <a:t>SYN</a:t>
            </a:r>
            <a:r>
              <a:rPr lang="zh-CN" altLang="en-US" dirty="0"/>
              <a:t>：同步</a:t>
            </a:r>
            <a:r>
              <a:rPr lang="en-US" altLang="zh-CN" dirty="0"/>
              <a:t>SYN=1</a:t>
            </a:r>
            <a:r>
              <a:rPr lang="zh-CN" altLang="en-US" dirty="0"/>
              <a:t>表示这是一个连接请求或连接接受报文 </a:t>
            </a:r>
          </a:p>
        </p:txBody>
      </p:sp>
      <p:sp>
        <p:nvSpPr>
          <p:cNvPr id="107" name="Line 30"/>
          <p:cNvSpPr>
            <a:spLocks noChangeShapeType="1"/>
          </p:cNvSpPr>
          <p:nvPr/>
        </p:nvSpPr>
        <p:spPr bwMode="auto">
          <a:xfrm>
            <a:off x="3135313" y="3726557"/>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08" name="Line 31"/>
          <p:cNvSpPr>
            <a:spLocks noChangeShapeType="1"/>
          </p:cNvSpPr>
          <p:nvPr/>
        </p:nvSpPr>
        <p:spPr bwMode="auto">
          <a:xfrm>
            <a:off x="5062538" y="3718620"/>
            <a:ext cx="0" cy="6842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09" name="Line 32"/>
          <p:cNvSpPr>
            <a:spLocks noChangeShapeType="1"/>
          </p:cNvSpPr>
          <p:nvPr/>
        </p:nvSpPr>
        <p:spPr bwMode="auto">
          <a:xfrm>
            <a:off x="4572001" y="3721001"/>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10" name="Line 33"/>
          <p:cNvSpPr>
            <a:spLocks noChangeShapeType="1"/>
          </p:cNvSpPr>
          <p:nvPr/>
        </p:nvSpPr>
        <p:spPr bwMode="auto">
          <a:xfrm>
            <a:off x="4813300" y="3726557"/>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11" name="Line 34"/>
          <p:cNvSpPr>
            <a:spLocks noChangeShapeType="1"/>
          </p:cNvSpPr>
          <p:nvPr/>
        </p:nvSpPr>
        <p:spPr bwMode="auto">
          <a:xfrm>
            <a:off x="5543550" y="3726557"/>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12" name="Line 35"/>
          <p:cNvSpPr>
            <a:spLocks noChangeShapeType="1"/>
          </p:cNvSpPr>
          <p:nvPr/>
        </p:nvSpPr>
        <p:spPr bwMode="auto">
          <a:xfrm>
            <a:off x="5302250" y="3726557"/>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13" name="Line 36"/>
          <p:cNvSpPr>
            <a:spLocks noChangeShapeType="1"/>
          </p:cNvSpPr>
          <p:nvPr/>
        </p:nvSpPr>
        <p:spPr bwMode="auto">
          <a:xfrm>
            <a:off x="5788025" y="3726557"/>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14" name="Rectangle 37"/>
          <p:cNvSpPr>
            <a:spLocks noChangeArrowheads="1"/>
          </p:cNvSpPr>
          <p:nvPr/>
        </p:nvSpPr>
        <p:spPr bwMode="auto">
          <a:xfrm>
            <a:off x="3198280" y="3827104"/>
            <a:ext cx="72548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保留</a:t>
            </a:r>
          </a:p>
        </p:txBody>
      </p:sp>
      <p:sp>
        <p:nvSpPr>
          <p:cNvPr id="121" name="Line 32"/>
          <p:cNvSpPr>
            <a:spLocks noChangeShapeType="1"/>
          </p:cNvSpPr>
          <p:nvPr/>
        </p:nvSpPr>
        <p:spPr bwMode="auto">
          <a:xfrm>
            <a:off x="4007768" y="3726557"/>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22" name="Line 33"/>
          <p:cNvSpPr>
            <a:spLocks noChangeShapeType="1"/>
          </p:cNvSpPr>
          <p:nvPr/>
        </p:nvSpPr>
        <p:spPr bwMode="auto">
          <a:xfrm>
            <a:off x="4314850" y="3728144"/>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801878" name="Rectangle 86"/>
          <p:cNvSpPr>
            <a:spLocks noChangeArrowheads="1"/>
          </p:cNvSpPr>
          <p:nvPr/>
        </p:nvSpPr>
        <p:spPr bwMode="auto">
          <a:xfrm>
            <a:off x="5509427" y="3698817"/>
            <a:ext cx="317500" cy="717550"/>
          </a:xfrm>
          <a:prstGeom prst="rect">
            <a:avLst/>
          </a:prstGeom>
          <a:noFill/>
          <a:ln w="7620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2" name="Rectangle 38">
            <a:extLst>
              <a:ext uri="{FF2B5EF4-FFF2-40B4-BE49-F238E27FC236}">
                <a16:creationId xmlns:a16="http://schemas.microsoft.com/office/drawing/2014/main" id="{21F85CB3-EA4B-728F-D801-1B112A9E2DDC}"/>
              </a:ext>
            </a:extLst>
          </p:cNvPr>
          <p:cNvSpPr>
            <a:spLocks noChangeArrowheads="1"/>
          </p:cNvSpPr>
          <p:nvPr/>
        </p:nvSpPr>
        <p:spPr bwMode="auto">
          <a:xfrm rot="16200000">
            <a:off x="5705341" y="3989980"/>
            <a:ext cx="535405"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lnSpc>
                <a:spcPct val="75000"/>
              </a:lnSpc>
            </a:pPr>
            <a:r>
              <a:rPr lang="en-US" altLang="zh-CN" sz="1600" b="1" dirty="0">
                <a:latin typeface="+mn-lt"/>
                <a:ea typeface="微软雅黑 Light" panose="020B0502040204020203" pitchFamily="34" charset="-122"/>
              </a:rPr>
              <a:t>FIN</a:t>
            </a:r>
          </a:p>
        </p:txBody>
      </p:sp>
      <p:sp>
        <p:nvSpPr>
          <p:cNvPr id="3" name="Rectangle 77">
            <a:extLst>
              <a:ext uri="{FF2B5EF4-FFF2-40B4-BE49-F238E27FC236}">
                <a16:creationId xmlns:a16="http://schemas.microsoft.com/office/drawing/2014/main" id="{F2A606D6-1CD7-90EF-BDB7-C7AD585DE8B8}"/>
              </a:ext>
            </a:extLst>
          </p:cNvPr>
          <p:cNvSpPr>
            <a:spLocks noChangeArrowheads="1"/>
          </p:cNvSpPr>
          <p:nvPr/>
        </p:nvSpPr>
        <p:spPr bwMode="auto">
          <a:xfrm rot="16200000">
            <a:off x="5401703" y="3936764"/>
            <a:ext cx="591510"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SYN</a:t>
            </a:r>
          </a:p>
        </p:txBody>
      </p:sp>
      <p:sp>
        <p:nvSpPr>
          <p:cNvPr id="4" name="Rectangle 78">
            <a:extLst>
              <a:ext uri="{FF2B5EF4-FFF2-40B4-BE49-F238E27FC236}">
                <a16:creationId xmlns:a16="http://schemas.microsoft.com/office/drawing/2014/main" id="{23DE85FB-BDC1-A70B-02F9-2C755AE3DB76}"/>
              </a:ext>
            </a:extLst>
          </p:cNvPr>
          <p:cNvSpPr>
            <a:spLocks noChangeArrowheads="1"/>
          </p:cNvSpPr>
          <p:nvPr/>
        </p:nvSpPr>
        <p:spPr bwMode="auto">
          <a:xfrm rot="16200000">
            <a:off x="5115446" y="3917780"/>
            <a:ext cx="618290"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RST</a:t>
            </a:r>
          </a:p>
        </p:txBody>
      </p:sp>
      <p:sp>
        <p:nvSpPr>
          <p:cNvPr id="5" name="Rectangle 79">
            <a:extLst>
              <a:ext uri="{FF2B5EF4-FFF2-40B4-BE49-F238E27FC236}">
                <a16:creationId xmlns:a16="http://schemas.microsoft.com/office/drawing/2014/main" id="{4C517E3F-1FE2-9FF8-0B16-DA0B1F77E6C5}"/>
              </a:ext>
            </a:extLst>
          </p:cNvPr>
          <p:cNvSpPr>
            <a:spLocks noChangeArrowheads="1"/>
          </p:cNvSpPr>
          <p:nvPr/>
        </p:nvSpPr>
        <p:spPr bwMode="auto">
          <a:xfrm rot="16200000">
            <a:off x="4890356" y="3938731"/>
            <a:ext cx="600108"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PSH  </a:t>
            </a:r>
          </a:p>
        </p:txBody>
      </p:sp>
      <p:sp>
        <p:nvSpPr>
          <p:cNvPr id="6" name="Rectangle 80">
            <a:extLst>
              <a:ext uri="{FF2B5EF4-FFF2-40B4-BE49-F238E27FC236}">
                <a16:creationId xmlns:a16="http://schemas.microsoft.com/office/drawing/2014/main" id="{F42A7760-9D5A-345D-3B19-4FF86850B49A}"/>
              </a:ext>
            </a:extLst>
          </p:cNvPr>
          <p:cNvSpPr>
            <a:spLocks noChangeArrowheads="1"/>
          </p:cNvSpPr>
          <p:nvPr/>
        </p:nvSpPr>
        <p:spPr bwMode="auto">
          <a:xfrm rot="16200000">
            <a:off x="4579000" y="3916214"/>
            <a:ext cx="730250"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ACK</a:t>
            </a:r>
          </a:p>
        </p:txBody>
      </p:sp>
      <p:sp>
        <p:nvSpPr>
          <p:cNvPr id="7" name="Rectangle 81">
            <a:extLst>
              <a:ext uri="{FF2B5EF4-FFF2-40B4-BE49-F238E27FC236}">
                <a16:creationId xmlns:a16="http://schemas.microsoft.com/office/drawing/2014/main" id="{F75FDFB0-7658-A2AE-FC22-3E8224A44EA2}"/>
              </a:ext>
            </a:extLst>
          </p:cNvPr>
          <p:cNvSpPr>
            <a:spLocks noChangeArrowheads="1"/>
          </p:cNvSpPr>
          <p:nvPr/>
        </p:nvSpPr>
        <p:spPr bwMode="auto">
          <a:xfrm rot="16200000">
            <a:off x="4342408" y="3894364"/>
            <a:ext cx="761997"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URG</a:t>
            </a:r>
          </a:p>
        </p:txBody>
      </p:sp>
      <p:sp>
        <p:nvSpPr>
          <p:cNvPr id="8" name="Rectangle 81">
            <a:extLst>
              <a:ext uri="{FF2B5EF4-FFF2-40B4-BE49-F238E27FC236}">
                <a16:creationId xmlns:a16="http://schemas.microsoft.com/office/drawing/2014/main" id="{C6EEC3B4-CC0F-140B-C490-59396113AA4C}"/>
              </a:ext>
            </a:extLst>
          </p:cNvPr>
          <p:cNvSpPr>
            <a:spLocks noChangeArrowheads="1"/>
          </p:cNvSpPr>
          <p:nvPr/>
        </p:nvSpPr>
        <p:spPr bwMode="auto">
          <a:xfrm rot="16200000">
            <a:off x="3855770" y="3928543"/>
            <a:ext cx="721634"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CWR</a:t>
            </a:r>
          </a:p>
        </p:txBody>
      </p:sp>
      <p:sp>
        <p:nvSpPr>
          <p:cNvPr id="9" name="Rectangle 81">
            <a:extLst>
              <a:ext uri="{FF2B5EF4-FFF2-40B4-BE49-F238E27FC236}">
                <a16:creationId xmlns:a16="http://schemas.microsoft.com/office/drawing/2014/main" id="{66F9C0DA-F1E9-1806-68CD-83FDBD5D7CD5}"/>
              </a:ext>
            </a:extLst>
          </p:cNvPr>
          <p:cNvSpPr>
            <a:spLocks noChangeArrowheads="1"/>
          </p:cNvSpPr>
          <p:nvPr/>
        </p:nvSpPr>
        <p:spPr bwMode="auto">
          <a:xfrm rot="16200000">
            <a:off x="4124919" y="3912163"/>
            <a:ext cx="704221"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ECE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1878"/>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801878"/>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1878" grpId="0" animBg="1"/>
      <p:bldP spid="801878" grpId="1"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Line 9"/>
          <p:cNvSpPr>
            <a:spLocks noChangeShapeType="1"/>
          </p:cNvSpPr>
          <p:nvPr/>
        </p:nvSpPr>
        <p:spPr bwMode="auto">
          <a:xfrm flipH="1">
            <a:off x="1852613" y="1668464"/>
            <a:ext cx="17463" cy="4122738"/>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1" name="Rectangle 10"/>
          <p:cNvSpPr>
            <a:spLocks noChangeArrowheads="1"/>
          </p:cNvSpPr>
          <p:nvPr/>
        </p:nvSpPr>
        <p:spPr bwMode="auto">
          <a:xfrm>
            <a:off x="1524000" y="3268664"/>
            <a:ext cx="696913" cy="6445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90000"/>
              </a:lnSpc>
            </a:pPr>
            <a:r>
              <a:rPr lang="en-US" altLang="zh-CN" sz="2000">
                <a:latin typeface="+mn-lt"/>
                <a:ea typeface="微软雅黑 Light" panose="020B0502040204020203" pitchFamily="34" charset="-122"/>
              </a:rPr>
              <a:t>TCP</a:t>
            </a:r>
          </a:p>
          <a:p>
            <a:pPr eaLnBrk="0" hangingPunct="0">
              <a:lnSpc>
                <a:spcPct val="90000"/>
              </a:lnSpc>
            </a:pPr>
            <a:r>
              <a:rPr lang="zh-CN" altLang="en-US" sz="2000">
                <a:latin typeface="+mn-lt"/>
                <a:ea typeface="微软雅黑 Light" panose="020B0502040204020203" pitchFamily="34" charset="-122"/>
              </a:rPr>
              <a:t>首部</a:t>
            </a:r>
          </a:p>
        </p:txBody>
      </p:sp>
      <p:sp>
        <p:nvSpPr>
          <p:cNvPr id="172" name="Line 11"/>
          <p:cNvSpPr>
            <a:spLocks noChangeShapeType="1"/>
          </p:cNvSpPr>
          <p:nvPr/>
        </p:nvSpPr>
        <p:spPr bwMode="auto">
          <a:xfrm>
            <a:off x="10272713" y="1658939"/>
            <a:ext cx="0" cy="3463925"/>
          </a:xfrm>
          <a:prstGeom prst="line">
            <a:avLst/>
          </a:prstGeom>
          <a:noFill/>
          <a:ln w="1905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3" name="Rectangle 12"/>
          <p:cNvSpPr>
            <a:spLocks noChangeArrowheads="1"/>
          </p:cNvSpPr>
          <p:nvPr/>
        </p:nvSpPr>
        <p:spPr bwMode="auto">
          <a:xfrm>
            <a:off x="9909175" y="2736852"/>
            <a:ext cx="695325" cy="119697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lnSpc>
                <a:spcPct val="90000"/>
              </a:lnSpc>
            </a:pPr>
            <a:r>
              <a:rPr lang="en-US" altLang="zh-CN" sz="2000">
                <a:latin typeface="+mn-lt"/>
                <a:ea typeface="微软雅黑 Light" panose="020B0502040204020203" pitchFamily="34" charset="-122"/>
              </a:rPr>
              <a:t>20</a:t>
            </a:r>
          </a:p>
          <a:p>
            <a:pPr algn="ctr" eaLnBrk="0" hangingPunct="0">
              <a:lnSpc>
                <a:spcPct val="90000"/>
              </a:lnSpc>
            </a:pPr>
            <a:r>
              <a:rPr lang="zh-CN" altLang="en-US" sz="2000">
                <a:latin typeface="+mn-lt"/>
                <a:ea typeface="微软雅黑 Light" panose="020B0502040204020203" pitchFamily="34" charset="-122"/>
              </a:rPr>
              <a:t>字节</a:t>
            </a:r>
          </a:p>
          <a:p>
            <a:pPr algn="ctr" eaLnBrk="0" hangingPunct="0">
              <a:lnSpc>
                <a:spcPct val="90000"/>
              </a:lnSpc>
            </a:pPr>
            <a:r>
              <a:rPr lang="zh-CN" altLang="en-US" sz="2000">
                <a:latin typeface="+mn-lt"/>
                <a:ea typeface="微软雅黑 Light" panose="020B0502040204020203" pitchFamily="34" charset="-122"/>
              </a:rPr>
              <a:t>固定</a:t>
            </a:r>
          </a:p>
          <a:p>
            <a:pPr algn="ctr" eaLnBrk="0" hangingPunct="0">
              <a:lnSpc>
                <a:spcPct val="90000"/>
              </a:lnSpc>
            </a:pPr>
            <a:r>
              <a:rPr lang="zh-CN" altLang="en-US" sz="2000">
                <a:latin typeface="+mn-lt"/>
                <a:ea typeface="微软雅黑 Light" panose="020B0502040204020203" pitchFamily="34" charset="-122"/>
              </a:rPr>
              <a:t>首部</a:t>
            </a:r>
          </a:p>
        </p:txBody>
      </p:sp>
      <p:sp>
        <p:nvSpPr>
          <p:cNvPr id="174" name="Rectangle 13"/>
          <p:cNvSpPr>
            <a:spLocks noChangeArrowheads="1"/>
          </p:cNvSpPr>
          <p:nvPr/>
        </p:nvSpPr>
        <p:spPr bwMode="auto">
          <a:xfrm>
            <a:off x="2178050" y="1665289"/>
            <a:ext cx="7686675" cy="4133850"/>
          </a:xfrm>
          <a:prstGeom prst="rect">
            <a:avLst/>
          </a:prstGeom>
          <a:solidFill>
            <a:schemeClr val="bg2"/>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175" name="Line 14"/>
          <p:cNvSpPr>
            <a:spLocks noChangeShapeType="1"/>
          </p:cNvSpPr>
          <p:nvPr/>
        </p:nvSpPr>
        <p:spPr bwMode="auto">
          <a:xfrm>
            <a:off x="2170113" y="2368552"/>
            <a:ext cx="76993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6" name="Line 15"/>
          <p:cNvSpPr>
            <a:spLocks noChangeShapeType="1"/>
          </p:cNvSpPr>
          <p:nvPr/>
        </p:nvSpPr>
        <p:spPr bwMode="auto">
          <a:xfrm>
            <a:off x="2184400" y="3063877"/>
            <a:ext cx="768508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7" name="Line 16"/>
          <p:cNvSpPr>
            <a:spLocks noChangeShapeType="1"/>
          </p:cNvSpPr>
          <p:nvPr/>
        </p:nvSpPr>
        <p:spPr bwMode="auto">
          <a:xfrm>
            <a:off x="2170113" y="3757614"/>
            <a:ext cx="76993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8" name="Line 17"/>
          <p:cNvSpPr>
            <a:spLocks noChangeShapeType="1"/>
          </p:cNvSpPr>
          <p:nvPr/>
        </p:nvSpPr>
        <p:spPr bwMode="auto">
          <a:xfrm>
            <a:off x="2170113" y="4449764"/>
            <a:ext cx="76993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9" name="Line 18"/>
          <p:cNvSpPr>
            <a:spLocks noChangeShapeType="1"/>
          </p:cNvSpPr>
          <p:nvPr/>
        </p:nvSpPr>
        <p:spPr bwMode="auto">
          <a:xfrm>
            <a:off x="2184400" y="5145089"/>
            <a:ext cx="768508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80" name="Line 19"/>
          <p:cNvSpPr>
            <a:spLocks noChangeShapeType="1"/>
          </p:cNvSpPr>
          <p:nvPr/>
        </p:nvSpPr>
        <p:spPr bwMode="auto">
          <a:xfrm>
            <a:off x="6022975" y="1673227"/>
            <a:ext cx="0" cy="7096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81" name="Rectangle 20"/>
          <p:cNvSpPr>
            <a:spLocks noChangeArrowheads="1"/>
          </p:cNvSpPr>
          <p:nvPr/>
        </p:nvSpPr>
        <p:spPr bwMode="auto">
          <a:xfrm>
            <a:off x="7223125" y="1800227"/>
            <a:ext cx="1593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目  的  端  口</a:t>
            </a:r>
          </a:p>
        </p:txBody>
      </p:sp>
      <p:sp>
        <p:nvSpPr>
          <p:cNvPr id="182" name="Rectangle 21"/>
          <p:cNvSpPr>
            <a:spLocks noChangeArrowheads="1"/>
          </p:cNvSpPr>
          <p:nvPr/>
        </p:nvSpPr>
        <p:spPr bwMode="auto">
          <a:xfrm>
            <a:off x="2332038" y="3722689"/>
            <a:ext cx="695325" cy="704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数据</a:t>
            </a:r>
          </a:p>
          <a:p>
            <a:pPr eaLnBrk="0" hangingPunct="0"/>
            <a:r>
              <a:rPr lang="zh-CN" altLang="en-US" sz="2000" dirty="0">
                <a:latin typeface="+mn-lt"/>
                <a:ea typeface="微软雅黑 Light" panose="020B0502040204020203" pitchFamily="34" charset="-122"/>
              </a:rPr>
              <a:t>偏移</a:t>
            </a:r>
          </a:p>
        </p:txBody>
      </p:sp>
      <p:sp>
        <p:nvSpPr>
          <p:cNvPr id="183" name="Rectangle 22"/>
          <p:cNvSpPr>
            <a:spLocks noChangeArrowheads="1"/>
          </p:cNvSpPr>
          <p:nvPr/>
        </p:nvSpPr>
        <p:spPr bwMode="auto">
          <a:xfrm>
            <a:off x="3411538" y="4587877"/>
            <a:ext cx="13366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检   验   和</a:t>
            </a:r>
          </a:p>
        </p:txBody>
      </p:sp>
      <p:sp>
        <p:nvSpPr>
          <p:cNvPr id="184" name="Rectangle 23"/>
          <p:cNvSpPr>
            <a:spLocks noChangeArrowheads="1"/>
          </p:cNvSpPr>
          <p:nvPr/>
        </p:nvSpPr>
        <p:spPr bwMode="auto">
          <a:xfrm>
            <a:off x="3694113" y="5237164"/>
            <a:ext cx="31988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选    项 长  度  可  变）</a:t>
            </a:r>
          </a:p>
        </p:txBody>
      </p:sp>
      <p:sp>
        <p:nvSpPr>
          <p:cNvPr id="185" name="Rectangle 24"/>
          <p:cNvSpPr>
            <a:spLocks noChangeArrowheads="1"/>
          </p:cNvSpPr>
          <p:nvPr/>
        </p:nvSpPr>
        <p:spPr bwMode="auto">
          <a:xfrm>
            <a:off x="3525838" y="1800227"/>
            <a:ext cx="12541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源  端  口</a:t>
            </a:r>
          </a:p>
        </p:txBody>
      </p:sp>
      <p:sp>
        <p:nvSpPr>
          <p:cNvPr id="186" name="Rectangle 25"/>
          <p:cNvSpPr>
            <a:spLocks noChangeArrowheads="1"/>
          </p:cNvSpPr>
          <p:nvPr/>
        </p:nvSpPr>
        <p:spPr bwMode="auto">
          <a:xfrm>
            <a:off x="5578475" y="2487614"/>
            <a:ext cx="1381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序   号</a:t>
            </a:r>
          </a:p>
        </p:txBody>
      </p:sp>
      <p:sp>
        <p:nvSpPr>
          <p:cNvPr id="187" name="Line 26"/>
          <p:cNvSpPr>
            <a:spLocks noChangeShapeType="1"/>
          </p:cNvSpPr>
          <p:nvPr/>
        </p:nvSpPr>
        <p:spPr bwMode="auto">
          <a:xfrm>
            <a:off x="6029325" y="3767139"/>
            <a:ext cx="0" cy="13700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88" name="Rectangle 27"/>
          <p:cNvSpPr>
            <a:spLocks noChangeArrowheads="1"/>
          </p:cNvSpPr>
          <p:nvPr/>
        </p:nvSpPr>
        <p:spPr bwMode="auto">
          <a:xfrm>
            <a:off x="7062788" y="4587877"/>
            <a:ext cx="17859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紧   急   指   针</a:t>
            </a:r>
          </a:p>
        </p:txBody>
      </p:sp>
      <p:sp>
        <p:nvSpPr>
          <p:cNvPr id="189" name="Rectangle 28"/>
          <p:cNvSpPr>
            <a:spLocks noChangeArrowheads="1"/>
          </p:cNvSpPr>
          <p:nvPr/>
        </p:nvSpPr>
        <p:spPr bwMode="auto">
          <a:xfrm>
            <a:off x="7512050" y="3868739"/>
            <a:ext cx="9223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窗   口</a:t>
            </a:r>
          </a:p>
        </p:txBody>
      </p:sp>
      <p:sp>
        <p:nvSpPr>
          <p:cNvPr id="190" name="Rectangle 29"/>
          <p:cNvSpPr>
            <a:spLocks noChangeArrowheads="1"/>
          </p:cNvSpPr>
          <p:nvPr/>
        </p:nvSpPr>
        <p:spPr bwMode="auto">
          <a:xfrm>
            <a:off x="5334000" y="3211514"/>
            <a:ext cx="18415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确    认    号</a:t>
            </a:r>
          </a:p>
        </p:txBody>
      </p:sp>
      <p:sp>
        <p:nvSpPr>
          <p:cNvPr id="200" name="Line 39"/>
          <p:cNvSpPr>
            <a:spLocks noChangeShapeType="1"/>
          </p:cNvSpPr>
          <p:nvPr/>
        </p:nvSpPr>
        <p:spPr bwMode="auto">
          <a:xfrm>
            <a:off x="2174875" y="1508127"/>
            <a:ext cx="767556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1" name="Line 40"/>
          <p:cNvSpPr>
            <a:spLocks noChangeShapeType="1"/>
          </p:cNvSpPr>
          <p:nvPr/>
        </p:nvSpPr>
        <p:spPr bwMode="auto">
          <a:xfrm>
            <a:off x="2174875"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2" name="Line 41"/>
          <p:cNvSpPr>
            <a:spLocks noChangeShapeType="1"/>
          </p:cNvSpPr>
          <p:nvPr/>
        </p:nvSpPr>
        <p:spPr bwMode="auto">
          <a:xfrm>
            <a:off x="241458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3" name="Line 42"/>
          <p:cNvSpPr>
            <a:spLocks noChangeShapeType="1"/>
          </p:cNvSpPr>
          <p:nvPr/>
        </p:nvSpPr>
        <p:spPr bwMode="auto">
          <a:xfrm>
            <a:off x="2654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4" name="Line 43"/>
          <p:cNvSpPr>
            <a:spLocks noChangeShapeType="1"/>
          </p:cNvSpPr>
          <p:nvPr/>
        </p:nvSpPr>
        <p:spPr bwMode="auto">
          <a:xfrm>
            <a:off x="289401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5" name="Line 44"/>
          <p:cNvSpPr>
            <a:spLocks noChangeShapeType="1"/>
          </p:cNvSpPr>
          <p:nvPr/>
        </p:nvSpPr>
        <p:spPr bwMode="auto">
          <a:xfrm>
            <a:off x="313531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6" name="Line 45"/>
          <p:cNvSpPr>
            <a:spLocks noChangeShapeType="1"/>
          </p:cNvSpPr>
          <p:nvPr/>
        </p:nvSpPr>
        <p:spPr bwMode="auto">
          <a:xfrm>
            <a:off x="337502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7" name="Line 46"/>
          <p:cNvSpPr>
            <a:spLocks noChangeShapeType="1"/>
          </p:cNvSpPr>
          <p:nvPr/>
        </p:nvSpPr>
        <p:spPr bwMode="auto">
          <a:xfrm>
            <a:off x="361315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8" name="Line 47"/>
          <p:cNvSpPr>
            <a:spLocks noChangeShapeType="1"/>
          </p:cNvSpPr>
          <p:nvPr/>
        </p:nvSpPr>
        <p:spPr bwMode="auto">
          <a:xfrm>
            <a:off x="385286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9" name="Line 48"/>
          <p:cNvSpPr>
            <a:spLocks noChangeShapeType="1"/>
          </p:cNvSpPr>
          <p:nvPr/>
        </p:nvSpPr>
        <p:spPr bwMode="auto">
          <a:xfrm>
            <a:off x="4094163"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0" name="Line 49"/>
          <p:cNvSpPr>
            <a:spLocks noChangeShapeType="1"/>
          </p:cNvSpPr>
          <p:nvPr/>
        </p:nvSpPr>
        <p:spPr bwMode="auto">
          <a:xfrm>
            <a:off x="433387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1" name="Line 50"/>
          <p:cNvSpPr>
            <a:spLocks noChangeShapeType="1"/>
          </p:cNvSpPr>
          <p:nvPr/>
        </p:nvSpPr>
        <p:spPr bwMode="auto">
          <a:xfrm>
            <a:off x="457358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2" name="Line 51"/>
          <p:cNvSpPr>
            <a:spLocks noChangeShapeType="1"/>
          </p:cNvSpPr>
          <p:nvPr/>
        </p:nvSpPr>
        <p:spPr bwMode="auto">
          <a:xfrm>
            <a:off x="4813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3" name="Line 52"/>
          <p:cNvSpPr>
            <a:spLocks noChangeShapeType="1"/>
          </p:cNvSpPr>
          <p:nvPr/>
        </p:nvSpPr>
        <p:spPr bwMode="auto">
          <a:xfrm>
            <a:off x="50546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4" name="Line 53"/>
          <p:cNvSpPr>
            <a:spLocks noChangeShapeType="1"/>
          </p:cNvSpPr>
          <p:nvPr/>
        </p:nvSpPr>
        <p:spPr bwMode="auto">
          <a:xfrm>
            <a:off x="529431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5" name="Line 54"/>
          <p:cNvSpPr>
            <a:spLocks noChangeShapeType="1"/>
          </p:cNvSpPr>
          <p:nvPr/>
        </p:nvSpPr>
        <p:spPr bwMode="auto">
          <a:xfrm>
            <a:off x="553243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6" name="Line 55"/>
          <p:cNvSpPr>
            <a:spLocks noChangeShapeType="1"/>
          </p:cNvSpPr>
          <p:nvPr/>
        </p:nvSpPr>
        <p:spPr bwMode="auto">
          <a:xfrm>
            <a:off x="577215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7" name="Line 56"/>
          <p:cNvSpPr>
            <a:spLocks noChangeShapeType="1"/>
          </p:cNvSpPr>
          <p:nvPr/>
        </p:nvSpPr>
        <p:spPr bwMode="auto">
          <a:xfrm>
            <a:off x="6011863"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8" name="Line 57"/>
          <p:cNvSpPr>
            <a:spLocks noChangeShapeType="1"/>
          </p:cNvSpPr>
          <p:nvPr/>
        </p:nvSpPr>
        <p:spPr bwMode="auto">
          <a:xfrm>
            <a:off x="625316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9" name="Line 58"/>
          <p:cNvSpPr>
            <a:spLocks noChangeShapeType="1"/>
          </p:cNvSpPr>
          <p:nvPr/>
        </p:nvSpPr>
        <p:spPr bwMode="auto">
          <a:xfrm>
            <a:off x="649287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0" name="Line 59"/>
          <p:cNvSpPr>
            <a:spLocks noChangeShapeType="1"/>
          </p:cNvSpPr>
          <p:nvPr/>
        </p:nvSpPr>
        <p:spPr bwMode="auto">
          <a:xfrm>
            <a:off x="673258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1" name="Line 60"/>
          <p:cNvSpPr>
            <a:spLocks noChangeShapeType="1"/>
          </p:cNvSpPr>
          <p:nvPr/>
        </p:nvSpPr>
        <p:spPr bwMode="auto">
          <a:xfrm>
            <a:off x="6972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2" name="Line 61"/>
          <p:cNvSpPr>
            <a:spLocks noChangeShapeType="1"/>
          </p:cNvSpPr>
          <p:nvPr/>
        </p:nvSpPr>
        <p:spPr bwMode="auto">
          <a:xfrm>
            <a:off x="72136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3" name="Line 62"/>
          <p:cNvSpPr>
            <a:spLocks noChangeShapeType="1"/>
          </p:cNvSpPr>
          <p:nvPr/>
        </p:nvSpPr>
        <p:spPr bwMode="auto">
          <a:xfrm>
            <a:off x="745172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4" name="Line 63"/>
          <p:cNvSpPr>
            <a:spLocks noChangeShapeType="1"/>
          </p:cNvSpPr>
          <p:nvPr/>
        </p:nvSpPr>
        <p:spPr bwMode="auto">
          <a:xfrm>
            <a:off x="769143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5" name="Line 64"/>
          <p:cNvSpPr>
            <a:spLocks noChangeShapeType="1"/>
          </p:cNvSpPr>
          <p:nvPr/>
        </p:nvSpPr>
        <p:spPr bwMode="auto">
          <a:xfrm>
            <a:off x="7931150"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6" name="Line 65"/>
          <p:cNvSpPr>
            <a:spLocks noChangeShapeType="1"/>
          </p:cNvSpPr>
          <p:nvPr/>
        </p:nvSpPr>
        <p:spPr bwMode="auto">
          <a:xfrm>
            <a:off x="817086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7" name="Line 66"/>
          <p:cNvSpPr>
            <a:spLocks noChangeShapeType="1"/>
          </p:cNvSpPr>
          <p:nvPr/>
        </p:nvSpPr>
        <p:spPr bwMode="auto">
          <a:xfrm>
            <a:off x="841216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8" name="Line 67"/>
          <p:cNvSpPr>
            <a:spLocks noChangeShapeType="1"/>
          </p:cNvSpPr>
          <p:nvPr/>
        </p:nvSpPr>
        <p:spPr bwMode="auto">
          <a:xfrm>
            <a:off x="865187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9" name="Line 68"/>
          <p:cNvSpPr>
            <a:spLocks noChangeShapeType="1"/>
          </p:cNvSpPr>
          <p:nvPr/>
        </p:nvSpPr>
        <p:spPr bwMode="auto">
          <a:xfrm>
            <a:off x="889158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30" name="Line 69"/>
          <p:cNvSpPr>
            <a:spLocks noChangeShapeType="1"/>
          </p:cNvSpPr>
          <p:nvPr/>
        </p:nvSpPr>
        <p:spPr bwMode="auto">
          <a:xfrm>
            <a:off x="9131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31" name="Line 70"/>
          <p:cNvSpPr>
            <a:spLocks noChangeShapeType="1"/>
          </p:cNvSpPr>
          <p:nvPr/>
        </p:nvSpPr>
        <p:spPr bwMode="auto">
          <a:xfrm>
            <a:off x="937101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32" name="Line 71"/>
          <p:cNvSpPr>
            <a:spLocks noChangeShapeType="1"/>
          </p:cNvSpPr>
          <p:nvPr/>
        </p:nvSpPr>
        <p:spPr bwMode="auto">
          <a:xfrm>
            <a:off x="961072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33" name="Line 72"/>
          <p:cNvSpPr>
            <a:spLocks noChangeShapeType="1"/>
          </p:cNvSpPr>
          <p:nvPr/>
        </p:nvSpPr>
        <p:spPr bwMode="auto">
          <a:xfrm>
            <a:off x="9850438"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34" name="Rectangle 73"/>
          <p:cNvSpPr>
            <a:spLocks noChangeArrowheads="1"/>
          </p:cNvSpPr>
          <p:nvPr/>
        </p:nvSpPr>
        <p:spPr bwMode="auto">
          <a:xfrm>
            <a:off x="2333625"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235" name="Rectangle 74"/>
          <p:cNvSpPr>
            <a:spLocks noChangeArrowheads="1"/>
          </p:cNvSpPr>
          <p:nvPr/>
        </p:nvSpPr>
        <p:spPr bwMode="auto">
          <a:xfrm>
            <a:off x="4252913"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236" name="Rectangle 75"/>
          <p:cNvSpPr>
            <a:spLocks noChangeArrowheads="1"/>
          </p:cNvSpPr>
          <p:nvPr/>
        </p:nvSpPr>
        <p:spPr bwMode="auto">
          <a:xfrm>
            <a:off x="6172200"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237" name="Rectangle 76"/>
          <p:cNvSpPr>
            <a:spLocks noChangeArrowheads="1"/>
          </p:cNvSpPr>
          <p:nvPr/>
        </p:nvSpPr>
        <p:spPr bwMode="auto">
          <a:xfrm>
            <a:off x="8091488"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244" name="Line 83"/>
          <p:cNvSpPr>
            <a:spLocks noChangeShapeType="1"/>
          </p:cNvSpPr>
          <p:nvPr/>
        </p:nvSpPr>
        <p:spPr bwMode="auto">
          <a:xfrm flipH="1">
            <a:off x="7929563" y="5162552"/>
            <a:ext cx="3175" cy="6429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245" name="Rectangle 84"/>
          <p:cNvSpPr>
            <a:spLocks noChangeArrowheads="1"/>
          </p:cNvSpPr>
          <p:nvPr/>
        </p:nvSpPr>
        <p:spPr bwMode="auto">
          <a:xfrm>
            <a:off x="8442325" y="5229227"/>
            <a:ext cx="1254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填    充</a:t>
            </a:r>
          </a:p>
        </p:txBody>
      </p:sp>
      <p:sp>
        <p:nvSpPr>
          <p:cNvPr id="246" name="Line 85"/>
          <p:cNvSpPr>
            <a:spLocks noChangeShapeType="1"/>
          </p:cNvSpPr>
          <p:nvPr/>
        </p:nvSpPr>
        <p:spPr bwMode="auto">
          <a:xfrm>
            <a:off x="9971088" y="1641477"/>
            <a:ext cx="5175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247" name="Line 86"/>
          <p:cNvSpPr>
            <a:spLocks noChangeShapeType="1"/>
          </p:cNvSpPr>
          <p:nvPr/>
        </p:nvSpPr>
        <p:spPr bwMode="auto">
          <a:xfrm>
            <a:off x="9971088" y="5137152"/>
            <a:ext cx="5175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248" name="Line 87"/>
          <p:cNvSpPr>
            <a:spLocks noChangeShapeType="1"/>
          </p:cNvSpPr>
          <p:nvPr/>
        </p:nvSpPr>
        <p:spPr bwMode="auto">
          <a:xfrm>
            <a:off x="1582738" y="1679577"/>
            <a:ext cx="5302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249" name="Line 88"/>
          <p:cNvSpPr>
            <a:spLocks noChangeShapeType="1"/>
          </p:cNvSpPr>
          <p:nvPr/>
        </p:nvSpPr>
        <p:spPr bwMode="auto">
          <a:xfrm>
            <a:off x="1597025" y="5780089"/>
            <a:ext cx="5302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89" name="灯片编号占位符 5"/>
          <p:cNvSpPr>
            <a:spLocks noGrp="1"/>
          </p:cNvSpPr>
          <p:nvPr>
            <p:ph type="sldNum" sz="quarter" idx="12"/>
          </p:nvPr>
        </p:nvSpPr>
        <p:spPr/>
        <p:txBody>
          <a:bodyPr/>
          <a:lstStyle/>
          <a:p>
            <a:fld id="{344EB56E-1087-47A3-95AE-B6E2C74E27BE}" type="slidenum">
              <a:rPr lang="en-US" altLang="zh-CN"/>
              <a:t>45</a:t>
            </a:fld>
            <a:endParaRPr lang="en-US" altLang="zh-CN"/>
          </a:p>
        </p:txBody>
      </p:sp>
      <p:sp>
        <p:nvSpPr>
          <p:cNvPr id="802819" name="Rectangle 3"/>
          <p:cNvSpPr>
            <a:spLocks noGrp="1" noChangeArrowheads="1"/>
          </p:cNvSpPr>
          <p:nvPr>
            <p:ph type="title"/>
          </p:nvPr>
        </p:nvSpPr>
        <p:spPr>
          <a:noFill/>
        </p:spPr>
        <p:txBody>
          <a:bodyPr/>
          <a:lstStyle/>
          <a:p>
            <a:r>
              <a:rPr lang="en-US" altLang="zh-CN" dirty="0"/>
              <a:t>TCP</a:t>
            </a:r>
            <a:r>
              <a:rPr lang="zh-CN" altLang="en-US" dirty="0"/>
              <a:t>的报头字段</a:t>
            </a:r>
            <a:endParaRPr lang="en-US" altLang="zh-CN" dirty="0"/>
          </a:p>
        </p:txBody>
      </p:sp>
      <p:sp>
        <p:nvSpPr>
          <p:cNvPr id="802901" name="Text Box 85"/>
          <p:cNvSpPr txBox="1">
            <a:spLocks noChangeArrowheads="1"/>
          </p:cNvSpPr>
          <p:nvPr/>
        </p:nvSpPr>
        <p:spPr bwMode="auto">
          <a:xfrm>
            <a:off x="1271464" y="5965828"/>
            <a:ext cx="10080000" cy="707886"/>
          </a:xfrm>
          <a:prstGeom prst="rect">
            <a:avLst/>
          </a:prstGeom>
          <a:noFill/>
          <a:ln>
            <a:noFill/>
          </a:ln>
          <a:effectLst/>
        </p:spPr>
        <p:txBody>
          <a:bodyPr>
            <a:spAutoFit/>
          </a:bodyPr>
          <a:lstStyle>
            <a:defPPr>
              <a:defRPr lang="zh-CN"/>
            </a:defPPr>
            <a:lvl1pPr>
              <a:defRPr>
                <a:latin typeface="微软雅黑 Light" panose="020B0502040204020203" pitchFamily="34" charset="-122"/>
                <a:ea typeface="微软雅黑 Light" panose="020B0502040204020203" pitchFamily="34" charset="-122"/>
              </a:defRPr>
            </a:lvl1pPr>
          </a:lstStyle>
          <a:p>
            <a:pPr marL="342900" indent="-342900">
              <a:buFont typeface="Wingdings" panose="05000000000000000000" pitchFamily="2" charset="2"/>
              <a:buChar char="Ø"/>
            </a:pPr>
            <a:r>
              <a:rPr lang="zh-CN" altLang="en-US" dirty="0"/>
              <a:t>终止</a:t>
            </a:r>
            <a:r>
              <a:rPr lang="en-US" altLang="zh-CN" dirty="0"/>
              <a:t>FIN</a:t>
            </a:r>
            <a:r>
              <a:rPr lang="zh-CN" altLang="en-US" dirty="0"/>
              <a:t>：用来释放一个连接。</a:t>
            </a:r>
            <a:r>
              <a:rPr lang="en-US" altLang="zh-CN" dirty="0"/>
              <a:t>FIN</a:t>
            </a:r>
            <a:r>
              <a:rPr lang="en-US" altLang="zh-CN" dirty="0">
                <a:sym typeface="Symbol" panose="05050102010706020507" pitchFamily="18" charset="2"/>
              </a:rPr>
              <a:t></a:t>
            </a:r>
            <a:r>
              <a:rPr lang="en-US" altLang="zh-CN" dirty="0"/>
              <a:t>1</a:t>
            </a:r>
            <a:r>
              <a:rPr lang="zh-CN" altLang="en-US" dirty="0"/>
              <a:t>表明此报文段的发送端的数据已发送完毕，并要求释放连接 </a:t>
            </a:r>
          </a:p>
        </p:txBody>
      </p:sp>
      <p:sp>
        <p:nvSpPr>
          <p:cNvPr id="90" name="Line 30"/>
          <p:cNvSpPr>
            <a:spLocks noChangeShapeType="1"/>
          </p:cNvSpPr>
          <p:nvPr/>
        </p:nvSpPr>
        <p:spPr bwMode="auto">
          <a:xfrm>
            <a:off x="3135313" y="3767139"/>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1" name="Line 31"/>
          <p:cNvSpPr>
            <a:spLocks noChangeShapeType="1"/>
          </p:cNvSpPr>
          <p:nvPr/>
        </p:nvSpPr>
        <p:spPr bwMode="auto">
          <a:xfrm>
            <a:off x="5062538" y="3759202"/>
            <a:ext cx="0" cy="6842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2" name="Line 32"/>
          <p:cNvSpPr>
            <a:spLocks noChangeShapeType="1"/>
          </p:cNvSpPr>
          <p:nvPr/>
        </p:nvSpPr>
        <p:spPr bwMode="auto">
          <a:xfrm>
            <a:off x="4572001" y="3761583"/>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3" name="Line 33"/>
          <p:cNvSpPr>
            <a:spLocks noChangeShapeType="1"/>
          </p:cNvSpPr>
          <p:nvPr/>
        </p:nvSpPr>
        <p:spPr bwMode="auto">
          <a:xfrm>
            <a:off x="4813300"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4" name="Line 34"/>
          <p:cNvSpPr>
            <a:spLocks noChangeShapeType="1"/>
          </p:cNvSpPr>
          <p:nvPr/>
        </p:nvSpPr>
        <p:spPr bwMode="auto">
          <a:xfrm>
            <a:off x="5543550"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5" name="Line 35"/>
          <p:cNvSpPr>
            <a:spLocks noChangeShapeType="1"/>
          </p:cNvSpPr>
          <p:nvPr/>
        </p:nvSpPr>
        <p:spPr bwMode="auto">
          <a:xfrm>
            <a:off x="5302250"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6" name="Line 36"/>
          <p:cNvSpPr>
            <a:spLocks noChangeShapeType="1"/>
          </p:cNvSpPr>
          <p:nvPr/>
        </p:nvSpPr>
        <p:spPr bwMode="auto">
          <a:xfrm>
            <a:off x="5788025"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7" name="Rectangle 37"/>
          <p:cNvSpPr>
            <a:spLocks noChangeArrowheads="1"/>
          </p:cNvSpPr>
          <p:nvPr/>
        </p:nvSpPr>
        <p:spPr bwMode="auto">
          <a:xfrm>
            <a:off x="3198280" y="3867686"/>
            <a:ext cx="72548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保留</a:t>
            </a:r>
          </a:p>
        </p:txBody>
      </p:sp>
      <p:sp>
        <p:nvSpPr>
          <p:cNvPr id="104" name="Line 32"/>
          <p:cNvSpPr>
            <a:spLocks noChangeShapeType="1"/>
          </p:cNvSpPr>
          <p:nvPr/>
        </p:nvSpPr>
        <p:spPr bwMode="auto">
          <a:xfrm>
            <a:off x="4079776" y="3757614"/>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05" name="Line 33"/>
          <p:cNvSpPr>
            <a:spLocks noChangeShapeType="1"/>
          </p:cNvSpPr>
          <p:nvPr/>
        </p:nvSpPr>
        <p:spPr bwMode="auto">
          <a:xfrm>
            <a:off x="4314850" y="3768726"/>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802902" name="Rectangle 86"/>
          <p:cNvSpPr>
            <a:spLocks noChangeArrowheads="1"/>
          </p:cNvSpPr>
          <p:nvPr/>
        </p:nvSpPr>
        <p:spPr bwMode="auto">
          <a:xfrm>
            <a:off x="5752648" y="3716339"/>
            <a:ext cx="317500" cy="717550"/>
          </a:xfrm>
          <a:prstGeom prst="rect">
            <a:avLst/>
          </a:prstGeom>
          <a:noFill/>
          <a:ln w="7620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2" name="Rectangle 82">
            <a:extLst>
              <a:ext uri="{FF2B5EF4-FFF2-40B4-BE49-F238E27FC236}">
                <a16:creationId xmlns:a16="http://schemas.microsoft.com/office/drawing/2014/main" id="{7659027C-8938-7BAC-7361-BDE7594EA5F1}"/>
              </a:ext>
            </a:extLst>
          </p:cNvPr>
          <p:cNvSpPr>
            <a:spLocks noChangeArrowheads="1"/>
          </p:cNvSpPr>
          <p:nvPr/>
        </p:nvSpPr>
        <p:spPr bwMode="auto">
          <a:xfrm>
            <a:off x="1812925" y="908720"/>
            <a:ext cx="8261878"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位 </a:t>
            </a:r>
            <a:r>
              <a:rPr lang="en-US" altLang="zh-CN" sz="2000" dirty="0">
                <a:latin typeface="+mn-lt"/>
                <a:ea typeface="微软雅黑 Light" panose="020B0502040204020203" pitchFamily="34" charset="-122"/>
              </a:rPr>
              <a:t>0                           8                           16                          24                          31</a:t>
            </a:r>
          </a:p>
        </p:txBody>
      </p:sp>
      <p:sp>
        <p:nvSpPr>
          <p:cNvPr id="3" name="Rectangle 38">
            <a:extLst>
              <a:ext uri="{FF2B5EF4-FFF2-40B4-BE49-F238E27FC236}">
                <a16:creationId xmlns:a16="http://schemas.microsoft.com/office/drawing/2014/main" id="{6B556007-8F69-CD16-43F9-A9D2EC0DEC5D}"/>
              </a:ext>
            </a:extLst>
          </p:cNvPr>
          <p:cNvSpPr>
            <a:spLocks noChangeArrowheads="1"/>
          </p:cNvSpPr>
          <p:nvPr/>
        </p:nvSpPr>
        <p:spPr bwMode="auto">
          <a:xfrm rot="16200000">
            <a:off x="5648208" y="3940115"/>
            <a:ext cx="535405"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lnSpc>
                <a:spcPct val="75000"/>
              </a:lnSpc>
            </a:pPr>
            <a:r>
              <a:rPr lang="en-US" altLang="zh-CN" sz="1600" b="1" dirty="0">
                <a:latin typeface="+mn-lt"/>
                <a:ea typeface="微软雅黑 Light" panose="020B0502040204020203" pitchFamily="34" charset="-122"/>
              </a:rPr>
              <a:t>FIN</a:t>
            </a:r>
          </a:p>
        </p:txBody>
      </p:sp>
      <p:sp>
        <p:nvSpPr>
          <p:cNvPr id="4" name="Rectangle 77">
            <a:extLst>
              <a:ext uri="{FF2B5EF4-FFF2-40B4-BE49-F238E27FC236}">
                <a16:creationId xmlns:a16="http://schemas.microsoft.com/office/drawing/2014/main" id="{DD056F63-E14E-C469-5CC0-B495520B1774}"/>
              </a:ext>
            </a:extLst>
          </p:cNvPr>
          <p:cNvSpPr>
            <a:spLocks noChangeArrowheads="1"/>
          </p:cNvSpPr>
          <p:nvPr/>
        </p:nvSpPr>
        <p:spPr bwMode="auto">
          <a:xfrm rot="16200000">
            <a:off x="5401703" y="3936764"/>
            <a:ext cx="591510"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SYN</a:t>
            </a:r>
          </a:p>
        </p:txBody>
      </p:sp>
      <p:sp>
        <p:nvSpPr>
          <p:cNvPr id="5" name="Rectangle 78">
            <a:extLst>
              <a:ext uri="{FF2B5EF4-FFF2-40B4-BE49-F238E27FC236}">
                <a16:creationId xmlns:a16="http://schemas.microsoft.com/office/drawing/2014/main" id="{0DFFA488-7A0D-7367-9F38-6B2021B205EF}"/>
              </a:ext>
            </a:extLst>
          </p:cNvPr>
          <p:cNvSpPr>
            <a:spLocks noChangeArrowheads="1"/>
          </p:cNvSpPr>
          <p:nvPr/>
        </p:nvSpPr>
        <p:spPr bwMode="auto">
          <a:xfrm rot="16200000">
            <a:off x="5115446" y="3917780"/>
            <a:ext cx="618290"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RST</a:t>
            </a:r>
          </a:p>
        </p:txBody>
      </p:sp>
      <p:sp>
        <p:nvSpPr>
          <p:cNvPr id="6" name="Rectangle 79">
            <a:extLst>
              <a:ext uri="{FF2B5EF4-FFF2-40B4-BE49-F238E27FC236}">
                <a16:creationId xmlns:a16="http://schemas.microsoft.com/office/drawing/2014/main" id="{F9678B6F-1C08-9C47-2BB2-D3B43756D5A0}"/>
              </a:ext>
            </a:extLst>
          </p:cNvPr>
          <p:cNvSpPr>
            <a:spLocks noChangeArrowheads="1"/>
          </p:cNvSpPr>
          <p:nvPr/>
        </p:nvSpPr>
        <p:spPr bwMode="auto">
          <a:xfrm rot="16200000">
            <a:off x="4890356" y="3938731"/>
            <a:ext cx="600108"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PSH  </a:t>
            </a:r>
          </a:p>
        </p:txBody>
      </p:sp>
      <p:sp>
        <p:nvSpPr>
          <p:cNvPr id="7" name="Rectangle 80">
            <a:extLst>
              <a:ext uri="{FF2B5EF4-FFF2-40B4-BE49-F238E27FC236}">
                <a16:creationId xmlns:a16="http://schemas.microsoft.com/office/drawing/2014/main" id="{48AD3EBC-6EEE-F478-02FF-C688518432CD}"/>
              </a:ext>
            </a:extLst>
          </p:cNvPr>
          <p:cNvSpPr>
            <a:spLocks noChangeArrowheads="1"/>
          </p:cNvSpPr>
          <p:nvPr/>
        </p:nvSpPr>
        <p:spPr bwMode="auto">
          <a:xfrm rot="16200000">
            <a:off x="4579000" y="3916214"/>
            <a:ext cx="730250"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ACK</a:t>
            </a:r>
          </a:p>
        </p:txBody>
      </p:sp>
      <p:sp>
        <p:nvSpPr>
          <p:cNvPr id="8" name="Rectangle 81">
            <a:extLst>
              <a:ext uri="{FF2B5EF4-FFF2-40B4-BE49-F238E27FC236}">
                <a16:creationId xmlns:a16="http://schemas.microsoft.com/office/drawing/2014/main" id="{2BD26674-39A9-6048-6165-134CC6232391}"/>
              </a:ext>
            </a:extLst>
          </p:cNvPr>
          <p:cNvSpPr>
            <a:spLocks noChangeArrowheads="1"/>
          </p:cNvSpPr>
          <p:nvPr/>
        </p:nvSpPr>
        <p:spPr bwMode="auto">
          <a:xfrm rot="16200000">
            <a:off x="4342408" y="3894364"/>
            <a:ext cx="761997"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URG</a:t>
            </a:r>
          </a:p>
        </p:txBody>
      </p:sp>
      <p:sp>
        <p:nvSpPr>
          <p:cNvPr id="9" name="Rectangle 81">
            <a:extLst>
              <a:ext uri="{FF2B5EF4-FFF2-40B4-BE49-F238E27FC236}">
                <a16:creationId xmlns:a16="http://schemas.microsoft.com/office/drawing/2014/main" id="{DA67CFD8-AEDD-F6DA-715C-5F90F990539E}"/>
              </a:ext>
            </a:extLst>
          </p:cNvPr>
          <p:cNvSpPr>
            <a:spLocks noChangeArrowheads="1"/>
          </p:cNvSpPr>
          <p:nvPr/>
        </p:nvSpPr>
        <p:spPr bwMode="auto">
          <a:xfrm rot="16200000">
            <a:off x="3855770" y="3928543"/>
            <a:ext cx="721634"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CWR</a:t>
            </a:r>
          </a:p>
        </p:txBody>
      </p:sp>
      <p:sp>
        <p:nvSpPr>
          <p:cNvPr id="10" name="Rectangle 81">
            <a:extLst>
              <a:ext uri="{FF2B5EF4-FFF2-40B4-BE49-F238E27FC236}">
                <a16:creationId xmlns:a16="http://schemas.microsoft.com/office/drawing/2014/main" id="{F3FFFFF2-C42F-47C5-7E30-453953E7E621}"/>
              </a:ext>
            </a:extLst>
          </p:cNvPr>
          <p:cNvSpPr>
            <a:spLocks noChangeArrowheads="1"/>
          </p:cNvSpPr>
          <p:nvPr/>
        </p:nvSpPr>
        <p:spPr bwMode="auto">
          <a:xfrm rot="16200000">
            <a:off x="4124919" y="3912163"/>
            <a:ext cx="704221"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ECE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2902"/>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80290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2902" grpId="0" animBg="1"/>
      <p:bldP spid="802902" grpId="1"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Line 9"/>
          <p:cNvSpPr>
            <a:spLocks noChangeShapeType="1"/>
          </p:cNvSpPr>
          <p:nvPr/>
        </p:nvSpPr>
        <p:spPr bwMode="auto">
          <a:xfrm flipH="1">
            <a:off x="1852613" y="1668464"/>
            <a:ext cx="17463" cy="4122738"/>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1" name="Rectangle 10"/>
          <p:cNvSpPr>
            <a:spLocks noChangeArrowheads="1"/>
          </p:cNvSpPr>
          <p:nvPr/>
        </p:nvSpPr>
        <p:spPr bwMode="auto">
          <a:xfrm>
            <a:off x="1524000" y="3268664"/>
            <a:ext cx="696913" cy="6445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90000"/>
              </a:lnSpc>
            </a:pPr>
            <a:r>
              <a:rPr lang="en-US" altLang="zh-CN" sz="2000">
                <a:latin typeface="+mn-lt"/>
                <a:ea typeface="微软雅黑 Light" panose="020B0502040204020203" pitchFamily="34" charset="-122"/>
              </a:rPr>
              <a:t>TCP</a:t>
            </a:r>
          </a:p>
          <a:p>
            <a:pPr eaLnBrk="0" hangingPunct="0">
              <a:lnSpc>
                <a:spcPct val="90000"/>
              </a:lnSpc>
            </a:pPr>
            <a:r>
              <a:rPr lang="zh-CN" altLang="en-US" sz="2000">
                <a:latin typeface="+mn-lt"/>
                <a:ea typeface="微软雅黑 Light" panose="020B0502040204020203" pitchFamily="34" charset="-122"/>
              </a:rPr>
              <a:t>首部</a:t>
            </a:r>
          </a:p>
        </p:txBody>
      </p:sp>
      <p:sp>
        <p:nvSpPr>
          <p:cNvPr id="172" name="Line 11"/>
          <p:cNvSpPr>
            <a:spLocks noChangeShapeType="1"/>
          </p:cNvSpPr>
          <p:nvPr/>
        </p:nvSpPr>
        <p:spPr bwMode="auto">
          <a:xfrm>
            <a:off x="10272713" y="1658939"/>
            <a:ext cx="0" cy="3463925"/>
          </a:xfrm>
          <a:prstGeom prst="line">
            <a:avLst/>
          </a:prstGeom>
          <a:noFill/>
          <a:ln w="1905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3" name="Rectangle 12"/>
          <p:cNvSpPr>
            <a:spLocks noChangeArrowheads="1"/>
          </p:cNvSpPr>
          <p:nvPr/>
        </p:nvSpPr>
        <p:spPr bwMode="auto">
          <a:xfrm>
            <a:off x="9909175" y="2736852"/>
            <a:ext cx="695325" cy="119697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lnSpc>
                <a:spcPct val="90000"/>
              </a:lnSpc>
            </a:pPr>
            <a:r>
              <a:rPr lang="en-US" altLang="zh-CN" sz="2000">
                <a:latin typeface="+mn-lt"/>
                <a:ea typeface="微软雅黑 Light" panose="020B0502040204020203" pitchFamily="34" charset="-122"/>
              </a:rPr>
              <a:t>20</a:t>
            </a:r>
          </a:p>
          <a:p>
            <a:pPr algn="ctr" eaLnBrk="0" hangingPunct="0">
              <a:lnSpc>
                <a:spcPct val="90000"/>
              </a:lnSpc>
            </a:pPr>
            <a:r>
              <a:rPr lang="zh-CN" altLang="en-US" sz="2000">
                <a:latin typeface="+mn-lt"/>
                <a:ea typeface="微软雅黑 Light" panose="020B0502040204020203" pitchFamily="34" charset="-122"/>
              </a:rPr>
              <a:t>字节</a:t>
            </a:r>
          </a:p>
          <a:p>
            <a:pPr algn="ctr" eaLnBrk="0" hangingPunct="0">
              <a:lnSpc>
                <a:spcPct val="90000"/>
              </a:lnSpc>
            </a:pPr>
            <a:r>
              <a:rPr lang="zh-CN" altLang="en-US" sz="2000">
                <a:latin typeface="+mn-lt"/>
                <a:ea typeface="微软雅黑 Light" panose="020B0502040204020203" pitchFamily="34" charset="-122"/>
              </a:rPr>
              <a:t>固定</a:t>
            </a:r>
          </a:p>
          <a:p>
            <a:pPr algn="ctr" eaLnBrk="0" hangingPunct="0">
              <a:lnSpc>
                <a:spcPct val="90000"/>
              </a:lnSpc>
            </a:pPr>
            <a:r>
              <a:rPr lang="zh-CN" altLang="en-US" sz="2000">
                <a:latin typeface="+mn-lt"/>
                <a:ea typeface="微软雅黑 Light" panose="020B0502040204020203" pitchFamily="34" charset="-122"/>
              </a:rPr>
              <a:t>首部</a:t>
            </a:r>
          </a:p>
        </p:txBody>
      </p:sp>
      <p:sp>
        <p:nvSpPr>
          <p:cNvPr id="174" name="Rectangle 13"/>
          <p:cNvSpPr>
            <a:spLocks noChangeArrowheads="1"/>
          </p:cNvSpPr>
          <p:nvPr/>
        </p:nvSpPr>
        <p:spPr bwMode="auto">
          <a:xfrm>
            <a:off x="2178050" y="1665289"/>
            <a:ext cx="7686675" cy="4133850"/>
          </a:xfrm>
          <a:prstGeom prst="rect">
            <a:avLst/>
          </a:prstGeom>
          <a:solidFill>
            <a:schemeClr val="bg2"/>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175" name="Line 14"/>
          <p:cNvSpPr>
            <a:spLocks noChangeShapeType="1"/>
          </p:cNvSpPr>
          <p:nvPr/>
        </p:nvSpPr>
        <p:spPr bwMode="auto">
          <a:xfrm>
            <a:off x="2170113" y="2368552"/>
            <a:ext cx="76993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6" name="Line 15"/>
          <p:cNvSpPr>
            <a:spLocks noChangeShapeType="1"/>
          </p:cNvSpPr>
          <p:nvPr/>
        </p:nvSpPr>
        <p:spPr bwMode="auto">
          <a:xfrm>
            <a:off x="2184400" y="3063877"/>
            <a:ext cx="768508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7" name="Line 16"/>
          <p:cNvSpPr>
            <a:spLocks noChangeShapeType="1"/>
          </p:cNvSpPr>
          <p:nvPr/>
        </p:nvSpPr>
        <p:spPr bwMode="auto">
          <a:xfrm>
            <a:off x="2170113" y="3757614"/>
            <a:ext cx="76993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8" name="Line 17"/>
          <p:cNvSpPr>
            <a:spLocks noChangeShapeType="1"/>
          </p:cNvSpPr>
          <p:nvPr/>
        </p:nvSpPr>
        <p:spPr bwMode="auto">
          <a:xfrm>
            <a:off x="2170113" y="4449764"/>
            <a:ext cx="76993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9" name="Line 18"/>
          <p:cNvSpPr>
            <a:spLocks noChangeShapeType="1"/>
          </p:cNvSpPr>
          <p:nvPr/>
        </p:nvSpPr>
        <p:spPr bwMode="auto">
          <a:xfrm>
            <a:off x="2184400" y="5145089"/>
            <a:ext cx="768508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80" name="Line 19"/>
          <p:cNvSpPr>
            <a:spLocks noChangeShapeType="1"/>
          </p:cNvSpPr>
          <p:nvPr/>
        </p:nvSpPr>
        <p:spPr bwMode="auto">
          <a:xfrm>
            <a:off x="6022975" y="1673227"/>
            <a:ext cx="0" cy="7096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81" name="Rectangle 20"/>
          <p:cNvSpPr>
            <a:spLocks noChangeArrowheads="1"/>
          </p:cNvSpPr>
          <p:nvPr/>
        </p:nvSpPr>
        <p:spPr bwMode="auto">
          <a:xfrm>
            <a:off x="7223125" y="1800227"/>
            <a:ext cx="1593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目  的  端  口</a:t>
            </a:r>
          </a:p>
        </p:txBody>
      </p:sp>
      <p:sp>
        <p:nvSpPr>
          <p:cNvPr id="182" name="Rectangle 21"/>
          <p:cNvSpPr>
            <a:spLocks noChangeArrowheads="1"/>
          </p:cNvSpPr>
          <p:nvPr/>
        </p:nvSpPr>
        <p:spPr bwMode="auto">
          <a:xfrm>
            <a:off x="2332038" y="3722689"/>
            <a:ext cx="695325" cy="704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数据</a:t>
            </a:r>
          </a:p>
          <a:p>
            <a:pPr eaLnBrk="0" hangingPunct="0"/>
            <a:r>
              <a:rPr lang="zh-CN" altLang="en-US" sz="2000" dirty="0">
                <a:latin typeface="+mn-lt"/>
                <a:ea typeface="微软雅黑 Light" panose="020B0502040204020203" pitchFamily="34" charset="-122"/>
              </a:rPr>
              <a:t>偏移</a:t>
            </a:r>
          </a:p>
        </p:txBody>
      </p:sp>
      <p:sp>
        <p:nvSpPr>
          <p:cNvPr id="183" name="Rectangle 22"/>
          <p:cNvSpPr>
            <a:spLocks noChangeArrowheads="1"/>
          </p:cNvSpPr>
          <p:nvPr/>
        </p:nvSpPr>
        <p:spPr bwMode="auto">
          <a:xfrm>
            <a:off x="3411538" y="4587877"/>
            <a:ext cx="13366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检   验   和</a:t>
            </a:r>
          </a:p>
        </p:txBody>
      </p:sp>
      <p:sp>
        <p:nvSpPr>
          <p:cNvPr id="184" name="Rectangle 23"/>
          <p:cNvSpPr>
            <a:spLocks noChangeArrowheads="1"/>
          </p:cNvSpPr>
          <p:nvPr/>
        </p:nvSpPr>
        <p:spPr bwMode="auto">
          <a:xfrm>
            <a:off x="3694113" y="5237164"/>
            <a:ext cx="31988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选    项 长  度  可  变）</a:t>
            </a:r>
          </a:p>
        </p:txBody>
      </p:sp>
      <p:sp>
        <p:nvSpPr>
          <p:cNvPr id="185" name="Rectangle 24"/>
          <p:cNvSpPr>
            <a:spLocks noChangeArrowheads="1"/>
          </p:cNvSpPr>
          <p:nvPr/>
        </p:nvSpPr>
        <p:spPr bwMode="auto">
          <a:xfrm>
            <a:off x="3525838" y="1800227"/>
            <a:ext cx="12541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源  端  口</a:t>
            </a:r>
          </a:p>
        </p:txBody>
      </p:sp>
      <p:sp>
        <p:nvSpPr>
          <p:cNvPr id="186" name="Rectangle 25"/>
          <p:cNvSpPr>
            <a:spLocks noChangeArrowheads="1"/>
          </p:cNvSpPr>
          <p:nvPr/>
        </p:nvSpPr>
        <p:spPr bwMode="auto">
          <a:xfrm>
            <a:off x="5578475" y="2487614"/>
            <a:ext cx="1381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序   号</a:t>
            </a:r>
          </a:p>
        </p:txBody>
      </p:sp>
      <p:sp>
        <p:nvSpPr>
          <p:cNvPr id="187" name="Line 26"/>
          <p:cNvSpPr>
            <a:spLocks noChangeShapeType="1"/>
          </p:cNvSpPr>
          <p:nvPr/>
        </p:nvSpPr>
        <p:spPr bwMode="auto">
          <a:xfrm>
            <a:off x="6029325" y="3767139"/>
            <a:ext cx="0" cy="13700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88" name="Rectangle 27"/>
          <p:cNvSpPr>
            <a:spLocks noChangeArrowheads="1"/>
          </p:cNvSpPr>
          <p:nvPr/>
        </p:nvSpPr>
        <p:spPr bwMode="auto">
          <a:xfrm>
            <a:off x="7062788" y="4587877"/>
            <a:ext cx="17859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紧   急   指   针</a:t>
            </a:r>
          </a:p>
        </p:txBody>
      </p:sp>
      <p:sp>
        <p:nvSpPr>
          <p:cNvPr id="189" name="Rectangle 28"/>
          <p:cNvSpPr>
            <a:spLocks noChangeArrowheads="1"/>
          </p:cNvSpPr>
          <p:nvPr/>
        </p:nvSpPr>
        <p:spPr bwMode="auto">
          <a:xfrm>
            <a:off x="7512050" y="3868739"/>
            <a:ext cx="9223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窗   口</a:t>
            </a:r>
          </a:p>
        </p:txBody>
      </p:sp>
      <p:sp>
        <p:nvSpPr>
          <p:cNvPr id="190" name="Rectangle 29"/>
          <p:cNvSpPr>
            <a:spLocks noChangeArrowheads="1"/>
          </p:cNvSpPr>
          <p:nvPr/>
        </p:nvSpPr>
        <p:spPr bwMode="auto">
          <a:xfrm>
            <a:off x="5334000" y="3211514"/>
            <a:ext cx="18415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确    认    号</a:t>
            </a:r>
          </a:p>
        </p:txBody>
      </p:sp>
      <p:sp>
        <p:nvSpPr>
          <p:cNvPr id="200" name="Line 39"/>
          <p:cNvSpPr>
            <a:spLocks noChangeShapeType="1"/>
          </p:cNvSpPr>
          <p:nvPr/>
        </p:nvSpPr>
        <p:spPr bwMode="auto">
          <a:xfrm>
            <a:off x="2174875" y="1508127"/>
            <a:ext cx="767556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1" name="Line 40"/>
          <p:cNvSpPr>
            <a:spLocks noChangeShapeType="1"/>
          </p:cNvSpPr>
          <p:nvPr/>
        </p:nvSpPr>
        <p:spPr bwMode="auto">
          <a:xfrm>
            <a:off x="2174875"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2" name="Line 41"/>
          <p:cNvSpPr>
            <a:spLocks noChangeShapeType="1"/>
          </p:cNvSpPr>
          <p:nvPr/>
        </p:nvSpPr>
        <p:spPr bwMode="auto">
          <a:xfrm>
            <a:off x="241458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3" name="Line 42"/>
          <p:cNvSpPr>
            <a:spLocks noChangeShapeType="1"/>
          </p:cNvSpPr>
          <p:nvPr/>
        </p:nvSpPr>
        <p:spPr bwMode="auto">
          <a:xfrm>
            <a:off x="2654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4" name="Line 43"/>
          <p:cNvSpPr>
            <a:spLocks noChangeShapeType="1"/>
          </p:cNvSpPr>
          <p:nvPr/>
        </p:nvSpPr>
        <p:spPr bwMode="auto">
          <a:xfrm>
            <a:off x="289401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5" name="Line 44"/>
          <p:cNvSpPr>
            <a:spLocks noChangeShapeType="1"/>
          </p:cNvSpPr>
          <p:nvPr/>
        </p:nvSpPr>
        <p:spPr bwMode="auto">
          <a:xfrm>
            <a:off x="313531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6" name="Line 45"/>
          <p:cNvSpPr>
            <a:spLocks noChangeShapeType="1"/>
          </p:cNvSpPr>
          <p:nvPr/>
        </p:nvSpPr>
        <p:spPr bwMode="auto">
          <a:xfrm>
            <a:off x="337502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7" name="Line 46"/>
          <p:cNvSpPr>
            <a:spLocks noChangeShapeType="1"/>
          </p:cNvSpPr>
          <p:nvPr/>
        </p:nvSpPr>
        <p:spPr bwMode="auto">
          <a:xfrm>
            <a:off x="361315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8" name="Line 47"/>
          <p:cNvSpPr>
            <a:spLocks noChangeShapeType="1"/>
          </p:cNvSpPr>
          <p:nvPr/>
        </p:nvSpPr>
        <p:spPr bwMode="auto">
          <a:xfrm>
            <a:off x="385286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9" name="Line 48"/>
          <p:cNvSpPr>
            <a:spLocks noChangeShapeType="1"/>
          </p:cNvSpPr>
          <p:nvPr/>
        </p:nvSpPr>
        <p:spPr bwMode="auto">
          <a:xfrm>
            <a:off x="4094163"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0" name="Line 49"/>
          <p:cNvSpPr>
            <a:spLocks noChangeShapeType="1"/>
          </p:cNvSpPr>
          <p:nvPr/>
        </p:nvSpPr>
        <p:spPr bwMode="auto">
          <a:xfrm>
            <a:off x="433387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1" name="Line 50"/>
          <p:cNvSpPr>
            <a:spLocks noChangeShapeType="1"/>
          </p:cNvSpPr>
          <p:nvPr/>
        </p:nvSpPr>
        <p:spPr bwMode="auto">
          <a:xfrm>
            <a:off x="457358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2" name="Line 51"/>
          <p:cNvSpPr>
            <a:spLocks noChangeShapeType="1"/>
          </p:cNvSpPr>
          <p:nvPr/>
        </p:nvSpPr>
        <p:spPr bwMode="auto">
          <a:xfrm>
            <a:off x="4813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3" name="Line 52"/>
          <p:cNvSpPr>
            <a:spLocks noChangeShapeType="1"/>
          </p:cNvSpPr>
          <p:nvPr/>
        </p:nvSpPr>
        <p:spPr bwMode="auto">
          <a:xfrm>
            <a:off x="50546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4" name="Line 53"/>
          <p:cNvSpPr>
            <a:spLocks noChangeShapeType="1"/>
          </p:cNvSpPr>
          <p:nvPr/>
        </p:nvSpPr>
        <p:spPr bwMode="auto">
          <a:xfrm>
            <a:off x="529431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5" name="Line 54"/>
          <p:cNvSpPr>
            <a:spLocks noChangeShapeType="1"/>
          </p:cNvSpPr>
          <p:nvPr/>
        </p:nvSpPr>
        <p:spPr bwMode="auto">
          <a:xfrm>
            <a:off x="553243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6" name="Line 55"/>
          <p:cNvSpPr>
            <a:spLocks noChangeShapeType="1"/>
          </p:cNvSpPr>
          <p:nvPr/>
        </p:nvSpPr>
        <p:spPr bwMode="auto">
          <a:xfrm>
            <a:off x="577215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7" name="Line 56"/>
          <p:cNvSpPr>
            <a:spLocks noChangeShapeType="1"/>
          </p:cNvSpPr>
          <p:nvPr/>
        </p:nvSpPr>
        <p:spPr bwMode="auto">
          <a:xfrm>
            <a:off x="6011863"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8" name="Line 57"/>
          <p:cNvSpPr>
            <a:spLocks noChangeShapeType="1"/>
          </p:cNvSpPr>
          <p:nvPr/>
        </p:nvSpPr>
        <p:spPr bwMode="auto">
          <a:xfrm>
            <a:off x="625316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9" name="Line 58"/>
          <p:cNvSpPr>
            <a:spLocks noChangeShapeType="1"/>
          </p:cNvSpPr>
          <p:nvPr/>
        </p:nvSpPr>
        <p:spPr bwMode="auto">
          <a:xfrm>
            <a:off x="649287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0" name="Line 59"/>
          <p:cNvSpPr>
            <a:spLocks noChangeShapeType="1"/>
          </p:cNvSpPr>
          <p:nvPr/>
        </p:nvSpPr>
        <p:spPr bwMode="auto">
          <a:xfrm>
            <a:off x="673258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1" name="Line 60"/>
          <p:cNvSpPr>
            <a:spLocks noChangeShapeType="1"/>
          </p:cNvSpPr>
          <p:nvPr/>
        </p:nvSpPr>
        <p:spPr bwMode="auto">
          <a:xfrm>
            <a:off x="6972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2" name="Line 61"/>
          <p:cNvSpPr>
            <a:spLocks noChangeShapeType="1"/>
          </p:cNvSpPr>
          <p:nvPr/>
        </p:nvSpPr>
        <p:spPr bwMode="auto">
          <a:xfrm>
            <a:off x="72136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3" name="Line 62"/>
          <p:cNvSpPr>
            <a:spLocks noChangeShapeType="1"/>
          </p:cNvSpPr>
          <p:nvPr/>
        </p:nvSpPr>
        <p:spPr bwMode="auto">
          <a:xfrm>
            <a:off x="745172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4" name="Line 63"/>
          <p:cNvSpPr>
            <a:spLocks noChangeShapeType="1"/>
          </p:cNvSpPr>
          <p:nvPr/>
        </p:nvSpPr>
        <p:spPr bwMode="auto">
          <a:xfrm>
            <a:off x="769143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5" name="Line 64"/>
          <p:cNvSpPr>
            <a:spLocks noChangeShapeType="1"/>
          </p:cNvSpPr>
          <p:nvPr/>
        </p:nvSpPr>
        <p:spPr bwMode="auto">
          <a:xfrm>
            <a:off x="7931150"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6" name="Line 65"/>
          <p:cNvSpPr>
            <a:spLocks noChangeShapeType="1"/>
          </p:cNvSpPr>
          <p:nvPr/>
        </p:nvSpPr>
        <p:spPr bwMode="auto">
          <a:xfrm>
            <a:off x="817086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7" name="Line 66"/>
          <p:cNvSpPr>
            <a:spLocks noChangeShapeType="1"/>
          </p:cNvSpPr>
          <p:nvPr/>
        </p:nvSpPr>
        <p:spPr bwMode="auto">
          <a:xfrm>
            <a:off x="841216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8" name="Line 67"/>
          <p:cNvSpPr>
            <a:spLocks noChangeShapeType="1"/>
          </p:cNvSpPr>
          <p:nvPr/>
        </p:nvSpPr>
        <p:spPr bwMode="auto">
          <a:xfrm>
            <a:off x="865187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9" name="Line 68"/>
          <p:cNvSpPr>
            <a:spLocks noChangeShapeType="1"/>
          </p:cNvSpPr>
          <p:nvPr/>
        </p:nvSpPr>
        <p:spPr bwMode="auto">
          <a:xfrm>
            <a:off x="889158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30" name="Line 69"/>
          <p:cNvSpPr>
            <a:spLocks noChangeShapeType="1"/>
          </p:cNvSpPr>
          <p:nvPr/>
        </p:nvSpPr>
        <p:spPr bwMode="auto">
          <a:xfrm>
            <a:off x="9131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31" name="Line 70"/>
          <p:cNvSpPr>
            <a:spLocks noChangeShapeType="1"/>
          </p:cNvSpPr>
          <p:nvPr/>
        </p:nvSpPr>
        <p:spPr bwMode="auto">
          <a:xfrm>
            <a:off x="937101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32" name="Line 71"/>
          <p:cNvSpPr>
            <a:spLocks noChangeShapeType="1"/>
          </p:cNvSpPr>
          <p:nvPr/>
        </p:nvSpPr>
        <p:spPr bwMode="auto">
          <a:xfrm>
            <a:off x="961072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33" name="Line 72"/>
          <p:cNvSpPr>
            <a:spLocks noChangeShapeType="1"/>
          </p:cNvSpPr>
          <p:nvPr/>
        </p:nvSpPr>
        <p:spPr bwMode="auto">
          <a:xfrm>
            <a:off x="9850438"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34" name="Rectangle 73"/>
          <p:cNvSpPr>
            <a:spLocks noChangeArrowheads="1"/>
          </p:cNvSpPr>
          <p:nvPr/>
        </p:nvSpPr>
        <p:spPr bwMode="auto">
          <a:xfrm>
            <a:off x="2333625"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235" name="Rectangle 74"/>
          <p:cNvSpPr>
            <a:spLocks noChangeArrowheads="1"/>
          </p:cNvSpPr>
          <p:nvPr/>
        </p:nvSpPr>
        <p:spPr bwMode="auto">
          <a:xfrm>
            <a:off x="4252913"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236" name="Rectangle 75"/>
          <p:cNvSpPr>
            <a:spLocks noChangeArrowheads="1"/>
          </p:cNvSpPr>
          <p:nvPr/>
        </p:nvSpPr>
        <p:spPr bwMode="auto">
          <a:xfrm>
            <a:off x="6172200"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237" name="Rectangle 76"/>
          <p:cNvSpPr>
            <a:spLocks noChangeArrowheads="1"/>
          </p:cNvSpPr>
          <p:nvPr/>
        </p:nvSpPr>
        <p:spPr bwMode="auto">
          <a:xfrm>
            <a:off x="8091488"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244" name="Line 83"/>
          <p:cNvSpPr>
            <a:spLocks noChangeShapeType="1"/>
          </p:cNvSpPr>
          <p:nvPr/>
        </p:nvSpPr>
        <p:spPr bwMode="auto">
          <a:xfrm flipH="1">
            <a:off x="7929563" y="5162552"/>
            <a:ext cx="3175" cy="6429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245" name="Rectangle 84"/>
          <p:cNvSpPr>
            <a:spLocks noChangeArrowheads="1"/>
          </p:cNvSpPr>
          <p:nvPr/>
        </p:nvSpPr>
        <p:spPr bwMode="auto">
          <a:xfrm>
            <a:off x="8442325" y="5229227"/>
            <a:ext cx="1254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填    充</a:t>
            </a:r>
          </a:p>
        </p:txBody>
      </p:sp>
      <p:sp>
        <p:nvSpPr>
          <p:cNvPr id="246" name="Line 85"/>
          <p:cNvSpPr>
            <a:spLocks noChangeShapeType="1"/>
          </p:cNvSpPr>
          <p:nvPr/>
        </p:nvSpPr>
        <p:spPr bwMode="auto">
          <a:xfrm>
            <a:off x="9971088" y="1641477"/>
            <a:ext cx="5175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247" name="Line 86"/>
          <p:cNvSpPr>
            <a:spLocks noChangeShapeType="1"/>
          </p:cNvSpPr>
          <p:nvPr/>
        </p:nvSpPr>
        <p:spPr bwMode="auto">
          <a:xfrm>
            <a:off x="9971088" y="5137152"/>
            <a:ext cx="5175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248" name="Line 87"/>
          <p:cNvSpPr>
            <a:spLocks noChangeShapeType="1"/>
          </p:cNvSpPr>
          <p:nvPr/>
        </p:nvSpPr>
        <p:spPr bwMode="auto">
          <a:xfrm>
            <a:off x="1582738" y="1679577"/>
            <a:ext cx="5302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249" name="Line 88"/>
          <p:cNvSpPr>
            <a:spLocks noChangeShapeType="1"/>
          </p:cNvSpPr>
          <p:nvPr/>
        </p:nvSpPr>
        <p:spPr bwMode="auto">
          <a:xfrm>
            <a:off x="1597025" y="5780089"/>
            <a:ext cx="5302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89" name="灯片编号占位符 5"/>
          <p:cNvSpPr>
            <a:spLocks noGrp="1"/>
          </p:cNvSpPr>
          <p:nvPr>
            <p:ph type="sldNum" sz="quarter" idx="12"/>
          </p:nvPr>
        </p:nvSpPr>
        <p:spPr/>
        <p:txBody>
          <a:bodyPr/>
          <a:lstStyle/>
          <a:p>
            <a:fld id="{4995AC1E-92D6-4843-A9C6-E30A7383F63F}" type="slidenum">
              <a:rPr lang="en-US" altLang="zh-CN"/>
              <a:t>46</a:t>
            </a:fld>
            <a:endParaRPr lang="en-US" altLang="zh-CN"/>
          </a:p>
        </p:txBody>
      </p:sp>
      <p:sp>
        <p:nvSpPr>
          <p:cNvPr id="803843" name="Rectangle 3"/>
          <p:cNvSpPr>
            <a:spLocks noGrp="1" noChangeArrowheads="1"/>
          </p:cNvSpPr>
          <p:nvPr>
            <p:ph type="title"/>
          </p:nvPr>
        </p:nvSpPr>
        <p:spPr>
          <a:noFill/>
        </p:spPr>
        <p:txBody>
          <a:bodyPr/>
          <a:lstStyle/>
          <a:p>
            <a:r>
              <a:rPr lang="en-US" altLang="zh-CN" dirty="0"/>
              <a:t>TCP</a:t>
            </a:r>
            <a:r>
              <a:rPr lang="zh-CN" altLang="en-US" dirty="0"/>
              <a:t>的报头字段</a:t>
            </a:r>
            <a:endParaRPr lang="en-US" altLang="zh-CN" dirty="0"/>
          </a:p>
        </p:txBody>
      </p:sp>
      <p:sp>
        <p:nvSpPr>
          <p:cNvPr id="803925" name="Rectangle 85"/>
          <p:cNvSpPr>
            <a:spLocks noChangeArrowheads="1"/>
          </p:cNvSpPr>
          <p:nvPr/>
        </p:nvSpPr>
        <p:spPr bwMode="auto">
          <a:xfrm>
            <a:off x="6056313" y="3692525"/>
            <a:ext cx="3852862" cy="717550"/>
          </a:xfrm>
          <a:prstGeom prst="rect">
            <a:avLst/>
          </a:prstGeom>
          <a:noFill/>
          <a:ln w="7620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803926" name="Rectangle 86"/>
          <p:cNvSpPr>
            <a:spLocks noChangeArrowheads="1"/>
          </p:cNvSpPr>
          <p:nvPr/>
        </p:nvSpPr>
        <p:spPr bwMode="auto">
          <a:xfrm>
            <a:off x="1056000" y="5981218"/>
            <a:ext cx="10080000" cy="400110"/>
          </a:xfrm>
          <a:prstGeom prst="rect">
            <a:avLst/>
          </a:prstGeom>
          <a:noFill/>
          <a:ln>
            <a:noFill/>
          </a:ln>
          <a:effectLst/>
        </p:spPr>
        <p:txBody>
          <a:bodyPr>
            <a:spAutoFit/>
          </a:bodyPr>
          <a:lstStyle/>
          <a:p>
            <a:pPr marL="342900" indent="-342900" algn="ctr">
              <a:buFont typeface="Wingdings" panose="05000000000000000000" pitchFamily="2" charset="2"/>
              <a:buChar char="Ø"/>
            </a:pPr>
            <a:r>
              <a:rPr lang="zh-CN" altLang="en-US" dirty="0">
                <a:latin typeface="微软雅黑 Light" panose="020B0502040204020203" pitchFamily="34" charset="-122"/>
                <a:ea typeface="微软雅黑 Light" panose="020B0502040204020203" pitchFamily="34" charset="-122"/>
              </a:rPr>
              <a:t>窗口：占</a:t>
            </a:r>
            <a:r>
              <a:rPr lang="en-US" altLang="zh-CN" dirty="0">
                <a:latin typeface="微软雅黑 Light" panose="020B0502040204020203" pitchFamily="34" charset="-122"/>
                <a:ea typeface="微软雅黑 Light" panose="020B0502040204020203" pitchFamily="34" charset="-122"/>
              </a:rPr>
              <a:t>2</a:t>
            </a:r>
            <a:r>
              <a:rPr lang="zh-CN" altLang="en-US" dirty="0">
                <a:latin typeface="微软雅黑 Light" panose="020B0502040204020203" pitchFamily="34" charset="-122"/>
                <a:ea typeface="微软雅黑 Light" panose="020B0502040204020203" pitchFamily="34" charset="-122"/>
              </a:rPr>
              <a:t>字节，用来让对方设置发送窗口的依据，单位为字节</a:t>
            </a:r>
          </a:p>
        </p:txBody>
      </p:sp>
      <p:sp>
        <p:nvSpPr>
          <p:cNvPr id="88" name="Line 30"/>
          <p:cNvSpPr>
            <a:spLocks noChangeShapeType="1"/>
          </p:cNvSpPr>
          <p:nvPr/>
        </p:nvSpPr>
        <p:spPr bwMode="auto">
          <a:xfrm>
            <a:off x="3135313" y="3767139"/>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0" name="Line 31"/>
          <p:cNvSpPr>
            <a:spLocks noChangeShapeType="1"/>
          </p:cNvSpPr>
          <p:nvPr/>
        </p:nvSpPr>
        <p:spPr bwMode="auto">
          <a:xfrm>
            <a:off x="5062538" y="3759202"/>
            <a:ext cx="0" cy="6842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1" name="Line 32"/>
          <p:cNvSpPr>
            <a:spLocks noChangeShapeType="1"/>
          </p:cNvSpPr>
          <p:nvPr/>
        </p:nvSpPr>
        <p:spPr bwMode="auto">
          <a:xfrm>
            <a:off x="4572001" y="3761583"/>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2" name="Line 33"/>
          <p:cNvSpPr>
            <a:spLocks noChangeShapeType="1"/>
          </p:cNvSpPr>
          <p:nvPr/>
        </p:nvSpPr>
        <p:spPr bwMode="auto">
          <a:xfrm>
            <a:off x="4813300"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3" name="Line 34"/>
          <p:cNvSpPr>
            <a:spLocks noChangeShapeType="1"/>
          </p:cNvSpPr>
          <p:nvPr/>
        </p:nvSpPr>
        <p:spPr bwMode="auto">
          <a:xfrm>
            <a:off x="5543550"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4" name="Line 35"/>
          <p:cNvSpPr>
            <a:spLocks noChangeShapeType="1"/>
          </p:cNvSpPr>
          <p:nvPr/>
        </p:nvSpPr>
        <p:spPr bwMode="auto">
          <a:xfrm>
            <a:off x="5302250"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5" name="Line 36"/>
          <p:cNvSpPr>
            <a:spLocks noChangeShapeType="1"/>
          </p:cNvSpPr>
          <p:nvPr/>
        </p:nvSpPr>
        <p:spPr bwMode="auto">
          <a:xfrm>
            <a:off x="5788025"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6" name="Rectangle 37"/>
          <p:cNvSpPr>
            <a:spLocks noChangeArrowheads="1"/>
          </p:cNvSpPr>
          <p:nvPr/>
        </p:nvSpPr>
        <p:spPr bwMode="auto">
          <a:xfrm>
            <a:off x="3198280" y="3867686"/>
            <a:ext cx="72548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保留</a:t>
            </a:r>
          </a:p>
        </p:txBody>
      </p:sp>
      <p:sp>
        <p:nvSpPr>
          <p:cNvPr id="103" name="Line 32"/>
          <p:cNvSpPr>
            <a:spLocks noChangeShapeType="1"/>
          </p:cNvSpPr>
          <p:nvPr/>
        </p:nvSpPr>
        <p:spPr bwMode="auto">
          <a:xfrm>
            <a:off x="4079776" y="3757614"/>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04" name="Line 33"/>
          <p:cNvSpPr>
            <a:spLocks noChangeShapeType="1"/>
          </p:cNvSpPr>
          <p:nvPr/>
        </p:nvSpPr>
        <p:spPr bwMode="auto">
          <a:xfrm>
            <a:off x="4314850" y="3768726"/>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 name="Rectangle 82">
            <a:extLst>
              <a:ext uri="{FF2B5EF4-FFF2-40B4-BE49-F238E27FC236}">
                <a16:creationId xmlns:a16="http://schemas.microsoft.com/office/drawing/2014/main" id="{3E5CEF6B-7C4A-D261-816C-DB50F74E7DBA}"/>
              </a:ext>
            </a:extLst>
          </p:cNvPr>
          <p:cNvSpPr>
            <a:spLocks noChangeArrowheads="1"/>
          </p:cNvSpPr>
          <p:nvPr/>
        </p:nvSpPr>
        <p:spPr bwMode="auto">
          <a:xfrm>
            <a:off x="1812925" y="908720"/>
            <a:ext cx="8261878"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位 </a:t>
            </a:r>
            <a:r>
              <a:rPr lang="en-US" altLang="zh-CN" sz="2000" dirty="0">
                <a:latin typeface="+mn-lt"/>
                <a:ea typeface="微软雅黑 Light" panose="020B0502040204020203" pitchFamily="34" charset="-122"/>
              </a:rPr>
              <a:t>0                           8                           16                          24                          31</a:t>
            </a:r>
          </a:p>
        </p:txBody>
      </p:sp>
      <p:sp>
        <p:nvSpPr>
          <p:cNvPr id="3" name="Rectangle 38">
            <a:extLst>
              <a:ext uri="{FF2B5EF4-FFF2-40B4-BE49-F238E27FC236}">
                <a16:creationId xmlns:a16="http://schemas.microsoft.com/office/drawing/2014/main" id="{3B86CAA8-33D2-BEEC-94B3-9B25E6A3994A}"/>
              </a:ext>
            </a:extLst>
          </p:cNvPr>
          <p:cNvSpPr>
            <a:spLocks noChangeArrowheads="1"/>
          </p:cNvSpPr>
          <p:nvPr/>
        </p:nvSpPr>
        <p:spPr bwMode="auto">
          <a:xfrm rot="16200000">
            <a:off x="5648208" y="3940115"/>
            <a:ext cx="535405"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lnSpc>
                <a:spcPct val="75000"/>
              </a:lnSpc>
            </a:pPr>
            <a:r>
              <a:rPr lang="en-US" altLang="zh-CN" sz="1600" b="1" dirty="0">
                <a:latin typeface="+mn-lt"/>
                <a:ea typeface="微软雅黑 Light" panose="020B0502040204020203" pitchFamily="34" charset="-122"/>
              </a:rPr>
              <a:t>FIN</a:t>
            </a:r>
          </a:p>
        </p:txBody>
      </p:sp>
      <p:sp>
        <p:nvSpPr>
          <p:cNvPr id="4" name="Rectangle 77">
            <a:extLst>
              <a:ext uri="{FF2B5EF4-FFF2-40B4-BE49-F238E27FC236}">
                <a16:creationId xmlns:a16="http://schemas.microsoft.com/office/drawing/2014/main" id="{5ED0735B-D9B6-AFD2-AACC-B41637259968}"/>
              </a:ext>
            </a:extLst>
          </p:cNvPr>
          <p:cNvSpPr>
            <a:spLocks noChangeArrowheads="1"/>
          </p:cNvSpPr>
          <p:nvPr/>
        </p:nvSpPr>
        <p:spPr bwMode="auto">
          <a:xfrm rot="16200000">
            <a:off x="5401703" y="3936764"/>
            <a:ext cx="591510"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SYN</a:t>
            </a:r>
          </a:p>
        </p:txBody>
      </p:sp>
      <p:sp>
        <p:nvSpPr>
          <p:cNvPr id="5" name="Rectangle 78">
            <a:extLst>
              <a:ext uri="{FF2B5EF4-FFF2-40B4-BE49-F238E27FC236}">
                <a16:creationId xmlns:a16="http://schemas.microsoft.com/office/drawing/2014/main" id="{7205F2AB-B805-1B29-346F-7D7B6D3E9732}"/>
              </a:ext>
            </a:extLst>
          </p:cNvPr>
          <p:cNvSpPr>
            <a:spLocks noChangeArrowheads="1"/>
          </p:cNvSpPr>
          <p:nvPr/>
        </p:nvSpPr>
        <p:spPr bwMode="auto">
          <a:xfrm rot="16200000">
            <a:off x="5115446" y="3917780"/>
            <a:ext cx="618290"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RST</a:t>
            </a:r>
          </a:p>
        </p:txBody>
      </p:sp>
      <p:sp>
        <p:nvSpPr>
          <p:cNvPr id="6" name="Rectangle 79">
            <a:extLst>
              <a:ext uri="{FF2B5EF4-FFF2-40B4-BE49-F238E27FC236}">
                <a16:creationId xmlns:a16="http://schemas.microsoft.com/office/drawing/2014/main" id="{1C79B386-4A22-FE83-2B7E-615B881C1AD9}"/>
              </a:ext>
            </a:extLst>
          </p:cNvPr>
          <p:cNvSpPr>
            <a:spLocks noChangeArrowheads="1"/>
          </p:cNvSpPr>
          <p:nvPr/>
        </p:nvSpPr>
        <p:spPr bwMode="auto">
          <a:xfrm rot="16200000">
            <a:off x="4890356" y="3938731"/>
            <a:ext cx="600108"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PSH  </a:t>
            </a:r>
          </a:p>
        </p:txBody>
      </p:sp>
      <p:sp>
        <p:nvSpPr>
          <p:cNvPr id="7" name="Rectangle 80">
            <a:extLst>
              <a:ext uri="{FF2B5EF4-FFF2-40B4-BE49-F238E27FC236}">
                <a16:creationId xmlns:a16="http://schemas.microsoft.com/office/drawing/2014/main" id="{DB3CBF32-28FC-2FD8-14A5-6648697FB2E6}"/>
              </a:ext>
            </a:extLst>
          </p:cNvPr>
          <p:cNvSpPr>
            <a:spLocks noChangeArrowheads="1"/>
          </p:cNvSpPr>
          <p:nvPr/>
        </p:nvSpPr>
        <p:spPr bwMode="auto">
          <a:xfrm rot="16200000">
            <a:off x="4579000" y="3916214"/>
            <a:ext cx="730250"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ACK</a:t>
            </a:r>
          </a:p>
        </p:txBody>
      </p:sp>
      <p:sp>
        <p:nvSpPr>
          <p:cNvPr id="8" name="Rectangle 81">
            <a:extLst>
              <a:ext uri="{FF2B5EF4-FFF2-40B4-BE49-F238E27FC236}">
                <a16:creationId xmlns:a16="http://schemas.microsoft.com/office/drawing/2014/main" id="{38A3C883-192C-CC39-8819-180A473D77A6}"/>
              </a:ext>
            </a:extLst>
          </p:cNvPr>
          <p:cNvSpPr>
            <a:spLocks noChangeArrowheads="1"/>
          </p:cNvSpPr>
          <p:nvPr/>
        </p:nvSpPr>
        <p:spPr bwMode="auto">
          <a:xfrm rot="16200000">
            <a:off x="4342408" y="3894364"/>
            <a:ext cx="761997"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URG</a:t>
            </a:r>
          </a:p>
        </p:txBody>
      </p:sp>
      <p:sp>
        <p:nvSpPr>
          <p:cNvPr id="9" name="Rectangle 81">
            <a:extLst>
              <a:ext uri="{FF2B5EF4-FFF2-40B4-BE49-F238E27FC236}">
                <a16:creationId xmlns:a16="http://schemas.microsoft.com/office/drawing/2014/main" id="{3FC45BA5-8F7F-1507-87B4-A83BBA57888E}"/>
              </a:ext>
            </a:extLst>
          </p:cNvPr>
          <p:cNvSpPr>
            <a:spLocks noChangeArrowheads="1"/>
          </p:cNvSpPr>
          <p:nvPr/>
        </p:nvSpPr>
        <p:spPr bwMode="auto">
          <a:xfrm rot="16200000">
            <a:off x="3855770" y="3928543"/>
            <a:ext cx="721634"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CWR</a:t>
            </a:r>
          </a:p>
        </p:txBody>
      </p:sp>
      <p:sp>
        <p:nvSpPr>
          <p:cNvPr id="10" name="Rectangle 81">
            <a:extLst>
              <a:ext uri="{FF2B5EF4-FFF2-40B4-BE49-F238E27FC236}">
                <a16:creationId xmlns:a16="http://schemas.microsoft.com/office/drawing/2014/main" id="{CC709ED9-3947-72F8-CB85-799CDCB0B9F2}"/>
              </a:ext>
            </a:extLst>
          </p:cNvPr>
          <p:cNvSpPr>
            <a:spLocks noChangeArrowheads="1"/>
          </p:cNvSpPr>
          <p:nvPr/>
        </p:nvSpPr>
        <p:spPr bwMode="auto">
          <a:xfrm rot="16200000">
            <a:off x="4124919" y="3912163"/>
            <a:ext cx="704221"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ECE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3925"/>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80392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3925" grpId="0" animBg="1"/>
      <p:bldP spid="803925" grpId="1"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Line 9"/>
          <p:cNvSpPr>
            <a:spLocks noChangeShapeType="1"/>
          </p:cNvSpPr>
          <p:nvPr/>
        </p:nvSpPr>
        <p:spPr bwMode="auto">
          <a:xfrm flipH="1">
            <a:off x="1852613" y="1668464"/>
            <a:ext cx="17463" cy="4122738"/>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1" name="Rectangle 10"/>
          <p:cNvSpPr>
            <a:spLocks noChangeArrowheads="1"/>
          </p:cNvSpPr>
          <p:nvPr/>
        </p:nvSpPr>
        <p:spPr bwMode="auto">
          <a:xfrm>
            <a:off x="1524000" y="3268664"/>
            <a:ext cx="696913" cy="6445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90000"/>
              </a:lnSpc>
            </a:pPr>
            <a:r>
              <a:rPr lang="en-US" altLang="zh-CN" sz="2000">
                <a:latin typeface="+mn-lt"/>
                <a:ea typeface="微软雅黑 Light" panose="020B0502040204020203" pitchFamily="34" charset="-122"/>
              </a:rPr>
              <a:t>TCP</a:t>
            </a:r>
          </a:p>
          <a:p>
            <a:pPr eaLnBrk="0" hangingPunct="0">
              <a:lnSpc>
                <a:spcPct val="90000"/>
              </a:lnSpc>
            </a:pPr>
            <a:r>
              <a:rPr lang="zh-CN" altLang="en-US" sz="2000">
                <a:latin typeface="+mn-lt"/>
                <a:ea typeface="微软雅黑 Light" panose="020B0502040204020203" pitchFamily="34" charset="-122"/>
              </a:rPr>
              <a:t>首部</a:t>
            </a:r>
          </a:p>
        </p:txBody>
      </p:sp>
      <p:sp>
        <p:nvSpPr>
          <p:cNvPr id="172" name="Line 11"/>
          <p:cNvSpPr>
            <a:spLocks noChangeShapeType="1"/>
          </p:cNvSpPr>
          <p:nvPr/>
        </p:nvSpPr>
        <p:spPr bwMode="auto">
          <a:xfrm>
            <a:off x="10272713" y="1658939"/>
            <a:ext cx="0" cy="3463925"/>
          </a:xfrm>
          <a:prstGeom prst="line">
            <a:avLst/>
          </a:prstGeom>
          <a:noFill/>
          <a:ln w="1905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3" name="Rectangle 12"/>
          <p:cNvSpPr>
            <a:spLocks noChangeArrowheads="1"/>
          </p:cNvSpPr>
          <p:nvPr/>
        </p:nvSpPr>
        <p:spPr bwMode="auto">
          <a:xfrm>
            <a:off x="9909175" y="2736852"/>
            <a:ext cx="695325" cy="119697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lnSpc>
                <a:spcPct val="90000"/>
              </a:lnSpc>
            </a:pPr>
            <a:r>
              <a:rPr lang="en-US" altLang="zh-CN" sz="2000">
                <a:latin typeface="+mn-lt"/>
                <a:ea typeface="微软雅黑 Light" panose="020B0502040204020203" pitchFamily="34" charset="-122"/>
              </a:rPr>
              <a:t>20</a:t>
            </a:r>
          </a:p>
          <a:p>
            <a:pPr algn="ctr" eaLnBrk="0" hangingPunct="0">
              <a:lnSpc>
                <a:spcPct val="90000"/>
              </a:lnSpc>
            </a:pPr>
            <a:r>
              <a:rPr lang="zh-CN" altLang="en-US" sz="2000">
                <a:latin typeface="+mn-lt"/>
                <a:ea typeface="微软雅黑 Light" panose="020B0502040204020203" pitchFamily="34" charset="-122"/>
              </a:rPr>
              <a:t>字节</a:t>
            </a:r>
          </a:p>
          <a:p>
            <a:pPr algn="ctr" eaLnBrk="0" hangingPunct="0">
              <a:lnSpc>
                <a:spcPct val="90000"/>
              </a:lnSpc>
            </a:pPr>
            <a:r>
              <a:rPr lang="zh-CN" altLang="en-US" sz="2000">
                <a:latin typeface="+mn-lt"/>
                <a:ea typeface="微软雅黑 Light" panose="020B0502040204020203" pitchFamily="34" charset="-122"/>
              </a:rPr>
              <a:t>固定</a:t>
            </a:r>
          </a:p>
          <a:p>
            <a:pPr algn="ctr" eaLnBrk="0" hangingPunct="0">
              <a:lnSpc>
                <a:spcPct val="90000"/>
              </a:lnSpc>
            </a:pPr>
            <a:r>
              <a:rPr lang="zh-CN" altLang="en-US" sz="2000">
                <a:latin typeface="+mn-lt"/>
                <a:ea typeface="微软雅黑 Light" panose="020B0502040204020203" pitchFamily="34" charset="-122"/>
              </a:rPr>
              <a:t>首部</a:t>
            </a:r>
          </a:p>
        </p:txBody>
      </p:sp>
      <p:sp>
        <p:nvSpPr>
          <p:cNvPr id="174" name="Rectangle 13"/>
          <p:cNvSpPr>
            <a:spLocks noChangeArrowheads="1"/>
          </p:cNvSpPr>
          <p:nvPr/>
        </p:nvSpPr>
        <p:spPr bwMode="auto">
          <a:xfrm>
            <a:off x="2178050" y="1665289"/>
            <a:ext cx="7686675" cy="4133850"/>
          </a:xfrm>
          <a:prstGeom prst="rect">
            <a:avLst/>
          </a:prstGeom>
          <a:solidFill>
            <a:schemeClr val="bg2"/>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175" name="Line 14"/>
          <p:cNvSpPr>
            <a:spLocks noChangeShapeType="1"/>
          </p:cNvSpPr>
          <p:nvPr/>
        </p:nvSpPr>
        <p:spPr bwMode="auto">
          <a:xfrm>
            <a:off x="2170113" y="2368552"/>
            <a:ext cx="76993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6" name="Line 15"/>
          <p:cNvSpPr>
            <a:spLocks noChangeShapeType="1"/>
          </p:cNvSpPr>
          <p:nvPr/>
        </p:nvSpPr>
        <p:spPr bwMode="auto">
          <a:xfrm>
            <a:off x="2184400" y="3063877"/>
            <a:ext cx="768508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7" name="Line 16"/>
          <p:cNvSpPr>
            <a:spLocks noChangeShapeType="1"/>
          </p:cNvSpPr>
          <p:nvPr/>
        </p:nvSpPr>
        <p:spPr bwMode="auto">
          <a:xfrm>
            <a:off x="2170113" y="3757614"/>
            <a:ext cx="76993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8" name="Line 17"/>
          <p:cNvSpPr>
            <a:spLocks noChangeShapeType="1"/>
          </p:cNvSpPr>
          <p:nvPr/>
        </p:nvSpPr>
        <p:spPr bwMode="auto">
          <a:xfrm>
            <a:off x="2170113" y="4449764"/>
            <a:ext cx="76993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9" name="Line 18"/>
          <p:cNvSpPr>
            <a:spLocks noChangeShapeType="1"/>
          </p:cNvSpPr>
          <p:nvPr/>
        </p:nvSpPr>
        <p:spPr bwMode="auto">
          <a:xfrm>
            <a:off x="2184400" y="5145089"/>
            <a:ext cx="768508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80" name="Line 19"/>
          <p:cNvSpPr>
            <a:spLocks noChangeShapeType="1"/>
          </p:cNvSpPr>
          <p:nvPr/>
        </p:nvSpPr>
        <p:spPr bwMode="auto">
          <a:xfrm>
            <a:off x="6022975" y="1673227"/>
            <a:ext cx="0" cy="7096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81" name="Rectangle 20"/>
          <p:cNvSpPr>
            <a:spLocks noChangeArrowheads="1"/>
          </p:cNvSpPr>
          <p:nvPr/>
        </p:nvSpPr>
        <p:spPr bwMode="auto">
          <a:xfrm>
            <a:off x="7223125" y="1800227"/>
            <a:ext cx="1593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目  的  端  口</a:t>
            </a:r>
          </a:p>
        </p:txBody>
      </p:sp>
      <p:sp>
        <p:nvSpPr>
          <p:cNvPr id="182" name="Rectangle 21"/>
          <p:cNvSpPr>
            <a:spLocks noChangeArrowheads="1"/>
          </p:cNvSpPr>
          <p:nvPr/>
        </p:nvSpPr>
        <p:spPr bwMode="auto">
          <a:xfrm>
            <a:off x="2332038" y="3722689"/>
            <a:ext cx="695325" cy="704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数据</a:t>
            </a:r>
          </a:p>
          <a:p>
            <a:pPr eaLnBrk="0" hangingPunct="0"/>
            <a:r>
              <a:rPr lang="zh-CN" altLang="en-US" sz="2000" dirty="0">
                <a:latin typeface="+mn-lt"/>
                <a:ea typeface="微软雅黑 Light" panose="020B0502040204020203" pitchFamily="34" charset="-122"/>
              </a:rPr>
              <a:t>偏移</a:t>
            </a:r>
          </a:p>
        </p:txBody>
      </p:sp>
      <p:sp>
        <p:nvSpPr>
          <p:cNvPr id="183" name="Rectangle 22"/>
          <p:cNvSpPr>
            <a:spLocks noChangeArrowheads="1"/>
          </p:cNvSpPr>
          <p:nvPr/>
        </p:nvSpPr>
        <p:spPr bwMode="auto">
          <a:xfrm>
            <a:off x="3411538" y="4587877"/>
            <a:ext cx="13366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检   验   和</a:t>
            </a:r>
          </a:p>
        </p:txBody>
      </p:sp>
      <p:sp>
        <p:nvSpPr>
          <p:cNvPr id="184" name="Rectangle 23"/>
          <p:cNvSpPr>
            <a:spLocks noChangeArrowheads="1"/>
          </p:cNvSpPr>
          <p:nvPr/>
        </p:nvSpPr>
        <p:spPr bwMode="auto">
          <a:xfrm>
            <a:off x="3694113" y="5237164"/>
            <a:ext cx="31988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选    项 长  度  可  变）</a:t>
            </a:r>
          </a:p>
        </p:txBody>
      </p:sp>
      <p:sp>
        <p:nvSpPr>
          <p:cNvPr id="185" name="Rectangle 24"/>
          <p:cNvSpPr>
            <a:spLocks noChangeArrowheads="1"/>
          </p:cNvSpPr>
          <p:nvPr/>
        </p:nvSpPr>
        <p:spPr bwMode="auto">
          <a:xfrm>
            <a:off x="3525838" y="1800227"/>
            <a:ext cx="12541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源  端  口</a:t>
            </a:r>
          </a:p>
        </p:txBody>
      </p:sp>
      <p:sp>
        <p:nvSpPr>
          <p:cNvPr id="186" name="Rectangle 25"/>
          <p:cNvSpPr>
            <a:spLocks noChangeArrowheads="1"/>
          </p:cNvSpPr>
          <p:nvPr/>
        </p:nvSpPr>
        <p:spPr bwMode="auto">
          <a:xfrm>
            <a:off x="5578475" y="2487614"/>
            <a:ext cx="1381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序   号</a:t>
            </a:r>
          </a:p>
        </p:txBody>
      </p:sp>
      <p:sp>
        <p:nvSpPr>
          <p:cNvPr id="187" name="Line 26"/>
          <p:cNvSpPr>
            <a:spLocks noChangeShapeType="1"/>
          </p:cNvSpPr>
          <p:nvPr/>
        </p:nvSpPr>
        <p:spPr bwMode="auto">
          <a:xfrm>
            <a:off x="6029325" y="3767139"/>
            <a:ext cx="0" cy="13700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88" name="Rectangle 27"/>
          <p:cNvSpPr>
            <a:spLocks noChangeArrowheads="1"/>
          </p:cNvSpPr>
          <p:nvPr/>
        </p:nvSpPr>
        <p:spPr bwMode="auto">
          <a:xfrm>
            <a:off x="7062788" y="4587877"/>
            <a:ext cx="17859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紧   急   指   针</a:t>
            </a:r>
          </a:p>
        </p:txBody>
      </p:sp>
      <p:sp>
        <p:nvSpPr>
          <p:cNvPr id="189" name="Rectangle 28"/>
          <p:cNvSpPr>
            <a:spLocks noChangeArrowheads="1"/>
          </p:cNvSpPr>
          <p:nvPr/>
        </p:nvSpPr>
        <p:spPr bwMode="auto">
          <a:xfrm>
            <a:off x="7512050" y="3868739"/>
            <a:ext cx="9223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窗   口</a:t>
            </a:r>
          </a:p>
        </p:txBody>
      </p:sp>
      <p:sp>
        <p:nvSpPr>
          <p:cNvPr id="190" name="Rectangle 29"/>
          <p:cNvSpPr>
            <a:spLocks noChangeArrowheads="1"/>
          </p:cNvSpPr>
          <p:nvPr/>
        </p:nvSpPr>
        <p:spPr bwMode="auto">
          <a:xfrm>
            <a:off x="5334000" y="3211514"/>
            <a:ext cx="18415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确    认    号</a:t>
            </a:r>
          </a:p>
        </p:txBody>
      </p:sp>
      <p:sp>
        <p:nvSpPr>
          <p:cNvPr id="200" name="Line 39"/>
          <p:cNvSpPr>
            <a:spLocks noChangeShapeType="1"/>
          </p:cNvSpPr>
          <p:nvPr/>
        </p:nvSpPr>
        <p:spPr bwMode="auto">
          <a:xfrm>
            <a:off x="2174875" y="1508127"/>
            <a:ext cx="767556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1" name="Line 40"/>
          <p:cNvSpPr>
            <a:spLocks noChangeShapeType="1"/>
          </p:cNvSpPr>
          <p:nvPr/>
        </p:nvSpPr>
        <p:spPr bwMode="auto">
          <a:xfrm>
            <a:off x="2174875"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2" name="Line 41"/>
          <p:cNvSpPr>
            <a:spLocks noChangeShapeType="1"/>
          </p:cNvSpPr>
          <p:nvPr/>
        </p:nvSpPr>
        <p:spPr bwMode="auto">
          <a:xfrm>
            <a:off x="241458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3" name="Line 42"/>
          <p:cNvSpPr>
            <a:spLocks noChangeShapeType="1"/>
          </p:cNvSpPr>
          <p:nvPr/>
        </p:nvSpPr>
        <p:spPr bwMode="auto">
          <a:xfrm>
            <a:off x="2654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4" name="Line 43"/>
          <p:cNvSpPr>
            <a:spLocks noChangeShapeType="1"/>
          </p:cNvSpPr>
          <p:nvPr/>
        </p:nvSpPr>
        <p:spPr bwMode="auto">
          <a:xfrm>
            <a:off x="289401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5" name="Line 44"/>
          <p:cNvSpPr>
            <a:spLocks noChangeShapeType="1"/>
          </p:cNvSpPr>
          <p:nvPr/>
        </p:nvSpPr>
        <p:spPr bwMode="auto">
          <a:xfrm>
            <a:off x="313531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6" name="Line 45"/>
          <p:cNvSpPr>
            <a:spLocks noChangeShapeType="1"/>
          </p:cNvSpPr>
          <p:nvPr/>
        </p:nvSpPr>
        <p:spPr bwMode="auto">
          <a:xfrm>
            <a:off x="337502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7" name="Line 46"/>
          <p:cNvSpPr>
            <a:spLocks noChangeShapeType="1"/>
          </p:cNvSpPr>
          <p:nvPr/>
        </p:nvSpPr>
        <p:spPr bwMode="auto">
          <a:xfrm>
            <a:off x="361315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8" name="Line 47"/>
          <p:cNvSpPr>
            <a:spLocks noChangeShapeType="1"/>
          </p:cNvSpPr>
          <p:nvPr/>
        </p:nvSpPr>
        <p:spPr bwMode="auto">
          <a:xfrm>
            <a:off x="385286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9" name="Line 48"/>
          <p:cNvSpPr>
            <a:spLocks noChangeShapeType="1"/>
          </p:cNvSpPr>
          <p:nvPr/>
        </p:nvSpPr>
        <p:spPr bwMode="auto">
          <a:xfrm>
            <a:off x="4094163"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0" name="Line 49"/>
          <p:cNvSpPr>
            <a:spLocks noChangeShapeType="1"/>
          </p:cNvSpPr>
          <p:nvPr/>
        </p:nvSpPr>
        <p:spPr bwMode="auto">
          <a:xfrm>
            <a:off x="433387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1" name="Line 50"/>
          <p:cNvSpPr>
            <a:spLocks noChangeShapeType="1"/>
          </p:cNvSpPr>
          <p:nvPr/>
        </p:nvSpPr>
        <p:spPr bwMode="auto">
          <a:xfrm>
            <a:off x="457358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2" name="Line 51"/>
          <p:cNvSpPr>
            <a:spLocks noChangeShapeType="1"/>
          </p:cNvSpPr>
          <p:nvPr/>
        </p:nvSpPr>
        <p:spPr bwMode="auto">
          <a:xfrm>
            <a:off x="4813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3" name="Line 52"/>
          <p:cNvSpPr>
            <a:spLocks noChangeShapeType="1"/>
          </p:cNvSpPr>
          <p:nvPr/>
        </p:nvSpPr>
        <p:spPr bwMode="auto">
          <a:xfrm>
            <a:off x="50546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4" name="Line 53"/>
          <p:cNvSpPr>
            <a:spLocks noChangeShapeType="1"/>
          </p:cNvSpPr>
          <p:nvPr/>
        </p:nvSpPr>
        <p:spPr bwMode="auto">
          <a:xfrm>
            <a:off x="529431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5" name="Line 54"/>
          <p:cNvSpPr>
            <a:spLocks noChangeShapeType="1"/>
          </p:cNvSpPr>
          <p:nvPr/>
        </p:nvSpPr>
        <p:spPr bwMode="auto">
          <a:xfrm>
            <a:off x="553243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6" name="Line 55"/>
          <p:cNvSpPr>
            <a:spLocks noChangeShapeType="1"/>
          </p:cNvSpPr>
          <p:nvPr/>
        </p:nvSpPr>
        <p:spPr bwMode="auto">
          <a:xfrm>
            <a:off x="577215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7" name="Line 56"/>
          <p:cNvSpPr>
            <a:spLocks noChangeShapeType="1"/>
          </p:cNvSpPr>
          <p:nvPr/>
        </p:nvSpPr>
        <p:spPr bwMode="auto">
          <a:xfrm>
            <a:off x="6011863"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8" name="Line 57"/>
          <p:cNvSpPr>
            <a:spLocks noChangeShapeType="1"/>
          </p:cNvSpPr>
          <p:nvPr/>
        </p:nvSpPr>
        <p:spPr bwMode="auto">
          <a:xfrm>
            <a:off x="625316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9" name="Line 58"/>
          <p:cNvSpPr>
            <a:spLocks noChangeShapeType="1"/>
          </p:cNvSpPr>
          <p:nvPr/>
        </p:nvSpPr>
        <p:spPr bwMode="auto">
          <a:xfrm>
            <a:off x="649287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0" name="Line 59"/>
          <p:cNvSpPr>
            <a:spLocks noChangeShapeType="1"/>
          </p:cNvSpPr>
          <p:nvPr/>
        </p:nvSpPr>
        <p:spPr bwMode="auto">
          <a:xfrm>
            <a:off x="673258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1" name="Line 60"/>
          <p:cNvSpPr>
            <a:spLocks noChangeShapeType="1"/>
          </p:cNvSpPr>
          <p:nvPr/>
        </p:nvSpPr>
        <p:spPr bwMode="auto">
          <a:xfrm>
            <a:off x="6972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2" name="Line 61"/>
          <p:cNvSpPr>
            <a:spLocks noChangeShapeType="1"/>
          </p:cNvSpPr>
          <p:nvPr/>
        </p:nvSpPr>
        <p:spPr bwMode="auto">
          <a:xfrm>
            <a:off x="72136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3" name="Line 62"/>
          <p:cNvSpPr>
            <a:spLocks noChangeShapeType="1"/>
          </p:cNvSpPr>
          <p:nvPr/>
        </p:nvSpPr>
        <p:spPr bwMode="auto">
          <a:xfrm>
            <a:off x="745172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4" name="Line 63"/>
          <p:cNvSpPr>
            <a:spLocks noChangeShapeType="1"/>
          </p:cNvSpPr>
          <p:nvPr/>
        </p:nvSpPr>
        <p:spPr bwMode="auto">
          <a:xfrm>
            <a:off x="769143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5" name="Line 64"/>
          <p:cNvSpPr>
            <a:spLocks noChangeShapeType="1"/>
          </p:cNvSpPr>
          <p:nvPr/>
        </p:nvSpPr>
        <p:spPr bwMode="auto">
          <a:xfrm>
            <a:off x="7931150"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6" name="Line 65"/>
          <p:cNvSpPr>
            <a:spLocks noChangeShapeType="1"/>
          </p:cNvSpPr>
          <p:nvPr/>
        </p:nvSpPr>
        <p:spPr bwMode="auto">
          <a:xfrm>
            <a:off x="817086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7" name="Line 66"/>
          <p:cNvSpPr>
            <a:spLocks noChangeShapeType="1"/>
          </p:cNvSpPr>
          <p:nvPr/>
        </p:nvSpPr>
        <p:spPr bwMode="auto">
          <a:xfrm>
            <a:off x="841216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8" name="Line 67"/>
          <p:cNvSpPr>
            <a:spLocks noChangeShapeType="1"/>
          </p:cNvSpPr>
          <p:nvPr/>
        </p:nvSpPr>
        <p:spPr bwMode="auto">
          <a:xfrm>
            <a:off x="865187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9" name="Line 68"/>
          <p:cNvSpPr>
            <a:spLocks noChangeShapeType="1"/>
          </p:cNvSpPr>
          <p:nvPr/>
        </p:nvSpPr>
        <p:spPr bwMode="auto">
          <a:xfrm>
            <a:off x="889158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30" name="Line 69"/>
          <p:cNvSpPr>
            <a:spLocks noChangeShapeType="1"/>
          </p:cNvSpPr>
          <p:nvPr/>
        </p:nvSpPr>
        <p:spPr bwMode="auto">
          <a:xfrm>
            <a:off x="9131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31" name="Line 70"/>
          <p:cNvSpPr>
            <a:spLocks noChangeShapeType="1"/>
          </p:cNvSpPr>
          <p:nvPr/>
        </p:nvSpPr>
        <p:spPr bwMode="auto">
          <a:xfrm>
            <a:off x="937101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32" name="Line 71"/>
          <p:cNvSpPr>
            <a:spLocks noChangeShapeType="1"/>
          </p:cNvSpPr>
          <p:nvPr/>
        </p:nvSpPr>
        <p:spPr bwMode="auto">
          <a:xfrm>
            <a:off x="961072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33" name="Line 72"/>
          <p:cNvSpPr>
            <a:spLocks noChangeShapeType="1"/>
          </p:cNvSpPr>
          <p:nvPr/>
        </p:nvSpPr>
        <p:spPr bwMode="auto">
          <a:xfrm>
            <a:off x="9850438"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34" name="Rectangle 73"/>
          <p:cNvSpPr>
            <a:spLocks noChangeArrowheads="1"/>
          </p:cNvSpPr>
          <p:nvPr/>
        </p:nvSpPr>
        <p:spPr bwMode="auto">
          <a:xfrm>
            <a:off x="2333625"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235" name="Rectangle 74"/>
          <p:cNvSpPr>
            <a:spLocks noChangeArrowheads="1"/>
          </p:cNvSpPr>
          <p:nvPr/>
        </p:nvSpPr>
        <p:spPr bwMode="auto">
          <a:xfrm>
            <a:off x="4252913"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236" name="Rectangle 75"/>
          <p:cNvSpPr>
            <a:spLocks noChangeArrowheads="1"/>
          </p:cNvSpPr>
          <p:nvPr/>
        </p:nvSpPr>
        <p:spPr bwMode="auto">
          <a:xfrm>
            <a:off x="6172200"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237" name="Rectangle 76"/>
          <p:cNvSpPr>
            <a:spLocks noChangeArrowheads="1"/>
          </p:cNvSpPr>
          <p:nvPr/>
        </p:nvSpPr>
        <p:spPr bwMode="auto">
          <a:xfrm>
            <a:off x="8091488"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244" name="Line 83"/>
          <p:cNvSpPr>
            <a:spLocks noChangeShapeType="1"/>
          </p:cNvSpPr>
          <p:nvPr/>
        </p:nvSpPr>
        <p:spPr bwMode="auto">
          <a:xfrm flipH="1">
            <a:off x="7929563" y="5162552"/>
            <a:ext cx="3175" cy="6429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245" name="Rectangle 84"/>
          <p:cNvSpPr>
            <a:spLocks noChangeArrowheads="1"/>
          </p:cNvSpPr>
          <p:nvPr/>
        </p:nvSpPr>
        <p:spPr bwMode="auto">
          <a:xfrm>
            <a:off x="8442325" y="5229227"/>
            <a:ext cx="1254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填    充</a:t>
            </a:r>
          </a:p>
        </p:txBody>
      </p:sp>
      <p:sp>
        <p:nvSpPr>
          <p:cNvPr id="246" name="Line 85"/>
          <p:cNvSpPr>
            <a:spLocks noChangeShapeType="1"/>
          </p:cNvSpPr>
          <p:nvPr/>
        </p:nvSpPr>
        <p:spPr bwMode="auto">
          <a:xfrm>
            <a:off x="9971088" y="1641477"/>
            <a:ext cx="5175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247" name="Line 86"/>
          <p:cNvSpPr>
            <a:spLocks noChangeShapeType="1"/>
          </p:cNvSpPr>
          <p:nvPr/>
        </p:nvSpPr>
        <p:spPr bwMode="auto">
          <a:xfrm>
            <a:off x="9971088" y="5137152"/>
            <a:ext cx="5175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248" name="Line 87"/>
          <p:cNvSpPr>
            <a:spLocks noChangeShapeType="1"/>
          </p:cNvSpPr>
          <p:nvPr/>
        </p:nvSpPr>
        <p:spPr bwMode="auto">
          <a:xfrm>
            <a:off x="1582738" y="1679577"/>
            <a:ext cx="5302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249" name="Line 88"/>
          <p:cNvSpPr>
            <a:spLocks noChangeShapeType="1"/>
          </p:cNvSpPr>
          <p:nvPr/>
        </p:nvSpPr>
        <p:spPr bwMode="auto">
          <a:xfrm>
            <a:off x="1597025" y="5780089"/>
            <a:ext cx="5302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89" name="灯片编号占位符 5"/>
          <p:cNvSpPr>
            <a:spLocks noGrp="1"/>
          </p:cNvSpPr>
          <p:nvPr>
            <p:ph type="sldNum" sz="quarter" idx="12"/>
          </p:nvPr>
        </p:nvSpPr>
        <p:spPr/>
        <p:txBody>
          <a:bodyPr/>
          <a:lstStyle/>
          <a:p>
            <a:fld id="{CD24DF0C-5D95-4571-BB4F-815F6B1CD470}" type="slidenum">
              <a:rPr lang="en-US" altLang="zh-CN"/>
              <a:t>47</a:t>
            </a:fld>
            <a:endParaRPr lang="en-US" altLang="zh-CN"/>
          </a:p>
        </p:txBody>
      </p:sp>
      <p:sp>
        <p:nvSpPr>
          <p:cNvPr id="804867" name="Rectangle 3"/>
          <p:cNvSpPr>
            <a:spLocks noGrp="1" noChangeArrowheads="1"/>
          </p:cNvSpPr>
          <p:nvPr>
            <p:ph type="title"/>
          </p:nvPr>
        </p:nvSpPr>
        <p:spPr>
          <a:noFill/>
        </p:spPr>
        <p:txBody>
          <a:bodyPr/>
          <a:lstStyle/>
          <a:p>
            <a:r>
              <a:rPr lang="en-US" altLang="zh-CN" dirty="0"/>
              <a:t>TCP</a:t>
            </a:r>
            <a:r>
              <a:rPr lang="zh-CN" altLang="en-US" dirty="0"/>
              <a:t>的报头字段</a:t>
            </a:r>
            <a:endParaRPr lang="en-US" altLang="zh-CN" dirty="0"/>
          </a:p>
        </p:txBody>
      </p:sp>
      <p:sp>
        <p:nvSpPr>
          <p:cNvPr id="804949" name="Rectangle 85"/>
          <p:cNvSpPr>
            <a:spLocks noChangeArrowheads="1"/>
          </p:cNvSpPr>
          <p:nvPr/>
        </p:nvSpPr>
        <p:spPr bwMode="auto">
          <a:xfrm>
            <a:off x="2166938" y="4413250"/>
            <a:ext cx="3852862" cy="717550"/>
          </a:xfrm>
          <a:prstGeom prst="rect">
            <a:avLst/>
          </a:prstGeom>
          <a:noFill/>
          <a:ln w="7620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804950" name="Text Box 86"/>
          <p:cNvSpPr txBox="1">
            <a:spLocks noChangeArrowheads="1"/>
          </p:cNvSpPr>
          <p:nvPr/>
        </p:nvSpPr>
        <p:spPr bwMode="auto">
          <a:xfrm>
            <a:off x="1260787" y="5889466"/>
            <a:ext cx="10080000" cy="707886"/>
          </a:xfrm>
          <a:prstGeom prst="rect">
            <a:avLst/>
          </a:prstGeom>
          <a:noFill/>
          <a:ln>
            <a:noFill/>
          </a:ln>
          <a:effectLst/>
        </p:spPr>
        <p:txBody>
          <a:bodyPr wrap="square">
            <a:spAutoFit/>
          </a:bodyPr>
          <a:lstStyle>
            <a:defPPr>
              <a:defRPr lang="zh-CN"/>
            </a:defPPr>
            <a:lvl1pPr>
              <a:defRPr>
                <a:latin typeface="微软雅黑 Light" panose="020B0502040204020203" pitchFamily="34" charset="-122"/>
                <a:ea typeface="微软雅黑 Light" panose="020B0502040204020203" pitchFamily="34" charset="-122"/>
              </a:defRPr>
            </a:lvl1pPr>
          </a:lstStyle>
          <a:p>
            <a:pPr marL="342900" indent="-342900">
              <a:buFont typeface="Wingdings" panose="05000000000000000000" pitchFamily="2" charset="2"/>
              <a:buChar char="Ø"/>
            </a:pPr>
            <a:r>
              <a:rPr lang="zh-CN" altLang="en-US" dirty="0"/>
              <a:t>检验和：占</a:t>
            </a:r>
            <a:r>
              <a:rPr lang="en-US" altLang="zh-CN" dirty="0"/>
              <a:t>2</a:t>
            </a:r>
            <a:r>
              <a:rPr lang="zh-CN" altLang="en-US" dirty="0"/>
              <a:t>字节。检验和字段检验的范围包括首部和数据这两部分。在计算检验和时，要在</a:t>
            </a:r>
            <a:r>
              <a:rPr lang="en-US" altLang="zh-CN" dirty="0"/>
              <a:t>TCP</a:t>
            </a:r>
            <a:r>
              <a:rPr lang="zh-CN" altLang="en-US" dirty="0"/>
              <a:t>报文段的前面加上</a:t>
            </a:r>
            <a:r>
              <a:rPr lang="en-US" altLang="zh-CN" dirty="0"/>
              <a:t>12</a:t>
            </a:r>
            <a:r>
              <a:rPr lang="zh-CN" altLang="en-US" dirty="0"/>
              <a:t>字节的伪首部</a:t>
            </a:r>
          </a:p>
        </p:txBody>
      </p:sp>
      <p:sp>
        <p:nvSpPr>
          <p:cNvPr id="88" name="Line 30"/>
          <p:cNvSpPr>
            <a:spLocks noChangeShapeType="1"/>
          </p:cNvSpPr>
          <p:nvPr/>
        </p:nvSpPr>
        <p:spPr bwMode="auto">
          <a:xfrm>
            <a:off x="3135313" y="3767139"/>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0" name="Line 31"/>
          <p:cNvSpPr>
            <a:spLocks noChangeShapeType="1"/>
          </p:cNvSpPr>
          <p:nvPr/>
        </p:nvSpPr>
        <p:spPr bwMode="auto">
          <a:xfrm>
            <a:off x="5062538" y="3759202"/>
            <a:ext cx="0" cy="6842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1" name="Line 32"/>
          <p:cNvSpPr>
            <a:spLocks noChangeShapeType="1"/>
          </p:cNvSpPr>
          <p:nvPr/>
        </p:nvSpPr>
        <p:spPr bwMode="auto">
          <a:xfrm>
            <a:off x="4572001" y="3761583"/>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2" name="Line 33"/>
          <p:cNvSpPr>
            <a:spLocks noChangeShapeType="1"/>
          </p:cNvSpPr>
          <p:nvPr/>
        </p:nvSpPr>
        <p:spPr bwMode="auto">
          <a:xfrm>
            <a:off x="4813300"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3" name="Line 34"/>
          <p:cNvSpPr>
            <a:spLocks noChangeShapeType="1"/>
          </p:cNvSpPr>
          <p:nvPr/>
        </p:nvSpPr>
        <p:spPr bwMode="auto">
          <a:xfrm>
            <a:off x="5543550"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4" name="Line 35"/>
          <p:cNvSpPr>
            <a:spLocks noChangeShapeType="1"/>
          </p:cNvSpPr>
          <p:nvPr/>
        </p:nvSpPr>
        <p:spPr bwMode="auto">
          <a:xfrm>
            <a:off x="5302250"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5" name="Line 36"/>
          <p:cNvSpPr>
            <a:spLocks noChangeShapeType="1"/>
          </p:cNvSpPr>
          <p:nvPr/>
        </p:nvSpPr>
        <p:spPr bwMode="auto">
          <a:xfrm>
            <a:off x="5788025"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6" name="Rectangle 37"/>
          <p:cNvSpPr>
            <a:spLocks noChangeArrowheads="1"/>
          </p:cNvSpPr>
          <p:nvPr/>
        </p:nvSpPr>
        <p:spPr bwMode="auto">
          <a:xfrm>
            <a:off x="3198280" y="3867686"/>
            <a:ext cx="72548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保留</a:t>
            </a:r>
          </a:p>
        </p:txBody>
      </p:sp>
      <p:sp>
        <p:nvSpPr>
          <p:cNvPr id="103" name="Line 32"/>
          <p:cNvSpPr>
            <a:spLocks noChangeShapeType="1"/>
          </p:cNvSpPr>
          <p:nvPr/>
        </p:nvSpPr>
        <p:spPr bwMode="auto">
          <a:xfrm>
            <a:off x="4079776" y="3757614"/>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04" name="Line 33"/>
          <p:cNvSpPr>
            <a:spLocks noChangeShapeType="1"/>
          </p:cNvSpPr>
          <p:nvPr/>
        </p:nvSpPr>
        <p:spPr bwMode="auto">
          <a:xfrm>
            <a:off x="4314850" y="3768726"/>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 name="Rectangle 82">
            <a:extLst>
              <a:ext uri="{FF2B5EF4-FFF2-40B4-BE49-F238E27FC236}">
                <a16:creationId xmlns:a16="http://schemas.microsoft.com/office/drawing/2014/main" id="{21FC58DC-8324-2AA6-6700-9921C418C7B9}"/>
              </a:ext>
            </a:extLst>
          </p:cNvPr>
          <p:cNvSpPr>
            <a:spLocks noChangeArrowheads="1"/>
          </p:cNvSpPr>
          <p:nvPr/>
        </p:nvSpPr>
        <p:spPr bwMode="auto">
          <a:xfrm>
            <a:off x="1812925" y="908720"/>
            <a:ext cx="8261878"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位 </a:t>
            </a:r>
            <a:r>
              <a:rPr lang="en-US" altLang="zh-CN" sz="2000" dirty="0">
                <a:latin typeface="+mn-lt"/>
                <a:ea typeface="微软雅黑 Light" panose="020B0502040204020203" pitchFamily="34" charset="-122"/>
              </a:rPr>
              <a:t>0                           8                           16                          24                          31</a:t>
            </a:r>
          </a:p>
        </p:txBody>
      </p:sp>
      <p:sp>
        <p:nvSpPr>
          <p:cNvPr id="3" name="Rectangle 38">
            <a:extLst>
              <a:ext uri="{FF2B5EF4-FFF2-40B4-BE49-F238E27FC236}">
                <a16:creationId xmlns:a16="http://schemas.microsoft.com/office/drawing/2014/main" id="{AFFAD675-7279-18E7-7BE6-254F716D5C9C}"/>
              </a:ext>
            </a:extLst>
          </p:cNvPr>
          <p:cNvSpPr>
            <a:spLocks noChangeArrowheads="1"/>
          </p:cNvSpPr>
          <p:nvPr/>
        </p:nvSpPr>
        <p:spPr bwMode="auto">
          <a:xfrm rot="16200000">
            <a:off x="5648208" y="3940115"/>
            <a:ext cx="535405"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lnSpc>
                <a:spcPct val="75000"/>
              </a:lnSpc>
            </a:pPr>
            <a:r>
              <a:rPr lang="en-US" altLang="zh-CN" sz="1600" b="1" dirty="0">
                <a:latin typeface="+mn-lt"/>
                <a:ea typeface="微软雅黑 Light" panose="020B0502040204020203" pitchFamily="34" charset="-122"/>
              </a:rPr>
              <a:t>FIN</a:t>
            </a:r>
          </a:p>
        </p:txBody>
      </p:sp>
      <p:sp>
        <p:nvSpPr>
          <p:cNvPr id="4" name="Rectangle 77">
            <a:extLst>
              <a:ext uri="{FF2B5EF4-FFF2-40B4-BE49-F238E27FC236}">
                <a16:creationId xmlns:a16="http://schemas.microsoft.com/office/drawing/2014/main" id="{62AF0115-C408-377C-82CC-916CBF521D6F}"/>
              </a:ext>
            </a:extLst>
          </p:cNvPr>
          <p:cNvSpPr>
            <a:spLocks noChangeArrowheads="1"/>
          </p:cNvSpPr>
          <p:nvPr/>
        </p:nvSpPr>
        <p:spPr bwMode="auto">
          <a:xfrm rot="16200000">
            <a:off x="5401703" y="3936764"/>
            <a:ext cx="591510"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SYN</a:t>
            </a:r>
          </a:p>
        </p:txBody>
      </p:sp>
      <p:sp>
        <p:nvSpPr>
          <p:cNvPr id="5" name="Rectangle 78">
            <a:extLst>
              <a:ext uri="{FF2B5EF4-FFF2-40B4-BE49-F238E27FC236}">
                <a16:creationId xmlns:a16="http://schemas.microsoft.com/office/drawing/2014/main" id="{EA31CE40-47EA-EC77-7268-A99520E2FBF5}"/>
              </a:ext>
            </a:extLst>
          </p:cNvPr>
          <p:cNvSpPr>
            <a:spLocks noChangeArrowheads="1"/>
          </p:cNvSpPr>
          <p:nvPr/>
        </p:nvSpPr>
        <p:spPr bwMode="auto">
          <a:xfrm rot="16200000">
            <a:off x="5115446" y="3917780"/>
            <a:ext cx="618290"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RST</a:t>
            </a:r>
          </a:p>
        </p:txBody>
      </p:sp>
      <p:sp>
        <p:nvSpPr>
          <p:cNvPr id="6" name="Rectangle 79">
            <a:extLst>
              <a:ext uri="{FF2B5EF4-FFF2-40B4-BE49-F238E27FC236}">
                <a16:creationId xmlns:a16="http://schemas.microsoft.com/office/drawing/2014/main" id="{E656AF02-0FFA-596B-D791-9EC518816DE4}"/>
              </a:ext>
            </a:extLst>
          </p:cNvPr>
          <p:cNvSpPr>
            <a:spLocks noChangeArrowheads="1"/>
          </p:cNvSpPr>
          <p:nvPr/>
        </p:nvSpPr>
        <p:spPr bwMode="auto">
          <a:xfrm rot="16200000">
            <a:off x="4890356" y="3938731"/>
            <a:ext cx="600108"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PSH  </a:t>
            </a:r>
          </a:p>
        </p:txBody>
      </p:sp>
      <p:sp>
        <p:nvSpPr>
          <p:cNvPr id="7" name="Rectangle 80">
            <a:extLst>
              <a:ext uri="{FF2B5EF4-FFF2-40B4-BE49-F238E27FC236}">
                <a16:creationId xmlns:a16="http://schemas.microsoft.com/office/drawing/2014/main" id="{D3A08D12-4706-21DC-CFD8-63FCE11A6465}"/>
              </a:ext>
            </a:extLst>
          </p:cNvPr>
          <p:cNvSpPr>
            <a:spLocks noChangeArrowheads="1"/>
          </p:cNvSpPr>
          <p:nvPr/>
        </p:nvSpPr>
        <p:spPr bwMode="auto">
          <a:xfrm rot="16200000">
            <a:off x="4579000" y="3916214"/>
            <a:ext cx="730250"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ACK</a:t>
            </a:r>
          </a:p>
        </p:txBody>
      </p:sp>
      <p:sp>
        <p:nvSpPr>
          <p:cNvPr id="8" name="Rectangle 81">
            <a:extLst>
              <a:ext uri="{FF2B5EF4-FFF2-40B4-BE49-F238E27FC236}">
                <a16:creationId xmlns:a16="http://schemas.microsoft.com/office/drawing/2014/main" id="{DAD7E1F8-6AD8-DBAF-AA88-12F292DC15D8}"/>
              </a:ext>
            </a:extLst>
          </p:cNvPr>
          <p:cNvSpPr>
            <a:spLocks noChangeArrowheads="1"/>
          </p:cNvSpPr>
          <p:nvPr/>
        </p:nvSpPr>
        <p:spPr bwMode="auto">
          <a:xfrm rot="16200000">
            <a:off x="4342408" y="3894364"/>
            <a:ext cx="761997"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URG</a:t>
            </a:r>
          </a:p>
        </p:txBody>
      </p:sp>
      <p:sp>
        <p:nvSpPr>
          <p:cNvPr id="9" name="Rectangle 81">
            <a:extLst>
              <a:ext uri="{FF2B5EF4-FFF2-40B4-BE49-F238E27FC236}">
                <a16:creationId xmlns:a16="http://schemas.microsoft.com/office/drawing/2014/main" id="{EACE6BFB-EF50-A99A-9523-5E9FD93D8EBB}"/>
              </a:ext>
            </a:extLst>
          </p:cNvPr>
          <p:cNvSpPr>
            <a:spLocks noChangeArrowheads="1"/>
          </p:cNvSpPr>
          <p:nvPr/>
        </p:nvSpPr>
        <p:spPr bwMode="auto">
          <a:xfrm rot="16200000">
            <a:off x="3855770" y="3928543"/>
            <a:ext cx="721634"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CWR</a:t>
            </a:r>
          </a:p>
        </p:txBody>
      </p:sp>
      <p:sp>
        <p:nvSpPr>
          <p:cNvPr id="10" name="Rectangle 81">
            <a:extLst>
              <a:ext uri="{FF2B5EF4-FFF2-40B4-BE49-F238E27FC236}">
                <a16:creationId xmlns:a16="http://schemas.microsoft.com/office/drawing/2014/main" id="{A404F0F1-90E5-0F62-6573-8F766C48BF24}"/>
              </a:ext>
            </a:extLst>
          </p:cNvPr>
          <p:cNvSpPr>
            <a:spLocks noChangeArrowheads="1"/>
          </p:cNvSpPr>
          <p:nvPr/>
        </p:nvSpPr>
        <p:spPr bwMode="auto">
          <a:xfrm rot="16200000">
            <a:off x="4124919" y="3912163"/>
            <a:ext cx="704221"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ECE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4949"/>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80494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4949" grpId="0" animBg="1"/>
      <p:bldP spid="804949" grpId="1"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Rectangle 13"/>
          <p:cNvSpPr>
            <a:spLocks noChangeArrowheads="1"/>
          </p:cNvSpPr>
          <p:nvPr/>
        </p:nvSpPr>
        <p:spPr bwMode="auto">
          <a:xfrm>
            <a:off x="2178050" y="1665289"/>
            <a:ext cx="7686675" cy="4133850"/>
          </a:xfrm>
          <a:prstGeom prst="rect">
            <a:avLst/>
          </a:prstGeom>
          <a:solidFill>
            <a:schemeClr val="bg2"/>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170" name="Line 9"/>
          <p:cNvSpPr>
            <a:spLocks noChangeShapeType="1"/>
          </p:cNvSpPr>
          <p:nvPr/>
        </p:nvSpPr>
        <p:spPr bwMode="auto">
          <a:xfrm flipH="1">
            <a:off x="1852613" y="1668464"/>
            <a:ext cx="17463" cy="4122738"/>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2" name="Line 11"/>
          <p:cNvSpPr>
            <a:spLocks noChangeShapeType="1"/>
          </p:cNvSpPr>
          <p:nvPr/>
        </p:nvSpPr>
        <p:spPr bwMode="auto">
          <a:xfrm>
            <a:off x="10272713" y="1658939"/>
            <a:ext cx="0" cy="3463925"/>
          </a:xfrm>
          <a:prstGeom prst="line">
            <a:avLst/>
          </a:prstGeom>
          <a:noFill/>
          <a:ln w="1905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3" name="Rectangle 12"/>
          <p:cNvSpPr>
            <a:spLocks noChangeArrowheads="1"/>
          </p:cNvSpPr>
          <p:nvPr/>
        </p:nvSpPr>
        <p:spPr bwMode="auto">
          <a:xfrm>
            <a:off x="9909175" y="2736852"/>
            <a:ext cx="695325" cy="119697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lnSpc>
                <a:spcPct val="90000"/>
              </a:lnSpc>
            </a:pPr>
            <a:r>
              <a:rPr lang="en-US" altLang="zh-CN" sz="2000">
                <a:latin typeface="+mn-lt"/>
                <a:ea typeface="微软雅黑 Light" panose="020B0502040204020203" pitchFamily="34" charset="-122"/>
              </a:rPr>
              <a:t>20</a:t>
            </a:r>
          </a:p>
          <a:p>
            <a:pPr algn="ctr" eaLnBrk="0" hangingPunct="0">
              <a:lnSpc>
                <a:spcPct val="90000"/>
              </a:lnSpc>
            </a:pPr>
            <a:r>
              <a:rPr lang="zh-CN" altLang="en-US" sz="2000">
                <a:latin typeface="+mn-lt"/>
                <a:ea typeface="微软雅黑 Light" panose="020B0502040204020203" pitchFamily="34" charset="-122"/>
              </a:rPr>
              <a:t>字节</a:t>
            </a:r>
          </a:p>
          <a:p>
            <a:pPr algn="ctr" eaLnBrk="0" hangingPunct="0">
              <a:lnSpc>
                <a:spcPct val="90000"/>
              </a:lnSpc>
            </a:pPr>
            <a:r>
              <a:rPr lang="zh-CN" altLang="en-US" sz="2000">
                <a:latin typeface="+mn-lt"/>
                <a:ea typeface="微软雅黑 Light" panose="020B0502040204020203" pitchFamily="34" charset="-122"/>
              </a:rPr>
              <a:t>固定</a:t>
            </a:r>
          </a:p>
          <a:p>
            <a:pPr algn="ctr" eaLnBrk="0" hangingPunct="0">
              <a:lnSpc>
                <a:spcPct val="90000"/>
              </a:lnSpc>
            </a:pPr>
            <a:r>
              <a:rPr lang="zh-CN" altLang="en-US" sz="2000">
                <a:latin typeface="+mn-lt"/>
                <a:ea typeface="微软雅黑 Light" panose="020B0502040204020203" pitchFamily="34" charset="-122"/>
              </a:rPr>
              <a:t>首部</a:t>
            </a:r>
          </a:p>
        </p:txBody>
      </p:sp>
      <p:sp>
        <p:nvSpPr>
          <p:cNvPr id="175" name="Line 14"/>
          <p:cNvSpPr>
            <a:spLocks noChangeShapeType="1"/>
          </p:cNvSpPr>
          <p:nvPr/>
        </p:nvSpPr>
        <p:spPr bwMode="auto">
          <a:xfrm>
            <a:off x="2170113" y="2368552"/>
            <a:ext cx="76993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6" name="Line 15"/>
          <p:cNvSpPr>
            <a:spLocks noChangeShapeType="1"/>
          </p:cNvSpPr>
          <p:nvPr/>
        </p:nvSpPr>
        <p:spPr bwMode="auto">
          <a:xfrm>
            <a:off x="2184400" y="3063877"/>
            <a:ext cx="768508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7" name="Line 16"/>
          <p:cNvSpPr>
            <a:spLocks noChangeShapeType="1"/>
          </p:cNvSpPr>
          <p:nvPr/>
        </p:nvSpPr>
        <p:spPr bwMode="auto">
          <a:xfrm>
            <a:off x="2170113" y="3757614"/>
            <a:ext cx="76993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8" name="Line 17"/>
          <p:cNvSpPr>
            <a:spLocks noChangeShapeType="1"/>
          </p:cNvSpPr>
          <p:nvPr/>
        </p:nvSpPr>
        <p:spPr bwMode="auto">
          <a:xfrm>
            <a:off x="2170113" y="4449764"/>
            <a:ext cx="76993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9" name="Line 18"/>
          <p:cNvSpPr>
            <a:spLocks noChangeShapeType="1"/>
          </p:cNvSpPr>
          <p:nvPr/>
        </p:nvSpPr>
        <p:spPr bwMode="auto">
          <a:xfrm>
            <a:off x="2184400" y="5145089"/>
            <a:ext cx="768508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80" name="Line 19"/>
          <p:cNvSpPr>
            <a:spLocks noChangeShapeType="1"/>
          </p:cNvSpPr>
          <p:nvPr/>
        </p:nvSpPr>
        <p:spPr bwMode="auto">
          <a:xfrm>
            <a:off x="6022975" y="1673227"/>
            <a:ext cx="0" cy="7096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81" name="Rectangle 20"/>
          <p:cNvSpPr>
            <a:spLocks noChangeArrowheads="1"/>
          </p:cNvSpPr>
          <p:nvPr/>
        </p:nvSpPr>
        <p:spPr bwMode="auto">
          <a:xfrm>
            <a:off x="7223125" y="1800227"/>
            <a:ext cx="1593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目  的  端  口</a:t>
            </a:r>
          </a:p>
        </p:txBody>
      </p:sp>
      <p:sp>
        <p:nvSpPr>
          <p:cNvPr id="182" name="Rectangle 21"/>
          <p:cNvSpPr>
            <a:spLocks noChangeArrowheads="1"/>
          </p:cNvSpPr>
          <p:nvPr/>
        </p:nvSpPr>
        <p:spPr bwMode="auto">
          <a:xfrm>
            <a:off x="2332038" y="3722689"/>
            <a:ext cx="695325" cy="704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数据</a:t>
            </a:r>
          </a:p>
          <a:p>
            <a:pPr eaLnBrk="0" hangingPunct="0"/>
            <a:r>
              <a:rPr lang="zh-CN" altLang="en-US" sz="2000" dirty="0">
                <a:latin typeface="+mn-lt"/>
                <a:ea typeface="微软雅黑 Light" panose="020B0502040204020203" pitchFamily="34" charset="-122"/>
              </a:rPr>
              <a:t>偏移</a:t>
            </a:r>
          </a:p>
        </p:txBody>
      </p:sp>
      <p:sp>
        <p:nvSpPr>
          <p:cNvPr id="183" name="Rectangle 22"/>
          <p:cNvSpPr>
            <a:spLocks noChangeArrowheads="1"/>
          </p:cNvSpPr>
          <p:nvPr/>
        </p:nvSpPr>
        <p:spPr bwMode="auto">
          <a:xfrm>
            <a:off x="3411538" y="4587877"/>
            <a:ext cx="13366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检   验   和</a:t>
            </a:r>
          </a:p>
        </p:txBody>
      </p:sp>
      <p:sp>
        <p:nvSpPr>
          <p:cNvPr id="184" name="Rectangle 23"/>
          <p:cNvSpPr>
            <a:spLocks noChangeArrowheads="1"/>
          </p:cNvSpPr>
          <p:nvPr/>
        </p:nvSpPr>
        <p:spPr bwMode="auto">
          <a:xfrm>
            <a:off x="3694113" y="5237164"/>
            <a:ext cx="31988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选    项 长  度  可  变）</a:t>
            </a:r>
          </a:p>
        </p:txBody>
      </p:sp>
      <p:sp>
        <p:nvSpPr>
          <p:cNvPr id="185" name="Rectangle 24"/>
          <p:cNvSpPr>
            <a:spLocks noChangeArrowheads="1"/>
          </p:cNvSpPr>
          <p:nvPr/>
        </p:nvSpPr>
        <p:spPr bwMode="auto">
          <a:xfrm>
            <a:off x="3525838" y="1800227"/>
            <a:ext cx="12541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源  端  口</a:t>
            </a:r>
          </a:p>
        </p:txBody>
      </p:sp>
      <p:sp>
        <p:nvSpPr>
          <p:cNvPr id="186" name="Rectangle 25"/>
          <p:cNvSpPr>
            <a:spLocks noChangeArrowheads="1"/>
          </p:cNvSpPr>
          <p:nvPr/>
        </p:nvSpPr>
        <p:spPr bwMode="auto">
          <a:xfrm>
            <a:off x="5578475" y="2487614"/>
            <a:ext cx="1381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序   号</a:t>
            </a:r>
          </a:p>
        </p:txBody>
      </p:sp>
      <p:sp>
        <p:nvSpPr>
          <p:cNvPr id="187" name="Line 26"/>
          <p:cNvSpPr>
            <a:spLocks noChangeShapeType="1"/>
          </p:cNvSpPr>
          <p:nvPr/>
        </p:nvSpPr>
        <p:spPr bwMode="auto">
          <a:xfrm>
            <a:off x="6029325" y="3767139"/>
            <a:ext cx="0" cy="13700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88" name="Rectangle 27"/>
          <p:cNvSpPr>
            <a:spLocks noChangeArrowheads="1"/>
          </p:cNvSpPr>
          <p:nvPr/>
        </p:nvSpPr>
        <p:spPr bwMode="auto">
          <a:xfrm>
            <a:off x="7062788" y="4587877"/>
            <a:ext cx="17859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紧   急   指   针</a:t>
            </a:r>
          </a:p>
        </p:txBody>
      </p:sp>
      <p:sp>
        <p:nvSpPr>
          <p:cNvPr id="189" name="Rectangle 28"/>
          <p:cNvSpPr>
            <a:spLocks noChangeArrowheads="1"/>
          </p:cNvSpPr>
          <p:nvPr/>
        </p:nvSpPr>
        <p:spPr bwMode="auto">
          <a:xfrm>
            <a:off x="7512050" y="3868739"/>
            <a:ext cx="9223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窗   口</a:t>
            </a:r>
          </a:p>
        </p:txBody>
      </p:sp>
      <p:sp>
        <p:nvSpPr>
          <p:cNvPr id="190" name="Rectangle 29"/>
          <p:cNvSpPr>
            <a:spLocks noChangeArrowheads="1"/>
          </p:cNvSpPr>
          <p:nvPr/>
        </p:nvSpPr>
        <p:spPr bwMode="auto">
          <a:xfrm>
            <a:off x="5334000" y="3211514"/>
            <a:ext cx="18415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确    认    号</a:t>
            </a:r>
          </a:p>
        </p:txBody>
      </p:sp>
      <p:sp>
        <p:nvSpPr>
          <p:cNvPr id="200" name="Line 39"/>
          <p:cNvSpPr>
            <a:spLocks noChangeShapeType="1"/>
          </p:cNvSpPr>
          <p:nvPr/>
        </p:nvSpPr>
        <p:spPr bwMode="auto">
          <a:xfrm>
            <a:off x="2174875" y="1508127"/>
            <a:ext cx="767556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1" name="Line 40"/>
          <p:cNvSpPr>
            <a:spLocks noChangeShapeType="1"/>
          </p:cNvSpPr>
          <p:nvPr/>
        </p:nvSpPr>
        <p:spPr bwMode="auto">
          <a:xfrm>
            <a:off x="2174875"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2" name="Line 41"/>
          <p:cNvSpPr>
            <a:spLocks noChangeShapeType="1"/>
          </p:cNvSpPr>
          <p:nvPr/>
        </p:nvSpPr>
        <p:spPr bwMode="auto">
          <a:xfrm>
            <a:off x="241458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3" name="Line 42"/>
          <p:cNvSpPr>
            <a:spLocks noChangeShapeType="1"/>
          </p:cNvSpPr>
          <p:nvPr/>
        </p:nvSpPr>
        <p:spPr bwMode="auto">
          <a:xfrm>
            <a:off x="2654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4" name="Line 43"/>
          <p:cNvSpPr>
            <a:spLocks noChangeShapeType="1"/>
          </p:cNvSpPr>
          <p:nvPr/>
        </p:nvSpPr>
        <p:spPr bwMode="auto">
          <a:xfrm>
            <a:off x="289401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5" name="Line 44"/>
          <p:cNvSpPr>
            <a:spLocks noChangeShapeType="1"/>
          </p:cNvSpPr>
          <p:nvPr/>
        </p:nvSpPr>
        <p:spPr bwMode="auto">
          <a:xfrm>
            <a:off x="313531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6" name="Line 45"/>
          <p:cNvSpPr>
            <a:spLocks noChangeShapeType="1"/>
          </p:cNvSpPr>
          <p:nvPr/>
        </p:nvSpPr>
        <p:spPr bwMode="auto">
          <a:xfrm>
            <a:off x="337502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7" name="Line 46"/>
          <p:cNvSpPr>
            <a:spLocks noChangeShapeType="1"/>
          </p:cNvSpPr>
          <p:nvPr/>
        </p:nvSpPr>
        <p:spPr bwMode="auto">
          <a:xfrm>
            <a:off x="361315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8" name="Line 47"/>
          <p:cNvSpPr>
            <a:spLocks noChangeShapeType="1"/>
          </p:cNvSpPr>
          <p:nvPr/>
        </p:nvSpPr>
        <p:spPr bwMode="auto">
          <a:xfrm>
            <a:off x="385286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9" name="Line 48"/>
          <p:cNvSpPr>
            <a:spLocks noChangeShapeType="1"/>
          </p:cNvSpPr>
          <p:nvPr/>
        </p:nvSpPr>
        <p:spPr bwMode="auto">
          <a:xfrm>
            <a:off x="4094163"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0" name="Line 49"/>
          <p:cNvSpPr>
            <a:spLocks noChangeShapeType="1"/>
          </p:cNvSpPr>
          <p:nvPr/>
        </p:nvSpPr>
        <p:spPr bwMode="auto">
          <a:xfrm>
            <a:off x="433387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1" name="Line 50"/>
          <p:cNvSpPr>
            <a:spLocks noChangeShapeType="1"/>
          </p:cNvSpPr>
          <p:nvPr/>
        </p:nvSpPr>
        <p:spPr bwMode="auto">
          <a:xfrm>
            <a:off x="457358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2" name="Line 51"/>
          <p:cNvSpPr>
            <a:spLocks noChangeShapeType="1"/>
          </p:cNvSpPr>
          <p:nvPr/>
        </p:nvSpPr>
        <p:spPr bwMode="auto">
          <a:xfrm>
            <a:off x="4813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3" name="Line 52"/>
          <p:cNvSpPr>
            <a:spLocks noChangeShapeType="1"/>
          </p:cNvSpPr>
          <p:nvPr/>
        </p:nvSpPr>
        <p:spPr bwMode="auto">
          <a:xfrm>
            <a:off x="50546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4" name="Line 53"/>
          <p:cNvSpPr>
            <a:spLocks noChangeShapeType="1"/>
          </p:cNvSpPr>
          <p:nvPr/>
        </p:nvSpPr>
        <p:spPr bwMode="auto">
          <a:xfrm>
            <a:off x="529431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5" name="Line 54"/>
          <p:cNvSpPr>
            <a:spLocks noChangeShapeType="1"/>
          </p:cNvSpPr>
          <p:nvPr/>
        </p:nvSpPr>
        <p:spPr bwMode="auto">
          <a:xfrm>
            <a:off x="553243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6" name="Line 55"/>
          <p:cNvSpPr>
            <a:spLocks noChangeShapeType="1"/>
          </p:cNvSpPr>
          <p:nvPr/>
        </p:nvSpPr>
        <p:spPr bwMode="auto">
          <a:xfrm>
            <a:off x="577215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7" name="Line 56"/>
          <p:cNvSpPr>
            <a:spLocks noChangeShapeType="1"/>
          </p:cNvSpPr>
          <p:nvPr/>
        </p:nvSpPr>
        <p:spPr bwMode="auto">
          <a:xfrm>
            <a:off x="6011863"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8" name="Line 57"/>
          <p:cNvSpPr>
            <a:spLocks noChangeShapeType="1"/>
          </p:cNvSpPr>
          <p:nvPr/>
        </p:nvSpPr>
        <p:spPr bwMode="auto">
          <a:xfrm>
            <a:off x="625316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9" name="Line 58"/>
          <p:cNvSpPr>
            <a:spLocks noChangeShapeType="1"/>
          </p:cNvSpPr>
          <p:nvPr/>
        </p:nvSpPr>
        <p:spPr bwMode="auto">
          <a:xfrm>
            <a:off x="649287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0" name="Line 59"/>
          <p:cNvSpPr>
            <a:spLocks noChangeShapeType="1"/>
          </p:cNvSpPr>
          <p:nvPr/>
        </p:nvSpPr>
        <p:spPr bwMode="auto">
          <a:xfrm>
            <a:off x="673258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1" name="Line 60"/>
          <p:cNvSpPr>
            <a:spLocks noChangeShapeType="1"/>
          </p:cNvSpPr>
          <p:nvPr/>
        </p:nvSpPr>
        <p:spPr bwMode="auto">
          <a:xfrm>
            <a:off x="6972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2" name="Line 61"/>
          <p:cNvSpPr>
            <a:spLocks noChangeShapeType="1"/>
          </p:cNvSpPr>
          <p:nvPr/>
        </p:nvSpPr>
        <p:spPr bwMode="auto">
          <a:xfrm>
            <a:off x="72136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3" name="Line 62"/>
          <p:cNvSpPr>
            <a:spLocks noChangeShapeType="1"/>
          </p:cNvSpPr>
          <p:nvPr/>
        </p:nvSpPr>
        <p:spPr bwMode="auto">
          <a:xfrm>
            <a:off x="745172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4" name="Line 63"/>
          <p:cNvSpPr>
            <a:spLocks noChangeShapeType="1"/>
          </p:cNvSpPr>
          <p:nvPr/>
        </p:nvSpPr>
        <p:spPr bwMode="auto">
          <a:xfrm>
            <a:off x="769143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5" name="Line 64"/>
          <p:cNvSpPr>
            <a:spLocks noChangeShapeType="1"/>
          </p:cNvSpPr>
          <p:nvPr/>
        </p:nvSpPr>
        <p:spPr bwMode="auto">
          <a:xfrm>
            <a:off x="7931150"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6" name="Line 65"/>
          <p:cNvSpPr>
            <a:spLocks noChangeShapeType="1"/>
          </p:cNvSpPr>
          <p:nvPr/>
        </p:nvSpPr>
        <p:spPr bwMode="auto">
          <a:xfrm>
            <a:off x="817086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7" name="Line 66"/>
          <p:cNvSpPr>
            <a:spLocks noChangeShapeType="1"/>
          </p:cNvSpPr>
          <p:nvPr/>
        </p:nvSpPr>
        <p:spPr bwMode="auto">
          <a:xfrm>
            <a:off x="841216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8" name="Line 67"/>
          <p:cNvSpPr>
            <a:spLocks noChangeShapeType="1"/>
          </p:cNvSpPr>
          <p:nvPr/>
        </p:nvSpPr>
        <p:spPr bwMode="auto">
          <a:xfrm>
            <a:off x="865187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9" name="Line 68"/>
          <p:cNvSpPr>
            <a:spLocks noChangeShapeType="1"/>
          </p:cNvSpPr>
          <p:nvPr/>
        </p:nvSpPr>
        <p:spPr bwMode="auto">
          <a:xfrm>
            <a:off x="889158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30" name="Line 69"/>
          <p:cNvSpPr>
            <a:spLocks noChangeShapeType="1"/>
          </p:cNvSpPr>
          <p:nvPr/>
        </p:nvSpPr>
        <p:spPr bwMode="auto">
          <a:xfrm>
            <a:off x="9131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31" name="Line 70"/>
          <p:cNvSpPr>
            <a:spLocks noChangeShapeType="1"/>
          </p:cNvSpPr>
          <p:nvPr/>
        </p:nvSpPr>
        <p:spPr bwMode="auto">
          <a:xfrm>
            <a:off x="937101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32" name="Line 71"/>
          <p:cNvSpPr>
            <a:spLocks noChangeShapeType="1"/>
          </p:cNvSpPr>
          <p:nvPr/>
        </p:nvSpPr>
        <p:spPr bwMode="auto">
          <a:xfrm>
            <a:off x="961072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33" name="Line 72"/>
          <p:cNvSpPr>
            <a:spLocks noChangeShapeType="1"/>
          </p:cNvSpPr>
          <p:nvPr/>
        </p:nvSpPr>
        <p:spPr bwMode="auto">
          <a:xfrm>
            <a:off x="9850438"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34" name="Rectangle 73"/>
          <p:cNvSpPr>
            <a:spLocks noChangeArrowheads="1"/>
          </p:cNvSpPr>
          <p:nvPr/>
        </p:nvSpPr>
        <p:spPr bwMode="auto">
          <a:xfrm>
            <a:off x="2333625"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235" name="Rectangle 74"/>
          <p:cNvSpPr>
            <a:spLocks noChangeArrowheads="1"/>
          </p:cNvSpPr>
          <p:nvPr/>
        </p:nvSpPr>
        <p:spPr bwMode="auto">
          <a:xfrm>
            <a:off x="4252913"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236" name="Rectangle 75"/>
          <p:cNvSpPr>
            <a:spLocks noChangeArrowheads="1"/>
          </p:cNvSpPr>
          <p:nvPr/>
        </p:nvSpPr>
        <p:spPr bwMode="auto">
          <a:xfrm>
            <a:off x="6172200"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237" name="Rectangle 76"/>
          <p:cNvSpPr>
            <a:spLocks noChangeArrowheads="1"/>
          </p:cNvSpPr>
          <p:nvPr/>
        </p:nvSpPr>
        <p:spPr bwMode="auto">
          <a:xfrm>
            <a:off x="8091488"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244" name="Line 83"/>
          <p:cNvSpPr>
            <a:spLocks noChangeShapeType="1"/>
          </p:cNvSpPr>
          <p:nvPr/>
        </p:nvSpPr>
        <p:spPr bwMode="auto">
          <a:xfrm flipH="1">
            <a:off x="7929563" y="5162552"/>
            <a:ext cx="3175" cy="6429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245" name="Rectangle 84"/>
          <p:cNvSpPr>
            <a:spLocks noChangeArrowheads="1"/>
          </p:cNvSpPr>
          <p:nvPr/>
        </p:nvSpPr>
        <p:spPr bwMode="auto">
          <a:xfrm>
            <a:off x="8442325" y="5229227"/>
            <a:ext cx="1254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填    充</a:t>
            </a:r>
          </a:p>
        </p:txBody>
      </p:sp>
      <p:sp>
        <p:nvSpPr>
          <p:cNvPr id="246" name="Line 85"/>
          <p:cNvSpPr>
            <a:spLocks noChangeShapeType="1"/>
          </p:cNvSpPr>
          <p:nvPr/>
        </p:nvSpPr>
        <p:spPr bwMode="auto">
          <a:xfrm>
            <a:off x="9971088" y="1641477"/>
            <a:ext cx="5175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247" name="Line 86"/>
          <p:cNvSpPr>
            <a:spLocks noChangeShapeType="1"/>
          </p:cNvSpPr>
          <p:nvPr/>
        </p:nvSpPr>
        <p:spPr bwMode="auto">
          <a:xfrm>
            <a:off x="9971088" y="5137152"/>
            <a:ext cx="5175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248" name="Line 87"/>
          <p:cNvSpPr>
            <a:spLocks noChangeShapeType="1"/>
          </p:cNvSpPr>
          <p:nvPr/>
        </p:nvSpPr>
        <p:spPr bwMode="auto">
          <a:xfrm>
            <a:off x="1582738" y="1679577"/>
            <a:ext cx="5302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249" name="Line 88"/>
          <p:cNvSpPr>
            <a:spLocks noChangeShapeType="1"/>
          </p:cNvSpPr>
          <p:nvPr/>
        </p:nvSpPr>
        <p:spPr bwMode="auto">
          <a:xfrm>
            <a:off x="1597025" y="5780089"/>
            <a:ext cx="5302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89" name="灯片编号占位符 5"/>
          <p:cNvSpPr>
            <a:spLocks noGrp="1"/>
          </p:cNvSpPr>
          <p:nvPr>
            <p:ph type="sldNum" sz="quarter" idx="12"/>
          </p:nvPr>
        </p:nvSpPr>
        <p:spPr/>
        <p:txBody>
          <a:bodyPr/>
          <a:lstStyle/>
          <a:p>
            <a:fld id="{69B54E8D-5A8A-4D73-B5FB-091076508C02}" type="slidenum">
              <a:rPr lang="en-US" altLang="zh-CN"/>
              <a:t>48</a:t>
            </a:fld>
            <a:endParaRPr lang="en-US" altLang="zh-CN"/>
          </a:p>
        </p:txBody>
      </p:sp>
      <p:sp>
        <p:nvSpPr>
          <p:cNvPr id="805891" name="Rectangle 3"/>
          <p:cNvSpPr>
            <a:spLocks noGrp="1" noChangeArrowheads="1"/>
          </p:cNvSpPr>
          <p:nvPr>
            <p:ph type="title"/>
          </p:nvPr>
        </p:nvSpPr>
        <p:spPr>
          <a:noFill/>
        </p:spPr>
        <p:txBody>
          <a:bodyPr/>
          <a:lstStyle/>
          <a:p>
            <a:r>
              <a:rPr lang="en-US" altLang="zh-CN" dirty="0"/>
              <a:t>TCP</a:t>
            </a:r>
            <a:r>
              <a:rPr lang="zh-CN" altLang="en-US" dirty="0"/>
              <a:t>的报头字段</a:t>
            </a:r>
            <a:endParaRPr lang="en-US" altLang="zh-CN" dirty="0"/>
          </a:p>
        </p:txBody>
      </p:sp>
      <p:sp>
        <p:nvSpPr>
          <p:cNvPr id="805973" name="Rectangle 85"/>
          <p:cNvSpPr>
            <a:spLocks noChangeArrowheads="1"/>
          </p:cNvSpPr>
          <p:nvPr/>
        </p:nvSpPr>
        <p:spPr bwMode="auto">
          <a:xfrm>
            <a:off x="6056313" y="4413250"/>
            <a:ext cx="3852862" cy="717550"/>
          </a:xfrm>
          <a:prstGeom prst="rect">
            <a:avLst/>
          </a:prstGeom>
          <a:noFill/>
          <a:ln w="7620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805974" name="Text Box 86"/>
          <p:cNvSpPr txBox="1">
            <a:spLocks noChangeArrowheads="1"/>
          </p:cNvSpPr>
          <p:nvPr/>
        </p:nvSpPr>
        <p:spPr bwMode="auto">
          <a:xfrm>
            <a:off x="1244913" y="5900738"/>
            <a:ext cx="10080000" cy="707886"/>
          </a:xfrm>
          <a:prstGeom prst="rect">
            <a:avLst/>
          </a:prstGeom>
          <a:noFill/>
          <a:ln>
            <a:noFill/>
          </a:ln>
          <a:effectLst/>
        </p:spPr>
        <p:txBody>
          <a:bodyPr wrap="square">
            <a:spAutoFit/>
          </a:bodyPr>
          <a:lstStyle>
            <a:defPPr>
              <a:defRPr lang="zh-CN"/>
            </a:defPPr>
            <a:lvl1pPr>
              <a:defRPr>
                <a:latin typeface="微软雅黑 Light" panose="020B0502040204020203" pitchFamily="34" charset="-122"/>
                <a:ea typeface="微软雅黑 Light" panose="020B0502040204020203" pitchFamily="34" charset="-122"/>
              </a:defRPr>
            </a:lvl1pPr>
          </a:lstStyle>
          <a:p>
            <a:pPr marL="342900" indent="-342900">
              <a:buFont typeface="Wingdings" panose="05000000000000000000" pitchFamily="2" charset="2"/>
              <a:buChar char="Ø"/>
            </a:pPr>
            <a:r>
              <a:rPr lang="zh-CN" altLang="en-US" dirty="0"/>
              <a:t>紧急指针：</a:t>
            </a:r>
            <a:r>
              <a:rPr lang="en-US" altLang="zh-CN" dirty="0"/>
              <a:t>16</a:t>
            </a:r>
            <a:r>
              <a:rPr lang="zh-CN" altLang="en-US" dirty="0"/>
              <a:t>位偏移量，指出在本报文段中紧急数据共有多少个字节</a:t>
            </a:r>
            <a:r>
              <a:rPr lang="en-US" altLang="zh-CN" dirty="0"/>
              <a:t>(</a:t>
            </a:r>
            <a:r>
              <a:rPr lang="zh-CN" altLang="en-US" dirty="0"/>
              <a:t>紧急数据放在本报文段数据的最前面</a:t>
            </a:r>
            <a:r>
              <a:rPr lang="en-US" altLang="zh-CN" dirty="0"/>
              <a:t>)</a:t>
            </a:r>
            <a:r>
              <a:rPr lang="zh-CN" altLang="en-US" dirty="0"/>
              <a:t>，和序号字段中的值相加表示紧急数据最后一个字节的序号</a:t>
            </a:r>
          </a:p>
        </p:txBody>
      </p:sp>
      <p:sp>
        <p:nvSpPr>
          <p:cNvPr id="88" name="Line 30"/>
          <p:cNvSpPr>
            <a:spLocks noChangeShapeType="1"/>
          </p:cNvSpPr>
          <p:nvPr/>
        </p:nvSpPr>
        <p:spPr bwMode="auto">
          <a:xfrm>
            <a:off x="3135313" y="3767139"/>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0" name="Line 31"/>
          <p:cNvSpPr>
            <a:spLocks noChangeShapeType="1"/>
          </p:cNvSpPr>
          <p:nvPr/>
        </p:nvSpPr>
        <p:spPr bwMode="auto">
          <a:xfrm>
            <a:off x="5062538" y="3759202"/>
            <a:ext cx="0" cy="6842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1" name="Line 32"/>
          <p:cNvSpPr>
            <a:spLocks noChangeShapeType="1"/>
          </p:cNvSpPr>
          <p:nvPr/>
        </p:nvSpPr>
        <p:spPr bwMode="auto">
          <a:xfrm>
            <a:off x="4572001" y="3761583"/>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2" name="Line 33"/>
          <p:cNvSpPr>
            <a:spLocks noChangeShapeType="1"/>
          </p:cNvSpPr>
          <p:nvPr/>
        </p:nvSpPr>
        <p:spPr bwMode="auto">
          <a:xfrm>
            <a:off x="4813300"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3" name="Line 34"/>
          <p:cNvSpPr>
            <a:spLocks noChangeShapeType="1"/>
          </p:cNvSpPr>
          <p:nvPr/>
        </p:nvSpPr>
        <p:spPr bwMode="auto">
          <a:xfrm>
            <a:off x="5543550"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4" name="Line 35"/>
          <p:cNvSpPr>
            <a:spLocks noChangeShapeType="1"/>
          </p:cNvSpPr>
          <p:nvPr/>
        </p:nvSpPr>
        <p:spPr bwMode="auto">
          <a:xfrm>
            <a:off x="5302250"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5" name="Line 36"/>
          <p:cNvSpPr>
            <a:spLocks noChangeShapeType="1"/>
          </p:cNvSpPr>
          <p:nvPr/>
        </p:nvSpPr>
        <p:spPr bwMode="auto">
          <a:xfrm>
            <a:off x="5788025"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6" name="Rectangle 37"/>
          <p:cNvSpPr>
            <a:spLocks noChangeArrowheads="1"/>
          </p:cNvSpPr>
          <p:nvPr/>
        </p:nvSpPr>
        <p:spPr bwMode="auto">
          <a:xfrm>
            <a:off x="3198280" y="3867686"/>
            <a:ext cx="72548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保留</a:t>
            </a:r>
          </a:p>
        </p:txBody>
      </p:sp>
      <p:sp>
        <p:nvSpPr>
          <p:cNvPr id="103" name="Line 32"/>
          <p:cNvSpPr>
            <a:spLocks noChangeShapeType="1"/>
          </p:cNvSpPr>
          <p:nvPr/>
        </p:nvSpPr>
        <p:spPr bwMode="auto">
          <a:xfrm>
            <a:off x="4079776" y="3757614"/>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04" name="Line 33"/>
          <p:cNvSpPr>
            <a:spLocks noChangeShapeType="1"/>
          </p:cNvSpPr>
          <p:nvPr/>
        </p:nvSpPr>
        <p:spPr bwMode="auto">
          <a:xfrm>
            <a:off x="4314850" y="3768726"/>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 name="Rectangle 82">
            <a:extLst>
              <a:ext uri="{FF2B5EF4-FFF2-40B4-BE49-F238E27FC236}">
                <a16:creationId xmlns:a16="http://schemas.microsoft.com/office/drawing/2014/main" id="{4E5F8E00-83ED-0028-AE9A-C11B741CF001}"/>
              </a:ext>
            </a:extLst>
          </p:cNvPr>
          <p:cNvSpPr>
            <a:spLocks noChangeArrowheads="1"/>
          </p:cNvSpPr>
          <p:nvPr/>
        </p:nvSpPr>
        <p:spPr bwMode="auto">
          <a:xfrm>
            <a:off x="1812925" y="908720"/>
            <a:ext cx="8261878"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位 </a:t>
            </a:r>
            <a:r>
              <a:rPr lang="en-US" altLang="zh-CN" sz="2000" dirty="0">
                <a:latin typeface="+mn-lt"/>
                <a:ea typeface="微软雅黑 Light" panose="020B0502040204020203" pitchFamily="34" charset="-122"/>
              </a:rPr>
              <a:t>0                           8                           16                          24                          31</a:t>
            </a:r>
          </a:p>
        </p:txBody>
      </p:sp>
      <p:sp>
        <p:nvSpPr>
          <p:cNvPr id="171" name="Rectangle 10"/>
          <p:cNvSpPr>
            <a:spLocks noChangeArrowheads="1"/>
          </p:cNvSpPr>
          <p:nvPr/>
        </p:nvSpPr>
        <p:spPr bwMode="auto">
          <a:xfrm>
            <a:off x="1415480" y="3268664"/>
            <a:ext cx="696913" cy="6445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90000"/>
              </a:lnSpc>
            </a:pPr>
            <a:r>
              <a:rPr lang="en-US" altLang="zh-CN" sz="2000" dirty="0">
                <a:latin typeface="+mn-lt"/>
                <a:ea typeface="微软雅黑 Light" panose="020B0502040204020203" pitchFamily="34" charset="-122"/>
              </a:rPr>
              <a:t>TCP</a:t>
            </a:r>
          </a:p>
          <a:p>
            <a:pPr eaLnBrk="0" hangingPunct="0">
              <a:lnSpc>
                <a:spcPct val="90000"/>
              </a:lnSpc>
            </a:pPr>
            <a:r>
              <a:rPr lang="zh-CN" altLang="en-US" sz="2000" dirty="0">
                <a:latin typeface="+mn-lt"/>
                <a:ea typeface="微软雅黑 Light" panose="020B0502040204020203" pitchFamily="34" charset="-122"/>
              </a:rPr>
              <a:t>首部</a:t>
            </a:r>
          </a:p>
        </p:txBody>
      </p:sp>
      <p:sp>
        <p:nvSpPr>
          <p:cNvPr id="27" name="Rectangle 38">
            <a:extLst>
              <a:ext uri="{FF2B5EF4-FFF2-40B4-BE49-F238E27FC236}">
                <a16:creationId xmlns:a16="http://schemas.microsoft.com/office/drawing/2014/main" id="{503DC02B-CB30-9B9E-D729-29BB3DFCD518}"/>
              </a:ext>
            </a:extLst>
          </p:cNvPr>
          <p:cNvSpPr>
            <a:spLocks noChangeArrowheads="1"/>
          </p:cNvSpPr>
          <p:nvPr/>
        </p:nvSpPr>
        <p:spPr bwMode="auto">
          <a:xfrm rot="16200000">
            <a:off x="5648208" y="3940115"/>
            <a:ext cx="535405"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lnSpc>
                <a:spcPct val="75000"/>
              </a:lnSpc>
            </a:pPr>
            <a:r>
              <a:rPr lang="en-US" altLang="zh-CN" sz="1600" b="1" dirty="0">
                <a:latin typeface="+mn-lt"/>
                <a:ea typeface="微软雅黑 Light" panose="020B0502040204020203" pitchFamily="34" charset="-122"/>
              </a:rPr>
              <a:t>FIN</a:t>
            </a:r>
          </a:p>
        </p:txBody>
      </p:sp>
      <p:sp>
        <p:nvSpPr>
          <p:cNvPr id="28" name="Rectangle 77">
            <a:extLst>
              <a:ext uri="{FF2B5EF4-FFF2-40B4-BE49-F238E27FC236}">
                <a16:creationId xmlns:a16="http://schemas.microsoft.com/office/drawing/2014/main" id="{D4C856A3-270D-3E6A-3778-047B80DABF38}"/>
              </a:ext>
            </a:extLst>
          </p:cNvPr>
          <p:cNvSpPr>
            <a:spLocks noChangeArrowheads="1"/>
          </p:cNvSpPr>
          <p:nvPr/>
        </p:nvSpPr>
        <p:spPr bwMode="auto">
          <a:xfrm rot="16200000">
            <a:off x="5401703" y="3936764"/>
            <a:ext cx="591510"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SYN</a:t>
            </a:r>
          </a:p>
        </p:txBody>
      </p:sp>
      <p:sp>
        <p:nvSpPr>
          <p:cNvPr id="29" name="Rectangle 78">
            <a:extLst>
              <a:ext uri="{FF2B5EF4-FFF2-40B4-BE49-F238E27FC236}">
                <a16:creationId xmlns:a16="http://schemas.microsoft.com/office/drawing/2014/main" id="{E6464601-DFB5-74FD-412D-D8FEBB601DEA}"/>
              </a:ext>
            </a:extLst>
          </p:cNvPr>
          <p:cNvSpPr>
            <a:spLocks noChangeArrowheads="1"/>
          </p:cNvSpPr>
          <p:nvPr/>
        </p:nvSpPr>
        <p:spPr bwMode="auto">
          <a:xfrm rot="16200000">
            <a:off x="5115446" y="3917780"/>
            <a:ext cx="618290"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RST</a:t>
            </a:r>
          </a:p>
        </p:txBody>
      </p:sp>
      <p:sp>
        <p:nvSpPr>
          <p:cNvPr id="30" name="Rectangle 79">
            <a:extLst>
              <a:ext uri="{FF2B5EF4-FFF2-40B4-BE49-F238E27FC236}">
                <a16:creationId xmlns:a16="http://schemas.microsoft.com/office/drawing/2014/main" id="{2A1CB3FC-FEEF-AAA4-5057-B828173FFBF5}"/>
              </a:ext>
            </a:extLst>
          </p:cNvPr>
          <p:cNvSpPr>
            <a:spLocks noChangeArrowheads="1"/>
          </p:cNvSpPr>
          <p:nvPr/>
        </p:nvSpPr>
        <p:spPr bwMode="auto">
          <a:xfrm rot="16200000">
            <a:off x="4890356" y="3938731"/>
            <a:ext cx="600108"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PSH  </a:t>
            </a:r>
          </a:p>
        </p:txBody>
      </p:sp>
      <p:sp>
        <p:nvSpPr>
          <p:cNvPr id="31" name="Rectangle 80">
            <a:extLst>
              <a:ext uri="{FF2B5EF4-FFF2-40B4-BE49-F238E27FC236}">
                <a16:creationId xmlns:a16="http://schemas.microsoft.com/office/drawing/2014/main" id="{CEC5D68C-A59D-11C0-77BB-6EFCC7AE3942}"/>
              </a:ext>
            </a:extLst>
          </p:cNvPr>
          <p:cNvSpPr>
            <a:spLocks noChangeArrowheads="1"/>
          </p:cNvSpPr>
          <p:nvPr/>
        </p:nvSpPr>
        <p:spPr bwMode="auto">
          <a:xfrm rot="16200000">
            <a:off x="4579000" y="3916214"/>
            <a:ext cx="730250"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ACK</a:t>
            </a:r>
          </a:p>
        </p:txBody>
      </p:sp>
      <p:sp>
        <p:nvSpPr>
          <p:cNvPr id="32" name="Rectangle 81">
            <a:extLst>
              <a:ext uri="{FF2B5EF4-FFF2-40B4-BE49-F238E27FC236}">
                <a16:creationId xmlns:a16="http://schemas.microsoft.com/office/drawing/2014/main" id="{2514A651-7E63-BF58-4513-F9EDA83E2C5A}"/>
              </a:ext>
            </a:extLst>
          </p:cNvPr>
          <p:cNvSpPr>
            <a:spLocks noChangeArrowheads="1"/>
          </p:cNvSpPr>
          <p:nvPr/>
        </p:nvSpPr>
        <p:spPr bwMode="auto">
          <a:xfrm rot="16200000">
            <a:off x="4342408" y="3894364"/>
            <a:ext cx="761997"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URG</a:t>
            </a:r>
          </a:p>
        </p:txBody>
      </p:sp>
      <p:sp>
        <p:nvSpPr>
          <p:cNvPr id="33" name="Rectangle 81">
            <a:extLst>
              <a:ext uri="{FF2B5EF4-FFF2-40B4-BE49-F238E27FC236}">
                <a16:creationId xmlns:a16="http://schemas.microsoft.com/office/drawing/2014/main" id="{19019545-915C-588C-A27D-3C0DE88CC70F}"/>
              </a:ext>
            </a:extLst>
          </p:cNvPr>
          <p:cNvSpPr>
            <a:spLocks noChangeArrowheads="1"/>
          </p:cNvSpPr>
          <p:nvPr/>
        </p:nvSpPr>
        <p:spPr bwMode="auto">
          <a:xfrm rot="16200000">
            <a:off x="3855770" y="3928543"/>
            <a:ext cx="721634"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CWR</a:t>
            </a:r>
          </a:p>
        </p:txBody>
      </p:sp>
      <p:sp>
        <p:nvSpPr>
          <p:cNvPr id="34" name="Rectangle 81">
            <a:extLst>
              <a:ext uri="{FF2B5EF4-FFF2-40B4-BE49-F238E27FC236}">
                <a16:creationId xmlns:a16="http://schemas.microsoft.com/office/drawing/2014/main" id="{8CD8D761-8F1D-3E04-A80C-BF5049BAD115}"/>
              </a:ext>
            </a:extLst>
          </p:cNvPr>
          <p:cNvSpPr>
            <a:spLocks noChangeArrowheads="1"/>
          </p:cNvSpPr>
          <p:nvPr/>
        </p:nvSpPr>
        <p:spPr bwMode="auto">
          <a:xfrm rot="16200000">
            <a:off x="4124919" y="3912163"/>
            <a:ext cx="704221"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ECE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5973"/>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80597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5973" grpId="0" animBg="1"/>
      <p:bldP spid="805973" grpId="1"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Line 9"/>
          <p:cNvSpPr>
            <a:spLocks noChangeShapeType="1"/>
          </p:cNvSpPr>
          <p:nvPr/>
        </p:nvSpPr>
        <p:spPr bwMode="auto">
          <a:xfrm flipH="1">
            <a:off x="1852613" y="1668464"/>
            <a:ext cx="17463" cy="4122738"/>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1" name="Rectangle 10"/>
          <p:cNvSpPr>
            <a:spLocks noChangeArrowheads="1"/>
          </p:cNvSpPr>
          <p:nvPr/>
        </p:nvSpPr>
        <p:spPr bwMode="auto">
          <a:xfrm>
            <a:off x="1524000" y="3268664"/>
            <a:ext cx="696913" cy="6445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90000"/>
              </a:lnSpc>
            </a:pPr>
            <a:r>
              <a:rPr lang="en-US" altLang="zh-CN" sz="2000" dirty="0">
                <a:latin typeface="+mn-lt"/>
                <a:ea typeface="微软雅黑 Light" panose="020B0502040204020203" pitchFamily="34" charset="-122"/>
              </a:rPr>
              <a:t>TCP</a:t>
            </a:r>
          </a:p>
          <a:p>
            <a:pPr eaLnBrk="0" hangingPunct="0">
              <a:lnSpc>
                <a:spcPct val="90000"/>
              </a:lnSpc>
            </a:pPr>
            <a:r>
              <a:rPr lang="zh-CN" altLang="en-US" sz="2000" dirty="0">
                <a:latin typeface="+mn-lt"/>
                <a:ea typeface="微软雅黑 Light" panose="020B0502040204020203" pitchFamily="34" charset="-122"/>
              </a:rPr>
              <a:t>首部</a:t>
            </a:r>
          </a:p>
        </p:txBody>
      </p:sp>
      <p:sp>
        <p:nvSpPr>
          <p:cNvPr id="172" name="Line 11"/>
          <p:cNvSpPr>
            <a:spLocks noChangeShapeType="1"/>
          </p:cNvSpPr>
          <p:nvPr/>
        </p:nvSpPr>
        <p:spPr bwMode="auto">
          <a:xfrm>
            <a:off x="10272713" y="1658939"/>
            <a:ext cx="0" cy="3463925"/>
          </a:xfrm>
          <a:prstGeom prst="line">
            <a:avLst/>
          </a:prstGeom>
          <a:noFill/>
          <a:ln w="1905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3" name="Rectangle 12"/>
          <p:cNvSpPr>
            <a:spLocks noChangeArrowheads="1"/>
          </p:cNvSpPr>
          <p:nvPr/>
        </p:nvSpPr>
        <p:spPr bwMode="auto">
          <a:xfrm>
            <a:off x="9909175" y="2736852"/>
            <a:ext cx="695325" cy="119697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lnSpc>
                <a:spcPct val="90000"/>
              </a:lnSpc>
            </a:pPr>
            <a:r>
              <a:rPr lang="en-US" altLang="zh-CN" sz="2000">
                <a:latin typeface="+mn-lt"/>
                <a:ea typeface="微软雅黑 Light" panose="020B0502040204020203" pitchFamily="34" charset="-122"/>
              </a:rPr>
              <a:t>20</a:t>
            </a:r>
          </a:p>
          <a:p>
            <a:pPr algn="ctr" eaLnBrk="0" hangingPunct="0">
              <a:lnSpc>
                <a:spcPct val="90000"/>
              </a:lnSpc>
            </a:pPr>
            <a:r>
              <a:rPr lang="zh-CN" altLang="en-US" sz="2000">
                <a:latin typeface="+mn-lt"/>
                <a:ea typeface="微软雅黑 Light" panose="020B0502040204020203" pitchFamily="34" charset="-122"/>
              </a:rPr>
              <a:t>字节</a:t>
            </a:r>
          </a:p>
          <a:p>
            <a:pPr algn="ctr" eaLnBrk="0" hangingPunct="0">
              <a:lnSpc>
                <a:spcPct val="90000"/>
              </a:lnSpc>
            </a:pPr>
            <a:r>
              <a:rPr lang="zh-CN" altLang="en-US" sz="2000">
                <a:latin typeface="+mn-lt"/>
                <a:ea typeface="微软雅黑 Light" panose="020B0502040204020203" pitchFamily="34" charset="-122"/>
              </a:rPr>
              <a:t>固定</a:t>
            </a:r>
          </a:p>
          <a:p>
            <a:pPr algn="ctr" eaLnBrk="0" hangingPunct="0">
              <a:lnSpc>
                <a:spcPct val="90000"/>
              </a:lnSpc>
            </a:pPr>
            <a:r>
              <a:rPr lang="zh-CN" altLang="en-US" sz="2000">
                <a:latin typeface="+mn-lt"/>
                <a:ea typeface="微软雅黑 Light" panose="020B0502040204020203" pitchFamily="34" charset="-122"/>
              </a:rPr>
              <a:t>首部</a:t>
            </a:r>
          </a:p>
        </p:txBody>
      </p:sp>
      <p:sp>
        <p:nvSpPr>
          <p:cNvPr id="174" name="Rectangle 13"/>
          <p:cNvSpPr>
            <a:spLocks noChangeArrowheads="1"/>
          </p:cNvSpPr>
          <p:nvPr/>
        </p:nvSpPr>
        <p:spPr bwMode="auto">
          <a:xfrm>
            <a:off x="2178050" y="1665289"/>
            <a:ext cx="7686675" cy="4133850"/>
          </a:xfrm>
          <a:prstGeom prst="rect">
            <a:avLst/>
          </a:prstGeom>
          <a:solidFill>
            <a:schemeClr val="bg2"/>
          </a:soli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175" name="Line 14"/>
          <p:cNvSpPr>
            <a:spLocks noChangeShapeType="1"/>
          </p:cNvSpPr>
          <p:nvPr/>
        </p:nvSpPr>
        <p:spPr bwMode="auto">
          <a:xfrm>
            <a:off x="2170113" y="2368552"/>
            <a:ext cx="76993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6" name="Line 15"/>
          <p:cNvSpPr>
            <a:spLocks noChangeShapeType="1"/>
          </p:cNvSpPr>
          <p:nvPr/>
        </p:nvSpPr>
        <p:spPr bwMode="auto">
          <a:xfrm>
            <a:off x="2184400" y="3063877"/>
            <a:ext cx="768508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7" name="Line 16"/>
          <p:cNvSpPr>
            <a:spLocks noChangeShapeType="1"/>
          </p:cNvSpPr>
          <p:nvPr/>
        </p:nvSpPr>
        <p:spPr bwMode="auto">
          <a:xfrm>
            <a:off x="2170113" y="3757614"/>
            <a:ext cx="76993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8" name="Line 17"/>
          <p:cNvSpPr>
            <a:spLocks noChangeShapeType="1"/>
          </p:cNvSpPr>
          <p:nvPr/>
        </p:nvSpPr>
        <p:spPr bwMode="auto">
          <a:xfrm>
            <a:off x="2170113" y="4449764"/>
            <a:ext cx="76993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79" name="Line 18"/>
          <p:cNvSpPr>
            <a:spLocks noChangeShapeType="1"/>
          </p:cNvSpPr>
          <p:nvPr/>
        </p:nvSpPr>
        <p:spPr bwMode="auto">
          <a:xfrm>
            <a:off x="2184400" y="5145089"/>
            <a:ext cx="768508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80" name="Line 19"/>
          <p:cNvSpPr>
            <a:spLocks noChangeShapeType="1"/>
          </p:cNvSpPr>
          <p:nvPr/>
        </p:nvSpPr>
        <p:spPr bwMode="auto">
          <a:xfrm>
            <a:off x="6022975" y="1673227"/>
            <a:ext cx="0" cy="7096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81" name="Rectangle 20"/>
          <p:cNvSpPr>
            <a:spLocks noChangeArrowheads="1"/>
          </p:cNvSpPr>
          <p:nvPr/>
        </p:nvSpPr>
        <p:spPr bwMode="auto">
          <a:xfrm>
            <a:off x="7223125" y="1800227"/>
            <a:ext cx="1593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目  的  端  口</a:t>
            </a:r>
          </a:p>
        </p:txBody>
      </p:sp>
      <p:sp>
        <p:nvSpPr>
          <p:cNvPr id="182" name="Rectangle 21"/>
          <p:cNvSpPr>
            <a:spLocks noChangeArrowheads="1"/>
          </p:cNvSpPr>
          <p:nvPr/>
        </p:nvSpPr>
        <p:spPr bwMode="auto">
          <a:xfrm>
            <a:off x="2332038" y="3722689"/>
            <a:ext cx="695325" cy="704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数据</a:t>
            </a:r>
          </a:p>
          <a:p>
            <a:pPr eaLnBrk="0" hangingPunct="0"/>
            <a:r>
              <a:rPr lang="zh-CN" altLang="en-US" sz="2000" dirty="0">
                <a:latin typeface="+mn-lt"/>
                <a:ea typeface="微软雅黑 Light" panose="020B0502040204020203" pitchFamily="34" charset="-122"/>
              </a:rPr>
              <a:t>偏移</a:t>
            </a:r>
          </a:p>
        </p:txBody>
      </p:sp>
      <p:sp>
        <p:nvSpPr>
          <p:cNvPr id="183" name="Rectangle 22"/>
          <p:cNvSpPr>
            <a:spLocks noChangeArrowheads="1"/>
          </p:cNvSpPr>
          <p:nvPr/>
        </p:nvSpPr>
        <p:spPr bwMode="auto">
          <a:xfrm>
            <a:off x="3411538" y="4587877"/>
            <a:ext cx="13366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检   验   和</a:t>
            </a:r>
          </a:p>
        </p:txBody>
      </p:sp>
      <p:sp>
        <p:nvSpPr>
          <p:cNvPr id="184" name="Rectangle 23"/>
          <p:cNvSpPr>
            <a:spLocks noChangeArrowheads="1"/>
          </p:cNvSpPr>
          <p:nvPr/>
        </p:nvSpPr>
        <p:spPr bwMode="auto">
          <a:xfrm>
            <a:off x="3694113" y="5237164"/>
            <a:ext cx="31988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选    项 （长  度  可  变）</a:t>
            </a:r>
          </a:p>
        </p:txBody>
      </p:sp>
      <p:sp>
        <p:nvSpPr>
          <p:cNvPr id="185" name="Rectangle 24"/>
          <p:cNvSpPr>
            <a:spLocks noChangeArrowheads="1"/>
          </p:cNvSpPr>
          <p:nvPr/>
        </p:nvSpPr>
        <p:spPr bwMode="auto">
          <a:xfrm>
            <a:off x="3525838" y="1800227"/>
            <a:ext cx="12541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源  端  口</a:t>
            </a:r>
          </a:p>
        </p:txBody>
      </p:sp>
      <p:sp>
        <p:nvSpPr>
          <p:cNvPr id="186" name="Rectangle 25"/>
          <p:cNvSpPr>
            <a:spLocks noChangeArrowheads="1"/>
          </p:cNvSpPr>
          <p:nvPr/>
        </p:nvSpPr>
        <p:spPr bwMode="auto">
          <a:xfrm>
            <a:off x="5578475" y="2487614"/>
            <a:ext cx="1381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序   号</a:t>
            </a:r>
          </a:p>
        </p:txBody>
      </p:sp>
      <p:sp>
        <p:nvSpPr>
          <p:cNvPr id="187" name="Line 26"/>
          <p:cNvSpPr>
            <a:spLocks noChangeShapeType="1"/>
          </p:cNvSpPr>
          <p:nvPr/>
        </p:nvSpPr>
        <p:spPr bwMode="auto">
          <a:xfrm>
            <a:off x="6029325" y="3767139"/>
            <a:ext cx="0" cy="13700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88" name="Rectangle 27"/>
          <p:cNvSpPr>
            <a:spLocks noChangeArrowheads="1"/>
          </p:cNvSpPr>
          <p:nvPr/>
        </p:nvSpPr>
        <p:spPr bwMode="auto">
          <a:xfrm>
            <a:off x="7062788" y="4587877"/>
            <a:ext cx="17859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紧   急   指   针</a:t>
            </a:r>
          </a:p>
        </p:txBody>
      </p:sp>
      <p:sp>
        <p:nvSpPr>
          <p:cNvPr id="189" name="Rectangle 28"/>
          <p:cNvSpPr>
            <a:spLocks noChangeArrowheads="1"/>
          </p:cNvSpPr>
          <p:nvPr/>
        </p:nvSpPr>
        <p:spPr bwMode="auto">
          <a:xfrm>
            <a:off x="7512050" y="3868739"/>
            <a:ext cx="9223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窗   口</a:t>
            </a:r>
          </a:p>
        </p:txBody>
      </p:sp>
      <p:sp>
        <p:nvSpPr>
          <p:cNvPr id="190" name="Rectangle 29"/>
          <p:cNvSpPr>
            <a:spLocks noChangeArrowheads="1"/>
          </p:cNvSpPr>
          <p:nvPr/>
        </p:nvSpPr>
        <p:spPr bwMode="auto">
          <a:xfrm>
            <a:off x="5334000" y="3211514"/>
            <a:ext cx="18415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确    认    号</a:t>
            </a:r>
          </a:p>
        </p:txBody>
      </p:sp>
      <p:sp>
        <p:nvSpPr>
          <p:cNvPr id="200" name="Line 39"/>
          <p:cNvSpPr>
            <a:spLocks noChangeShapeType="1"/>
          </p:cNvSpPr>
          <p:nvPr/>
        </p:nvSpPr>
        <p:spPr bwMode="auto">
          <a:xfrm>
            <a:off x="2174875" y="1508127"/>
            <a:ext cx="767556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1" name="Line 40"/>
          <p:cNvSpPr>
            <a:spLocks noChangeShapeType="1"/>
          </p:cNvSpPr>
          <p:nvPr/>
        </p:nvSpPr>
        <p:spPr bwMode="auto">
          <a:xfrm>
            <a:off x="2174875"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2" name="Line 41"/>
          <p:cNvSpPr>
            <a:spLocks noChangeShapeType="1"/>
          </p:cNvSpPr>
          <p:nvPr/>
        </p:nvSpPr>
        <p:spPr bwMode="auto">
          <a:xfrm>
            <a:off x="241458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3" name="Line 42"/>
          <p:cNvSpPr>
            <a:spLocks noChangeShapeType="1"/>
          </p:cNvSpPr>
          <p:nvPr/>
        </p:nvSpPr>
        <p:spPr bwMode="auto">
          <a:xfrm>
            <a:off x="2654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4" name="Line 43"/>
          <p:cNvSpPr>
            <a:spLocks noChangeShapeType="1"/>
          </p:cNvSpPr>
          <p:nvPr/>
        </p:nvSpPr>
        <p:spPr bwMode="auto">
          <a:xfrm>
            <a:off x="289401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5" name="Line 44"/>
          <p:cNvSpPr>
            <a:spLocks noChangeShapeType="1"/>
          </p:cNvSpPr>
          <p:nvPr/>
        </p:nvSpPr>
        <p:spPr bwMode="auto">
          <a:xfrm>
            <a:off x="313531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6" name="Line 45"/>
          <p:cNvSpPr>
            <a:spLocks noChangeShapeType="1"/>
          </p:cNvSpPr>
          <p:nvPr/>
        </p:nvSpPr>
        <p:spPr bwMode="auto">
          <a:xfrm>
            <a:off x="337502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7" name="Line 46"/>
          <p:cNvSpPr>
            <a:spLocks noChangeShapeType="1"/>
          </p:cNvSpPr>
          <p:nvPr/>
        </p:nvSpPr>
        <p:spPr bwMode="auto">
          <a:xfrm>
            <a:off x="361315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8" name="Line 47"/>
          <p:cNvSpPr>
            <a:spLocks noChangeShapeType="1"/>
          </p:cNvSpPr>
          <p:nvPr/>
        </p:nvSpPr>
        <p:spPr bwMode="auto">
          <a:xfrm>
            <a:off x="385286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09" name="Line 48"/>
          <p:cNvSpPr>
            <a:spLocks noChangeShapeType="1"/>
          </p:cNvSpPr>
          <p:nvPr/>
        </p:nvSpPr>
        <p:spPr bwMode="auto">
          <a:xfrm>
            <a:off x="4094163"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0" name="Line 49"/>
          <p:cNvSpPr>
            <a:spLocks noChangeShapeType="1"/>
          </p:cNvSpPr>
          <p:nvPr/>
        </p:nvSpPr>
        <p:spPr bwMode="auto">
          <a:xfrm>
            <a:off x="433387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1" name="Line 50"/>
          <p:cNvSpPr>
            <a:spLocks noChangeShapeType="1"/>
          </p:cNvSpPr>
          <p:nvPr/>
        </p:nvSpPr>
        <p:spPr bwMode="auto">
          <a:xfrm>
            <a:off x="457358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2" name="Line 51"/>
          <p:cNvSpPr>
            <a:spLocks noChangeShapeType="1"/>
          </p:cNvSpPr>
          <p:nvPr/>
        </p:nvSpPr>
        <p:spPr bwMode="auto">
          <a:xfrm>
            <a:off x="4813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3" name="Line 52"/>
          <p:cNvSpPr>
            <a:spLocks noChangeShapeType="1"/>
          </p:cNvSpPr>
          <p:nvPr/>
        </p:nvSpPr>
        <p:spPr bwMode="auto">
          <a:xfrm>
            <a:off x="50546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4" name="Line 53"/>
          <p:cNvSpPr>
            <a:spLocks noChangeShapeType="1"/>
          </p:cNvSpPr>
          <p:nvPr/>
        </p:nvSpPr>
        <p:spPr bwMode="auto">
          <a:xfrm>
            <a:off x="529431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5" name="Line 54"/>
          <p:cNvSpPr>
            <a:spLocks noChangeShapeType="1"/>
          </p:cNvSpPr>
          <p:nvPr/>
        </p:nvSpPr>
        <p:spPr bwMode="auto">
          <a:xfrm>
            <a:off x="553243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6" name="Line 55"/>
          <p:cNvSpPr>
            <a:spLocks noChangeShapeType="1"/>
          </p:cNvSpPr>
          <p:nvPr/>
        </p:nvSpPr>
        <p:spPr bwMode="auto">
          <a:xfrm>
            <a:off x="577215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7" name="Line 56"/>
          <p:cNvSpPr>
            <a:spLocks noChangeShapeType="1"/>
          </p:cNvSpPr>
          <p:nvPr/>
        </p:nvSpPr>
        <p:spPr bwMode="auto">
          <a:xfrm>
            <a:off x="6011863"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8" name="Line 57"/>
          <p:cNvSpPr>
            <a:spLocks noChangeShapeType="1"/>
          </p:cNvSpPr>
          <p:nvPr/>
        </p:nvSpPr>
        <p:spPr bwMode="auto">
          <a:xfrm>
            <a:off x="625316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19" name="Line 58"/>
          <p:cNvSpPr>
            <a:spLocks noChangeShapeType="1"/>
          </p:cNvSpPr>
          <p:nvPr/>
        </p:nvSpPr>
        <p:spPr bwMode="auto">
          <a:xfrm>
            <a:off x="649287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0" name="Line 59"/>
          <p:cNvSpPr>
            <a:spLocks noChangeShapeType="1"/>
          </p:cNvSpPr>
          <p:nvPr/>
        </p:nvSpPr>
        <p:spPr bwMode="auto">
          <a:xfrm>
            <a:off x="673258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1" name="Line 60"/>
          <p:cNvSpPr>
            <a:spLocks noChangeShapeType="1"/>
          </p:cNvSpPr>
          <p:nvPr/>
        </p:nvSpPr>
        <p:spPr bwMode="auto">
          <a:xfrm>
            <a:off x="6972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2" name="Line 61"/>
          <p:cNvSpPr>
            <a:spLocks noChangeShapeType="1"/>
          </p:cNvSpPr>
          <p:nvPr/>
        </p:nvSpPr>
        <p:spPr bwMode="auto">
          <a:xfrm>
            <a:off x="72136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3" name="Line 62"/>
          <p:cNvSpPr>
            <a:spLocks noChangeShapeType="1"/>
          </p:cNvSpPr>
          <p:nvPr/>
        </p:nvSpPr>
        <p:spPr bwMode="auto">
          <a:xfrm>
            <a:off x="745172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4" name="Line 63"/>
          <p:cNvSpPr>
            <a:spLocks noChangeShapeType="1"/>
          </p:cNvSpPr>
          <p:nvPr/>
        </p:nvSpPr>
        <p:spPr bwMode="auto">
          <a:xfrm>
            <a:off x="769143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5" name="Line 64"/>
          <p:cNvSpPr>
            <a:spLocks noChangeShapeType="1"/>
          </p:cNvSpPr>
          <p:nvPr/>
        </p:nvSpPr>
        <p:spPr bwMode="auto">
          <a:xfrm>
            <a:off x="7931150"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6" name="Line 65"/>
          <p:cNvSpPr>
            <a:spLocks noChangeShapeType="1"/>
          </p:cNvSpPr>
          <p:nvPr/>
        </p:nvSpPr>
        <p:spPr bwMode="auto">
          <a:xfrm>
            <a:off x="817086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7" name="Line 66"/>
          <p:cNvSpPr>
            <a:spLocks noChangeShapeType="1"/>
          </p:cNvSpPr>
          <p:nvPr/>
        </p:nvSpPr>
        <p:spPr bwMode="auto">
          <a:xfrm>
            <a:off x="841216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8" name="Line 67"/>
          <p:cNvSpPr>
            <a:spLocks noChangeShapeType="1"/>
          </p:cNvSpPr>
          <p:nvPr/>
        </p:nvSpPr>
        <p:spPr bwMode="auto">
          <a:xfrm>
            <a:off x="865187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29" name="Line 68"/>
          <p:cNvSpPr>
            <a:spLocks noChangeShapeType="1"/>
          </p:cNvSpPr>
          <p:nvPr/>
        </p:nvSpPr>
        <p:spPr bwMode="auto">
          <a:xfrm>
            <a:off x="8891588"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30" name="Line 69"/>
          <p:cNvSpPr>
            <a:spLocks noChangeShapeType="1"/>
          </p:cNvSpPr>
          <p:nvPr/>
        </p:nvSpPr>
        <p:spPr bwMode="auto">
          <a:xfrm>
            <a:off x="9131300"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31" name="Line 70"/>
          <p:cNvSpPr>
            <a:spLocks noChangeShapeType="1"/>
          </p:cNvSpPr>
          <p:nvPr/>
        </p:nvSpPr>
        <p:spPr bwMode="auto">
          <a:xfrm>
            <a:off x="9371013"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32" name="Line 71"/>
          <p:cNvSpPr>
            <a:spLocks noChangeShapeType="1"/>
          </p:cNvSpPr>
          <p:nvPr/>
        </p:nvSpPr>
        <p:spPr bwMode="auto">
          <a:xfrm>
            <a:off x="9610725" y="1209677"/>
            <a:ext cx="0" cy="2984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33" name="Line 72"/>
          <p:cNvSpPr>
            <a:spLocks noChangeShapeType="1"/>
          </p:cNvSpPr>
          <p:nvPr/>
        </p:nvSpPr>
        <p:spPr bwMode="auto">
          <a:xfrm>
            <a:off x="9850438" y="1309689"/>
            <a:ext cx="0" cy="1984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34" name="Rectangle 73"/>
          <p:cNvSpPr>
            <a:spLocks noChangeArrowheads="1"/>
          </p:cNvSpPr>
          <p:nvPr/>
        </p:nvSpPr>
        <p:spPr bwMode="auto">
          <a:xfrm>
            <a:off x="2333625"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235" name="Rectangle 74"/>
          <p:cNvSpPr>
            <a:spLocks noChangeArrowheads="1"/>
          </p:cNvSpPr>
          <p:nvPr/>
        </p:nvSpPr>
        <p:spPr bwMode="auto">
          <a:xfrm>
            <a:off x="4252913"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236" name="Rectangle 75"/>
          <p:cNvSpPr>
            <a:spLocks noChangeArrowheads="1"/>
          </p:cNvSpPr>
          <p:nvPr/>
        </p:nvSpPr>
        <p:spPr bwMode="auto">
          <a:xfrm>
            <a:off x="6172200"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237" name="Rectangle 76"/>
          <p:cNvSpPr>
            <a:spLocks noChangeArrowheads="1"/>
          </p:cNvSpPr>
          <p:nvPr/>
        </p:nvSpPr>
        <p:spPr bwMode="auto">
          <a:xfrm>
            <a:off x="8091488" y="1109664"/>
            <a:ext cx="1600200"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mn-lt"/>
              <a:ea typeface="微软雅黑 Light" panose="020B0502040204020203" pitchFamily="34" charset="-122"/>
            </a:endParaRPr>
          </a:p>
        </p:txBody>
      </p:sp>
      <p:sp>
        <p:nvSpPr>
          <p:cNvPr id="244" name="Line 83"/>
          <p:cNvSpPr>
            <a:spLocks noChangeShapeType="1"/>
          </p:cNvSpPr>
          <p:nvPr/>
        </p:nvSpPr>
        <p:spPr bwMode="auto">
          <a:xfrm flipH="1">
            <a:off x="7929563" y="5162552"/>
            <a:ext cx="3175" cy="6429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245" name="Rectangle 84"/>
          <p:cNvSpPr>
            <a:spLocks noChangeArrowheads="1"/>
          </p:cNvSpPr>
          <p:nvPr/>
        </p:nvSpPr>
        <p:spPr bwMode="auto">
          <a:xfrm>
            <a:off x="8442325" y="5229227"/>
            <a:ext cx="1254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a:latin typeface="+mn-lt"/>
                <a:ea typeface="微软雅黑 Light" panose="020B0502040204020203" pitchFamily="34" charset="-122"/>
              </a:rPr>
              <a:t>填    充</a:t>
            </a:r>
          </a:p>
        </p:txBody>
      </p:sp>
      <p:sp>
        <p:nvSpPr>
          <p:cNvPr id="246" name="Line 85"/>
          <p:cNvSpPr>
            <a:spLocks noChangeShapeType="1"/>
          </p:cNvSpPr>
          <p:nvPr/>
        </p:nvSpPr>
        <p:spPr bwMode="auto">
          <a:xfrm>
            <a:off x="9971088" y="1641477"/>
            <a:ext cx="5175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247" name="Line 86"/>
          <p:cNvSpPr>
            <a:spLocks noChangeShapeType="1"/>
          </p:cNvSpPr>
          <p:nvPr/>
        </p:nvSpPr>
        <p:spPr bwMode="auto">
          <a:xfrm>
            <a:off x="9971088" y="5137152"/>
            <a:ext cx="5175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248" name="Line 87"/>
          <p:cNvSpPr>
            <a:spLocks noChangeShapeType="1"/>
          </p:cNvSpPr>
          <p:nvPr/>
        </p:nvSpPr>
        <p:spPr bwMode="auto">
          <a:xfrm>
            <a:off x="1582738" y="1679577"/>
            <a:ext cx="5302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249" name="Line 88"/>
          <p:cNvSpPr>
            <a:spLocks noChangeShapeType="1"/>
          </p:cNvSpPr>
          <p:nvPr/>
        </p:nvSpPr>
        <p:spPr bwMode="auto">
          <a:xfrm>
            <a:off x="1597025" y="5780089"/>
            <a:ext cx="5302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89" name="灯片编号占位符 5"/>
          <p:cNvSpPr>
            <a:spLocks noGrp="1"/>
          </p:cNvSpPr>
          <p:nvPr>
            <p:ph type="sldNum" sz="quarter" idx="12"/>
          </p:nvPr>
        </p:nvSpPr>
        <p:spPr/>
        <p:txBody>
          <a:bodyPr/>
          <a:lstStyle/>
          <a:p>
            <a:fld id="{B1D7BC5A-D472-419C-9ECA-0F4CF6DD14CA}" type="slidenum">
              <a:rPr lang="en-US" altLang="zh-CN"/>
              <a:t>49</a:t>
            </a:fld>
            <a:endParaRPr lang="en-US" altLang="zh-CN"/>
          </a:p>
        </p:txBody>
      </p:sp>
      <p:sp>
        <p:nvSpPr>
          <p:cNvPr id="807939" name="Rectangle 3"/>
          <p:cNvSpPr>
            <a:spLocks noGrp="1" noChangeArrowheads="1"/>
          </p:cNvSpPr>
          <p:nvPr>
            <p:ph type="title"/>
          </p:nvPr>
        </p:nvSpPr>
        <p:spPr>
          <a:noFill/>
        </p:spPr>
        <p:txBody>
          <a:bodyPr/>
          <a:lstStyle/>
          <a:p>
            <a:r>
              <a:rPr lang="en-US" altLang="zh-CN" dirty="0"/>
              <a:t>TCP</a:t>
            </a:r>
            <a:r>
              <a:rPr lang="zh-CN" altLang="en-US" dirty="0"/>
              <a:t>的报头字段</a:t>
            </a:r>
            <a:endParaRPr lang="en-US" altLang="zh-CN" dirty="0"/>
          </a:p>
        </p:txBody>
      </p:sp>
      <p:sp>
        <p:nvSpPr>
          <p:cNvPr id="808104" name="Rectangle 168"/>
          <p:cNvSpPr>
            <a:spLocks noChangeArrowheads="1"/>
          </p:cNvSpPr>
          <p:nvPr/>
        </p:nvSpPr>
        <p:spPr bwMode="auto">
          <a:xfrm>
            <a:off x="2166938" y="5060950"/>
            <a:ext cx="5770562" cy="717550"/>
          </a:xfrm>
          <a:prstGeom prst="rect">
            <a:avLst/>
          </a:prstGeom>
          <a:noFill/>
          <a:ln w="7620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808105" name="Text Box 169"/>
          <p:cNvSpPr txBox="1">
            <a:spLocks noChangeArrowheads="1"/>
          </p:cNvSpPr>
          <p:nvPr/>
        </p:nvSpPr>
        <p:spPr bwMode="auto">
          <a:xfrm>
            <a:off x="1163950" y="5902396"/>
            <a:ext cx="10080000" cy="706755"/>
          </a:xfrm>
          <a:prstGeom prst="rect">
            <a:avLst/>
          </a:prstGeom>
          <a:noFill/>
          <a:ln>
            <a:noFill/>
          </a:ln>
          <a:effectLst/>
        </p:spPr>
        <p:txBody>
          <a:bodyPr wrap="square">
            <a:spAutoFit/>
          </a:bodyPr>
          <a:lstStyle>
            <a:defPPr>
              <a:defRPr lang="zh-CN"/>
            </a:defPPr>
            <a:lvl1pPr>
              <a:defRPr>
                <a:latin typeface="微软雅黑 Light" panose="020B0502040204020203" pitchFamily="34" charset="-122"/>
                <a:ea typeface="微软雅黑 Light" panose="020B0502040204020203" pitchFamily="34" charset="-122"/>
              </a:defRPr>
            </a:lvl1pPr>
          </a:lstStyle>
          <a:p>
            <a:pPr marL="342900" indent="-342900">
              <a:buFont typeface="Wingdings" panose="05000000000000000000" pitchFamily="2" charset="2"/>
              <a:buChar char="Ø"/>
            </a:pPr>
            <a:r>
              <a:rPr lang="zh-CN" altLang="en-US" dirty="0"/>
              <a:t>选项：长度可变。</a:t>
            </a:r>
            <a:r>
              <a:rPr lang="en-US" altLang="zh-CN" dirty="0"/>
              <a:t>TCP</a:t>
            </a:r>
            <a:r>
              <a:rPr lang="zh-CN" altLang="en-US" dirty="0"/>
              <a:t>最初只规定了一种选项，即最大报文段长度 </a:t>
            </a:r>
            <a:r>
              <a:rPr lang="en-US" altLang="zh-CN" dirty="0"/>
              <a:t>MSS</a:t>
            </a:r>
            <a:r>
              <a:rPr lang="zh-CN" altLang="en-US" dirty="0"/>
              <a:t>。</a:t>
            </a:r>
            <a:r>
              <a:rPr lang="en-US" altLang="zh-CN" dirty="0"/>
              <a:t>MSS </a:t>
            </a:r>
            <a:r>
              <a:rPr lang="zh-CN" altLang="en-US" dirty="0"/>
              <a:t>告诉对方</a:t>
            </a:r>
            <a:r>
              <a:rPr lang="en-US" altLang="zh-CN" dirty="0"/>
              <a:t>TCP</a:t>
            </a:r>
            <a:r>
              <a:rPr lang="zh-CN" altLang="en-US" dirty="0"/>
              <a:t>：“我的缓存所能接收的报文段的数据字段的最大长度是</a:t>
            </a:r>
            <a:r>
              <a:rPr lang="en-US" altLang="zh-CN" dirty="0"/>
              <a:t>MSS</a:t>
            </a:r>
            <a:r>
              <a:rPr lang="zh-CN" altLang="en-US" dirty="0"/>
              <a:t>个字节” </a:t>
            </a:r>
          </a:p>
        </p:txBody>
      </p:sp>
      <p:sp>
        <p:nvSpPr>
          <p:cNvPr id="88" name="Line 30"/>
          <p:cNvSpPr>
            <a:spLocks noChangeShapeType="1"/>
          </p:cNvSpPr>
          <p:nvPr/>
        </p:nvSpPr>
        <p:spPr bwMode="auto">
          <a:xfrm>
            <a:off x="3135313" y="3767139"/>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0" name="Line 31"/>
          <p:cNvSpPr>
            <a:spLocks noChangeShapeType="1"/>
          </p:cNvSpPr>
          <p:nvPr/>
        </p:nvSpPr>
        <p:spPr bwMode="auto">
          <a:xfrm>
            <a:off x="5062538" y="3759202"/>
            <a:ext cx="0" cy="6842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1" name="Line 32"/>
          <p:cNvSpPr>
            <a:spLocks noChangeShapeType="1"/>
          </p:cNvSpPr>
          <p:nvPr/>
        </p:nvSpPr>
        <p:spPr bwMode="auto">
          <a:xfrm>
            <a:off x="4572001" y="3761583"/>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2" name="Line 33"/>
          <p:cNvSpPr>
            <a:spLocks noChangeShapeType="1"/>
          </p:cNvSpPr>
          <p:nvPr/>
        </p:nvSpPr>
        <p:spPr bwMode="auto">
          <a:xfrm>
            <a:off x="4813300"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3" name="Line 34"/>
          <p:cNvSpPr>
            <a:spLocks noChangeShapeType="1"/>
          </p:cNvSpPr>
          <p:nvPr/>
        </p:nvSpPr>
        <p:spPr bwMode="auto">
          <a:xfrm>
            <a:off x="5543550"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4" name="Line 35"/>
          <p:cNvSpPr>
            <a:spLocks noChangeShapeType="1"/>
          </p:cNvSpPr>
          <p:nvPr/>
        </p:nvSpPr>
        <p:spPr bwMode="auto">
          <a:xfrm>
            <a:off x="5302250"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5" name="Line 36"/>
          <p:cNvSpPr>
            <a:spLocks noChangeShapeType="1"/>
          </p:cNvSpPr>
          <p:nvPr/>
        </p:nvSpPr>
        <p:spPr bwMode="auto">
          <a:xfrm>
            <a:off x="5788025" y="3767139"/>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96" name="Rectangle 37"/>
          <p:cNvSpPr>
            <a:spLocks noChangeArrowheads="1"/>
          </p:cNvSpPr>
          <p:nvPr/>
        </p:nvSpPr>
        <p:spPr bwMode="auto">
          <a:xfrm>
            <a:off x="3198280" y="3867686"/>
            <a:ext cx="72548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保留</a:t>
            </a:r>
          </a:p>
        </p:txBody>
      </p:sp>
      <p:sp>
        <p:nvSpPr>
          <p:cNvPr id="97" name="Rectangle 38"/>
          <p:cNvSpPr>
            <a:spLocks noChangeArrowheads="1"/>
          </p:cNvSpPr>
          <p:nvPr/>
        </p:nvSpPr>
        <p:spPr bwMode="auto">
          <a:xfrm rot="16200000">
            <a:off x="5654933" y="3959222"/>
            <a:ext cx="535405"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lnSpc>
                <a:spcPct val="75000"/>
              </a:lnSpc>
            </a:pPr>
            <a:r>
              <a:rPr lang="en-US" altLang="zh-CN" sz="1600" b="1" dirty="0">
                <a:latin typeface="+mn-lt"/>
                <a:ea typeface="微软雅黑 Light" panose="020B0502040204020203" pitchFamily="34" charset="-122"/>
              </a:rPr>
              <a:t>FIN</a:t>
            </a:r>
          </a:p>
        </p:txBody>
      </p:sp>
      <p:sp>
        <p:nvSpPr>
          <p:cNvPr id="98" name="Rectangle 77"/>
          <p:cNvSpPr>
            <a:spLocks noChangeArrowheads="1"/>
          </p:cNvSpPr>
          <p:nvPr/>
        </p:nvSpPr>
        <p:spPr bwMode="auto">
          <a:xfrm rot="16200000">
            <a:off x="5374034" y="3931170"/>
            <a:ext cx="591510"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SYN</a:t>
            </a:r>
          </a:p>
        </p:txBody>
      </p:sp>
      <p:sp>
        <p:nvSpPr>
          <p:cNvPr id="99" name="Rectangle 78"/>
          <p:cNvSpPr>
            <a:spLocks noChangeArrowheads="1"/>
          </p:cNvSpPr>
          <p:nvPr/>
        </p:nvSpPr>
        <p:spPr bwMode="auto">
          <a:xfrm rot="16200000">
            <a:off x="5132946" y="3917780"/>
            <a:ext cx="618290"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RST</a:t>
            </a:r>
          </a:p>
        </p:txBody>
      </p:sp>
      <p:sp>
        <p:nvSpPr>
          <p:cNvPr id="100" name="Rectangle 79"/>
          <p:cNvSpPr>
            <a:spLocks noChangeArrowheads="1"/>
          </p:cNvSpPr>
          <p:nvPr/>
        </p:nvSpPr>
        <p:spPr bwMode="auto">
          <a:xfrm rot="16200000">
            <a:off x="4926013" y="3950916"/>
            <a:ext cx="600108"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PSH</a:t>
            </a:r>
          </a:p>
        </p:txBody>
      </p:sp>
      <p:sp>
        <p:nvSpPr>
          <p:cNvPr id="101" name="Rectangle 80"/>
          <p:cNvSpPr>
            <a:spLocks noChangeArrowheads="1"/>
          </p:cNvSpPr>
          <p:nvPr/>
        </p:nvSpPr>
        <p:spPr bwMode="auto">
          <a:xfrm rot="16200000">
            <a:off x="4572910" y="3933808"/>
            <a:ext cx="730250"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ACK</a:t>
            </a:r>
          </a:p>
        </p:txBody>
      </p:sp>
      <p:sp>
        <p:nvSpPr>
          <p:cNvPr id="102" name="Rectangle 81"/>
          <p:cNvSpPr>
            <a:spLocks noChangeArrowheads="1"/>
          </p:cNvSpPr>
          <p:nvPr/>
        </p:nvSpPr>
        <p:spPr bwMode="auto">
          <a:xfrm rot="16200000">
            <a:off x="4341013" y="3887844"/>
            <a:ext cx="761997"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URG</a:t>
            </a:r>
          </a:p>
        </p:txBody>
      </p:sp>
      <p:sp>
        <p:nvSpPr>
          <p:cNvPr id="103" name="Line 32"/>
          <p:cNvSpPr>
            <a:spLocks noChangeShapeType="1"/>
          </p:cNvSpPr>
          <p:nvPr/>
        </p:nvSpPr>
        <p:spPr bwMode="auto">
          <a:xfrm>
            <a:off x="4079776" y="3757614"/>
            <a:ext cx="0" cy="692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04" name="Line 33"/>
          <p:cNvSpPr>
            <a:spLocks noChangeShapeType="1"/>
          </p:cNvSpPr>
          <p:nvPr/>
        </p:nvSpPr>
        <p:spPr bwMode="auto">
          <a:xfrm>
            <a:off x="4314850" y="3768726"/>
            <a:ext cx="0" cy="6810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105" name="Rectangle 81"/>
          <p:cNvSpPr>
            <a:spLocks noChangeArrowheads="1"/>
          </p:cNvSpPr>
          <p:nvPr/>
        </p:nvSpPr>
        <p:spPr bwMode="auto">
          <a:xfrm rot="16200000">
            <a:off x="3857138" y="3966841"/>
            <a:ext cx="721634"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CWR</a:t>
            </a:r>
          </a:p>
        </p:txBody>
      </p:sp>
      <p:sp>
        <p:nvSpPr>
          <p:cNvPr id="106" name="Rectangle 81"/>
          <p:cNvSpPr>
            <a:spLocks noChangeArrowheads="1"/>
          </p:cNvSpPr>
          <p:nvPr/>
        </p:nvSpPr>
        <p:spPr bwMode="auto">
          <a:xfrm rot="16200000">
            <a:off x="4081869" y="3930964"/>
            <a:ext cx="704221" cy="27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75000"/>
              </a:lnSpc>
            </a:pPr>
            <a:r>
              <a:rPr lang="en-US" altLang="zh-CN" sz="1600" b="1" dirty="0">
                <a:latin typeface="+mn-lt"/>
                <a:ea typeface="微软雅黑 Light" panose="020B0502040204020203" pitchFamily="34" charset="-122"/>
              </a:rPr>
              <a:t>ECE</a:t>
            </a:r>
          </a:p>
        </p:txBody>
      </p:sp>
      <p:sp>
        <p:nvSpPr>
          <p:cNvPr id="2" name="Rectangle 82">
            <a:extLst>
              <a:ext uri="{FF2B5EF4-FFF2-40B4-BE49-F238E27FC236}">
                <a16:creationId xmlns:a16="http://schemas.microsoft.com/office/drawing/2014/main" id="{4F95C98C-221B-1F8A-6A91-302F3BC4928E}"/>
              </a:ext>
            </a:extLst>
          </p:cNvPr>
          <p:cNvSpPr>
            <a:spLocks noChangeArrowheads="1"/>
          </p:cNvSpPr>
          <p:nvPr/>
        </p:nvSpPr>
        <p:spPr bwMode="auto">
          <a:xfrm>
            <a:off x="1812925" y="908720"/>
            <a:ext cx="8261878"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latin typeface="+mn-lt"/>
                <a:ea typeface="微软雅黑 Light" panose="020B0502040204020203" pitchFamily="34" charset="-122"/>
              </a:rPr>
              <a:t>位 </a:t>
            </a:r>
            <a:r>
              <a:rPr lang="en-US" altLang="zh-CN" sz="2000" dirty="0">
                <a:latin typeface="+mn-lt"/>
                <a:ea typeface="微软雅黑 Light" panose="020B0502040204020203" pitchFamily="34" charset="-122"/>
              </a:rPr>
              <a:t>0                           8                           16                          24                          31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8104"/>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80810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104" grpId="0" animBg="1"/>
      <p:bldP spid="808104" grpId="1"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86A2C2E8-1CFC-4F32-A0F3-0ACCA8498088}" type="slidenum">
              <a:rPr lang="en-US" altLang="zh-CN"/>
              <a:t>50</a:t>
            </a:fld>
            <a:endParaRPr lang="en-US" altLang="zh-CN"/>
          </a:p>
        </p:txBody>
      </p:sp>
      <p:sp>
        <p:nvSpPr>
          <p:cNvPr id="520194" name="Rectangle 2"/>
          <p:cNvSpPr>
            <a:spLocks noGrp="1" noChangeArrowheads="1"/>
          </p:cNvSpPr>
          <p:nvPr>
            <p:ph type="title"/>
          </p:nvPr>
        </p:nvSpPr>
        <p:spPr/>
        <p:txBody>
          <a:bodyPr/>
          <a:lstStyle/>
          <a:p>
            <a:r>
              <a:rPr lang="en-US" altLang="zh-CN" dirty="0"/>
              <a:t>TCP</a:t>
            </a:r>
            <a:r>
              <a:rPr lang="zh-CN" altLang="en-US" dirty="0"/>
              <a:t>特性</a:t>
            </a:r>
            <a:endParaRPr lang="en-US" altLang="zh-CN" dirty="0"/>
          </a:p>
        </p:txBody>
      </p:sp>
      <p:sp>
        <p:nvSpPr>
          <p:cNvPr id="520195" name="Rectangle 3"/>
          <p:cNvSpPr>
            <a:spLocks noGrp="1" noChangeArrowheads="1"/>
          </p:cNvSpPr>
          <p:nvPr>
            <p:ph type="body" idx="1"/>
          </p:nvPr>
        </p:nvSpPr>
        <p:spPr/>
        <p:txBody>
          <a:bodyPr/>
          <a:lstStyle/>
          <a:p>
            <a:pPr algn="just">
              <a:lnSpc>
                <a:spcPct val="120000"/>
              </a:lnSpc>
            </a:pPr>
            <a:r>
              <a:rPr lang="zh-CN" altLang="en-US" dirty="0">
                <a:latin typeface="+mn-lt"/>
              </a:rPr>
              <a:t>在</a:t>
            </a:r>
            <a:r>
              <a:rPr lang="en-US" altLang="zh-CN" dirty="0">
                <a:latin typeface="+mn-lt"/>
              </a:rPr>
              <a:t>TCP</a:t>
            </a:r>
            <a:r>
              <a:rPr lang="zh-CN" altLang="en-US" dirty="0">
                <a:latin typeface="+mn-lt"/>
              </a:rPr>
              <a:t>连接中每个传输的字节都被计数，确认序号包含发送确认的一端所期望收到的下一个序号。因此，确认序号应当是上次已经成功收到数据字节序号加</a:t>
            </a:r>
            <a:r>
              <a:rPr lang="en-US" altLang="zh-CN" dirty="0">
                <a:latin typeface="+mn-lt"/>
              </a:rPr>
              <a:t>1</a:t>
            </a:r>
            <a:r>
              <a:rPr lang="zh-CN" altLang="en-US" dirty="0">
                <a:latin typeface="+mn-lt"/>
              </a:rPr>
              <a:t>。只有</a:t>
            </a:r>
            <a:r>
              <a:rPr lang="en-US" altLang="zh-CN" dirty="0">
                <a:latin typeface="+mn-lt"/>
              </a:rPr>
              <a:t>ACK</a:t>
            </a:r>
            <a:r>
              <a:rPr lang="zh-CN" altLang="en-US" dirty="0">
                <a:latin typeface="+mn-lt"/>
              </a:rPr>
              <a:t>标志为</a:t>
            </a:r>
            <a:r>
              <a:rPr lang="en-US" altLang="zh-CN" dirty="0">
                <a:latin typeface="+mn-lt"/>
              </a:rPr>
              <a:t>1</a:t>
            </a:r>
            <a:r>
              <a:rPr lang="zh-CN" altLang="en-US" dirty="0">
                <a:latin typeface="+mn-lt"/>
              </a:rPr>
              <a:t>时，确认序号字段才有效</a:t>
            </a:r>
          </a:p>
          <a:p>
            <a:pPr algn="just">
              <a:lnSpc>
                <a:spcPct val="120000"/>
              </a:lnSpc>
            </a:pPr>
            <a:r>
              <a:rPr lang="zh-CN" altLang="en-US" dirty="0">
                <a:latin typeface="+mn-lt"/>
              </a:rPr>
              <a:t>发送</a:t>
            </a:r>
            <a:r>
              <a:rPr lang="en-US" altLang="zh-CN" dirty="0">
                <a:latin typeface="+mn-lt"/>
              </a:rPr>
              <a:t>ACK</a:t>
            </a:r>
            <a:r>
              <a:rPr lang="zh-CN" altLang="en-US" dirty="0">
                <a:latin typeface="+mn-lt"/>
              </a:rPr>
              <a:t>无需任何代价，因为</a:t>
            </a:r>
            <a:r>
              <a:rPr lang="en-US" altLang="zh-CN" dirty="0">
                <a:latin typeface="+mn-lt"/>
              </a:rPr>
              <a:t>32bit</a:t>
            </a:r>
            <a:r>
              <a:rPr lang="zh-CN" altLang="en-US" dirty="0">
                <a:latin typeface="+mn-lt"/>
              </a:rPr>
              <a:t>的确认序号字段和</a:t>
            </a:r>
            <a:r>
              <a:rPr lang="en-US" altLang="zh-CN" dirty="0">
                <a:latin typeface="+mn-lt"/>
              </a:rPr>
              <a:t>ACK</a:t>
            </a:r>
            <a:r>
              <a:rPr lang="zh-CN" altLang="en-US" dirty="0">
                <a:latin typeface="+mn-lt"/>
              </a:rPr>
              <a:t>标志一样，总是</a:t>
            </a:r>
            <a:r>
              <a:rPr lang="en-US" altLang="zh-CN" dirty="0">
                <a:latin typeface="+mn-lt"/>
              </a:rPr>
              <a:t>TCP</a:t>
            </a:r>
            <a:r>
              <a:rPr lang="zh-CN" altLang="en-US" dirty="0">
                <a:latin typeface="+mn-lt"/>
              </a:rPr>
              <a:t>首部的一部分。因此，一旦一个 </a:t>
            </a:r>
            <a:r>
              <a:rPr lang="en-US" altLang="zh-CN" dirty="0">
                <a:latin typeface="+mn-lt"/>
              </a:rPr>
              <a:t>TCP</a:t>
            </a:r>
            <a:r>
              <a:rPr lang="zh-CN" altLang="en-US" dirty="0">
                <a:latin typeface="+mn-lt"/>
              </a:rPr>
              <a:t>连接建立起来，</a:t>
            </a:r>
            <a:r>
              <a:rPr lang="en-US" altLang="zh-CN" dirty="0">
                <a:latin typeface="+mn-lt"/>
              </a:rPr>
              <a:t>ACK</a:t>
            </a:r>
            <a:r>
              <a:rPr lang="zh-CN" altLang="en-US" dirty="0">
                <a:latin typeface="+mn-lt"/>
              </a:rPr>
              <a:t>标志总是被设置</a:t>
            </a:r>
            <a:r>
              <a:rPr lang="en-US" altLang="zh-CN" dirty="0">
                <a:latin typeface="+mn-lt"/>
              </a:rPr>
              <a:t>1</a:t>
            </a:r>
            <a:endParaRPr lang="zh-CN" altLang="en-US" dirty="0">
              <a:latin typeface="+mn-lt"/>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灯片编号占位符 5"/>
          <p:cNvSpPr>
            <a:spLocks noGrp="1"/>
          </p:cNvSpPr>
          <p:nvPr>
            <p:ph type="sldNum" sz="quarter" idx="12"/>
          </p:nvPr>
        </p:nvSpPr>
        <p:spPr/>
        <p:txBody>
          <a:bodyPr/>
          <a:lstStyle/>
          <a:p>
            <a:fld id="{C586C21C-978A-44A4-9085-A06D9C1CEB57}" type="slidenum">
              <a:rPr lang="en-US" altLang="zh-CN"/>
              <a:t>51</a:t>
            </a:fld>
            <a:endParaRPr lang="en-US" altLang="zh-CN"/>
          </a:p>
        </p:txBody>
      </p:sp>
      <p:sp>
        <p:nvSpPr>
          <p:cNvPr id="840706" name="Rectangle 2"/>
          <p:cNvSpPr>
            <a:spLocks noGrp="1" noChangeArrowheads="1"/>
          </p:cNvSpPr>
          <p:nvPr>
            <p:ph type="title"/>
          </p:nvPr>
        </p:nvSpPr>
        <p:spPr/>
        <p:txBody>
          <a:bodyPr/>
          <a:lstStyle/>
          <a:p>
            <a:r>
              <a:rPr lang="en-US" altLang="zh-CN"/>
              <a:t>TCP</a:t>
            </a:r>
            <a:r>
              <a:rPr lang="zh-CN" altLang="en-US"/>
              <a:t>面向流的概念 </a:t>
            </a:r>
          </a:p>
        </p:txBody>
      </p:sp>
      <p:grpSp>
        <p:nvGrpSpPr>
          <p:cNvPr id="3" name="组合 2"/>
          <p:cNvGrpSpPr/>
          <p:nvPr/>
        </p:nvGrpSpPr>
        <p:grpSpPr>
          <a:xfrm>
            <a:off x="1737911" y="1119609"/>
            <a:ext cx="8606983" cy="4325937"/>
            <a:chOff x="1737911" y="1119609"/>
            <a:chExt cx="8606983" cy="4325937"/>
          </a:xfrm>
        </p:grpSpPr>
        <p:sp>
          <p:nvSpPr>
            <p:cNvPr id="840709" name="AutoShape 5"/>
            <p:cNvSpPr>
              <a:spLocks noChangeArrowheads="1"/>
            </p:cNvSpPr>
            <p:nvPr/>
          </p:nvSpPr>
          <p:spPr bwMode="auto">
            <a:xfrm>
              <a:off x="7850933" y="4813722"/>
              <a:ext cx="261937" cy="130175"/>
            </a:xfrm>
            <a:prstGeom prst="rightArrow">
              <a:avLst>
                <a:gd name="adj1" fmla="val 50000"/>
                <a:gd name="adj2" fmla="val 50305"/>
              </a:avLst>
            </a:prstGeom>
            <a:solidFill>
              <a:srgbClr val="0066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a:solidFill>
                  <a:schemeClr val="bg1"/>
                </a:solidFill>
                <a:latin typeface="+mn-lt"/>
                <a:ea typeface="微软雅黑 Light" panose="020B0502040204020203" pitchFamily="34" charset="-122"/>
              </a:endParaRPr>
            </a:p>
          </p:txBody>
        </p:sp>
        <p:sp>
          <p:nvSpPr>
            <p:cNvPr id="840710" name="Rectangle 6"/>
            <p:cNvSpPr>
              <a:spLocks noChangeArrowheads="1"/>
            </p:cNvSpPr>
            <p:nvPr/>
          </p:nvSpPr>
          <p:spPr bwMode="auto">
            <a:xfrm>
              <a:off x="4585444" y="1484734"/>
              <a:ext cx="3240088" cy="1008062"/>
            </a:xfrm>
            <a:prstGeom prst="rect">
              <a:avLst/>
            </a:prstGeom>
            <a:solidFill>
              <a:schemeClr val="bg2"/>
            </a:solidFill>
            <a:ln w="38100" cmpd="dbl">
              <a:solidFill>
                <a:srgbClr val="96969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a:latin typeface="+mn-lt"/>
                <a:ea typeface="微软雅黑 Light" panose="020B0502040204020203" pitchFamily="34" charset="-122"/>
              </a:endParaRPr>
            </a:p>
          </p:txBody>
        </p:sp>
        <p:grpSp>
          <p:nvGrpSpPr>
            <p:cNvPr id="840711" name="Group 7"/>
            <p:cNvGrpSpPr/>
            <p:nvPr/>
          </p:nvGrpSpPr>
          <p:grpSpPr bwMode="auto">
            <a:xfrm>
              <a:off x="7033369" y="4724821"/>
              <a:ext cx="865188" cy="287338"/>
              <a:chOff x="2925" y="1570"/>
              <a:chExt cx="545" cy="181"/>
            </a:xfrm>
          </p:grpSpPr>
          <p:grpSp>
            <p:nvGrpSpPr>
              <p:cNvPr id="840712" name="Group 8"/>
              <p:cNvGrpSpPr/>
              <p:nvPr/>
            </p:nvGrpSpPr>
            <p:grpSpPr bwMode="auto">
              <a:xfrm>
                <a:off x="3061" y="1570"/>
                <a:ext cx="272" cy="181"/>
                <a:chOff x="3061" y="1842"/>
                <a:chExt cx="272" cy="181"/>
              </a:xfrm>
            </p:grpSpPr>
            <p:sp>
              <p:nvSpPr>
                <p:cNvPr id="840713" name="Rectangle 9"/>
                <p:cNvSpPr>
                  <a:spLocks noChangeArrowheads="1"/>
                </p:cNvSpPr>
                <p:nvPr/>
              </p:nvSpPr>
              <p:spPr bwMode="auto">
                <a:xfrm>
                  <a:off x="3061" y="1842"/>
                  <a:ext cx="136" cy="181"/>
                </a:xfrm>
                <a:prstGeom prst="rect">
                  <a:avLst/>
                </a:prstGeom>
                <a:solidFill>
                  <a:schemeClr val="bg2">
                    <a:lumMod val="75000"/>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a:solidFill>
                        <a:schemeClr val="bg1"/>
                      </a:solidFill>
                      <a:latin typeface="+mn-lt"/>
                      <a:ea typeface="微软雅黑 Light" panose="020B0502040204020203" pitchFamily="34" charset="-122"/>
                    </a:rPr>
                    <a:t>7</a:t>
                  </a:r>
                </a:p>
              </p:txBody>
            </p:sp>
            <p:sp>
              <p:nvSpPr>
                <p:cNvPr id="840714" name="Rectangle 10"/>
                <p:cNvSpPr>
                  <a:spLocks noChangeArrowheads="1"/>
                </p:cNvSpPr>
                <p:nvPr/>
              </p:nvSpPr>
              <p:spPr bwMode="auto">
                <a:xfrm>
                  <a:off x="3197" y="1842"/>
                  <a:ext cx="136" cy="181"/>
                </a:xfrm>
                <a:prstGeom prst="rect">
                  <a:avLst/>
                </a:prstGeom>
                <a:solidFill>
                  <a:schemeClr val="bg2">
                    <a:lumMod val="75000"/>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dirty="0">
                      <a:solidFill>
                        <a:schemeClr val="bg1"/>
                      </a:solidFill>
                      <a:latin typeface="+mn-lt"/>
                      <a:ea typeface="微软雅黑 Light" panose="020B0502040204020203" pitchFamily="34" charset="-122"/>
                    </a:rPr>
                    <a:t>6</a:t>
                  </a:r>
                </a:p>
              </p:txBody>
            </p:sp>
          </p:grpSp>
          <p:sp>
            <p:nvSpPr>
              <p:cNvPr id="840715" name="Rectangle 11"/>
              <p:cNvSpPr>
                <a:spLocks noChangeArrowheads="1"/>
              </p:cNvSpPr>
              <p:nvPr/>
            </p:nvSpPr>
            <p:spPr bwMode="auto">
              <a:xfrm>
                <a:off x="2925" y="1570"/>
                <a:ext cx="136" cy="181"/>
              </a:xfrm>
              <a:prstGeom prst="rect">
                <a:avLst/>
              </a:prstGeom>
              <a:solidFill>
                <a:schemeClr val="bg2">
                  <a:lumMod val="75000"/>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dirty="0">
                    <a:solidFill>
                      <a:schemeClr val="bg1"/>
                    </a:solidFill>
                    <a:latin typeface="+mn-lt"/>
                    <a:ea typeface="微软雅黑 Light" panose="020B0502040204020203" pitchFamily="34" charset="-122"/>
                  </a:rPr>
                  <a:t>8</a:t>
                </a:r>
              </a:p>
            </p:txBody>
          </p:sp>
          <p:sp>
            <p:nvSpPr>
              <p:cNvPr id="840716" name="Rectangle 12"/>
              <p:cNvSpPr>
                <a:spLocks noChangeArrowheads="1"/>
              </p:cNvSpPr>
              <p:nvPr/>
            </p:nvSpPr>
            <p:spPr bwMode="auto">
              <a:xfrm>
                <a:off x="3334" y="1570"/>
                <a:ext cx="136" cy="181"/>
              </a:xfrm>
              <a:prstGeom prst="rect">
                <a:avLst/>
              </a:prstGeom>
              <a:solidFill>
                <a:srgbClr val="FFC0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dirty="0">
                    <a:latin typeface="+mn-lt"/>
                    <a:ea typeface="微软雅黑 Light" panose="020B0502040204020203" pitchFamily="34" charset="-122"/>
                  </a:rPr>
                  <a:t>H</a:t>
                </a:r>
              </a:p>
            </p:txBody>
          </p:sp>
        </p:grpSp>
        <p:sp>
          <p:nvSpPr>
            <p:cNvPr id="840717" name="Text Box 13"/>
            <p:cNvSpPr txBox="1">
              <a:spLocks noChangeArrowheads="1"/>
            </p:cNvSpPr>
            <p:nvPr/>
          </p:nvSpPr>
          <p:spPr bwMode="auto">
            <a:xfrm>
              <a:off x="8573244" y="1338684"/>
              <a:ext cx="769938" cy="1098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6600">
                  <a:latin typeface="+mn-lt"/>
                  <a:ea typeface="微软雅黑 Light" panose="020B0502040204020203" pitchFamily="34" charset="-122"/>
                  <a:sym typeface="Wingdings" panose="05000000000000000000" pitchFamily="2" charset="2"/>
                </a:rPr>
                <a:t></a:t>
              </a:r>
              <a:endParaRPr kumimoji="1" lang="en-US" altLang="zh-CN" sz="6600">
                <a:latin typeface="+mn-lt"/>
                <a:ea typeface="微软雅黑 Light" panose="020B0502040204020203" pitchFamily="34" charset="-122"/>
              </a:endParaRPr>
            </a:p>
          </p:txBody>
        </p:sp>
        <p:sp>
          <p:nvSpPr>
            <p:cNvPr id="840718" name="Freeform 14"/>
            <p:cNvSpPr/>
            <p:nvPr/>
          </p:nvSpPr>
          <p:spPr bwMode="auto">
            <a:xfrm>
              <a:off x="8547844" y="4364459"/>
              <a:ext cx="357188" cy="889000"/>
            </a:xfrm>
            <a:custGeom>
              <a:avLst/>
              <a:gdLst>
                <a:gd name="T0" fmla="*/ 0 w 225"/>
                <a:gd name="T1" fmla="*/ 590 h 590"/>
                <a:gd name="T2" fmla="*/ 225 w 225"/>
                <a:gd name="T3" fmla="*/ 590 h 590"/>
                <a:gd name="T4" fmla="*/ 225 w 225"/>
                <a:gd name="T5" fmla="*/ 0 h 590"/>
              </a:gdLst>
              <a:ahLst/>
              <a:cxnLst>
                <a:cxn ang="0">
                  <a:pos x="T0" y="T1"/>
                </a:cxn>
                <a:cxn ang="0">
                  <a:pos x="T2" y="T3"/>
                </a:cxn>
                <a:cxn ang="0">
                  <a:pos x="T4" y="T5"/>
                </a:cxn>
              </a:cxnLst>
              <a:rect l="0" t="0" r="r" b="b"/>
              <a:pathLst>
                <a:path w="225" h="590">
                  <a:moveTo>
                    <a:pt x="0" y="590"/>
                  </a:moveTo>
                  <a:lnTo>
                    <a:pt x="225" y="590"/>
                  </a:lnTo>
                  <a:lnTo>
                    <a:pt x="225" y="0"/>
                  </a:lnTo>
                </a:path>
              </a:pathLst>
            </a:custGeom>
            <a:noFill/>
            <a:ln w="28575" cap="flat" cmpd="sng">
              <a:solidFill>
                <a:schemeClr val="tx1"/>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840719" name="Text Box 15"/>
            <p:cNvSpPr txBox="1">
              <a:spLocks noChangeArrowheads="1"/>
            </p:cNvSpPr>
            <p:nvPr/>
          </p:nvSpPr>
          <p:spPr bwMode="auto">
            <a:xfrm>
              <a:off x="2307383" y="1338684"/>
              <a:ext cx="769937" cy="1098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6600">
                  <a:latin typeface="+mn-lt"/>
                  <a:ea typeface="微软雅黑 Light" panose="020B0502040204020203" pitchFamily="34" charset="-122"/>
                  <a:sym typeface="Wingdings" panose="05000000000000000000" pitchFamily="2" charset="2"/>
                </a:rPr>
                <a:t></a:t>
              </a:r>
              <a:endParaRPr kumimoji="1" lang="en-US" altLang="zh-CN" sz="6600">
                <a:latin typeface="+mn-lt"/>
                <a:ea typeface="微软雅黑 Light" panose="020B0502040204020203" pitchFamily="34" charset="-122"/>
              </a:endParaRPr>
            </a:p>
          </p:txBody>
        </p:sp>
        <p:sp>
          <p:nvSpPr>
            <p:cNvPr id="840720" name="AutoShape 16"/>
            <p:cNvSpPr>
              <a:spLocks noChangeArrowheads="1"/>
            </p:cNvSpPr>
            <p:nvPr/>
          </p:nvSpPr>
          <p:spPr bwMode="auto">
            <a:xfrm>
              <a:off x="5844333" y="4815310"/>
              <a:ext cx="263525" cy="130175"/>
            </a:xfrm>
            <a:prstGeom prst="rightArrow">
              <a:avLst>
                <a:gd name="adj1" fmla="val 50000"/>
                <a:gd name="adj2" fmla="val 50610"/>
              </a:avLst>
            </a:prstGeom>
            <a:solidFill>
              <a:srgbClr val="0066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a:solidFill>
                  <a:schemeClr val="bg1"/>
                </a:solidFill>
                <a:latin typeface="+mn-lt"/>
                <a:ea typeface="微软雅黑 Light" panose="020B0502040204020203" pitchFamily="34" charset="-122"/>
              </a:endParaRPr>
            </a:p>
          </p:txBody>
        </p:sp>
        <p:sp>
          <p:nvSpPr>
            <p:cNvPr id="840721" name="AutoShape 17"/>
            <p:cNvSpPr>
              <a:spLocks noChangeArrowheads="1"/>
            </p:cNvSpPr>
            <p:nvPr/>
          </p:nvSpPr>
          <p:spPr bwMode="auto">
            <a:xfrm>
              <a:off x="3972671" y="4813722"/>
              <a:ext cx="263525" cy="130175"/>
            </a:xfrm>
            <a:prstGeom prst="rightArrow">
              <a:avLst>
                <a:gd name="adj1" fmla="val 50000"/>
                <a:gd name="adj2" fmla="val 50610"/>
              </a:avLst>
            </a:prstGeom>
            <a:solidFill>
              <a:srgbClr val="0066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a:solidFill>
                  <a:schemeClr val="bg1"/>
                </a:solidFill>
                <a:latin typeface="+mn-lt"/>
                <a:ea typeface="微软雅黑 Light" panose="020B0502040204020203" pitchFamily="34" charset="-122"/>
              </a:endParaRPr>
            </a:p>
          </p:txBody>
        </p:sp>
        <p:sp>
          <p:nvSpPr>
            <p:cNvPr id="840722" name="Line 18"/>
            <p:cNvSpPr>
              <a:spLocks noChangeShapeType="1"/>
            </p:cNvSpPr>
            <p:nvPr/>
          </p:nvSpPr>
          <p:spPr bwMode="auto">
            <a:xfrm>
              <a:off x="2640758" y="2205460"/>
              <a:ext cx="3175" cy="1487487"/>
            </a:xfrm>
            <a:prstGeom prst="line">
              <a:avLst/>
            </a:prstGeom>
            <a:noFill/>
            <a:ln w="9525">
              <a:solidFill>
                <a:schemeClr val="tx1"/>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840723" name="Text Box 19"/>
            <p:cNvSpPr txBox="1">
              <a:spLocks noChangeArrowheads="1"/>
            </p:cNvSpPr>
            <p:nvPr/>
          </p:nvSpPr>
          <p:spPr bwMode="auto">
            <a:xfrm>
              <a:off x="6349085" y="4340647"/>
              <a:ext cx="187974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800">
                  <a:latin typeface="+mn-lt"/>
                  <a:ea typeface="微软雅黑 Light" panose="020B0502040204020203" pitchFamily="34" charset="-122"/>
                </a:rPr>
                <a:t>发送 </a:t>
              </a:r>
              <a:r>
                <a:rPr kumimoji="1" lang="en-US" altLang="zh-CN" sz="1800">
                  <a:latin typeface="+mn-lt"/>
                  <a:ea typeface="微软雅黑 Light" panose="020B0502040204020203" pitchFamily="34" charset="-122"/>
                </a:rPr>
                <a:t>TCP </a:t>
              </a:r>
              <a:r>
                <a:rPr kumimoji="1" lang="zh-CN" altLang="en-US" sz="1800">
                  <a:latin typeface="+mn-lt"/>
                  <a:ea typeface="微软雅黑 Light" panose="020B0502040204020203" pitchFamily="34" charset="-122"/>
                </a:rPr>
                <a:t>报文段</a:t>
              </a:r>
            </a:p>
          </p:txBody>
        </p:sp>
        <p:sp>
          <p:nvSpPr>
            <p:cNvPr id="840724" name="Rectangle 20"/>
            <p:cNvSpPr>
              <a:spLocks noChangeArrowheads="1"/>
            </p:cNvSpPr>
            <p:nvPr/>
          </p:nvSpPr>
          <p:spPr bwMode="auto">
            <a:xfrm>
              <a:off x="1737911" y="3646115"/>
              <a:ext cx="1663700" cy="682625"/>
            </a:xfrm>
            <a:prstGeom prst="rect">
              <a:avLst/>
            </a:prstGeom>
            <a:solidFill>
              <a:schemeClr val="bg2"/>
            </a:solidFill>
            <a:ln w="19050">
              <a:solidFill>
                <a:schemeClr val="tx1"/>
              </a:solidFill>
              <a:miter lim="800000"/>
            </a:ln>
            <a:effectLst>
              <a:outerShdw dist="35921" dir="2700000" algn="ctr" rotWithShape="0">
                <a:schemeClr val="bg2"/>
              </a:outerShdw>
            </a:effectLst>
          </p:spPr>
          <p:txBody>
            <a:bodyPr wrap="none" anchor="ctr"/>
            <a:lstStyle/>
            <a:p>
              <a:pPr algn="ctr"/>
              <a:endParaRPr kumimoji="1" lang="en-US" altLang="zh-CN" sz="1800">
                <a:solidFill>
                  <a:schemeClr val="bg1"/>
                </a:solidFill>
                <a:latin typeface="+mn-lt"/>
                <a:ea typeface="微软雅黑 Light" panose="020B0502040204020203" pitchFamily="34" charset="-122"/>
              </a:endParaRPr>
            </a:p>
            <a:p>
              <a:pPr algn="ctr"/>
              <a:endParaRPr kumimoji="1" lang="en-US" altLang="zh-CN" sz="900">
                <a:solidFill>
                  <a:schemeClr val="bg1"/>
                </a:solidFill>
                <a:latin typeface="+mn-lt"/>
                <a:ea typeface="微软雅黑 Light" panose="020B0502040204020203" pitchFamily="34" charset="-122"/>
              </a:endParaRPr>
            </a:p>
            <a:p>
              <a:pPr algn="ctr"/>
              <a:endParaRPr kumimoji="1" lang="en-US" altLang="zh-CN" sz="1800">
                <a:solidFill>
                  <a:schemeClr val="bg1"/>
                </a:solidFill>
                <a:latin typeface="+mn-lt"/>
                <a:ea typeface="微软雅黑 Light" panose="020B0502040204020203" pitchFamily="34" charset="-122"/>
              </a:endParaRPr>
            </a:p>
          </p:txBody>
        </p:sp>
        <p:sp>
          <p:nvSpPr>
            <p:cNvPr id="840725" name="Line 21"/>
            <p:cNvSpPr>
              <a:spLocks noChangeShapeType="1"/>
            </p:cNvSpPr>
            <p:nvPr/>
          </p:nvSpPr>
          <p:spPr bwMode="auto">
            <a:xfrm flipV="1">
              <a:off x="8932019" y="2205460"/>
              <a:ext cx="0" cy="1476375"/>
            </a:xfrm>
            <a:prstGeom prst="line">
              <a:avLst/>
            </a:prstGeom>
            <a:noFill/>
            <a:ln w="9525">
              <a:solidFill>
                <a:schemeClr val="tx1"/>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840726" name="Rectangle 22"/>
            <p:cNvSpPr>
              <a:spLocks noChangeArrowheads="1"/>
            </p:cNvSpPr>
            <p:nvPr/>
          </p:nvSpPr>
          <p:spPr bwMode="auto">
            <a:xfrm>
              <a:off x="8097190" y="3647503"/>
              <a:ext cx="1662113" cy="682625"/>
            </a:xfrm>
            <a:prstGeom prst="rect">
              <a:avLst/>
            </a:prstGeom>
            <a:solidFill>
              <a:schemeClr val="bg2"/>
            </a:solidFill>
            <a:ln w="19050">
              <a:solidFill>
                <a:schemeClr val="tx1"/>
              </a:solidFill>
              <a:miter lim="800000"/>
            </a:ln>
            <a:effectLst>
              <a:outerShdw dist="35921" dir="2700000" algn="ctr" rotWithShape="0">
                <a:schemeClr val="bg2"/>
              </a:outerShdw>
            </a:effectLst>
          </p:spPr>
          <p:txBody>
            <a:bodyPr wrap="none" anchor="ctr"/>
            <a:lstStyle/>
            <a:p>
              <a:pPr algn="ctr"/>
              <a:endParaRPr kumimoji="1" lang="en-US" altLang="zh-CN" sz="1800">
                <a:latin typeface="+mn-lt"/>
                <a:ea typeface="微软雅黑 Light" panose="020B0502040204020203" pitchFamily="34" charset="-122"/>
              </a:endParaRPr>
            </a:p>
            <a:p>
              <a:pPr algn="ctr"/>
              <a:endParaRPr kumimoji="1" lang="en-US" altLang="zh-CN" sz="900">
                <a:latin typeface="+mn-lt"/>
                <a:ea typeface="微软雅黑 Light" panose="020B0502040204020203" pitchFamily="34" charset="-122"/>
              </a:endParaRPr>
            </a:p>
            <a:p>
              <a:pPr algn="ctr"/>
              <a:endParaRPr kumimoji="1" lang="en-US" altLang="zh-CN" sz="1800">
                <a:latin typeface="+mn-lt"/>
                <a:ea typeface="微软雅黑 Light" panose="020B0502040204020203" pitchFamily="34" charset="-122"/>
              </a:endParaRPr>
            </a:p>
          </p:txBody>
        </p:sp>
        <p:sp>
          <p:nvSpPr>
            <p:cNvPr id="840727" name="Text Box 23"/>
            <p:cNvSpPr txBox="1">
              <a:spLocks noChangeArrowheads="1"/>
            </p:cNvSpPr>
            <p:nvPr/>
          </p:nvSpPr>
          <p:spPr bwMode="auto">
            <a:xfrm>
              <a:off x="2089894" y="1119609"/>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400" dirty="0">
                  <a:latin typeface="+mn-lt"/>
                  <a:ea typeface="微软雅黑 Light" panose="020B0502040204020203" pitchFamily="34" charset="-122"/>
                </a:rPr>
                <a:t>发送方</a:t>
              </a:r>
            </a:p>
          </p:txBody>
        </p:sp>
        <p:sp>
          <p:nvSpPr>
            <p:cNvPr id="840728" name="Text Box 24"/>
            <p:cNvSpPr txBox="1">
              <a:spLocks noChangeArrowheads="1"/>
            </p:cNvSpPr>
            <p:nvPr/>
          </p:nvSpPr>
          <p:spPr bwMode="auto">
            <a:xfrm>
              <a:off x="8366869" y="1119609"/>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400">
                  <a:latin typeface="+mn-lt"/>
                  <a:ea typeface="微软雅黑 Light" panose="020B0502040204020203" pitchFamily="34" charset="-122"/>
                </a:rPr>
                <a:t>接收方</a:t>
              </a:r>
            </a:p>
          </p:txBody>
        </p:sp>
        <p:sp>
          <p:nvSpPr>
            <p:cNvPr id="840729" name="AutoShape 25"/>
            <p:cNvSpPr>
              <a:spLocks noChangeArrowheads="1"/>
            </p:cNvSpPr>
            <p:nvPr/>
          </p:nvSpPr>
          <p:spPr bwMode="auto">
            <a:xfrm>
              <a:off x="3359894" y="2924596"/>
              <a:ext cx="1206500" cy="609600"/>
            </a:xfrm>
            <a:prstGeom prst="wedgeRoundRectCallout">
              <a:avLst>
                <a:gd name="adj1" fmla="val -85792"/>
                <a:gd name="adj2" fmla="val 120833"/>
                <a:gd name="adj3" fmla="val 16667"/>
              </a:avLst>
            </a:prstGeom>
            <a:solidFill>
              <a:schemeClr val="bg2"/>
            </a:solidFill>
            <a:ln w="9525">
              <a:solidFill>
                <a:schemeClr val="tx1"/>
              </a:solidFill>
              <a:miter lim="800000"/>
            </a:ln>
            <a:effectLst>
              <a:outerShdw dist="35921" dir="2700000" algn="ctr" rotWithShape="0">
                <a:schemeClr val="bg2"/>
              </a:outerShdw>
            </a:effectLst>
          </p:spPr>
          <p:txBody>
            <a:bodyPr/>
            <a:lstStyle/>
            <a:p>
              <a:pPr algn="ctr"/>
              <a:endParaRPr kumimoji="1" lang="zh-CN" altLang="zh-CN" sz="2800">
                <a:latin typeface="+mn-lt"/>
                <a:ea typeface="微软雅黑 Light" panose="020B0502040204020203" pitchFamily="34" charset="-122"/>
              </a:endParaRPr>
            </a:p>
          </p:txBody>
        </p:sp>
        <p:sp>
          <p:nvSpPr>
            <p:cNvPr id="840730" name="Text Box 26"/>
            <p:cNvSpPr txBox="1">
              <a:spLocks noChangeArrowheads="1"/>
            </p:cNvSpPr>
            <p:nvPr/>
          </p:nvSpPr>
          <p:spPr bwMode="auto">
            <a:xfrm>
              <a:off x="3320207" y="2907134"/>
              <a:ext cx="1327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800" dirty="0">
                  <a:latin typeface="+mn-lt"/>
                  <a:ea typeface="微软雅黑 Light" panose="020B0502040204020203" pitchFamily="34" charset="-122"/>
                </a:rPr>
                <a:t>把字节写入</a:t>
              </a:r>
            </a:p>
            <a:p>
              <a:pPr algn="ctr"/>
              <a:r>
                <a:rPr kumimoji="1" lang="zh-CN" altLang="en-US" sz="1800" dirty="0">
                  <a:latin typeface="+mn-lt"/>
                  <a:ea typeface="微软雅黑 Light" panose="020B0502040204020203" pitchFamily="34" charset="-122"/>
                </a:rPr>
                <a:t>发送缓存</a:t>
              </a:r>
            </a:p>
          </p:txBody>
        </p:sp>
        <p:sp>
          <p:nvSpPr>
            <p:cNvPr id="840731" name="AutoShape 27"/>
            <p:cNvSpPr>
              <a:spLocks noChangeArrowheads="1"/>
            </p:cNvSpPr>
            <p:nvPr/>
          </p:nvSpPr>
          <p:spPr bwMode="auto">
            <a:xfrm>
              <a:off x="7465169" y="2637259"/>
              <a:ext cx="1181100" cy="609600"/>
            </a:xfrm>
            <a:prstGeom prst="wedgeRoundRectCallout">
              <a:avLst>
                <a:gd name="adj1" fmla="val 80912"/>
                <a:gd name="adj2" fmla="val 178384"/>
                <a:gd name="adj3" fmla="val 16667"/>
              </a:avLst>
            </a:prstGeom>
            <a:solidFill>
              <a:schemeClr val="bg2"/>
            </a:solidFill>
            <a:ln w="9525">
              <a:solidFill>
                <a:schemeClr val="tx1"/>
              </a:solidFill>
              <a:miter lim="800000"/>
            </a:ln>
            <a:effectLst>
              <a:outerShdw dist="35921" dir="2700000" algn="ctr" rotWithShape="0">
                <a:schemeClr val="bg2"/>
              </a:outerShdw>
            </a:effectLst>
          </p:spPr>
          <p:txBody>
            <a:bodyPr/>
            <a:lstStyle/>
            <a:p>
              <a:pPr algn="ctr"/>
              <a:endParaRPr kumimoji="1" lang="zh-CN" altLang="zh-CN" sz="2800">
                <a:latin typeface="+mn-lt"/>
                <a:ea typeface="微软雅黑 Light" panose="020B0502040204020203" pitchFamily="34" charset="-122"/>
              </a:endParaRPr>
            </a:p>
          </p:txBody>
        </p:sp>
        <p:sp>
          <p:nvSpPr>
            <p:cNvPr id="840732" name="Text Box 28"/>
            <p:cNvSpPr txBox="1">
              <a:spLocks noChangeArrowheads="1"/>
            </p:cNvSpPr>
            <p:nvPr/>
          </p:nvSpPr>
          <p:spPr bwMode="auto">
            <a:xfrm>
              <a:off x="7393732" y="2637259"/>
              <a:ext cx="1327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800" dirty="0">
                  <a:latin typeface="+mn-lt"/>
                  <a:ea typeface="微软雅黑 Light" panose="020B0502040204020203" pitchFamily="34" charset="-122"/>
                </a:rPr>
                <a:t>从接收缓存</a:t>
              </a:r>
            </a:p>
            <a:p>
              <a:pPr algn="ctr"/>
              <a:r>
                <a:rPr kumimoji="1" lang="zh-CN" altLang="en-US" sz="1800" dirty="0">
                  <a:latin typeface="+mn-lt"/>
                  <a:ea typeface="微软雅黑 Light" panose="020B0502040204020203" pitchFamily="34" charset="-122"/>
                </a:rPr>
                <a:t>读取字节</a:t>
              </a:r>
            </a:p>
          </p:txBody>
        </p:sp>
        <p:sp>
          <p:nvSpPr>
            <p:cNvPr id="840733" name="Text Box 29"/>
            <p:cNvSpPr txBox="1">
              <a:spLocks noChangeArrowheads="1"/>
            </p:cNvSpPr>
            <p:nvPr/>
          </p:nvSpPr>
          <p:spPr bwMode="auto">
            <a:xfrm>
              <a:off x="2856657" y="1719685"/>
              <a:ext cx="1200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a:latin typeface="+mn-lt"/>
                  <a:ea typeface="微软雅黑 Light" panose="020B0502040204020203" pitchFamily="34" charset="-122"/>
                </a:rPr>
                <a:t>应用进程</a:t>
              </a:r>
            </a:p>
          </p:txBody>
        </p:sp>
        <p:sp>
          <p:nvSpPr>
            <p:cNvPr id="840734" name="Text Box 30"/>
            <p:cNvSpPr txBox="1">
              <a:spLocks noChangeArrowheads="1"/>
            </p:cNvSpPr>
            <p:nvPr/>
          </p:nvSpPr>
          <p:spPr bwMode="auto">
            <a:xfrm>
              <a:off x="9144744" y="1664122"/>
              <a:ext cx="1200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a:latin typeface="+mn-lt"/>
                  <a:ea typeface="微软雅黑 Light" panose="020B0502040204020203" pitchFamily="34" charset="-122"/>
                </a:rPr>
                <a:t>应用进程</a:t>
              </a:r>
            </a:p>
          </p:txBody>
        </p:sp>
        <p:grpSp>
          <p:nvGrpSpPr>
            <p:cNvPr id="840735" name="Group 31"/>
            <p:cNvGrpSpPr/>
            <p:nvPr/>
          </p:nvGrpSpPr>
          <p:grpSpPr bwMode="auto">
            <a:xfrm>
              <a:off x="9076482" y="2349921"/>
              <a:ext cx="215900" cy="1150938"/>
              <a:chOff x="3107" y="210"/>
              <a:chExt cx="136" cy="725"/>
            </a:xfrm>
            <a:solidFill>
              <a:schemeClr val="bg2">
                <a:lumMod val="75000"/>
              </a:schemeClr>
            </a:solidFill>
          </p:grpSpPr>
          <p:sp>
            <p:nvSpPr>
              <p:cNvPr id="840736" name="Rectangle 32"/>
              <p:cNvSpPr>
                <a:spLocks noChangeArrowheads="1"/>
              </p:cNvSpPr>
              <p:nvPr/>
            </p:nvSpPr>
            <p:spPr bwMode="auto">
              <a:xfrm>
                <a:off x="3107" y="391"/>
                <a:ext cx="136" cy="181"/>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a:solidFill>
                      <a:schemeClr val="bg1"/>
                    </a:solidFill>
                    <a:latin typeface="+mn-lt"/>
                    <a:ea typeface="微软雅黑 Light" panose="020B0502040204020203" pitchFamily="34" charset="-122"/>
                  </a:rPr>
                  <a:t>1</a:t>
                </a:r>
              </a:p>
            </p:txBody>
          </p:sp>
          <p:sp>
            <p:nvSpPr>
              <p:cNvPr id="840737" name="Rectangle 33"/>
              <p:cNvSpPr>
                <a:spLocks noChangeArrowheads="1"/>
              </p:cNvSpPr>
              <p:nvPr/>
            </p:nvSpPr>
            <p:spPr bwMode="auto">
              <a:xfrm>
                <a:off x="3107" y="573"/>
                <a:ext cx="136" cy="181"/>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dirty="0">
                    <a:solidFill>
                      <a:schemeClr val="bg1"/>
                    </a:solidFill>
                    <a:latin typeface="+mn-lt"/>
                    <a:ea typeface="微软雅黑 Light" panose="020B0502040204020203" pitchFamily="34" charset="-122"/>
                  </a:rPr>
                  <a:t>2</a:t>
                </a:r>
              </a:p>
            </p:txBody>
          </p:sp>
          <p:sp>
            <p:nvSpPr>
              <p:cNvPr id="840738" name="Rectangle 34"/>
              <p:cNvSpPr>
                <a:spLocks noChangeArrowheads="1"/>
              </p:cNvSpPr>
              <p:nvPr/>
            </p:nvSpPr>
            <p:spPr bwMode="auto">
              <a:xfrm>
                <a:off x="3107" y="754"/>
                <a:ext cx="136" cy="181"/>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dirty="0">
                    <a:solidFill>
                      <a:schemeClr val="bg1"/>
                    </a:solidFill>
                    <a:latin typeface="+mn-lt"/>
                    <a:ea typeface="微软雅黑 Light" panose="020B0502040204020203" pitchFamily="34" charset="-122"/>
                  </a:rPr>
                  <a:t>3</a:t>
                </a:r>
              </a:p>
            </p:txBody>
          </p:sp>
          <p:sp>
            <p:nvSpPr>
              <p:cNvPr id="840739" name="Rectangle 35"/>
              <p:cNvSpPr>
                <a:spLocks noChangeArrowheads="1"/>
              </p:cNvSpPr>
              <p:nvPr/>
            </p:nvSpPr>
            <p:spPr bwMode="auto">
              <a:xfrm>
                <a:off x="3107" y="210"/>
                <a:ext cx="136" cy="181"/>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dirty="0">
                    <a:solidFill>
                      <a:schemeClr val="bg1"/>
                    </a:solidFill>
                    <a:latin typeface="+mn-lt"/>
                    <a:ea typeface="微软雅黑 Light" panose="020B0502040204020203" pitchFamily="34" charset="-122"/>
                  </a:rPr>
                  <a:t>0</a:t>
                </a:r>
              </a:p>
            </p:txBody>
          </p:sp>
        </p:grpSp>
        <p:sp>
          <p:nvSpPr>
            <p:cNvPr id="840740" name="Rectangle 36"/>
            <p:cNvSpPr>
              <a:spLocks noChangeArrowheads="1"/>
            </p:cNvSpPr>
            <p:nvPr/>
          </p:nvSpPr>
          <p:spPr bwMode="auto">
            <a:xfrm>
              <a:off x="2064494" y="4005685"/>
              <a:ext cx="215900" cy="287337"/>
            </a:xfrm>
            <a:prstGeom prst="rect">
              <a:avLst/>
            </a:prstGeom>
            <a:solidFill>
              <a:schemeClr val="bg2">
                <a:lumMod val="75000"/>
              </a:schemeClr>
            </a:solidFill>
            <a:ln w="9525" algn="ctr">
              <a:solidFill>
                <a:schemeClr val="tx1"/>
              </a:solidFill>
              <a:miter lim="800000"/>
            </a:ln>
            <a:effectLst/>
          </p:spPr>
          <p:txBody>
            <a:bodyPr wrap="none" anchor="ctr"/>
            <a:lstStyle/>
            <a:p>
              <a:pPr algn="ctr"/>
              <a:r>
                <a:rPr kumimoji="1" lang="en-US" altLang="zh-CN" sz="1800" dirty="0">
                  <a:solidFill>
                    <a:schemeClr val="bg1"/>
                  </a:solidFill>
                  <a:latin typeface="+mn-lt"/>
                  <a:ea typeface="微软雅黑 Light" panose="020B0502040204020203" pitchFamily="34" charset="-122"/>
                </a:rPr>
                <a:t>18</a:t>
              </a:r>
            </a:p>
          </p:txBody>
        </p:sp>
        <p:sp>
          <p:nvSpPr>
            <p:cNvPr id="840741" name="Rectangle 37"/>
            <p:cNvSpPr>
              <a:spLocks noChangeArrowheads="1"/>
            </p:cNvSpPr>
            <p:nvPr/>
          </p:nvSpPr>
          <p:spPr bwMode="auto">
            <a:xfrm>
              <a:off x="2280394" y="4005685"/>
              <a:ext cx="215900" cy="287337"/>
            </a:xfrm>
            <a:prstGeom prst="rect">
              <a:avLst/>
            </a:prstGeom>
            <a:solidFill>
              <a:schemeClr val="bg2">
                <a:lumMod val="75000"/>
              </a:schemeClr>
            </a:solidFill>
            <a:ln w="9525" algn="ctr">
              <a:solidFill>
                <a:schemeClr val="tx1"/>
              </a:solidFill>
              <a:miter lim="800000"/>
            </a:ln>
            <a:effectLst/>
          </p:spPr>
          <p:txBody>
            <a:bodyPr wrap="none" anchor="ctr"/>
            <a:lstStyle/>
            <a:p>
              <a:pPr algn="ctr"/>
              <a:r>
                <a:rPr kumimoji="1" lang="en-US" altLang="zh-CN" sz="1800" dirty="0">
                  <a:solidFill>
                    <a:schemeClr val="bg1"/>
                  </a:solidFill>
                  <a:latin typeface="+mn-lt"/>
                  <a:ea typeface="微软雅黑 Light" panose="020B0502040204020203" pitchFamily="34" charset="-122"/>
                </a:rPr>
                <a:t>17</a:t>
              </a:r>
            </a:p>
          </p:txBody>
        </p:sp>
        <p:sp>
          <p:nvSpPr>
            <p:cNvPr id="840742" name="Rectangle 38"/>
            <p:cNvSpPr>
              <a:spLocks noChangeArrowheads="1"/>
            </p:cNvSpPr>
            <p:nvPr/>
          </p:nvSpPr>
          <p:spPr bwMode="auto">
            <a:xfrm>
              <a:off x="2496294" y="4005685"/>
              <a:ext cx="215900" cy="287337"/>
            </a:xfrm>
            <a:prstGeom prst="rect">
              <a:avLst/>
            </a:prstGeom>
            <a:solidFill>
              <a:schemeClr val="bg2">
                <a:lumMod val="75000"/>
              </a:schemeClr>
            </a:solidFill>
            <a:ln w="9525" algn="ctr">
              <a:solidFill>
                <a:schemeClr val="tx1"/>
              </a:solidFill>
              <a:miter lim="800000"/>
            </a:ln>
            <a:effectLst/>
          </p:spPr>
          <p:txBody>
            <a:bodyPr wrap="none" anchor="ctr"/>
            <a:lstStyle/>
            <a:p>
              <a:pPr algn="ctr"/>
              <a:r>
                <a:rPr kumimoji="1" lang="en-US" altLang="zh-CN" sz="1800" dirty="0">
                  <a:solidFill>
                    <a:schemeClr val="bg1"/>
                  </a:solidFill>
                  <a:latin typeface="+mn-lt"/>
                  <a:ea typeface="微软雅黑 Light" panose="020B0502040204020203" pitchFamily="34" charset="-122"/>
                </a:rPr>
                <a:t>16</a:t>
              </a:r>
            </a:p>
          </p:txBody>
        </p:sp>
        <p:sp>
          <p:nvSpPr>
            <p:cNvPr id="840743" name="Rectangle 39"/>
            <p:cNvSpPr>
              <a:spLocks noChangeArrowheads="1"/>
            </p:cNvSpPr>
            <p:nvPr/>
          </p:nvSpPr>
          <p:spPr bwMode="auto">
            <a:xfrm>
              <a:off x="2712194" y="4005685"/>
              <a:ext cx="215900" cy="287337"/>
            </a:xfrm>
            <a:prstGeom prst="rect">
              <a:avLst/>
            </a:prstGeom>
            <a:solidFill>
              <a:schemeClr val="bg2">
                <a:lumMod val="75000"/>
              </a:schemeClr>
            </a:solidFill>
            <a:ln w="9525" algn="ctr">
              <a:solidFill>
                <a:schemeClr val="tx1"/>
              </a:solidFill>
              <a:miter lim="800000"/>
            </a:ln>
            <a:effectLst/>
          </p:spPr>
          <p:txBody>
            <a:bodyPr wrap="none" anchor="ctr"/>
            <a:lstStyle/>
            <a:p>
              <a:pPr algn="ctr"/>
              <a:r>
                <a:rPr kumimoji="1" lang="en-US" altLang="zh-CN" sz="1800" dirty="0">
                  <a:solidFill>
                    <a:schemeClr val="bg1"/>
                  </a:solidFill>
                  <a:latin typeface="+mn-lt"/>
                  <a:ea typeface="微软雅黑 Light" panose="020B0502040204020203" pitchFamily="34" charset="-122"/>
                </a:rPr>
                <a:t>15</a:t>
              </a:r>
            </a:p>
          </p:txBody>
        </p:sp>
        <p:sp>
          <p:nvSpPr>
            <p:cNvPr id="840744" name="Rectangle 40"/>
            <p:cNvSpPr>
              <a:spLocks noChangeArrowheads="1"/>
            </p:cNvSpPr>
            <p:nvPr/>
          </p:nvSpPr>
          <p:spPr bwMode="auto">
            <a:xfrm>
              <a:off x="2928094" y="4005685"/>
              <a:ext cx="215900" cy="287337"/>
            </a:xfrm>
            <a:prstGeom prst="rect">
              <a:avLst/>
            </a:prstGeom>
            <a:solidFill>
              <a:schemeClr val="bg2">
                <a:lumMod val="75000"/>
              </a:schemeClr>
            </a:solidFill>
            <a:ln w="9525">
              <a:solidFill>
                <a:schemeClr val="tx1"/>
              </a:solidFill>
              <a:miter lim="800000"/>
            </a:ln>
            <a:effectLst/>
          </p:spPr>
          <p:txBody>
            <a:bodyPr wrap="none" anchor="ctr"/>
            <a:lstStyle/>
            <a:p>
              <a:pPr algn="ctr"/>
              <a:r>
                <a:rPr kumimoji="1" lang="en-US" altLang="zh-CN" sz="1800" dirty="0">
                  <a:solidFill>
                    <a:schemeClr val="bg1"/>
                  </a:solidFill>
                  <a:latin typeface="+mn-lt"/>
                  <a:ea typeface="微软雅黑 Light" panose="020B0502040204020203" pitchFamily="34" charset="-122"/>
                </a:rPr>
                <a:t>14</a:t>
              </a:r>
            </a:p>
          </p:txBody>
        </p:sp>
        <p:grpSp>
          <p:nvGrpSpPr>
            <p:cNvPr id="840745" name="Group 41"/>
            <p:cNvGrpSpPr/>
            <p:nvPr/>
          </p:nvGrpSpPr>
          <p:grpSpPr bwMode="auto">
            <a:xfrm>
              <a:off x="2783632" y="2421359"/>
              <a:ext cx="215900" cy="863600"/>
              <a:chOff x="1429" y="164"/>
              <a:chExt cx="136" cy="544"/>
            </a:xfrm>
            <a:solidFill>
              <a:schemeClr val="bg2">
                <a:lumMod val="75000"/>
              </a:schemeClr>
            </a:solidFill>
          </p:grpSpPr>
          <p:sp>
            <p:nvSpPr>
              <p:cNvPr id="840746" name="Rectangle 42"/>
              <p:cNvSpPr>
                <a:spLocks noChangeArrowheads="1"/>
              </p:cNvSpPr>
              <p:nvPr/>
            </p:nvSpPr>
            <p:spPr bwMode="auto">
              <a:xfrm>
                <a:off x="1429" y="527"/>
                <a:ext cx="136" cy="181"/>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dirty="0">
                    <a:solidFill>
                      <a:schemeClr val="bg1"/>
                    </a:solidFill>
                    <a:latin typeface="+mn-lt"/>
                    <a:ea typeface="微软雅黑 Light" panose="020B0502040204020203" pitchFamily="34" charset="-122"/>
                  </a:rPr>
                  <a:t>19</a:t>
                </a:r>
              </a:p>
            </p:txBody>
          </p:sp>
          <p:sp>
            <p:nvSpPr>
              <p:cNvPr id="840747" name="Rectangle 43"/>
              <p:cNvSpPr>
                <a:spLocks noChangeArrowheads="1"/>
              </p:cNvSpPr>
              <p:nvPr/>
            </p:nvSpPr>
            <p:spPr bwMode="auto">
              <a:xfrm>
                <a:off x="1429" y="346"/>
                <a:ext cx="136" cy="181"/>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dirty="0">
                    <a:solidFill>
                      <a:schemeClr val="bg1"/>
                    </a:solidFill>
                    <a:latin typeface="+mn-lt"/>
                    <a:ea typeface="微软雅黑 Light" panose="020B0502040204020203" pitchFamily="34" charset="-122"/>
                  </a:rPr>
                  <a:t>20</a:t>
                </a:r>
              </a:p>
            </p:txBody>
          </p:sp>
          <p:sp>
            <p:nvSpPr>
              <p:cNvPr id="840748" name="Rectangle 44"/>
              <p:cNvSpPr>
                <a:spLocks noChangeArrowheads="1"/>
              </p:cNvSpPr>
              <p:nvPr/>
            </p:nvSpPr>
            <p:spPr bwMode="auto">
              <a:xfrm>
                <a:off x="1429" y="164"/>
                <a:ext cx="136" cy="181"/>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dirty="0">
                    <a:solidFill>
                      <a:schemeClr val="bg1"/>
                    </a:solidFill>
                    <a:latin typeface="+mn-lt"/>
                    <a:ea typeface="微软雅黑 Light" panose="020B0502040204020203" pitchFamily="34" charset="-122"/>
                  </a:rPr>
                  <a:t>21</a:t>
                </a:r>
              </a:p>
            </p:txBody>
          </p:sp>
        </p:grpSp>
        <p:grpSp>
          <p:nvGrpSpPr>
            <p:cNvPr id="840749" name="Group 45"/>
            <p:cNvGrpSpPr/>
            <p:nvPr/>
          </p:nvGrpSpPr>
          <p:grpSpPr bwMode="auto">
            <a:xfrm>
              <a:off x="8717707" y="4004096"/>
              <a:ext cx="431800" cy="287338"/>
              <a:chOff x="2789" y="1842"/>
              <a:chExt cx="272" cy="181"/>
            </a:xfrm>
            <a:solidFill>
              <a:schemeClr val="bg2">
                <a:lumMod val="75000"/>
              </a:schemeClr>
            </a:solidFill>
          </p:grpSpPr>
          <p:sp>
            <p:nvSpPr>
              <p:cNvPr id="840750" name="Rectangle 46"/>
              <p:cNvSpPr>
                <a:spLocks noChangeArrowheads="1"/>
              </p:cNvSpPr>
              <p:nvPr/>
            </p:nvSpPr>
            <p:spPr bwMode="auto">
              <a:xfrm>
                <a:off x="2925" y="1842"/>
                <a:ext cx="136" cy="181"/>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a:solidFill>
                      <a:schemeClr val="bg1"/>
                    </a:solidFill>
                    <a:latin typeface="+mn-lt"/>
                    <a:ea typeface="微软雅黑 Light" panose="020B0502040204020203" pitchFamily="34" charset="-122"/>
                  </a:rPr>
                  <a:t>4</a:t>
                </a:r>
              </a:p>
            </p:txBody>
          </p:sp>
          <p:sp>
            <p:nvSpPr>
              <p:cNvPr id="840751" name="Rectangle 47"/>
              <p:cNvSpPr>
                <a:spLocks noChangeArrowheads="1"/>
              </p:cNvSpPr>
              <p:nvPr/>
            </p:nvSpPr>
            <p:spPr bwMode="auto">
              <a:xfrm>
                <a:off x="2789" y="1842"/>
                <a:ext cx="136" cy="181"/>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a:solidFill>
                      <a:schemeClr val="bg1"/>
                    </a:solidFill>
                    <a:latin typeface="+mn-lt"/>
                    <a:ea typeface="微软雅黑 Light" panose="020B0502040204020203" pitchFamily="34" charset="-122"/>
                  </a:rPr>
                  <a:t>5</a:t>
                </a:r>
              </a:p>
            </p:txBody>
          </p:sp>
        </p:grpSp>
        <p:grpSp>
          <p:nvGrpSpPr>
            <p:cNvPr id="840752" name="Group 48"/>
            <p:cNvGrpSpPr/>
            <p:nvPr/>
          </p:nvGrpSpPr>
          <p:grpSpPr bwMode="auto">
            <a:xfrm>
              <a:off x="3217019" y="4724821"/>
              <a:ext cx="863600" cy="287338"/>
              <a:chOff x="2200" y="1298"/>
              <a:chExt cx="544" cy="181"/>
            </a:xfrm>
          </p:grpSpPr>
          <p:sp>
            <p:nvSpPr>
              <p:cNvPr id="840753" name="Rectangle 49"/>
              <p:cNvSpPr>
                <a:spLocks noChangeArrowheads="1"/>
              </p:cNvSpPr>
              <p:nvPr/>
            </p:nvSpPr>
            <p:spPr bwMode="auto">
              <a:xfrm>
                <a:off x="2200" y="1298"/>
                <a:ext cx="136" cy="181"/>
              </a:xfrm>
              <a:prstGeom prst="rect">
                <a:avLst/>
              </a:prstGeom>
              <a:solidFill>
                <a:schemeClr val="bg2">
                  <a:lumMod val="75000"/>
                </a:schemeClr>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dirty="0">
                    <a:solidFill>
                      <a:schemeClr val="bg1"/>
                    </a:solidFill>
                    <a:latin typeface="+mn-lt"/>
                    <a:ea typeface="微软雅黑 Light" panose="020B0502040204020203" pitchFamily="34" charset="-122"/>
                  </a:rPr>
                  <a:t>13</a:t>
                </a:r>
              </a:p>
            </p:txBody>
          </p:sp>
          <p:sp>
            <p:nvSpPr>
              <p:cNvPr id="840754" name="Rectangle 50"/>
              <p:cNvSpPr>
                <a:spLocks noChangeArrowheads="1"/>
              </p:cNvSpPr>
              <p:nvPr/>
            </p:nvSpPr>
            <p:spPr bwMode="auto">
              <a:xfrm>
                <a:off x="2336" y="1298"/>
                <a:ext cx="136" cy="181"/>
              </a:xfrm>
              <a:prstGeom prst="rect">
                <a:avLst/>
              </a:prstGeom>
              <a:solidFill>
                <a:schemeClr val="bg2">
                  <a:lumMod val="75000"/>
                </a:schemeClr>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dirty="0">
                    <a:solidFill>
                      <a:schemeClr val="bg1"/>
                    </a:solidFill>
                    <a:latin typeface="+mn-lt"/>
                    <a:ea typeface="微软雅黑 Light" panose="020B0502040204020203" pitchFamily="34" charset="-122"/>
                  </a:rPr>
                  <a:t>12</a:t>
                </a:r>
              </a:p>
            </p:txBody>
          </p:sp>
          <p:sp>
            <p:nvSpPr>
              <p:cNvPr id="840755" name="Rectangle 51"/>
              <p:cNvSpPr>
                <a:spLocks noChangeArrowheads="1"/>
              </p:cNvSpPr>
              <p:nvPr/>
            </p:nvSpPr>
            <p:spPr bwMode="auto">
              <a:xfrm>
                <a:off x="2472" y="1298"/>
                <a:ext cx="136" cy="181"/>
              </a:xfrm>
              <a:prstGeom prst="rect">
                <a:avLst/>
              </a:prstGeom>
              <a:solidFill>
                <a:schemeClr val="bg2">
                  <a:lumMod val="75000"/>
                </a:schemeClr>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dirty="0">
                    <a:solidFill>
                      <a:schemeClr val="bg1"/>
                    </a:solidFill>
                    <a:latin typeface="+mn-lt"/>
                    <a:ea typeface="微软雅黑 Light" panose="020B0502040204020203" pitchFamily="34" charset="-122"/>
                  </a:rPr>
                  <a:t>11</a:t>
                </a:r>
              </a:p>
            </p:txBody>
          </p:sp>
          <p:sp>
            <p:nvSpPr>
              <p:cNvPr id="840756" name="Rectangle 52"/>
              <p:cNvSpPr>
                <a:spLocks noChangeArrowheads="1"/>
              </p:cNvSpPr>
              <p:nvPr/>
            </p:nvSpPr>
            <p:spPr bwMode="auto">
              <a:xfrm>
                <a:off x="2608" y="1298"/>
                <a:ext cx="136" cy="181"/>
              </a:xfrm>
              <a:prstGeom prst="rect">
                <a:avLst/>
              </a:prstGeom>
              <a:solidFill>
                <a:srgbClr val="FFC000"/>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dirty="0">
                    <a:latin typeface="+mn-lt"/>
                    <a:ea typeface="微软雅黑 Light" panose="020B0502040204020203" pitchFamily="34" charset="-122"/>
                  </a:rPr>
                  <a:t>H</a:t>
                </a:r>
              </a:p>
            </p:txBody>
          </p:sp>
        </p:grpSp>
        <p:grpSp>
          <p:nvGrpSpPr>
            <p:cNvPr id="840757" name="Group 53"/>
            <p:cNvGrpSpPr/>
            <p:nvPr/>
          </p:nvGrpSpPr>
          <p:grpSpPr bwMode="auto">
            <a:xfrm>
              <a:off x="5233144" y="4726410"/>
              <a:ext cx="431800" cy="287337"/>
              <a:chOff x="2290" y="482"/>
              <a:chExt cx="272" cy="181"/>
            </a:xfrm>
          </p:grpSpPr>
          <p:sp>
            <p:nvSpPr>
              <p:cNvPr id="840758" name="Rectangle 54"/>
              <p:cNvSpPr>
                <a:spLocks noChangeArrowheads="1"/>
              </p:cNvSpPr>
              <p:nvPr/>
            </p:nvSpPr>
            <p:spPr bwMode="auto">
              <a:xfrm>
                <a:off x="2290" y="482"/>
                <a:ext cx="136" cy="181"/>
              </a:xfrm>
              <a:prstGeom prst="rect">
                <a:avLst/>
              </a:prstGeom>
              <a:solidFill>
                <a:schemeClr val="bg2">
                  <a:lumMod val="75000"/>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a:solidFill>
                      <a:schemeClr val="bg1"/>
                    </a:solidFill>
                    <a:latin typeface="+mn-lt"/>
                    <a:ea typeface="微软雅黑 Light" panose="020B0502040204020203" pitchFamily="34" charset="-122"/>
                  </a:rPr>
                  <a:t>10</a:t>
                </a:r>
              </a:p>
            </p:txBody>
          </p:sp>
          <p:sp>
            <p:nvSpPr>
              <p:cNvPr id="840759" name="Rectangle 55"/>
              <p:cNvSpPr>
                <a:spLocks noChangeArrowheads="1"/>
              </p:cNvSpPr>
              <p:nvPr/>
            </p:nvSpPr>
            <p:spPr bwMode="auto">
              <a:xfrm>
                <a:off x="2426" y="482"/>
                <a:ext cx="136" cy="181"/>
              </a:xfrm>
              <a:prstGeom prst="rect">
                <a:avLst/>
              </a:prstGeom>
              <a:solidFill>
                <a:schemeClr val="bg2">
                  <a:lumMod val="75000"/>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dirty="0">
                    <a:solidFill>
                      <a:schemeClr val="bg1"/>
                    </a:solidFill>
                    <a:latin typeface="+mn-lt"/>
                    <a:ea typeface="微软雅黑 Light" panose="020B0502040204020203" pitchFamily="34" charset="-122"/>
                  </a:rPr>
                  <a:t>9</a:t>
                </a:r>
              </a:p>
            </p:txBody>
          </p:sp>
        </p:grpSp>
        <p:sp>
          <p:nvSpPr>
            <p:cNvPr id="840760" name="Rectangle 56"/>
            <p:cNvSpPr>
              <a:spLocks noChangeArrowheads="1"/>
            </p:cNvSpPr>
            <p:nvPr/>
          </p:nvSpPr>
          <p:spPr bwMode="auto">
            <a:xfrm>
              <a:off x="5664944" y="4726410"/>
              <a:ext cx="215900" cy="287337"/>
            </a:xfrm>
            <a:prstGeom prst="rect">
              <a:avLst/>
            </a:prstGeom>
            <a:solidFill>
              <a:srgbClr val="FFC0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dirty="0">
                  <a:latin typeface="+mn-lt"/>
                  <a:ea typeface="微软雅黑 Light" panose="020B0502040204020203" pitchFamily="34" charset="-122"/>
                </a:rPr>
                <a:t>H</a:t>
              </a:r>
            </a:p>
          </p:txBody>
        </p:sp>
        <p:sp>
          <p:nvSpPr>
            <p:cNvPr id="840761" name="AutoShape 57"/>
            <p:cNvSpPr>
              <a:spLocks noChangeArrowheads="1"/>
            </p:cNvSpPr>
            <p:nvPr/>
          </p:nvSpPr>
          <p:spPr bwMode="auto">
            <a:xfrm>
              <a:off x="4512419" y="3645321"/>
              <a:ext cx="1873250" cy="609600"/>
            </a:xfrm>
            <a:prstGeom prst="wedgeRoundRectCallout">
              <a:avLst>
                <a:gd name="adj1" fmla="val -73306"/>
                <a:gd name="adj2" fmla="val 126301"/>
                <a:gd name="adj3" fmla="val 16667"/>
              </a:avLst>
            </a:prstGeom>
            <a:solidFill>
              <a:schemeClr val="bg2"/>
            </a:solidFill>
            <a:ln w="9525">
              <a:solidFill>
                <a:schemeClr val="tx1"/>
              </a:solidFill>
              <a:miter lim="800000"/>
            </a:ln>
            <a:effectLst>
              <a:outerShdw dist="35921" dir="2700000" algn="ctr" rotWithShape="0">
                <a:schemeClr val="bg2"/>
              </a:outerShdw>
            </a:effectLst>
          </p:spPr>
          <p:txBody>
            <a:bodyPr/>
            <a:lstStyle/>
            <a:p>
              <a:pPr algn="ctr"/>
              <a:endParaRPr kumimoji="1" lang="zh-CN" altLang="zh-CN" sz="2800">
                <a:latin typeface="+mn-lt"/>
                <a:ea typeface="微软雅黑 Light" panose="020B0502040204020203" pitchFamily="34" charset="-122"/>
              </a:endParaRPr>
            </a:p>
          </p:txBody>
        </p:sp>
        <p:sp>
          <p:nvSpPr>
            <p:cNvPr id="840762" name="Text Box 58"/>
            <p:cNvSpPr txBox="1">
              <a:spLocks noChangeArrowheads="1"/>
            </p:cNvSpPr>
            <p:nvPr/>
          </p:nvSpPr>
          <p:spPr bwMode="auto">
            <a:xfrm>
              <a:off x="4464722" y="3626271"/>
              <a:ext cx="187974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800">
                  <a:latin typeface="+mn-lt"/>
                  <a:ea typeface="微软雅黑 Light" panose="020B0502040204020203" pitchFamily="34" charset="-122"/>
                </a:rPr>
                <a:t>加上 </a:t>
              </a:r>
              <a:r>
                <a:rPr kumimoji="1" lang="en-US" altLang="zh-CN" sz="1800">
                  <a:latin typeface="+mn-lt"/>
                  <a:ea typeface="微软雅黑 Light" panose="020B0502040204020203" pitchFamily="34" charset="-122"/>
                </a:rPr>
                <a:t>TCP </a:t>
              </a:r>
              <a:r>
                <a:rPr kumimoji="1" lang="zh-CN" altLang="en-US" sz="1800">
                  <a:latin typeface="+mn-lt"/>
                  <a:ea typeface="微软雅黑 Light" panose="020B0502040204020203" pitchFamily="34" charset="-122"/>
                </a:rPr>
                <a:t>首部</a:t>
              </a:r>
            </a:p>
            <a:p>
              <a:pPr algn="ctr"/>
              <a:r>
                <a:rPr kumimoji="1" lang="zh-CN" altLang="en-US" sz="1800">
                  <a:latin typeface="+mn-lt"/>
                  <a:ea typeface="微软雅黑 Light" panose="020B0502040204020203" pitchFamily="34" charset="-122"/>
                </a:rPr>
                <a:t>构成 </a:t>
              </a:r>
              <a:r>
                <a:rPr kumimoji="1" lang="en-US" altLang="zh-CN" sz="1800">
                  <a:latin typeface="+mn-lt"/>
                  <a:ea typeface="微软雅黑 Light" panose="020B0502040204020203" pitchFamily="34" charset="-122"/>
                </a:rPr>
                <a:t>TCP </a:t>
              </a:r>
              <a:r>
                <a:rPr kumimoji="1" lang="zh-CN" altLang="en-US" sz="1800">
                  <a:latin typeface="+mn-lt"/>
                  <a:ea typeface="微软雅黑 Light" panose="020B0502040204020203" pitchFamily="34" charset="-122"/>
                </a:rPr>
                <a:t>报文段</a:t>
              </a:r>
            </a:p>
          </p:txBody>
        </p:sp>
        <p:sp>
          <p:nvSpPr>
            <p:cNvPr id="840763" name="Line 59"/>
            <p:cNvSpPr>
              <a:spLocks noChangeShapeType="1"/>
            </p:cNvSpPr>
            <p:nvPr/>
          </p:nvSpPr>
          <p:spPr bwMode="auto">
            <a:xfrm>
              <a:off x="3097957" y="2576934"/>
              <a:ext cx="0" cy="576262"/>
            </a:xfrm>
            <a:prstGeom prst="line">
              <a:avLst/>
            </a:prstGeom>
            <a:noFill/>
            <a:ln w="38100">
              <a:solidFill>
                <a:srgbClr val="0066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840764" name="Line 60"/>
            <p:cNvSpPr>
              <a:spLocks noChangeShapeType="1"/>
            </p:cNvSpPr>
            <p:nvPr/>
          </p:nvSpPr>
          <p:spPr bwMode="auto">
            <a:xfrm flipV="1">
              <a:off x="9365407" y="2637259"/>
              <a:ext cx="0" cy="576262"/>
            </a:xfrm>
            <a:prstGeom prst="line">
              <a:avLst/>
            </a:prstGeom>
            <a:noFill/>
            <a:ln w="38100">
              <a:solidFill>
                <a:srgbClr val="0066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840765" name="Text Box 61"/>
            <p:cNvSpPr txBox="1">
              <a:spLocks noChangeArrowheads="1"/>
            </p:cNvSpPr>
            <p:nvPr/>
          </p:nvSpPr>
          <p:spPr bwMode="auto">
            <a:xfrm>
              <a:off x="1783507" y="3611984"/>
              <a:ext cx="603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800" dirty="0">
                  <a:latin typeface="+mn-lt"/>
                  <a:ea typeface="微软雅黑 Light" panose="020B0502040204020203" pitchFamily="34" charset="-122"/>
                </a:rPr>
                <a:t>TCP</a:t>
              </a:r>
            </a:p>
          </p:txBody>
        </p:sp>
        <p:sp>
          <p:nvSpPr>
            <p:cNvPr id="840766" name="Text Box 62"/>
            <p:cNvSpPr txBox="1">
              <a:spLocks noChangeArrowheads="1"/>
            </p:cNvSpPr>
            <p:nvPr/>
          </p:nvSpPr>
          <p:spPr bwMode="auto">
            <a:xfrm>
              <a:off x="8065244" y="3621509"/>
              <a:ext cx="603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800" dirty="0">
                  <a:latin typeface="+mn-lt"/>
                  <a:ea typeface="微软雅黑 Light" panose="020B0502040204020203" pitchFamily="34" charset="-122"/>
                </a:rPr>
                <a:t>TCP</a:t>
              </a:r>
            </a:p>
          </p:txBody>
        </p:sp>
        <p:sp>
          <p:nvSpPr>
            <p:cNvPr id="840767" name="Text Box 63"/>
            <p:cNvSpPr txBox="1">
              <a:spLocks noChangeArrowheads="1"/>
            </p:cNvSpPr>
            <p:nvPr/>
          </p:nvSpPr>
          <p:spPr bwMode="auto">
            <a:xfrm>
              <a:off x="3072557" y="2321347"/>
              <a:ext cx="869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a:latin typeface="+mn-lt"/>
                  <a:ea typeface="微软雅黑 Light" panose="020B0502040204020203" pitchFamily="34" charset="-122"/>
                </a:rPr>
                <a:t>字节流</a:t>
              </a:r>
            </a:p>
          </p:txBody>
        </p:sp>
        <p:sp>
          <p:nvSpPr>
            <p:cNvPr id="840768" name="Text Box 64"/>
            <p:cNvSpPr txBox="1">
              <a:spLocks noChangeArrowheads="1"/>
            </p:cNvSpPr>
            <p:nvPr/>
          </p:nvSpPr>
          <p:spPr bwMode="auto">
            <a:xfrm>
              <a:off x="9290794" y="2321347"/>
              <a:ext cx="869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a:latin typeface="+mn-lt"/>
                  <a:ea typeface="微软雅黑 Light" panose="020B0502040204020203" pitchFamily="34" charset="-122"/>
                </a:rPr>
                <a:t>字节流</a:t>
              </a:r>
            </a:p>
          </p:txBody>
        </p:sp>
        <p:sp>
          <p:nvSpPr>
            <p:cNvPr id="840769" name="Rectangle 65"/>
            <p:cNvSpPr>
              <a:spLocks noChangeArrowheads="1"/>
            </p:cNvSpPr>
            <p:nvPr/>
          </p:nvSpPr>
          <p:spPr bwMode="auto">
            <a:xfrm>
              <a:off x="4728319" y="1629196"/>
              <a:ext cx="215900" cy="287338"/>
            </a:xfrm>
            <a:prstGeom prst="rect">
              <a:avLst/>
            </a:prstGeom>
            <a:solidFill>
              <a:srgbClr val="FFC0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dirty="0">
                  <a:latin typeface="+mn-lt"/>
                  <a:ea typeface="微软雅黑 Light" panose="020B0502040204020203" pitchFamily="34" charset="-122"/>
                </a:rPr>
                <a:t>H</a:t>
              </a:r>
            </a:p>
          </p:txBody>
        </p:sp>
        <p:sp>
          <p:nvSpPr>
            <p:cNvPr id="840770" name="Text Box 66"/>
            <p:cNvSpPr txBox="1">
              <a:spLocks noChangeArrowheads="1"/>
            </p:cNvSpPr>
            <p:nvPr/>
          </p:nvSpPr>
          <p:spPr bwMode="auto">
            <a:xfrm>
              <a:off x="5017244" y="1605384"/>
              <a:ext cx="257224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dirty="0">
                  <a:latin typeface="+mn-lt"/>
                  <a:ea typeface="微软雅黑 Light" panose="020B0502040204020203" pitchFamily="34" charset="-122"/>
                </a:rPr>
                <a:t>表示 </a:t>
              </a:r>
              <a:r>
                <a:rPr kumimoji="1" lang="en-US" altLang="zh-CN" sz="1800" dirty="0">
                  <a:latin typeface="+mn-lt"/>
                  <a:ea typeface="微软雅黑 Light" panose="020B0502040204020203" pitchFamily="34" charset="-122"/>
                </a:rPr>
                <a:t>TCP </a:t>
              </a:r>
              <a:r>
                <a:rPr kumimoji="1" lang="zh-CN" altLang="en-US" sz="1800" dirty="0">
                  <a:latin typeface="+mn-lt"/>
                  <a:ea typeface="微软雅黑 Light" panose="020B0502040204020203" pitchFamily="34" charset="-122"/>
                </a:rPr>
                <a:t>报文段的首部</a:t>
              </a:r>
            </a:p>
          </p:txBody>
        </p:sp>
        <p:sp>
          <p:nvSpPr>
            <p:cNvPr id="840771" name="Rectangle 67"/>
            <p:cNvSpPr>
              <a:spLocks noChangeArrowheads="1"/>
            </p:cNvSpPr>
            <p:nvPr/>
          </p:nvSpPr>
          <p:spPr bwMode="auto">
            <a:xfrm>
              <a:off x="4728319" y="2060996"/>
              <a:ext cx="215900" cy="287338"/>
            </a:xfrm>
            <a:prstGeom prst="rect">
              <a:avLst/>
            </a:prstGeom>
            <a:solidFill>
              <a:schemeClr val="bg2">
                <a:lumMod val="75000"/>
              </a:schemeClr>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dirty="0">
                  <a:latin typeface="+mn-lt"/>
                  <a:ea typeface="微软雅黑 Light" panose="020B0502040204020203" pitchFamily="34" charset="-122"/>
                </a:rPr>
                <a:t>x</a:t>
              </a:r>
            </a:p>
          </p:txBody>
        </p:sp>
        <p:sp>
          <p:nvSpPr>
            <p:cNvPr id="840772" name="Text Box 68"/>
            <p:cNvSpPr txBox="1">
              <a:spLocks noChangeArrowheads="1"/>
            </p:cNvSpPr>
            <p:nvPr/>
          </p:nvSpPr>
          <p:spPr bwMode="auto">
            <a:xfrm>
              <a:off x="5017244" y="2037184"/>
              <a:ext cx="27350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dirty="0">
                  <a:latin typeface="+mn-lt"/>
                  <a:ea typeface="微软雅黑 Light" panose="020B0502040204020203" pitchFamily="34" charset="-122"/>
                </a:rPr>
                <a:t>表示序号为 </a:t>
              </a:r>
              <a:r>
                <a:rPr kumimoji="1" lang="en-US" altLang="zh-CN" sz="1800" dirty="0">
                  <a:latin typeface="+mn-lt"/>
                  <a:ea typeface="微软雅黑 Light" panose="020B0502040204020203" pitchFamily="34" charset="-122"/>
                </a:rPr>
                <a:t>x </a:t>
              </a:r>
              <a:r>
                <a:rPr kumimoji="1" lang="zh-CN" altLang="en-US" sz="1800" dirty="0">
                  <a:latin typeface="+mn-lt"/>
                  <a:ea typeface="微软雅黑 Light" panose="020B0502040204020203" pitchFamily="34" charset="-122"/>
                </a:rPr>
                <a:t>的数据字节</a:t>
              </a:r>
            </a:p>
          </p:txBody>
        </p:sp>
        <p:sp>
          <p:nvSpPr>
            <p:cNvPr id="840773" name="AutoShape 69"/>
            <p:cNvSpPr>
              <a:spLocks noChangeArrowheads="1"/>
            </p:cNvSpPr>
            <p:nvPr/>
          </p:nvSpPr>
          <p:spPr bwMode="auto">
            <a:xfrm rot="-5400000">
              <a:off x="5628432" y="2240384"/>
              <a:ext cx="360362" cy="6049962"/>
            </a:xfrm>
            <a:prstGeom prst="can">
              <a:avLst>
                <a:gd name="adj" fmla="val 28603"/>
              </a:avLst>
            </a:prstGeom>
            <a:solidFill>
              <a:schemeClr val="tx2">
                <a:lumMod val="40000"/>
                <a:lumOff val="60000"/>
              </a:schemeClr>
            </a:solidFill>
            <a:ln w="9525">
              <a:solidFill>
                <a:schemeClr val="tx1"/>
              </a:solidFill>
              <a:round/>
            </a:ln>
            <a:effectLst/>
          </p:spPr>
          <p:txBody>
            <a:bodyPr vert="eaVert" wrap="none" anchor="ctr"/>
            <a:lstStyle/>
            <a:p>
              <a:pPr algn="ctr"/>
              <a:endParaRPr lang="zh-CN" altLang="zh-CN" sz="2800">
                <a:latin typeface="+mn-lt"/>
                <a:ea typeface="微软雅黑 Light" panose="020B0502040204020203" pitchFamily="34" charset="-122"/>
              </a:endParaRPr>
            </a:p>
          </p:txBody>
        </p:sp>
        <p:sp>
          <p:nvSpPr>
            <p:cNvPr id="840774" name="Text Box 70"/>
            <p:cNvSpPr txBox="1">
              <a:spLocks noChangeArrowheads="1"/>
            </p:cNvSpPr>
            <p:nvPr/>
          </p:nvSpPr>
          <p:spPr bwMode="auto">
            <a:xfrm>
              <a:off x="5107732" y="5061372"/>
              <a:ext cx="1117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800" dirty="0">
                  <a:latin typeface="+mn-lt"/>
                  <a:ea typeface="微软雅黑 Light" panose="020B0502040204020203" pitchFamily="34" charset="-122"/>
                </a:rPr>
                <a:t>TCP </a:t>
              </a:r>
              <a:r>
                <a:rPr kumimoji="1" lang="zh-CN" altLang="en-US" sz="1800" dirty="0">
                  <a:latin typeface="+mn-lt"/>
                  <a:ea typeface="微软雅黑 Light" panose="020B0502040204020203" pitchFamily="34" charset="-122"/>
                </a:rPr>
                <a:t>连接</a:t>
              </a:r>
            </a:p>
          </p:txBody>
        </p:sp>
        <p:sp>
          <p:nvSpPr>
            <p:cNvPr id="840775" name="Freeform 71"/>
            <p:cNvSpPr/>
            <p:nvPr/>
          </p:nvSpPr>
          <p:spPr bwMode="auto">
            <a:xfrm>
              <a:off x="2648695" y="4364460"/>
              <a:ext cx="200025" cy="892175"/>
            </a:xfrm>
            <a:custGeom>
              <a:avLst/>
              <a:gdLst>
                <a:gd name="T0" fmla="*/ 0 w 108"/>
                <a:gd name="T1" fmla="*/ 0 h 590"/>
                <a:gd name="T2" fmla="*/ 0 w 108"/>
                <a:gd name="T3" fmla="*/ 590 h 590"/>
                <a:gd name="T4" fmla="*/ 108 w 108"/>
                <a:gd name="T5" fmla="*/ 587 h 590"/>
              </a:gdLst>
              <a:ahLst/>
              <a:cxnLst>
                <a:cxn ang="0">
                  <a:pos x="T0" y="T1"/>
                </a:cxn>
                <a:cxn ang="0">
                  <a:pos x="T2" y="T3"/>
                </a:cxn>
                <a:cxn ang="0">
                  <a:pos x="T4" y="T5"/>
                </a:cxn>
              </a:cxnLst>
              <a:rect l="0" t="0" r="r" b="b"/>
              <a:pathLst>
                <a:path w="108" h="590">
                  <a:moveTo>
                    <a:pt x="0" y="0"/>
                  </a:moveTo>
                  <a:lnTo>
                    <a:pt x="0" y="590"/>
                  </a:lnTo>
                  <a:lnTo>
                    <a:pt x="108" y="587"/>
                  </a:lnTo>
                </a:path>
              </a:pathLst>
            </a:custGeom>
            <a:noFill/>
            <a:ln w="28575" cap="flat" cmpd="sng">
              <a:solidFill>
                <a:schemeClr val="tx1"/>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DBCD4319-2AD5-4117-ACC8-D3091A8B294E}" type="slidenum">
              <a:rPr lang="en-US" altLang="zh-CN"/>
              <a:t>52</a:t>
            </a:fld>
            <a:endParaRPr lang="en-US" altLang="zh-CN"/>
          </a:p>
        </p:txBody>
      </p:sp>
      <p:sp>
        <p:nvSpPr>
          <p:cNvPr id="521218" name="Rectangle 2"/>
          <p:cNvSpPr>
            <a:spLocks noGrp="1" noChangeArrowheads="1"/>
          </p:cNvSpPr>
          <p:nvPr>
            <p:ph type="title"/>
          </p:nvPr>
        </p:nvSpPr>
        <p:spPr/>
        <p:txBody>
          <a:bodyPr/>
          <a:lstStyle/>
          <a:p>
            <a:r>
              <a:rPr lang="en-US" altLang="zh-CN" dirty="0"/>
              <a:t>TCP</a:t>
            </a:r>
            <a:r>
              <a:rPr lang="zh-CN" altLang="en-US" dirty="0"/>
              <a:t>特性</a:t>
            </a:r>
            <a:endParaRPr lang="en-US" altLang="zh-CN" dirty="0"/>
          </a:p>
        </p:txBody>
      </p:sp>
      <p:sp>
        <p:nvSpPr>
          <p:cNvPr id="521219" name="Rectangle 3"/>
          <p:cNvSpPr>
            <a:spLocks noGrp="1" noChangeArrowheads="1"/>
          </p:cNvSpPr>
          <p:nvPr>
            <p:ph type="body" idx="1"/>
          </p:nvPr>
        </p:nvSpPr>
        <p:spPr/>
        <p:txBody>
          <a:bodyPr/>
          <a:lstStyle/>
          <a:p>
            <a:pPr algn="just">
              <a:lnSpc>
                <a:spcPct val="120000"/>
              </a:lnSpc>
            </a:pPr>
            <a:r>
              <a:rPr lang="en-US" altLang="zh-CN" dirty="0">
                <a:latin typeface="+mn-lt"/>
              </a:rPr>
              <a:t>TCP </a:t>
            </a:r>
            <a:r>
              <a:rPr lang="zh-CN" altLang="en-US" dirty="0">
                <a:latin typeface="+mn-lt"/>
              </a:rPr>
              <a:t>可以描述为一个没有选择确认或否定的滑动窗口协议。</a:t>
            </a:r>
            <a:r>
              <a:rPr lang="en-US" altLang="zh-CN" dirty="0">
                <a:latin typeface="+mn-lt"/>
              </a:rPr>
              <a:t>TCP </a:t>
            </a:r>
            <a:r>
              <a:rPr lang="zh-CN" altLang="en-US" dirty="0">
                <a:latin typeface="+mn-lt"/>
              </a:rPr>
              <a:t>缺少选择确认是因为</a:t>
            </a:r>
            <a:r>
              <a:rPr lang="en-US" altLang="zh-CN" dirty="0">
                <a:latin typeface="+mn-lt"/>
              </a:rPr>
              <a:t>TCP</a:t>
            </a:r>
            <a:r>
              <a:rPr lang="zh-CN" altLang="en-US" dirty="0">
                <a:latin typeface="+mn-lt"/>
              </a:rPr>
              <a:t>首部中的确认序号表示发送方已成功收到字节，但还不包含确认序号所指的字节。当前还无法对数据流中选定的部分进行确认</a:t>
            </a:r>
          </a:p>
          <a:p>
            <a:pPr algn="just">
              <a:lnSpc>
                <a:spcPct val="120000"/>
              </a:lnSpc>
            </a:pPr>
            <a:r>
              <a:rPr lang="zh-CN" altLang="en-US" dirty="0">
                <a:latin typeface="+mn-lt"/>
              </a:rPr>
              <a:t>例如，如果</a:t>
            </a:r>
            <a:r>
              <a:rPr lang="en-US" altLang="zh-CN" dirty="0">
                <a:latin typeface="+mn-lt"/>
              </a:rPr>
              <a:t>1</a:t>
            </a:r>
            <a:r>
              <a:rPr lang="zh-CN" altLang="en-US" dirty="0">
                <a:latin typeface="+mn-lt"/>
              </a:rPr>
              <a:t>～</a:t>
            </a:r>
            <a:r>
              <a:rPr lang="en-US" altLang="zh-CN" dirty="0">
                <a:latin typeface="+mn-lt"/>
              </a:rPr>
              <a:t>1024</a:t>
            </a:r>
            <a:r>
              <a:rPr lang="zh-CN" altLang="en-US" dirty="0">
                <a:latin typeface="+mn-lt"/>
              </a:rPr>
              <a:t>字节已经成功收到，下一个报文段中包含序号从</a:t>
            </a:r>
            <a:r>
              <a:rPr lang="en-US" altLang="zh-CN" dirty="0">
                <a:latin typeface="+mn-lt"/>
              </a:rPr>
              <a:t>2049 </a:t>
            </a:r>
            <a:r>
              <a:rPr lang="zh-CN" altLang="en-US" dirty="0">
                <a:latin typeface="+mn-lt"/>
              </a:rPr>
              <a:t>～ </a:t>
            </a:r>
            <a:r>
              <a:rPr lang="en-US" altLang="zh-CN" dirty="0">
                <a:latin typeface="+mn-lt"/>
              </a:rPr>
              <a:t>3072</a:t>
            </a:r>
            <a:r>
              <a:rPr lang="zh-CN" altLang="en-US" dirty="0">
                <a:latin typeface="+mn-lt"/>
              </a:rPr>
              <a:t>的字节，接收端并不能确认这个新的报文段，它所能做的就是发回一个确认序号为</a:t>
            </a:r>
            <a:r>
              <a:rPr lang="en-US" altLang="zh-CN" dirty="0">
                <a:latin typeface="+mn-lt"/>
              </a:rPr>
              <a:t>1025</a:t>
            </a:r>
            <a:r>
              <a:rPr lang="zh-CN" altLang="en-US" dirty="0">
                <a:latin typeface="+mn-lt"/>
              </a:rPr>
              <a:t>的</a:t>
            </a:r>
            <a:r>
              <a:rPr lang="en-US" altLang="zh-CN" dirty="0">
                <a:latin typeface="+mn-lt"/>
              </a:rPr>
              <a:t>ACK</a:t>
            </a:r>
            <a:endParaRPr lang="zh-CN" altLang="en-US" dirty="0">
              <a:latin typeface="+mn-lt"/>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D1A21C5F-79C0-4829-AEE9-03BC58D40828}" type="slidenum">
              <a:rPr lang="en-US" altLang="zh-CN"/>
              <a:t>53</a:t>
            </a:fld>
            <a:endParaRPr lang="en-US" altLang="zh-CN"/>
          </a:p>
        </p:txBody>
      </p:sp>
      <p:sp>
        <p:nvSpPr>
          <p:cNvPr id="828418" name="Rectangle 2"/>
          <p:cNvSpPr>
            <a:spLocks noGrp="1" noChangeArrowheads="1"/>
          </p:cNvSpPr>
          <p:nvPr>
            <p:ph type="title"/>
          </p:nvPr>
        </p:nvSpPr>
        <p:spPr/>
        <p:txBody>
          <a:bodyPr/>
          <a:lstStyle/>
          <a:p>
            <a:r>
              <a:rPr lang="en-US" altLang="zh-CN"/>
              <a:t>TCP</a:t>
            </a:r>
            <a:r>
              <a:rPr lang="zh-CN" altLang="en-US"/>
              <a:t>所采用的技术</a:t>
            </a:r>
          </a:p>
        </p:txBody>
      </p:sp>
      <p:sp>
        <p:nvSpPr>
          <p:cNvPr id="828419" name="Rectangle 3"/>
          <p:cNvSpPr>
            <a:spLocks noGrp="1" noChangeArrowheads="1"/>
          </p:cNvSpPr>
          <p:nvPr>
            <p:ph type="body" idx="1"/>
          </p:nvPr>
        </p:nvSpPr>
        <p:spPr/>
        <p:txBody>
          <a:bodyPr/>
          <a:lstStyle/>
          <a:p>
            <a:pPr>
              <a:lnSpc>
                <a:spcPct val="120000"/>
              </a:lnSpc>
            </a:pPr>
            <a:r>
              <a:rPr lang="zh-CN" altLang="en-US" dirty="0"/>
              <a:t>对付分组重复和乱序传递的排序技术</a:t>
            </a:r>
          </a:p>
          <a:p>
            <a:pPr lvl="1">
              <a:lnSpc>
                <a:spcPct val="120000"/>
              </a:lnSpc>
            </a:pPr>
            <a:r>
              <a:rPr lang="zh-CN" altLang="en-US" dirty="0"/>
              <a:t>发送端为每个分组附加一个序号</a:t>
            </a:r>
          </a:p>
          <a:p>
            <a:pPr>
              <a:lnSpc>
                <a:spcPct val="120000"/>
              </a:lnSpc>
            </a:pPr>
            <a:r>
              <a:rPr lang="zh-CN" altLang="en-US" dirty="0"/>
              <a:t>对付分组丢失的重传技术</a:t>
            </a:r>
          </a:p>
          <a:p>
            <a:pPr lvl="1">
              <a:lnSpc>
                <a:spcPct val="120000"/>
              </a:lnSpc>
            </a:pPr>
            <a:r>
              <a:rPr lang="zh-CN" altLang="en-US" dirty="0"/>
              <a:t>使用带重传的正向确认机制</a:t>
            </a:r>
          </a:p>
          <a:p>
            <a:pPr>
              <a:lnSpc>
                <a:spcPct val="120000"/>
              </a:lnSpc>
            </a:pPr>
            <a:r>
              <a:rPr lang="zh-CN" altLang="en-US" dirty="0"/>
              <a:t>避免分组重复的技术</a:t>
            </a:r>
          </a:p>
          <a:p>
            <a:pPr>
              <a:lnSpc>
                <a:spcPct val="120000"/>
              </a:lnSpc>
            </a:pPr>
            <a:r>
              <a:rPr lang="zh-CN" altLang="en-US" dirty="0"/>
              <a:t>防止数据过荷的流量控制技术</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A9B64BEE-3838-4400-8B70-5AAE7F4DF99C}" type="slidenum">
              <a:rPr lang="en-US" altLang="zh-CN"/>
              <a:t>54</a:t>
            </a:fld>
            <a:endParaRPr lang="en-US" altLang="zh-CN"/>
          </a:p>
        </p:txBody>
      </p:sp>
      <p:sp>
        <p:nvSpPr>
          <p:cNvPr id="829442" name="Rectangle 2"/>
          <p:cNvSpPr>
            <a:spLocks noGrp="1" noChangeArrowheads="1"/>
          </p:cNvSpPr>
          <p:nvPr>
            <p:ph type="title"/>
          </p:nvPr>
        </p:nvSpPr>
        <p:spPr/>
        <p:txBody>
          <a:bodyPr/>
          <a:lstStyle/>
          <a:p>
            <a:r>
              <a:rPr lang="zh-CN" altLang="en-US"/>
              <a:t>超时重传时间的选择</a:t>
            </a:r>
          </a:p>
        </p:txBody>
      </p:sp>
      <p:sp>
        <p:nvSpPr>
          <p:cNvPr id="829443" name="Rectangle 3"/>
          <p:cNvSpPr>
            <a:spLocks noGrp="1" noChangeArrowheads="1"/>
          </p:cNvSpPr>
          <p:nvPr>
            <p:ph type="body" idx="1"/>
          </p:nvPr>
        </p:nvSpPr>
        <p:spPr/>
        <p:txBody>
          <a:bodyPr/>
          <a:lstStyle/>
          <a:p>
            <a:pPr algn="just">
              <a:lnSpc>
                <a:spcPct val="120000"/>
              </a:lnSpc>
            </a:pPr>
            <a:r>
              <a:rPr lang="zh-CN" altLang="en-US" dirty="0"/>
              <a:t>重传机制是 </a:t>
            </a:r>
            <a:r>
              <a:rPr lang="en-US" altLang="zh-CN" dirty="0"/>
              <a:t>TCP </a:t>
            </a:r>
            <a:r>
              <a:rPr lang="zh-CN" altLang="en-US" dirty="0"/>
              <a:t>中最重要和最复杂的问题之一</a:t>
            </a:r>
          </a:p>
          <a:p>
            <a:pPr algn="just">
              <a:lnSpc>
                <a:spcPct val="120000"/>
              </a:lnSpc>
            </a:pPr>
            <a:r>
              <a:rPr lang="en-US" altLang="zh-CN" dirty="0"/>
              <a:t>TCP </a:t>
            </a:r>
            <a:r>
              <a:rPr lang="zh-CN" altLang="en-US" dirty="0"/>
              <a:t>每发送一个报文段，就对这个报文段设置一次计时器。只要计时器设置的重传时间到但还没有收到确认，就要重传这一报文段</a:t>
            </a:r>
          </a:p>
          <a:p>
            <a:pPr algn="just">
              <a:lnSpc>
                <a:spcPct val="120000"/>
              </a:lnSpc>
            </a:pPr>
            <a:r>
              <a:rPr lang="zh-CN" altLang="en-US" dirty="0"/>
              <a:t>往返时延的方差很大</a:t>
            </a:r>
          </a:p>
          <a:p>
            <a:pPr lvl="1" algn="just">
              <a:lnSpc>
                <a:spcPct val="120000"/>
              </a:lnSpc>
            </a:pPr>
            <a:r>
              <a:rPr lang="zh-CN" altLang="en-US" dirty="0"/>
              <a:t>由于 </a:t>
            </a:r>
            <a:r>
              <a:rPr lang="en-US" altLang="zh-CN" dirty="0"/>
              <a:t>TCP </a:t>
            </a:r>
            <a:r>
              <a:rPr lang="zh-CN" altLang="en-US" dirty="0"/>
              <a:t>的下层是一个互联网环境，</a:t>
            </a:r>
            <a:r>
              <a:rPr lang="en-US" altLang="zh-CN" dirty="0"/>
              <a:t>IP </a:t>
            </a:r>
            <a:r>
              <a:rPr lang="zh-CN" altLang="en-US" dirty="0"/>
              <a:t>数据报所选择的路由变化很大。因而传输层的往返时间的方差也很大</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92AB4DF2-E3EC-4293-A634-61D14A014B50}" type="slidenum">
              <a:rPr lang="en-US" altLang="zh-CN"/>
              <a:t>55</a:t>
            </a:fld>
            <a:endParaRPr lang="en-US" altLang="zh-CN"/>
          </a:p>
        </p:txBody>
      </p:sp>
      <p:sp>
        <p:nvSpPr>
          <p:cNvPr id="830466" name="Rectangle 2"/>
          <p:cNvSpPr>
            <a:spLocks noGrp="1" noChangeArrowheads="1"/>
          </p:cNvSpPr>
          <p:nvPr>
            <p:ph type="title"/>
          </p:nvPr>
        </p:nvSpPr>
        <p:spPr/>
        <p:txBody>
          <a:bodyPr/>
          <a:lstStyle/>
          <a:p>
            <a:r>
              <a:rPr lang="zh-CN" altLang="en-US" dirty="0"/>
              <a:t>加权平均往返时间</a:t>
            </a:r>
          </a:p>
        </p:txBody>
      </p:sp>
      <p:sp>
        <p:nvSpPr>
          <p:cNvPr id="830467" name="Rectangle 3"/>
          <p:cNvSpPr>
            <a:spLocks noGrp="1" noChangeArrowheads="1"/>
          </p:cNvSpPr>
          <p:nvPr>
            <p:ph type="body" idx="1"/>
          </p:nvPr>
        </p:nvSpPr>
        <p:spPr/>
        <p:txBody>
          <a:bodyPr>
            <a:normAutofit/>
          </a:bodyPr>
          <a:lstStyle/>
          <a:p>
            <a:pPr algn="just"/>
            <a:r>
              <a:rPr lang="en-US" altLang="zh-CN" dirty="0">
                <a:latin typeface="+mn-lt"/>
              </a:rPr>
              <a:t>TCP </a:t>
            </a:r>
            <a:r>
              <a:rPr lang="zh-CN" altLang="en-US" dirty="0">
                <a:latin typeface="+mn-lt"/>
              </a:rPr>
              <a:t>保留了 </a:t>
            </a:r>
            <a:r>
              <a:rPr lang="en-US" altLang="zh-CN" dirty="0">
                <a:latin typeface="+mn-lt"/>
              </a:rPr>
              <a:t>RTT </a:t>
            </a:r>
            <a:r>
              <a:rPr lang="zh-CN" altLang="en-US" dirty="0">
                <a:latin typeface="+mn-lt"/>
              </a:rPr>
              <a:t>的一个加权平均往返时间 </a:t>
            </a:r>
            <a:r>
              <a:rPr lang="en-US" altLang="zh-CN" dirty="0">
                <a:latin typeface="+mn-lt"/>
              </a:rPr>
              <a:t>RTT</a:t>
            </a:r>
            <a:r>
              <a:rPr lang="en-US" altLang="zh-CN" baseline="-25000" dirty="0">
                <a:latin typeface="+mn-lt"/>
              </a:rPr>
              <a:t>S </a:t>
            </a:r>
            <a:r>
              <a:rPr lang="zh-CN" altLang="en-US" dirty="0">
                <a:latin typeface="+mn-lt"/>
              </a:rPr>
              <a:t>（又称为平滑的往返时间）</a:t>
            </a:r>
          </a:p>
          <a:p>
            <a:pPr algn="just"/>
            <a:r>
              <a:rPr lang="zh-CN" altLang="en-US" dirty="0">
                <a:latin typeface="+mn-lt"/>
              </a:rPr>
              <a:t>第一次测量到 </a:t>
            </a:r>
            <a:r>
              <a:rPr lang="en-US" altLang="zh-CN" dirty="0">
                <a:latin typeface="+mn-lt"/>
              </a:rPr>
              <a:t>RTT </a:t>
            </a:r>
            <a:r>
              <a:rPr lang="zh-CN" altLang="en-US" dirty="0">
                <a:latin typeface="+mn-lt"/>
              </a:rPr>
              <a:t>样本时，</a:t>
            </a:r>
            <a:r>
              <a:rPr lang="en-US" altLang="zh-CN" dirty="0">
                <a:latin typeface="+mn-lt"/>
              </a:rPr>
              <a:t>RTT</a:t>
            </a:r>
            <a:r>
              <a:rPr lang="en-US" altLang="zh-CN" baseline="-25000" dirty="0">
                <a:latin typeface="+mn-lt"/>
              </a:rPr>
              <a:t>S</a:t>
            </a:r>
            <a:r>
              <a:rPr lang="en-US" altLang="zh-CN" dirty="0">
                <a:latin typeface="+mn-lt"/>
              </a:rPr>
              <a:t> </a:t>
            </a:r>
            <a:r>
              <a:rPr lang="zh-CN" altLang="en-US" dirty="0">
                <a:latin typeface="+mn-lt"/>
              </a:rPr>
              <a:t>值就取为所测量到的 </a:t>
            </a:r>
            <a:r>
              <a:rPr lang="en-US" altLang="zh-CN" dirty="0">
                <a:latin typeface="+mn-lt"/>
              </a:rPr>
              <a:t>RTT </a:t>
            </a:r>
            <a:r>
              <a:rPr lang="zh-CN" altLang="en-US" dirty="0">
                <a:latin typeface="+mn-lt"/>
              </a:rPr>
              <a:t>样本值。以后每测量到一个新的 </a:t>
            </a:r>
            <a:r>
              <a:rPr lang="en-US" altLang="zh-CN" dirty="0">
                <a:latin typeface="+mn-lt"/>
              </a:rPr>
              <a:t>RTT </a:t>
            </a:r>
            <a:r>
              <a:rPr lang="zh-CN" altLang="en-US" dirty="0">
                <a:latin typeface="+mn-lt"/>
              </a:rPr>
              <a:t>样本，按下式重新计算一次 </a:t>
            </a:r>
            <a:r>
              <a:rPr lang="en-US" altLang="zh-CN" dirty="0">
                <a:latin typeface="+mn-lt"/>
              </a:rPr>
              <a:t>RTT</a:t>
            </a:r>
            <a:r>
              <a:rPr lang="en-US" altLang="zh-CN" baseline="-25000" dirty="0">
                <a:latin typeface="+mn-lt"/>
              </a:rPr>
              <a:t>S</a:t>
            </a:r>
            <a:r>
              <a:rPr lang="zh-CN" altLang="en-US" dirty="0">
                <a:latin typeface="+mn-lt"/>
              </a:rPr>
              <a:t>：</a:t>
            </a:r>
          </a:p>
          <a:p>
            <a:pPr algn="ctr">
              <a:buFont typeface="Wingdings" panose="05000000000000000000" pitchFamily="2" charset="2"/>
              <a:buNone/>
            </a:pPr>
            <a:r>
              <a:rPr lang="zh-CN" altLang="en-US" dirty="0">
                <a:latin typeface="+mn-lt"/>
              </a:rPr>
              <a:t>新的 </a:t>
            </a:r>
            <a:r>
              <a:rPr lang="en-US" altLang="zh-CN" dirty="0">
                <a:latin typeface="+mn-lt"/>
              </a:rPr>
              <a:t>RTT</a:t>
            </a:r>
            <a:r>
              <a:rPr lang="en-US" altLang="zh-CN" baseline="-25000" dirty="0">
                <a:latin typeface="+mn-lt"/>
              </a:rPr>
              <a:t>S</a:t>
            </a:r>
            <a:r>
              <a:rPr lang="en-US" altLang="zh-CN" dirty="0">
                <a:latin typeface="+mn-lt"/>
              </a:rPr>
              <a:t> = (1-</a:t>
            </a:r>
            <a:r>
              <a:rPr lang="en-US" altLang="zh-CN" dirty="0">
                <a:latin typeface="+mn-lt"/>
                <a:sym typeface="Symbol" panose="05050102010706020507" pitchFamily="18" charset="2"/>
              </a:rPr>
              <a:t>)(</a:t>
            </a:r>
            <a:r>
              <a:rPr lang="zh-CN" altLang="en-US" dirty="0">
                <a:latin typeface="+mn-lt"/>
              </a:rPr>
              <a:t>旧的 </a:t>
            </a:r>
            <a:r>
              <a:rPr lang="en-US" altLang="zh-CN" dirty="0">
                <a:latin typeface="+mn-lt"/>
              </a:rPr>
              <a:t>RTT</a:t>
            </a:r>
            <a:r>
              <a:rPr lang="en-US" altLang="zh-CN" baseline="-25000" dirty="0">
                <a:latin typeface="+mn-lt"/>
              </a:rPr>
              <a:t>S</a:t>
            </a:r>
            <a:r>
              <a:rPr lang="en-US" altLang="zh-CN" dirty="0">
                <a:latin typeface="+mn-lt"/>
              </a:rPr>
              <a:t>) </a:t>
            </a:r>
          </a:p>
          <a:p>
            <a:pPr algn="ctr">
              <a:buFont typeface="Wingdings" panose="05000000000000000000" pitchFamily="2" charset="2"/>
              <a:buNone/>
            </a:pPr>
            <a:r>
              <a:rPr lang="en-US" altLang="zh-CN" dirty="0">
                <a:latin typeface="+mn-lt"/>
              </a:rPr>
              <a:t>                          + </a:t>
            </a:r>
            <a:r>
              <a:rPr lang="en-US" altLang="zh-CN" dirty="0">
                <a:latin typeface="+mn-lt"/>
                <a:sym typeface="Symbol" panose="05050102010706020507" pitchFamily="18" charset="2"/>
              </a:rPr>
              <a:t> </a:t>
            </a:r>
            <a:r>
              <a:rPr lang="en-US" altLang="zh-CN" dirty="0">
                <a:latin typeface="+mn-lt"/>
              </a:rPr>
              <a:t> (</a:t>
            </a:r>
            <a:r>
              <a:rPr lang="zh-CN" altLang="en-US" dirty="0">
                <a:latin typeface="+mn-lt"/>
              </a:rPr>
              <a:t>新的 </a:t>
            </a:r>
            <a:r>
              <a:rPr lang="en-US" altLang="zh-CN" dirty="0">
                <a:latin typeface="+mn-lt"/>
              </a:rPr>
              <a:t>RTT</a:t>
            </a:r>
            <a:r>
              <a:rPr lang="zh-CN" altLang="en-US" dirty="0">
                <a:latin typeface="+mn-lt"/>
              </a:rPr>
              <a:t>样本</a:t>
            </a:r>
            <a:r>
              <a:rPr lang="en-US" altLang="zh-CN" dirty="0">
                <a:latin typeface="+mn-lt"/>
              </a:rPr>
              <a:t>) </a:t>
            </a:r>
          </a:p>
          <a:p>
            <a:pPr algn="just">
              <a:buFont typeface="Wingdings" panose="05000000000000000000" pitchFamily="2" charset="2"/>
              <a:buNone/>
            </a:pPr>
            <a:r>
              <a:rPr lang="en-US" altLang="zh-CN" dirty="0">
                <a:latin typeface="+mn-lt"/>
              </a:rPr>
              <a:t>	</a:t>
            </a:r>
            <a:r>
              <a:rPr lang="zh-CN" altLang="en-US" dirty="0">
                <a:latin typeface="+mn-lt"/>
              </a:rPr>
              <a:t>式中，</a:t>
            </a:r>
            <a:r>
              <a:rPr lang="en-US" altLang="zh-CN" dirty="0">
                <a:latin typeface="+mn-lt"/>
              </a:rPr>
              <a:t>0 </a:t>
            </a:r>
            <a:r>
              <a:rPr lang="en-US" altLang="zh-CN" dirty="0">
                <a:latin typeface="+mn-lt"/>
                <a:sym typeface="Symbol" panose="05050102010706020507" pitchFamily="18" charset="2"/>
              </a:rPr>
              <a:t>&lt;</a:t>
            </a:r>
            <a:r>
              <a:rPr lang="en-US" altLang="zh-CN" dirty="0">
                <a:latin typeface="+mn-lt"/>
              </a:rPr>
              <a:t>1</a:t>
            </a:r>
            <a:r>
              <a:rPr lang="zh-CN" altLang="en-US" dirty="0">
                <a:latin typeface="+mn-lt"/>
              </a:rPr>
              <a:t>。若</a:t>
            </a:r>
            <a:r>
              <a:rPr lang="zh-CN" altLang="en-US" dirty="0">
                <a:latin typeface="+mn-lt"/>
                <a:sym typeface="Symbol" panose="05050102010706020507" pitchFamily="18" charset="2"/>
              </a:rPr>
              <a:t></a:t>
            </a:r>
            <a:r>
              <a:rPr lang="zh-CN" altLang="en-US" dirty="0">
                <a:latin typeface="+mn-lt"/>
              </a:rPr>
              <a:t>很接近于</a:t>
            </a:r>
            <a:r>
              <a:rPr lang="en-US" altLang="zh-CN" dirty="0">
                <a:latin typeface="+mn-lt"/>
              </a:rPr>
              <a:t>0</a:t>
            </a:r>
            <a:r>
              <a:rPr lang="zh-CN" altLang="en-US" dirty="0">
                <a:latin typeface="+mn-lt"/>
              </a:rPr>
              <a:t>，表示 </a:t>
            </a:r>
            <a:r>
              <a:rPr lang="en-US" altLang="zh-CN" dirty="0">
                <a:latin typeface="+mn-lt"/>
              </a:rPr>
              <a:t>RTT </a:t>
            </a:r>
            <a:r>
              <a:rPr lang="zh-CN" altLang="en-US" dirty="0">
                <a:latin typeface="+mn-lt"/>
              </a:rPr>
              <a:t>值更新较慢。若选择</a:t>
            </a:r>
            <a:r>
              <a:rPr lang="zh-CN" altLang="en-US" dirty="0">
                <a:latin typeface="+mn-lt"/>
                <a:sym typeface="Symbol" panose="05050102010706020507" pitchFamily="18" charset="2"/>
              </a:rPr>
              <a:t></a:t>
            </a:r>
            <a:r>
              <a:rPr lang="zh-CN" altLang="en-US" dirty="0">
                <a:latin typeface="+mn-lt"/>
              </a:rPr>
              <a:t>接近于 </a:t>
            </a:r>
            <a:r>
              <a:rPr lang="en-US" altLang="zh-CN" dirty="0">
                <a:latin typeface="+mn-lt"/>
              </a:rPr>
              <a:t>1</a:t>
            </a:r>
            <a:r>
              <a:rPr lang="zh-CN" altLang="en-US" dirty="0">
                <a:latin typeface="+mn-lt"/>
              </a:rPr>
              <a:t>，则表示 </a:t>
            </a:r>
            <a:r>
              <a:rPr lang="en-US" altLang="zh-CN" dirty="0">
                <a:latin typeface="+mn-lt"/>
              </a:rPr>
              <a:t>RTT </a:t>
            </a:r>
            <a:r>
              <a:rPr lang="zh-CN" altLang="en-US" dirty="0">
                <a:latin typeface="+mn-lt"/>
              </a:rPr>
              <a:t>值更新较快</a:t>
            </a:r>
          </a:p>
          <a:p>
            <a:pPr algn="just"/>
            <a:r>
              <a:rPr lang="en-US" altLang="zh-CN" dirty="0">
                <a:latin typeface="+mn-lt"/>
              </a:rPr>
              <a:t>RFC 2988 </a:t>
            </a:r>
            <a:r>
              <a:rPr lang="zh-CN" altLang="en-US" dirty="0">
                <a:latin typeface="+mn-lt"/>
              </a:rPr>
              <a:t>推荐的</a:t>
            </a:r>
            <a:r>
              <a:rPr lang="zh-CN" altLang="en-US" dirty="0">
                <a:latin typeface="+mn-lt"/>
                <a:sym typeface="Symbol" panose="05050102010706020507" pitchFamily="18" charset="2"/>
              </a:rPr>
              <a:t></a:t>
            </a:r>
            <a:r>
              <a:rPr lang="zh-CN" altLang="en-US" dirty="0">
                <a:latin typeface="+mn-lt"/>
              </a:rPr>
              <a:t>值为</a:t>
            </a:r>
            <a:r>
              <a:rPr lang="en-US" altLang="zh-CN" dirty="0">
                <a:latin typeface="+mn-lt"/>
              </a:rPr>
              <a:t>1/8</a:t>
            </a:r>
            <a:r>
              <a:rPr lang="zh-CN" altLang="en-US" dirty="0">
                <a:latin typeface="+mn-lt"/>
              </a:rPr>
              <a:t>，即</a:t>
            </a:r>
            <a:r>
              <a:rPr lang="en-US" altLang="zh-CN" dirty="0">
                <a:latin typeface="+mn-lt"/>
              </a:rPr>
              <a:t>0.125</a:t>
            </a:r>
            <a:r>
              <a:rPr lang="zh-CN" altLang="en-US" dirty="0">
                <a:latin typeface="+mn-lt"/>
              </a:rPr>
              <a:t> </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85CF8DDC-9A13-4305-A05F-388AFB245A9C}" type="slidenum">
              <a:rPr lang="en-US" altLang="zh-CN"/>
              <a:t>56</a:t>
            </a:fld>
            <a:endParaRPr lang="en-US" altLang="zh-CN"/>
          </a:p>
        </p:txBody>
      </p:sp>
      <p:sp>
        <p:nvSpPr>
          <p:cNvPr id="832514" name="Rectangle 2"/>
          <p:cNvSpPr>
            <a:spLocks noGrp="1" noChangeArrowheads="1"/>
          </p:cNvSpPr>
          <p:nvPr>
            <p:ph type="title"/>
          </p:nvPr>
        </p:nvSpPr>
        <p:spPr/>
        <p:txBody>
          <a:bodyPr/>
          <a:lstStyle/>
          <a:p>
            <a:r>
              <a:rPr lang="zh-CN" altLang="en-US" dirty="0"/>
              <a:t>超时重传时间 </a:t>
            </a:r>
            <a:r>
              <a:rPr lang="en-US" altLang="zh-CN" dirty="0"/>
              <a:t>RTO</a:t>
            </a:r>
          </a:p>
        </p:txBody>
      </p:sp>
      <p:sp>
        <p:nvSpPr>
          <p:cNvPr id="832515" name="Rectangle 3"/>
          <p:cNvSpPr>
            <a:spLocks noGrp="1" noChangeArrowheads="1"/>
          </p:cNvSpPr>
          <p:nvPr>
            <p:ph type="body" idx="1"/>
          </p:nvPr>
        </p:nvSpPr>
        <p:spPr/>
        <p:txBody>
          <a:bodyPr>
            <a:normAutofit/>
          </a:bodyPr>
          <a:lstStyle/>
          <a:p>
            <a:r>
              <a:rPr lang="en-US" altLang="zh-CN" dirty="0">
                <a:latin typeface="+mn-lt"/>
              </a:rPr>
              <a:t>RTO </a:t>
            </a:r>
            <a:r>
              <a:rPr lang="zh-CN" altLang="en-US" dirty="0">
                <a:latin typeface="+mn-lt"/>
              </a:rPr>
              <a:t>应略大于上面得出的加权平均往返时间 </a:t>
            </a:r>
            <a:r>
              <a:rPr lang="en-US" altLang="zh-CN" dirty="0">
                <a:latin typeface="+mn-lt"/>
              </a:rPr>
              <a:t>RTT</a:t>
            </a:r>
            <a:r>
              <a:rPr lang="en-US" altLang="zh-CN" baseline="-25000" dirty="0">
                <a:latin typeface="+mn-lt"/>
              </a:rPr>
              <a:t>S</a:t>
            </a:r>
            <a:endParaRPr lang="zh-CN" altLang="en-US" dirty="0">
              <a:latin typeface="+mn-lt"/>
            </a:endParaRPr>
          </a:p>
          <a:p>
            <a:r>
              <a:rPr lang="en-US" altLang="zh-CN" dirty="0">
                <a:latin typeface="+mn-lt"/>
              </a:rPr>
              <a:t>RFC 2988 </a:t>
            </a:r>
            <a:r>
              <a:rPr lang="zh-CN" altLang="en-US" dirty="0">
                <a:latin typeface="+mn-lt"/>
              </a:rPr>
              <a:t>建议使用下式计算 </a:t>
            </a:r>
            <a:r>
              <a:rPr lang="en-US" altLang="zh-CN" dirty="0">
                <a:latin typeface="+mn-lt"/>
              </a:rPr>
              <a:t>RTO</a:t>
            </a:r>
            <a:r>
              <a:rPr lang="zh-CN" altLang="en-US" dirty="0">
                <a:latin typeface="+mn-lt"/>
              </a:rPr>
              <a:t>：</a:t>
            </a:r>
          </a:p>
          <a:p>
            <a:pPr algn="ctr">
              <a:spcBef>
                <a:spcPct val="30000"/>
              </a:spcBef>
              <a:spcAft>
                <a:spcPct val="20000"/>
              </a:spcAft>
              <a:buFont typeface="Wingdings" panose="05000000000000000000" pitchFamily="2" charset="2"/>
              <a:buNone/>
            </a:pPr>
            <a:r>
              <a:rPr lang="en-US" altLang="zh-CN" dirty="0">
                <a:latin typeface="+mn-lt"/>
              </a:rPr>
              <a:t>RTO </a:t>
            </a:r>
            <a:r>
              <a:rPr lang="en-US" altLang="zh-CN" dirty="0">
                <a:latin typeface="+mn-lt"/>
                <a:sym typeface="Symbol" panose="05050102010706020507" pitchFamily="18" charset="2"/>
              </a:rPr>
              <a:t></a:t>
            </a:r>
            <a:r>
              <a:rPr lang="en-US" altLang="zh-CN" dirty="0">
                <a:latin typeface="+mn-lt"/>
              </a:rPr>
              <a:t> RTT</a:t>
            </a:r>
            <a:r>
              <a:rPr lang="en-US" altLang="zh-CN" baseline="-25000" dirty="0">
                <a:latin typeface="+mn-lt"/>
              </a:rPr>
              <a:t>S</a:t>
            </a:r>
            <a:r>
              <a:rPr lang="en-US" altLang="zh-CN" dirty="0">
                <a:latin typeface="+mn-lt"/>
              </a:rPr>
              <a:t> + 4 </a:t>
            </a:r>
            <a:r>
              <a:rPr lang="en-US" altLang="zh-CN" dirty="0">
                <a:latin typeface="+mn-lt"/>
                <a:sym typeface="Symbol" panose="05050102010706020507" pitchFamily="18" charset="2"/>
              </a:rPr>
              <a:t></a:t>
            </a:r>
            <a:r>
              <a:rPr lang="en-US" altLang="zh-CN" dirty="0">
                <a:latin typeface="+mn-lt"/>
              </a:rPr>
              <a:t> RTT</a:t>
            </a:r>
            <a:r>
              <a:rPr lang="en-US" altLang="zh-CN" baseline="-25000" dirty="0">
                <a:latin typeface="+mn-lt"/>
              </a:rPr>
              <a:t>D</a:t>
            </a:r>
            <a:r>
              <a:rPr lang="en-US" altLang="zh-CN" dirty="0">
                <a:latin typeface="+mn-lt"/>
              </a:rPr>
              <a:t>                  </a:t>
            </a:r>
          </a:p>
          <a:p>
            <a:pPr>
              <a:spcBef>
                <a:spcPct val="30000"/>
              </a:spcBef>
              <a:spcAft>
                <a:spcPct val="20000"/>
              </a:spcAft>
              <a:buFont typeface="Wingdings" panose="05000000000000000000" pitchFamily="2" charset="2"/>
              <a:buNone/>
            </a:pPr>
            <a:r>
              <a:rPr lang="en-US" altLang="zh-CN" dirty="0">
                <a:latin typeface="+mn-lt"/>
              </a:rPr>
              <a:t>	RTT</a:t>
            </a:r>
            <a:r>
              <a:rPr lang="en-US" altLang="zh-CN" baseline="-25000" dirty="0">
                <a:latin typeface="+mn-lt"/>
              </a:rPr>
              <a:t>D </a:t>
            </a:r>
            <a:r>
              <a:rPr lang="zh-CN" altLang="en-US" dirty="0">
                <a:latin typeface="+mn-lt"/>
              </a:rPr>
              <a:t>是 </a:t>
            </a:r>
            <a:r>
              <a:rPr lang="en-US" altLang="zh-CN" dirty="0">
                <a:latin typeface="+mn-lt"/>
              </a:rPr>
              <a:t>RTT </a:t>
            </a:r>
            <a:r>
              <a:rPr lang="zh-CN" altLang="en-US" dirty="0">
                <a:latin typeface="+mn-lt"/>
              </a:rPr>
              <a:t>的偏差的加权平均值：</a:t>
            </a:r>
          </a:p>
          <a:p>
            <a:r>
              <a:rPr lang="en-US" altLang="zh-CN" dirty="0">
                <a:latin typeface="+mn-lt"/>
              </a:rPr>
              <a:t>RFC 2988 </a:t>
            </a:r>
            <a:r>
              <a:rPr lang="zh-CN" altLang="en-US" dirty="0">
                <a:latin typeface="+mn-lt"/>
              </a:rPr>
              <a:t>建议这样计算 </a:t>
            </a:r>
            <a:r>
              <a:rPr lang="en-US" altLang="zh-CN" dirty="0">
                <a:latin typeface="+mn-lt"/>
              </a:rPr>
              <a:t>RTT</a:t>
            </a:r>
            <a:r>
              <a:rPr lang="en-US" altLang="zh-CN" baseline="-25000" dirty="0">
                <a:latin typeface="+mn-lt"/>
              </a:rPr>
              <a:t>D</a:t>
            </a:r>
            <a:r>
              <a:rPr lang="zh-CN" altLang="en-US" dirty="0">
                <a:latin typeface="+mn-lt"/>
              </a:rPr>
              <a:t>。第一次测量时，</a:t>
            </a:r>
            <a:r>
              <a:rPr lang="en-US" altLang="zh-CN" dirty="0">
                <a:latin typeface="+mn-lt"/>
              </a:rPr>
              <a:t>RTT</a:t>
            </a:r>
            <a:r>
              <a:rPr lang="en-US" altLang="zh-CN" baseline="-25000" dirty="0">
                <a:latin typeface="+mn-lt"/>
              </a:rPr>
              <a:t>D </a:t>
            </a:r>
            <a:r>
              <a:rPr lang="zh-CN" altLang="en-US" dirty="0">
                <a:latin typeface="+mn-lt"/>
              </a:rPr>
              <a:t>值取为测量到的 </a:t>
            </a:r>
            <a:r>
              <a:rPr lang="en-US" altLang="zh-CN" dirty="0">
                <a:latin typeface="+mn-lt"/>
              </a:rPr>
              <a:t>RTT </a:t>
            </a:r>
            <a:r>
              <a:rPr lang="zh-CN" altLang="en-US" dirty="0">
                <a:latin typeface="+mn-lt"/>
              </a:rPr>
              <a:t>样本值的一半。在以后的测量中，则使用下式计算加权平均的 </a:t>
            </a:r>
            <a:r>
              <a:rPr lang="en-US" altLang="zh-CN" dirty="0">
                <a:latin typeface="+mn-lt"/>
              </a:rPr>
              <a:t>RTT</a:t>
            </a:r>
            <a:r>
              <a:rPr lang="en-US" altLang="zh-CN" baseline="-25000" dirty="0">
                <a:latin typeface="+mn-lt"/>
              </a:rPr>
              <a:t>D</a:t>
            </a:r>
            <a:r>
              <a:rPr lang="zh-CN" altLang="en-US" dirty="0">
                <a:latin typeface="+mn-lt"/>
              </a:rPr>
              <a:t>：</a:t>
            </a:r>
          </a:p>
          <a:p>
            <a:pPr>
              <a:spcAft>
                <a:spcPct val="20000"/>
              </a:spcAft>
              <a:buFont typeface="Wingdings" panose="05000000000000000000" pitchFamily="2" charset="2"/>
              <a:buNone/>
            </a:pPr>
            <a:r>
              <a:rPr lang="zh-CN" altLang="en-US" dirty="0">
                <a:latin typeface="+mn-lt"/>
              </a:rPr>
              <a:t>		新的</a:t>
            </a:r>
            <a:r>
              <a:rPr lang="en-US" altLang="zh-CN" dirty="0">
                <a:latin typeface="+mn-lt"/>
              </a:rPr>
              <a:t>RTT</a:t>
            </a:r>
            <a:r>
              <a:rPr lang="en-US" altLang="zh-CN" baseline="-25000" dirty="0">
                <a:latin typeface="+mn-lt"/>
              </a:rPr>
              <a:t>D</a:t>
            </a:r>
            <a:r>
              <a:rPr lang="en-US" altLang="zh-CN" dirty="0">
                <a:latin typeface="+mn-lt"/>
              </a:rPr>
              <a:t> = (1 </a:t>
            </a:r>
            <a:r>
              <a:rPr lang="en-US" altLang="zh-CN" dirty="0">
                <a:latin typeface="+mn-lt"/>
                <a:sym typeface="Symbol" panose="05050102010706020507" pitchFamily="18" charset="2"/>
              </a:rPr>
              <a:t></a:t>
            </a:r>
            <a:r>
              <a:rPr lang="en-US" altLang="zh-CN" dirty="0">
                <a:latin typeface="+mn-lt"/>
              </a:rPr>
              <a:t> </a:t>
            </a:r>
            <a:r>
              <a:rPr lang="en-US" altLang="zh-CN" dirty="0">
                <a:latin typeface="+mn-lt"/>
                <a:sym typeface="Symbol" panose="05050102010706020507" pitchFamily="18" charset="2"/>
              </a:rPr>
              <a:t></a:t>
            </a:r>
            <a:r>
              <a:rPr lang="en-US" altLang="zh-CN" dirty="0">
                <a:latin typeface="+mn-lt"/>
              </a:rPr>
              <a:t>) </a:t>
            </a:r>
            <a:r>
              <a:rPr lang="en-US" altLang="zh-CN" dirty="0">
                <a:latin typeface="+mn-lt"/>
                <a:sym typeface="Symbol" panose="05050102010706020507" pitchFamily="18" charset="2"/>
              </a:rPr>
              <a:t></a:t>
            </a:r>
            <a:r>
              <a:rPr lang="en-US" altLang="zh-CN" dirty="0">
                <a:latin typeface="+mn-lt"/>
              </a:rPr>
              <a:t> (</a:t>
            </a:r>
            <a:r>
              <a:rPr lang="zh-CN" altLang="en-US" dirty="0">
                <a:latin typeface="+mn-lt"/>
              </a:rPr>
              <a:t>旧的</a:t>
            </a:r>
            <a:r>
              <a:rPr lang="en-US" altLang="zh-CN" dirty="0">
                <a:latin typeface="+mn-lt"/>
              </a:rPr>
              <a:t>RTT</a:t>
            </a:r>
            <a:r>
              <a:rPr lang="en-US" altLang="zh-CN" baseline="-25000" dirty="0">
                <a:latin typeface="+mn-lt"/>
              </a:rPr>
              <a:t>D</a:t>
            </a:r>
            <a:r>
              <a:rPr lang="en-US" altLang="zh-CN" dirty="0">
                <a:latin typeface="+mn-lt"/>
              </a:rPr>
              <a:t>) + </a:t>
            </a:r>
            <a:r>
              <a:rPr lang="en-US" altLang="zh-CN" dirty="0">
                <a:latin typeface="+mn-lt"/>
                <a:sym typeface="Symbol" panose="05050102010706020507" pitchFamily="18" charset="2"/>
              </a:rPr>
              <a:t></a:t>
            </a:r>
            <a:r>
              <a:rPr lang="en-US" altLang="zh-CN" dirty="0">
                <a:latin typeface="+mn-lt"/>
              </a:rPr>
              <a:t>RTT</a:t>
            </a:r>
            <a:r>
              <a:rPr lang="en-US" altLang="zh-CN" baseline="-25000" dirty="0">
                <a:latin typeface="+mn-lt"/>
              </a:rPr>
              <a:t>S</a:t>
            </a:r>
            <a:r>
              <a:rPr lang="en-US" altLang="zh-CN" dirty="0">
                <a:latin typeface="+mn-lt"/>
              </a:rPr>
              <a:t> </a:t>
            </a:r>
            <a:r>
              <a:rPr lang="en-US" altLang="zh-CN" dirty="0">
                <a:latin typeface="+mn-lt"/>
                <a:sym typeface="Symbol" panose="05050102010706020507" pitchFamily="18" charset="2"/>
              </a:rPr>
              <a:t></a:t>
            </a:r>
            <a:r>
              <a:rPr lang="en-US" altLang="zh-CN" dirty="0">
                <a:latin typeface="+mn-lt"/>
              </a:rPr>
              <a:t> </a:t>
            </a:r>
            <a:r>
              <a:rPr lang="zh-CN" altLang="en-US" dirty="0">
                <a:latin typeface="+mn-lt"/>
              </a:rPr>
              <a:t>新的 </a:t>
            </a:r>
            <a:r>
              <a:rPr lang="en-US" altLang="zh-CN" dirty="0">
                <a:latin typeface="+mn-lt"/>
              </a:rPr>
              <a:t>RTT </a:t>
            </a:r>
            <a:r>
              <a:rPr lang="zh-CN" altLang="en-US" dirty="0">
                <a:latin typeface="+mn-lt"/>
              </a:rPr>
              <a:t>样本</a:t>
            </a:r>
            <a:r>
              <a:rPr lang="zh-CN" altLang="en-US" dirty="0">
                <a:latin typeface="+mn-lt"/>
                <a:sym typeface="Symbol" panose="05050102010706020507" pitchFamily="18" charset="2"/>
              </a:rPr>
              <a:t></a:t>
            </a:r>
            <a:endParaRPr lang="zh-CN" altLang="en-US" dirty="0">
              <a:latin typeface="+mn-lt"/>
            </a:endParaRPr>
          </a:p>
          <a:p>
            <a:pPr>
              <a:spcBef>
                <a:spcPct val="40000"/>
              </a:spcBef>
              <a:buFont typeface="Wingdings" panose="05000000000000000000" pitchFamily="2" charset="2"/>
              <a:buNone/>
            </a:pPr>
            <a:r>
              <a:rPr lang="zh-CN" altLang="en-US" dirty="0">
                <a:latin typeface="+mn-lt"/>
                <a:sym typeface="Symbol" panose="05050102010706020507" pitchFamily="18" charset="2"/>
              </a:rPr>
              <a:t>	 </a:t>
            </a:r>
            <a:r>
              <a:rPr lang="zh-CN" altLang="en-US" dirty="0">
                <a:latin typeface="+mn-lt"/>
              </a:rPr>
              <a:t>是个小于 </a:t>
            </a:r>
            <a:r>
              <a:rPr lang="en-US" altLang="zh-CN" dirty="0">
                <a:latin typeface="+mn-lt"/>
              </a:rPr>
              <a:t>1 </a:t>
            </a:r>
            <a:r>
              <a:rPr lang="zh-CN" altLang="en-US" dirty="0">
                <a:latin typeface="+mn-lt"/>
              </a:rPr>
              <a:t>的系数，其推荐值是 </a:t>
            </a:r>
            <a:r>
              <a:rPr lang="en-US" altLang="zh-CN" dirty="0">
                <a:latin typeface="+mn-lt"/>
              </a:rPr>
              <a:t>1/4</a:t>
            </a:r>
            <a:r>
              <a:rPr lang="zh-CN" altLang="en-US" dirty="0">
                <a:latin typeface="+mn-lt"/>
              </a:rPr>
              <a:t>，即 </a:t>
            </a:r>
            <a:r>
              <a:rPr lang="en-US" altLang="zh-CN" dirty="0">
                <a:latin typeface="+mn-lt"/>
              </a:rPr>
              <a:t>0.25</a:t>
            </a:r>
            <a:endParaRPr lang="zh-CN" altLang="en-US" dirty="0">
              <a:latin typeface="+mn-lt"/>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3538" name="Rectangle 2"/>
          <p:cNvSpPr>
            <a:spLocks noGrp="1" noChangeArrowheads="1"/>
          </p:cNvSpPr>
          <p:nvPr>
            <p:ph type="title"/>
          </p:nvPr>
        </p:nvSpPr>
        <p:spPr/>
        <p:txBody>
          <a:bodyPr/>
          <a:lstStyle/>
          <a:p>
            <a:r>
              <a:rPr lang="en-US" altLang="zh-CN" dirty="0"/>
              <a:t>Karn</a:t>
            </a:r>
            <a:r>
              <a:rPr lang="zh-CN" altLang="en-US" dirty="0"/>
              <a:t>算法及其修正</a:t>
            </a:r>
          </a:p>
        </p:txBody>
      </p:sp>
      <p:sp>
        <p:nvSpPr>
          <p:cNvPr id="833539" name="Rectangle 3"/>
          <p:cNvSpPr>
            <a:spLocks noGrp="1" noChangeArrowheads="1"/>
          </p:cNvSpPr>
          <p:nvPr>
            <p:ph idx="1"/>
          </p:nvPr>
        </p:nvSpPr>
        <p:spPr>
          <a:xfrm>
            <a:off x="334434" y="3629026"/>
            <a:ext cx="11523133" cy="2860675"/>
          </a:xfrm>
        </p:spPr>
        <p:txBody>
          <a:bodyPr>
            <a:normAutofit lnSpcReduction="10000"/>
          </a:bodyPr>
          <a:lstStyle/>
          <a:p>
            <a:pPr>
              <a:lnSpc>
                <a:spcPct val="120000"/>
              </a:lnSpc>
            </a:pPr>
            <a:r>
              <a:rPr lang="en-US" altLang="zh-CN" dirty="0">
                <a:latin typeface="+mn-lt"/>
              </a:rPr>
              <a:t>Karn</a:t>
            </a:r>
            <a:r>
              <a:rPr lang="zh-CN" altLang="en-US" dirty="0">
                <a:latin typeface="+mn-lt"/>
              </a:rPr>
              <a:t>：重传报文</a:t>
            </a:r>
            <a:r>
              <a:rPr lang="en-US" altLang="zh-CN" dirty="0">
                <a:latin typeface="+mn-lt"/>
              </a:rPr>
              <a:t>RTT</a:t>
            </a:r>
            <a:r>
              <a:rPr lang="zh-CN" altLang="en-US" dirty="0">
                <a:latin typeface="+mn-lt"/>
              </a:rPr>
              <a:t>不取样</a:t>
            </a:r>
            <a:endParaRPr lang="en-US" altLang="zh-CN" dirty="0">
              <a:latin typeface="+mn-lt"/>
            </a:endParaRPr>
          </a:p>
          <a:p>
            <a:pPr lvl="1">
              <a:lnSpc>
                <a:spcPct val="120000"/>
              </a:lnSpc>
            </a:pPr>
            <a:r>
              <a:rPr lang="zh-CN" altLang="en-US" dirty="0">
                <a:latin typeface="+mn-lt"/>
              </a:rPr>
              <a:t>问题：超时重传时间无法更新</a:t>
            </a:r>
            <a:endParaRPr lang="en-US" altLang="zh-CN" dirty="0">
              <a:latin typeface="+mn-lt"/>
            </a:endParaRPr>
          </a:p>
          <a:p>
            <a:pPr>
              <a:lnSpc>
                <a:spcPct val="120000"/>
              </a:lnSpc>
            </a:pPr>
            <a:r>
              <a:rPr lang="zh-CN" altLang="en-US" dirty="0">
                <a:latin typeface="+mn-lt"/>
              </a:rPr>
              <a:t>修正：报文段每重传一次，把 </a:t>
            </a:r>
            <a:r>
              <a:rPr lang="en-US" altLang="zh-CN" dirty="0">
                <a:latin typeface="+mn-lt"/>
              </a:rPr>
              <a:t>RTO </a:t>
            </a:r>
            <a:r>
              <a:rPr lang="zh-CN" altLang="en-US" dirty="0">
                <a:latin typeface="+mn-lt"/>
              </a:rPr>
              <a:t>增大</a:t>
            </a:r>
          </a:p>
          <a:p>
            <a:pPr algn="ctr">
              <a:lnSpc>
                <a:spcPct val="120000"/>
              </a:lnSpc>
              <a:buFont typeface="Wingdings" panose="05000000000000000000" pitchFamily="2" charset="2"/>
              <a:buNone/>
            </a:pPr>
            <a:r>
              <a:rPr lang="zh-CN" altLang="en-US" dirty="0">
                <a:latin typeface="+mn-lt"/>
              </a:rPr>
              <a:t>新的 </a:t>
            </a:r>
            <a:r>
              <a:rPr lang="en-US" altLang="zh-CN" dirty="0">
                <a:latin typeface="+mn-lt"/>
              </a:rPr>
              <a:t>RTO = </a:t>
            </a:r>
            <a:r>
              <a:rPr lang="en-US" altLang="zh-CN" dirty="0">
                <a:latin typeface="+mn-lt"/>
                <a:sym typeface="Symbol" panose="05050102010706020507" pitchFamily="18" charset="2"/>
              </a:rPr>
              <a:t></a:t>
            </a:r>
            <a:r>
              <a:rPr lang="en-US" altLang="zh-CN" dirty="0">
                <a:latin typeface="+mn-lt"/>
              </a:rPr>
              <a:t> </a:t>
            </a:r>
            <a:r>
              <a:rPr lang="en-US" altLang="zh-CN" dirty="0">
                <a:latin typeface="+mn-lt"/>
                <a:sym typeface="Symbol" panose="05050102010706020507" pitchFamily="18" charset="2"/>
              </a:rPr>
              <a:t></a:t>
            </a:r>
            <a:r>
              <a:rPr lang="en-US" altLang="zh-CN" dirty="0">
                <a:latin typeface="+mn-lt"/>
              </a:rPr>
              <a:t> (</a:t>
            </a:r>
            <a:r>
              <a:rPr lang="zh-CN" altLang="en-US" dirty="0">
                <a:latin typeface="+mn-lt"/>
              </a:rPr>
              <a:t>旧的 </a:t>
            </a:r>
            <a:r>
              <a:rPr lang="en-US" altLang="zh-CN" dirty="0">
                <a:latin typeface="+mn-lt"/>
              </a:rPr>
              <a:t>RTO)      </a:t>
            </a:r>
          </a:p>
          <a:p>
            <a:pPr>
              <a:lnSpc>
                <a:spcPct val="120000"/>
              </a:lnSpc>
              <a:buFont typeface="Wingdings" panose="05000000000000000000" pitchFamily="2" charset="2"/>
              <a:buNone/>
            </a:pPr>
            <a:r>
              <a:rPr lang="en-US" altLang="zh-CN" dirty="0">
                <a:latin typeface="+mn-lt"/>
              </a:rPr>
              <a:t>	</a:t>
            </a:r>
            <a:r>
              <a:rPr lang="zh-CN" altLang="en-US" dirty="0">
                <a:latin typeface="+mn-lt"/>
              </a:rPr>
              <a:t>系数</a:t>
            </a:r>
            <a:r>
              <a:rPr lang="zh-CN" altLang="en-US" dirty="0">
                <a:latin typeface="+mn-lt"/>
                <a:sym typeface="Symbol" panose="05050102010706020507" pitchFamily="18" charset="2"/>
              </a:rPr>
              <a:t></a:t>
            </a:r>
            <a:r>
              <a:rPr lang="zh-CN" altLang="en-US" dirty="0">
                <a:latin typeface="+mn-lt"/>
              </a:rPr>
              <a:t> 的典型值是 </a:t>
            </a:r>
            <a:r>
              <a:rPr lang="en-US" altLang="zh-CN" dirty="0">
                <a:latin typeface="+mn-lt"/>
              </a:rPr>
              <a:t>2 </a:t>
            </a:r>
            <a:r>
              <a:rPr lang="zh-CN" altLang="en-US" dirty="0">
                <a:latin typeface="+mn-lt"/>
              </a:rPr>
              <a:t>。不超时恢复计算方式</a:t>
            </a:r>
          </a:p>
        </p:txBody>
      </p:sp>
      <p:sp>
        <p:nvSpPr>
          <p:cNvPr id="27" name="灯片编号占位符 5"/>
          <p:cNvSpPr>
            <a:spLocks noGrp="1"/>
          </p:cNvSpPr>
          <p:nvPr>
            <p:ph type="sldNum" sz="quarter" idx="12"/>
          </p:nvPr>
        </p:nvSpPr>
        <p:spPr/>
        <p:txBody>
          <a:bodyPr/>
          <a:lstStyle/>
          <a:p>
            <a:fld id="{A2FD93CE-F2E7-4E12-BEAE-2D9A57A8CD24}" type="slidenum">
              <a:rPr lang="en-US" altLang="zh-CN"/>
              <a:t>57</a:t>
            </a:fld>
            <a:endParaRPr lang="en-US" altLang="zh-CN"/>
          </a:p>
        </p:txBody>
      </p:sp>
      <p:grpSp>
        <p:nvGrpSpPr>
          <p:cNvPr id="2" name="组合 1"/>
          <p:cNvGrpSpPr/>
          <p:nvPr/>
        </p:nvGrpSpPr>
        <p:grpSpPr>
          <a:xfrm>
            <a:off x="1812561" y="981076"/>
            <a:ext cx="8531590" cy="2462213"/>
            <a:chOff x="1812561" y="981076"/>
            <a:chExt cx="8531590" cy="2462213"/>
          </a:xfrm>
        </p:grpSpPr>
        <p:sp>
          <p:nvSpPr>
            <p:cNvPr id="833541" name="Line 5"/>
            <p:cNvSpPr>
              <a:spLocks noChangeShapeType="1"/>
            </p:cNvSpPr>
            <p:nvPr/>
          </p:nvSpPr>
          <p:spPr bwMode="auto">
            <a:xfrm>
              <a:off x="5135564" y="2921000"/>
              <a:ext cx="3494087" cy="0"/>
            </a:xfrm>
            <a:prstGeom prst="line">
              <a:avLst/>
            </a:prstGeom>
            <a:noFill/>
            <a:ln w="28575">
              <a:solidFill>
                <a:schemeClr val="bg2">
                  <a:lumMod val="50000"/>
                </a:schemeClr>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833542" name="Text Box 6"/>
            <p:cNvSpPr txBox="1">
              <a:spLocks noChangeArrowheads="1"/>
            </p:cNvSpPr>
            <p:nvPr/>
          </p:nvSpPr>
          <p:spPr bwMode="auto">
            <a:xfrm>
              <a:off x="6011864" y="2686051"/>
              <a:ext cx="1906587"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a:latin typeface="微软雅黑 Light" panose="020B0502040204020203" pitchFamily="34" charset="-122"/>
                  <a:ea typeface="微软雅黑 Light" panose="020B0502040204020203" pitchFamily="34" charset="-122"/>
                </a:rPr>
                <a:t>往返时间 </a:t>
              </a:r>
              <a:r>
                <a:rPr kumimoji="1" lang="en-US" altLang="zh-CN">
                  <a:latin typeface="微软雅黑 Light" panose="020B0502040204020203" pitchFamily="34" charset="-122"/>
                  <a:ea typeface="微软雅黑 Light" panose="020B0502040204020203" pitchFamily="34" charset="-122"/>
                </a:rPr>
                <a:t>RTT?</a:t>
              </a:r>
            </a:p>
          </p:txBody>
        </p:sp>
        <p:sp>
          <p:nvSpPr>
            <p:cNvPr id="833543" name="Line 7"/>
            <p:cNvSpPr>
              <a:spLocks noChangeShapeType="1"/>
            </p:cNvSpPr>
            <p:nvPr/>
          </p:nvSpPr>
          <p:spPr bwMode="auto">
            <a:xfrm>
              <a:off x="2224088" y="2620963"/>
              <a:ext cx="7861300" cy="0"/>
            </a:xfrm>
            <a:prstGeom prst="line">
              <a:avLst/>
            </a:prstGeom>
            <a:noFill/>
            <a:ln w="28575">
              <a:solidFill>
                <a:schemeClr val="bg2">
                  <a:lumMod val="50000"/>
                </a:schemeClr>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833544" name="Line 8"/>
            <p:cNvSpPr>
              <a:spLocks noChangeShapeType="1"/>
            </p:cNvSpPr>
            <p:nvPr/>
          </p:nvSpPr>
          <p:spPr bwMode="auto">
            <a:xfrm rot="-5400000">
              <a:off x="2224882" y="2329657"/>
              <a:ext cx="582613" cy="0"/>
            </a:xfrm>
            <a:prstGeom prst="line">
              <a:avLst/>
            </a:prstGeom>
            <a:noFill/>
            <a:ln w="76200">
              <a:solidFill>
                <a:schemeClr val="bg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833545" name="Text Box 9"/>
            <p:cNvSpPr txBox="1">
              <a:spLocks noChangeArrowheads="1"/>
            </p:cNvSpPr>
            <p:nvPr/>
          </p:nvSpPr>
          <p:spPr bwMode="auto">
            <a:xfrm>
              <a:off x="1812561" y="1428750"/>
              <a:ext cx="147393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dirty="0">
                  <a:latin typeface="微软雅黑 Light" panose="020B0502040204020203" pitchFamily="34" charset="-122"/>
                  <a:ea typeface="微软雅黑 Light" panose="020B0502040204020203" pitchFamily="34" charset="-122"/>
                </a:rPr>
                <a:t>发送一个</a:t>
              </a:r>
            </a:p>
            <a:p>
              <a:pPr algn="ctr"/>
              <a:r>
                <a:rPr kumimoji="1" lang="en-US" altLang="zh-CN" dirty="0">
                  <a:latin typeface="微软雅黑 Light" panose="020B0502040204020203" pitchFamily="34" charset="-122"/>
                  <a:ea typeface="微软雅黑 Light" panose="020B0502040204020203" pitchFamily="34" charset="-122"/>
                </a:rPr>
                <a:t>TCP </a:t>
              </a:r>
              <a:r>
                <a:rPr kumimoji="1" lang="zh-CN" altLang="en-US" dirty="0">
                  <a:latin typeface="微软雅黑 Light" panose="020B0502040204020203" pitchFamily="34" charset="-122"/>
                  <a:ea typeface="微软雅黑 Light" panose="020B0502040204020203" pitchFamily="34" charset="-122"/>
                </a:rPr>
                <a:t>报文段</a:t>
              </a:r>
            </a:p>
          </p:txBody>
        </p:sp>
        <p:sp>
          <p:nvSpPr>
            <p:cNvPr id="833546" name="Line 10"/>
            <p:cNvSpPr>
              <a:spLocks noChangeShapeType="1"/>
            </p:cNvSpPr>
            <p:nvPr/>
          </p:nvSpPr>
          <p:spPr bwMode="auto">
            <a:xfrm rot="-5400000">
              <a:off x="4844257" y="2329657"/>
              <a:ext cx="582613" cy="0"/>
            </a:xfrm>
            <a:prstGeom prst="line">
              <a:avLst/>
            </a:prstGeom>
            <a:noFill/>
            <a:ln w="76200">
              <a:solidFill>
                <a:schemeClr val="bg2">
                  <a:lumMod val="50000"/>
                </a:schemeClr>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833547" name="Text Box 11"/>
            <p:cNvSpPr txBox="1">
              <a:spLocks noChangeArrowheads="1"/>
            </p:cNvSpPr>
            <p:nvPr/>
          </p:nvSpPr>
          <p:spPr bwMode="auto">
            <a:xfrm>
              <a:off x="4365260" y="1428750"/>
              <a:ext cx="147393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a:latin typeface="微软雅黑 Light" panose="020B0502040204020203" pitchFamily="34" charset="-122"/>
                  <a:ea typeface="微软雅黑 Light" panose="020B0502040204020203" pitchFamily="34" charset="-122"/>
                </a:rPr>
                <a:t>超时重传</a:t>
              </a:r>
            </a:p>
            <a:p>
              <a:pPr algn="ctr"/>
              <a:r>
                <a:rPr kumimoji="1" lang="en-US" altLang="zh-CN">
                  <a:latin typeface="微软雅黑 Light" panose="020B0502040204020203" pitchFamily="34" charset="-122"/>
                  <a:ea typeface="微软雅黑 Light" panose="020B0502040204020203" pitchFamily="34" charset="-122"/>
                </a:rPr>
                <a:t>TCP </a:t>
              </a:r>
              <a:r>
                <a:rPr kumimoji="1" lang="zh-CN" altLang="en-US">
                  <a:latin typeface="微软雅黑 Light" panose="020B0502040204020203" pitchFamily="34" charset="-122"/>
                  <a:ea typeface="微软雅黑 Light" panose="020B0502040204020203" pitchFamily="34" charset="-122"/>
                </a:rPr>
                <a:t>报文段</a:t>
              </a:r>
            </a:p>
          </p:txBody>
        </p:sp>
        <p:sp>
          <p:nvSpPr>
            <p:cNvPr id="833548" name="Line 12"/>
            <p:cNvSpPr>
              <a:spLocks noChangeShapeType="1"/>
            </p:cNvSpPr>
            <p:nvPr/>
          </p:nvSpPr>
          <p:spPr bwMode="auto">
            <a:xfrm rot="-5400000">
              <a:off x="8338344" y="2329657"/>
              <a:ext cx="582613" cy="0"/>
            </a:xfrm>
            <a:prstGeom prst="line">
              <a:avLst/>
            </a:prstGeom>
            <a:noFill/>
            <a:ln w="76200">
              <a:solidFill>
                <a:schemeClr val="bg2">
                  <a:lumMod val="50000"/>
                </a:schemeClr>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833549" name="Text Box 13"/>
            <p:cNvSpPr txBox="1">
              <a:spLocks noChangeArrowheads="1"/>
            </p:cNvSpPr>
            <p:nvPr/>
          </p:nvSpPr>
          <p:spPr bwMode="auto">
            <a:xfrm>
              <a:off x="7986714" y="1690689"/>
              <a:ext cx="12858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a:latin typeface="微软雅黑 Light" panose="020B0502040204020203" pitchFamily="34" charset="-122"/>
                  <a:ea typeface="微软雅黑 Light" panose="020B0502040204020203" pitchFamily="34" charset="-122"/>
                </a:rPr>
                <a:t>收到 </a:t>
              </a:r>
              <a:r>
                <a:rPr kumimoji="1" lang="en-US" altLang="zh-CN">
                  <a:latin typeface="微软雅黑 Light" panose="020B0502040204020203" pitchFamily="34" charset="-122"/>
                  <a:ea typeface="微软雅黑 Light" panose="020B0502040204020203" pitchFamily="34" charset="-122"/>
                </a:rPr>
                <a:t>ACK</a:t>
              </a:r>
            </a:p>
          </p:txBody>
        </p:sp>
        <p:sp>
          <p:nvSpPr>
            <p:cNvPr id="833550" name="Text Box 14"/>
            <p:cNvSpPr txBox="1">
              <a:spLocks noChangeArrowheads="1"/>
            </p:cNvSpPr>
            <p:nvPr/>
          </p:nvSpPr>
          <p:spPr bwMode="auto">
            <a:xfrm>
              <a:off x="9650414" y="2195514"/>
              <a:ext cx="6937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a:latin typeface="微软雅黑 Light" panose="020B0502040204020203" pitchFamily="34" charset="-122"/>
                  <a:ea typeface="微软雅黑 Light" panose="020B0502040204020203" pitchFamily="34" charset="-122"/>
                </a:rPr>
                <a:t>时间</a:t>
              </a:r>
            </a:p>
          </p:txBody>
        </p:sp>
        <p:sp>
          <p:nvSpPr>
            <p:cNvPr id="833551" name="Text Box 15"/>
            <p:cNvSpPr txBox="1">
              <a:spLocks noChangeArrowheads="1"/>
            </p:cNvSpPr>
            <p:nvPr/>
          </p:nvSpPr>
          <p:spPr bwMode="auto">
            <a:xfrm>
              <a:off x="2174931" y="2174876"/>
              <a:ext cx="28405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a:latin typeface="微软雅黑 Light" panose="020B0502040204020203" pitchFamily="34" charset="-122"/>
                  <a:ea typeface="微软雅黑 Light" panose="020B0502040204020203" pitchFamily="34" charset="-122"/>
                </a:rPr>
                <a:t>1</a:t>
              </a:r>
            </a:p>
          </p:txBody>
        </p:sp>
        <p:sp>
          <p:nvSpPr>
            <p:cNvPr id="833552" name="Text Box 16"/>
            <p:cNvSpPr txBox="1">
              <a:spLocks noChangeArrowheads="1"/>
            </p:cNvSpPr>
            <p:nvPr/>
          </p:nvSpPr>
          <p:spPr bwMode="auto">
            <a:xfrm>
              <a:off x="4784725" y="2174876"/>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a:latin typeface="微软雅黑 Light" panose="020B0502040204020203" pitchFamily="34" charset="-122"/>
                  <a:ea typeface="微软雅黑 Light" panose="020B0502040204020203" pitchFamily="34" charset="-122"/>
                </a:rPr>
                <a:t>2</a:t>
              </a:r>
            </a:p>
          </p:txBody>
        </p:sp>
        <p:sp>
          <p:nvSpPr>
            <p:cNvPr id="833553" name="Line 17"/>
            <p:cNvSpPr>
              <a:spLocks noChangeShapeType="1"/>
            </p:cNvSpPr>
            <p:nvPr/>
          </p:nvSpPr>
          <p:spPr bwMode="auto">
            <a:xfrm>
              <a:off x="5135563" y="2703514"/>
              <a:ext cx="0" cy="2508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833554" name="Line 18"/>
            <p:cNvSpPr>
              <a:spLocks noChangeShapeType="1"/>
            </p:cNvSpPr>
            <p:nvPr/>
          </p:nvSpPr>
          <p:spPr bwMode="auto">
            <a:xfrm>
              <a:off x="8629650" y="2703514"/>
              <a:ext cx="0" cy="73977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833555" name="Line 19"/>
            <p:cNvSpPr>
              <a:spLocks noChangeShapeType="1"/>
            </p:cNvSpPr>
            <p:nvPr/>
          </p:nvSpPr>
          <p:spPr bwMode="auto">
            <a:xfrm>
              <a:off x="2516188" y="2703514"/>
              <a:ext cx="0" cy="73977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833556" name="Line 20"/>
            <p:cNvSpPr>
              <a:spLocks noChangeShapeType="1"/>
            </p:cNvSpPr>
            <p:nvPr/>
          </p:nvSpPr>
          <p:spPr bwMode="auto">
            <a:xfrm>
              <a:off x="2516188" y="3275013"/>
              <a:ext cx="6113462" cy="0"/>
            </a:xfrm>
            <a:prstGeom prst="line">
              <a:avLst/>
            </a:prstGeom>
            <a:noFill/>
            <a:ln w="28575">
              <a:solidFill>
                <a:schemeClr val="bg2">
                  <a:lumMod val="50000"/>
                </a:schemeClr>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833557" name="Text Box 21"/>
            <p:cNvSpPr txBox="1">
              <a:spLocks noChangeArrowheads="1"/>
            </p:cNvSpPr>
            <p:nvPr/>
          </p:nvSpPr>
          <p:spPr bwMode="auto">
            <a:xfrm>
              <a:off x="4478339" y="3046414"/>
              <a:ext cx="1906587"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a:latin typeface="微软雅黑 Light" panose="020B0502040204020203" pitchFamily="34" charset="-122"/>
                  <a:ea typeface="微软雅黑 Light" panose="020B0502040204020203" pitchFamily="34" charset="-122"/>
                </a:rPr>
                <a:t>往返时间 </a:t>
              </a:r>
              <a:r>
                <a:rPr kumimoji="1" lang="en-US" altLang="zh-CN">
                  <a:latin typeface="微软雅黑 Light" panose="020B0502040204020203" pitchFamily="34" charset="-122"/>
                  <a:ea typeface="微软雅黑 Light" panose="020B0502040204020203" pitchFamily="34" charset="-122"/>
                </a:rPr>
                <a:t>RTT?</a:t>
              </a:r>
            </a:p>
          </p:txBody>
        </p:sp>
        <p:sp>
          <p:nvSpPr>
            <p:cNvPr id="833558" name="Freeform 22"/>
            <p:cNvSpPr/>
            <p:nvPr/>
          </p:nvSpPr>
          <p:spPr bwMode="auto">
            <a:xfrm>
              <a:off x="5718175" y="1417638"/>
              <a:ext cx="2717800" cy="328612"/>
            </a:xfrm>
            <a:custGeom>
              <a:avLst/>
              <a:gdLst>
                <a:gd name="T0" fmla="*/ 1472 w 1472"/>
                <a:gd name="T1" fmla="*/ 189 h 189"/>
                <a:gd name="T2" fmla="*/ 1240 w 1472"/>
                <a:gd name="T3" fmla="*/ 85 h 189"/>
                <a:gd name="T4" fmla="*/ 948 w 1472"/>
                <a:gd name="T5" fmla="*/ 17 h 189"/>
                <a:gd name="T6" fmla="*/ 684 w 1472"/>
                <a:gd name="T7" fmla="*/ 1 h 189"/>
                <a:gd name="T8" fmla="*/ 480 w 1472"/>
                <a:gd name="T9" fmla="*/ 13 h 189"/>
                <a:gd name="T10" fmla="*/ 268 w 1472"/>
                <a:gd name="T11" fmla="*/ 61 h 189"/>
                <a:gd name="T12" fmla="*/ 96 w 1472"/>
                <a:gd name="T13" fmla="*/ 117 h 189"/>
                <a:gd name="T14" fmla="*/ 0 w 1472"/>
                <a:gd name="T15" fmla="*/ 165 h 1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72" h="189">
                  <a:moveTo>
                    <a:pt x="1472" y="189"/>
                  </a:moveTo>
                  <a:cubicBezTo>
                    <a:pt x="1433" y="172"/>
                    <a:pt x="1327" y="114"/>
                    <a:pt x="1240" y="85"/>
                  </a:cubicBezTo>
                  <a:cubicBezTo>
                    <a:pt x="1153" y="56"/>
                    <a:pt x="1041" y="31"/>
                    <a:pt x="948" y="17"/>
                  </a:cubicBezTo>
                  <a:cubicBezTo>
                    <a:pt x="855" y="3"/>
                    <a:pt x="762" y="2"/>
                    <a:pt x="684" y="1"/>
                  </a:cubicBezTo>
                  <a:cubicBezTo>
                    <a:pt x="606" y="0"/>
                    <a:pt x="549" y="3"/>
                    <a:pt x="480" y="13"/>
                  </a:cubicBezTo>
                  <a:cubicBezTo>
                    <a:pt x="411" y="23"/>
                    <a:pt x="332" y="44"/>
                    <a:pt x="268" y="61"/>
                  </a:cubicBezTo>
                  <a:cubicBezTo>
                    <a:pt x="204" y="78"/>
                    <a:pt x="141" y="100"/>
                    <a:pt x="96" y="117"/>
                  </a:cubicBezTo>
                  <a:cubicBezTo>
                    <a:pt x="51" y="134"/>
                    <a:pt x="28" y="149"/>
                    <a:pt x="0" y="165"/>
                  </a:cubicBezTo>
                </a:path>
              </a:pathLst>
            </a:custGeom>
            <a:noFill/>
            <a:ln w="76200" cap="flat" cmpd="sng">
              <a:solidFill>
                <a:schemeClr val="bg2">
                  <a:lumMod val="75000"/>
                </a:schemeClr>
              </a:solidFill>
              <a:prstDash val="sysDot"/>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833559" name="Freeform 23"/>
            <p:cNvSpPr/>
            <p:nvPr/>
          </p:nvSpPr>
          <p:spPr bwMode="auto">
            <a:xfrm>
              <a:off x="3098801" y="1127125"/>
              <a:ext cx="5337175" cy="577850"/>
            </a:xfrm>
            <a:custGeom>
              <a:avLst/>
              <a:gdLst>
                <a:gd name="T0" fmla="*/ 1472 w 1472"/>
                <a:gd name="T1" fmla="*/ 189 h 189"/>
                <a:gd name="T2" fmla="*/ 1240 w 1472"/>
                <a:gd name="T3" fmla="*/ 85 h 189"/>
                <a:gd name="T4" fmla="*/ 948 w 1472"/>
                <a:gd name="T5" fmla="*/ 17 h 189"/>
                <a:gd name="T6" fmla="*/ 684 w 1472"/>
                <a:gd name="T7" fmla="*/ 1 h 189"/>
                <a:gd name="T8" fmla="*/ 480 w 1472"/>
                <a:gd name="T9" fmla="*/ 13 h 189"/>
                <a:gd name="T10" fmla="*/ 268 w 1472"/>
                <a:gd name="T11" fmla="*/ 61 h 189"/>
                <a:gd name="T12" fmla="*/ 96 w 1472"/>
                <a:gd name="T13" fmla="*/ 117 h 189"/>
                <a:gd name="T14" fmla="*/ 0 w 1472"/>
                <a:gd name="T15" fmla="*/ 165 h 1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72" h="189">
                  <a:moveTo>
                    <a:pt x="1472" y="189"/>
                  </a:moveTo>
                  <a:cubicBezTo>
                    <a:pt x="1433" y="172"/>
                    <a:pt x="1327" y="114"/>
                    <a:pt x="1240" y="85"/>
                  </a:cubicBezTo>
                  <a:cubicBezTo>
                    <a:pt x="1153" y="56"/>
                    <a:pt x="1041" y="31"/>
                    <a:pt x="948" y="17"/>
                  </a:cubicBezTo>
                  <a:cubicBezTo>
                    <a:pt x="855" y="3"/>
                    <a:pt x="762" y="2"/>
                    <a:pt x="684" y="1"/>
                  </a:cubicBezTo>
                  <a:cubicBezTo>
                    <a:pt x="606" y="0"/>
                    <a:pt x="549" y="3"/>
                    <a:pt x="480" y="13"/>
                  </a:cubicBezTo>
                  <a:cubicBezTo>
                    <a:pt x="411" y="23"/>
                    <a:pt x="332" y="44"/>
                    <a:pt x="268" y="61"/>
                  </a:cubicBezTo>
                  <a:cubicBezTo>
                    <a:pt x="204" y="78"/>
                    <a:pt x="141" y="100"/>
                    <a:pt x="96" y="117"/>
                  </a:cubicBezTo>
                  <a:cubicBezTo>
                    <a:pt x="51" y="134"/>
                    <a:pt x="28" y="149"/>
                    <a:pt x="0" y="165"/>
                  </a:cubicBezTo>
                </a:path>
              </a:pathLst>
            </a:custGeom>
            <a:noFill/>
            <a:ln w="76200" cap="flat" cmpd="sng">
              <a:solidFill>
                <a:schemeClr val="bg2">
                  <a:lumMod val="75000"/>
                </a:schemeClr>
              </a:solidFill>
              <a:prstDash val="sysDot"/>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833560" name="Text Box 24"/>
            <p:cNvSpPr txBox="1">
              <a:spLocks noChangeArrowheads="1"/>
            </p:cNvSpPr>
            <p:nvPr/>
          </p:nvSpPr>
          <p:spPr bwMode="auto">
            <a:xfrm>
              <a:off x="7800975" y="981076"/>
              <a:ext cx="2216150" cy="7016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a:latin typeface="微软雅黑 Light" panose="020B0502040204020203" pitchFamily="34" charset="-122"/>
                  <a:ea typeface="微软雅黑 Light" panose="020B0502040204020203" pitchFamily="34" charset="-122"/>
                </a:rPr>
                <a:t>是对哪一个报文段</a:t>
              </a:r>
            </a:p>
            <a:p>
              <a:pPr algn="ctr"/>
              <a:r>
                <a:rPr kumimoji="1" lang="zh-CN" altLang="en-US">
                  <a:latin typeface="微软雅黑 Light" panose="020B0502040204020203" pitchFamily="34" charset="-122"/>
                  <a:ea typeface="微软雅黑 Light" panose="020B0502040204020203" pitchFamily="34" charset="-122"/>
                </a:rPr>
                <a:t>的确认？</a:t>
              </a:r>
            </a:p>
          </p:txBody>
        </p:sp>
      </p:gr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TCP</a:t>
            </a:r>
            <a:r>
              <a:rPr lang="zh-CN" altLang="en-US" dirty="0"/>
              <a:t>计时器管理</a:t>
            </a:r>
          </a:p>
        </p:txBody>
      </p:sp>
      <p:sp>
        <p:nvSpPr>
          <p:cNvPr id="7" name="内容占位符 6"/>
          <p:cNvSpPr>
            <a:spLocks noGrp="1"/>
          </p:cNvSpPr>
          <p:nvPr>
            <p:ph idx="1"/>
          </p:nvPr>
        </p:nvSpPr>
        <p:spPr>
          <a:xfrm>
            <a:off x="334434" y="4581128"/>
            <a:ext cx="11523133" cy="2124474"/>
          </a:xfrm>
        </p:spPr>
        <p:txBody>
          <a:bodyPr>
            <a:normAutofit fontScale="85000" lnSpcReduction="20000"/>
          </a:bodyPr>
          <a:lstStyle/>
          <a:p>
            <a:pPr>
              <a:lnSpc>
                <a:spcPct val="120000"/>
              </a:lnSpc>
            </a:pPr>
            <a:r>
              <a:rPr lang="zh-CN" altLang="en-US" sz="3200" dirty="0"/>
              <a:t>重传计时器：数据包超时未被确认时，到时重传数据包</a:t>
            </a:r>
            <a:endParaRPr lang="en-US" altLang="zh-CN" sz="3200" dirty="0"/>
          </a:p>
          <a:p>
            <a:pPr>
              <a:lnSpc>
                <a:spcPct val="120000"/>
              </a:lnSpc>
            </a:pPr>
            <a:r>
              <a:rPr lang="zh-CN" altLang="en-US" sz="3200" dirty="0"/>
              <a:t>持久计时器：阻止死锁问题的发生，例如通告窗口包丢失</a:t>
            </a:r>
            <a:endParaRPr lang="en-US" altLang="zh-CN" sz="3200" dirty="0"/>
          </a:p>
          <a:p>
            <a:pPr>
              <a:lnSpc>
                <a:spcPct val="120000"/>
              </a:lnSpc>
            </a:pPr>
            <a:r>
              <a:rPr lang="zh-CN" altLang="en-US" sz="3200" dirty="0"/>
              <a:t>保活计时器：长连接场景，例如无数据传输时发送探测报文</a:t>
            </a:r>
            <a:endParaRPr lang="en-US" altLang="zh-CN" sz="3200" dirty="0"/>
          </a:p>
          <a:p>
            <a:pPr>
              <a:lnSpc>
                <a:spcPct val="120000"/>
              </a:lnSpc>
            </a:pPr>
            <a:r>
              <a:rPr lang="zh-CN" altLang="en-US" sz="3200" dirty="0"/>
              <a:t>关闭状态计时器：关闭连接时使用</a:t>
            </a:r>
            <a:endParaRPr lang="en-US" altLang="zh-CN" sz="3200" dirty="0"/>
          </a:p>
          <a:p>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t>58</a:t>
            </a:fld>
            <a:endParaRPr lang="en-US" altLang="zh-CN" dirty="0"/>
          </a:p>
        </p:txBody>
      </p:sp>
      <p:pic>
        <p:nvPicPr>
          <p:cNvPr id="6" name="图片 5"/>
          <p:cNvPicPr>
            <a:picLocks noChangeAspect="1"/>
          </p:cNvPicPr>
          <p:nvPr/>
        </p:nvPicPr>
        <p:blipFill>
          <a:blip r:embed="rId2"/>
          <a:stretch>
            <a:fillRect/>
          </a:stretch>
        </p:blipFill>
        <p:spPr>
          <a:xfrm>
            <a:off x="839416" y="1124744"/>
            <a:ext cx="10257085" cy="3384376"/>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灯片编号占位符 5"/>
          <p:cNvSpPr>
            <a:spLocks noGrp="1"/>
          </p:cNvSpPr>
          <p:nvPr>
            <p:ph type="sldNum" sz="quarter" idx="12"/>
          </p:nvPr>
        </p:nvSpPr>
        <p:spPr/>
        <p:txBody>
          <a:bodyPr/>
          <a:lstStyle/>
          <a:p>
            <a:fld id="{5C4EAC17-E6BA-4398-B0A7-3F22E34B42CC}" type="slidenum">
              <a:rPr lang="en-US" altLang="zh-CN"/>
              <a:t>59</a:t>
            </a:fld>
            <a:endParaRPr lang="en-US" altLang="zh-CN"/>
          </a:p>
        </p:txBody>
      </p:sp>
      <p:sp>
        <p:nvSpPr>
          <p:cNvPr id="834562" name="Rectangle 2"/>
          <p:cNvSpPr>
            <a:spLocks noGrp="1" noChangeArrowheads="1"/>
          </p:cNvSpPr>
          <p:nvPr>
            <p:ph type="title"/>
          </p:nvPr>
        </p:nvSpPr>
        <p:spPr/>
        <p:txBody>
          <a:bodyPr/>
          <a:lstStyle/>
          <a:p>
            <a:r>
              <a:rPr lang="en-US" altLang="zh-CN" dirty="0"/>
              <a:t>TCP SACK</a:t>
            </a:r>
          </a:p>
        </p:txBody>
      </p:sp>
      <p:sp>
        <p:nvSpPr>
          <p:cNvPr id="834563" name="Rectangle 3"/>
          <p:cNvSpPr>
            <a:spLocks noGrp="1" noChangeArrowheads="1"/>
          </p:cNvSpPr>
          <p:nvPr>
            <p:ph type="body" idx="1"/>
          </p:nvPr>
        </p:nvSpPr>
        <p:spPr>
          <a:xfrm>
            <a:off x="334434" y="1052514"/>
            <a:ext cx="11523133" cy="3096565"/>
          </a:xfrm>
        </p:spPr>
        <p:txBody>
          <a:bodyPr/>
          <a:lstStyle/>
          <a:p>
            <a:r>
              <a:rPr lang="en-US" altLang="zh-CN" dirty="0"/>
              <a:t>TCP</a:t>
            </a:r>
            <a:r>
              <a:rPr lang="zh-CN" altLang="en-US" dirty="0"/>
              <a:t>无法对一个报文段进行否认</a:t>
            </a:r>
          </a:p>
          <a:p>
            <a:pPr>
              <a:buFont typeface="Wingdings" panose="05000000000000000000" pitchFamily="2" charset="2"/>
              <a:buNone/>
            </a:pPr>
            <a:r>
              <a:rPr lang="zh-CN" altLang="en-US" dirty="0"/>
              <a:t>	例如，如果收到包含</a:t>
            </a:r>
            <a:r>
              <a:rPr lang="en-US" altLang="zh-CN" dirty="0"/>
              <a:t>1025~2048</a:t>
            </a:r>
            <a:r>
              <a:rPr lang="zh-CN" altLang="en-US" dirty="0"/>
              <a:t>字节的报文段，但它的检查和有错误，</a:t>
            </a:r>
            <a:r>
              <a:rPr lang="en-US" altLang="zh-CN" dirty="0"/>
              <a:t>TCP</a:t>
            </a:r>
            <a:r>
              <a:rPr lang="zh-CN" altLang="en-US" dirty="0"/>
              <a:t>接收端所能做的就是发回一个确认序号为</a:t>
            </a:r>
            <a:r>
              <a:rPr lang="en-US" altLang="zh-CN" dirty="0"/>
              <a:t>1025</a:t>
            </a:r>
            <a:r>
              <a:rPr lang="zh-CN" altLang="en-US" dirty="0"/>
              <a:t>的</a:t>
            </a:r>
            <a:r>
              <a:rPr lang="en-US" altLang="zh-CN" dirty="0"/>
              <a:t>ACK</a:t>
            </a:r>
            <a:endParaRPr lang="zh-CN" altLang="en-US" dirty="0"/>
          </a:p>
          <a:p>
            <a:r>
              <a:rPr lang="zh-CN" altLang="en-US" dirty="0"/>
              <a:t>解决办法：选择确认</a:t>
            </a:r>
            <a:r>
              <a:rPr lang="en-US" altLang="zh-CN" dirty="0"/>
              <a:t>SACK (Selective ACK, RFC2018)</a:t>
            </a:r>
          </a:p>
        </p:txBody>
      </p:sp>
      <p:grpSp>
        <p:nvGrpSpPr>
          <p:cNvPr id="2" name="组合 1"/>
          <p:cNvGrpSpPr/>
          <p:nvPr/>
        </p:nvGrpSpPr>
        <p:grpSpPr>
          <a:xfrm>
            <a:off x="1703512" y="4005064"/>
            <a:ext cx="8976677" cy="1395829"/>
            <a:chOff x="1760139" y="3600987"/>
            <a:chExt cx="8976677" cy="1395829"/>
          </a:xfrm>
        </p:grpSpPr>
        <p:sp>
          <p:nvSpPr>
            <p:cNvPr id="834565" name="Rectangle 5"/>
            <p:cNvSpPr>
              <a:spLocks noChangeArrowheads="1"/>
            </p:cNvSpPr>
            <p:nvPr/>
          </p:nvSpPr>
          <p:spPr bwMode="auto">
            <a:xfrm>
              <a:off x="1768077" y="4010562"/>
              <a:ext cx="2089150" cy="431800"/>
            </a:xfrm>
            <a:prstGeom prst="rect">
              <a:avLst/>
            </a:prstGeom>
            <a:solidFill>
              <a:schemeClr val="bg1"/>
            </a:solidFill>
            <a:ln w="9525">
              <a:solidFill>
                <a:schemeClr val="accent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a:latin typeface="Tahoma" panose="020B0604030504040204" pitchFamily="34" charset="0"/>
                <a:ea typeface="宋体" panose="02010600030101010101" pitchFamily="2" charset="-122"/>
              </a:endParaRPr>
            </a:p>
          </p:txBody>
        </p:sp>
        <p:sp>
          <p:nvSpPr>
            <p:cNvPr id="834566" name="Rectangle 6"/>
            <p:cNvSpPr>
              <a:spLocks noChangeArrowheads="1"/>
            </p:cNvSpPr>
            <p:nvPr/>
          </p:nvSpPr>
          <p:spPr bwMode="auto">
            <a:xfrm>
              <a:off x="4720828" y="4010562"/>
              <a:ext cx="1944687" cy="431800"/>
            </a:xfrm>
            <a:prstGeom prst="rect">
              <a:avLst/>
            </a:prstGeom>
            <a:solidFill>
              <a:schemeClr val="bg1"/>
            </a:solidFill>
            <a:ln w="9525">
              <a:solidFill>
                <a:schemeClr val="accent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a:latin typeface="Tahoma" panose="020B0604030504040204" pitchFamily="34" charset="0"/>
                <a:ea typeface="宋体" panose="02010600030101010101" pitchFamily="2" charset="-122"/>
              </a:endParaRPr>
            </a:p>
          </p:txBody>
        </p:sp>
        <p:sp>
          <p:nvSpPr>
            <p:cNvPr id="834567" name="Rectangle 7"/>
            <p:cNvSpPr>
              <a:spLocks noChangeArrowheads="1"/>
            </p:cNvSpPr>
            <p:nvPr/>
          </p:nvSpPr>
          <p:spPr bwMode="auto">
            <a:xfrm>
              <a:off x="7456089" y="4010562"/>
              <a:ext cx="2736850" cy="431800"/>
            </a:xfrm>
            <a:prstGeom prst="rect">
              <a:avLst/>
            </a:prstGeom>
            <a:solidFill>
              <a:schemeClr val="bg1"/>
            </a:solidFill>
            <a:ln w="9525">
              <a:solidFill>
                <a:schemeClr val="accent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a:latin typeface="Tahoma" panose="020B0604030504040204" pitchFamily="34" charset="0"/>
                <a:ea typeface="宋体" panose="02010600030101010101" pitchFamily="2" charset="-122"/>
              </a:endParaRPr>
            </a:p>
          </p:txBody>
        </p:sp>
        <p:sp>
          <p:nvSpPr>
            <p:cNvPr id="834568" name="Text Box 8"/>
            <p:cNvSpPr txBox="1">
              <a:spLocks noChangeArrowheads="1"/>
            </p:cNvSpPr>
            <p:nvPr/>
          </p:nvSpPr>
          <p:spPr bwMode="auto">
            <a:xfrm>
              <a:off x="1804589" y="4058187"/>
              <a:ext cx="8413750"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a:solidFill>
                    <a:schemeClr val="tx2"/>
                  </a:solidFill>
                  <a:latin typeface="Times New Roman" panose="02020603050405020304" pitchFamily="18" charset="0"/>
                </a:rPr>
                <a:t>1                            1000                  1501                     3000                 3501                                    4500</a:t>
              </a:r>
            </a:p>
          </p:txBody>
        </p:sp>
        <p:sp>
          <p:nvSpPr>
            <p:cNvPr id="834569" name="Text Box 9"/>
            <p:cNvSpPr txBox="1">
              <a:spLocks noChangeArrowheads="1"/>
            </p:cNvSpPr>
            <p:nvPr/>
          </p:nvSpPr>
          <p:spPr bwMode="auto">
            <a:xfrm>
              <a:off x="2992039" y="4658262"/>
              <a:ext cx="1451038" cy="33855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a:solidFill>
                    <a:schemeClr val="tx2"/>
                  </a:solidFill>
                  <a:latin typeface="微软雅黑 Light" panose="020B0502040204020203" pitchFamily="34" charset="-122"/>
                  <a:ea typeface="微软雅黑 Light" panose="020B0502040204020203" pitchFamily="34" charset="-122"/>
                </a:rPr>
                <a:t>确认号 </a:t>
              </a:r>
              <a:r>
                <a:rPr lang="en-US" altLang="zh-CN" sz="1600">
                  <a:solidFill>
                    <a:schemeClr val="tx2"/>
                  </a:solidFill>
                  <a:latin typeface="微软雅黑 Light" panose="020B0502040204020203" pitchFamily="34" charset="-122"/>
                  <a:ea typeface="微软雅黑 Light" panose="020B0502040204020203" pitchFamily="34" charset="-122"/>
                </a:rPr>
                <a:t>= 1001</a:t>
              </a:r>
            </a:p>
          </p:txBody>
        </p:sp>
        <p:sp>
          <p:nvSpPr>
            <p:cNvPr id="834570" name="Text Box 10"/>
            <p:cNvSpPr txBox="1">
              <a:spLocks noChangeArrowheads="1"/>
            </p:cNvSpPr>
            <p:nvPr/>
          </p:nvSpPr>
          <p:spPr bwMode="auto">
            <a:xfrm>
              <a:off x="4512865" y="4658262"/>
              <a:ext cx="1000125"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a:solidFill>
                    <a:schemeClr val="tx2"/>
                  </a:solidFill>
                  <a:latin typeface="微软雅黑 Light" panose="020B0502040204020203" pitchFamily="34" charset="-122"/>
                  <a:ea typeface="微软雅黑 Light" panose="020B0502040204020203" pitchFamily="34" charset="-122"/>
                </a:rPr>
                <a:t>L</a:t>
              </a:r>
              <a:r>
                <a:rPr lang="en-US" altLang="zh-CN" sz="1600" baseline="-25000">
                  <a:solidFill>
                    <a:schemeClr val="tx2"/>
                  </a:solidFill>
                  <a:latin typeface="微软雅黑 Light" panose="020B0502040204020203" pitchFamily="34" charset="-122"/>
                  <a:ea typeface="微软雅黑 Light" panose="020B0502040204020203" pitchFamily="34" charset="-122"/>
                </a:rPr>
                <a:t>1</a:t>
              </a:r>
              <a:r>
                <a:rPr lang="en-US" altLang="zh-CN" sz="1600">
                  <a:solidFill>
                    <a:schemeClr val="tx2"/>
                  </a:solidFill>
                  <a:latin typeface="微软雅黑 Light" panose="020B0502040204020203" pitchFamily="34" charset="-122"/>
                  <a:ea typeface="微软雅黑 Light" panose="020B0502040204020203" pitchFamily="34" charset="-122"/>
                </a:rPr>
                <a:t> = 1501</a:t>
              </a:r>
            </a:p>
          </p:txBody>
        </p:sp>
        <p:sp>
          <p:nvSpPr>
            <p:cNvPr id="834571" name="Text Box 11"/>
            <p:cNvSpPr txBox="1">
              <a:spLocks noChangeArrowheads="1"/>
            </p:cNvSpPr>
            <p:nvPr/>
          </p:nvSpPr>
          <p:spPr bwMode="auto">
            <a:xfrm>
              <a:off x="7248128" y="4658262"/>
              <a:ext cx="1047082" cy="33855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a:solidFill>
                    <a:schemeClr val="tx2"/>
                  </a:solidFill>
                  <a:latin typeface="微软雅黑 Light" panose="020B0502040204020203" pitchFamily="34" charset="-122"/>
                  <a:ea typeface="微软雅黑 Light" panose="020B0502040204020203" pitchFamily="34" charset="-122"/>
                </a:rPr>
                <a:t>L</a:t>
              </a:r>
              <a:r>
                <a:rPr lang="en-US" altLang="zh-CN" sz="1600" baseline="-25000">
                  <a:solidFill>
                    <a:schemeClr val="tx2"/>
                  </a:solidFill>
                  <a:latin typeface="微软雅黑 Light" panose="020B0502040204020203" pitchFamily="34" charset="-122"/>
                  <a:ea typeface="微软雅黑 Light" panose="020B0502040204020203" pitchFamily="34" charset="-122"/>
                </a:rPr>
                <a:t>2</a:t>
              </a:r>
              <a:r>
                <a:rPr lang="en-US" altLang="zh-CN" sz="1600">
                  <a:solidFill>
                    <a:schemeClr val="tx2"/>
                  </a:solidFill>
                  <a:latin typeface="微软雅黑 Light" panose="020B0502040204020203" pitchFamily="34" charset="-122"/>
                  <a:ea typeface="微软雅黑 Light" panose="020B0502040204020203" pitchFamily="34" charset="-122"/>
                </a:rPr>
                <a:t> = 3501</a:t>
              </a:r>
            </a:p>
          </p:txBody>
        </p:sp>
        <p:sp>
          <p:nvSpPr>
            <p:cNvPr id="834572" name="Text Box 12"/>
            <p:cNvSpPr txBox="1">
              <a:spLocks noChangeArrowheads="1"/>
            </p:cNvSpPr>
            <p:nvPr/>
          </p:nvSpPr>
          <p:spPr bwMode="auto">
            <a:xfrm>
              <a:off x="6232128" y="4658262"/>
              <a:ext cx="1047082" cy="33855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a:solidFill>
                    <a:schemeClr val="tx2"/>
                  </a:solidFill>
                  <a:latin typeface="微软雅黑 Light" panose="020B0502040204020203" pitchFamily="34" charset="-122"/>
                  <a:ea typeface="微软雅黑 Light" panose="020B0502040204020203" pitchFamily="34" charset="-122"/>
                </a:rPr>
                <a:t>R</a:t>
              </a:r>
              <a:r>
                <a:rPr lang="en-US" altLang="zh-CN" sz="1600" baseline="-25000">
                  <a:solidFill>
                    <a:schemeClr val="tx2"/>
                  </a:solidFill>
                  <a:latin typeface="微软雅黑 Light" panose="020B0502040204020203" pitchFamily="34" charset="-122"/>
                  <a:ea typeface="微软雅黑 Light" panose="020B0502040204020203" pitchFamily="34" charset="-122"/>
                </a:rPr>
                <a:t>1</a:t>
              </a:r>
              <a:r>
                <a:rPr lang="en-US" altLang="zh-CN" sz="1600">
                  <a:solidFill>
                    <a:schemeClr val="tx2"/>
                  </a:solidFill>
                  <a:latin typeface="微软雅黑 Light" panose="020B0502040204020203" pitchFamily="34" charset="-122"/>
                  <a:ea typeface="微软雅黑 Light" panose="020B0502040204020203" pitchFamily="34" charset="-122"/>
                </a:rPr>
                <a:t> = 3001</a:t>
              </a:r>
            </a:p>
          </p:txBody>
        </p:sp>
        <p:sp>
          <p:nvSpPr>
            <p:cNvPr id="834573" name="Text Box 13"/>
            <p:cNvSpPr txBox="1">
              <a:spLocks noChangeArrowheads="1"/>
            </p:cNvSpPr>
            <p:nvPr/>
          </p:nvSpPr>
          <p:spPr bwMode="auto">
            <a:xfrm>
              <a:off x="9686528" y="4658262"/>
              <a:ext cx="1050288" cy="33855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a:solidFill>
                    <a:schemeClr val="tx2"/>
                  </a:solidFill>
                  <a:latin typeface="微软雅黑 Light" panose="020B0502040204020203" pitchFamily="34" charset="-122"/>
                  <a:ea typeface="微软雅黑 Light" panose="020B0502040204020203" pitchFamily="34" charset="-122"/>
                </a:rPr>
                <a:t>R</a:t>
              </a:r>
              <a:r>
                <a:rPr lang="en-US" altLang="zh-CN" sz="1600" baseline="-25000">
                  <a:solidFill>
                    <a:schemeClr val="tx2"/>
                  </a:solidFill>
                  <a:latin typeface="微软雅黑 Light" panose="020B0502040204020203" pitchFamily="34" charset="-122"/>
                  <a:ea typeface="微软雅黑 Light" panose="020B0502040204020203" pitchFamily="34" charset="-122"/>
                </a:rPr>
                <a:t>1</a:t>
              </a:r>
              <a:r>
                <a:rPr lang="en-US" altLang="zh-CN" sz="1600">
                  <a:solidFill>
                    <a:schemeClr val="tx2"/>
                  </a:solidFill>
                  <a:latin typeface="微软雅黑 Light" panose="020B0502040204020203" pitchFamily="34" charset="-122"/>
                  <a:ea typeface="微软雅黑 Light" panose="020B0502040204020203" pitchFamily="34" charset="-122"/>
                </a:rPr>
                <a:t> = 4501</a:t>
              </a:r>
            </a:p>
          </p:txBody>
        </p:sp>
        <p:sp>
          <p:nvSpPr>
            <p:cNvPr id="834574" name="Line 14"/>
            <p:cNvSpPr>
              <a:spLocks noChangeShapeType="1"/>
            </p:cNvSpPr>
            <p:nvPr/>
          </p:nvSpPr>
          <p:spPr bwMode="auto">
            <a:xfrm>
              <a:off x="1768077" y="3818475"/>
              <a:ext cx="2089150"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834575" name="Text Box 15"/>
            <p:cNvSpPr txBox="1">
              <a:spLocks noChangeArrowheads="1"/>
            </p:cNvSpPr>
            <p:nvPr/>
          </p:nvSpPr>
          <p:spPr bwMode="auto">
            <a:xfrm>
              <a:off x="3857227" y="3748625"/>
              <a:ext cx="64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dirty="0">
                  <a:solidFill>
                    <a:schemeClr val="tx2"/>
                  </a:solidFill>
                  <a:latin typeface="Times New Roman" panose="02020603050405020304" pitchFamily="18" charset="0"/>
                </a:rPr>
                <a:t>…</a:t>
              </a:r>
            </a:p>
          </p:txBody>
        </p:sp>
        <p:sp>
          <p:nvSpPr>
            <p:cNvPr id="834576" name="Text Box 16"/>
            <p:cNvSpPr txBox="1">
              <a:spLocks noChangeArrowheads="1"/>
            </p:cNvSpPr>
            <p:nvPr/>
          </p:nvSpPr>
          <p:spPr bwMode="auto">
            <a:xfrm>
              <a:off x="6665514" y="3653375"/>
              <a:ext cx="7429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4400" b="1">
                  <a:solidFill>
                    <a:schemeClr val="tx2"/>
                  </a:solidFill>
                  <a:latin typeface="Times New Roman" panose="02020603050405020304" pitchFamily="18" charset="0"/>
                </a:rPr>
                <a:t>…</a:t>
              </a:r>
            </a:p>
          </p:txBody>
        </p:sp>
        <p:sp>
          <p:nvSpPr>
            <p:cNvPr id="834577" name="Line 17"/>
            <p:cNvSpPr>
              <a:spLocks noChangeShapeType="1"/>
            </p:cNvSpPr>
            <p:nvPr/>
          </p:nvSpPr>
          <p:spPr bwMode="auto">
            <a:xfrm flipH="1">
              <a:off x="1760139" y="3721638"/>
              <a:ext cx="7938" cy="26511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834578" name="Text Box 18"/>
            <p:cNvSpPr txBox="1">
              <a:spLocks noChangeArrowheads="1"/>
            </p:cNvSpPr>
            <p:nvPr/>
          </p:nvSpPr>
          <p:spPr bwMode="auto">
            <a:xfrm>
              <a:off x="2128439" y="3623212"/>
              <a:ext cx="1403350" cy="3365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dirty="0">
                  <a:solidFill>
                    <a:schemeClr val="tx2"/>
                  </a:solidFill>
                  <a:latin typeface="微软雅黑 Light" panose="020B0502040204020203" pitchFamily="34" charset="-122"/>
                  <a:ea typeface="微软雅黑 Light" panose="020B0502040204020203" pitchFamily="34" charset="-122"/>
                </a:rPr>
                <a:t>连续的字节流</a:t>
              </a:r>
            </a:p>
          </p:txBody>
        </p:sp>
        <p:sp>
          <p:nvSpPr>
            <p:cNvPr id="834579" name="Line 19"/>
            <p:cNvSpPr>
              <a:spLocks noChangeShapeType="1"/>
            </p:cNvSpPr>
            <p:nvPr/>
          </p:nvSpPr>
          <p:spPr bwMode="auto">
            <a:xfrm flipH="1">
              <a:off x="3849289" y="3721638"/>
              <a:ext cx="7938" cy="26511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834580" name="Line 20"/>
            <p:cNvSpPr>
              <a:spLocks noChangeShapeType="1"/>
            </p:cNvSpPr>
            <p:nvPr/>
          </p:nvSpPr>
          <p:spPr bwMode="auto">
            <a:xfrm flipV="1">
              <a:off x="3903264" y="4297900"/>
              <a:ext cx="0" cy="431800"/>
            </a:xfrm>
            <a:prstGeom prst="line">
              <a:avLst/>
            </a:prstGeom>
            <a:noFill/>
            <a:ln w="28575">
              <a:solidFill>
                <a:schemeClr val="accent2"/>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4581" name="Text Box 21"/>
            <p:cNvSpPr txBox="1">
              <a:spLocks noChangeArrowheads="1"/>
            </p:cNvSpPr>
            <p:nvPr/>
          </p:nvSpPr>
          <p:spPr bwMode="auto">
            <a:xfrm>
              <a:off x="2576114" y="3912137"/>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a:solidFill>
                    <a:schemeClr val="tx2"/>
                  </a:solidFill>
                  <a:latin typeface="Times New Roman" panose="02020603050405020304" pitchFamily="18" charset="0"/>
                </a:rPr>
                <a:t>…</a:t>
              </a:r>
            </a:p>
          </p:txBody>
        </p:sp>
        <p:sp>
          <p:nvSpPr>
            <p:cNvPr id="834582" name="Text Box 22"/>
            <p:cNvSpPr txBox="1">
              <a:spLocks noChangeArrowheads="1"/>
            </p:cNvSpPr>
            <p:nvPr/>
          </p:nvSpPr>
          <p:spPr bwMode="auto">
            <a:xfrm>
              <a:off x="5455839" y="3912137"/>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a:solidFill>
                    <a:schemeClr val="tx2"/>
                  </a:solidFill>
                  <a:latin typeface="Times New Roman" panose="02020603050405020304" pitchFamily="18" charset="0"/>
                </a:rPr>
                <a:t>…</a:t>
              </a:r>
            </a:p>
          </p:txBody>
        </p:sp>
        <p:sp>
          <p:nvSpPr>
            <p:cNvPr id="834583" name="Text Box 23"/>
            <p:cNvSpPr txBox="1">
              <a:spLocks noChangeArrowheads="1"/>
            </p:cNvSpPr>
            <p:nvPr/>
          </p:nvSpPr>
          <p:spPr bwMode="auto">
            <a:xfrm>
              <a:off x="8695927" y="3912137"/>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a:solidFill>
                    <a:schemeClr val="tx2"/>
                  </a:solidFill>
                  <a:latin typeface="Times New Roman" panose="02020603050405020304" pitchFamily="18" charset="0"/>
                </a:rPr>
                <a:t>…</a:t>
              </a:r>
            </a:p>
          </p:txBody>
        </p:sp>
        <p:sp>
          <p:nvSpPr>
            <p:cNvPr id="834584" name="Line 24"/>
            <p:cNvSpPr>
              <a:spLocks noChangeShapeType="1"/>
            </p:cNvSpPr>
            <p:nvPr/>
          </p:nvSpPr>
          <p:spPr bwMode="auto">
            <a:xfrm flipV="1">
              <a:off x="4936727" y="4297900"/>
              <a:ext cx="0" cy="431800"/>
            </a:xfrm>
            <a:prstGeom prst="line">
              <a:avLst/>
            </a:prstGeom>
            <a:noFill/>
            <a:ln w="28575">
              <a:solidFill>
                <a:schemeClr val="accent2"/>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4585" name="Line 25"/>
            <p:cNvSpPr>
              <a:spLocks noChangeShapeType="1"/>
            </p:cNvSpPr>
            <p:nvPr/>
          </p:nvSpPr>
          <p:spPr bwMode="auto">
            <a:xfrm flipV="1">
              <a:off x="6736952" y="4297900"/>
              <a:ext cx="0" cy="431800"/>
            </a:xfrm>
            <a:prstGeom prst="line">
              <a:avLst/>
            </a:prstGeom>
            <a:noFill/>
            <a:ln w="28575">
              <a:solidFill>
                <a:schemeClr val="accent2"/>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4586" name="Line 26"/>
            <p:cNvSpPr>
              <a:spLocks noChangeShapeType="1"/>
            </p:cNvSpPr>
            <p:nvPr/>
          </p:nvSpPr>
          <p:spPr bwMode="auto">
            <a:xfrm flipV="1">
              <a:off x="7673577" y="4297900"/>
              <a:ext cx="0" cy="431800"/>
            </a:xfrm>
            <a:prstGeom prst="line">
              <a:avLst/>
            </a:prstGeom>
            <a:noFill/>
            <a:ln w="28575">
              <a:solidFill>
                <a:schemeClr val="accent2"/>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4587" name="Line 27"/>
            <p:cNvSpPr>
              <a:spLocks noChangeShapeType="1"/>
            </p:cNvSpPr>
            <p:nvPr/>
          </p:nvSpPr>
          <p:spPr bwMode="auto">
            <a:xfrm flipV="1">
              <a:off x="10264377" y="4297900"/>
              <a:ext cx="0" cy="431800"/>
            </a:xfrm>
            <a:prstGeom prst="line">
              <a:avLst/>
            </a:prstGeom>
            <a:noFill/>
            <a:ln w="28575">
              <a:solidFill>
                <a:schemeClr val="accent2"/>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4588" name="Text Box 28"/>
            <p:cNvSpPr txBox="1">
              <a:spLocks noChangeArrowheads="1"/>
            </p:cNvSpPr>
            <p:nvPr/>
          </p:nvSpPr>
          <p:spPr bwMode="auto">
            <a:xfrm>
              <a:off x="5008164" y="3610512"/>
              <a:ext cx="1403350"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a:solidFill>
                    <a:schemeClr val="tx2"/>
                  </a:solidFill>
                  <a:latin typeface="微软雅黑 Light" panose="020B0502040204020203" pitchFamily="34" charset="-122"/>
                  <a:ea typeface="微软雅黑 Light" panose="020B0502040204020203" pitchFamily="34" charset="-122"/>
                </a:rPr>
                <a:t>第一个字节块</a:t>
              </a:r>
            </a:p>
          </p:txBody>
        </p:sp>
        <p:sp>
          <p:nvSpPr>
            <p:cNvPr id="834589" name="Text Box 29"/>
            <p:cNvSpPr txBox="1">
              <a:spLocks noChangeArrowheads="1"/>
            </p:cNvSpPr>
            <p:nvPr/>
          </p:nvSpPr>
          <p:spPr bwMode="auto">
            <a:xfrm>
              <a:off x="8213327" y="3600987"/>
              <a:ext cx="1403350"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a:solidFill>
                    <a:schemeClr val="tx2"/>
                  </a:solidFill>
                  <a:latin typeface="微软雅黑 Light" panose="020B0502040204020203" pitchFamily="34" charset="-122"/>
                  <a:ea typeface="微软雅黑 Light" panose="020B0502040204020203" pitchFamily="34" charset="-122"/>
                </a:rPr>
                <a:t>第二个字节块</a:t>
              </a:r>
            </a:p>
          </p:txBody>
        </p:sp>
      </p:gr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73C97274-3278-4D12-95F0-EA55C2596726}" type="slidenum">
              <a:rPr lang="en-US" altLang="zh-CN"/>
              <a:t>60</a:t>
            </a:fld>
            <a:endParaRPr lang="en-US" altLang="zh-CN"/>
          </a:p>
        </p:txBody>
      </p:sp>
      <p:sp>
        <p:nvSpPr>
          <p:cNvPr id="835586" name="Rectangle 2"/>
          <p:cNvSpPr>
            <a:spLocks noGrp="1" noChangeArrowheads="1"/>
          </p:cNvSpPr>
          <p:nvPr>
            <p:ph type="title"/>
          </p:nvPr>
        </p:nvSpPr>
        <p:spPr/>
        <p:txBody>
          <a:bodyPr/>
          <a:lstStyle/>
          <a:p>
            <a:r>
              <a:rPr lang="en-US" altLang="zh-CN"/>
              <a:t>RFC 2018</a:t>
            </a:r>
            <a:r>
              <a:rPr lang="zh-CN" altLang="en-US"/>
              <a:t>的一些规定</a:t>
            </a:r>
          </a:p>
        </p:txBody>
      </p:sp>
      <p:sp>
        <p:nvSpPr>
          <p:cNvPr id="835587" name="Rectangle 3"/>
          <p:cNvSpPr>
            <a:spLocks noGrp="1" noChangeArrowheads="1"/>
          </p:cNvSpPr>
          <p:nvPr>
            <p:ph type="body" idx="1"/>
          </p:nvPr>
        </p:nvSpPr>
        <p:spPr/>
        <p:txBody>
          <a:bodyPr/>
          <a:lstStyle/>
          <a:p>
            <a:pPr>
              <a:lnSpc>
                <a:spcPct val="120000"/>
              </a:lnSpc>
            </a:pPr>
            <a:r>
              <a:rPr lang="zh-CN" altLang="en-US" dirty="0"/>
              <a:t>如果要使用选择确认，那么在建立 </a:t>
            </a:r>
            <a:r>
              <a:rPr lang="en-US" altLang="zh-CN" dirty="0"/>
              <a:t>TCP </a:t>
            </a:r>
            <a:r>
              <a:rPr lang="zh-CN" altLang="en-US" dirty="0"/>
              <a:t>连接时，就要在 </a:t>
            </a:r>
            <a:r>
              <a:rPr lang="en-US" altLang="zh-CN" dirty="0"/>
              <a:t>TCP </a:t>
            </a:r>
            <a:r>
              <a:rPr lang="zh-CN" altLang="en-US" dirty="0"/>
              <a:t>首部的选项中加上“允许 </a:t>
            </a:r>
            <a:r>
              <a:rPr lang="en-US" altLang="zh-CN" dirty="0"/>
              <a:t>SACK”</a:t>
            </a:r>
            <a:r>
              <a:rPr lang="zh-CN" altLang="en-US" dirty="0"/>
              <a:t>的选项，而双方必须都事先商定好。原来首部中的“确认号字段”的用法仍然不变</a:t>
            </a:r>
          </a:p>
          <a:p>
            <a:pPr>
              <a:lnSpc>
                <a:spcPct val="120000"/>
              </a:lnSpc>
            </a:pPr>
            <a:r>
              <a:rPr lang="zh-CN" altLang="en-US" dirty="0"/>
              <a:t>如果使用选择确认，那么需要</a:t>
            </a:r>
            <a:r>
              <a:rPr lang="en-US" altLang="zh-CN" dirty="0"/>
              <a:t>2</a:t>
            </a:r>
            <a:r>
              <a:rPr lang="zh-CN" altLang="en-US" dirty="0"/>
              <a:t>个字节用来指明该选项：</a:t>
            </a:r>
          </a:p>
          <a:p>
            <a:pPr lvl="1">
              <a:lnSpc>
                <a:spcPct val="120000"/>
              </a:lnSpc>
            </a:pPr>
            <a:r>
              <a:rPr lang="en-US" altLang="zh-CN" dirty="0"/>
              <a:t>1</a:t>
            </a:r>
            <a:r>
              <a:rPr lang="zh-CN" altLang="en-US" dirty="0"/>
              <a:t>个字节用于</a:t>
            </a:r>
            <a:r>
              <a:rPr lang="en-US" altLang="zh-CN" dirty="0"/>
              <a:t>SACK</a:t>
            </a:r>
            <a:r>
              <a:rPr lang="zh-CN" altLang="en-US" dirty="0"/>
              <a:t>选项</a:t>
            </a:r>
          </a:p>
          <a:p>
            <a:pPr lvl="1">
              <a:lnSpc>
                <a:spcPct val="120000"/>
              </a:lnSpc>
            </a:pPr>
            <a:r>
              <a:rPr lang="en-US" altLang="zh-CN" dirty="0"/>
              <a:t>1</a:t>
            </a:r>
            <a:r>
              <a:rPr lang="zh-CN" altLang="en-US" dirty="0"/>
              <a:t>个字节用于指明选项的长度</a:t>
            </a:r>
          </a:p>
          <a:p>
            <a:pPr>
              <a:lnSpc>
                <a:spcPct val="120000"/>
              </a:lnSpc>
            </a:pPr>
            <a:r>
              <a:rPr lang="zh-CN" altLang="en-US" dirty="0"/>
              <a:t>由于首部选项的长度最多只有 </a:t>
            </a:r>
            <a:r>
              <a:rPr lang="en-US" altLang="zh-CN" dirty="0"/>
              <a:t>40 </a:t>
            </a:r>
            <a:r>
              <a:rPr lang="zh-CN" altLang="en-US" dirty="0"/>
              <a:t>字节，而指明一个边界就要用掉 </a:t>
            </a:r>
            <a:r>
              <a:rPr lang="en-US" altLang="zh-CN" dirty="0"/>
              <a:t>4 </a:t>
            </a:r>
            <a:r>
              <a:rPr lang="zh-CN" altLang="en-US" dirty="0"/>
              <a:t>字节，因此在选项中最多只能指明 </a:t>
            </a:r>
            <a:r>
              <a:rPr lang="en-US" altLang="zh-CN" dirty="0"/>
              <a:t>4 </a:t>
            </a:r>
            <a:r>
              <a:rPr lang="zh-CN" altLang="en-US" dirty="0"/>
              <a:t>个字节块的边界信息</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TCP</a:t>
            </a:r>
            <a:r>
              <a:rPr lang="zh-CN" altLang="en-US" dirty="0"/>
              <a:t>何时发送数据</a:t>
            </a:r>
          </a:p>
        </p:txBody>
      </p:sp>
      <p:sp>
        <p:nvSpPr>
          <p:cNvPr id="3" name="内容占位符 2"/>
          <p:cNvSpPr>
            <a:spLocks noGrp="1"/>
          </p:cNvSpPr>
          <p:nvPr>
            <p:ph idx="1"/>
          </p:nvPr>
        </p:nvSpPr>
        <p:spPr/>
        <p:txBody>
          <a:bodyPr/>
          <a:lstStyle/>
          <a:p>
            <a:pPr>
              <a:lnSpc>
                <a:spcPct val="120000"/>
              </a:lnSpc>
            </a:pPr>
            <a:r>
              <a:rPr lang="zh-CN" altLang="en-US" dirty="0"/>
              <a:t>用不同的机制来控制 </a:t>
            </a:r>
            <a:r>
              <a:rPr lang="en-US" altLang="zh-CN" dirty="0"/>
              <a:t>TCP </a:t>
            </a:r>
            <a:r>
              <a:rPr lang="zh-CN" altLang="en-US" dirty="0"/>
              <a:t>报文段的发送时机</a:t>
            </a:r>
            <a:r>
              <a:rPr lang="en-US" altLang="zh-CN" dirty="0"/>
              <a:t>:</a:t>
            </a:r>
          </a:p>
          <a:p>
            <a:pPr lvl="1">
              <a:lnSpc>
                <a:spcPct val="120000"/>
              </a:lnSpc>
            </a:pPr>
            <a:r>
              <a:rPr lang="zh-CN" altLang="en-US" dirty="0"/>
              <a:t> </a:t>
            </a:r>
            <a:r>
              <a:rPr lang="en-US" altLang="zh-CN" dirty="0"/>
              <a:t>TCP </a:t>
            </a:r>
            <a:r>
              <a:rPr lang="zh-CN" altLang="en-US" dirty="0"/>
              <a:t>维持一个变量，它等于最大报文段长度 </a:t>
            </a:r>
            <a:r>
              <a:rPr lang="en-US" altLang="zh-CN" dirty="0"/>
              <a:t>MSS</a:t>
            </a:r>
            <a:r>
              <a:rPr lang="zh-CN" altLang="en-US" dirty="0"/>
              <a:t>。只要缓存中存放的数据达到 </a:t>
            </a:r>
            <a:r>
              <a:rPr lang="en-US" altLang="zh-CN" dirty="0"/>
              <a:t>MSS </a:t>
            </a:r>
            <a:r>
              <a:rPr lang="zh-CN" altLang="en-US" dirty="0"/>
              <a:t>字节时，就组装成一个 </a:t>
            </a:r>
            <a:r>
              <a:rPr lang="en-US" altLang="zh-CN" dirty="0"/>
              <a:t>TCP </a:t>
            </a:r>
            <a:r>
              <a:rPr lang="zh-CN" altLang="en-US" dirty="0"/>
              <a:t>报文段发送出去</a:t>
            </a:r>
          </a:p>
          <a:p>
            <a:pPr lvl="1">
              <a:lnSpc>
                <a:spcPct val="120000"/>
              </a:lnSpc>
            </a:pPr>
            <a:r>
              <a:rPr lang="zh-CN" altLang="en-US" dirty="0"/>
              <a:t>由发送方的应用进程指明要求发送报文段，即 </a:t>
            </a:r>
            <a:r>
              <a:rPr lang="en-US" altLang="zh-CN" dirty="0"/>
              <a:t>TCP </a:t>
            </a:r>
            <a:r>
              <a:rPr lang="zh-CN" altLang="en-US" dirty="0"/>
              <a:t>支持的推送</a:t>
            </a:r>
            <a:r>
              <a:rPr lang="en-US" altLang="zh-CN" dirty="0"/>
              <a:t>(push)</a:t>
            </a:r>
            <a:r>
              <a:rPr lang="zh-CN" altLang="en-US" dirty="0"/>
              <a:t>操作</a:t>
            </a:r>
          </a:p>
          <a:p>
            <a:pPr lvl="1">
              <a:lnSpc>
                <a:spcPct val="120000"/>
              </a:lnSpc>
            </a:pPr>
            <a:r>
              <a:rPr lang="zh-CN" altLang="en-US" dirty="0"/>
              <a:t>发送方的一个计时器期限到了，这时就把当前已有的缓存数据装入报文段（但长度不能超过 </a:t>
            </a:r>
            <a:r>
              <a:rPr lang="en-US" altLang="zh-CN" dirty="0"/>
              <a:t>MSS</a:t>
            </a:r>
            <a:r>
              <a:rPr lang="zh-CN" altLang="en-US" dirty="0"/>
              <a:t>）发送出去</a:t>
            </a:r>
            <a:endParaRPr lang="en-US" altLang="zh-CN" dirty="0"/>
          </a:p>
          <a:p>
            <a:pPr>
              <a:lnSpc>
                <a:spcPct val="120000"/>
              </a:lnSpc>
            </a:pPr>
            <a:r>
              <a:rPr lang="zh-CN" altLang="en-US" dirty="0"/>
              <a:t>但不同的应用，发送时机仍然较为复杂</a:t>
            </a:r>
          </a:p>
        </p:txBody>
      </p:sp>
      <p:sp>
        <p:nvSpPr>
          <p:cNvPr id="4" name="灯片编号占位符 3"/>
          <p:cNvSpPr>
            <a:spLocks noGrp="1"/>
          </p:cNvSpPr>
          <p:nvPr>
            <p:ph type="sldNum" sz="quarter" idx="12"/>
          </p:nvPr>
        </p:nvSpPr>
        <p:spPr/>
        <p:txBody>
          <a:bodyPr/>
          <a:lstStyle/>
          <a:p>
            <a:fld id="{C5115649-70A0-44B3-983D-302858AA6FDF}" type="slidenum">
              <a:rPr lang="en-US" altLang="zh-CN" smtClean="0"/>
              <a:t>61</a:t>
            </a:fld>
            <a:endParaRPr lang="en-US" altLang="zh-CN"/>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81A0E76C-320D-4567-A37E-F7D72CF403DB}" type="slidenum">
              <a:rPr lang="en-US" altLang="zh-CN"/>
              <a:t>62</a:t>
            </a:fld>
            <a:endParaRPr lang="en-US" altLang="zh-CN"/>
          </a:p>
        </p:txBody>
      </p:sp>
      <p:sp>
        <p:nvSpPr>
          <p:cNvPr id="842754" name="Rectangle 2"/>
          <p:cNvSpPr>
            <a:spLocks noGrp="1" noChangeArrowheads="1"/>
          </p:cNvSpPr>
          <p:nvPr>
            <p:ph type="title"/>
          </p:nvPr>
        </p:nvSpPr>
        <p:spPr/>
        <p:txBody>
          <a:bodyPr/>
          <a:lstStyle/>
          <a:p>
            <a:r>
              <a:rPr lang="zh-CN" altLang="en-US" dirty="0"/>
              <a:t>提高性能的措施</a:t>
            </a:r>
          </a:p>
        </p:txBody>
      </p:sp>
      <p:sp>
        <p:nvSpPr>
          <p:cNvPr id="842755" name="Rectangle 3"/>
          <p:cNvSpPr>
            <a:spLocks noGrp="1" noChangeArrowheads="1"/>
          </p:cNvSpPr>
          <p:nvPr>
            <p:ph type="body" idx="1"/>
          </p:nvPr>
        </p:nvSpPr>
        <p:spPr/>
        <p:txBody>
          <a:bodyPr/>
          <a:lstStyle/>
          <a:p>
            <a:pPr>
              <a:lnSpc>
                <a:spcPct val="120000"/>
              </a:lnSpc>
            </a:pPr>
            <a:r>
              <a:rPr lang="en-US" altLang="zh-CN" dirty="0"/>
              <a:t>Nagle</a:t>
            </a:r>
            <a:r>
              <a:rPr lang="zh-CN" altLang="en-US" dirty="0"/>
              <a:t>算法：</a:t>
            </a:r>
          </a:p>
          <a:p>
            <a:pPr lvl="1">
              <a:lnSpc>
                <a:spcPct val="120000"/>
              </a:lnSpc>
            </a:pPr>
            <a:r>
              <a:rPr lang="zh-CN" altLang="en-US" dirty="0"/>
              <a:t>若发送进程把要发送的数据逐个字节送到</a:t>
            </a:r>
            <a:r>
              <a:rPr lang="en-US" altLang="zh-CN" dirty="0"/>
              <a:t>TCP</a:t>
            </a:r>
            <a:r>
              <a:rPr lang="zh-CN" altLang="en-US" dirty="0"/>
              <a:t>的发送缓存，则发送方把第</a:t>
            </a:r>
            <a:r>
              <a:rPr lang="en-US" altLang="zh-CN" dirty="0"/>
              <a:t>1</a:t>
            </a:r>
            <a:r>
              <a:rPr lang="zh-CN" altLang="en-US" dirty="0"/>
              <a:t>个字节发送出去，把后续的字节缓存起来</a:t>
            </a:r>
          </a:p>
          <a:p>
            <a:pPr lvl="1">
              <a:lnSpc>
                <a:spcPct val="120000"/>
              </a:lnSpc>
            </a:pPr>
            <a:r>
              <a:rPr lang="zh-CN" altLang="en-US" dirty="0"/>
              <a:t>当收到对第</a:t>
            </a:r>
            <a:r>
              <a:rPr lang="en-US" altLang="zh-CN" dirty="0"/>
              <a:t>1</a:t>
            </a:r>
            <a:r>
              <a:rPr lang="zh-CN" altLang="en-US" dirty="0"/>
              <a:t>个字节的确认后，在将缓存中的数据组装成一个报文段发送出去，同时继续对后续数据进行缓存</a:t>
            </a:r>
          </a:p>
          <a:p>
            <a:pPr lvl="1">
              <a:lnSpc>
                <a:spcPct val="120000"/>
              </a:lnSpc>
            </a:pPr>
            <a:r>
              <a:rPr lang="zh-CN" altLang="en-US" dirty="0"/>
              <a:t>当到达的数据已达到发送窗口大小的一半或者已达到最大报文段时，立即发送一个报文段</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81A0E76C-320D-4567-A37E-F7D72CF403DB}" type="slidenum">
              <a:rPr lang="en-US" altLang="zh-CN"/>
              <a:t>63</a:t>
            </a:fld>
            <a:endParaRPr lang="en-US" altLang="zh-CN"/>
          </a:p>
        </p:txBody>
      </p:sp>
      <p:sp>
        <p:nvSpPr>
          <p:cNvPr id="842754" name="Rectangle 2"/>
          <p:cNvSpPr>
            <a:spLocks noGrp="1" noChangeArrowheads="1"/>
          </p:cNvSpPr>
          <p:nvPr>
            <p:ph type="title"/>
          </p:nvPr>
        </p:nvSpPr>
        <p:spPr/>
        <p:txBody>
          <a:bodyPr/>
          <a:lstStyle/>
          <a:p>
            <a:r>
              <a:rPr lang="zh-CN" altLang="en-US" dirty="0"/>
              <a:t>提高性能的措施</a:t>
            </a:r>
          </a:p>
        </p:txBody>
      </p:sp>
      <p:sp>
        <p:nvSpPr>
          <p:cNvPr id="842755" name="Rectangle 3"/>
          <p:cNvSpPr>
            <a:spLocks noGrp="1" noChangeArrowheads="1"/>
          </p:cNvSpPr>
          <p:nvPr>
            <p:ph type="body" idx="1"/>
          </p:nvPr>
        </p:nvSpPr>
        <p:spPr/>
        <p:txBody>
          <a:bodyPr/>
          <a:lstStyle/>
          <a:p>
            <a:pPr>
              <a:lnSpc>
                <a:spcPct val="120000"/>
              </a:lnSpc>
            </a:pPr>
            <a:r>
              <a:rPr lang="zh-CN" altLang="en-US" dirty="0"/>
              <a:t>糊涂窗口综合症：</a:t>
            </a:r>
            <a:r>
              <a:rPr lang="en-US" altLang="zh-CN" dirty="0"/>
              <a:t>TCP</a:t>
            </a:r>
            <a:r>
              <a:rPr lang="zh-CN" altLang="en-US" dirty="0"/>
              <a:t>接收缓存已满，而应用进程一次只从缓存中读取一个字节</a:t>
            </a:r>
            <a:endParaRPr lang="en-US" altLang="zh-CN" dirty="0"/>
          </a:p>
          <a:p>
            <a:pPr lvl="1">
              <a:lnSpc>
                <a:spcPct val="120000"/>
              </a:lnSpc>
            </a:pPr>
            <a:r>
              <a:rPr lang="zh-CN" altLang="en-US" dirty="0"/>
              <a:t>让接收方等待一段时间，使得</a:t>
            </a:r>
            <a:endParaRPr lang="en-US" altLang="zh-CN" dirty="0"/>
          </a:p>
          <a:p>
            <a:pPr lvl="2">
              <a:lnSpc>
                <a:spcPct val="120000"/>
              </a:lnSpc>
            </a:pPr>
            <a:r>
              <a:rPr lang="zh-CN" altLang="en-US" dirty="0"/>
              <a:t>或者接收缓存可容纳一个</a:t>
            </a:r>
            <a:r>
              <a:rPr lang="en-US" altLang="zh-CN" dirty="0"/>
              <a:t>MSS</a:t>
            </a:r>
          </a:p>
          <a:p>
            <a:pPr lvl="2">
              <a:lnSpc>
                <a:spcPct val="120000"/>
              </a:lnSpc>
            </a:pPr>
            <a:r>
              <a:rPr lang="zh-CN" altLang="en-US" dirty="0"/>
              <a:t>或者接受缓冲一半空间空闲</a:t>
            </a:r>
            <a:endParaRPr lang="en-US" altLang="zh-CN" dirty="0"/>
          </a:p>
          <a:p>
            <a:pPr lvl="1">
              <a:lnSpc>
                <a:spcPct val="120000"/>
              </a:lnSpc>
            </a:pPr>
            <a:r>
              <a:rPr lang="zh-CN" altLang="en-US" dirty="0"/>
              <a:t>发送方不要发送太小的报文</a:t>
            </a:r>
            <a:endParaRPr lang="en-US" altLang="zh-CN"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8570BBB1-06D5-491E-93FA-F01887A177D0}" type="slidenum">
              <a:rPr lang="en-US" altLang="zh-CN"/>
              <a:t>64</a:t>
            </a:fld>
            <a:endParaRPr lang="en-US" altLang="zh-CN"/>
          </a:p>
        </p:txBody>
      </p:sp>
      <p:sp>
        <p:nvSpPr>
          <p:cNvPr id="509954" name="Rectangle 2"/>
          <p:cNvSpPr>
            <a:spLocks noGrp="1" noChangeArrowheads="1"/>
          </p:cNvSpPr>
          <p:nvPr>
            <p:ph type="title"/>
          </p:nvPr>
        </p:nvSpPr>
        <p:spPr/>
        <p:txBody>
          <a:bodyPr/>
          <a:lstStyle/>
          <a:p>
            <a:r>
              <a:rPr lang="zh-CN" altLang="en-US" dirty="0"/>
              <a:t>连接建立</a:t>
            </a:r>
          </a:p>
        </p:txBody>
      </p:sp>
      <p:sp>
        <p:nvSpPr>
          <p:cNvPr id="509955" name="Rectangle 3"/>
          <p:cNvSpPr>
            <a:spLocks noGrp="1" noChangeArrowheads="1"/>
          </p:cNvSpPr>
          <p:nvPr>
            <p:ph type="body" idx="1"/>
          </p:nvPr>
        </p:nvSpPr>
        <p:spPr/>
        <p:txBody>
          <a:bodyPr/>
          <a:lstStyle/>
          <a:p>
            <a:pPr>
              <a:lnSpc>
                <a:spcPct val="120000"/>
              </a:lnSpc>
            </a:pPr>
            <a:r>
              <a:rPr lang="en-US" altLang="zh-CN" dirty="0">
                <a:latin typeface="+mn-lt"/>
              </a:rPr>
              <a:t>TCP</a:t>
            </a:r>
            <a:r>
              <a:rPr lang="zh-CN" altLang="en-US" dirty="0">
                <a:latin typeface="+mn-lt"/>
              </a:rPr>
              <a:t>是一个面向连接的协议，通信双方在发送数据之前都必须建立一个</a:t>
            </a:r>
            <a:r>
              <a:rPr lang="en-US" altLang="zh-CN" dirty="0">
                <a:latin typeface="+mn-lt"/>
              </a:rPr>
              <a:t>TCP</a:t>
            </a:r>
            <a:r>
              <a:rPr lang="zh-CN" altLang="en-US" dirty="0">
                <a:latin typeface="+mn-lt"/>
              </a:rPr>
              <a:t>连接 </a:t>
            </a:r>
            <a:endParaRPr lang="en-US" altLang="zh-CN" dirty="0">
              <a:latin typeface="+mn-lt"/>
            </a:endParaRPr>
          </a:p>
          <a:p>
            <a:pPr>
              <a:lnSpc>
                <a:spcPct val="120000"/>
              </a:lnSpc>
            </a:pPr>
            <a:r>
              <a:rPr lang="zh-CN" altLang="en-US" dirty="0">
                <a:latin typeface="+mn-lt"/>
              </a:rPr>
              <a:t>连接建立过程中要解决的问题：</a:t>
            </a:r>
          </a:p>
          <a:p>
            <a:pPr lvl="1">
              <a:lnSpc>
                <a:spcPct val="120000"/>
              </a:lnSpc>
            </a:pPr>
            <a:r>
              <a:rPr lang="zh-CN" altLang="en-US" dirty="0">
                <a:latin typeface="+mn-lt"/>
              </a:rPr>
              <a:t>要使每一方能够确知对方的存在</a:t>
            </a:r>
          </a:p>
          <a:p>
            <a:pPr lvl="1">
              <a:lnSpc>
                <a:spcPct val="120000"/>
              </a:lnSpc>
            </a:pPr>
            <a:r>
              <a:rPr lang="zh-CN" altLang="en-US" dirty="0">
                <a:latin typeface="+mn-lt"/>
              </a:rPr>
              <a:t>要允许双方协商一些参数（如最大报文段长度，最大窗口大小，服务质量等）</a:t>
            </a:r>
          </a:p>
          <a:p>
            <a:pPr lvl="1">
              <a:lnSpc>
                <a:spcPct val="120000"/>
              </a:lnSpc>
            </a:pPr>
            <a:r>
              <a:rPr lang="zh-CN" altLang="en-US" dirty="0">
                <a:latin typeface="+mn-lt"/>
              </a:rPr>
              <a:t>能够对传输实体资源（如缓存大小，连接表中的项目等）进行分配 </a:t>
            </a:r>
            <a:endParaRPr lang="en-US" altLang="zh-CN" dirty="0">
              <a:latin typeface="+mn-lt"/>
            </a:endParaRPr>
          </a:p>
          <a:p>
            <a:pPr>
              <a:lnSpc>
                <a:spcPct val="120000"/>
              </a:lnSpc>
            </a:pPr>
            <a:r>
              <a:rPr lang="en-US" altLang="zh-CN" dirty="0">
                <a:latin typeface="+mn-lt"/>
              </a:rPr>
              <a:t>TCP</a:t>
            </a:r>
            <a:r>
              <a:rPr lang="zh-CN" altLang="en-US" dirty="0">
                <a:latin typeface="+mn-lt"/>
              </a:rPr>
              <a:t>连接的建立过程称为三次握手</a:t>
            </a:r>
            <a:r>
              <a:rPr lang="en-US" altLang="zh-CN" dirty="0">
                <a:latin typeface="+mn-lt"/>
              </a:rPr>
              <a:t>(3-way handshake)</a:t>
            </a:r>
          </a:p>
          <a:p>
            <a:pPr lvl="1">
              <a:lnSpc>
                <a:spcPct val="120000"/>
              </a:lnSpc>
            </a:pPr>
            <a:r>
              <a:rPr lang="zh-CN" altLang="en-US" dirty="0">
                <a:latin typeface="+mn-lt"/>
              </a:rPr>
              <a:t>避免已失效的连接请求报文</a:t>
            </a:r>
            <a:endParaRPr lang="en-US" altLang="zh-CN" dirty="0">
              <a:latin typeface="+mn-lt"/>
            </a:endParaRPr>
          </a:p>
          <a:p>
            <a:pPr marL="0" indent="0">
              <a:buNone/>
            </a:pPr>
            <a:endParaRPr lang="zh-CN" alt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灯片编号占位符 5"/>
          <p:cNvSpPr>
            <a:spLocks noGrp="1"/>
          </p:cNvSpPr>
          <p:nvPr>
            <p:ph type="sldNum" sz="quarter" idx="12"/>
          </p:nvPr>
        </p:nvSpPr>
        <p:spPr/>
        <p:txBody>
          <a:bodyPr/>
          <a:lstStyle/>
          <a:p>
            <a:fld id="{BBC1CDD3-9F33-4EF7-9B4C-CBB6663AF8FB}" type="slidenum">
              <a:rPr lang="en-US" altLang="zh-CN"/>
              <a:t>65</a:t>
            </a:fld>
            <a:endParaRPr lang="en-US" altLang="zh-CN"/>
          </a:p>
        </p:txBody>
      </p:sp>
      <p:sp>
        <p:nvSpPr>
          <p:cNvPr id="317475" name="Rectangle 35"/>
          <p:cNvSpPr>
            <a:spLocks noGrp="1" noChangeArrowheads="1"/>
          </p:cNvSpPr>
          <p:nvPr>
            <p:ph type="title"/>
          </p:nvPr>
        </p:nvSpPr>
        <p:spPr>
          <a:noFill/>
        </p:spPr>
        <p:txBody>
          <a:bodyPr/>
          <a:lstStyle/>
          <a:p>
            <a:r>
              <a:rPr lang="zh-CN" altLang="en-US"/>
              <a:t>连接建立报文序列</a:t>
            </a:r>
          </a:p>
        </p:txBody>
      </p:sp>
      <p:grpSp>
        <p:nvGrpSpPr>
          <p:cNvPr id="2" name="组合 1"/>
          <p:cNvGrpSpPr/>
          <p:nvPr/>
        </p:nvGrpSpPr>
        <p:grpSpPr>
          <a:xfrm>
            <a:off x="1647328" y="1173164"/>
            <a:ext cx="8913880" cy="5381624"/>
            <a:chOff x="1647328" y="1173164"/>
            <a:chExt cx="8913880" cy="5381624"/>
          </a:xfrm>
        </p:grpSpPr>
        <p:sp>
          <p:nvSpPr>
            <p:cNvPr id="317466" name="Text Box 26"/>
            <p:cNvSpPr txBox="1">
              <a:spLocks noChangeArrowheads="1"/>
            </p:cNvSpPr>
            <p:nvPr/>
          </p:nvSpPr>
          <p:spPr bwMode="auto">
            <a:xfrm>
              <a:off x="1647328" y="1173164"/>
              <a:ext cx="14959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zh-CN" altLang="en-US" dirty="0">
                  <a:latin typeface="+mn-lt"/>
                  <a:ea typeface="微软雅黑 Light" panose="020B0502040204020203" pitchFamily="34" charset="-122"/>
                </a:rPr>
                <a:t>主机</a:t>
              </a:r>
              <a:r>
                <a:rPr lang="en-US" altLang="zh-CN" dirty="0">
                  <a:latin typeface="+mn-lt"/>
                  <a:ea typeface="微软雅黑 Light" panose="020B0502040204020203" pitchFamily="34" charset="-122"/>
                </a:rPr>
                <a:t>A-</a:t>
              </a:r>
              <a:r>
                <a:rPr lang="zh-CN" altLang="en-US" dirty="0">
                  <a:latin typeface="+mn-lt"/>
                  <a:ea typeface="微软雅黑 Light" panose="020B0502040204020203" pitchFamily="34" charset="-122"/>
                </a:rPr>
                <a:t>客户</a:t>
              </a:r>
            </a:p>
          </p:txBody>
        </p:sp>
        <p:sp>
          <p:nvSpPr>
            <p:cNvPr id="317467" name="Text Box 27"/>
            <p:cNvSpPr txBox="1">
              <a:spLocks noChangeArrowheads="1"/>
            </p:cNvSpPr>
            <p:nvPr/>
          </p:nvSpPr>
          <p:spPr bwMode="auto">
            <a:xfrm>
              <a:off x="8832850" y="1196976"/>
              <a:ext cx="172835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a:latin typeface="+mn-lt"/>
                  <a:ea typeface="微软雅黑 Light" panose="020B0502040204020203" pitchFamily="34" charset="-122"/>
                </a:rPr>
                <a:t>主机</a:t>
              </a:r>
              <a:r>
                <a:rPr lang="en-US" altLang="zh-CN">
                  <a:latin typeface="+mn-lt"/>
                  <a:ea typeface="微软雅黑 Light" panose="020B0502040204020203" pitchFamily="34" charset="-122"/>
                </a:rPr>
                <a:t>B-</a:t>
              </a:r>
              <a:r>
                <a:rPr lang="zh-CN" altLang="en-US">
                  <a:latin typeface="+mn-lt"/>
                  <a:ea typeface="微软雅黑 Light" panose="020B0502040204020203" pitchFamily="34" charset="-122"/>
                </a:rPr>
                <a:t>服务器</a:t>
              </a:r>
            </a:p>
          </p:txBody>
        </p:sp>
        <p:grpSp>
          <p:nvGrpSpPr>
            <p:cNvPr id="317480" name="Group 40"/>
            <p:cNvGrpSpPr/>
            <p:nvPr/>
          </p:nvGrpSpPr>
          <p:grpSpPr bwMode="auto">
            <a:xfrm>
              <a:off x="2914650" y="2789238"/>
              <a:ext cx="6102350" cy="3765550"/>
              <a:chOff x="898" y="1893"/>
              <a:chExt cx="3844" cy="2372"/>
            </a:xfrm>
          </p:grpSpPr>
          <p:grpSp>
            <p:nvGrpSpPr>
              <p:cNvPr id="317481" name="Group 41"/>
              <p:cNvGrpSpPr/>
              <p:nvPr/>
            </p:nvGrpSpPr>
            <p:grpSpPr bwMode="auto">
              <a:xfrm>
                <a:off x="899" y="1916"/>
                <a:ext cx="622" cy="1048"/>
                <a:chOff x="899" y="1916"/>
                <a:chExt cx="622" cy="1048"/>
              </a:xfrm>
            </p:grpSpPr>
            <p:sp>
              <p:nvSpPr>
                <p:cNvPr id="317482" name="Rectangle 42"/>
                <p:cNvSpPr>
                  <a:spLocks noChangeArrowheads="1"/>
                </p:cNvSpPr>
                <p:nvPr/>
              </p:nvSpPr>
              <p:spPr bwMode="auto">
                <a:xfrm>
                  <a:off x="899" y="1916"/>
                  <a:ext cx="622" cy="1048"/>
                </a:xfrm>
                <a:prstGeom prst="rect">
                  <a:avLst/>
                </a:prstGeom>
                <a:solidFill>
                  <a:schemeClr val="bg2">
                    <a:lumMod val="75000"/>
                    <a:alpha val="70000"/>
                  </a:schemeClr>
                </a:solidFill>
                <a:ln>
                  <a:noFill/>
                </a:ln>
                <a:effectLst>
                  <a:outerShdw dist="35921"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endParaRPr lang="zh-CN" altLang="en-US" dirty="0">
                    <a:latin typeface="+mn-lt"/>
                    <a:ea typeface="微软雅黑 Light" panose="020B0502040204020203" pitchFamily="34" charset="-122"/>
                  </a:endParaRPr>
                </a:p>
              </p:txBody>
            </p:sp>
            <p:sp>
              <p:nvSpPr>
                <p:cNvPr id="317483" name="Rectangle 43"/>
                <p:cNvSpPr>
                  <a:spLocks noChangeArrowheads="1"/>
                </p:cNvSpPr>
                <p:nvPr/>
              </p:nvSpPr>
              <p:spPr bwMode="auto">
                <a:xfrm>
                  <a:off x="970" y="2169"/>
                  <a:ext cx="479" cy="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r>
                    <a:rPr lang="en-US" altLang="zh-CN" sz="1800" dirty="0">
                      <a:latin typeface="+mn-lt"/>
                      <a:ea typeface="微软雅黑 Light" panose="020B0502040204020203" pitchFamily="34" charset="-122"/>
                    </a:rPr>
                    <a:t>SYN-</a:t>
                  </a:r>
                </a:p>
                <a:p>
                  <a:pPr algn="ctr" eaLnBrk="0" hangingPunct="0"/>
                  <a:r>
                    <a:rPr lang="en-US" altLang="zh-CN" sz="1800" dirty="0">
                      <a:latin typeface="+mn-lt"/>
                      <a:ea typeface="微软雅黑 Light" panose="020B0502040204020203" pitchFamily="34" charset="-122"/>
                    </a:rPr>
                    <a:t>SENT</a:t>
                  </a:r>
                </a:p>
              </p:txBody>
            </p:sp>
          </p:grpSp>
          <p:grpSp>
            <p:nvGrpSpPr>
              <p:cNvPr id="317484" name="Group 44"/>
              <p:cNvGrpSpPr/>
              <p:nvPr/>
            </p:nvGrpSpPr>
            <p:grpSpPr bwMode="auto">
              <a:xfrm>
                <a:off x="898" y="3013"/>
                <a:ext cx="632" cy="1252"/>
                <a:chOff x="898" y="3013"/>
                <a:chExt cx="632" cy="1252"/>
              </a:xfrm>
            </p:grpSpPr>
            <p:sp>
              <p:nvSpPr>
                <p:cNvPr id="317485" name="Rectangle 45"/>
                <p:cNvSpPr>
                  <a:spLocks noChangeArrowheads="1"/>
                </p:cNvSpPr>
                <p:nvPr/>
              </p:nvSpPr>
              <p:spPr bwMode="auto">
                <a:xfrm>
                  <a:off x="905" y="3013"/>
                  <a:ext cx="609" cy="1252"/>
                </a:xfrm>
                <a:prstGeom prst="rect">
                  <a:avLst/>
                </a:prstGeom>
                <a:solidFill>
                  <a:schemeClr val="bg2">
                    <a:lumMod val="50000"/>
                    <a:alpha val="60000"/>
                  </a:schemeClr>
                </a:solidFill>
                <a:ln>
                  <a:noFill/>
                </a:ln>
                <a:effectLst>
                  <a:outerShdw dist="35921"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endParaRPr lang="zh-CN" altLang="en-US">
                    <a:latin typeface="+mn-lt"/>
                    <a:ea typeface="微软雅黑 Light" panose="020B0502040204020203" pitchFamily="34" charset="-122"/>
                  </a:endParaRPr>
                </a:p>
              </p:txBody>
            </p:sp>
            <p:sp>
              <p:nvSpPr>
                <p:cNvPr id="317486" name="Rectangle 46"/>
                <p:cNvSpPr>
                  <a:spLocks noChangeArrowheads="1"/>
                </p:cNvSpPr>
                <p:nvPr/>
              </p:nvSpPr>
              <p:spPr bwMode="auto">
                <a:xfrm>
                  <a:off x="898" y="3383"/>
                  <a:ext cx="632" cy="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sz="1800" dirty="0">
                      <a:latin typeface="+mn-lt"/>
                      <a:ea typeface="微软雅黑 Light" panose="020B0502040204020203" pitchFamily="34" charset="-122"/>
                    </a:rPr>
                    <a:t>ESTAB-</a:t>
                  </a:r>
                </a:p>
                <a:p>
                  <a:pPr eaLnBrk="0" hangingPunct="0"/>
                  <a:r>
                    <a:rPr lang="en-US" altLang="zh-CN" sz="1800" dirty="0">
                      <a:latin typeface="+mn-lt"/>
                      <a:ea typeface="微软雅黑 Light" panose="020B0502040204020203" pitchFamily="34" charset="-122"/>
                    </a:rPr>
                    <a:t>LISHED</a:t>
                  </a:r>
                </a:p>
              </p:txBody>
            </p:sp>
          </p:grpSp>
          <p:grpSp>
            <p:nvGrpSpPr>
              <p:cNvPr id="317487" name="Group 47"/>
              <p:cNvGrpSpPr/>
              <p:nvPr/>
            </p:nvGrpSpPr>
            <p:grpSpPr bwMode="auto">
              <a:xfrm>
                <a:off x="4111" y="2445"/>
                <a:ext cx="621" cy="1064"/>
                <a:chOff x="4111" y="2445"/>
                <a:chExt cx="621" cy="1064"/>
              </a:xfrm>
            </p:grpSpPr>
            <p:sp>
              <p:nvSpPr>
                <p:cNvPr id="317488" name="Rectangle 48"/>
                <p:cNvSpPr>
                  <a:spLocks noChangeArrowheads="1"/>
                </p:cNvSpPr>
                <p:nvPr/>
              </p:nvSpPr>
              <p:spPr bwMode="auto">
                <a:xfrm>
                  <a:off x="4111" y="2445"/>
                  <a:ext cx="621" cy="1064"/>
                </a:xfrm>
                <a:prstGeom prst="rect">
                  <a:avLst/>
                </a:prstGeom>
                <a:solidFill>
                  <a:schemeClr val="bg2">
                    <a:lumMod val="75000"/>
                    <a:alpha val="70000"/>
                  </a:schemeClr>
                </a:solidFill>
                <a:ln>
                  <a:noFill/>
                </a:ln>
                <a:effectLst>
                  <a:outerShdw dist="35921"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endParaRPr lang="zh-CN" altLang="en-US">
                    <a:latin typeface="+mn-lt"/>
                    <a:ea typeface="微软雅黑 Light" panose="020B0502040204020203" pitchFamily="34" charset="-122"/>
                  </a:endParaRPr>
                </a:p>
              </p:txBody>
            </p:sp>
            <p:sp>
              <p:nvSpPr>
                <p:cNvPr id="317489" name="Rectangle 49"/>
                <p:cNvSpPr>
                  <a:spLocks noChangeArrowheads="1"/>
                </p:cNvSpPr>
                <p:nvPr/>
              </p:nvSpPr>
              <p:spPr bwMode="auto">
                <a:xfrm>
                  <a:off x="4161" y="2721"/>
                  <a:ext cx="519" cy="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r>
                    <a:rPr lang="en-US" altLang="zh-CN" sz="1800" dirty="0">
                      <a:latin typeface="+mn-lt"/>
                      <a:ea typeface="微软雅黑 Light" panose="020B0502040204020203" pitchFamily="34" charset="-122"/>
                    </a:rPr>
                    <a:t>SYN-</a:t>
                  </a:r>
                </a:p>
                <a:p>
                  <a:pPr algn="ctr" eaLnBrk="0" hangingPunct="0"/>
                  <a:r>
                    <a:rPr lang="en-US" altLang="zh-CN" sz="1800" dirty="0">
                      <a:latin typeface="+mn-lt"/>
                      <a:ea typeface="微软雅黑 Light" panose="020B0502040204020203" pitchFamily="34" charset="-122"/>
                    </a:rPr>
                    <a:t>RCVD</a:t>
                  </a:r>
                </a:p>
              </p:txBody>
            </p:sp>
          </p:grpSp>
          <p:grpSp>
            <p:nvGrpSpPr>
              <p:cNvPr id="317490" name="Group 50"/>
              <p:cNvGrpSpPr/>
              <p:nvPr/>
            </p:nvGrpSpPr>
            <p:grpSpPr bwMode="auto">
              <a:xfrm>
                <a:off x="4111" y="1893"/>
                <a:ext cx="623" cy="519"/>
                <a:chOff x="4111" y="1893"/>
                <a:chExt cx="623" cy="519"/>
              </a:xfrm>
            </p:grpSpPr>
            <p:sp>
              <p:nvSpPr>
                <p:cNvPr id="317491" name="Rectangle 51"/>
                <p:cNvSpPr>
                  <a:spLocks noChangeArrowheads="1"/>
                </p:cNvSpPr>
                <p:nvPr/>
              </p:nvSpPr>
              <p:spPr bwMode="auto">
                <a:xfrm>
                  <a:off x="4111" y="1893"/>
                  <a:ext cx="621" cy="519"/>
                </a:xfrm>
                <a:prstGeom prst="rect">
                  <a:avLst/>
                </a:prstGeom>
                <a:solidFill>
                  <a:schemeClr val="bg2">
                    <a:lumMod val="90000"/>
                  </a:schemeClr>
                </a:solidFill>
                <a:ln>
                  <a:noFill/>
                </a:ln>
                <a:effectLst>
                  <a:outerShdw dist="35921"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endParaRPr lang="zh-CN" altLang="en-US">
                    <a:latin typeface="+mn-lt"/>
                    <a:ea typeface="微软雅黑 Light" panose="020B0502040204020203" pitchFamily="34" charset="-122"/>
                  </a:endParaRPr>
                </a:p>
              </p:txBody>
            </p:sp>
            <p:sp>
              <p:nvSpPr>
                <p:cNvPr id="317492" name="Rectangle 52"/>
                <p:cNvSpPr>
                  <a:spLocks noChangeArrowheads="1"/>
                </p:cNvSpPr>
                <p:nvPr/>
              </p:nvSpPr>
              <p:spPr bwMode="auto">
                <a:xfrm>
                  <a:off x="4118" y="2004"/>
                  <a:ext cx="6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sz="1800">
                      <a:latin typeface="+mn-lt"/>
                      <a:ea typeface="微软雅黑 Light" panose="020B0502040204020203" pitchFamily="34" charset="-122"/>
                    </a:rPr>
                    <a:t>LISTEN</a:t>
                  </a:r>
                </a:p>
              </p:txBody>
            </p:sp>
          </p:grpSp>
          <p:grpSp>
            <p:nvGrpSpPr>
              <p:cNvPr id="317493" name="Group 53"/>
              <p:cNvGrpSpPr/>
              <p:nvPr/>
            </p:nvGrpSpPr>
            <p:grpSpPr bwMode="auto">
              <a:xfrm>
                <a:off x="4110" y="3564"/>
                <a:ext cx="632" cy="701"/>
                <a:chOff x="4110" y="3564"/>
                <a:chExt cx="632" cy="701"/>
              </a:xfrm>
            </p:grpSpPr>
            <p:sp>
              <p:nvSpPr>
                <p:cNvPr id="317494" name="Rectangle 54"/>
                <p:cNvSpPr>
                  <a:spLocks noChangeArrowheads="1"/>
                </p:cNvSpPr>
                <p:nvPr/>
              </p:nvSpPr>
              <p:spPr bwMode="auto">
                <a:xfrm>
                  <a:off x="4111" y="3564"/>
                  <a:ext cx="621" cy="701"/>
                </a:xfrm>
                <a:prstGeom prst="rect">
                  <a:avLst/>
                </a:prstGeom>
                <a:solidFill>
                  <a:schemeClr val="bg2">
                    <a:lumMod val="50000"/>
                    <a:alpha val="60000"/>
                  </a:schemeClr>
                </a:solidFill>
                <a:ln>
                  <a:noFill/>
                </a:ln>
                <a:effectLst>
                  <a:outerShdw dist="35921"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endParaRPr lang="zh-CN" altLang="en-US">
                    <a:latin typeface="+mn-lt"/>
                    <a:ea typeface="微软雅黑 Light" panose="020B0502040204020203" pitchFamily="34" charset="-122"/>
                  </a:endParaRPr>
                </a:p>
              </p:txBody>
            </p:sp>
            <p:sp>
              <p:nvSpPr>
                <p:cNvPr id="317495" name="Rectangle 55"/>
                <p:cNvSpPr>
                  <a:spLocks noChangeArrowheads="1"/>
                </p:cNvSpPr>
                <p:nvPr/>
              </p:nvSpPr>
              <p:spPr bwMode="auto">
                <a:xfrm>
                  <a:off x="4110" y="3708"/>
                  <a:ext cx="632" cy="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sz="1800" dirty="0">
                      <a:latin typeface="+mn-lt"/>
                      <a:ea typeface="微软雅黑 Light" panose="020B0502040204020203" pitchFamily="34" charset="-122"/>
                    </a:rPr>
                    <a:t>ESTAB-</a:t>
                  </a:r>
                </a:p>
                <a:p>
                  <a:pPr eaLnBrk="0" hangingPunct="0"/>
                  <a:r>
                    <a:rPr lang="en-US" altLang="zh-CN" sz="1800" dirty="0">
                      <a:latin typeface="+mn-lt"/>
                      <a:ea typeface="微软雅黑 Light" panose="020B0502040204020203" pitchFamily="34" charset="-122"/>
                    </a:rPr>
                    <a:t>LISHED</a:t>
                  </a:r>
                </a:p>
              </p:txBody>
            </p:sp>
          </p:grpSp>
        </p:grpSp>
        <p:grpSp>
          <p:nvGrpSpPr>
            <p:cNvPr id="317496" name="Group 56"/>
            <p:cNvGrpSpPr/>
            <p:nvPr/>
          </p:nvGrpSpPr>
          <p:grpSpPr bwMode="auto">
            <a:xfrm>
              <a:off x="3902076" y="2767013"/>
              <a:ext cx="4111625" cy="823912"/>
              <a:chOff x="1520" y="1879"/>
              <a:chExt cx="2590" cy="519"/>
            </a:xfrm>
          </p:grpSpPr>
          <p:sp>
            <p:nvSpPr>
              <p:cNvPr id="317497" name="Rectangle 57"/>
              <p:cNvSpPr>
                <a:spLocks noChangeArrowheads="1"/>
              </p:cNvSpPr>
              <p:nvPr/>
            </p:nvSpPr>
            <p:spPr bwMode="auto">
              <a:xfrm rot="665985">
                <a:off x="2097" y="1879"/>
                <a:ext cx="1342"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sz="2000">
                    <a:latin typeface="+mn-lt"/>
                    <a:ea typeface="微软雅黑 Light" panose="020B0502040204020203" pitchFamily="34" charset="-122"/>
                  </a:rPr>
                  <a:t>SYN = 1, seq = x</a:t>
                </a:r>
              </a:p>
            </p:txBody>
          </p:sp>
          <p:sp>
            <p:nvSpPr>
              <p:cNvPr id="317498" name="Line 58"/>
              <p:cNvSpPr>
                <a:spLocks noChangeShapeType="1"/>
              </p:cNvSpPr>
              <p:nvPr/>
            </p:nvSpPr>
            <p:spPr bwMode="auto">
              <a:xfrm>
                <a:off x="1520" y="1893"/>
                <a:ext cx="2590" cy="505"/>
              </a:xfrm>
              <a:prstGeom prst="line">
                <a:avLst/>
              </a:prstGeom>
              <a:noFill/>
              <a:ln w="57150">
                <a:solidFill>
                  <a:schemeClr val="bg2"/>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grpSp>
        <p:grpSp>
          <p:nvGrpSpPr>
            <p:cNvPr id="317499" name="Group 59"/>
            <p:cNvGrpSpPr/>
            <p:nvPr/>
          </p:nvGrpSpPr>
          <p:grpSpPr bwMode="auto">
            <a:xfrm>
              <a:off x="3902076" y="4540250"/>
              <a:ext cx="4111625" cy="800100"/>
              <a:chOff x="1520" y="2996"/>
              <a:chExt cx="2590" cy="504"/>
            </a:xfrm>
          </p:grpSpPr>
          <p:sp>
            <p:nvSpPr>
              <p:cNvPr id="317500" name="Rectangle 60"/>
              <p:cNvSpPr>
                <a:spLocks noChangeArrowheads="1"/>
              </p:cNvSpPr>
              <p:nvPr/>
            </p:nvSpPr>
            <p:spPr bwMode="auto">
              <a:xfrm rot="649536">
                <a:off x="1963" y="3064"/>
                <a:ext cx="209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r>
                  <a:rPr lang="en-US" altLang="zh-CN" sz="1800">
                    <a:latin typeface="+mn-lt"/>
                    <a:ea typeface="微软雅黑 Light" panose="020B0502040204020203" pitchFamily="34" charset="-122"/>
                  </a:rPr>
                  <a:t>ACK = 1, seq = x + 1, ack = y </a:t>
                </a:r>
                <a:r>
                  <a:rPr lang="en-US" altLang="zh-CN" sz="1800" b="1">
                    <a:latin typeface="+mn-lt"/>
                    <a:ea typeface="微软雅黑 Light" panose="020B0502040204020203" pitchFamily="34" charset="-122"/>
                    <a:sym typeface="Symbol" panose="05050102010706020507" pitchFamily="18" charset="2"/>
                  </a:rPr>
                  <a:t></a:t>
                </a:r>
                <a:r>
                  <a:rPr lang="en-US" altLang="zh-CN" sz="1800">
                    <a:latin typeface="+mn-lt"/>
                    <a:ea typeface="微软雅黑 Light" panose="020B0502040204020203" pitchFamily="34" charset="-122"/>
                    <a:sym typeface="Symbol" panose="05050102010706020507" pitchFamily="18" charset="2"/>
                  </a:rPr>
                  <a:t> 1</a:t>
                </a:r>
              </a:p>
            </p:txBody>
          </p:sp>
          <p:sp>
            <p:nvSpPr>
              <p:cNvPr id="317501" name="Line 61"/>
              <p:cNvSpPr>
                <a:spLocks noChangeShapeType="1"/>
              </p:cNvSpPr>
              <p:nvPr/>
            </p:nvSpPr>
            <p:spPr bwMode="auto">
              <a:xfrm>
                <a:off x="1520" y="2996"/>
                <a:ext cx="2590" cy="504"/>
              </a:xfrm>
              <a:prstGeom prst="line">
                <a:avLst/>
              </a:prstGeom>
              <a:noFill/>
              <a:ln w="57150">
                <a:solidFill>
                  <a:schemeClr val="bg2"/>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grpSp>
        <p:sp>
          <p:nvSpPr>
            <p:cNvPr id="317504" name="Rectangle 64"/>
            <p:cNvSpPr>
              <a:spLocks noChangeArrowheads="1"/>
            </p:cNvSpPr>
            <p:nvPr/>
          </p:nvSpPr>
          <p:spPr bwMode="auto">
            <a:xfrm>
              <a:off x="8015289" y="2178051"/>
              <a:ext cx="985837" cy="549275"/>
            </a:xfrm>
            <a:prstGeom prst="rect">
              <a:avLst/>
            </a:prstGeom>
            <a:solidFill>
              <a:schemeClr val="bg2"/>
            </a:solidFill>
            <a:ln>
              <a:noFill/>
            </a:ln>
            <a:effectLst>
              <a:outerShdw dist="35921" dir="2700000" algn="ctr" rotWithShape="0">
                <a:schemeClr val="bg2"/>
              </a:outerShdw>
            </a:effectLst>
          </p:spPr>
          <p:txBody>
            <a:bodyPr wrap="none" anchor="ctr"/>
            <a:lstStyle/>
            <a:p>
              <a:pPr algn="ctr"/>
              <a:endParaRPr lang="zh-CN" altLang="zh-CN" sz="2800">
                <a:latin typeface="+mn-lt"/>
                <a:ea typeface="微软雅黑 Light" panose="020B0502040204020203" pitchFamily="34" charset="-122"/>
              </a:endParaRPr>
            </a:p>
          </p:txBody>
        </p:sp>
        <p:sp>
          <p:nvSpPr>
            <p:cNvPr id="317505" name="Text Box 65"/>
            <p:cNvSpPr txBox="1">
              <a:spLocks noChangeArrowheads="1"/>
            </p:cNvSpPr>
            <p:nvPr/>
          </p:nvSpPr>
          <p:spPr bwMode="auto">
            <a:xfrm>
              <a:off x="7975600" y="2239963"/>
              <a:ext cx="1073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571500">
                <a:defRPr kumimoji="1" sz="2400">
                  <a:solidFill>
                    <a:schemeClr val="tx1"/>
                  </a:solidFill>
                  <a:latin typeface="Times New Roman" panose="02020603050405020304" pitchFamily="18" charset="0"/>
                  <a:ea typeface="宋体" panose="02010600030101010101" pitchFamily="2" charset="-122"/>
                </a:defRPr>
              </a:lvl2pPr>
              <a:lvl3pPr marL="1143000">
                <a:defRPr kumimoji="1" sz="2400">
                  <a:solidFill>
                    <a:schemeClr val="tx1"/>
                  </a:solidFill>
                  <a:latin typeface="Times New Roman" panose="02020603050405020304" pitchFamily="18" charset="0"/>
                  <a:ea typeface="宋体" panose="02010600030101010101" pitchFamily="2" charset="-122"/>
                </a:defRPr>
              </a:lvl3pPr>
              <a:lvl4pPr marL="1714500">
                <a:defRPr kumimoji="1" sz="2400">
                  <a:solidFill>
                    <a:schemeClr val="tx1"/>
                  </a:solidFill>
                  <a:latin typeface="Times New Roman" panose="02020603050405020304" pitchFamily="18" charset="0"/>
                  <a:ea typeface="宋体" panose="02010600030101010101" pitchFamily="2" charset="-122"/>
                </a:defRPr>
              </a:lvl4pPr>
              <a:lvl5pPr marL="2286000">
                <a:defRPr kumimoji="1" sz="2400">
                  <a:solidFill>
                    <a:schemeClr val="tx1"/>
                  </a:solidFill>
                  <a:latin typeface="Times New Roman" panose="02020603050405020304" pitchFamily="18" charset="0"/>
                  <a:ea typeface="宋体" panose="02010600030101010101" pitchFamily="2" charset="-122"/>
                </a:defRPr>
              </a:lvl5pPr>
              <a:lvl6pPr marL="2743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sz="1800">
                  <a:latin typeface="+mn-lt"/>
                  <a:ea typeface="微软雅黑 Light" panose="020B0502040204020203" pitchFamily="34" charset="-122"/>
                </a:rPr>
                <a:t>CLOSED</a:t>
              </a:r>
            </a:p>
          </p:txBody>
        </p:sp>
        <p:grpSp>
          <p:nvGrpSpPr>
            <p:cNvPr id="317506" name="Group 66"/>
            <p:cNvGrpSpPr/>
            <p:nvPr/>
          </p:nvGrpSpPr>
          <p:grpSpPr bwMode="auto">
            <a:xfrm>
              <a:off x="4803776" y="5427659"/>
              <a:ext cx="2371725" cy="549274"/>
              <a:chOff x="2088" y="3555"/>
              <a:chExt cx="1494" cy="346"/>
            </a:xfrm>
          </p:grpSpPr>
          <p:sp>
            <p:nvSpPr>
              <p:cNvPr id="317507" name="AutoShape 67"/>
              <p:cNvSpPr>
                <a:spLocks noChangeArrowheads="1"/>
              </p:cNvSpPr>
              <p:nvPr/>
            </p:nvSpPr>
            <p:spPr bwMode="auto">
              <a:xfrm>
                <a:off x="2088" y="3735"/>
                <a:ext cx="1494" cy="166"/>
              </a:xfrm>
              <a:prstGeom prst="leftRightArrow">
                <a:avLst>
                  <a:gd name="adj1" fmla="val 55880"/>
                  <a:gd name="adj2" fmla="val 103167"/>
                </a:avLst>
              </a:prstGeom>
              <a:solidFill>
                <a:schemeClr val="bg2">
                  <a:lumMod val="75000"/>
                </a:scheme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17508" name="Rectangle 68"/>
              <p:cNvSpPr>
                <a:spLocks noChangeArrowheads="1"/>
              </p:cNvSpPr>
              <p:nvPr/>
            </p:nvSpPr>
            <p:spPr bwMode="auto">
              <a:xfrm>
                <a:off x="2486" y="3555"/>
                <a:ext cx="697" cy="231"/>
              </a:xfrm>
              <a:prstGeom prst="rect">
                <a:avLst/>
              </a:prstGeom>
              <a:noFill/>
              <a:ln w="38100" cmpd="dbl">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1800" dirty="0">
                    <a:latin typeface="+mn-lt"/>
                    <a:ea typeface="微软雅黑 Light" panose="020B0502040204020203" pitchFamily="34" charset="-122"/>
                  </a:rPr>
                  <a:t>数据传送</a:t>
                </a:r>
              </a:p>
            </p:txBody>
          </p:sp>
        </p:grpSp>
        <p:grpSp>
          <p:nvGrpSpPr>
            <p:cNvPr id="317509" name="Group 69"/>
            <p:cNvGrpSpPr/>
            <p:nvPr/>
          </p:nvGrpSpPr>
          <p:grpSpPr bwMode="auto">
            <a:xfrm>
              <a:off x="1884363" y="1841500"/>
              <a:ext cx="1320800" cy="947738"/>
              <a:chOff x="249" y="1296"/>
              <a:chExt cx="832" cy="597"/>
            </a:xfrm>
          </p:grpSpPr>
          <p:sp>
            <p:nvSpPr>
              <p:cNvPr id="317510" name="Rectangle 70"/>
              <p:cNvSpPr>
                <a:spLocks noChangeArrowheads="1"/>
              </p:cNvSpPr>
              <p:nvPr/>
            </p:nvSpPr>
            <p:spPr bwMode="auto">
              <a:xfrm>
                <a:off x="251" y="1638"/>
                <a:ext cx="697" cy="231"/>
              </a:xfrm>
              <a:prstGeom prst="rect">
                <a:avLst/>
              </a:prstGeom>
              <a:noFill/>
              <a:ln w="12700">
                <a:solidFill>
                  <a:schemeClr val="bg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1800">
                    <a:latin typeface="+mn-lt"/>
                    <a:ea typeface="微软雅黑 Light" panose="020B0502040204020203" pitchFamily="34" charset="-122"/>
                  </a:rPr>
                  <a:t>主动打开</a:t>
                </a:r>
              </a:p>
            </p:txBody>
          </p:sp>
          <p:sp>
            <p:nvSpPr>
              <p:cNvPr id="317511" name="Freeform 71"/>
              <p:cNvSpPr/>
              <p:nvPr/>
            </p:nvSpPr>
            <p:spPr bwMode="auto">
              <a:xfrm>
                <a:off x="249" y="1296"/>
                <a:ext cx="832" cy="597"/>
              </a:xfrm>
              <a:custGeom>
                <a:avLst/>
                <a:gdLst>
                  <a:gd name="T0" fmla="*/ 758 w 758"/>
                  <a:gd name="T1" fmla="*/ 4 h 491"/>
                  <a:gd name="T2" fmla="*/ 0 w 758"/>
                  <a:gd name="T3" fmla="*/ 0 h 491"/>
                  <a:gd name="T4" fmla="*/ 0 w 758"/>
                  <a:gd name="T5" fmla="*/ 491 h 491"/>
                  <a:gd name="T6" fmla="*/ 592 w 758"/>
                  <a:gd name="T7" fmla="*/ 491 h 491"/>
                </a:gdLst>
                <a:ahLst/>
                <a:cxnLst>
                  <a:cxn ang="0">
                    <a:pos x="T0" y="T1"/>
                  </a:cxn>
                  <a:cxn ang="0">
                    <a:pos x="T2" y="T3"/>
                  </a:cxn>
                  <a:cxn ang="0">
                    <a:pos x="T4" y="T5"/>
                  </a:cxn>
                  <a:cxn ang="0">
                    <a:pos x="T6" y="T7"/>
                  </a:cxn>
                </a:cxnLst>
                <a:rect l="0" t="0" r="r" b="b"/>
                <a:pathLst>
                  <a:path w="758" h="491">
                    <a:moveTo>
                      <a:pt x="758" y="4"/>
                    </a:moveTo>
                    <a:lnTo>
                      <a:pt x="0" y="0"/>
                    </a:lnTo>
                    <a:lnTo>
                      <a:pt x="0" y="491"/>
                    </a:lnTo>
                    <a:lnTo>
                      <a:pt x="592" y="491"/>
                    </a:lnTo>
                  </a:path>
                </a:pathLst>
              </a:custGeom>
              <a:noFill/>
              <a:ln w="28575" cap="flat" cmpd="sng">
                <a:solidFill>
                  <a:schemeClr val="bg2"/>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grpSp>
        <p:grpSp>
          <p:nvGrpSpPr>
            <p:cNvPr id="317512" name="Group 72"/>
            <p:cNvGrpSpPr/>
            <p:nvPr/>
          </p:nvGrpSpPr>
          <p:grpSpPr bwMode="auto">
            <a:xfrm>
              <a:off x="8712200" y="1849438"/>
              <a:ext cx="1385888" cy="939800"/>
              <a:chOff x="4550" y="1301"/>
              <a:chExt cx="873" cy="592"/>
            </a:xfrm>
          </p:grpSpPr>
          <p:sp>
            <p:nvSpPr>
              <p:cNvPr id="317513" name="Rectangle 73"/>
              <p:cNvSpPr>
                <a:spLocks noChangeArrowheads="1"/>
              </p:cNvSpPr>
              <p:nvPr/>
            </p:nvSpPr>
            <p:spPr bwMode="auto">
              <a:xfrm>
                <a:off x="4732" y="1617"/>
                <a:ext cx="691"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1800">
                    <a:latin typeface="+mn-lt"/>
                    <a:ea typeface="微软雅黑 Light" panose="020B0502040204020203" pitchFamily="34" charset="-122"/>
                  </a:rPr>
                  <a:t>被动打开</a:t>
                </a:r>
              </a:p>
            </p:txBody>
          </p:sp>
          <p:sp>
            <p:nvSpPr>
              <p:cNvPr id="317514" name="Freeform 74"/>
              <p:cNvSpPr/>
              <p:nvPr/>
            </p:nvSpPr>
            <p:spPr bwMode="auto">
              <a:xfrm>
                <a:off x="4550" y="1301"/>
                <a:ext cx="870" cy="592"/>
              </a:xfrm>
              <a:custGeom>
                <a:avLst/>
                <a:gdLst>
                  <a:gd name="T0" fmla="*/ 0 w 792"/>
                  <a:gd name="T1" fmla="*/ 0 h 487"/>
                  <a:gd name="T2" fmla="*/ 792 w 792"/>
                  <a:gd name="T3" fmla="*/ 4 h 487"/>
                  <a:gd name="T4" fmla="*/ 792 w 792"/>
                  <a:gd name="T5" fmla="*/ 487 h 487"/>
                  <a:gd name="T6" fmla="*/ 183 w 792"/>
                  <a:gd name="T7" fmla="*/ 480 h 487"/>
                </a:gdLst>
                <a:ahLst/>
                <a:cxnLst>
                  <a:cxn ang="0">
                    <a:pos x="T0" y="T1"/>
                  </a:cxn>
                  <a:cxn ang="0">
                    <a:pos x="T2" y="T3"/>
                  </a:cxn>
                  <a:cxn ang="0">
                    <a:pos x="T4" y="T5"/>
                  </a:cxn>
                  <a:cxn ang="0">
                    <a:pos x="T6" y="T7"/>
                  </a:cxn>
                </a:cxnLst>
                <a:rect l="0" t="0" r="r" b="b"/>
                <a:pathLst>
                  <a:path w="792" h="487">
                    <a:moveTo>
                      <a:pt x="0" y="0"/>
                    </a:moveTo>
                    <a:lnTo>
                      <a:pt x="792" y="4"/>
                    </a:lnTo>
                    <a:lnTo>
                      <a:pt x="792" y="487"/>
                    </a:lnTo>
                    <a:lnTo>
                      <a:pt x="183" y="480"/>
                    </a:lnTo>
                  </a:path>
                </a:pathLst>
              </a:custGeom>
              <a:noFill/>
              <a:ln w="28575" cap="flat" cmpd="sng">
                <a:solidFill>
                  <a:schemeClr val="bg2"/>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grpSp>
        <p:grpSp>
          <p:nvGrpSpPr>
            <p:cNvPr id="317521" name="Group 81"/>
            <p:cNvGrpSpPr/>
            <p:nvPr/>
          </p:nvGrpSpPr>
          <p:grpSpPr bwMode="auto">
            <a:xfrm>
              <a:off x="3829052" y="3665539"/>
              <a:ext cx="4184650" cy="801687"/>
              <a:chOff x="1474" y="2445"/>
              <a:chExt cx="2636" cy="505"/>
            </a:xfrm>
          </p:grpSpPr>
          <p:sp>
            <p:nvSpPr>
              <p:cNvPr id="317522" name="Line 82"/>
              <p:cNvSpPr>
                <a:spLocks noChangeShapeType="1"/>
              </p:cNvSpPr>
              <p:nvPr/>
            </p:nvSpPr>
            <p:spPr bwMode="auto">
              <a:xfrm flipH="1">
                <a:off x="1520" y="2445"/>
                <a:ext cx="2590" cy="505"/>
              </a:xfrm>
              <a:prstGeom prst="line">
                <a:avLst/>
              </a:prstGeom>
              <a:noFill/>
              <a:ln w="57150">
                <a:solidFill>
                  <a:schemeClr val="bg2"/>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317523" name="Rectangle 83"/>
              <p:cNvSpPr>
                <a:spLocks noChangeArrowheads="1"/>
              </p:cNvSpPr>
              <p:nvPr/>
            </p:nvSpPr>
            <p:spPr bwMode="auto">
              <a:xfrm rot="20990024" flipH="1">
                <a:off x="1474" y="2474"/>
                <a:ext cx="240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r>
                  <a:rPr lang="en-US" altLang="zh-CN" sz="1800">
                    <a:latin typeface="+mn-lt"/>
                    <a:ea typeface="微软雅黑 Light" panose="020B0502040204020203" pitchFamily="34" charset="-122"/>
                  </a:rPr>
                  <a:t>SYN = 1, ACK = 1, seq = y, ack= x </a:t>
                </a:r>
                <a:r>
                  <a:rPr lang="en-US" altLang="zh-CN" sz="1800" b="1">
                    <a:latin typeface="+mn-lt"/>
                    <a:ea typeface="微软雅黑 Light" panose="020B0502040204020203" pitchFamily="34" charset="-122"/>
                    <a:sym typeface="Symbol" panose="05050102010706020507" pitchFamily="18" charset="2"/>
                  </a:rPr>
                  <a:t></a:t>
                </a:r>
                <a:r>
                  <a:rPr lang="en-US" altLang="zh-CN" sz="1800">
                    <a:latin typeface="+mn-lt"/>
                    <a:ea typeface="微软雅黑 Light" panose="020B0502040204020203" pitchFamily="34" charset="-122"/>
                    <a:sym typeface="Symbol" panose="05050102010706020507" pitchFamily="18" charset="2"/>
                  </a:rPr>
                  <a:t> 1</a:t>
                </a:r>
                <a:endParaRPr lang="en-US" altLang="zh-CN" sz="1800">
                  <a:latin typeface="+mn-lt"/>
                  <a:ea typeface="微软雅黑 Light" panose="020B0502040204020203" pitchFamily="34" charset="-122"/>
                </a:endParaRPr>
              </a:p>
            </p:txBody>
          </p:sp>
        </p:grpSp>
        <p:pic>
          <p:nvPicPr>
            <p:cNvPr id="51" name="图形 50"/>
            <p:cNvPicPr>
              <a:picLocks noChangeAspect="1"/>
            </p:cNvPicPr>
            <p:nvPr/>
          </p:nvPicPr>
          <p:blipFill>
            <a:blip r:embed="rId2"/>
            <a:stretch>
              <a:fillRect/>
            </a:stretch>
          </p:blipFill>
          <p:spPr>
            <a:xfrm>
              <a:off x="3205163" y="1565939"/>
              <a:ext cx="600874" cy="454948"/>
            </a:xfrm>
            <a:prstGeom prst="rect">
              <a:avLst/>
            </a:prstGeom>
          </p:spPr>
        </p:pic>
        <p:pic>
          <p:nvPicPr>
            <p:cNvPr id="52" name="图形 5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49413" y="1440191"/>
              <a:ext cx="704549" cy="617209"/>
            </a:xfrm>
            <a:prstGeom prst="rect">
              <a:avLst/>
            </a:prstGeom>
          </p:spPr>
        </p:pic>
        <p:sp>
          <p:nvSpPr>
            <p:cNvPr id="317502" name="Rectangle 62"/>
            <p:cNvSpPr>
              <a:spLocks noChangeArrowheads="1"/>
            </p:cNvSpPr>
            <p:nvPr/>
          </p:nvSpPr>
          <p:spPr bwMode="auto">
            <a:xfrm>
              <a:off x="2919026" y="2201402"/>
              <a:ext cx="966787" cy="549275"/>
            </a:xfrm>
            <a:prstGeom prst="rect">
              <a:avLst/>
            </a:prstGeom>
            <a:solidFill>
              <a:schemeClr val="bg2"/>
            </a:solidFill>
            <a:ln>
              <a:noFill/>
            </a:ln>
            <a:effectLst>
              <a:outerShdw dist="35921" dir="2700000" algn="ctr" rotWithShape="0">
                <a:schemeClr val="bg2"/>
              </a:outerShdw>
            </a:effectLst>
          </p:spPr>
          <p:txBody>
            <a:bodyPr wrap="none" anchor="ctr"/>
            <a:lstStyle/>
            <a:p>
              <a:pPr algn="ctr"/>
              <a:endParaRPr lang="zh-CN" altLang="zh-CN" sz="2800" dirty="0">
                <a:latin typeface="+mn-lt"/>
                <a:ea typeface="微软雅黑 Light" panose="020B0502040204020203" pitchFamily="34" charset="-122"/>
              </a:endParaRPr>
            </a:p>
          </p:txBody>
        </p:sp>
        <p:sp>
          <p:nvSpPr>
            <p:cNvPr id="317503" name="Text Box 63"/>
            <p:cNvSpPr txBox="1">
              <a:spLocks noChangeArrowheads="1"/>
            </p:cNvSpPr>
            <p:nvPr/>
          </p:nvSpPr>
          <p:spPr bwMode="auto">
            <a:xfrm>
              <a:off x="2876550" y="2239963"/>
              <a:ext cx="1073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571500">
                <a:defRPr kumimoji="1" sz="2400">
                  <a:solidFill>
                    <a:schemeClr val="tx1"/>
                  </a:solidFill>
                  <a:latin typeface="Times New Roman" panose="02020603050405020304" pitchFamily="18" charset="0"/>
                  <a:ea typeface="宋体" panose="02010600030101010101" pitchFamily="2" charset="-122"/>
                </a:defRPr>
              </a:lvl2pPr>
              <a:lvl3pPr marL="1143000">
                <a:defRPr kumimoji="1" sz="2400">
                  <a:solidFill>
                    <a:schemeClr val="tx1"/>
                  </a:solidFill>
                  <a:latin typeface="Times New Roman" panose="02020603050405020304" pitchFamily="18" charset="0"/>
                  <a:ea typeface="宋体" panose="02010600030101010101" pitchFamily="2" charset="-122"/>
                </a:defRPr>
              </a:lvl3pPr>
              <a:lvl4pPr marL="1714500">
                <a:defRPr kumimoji="1" sz="2400">
                  <a:solidFill>
                    <a:schemeClr val="tx1"/>
                  </a:solidFill>
                  <a:latin typeface="Times New Roman" panose="02020603050405020304" pitchFamily="18" charset="0"/>
                  <a:ea typeface="宋体" panose="02010600030101010101" pitchFamily="2" charset="-122"/>
                </a:defRPr>
              </a:lvl4pPr>
              <a:lvl5pPr marL="2286000">
                <a:defRPr kumimoji="1" sz="2400">
                  <a:solidFill>
                    <a:schemeClr val="tx1"/>
                  </a:solidFill>
                  <a:latin typeface="Times New Roman" panose="02020603050405020304" pitchFamily="18" charset="0"/>
                  <a:ea typeface="宋体" panose="02010600030101010101" pitchFamily="2" charset="-122"/>
                </a:defRPr>
              </a:lvl5pPr>
              <a:lvl6pPr marL="2743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sz="1800" dirty="0">
                  <a:latin typeface="+mn-lt"/>
                  <a:ea typeface="微软雅黑 Light" panose="020B0502040204020203" pitchFamily="34" charset="-122"/>
                </a:rPr>
                <a:t>CLOSED</a:t>
              </a:r>
            </a:p>
          </p:txBody>
        </p:sp>
      </p:gr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灯片编号占位符 5"/>
          <p:cNvSpPr>
            <a:spLocks noGrp="1"/>
          </p:cNvSpPr>
          <p:nvPr>
            <p:ph type="sldNum" sz="quarter" idx="12"/>
          </p:nvPr>
        </p:nvSpPr>
        <p:spPr/>
        <p:txBody>
          <a:bodyPr/>
          <a:lstStyle/>
          <a:p>
            <a:fld id="{56EB5943-2A68-42A8-9E11-FC8AB7E925C6}" type="slidenum">
              <a:rPr lang="en-US" altLang="zh-CN"/>
              <a:t>66</a:t>
            </a:fld>
            <a:endParaRPr lang="en-US" altLang="zh-CN"/>
          </a:p>
        </p:txBody>
      </p:sp>
      <p:sp>
        <p:nvSpPr>
          <p:cNvPr id="569346" name="Rectangle 2"/>
          <p:cNvSpPr>
            <a:spLocks noGrp="1" noChangeArrowheads="1"/>
          </p:cNvSpPr>
          <p:nvPr>
            <p:ph type="title"/>
          </p:nvPr>
        </p:nvSpPr>
        <p:spPr/>
        <p:txBody>
          <a:bodyPr/>
          <a:lstStyle/>
          <a:p>
            <a:r>
              <a:rPr lang="en-US" altLang="zh-CN"/>
              <a:t>TCP</a:t>
            </a:r>
            <a:r>
              <a:rPr lang="zh-CN" altLang="en-US"/>
              <a:t>连接的释放</a:t>
            </a:r>
          </a:p>
        </p:txBody>
      </p:sp>
      <p:pic>
        <p:nvPicPr>
          <p:cNvPr id="58" name="图形 57"/>
          <p:cNvPicPr>
            <a:picLocks noChangeAspect="1"/>
          </p:cNvPicPr>
          <p:nvPr/>
        </p:nvPicPr>
        <p:blipFill>
          <a:blip r:embed="rId2"/>
          <a:stretch>
            <a:fillRect/>
          </a:stretch>
        </p:blipFill>
        <p:spPr>
          <a:xfrm>
            <a:off x="3471663" y="1032539"/>
            <a:ext cx="600874" cy="454948"/>
          </a:xfrm>
          <a:prstGeom prst="rect">
            <a:avLst/>
          </a:prstGeom>
        </p:spPr>
      </p:pic>
      <p:grpSp>
        <p:nvGrpSpPr>
          <p:cNvPr id="2" name="组合 1"/>
          <p:cNvGrpSpPr/>
          <p:nvPr/>
        </p:nvGrpSpPr>
        <p:grpSpPr>
          <a:xfrm>
            <a:off x="2063552" y="938022"/>
            <a:ext cx="8424864" cy="5839442"/>
            <a:chOff x="2063750" y="936436"/>
            <a:chExt cx="8424864" cy="5839442"/>
          </a:xfrm>
        </p:grpSpPr>
        <p:sp>
          <p:nvSpPr>
            <p:cNvPr id="569386" name="AutoShape 42"/>
            <p:cNvSpPr>
              <a:spLocks noChangeArrowheads="1"/>
            </p:cNvSpPr>
            <p:nvPr/>
          </p:nvSpPr>
          <p:spPr bwMode="auto">
            <a:xfrm rot="-651552">
              <a:off x="5454651" y="3938589"/>
              <a:ext cx="676275" cy="236537"/>
            </a:xfrm>
            <a:prstGeom prst="leftArrow">
              <a:avLst>
                <a:gd name="adj1" fmla="val 53620"/>
                <a:gd name="adj2" fmla="val 119816"/>
              </a:avLst>
            </a:prstGeom>
            <a:solidFill>
              <a:schemeClr val="hlink"/>
            </a:solidFill>
            <a:ln w="12700" algn="ctr">
              <a:solidFill>
                <a:schemeClr va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a:solidFill>
                  <a:schemeClr val="accent2"/>
                </a:solidFill>
                <a:latin typeface="+mn-lt"/>
                <a:ea typeface="微软雅黑 Light" panose="020B0502040204020203" pitchFamily="34" charset="-122"/>
              </a:endParaRPr>
            </a:p>
          </p:txBody>
        </p:sp>
        <p:sp>
          <p:nvSpPr>
            <p:cNvPr id="569387" name="AutoShape 43"/>
            <p:cNvSpPr>
              <a:spLocks noChangeArrowheads="1"/>
            </p:cNvSpPr>
            <p:nvPr/>
          </p:nvSpPr>
          <p:spPr bwMode="auto">
            <a:xfrm>
              <a:off x="5164139" y="1906588"/>
              <a:ext cx="2384425" cy="252412"/>
            </a:xfrm>
            <a:prstGeom prst="leftRightArrow">
              <a:avLst>
                <a:gd name="adj1" fmla="val 55880"/>
                <a:gd name="adj2" fmla="val 108286"/>
              </a:avLst>
            </a:prstGeom>
            <a:solidFill>
              <a:schemeClr val="bg2"/>
            </a:solidFill>
            <a:ln w="12700" algn="ctr">
              <a:noFill/>
              <a:miter lim="800000"/>
            </a:ln>
            <a:effectLst/>
          </p:spPr>
          <p:txBody>
            <a:bodyPr wrap="none" anchor="ctr"/>
            <a:lstStyle/>
            <a:p>
              <a:pPr algn="ctr"/>
              <a:endParaRPr lang="zh-CN" altLang="zh-CN" sz="2800">
                <a:solidFill>
                  <a:schemeClr val="accent2"/>
                </a:solidFill>
                <a:latin typeface="+mn-lt"/>
                <a:ea typeface="微软雅黑 Light" panose="020B0502040204020203" pitchFamily="34" charset="-122"/>
              </a:endParaRPr>
            </a:p>
          </p:txBody>
        </p:sp>
        <p:sp>
          <p:nvSpPr>
            <p:cNvPr id="569388" name="Rectangle 44"/>
            <p:cNvSpPr>
              <a:spLocks noChangeArrowheads="1"/>
            </p:cNvSpPr>
            <p:nvPr/>
          </p:nvSpPr>
          <p:spPr bwMode="auto">
            <a:xfrm rot="610931">
              <a:off x="4863628" y="4997424"/>
              <a:ext cx="3380734"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r>
                <a:rPr lang="en-US" altLang="zh-CN" sz="1800" dirty="0">
                  <a:latin typeface="+mn-lt"/>
                  <a:ea typeface="微软雅黑 Light" panose="020B0502040204020203" pitchFamily="34" charset="-122"/>
                </a:rPr>
                <a:t>ACK = 1, seq = u + 1, ack = w </a:t>
              </a:r>
              <a:r>
                <a:rPr lang="en-US" altLang="zh-CN" sz="1800" b="1" dirty="0">
                  <a:latin typeface="+mn-lt"/>
                  <a:ea typeface="微软雅黑 Light" panose="020B0502040204020203" pitchFamily="34" charset="-122"/>
                  <a:sym typeface="Symbol" panose="05050102010706020507" pitchFamily="18" charset="2"/>
                </a:rPr>
                <a:t></a:t>
              </a:r>
              <a:r>
                <a:rPr lang="en-US" altLang="zh-CN" sz="1800" dirty="0">
                  <a:latin typeface="+mn-lt"/>
                  <a:ea typeface="微软雅黑 Light" panose="020B0502040204020203" pitchFamily="34" charset="-122"/>
                  <a:sym typeface="Symbol" panose="05050102010706020507" pitchFamily="18" charset="2"/>
                </a:rPr>
                <a:t> 1</a:t>
              </a:r>
            </a:p>
          </p:txBody>
        </p:sp>
        <p:grpSp>
          <p:nvGrpSpPr>
            <p:cNvPr id="569389" name="Group 45"/>
            <p:cNvGrpSpPr/>
            <p:nvPr/>
          </p:nvGrpSpPr>
          <p:grpSpPr bwMode="auto">
            <a:xfrm>
              <a:off x="4230688" y="2398713"/>
              <a:ext cx="4133850" cy="768350"/>
              <a:chOff x="1614" y="1484"/>
              <a:chExt cx="2604" cy="484"/>
            </a:xfrm>
          </p:grpSpPr>
          <p:sp>
            <p:nvSpPr>
              <p:cNvPr id="569390" name="Rectangle 46"/>
              <p:cNvSpPr>
                <a:spLocks noChangeArrowheads="1"/>
              </p:cNvSpPr>
              <p:nvPr/>
            </p:nvSpPr>
            <p:spPr bwMode="auto">
              <a:xfrm rot="597975">
                <a:off x="2490" y="1517"/>
                <a:ext cx="1176" cy="250"/>
              </a:xfrm>
              <a:prstGeom prst="rect">
                <a:avLst/>
              </a:prstGeom>
              <a:noFill/>
              <a:ln w="1270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sz="2000" dirty="0">
                    <a:latin typeface="+mn-lt"/>
                    <a:ea typeface="微软雅黑 Light" panose="020B0502040204020203" pitchFamily="34" charset="-122"/>
                  </a:rPr>
                  <a:t>FIN = 1, seq = u</a:t>
                </a:r>
              </a:p>
            </p:txBody>
          </p:sp>
          <p:sp>
            <p:nvSpPr>
              <p:cNvPr id="569391" name="Line 47"/>
              <p:cNvSpPr>
                <a:spLocks noChangeShapeType="1"/>
              </p:cNvSpPr>
              <p:nvPr/>
            </p:nvSpPr>
            <p:spPr bwMode="auto">
              <a:xfrm>
                <a:off x="1614" y="1484"/>
                <a:ext cx="2604" cy="484"/>
              </a:xfrm>
              <a:prstGeom prst="line">
                <a:avLst/>
              </a:prstGeom>
              <a:noFill/>
              <a:ln w="38100">
                <a:solidFill>
                  <a:schemeClr val="bg2"/>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grpSp>
        <p:grpSp>
          <p:nvGrpSpPr>
            <p:cNvPr id="569392" name="Group 48"/>
            <p:cNvGrpSpPr/>
            <p:nvPr/>
          </p:nvGrpSpPr>
          <p:grpSpPr bwMode="auto">
            <a:xfrm>
              <a:off x="4244975" y="3209925"/>
              <a:ext cx="4133850" cy="769938"/>
              <a:chOff x="1623" y="1995"/>
              <a:chExt cx="2604" cy="485"/>
            </a:xfrm>
          </p:grpSpPr>
          <p:sp>
            <p:nvSpPr>
              <p:cNvPr id="569393" name="Rectangle 49"/>
              <p:cNvSpPr>
                <a:spLocks noChangeArrowheads="1"/>
              </p:cNvSpPr>
              <p:nvPr/>
            </p:nvSpPr>
            <p:spPr bwMode="auto">
              <a:xfrm rot="20990024" flipH="1">
                <a:off x="1932" y="2020"/>
                <a:ext cx="182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r>
                  <a:rPr lang="en-US" altLang="zh-CN" sz="1800" dirty="0">
                    <a:latin typeface="+mn-lt"/>
                    <a:ea typeface="微软雅黑 Light" panose="020B0502040204020203" pitchFamily="34" charset="-122"/>
                  </a:rPr>
                  <a:t>ACK = 1, seq = v, ack= u </a:t>
                </a:r>
                <a:r>
                  <a:rPr lang="en-US" altLang="zh-CN" sz="1800" b="1" dirty="0">
                    <a:latin typeface="+mn-lt"/>
                    <a:ea typeface="微软雅黑 Light" panose="020B0502040204020203" pitchFamily="34" charset="-122"/>
                    <a:sym typeface="Symbol" panose="05050102010706020507" pitchFamily="18" charset="2"/>
                  </a:rPr>
                  <a:t></a:t>
                </a:r>
                <a:r>
                  <a:rPr lang="en-US" altLang="zh-CN" sz="1800" dirty="0">
                    <a:latin typeface="+mn-lt"/>
                    <a:ea typeface="微软雅黑 Light" panose="020B0502040204020203" pitchFamily="34" charset="-122"/>
                    <a:sym typeface="Symbol" panose="05050102010706020507" pitchFamily="18" charset="2"/>
                  </a:rPr>
                  <a:t> 1</a:t>
                </a:r>
                <a:endParaRPr lang="en-US" altLang="zh-CN" sz="1800" dirty="0">
                  <a:latin typeface="+mn-lt"/>
                  <a:ea typeface="微软雅黑 Light" panose="020B0502040204020203" pitchFamily="34" charset="-122"/>
                </a:endParaRPr>
              </a:p>
            </p:txBody>
          </p:sp>
          <p:sp>
            <p:nvSpPr>
              <p:cNvPr id="569394" name="Line 50"/>
              <p:cNvSpPr>
                <a:spLocks noChangeShapeType="1"/>
              </p:cNvSpPr>
              <p:nvPr/>
            </p:nvSpPr>
            <p:spPr bwMode="auto">
              <a:xfrm flipH="1">
                <a:off x="1623" y="1995"/>
                <a:ext cx="2604" cy="485"/>
              </a:xfrm>
              <a:prstGeom prst="line">
                <a:avLst/>
              </a:prstGeom>
              <a:noFill/>
              <a:ln w="38100">
                <a:solidFill>
                  <a:schemeClr val="bg2"/>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grpSp>
        <p:sp>
          <p:nvSpPr>
            <p:cNvPr id="569395" name="Line 51"/>
            <p:cNvSpPr>
              <a:spLocks noChangeShapeType="1"/>
            </p:cNvSpPr>
            <p:nvPr/>
          </p:nvSpPr>
          <p:spPr bwMode="auto">
            <a:xfrm>
              <a:off x="4230688" y="4933950"/>
              <a:ext cx="4133850" cy="769938"/>
            </a:xfrm>
            <a:prstGeom prst="line">
              <a:avLst/>
            </a:prstGeom>
            <a:noFill/>
            <a:ln w="38100">
              <a:solidFill>
                <a:schemeClr val="bg2"/>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569396" name="Line 52"/>
            <p:cNvSpPr>
              <a:spLocks noChangeShapeType="1"/>
            </p:cNvSpPr>
            <p:nvPr/>
          </p:nvSpPr>
          <p:spPr bwMode="auto">
            <a:xfrm flipH="1">
              <a:off x="4210050" y="4146550"/>
              <a:ext cx="4133850" cy="769938"/>
            </a:xfrm>
            <a:prstGeom prst="line">
              <a:avLst/>
            </a:prstGeom>
            <a:noFill/>
            <a:ln w="38100">
              <a:solidFill>
                <a:schemeClr val="bg2"/>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569397" name="Rectangle 53"/>
            <p:cNvSpPr>
              <a:spLocks noChangeArrowheads="1"/>
            </p:cNvSpPr>
            <p:nvPr/>
          </p:nvSpPr>
          <p:spPr bwMode="auto">
            <a:xfrm rot="20943314" flipH="1">
              <a:off x="4534120" y="4130649"/>
              <a:ext cx="3782575"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r>
                <a:rPr lang="en-US" altLang="zh-CN" sz="1800" dirty="0">
                  <a:latin typeface="+mn-lt"/>
                  <a:ea typeface="微软雅黑 Light" panose="020B0502040204020203" pitchFamily="34" charset="-122"/>
                </a:rPr>
                <a:t>FIN = 1, ACK = 1, seq = w, ack= u </a:t>
              </a:r>
              <a:r>
                <a:rPr lang="en-US" altLang="zh-CN" sz="1800" b="1" dirty="0">
                  <a:latin typeface="+mn-lt"/>
                  <a:ea typeface="微软雅黑 Light" panose="020B0502040204020203" pitchFamily="34" charset="-122"/>
                  <a:sym typeface="Symbol" panose="05050102010706020507" pitchFamily="18" charset="2"/>
                </a:rPr>
                <a:t></a:t>
              </a:r>
              <a:r>
                <a:rPr lang="en-US" altLang="zh-CN" sz="1800" dirty="0">
                  <a:latin typeface="+mn-lt"/>
                  <a:ea typeface="微软雅黑 Light" panose="020B0502040204020203" pitchFamily="34" charset="-122"/>
                  <a:sym typeface="Symbol" panose="05050102010706020507" pitchFamily="18" charset="2"/>
                </a:rPr>
                <a:t> 1</a:t>
              </a:r>
              <a:endParaRPr lang="en-US" altLang="zh-CN" sz="1800" dirty="0">
                <a:latin typeface="+mn-lt"/>
                <a:ea typeface="微软雅黑 Light" panose="020B0502040204020203" pitchFamily="34" charset="-122"/>
              </a:endParaRPr>
            </a:p>
          </p:txBody>
        </p:sp>
        <p:sp>
          <p:nvSpPr>
            <p:cNvPr id="569398" name="Rectangle 54"/>
            <p:cNvSpPr>
              <a:spLocks noChangeArrowheads="1"/>
            </p:cNvSpPr>
            <p:nvPr/>
          </p:nvSpPr>
          <p:spPr bwMode="auto">
            <a:xfrm>
              <a:off x="3275014" y="1654175"/>
              <a:ext cx="954087" cy="673100"/>
            </a:xfrm>
            <a:prstGeom prst="rect">
              <a:avLst/>
            </a:prstGeom>
            <a:solidFill>
              <a:schemeClr val="bg2"/>
            </a:solidFill>
            <a:ln>
              <a:noFill/>
            </a:ln>
            <a:effectLst>
              <a:outerShdw dist="35921" dir="2700000" algn="ctr" rotWithShape="0">
                <a:schemeClr val="bg2"/>
              </a:outerShdw>
            </a:effectLst>
          </p:spPr>
          <p:txBody>
            <a:bodyPr wrap="none" anchor="ctr"/>
            <a:lstStyle/>
            <a:p>
              <a:pPr algn="ctr"/>
              <a:endParaRPr lang="zh-CN" altLang="zh-CN" sz="2800">
                <a:solidFill>
                  <a:schemeClr val="accent2"/>
                </a:solidFill>
                <a:latin typeface="+mn-lt"/>
                <a:ea typeface="微软雅黑 Light" panose="020B0502040204020203" pitchFamily="34" charset="-122"/>
              </a:endParaRPr>
            </a:p>
          </p:txBody>
        </p:sp>
        <p:sp>
          <p:nvSpPr>
            <p:cNvPr id="569399" name="Rectangle 55"/>
            <p:cNvSpPr>
              <a:spLocks noChangeArrowheads="1"/>
            </p:cNvSpPr>
            <p:nvPr/>
          </p:nvSpPr>
          <p:spPr bwMode="auto">
            <a:xfrm>
              <a:off x="3275014" y="2411413"/>
              <a:ext cx="954087" cy="1554162"/>
            </a:xfrm>
            <a:prstGeom prst="rect">
              <a:avLst/>
            </a:prstGeom>
            <a:solidFill>
              <a:schemeClr val="bg2">
                <a:lumMod val="90000"/>
              </a:schemeClr>
            </a:solidFill>
            <a:ln>
              <a:noFill/>
            </a:ln>
            <a:effectLst>
              <a:outerShdw dist="35921" dir="2700000" algn="ctr" rotWithShape="0">
                <a:schemeClr val="bg2"/>
              </a:outerShdw>
            </a:effectLst>
          </p:spPr>
          <p:txBody>
            <a:bodyPr wrap="none" anchor="ctr"/>
            <a:lstStyle/>
            <a:p>
              <a:pPr algn="ctr"/>
              <a:endParaRPr lang="zh-CN" altLang="zh-CN" sz="2800">
                <a:solidFill>
                  <a:schemeClr val="accent2"/>
                </a:solidFill>
                <a:latin typeface="+mn-lt"/>
                <a:ea typeface="微软雅黑 Light" panose="020B0502040204020203" pitchFamily="34" charset="-122"/>
              </a:endParaRPr>
            </a:p>
          </p:txBody>
        </p:sp>
        <p:sp>
          <p:nvSpPr>
            <p:cNvPr id="569400" name="Rectangle 56"/>
            <p:cNvSpPr>
              <a:spLocks noChangeArrowheads="1"/>
            </p:cNvSpPr>
            <p:nvPr/>
          </p:nvSpPr>
          <p:spPr bwMode="auto">
            <a:xfrm>
              <a:off x="8361364" y="1654175"/>
              <a:ext cx="955675" cy="1479550"/>
            </a:xfrm>
            <a:prstGeom prst="rect">
              <a:avLst/>
            </a:prstGeom>
            <a:solidFill>
              <a:schemeClr val="bg2"/>
            </a:solidFill>
            <a:ln>
              <a:noFill/>
            </a:ln>
            <a:effectLst>
              <a:outerShdw dist="35921" dir="2700000" algn="ctr" rotWithShape="0">
                <a:schemeClr val="bg2"/>
              </a:outerShdw>
            </a:effectLst>
          </p:spPr>
          <p:txBody>
            <a:bodyPr wrap="none" anchor="ctr"/>
            <a:lstStyle/>
            <a:p>
              <a:pPr algn="ctr"/>
              <a:endParaRPr lang="zh-CN" altLang="zh-CN" sz="2800">
                <a:solidFill>
                  <a:schemeClr val="accent2"/>
                </a:solidFill>
                <a:latin typeface="+mn-lt"/>
                <a:ea typeface="微软雅黑 Light" panose="020B0502040204020203" pitchFamily="34" charset="-122"/>
              </a:endParaRPr>
            </a:p>
          </p:txBody>
        </p:sp>
        <p:grpSp>
          <p:nvGrpSpPr>
            <p:cNvPr id="569401" name="Group 57"/>
            <p:cNvGrpSpPr/>
            <p:nvPr/>
          </p:nvGrpSpPr>
          <p:grpSpPr bwMode="auto">
            <a:xfrm>
              <a:off x="3176588" y="1571625"/>
              <a:ext cx="6278562" cy="82550"/>
              <a:chOff x="1020" y="481"/>
              <a:chExt cx="4037" cy="46"/>
            </a:xfrm>
          </p:grpSpPr>
          <p:sp>
            <p:nvSpPr>
              <p:cNvPr id="569402" name="Line 58"/>
              <p:cNvSpPr>
                <a:spLocks noChangeShapeType="1"/>
              </p:cNvSpPr>
              <p:nvPr/>
            </p:nvSpPr>
            <p:spPr bwMode="auto">
              <a:xfrm>
                <a:off x="1020" y="527"/>
                <a:ext cx="4037" cy="0"/>
              </a:xfrm>
              <a:prstGeom prst="line">
                <a:avLst/>
              </a:prstGeom>
              <a:noFill/>
              <a:ln w="1270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569403" name="Line 59"/>
              <p:cNvSpPr>
                <a:spLocks noChangeShapeType="1"/>
              </p:cNvSpPr>
              <p:nvPr/>
            </p:nvSpPr>
            <p:spPr bwMode="auto">
              <a:xfrm>
                <a:off x="1020" y="481"/>
                <a:ext cx="4037" cy="0"/>
              </a:xfrm>
              <a:prstGeom prst="line">
                <a:avLst/>
              </a:prstGeom>
              <a:noFill/>
              <a:ln w="1270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grpSp>
        <p:sp>
          <p:nvSpPr>
            <p:cNvPr id="569404" name="Rectangle 60"/>
            <p:cNvSpPr>
              <a:spLocks noChangeArrowheads="1"/>
            </p:cNvSpPr>
            <p:nvPr/>
          </p:nvSpPr>
          <p:spPr bwMode="auto">
            <a:xfrm>
              <a:off x="3285717" y="2746375"/>
              <a:ext cx="93109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r>
                <a:rPr lang="en-US" altLang="zh-CN" sz="1800" dirty="0">
                  <a:latin typeface="+mn-lt"/>
                  <a:ea typeface="微软雅黑 Light" panose="020B0502040204020203" pitchFamily="34" charset="-122"/>
                </a:rPr>
                <a:t>FIN-</a:t>
              </a:r>
            </a:p>
            <a:p>
              <a:pPr algn="ctr" eaLnBrk="0" hangingPunct="0"/>
              <a:r>
                <a:rPr lang="en-US" altLang="zh-CN" sz="1800" dirty="0">
                  <a:latin typeface="+mn-lt"/>
                  <a:ea typeface="微软雅黑 Light" panose="020B0502040204020203" pitchFamily="34" charset="-122"/>
                </a:rPr>
                <a:t>WAIT-1</a:t>
              </a:r>
            </a:p>
          </p:txBody>
        </p:sp>
        <p:sp>
          <p:nvSpPr>
            <p:cNvPr id="569405" name="Rectangle 61"/>
            <p:cNvSpPr>
              <a:spLocks noChangeArrowheads="1"/>
            </p:cNvSpPr>
            <p:nvPr/>
          </p:nvSpPr>
          <p:spPr bwMode="auto">
            <a:xfrm>
              <a:off x="8361364" y="3221039"/>
              <a:ext cx="955675" cy="877887"/>
            </a:xfrm>
            <a:prstGeom prst="rect">
              <a:avLst/>
            </a:prstGeom>
            <a:solidFill>
              <a:schemeClr val="bg2">
                <a:lumMod val="90000"/>
              </a:schemeClr>
            </a:solidFill>
            <a:ln>
              <a:noFill/>
            </a:ln>
            <a:effectLst>
              <a:outerShdw dist="35921" dir="2700000" algn="ctr" rotWithShape="0">
                <a:schemeClr val="bg2"/>
              </a:outerShdw>
            </a:effectLst>
          </p:spPr>
          <p:txBody>
            <a:bodyPr wrap="none" anchor="ctr"/>
            <a:lstStyle/>
            <a:p>
              <a:pPr algn="ctr"/>
              <a:endParaRPr lang="zh-CN" altLang="zh-CN" sz="2800">
                <a:solidFill>
                  <a:schemeClr val="accent2"/>
                </a:solidFill>
                <a:latin typeface="+mn-lt"/>
                <a:ea typeface="微软雅黑 Light" panose="020B0502040204020203" pitchFamily="34" charset="-122"/>
              </a:endParaRPr>
            </a:p>
          </p:txBody>
        </p:sp>
        <p:sp>
          <p:nvSpPr>
            <p:cNvPr id="569406" name="Rectangle 62"/>
            <p:cNvSpPr>
              <a:spLocks noChangeArrowheads="1"/>
            </p:cNvSpPr>
            <p:nvPr/>
          </p:nvSpPr>
          <p:spPr bwMode="auto">
            <a:xfrm>
              <a:off x="8323235" y="3333750"/>
              <a:ext cx="990657"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r>
                <a:rPr lang="en-US" altLang="zh-CN" sz="1800" dirty="0">
                  <a:latin typeface="+mn-lt"/>
                  <a:ea typeface="微软雅黑 Light" panose="020B0502040204020203" pitchFamily="34" charset="-122"/>
                </a:rPr>
                <a:t>CLOSE-</a:t>
              </a:r>
            </a:p>
            <a:p>
              <a:pPr algn="ctr" eaLnBrk="0" hangingPunct="0"/>
              <a:r>
                <a:rPr lang="en-US" altLang="zh-CN" sz="1800" dirty="0">
                  <a:latin typeface="+mn-lt"/>
                  <a:ea typeface="微软雅黑 Light" panose="020B0502040204020203" pitchFamily="34" charset="-122"/>
                </a:rPr>
                <a:t>WAIT</a:t>
              </a:r>
            </a:p>
          </p:txBody>
        </p:sp>
        <p:sp>
          <p:nvSpPr>
            <p:cNvPr id="569407" name="Rectangle 63"/>
            <p:cNvSpPr>
              <a:spLocks noChangeArrowheads="1"/>
            </p:cNvSpPr>
            <p:nvPr/>
          </p:nvSpPr>
          <p:spPr bwMode="auto">
            <a:xfrm>
              <a:off x="3275014" y="4038600"/>
              <a:ext cx="954087" cy="871538"/>
            </a:xfrm>
            <a:prstGeom prst="rect">
              <a:avLst/>
            </a:prstGeom>
            <a:solidFill>
              <a:schemeClr val="bg2">
                <a:lumMod val="75000"/>
              </a:schemeClr>
            </a:solidFill>
            <a:ln>
              <a:noFill/>
            </a:ln>
            <a:effectLst>
              <a:outerShdw dist="35921" dir="2700000" algn="ctr" rotWithShape="0">
                <a:schemeClr val="bg2"/>
              </a:outerShdw>
            </a:effectLst>
          </p:spPr>
          <p:txBody>
            <a:bodyPr wrap="none" anchor="ctr"/>
            <a:lstStyle/>
            <a:p>
              <a:pPr algn="ctr"/>
              <a:endParaRPr lang="zh-CN" altLang="zh-CN" sz="2800">
                <a:solidFill>
                  <a:schemeClr val="accent2"/>
                </a:solidFill>
                <a:latin typeface="+mn-lt"/>
                <a:ea typeface="微软雅黑 Light" panose="020B0502040204020203" pitchFamily="34" charset="-122"/>
              </a:endParaRPr>
            </a:p>
          </p:txBody>
        </p:sp>
        <p:sp>
          <p:nvSpPr>
            <p:cNvPr id="569408" name="Rectangle 64"/>
            <p:cNvSpPr>
              <a:spLocks noChangeArrowheads="1"/>
            </p:cNvSpPr>
            <p:nvPr/>
          </p:nvSpPr>
          <p:spPr bwMode="auto">
            <a:xfrm>
              <a:off x="3270810" y="4092575"/>
              <a:ext cx="960905"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r>
                <a:rPr lang="en-US" altLang="zh-CN" sz="1800" dirty="0">
                  <a:solidFill>
                    <a:schemeClr val="bg1"/>
                  </a:solidFill>
                  <a:latin typeface="+mn-lt"/>
                  <a:ea typeface="微软雅黑 Light" panose="020B0502040204020203" pitchFamily="34" charset="-122"/>
                </a:rPr>
                <a:t>FIN-</a:t>
              </a:r>
            </a:p>
            <a:p>
              <a:pPr algn="ctr" eaLnBrk="0" hangingPunct="0"/>
              <a:r>
                <a:rPr lang="en-US" altLang="zh-CN" sz="1800" dirty="0">
                  <a:solidFill>
                    <a:schemeClr val="bg1"/>
                  </a:solidFill>
                  <a:latin typeface="+mn-lt"/>
                  <a:ea typeface="微软雅黑 Light" panose="020B0502040204020203" pitchFamily="34" charset="-122"/>
                </a:rPr>
                <a:t>WAIT-2</a:t>
              </a:r>
            </a:p>
          </p:txBody>
        </p:sp>
        <p:sp>
          <p:nvSpPr>
            <p:cNvPr id="569409" name="Rectangle 65"/>
            <p:cNvSpPr>
              <a:spLocks noChangeArrowheads="1"/>
            </p:cNvSpPr>
            <p:nvPr/>
          </p:nvSpPr>
          <p:spPr bwMode="auto">
            <a:xfrm>
              <a:off x="8361364" y="4178301"/>
              <a:ext cx="955675" cy="1482725"/>
            </a:xfrm>
            <a:prstGeom prst="rect">
              <a:avLst/>
            </a:prstGeom>
            <a:solidFill>
              <a:schemeClr val="bg2">
                <a:lumMod val="75000"/>
              </a:schemeClr>
            </a:solidFill>
            <a:ln>
              <a:noFill/>
            </a:ln>
            <a:effectLst>
              <a:outerShdw dist="35921" dir="2700000" algn="ctr" rotWithShape="0">
                <a:schemeClr val="bg2"/>
              </a:outerShdw>
            </a:effectLst>
          </p:spPr>
          <p:txBody>
            <a:bodyPr wrap="none" anchor="ctr"/>
            <a:lstStyle/>
            <a:p>
              <a:pPr algn="ctr"/>
              <a:endParaRPr lang="zh-CN" altLang="zh-CN" sz="2800">
                <a:solidFill>
                  <a:schemeClr val="accent2"/>
                </a:solidFill>
                <a:latin typeface="+mn-lt"/>
                <a:ea typeface="微软雅黑 Light" panose="020B0502040204020203" pitchFamily="34" charset="-122"/>
              </a:endParaRPr>
            </a:p>
          </p:txBody>
        </p:sp>
        <p:sp>
          <p:nvSpPr>
            <p:cNvPr id="569410" name="Rectangle 66"/>
            <p:cNvSpPr>
              <a:spLocks noChangeArrowheads="1"/>
            </p:cNvSpPr>
            <p:nvPr/>
          </p:nvSpPr>
          <p:spPr bwMode="auto">
            <a:xfrm>
              <a:off x="8402639" y="4598989"/>
              <a:ext cx="828675" cy="63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r>
                <a:rPr lang="en-US" altLang="zh-CN" sz="1800" dirty="0">
                  <a:solidFill>
                    <a:schemeClr val="bg1"/>
                  </a:solidFill>
                  <a:latin typeface="+mn-lt"/>
                  <a:ea typeface="微软雅黑 Light" panose="020B0502040204020203" pitchFamily="34" charset="-122"/>
                </a:rPr>
                <a:t>LAST-</a:t>
              </a:r>
            </a:p>
            <a:p>
              <a:pPr algn="ctr" eaLnBrk="0" hangingPunct="0"/>
              <a:r>
                <a:rPr lang="en-US" altLang="zh-CN" sz="1800" dirty="0">
                  <a:solidFill>
                    <a:schemeClr val="bg1"/>
                  </a:solidFill>
                  <a:latin typeface="+mn-lt"/>
                  <a:ea typeface="微软雅黑 Light" panose="020B0502040204020203" pitchFamily="34" charset="-122"/>
                </a:rPr>
                <a:t>ACK</a:t>
              </a:r>
            </a:p>
          </p:txBody>
        </p:sp>
        <p:grpSp>
          <p:nvGrpSpPr>
            <p:cNvPr id="569411" name="Group 67"/>
            <p:cNvGrpSpPr/>
            <p:nvPr/>
          </p:nvGrpSpPr>
          <p:grpSpPr bwMode="auto">
            <a:xfrm>
              <a:off x="2063750" y="4933951"/>
              <a:ext cx="2165350" cy="1268413"/>
              <a:chOff x="249" y="3081"/>
              <a:chExt cx="1364" cy="799"/>
            </a:xfrm>
          </p:grpSpPr>
          <p:sp>
            <p:nvSpPr>
              <p:cNvPr id="569412" name="Rectangle 68"/>
              <p:cNvSpPr>
                <a:spLocks noChangeArrowheads="1"/>
              </p:cNvSpPr>
              <p:nvPr/>
            </p:nvSpPr>
            <p:spPr bwMode="auto">
              <a:xfrm>
                <a:off x="249" y="3081"/>
                <a:ext cx="81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1800">
                    <a:solidFill>
                      <a:schemeClr val="accent2"/>
                    </a:solidFill>
                    <a:latin typeface="+mn-lt"/>
                    <a:ea typeface="微软雅黑 Light" panose="020B0502040204020203" pitchFamily="34" charset="-122"/>
                  </a:rPr>
                  <a:t>等待 </a:t>
                </a:r>
                <a:r>
                  <a:rPr lang="en-US" altLang="zh-CN" sz="1800">
                    <a:solidFill>
                      <a:schemeClr val="accent2"/>
                    </a:solidFill>
                    <a:latin typeface="+mn-lt"/>
                    <a:ea typeface="微软雅黑 Light" panose="020B0502040204020203" pitchFamily="34" charset="-122"/>
                  </a:rPr>
                  <a:t>2MSL</a:t>
                </a:r>
              </a:p>
            </p:txBody>
          </p:sp>
          <p:sp>
            <p:nvSpPr>
              <p:cNvPr id="569413" name="Rectangle 69"/>
              <p:cNvSpPr>
                <a:spLocks noChangeArrowheads="1"/>
              </p:cNvSpPr>
              <p:nvPr/>
            </p:nvSpPr>
            <p:spPr bwMode="auto">
              <a:xfrm>
                <a:off x="1012" y="3097"/>
                <a:ext cx="601" cy="779"/>
              </a:xfrm>
              <a:prstGeom prst="rect">
                <a:avLst/>
              </a:prstGeom>
              <a:solidFill>
                <a:schemeClr val="bg2">
                  <a:lumMod val="50000"/>
                  <a:alpha val="71000"/>
                </a:schemeClr>
              </a:solidFill>
              <a:ln>
                <a:noFill/>
              </a:ln>
              <a:effectLst>
                <a:outerShdw dist="35921"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endParaRPr lang="zh-CN" altLang="en-US">
                  <a:latin typeface="+mn-lt"/>
                  <a:ea typeface="微软雅黑 Light" panose="020B0502040204020203" pitchFamily="34" charset="-122"/>
                </a:endParaRPr>
              </a:p>
            </p:txBody>
          </p:sp>
          <p:sp>
            <p:nvSpPr>
              <p:cNvPr id="569414" name="Rectangle 70"/>
              <p:cNvSpPr>
                <a:spLocks noChangeArrowheads="1"/>
              </p:cNvSpPr>
              <p:nvPr/>
            </p:nvSpPr>
            <p:spPr bwMode="auto">
              <a:xfrm>
                <a:off x="1052" y="3292"/>
                <a:ext cx="519" cy="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r>
                  <a:rPr lang="en-US" altLang="zh-CN" sz="1800" dirty="0">
                    <a:solidFill>
                      <a:schemeClr val="bg1"/>
                    </a:solidFill>
                    <a:latin typeface="+mn-lt"/>
                    <a:ea typeface="微软雅黑 Light" panose="020B0502040204020203" pitchFamily="34" charset="-122"/>
                  </a:rPr>
                  <a:t>TIME-</a:t>
                </a:r>
              </a:p>
              <a:p>
                <a:pPr algn="ctr" eaLnBrk="0" hangingPunct="0"/>
                <a:r>
                  <a:rPr lang="en-US" altLang="zh-CN" sz="1800" dirty="0">
                    <a:solidFill>
                      <a:schemeClr val="bg1"/>
                    </a:solidFill>
                    <a:latin typeface="+mn-lt"/>
                    <a:ea typeface="微软雅黑 Light" panose="020B0502040204020203" pitchFamily="34" charset="-122"/>
                  </a:rPr>
                  <a:t>WAIT</a:t>
                </a:r>
              </a:p>
            </p:txBody>
          </p:sp>
          <p:sp>
            <p:nvSpPr>
              <p:cNvPr id="569415" name="Freeform 71"/>
              <p:cNvSpPr/>
              <p:nvPr/>
            </p:nvSpPr>
            <p:spPr bwMode="auto">
              <a:xfrm>
                <a:off x="255" y="3081"/>
                <a:ext cx="749" cy="799"/>
              </a:xfrm>
              <a:custGeom>
                <a:avLst/>
                <a:gdLst>
                  <a:gd name="T0" fmla="*/ 635 w 635"/>
                  <a:gd name="T1" fmla="*/ 0 h 499"/>
                  <a:gd name="T2" fmla="*/ 0 w 635"/>
                  <a:gd name="T3" fmla="*/ 0 h 499"/>
                  <a:gd name="T4" fmla="*/ 0 w 635"/>
                  <a:gd name="T5" fmla="*/ 499 h 499"/>
                  <a:gd name="T6" fmla="*/ 635 w 635"/>
                  <a:gd name="T7" fmla="*/ 499 h 499"/>
                </a:gdLst>
                <a:ahLst/>
                <a:cxnLst>
                  <a:cxn ang="0">
                    <a:pos x="T0" y="T1"/>
                  </a:cxn>
                  <a:cxn ang="0">
                    <a:pos x="T2" y="T3"/>
                  </a:cxn>
                  <a:cxn ang="0">
                    <a:pos x="T4" y="T5"/>
                  </a:cxn>
                  <a:cxn ang="0">
                    <a:pos x="T6" y="T7"/>
                  </a:cxn>
                </a:cxnLst>
                <a:rect l="0" t="0" r="r" b="b"/>
                <a:pathLst>
                  <a:path w="635" h="499">
                    <a:moveTo>
                      <a:pt x="635" y="0"/>
                    </a:moveTo>
                    <a:lnTo>
                      <a:pt x="0" y="0"/>
                    </a:lnTo>
                    <a:lnTo>
                      <a:pt x="0" y="499"/>
                    </a:lnTo>
                    <a:lnTo>
                      <a:pt x="635" y="499"/>
                    </a:lnTo>
                  </a:path>
                </a:pathLst>
              </a:custGeom>
              <a:noFill/>
              <a:ln w="28575" cap="flat" cmpd="sng">
                <a:solidFill>
                  <a:srgbClr val="006600"/>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569416" name="Text Box 72"/>
              <p:cNvSpPr txBox="1">
                <a:spLocks noChangeArrowheads="1"/>
              </p:cNvSpPr>
              <p:nvPr/>
            </p:nvSpPr>
            <p:spPr bwMode="auto">
              <a:xfrm>
                <a:off x="476" y="3208"/>
                <a:ext cx="373" cy="4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a:solidFill>
                      <a:schemeClr val="accent2"/>
                    </a:solidFill>
                    <a:latin typeface="+mn-lt"/>
                    <a:ea typeface="微软雅黑 Light" panose="020B0502040204020203" pitchFamily="34" charset="-122"/>
                    <a:sym typeface="Wingdings" panose="05000000000000000000" pitchFamily="2" charset="2"/>
                  </a:rPr>
                  <a:t></a:t>
                </a:r>
              </a:p>
            </p:txBody>
          </p:sp>
        </p:grpSp>
        <p:sp>
          <p:nvSpPr>
            <p:cNvPr id="569417" name="Rectangle 73"/>
            <p:cNvSpPr>
              <a:spLocks noChangeArrowheads="1"/>
            </p:cNvSpPr>
            <p:nvPr/>
          </p:nvSpPr>
          <p:spPr bwMode="auto">
            <a:xfrm>
              <a:off x="8361364" y="5730024"/>
              <a:ext cx="955675" cy="528637"/>
            </a:xfrm>
            <a:prstGeom prst="rect">
              <a:avLst/>
            </a:prstGeom>
            <a:solidFill>
              <a:schemeClr val="bg2">
                <a:lumMod val="50000"/>
                <a:alpha val="70000"/>
              </a:schemeClr>
            </a:solidFill>
            <a:ln>
              <a:noFill/>
            </a:ln>
            <a:effectLst>
              <a:outerShdw dist="35921" dir="2700000" algn="ctr" rotWithShape="0">
                <a:schemeClr val="bg2"/>
              </a:outerShdw>
            </a:effectLst>
          </p:spPr>
          <p:txBody>
            <a:bodyPr wrap="none" anchor="ctr"/>
            <a:lstStyle/>
            <a:p>
              <a:pPr algn="ctr"/>
              <a:endParaRPr lang="zh-CN" altLang="zh-CN" sz="2800">
                <a:solidFill>
                  <a:schemeClr val="bg1"/>
                </a:solidFill>
                <a:latin typeface="+mn-lt"/>
                <a:ea typeface="微软雅黑 Light" panose="020B0502040204020203" pitchFamily="34" charset="-122"/>
              </a:endParaRPr>
            </a:p>
          </p:txBody>
        </p:sp>
        <p:grpSp>
          <p:nvGrpSpPr>
            <p:cNvPr id="569418" name="Group 74"/>
            <p:cNvGrpSpPr/>
            <p:nvPr/>
          </p:nvGrpSpPr>
          <p:grpSpPr bwMode="auto">
            <a:xfrm>
              <a:off x="2166938" y="1300164"/>
              <a:ext cx="1403350" cy="1082675"/>
              <a:chOff x="314" y="792"/>
              <a:chExt cx="884" cy="682"/>
            </a:xfrm>
          </p:grpSpPr>
          <p:sp>
            <p:nvSpPr>
              <p:cNvPr id="569419" name="Freeform 75"/>
              <p:cNvSpPr/>
              <p:nvPr/>
            </p:nvSpPr>
            <p:spPr bwMode="auto">
              <a:xfrm>
                <a:off x="349" y="792"/>
                <a:ext cx="849" cy="682"/>
              </a:xfrm>
              <a:custGeom>
                <a:avLst/>
                <a:gdLst>
                  <a:gd name="T0" fmla="*/ 769 w 769"/>
                  <a:gd name="T1" fmla="*/ 0 h 584"/>
                  <a:gd name="T2" fmla="*/ 0 w 769"/>
                  <a:gd name="T3" fmla="*/ 9 h 584"/>
                  <a:gd name="T4" fmla="*/ 0 w 769"/>
                  <a:gd name="T5" fmla="*/ 584 h 584"/>
                  <a:gd name="T6" fmla="*/ 603 w 769"/>
                  <a:gd name="T7" fmla="*/ 584 h 584"/>
                </a:gdLst>
                <a:ahLst/>
                <a:cxnLst>
                  <a:cxn ang="0">
                    <a:pos x="T0" y="T1"/>
                  </a:cxn>
                  <a:cxn ang="0">
                    <a:pos x="T2" y="T3"/>
                  </a:cxn>
                  <a:cxn ang="0">
                    <a:pos x="T4" y="T5"/>
                  </a:cxn>
                  <a:cxn ang="0">
                    <a:pos x="T6" y="T7"/>
                  </a:cxn>
                </a:cxnLst>
                <a:rect l="0" t="0" r="r" b="b"/>
                <a:pathLst>
                  <a:path w="769" h="584">
                    <a:moveTo>
                      <a:pt x="769" y="0"/>
                    </a:moveTo>
                    <a:lnTo>
                      <a:pt x="0" y="9"/>
                    </a:lnTo>
                    <a:lnTo>
                      <a:pt x="0" y="584"/>
                    </a:lnTo>
                    <a:lnTo>
                      <a:pt x="603" y="584"/>
                    </a:lnTo>
                  </a:path>
                </a:pathLst>
              </a:custGeom>
              <a:noFill/>
              <a:ln w="28575" cap="flat" cmpd="sng">
                <a:solidFill>
                  <a:schemeClr val="bg2"/>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569420" name="Rectangle 76"/>
              <p:cNvSpPr>
                <a:spLocks noChangeArrowheads="1"/>
              </p:cNvSpPr>
              <p:nvPr/>
            </p:nvSpPr>
            <p:spPr bwMode="auto">
              <a:xfrm>
                <a:off x="314" y="1227"/>
                <a:ext cx="697" cy="231"/>
              </a:xfrm>
              <a:prstGeom prst="rect">
                <a:avLst/>
              </a:prstGeom>
              <a:noFill/>
              <a:ln w="1270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1800" dirty="0">
                    <a:latin typeface="+mn-lt"/>
                    <a:ea typeface="微软雅黑 Light" panose="020B0502040204020203" pitchFamily="34" charset="-122"/>
                  </a:rPr>
                  <a:t>主动关闭</a:t>
                </a:r>
              </a:p>
            </p:txBody>
          </p:sp>
        </p:grpSp>
        <p:sp>
          <p:nvSpPr>
            <p:cNvPr id="569421" name="Freeform 77"/>
            <p:cNvSpPr/>
            <p:nvPr/>
          </p:nvSpPr>
          <p:spPr bwMode="auto">
            <a:xfrm>
              <a:off x="9080501" y="1233489"/>
              <a:ext cx="1408113" cy="2905125"/>
            </a:xfrm>
            <a:custGeom>
              <a:avLst/>
              <a:gdLst>
                <a:gd name="T0" fmla="*/ 0 w 868"/>
                <a:gd name="T1" fmla="*/ 0 h 1493"/>
                <a:gd name="T2" fmla="*/ 868 w 868"/>
                <a:gd name="T3" fmla="*/ 7 h 1493"/>
                <a:gd name="T4" fmla="*/ 868 w 868"/>
                <a:gd name="T5" fmla="*/ 1493 h 1493"/>
                <a:gd name="T6" fmla="*/ 124 w 868"/>
                <a:gd name="T7" fmla="*/ 1493 h 1493"/>
              </a:gdLst>
              <a:ahLst/>
              <a:cxnLst>
                <a:cxn ang="0">
                  <a:pos x="T0" y="T1"/>
                </a:cxn>
                <a:cxn ang="0">
                  <a:pos x="T2" y="T3"/>
                </a:cxn>
                <a:cxn ang="0">
                  <a:pos x="T4" y="T5"/>
                </a:cxn>
                <a:cxn ang="0">
                  <a:pos x="T6" y="T7"/>
                </a:cxn>
              </a:cxnLst>
              <a:rect l="0" t="0" r="r" b="b"/>
              <a:pathLst>
                <a:path w="868" h="1493">
                  <a:moveTo>
                    <a:pt x="0" y="0"/>
                  </a:moveTo>
                  <a:lnTo>
                    <a:pt x="868" y="7"/>
                  </a:lnTo>
                  <a:lnTo>
                    <a:pt x="868" y="1493"/>
                  </a:lnTo>
                  <a:lnTo>
                    <a:pt x="124" y="1493"/>
                  </a:lnTo>
                </a:path>
              </a:pathLst>
            </a:custGeom>
            <a:noFill/>
            <a:ln w="28575" cap="flat" cmpd="sng">
              <a:solidFill>
                <a:schemeClr val="bg2"/>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569422" name="Rectangle 78"/>
            <p:cNvSpPr>
              <a:spLocks noChangeArrowheads="1"/>
            </p:cNvSpPr>
            <p:nvPr/>
          </p:nvSpPr>
          <p:spPr bwMode="auto">
            <a:xfrm>
              <a:off x="9375776" y="3703639"/>
              <a:ext cx="1106073"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1800" dirty="0">
                  <a:latin typeface="+mn-lt"/>
                  <a:ea typeface="微软雅黑 Light" panose="020B0502040204020203" pitchFamily="34" charset="-122"/>
                </a:rPr>
                <a:t>被动关闭</a:t>
              </a:r>
            </a:p>
          </p:txBody>
        </p:sp>
        <p:sp>
          <p:nvSpPr>
            <p:cNvPr id="569423" name="Rectangle 79"/>
            <p:cNvSpPr>
              <a:spLocks noChangeArrowheads="1"/>
            </p:cNvSpPr>
            <p:nvPr/>
          </p:nvSpPr>
          <p:spPr bwMode="auto">
            <a:xfrm>
              <a:off x="5803314" y="1621434"/>
              <a:ext cx="1106073" cy="366767"/>
            </a:xfrm>
            <a:prstGeom prst="rect">
              <a:avLst/>
            </a:prstGeom>
            <a:noFill/>
            <a:ln w="38100" cmpd="dbl" algn="ctr">
              <a:noFill/>
              <a:miter lim="800000"/>
            </a:ln>
            <a:effec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1800" dirty="0">
                  <a:latin typeface="+mn-lt"/>
                  <a:ea typeface="微软雅黑 Light" panose="020B0502040204020203" pitchFamily="34" charset="-122"/>
                </a:rPr>
                <a:t>数据传送</a:t>
              </a:r>
            </a:p>
          </p:txBody>
        </p:sp>
        <p:grpSp>
          <p:nvGrpSpPr>
            <p:cNvPr id="569424" name="Group 80"/>
            <p:cNvGrpSpPr/>
            <p:nvPr/>
          </p:nvGrpSpPr>
          <p:grpSpPr bwMode="auto">
            <a:xfrm>
              <a:off x="9121776" y="1419226"/>
              <a:ext cx="1203325" cy="1789113"/>
              <a:chOff x="4695" y="867"/>
              <a:chExt cx="758" cy="1127"/>
            </a:xfrm>
          </p:grpSpPr>
          <p:sp>
            <p:nvSpPr>
              <p:cNvPr id="569425" name="Freeform 81"/>
              <p:cNvSpPr/>
              <p:nvPr/>
            </p:nvSpPr>
            <p:spPr bwMode="auto">
              <a:xfrm>
                <a:off x="4695" y="867"/>
                <a:ext cx="361" cy="1127"/>
              </a:xfrm>
              <a:custGeom>
                <a:avLst/>
                <a:gdLst>
                  <a:gd name="T0" fmla="*/ 100 w 451"/>
                  <a:gd name="T1" fmla="*/ 965 h 965"/>
                  <a:gd name="T2" fmla="*/ 336 w 451"/>
                  <a:gd name="T3" fmla="*/ 894 h 965"/>
                  <a:gd name="T4" fmla="*/ 426 w 451"/>
                  <a:gd name="T5" fmla="*/ 708 h 965"/>
                  <a:gd name="T6" fmla="*/ 451 w 451"/>
                  <a:gd name="T7" fmla="*/ 417 h 965"/>
                  <a:gd name="T8" fmla="*/ 426 w 451"/>
                  <a:gd name="T9" fmla="*/ 207 h 965"/>
                  <a:gd name="T10" fmla="*/ 336 w 451"/>
                  <a:gd name="T11" fmla="*/ 72 h 965"/>
                  <a:gd name="T12" fmla="*/ 0 w 451"/>
                  <a:gd name="T13" fmla="*/ 0 h 965"/>
                </a:gdLst>
                <a:ahLst/>
                <a:cxnLst>
                  <a:cxn ang="0">
                    <a:pos x="T0" y="T1"/>
                  </a:cxn>
                  <a:cxn ang="0">
                    <a:pos x="T2" y="T3"/>
                  </a:cxn>
                  <a:cxn ang="0">
                    <a:pos x="T4" y="T5"/>
                  </a:cxn>
                  <a:cxn ang="0">
                    <a:pos x="T6" y="T7"/>
                  </a:cxn>
                  <a:cxn ang="0">
                    <a:pos x="T8" y="T9"/>
                  </a:cxn>
                  <a:cxn ang="0">
                    <a:pos x="T10" y="T11"/>
                  </a:cxn>
                  <a:cxn ang="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chemeClr val="bg2"/>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微软雅黑 Light" panose="020B0502040204020203" pitchFamily="34" charset="-122"/>
                </a:endParaRPr>
              </a:p>
            </p:txBody>
          </p:sp>
          <p:sp>
            <p:nvSpPr>
              <p:cNvPr id="569426" name="Rectangle 82"/>
              <p:cNvSpPr>
                <a:spLocks noChangeArrowheads="1"/>
              </p:cNvSpPr>
              <p:nvPr/>
            </p:nvSpPr>
            <p:spPr bwMode="auto">
              <a:xfrm>
                <a:off x="5047" y="1120"/>
                <a:ext cx="406" cy="580"/>
              </a:xfrm>
              <a:prstGeom prst="rect">
                <a:avLst/>
              </a:prstGeom>
              <a:noFill/>
              <a:ln w="1270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1800" dirty="0">
                    <a:latin typeface="+mn-lt"/>
                    <a:ea typeface="微软雅黑 Light" panose="020B0502040204020203" pitchFamily="34" charset="-122"/>
                  </a:rPr>
                  <a:t>通知</a:t>
                </a:r>
              </a:p>
              <a:p>
                <a:pPr eaLnBrk="0" hangingPunct="0"/>
                <a:r>
                  <a:rPr lang="zh-CN" altLang="en-US" sz="1800" dirty="0">
                    <a:latin typeface="+mn-lt"/>
                    <a:ea typeface="微软雅黑 Light" panose="020B0502040204020203" pitchFamily="34" charset="-122"/>
                  </a:rPr>
                  <a:t>应用</a:t>
                </a:r>
              </a:p>
              <a:p>
                <a:pPr eaLnBrk="0" hangingPunct="0"/>
                <a:r>
                  <a:rPr lang="zh-CN" altLang="en-US" sz="1800" dirty="0">
                    <a:latin typeface="+mn-lt"/>
                    <a:ea typeface="微软雅黑 Light" panose="020B0502040204020203" pitchFamily="34" charset="-122"/>
                  </a:rPr>
                  <a:t>进程</a:t>
                </a:r>
              </a:p>
            </p:txBody>
          </p:sp>
        </p:grpSp>
        <p:sp>
          <p:nvSpPr>
            <p:cNvPr id="569427" name="Rectangle 83"/>
            <p:cNvSpPr>
              <a:spLocks noChangeArrowheads="1"/>
            </p:cNvSpPr>
            <p:nvPr/>
          </p:nvSpPr>
          <p:spPr bwMode="auto">
            <a:xfrm>
              <a:off x="3255964" y="1665288"/>
              <a:ext cx="1003481"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sz="1800" dirty="0">
                  <a:latin typeface="+mn-lt"/>
                  <a:ea typeface="微软雅黑 Light" panose="020B0502040204020203" pitchFamily="34" charset="-122"/>
                </a:rPr>
                <a:t>ESTAB-</a:t>
              </a:r>
            </a:p>
            <a:p>
              <a:pPr eaLnBrk="0" hangingPunct="0"/>
              <a:r>
                <a:rPr lang="en-US" altLang="zh-CN" sz="1800" dirty="0">
                  <a:latin typeface="+mn-lt"/>
                  <a:ea typeface="微软雅黑 Light" panose="020B0502040204020203" pitchFamily="34" charset="-122"/>
                </a:rPr>
                <a:t>LISHED</a:t>
              </a:r>
            </a:p>
          </p:txBody>
        </p:sp>
        <p:sp>
          <p:nvSpPr>
            <p:cNvPr id="569428" name="Rectangle 84"/>
            <p:cNvSpPr>
              <a:spLocks noChangeArrowheads="1"/>
            </p:cNvSpPr>
            <p:nvPr/>
          </p:nvSpPr>
          <p:spPr bwMode="auto">
            <a:xfrm>
              <a:off x="8342314" y="2101850"/>
              <a:ext cx="1003481"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sz="1800" dirty="0">
                  <a:latin typeface="+mn-lt"/>
                  <a:ea typeface="微软雅黑 Light" panose="020B0502040204020203" pitchFamily="34" charset="-122"/>
                </a:rPr>
                <a:t>ESTAB-</a:t>
              </a:r>
            </a:p>
            <a:p>
              <a:pPr eaLnBrk="0" hangingPunct="0"/>
              <a:r>
                <a:rPr lang="en-US" altLang="zh-CN" sz="1800" dirty="0">
                  <a:latin typeface="+mn-lt"/>
                  <a:ea typeface="微软雅黑 Light" panose="020B0502040204020203" pitchFamily="34" charset="-122"/>
                </a:rPr>
                <a:t>LISHED</a:t>
              </a:r>
            </a:p>
          </p:txBody>
        </p:sp>
        <p:sp>
          <p:nvSpPr>
            <p:cNvPr id="569431" name="Rectangle 87"/>
            <p:cNvSpPr>
              <a:spLocks noChangeArrowheads="1"/>
            </p:cNvSpPr>
            <p:nvPr/>
          </p:nvSpPr>
          <p:spPr bwMode="auto">
            <a:xfrm>
              <a:off x="4042079" y="1050076"/>
              <a:ext cx="34945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sz="1800" dirty="0">
                  <a:latin typeface="+mn-lt"/>
                  <a:ea typeface="微软雅黑 Light" panose="020B0502040204020203" pitchFamily="34" charset="-122"/>
                </a:rPr>
                <a:t>A</a:t>
              </a:r>
            </a:p>
          </p:txBody>
        </p:sp>
        <p:sp>
          <p:nvSpPr>
            <p:cNvPr id="569432" name="Rectangle 88"/>
            <p:cNvSpPr>
              <a:spLocks noChangeArrowheads="1"/>
            </p:cNvSpPr>
            <p:nvPr/>
          </p:nvSpPr>
          <p:spPr bwMode="auto">
            <a:xfrm>
              <a:off x="8036253" y="1063571"/>
              <a:ext cx="336632"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800" dirty="0">
                  <a:latin typeface="+mn-lt"/>
                  <a:ea typeface="微软雅黑 Light" panose="020B0502040204020203" pitchFamily="34" charset="-122"/>
                </a:rPr>
                <a:t>B</a:t>
              </a:r>
            </a:p>
          </p:txBody>
        </p:sp>
        <p:sp>
          <p:nvSpPr>
            <p:cNvPr id="569433" name="Rectangle 89"/>
            <p:cNvSpPr>
              <a:spLocks noChangeArrowheads="1"/>
            </p:cNvSpPr>
            <p:nvPr/>
          </p:nvSpPr>
          <p:spPr bwMode="auto">
            <a:xfrm rot="-628888">
              <a:off x="6022390" y="3687736"/>
              <a:ext cx="1106073" cy="366767"/>
            </a:xfrm>
            <a:prstGeom prst="rect">
              <a:avLst/>
            </a:prstGeom>
            <a:solidFill>
              <a:srgbClr val="CCECFF"/>
            </a:solidFill>
            <a:ln w="12700" cmpd="sng" algn="ctr">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1800" dirty="0">
                  <a:latin typeface="+mn-lt"/>
                  <a:ea typeface="微软雅黑 Light" panose="020B0502040204020203" pitchFamily="34" charset="-122"/>
                </a:rPr>
                <a:t>数据传送</a:t>
              </a:r>
            </a:p>
          </p:txBody>
        </p:sp>
        <p:sp>
          <p:nvSpPr>
            <p:cNvPr id="569434" name="Text Box 90"/>
            <p:cNvSpPr txBox="1">
              <a:spLocks noChangeArrowheads="1"/>
            </p:cNvSpPr>
            <p:nvPr/>
          </p:nvSpPr>
          <p:spPr bwMode="auto">
            <a:xfrm>
              <a:off x="8313738" y="5846763"/>
              <a:ext cx="971550" cy="336550"/>
            </a:xfrm>
            <a:prstGeom prst="rect">
              <a:avLst/>
            </a:prstGeom>
            <a:noFill/>
            <a:ln>
              <a:noFill/>
            </a:ln>
            <a:effectLst/>
            <a:extLst>
              <a:ext uri="{909E8E84-426E-40DD-AFC4-6F175D3DCCD1}">
                <a14:hiddenFill xmlns:a14="http://schemas.microsoft.com/office/drawing/2010/main">
                  <a:solidFill>
                    <a:srgbClr val="6633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571500">
                <a:defRPr kumimoji="1" sz="2400">
                  <a:solidFill>
                    <a:schemeClr val="tx1"/>
                  </a:solidFill>
                  <a:latin typeface="Times New Roman" panose="02020603050405020304" pitchFamily="18" charset="0"/>
                  <a:ea typeface="宋体" panose="02010600030101010101" pitchFamily="2" charset="-122"/>
                </a:defRPr>
              </a:lvl2pPr>
              <a:lvl3pPr marL="1143000">
                <a:defRPr kumimoji="1" sz="2400">
                  <a:solidFill>
                    <a:schemeClr val="tx1"/>
                  </a:solidFill>
                  <a:latin typeface="Times New Roman" panose="02020603050405020304" pitchFamily="18" charset="0"/>
                  <a:ea typeface="宋体" panose="02010600030101010101" pitchFamily="2" charset="-122"/>
                </a:defRPr>
              </a:lvl3pPr>
              <a:lvl4pPr marL="1714500">
                <a:defRPr kumimoji="1" sz="2400">
                  <a:solidFill>
                    <a:schemeClr val="tx1"/>
                  </a:solidFill>
                  <a:latin typeface="Times New Roman" panose="02020603050405020304" pitchFamily="18" charset="0"/>
                  <a:ea typeface="宋体" panose="02010600030101010101" pitchFamily="2" charset="-122"/>
                </a:defRPr>
              </a:lvl4pPr>
              <a:lvl5pPr marL="2286000">
                <a:defRPr kumimoji="1" sz="2400">
                  <a:solidFill>
                    <a:schemeClr val="tx1"/>
                  </a:solidFill>
                  <a:latin typeface="Times New Roman" panose="02020603050405020304" pitchFamily="18" charset="0"/>
                  <a:ea typeface="宋体" panose="02010600030101010101" pitchFamily="2" charset="-122"/>
                </a:defRPr>
              </a:lvl5pPr>
              <a:lvl6pPr marL="2743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sz="1800" dirty="0">
                  <a:solidFill>
                    <a:schemeClr val="bg1"/>
                  </a:solidFill>
                  <a:latin typeface="+mn-lt"/>
                  <a:ea typeface="微软雅黑 Light" panose="020B0502040204020203" pitchFamily="34" charset="-122"/>
                </a:rPr>
                <a:t>CLOSED</a:t>
              </a:r>
            </a:p>
          </p:txBody>
        </p:sp>
        <p:pic>
          <p:nvPicPr>
            <p:cNvPr id="60" name="图形 59"/>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81912" y="936436"/>
              <a:ext cx="704549" cy="617209"/>
            </a:xfrm>
            <a:prstGeom prst="rect">
              <a:avLst/>
            </a:prstGeom>
          </p:spPr>
        </p:pic>
        <p:sp>
          <p:nvSpPr>
            <p:cNvPr id="3" name="Rectangle 73">
              <a:extLst>
                <a:ext uri="{FF2B5EF4-FFF2-40B4-BE49-F238E27FC236}">
                  <a16:creationId xmlns:a16="http://schemas.microsoft.com/office/drawing/2014/main" id="{CA2C647D-1A6E-1BCD-1F3B-86184213458F}"/>
                </a:ext>
              </a:extLst>
            </p:cNvPr>
            <p:cNvSpPr>
              <a:spLocks noChangeArrowheads="1"/>
            </p:cNvSpPr>
            <p:nvPr/>
          </p:nvSpPr>
          <p:spPr bwMode="auto">
            <a:xfrm>
              <a:off x="3273426" y="6247241"/>
              <a:ext cx="955675" cy="528637"/>
            </a:xfrm>
            <a:prstGeom prst="rect">
              <a:avLst/>
            </a:prstGeom>
            <a:solidFill>
              <a:schemeClr val="bg2">
                <a:lumMod val="50000"/>
                <a:alpha val="70000"/>
              </a:schemeClr>
            </a:solidFill>
            <a:ln>
              <a:noFill/>
            </a:ln>
            <a:effectLst>
              <a:outerShdw dist="35921" dir="2700000" algn="ctr" rotWithShape="0">
                <a:schemeClr val="bg2"/>
              </a:outerShdw>
            </a:effectLst>
          </p:spPr>
          <p:txBody>
            <a:bodyPr wrap="none" anchor="ctr"/>
            <a:lstStyle/>
            <a:p>
              <a:pPr algn="ctr"/>
              <a:endParaRPr lang="zh-CN" altLang="zh-CN" sz="2800">
                <a:solidFill>
                  <a:schemeClr val="bg1"/>
                </a:solidFill>
                <a:latin typeface="+mn-lt"/>
                <a:ea typeface="微软雅黑 Light" panose="020B0502040204020203" pitchFamily="34" charset="-122"/>
              </a:endParaRPr>
            </a:p>
          </p:txBody>
        </p:sp>
        <p:sp>
          <p:nvSpPr>
            <p:cNvPr id="4" name="Text Box 90">
              <a:extLst>
                <a:ext uri="{FF2B5EF4-FFF2-40B4-BE49-F238E27FC236}">
                  <a16:creationId xmlns:a16="http://schemas.microsoft.com/office/drawing/2014/main" id="{F24FF114-0E60-188B-7650-51DA5EDB4E2B}"/>
                </a:ext>
              </a:extLst>
            </p:cNvPr>
            <p:cNvSpPr txBox="1">
              <a:spLocks noChangeArrowheads="1"/>
            </p:cNvSpPr>
            <p:nvPr/>
          </p:nvSpPr>
          <p:spPr bwMode="auto">
            <a:xfrm>
              <a:off x="3225800" y="6363980"/>
              <a:ext cx="971550" cy="336550"/>
            </a:xfrm>
            <a:prstGeom prst="rect">
              <a:avLst/>
            </a:prstGeom>
            <a:noFill/>
            <a:ln>
              <a:noFill/>
            </a:ln>
            <a:effectLst/>
            <a:extLst>
              <a:ext uri="{909E8E84-426E-40DD-AFC4-6F175D3DCCD1}">
                <a14:hiddenFill xmlns:a14="http://schemas.microsoft.com/office/drawing/2010/main">
                  <a:solidFill>
                    <a:srgbClr val="6633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571500">
                <a:defRPr kumimoji="1" sz="2400">
                  <a:solidFill>
                    <a:schemeClr val="tx1"/>
                  </a:solidFill>
                  <a:latin typeface="Times New Roman" panose="02020603050405020304" pitchFamily="18" charset="0"/>
                  <a:ea typeface="宋体" panose="02010600030101010101" pitchFamily="2" charset="-122"/>
                </a:defRPr>
              </a:lvl2pPr>
              <a:lvl3pPr marL="1143000">
                <a:defRPr kumimoji="1" sz="2400">
                  <a:solidFill>
                    <a:schemeClr val="tx1"/>
                  </a:solidFill>
                  <a:latin typeface="Times New Roman" panose="02020603050405020304" pitchFamily="18" charset="0"/>
                  <a:ea typeface="宋体" panose="02010600030101010101" pitchFamily="2" charset="-122"/>
                </a:defRPr>
              </a:lvl3pPr>
              <a:lvl4pPr marL="1714500">
                <a:defRPr kumimoji="1" sz="2400">
                  <a:solidFill>
                    <a:schemeClr val="tx1"/>
                  </a:solidFill>
                  <a:latin typeface="Times New Roman" panose="02020603050405020304" pitchFamily="18" charset="0"/>
                  <a:ea typeface="宋体" panose="02010600030101010101" pitchFamily="2" charset="-122"/>
                </a:defRPr>
              </a:lvl4pPr>
              <a:lvl5pPr marL="2286000">
                <a:defRPr kumimoji="1" sz="2400">
                  <a:solidFill>
                    <a:schemeClr val="tx1"/>
                  </a:solidFill>
                  <a:latin typeface="Times New Roman" panose="02020603050405020304" pitchFamily="18" charset="0"/>
                  <a:ea typeface="宋体" panose="02010600030101010101" pitchFamily="2" charset="-122"/>
                </a:defRPr>
              </a:lvl5pPr>
              <a:lvl6pPr marL="2743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sz="1800" dirty="0">
                  <a:solidFill>
                    <a:schemeClr val="bg1"/>
                  </a:solidFill>
                  <a:latin typeface="+mn-lt"/>
                  <a:ea typeface="微软雅黑 Light" panose="020B0502040204020203" pitchFamily="34" charset="-122"/>
                </a:rPr>
                <a:t>CLOSED</a:t>
              </a:r>
            </a:p>
          </p:txBody>
        </p:sp>
      </p:grpSp>
      <p:sp>
        <p:nvSpPr>
          <p:cNvPr id="569347" name="Rectangle 3"/>
          <p:cNvSpPr>
            <a:spLocks noGrp="1" noChangeArrowheads="1"/>
          </p:cNvSpPr>
          <p:nvPr>
            <p:ph type="body" idx="1"/>
          </p:nvPr>
        </p:nvSpPr>
        <p:spPr>
          <a:xfrm>
            <a:off x="4183422" y="6268887"/>
            <a:ext cx="7717319" cy="529908"/>
          </a:xfrm>
          <a:noFill/>
        </p:spPr>
        <p:txBody>
          <a:bodyPr>
            <a:normAutofit/>
          </a:bodyPr>
          <a:lstStyle/>
          <a:p>
            <a:pPr>
              <a:buClrTx/>
              <a:buFont typeface="Wingdings" panose="05000000000000000000" pitchFamily="2" charset="2"/>
              <a:buChar char="Ø"/>
            </a:pPr>
            <a:r>
              <a:rPr lang="zh-CN" altLang="en-US" sz="1800" dirty="0"/>
              <a:t>建立一个</a:t>
            </a:r>
            <a:r>
              <a:rPr lang="en-US" altLang="zh-CN" sz="1800" dirty="0"/>
              <a:t>TCP</a:t>
            </a:r>
            <a:r>
              <a:rPr lang="zh-CN" altLang="en-US" sz="1800" dirty="0"/>
              <a:t>连接需要三次握手，而释放一个</a:t>
            </a:r>
            <a:r>
              <a:rPr lang="en-US" altLang="zh-CN" sz="1800" dirty="0"/>
              <a:t>TCP</a:t>
            </a:r>
            <a:r>
              <a:rPr lang="zh-CN" altLang="en-US" sz="1800" dirty="0"/>
              <a:t>连接需要经过</a:t>
            </a:r>
            <a:r>
              <a:rPr lang="en-US" altLang="zh-CN" sz="1800" dirty="0"/>
              <a:t>4</a:t>
            </a:r>
            <a:r>
              <a:rPr lang="zh-CN" altLang="en-US" sz="1800" dirty="0"/>
              <a:t>次握手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69347">
                                            <p:txEl>
                                              <p:pRg st="0" end="0"/>
                                            </p:txEl>
                                          </p:spTgt>
                                        </p:tgtEl>
                                        <p:attrNameLst>
                                          <p:attrName>style.visibility</p:attrName>
                                        </p:attrNameLst>
                                      </p:cBhvr>
                                      <p:to>
                                        <p:strVal val="visible"/>
                                      </p:to>
                                    </p:set>
                                    <p:animEffect transition="in" filter="wipe(up)">
                                      <p:cBhvr>
                                        <p:cTn id="7" dur="500"/>
                                        <p:tgtEl>
                                          <p:spTgt spid="56934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9347"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BCDF7A6D-DFEE-48DB-8D2C-18A069BCFB3C}" type="slidenum">
              <a:rPr lang="en-US" altLang="zh-CN"/>
              <a:t>67</a:t>
            </a:fld>
            <a:endParaRPr lang="en-US" altLang="zh-CN"/>
          </a:p>
        </p:txBody>
      </p:sp>
      <p:sp>
        <p:nvSpPr>
          <p:cNvPr id="841730" name="Rectangle 2"/>
          <p:cNvSpPr>
            <a:spLocks noGrp="1" noChangeArrowheads="1"/>
          </p:cNvSpPr>
          <p:nvPr>
            <p:ph type="title"/>
          </p:nvPr>
        </p:nvSpPr>
        <p:spPr/>
        <p:txBody>
          <a:bodyPr/>
          <a:lstStyle/>
          <a:p>
            <a:r>
              <a:rPr lang="en-US" altLang="zh-CN"/>
              <a:t>A</a:t>
            </a:r>
            <a:r>
              <a:rPr lang="zh-CN" altLang="en-US"/>
              <a:t>必须等待</a:t>
            </a:r>
            <a:r>
              <a:rPr lang="en-US" altLang="zh-CN"/>
              <a:t>2MSL</a:t>
            </a:r>
            <a:r>
              <a:rPr lang="zh-CN" altLang="en-US"/>
              <a:t>的时间</a:t>
            </a:r>
          </a:p>
        </p:txBody>
      </p:sp>
      <p:sp>
        <p:nvSpPr>
          <p:cNvPr id="841731" name="Rectangle 3"/>
          <p:cNvSpPr>
            <a:spLocks noGrp="1" noChangeArrowheads="1"/>
          </p:cNvSpPr>
          <p:nvPr>
            <p:ph type="body" idx="1"/>
          </p:nvPr>
        </p:nvSpPr>
        <p:spPr/>
        <p:txBody>
          <a:bodyPr/>
          <a:lstStyle/>
          <a:p>
            <a:pPr>
              <a:lnSpc>
                <a:spcPct val="120000"/>
              </a:lnSpc>
            </a:pPr>
            <a:r>
              <a:rPr lang="en-US" altLang="zh-CN" dirty="0"/>
              <a:t>MSL</a:t>
            </a:r>
            <a:r>
              <a:rPr lang="zh-CN" altLang="en-US" dirty="0"/>
              <a:t>：最长报文寿命</a:t>
            </a:r>
            <a:r>
              <a:rPr lang="en-US" altLang="zh-CN" dirty="0"/>
              <a:t>Maximum Segment Lifetime</a:t>
            </a:r>
          </a:p>
          <a:p>
            <a:pPr>
              <a:lnSpc>
                <a:spcPct val="120000"/>
              </a:lnSpc>
            </a:pPr>
            <a:r>
              <a:rPr lang="zh-CN" altLang="en-US" dirty="0"/>
              <a:t>第一，为了保证 </a:t>
            </a:r>
            <a:r>
              <a:rPr lang="en-US" altLang="zh-CN" dirty="0"/>
              <a:t>A </a:t>
            </a:r>
            <a:r>
              <a:rPr lang="zh-CN" altLang="en-US" dirty="0"/>
              <a:t>发送的最后一个 </a:t>
            </a:r>
            <a:r>
              <a:rPr lang="en-US" altLang="zh-CN" dirty="0"/>
              <a:t>ACK </a:t>
            </a:r>
            <a:r>
              <a:rPr lang="zh-CN" altLang="en-US" dirty="0"/>
              <a:t>报文段能够到达 </a:t>
            </a:r>
            <a:r>
              <a:rPr lang="en-US" altLang="zh-CN" dirty="0"/>
              <a:t>B</a:t>
            </a:r>
            <a:r>
              <a:rPr lang="zh-CN" altLang="en-US" dirty="0"/>
              <a:t>，使</a:t>
            </a:r>
            <a:r>
              <a:rPr lang="en-US" altLang="zh-CN" dirty="0"/>
              <a:t>B</a:t>
            </a:r>
            <a:r>
              <a:rPr lang="zh-CN" altLang="en-US" dirty="0"/>
              <a:t>按正常步骤关闭</a:t>
            </a:r>
          </a:p>
          <a:p>
            <a:pPr>
              <a:lnSpc>
                <a:spcPct val="120000"/>
              </a:lnSpc>
            </a:pPr>
            <a:r>
              <a:rPr lang="zh-CN" altLang="en-US" dirty="0"/>
              <a:t>第二，防止 “已失效的连接请求报文段”出现在本连接中</a:t>
            </a:r>
            <a:endParaRPr lang="en-US" altLang="zh-CN" dirty="0"/>
          </a:p>
          <a:p>
            <a:pPr lvl="1">
              <a:lnSpc>
                <a:spcPct val="120000"/>
              </a:lnSpc>
            </a:pPr>
            <a:r>
              <a:rPr lang="en-US" altLang="zh-CN" dirty="0"/>
              <a:t>A </a:t>
            </a:r>
            <a:r>
              <a:rPr lang="zh-CN" altLang="en-US" dirty="0"/>
              <a:t>在发送完最后一个 </a:t>
            </a:r>
            <a:r>
              <a:rPr lang="en-US" altLang="zh-CN" dirty="0"/>
              <a:t>ACK </a:t>
            </a:r>
            <a:r>
              <a:rPr lang="zh-CN" altLang="en-US" dirty="0"/>
              <a:t>报文段后，再经过时间 </a:t>
            </a:r>
            <a:r>
              <a:rPr lang="en-US" altLang="zh-CN" dirty="0"/>
              <a:t>2MSL</a:t>
            </a:r>
            <a:r>
              <a:rPr lang="zh-CN" altLang="en-US" dirty="0"/>
              <a:t>，可使本连接持续的时间内所产生的所有报文段，都从网络中消失。这样就可以使下一个新的连接中不会出现这种旧的连接请求报文段</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灯片编号占位符 5"/>
          <p:cNvSpPr>
            <a:spLocks noGrp="1"/>
          </p:cNvSpPr>
          <p:nvPr>
            <p:ph type="sldNum" sz="quarter" idx="12"/>
          </p:nvPr>
        </p:nvSpPr>
        <p:spPr/>
        <p:txBody>
          <a:bodyPr/>
          <a:lstStyle/>
          <a:p>
            <a:fld id="{7687C18A-9096-48DF-AA9A-942CFA5B69FA}" type="slidenum">
              <a:rPr lang="en-US" altLang="zh-CN"/>
              <a:t>68</a:t>
            </a:fld>
            <a:endParaRPr lang="en-US" altLang="zh-CN"/>
          </a:p>
        </p:txBody>
      </p:sp>
      <p:sp>
        <p:nvSpPr>
          <p:cNvPr id="345398" name="Rectangle 310"/>
          <p:cNvSpPr>
            <a:spLocks noGrp="1" noChangeArrowheads="1"/>
          </p:cNvSpPr>
          <p:nvPr>
            <p:ph type="title"/>
          </p:nvPr>
        </p:nvSpPr>
        <p:spPr>
          <a:noFill/>
        </p:spPr>
        <p:txBody>
          <a:bodyPr/>
          <a:lstStyle/>
          <a:p>
            <a:r>
              <a:rPr lang="en-US" altLang="zh-CN"/>
              <a:t>TCP</a:t>
            </a:r>
            <a:r>
              <a:rPr lang="zh-CN" altLang="en-US"/>
              <a:t>正常的连接建立和关闭</a:t>
            </a:r>
          </a:p>
        </p:txBody>
      </p:sp>
      <p:grpSp>
        <p:nvGrpSpPr>
          <p:cNvPr id="2" name="组合 1"/>
          <p:cNvGrpSpPr/>
          <p:nvPr/>
        </p:nvGrpSpPr>
        <p:grpSpPr>
          <a:xfrm>
            <a:off x="2582704" y="1125538"/>
            <a:ext cx="7009658" cy="5329237"/>
            <a:chOff x="2582704" y="1125538"/>
            <a:chExt cx="7009658" cy="5329237"/>
          </a:xfrm>
        </p:grpSpPr>
        <p:sp>
          <p:nvSpPr>
            <p:cNvPr id="345264" name="Line 176"/>
            <p:cNvSpPr>
              <a:spLocks noChangeShapeType="1"/>
            </p:cNvSpPr>
            <p:nvPr/>
          </p:nvSpPr>
          <p:spPr bwMode="auto">
            <a:xfrm>
              <a:off x="4513263" y="2317750"/>
              <a:ext cx="3022600" cy="247650"/>
            </a:xfrm>
            <a:prstGeom prst="line">
              <a:avLst/>
            </a:prstGeom>
            <a:noFill/>
            <a:ln w="4763">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mn-lt"/>
                <a:ea typeface="微软雅黑 Light" panose="020B0502040204020203" pitchFamily="34" charset="-122"/>
              </a:endParaRPr>
            </a:p>
          </p:txBody>
        </p:sp>
        <p:sp>
          <p:nvSpPr>
            <p:cNvPr id="345266" name="Line 178"/>
            <p:cNvSpPr>
              <a:spLocks noChangeShapeType="1"/>
            </p:cNvSpPr>
            <p:nvPr/>
          </p:nvSpPr>
          <p:spPr bwMode="auto">
            <a:xfrm flipH="1">
              <a:off x="4511675" y="2833688"/>
              <a:ext cx="3049588" cy="234950"/>
            </a:xfrm>
            <a:prstGeom prst="line">
              <a:avLst/>
            </a:prstGeom>
            <a:noFill/>
            <a:ln w="4763">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mn-lt"/>
                <a:ea typeface="微软雅黑 Light" panose="020B0502040204020203" pitchFamily="34" charset="-122"/>
              </a:endParaRPr>
            </a:p>
          </p:txBody>
        </p:sp>
        <p:sp>
          <p:nvSpPr>
            <p:cNvPr id="345268" name="Line 180"/>
            <p:cNvSpPr>
              <a:spLocks noChangeShapeType="1"/>
            </p:cNvSpPr>
            <p:nvPr/>
          </p:nvSpPr>
          <p:spPr bwMode="auto">
            <a:xfrm>
              <a:off x="4513263" y="3351214"/>
              <a:ext cx="3022600" cy="293687"/>
            </a:xfrm>
            <a:prstGeom prst="line">
              <a:avLst/>
            </a:prstGeom>
            <a:noFill/>
            <a:ln w="4763">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mn-lt"/>
                <a:ea typeface="微软雅黑 Light" panose="020B0502040204020203" pitchFamily="34" charset="-122"/>
              </a:endParaRPr>
            </a:p>
          </p:txBody>
        </p:sp>
        <p:sp>
          <p:nvSpPr>
            <p:cNvPr id="345270" name="Line 182"/>
            <p:cNvSpPr>
              <a:spLocks noChangeShapeType="1"/>
            </p:cNvSpPr>
            <p:nvPr/>
          </p:nvSpPr>
          <p:spPr bwMode="auto">
            <a:xfrm>
              <a:off x="4513263" y="4384675"/>
              <a:ext cx="3022600" cy="268288"/>
            </a:xfrm>
            <a:prstGeom prst="line">
              <a:avLst/>
            </a:prstGeom>
            <a:noFill/>
            <a:ln w="4763">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mn-lt"/>
                <a:ea typeface="微软雅黑 Light" panose="020B0502040204020203" pitchFamily="34" charset="-122"/>
              </a:endParaRPr>
            </a:p>
          </p:txBody>
        </p:sp>
        <p:sp>
          <p:nvSpPr>
            <p:cNvPr id="345272" name="Line 184"/>
            <p:cNvSpPr>
              <a:spLocks noChangeShapeType="1"/>
            </p:cNvSpPr>
            <p:nvPr/>
          </p:nvSpPr>
          <p:spPr bwMode="auto">
            <a:xfrm flipH="1">
              <a:off x="4511675" y="4902200"/>
              <a:ext cx="3049588" cy="255588"/>
            </a:xfrm>
            <a:prstGeom prst="line">
              <a:avLst/>
            </a:prstGeom>
            <a:noFill/>
            <a:ln w="4763">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mn-lt"/>
                <a:ea typeface="微软雅黑 Light" panose="020B0502040204020203" pitchFamily="34" charset="-122"/>
              </a:endParaRPr>
            </a:p>
          </p:txBody>
        </p:sp>
        <p:sp>
          <p:nvSpPr>
            <p:cNvPr id="345274" name="Line 186"/>
            <p:cNvSpPr>
              <a:spLocks noChangeShapeType="1"/>
            </p:cNvSpPr>
            <p:nvPr/>
          </p:nvSpPr>
          <p:spPr bwMode="auto">
            <a:xfrm flipH="1">
              <a:off x="4511675" y="5419725"/>
              <a:ext cx="3049588" cy="241300"/>
            </a:xfrm>
            <a:prstGeom prst="line">
              <a:avLst/>
            </a:prstGeom>
            <a:noFill/>
            <a:ln w="4763">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mn-lt"/>
                <a:ea typeface="微软雅黑 Light" panose="020B0502040204020203" pitchFamily="34" charset="-122"/>
              </a:endParaRPr>
            </a:p>
          </p:txBody>
        </p:sp>
        <p:sp>
          <p:nvSpPr>
            <p:cNvPr id="345276" name="Line 188"/>
            <p:cNvSpPr>
              <a:spLocks noChangeShapeType="1"/>
            </p:cNvSpPr>
            <p:nvPr/>
          </p:nvSpPr>
          <p:spPr bwMode="auto">
            <a:xfrm>
              <a:off x="4513263" y="5949950"/>
              <a:ext cx="3022600" cy="241300"/>
            </a:xfrm>
            <a:prstGeom prst="line">
              <a:avLst/>
            </a:prstGeom>
            <a:noFill/>
            <a:ln w="4763">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mn-lt"/>
                <a:ea typeface="微软雅黑 Light" panose="020B0502040204020203" pitchFamily="34" charset="-122"/>
              </a:endParaRPr>
            </a:p>
          </p:txBody>
        </p:sp>
        <p:sp>
          <p:nvSpPr>
            <p:cNvPr id="345278" name="Line 190"/>
            <p:cNvSpPr>
              <a:spLocks noChangeShapeType="1"/>
            </p:cNvSpPr>
            <p:nvPr/>
          </p:nvSpPr>
          <p:spPr bwMode="auto">
            <a:xfrm>
              <a:off x="4513263" y="1954213"/>
              <a:ext cx="0" cy="2043112"/>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latin typeface="+mn-lt"/>
                <a:ea typeface="微软雅黑 Light" panose="020B0502040204020203" pitchFamily="34" charset="-122"/>
              </a:endParaRPr>
            </a:p>
          </p:txBody>
        </p:sp>
        <p:sp>
          <p:nvSpPr>
            <p:cNvPr id="345279" name="Line 191"/>
            <p:cNvSpPr>
              <a:spLocks noChangeShapeType="1"/>
            </p:cNvSpPr>
            <p:nvPr/>
          </p:nvSpPr>
          <p:spPr bwMode="auto">
            <a:xfrm>
              <a:off x="4513263" y="4125913"/>
              <a:ext cx="0" cy="2328862"/>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latin typeface="+mn-lt"/>
                <a:ea typeface="微软雅黑 Light" panose="020B0502040204020203" pitchFamily="34" charset="-122"/>
              </a:endParaRPr>
            </a:p>
          </p:txBody>
        </p:sp>
        <p:sp>
          <p:nvSpPr>
            <p:cNvPr id="345280" name="Line 192"/>
            <p:cNvSpPr>
              <a:spLocks noChangeShapeType="1"/>
            </p:cNvSpPr>
            <p:nvPr/>
          </p:nvSpPr>
          <p:spPr bwMode="auto">
            <a:xfrm>
              <a:off x="4462463" y="3997325"/>
              <a:ext cx="107950" cy="0"/>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latin typeface="+mn-lt"/>
                <a:ea typeface="微软雅黑 Light" panose="020B0502040204020203" pitchFamily="34" charset="-122"/>
              </a:endParaRPr>
            </a:p>
          </p:txBody>
        </p:sp>
        <p:sp>
          <p:nvSpPr>
            <p:cNvPr id="345281" name="Line 193"/>
            <p:cNvSpPr>
              <a:spLocks noChangeShapeType="1"/>
            </p:cNvSpPr>
            <p:nvPr/>
          </p:nvSpPr>
          <p:spPr bwMode="auto">
            <a:xfrm>
              <a:off x="4462463" y="4125913"/>
              <a:ext cx="107950" cy="0"/>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latin typeface="+mn-lt"/>
                <a:ea typeface="微软雅黑 Light" panose="020B0502040204020203" pitchFamily="34" charset="-122"/>
              </a:endParaRPr>
            </a:p>
          </p:txBody>
        </p:sp>
        <p:sp>
          <p:nvSpPr>
            <p:cNvPr id="345282" name="Line 194"/>
            <p:cNvSpPr>
              <a:spLocks noChangeShapeType="1"/>
            </p:cNvSpPr>
            <p:nvPr/>
          </p:nvSpPr>
          <p:spPr bwMode="auto">
            <a:xfrm>
              <a:off x="7556500" y="4125913"/>
              <a:ext cx="0" cy="2328862"/>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latin typeface="+mn-lt"/>
                <a:ea typeface="微软雅黑 Light" panose="020B0502040204020203" pitchFamily="34" charset="-122"/>
              </a:endParaRPr>
            </a:p>
          </p:txBody>
        </p:sp>
        <p:sp>
          <p:nvSpPr>
            <p:cNvPr id="345283" name="Line 195"/>
            <p:cNvSpPr>
              <a:spLocks noChangeShapeType="1"/>
            </p:cNvSpPr>
            <p:nvPr/>
          </p:nvSpPr>
          <p:spPr bwMode="auto">
            <a:xfrm flipV="1">
              <a:off x="7561263" y="1954213"/>
              <a:ext cx="0" cy="2043112"/>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latin typeface="+mn-lt"/>
                <a:ea typeface="微软雅黑 Light" panose="020B0502040204020203" pitchFamily="34" charset="-122"/>
              </a:endParaRPr>
            </a:p>
          </p:txBody>
        </p:sp>
        <p:sp>
          <p:nvSpPr>
            <p:cNvPr id="345284" name="Line 196"/>
            <p:cNvSpPr>
              <a:spLocks noChangeShapeType="1"/>
            </p:cNvSpPr>
            <p:nvPr/>
          </p:nvSpPr>
          <p:spPr bwMode="auto">
            <a:xfrm>
              <a:off x="7512050" y="3997325"/>
              <a:ext cx="114300" cy="0"/>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latin typeface="+mn-lt"/>
                <a:ea typeface="微软雅黑 Light" panose="020B0502040204020203" pitchFamily="34" charset="-122"/>
              </a:endParaRPr>
            </a:p>
          </p:txBody>
        </p:sp>
        <p:sp>
          <p:nvSpPr>
            <p:cNvPr id="345285" name="Line 197"/>
            <p:cNvSpPr>
              <a:spLocks noChangeShapeType="1"/>
            </p:cNvSpPr>
            <p:nvPr/>
          </p:nvSpPr>
          <p:spPr bwMode="auto">
            <a:xfrm>
              <a:off x="7512050" y="4125913"/>
              <a:ext cx="107950" cy="0"/>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latin typeface="+mn-lt"/>
                <a:ea typeface="微软雅黑 Light" panose="020B0502040204020203" pitchFamily="34" charset="-122"/>
              </a:endParaRPr>
            </a:p>
          </p:txBody>
        </p:sp>
        <p:sp>
          <p:nvSpPr>
            <p:cNvPr id="345297" name="Rectangle 209"/>
            <p:cNvSpPr>
              <a:spLocks noChangeArrowheads="1"/>
            </p:cNvSpPr>
            <p:nvPr/>
          </p:nvSpPr>
          <p:spPr bwMode="auto">
            <a:xfrm>
              <a:off x="7650164" y="2133600"/>
              <a:ext cx="145232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a:solidFill>
                    <a:srgbClr val="000000"/>
                  </a:solidFill>
                  <a:latin typeface="+mn-lt"/>
                  <a:ea typeface="微软雅黑 Light" panose="020B0502040204020203" pitchFamily="34" charset="-122"/>
                </a:rPr>
                <a:t>LISTEN(</a:t>
              </a:r>
              <a:r>
                <a:rPr lang="zh-CN" altLang="en-US" sz="1400">
                  <a:solidFill>
                    <a:srgbClr val="000000"/>
                  </a:solidFill>
                  <a:latin typeface="+mn-lt"/>
                  <a:ea typeface="微软雅黑 Light" panose="020B0502040204020203" pitchFamily="34" charset="-122"/>
                </a:rPr>
                <a:t>被动打开</a:t>
              </a:r>
              <a:r>
                <a:rPr lang="en-US" altLang="zh-CN" sz="1400">
                  <a:solidFill>
                    <a:srgbClr val="000000"/>
                  </a:solidFill>
                  <a:latin typeface="+mn-lt"/>
                  <a:ea typeface="微软雅黑 Light" panose="020B0502040204020203" pitchFamily="34" charset="-122"/>
                </a:rPr>
                <a:t>)</a:t>
              </a:r>
              <a:endParaRPr lang="en-US" altLang="zh-CN" sz="1400">
                <a:latin typeface="+mn-lt"/>
                <a:ea typeface="微软雅黑 Light" panose="020B0502040204020203" pitchFamily="34" charset="-122"/>
              </a:endParaRPr>
            </a:p>
          </p:txBody>
        </p:sp>
        <p:sp>
          <p:nvSpPr>
            <p:cNvPr id="345323" name="Rectangle 235"/>
            <p:cNvSpPr>
              <a:spLocks noChangeArrowheads="1"/>
            </p:cNvSpPr>
            <p:nvPr/>
          </p:nvSpPr>
          <p:spPr bwMode="auto">
            <a:xfrm>
              <a:off x="4957763" y="3933825"/>
              <a:ext cx="22098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zh-CN" sz="1800">
                  <a:solidFill>
                    <a:srgbClr val="000000"/>
                  </a:solidFill>
                  <a:latin typeface="+mn-lt"/>
                  <a:ea typeface="微软雅黑 Light" panose="020B0502040204020203" pitchFamily="34" charset="-122"/>
                </a:rPr>
                <a:t>(</a:t>
              </a:r>
              <a:r>
                <a:rPr lang="zh-CN" altLang="en-US" sz="1800">
                  <a:solidFill>
                    <a:srgbClr val="000000"/>
                  </a:solidFill>
                  <a:latin typeface="+mn-lt"/>
                  <a:ea typeface="微软雅黑 Light" panose="020B0502040204020203" pitchFamily="34" charset="-122"/>
                </a:rPr>
                <a:t>全双工数据传送阶段</a:t>
              </a:r>
              <a:r>
                <a:rPr lang="en-US" altLang="zh-CN" sz="1800">
                  <a:solidFill>
                    <a:srgbClr val="000000"/>
                  </a:solidFill>
                  <a:latin typeface="+mn-lt"/>
                  <a:ea typeface="微软雅黑 Light" panose="020B0502040204020203" pitchFamily="34" charset="-122"/>
                </a:rPr>
                <a:t>)</a:t>
              </a:r>
              <a:endParaRPr lang="en-US" altLang="zh-CN" sz="1800">
                <a:latin typeface="+mn-lt"/>
                <a:ea typeface="微软雅黑 Light" panose="020B0502040204020203" pitchFamily="34" charset="-122"/>
              </a:endParaRPr>
            </a:p>
          </p:txBody>
        </p:sp>
        <p:sp>
          <p:nvSpPr>
            <p:cNvPr id="345328" name="Rectangle 240"/>
            <p:cNvSpPr>
              <a:spLocks noChangeArrowheads="1"/>
            </p:cNvSpPr>
            <p:nvPr/>
          </p:nvSpPr>
          <p:spPr bwMode="auto">
            <a:xfrm>
              <a:off x="2582704" y="4221163"/>
              <a:ext cx="188769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a:r>
                <a:rPr lang="en-US" altLang="zh-CN" sz="1400">
                  <a:solidFill>
                    <a:srgbClr val="000000"/>
                  </a:solidFill>
                  <a:latin typeface="+mn-lt"/>
                  <a:ea typeface="微软雅黑 Light" panose="020B0502040204020203" pitchFamily="34" charset="-122"/>
                </a:rPr>
                <a:t>(</a:t>
              </a:r>
              <a:r>
                <a:rPr lang="zh-CN" altLang="en-US" sz="1400">
                  <a:solidFill>
                    <a:srgbClr val="000000"/>
                  </a:solidFill>
                  <a:latin typeface="+mn-lt"/>
                  <a:ea typeface="微软雅黑 Light" panose="020B0502040204020203" pitchFamily="34" charset="-122"/>
                </a:rPr>
                <a:t>主动关闭</a:t>
              </a:r>
              <a:r>
                <a:rPr lang="en-US" altLang="zh-CN" sz="1400">
                  <a:solidFill>
                    <a:srgbClr val="000000"/>
                  </a:solidFill>
                  <a:latin typeface="+mn-lt"/>
                  <a:ea typeface="微软雅黑 Light" panose="020B0502040204020203" pitchFamily="34" charset="-122"/>
                </a:rPr>
                <a:t>)</a:t>
              </a:r>
              <a:r>
                <a:rPr lang="en-US" altLang="zh-CN" sz="1400">
                  <a:latin typeface="+mn-lt"/>
                  <a:ea typeface="微软雅黑 Light" panose="020B0502040204020203" pitchFamily="34" charset="-122"/>
                </a:rPr>
                <a:t> </a:t>
              </a:r>
              <a:r>
                <a:rPr lang="en-US" altLang="zh-CN" sz="1400">
                  <a:solidFill>
                    <a:srgbClr val="000000"/>
                  </a:solidFill>
                  <a:latin typeface="+mn-lt"/>
                  <a:ea typeface="微软雅黑 Light" panose="020B0502040204020203" pitchFamily="34" charset="-122"/>
                </a:rPr>
                <a:t>FIN_WAIT_1</a:t>
              </a:r>
            </a:p>
          </p:txBody>
        </p:sp>
        <p:sp>
          <p:nvSpPr>
            <p:cNvPr id="345377" name="Rectangle 289"/>
            <p:cNvSpPr>
              <a:spLocks noChangeArrowheads="1"/>
            </p:cNvSpPr>
            <p:nvPr/>
          </p:nvSpPr>
          <p:spPr bwMode="auto">
            <a:xfrm>
              <a:off x="4147842" y="1125538"/>
              <a:ext cx="718145"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zh-CN" altLang="en-US" sz="1400">
                  <a:solidFill>
                    <a:srgbClr val="000000"/>
                  </a:solidFill>
                  <a:latin typeface="+mn-lt"/>
                  <a:ea typeface="微软雅黑 Light" panose="020B0502040204020203" pitchFamily="34" charset="-122"/>
                </a:rPr>
                <a:t>客户进程</a:t>
              </a:r>
              <a:endParaRPr lang="zh-CN" altLang="en-US" sz="1400">
                <a:latin typeface="+mn-lt"/>
                <a:ea typeface="微软雅黑 Light" panose="020B0502040204020203" pitchFamily="34" charset="-122"/>
              </a:endParaRPr>
            </a:p>
          </p:txBody>
        </p:sp>
        <p:sp>
          <p:nvSpPr>
            <p:cNvPr id="345378" name="Rectangle 290"/>
            <p:cNvSpPr>
              <a:spLocks noChangeArrowheads="1"/>
            </p:cNvSpPr>
            <p:nvPr/>
          </p:nvSpPr>
          <p:spPr bwMode="auto">
            <a:xfrm>
              <a:off x="7099722" y="1125538"/>
              <a:ext cx="89768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zh-CN" altLang="en-US" sz="1400" dirty="0">
                  <a:solidFill>
                    <a:srgbClr val="000000"/>
                  </a:solidFill>
                  <a:latin typeface="+mn-lt"/>
                  <a:ea typeface="微软雅黑 Light" panose="020B0502040204020203" pitchFamily="34" charset="-122"/>
                </a:rPr>
                <a:t>服务器进程</a:t>
              </a:r>
              <a:endParaRPr lang="zh-CN" altLang="en-US" sz="1400" dirty="0">
                <a:latin typeface="+mn-lt"/>
                <a:ea typeface="微软雅黑 Light" panose="020B0502040204020203" pitchFamily="34" charset="-122"/>
              </a:endParaRPr>
            </a:p>
          </p:txBody>
        </p:sp>
        <p:sp>
          <p:nvSpPr>
            <p:cNvPr id="345381" name="Rectangle 293"/>
            <p:cNvSpPr>
              <a:spLocks noChangeArrowheads="1"/>
            </p:cNvSpPr>
            <p:nvPr/>
          </p:nvSpPr>
          <p:spPr bwMode="auto">
            <a:xfrm>
              <a:off x="7650164" y="2420938"/>
              <a:ext cx="94897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a:solidFill>
                    <a:srgbClr val="000000"/>
                  </a:solidFill>
                  <a:latin typeface="+mn-lt"/>
                  <a:ea typeface="微软雅黑 Light" panose="020B0502040204020203" pitchFamily="34" charset="-122"/>
                </a:rPr>
                <a:t>SYN_RCVD</a:t>
              </a:r>
              <a:endParaRPr lang="en-US" altLang="zh-CN" sz="1400">
                <a:latin typeface="+mn-lt"/>
                <a:ea typeface="微软雅黑 Light" panose="020B0502040204020203" pitchFamily="34" charset="-122"/>
              </a:endParaRPr>
            </a:p>
          </p:txBody>
        </p:sp>
        <p:sp>
          <p:nvSpPr>
            <p:cNvPr id="345382" name="Rectangle 294"/>
            <p:cNvSpPr>
              <a:spLocks noChangeArrowheads="1"/>
            </p:cNvSpPr>
            <p:nvPr/>
          </p:nvSpPr>
          <p:spPr bwMode="auto">
            <a:xfrm>
              <a:off x="7650164" y="3503613"/>
              <a:ext cx="1189493"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a:solidFill>
                    <a:srgbClr val="000000"/>
                  </a:solidFill>
                  <a:latin typeface="+mn-lt"/>
                  <a:ea typeface="微软雅黑 Light" panose="020B0502040204020203" pitchFamily="34" charset="-122"/>
                </a:rPr>
                <a:t>ESTABLISHED</a:t>
              </a:r>
              <a:endParaRPr lang="en-US" altLang="zh-CN" sz="1400">
                <a:latin typeface="+mn-lt"/>
                <a:ea typeface="微软雅黑 Light" panose="020B0502040204020203" pitchFamily="34" charset="-122"/>
              </a:endParaRPr>
            </a:p>
          </p:txBody>
        </p:sp>
        <p:sp>
          <p:nvSpPr>
            <p:cNvPr id="345383" name="Rectangle 295"/>
            <p:cNvSpPr>
              <a:spLocks noChangeArrowheads="1"/>
            </p:cNvSpPr>
            <p:nvPr/>
          </p:nvSpPr>
          <p:spPr bwMode="auto">
            <a:xfrm>
              <a:off x="3280907" y="2997200"/>
              <a:ext cx="1189493"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a:r>
                <a:rPr lang="en-US" altLang="zh-CN" sz="1400">
                  <a:solidFill>
                    <a:srgbClr val="000000"/>
                  </a:solidFill>
                  <a:latin typeface="+mn-lt"/>
                  <a:ea typeface="微软雅黑 Light" panose="020B0502040204020203" pitchFamily="34" charset="-122"/>
                </a:rPr>
                <a:t>ESTABLISHED</a:t>
              </a:r>
              <a:endParaRPr lang="en-US" altLang="zh-CN" sz="1400">
                <a:latin typeface="+mn-lt"/>
                <a:ea typeface="微软雅黑 Light" panose="020B0502040204020203" pitchFamily="34" charset="-122"/>
              </a:endParaRPr>
            </a:p>
          </p:txBody>
        </p:sp>
        <p:sp>
          <p:nvSpPr>
            <p:cNvPr id="345384" name="Rectangle 296"/>
            <p:cNvSpPr>
              <a:spLocks noChangeArrowheads="1"/>
            </p:cNvSpPr>
            <p:nvPr/>
          </p:nvSpPr>
          <p:spPr bwMode="auto">
            <a:xfrm>
              <a:off x="2737554" y="2205038"/>
              <a:ext cx="1732847"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a:r>
                <a:rPr lang="en-US" altLang="zh-CN" sz="1400" dirty="0">
                  <a:solidFill>
                    <a:srgbClr val="000000"/>
                  </a:solidFill>
                  <a:latin typeface="+mn-lt"/>
                  <a:ea typeface="微软雅黑 Light" panose="020B0502040204020203" pitchFamily="34" charset="-122"/>
                </a:rPr>
                <a:t>(</a:t>
              </a:r>
              <a:r>
                <a:rPr lang="zh-CN" altLang="en-US" sz="1400" dirty="0">
                  <a:solidFill>
                    <a:srgbClr val="000000"/>
                  </a:solidFill>
                  <a:latin typeface="+mn-lt"/>
                  <a:ea typeface="微软雅黑 Light" panose="020B0502040204020203" pitchFamily="34" charset="-122"/>
                </a:rPr>
                <a:t>主动打开</a:t>
              </a:r>
              <a:r>
                <a:rPr lang="en-US" altLang="zh-CN" sz="1400" dirty="0">
                  <a:solidFill>
                    <a:srgbClr val="000000"/>
                  </a:solidFill>
                  <a:latin typeface="+mn-lt"/>
                  <a:ea typeface="微软雅黑 Light" panose="020B0502040204020203" pitchFamily="34" charset="-122"/>
                </a:rPr>
                <a:t>)SYN_SENT</a:t>
              </a:r>
              <a:endParaRPr lang="en-US" altLang="zh-CN" sz="1400" dirty="0">
                <a:latin typeface="+mn-lt"/>
                <a:ea typeface="微软雅黑 Light" panose="020B0502040204020203" pitchFamily="34" charset="-122"/>
              </a:endParaRPr>
            </a:p>
          </p:txBody>
        </p:sp>
        <p:sp>
          <p:nvSpPr>
            <p:cNvPr id="345385" name="Rectangle 297"/>
            <p:cNvSpPr>
              <a:spLocks noChangeArrowheads="1"/>
            </p:cNvSpPr>
            <p:nvPr/>
          </p:nvSpPr>
          <p:spPr bwMode="auto">
            <a:xfrm>
              <a:off x="3464355" y="5013325"/>
              <a:ext cx="100604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a:r>
                <a:rPr lang="en-US" altLang="zh-CN" sz="1400">
                  <a:solidFill>
                    <a:srgbClr val="000000"/>
                  </a:solidFill>
                  <a:latin typeface="+mn-lt"/>
                  <a:ea typeface="微软雅黑 Light" panose="020B0502040204020203" pitchFamily="34" charset="-122"/>
                </a:rPr>
                <a:t>FIN_WAIT_2</a:t>
              </a:r>
            </a:p>
          </p:txBody>
        </p:sp>
        <p:sp>
          <p:nvSpPr>
            <p:cNvPr id="345386" name="Rectangle 298"/>
            <p:cNvSpPr>
              <a:spLocks noChangeArrowheads="1"/>
            </p:cNvSpPr>
            <p:nvPr/>
          </p:nvSpPr>
          <p:spPr bwMode="auto">
            <a:xfrm>
              <a:off x="3494812" y="5516563"/>
              <a:ext cx="97558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a:r>
                <a:rPr lang="en-US" altLang="zh-CN" sz="1400">
                  <a:solidFill>
                    <a:srgbClr val="000000"/>
                  </a:solidFill>
                  <a:latin typeface="+mn-lt"/>
                  <a:ea typeface="微软雅黑 Light" panose="020B0502040204020203" pitchFamily="34" charset="-122"/>
                </a:rPr>
                <a:t>TIME_WAIT</a:t>
              </a:r>
            </a:p>
          </p:txBody>
        </p:sp>
        <p:sp>
          <p:nvSpPr>
            <p:cNvPr id="345388" name="Rectangle 300"/>
            <p:cNvSpPr>
              <a:spLocks noChangeArrowheads="1"/>
            </p:cNvSpPr>
            <p:nvPr/>
          </p:nvSpPr>
          <p:spPr bwMode="auto">
            <a:xfrm>
              <a:off x="7650164" y="4437063"/>
              <a:ext cx="19421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a:solidFill>
                    <a:srgbClr val="000000"/>
                  </a:solidFill>
                  <a:latin typeface="+mn-lt"/>
                  <a:ea typeface="微软雅黑 Light" panose="020B0502040204020203" pitchFamily="34" charset="-122"/>
                </a:rPr>
                <a:t>CLOSE_WAIT(</a:t>
              </a:r>
              <a:r>
                <a:rPr lang="zh-CN" altLang="en-US" sz="1400">
                  <a:solidFill>
                    <a:srgbClr val="000000"/>
                  </a:solidFill>
                  <a:latin typeface="+mn-lt"/>
                  <a:ea typeface="微软雅黑 Light" panose="020B0502040204020203" pitchFamily="34" charset="-122"/>
                </a:rPr>
                <a:t>被动关闭</a:t>
              </a:r>
              <a:r>
                <a:rPr lang="en-US" altLang="zh-CN" sz="1400">
                  <a:solidFill>
                    <a:srgbClr val="000000"/>
                  </a:solidFill>
                  <a:latin typeface="+mn-lt"/>
                  <a:ea typeface="微软雅黑 Light" panose="020B0502040204020203" pitchFamily="34" charset="-122"/>
                </a:rPr>
                <a:t>)</a:t>
              </a:r>
              <a:endParaRPr lang="en-US" altLang="zh-CN" sz="1400">
                <a:latin typeface="+mn-lt"/>
                <a:ea typeface="微软雅黑 Light" panose="020B0502040204020203" pitchFamily="34" charset="-122"/>
              </a:endParaRPr>
            </a:p>
          </p:txBody>
        </p:sp>
        <p:sp>
          <p:nvSpPr>
            <p:cNvPr id="345389" name="Rectangle 301"/>
            <p:cNvSpPr>
              <a:spLocks noChangeArrowheads="1"/>
            </p:cNvSpPr>
            <p:nvPr/>
          </p:nvSpPr>
          <p:spPr bwMode="auto">
            <a:xfrm>
              <a:off x="7650164" y="5303838"/>
              <a:ext cx="91691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a:solidFill>
                    <a:srgbClr val="000000"/>
                  </a:solidFill>
                  <a:latin typeface="+mn-lt"/>
                  <a:ea typeface="微软雅黑 Light" panose="020B0502040204020203" pitchFamily="34" charset="-122"/>
                </a:rPr>
                <a:t>LAST_ACK</a:t>
              </a:r>
              <a:endParaRPr lang="en-US" altLang="zh-CN" sz="1400">
                <a:latin typeface="+mn-lt"/>
                <a:ea typeface="微软雅黑 Light" panose="020B0502040204020203" pitchFamily="34" charset="-122"/>
              </a:endParaRPr>
            </a:p>
          </p:txBody>
        </p:sp>
        <p:sp>
          <p:nvSpPr>
            <p:cNvPr id="345390" name="Rectangle 302"/>
            <p:cNvSpPr>
              <a:spLocks noChangeArrowheads="1"/>
            </p:cNvSpPr>
            <p:nvPr/>
          </p:nvSpPr>
          <p:spPr bwMode="auto">
            <a:xfrm>
              <a:off x="7650164" y="6096000"/>
              <a:ext cx="697307"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a:solidFill>
                    <a:srgbClr val="000000"/>
                  </a:solidFill>
                  <a:latin typeface="+mn-lt"/>
                  <a:ea typeface="微软雅黑 Light" panose="020B0502040204020203" pitchFamily="34" charset="-122"/>
                </a:rPr>
                <a:t>CLOSED</a:t>
              </a:r>
              <a:endParaRPr lang="en-US" altLang="zh-CN" sz="1400">
                <a:latin typeface="+mn-lt"/>
                <a:ea typeface="微软雅黑 Light" panose="020B0502040204020203" pitchFamily="34" charset="-122"/>
              </a:endParaRPr>
            </a:p>
          </p:txBody>
        </p:sp>
        <p:sp>
          <p:nvSpPr>
            <p:cNvPr id="345391" name="Rectangle 303"/>
            <p:cNvSpPr>
              <a:spLocks noChangeArrowheads="1"/>
            </p:cNvSpPr>
            <p:nvPr/>
          </p:nvSpPr>
          <p:spPr bwMode="auto">
            <a:xfrm>
              <a:off x="5598594" y="2205038"/>
              <a:ext cx="92813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zh-CN" sz="1400" dirty="0">
                  <a:solidFill>
                    <a:srgbClr val="000000"/>
                  </a:solidFill>
                  <a:latin typeface="+mn-lt"/>
                  <a:ea typeface="微软雅黑 Light" panose="020B0502040204020203" pitchFamily="34" charset="-122"/>
                </a:rPr>
                <a:t>SYN.SEQ=x</a:t>
              </a:r>
              <a:endParaRPr lang="en-US" altLang="zh-CN" sz="1400" dirty="0">
                <a:latin typeface="+mn-lt"/>
                <a:ea typeface="微软雅黑 Light" panose="020B0502040204020203" pitchFamily="34" charset="-122"/>
              </a:endParaRPr>
            </a:p>
          </p:txBody>
        </p:sp>
        <p:sp>
          <p:nvSpPr>
            <p:cNvPr id="345392" name="Rectangle 304"/>
            <p:cNvSpPr>
              <a:spLocks noChangeArrowheads="1"/>
            </p:cNvSpPr>
            <p:nvPr/>
          </p:nvSpPr>
          <p:spPr bwMode="auto">
            <a:xfrm>
              <a:off x="5183088" y="2636838"/>
              <a:ext cx="176073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zh-CN" sz="1400">
                  <a:solidFill>
                    <a:srgbClr val="000000"/>
                  </a:solidFill>
                  <a:latin typeface="+mn-lt"/>
                  <a:ea typeface="微软雅黑 Light" panose="020B0502040204020203" pitchFamily="34" charset="-122"/>
                </a:rPr>
                <a:t>SYN.SEQ=y, ACK=x+1</a:t>
              </a:r>
              <a:endParaRPr lang="en-US" altLang="zh-CN" sz="1400">
                <a:latin typeface="+mn-lt"/>
                <a:ea typeface="微软雅黑 Light" panose="020B0502040204020203" pitchFamily="34" charset="-122"/>
              </a:endParaRPr>
            </a:p>
          </p:txBody>
        </p:sp>
        <p:sp>
          <p:nvSpPr>
            <p:cNvPr id="345393" name="Rectangle 305"/>
            <p:cNvSpPr>
              <a:spLocks noChangeArrowheads="1"/>
            </p:cNvSpPr>
            <p:nvPr/>
          </p:nvSpPr>
          <p:spPr bwMode="auto">
            <a:xfrm>
              <a:off x="5679538" y="3216275"/>
              <a:ext cx="76783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zh-CN" sz="1400">
                  <a:solidFill>
                    <a:srgbClr val="000000"/>
                  </a:solidFill>
                  <a:latin typeface="+mn-lt"/>
                  <a:ea typeface="微软雅黑 Light" panose="020B0502040204020203" pitchFamily="34" charset="-122"/>
                </a:rPr>
                <a:t>ACK=y+1</a:t>
              </a:r>
              <a:endParaRPr lang="en-US" altLang="zh-CN" sz="1400">
                <a:latin typeface="+mn-lt"/>
                <a:ea typeface="微软雅黑 Light" panose="020B0502040204020203" pitchFamily="34" charset="-122"/>
              </a:endParaRPr>
            </a:p>
          </p:txBody>
        </p:sp>
        <p:sp>
          <p:nvSpPr>
            <p:cNvPr id="345394" name="Rectangle 306"/>
            <p:cNvSpPr>
              <a:spLocks noChangeArrowheads="1"/>
            </p:cNvSpPr>
            <p:nvPr/>
          </p:nvSpPr>
          <p:spPr bwMode="auto">
            <a:xfrm>
              <a:off x="5621028" y="4292600"/>
              <a:ext cx="88485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zh-CN" sz="1400">
                  <a:solidFill>
                    <a:srgbClr val="000000"/>
                  </a:solidFill>
                  <a:latin typeface="+mn-lt"/>
                  <a:ea typeface="微软雅黑 Light" panose="020B0502040204020203" pitchFamily="34" charset="-122"/>
                </a:rPr>
                <a:t>FIN.SEQ=u</a:t>
              </a:r>
              <a:endParaRPr lang="en-US" altLang="zh-CN" sz="1400">
                <a:latin typeface="+mn-lt"/>
                <a:ea typeface="微软雅黑 Light" panose="020B0502040204020203" pitchFamily="34" charset="-122"/>
              </a:endParaRPr>
            </a:p>
          </p:txBody>
        </p:sp>
        <p:sp>
          <p:nvSpPr>
            <p:cNvPr id="345395" name="Rectangle 307"/>
            <p:cNvSpPr>
              <a:spLocks noChangeArrowheads="1"/>
            </p:cNvSpPr>
            <p:nvPr/>
          </p:nvSpPr>
          <p:spPr bwMode="auto">
            <a:xfrm>
              <a:off x="5674729" y="4797425"/>
              <a:ext cx="777457"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zh-CN" sz="1400">
                  <a:solidFill>
                    <a:srgbClr val="000000"/>
                  </a:solidFill>
                  <a:latin typeface="+mn-lt"/>
                  <a:ea typeface="微软雅黑 Light" panose="020B0502040204020203" pitchFamily="34" charset="-122"/>
                </a:rPr>
                <a:t>ACK=u+1</a:t>
              </a:r>
              <a:endParaRPr lang="en-US" altLang="zh-CN" sz="1400">
                <a:latin typeface="+mn-lt"/>
                <a:ea typeface="微软雅黑 Light" panose="020B0502040204020203" pitchFamily="34" charset="-122"/>
              </a:endParaRPr>
            </a:p>
          </p:txBody>
        </p:sp>
        <p:sp>
          <p:nvSpPr>
            <p:cNvPr id="345396" name="Rectangle 308"/>
            <p:cNvSpPr>
              <a:spLocks noChangeArrowheads="1"/>
            </p:cNvSpPr>
            <p:nvPr/>
          </p:nvSpPr>
          <p:spPr bwMode="auto">
            <a:xfrm>
              <a:off x="5216630" y="5229225"/>
              <a:ext cx="1692065"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zh-CN" sz="1400">
                  <a:solidFill>
                    <a:srgbClr val="000000"/>
                  </a:solidFill>
                  <a:latin typeface="+mn-lt"/>
                  <a:ea typeface="微软雅黑 Light" panose="020B0502040204020203" pitchFamily="34" charset="-122"/>
                </a:rPr>
                <a:t>FIN.SEQ=v, ACK=u+1</a:t>
              </a:r>
              <a:endParaRPr lang="en-US" altLang="zh-CN" sz="1400">
                <a:latin typeface="+mn-lt"/>
                <a:ea typeface="微软雅黑 Light" panose="020B0502040204020203" pitchFamily="34" charset="-122"/>
              </a:endParaRPr>
            </a:p>
          </p:txBody>
        </p:sp>
        <p:sp>
          <p:nvSpPr>
            <p:cNvPr id="345397" name="Rectangle 309"/>
            <p:cNvSpPr>
              <a:spLocks noChangeArrowheads="1"/>
            </p:cNvSpPr>
            <p:nvPr/>
          </p:nvSpPr>
          <p:spPr bwMode="auto">
            <a:xfrm>
              <a:off x="5679538" y="5876925"/>
              <a:ext cx="76783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zh-CN" sz="1400">
                  <a:solidFill>
                    <a:srgbClr val="000000"/>
                  </a:solidFill>
                  <a:latin typeface="+mn-lt"/>
                  <a:ea typeface="微软雅黑 Light" panose="020B0502040204020203" pitchFamily="34" charset="-122"/>
                </a:rPr>
                <a:t>ACK=v+1</a:t>
              </a:r>
              <a:endParaRPr lang="en-US" altLang="zh-CN" sz="1400">
                <a:latin typeface="+mn-lt"/>
                <a:ea typeface="微软雅黑 Light" panose="020B0502040204020203" pitchFamily="34" charset="-122"/>
              </a:endParaRPr>
            </a:p>
          </p:txBody>
        </p:sp>
        <p:pic>
          <p:nvPicPr>
            <p:cNvPr id="65" name="图形 64"/>
            <p:cNvPicPr>
              <a:picLocks noChangeAspect="1"/>
            </p:cNvPicPr>
            <p:nvPr/>
          </p:nvPicPr>
          <p:blipFill>
            <a:blip r:embed="rId2"/>
            <a:stretch>
              <a:fillRect/>
            </a:stretch>
          </p:blipFill>
          <p:spPr>
            <a:xfrm>
              <a:off x="4140634" y="1474391"/>
              <a:ext cx="600874" cy="454948"/>
            </a:xfrm>
            <a:prstGeom prst="rect">
              <a:avLst/>
            </a:prstGeom>
          </p:spPr>
        </p:pic>
        <p:pic>
          <p:nvPicPr>
            <p:cNvPr id="67" name="图形 66"/>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83588" y="1332877"/>
              <a:ext cx="704549" cy="617209"/>
            </a:xfrm>
            <a:prstGeom prst="rect">
              <a:avLst/>
            </a:prstGeom>
          </p:spPr>
        </p:pic>
      </p:gr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TCP</a:t>
            </a:r>
            <a:r>
              <a:rPr lang="zh-CN" altLang="en-US" dirty="0"/>
              <a:t>拥塞控制原理</a:t>
            </a:r>
          </a:p>
        </p:txBody>
      </p:sp>
      <p:sp>
        <p:nvSpPr>
          <p:cNvPr id="3" name="内容占位符 2"/>
          <p:cNvSpPr>
            <a:spLocks noGrp="1"/>
          </p:cNvSpPr>
          <p:nvPr>
            <p:ph idx="1"/>
          </p:nvPr>
        </p:nvSpPr>
        <p:spPr>
          <a:xfrm>
            <a:off x="334433" y="3501009"/>
            <a:ext cx="11523133" cy="3019534"/>
          </a:xfrm>
        </p:spPr>
        <p:txBody>
          <a:bodyPr>
            <a:normAutofit/>
          </a:bodyPr>
          <a:lstStyle/>
          <a:p>
            <a:r>
              <a:rPr lang="zh-CN" altLang="en-US" dirty="0">
                <a:latin typeface="微软雅黑 Light" panose="020B0502040204020203" pitchFamily="34" charset="-122"/>
                <a:ea typeface="微软雅黑 Light" panose="020B0502040204020203" pitchFamily="34" charset="-122"/>
              </a:rPr>
              <a:t>报文段守恒原则</a:t>
            </a:r>
            <a:endParaRPr lang="en-US" altLang="zh-CN" dirty="0">
              <a:latin typeface="微软雅黑 Light" panose="020B0502040204020203" pitchFamily="34" charset="-122"/>
              <a:ea typeface="微软雅黑 Light" panose="020B0502040204020203" pitchFamily="34" charset="-122"/>
            </a:endParaRPr>
          </a:p>
          <a:p>
            <a:pPr lvl="1"/>
            <a:r>
              <a:rPr lang="zh-CN" altLang="en-US" dirty="0">
                <a:latin typeface="微软雅黑 Light" panose="020B0502040204020203" pitchFamily="34" charset="-122"/>
                <a:ea typeface="微软雅黑 Light" panose="020B0502040204020203" pitchFamily="34" charset="-122"/>
              </a:rPr>
              <a:t>每个用户都能确定网络中有多少可用容量，以便知道可以有效传输多少报文段</a:t>
            </a:r>
            <a:endParaRPr lang="en-US" altLang="zh-CN" dirty="0">
              <a:latin typeface="微软雅黑 Light" panose="020B0502040204020203" pitchFamily="34" charset="-122"/>
              <a:ea typeface="微软雅黑 Light" panose="020B0502040204020203" pitchFamily="34" charset="-122"/>
            </a:endParaRPr>
          </a:p>
          <a:p>
            <a:pPr lvl="1"/>
            <a:r>
              <a:rPr lang="zh-CN" altLang="en-US" dirty="0">
                <a:latin typeface="微软雅黑 Light" panose="020B0502040204020203" pitchFamily="34" charset="-122"/>
                <a:ea typeface="微软雅黑 Light" panose="020B0502040204020203" pitchFamily="34" charset="-122"/>
              </a:rPr>
              <a:t>防止过多的报文段注入网络，使网络中的路由器或者链路不至于过载</a:t>
            </a:r>
            <a:endParaRPr lang="en-US" altLang="zh-CN" dirty="0">
              <a:latin typeface="微软雅黑 Light" panose="020B0502040204020203" pitchFamily="34" charset="-122"/>
              <a:ea typeface="微软雅黑 Light" panose="020B0502040204020203" pitchFamily="34" charset="-122"/>
            </a:endParaRPr>
          </a:p>
          <a:p>
            <a:pPr lvl="1"/>
            <a:r>
              <a:rPr lang="zh-CN" altLang="en-US" dirty="0">
                <a:latin typeface="微软雅黑 Light" panose="020B0502040204020203" pitchFamily="34" charset="-122"/>
                <a:ea typeface="微软雅黑 Light" panose="020B0502040204020203" pitchFamily="34" charset="-122"/>
              </a:rPr>
              <a:t>在网络中发生拥塞时，减少向网络中发送数据的速率，以防止造成恶性循环</a:t>
            </a:r>
            <a:endParaRPr lang="en-US" altLang="zh-CN" dirty="0">
              <a:latin typeface="微软雅黑 Light" panose="020B0502040204020203" pitchFamily="34" charset="-122"/>
              <a:ea typeface="微软雅黑 Light" panose="020B0502040204020203" pitchFamily="34" charset="-122"/>
            </a:endParaRPr>
          </a:p>
          <a:p>
            <a:pPr lvl="1"/>
            <a:r>
              <a:rPr lang="zh-CN" altLang="en-US" dirty="0">
                <a:latin typeface="微软雅黑 Light" panose="020B0502040204020203" pitchFamily="34" charset="-122"/>
                <a:ea typeface="微软雅黑 Light" panose="020B0502040204020203" pitchFamily="34" charset="-122"/>
              </a:rPr>
              <a:t>在网络空闲时，提高发送数据的速率，以最大限度地利用网络资源</a:t>
            </a:r>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t>69</a:t>
            </a:fld>
            <a:endParaRPr lang="en-US" altLang="zh-CN" dirty="0"/>
          </a:p>
        </p:txBody>
      </p:sp>
      <p:pic>
        <p:nvPicPr>
          <p:cNvPr id="6" name="图片 5"/>
          <p:cNvPicPr>
            <a:picLocks noChangeAspect="1"/>
          </p:cNvPicPr>
          <p:nvPr/>
        </p:nvPicPr>
        <p:blipFill>
          <a:blip r:embed="rId2"/>
          <a:stretch>
            <a:fillRect/>
          </a:stretch>
        </p:blipFill>
        <p:spPr>
          <a:xfrm>
            <a:off x="2159397" y="1002732"/>
            <a:ext cx="7873205" cy="2339053"/>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拥塞控制方式</a:t>
            </a:r>
          </a:p>
        </p:txBody>
      </p:sp>
      <p:sp>
        <p:nvSpPr>
          <p:cNvPr id="3" name="内容占位符 2"/>
          <p:cNvSpPr>
            <a:spLocks noGrp="1"/>
          </p:cNvSpPr>
          <p:nvPr>
            <p:ph idx="1"/>
          </p:nvPr>
        </p:nvSpPr>
        <p:spPr/>
        <p:txBody>
          <a:bodyPr/>
          <a:lstStyle/>
          <a:p>
            <a:pPr>
              <a:lnSpc>
                <a:spcPct val="120000"/>
              </a:lnSpc>
            </a:pPr>
            <a:r>
              <a:rPr lang="zh-CN" altLang="en-US" dirty="0"/>
              <a:t>端到端的拥塞控制</a:t>
            </a:r>
            <a:endParaRPr lang="en-US" altLang="zh-CN" dirty="0"/>
          </a:p>
          <a:p>
            <a:pPr lvl="1">
              <a:lnSpc>
                <a:spcPct val="120000"/>
              </a:lnSpc>
            </a:pPr>
            <a:r>
              <a:rPr lang="zh-CN" altLang="en-US" dirty="0"/>
              <a:t>端到端拥塞控制由发送方自己来判断是否拥塞，然后调整数据发送速率</a:t>
            </a:r>
            <a:endParaRPr lang="en-US" altLang="zh-CN" dirty="0"/>
          </a:p>
          <a:p>
            <a:pPr>
              <a:lnSpc>
                <a:spcPct val="120000"/>
              </a:lnSpc>
            </a:pPr>
            <a:r>
              <a:rPr lang="zh-CN" altLang="en-US" dirty="0"/>
              <a:t>网络辅助的拥塞控制</a:t>
            </a:r>
            <a:endParaRPr lang="en-US" altLang="zh-CN" dirty="0"/>
          </a:p>
          <a:p>
            <a:pPr lvl="1">
              <a:lnSpc>
                <a:spcPct val="120000"/>
              </a:lnSpc>
            </a:pPr>
            <a:r>
              <a:rPr lang="zh-CN" altLang="en-US" dirty="0"/>
              <a:t>由网络中的路由器来告诉发送方网络的拥塞情况</a:t>
            </a:r>
            <a:endParaRPr lang="en-US" altLang="zh-CN" dirty="0"/>
          </a:p>
          <a:p>
            <a:pPr lvl="1">
              <a:lnSpc>
                <a:spcPct val="120000"/>
              </a:lnSpc>
            </a:pPr>
            <a:r>
              <a:rPr lang="zh-CN" altLang="en-US" dirty="0"/>
              <a:t>通过网络层反馈的拥塞信息来实现拥塞控制的方法</a:t>
            </a:r>
            <a:endParaRPr lang="en-US" altLang="zh-CN" dirty="0"/>
          </a:p>
          <a:p>
            <a:pPr lvl="2">
              <a:lnSpc>
                <a:spcPct val="120000"/>
              </a:lnSpc>
            </a:pPr>
            <a:r>
              <a:rPr lang="zh-CN" altLang="en-US" dirty="0"/>
              <a:t>需要改造底层硬件，以得到网络设备的支持</a:t>
            </a:r>
          </a:p>
          <a:p>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t>70</a:t>
            </a:fld>
            <a:endParaRPr lang="en-US" altLang="zh-CN"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5F11CD09-8BC4-4B61-81C0-1DF6AFC79410}" type="slidenum">
              <a:rPr lang="en-US" altLang="zh-CN"/>
              <a:t>71</a:t>
            </a:fld>
            <a:endParaRPr lang="en-US" altLang="zh-CN"/>
          </a:p>
        </p:txBody>
      </p:sp>
      <p:sp>
        <p:nvSpPr>
          <p:cNvPr id="260098" name="Rectangle 2"/>
          <p:cNvSpPr>
            <a:spLocks noGrp="1" noChangeArrowheads="1"/>
          </p:cNvSpPr>
          <p:nvPr>
            <p:ph type="title"/>
          </p:nvPr>
        </p:nvSpPr>
        <p:spPr/>
        <p:txBody>
          <a:bodyPr/>
          <a:lstStyle/>
          <a:p>
            <a:r>
              <a:rPr lang="zh-CN" altLang="en-US" dirty="0"/>
              <a:t>传输层拥塞控制</a:t>
            </a:r>
          </a:p>
        </p:txBody>
      </p:sp>
      <p:sp>
        <p:nvSpPr>
          <p:cNvPr id="260099" name="Rectangle 3"/>
          <p:cNvSpPr>
            <a:spLocks noGrp="1" noChangeArrowheads="1"/>
          </p:cNvSpPr>
          <p:nvPr>
            <p:ph type="body" idx="1"/>
          </p:nvPr>
        </p:nvSpPr>
        <p:spPr/>
        <p:txBody>
          <a:bodyPr>
            <a:normAutofit/>
          </a:bodyPr>
          <a:lstStyle/>
          <a:p>
            <a:r>
              <a:rPr lang="en-US" altLang="zh-CN" dirty="0"/>
              <a:t>TCP</a:t>
            </a:r>
            <a:r>
              <a:rPr lang="zh-CN" altLang="en-US" dirty="0"/>
              <a:t>拥塞控制有</a:t>
            </a:r>
            <a:r>
              <a:rPr lang="en-US" altLang="zh-CN" dirty="0"/>
              <a:t>4</a:t>
            </a:r>
            <a:r>
              <a:rPr lang="zh-CN" altLang="en-US" dirty="0"/>
              <a:t>种算法：</a:t>
            </a:r>
          </a:p>
          <a:p>
            <a:pPr lvl="1"/>
            <a:r>
              <a:rPr lang="zh-CN" altLang="en-US" dirty="0"/>
              <a:t>慢启动</a:t>
            </a:r>
          </a:p>
          <a:p>
            <a:pPr lvl="1"/>
            <a:r>
              <a:rPr lang="zh-CN" altLang="en-US" dirty="0"/>
              <a:t>拥塞避免</a:t>
            </a:r>
          </a:p>
          <a:p>
            <a:pPr lvl="1"/>
            <a:r>
              <a:rPr lang="zh-CN" altLang="en-US" dirty="0"/>
              <a:t>快速重传</a:t>
            </a:r>
          </a:p>
          <a:p>
            <a:pPr lvl="1"/>
            <a:r>
              <a:rPr lang="zh-CN" altLang="en-US" dirty="0"/>
              <a:t>快速恢复</a:t>
            </a:r>
          </a:p>
          <a:p>
            <a:r>
              <a:rPr lang="zh-CN" altLang="en-US" dirty="0"/>
              <a:t>几个术语</a:t>
            </a:r>
          </a:p>
          <a:p>
            <a:pPr lvl="1"/>
            <a:r>
              <a:rPr lang="zh-CN" altLang="en-US" dirty="0"/>
              <a:t>拥塞窗口</a:t>
            </a:r>
            <a:r>
              <a:rPr lang="en-US" altLang="zh-CN" dirty="0" err="1"/>
              <a:t>cwnd</a:t>
            </a:r>
            <a:r>
              <a:rPr lang="zh-CN" altLang="en-US" dirty="0"/>
              <a:t>：</a:t>
            </a:r>
            <a:r>
              <a:rPr lang="en-US" altLang="zh-CN" dirty="0"/>
              <a:t>TCP</a:t>
            </a:r>
            <a:r>
              <a:rPr lang="zh-CN" altLang="en-US" dirty="0"/>
              <a:t>允许发送的最大数据量</a:t>
            </a:r>
            <a:endParaRPr lang="en-US" altLang="zh-CN" dirty="0"/>
          </a:p>
          <a:p>
            <a:pPr lvl="1"/>
            <a:r>
              <a:rPr lang="zh-CN" altLang="en-US" dirty="0"/>
              <a:t>接收端窗口</a:t>
            </a:r>
            <a:r>
              <a:rPr lang="en-US" altLang="zh-CN" dirty="0" err="1"/>
              <a:t>rwnd</a:t>
            </a:r>
            <a:endParaRPr lang="en-US" altLang="zh-CN" dirty="0"/>
          </a:p>
          <a:p>
            <a:pPr lvl="1"/>
            <a:r>
              <a:rPr lang="zh-CN" altLang="en-US" dirty="0"/>
              <a:t>发送端最大数据段尺寸</a:t>
            </a:r>
            <a:r>
              <a:rPr lang="en-US" altLang="zh-CN" dirty="0"/>
              <a:t>SMSS</a:t>
            </a:r>
          </a:p>
          <a:p>
            <a:pPr lvl="1"/>
            <a:r>
              <a:rPr lang="zh-CN" altLang="en-US" dirty="0"/>
              <a:t>慢启动阀值</a:t>
            </a:r>
            <a:r>
              <a:rPr lang="en-US" altLang="zh-CN" dirty="0" err="1"/>
              <a:t>ssthresh</a:t>
            </a:r>
            <a:endParaRPr lang="en-US" altLang="zh-CN"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C837F8BB-3C5F-4D48-9E24-22BD3379AF2D}" type="slidenum">
              <a:rPr lang="en-US" altLang="zh-CN"/>
              <a:t>72</a:t>
            </a:fld>
            <a:endParaRPr lang="en-US" altLang="zh-CN"/>
          </a:p>
        </p:txBody>
      </p:sp>
      <p:sp>
        <p:nvSpPr>
          <p:cNvPr id="262146" name="Rectangle 2"/>
          <p:cNvSpPr>
            <a:spLocks noGrp="1" noChangeArrowheads="1"/>
          </p:cNvSpPr>
          <p:nvPr>
            <p:ph type="title"/>
          </p:nvPr>
        </p:nvSpPr>
        <p:spPr/>
        <p:txBody>
          <a:bodyPr/>
          <a:lstStyle/>
          <a:p>
            <a:r>
              <a:rPr lang="zh-CN" altLang="en-US"/>
              <a:t>慢启动</a:t>
            </a:r>
          </a:p>
        </p:txBody>
      </p:sp>
      <p:sp>
        <p:nvSpPr>
          <p:cNvPr id="262147" name="Rectangle 3"/>
          <p:cNvSpPr>
            <a:spLocks noGrp="1" noChangeArrowheads="1"/>
          </p:cNvSpPr>
          <p:nvPr>
            <p:ph type="body" idx="1"/>
          </p:nvPr>
        </p:nvSpPr>
        <p:spPr/>
        <p:txBody>
          <a:bodyPr/>
          <a:lstStyle/>
          <a:p>
            <a:r>
              <a:rPr lang="zh-CN" altLang="en-US" dirty="0">
                <a:latin typeface="+mn-lt"/>
              </a:rPr>
              <a:t>在慢启动期间，发送方将初始的</a:t>
            </a:r>
            <a:r>
              <a:rPr lang="en-US" altLang="zh-CN" dirty="0" err="1">
                <a:latin typeface="+mn-lt"/>
              </a:rPr>
              <a:t>cwnd</a:t>
            </a:r>
            <a:r>
              <a:rPr lang="zh-CN" altLang="en-US" dirty="0">
                <a:latin typeface="+mn-lt"/>
              </a:rPr>
              <a:t>设置为</a:t>
            </a:r>
            <a:r>
              <a:rPr lang="en-US" altLang="zh-CN" dirty="0">
                <a:latin typeface="+mn-lt"/>
              </a:rPr>
              <a:t>1</a:t>
            </a:r>
            <a:r>
              <a:rPr lang="zh-CN" altLang="en-US" dirty="0">
                <a:latin typeface="+mn-lt"/>
              </a:rPr>
              <a:t>个</a:t>
            </a:r>
            <a:r>
              <a:rPr lang="en-US" altLang="zh-CN" dirty="0">
                <a:latin typeface="+mn-lt"/>
              </a:rPr>
              <a:t>SMSS</a:t>
            </a:r>
            <a:r>
              <a:rPr lang="zh-CN" altLang="en-US" dirty="0">
                <a:latin typeface="+mn-lt"/>
              </a:rPr>
              <a:t>字节</a:t>
            </a:r>
            <a:endParaRPr lang="en-US" altLang="zh-CN" dirty="0">
              <a:latin typeface="+mn-lt"/>
            </a:endParaRPr>
          </a:p>
          <a:p>
            <a:r>
              <a:rPr lang="zh-CN" altLang="en-US" dirty="0">
                <a:latin typeface="+mn-lt"/>
              </a:rPr>
              <a:t>在第</a:t>
            </a:r>
            <a:r>
              <a:rPr lang="en-US" altLang="zh-CN" dirty="0">
                <a:latin typeface="+mn-lt"/>
              </a:rPr>
              <a:t>1</a:t>
            </a:r>
            <a:r>
              <a:rPr lang="zh-CN" altLang="en-US" dirty="0">
                <a:latin typeface="+mn-lt"/>
              </a:rPr>
              <a:t>个超时周期内没有丢失报文的情况下，</a:t>
            </a:r>
            <a:r>
              <a:rPr lang="en-US" altLang="zh-CN" dirty="0" err="1">
                <a:latin typeface="+mn-lt"/>
              </a:rPr>
              <a:t>cwnd</a:t>
            </a:r>
            <a:r>
              <a:rPr lang="zh-CN" altLang="en-US" dirty="0">
                <a:latin typeface="+mn-lt"/>
              </a:rPr>
              <a:t>设置为</a:t>
            </a:r>
            <a:r>
              <a:rPr lang="en-US" altLang="zh-CN" dirty="0">
                <a:latin typeface="+mn-lt"/>
              </a:rPr>
              <a:t>2</a:t>
            </a:r>
            <a:r>
              <a:rPr lang="zh-CN" altLang="en-US" dirty="0">
                <a:latin typeface="+mn-lt"/>
              </a:rPr>
              <a:t>个</a:t>
            </a:r>
            <a:r>
              <a:rPr lang="en-US" altLang="zh-CN" dirty="0">
                <a:latin typeface="+mn-lt"/>
              </a:rPr>
              <a:t>SMSS</a:t>
            </a:r>
            <a:r>
              <a:rPr lang="zh-CN" altLang="en-US" dirty="0">
                <a:latin typeface="+mn-lt"/>
              </a:rPr>
              <a:t>字节</a:t>
            </a:r>
            <a:endParaRPr lang="en-US" altLang="zh-CN" dirty="0">
              <a:latin typeface="+mn-lt"/>
            </a:endParaRPr>
          </a:p>
          <a:p>
            <a:r>
              <a:rPr lang="zh-CN" altLang="en-US" dirty="0">
                <a:latin typeface="+mn-lt"/>
              </a:rPr>
              <a:t>在第</a:t>
            </a:r>
            <a:r>
              <a:rPr lang="en-US" altLang="zh-CN" dirty="0">
                <a:latin typeface="+mn-lt"/>
              </a:rPr>
              <a:t>2</a:t>
            </a:r>
            <a:r>
              <a:rPr lang="zh-CN" altLang="en-US" dirty="0">
                <a:latin typeface="+mn-lt"/>
              </a:rPr>
              <a:t>个超时周期内没有丢失报文的情况下，</a:t>
            </a:r>
            <a:r>
              <a:rPr lang="en-US" altLang="zh-CN" dirty="0" err="1">
                <a:latin typeface="+mn-lt"/>
              </a:rPr>
              <a:t>cwnd</a:t>
            </a:r>
            <a:r>
              <a:rPr lang="zh-CN" altLang="en-US" dirty="0">
                <a:latin typeface="+mn-lt"/>
              </a:rPr>
              <a:t>设置为</a:t>
            </a:r>
            <a:r>
              <a:rPr lang="en-US" altLang="zh-CN" dirty="0">
                <a:latin typeface="+mn-lt"/>
              </a:rPr>
              <a:t>4</a:t>
            </a:r>
            <a:r>
              <a:rPr lang="zh-CN" altLang="en-US" dirty="0">
                <a:latin typeface="+mn-lt"/>
              </a:rPr>
              <a:t>个</a:t>
            </a:r>
            <a:r>
              <a:rPr lang="en-US" altLang="zh-CN" dirty="0">
                <a:latin typeface="+mn-lt"/>
              </a:rPr>
              <a:t>SMSS</a:t>
            </a:r>
            <a:r>
              <a:rPr lang="zh-CN" altLang="en-US" dirty="0">
                <a:latin typeface="+mn-lt"/>
              </a:rPr>
              <a:t>字节</a:t>
            </a:r>
            <a:endParaRPr lang="en-US" altLang="zh-CN" dirty="0">
              <a:latin typeface="+mn-lt"/>
            </a:endParaRPr>
          </a:p>
          <a:p>
            <a:r>
              <a:rPr lang="zh-CN" altLang="en-US" dirty="0">
                <a:latin typeface="+mn-lt"/>
              </a:rPr>
              <a:t>在第</a:t>
            </a:r>
            <a:r>
              <a:rPr lang="en-US" altLang="zh-CN" dirty="0">
                <a:latin typeface="+mn-lt"/>
              </a:rPr>
              <a:t>3</a:t>
            </a:r>
            <a:r>
              <a:rPr lang="zh-CN" altLang="en-US" dirty="0">
                <a:latin typeface="+mn-lt"/>
              </a:rPr>
              <a:t>个超时周期内没有丢失报文的情况下，</a:t>
            </a:r>
            <a:r>
              <a:rPr lang="en-US" altLang="zh-CN" dirty="0" err="1">
                <a:latin typeface="+mn-lt"/>
              </a:rPr>
              <a:t>cwnd</a:t>
            </a:r>
            <a:r>
              <a:rPr lang="zh-CN" altLang="en-US" dirty="0">
                <a:latin typeface="+mn-lt"/>
              </a:rPr>
              <a:t>设置为</a:t>
            </a:r>
            <a:r>
              <a:rPr lang="en-US" altLang="zh-CN" dirty="0">
                <a:latin typeface="+mn-lt"/>
              </a:rPr>
              <a:t>8</a:t>
            </a:r>
            <a:r>
              <a:rPr lang="zh-CN" altLang="en-US" dirty="0">
                <a:latin typeface="+mn-lt"/>
              </a:rPr>
              <a:t>个</a:t>
            </a:r>
            <a:r>
              <a:rPr lang="en-US" altLang="zh-CN" dirty="0">
                <a:latin typeface="+mn-lt"/>
              </a:rPr>
              <a:t>SMSS</a:t>
            </a:r>
            <a:r>
              <a:rPr lang="zh-CN" altLang="en-US" dirty="0">
                <a:latin typeface="+mn-lt"/>
              </a:rPr>
              <a:t>字节</a:t>
            </a:r>
            <a:endParaRPr lang="en-US" altLang="zh-CN" dirty="0">
              <a:latin typeface="+mn-lt"/>
            </a:endParaRPr>
          </a:p>
          <a:p>
            <a:r>
              <a:rPr lang="zh-CN" altLang="en-US" dirty="0">
                <a:latin typeface="+mn-lt"/>
              </a:rPr>
              <a:t>依此方式，</a:t>
            </a:r>
            <a:r>
              <a:rPr lang="en-US" altLang="zh-CN" dirty="0" err="1">
                <a:latin typeface="+mn-lt"/>
              </a:rPr>
              <a:t>cwnd</a:t>
            </a:r>
            <a:r>
              <a:rPr lang="zh-CN" altLang="en-US" dirty="0">
                <a:latin typeface="+mn-lt"/>
              </a:rPr>
              <a:t>按指数方式增长，直到</a:t>
            </a:r>
            <a:r>
              <a:rPr lang="en-US" altLang="zh-CN" dirty="0" err="1">
                <a:latin typeface="+mn-lt"/>
              </a:rPr>
              <a:t>cwnd</a:t>
            </a:r>
            <a:r>
              <a:rPr lang="zh-CN" altLang="en-US" dirty="0">
                <a:latin typeface="+mn-lt"/>
              </a:rPr>
              <a:t>超过</a:t>
            </a:r>
            <a:r>
              <a:rPr lang="en-US" altLang="zh-CN" dirty="0" err="1">
                <a:latin typeface="+mn-lt"/>
              </a:rPr>
              <a:t>ssthresh</a:t>
            </a:r>
            <a:endParaRPr lang="zh-CN" altLang="en-US" dirty="0">
              <a:latin typeface="+mn-lt"/>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E96CA3B7-471D-45DF-A3DF-550C81AB1605}" type="slidenum">
              <a:rPr lang="en-US" altLang="zh-CN"/>
              <a:t>73</a:t>
            </a:fld>
            <a:endParaRPr lang="en-US" altLang="zh-CN"/>
          </a:p>
        </p:txBody>
      </p:sp>
      <p:sp>
        <p:nvSpPr>
          <p:cNvPr id="263170" name="Rectangle 2"/>
          <p:cNvSpPr>
            <a:spLocks noGrp="1" noChangeArrowheads="1"/>
          </p:cNvSpPr>
          <p:nvPr>
            <p:ph type="title"/>
          </p:nvPr>
        </p:nvSpPr>
        <p:spPr/>
        <p:txBody>
          <a:bodyPr/>
          <a:lstStyle/>
          <a:p>
            <a:r>
              <a:rPr lang="zh-CN" altLang="en-US"/>
              <a:t>拥塞避免</a:t>
            </a:r>
          </a:p>
        </p:txBody>
      </p:sp>
      <p:sp>
        <p:nvSpPr>
          <p:cNvPr id="263171" name="Rectangle 3"/>
          <p:cNvSpPr>
            <a:spLocks noGrp="1" noChangeArrowheads="1"/>
          </p:cNvSpPr>
          <p:nvPr>
            <p:ph type="body" idx="1"/>
          </p:nvPr>
        </p:nvSpPr>
        <p:spPr/>
        <p:txBody>
          <a:bodyPr/>
          <a:lstStyle/>
          <a:p>
            <a:pPr>
              <a:lnSpc>
                <a:spcPct val="120000"/>
              </a:lnSpc>
            </a:pPr>
            <a:r>
              <a:rPr lang="zh-CN" altLang="en-US" dirty="0"/>
              <a:t>当</a:t>
            </a:r>
            <a:r>
              <a:rPr lang="en-US" altLang="zh-CN" dirty="0" err="1"/>
              <a:t>cwnd</a:t>
            </a:r>
            <a:r>
              <a:rPr lang="zh-CN" altLang="en-US" dirty="0"/>
              <a:t>超过</a:t>
            </a:r>
            <a:r>
              <a:rPr lang="en-US" altLang="zh-CN" dirty="0" err="1"/>
              <a:t>ssthresh</a:t>
            </a:r>
            <a:r>
              <a:rPr lang="zh-CN" altLang="en-US" dirty="0"/>
              <a:t>或者当</a:t>
            </a:r>
            <a:r>
              <a:rPr lang="en-US" altLang="zh-CN" dirty="0" err="1"/>
              <a:t>cwnd</a:t>
            </a:r>
            <a:r>
              <a:rPr lang="zh-CN" altLang="en-US" dirty="0"/>
              <a:t>大小达到</a:t>
            </a:r>
            <a:r>
              <a:rPr lang="en-US" altLang="zh-CN" dirty="0" err="1"/>
              <a:t>ssthresh</a:t>
            </a:r>
            <a:r>
              <a:rPr lang="zh-CN" altLang="en-US" dirty="0"/>
              <a:t>的大小，进入拥塞避免期间</a:t>
            </a:r>
          </a:p>
          <a:p>
            <a:pPr>
              <a:lnSpc>
                <a:spcPct val="120000"/>
              </a:lnSpc>
            </a:pPr>
            <a:r>
              <a:rPr lang="zh-CN" altLang="en-US" dirty="0"/>
              <a:t>在拥塞避免期间，在没有丢失报文的情况下，</a:t>
            </a:r>
            <a:r>
              <a:rPr lang="en-US" altLang="zh-CN" dirty="0" err="1"/>
              <a:t>cwnd</a:t>
            </a:r>
            <a:r>
              <a:rPr lang="zh-CN" altLang="en-US" dirty="0"/>
              <a:t>按线性方式增长，即每收到一个</a:t>
            </a:r>
            <a:r>
              <a:rPr lang="en-US" altLang="zh-CN" dirty="0"/>
              <a:t>ACK</a:t>
            </a:r>
            <a:r>
              <a:rPr lang="zh-CN" altLang="en-US" dirty="0"/>
              <a:t>，</a:t>
            </a:r>
            <a:r>
              <a:rPr lang="en-US" altLang="zh-CN" dirty="0" err="1"/>
              <a:t>cwnd</a:t>
            </a:r>
            <a:r>
              <a:rPr lang="zh-CN" altLang="en-US" dirty="0"/>
              <a:t>的大小增加</a:t>
            </a:r>
            <a:r>
              <a:rPr lang="en-US" altLang="zh-CN" dirty="0"/>
              <a:t>1</a:t>
            </a:r>
            <a:r>
              <a:rPr lang="zh-CN" altLang="en-US" dirty="0"/>
              <a:t>个</a:t>
            </a:r>
            <a:r>
              <a:rPr lang="en-US" altLang="zh-CN" dirty="0"/>
              <a:t>SMSS</a:t>
            </a:r>
            <a:r>
              <a:rPr lang="zh-CN" altLang="en-US" dirty="0"/>
              <a:t>字节</a:t>
            </a:r>
          </a:p>
          <a:p>
            <a:pPr>
              <a:lnSpc>
                <a:spcPct val="120000"/>
              </a:lnSpc>
            </a:pPr>
            <a:r>
              <a:rPr lang="zh-CN" altLang="en-US" dirty="0"/>
              <a:t>当检测到数据段丢失时，则将</a:t>
            </a:r>
            <a:r>
              <a:rPr lang="en-US" altLang="zh-CN" dirty="0" err="1"/>
              <a:t>ssthresh</a:t>
            </a:r>
            <a:r>
              <a:rPr lang="zh-CN" altLang="en-US" dirty="0"/>
              <a:t>设置为当前</a:t>
            </a:r>
            <a:r>
              <a:rPr lang="en-US" altLang="zh-CN" dirty="0" err="1"/>
              <a:t>cwnd</a:t>
            </a:r>
            <a:r>
              <a:rPr lang="zh-CN" altLang="en-US" dirty="0"/>
              <a:t>的一半，并重新开始慢启动算法 </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灯片编号占位符 5"/>
          <p:cNvSpPr>
            <a:spLocks noGrp="1"/>
          </p:cNvSpPr>
          <p:nvPr>
            <p:ph type="sldNum" sz="quarter" idx="12"/>
          </p:nvPr>
        </p:nvSpPr>
        <p:spPr/>
        <p:txBody>
          <a:bodyPr/>
          <a:lstStyle/>
          <a:p>
            <a:fld id="{A54906DA-9272-40A8-90A7-4E9D62A6D572}" type="slidenum">
              <a:rPr lang="en-US" altLang="zh-CN"/>
              <a:t>74</a:t>
            </a:fld>
            <a:endParaRPr lang="en-US" altLang="zh-CN"/>
          </a:p>
        </p:txBody>
      </p:sp>
      <p:sp>
        <p:nvSpPr>
          <p:cNvPr id="281602" name="Rectangle 2"/>
          <p:cNvSpPr>
            <a:spLocks noGrp="1" noChangeArrowheads="1"/>
          </p:cNvSpPr>
          <p:nvPr>
            <p:ph type="title"/>
          </p:nvPr>
        </p:nvSpPr>
        <p:spPr/>
        <p:txBody>
          <a:bodyPr/>
          <a:lstStyle/>
          <a:p>
            <a:r>
              <a:rPr lang="zh-CN" altLang="en-US"/>
              <a:t>慢启动和拥塞避免工作过程</a:t>
            </a:r>
          </a:p>
        </p:txBody>
      </p:sp>
      <p:grpSp>
        <p:nvGrpSpPr>
          <p:cNvPr id="2" name="组合 1"/>
          <p:cNvGrpSpPr/>
          <p:nvPr/>
        </p:nvGrpSpPr>
        <p:grpSpPr>
          <a:xfrm>
            <a:off x="1729714" y="1196976"/>
            <a:ext cx="8687461" cy="3960813"/>
            <a:chOff x="1729714" y="1196976"/>
            <a:chExt cx="8687461" cy="3960813"/>
          </a:xfrm>
        </p:grpSpPr>
        <p:sp>
          <p:nvSpPr>
            <p:cNvPr id="281703" name="Line 103"/>
            <p:cNvSpPr>
              <a:spLocks noChangeShapeType="1"/>
            </p:cNvSpPr>
            <p:nvPr/>
          </p:nvSpPr>
          <p:spPr bwMode="auto">
            <a:xfrm>
              <a:off x="3941763" y="1608138"/>
              <a:ext cx="0" cy="2703512"/>
            </a:xfrm>
            <a:prstGeom prst="line">
              <a:avLst/>
            </a:prstGeom>
            <a:noFill/>
            <a:ln w="12700">
              <a:solidFill>
                <a:schemeClr val="tx1"/>
              </a:solidFill>
              <a:round/>
              <a:head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81704" name="Text Box 104"/>
            <p:cNvSpPr txBox="1">
              <a:spLocks noChangeArrowheads="1"/>
            </p:cNvSpPr>
            <p:nvPr/>
          </p:nvSpPr>
          <p:spPr bwMode="auto">
            <a:xfrm>
              <a:off x="9505951" y="4333875"/>
              <a:ext cx="38985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a:latin typeface="+mn-lt"/>
                  <a:ea typeface="微软雅黑 Light" panose="020B0502040204020203" pitchFamily="34" charset="-122"/>
                </a:rPr>
                <a:t>22</a:t>
              </a:r>
            </a:p>
          </p:txBody>
        </p:sp>
        <p:sp>
          <p:nvSpPr>
            <p:cNvPr id="281705" name="Text Box 105"/>
            <p:cNvSpPr txBox="1">
              <a:spLocks noChangeArrowheads="1"/>
            </p:cNvSpPr>
            <p:nvPr/>
          </p:nvSpPr>
          <p:spPr bwMode="auto">
            <a:xfrm>
              <a:off x="3503614" y="2595563"/>
              <a:ext cx="38985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a:latin typeface="+mn-lt"/>
                  <a:ea typeface="微软雅黑 Light" panose="020B0502040204020203" pitchFamily="34" charset="-122"/>
                </a:rPr>
                <a:t>16</a:t>
              </a:r>
            </a:p>
          </p:txBody>
        </p:sp>
        <p:sp>
          <p:nvSpPr>
            <p:cNvPr id="281706" name="Line 106"/>
            <p:cNvSpPr>
              <a:spLocks noChangeShapeType="1"/>
            </p:cNvSpPr>
            <p:nvPr/>
          </p:nvSpPr>
          <p:spPr bwMode="auto">
            <a:xfrm rot="-21600000">
              <a:off x="7808913" y="2003426"/>
              <a:ext cx="0" cy="1158875"/>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81707" name="Text Box 107"/>
            <p:cNvSpPr txBox="1">
              <a:spLocks noChangeArrowheads="1"/>
            </p:cNvSpPr>
            <p:nvPr/>
          </p:nvSpPr>
          <p:spPr bwMode="auto">
            <a:xfrm>
              <a:off x="7092950" y="2351089"/>
              <a:ext cx="1377950" cy="36933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1800" dirty="0">
                  <a:latin typeface="+mn-lt"/>
                  <a:ea typeface="微软雅黑 Light" panose="020B0502040204020203" pitchFamily="34" charset="-122"/>
                </a:rPr>
                <a:t>“</a:t>
              </a:r>
              <a:r>
                <a:rPr kumimoji="1" lang="zh-CN" altLang="en-US" sz="1800" dirty="0">
                  <a:latin typeface="+mn-lt"/>
                  <a:ea typeface="微软雅黑 Light" panose="020B0502040204020203" pitchFamily="34" charset="-122"/>
                </a:rPr>
                <a:t>乘法减小”</a:t>
              </a:r>
            </a:p>
          </p:txBody>
        </p:sp>
        <p:sp>
          <p:nvSpPr>
            <p:cNvPr id="281708" name="Rectangle 108"/>
            <p:cNvSpPr>
              <a:spLocks noChangeArrowheads="1"/>
            </p:cNvSpPr>
            <p:nvPr/>
          </p:nvSpPr>
          <p:spPr bwMode="auto">
            <a:xfrm>
              <a:off x="8401051" y="1724025"/>
              <a:ext cx="1558925" cy="1519238"/>
            </a:xfrm>
            <a:prstGeom prst="rect">
              <a:avLst/>
            </a:prstGeom>
            <a:solidFill>
              <a:schemeClr val="bg2"/>
            </a:solidFill>
            <a:ln>
              <a:noFill/>
            </a:ln>
            <a:effectLst/>
          </p:spPr>
          <p:txBody>
            <a:bodyPr wrap="none" anchor="ctr"/>
            <a:lstStyle/>
            <a:p>
              <a:pPr algn="ctr"/>
              <a:endParaRPr lang="zh-CN" altLang="zh-CN" sz="2800">
                <a:latin typeface="+mn-lt"/>
                <a:ea typeface="微软雅黑 Light" panose="020B0502040204020203" pitchFamily="34" charset="-122"/>
              </a:endParaRPr>
            </a:p>
          </p:txBody>
        </p:sp>
        <p:sp>
          <p:nvSpPr>
            <p:cNvPr id="281709" name="Rectangle 109"/>
            <p:cNvSpPr>
              <a:spLocks noChangeArrowheads="1"/>
            </p:cNvSpPr>
            <p:nvPr/>
          </p:nvSpPr>
          <p:spPr bwMode="auto">
            <a:xfrm>
              <a:off x="4970464" y="1441450"/>
              <a:ext cx="2174875" cy="1517650"/>
            </a:xfrm>
            <a:prstGeom prst="rect">
              <a:avLst/>
            </a:prstGeom>
            <a:solidFill>
              <a:schemeClr val="bg2"/>
            </a:solidFill>
            <a:ln>
              <a:noFill/>
            </a:ln>
            <a:effectLst/>
          </p:spPr>
          <p:txBody>
            <a:bodyPr wrap="none" anchor="ctr"/>
            <a:lstStyle/>
            <a:p>
              <a:pPr algn="ctr"/>
              <a:endParaRPr lang="zh-CN" altLang="zh-CN" sz="2800">
                <a:latin typeface="+mn-lt"/>
                <a:ea typeface="微软雅黑 Light" panose="020B0502040204020203" pitchFamily="34" charset="-122"/>
              </a:endParaRPr>
            </a:p>
          </p:txBody>
        </p:sp>
        <p:sp>
          <p:nvSpPr>
            <p:cNvPr id="281710" name="Rectangle 110"/>
            <p:cNvSpPr>
              <a:spLocks noChangeArrowheads="1"/>
            </p:cNvSpPr>
            <p:nvPr/>
          </p:nvSpPr>
          <p:spPr bwMode="auto">
            <a:xfrm>
              <a:off x="7362825" y="4329114"/>
              <a:ext cx="1073150" cy="828675"/>
            </a:xfrm>
            <a:prstGeom prst="rect">
              <a:avLst/>
            </a:prstGeom>
            <a:solidFill>
              <a:schemeClr val="accent2"/>
            </a:solidFill>
            <a:ln>
              <a:noFill/>
            </a:ln>
            <a:effectLst/>
          </p:spPr>
          <p:txBody>
            <a:bodyPr wrap="none" anchor="ctr"/>
            <a:lstStyle/>
            <a:p>
              <a:pPr algn="ctr"/>
              <a:endParaRPr lang="zh-CN" altLang="zh-CN" sz="2800">
                <a:latin typeface="+mn-lt"/>
                <a:ea typeface="微软雅黑 Light" panose="020B0502040204020203" pitchFamily="34" charset="-122"/>
              </a:endParaRPr>
            </a:p>
          </p:txBody>
        </p:sp>
        <p:sp>
          <p:nvSpPr>
            <p:cNvPr id="281711" name="Rectangle 111"/>
            <p:cNvSpPr>
              <a:spLocks noChangeArrowheads="1"/>
            </p:cNvSpPr>
            <p:nvPr/>
          </p:nvSpPr>
          <p:spPr bwMode="auto">
            <a:xfrm>
              <a:off x="3949700" y="4319589"/>
              <a:ext cx="1073150" cy="828675"/>
            </a:xfrm>
            <a:prstGeom prst="rect">
              <a:avLst/>
            </a:prstGeom>
            <a:solidFill>
              <a:schemeClr val="accent2"/>
            </a:solidFill>
            <a:ln>
              <a:noFill/>
            </a:ln>
            <a:effectLst/>
          </p:spPr>
          <p:txBody>
            <a:bodyPr wrap="none" anchor="ctr"/>
            <a:lstStyle/>
            <a:p>
              <a:pPr algn="ctr"/>
              <a:endParaRPr lang="zh-CN" altLang="zh-CN" sz="2800">
                <a:latin typeface="+mn-lt"/>
                <a:ea typeface="微软雅黑 Light" panose="020B0502040204020203" pitchFamily="34" charset="-122"/>
              </a:endParaRPr>
            </a:p>
          </p:txBody>
        </p:sp>
        <p:sp>
          <p:nvSpPr>
            <p:cNvPr id="281712" name="Line 112"/>
            <p:cNvSpPr>
              <a:spLocks noChangeShapeType="1"/>
            </p:cNvSpPr>
            <p:nvPr/>
          </p:nvSpPr>
          <p:spPr bwMode="auto">
            <a:xfrm>
              <a:off x="3941763" y="4311650"/>
              <a:ext cx="6221412" cy="0"/>
            </a:xfrm>
            <a:prstGeom prst="line">
              <a:avLst/>
            </a:prstGeom>
            <a:noFill/>
            <a:ln w="19050">
              <a:solidFill>
                <a:schemeClr val="tx1"/>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81713" name="Line 113"/>
            <p:cNvSpPr>
              <a:spLocks noChangeShapeType="1"/>
            </p:cNvSpPr>
            <p:nvPr/>
          </p:nvSpPr>
          <p:spPr bwMode="auto">
            <a:xfrm>
              <a:off x="4205288" y="4233864"/>
              <a:ext cx="0" cy="777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81714" name="Line 114"/>
            <p:cNvSpPr>
              <a:spLocks noChangeShapeType="1"/>
            </p:cNvSpPr>
            <p:nvPr/>
          </p:nvSpPr>
          <p:spPr bwMode="auto">
            <a:xfrm>
              <a:off x="4467225" y="4157664"/>
              <a:ext cx="0" cy="153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81715" name="Line 115"/>
            <p:cNvSpPr>
              <a:spLocks noChangeShapeType="1"/>
            </p:cNvSpPr>
            <p:nvPr/>
          </p:nvSpPr>
          <p:spPr bwMode="auto">
            <a:xfrm>
              <a:off x="4730750" y="4157664"/>
              <a:ext cx="0" cy="153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81716" name="Line 116"/>
            <p:cNvSpPr>
              <a:spLocks noChangeShapeType="1"/>
            </p:cNvSpPr>
            <p:nvPr/>
          </p:nvSpPr>
          <p:spPr bwMode="auto">
            <a:xfrm>
              <a:off x="4992688" y="4157664"/>
              <a:ext cx="0" cy="153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81717" name="Line 117"/>
            <p:cNvSpPr>
              <a:spLocks noChangeShapeType="1"/>
            </p:cNvSpPr>
            <p:nvPr/>
          </p:nvSpPr>
          <p:spPr bwMode="auto">
            <a:xfrm>
              <a:off x="5256213" y="4157664"/>
              <a:ext cx="0" cy="153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81718" name="Line 118"/>
            <p:cNvSpPr>
              <a:spLocks noChangeShapeType="1"/>
            </p:cNvSpPr>
            <p:nvPr/>
          </p:nvSpPr>
          <p:spPr bwMode="auto">
            <a:xfrm>
              <a:off x="5519738" y="4157664"/>
              <a:ext cx="0" cy="153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81719" name="Line 119"/>
            <p:cNvSpPr>
              <a:spLocks noChangeShapeType="1"/>
            </p:cNvSpPr>
            <p:nvPr/>
          </p:nvSpPr>
          <p:spPr bwMode="auto">
            <a:xfrm>
              <a:off x="5781675" y="4157664"/>
              <a:ext cx="0" cy="153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81720" name="Line 120"/>
            <p:cNvSpPr>
              <a:spLocks noChangeShapeType="1"/>
            </p:cNvSpPr>
            <p:nvPr/>
          </p:nvSpPr>
          <p:spPr bwMode="auto">
            <a:xfrm>
              <a:off x="6045200" y="4157664"/>
              <a:ext cx="0" cy="153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81721" name="Line 121"/>
            <p:cNvSpPr>
              <a:spLocks noChangeShapeType="1"/>
            </p:cNvSpPr>
            <p:nvPr/>
          </p:nvSpPr>
          <p:spPr bwMode="auto">
            <a:xfrm>
              <a:off x="6307138" y="4157664"/>
              <a:ext cx="0" cy="153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81722" name="Line 122"/>
            <p:cNvSpPr>
              <a:spLocks noChangeShapeType="1"/>
            </p:cNvSpPr>
            <p:nvPr/>
          </p:nvSpPr>
          <p:spPr bwMode="auto">
            <a:xfrm>
              <a:off x="6570663" y="4157664"/>
              <a:ext cx="0" cy="153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81723" name="Line 123"/>
            <p:cNvSpPr>
              <a:spLocks noChangeShapeType="1"/>
            </p:cNvSpPr>
            <p:nvPr/>
          </p:nvSpPr>
          <p:spPr bwMode="auto">
            <a:xfrm>
              <a:off x="6834188" y="4157664"/>
              <a:ext cx="0" cy="153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81724" name="Line 124"/>
            <p:cNvSpPr>
              <a:spLocks noChangeShapeType="1"/>
            </p:cNvSpPr>
            <p:nvPr/>
          </p:nvSpPr>
          <p:spPr bwMode="auto">
            <a:xfrm>
              <a:off x="7096125" y="4157664"/>
              <a:ext cx="0" cy="153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81725" name="Line 125"/>
            <p:cNvSpPr>
              <a:spLocks noChangeShapeType="1"/>
            </p:cNvSpPr>
            <p:nvPr/>
          </p:nvSpPr>
          <p:spPr bwMode="auto">
            <a:xfrm>
              <a:off x="7359650" y="4157664"/>
              <a:ext cx="0" cy="153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81726" name="Line 126"/>
            <p:cNvSpPr>
              <a:spLocks noChangeShapeType="1"/>
            </p:cNvSpPr>
            <p:nvPr/>
          </p:nvSpPr>
          <p:spPr bwMode="auto">
            <a:xfrm>
              <a:off x="7621588" y="4233864"/>
              <a:ext cx="0" cy="777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81727" name="Line 127"/>
            <p:cNvSpPr>
              <a:spLocks noChangeShapeType="1"/>
            </p:cNvSpPr>
            <p:nvPr/>
          </p:nvSpPr>
          <p:spPr bwMode="auto">
            <a:xfrm>
              <a:off x="7885113" y="4157664"/>
              <a:ext cx="0" cy="153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81728" name="Line 128"/>
            <p:cNvSpPr>
              <a:spLocks noChangeShapeType="1"/>
            </p:cNvSpPr>
            <p:nvPr/>
          </p:nvSpPr>
          <p:spPr bwMode="auto">
            <a:xfrm>
              <a:off x="8148638" y="4157664"/>
              <a:ext cx="0" cy="153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81729" name="Line 129"/>
            <p:cNvSpPr>
              <a:spLocks noChangeShapeType="1"/>
            </p:cNvSpPr>
            <p:nvPr/>
          </p:nvSpPr>
          <p:spPr bwMode="auto">
            <a:xfrm>
              <a:off x="8410575" y="4157664"/>
              <a:ext cx="0" cy="153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81730" name="Line 130"/>
            <p:cNvSpPr>
              <a:spLocks noChangeShapeType="1"/>
            </p:cNvSpPr>
            <p:nvPr/>
          </p:nvSpPr>
          <p:spPr bwMode="auto">
            <a:xfrm>
              <a:off x="8674100" y="4157664"/>
              <a:ext cx="0" cy="153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81731" name="Line 131"/>
            <p:cNvSpPr>
              <a:spLocks noChangeShapeType="1"/>
            </p:cNvSpPr>
            <p:nvPr/>
          </p:nvSpPr>
          <p:spPr bwMode="auto">
            <a:xfrm>
              <a:off x="8936038" y="4157664"/>
              <a:ext cx="0" cy="153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81732" name="Line 132"/>
            <p:cNvSpPr>
              <a:spLocks noChangeShapeType="1"/>
            </p:cNvSpPr>
            <p:nvPr/>
          </p:nvSpPr>
          <p:spPr bwMode="auto">
            <a:xfrm>
              <a:off x="9199563" y="4157664"/>
              <a:ext cx="0" cy="153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81733" name="Line 133"/>
            <p:cNvSpPr>
              <a:spLocks noChangeShapeType="1"/>
            </p:cNvSpPr>
            <p:nvPr/>
          </p:nvSpPr>
          <p:spPr bwMode="auto">
            <a:xfrm>
              <a:off x="9463088" y="4157664"/>
              <a:ext cx="0" cy="153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81734" name="Line 134"/>
            <p:cNvSpPr>
              <a:spLocks noChangeShapeType="1"/>
            </p:cNvSpPr>
            <p:nvPr/>
          </p:nvSpPr>
          <p:spPr bwMode="auto">
            <a:xfrm>
              <a:off x="9725025" y="4157664"/>
              <a:ext cx="0" cy="1539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81735" name="Line 135"/>
            <p:cNvSpPr>
              <a:spLocks noChangeShapeType="1"/>
            </p:cNvSpPr>
            <p:nvPr/>
          </p:nvSpPr>
          <p:spPr bwMode="auto">
            <a:xfrm>
              <a:off x="3941764" y="3925888"/>
              <a:ext cx="26352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81736" name="Line 136"/>
            <p:cNvSpPr>
              <a:spLocks noChangeShapeType="1"/>
            </p:cNvSpPr>
            <p:nvPr/>
          </p:nvSpPr>
          <p:spPr bwMode="auto">
            <a:xfrm>
              <a:off x="3941764" y="3538538"/>
              <a:ext cx="26352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81737" name="Line 137"/>
            <p:cNvSpPr>
              <a:spLocks noChangeShapeType="1"/>
            </p:cNvSpPr>
            <p:nvPr/>
          </p:nvSpPr>
          <p:spPr bwMode="auto">
            <a:xfrm>
              <a:off x="3941764" y="3152775"/>
              <a:ext cx="26352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81738" name="Line 138"/>
            <p:cNvSpPr>
              <a:spLocks noChangeShapeType="1"/>
            </p:cNvSpPr>
            <p:nvPr/>
          </p:nvSpPr>
          <p:spPr bwMode="auto">
            <a:xfrm>
              <a:off x="3941764" y="2767013"/>
              <a:ext cx="26352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81739" name="Line 139"/>
            <p:cNvSpPr>
              <a:spLocks noChangeShapeType="1"/>
            </p:cNvSpPr>
            <p:nvPr/>
          </p:nvSpPr>
          <p:spPr bwMode="auto">
            <a:xfrm>
              <a:off x="3941764" y="2381250"/>
              <a:ext cx="26352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81740" name="Line 140"/>
            <p:cNvSpPr>
              <a:spLocks noChangeShapeType="1"/>
            </p:cNvSpPr>
            <p:nvPr/>
          </p:nvSpPr>
          <p:spPr bwMode="auto">
            <a:xfrm>
              <a:off x="3941764" y="1993900"/>
              <a:ext cx="26352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81741" name="Text Box 141"/>
            <p:cNvSpPr txBox="1">
              <a:spLocks noChangeArrowheads="1"/>
            </p:cNvSpPr>
            <p:nvPr/>
          </p:nvSpPr>
          <p:spPr bwMode="auto">
            <a:xfrm>
              <a:off x="4292601" y="4333875"/>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a:latin typeface="+mn-lt"/>
                  <a:ea typeface="微软雅黑 Light" panose="020B0502040204020203" pitchFamily="34" charset="-122"/>
                </a:rPr>
                <a:t>2</a:t>
              </a:r>
            </a:p>
          </p:txBody>
        </p:sp>
        <p:sp>
          <p:nvSpPr>
            <p:cNvPr id="281742" name="Text Box 142"/>
            <p:cNvSpPr txBox="1">
              <a:spLocks noChangeArrowheads="1"/>
            </p:cNvSpPr>
            <p:nvPr/>
          </p:nvSpPr>
          <p:spPr bwMode="auto">
            <a:xfrm>
              <a:off x="4818063" y="4333875"/>
              <a:ext cx="28725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a:latin typeface="+mn-lt"/>
                  <a:ea typeface="微软雅黑 Light" panose="020B0502040204020203" pitchFamily="34" charset="-122"/>
                </a:rPr>
                <a:t>4</a:t>
              </a:r>
            </a:p>
          </p:txBody>
        </p:sp>
        <p:sp>
          <p:nvSpPr>
            <p:cNvPr id="281743" name="Text Box 143"/>
            <p:cNvSpPr txBox="1">
              <a:spLocks noChangeArrowheads="1"/>
            </p:cNvSpPr>
            <p:nvPr/>
          </p:nvSpPr>
          <p:spPr bwMode="auto">
            <a:xfrm>
              <a:off x="5343526" y="4333875"/>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a:latin typeface="+mn-lt"/>
                  <a:ea typeface="微软雅黑 Light" panose="020B0502040204020203" pitchFamily="34" charset="-122"/>
                </a:rPr>
                <a:t>6</a:t>
              </a:r>
            </a:p>
          </p:txBody>
        </p:sp>
        <p:sp>
          <p:nvSpPr>
            <p:cNvPr id="281744" name="Text Box 144"/>
            <p:cNvSpPr txBox="1">
              <a:spLocks noChangeArrowheads="1"/>
            </p:cNvSpPr>
            <p:nvPr/>
          </p:nvSpPr>
          <p:spPr bwMode="auto">
            <a:xfrm>
              <a:off x="5884863" y="4333875"/>
              <a:ext cx="2968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a:latin typeface="+mn-lt"/>
                  <a:ea typeface="微软雅黑 Light" panose="020B0502040204020203" pitchFamily="34" charset="-122"/>
                </a:rPr>
                <a:t>8</a:t>
              </a:r>
            </a:p>
          </p:txBody>
        </p:sp>
        <p:sp>
          <p:nvSpPr>
            <p:cNvPr id="281745" name="Text Box 145"/>
            <p:cNvSpPr txBox="1">
              <a:spLocks noChangeArrowheads="1"/>
            </p:cNvSpPr>
            <p:nvPr/>
          </p:nvSpPr>
          <p:spPr bwMode="auto">
            <a:xfrm>
              <a:off x="6323014" y="4333875"/>
              <a:ext cx="38985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a:latin typeface="+mn-lt"/>
                  <a:ea typeface="微软雅黑 Light" panose="020B0502040204020203" pitchFamily="34" charset="-122"/>
                </a:rPr>
                <a:t>10</a:t>
              </a:r>
            </a:p>
          </p:txBody>
        </p:sp>
        <p:sp>
          <p:nvSpPr>
            <p:cNvPr id="281746" name="Text Box 146"/>
            <p:cNvSpPr txBox="1">
              <a:spLocks noChangeArrowheads="1"/>
            </p:cNvSpPr>
            <p:nvPr/>
          </p:nvSpPr>
          <p:spPr bwMode="auto">
            <a:xfrm>
              <a:off x="6891339" y="4333875"/>
              <a:ext cx="38985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a:latin typeface="+mn-lt"/>
                  <a:ea typeface="微软雅黑 Light" panose="020B0502040204020203" pitchFamily="34" charset="-122"/>
                </a:rPr>
                <a:t>12</a:t>
              </a:r>
            </a:p>
          </p:txBody>
        </p:sp>
        <p:sp>
          <p:nvSpPr>
            <p:cNvPr id="281747" name="Text Box 147"/>
            <p:cNvSpPr txBox="1">
              <a:spLocks noChangeArrowheads="1"/>
            </p:cNvSpPr>
            <p:nvPr/>
          </p:nvSpPr>
          <p:spPr bwMode="auto">
            <a:xfrm>
              <a:off x="7388226" y="4333875"/>
              <a:ext cx="38985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a:latin typeface="+mn-lt"/>
                  <a:ea typeface="微软雅黑 Light" panose="020B0502040204020203" pitchFamily="34" charset="-122"/>
                </a:rPr>
                <a:t>14</a:t>
              </a:r>
            </a:p>
          </p:txBody>
        </p:sp>
        <p:sp>
          <p:nvSpPr>
            <p:cNvPr id="281748" name="Text Box 148"/>
            <p:cNvSpPr txBox="1">
              <a:spLocks noChangeArrowheads="1"/>
            </p:cNvSpPr>
            <p:nvPr/>
          </p:nvSpPr>
          <p:spPr bwMode="auto">
            <a:xfrm>
              <a:off x="7913689" y="4333875"/>
              <a:ext cx="38985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a:latin typeface="+mn-lt"/>
                  <a:ea typeface="微软雅黑 Light" panose="020B0502040204020203" pitchFamily="34" charset="-122"/>
                </a:rPr>
                <a:t>16</a:t>
              </a:r>
            </a:p>
          </p:txBody>
        </p:sp>
        <p:sp>
          <p:nvSpPr>
            <p:cNvPr id="281749" name="Text Box 149"/>
            <p:cNvSpPr txBox="1">
              <a:spLocks noChangeArrowheads="1"/>
            </p:cNvSpPr>
            <p:nvPr/>
          </p:nvSpPr>
          <p:spPr bwMode="auto">
            <a:xfrm>
              <a:off x="8469314" y="4333875"/>
              <a:ext cx="38985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a:latin typeface="+mn-lt"/>
                  <a:ea typeface="微软雅黑 Light" panose="020B0502040204020203" pitchFamily="34" charset="-122"/>
                </a:rPr>
                <a:t>18</a:t>
              </a:r>
            </a:p>
          </p:txBody>
        </p:sp>
        <p:sp>
          <p:nvSpPr>
            <p:cNvPr id="281750" name="Text Box 150"/>
            <p:cNvSpPr txBox="1">
              <a:spLocks noChangeArrowheads="1"/>
            </p:cNvSpPr>
            <p:nvPr/>
          </p:nvSpPr>
          <p:spPr bwMode="auto">
            <a:xfrm>
              <a:off x="8994776" y="4333875"/>
              <a:ext cx="38985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a:latin typeface="+mn-lt"/>
                  <a:ea typeface="微软雅黑 Light" panose="020B0502040204020203" pitchFamily="34" charset="-122"/>
                </a:rPr>
                <a:t>20</a:t>
              </a:r>
            </a:p>
          </p:txBody>
        </p:sp>
        <p:sp>
          <p:nvSpPr>
            <p:cNvPr id="281751" name="Text Box 151"/>
            <p:cNvSpPr txBox="1">
              <a:spLocks noChangeArrowheads="1"/>
            </p:cNvSpPr>
            <p:nvPr/>
          </p:nvSpPr>
          <p:spPr bwMode="auto">
            <a:xfrm>
              <a:off x="3810001" y="4333875"/>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a:latin typeface="+mn-lt"/>
                  <a:ea typeface="微软雅黑 Light" panose="020B0502040204020203" pitchFamily="34" charset="-122"/>
                </a:rPr>
                <a:t>0</a:t>
              </a:r>
            </a:p>
          </p:txBody>
        </p:sp>
        <p:sp>
          <p:nvSpPr>
            <p:cNvPr id="281752" name="Text Box 152"/>
            <p:cNvSpPr txBox="1">
              <a:spLocks noChangeArrowheads="1"/>
            </p:cNvSpPr>
            <p:nvPr/>
          </p:nvSpPr>
          <p:spPr bwMode="auto">
            <a:xfrm>
              <a:off x="3635376" y="4102100"/>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a:latin typeface="+mn-lt"/>
                  <a:ea typeface="微软雅黑 Light" panose="020B0502040204020203" pitchFamily="34" charset="-122"/>
                </a:rPr>
                <a:t>0</a:t>
              </a:r>
            </a:p>
          </p:txBody>
        </p:sp>
        <p:sp>
          <p:nvSpPr>
            <p:cNvPr id="281753" name="Text Box 153"/>
            <p:cNvSpPr txBox="1">
              <a:spLocks noChangeArrowheads="1"/>
            </p:cNvSpPr>
            <p:nvPr/>
          </p:nvSpPr>
          <p:spPr bwMode="auto">
            <a:xfrm>
              <a:off x="3635376" y="3716338"/>
              <a:ext cx="28725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a:latin typeface="+mn-lt"/>
                  <a:ea typeface="微软雅黑 Light" panose="020B0502040204020203" pitchFamily="34" charset="-122"/>
                </a:rPr>
                <a:t>4</a:t>
              </a:r>
            </a:p>
          </p:txBody>
        </p:sp>
        <p:sp>
          <p:nvSpPr>
            <p:cNvPr id="281754" name="Text Box 154"/>
            <p:cNvSpPr txBox="1">
              <a:spLocks noChangeArrowheads="1"/>
            </p:cNvSpPr>
            <p:nvPr/>
          </p:nvSpPr>
          <p:spPr bwMode="auto">
            <a:xfrm>
              <a:off x="3635376" y="3343275"/>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a:latin typeface="+mn-lt"/>
                  <a:ea typeface="微软雅黑 Light" panose="020B0502040204020203" pitchFamily="34" charset="-122"/>
                </a:rPr>
                <a:t>8</a:t>
              </a:r>
            </a:p>
          </p:txBody>
        </p:sp>
        <p:sp>
          <p:nvSpPr>
            <p:cNvPr id="281755" name="Text Box 155"/>
            <p:cNvSpPr txBox="1">
              <a:spLocks noChangeArrowheads="1"/>
            </p:cNvSpPr>
            <p:nvPr/>
          </p:nvSpPr>
          <p:spPr bwMode="auto">
            <a:xfrm>
              <a:off x="3503614" y="2970213"/>
              <a:ext cx="38985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a:latin typeface="+mn-lt"/>
                  <a:ea typeface="微软雅黑 Light" panose="020B0502040204020203" pitchFamily="34" charset="-122"/>
                </a:rPr>
                <a:t>12</a:t>
              </a:r>
            </a:p>
          </p:txBody>
        </p:sp>
        <p:sp>
          <p:nvSpPr>
            <p:cNvPr id="281756" name="Text Box 156"/>
            <p:cNvSpPr txBox="1">
              <a:spLocks noChangeArrowheads="1"/>
            </p:cNvSpPr>
            <p:nvPr/>
          </p:nvSpPr>
          <p:spPr bwMode="auto">
            <a:xfrm>
              <a:off x="3503614" y="2209800"/>
              <a:ext cx="38985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a:latin typeface="+mn-lt"/>
                  <a:ea typeface="微软雅黑 Light" panose="020B0502040204020203" pitchFamily="34" charset="-122"/>
                </a:rPr>
                <a:t>20</a:t>
              </a:r>
            </a:p>
          </p:txBody>
        </p:sp>
        <p:sp>
          <p:nvSpPr>
            <p:cNvPr id="281757" name="Text Box 157"/>
            <p:cNvSpPr txBox="1">
              <a:spLocks noChangeArrowheads="1"/>
            </p:cNvSpPr>
            <p:nvPr/>
          </p:nvSpPr>
          <p:spPr bwMode="auto">
            <a:xfrm>
              <a:off x="3503614" y="1824038"/>
              <a:ext cx="38985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a:latin typeface="+mn-lt"/>
                  <a:ea typeface="微软雅黑 Light" panose="020B0502040204020203" pitchFamily="34" charset="-122"/>
                </a:rPr>
                <a:t>24</a:t>
              </a:r>
            </a:p>
          </p:txBody>
        </p:sp>
        <p:sp>
          <p:nvSpPr>
            <p:cNvPr id="281758" name="Oval 158"/>
            <p:cNvSpPr>
              <a:spLocks noChangeArrowheads="1"/>
            </p:cNvSpPr>
            <p:nvPr/>
          </p:nvSpPr>
          <p:spPr bwMode="auto">
            <a:xfrm>
              <a:off x="4675189" y="3500439"/>
              <a:ext cx="103187" cy="90487"/>
            </a:xfrm>
            <a:prstGeom prst="ellipse">
              <a:avLst/>
            </a:prstGeom>
            <a:solidFill>
              <a:schemeClr val="bg2">
                <a:lumMod val="75000"/>
              </a:schemeClr>
            </a:solidFill>
            <a:ln w="9525">
              <a:solidFill>
                <a:srgbClr val="006600"/>
              </a:solidFill>
              <a:round/>
            </a:ln>
            <a:effectLst/>
          </p:spPr>
          <p:txBody>
            <a:bodyPr wrap="none" anchor="ctr"/>
            <a:lstStyle/>
            <a:p>
              <a:pPr algn="ctr"/>
              <a:endParaRPr lang="zh-CN" altLang="zh-CN" sz="2800">
                <a:latin typeface="+mn-lt"/>
                <a:ea typeface="微软雅黑 Light" panose="020B0502040204020203" pitchFamily="34" charset="-122"/>
              </a:endParaRPr>
            </a:p>
          </p:txBody>
        </p:sp>
        <p:sp>
          <p:nvSpPr>
            <p:cNvPr id="281759" name="Oval 159"/>
            <p:cNvSpPr>
              <a:spLocks noChangeArrowheads="1"/>
            </p:cNvSpPr>
            <p:nvPr/>
          </p:nvSpPr>
          <p:spPr bwMode="auto">
            <a:xfrm>
              <a:off x="4413250" y="3886200"/>
              <a:ext cx="101600" cy="90488"/>
            </a:xfrm>
            <a:prstGeom prst="ellipse">
              <a:avLst/>
            </a:prstGeom>
            <a:solidFill>
              <a:schemeClr val="bg2">
                <a:lumMod val="75000"/>
              </a:schemeClr>
            </a:solidFill>
            <a:ln w="9525">
              <a:solidFill>
                <a:srgbClr val="006600"/>
              </a:solidFill>
              <a:round/>
            </a:ln>
            <a:effectLst/>
          </p:spPr>
          <p:txBody>
            <a:bodyPr wrap="none" anchor="ctr"/>
            <a:lstStyle/>
            <a:p>
              <a:pPr algn="ctr"/>
              <a:endParaRPr lang="zh-CN" altLang="zh-CN" sz="2800">
                <a:latin typeface="+mn-lt"/>
                <a:ea typeface="微软雅黑 Light" panose="020B0502040204020203" pitchFamily="34" charset="-122"/>
              </a:endParaRPr>
            </a:p>
          </p:txBody>
        </p:sp>
        <p:sp>
          <p:nvSpPr>
            <p:cNvPr id="281760" name="Oval 160"/>
            <p:cNvSpPr>
              <a:spLocks noChangeArrowheads="1"/>
            </p:cNvSpPr>
            <p:nvPr/>
          </p:nvSpPr>
          <p:spPr bwMode="auto">
            <a:xfrm>
              <a:off x="3898900" y="4137025"/>
              <a:ext cx="101600" cy="90488"/>
            </a:xfrm>
            <a:prstGeom prst="ellipse">
              <a:avLst/>
            </a:prstGeom>
            <a:solidFill>
              <a:schemeClr val="bg2">
                <a:lumMod val="75000"/>
              </a:schemeClr>
            </a:solidFill>
            <a:ln w="9525">
              <a:solidFill>
                <a:srgbClr val="006600"/>
              </a:solidFill>
              <a:round/>
            </a:ln>
            <a:effectLst/>
          </p:spPr>
          <p:txBody>
            <a:bodyPr wrap="none" anchor="ctr"/>
            <a:lstStyle/>
            <a:p>
              <a:pPr algn="ctr"/>
              <a:endParaRPr lang="zh-CN" altLang="zh-CN" sz="2800">
                <a:latin typeface="+mn-lt"/>
                <a:ea typeface="微软雅黑 Light" panose="020B0502040204020203" pitchFamily="34" charset="-122"/>
              </a:endParaRPr>
            </a:p>
          </p:txBody>
        </p:sp>
        <p:sp>
          <p:nvSpPr>
            <p:cNvPr id="281761" name="Oval 161"/>
            <p:cNvSpPr>
              <a:spLocks noChangeArrowheads="1"/>
            </p:cNvSpPr>
            <p:nvPr/>
          </p:nvSpPr>
          <p:spPr bwMode="auto">
            <a:xfrm>
              <a:off x="4138614" y="4070350"/>
              <a:ext cx="103187" cy="90488"/>
            </a:xfrm>
            <a:prstGeom prst="ellipse">
              <a:avLst/>
            </a:prstGeom>
            <a:solidFill>
              <a:schemeClr val="bg2">
                <a:lumMod val="75000"/>
              </a:schemeClr>
            </a:solidFill>
            <a:ln w="9525">
              <a:solidFill>
                <a:srgbClr val="006600"/>
              </a:solidFill>
              <a:round/>
            </a:ln>
            <a:effectLst/>
          </p:spPr>
          <p:txBody>
            <a:bodyPr wrap="none" anchor="ctr"/>
            <a:lstStyle/>
            <a:p>
              <a:pPr algn="ctr"/>
              <a:endParaRPr lang="zh-CN" altLang="zh-CN" sz="2800">
                <a:latin typeface="+mn-lt"/>
                <a:ea typeface="微软雅黑 Light" panose="020B0502040204020203" pitchFamily="34" charset="-122"/>
              </a:endParaRPr>
            </a:p>
          </p:txBody>
        </p:sp>
        <p:sp>
          <p:nvSpPr>
            <p:cNvPr id="281762" name="Oval 162"/>
            <p:cNvSpPr>
              <a:spLocks noChangeArrowheads="1"/>
            </p:cNvSpPr>
            <p:nvPr/>
          </p:nvSpPr>
          <p:spPr bwMode="auto">
            <a:xfrm>
              <a:off x="4938713" y="2724150"/>
              <a:ext cx="101600" cy="90488"/>
            </a:xfrm>
            <a:prstGeom prst="ellipse">
              <a:avLst/>
            </a:prstGeom>
            <a:solidFill>
              <a:schemeClr val="bg2">
                <a:lumMod val="75000"/>
              </a:schemeClr>
            </a:solidFill>
            <a:ln w="9525">
              <a:solidFill>
                <a:srgbClr val="006600"/>
              </a:solidFill>
              <a:round/>
            </a:ln>
            <a:effectLst/>
          </p:spPr>
          <p:txBody>
            <a:bodyPr wrap="none" anchor="ctr"/>
            <a:lstStyle/>
            <a:p>
              <a:pPr algn="ctr"/>
              <a:endParaRPr lang="zh-CN" altLang="zh-CN" sz="2800">
                <a:latin typeface="+mn-lt"/>
                <a:ea typeface="微软雅黑 Light" panose="020B0502040204020203" pitchFamily="34" charset="-122"/>
              </a:endParaRPr>
            </a:p>
          </p:txBody>
        </p:sp>
        <p:sp>
          <p:nvSpPr>
            <p:cNvPr id="281763" name="Oval 163"/>
            <p:cNvSpPr>
              <a:spLocks noChangeArrowheads="1"/>
            </p:cNvSpPr>
            <p:nvPr/>
          </p:nvSpPr>
          <p:spPr bwMode="auto">
            <a:xfrm>
              <a:off x="5202238" y="2622550"/>
              <a:ext cx="101600" cy="88900"/>
            </a:xfrm>
            <a:prstGeom prst="ellipse">
              <a:avLst/>
            </a:prstGeom>
            <a:solidFill>
              <a:schemeClr val="bg2">
                <a:lumMod val="75000"/>
              </a:schemeClr>
            </a:solidFill>
            <a:ln w="9525">
              <a:solidFill>
                <a:srgbClr val="006600"/>
              </a:solidFill>
              <a:round/>
            </a:ln>
            <a:effectLst/>
          </p:spPr>
          <p:txBody>
            <a:bodyPr wrap="none" anchor="ctr"/>
            <a:lstStyle/>
            <a:p>
              <a:pPr algn="ctr"/>
              <a:endParaRPr lang="zh-CN" altLang="zh-CN" sz="2800">
                <a:latin typeface="+mn-lt"/>
                <a:ea typeface="微软雅黑 Light" panose="020B0502040204020203" pitchFamily="34" charset="-122"/>
              </a:endParaRPr>
            </a:p>
          </p:txBody>
        </p:sp>
        <p:sp>
          <p:nvSpPr>
            <p:cNvPr id="281764" name="Oval 164"/>
            <p:cNvSpPr>
              <a:spLocks noChangeArrowheads="1"/>
            </p:cNvSpPr>
            <p:nvPr/>
          </p:nvSpPr>
          <p:spPr bwMode="auto">
            <a:xfrm>
              <a:off x="5464175" y="2530475"/>
              <a:ext cx="103188" cy="90488"/>
            </a:xfrm>
            <a:prstGeom prst="ellipse">
              <a:avLst/>
            </a:prstGeom>
            <a:solidFill>
              <a:schemeClr val="bg2">
                <a:lumMod val="75000"/>
              </a:schemeClr>
            </a:solidFill>
            <a:ln w="9525">
              <a:solidFill>
                <a:srgbClr val="006600"/>
              </a:solidFill>
              <a:round/>
            </a:ln>
            <a:effectLst/>
          </p:spPr>
          <p:txBody>
            <a:bodyPr wrap="none" anchor="ctr"/>
            <a:lstStyle/>
            <a:p>
              <a:pPr algn="ctr"/>
              <a:endParaRPr lang="zh-CN" altLang="zh-CN" sz="2800">
                <a:latin typeface="+mn-lt"/>
                <a:ea typeface="微软雅黑 Light" panose="020B0502040204020203" pitchFamily="34" charset="-122"/>
              </a:endParaRPr>
            </a:p>
          </p:txBody>
        </p:sp>
        <p:sp>
          <p:nvSpPr>
            <p:cNvPr id="281765" name="Oval 165"/>
            <p:cNvSpPr>
              <a:spLocks noChangeArrowheads="1"/>
            </p:cNvSpPr>
            <p:nvPr/>
          </p:nvSpPr>
          <p:spPr bwMode="auto">
            <a:xfrm>
              <a:off x="5995988" y="2336800"/>
              <a:ext cx="101600" cy="90488"/>
            </a:xfrm>
            <a:prstGeom prst="ellipse">
              <a:avLst/>
            </a:prstGeom>
            <a:solidFill>
              <a:schemeClr val="bg2">
                <a:lumMod val="75000"/>
              </a:schemeClr>
            </a:solidFill>
            <a:ln w="9525">
              <a:solidFill>
                <a:srgbClr val="006600"/>
              </a:solidFill>
              <a:round/>
            </a:ln>
            <a:effectLst/>
          </p:spPr>
          <p:txBody>
            <a:bodyPr wrap="none" anchor="ctr"/>
            <a:lstStyle/>
            <a:p>
              <a:pPr algn="ctr"/>
              <a:endParaRPr lang="zh-CN" altLang="zh-CN" sz="2800">
                <a:latin typeface="+mn-lt"/>
                <a:ea typeface="微软雅黑 Light" panose="020B0502040204020203" pitchFamily="34" charset="-122"/>
              </a:endParaRPr>
            </a:p>
          </p:txBody>
        </p:sp>
        <p:sp>
          <p:nvSpPr>
            <p:cNvPr id="281766" name="Oval 166"/>
            <p:cNvSpPr>
              <a:spLocks noChangeArrowheads="1"/>
            </p:cNvSpPr>
            <p:nvPr/>
          </p:nvSpPr>
          <p:spPr bwMode="auto">
            <a:xfrm>
              <a:off x="5727700" y="2433639"/>
              <a:ext cx="101600" cy="90487"/>
            </a:xfrm>
            <a:prstGeom prst="ellipse">
              <a:avLst/>
            </a:prstGeom>
            <a:solidFill>
              <a:schemeClr val="bg2">
                <a:lumMod val="75000"/>
              </a:schemeClr>
            </a:solidFill>
            <a:ln w="9525">
              <a:solidFill>
                <a:srgbClr val="006600"/>
              </a:solidFill>
              <a:round/>
            </a:ln>
            <a:effectLst/>
          </p:spPr>
          <p:txBody>
            <a:bodyPr wrap="none" anchor="ctr"/>
            <a:lstStyle/>
            <a:p>
              <a:pPr algn="ctr"/>
              <a:endParaRPr lang="zh-CN" altLang="zh-CN" sz="2800">
                <a:latin typeface="+mn-lt"/>
                <a:ea typeface="微软雅黑 Light" panose="020B0502040204020203" pitchFamily="34" charset="-122"/>
              </a:endParaRPr>
            </a:p>
          </p:txBody>
        </p:sp>
        <p:sp>
          <p:nvSpPr>
            <p:cNvPr id="281767" name="Oval 167"/>
            <p:cNvSpPr>
              <a:spLocks noChangeArrowheads="1"/>
            </p:cNvSpPr>
            <p:nvPr/>
          </p:nvSpPr>
          <p:spPr bwMode="auto">
            <a:xfrm>
              <a:off x="6257925" y="2239964"/>
              <a:ext cx="103188" cy="90487"/>
            </a:xfrm>
            <a:prstGeom prst="ellipse">
              <a:avLst/>
            </a:prstGeom>
            <a:solidFill>
              <a:schemeClr val="bg2">
                <a:lumMod val="75000"/>
              </a:schemeClr>
            </a:solidFill>
            <a:ln w="9525">
              <a:solidFill>
                <a:srgbClr val="006600"/>
              </a:solidFill>
              <a:round/>
            </a:ln>
            <a:effectLst/>
          </p:spPr>
          <p:txBody>
            <a:bodyPr wrap="none" anchor="ctr"/>
            <a:lstStyle/>
            <a:p>
              <a:pPr algn="ctr"/>
              <a:endParaRPr lang="zh-CN" altLang="zh-CN" sz="2800">
                <a:latin typeface="+mn-lt"/>
                <a:ea typeface="微软雅黑 Light" panose="020B0502040204020203" pitchFamily="34" charset="-122"/>
              </a:endParaRPr>
            </a:p>
          </p:txBody>
        </p:sp>
        <p:sp>
          <p:nvSpPr>
            <p:cNvPr id="281768" name="Oval 168"/>
            <p:cNvSpPr>
              <a:spLocks noChangeArrowheads="1"/>
            </p:cNvSpPr>
            <p:nvPr/>
          </p:nvSpPr>
          <p:spPr bwMode="auto">
            <a:xfrm>
              <a:off x="6516688" y="2149475"/>
              <a:ext cx="101600" cy="88900"/>
            </a:xfrm>
            <a:prstGeom prst="ellipse">
              <a:avLst/>
            </a:prstGeom>
            <a:solidFill>
              <a:schemeClr val="bg2">
                <a:lumMod val="75000"/>
              </a:schemeClr>
            </a:solidFill>
            <a:ln w="9525">
              <a:solidFill>
                <a:srgbClr val="006600"/>
              </a:solidFill>
              <a:round/>
            </a:ln>
            <a:effectLst/>
          </p:spPr>
          <p:txBody>
            <a:bodyPr wrap="none" anchor="ctr"/>
            <a:lstStyle/>
            <a:p>
              <a:pPr algn="ctr"/>
              <a:endParaRPr lang="zh-CN" altLang="zh-CN" sz="2800">
                <a:latin typeface="+mn-lt"/>
                <a:ea typeface="微软雅黑 Light" panose="020B0502040204020203" pitchFamily="34" charset="-122"/>
              </a:endParaRPr>
            </a:p>
          </p:txBody>
        </p:sp>
        <p:sp>
          <p:nvSpPr>
            <p:cNvPr id="281769" name="Oval 169"/>
            <p:cNvSpPr>
              <a:spLocks noChangeArrowheads="1"/>
            </p:cNvSpPr>
            <p:nvPr/>
          </p:nvSpPr>
          <p:spPr bwMode="auto">
            <a:xfrm>
              <a:off x="7035800" y="1941514"/>
              <a:ext cx="103188" cy="90487"/>
            </a:xfrm>
            <a:prstGeom prst="ellipse">
              <a:avLst/>
            </a:prstGeom>
            <a:solidFill>
              <a:schemeClr val="bg2">
                <a:lumMod val="75000"/>
              </a:schemeClr>
            </a:solidFill>
            <a:ln w="9525">
              <a:solidFill>
                <a:srgbClr val="006600"/>
              </a:solidFill>
              <a:round/>
            </a:ln>
            <a:effectLst/>
          </p:spPr>
          <p:txBody>
            <a:bodyPr wrap="none" anchor="ctr"/>
            <a:lstStyle/>
            <a:p>
              <a:pPr algn="ctr"/>
              <a:endParaRPr lang="zh-CN" altLang="zh-CN" sz="2800">
                <a:latin typeface="+mn-lt"/>
                <a:ea typeface="微软雅黑 Light" panose="020B0502040204020203" pitchFamily="34" charset="-122"/>
              </a:endParaRPr>
            </a:p>
          </p:txBody>
        </p:sp>
        <p:sp>
          <p:nvSpPr>
            <p:cNvPr id="281770" name="Oval 170"/>
            <p:cNvSpPr>
              <a:spLocks noChangeArrowheads="1"/>
            </p:cNvSpPr>
            <p:nvPr/>
          </p:nvSpPr>
          <p:spPr bwMode="auto">
            <a:xfrm>
              <a:off x="6778625" y="2038350"/>
              <a:ext cx="103188" cy="88900"/>
            </a:xfrm>
            <a:prstGeom prst="ellipse">
              <a:avLst/>
            </a:prstGeom>
            <a:solidFill>
              <a:schemeClr val="bg2">
                <a:lumMod val="75000"/>
              </a:schemeClr>
            </a:solidFill>
            <a:ln w="9525">
              <a:solidFill>
                <a:srgbClr val="006600"/>
              </a:solidFill>
              <a:round/>
            </a:ln>
            <a:effectLst/>
          </p:spPr>
          <p:txBody>
            <a:bodyPr wrap="none" anchor="ctr"/>
            <a:lstStyle/>
            <a:p>
              <a:pPr algn="ctr"/>
              <a:endParaRPr lang="zh-CN" altLang="zh-CN" sz="2800">
                <a:latin typeface="+mn-lt"/>
                <a:ea typeface="微软雅黑 Light" panose="020B0502040204020203" pitchFamily="34" charset="-122"/>
              </a:endParaRPr>
            </a:p>
          </p:txBody>
        </p:sp>
        <p:sp>
          <p:nvSpPr>
            <p:cNvPr id="281771" name="Oval 171"/>
            <p:cNvSpPr>
              <a:spLocks noChangeArrowheads="1"/>
            </p:cNvSpPr>
            <p:nvPr/>
          </p:nvSpPr>
          <p:spPr bwMode="auto">
            <a:xfrm>
              <a:off x="8367713" y="3105150"/>
              <a:ext cx="101600" cy="88900"/>
            </a:xfrm>
            <a:prstGeom prst="ellipse">
              <a:avLst/>
            </a:prstGeom>
            <a:solidFill>
              <a:schemeClr val="bg2">
                <a:lumMod val="75000"/>
              </a:schemeClr>
            </a:solidFill>
            <a:ln w="9525">
              <a:solidFill>
                <a:srgbClr val="006600"/>
              </a:solidFill>
              <a:round/>
            </a:ln>
            <a:effectLst/>
          </p:spPr>
          <p:txBody>
            <a:bodyPr wrap="none" anchor="ctr"/>
            <a:lstStyle/>
            <a:p>
              <a:pPr algn="ctr"/>
              <a:endParaRPr lang="zh-CN" altLang="zh-CN" sz="2800">
                <a:latin typeface="+mn-lt"/>
                <a:ea typeface="微软雅黑 Light" panose="020B0502040204020203" pitchFamily="34" charset="-122"/>
              </a:endParaRPr>
            </a:p>
          </p:txBody>
        </p:sp>
        <p:sp>
          <p:nvSpPr>
            <p:cNvPr id="281772" name="Oval 172"/>
            <p:cNvSpPr>
              <a:spLocks noChangeArrowheads="1"/>
            </p:cNvSpPr>
            <p:nvPr/>
          </p:nvSpPr>
          <p:spPr bwMode="auto">
            <a:xfrm>
              <a:off x="7567613" y="4060825"/>
              <a:ext cx="101600" cy="88900"/>
            </a:xfrm>
            <a:prstGeom prst="ellipse">
              <a:avLst/>
            </a:prstGeom>
            <a:solidFill>
              <a:schemeClr val="bg2">
                <a:lumMod val="75000"/>
              </a:schemeClr>
            </a:solidFill>
            <a:ln w="9525">
              <a:solidFill>
                <a:srgbClr val="006600"/>
              </a:solidFill>
              <a:round/>
            </a:ln>
            <a:effectLst/>
          </p:spPr>
          <p:txBody>
            <a:bodyPr wrap="none" anchor="ctr"/>
            <a:lstStyle/>
            <a:p>
              <a:pPr algn="ctr"/>
              <a:endParaRPr lang="zh-CN" altLang="zh-CN" sz="2800">
                <a:latin typeface="+mn-lt"/>
                <a:ea typeface="微软雅黑 Light" panose="020B0502040204020203" pitchFamily="34" charset="-122"/>
              </a:endParaRPr>
            </a:p>
          </p:txBody>
        </p:sp>
        <p:sp>
          <p:nvSpPr>
            <p:cNvPr id="281773" name="Oval 173"/>
            <p:cNvSpPr>
              <a:spLocks noChangeArrowheads="1"/>
            </p:cNvSpPr>
            <p:nvPr/>
          </p:nvSpPr>
          <p:spPr bwMode="auto">
            <a:xfrm>
              <a:off x="7835900" y="3871914"/>
              <a:ext cx="101600" cy="90487"/>
            </a:xfrm>
            <a:prstGeom prst="ellipse">
              <a:avLst/>
            </a:prstGeom>
            <a:solidFill>
              <a:schemeClr val="bg2">
                <a:lumMod val="75000"/>
              </a:schemeClr>
            </a:solidFill>
            <a:ln w="9525">
              <a:solidFill>
                <a:srgbClr val="006600"/>
              </a:solidFill>
              <a:round/>
            </a:ln>
            <a:effectLst/>
          </p:spPr>
          <p:txBody>
            <a:bodyPr wrap="none" anchor="ctr"/>
            <a:lstStyle/>
            <a:p>
              <a:pPr algn="ctr"/>
              <a:endParaRPr lang="zh-CN" altLang="zh-CN" sz="2800">
                <a:latin typeface="+mn-lt"/>
                <a:ea typeface="微软雅黑 Light" panose="020B0502040204020203" pitchFamily="34" charset="-122"/>
              </a:endParaRPr>
            </a:p>
          </p:txBody>
        </p:sp>
        <p:sp>
          <p:nvSpPr>
            <p:cNvPr id="281774" name="Oval 174"/>
            <p:cNvSpPr>
              <a:spLocks noChangeArrowheads="1"/>
            </p:cNvSpPr>
            <p:nvPr/>
          </p:nvSpPr>
          <p:spPr bwMode="auto">
            <a:xfrm>
              <a:off x="7299325" y="4137025"/>
              <a:ext cx="101600" cy="90488"/>
            </a:xfrm>
            <a:prstGeom prst="ellipse">
              <a:avLst/>
            </a:prstGeom>
            <a:solidFill>
              <a:schemeClr val="bg2">
                <a:lumMod val="75000"/>
              </a:schemeClr>
            </a:solidFill>
            <a:ln w="9525">
              <a:solidFill>
                <a:srgbClr val="006600"/>
              </a:solidFill>
              <a:round/>
            </a:ln>
            <a:effectLst/>
          </p:spPr>
          <p:txBody>
            <a:bodyPr wrap="none" anchor="ctr"/>
            <a:lstStyle/>
            <a:p>
              <a:pPr algn="ctr"/>
              <a:endParaRPr lang="zh-CN" altLang="zh-CN" sz="2800">
                <a:latin typeface="+mn-lt"/>
                <a:ea typeface="微软雅黑 Light" panose="020B0502040204020203" pitchFamily="34" charset="-122"/>
              </a:endParaRPr>
            </a:p>
          </p:txBody>
        </p:sp>
        <p:sp>
          <p:nvSpPr>
            <p:cNvPr id="281775" name="Oval 175"/>
            <p:cNvSpPr>
              <a:spLocks noChangeArrowheads="1"/>
            </p:cNvSpPr>
            <p:nvPr/>
          </p:nvSpPr>
          <p:spPr bwMode="auto">
            <a:xfrm>
              <a:off x="8088313" y="3490914"/>
              <a:ext cx="101600" cy="90487"/>
            </a:xfrm>
            <a:prstGeom prst="ellipse">
              <a:avLst/>
            </a:prstGeom>
            <a:solidFill>
              <a:schemeClr val="bg2">
                <a:lumMod val="75000"/>
              </a:schemeClr>
            </a:solidFill>
            <a:ln w="9525">
              <a:solidFill>
                <a:srgbClr val="006600"/>
              </a:solidFill>
              <a:round/>
            </a:ln>
            <a:effectLst/>
          </p:spPr>
          <p:txBody>
            <a:bodyPr wrap="none" anchor="ctr"/>
            <a:lstStyle/>
            <a:p>
              <a:pPr algn="ctr"/>
              <a:endParaRPr lang="zh-CN" altLang="zh-CN" sz="2800">
                <a:latin typeface="+mn-lt"/>
                <a:ea typeface="微软雅黑 Light" panose="020B0502040204020203" pitchFamily="34" charset="-122"/>
              </a:endParaRPr>
            </a:p>
          </p:txBody>
        </p:sp>
        <p:sp>
          <p:nvSpPr>
            <p:cNvPr id="281776" name="Oval 176"/>
            <p:cNvSpPr>
              <a:spLocks noChangeArrowheads="1"/>
            </p:cNvSpPr>
            <p:nvPr/>
          </p:nvSpPr>
          <p:spPr bwMode="auto">
            <a:xfrm>
              <a:off x="8624888" y="3003550"/>
              <a:ext cx="101600" cy="90488"/>
            </a:xfrm>
            <a:prstGeom prst="ellipse">
              <a:avLst/>
            </a:prstGeom>
            <a:solidFill>
              <a:schemeClr val="bg2">
                <a:lumMod val="75000"/>
              </a:schemeClr>
            </a:solidFill>
            <a:ln w="9525">
              <a:solidFill>
                <a:srgbClr val="006600"/>
              </a:solidFill>
              <a:round/>
            </a:ln>
            <a:effectLst/>
          </p:spPr>
          <p:txBody>
            <a:bodyPr wrap="none" anchor="ctr"/>
            <a:lstStyle/>
            <a:p>
              <a:pPr algn="ctr"/>
              <a:endParaRPr lang="zh-CN" altLang="zh-CN" sz="2800">
                <a:latin typeface="+mn-lt"/>
                <a:ea typeface="微软雅黑 Light" panose="020B0502040204020203" pitchFamily="34" charset="-122"/>
              </a:endParaRPr>
            </a:p>
          </p:txBody>
        </p:sp>
        <p:sp>
          <p:nvSpPr>
            <p:cNvPr id="281777" name="Oval 177"/>
            <p:cNvSpPr>
              <a:spLocks noChangeArrowheads="1"/>
            </p:cNvSpPr>
            <p:nvPr/>
          </p:nvSpPr>
          <p:spPr bwMode="auto">
            <a:xfrm>
              <a:off x="9407525" y="2713039"/>
              <a:ext cx="101600" cy="90487"/>
            </a:xfrm>
            <a:prstGeom prst="ellipse">
              <a:avLst/>
            </a:prstGeom>
            <a:solidFill>
              <a:schemeClr val="bg2">
                <a:lumMod val="75000"/>
              </a:schemeClr>
            </a:solidFill>
            <a:ln w="9525">
              <a:solidFill>
                <a:srgbClr val="006600"/>
              </a:solidFill>
              <a:round/>
            </a:ln>
            <a:effectLst/>
          </p:spPr>
          <p:txBody>
            <a:bodyPr wrap="none" anchor="ctr"/>
            <a:lstStyle/>
            <a:p>
              <a:pPr algn="ctr"/>
              <a:endParaRPr lang="zh-CN" altLang="zh-CN" sz="2800">
                <a:latin typeface="+mn-lt"/>
                <a:ea typeface="微软雅黑 Light" panose="020B0502040204020203" pitchFamily="34" charset="-122"/>
              </a:endParaRPr>
            </a:p>
          </p:txBody>
        </p:sp>
        <p:sp>
          <p:nvSpPr>
            <p:cNvPr id="281778" name="Oval 178"/>
            <p:cNvSpPr>
              <a:spLocks noChangeArrowheads="1"/>
            </p:cNvSpPr>
            <p:nvPr/>
          </p:nvSpPr>
          <p:spPr bwMode="auto">
            <a:xfrm>
              <a:off x="8882063" y="2901950"/>
              <a:ext cx="101600" cy="90488"/>
            </a:xfrm>
            <a:prstGeom prst="ellipse">
              <a:avLst/>
            </a:prstGeom>
            <a:solidFill>
              <a:schemeClr val="bg2">
                <a:lumMod val="75000"/>
              </a:schemeClr>
            </a:solidFill>
            <a:ln w="9525">
              <a:solidFill>
                <a:srgbClr val="006600"/>
              </a:solidFill>
              <a:round/>
            </a:ln>
            <a:effectLst/>
          </p:spPr>
          <p:txBody>
            <a:bodyPr wrap="none" anchor="ctr"/>
            <a:lstStyle/>
            <a:p>
              <a:pPr algn="ctr"/>
              <a:endParaRPr lang="zh-CN" altLang="zh-CN" sz="2800">
                <a:latin typeface="+mn-lt"/>
                <a:ea typeface="微软雅黑 Light" panose="020B0502040204020203" pitchFamily="34" charset="-122"/>
              </a:endParaRPr>
            </a:p>
          </p:txBody>
        </p:sp>
        <p:sp>
          <p:nvSpPr>
            <p:cNvPr id="281779" name="Oval 179"/>
            <p:cNvSpPr>
              <a:spLocks noChangeArrowheads="1"/>
            </p:cNvSpPr>
            <p:nvPr/>
          </p:nvSpPr>
          <p:spPr bwMode="auto">
            <a:xfrm>
              <a:off x="9144000" y="2809875"/>
              <a:ext cx="103188" cy="90488"/>
            </a:xfrm>
            <a:prstGeom prst="ellipse">
              <a:avLst/>
            </a:prstGeom>
            <a:solidFill>
              <a:schemeClr val="bg2">
                <a:lumMod val="75000"/>
              </a:schemeClr>
            </a:solidFill>
            <a:ln w="9525">
              <a:solidFill>
                <a:srgbClr val="006600"/>
              </a:solidFill>
              <a:round/>
            </a:ln>
            <a:effectLst/>
          </p:spPr>
          <p:txBody>
            <a:bodyPr wrap="none" anchor="ctr"/>
            <a:lstStyle/>
            <a:p>
              <a:pPr algn="ctr"/>
              <a:endParaRPr lang="zh-CN" altLang="zh-CN" sz="2800">
                <a:latin typeface="+mn-lt"/>
                <a:ea typeface="微软雅黑 Light" panose="020B0502040204020203" pitchFamily="34" charset="-122"/>
              </a:endParaRPr>
            </a:p>
          </p:txBody>
        </p:sp>
        <p:sp>
          <p:nvSpPr>
            <p:cNvPr id="281780" name="Text Box 180"/>
            <p:cNvSpPr txBox="1">
              <a:spLocks noChangeArrowheads="1"/>
            </p:cNvSpPr>
            <p:nvPr/>
          </p:nvSpPr>
          <p:spPr bwMode="auto">
            <a:xfrm>
              <a:off x="2854325" y="1196976"/>
              <a:ext cx="1784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dirty="0">
                  <a:latin typeface="+mn-lt"/>
                  <a:ea typeface="微软雅黑 Light" panose="020B0502040204020203" pitchFamily="34" charset="-122"/>
                </a:rPr>
                <a:t>拥塞窗口</a:t>
              </a:r>
              <a:r>
                <a:rPr kumimoji="1" lang="en-US" altLang="zh-CN" sz="1800" dirty="0">
                  <a:latin typeface="+mn-lt"/>
                  <a:ea typeface="微软雅黑 Light" panose="020B0502040204020203" pitchFamily="34" charset="-122"/>
                </a:rPr>
                <a:t>(</a:t>
              </a:r>
              <a:r>
                <a:rPr kumimoji="1" lang="en-US" altLang="zh-CN" sz="1800" dirty="0" err="1">
                  <a:latin typeface="+mn-lt"/>
                  <a:ea typeface="微软雅黑 Light" panose="020B0502040204020203" pitchFamily="34" charset="-122"/>
                </a:rPr>
                <a:t>cwnd</a:t>
              </a:r>
              <a:r>
                <a:rPr kumimoji="1" lang="en-US" altLang="zh-CN" sz="1800" dirty="0">
                  <a:latin typeface="+mn-lt"/>
                  <a:ea typeface="微软雅黑 Light" panose="020B0502040204020203" pitchFamily="34" charset="-122"/>
                </a:rPr>
                <a:t>)</a:t>
              </a:r>
            </a:p>
          </p:txBody>
        </p:sp>
        <p:sp>
          <p:nvSpPr>
            <p:cNvPr id="281781" name="Text Box 181"/>
            <p:cNvSpPr txBox="1">
              <a:spLocks noChangeArrowheads="1"/>
            </p:cNvSpPr>
            <p:nvPr/>
          </p:nvSpPr>
          <p:spPr bwMode="auto">
            <a:xfrm>
              <a:off x="1830388" y="2916238"/>
              <a:ext cx="173637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dirty="0">
                  <a:latin typeface="+mn-lt"/>
                  <a:ea typeface="微软雅黑 Light" panose="020B0502040204020203" pitchFamily="34" charset="-122"/>
                </a:rPr>
                <a:t>新的 </a:t>
              </a:r>
              <a:r>
                <a:rPr kumimoji="1" lang="en-US" altLang="zh-CN" sz="1800" dirty="0" err="1">
                  <a:latin typeface="+mn-lt"/>
                  <a:ea typeface="微软雅黑 Light" panose="020B0502040204020203" pitchFamily="34" charset="-122"/>
                </a:rPr>
                <a:t>ssthresh</a:t>
              </a:r>
              <a:r>
                <a:rPr kumimoji="1" lang="en-US" altLang="zh-CN" sz="1800" dirty="0">
                  <a:latin typeface="+mn-lt"/>
                  <a:ea typeface="微软雅黑 Light" panose="020B0502040204020203" pitchFamily="34" charset="-122"/>
                </a:rPr>
                <a:t> </a:t>
              </a:r>
              <a:r>
                <a:rPr kumimoji="1" lang="zh-CN" altLang="en-US" sz="1800" dirty="0">
                  <a:latin typeface="+mn-lt"/>
                  <a:ea typeface="微软雅黑 Light" panose="020B0502040204020203" pitchFamily="34" charset="-122"/>
                </a:rPr>
                <a:t>值</a:t>
              </a:r>
            </a:p>
          </p:txBody>
        </p:sp>
        <p:sp>
          <p:nvSpPr>
            <p:cNvPr id="281782" name="Text Box 182"/>
            <p:cNvSpPr txBox="1">
              <a:spLocks noChangeArrowheads="1"/>
            </p:cNvSpPr>
            <p:nvPr/>
          </p:nvSpPr>
          <p:spPr bwMode="auto">
            <a:xfrm>
              <a:off x="7535863" y="1341438"/>
              <a:ext cx="1098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dirty="0">
                  <a:latin typeface="+mn-lt"/>
                  <a:ea typeface="微软雅黑 Light" panose="020B0502040204020203" pitchFamily="34" charset="-122"/>
                </a:rPr>
                <a:t>网络拥塞</a:t>
              </a:r>
            </a:p>
          </p:txBody>
        </p:sp>
        <p:sp>
          <p:nvSpPr>
            <p:cNvPr id="281783" name="Line 183"/>
            <p:cNvSpPr>
              <a:spLocks noChangeShapeType="1"/>
            </p:cNvSpPr>
            <p:nvPr/>
          </p:nvSpPr>
          <p:spPr bwMode="auto">
            <a:xfrm flipH="1">
              <a:off x="7189789" y="1628775"/>
              <a:ext cx="346075" cy="292100"/>
            </a:xfrm>
            <a:prstGeom prst="line">
              <a:avLst/>
            </a:prstGeom>
            <a:noFill/>
            <a:ln w="9525">
              <a:solidFill>
                <a:schemeClr val="tx1"/>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81784" name="Text Box 184"/>
            <p:cNvSpPr txBox="1">
              <a:spLocks noChangeArrowheads="1"/>
            </p:cNvSpPr>
            <p:nvPr/>
          </p:nvSpPr>
          <p:spPr bwMode="auto">
            <a:xfrm>
              <a:off x="5168900" y="3667126"/>
              <a:ext cx="1555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dirty="0">
                  <a:latin typeface="+mn-lt"/>
                  <a:ea typeface="微软雅黑 Light" panose="020B0502040204020203" pitchFamily="34" charset="-122"/>
                </a:rPr>
                <a:t>指数规律增长</a:t>
              </a:r>
            </a:p>
          </p:txBody>
        </p:sp>
        <p:sp>
          <p:nvSpPr>
            <p:cNvPr id="281785" name="Line 185"/>
            <p:cNvSpPr>
              <a:spLocks noChangeShapeType="1"/>
            </p:cNvSpPr>
            <p:nvPr/>
          </p:nvSpPr>
          <p:spPr bwMode="auto">
            <a:xfrm flipH="1" flipV="1">
              <a:off x="4556125" y="3770314"/>
              <a:ext cx="700088" cy="77787"/>
            </a:xfrm>
            <a:prstGeom prst="line">
              <a:avLst/>
            </a:prstGeom>
            <a:noFill/>
            <a:ln w="9525">
              <a:solidFill>
                <a:schemeClr val="tx1"/>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81786" name="Rectangle 186"/>
            <p:cNvSpPr>
              <a:spLocks noChangeArrowheads="1"/>
            </p:cNvSpPr>
            <p:nvPr/>
          </p:nvSpPr>
          <p:spPr bwMode="auto">
            <a:xfrm>
              <a:off x="4029076" y="1917700"/>
              <a:ext cx="219075" cy="20589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a:latin typeface="+mn-lt"/>
                <a:ea typeface="微软雅黑 Light" panose="020B0502040204020203" pitchFamily="34" charset="-122"/>
              </a:endParaRPr>
            </a:p>
          </p:txBody>
        </p:sp>
        <p:sp>
          <p:nvSpPr>
            <p:cNvPr id="281787" name="Line 187"/>
            <p:cNvSpPr>
              <a:spLocks noChangeShapeType="1"/>
            </p:cNvSpPr>
            <p:nvPr/>
          </p:nvSpPr>
          <p:spPr bwMode="auto">
            <a:xfrm>
              <a:off x="4029076" y="2767013"/>
              <a:ext cx="963613" cy="0"/>
            </a:xfrm>
            <a:prstGeom prst="line">
              <a:avLst/>
            </a:prstGeom>
            <a:noFill/>
            <a:ln w="9525">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81788" name="Rectangle 188"/>
            <p:cNvSpPr>
              <a:spLocks noChangeArrowheads="1"/>
            </p:cNvSpPr>
            <p:nvPr/>
          </p:nvSpPr>
          <p:spPr bwMode="auto">
            <a:xfrm>
              <a:off x="4379914" y="4079875"/>
              <a:ext cx="2803525" cy="1539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a:latin typeface="+mn-lt"/>
                <a:ea typeface="微软雅黑 Light" panose="020B0502040204020203" pitchFamily="34" charset="-122"/>
              </a:endParaRPr>
            </a:p>
          </p:txBody>
        </p:sp>
        <p:sp>
          <p:nvSpPr>
            <p:cNvPr id="281789" name="Rectangle 189"/>
            <p:cNvSpPr>
              <a:spLocks noChangeArrowheads="1"/>
            </p:cNvSpPr>
            <p:nvPr/>
          </p:nvSpPr>
          <p:spPr bwMode="auto">
            <a:xfrm>
              <a:off x="7797800" y="4079875"/>
              <a:ext cx="2014538" cy="1539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a:latin typeface="+mn-lt"/>
                <a:ea typeface="微软雅黑 Light" panose="020B0502040204020203" pitchFamily="34" charset="-122"/>
              </a:endParaRPr>
            </a:p>
          </p:txBody>
        </p:sp>
        <p:sp>
          <p:nvSpPr>
            <p:cNvPr id="281790" name="Text Box 190"/>
            <p:cNvSpPr txBox="1">
              <a:spLocks noChangeArrowheads="1"/>
            </p:cNvSpPr>
            <p:nvPr/>
          </p:nvSpPr>
          <p:spPr bwMode="auto">
            <a:xfrm>
              <a:off x="1729714" y="2574926"/>
              <a:ext cx="190949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800" dirty="0" err="1">
                  <a:latin typeface="+mn-lt"/>
                  <a:ea typeface="微软雅黑 Light" panose="020B0502040204020203" pitchFamily="34" charset="-122"/>
                </a:rPr>
                <a:t>ssthresh</a:t>
              </a:r>
              <a:r>
                <a:rPr kumimoji="1" lang="en-US" altLang="zh-CN" sz="1800" dirty="0">
                  <a:latin typeface="+mn-lt"/>
                  <a:ea typeface="微软雅黑 Light" panose="020B0502040204020203" pitchFamily="34" charset="-122"/>
                </a:rPr>
                <a:t> </a:t>
              </a:r>
              <a:r>
                <a:rPr kumimoji="1" lang="zh-CN" altLang="en-US" sz="1800" dirty="0">
                  <a:latin typeface="+mn-lt"/>
                  <a:ea typeface="微软雅黑 Light" panose="020B0502040204020203" pitchFamily="34" charset="-122"/>
                </a:rPr>
                <a:t>的初始值</a:t>
              </a:r>
            </a:p>
          </p:txBody>
        </p:sp>
        <p:sp>
          <p:nvSpPr>
            <p:cNvPr id="281791" name="Text Box 191"/>
            <p:cNvSpPr txBox="1">
              <a:spLocks noChangeArrowheads="1"/>
            </p:cNvSpPr>
            <p:nvPr/>
          </p:nvSpPr>
          <p:spPr bwMode="auto">
            <a:xfrm>
              <a:off x="2430464" y="3800476"/>
              <a:ext cx="9858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1800" dirty="0">
                  <a:latin typeface="+mn-lt"/>
                  <a:ea typeface="微软雅黑 Light" panose="020B0502040204020203" pitchFamily="34" charset="-122"/>
                </a:rPr>
                <a:t>慢启动</a:t>
              </a:r>
            </a:p>
          </p:txBody>
        </p:sp>
        <p:sp>
          <p:nvSpPr>
            <p:cNvPr id="281792" name="Line 192"/>
            <p:cNvSpPr>
              <a:spLocks noChangeShapeType="1"/>
            </p:cNvSpPr>
            <p:nvPr/>
          </p:nvSpPr>
          <p:spPr bwMode="auto">
            <a:xfrm rot="-21600000">
              <a:off x="3284538" y="4021139"/>
              <a:ext cx="614362" cy="155575"/>
            </a:xfrm>
            <a:prstGeom prst="line">
              <a:avLst/>
            </a:prstGeom>
            <a:noFill/>
            <a:ln w="9525">
              <a:solidFill>
                <a:schemeClr val="tx1"/>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81793" name="Text Box 193"/>
            <p:cNvSpPr txBox="1">
              <a:spLocks noChangeArrowheads="1"/>
            </p:cNvSpPr>
            <p:nvPr/>
          </p:nvSpPr>
          <p:spPr bwMode="auto">
            <a:xfrm>
              <a:off x="4054475" y="4692651"/>
              <a:ext cx="9858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1800" dirty="0">
                  <a:solidFill>
                    <a:schemeClr val="bg1"/>
                  </a:solidFill>
                  <a:latin typeface="+mn-lt"/>
                  <a:ea typeface="微软雅黑 Light" panose="020B0502040204020203" pitchFamily="34" charset="-122"/>
                </a:rPr>
                <a:t>慢启动</a:t>
              </a:r>
            </a:p>
          </p:txBody>
        </p:sp>
        <p:sp>
          <p:nvSpPr>
            <p:cNvPr id="281794" name="Text Box 194"/>
            <p:cNvSpPr txBox="1">
              <a:spLocks noChangeArrowheads="1"/>
            </p:cNvSpPr>
            <p:nvPr/>
          </p:nvSpPr>
          <p:spPr bwMode="auto">
            <a:xfrm>
              <a:off x="7450139" y="4716463"/>
              <a:ext cx="98583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1800" dirty="0">
                  <a:solidFill>
                    <a:schemeClr val="bg1"/>
                  </a:solidFill>
                  <a:latin typeface="+mn-lt"/>
                  <a:ea typeface="微软雅黑 Light" panose="020B0502040204020203" pitchFamily="34" charset="-122"/>
                </a:rPr>
                <a:t>慢启动</a:t>
              </a:r>
            </a:p>
          </p:txBody>
        </p:sp>
        <p:sp>
          <p:nvSpPr>
            <p:cNvPr id="281795" name="Text Box 195"/>
            <p:cNvSpPr txBox="1">
              <a:spLocks noChangeArrowheads="1"/>
            </p:cNvSpPr>
            <p:nvPr/>
          </p:nvSpPr>
          <p:spPr bwMode="auto">
            <a:xfrm>
              <a:off x="5344346" y="1408114"/>
              <a:ext cx="1274708" cy="646331"/>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800" dirty="0">
                  <a:latin typeface="+mn-lt"/>
                  <a:ea typeface="微软雅黑 Light" panose="020B0502040204020203" pitchFamily="34" charset="-122"/>
                </a:rPr>
                <a:t>拥塞避免</a:t>
              </a:r>
            </a:p>
            <a:p>
              <a:pPr algn="ctr"/>
              <a:r>
                <a:rPr kumimoji="1" lang="zh-CN" altLang="en-US" sz="1800" dirty="0">
                  <a:latin typeface="+mn-lt"/>
                  <a:ea typeface="微软雅黑 Light" panose="020B0502040204020203" pitchFamily="34" charset="-122"/>
                </a:rPr>
                <a:t>“加法增大”</a:t>
              </a:r>
            </a:p>
          </p:txBody>
        </p:sp>
        <p:sp>
          <p:nvSpPr>
            <p:cNvPr id="281796" name="Text Box 196"/>
            <p:cNvSpPr txBox="1">
              <a:spLocks noChangeArrowheads="1"/>
            </p:cNvSpPr>
            <p:nvPr/>
          </p:nvSpPr>
          <p:spPr bwMode="auto">
            <a:xfrm>
              <a:off x="8506646" y="1814514"/>
              <a:ext cx="1274708" cy="646331"/>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800" dirty="0">
                  <a:latin typeface="+mn-lt"/>
                  <a:ea typeface="微软雅黑 Light" panose="020B0502040204020203" pitchFamily="34" charset="-122"/>
                </a:rPr>
                <a:t>拥塞避免</a:t>
              </a:r>
            </a:p>
            <a:p>
              <a:pPr algn="ctr"/>
              <a:r>
                <a:rPr kumimoji="1" lang="zh-CN" altLang="en-US" sz="1800" dirty="0">
                  <a:latin typeface="+mn-lt"/>
                  <a:ea typeface="微软雅黑 Light" panose="020B0502040204020203" pitchFamily="34" charset="-122"/>
                </a:rPr>
                <a:t>“加法增大”</a:t>
              </a:r>
            </a:p>
          </p:txBody>
        </p:sp>
        <p:sp>
          <p:nvSpPr>
            <p:cNvPr id="281797" name="Line 197"/>
            <p:cNvSpPr>
              <a:spLocks noChangeShapeType="1"/>
            </p:cNvSpPr>
            <p:nvPr/>
          </p:nvSpPr>
          <p:spPr bwMode="auto">
            <a:xfrm rot="10800000">
              <a:off x="4029076" y="3152775"/>
              <a:ext cx="4645025" cy="0"/>
            </a:xfrm>
            <a:prstGeom prst="line">
              <a:avLst/>
            </a:prstGeom>
            <a:noFill/>
            <a:ln w="9525">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81798" name="Line 198"/>
            <p:cNvSpPr>
              <a:spLocks noChangeShapeType="1"/>
            </p:cNvSpPr>
            <p:nvPr/>
          </p:nvSpPr>
          <p:spPr bwMode="auto">
            <a:xfrm flipV="1">
              <a:off x="4029076" y="1992314"/>
              <a:ext cx="4194175" cy="1587"/>
            </a:xfrm>
            <a:prstGeom prst="line">
              <a:avLst/>
            </a:prstGeom>
            <a:noFill/>
            <a:ln w="9525">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81799" name="Freeform 199"/>
            <p:cNvSpPr/>
            <p:nvPr/>
          </p:nvSpPr>
          <p:spPr bwMode="auto">
            <a:xfrm>
              <a:off x="3854450" y="1993900"/>
              <a:ext cx="5772150" cy="2205038"/>
            </a:xfrm>
            <a:custGeom>
              <a:avLst/>
              <a:gdLst>
                <a:gd name="T0" fmla="*/ 3162 w 3162"/>
                <a:gd name="T1" fmla="*/ 438 h 1370"/>
                <a:gd name="T2" fmla="*/ 2496 w 3162"/>
                <a:gd name="T3" fmla="*/ 720 h 1370"/>
                <a:gd name="T4" fmla="*/ 2352 w 3162"/>
                <a:gd name="T5" fmla="*/ 954 h 1370"/>
                <a:gd name="T6" fmla="*/ 2205 w 3162"/>
                <a:gd name="T7" fmla="*/ 1200 h 1370"/>
                <a:gd name="T8" fmla="*/ 2061 w 3162"/>
                <a:gd name="T9" fmla="*/ 1320 h 1370"/>
                <a:gd name="T10" fmla="*/ 1917 w 3162"/>
                <a:gd name="T11" fmla="*/ 1368 h 1370"/>
                <a:gd name="T12" fmla="*/ 1866 w 3162"/>
                <a:gd name="T13" fmla="*/ 936 h 1370"/>
                <a:gd name="T14" fmla="*/ 1773 w 3162"/>
                <a:gd name="T15" fmla="*/ 0 h 1370"/>
                <a:gd name="T16" fmla="*/ 618 w 3162"/>
                <a:gd name="T17" fmla="*/ 487 h 1370"/>
                <a:gd name="T18" fmla="*/ 480 w 3162"/>
                <a:gd name="T19" fmla="*/ 961 h 1370"/>
                <a:gd name="T20" fmla="*/ 331 w 3162"/>
                <a:gd name="T21" fmla="*/ 1201 h 1370"/>
                <a:gd name="T22" fmla="*/ 187 w 3162"/>
                <a:gd name="T23" fmla="*/ 1321 h 1370"/>
                <a:gd name="T24" fmla="*/ 55 w 3162"/>
                <a:gd name="T25" fmla="*/ 1369 h 13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162" h="1370">
                  <a:moveTo>
                    <a:pt x="3162" y="438"/>
                  </a:moveTo>
                  <a:lnTo>
                    <a:pt x="2496" y="720"/>
                  </a:lnTo>
                  <a:lnTo>
                    <a:pt x="2352" y="954"/>
                  </a:lnTo>
                  <a:lnTo>
                    <a:pt x="2205" y="1200"/>
                  </a:lnTo>
                  <a:lnTo>
                    <a:pt x="2061" y="1320"/>
                  </a:lnTo>
                  <a:lnTo>
                    <a:pt x="1917" y="1368"/>
                  </a:lnTo>
                  <a:lnTo>
                    <a:pt x="1866" y="936"/>
                  </a:lnTo>
                  <a:lnTo>
                    <a:pt x="1773" y="0"/>
                  </a:lnTo>
                  <a:lnTo>
                    <a:pt x="618" y="487"/>
                  </a:lnTo>
                  <a:lnTo>
                    <a:pt x="480" y="961"/>
                  </a:lnTo>
                  <a:lnTo>
                    <a:pt x="331" y="1201"/>
                  </a:lnTo>
                  <a:lnTo>
                    <a:pt x="187" y="1321"/>
                  </a:lnTo>
                  <a:cubicBezTo>
                    <a:pt x="47" y="1370"/>
                    <a:pt x="0" y="1369"/>
                    <a:pt x="55" y="1369"/>
                  </a:cubicBezTo>
                </a:path>
              </a:pathLst>
            </a:custGeom>
            <a:noFill/>
            <a:ln w="28575" cmpd="sng">
              <a:solidFill>
                <a:schemeClr val="bg2">
                  <a:lumMod val="75000"/>
                </a:schemeClr>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微软雅黑 Light" panose="020B0502040204020203" pitchFamily="34" charset="-122"/>
              </a:endParaRPr>
            </a:p>
          </p:txBody>
        </p:sp>
        <p:sp>
          <p:nvSpPr>
            <p:cNvPr id="281800" name="Text Box 200"/>
            <p:cNvSpPr txBox="1">
              <a:spLocks noChangeArrowheads="1"/>
            </p:cNvSpPr>
            <p:nvPr/>
          </p:nvSpPr>
          <p:spPr bwMode="auto">
            <a:xfrm>
              <a:off x="9318625" y="4581526"/>
              <a:ext cx="1098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a:latin typeface="+mn-lt"/>
                  <a:ea typeface="微软雅黑 Light" panose="020B0502040204020203" pitchFamily="34" charset="-122"/>
                </a:rPr>
                <a:t>传输轮次</a:t>
              </a:r>
            </a:p>
          </p:txBody>
        </p:sp>
      </p:gr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6EDCAB55-93D3-41D2-806A-4D639956B0E0}" type="slidenum">
              <a:rPr lang="en-US" altLang="zh-CN"/>
              <a:t>75</a:t>
            </a:fld>
            <a:endParaRPr lang="en-US" altLang="zh-CN"/>
          </a:p>
        </p:txBody>
      </p:sp>
      <p:sp>
        <p:nvSpPr>
          <p:cNvPr id="299010" name="Rectangle 2"/>
          <p:cNvSpPr>
            <a:spLocks noGrp="1" noChangeArrowheads="1"/>
          </p:cNvSpPr>
          <p:nvPr>
            <p:ph type="title"/>
          </p:nvPr>
        </p:nvSpPr>
        <p:spPr/>
        <p:txBody>
          <a:bodyPr/>
          <a:lstStyle/>
          <a:p>
            <a:r>
              <a:rPr lang="zh-CN" altLang="en-US" dirty="0"/>
              <a:t>乘法减小</a:t>
            </a:r>
            <a:r>
              <a:rPr lang="en-US" altLang="zh-CN" dirty="0"/>
              <a:t>(multiplicative decrease)</a:t>
            </a:r>
          </a:p>
        </p:txBody>
      </p:sp>
      <p:sp>
        <p:nvSpPr>
          <p:cNvPr id="299011" name="Rectangle 3"/>
          <p:cNvSpPr>
            <a:spLocks noGrp="1" noChangeArrowheads="1"/>
          </p:cNvSpPr>
          <p:nvPr>
            <p:ph type="body" idx="1"/>
          </p:nvPr>
        </p:nvSpPr>
        <p:spPr/>
        <p:txBody>
          <a:bodyPr/>
          <a:lstStyle/>
          <a:p>
            <a:pPr algn="just">
              <a:lnSpc>
                <a:spcPct val="120000"/>
              </a:lnSpc>
            </a:pPr>
            <a:r>
              <a:rPr lang="en-US" altLang="zh-CN" dirty="0">
                <a:latin typeface="+mn-lt"/>
              </a:rPr>
              <a:t>“</a:t>
            </a:r>
            <a:r>
              <a:rPr lang="zh-CN" altLang="en-US" dirty="0">
                <a:latin typeface="+mn-lt"/>
              </a:rPr>
              <a:t>乘法减小“是指不论在慢启动阶段还是拥塞避免阶段，只要出现一次超时（即出现一次网络拥塞），就把慢开始门限值 </a:t>
            </a:r>
            <a:r>
              <a:rPr lang="en-US" altLang="zh-CN" dirty="0" err="1">
                <a:latin typeface="+mn-lt"/>
              </a:rPr>
              <a:t>ssthresh</a:t>
            </a:r>
            <a:r>
              <a:rPr lang="en-US" altLang="zh-CN" dirty="0">
                <a:latin typeface="+mn-lt"/>
              </a:rPr>
              <a:t> </a:t>
            </a:r>
            <a:r>
              <a:rPr lang="zh-CN" altLang="en-US" dirty="0">
                <a:latin typeface="+mn-lt"/>
              </a:rPr>
              <a:t>设置为当前的拥塞窗口值乘以</a:t>
            </a:r>
            <a:r>
              <a:rPr lang="en-US" altLang="zh-CN" dirty="0">
                <a:latin typeface="+mn-lt"/>
              </a:rPr>
              <a:t>1/2</a:t>
            </a:r>
            <a:endParaRPr lang="zh-CN" altLang="en-US" dirty="0">
              <a:latin typeface="+mn-lt"/>
            </a:endParaRPr>
          </a:p>
          <a:p>
            <a:pPr algn="just">
              <a:lnSpc>
                <a:spcPct val="120000"/>
              </a:lnSpc>
            </a:pPr>
            <a:r>
              <a:rPr lang="zh-CN" altLang="en-US" dirty="0">
                <a:latin typeface="+mn-lt"/>
              </a:rPr>
              <a:t>当网络频繁出现拥塞时，</a:t>
            </a:r>
            <a:r>
              <a:rPr lang="en-US" altLang="zh-CN" dirty="0" err="1">
                <a:latin typeface="+mn-lt"/>
              </a:rPr>
              <a:t>ssthresh</a:t>
            </a:r>
            <a:r>
              <a:rPr lang="en-US" altLang="zh-CN" dirty="0">
                <a:latin typeface="+mn-lt"/>
              </a:rPr>
              <a:t> </a:t>
            </a:r>
            <a:r>
              <a:rPr lang="zh-CN" altLang="en-US" dirty="0">
                <a:latin typeface="+mn-lt"/>
              </a:rPr>
              <a:t>值就下降得很快，以大大减少注入到网络中的分组数</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EAFCE1B3-8B59-4C1E-BA59-EB4DCADDFBD7}" type="slidenum">
              <a:rPr lang="en-US" altLang="zh-CN"/>
              <a:t>76</a:t>
            </a:fld>
            <a:endParaRPr lang="en-US" altLang="zh-CN"/>
          </a:p>
        </p:txBody>
      </p:sp>
      <p:sp>
        <p:nvSpPr>
          <p:cNvPr id="300034" name="Rectangle 2"/>
          <p:cNvSpPr>
            <a:spLocks noGrp="1" noChangeArrowheads="1"/>
          </p:cNvSpPr>
          <p:nvPr>
            <p:ph type="title"/>
          </p:nvPr>
        </p:nvSpPr>
        <p:spPr/>
        <p:txBody>
          <a:bodyPr/>
          <a:lstStyle/>
          <a:p>
            <a:r>
              <a:rPr lang="zh-CN" altLang="en-US" dirty="0"/>
              <a:t>加法增大</a:t>
            </a:r>
            <a:r>
              <a:rPr lang="en-US" altLang="zh-CN" dirty="0"/>
              <a:t>(additive increase)</a:t>
            </a:r>
          </a:p>
        </p:txBody>
      </p:sp>
      <p:sp>
        <p:nvSpPr>
          <p:cNvPr id="300035" name="Rectangle 3"/>
          <p:cNvSpPr>
            <a:spLocks noGrp="1" noChangeArrowheads="1"/>
          </p:cNvSpPr>
          <p:nvPr>
            <p:ph type="body" idx="1"/>
          </p:nvPr>
        </p:nvSpPr>
        <p:spPr/>
        <p:txBody>
          <a:bodyPr/>
          <a:lstStyle/>
          <a:p>
            <a:pPr>
              <a:lnSpc>
                <a:spcPct val="120000"/>
              </a:lnSpc>
            </a:pPr>
            <a:r>
              <a:rPr lang="en-US" altLang="zh-CN" dirty="0"/>
              <a:t>“</a:t>
            </a:r>
            <a:r>
              <a:rPr lang="zh-CN" altLang="en-US" dirty="0"/>
              <a:t>加法增大”是指执行拥塞避免算法后，在收到对所有报文段的确认后（即经过一个往返时间），就把拥塞窗口 </a:t>
            </a:r>
            <a:r>
              <a:rPr lang="en-US" altLang="zh-CN" dirty="0" err="1"/>
              <a:t>cwnd</a:t>
            </a:r>
            <a:r>
              <a:rPr lang="zh-CN" altLang="en-US" dirty="0"/>
              <a:t>增加一个 </a:t>
            </a:r>
            <a:r>
              <a:rPr lang="en-US" altLang="zh-CN" dirty="0"/>
              <a:t>MSS </a:t>
            </a:r>
            <a:r>
              <a:rPr lang="zh-CN" altLang="en-US" dirty="0"/>
              <a:t>大小，使拥塞窗口缓慢增大，以防止网络过早出现拥塞</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E49A384C-454B-4305-A912-E74179FB3F48}" type="slidenum">
              <a:rPr lang="en-US" altLang="zh-CN"/>
              <a:t>77</a:t>
            </a:fld>
            <a:endParaRPr lang="en-US" altLang="zh-CN"/>
          </a:p>
        </p:txBody>
      </p:sp>
      <p:sp>
        <p:nvSpPr>
          <p:cNvPr id="301058" name="Rectangle 2"/>
          <p:cNvSpPr>
            <a:spLocks noGrp="1" noChangeArrowheads="1"/>
          </p:cNvSpPr>
          <p:nvPr>
            <p:ph type="title"/>
          </p:nvPr>
        </p:nvSpPr>
        <p:spPr/>
        <p:txBody>
          <a:bodyPr/>
          <a:lstStyle/>
          <a:p>
            <a:r>
              <a:rPr lang="zh-CN" altLang="en-US" sz="3200" dirty="0">
                <a:latin typeface="+mn-lt"/>
              </a:rPr>
              <a:t>拥塞避免</a:t>
            </a:r>
            <a:endParaRPr lang="zh-CN" altLang="en-US" dirty="0"/>
          </a:p>
        </p:txBody>
      </p:sp>
      <p:sp>
        <p:nvSpPr>
          <p:cNvPr id="301059" name="Rectangle 3"/>
          <p:cNvSpPr>
            <a:spLocks noGrp="1" noChangeArrowheads="1"/>
          </p:cNvSpPr>
          <p:nvPr>
            <p:ph type="body" idx="1"/>
          </p:nvPr>
        </p:nvSpPr>
        <p:spPr/>
        <p:txBody>
          <a:bodyPr>
            <a:normAutofit/>
          </a:bodyPr>
          <a:lstStyle/>
          <a:p>
            <a:pPr algn="just">
              <a:lnSpc>
                <a:spcPct val="120000"/>
              </a:lnSpc>
            </a:pPr>
            <a:r>
              <a:rPr lang="en-US" altLang="zh-CN" dirty="0">
                <a:latin typeface="+mn-lt"/>
              </a:rPr>
              <a:t>“</a:t>
            </a:r>
            <a:r>
              <a:rPr lang="zh-CN" altLang="en-US" dirty="0">
                <a:latin typeface="+mn-lt"/>
              </a:rPr>
              <a:t>拥塞避免”并非指完全能够避免了拥塞。利用以上的措施要完全避免网络拥塞还是不可能的</a:t>
            </a:r>
          </a:p>
          <a:p>
            <a:pPr algn="just">
              <a:lnSpc>
                <a:spcPct val="120000"/>
              </a:lnSpc>
            </a:pPr>
            <a:r>
              <a:rPr lang="zh-CN" altLang="en-US" dirty="0">
                <a:latin typeface="+mn-lt"/>
              </a:rPr>
              <a:t>“拥塞避免” 在拥塞避免阶段把拥塞窗口控制为按线性规律增长，使网络比较不容易出现拥塞</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2"/>
          <p:cNvSpPr>
            <a:spLocks noGrp="1" noChangeArrowheads="1"/>
          </p:cNvSpPr>
          <p:nvPr>
            <p:ph type="title"/>
          </p:nvPr>
        </p:nvSpPr>
        <p:spPr/>
        <p:txBody>
          <a:bodyPr/>
          <a:lstStyle/>
          <a:p>
            <a:r>
              <a:rPr lang="zh-CN" altLang="en-US" dirty="0"/>
              <a:t>例题</a:t>
            </a:r>
          </a:p>
        </p:txBody>
      </p:sp>
      <p:sp>
        <p:nvSpPr>
          <p:cNvPr id="264195" name="Rectangle 3"/>
          <p:cNvSpPr>
            <a:spLocks noGrp="1" noChangeArrowheads="1"/>
          </p:cNvSpPr>
          <p:nvPr>
            <p:ph idx="1"/>
          </p:nvPr>
        </p:nvSpPr>
        <p:spPr>
          <a:xfrm>
            <a:off x="334434" y="1052514"/>
            <a:ext cx="11523133" cy="1440382"/>
          </a:xfrm>
        </p:spPr>
        <p:txBody>
          <a:bodyPr>
            <a:normAutofit/>
          </a:bodyPr>
          <a:lstStyle/>
          <a:p>
            <a:pPr>
              <a:lnSpc>
                <a:spcPct val="120000"/>
              </a:lnSpc>
            </a:pPr>
            <a:r>
              <a:rPr lang="zh-CN" altLang="en-US" dirty="0"/>
              <a:t>假定最大报文段长度是</a:t>
            </a:r>
            <a:r>
              <a:rPr lang="en-US" altLang="zh-CN" dirty="0"/>
              <a:t>1KB</a:t>
            </a:r>
            <a:r>
              <a:rPr lang="zh-CN" altLang="en-US" dirty="0"/>
              <a:t>，</a:t>
            </a:r>
            <a:r>
              <a:rPr lang="en-US" altLang="zh-CN" dirty="0"/>
              <a:t>TCP</a:t>
            </a:r>
            <a:r>
              <a:rPr lang="zh-CN" altLang="en-US" dirty="0"/>
              <a:t>拥塞窗口是</a:t>
            </a:r>
            <a:r>
              <a:rPr lang="en-US" altLang="zh-CN" dirty="0"/>
              <a:t>16KB</a:t>
            </a:r>
            <a:r>
              <a:rPr lang="zh-CN" altLang="en-US" dirty="0"/>
              <a:t>，并发生了超时事件。如果接着</a:t>
            </a:r>
            <a:r>
              <a:rPr lang="en-US" altLang="zh-CN" dirty="0"/>
              <a:t>4</a:t>
            </a:r>
            <a:r>
              <a:rPr lang="zh-CN" altLang="en-US" dirty="0"/>
              <a:t>个轮次传输都是成功的，那么该窗口将是多大？</a:t>
            </a:r>
          </a:p>
        </p:txBody>
      </p:sp>
      <p:sp>
        <p:nvSpPr>
          <p:cNvPr id="10" name="灯片编号占位符 5"/>
          <p:cNvSpPr>
            <a:spLocks noGrp="1"/>
          </p:cNvSpPr>
          <p:nvPr>
            <p:ph type="sldNum" sz="quarter" idx="12"/>
          </p:nvPr>
        </p:nvSpPr>
        <p:spPr/>
        <p:txBody>
          <a:bodyPr/>
          <a:lstStyle/>
          <a:p>
            <a:fld id="{28553282-41C9-437D-8087-0FAFCF51944C}" type="slidenum">
              <a:rPr lang="en-US" altLang="zh-CN"/>
              <a:t>78</a:t>
            </a:fld>
            <a:endParaRPr lang="en-US" altLang="zh-CN"/>
          </a:p>
        </p:txBody>
      </p:sp>
      <p:sp>
        <p:nvSpPr>
          <p:cNvPr id="264197" name="Rectangle 5"/>
          <p:cNvSpPr>
            <a:spLocks noChangeArrowheads="1"/>
          </p:cNvSpPr>
          <p:nvPr/>
        </p:nvSpPr>
        <p:spPr bwMode="auto">
          <a:xfrm>
            <a:off x="527596" y="2545901"/>
            <a:ext cx="11136808" cy="1104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C80000"/>
              </a:buClr>
              <a:buSzPct val="80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buChar char="u"/>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9pPr>
          </a:lstStyle>
          <a:p>
            <a:pPr marL="0" indent="0">
              <a:lnSpc>
                <a:spcPct val="120000"/>
              </a:lnSpc>
              <a:buFont typeface="Wingdings" panose="05000000000000000000" pitchFamily="2" charset="2"/>
              <a:buNone/>
            </a:pPr>
            <a:r>
              <a:rPr lang="zh-CN" altLang="en-US" sz="2800" dirty="0">
                <a:latin typeface="微软雅黑 Light" panose="020B0502040204020203" pitchFamily="34" charset="-122"/>
                <a:ea typeface="微软雅黑 Light" panose="020B0502040204020203" pitchFamily="34" charset="-122"/>
              </a:rPr>
              <a:t>答：发生超时后，下一次传输的是</a:t>
            </a:r>
            <a:r>
              <a:rPr lang="en-US" altLang="zh-CN" sz="2800" dirty="0">
                <a:latin typeface="微软雅黑 Light" panose="020B0502040204020203" pitchFamily="34" charset="-122"/>
                <a:ea typeface="微软雅黑 Light" panose="020B0502040204020203" pitchFamily="34" charset="-122"/>
              </a:rPr>
              <a:t>1</a:t>
            </a:r>
            <a:r>
              <a:rPr lang="zh-CN" altLang="en-US" sz="2800" dirty="0">
                <a:latin typeface="微软雅黑 Light" panose="020B0502040204020203" pitchFamily="34" charset="-122"/>
                <a:ea typeface="微软雅黑 Light" panose="020B0502040204020203" pitchFamily="34" charset="-122"/>
              </a:rPr>
              <a:t>，接着是</a:t>
            </a:r>
            <a:r>
              <a:rPr lang="en-US" altLang="zh-CN" sz="2800" dirty="0">
                <a:latin typeface="微软雅黑 Light" panose="020B0502040204020203" pitchFamily="34" charset="-122"/>
                <a:ea typeface="微软雅黑 Light" panose="020B0502040204020203" pitchFamily="34" charset="-122"/>
              </a:rPr>
              <a:t>2</a:t>
            </a:r>
            <a:r>
              <a:rPr lang="zh-CN" altLang="en-US" sz="2800" dirty="0">
                <a:latin typeface="微软雅黑 Light" panose="020B0502040204020203" pitchFamily="34" charset="-122"/>
                <a:ea typeface="微软雅黑 Light" panose="020B0502040204020203" pitchFamily="34" charset="-122"/>
              </a:rPr>
              <a:t>、</a:t>
            </a:r>
            <a:r>
              <a:rPr lang="en-US" altLang="zh-CN" sz="2800" dirty="0">
                <a:latin typeface="微软雅黑 Light" panose="020B0502040204020203" pitchFamily="34" charset="-122"/>
                <a:ea typeface="微软雅黑 Light" panose="020B0502040204020203" pitchFamily="34" charset="-122"/>
              </a:rPr>
              <a:t>4</a:t>
            </a:r>
            <a:r>
              <a:rPr lang="zh-CN" altLang="en-US" sz="2800" dirty="0">
                <a:latin typeface="微软雅黑 Light" panose="020B0502040204020203" pitchFamily="34" charset="-122"/>
                <a:ea typeface="微软雅黑 Light" panose="020B0502040204020203" pitchFamily="34" charset="-122"/>
              </a:rPr>
              <a:t>、</a:t>
            </a:r>
            <a:r>
              <a:rPr lang="en-US" altLang="zh-CN" sz="2800" dirty="0">
                <a:latin typeface="微软雅黑 Light" panose="020B0502040204020203" pitchFamily="34" charset="-122"/>
                <a:ea typeface="微软雅黑 Light" panose="020B0502040204020203" pitchFamily="34" charset="-122"/>
              </a:rPr>
              <a:t>8</a:t>
            </a:r>
            <a:r>
              <a:rPr lang="zh-CN" altLang="en-US" sz="2800" dirty="0">
                <a:latin typeface="微软雅黑 Light" panose="020B0502040204020203" pitchFamily="34" charset="-122"/>
                <a:ea typeface="微软雅黑 Light" panose="020B0502040204020203" pitchFamily="34" charset="-122"/>
              </a:rPr>
              <a:t>个报文段。所以</a:t>
            </a:r>
            <a:r>
              <a:rPr lang="en-US" altLang="zh-CN" sz="2800" dirty="0">
                <a:latin typeface="微软雅黑 Light" panose="020B0502040204020203" pitchFamily="34" charset="-122"/>
                <a:ea typeface="微软雅黑 Light" panose="020B0502040204020203" pitchFamily="34" charset="-122"/>
              </a:rPr>
              <a:t>4</a:t>
            </a:r>
            <a:r>
              <a:rPr lang="zh-CN" altLang="en-US" sz="2800" dirty="0">
                <a:latin typeface="微软雅黑 Light" panose="020B0502040204020203" pitchFamily="34" charset="-122"/>
                <a:ea typeface="微软雅黑 Light" panose="020B0502040204020203" pitchFamily="34" charset="-122"/>
              </a:rPr>
              <a:t>个轮次后的拥塞窗口是</a:t>
            </a:r>
            <a:r>
              <a:rPr lang="en-US" altLang="zh-CN" sz="2800" dirty="0">
                <a:latin typeface="微软雅黑 Light" panose="020B0502040204020203" pitchFamily="34" charset="-122"/>
                <a:ea typeface="微软雅黑 Light" panose="020B0502040204020203" pitchFamily="34" charset="-122"/>
              </a:rPr>
              <a:t>9KB</a:t>
            </a:r>
            <a:endParaRPr lang="zh-CN" altLang="en-US" sz="2800" dirty="0">
              <a:latin typeface="微软雅黑 Light" panose="020B0502040204020203" pitchFamily="34" charset="-122"/>
              <a:ea typeface="微软雅黑 Light" panose="020B0502040204020203" pitchFamily="34" charset="-122"/>
            </a:endParaRPr>
          </a:p>
        </p:txBody>
      </p:sp>
      <p:pic>
        <p:nvPicPr>
          <p:cNvPr id="264203" name="Picture 11" descr="ANd9GcRpGBGwZuDO2Fn3NcVHNPob0LgKsrS-cerhTAG_exqzIxqzbJzbHw"/>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2524" y="4149080"/>
            <a:ext cx="1708140" cy="920750"/>
          </a:xfrm>
          <a:prstGeom prst="rect">
            <a:avLst/>
          </a:prstGeom>
          <a:noFill/>
          <a:extLst>
            <a:ext uri="{909E8E84-426E-40DD-AFC4-6F175D3DCCD1}">
              <a14:hiddenFill xmlns:a14="http://schemas.microsoft.com/office/drawing/2010/main">
                <a:solidFill>
                  <a:srgbClr val="FFFFFF"/>
                </a:solidFill>
              </a14:hiddenFill>
            </a:ext>
          </a:extLst>
        </p:spPr>
      </p:pic>
      <p:sp>
        <p:nvSpPr>
          <p:cNvPr id="264200" name="Text Box 8"/>
          <p:cNvSpPr txBox="1">
            <a:spLocks noChangeArrowheads="1"/>
          </p:cNvSpPr>
          <p:nvPr/>
        </p:nvSpPr>
        <p:spPr bwMode="auto">
          <a:xfrm>
            <a:off x="1896288" y="4251407"/>
            <a:ext cx="949490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200" dirty="0">
                <a:solidFill>
                  <a:srgbClr val="006600"/>
                </a:solidFill>
                <a:latin typeface="微软雅黑 Light" panose="020B0502040204020203" pitchFamily="34" charset="-122"/>
                <a:ea typeface="微软雅黑 Light" panose="020B0502040204020203" pitchFamily="34" charset="-122"/>
              </a:rPr>
              <a:t>如果接着</a:t>
            </a:r>
            <a:r>
              <a:rPr lang="en-US" altLang="zh-CN" sz="3200" dirty="0">
                <a:solidFill>
                  <a:srgbClr val="006600"/>
                </a:solidFill>
                <a:latin typeface="微软雅黑 Light" panose="020B0502040204020203" pitchFamily="34" charset="-122"/>
                <a:ea typeface="微软雅黑 Light" panose="020B0502040204020203" pitchFamily="34" charset="-122"/>
              </a:rPr>
              <a:t>6</a:t>
            </a:r>
            <a:r>
              <a:rPr lang="zh-CN" altLang="en-US" sz="3200" dirty="0">
                <a:solidFill>
                  <a:srgbClr val="006600"/>
                </a:solidFill>
                <a:latin typeface="微软雅黑 Light" panose="020B0502040204020203" pitchFamily="34" charset="-122"/>
                <a:ea typeface="微软雅黑 Light" panose="020B0502040204020203" pitchFamily="34" charset="-122"/>
              </a:rPr>
              <a:t>个轮次都成功，</a:t>
            </a:r>
            <a:r>
              <a:rPr lang="en-US" altLang="zh-CN" sz="3200" dirty="0">
                <a:solidFill>
                  <a:srgbClr val="006600"/>
                </a:solidFill>
                <a:latin typeface="微软雅黑 Light" panose="020B0502040204020203" pitchFamily="34" charset="-122"/>
                <a:ea typeface="微软雅黑 Light" panose="020B0502040204020203" pitchFamily="34" charset="-122"/>
              </a:rPr>
              <a:t>CWND</a:t>
            </a:r>
            <a:r>
              <a:rPr lang="zh-CN" altLang="en-US" sz="3200" dirty="0">
                <a:solidFill>
                  <a:srgbClr val="006600"/>
                </a:solidFill>
                <a:latin typeface="微软雅黑 Light" panose="020B0502040204020203" pitchFamily="34" charset="-122"/>
                <a:ea typeface="微软雅黑 Light" panose="020B0502040204020203" pitchFamily="34" charset="-122"/>
              </a:rPr>
              <a:t>的值应该是多大？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64197"/>
                                        </p:tgtEl>
                                        <p:attrNameLst>
                                          <p:attrName>style.visibility</p:attrName>
                                        </p:attrNameLst>
                                      </p:cBhvr>
                                      <p:to>
                                        <p:strVal val="visible"/>
                                      </p:to>
                                    </p:set>
                                    <p:animEffect transition="in" filter="wipe(up)">
                                      <p:cBhvr>
                                        <p:cTn id="7" dur="500"/>
                                        <p:tgtEl>
                                          <p:spTgt spid="2641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4197"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7CA05935-FD0F-4EEC-A350-A70041DD57D9}" type="slidenum">
              <a:rPr lang="en-US" altLang="zh-CN"/>
              <a:t>79</a:t>
            </a:fld>
            <a:endParaRPr lang="en-US" altLang="zh-CN"/>
          </a:p>
        </p:txBody>
      </p:sp>
      <p:sp>
        <p:nvSpPr>
          <p:cNvPr id="274434" name="Rectangle 2"/>
          <p:cNvSpPr>
            <a:spLocks noGrp="1" noChangeArrowheads="1"/>
          </p:cNvSpPr>
          <p:nvPr>
            <p:ph type="title"/>
          </p:nvPr>
        </p:nvSpPr>
        <p:spPr/>
        <p:txBody>
          <a:bodyPr/>
          <a:lstStyle/>
          <a:p>
            <a:r>
              <a:rPr lang="zh-CN" altLang="en-US"/>
              <a:t>快速重传</a:t>
            </a:r>
            <a:r>
              <a:rPr lang="en-US" altLang="zh-CN"/>
              <a:t>/</a:t>
            </a:r>
            <a:r>
              <a:rPr lang="zh-CN" altLang="en-US"/>
              <a:t>快速恢复</a:t>
            </a:r>
          </a:p>
        </p:txBody>
      </p:sp>
      <p:sp>
        <p:nvSpPr>
          <p:cNvPr id="274435" name="Rectangle 3"/>
          <p:cNvSpPr>
            <a:spLocks noGrp="1" noChangeArrowheads="1"/>
          </p:cNvSpPr>
          <p:nvPr>
            <p:ph type="body" idx="1"/>
          </p:nvPr>
        </p:nvSpPr>
        <p:spPr/>
        <p:txBody>
          <a:bodyPr/>
          <a:lstStyle/>
          <a:p>
            <a:pPr algn="just">
              <a:lnSpc>
                <a:spcPct val="120000"/>
              </a:lnSpc>
            </a:pPr>
            <a:r>
              <a:rPr lang="zh-CN" altLang="en-US" dirty="0"/>
              <a:t>快速重传算法首先要求接收方每收到一个失序的报文段后就立即发出重复确认。这样做可以让发送方及早知道有报文段没有到达接收方 </a:t>
            </a:r>
          </a:p>
          <a:p>
            <a:pPr algn="just">
              <a:lnSpc>
                <a:spcPct val="120000"/>
              </a:lnSpc>
            </a:pPr>
            <a:r>
              <a:rPr lang="zh-CN" altLang="en-US" dirty="0"/>
              <a:t>发送方只要一连收到三个重复确认就应当立即重传对方尚未收到的报文段 </a:t>
            </a:r>
          </a:p>
          <a:p>
            <a:pPr algn="just">
              <a:lnSpc>
                <a:spcPct val="120000"/>
              </a:lnSpc>
            </a:pPr>
            <a:r>
              <a:rPr lang="zh-CN" altLang="en-US" dirty="0"/>
              <a:t>不难看出，快速重传并非取消重传计时器，而是在某些情况下可更早地重传丢失的报文段</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灯片编号占位符 4"/>
          <p:cNvSpPr>
            <a:spLocks noGrp="1"/>
          </p:cNvSpPr>
          <p:nvPr>
            <p:ph type="sldNum" sz="quarter" idx="12"/>
          </p:nvPr>
        </p:nvSpPr>
        <p:spPr/>
        <p:txBody>
          <a:bodyPr/>
          <a:lstStyle/>
          <a:p>
            <a:fld id="{2C7A8943-9A27-4FAF-9A09-93A5FBD86D13}" type="slidenum">
              <a:rPr lang="en-US" altLang="zh-CN"/>
              <a:t>80</a:t>
            </a:fld>
            <a:endParaRPr lang="en-US" altLang="zh-CN"/>
          </a:p>
        </p:txBody>
      </p:sp>
      <p:grpSp>
        <p:nvGrpSpPr>
          <p:cNvPr id="2" name="组合 1"/>
          <p:cNvGrpSpPr/>
          <p:nvPr/>
        </p:nvGrpSpPr>
        <p:grpSpPr>
          <a:xfrm>
            <a:off x="1848941" y="1166331"/>
            <a:ext cx="8265875" cy="4920694"/>
            <a:chOff x="1848941" y="1166331"/>
            <a:chExt cx="8265875" cy="4920694"/>
          </a:xfrm>
        </p:grpSpPr>
        <p:sp>
          <p:nvSpPr>
            <p:cNvPr id="290819" name="Text Box 3"/>
            <p:cNvSpPr txBox="1">
              <a:spLocks noChangeArrowheads="1"/>
            </p:cNvSpPr>
            <p:nvPr/>
          </p:nvSpPr>
          <p:spPr bwMode="auto">
            <a:xfrm>
              <a:off x="4768353" y="1166331"/>
              <a:ext cx="8699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800">
                  <a:latin typeface="微软雅黑 Light" panose="020B0502040204020203" pitchFamily="34" charset="-122"/>
                  <a:ea typeface="微软雅黑 Light" panose="020B0502040204020203" pitchFamily="34" charset="-122"/>
                </a:rPr>
                <a:t>发送方</a:t>
              </a:r>
            </a:p>
          </p:txBody>
        </p:sp>
        <p:sp>
          <p:nvSpPr>
            <p:cNvPr id="290820" name="Text Box 4"/>
            <p:cNvSpPr txBox="1">
              <a:spLocks noChangeArrowheads="1"/>
            </p:cNvSpPr>
            <p:nvPr/>
          </p:nvSpPr>
          <p:spPr bwMode="auto">
            <a:xfrm>
              <a:off x="8059241" y="1228243"/>
              <a:ext cx="87716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800">
                  <a:latin typeface="微软雅黑 Light" panose="020B0502040204020203" pitchFamily="34" charset="-122"/>
                  <a:ea typeface="微软雅黑 Light" panose="020B0502040204020203" pitchFamily="34" charset="-122"/>
                </a:rPr>
                <a:t>接收方</a:t>
              </a:r>
            </a:p>
          </p:txBody>
        </p:sp>
        <p:sp>
          <p:nvSpPr>
            <p:cNvPr id="290821" name="Text Box 5"/>
            <p:cNvSpPr txBox="1">
              <a:spLocks noChangeArrowheads="1"/>
            </p:cNvSpPr>
            <p:nvPr/>
          </p:nvSpPr>
          <p:spPr bwMode="auto">
            <a:xfrm>
              <a:off x="4254004" y="1593369"/>
              <a:ext cx="97948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800" dirty="0">
                  <a:latin typeface="微软雅黑 Light" panose="020B0502040204020203" pitchFamily="34" charset="-122"/>
                  <a:ea typeface="微软雅黑 Light" panose="020B0502040204020203" pitchFamily="34" charset="-122"/>
                </a:rPr>
                <a:t>发送 </a:t>
              </a:r>
              <a:r>
                <a:rPr lang="en-US" altLang="zh-CN" sz="1800" dirty="0">
                  <a:latin typeface="微软雅黑 Light" panose="020B0502040204020203" pitchFamily="34" charset="-122"/>
                  <a:ea typeface="微软雅黑 Light" panose="020B0502040204020203" pitchFamily="34" charset="-122"/>
                </a:rPr>
                <a:t>M</a:t>
              </a:r>
              <a:r>
                <a:rPr lang="en-US" altLang="zh-CN" sz="1800" baseline="-25000" dirty="0">
                  <a:latin typeface="微软雅黑 Light" panose="020B0502040204020203" pitchFamily="34" charset="-122"/>
                  <a:ea typeface="微软雅黑 Light" panose="020B0502040204020203" pitchFamily="34" charset="-122"/>
                </a:rPr>
                <a:t>1</a:t>
              </a:r>
            </a:p>
          </p:txBody>
        </p:sp>
        <p:sp>
          <p:nvSpPr>
            <p:cNvPr id="290822" name="Line 6"/>
            <p:cNvSpPr>
              <a:spLocks noChangeShapeType="1"/>
            </p:cNvSpPr>
            <p:nvPr/>
          </p:nvSpPr>
          <p:spPr bwMode="auto">
            <a:xfrm>
              <a:off x="5231904" y="1837844"/>
              <a:ext cx="3400425" cy="314325"/>
            </a:xfrm>
            <a:prstGeom prst="line">
              <a:avLst/>
            </a:prstGeom>
            <a:noFill/>
            <a:ln w="28575">
              <a:solidFill>
                <a:schemeClr val="bg2">
                  <a:lumMod val="50000"/>
                </a:schemeClr>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290823" name="Line 7"/>
            <p:cNvSpPr>
              <a:spLocks noChangeShapeType="1"/>
            </p:cNvSpPr>
            <p:nvPr/>
          </p:nvSpPr>
          <p:spPr bwMode="auto">
            <a:xfrm flipH="1">
              <a:off x="5231904" y="2274407"/>
              <a:ext cx="3400425" cy="314325"/>
            </a:xfrm>
            <a:prstGeom prst="line">
              <a:avLst/>
            </a:prstGeom>
            <a:noFill/>
            <a:ln w="2857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290824" name="Text Box 8"/>
            <p:cNvSpPr txBox="1">
              <a:spLocks noChangeArrowheads="1"/>
            </p:cNvSpPr>
            <p:nvPr/>
          </p:nvSpPr>
          <p:spPr bwMode="auto">
            <a:xfrm>
              <a:off x="8530729" y="2098194"/>
              <a:ext cx="10445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a:latin typeface="微软雅黑 Light" panose="020B0502040204020203" pitchFamily="34" charset="-122"/>
                  <a:ea typeface="微软雅黑 Light" panose="020B0502040204020203" pitchFamily="34" charset="-122"/>
                </a:rPr>
                <a:t> </a:t>
              </a:r>
              <a:r>
                <a:rPr lang="zh-CN" altLang="en-US" sz="1800">
                  <a:latin typeface="微软雅黑 Light" panose="020B0502040204020203" pitchFamily="34" charset="-122"/>
                  <a:ea typeface="微软雅黑 Light" panose="020B0502040204020203" pitchFamily="34" charset="-122"/>
                </a:rPr>
                <a:t>确认 </a:t>
              </a:r>
              <a:r>
                <a:rPr lang="en-US" altLang="zh-CN" sz="1800">
                  <a:latin typeface="微软雅黑 Light" panose="020B0502040204020203" pitchFamily="34" charset="-122"/>
                  <a:ea typeface="微软雅黑 Light" panose="020B0502040204020203" pitchFamily="34" charset="-122"/>
                </a:rPr>
                <a:t>M</a:t>
              </a:r>
              <a:r>
                <a:rPr lang="en-US" altLang="zh-CN" sz="1800" baseline="-25000">
                  <a:latin typeface="微软雅黑 Light" panose="020B0502040204020203" pitchFamily="34" charset="-122"/>
                  <a:ea typeface="微软雅黑 Light" panose="020B0502040204020203" pitchFamily="34" charset="-122"/>
                </a:rPr>
                <a:t>1</a:t>
              </a:r>
              <a:endParaRPr lang="en-US" altLang="zh-CN" sz="1800">
                <a:latin typeface="微软雅黑 Light" panose="020B0502040204020203" pitchFamily="34" charset="-122"/>
                <a:ea typeface="微软雅黑 Light" panose="020B0502040204020203" pitchFamily="34" charset="-122"/>
              </a:endParaRPr>
            </a:p>
          </p:txBody>
        </p:sp>
        <p:sp>
          <p:nvSpPr>
            <p:cNvPr id="290825" name="Text Box 9"/>
            <p:cNvSpPr txBox="1">
              <a:spLocks noChangeArrowheads="1"/>
            </p:cNvSpPr>
            <p:nvPr/>
          </p:nvSpPr>
          <p:spPr bwMode="auto">
            <a:xfrm>
              <a:off x="5238253" y="5717693"/>
              <a:ext cx="25840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i="1">
                  <a:latin typeface="微软雅黑 Light" panose="020B0502040204020203" pitchFamily="34" charset="-122"/>
                  <a:ea typeface="微软雅黑 Light" panose="020B0502040204020203" pitchFamily="34" charset="-122"/>
                </a:rPr>
                <a:t>t</a:t>
              </a:r>
            </a:p>
          </p:txBody>
        </p:sp>
        <p:grpSp>
          <p:nvGrpSpPr>
            <p:cNvPr id="290826" name="Group 10"/>
            <p:cNvGrpSpPr/>
            <p:nvPr/>
          </p:nvGrpSpPr>
          <p:grpSpPr bwMode="auto">
            <a:xfrm>
              <a:off x="5231904" y="1683857"/>
              <a:ext cx="3400425" cy="4346575"/>
              <a:chOff x="1607" y="677"/>
              <a:chExt cx="1640" cy="2728"/>
            </a:xfrm>
          </p:grpSpPr>
          <p:sp>
            <p:nvSpPr>
              <p:cNvPr id="290827" name="Line 11"/>
              <p:cNvSpPr>
                <a:spLocks noChangeShapeType="1"/>
              </p:cNvSpPr>
              <p:nvPr/>
            </p:nvSpPr>
            <p:spPr bwMode="auto">
              <a:xfrm>
                <a:off x="1607" y="677"/>
                <a:ext cx="0" cy="2728"/>
              </a:xfrm>
              <a:prstGeom prst="line">
                <a:avLst/>
              </a:prstGeom>
              <a:noFill/>
              <a:ln w="127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290828" name="Line 12"/>
              <p:cNvSpPr>
                <a:spLocks noChangeShapeType="1"/>
              </p:cNvSpPr>
              <p:nvPr/>
            </p:nvSpPr>
            <p:spPr bwMode="auto">
              <a:xfrm>
                <a:off x="3247" y="677"/>
                <a:ext cx="0" cy="2728"/>
              </a:xfrm>
              <a:prstGeom prst="line">
                <a:avLst/>
              </a:prstGeom>
              <a:noFill/>
              <a:ln w="12700">
                <a:solidFill>
                  <a:schemeClr val="tx2"/>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grpSp>
        <p:sp>
          <p:nvSpPr>
            <p:cNvPr id="290829" name="Text Box 13"/>
            <p:cNvSpPr txBox="1">
              <a:spLocks noChangeArrowheads="1"/>
            </p:cNvSpPr>
            <p:nvPr/>
          </p:nvSpPr>
          <p:spPr bwMode="auto">
            <a:xfrm>
              <a:off x="8530729" y="2585556"/>
              <a:ext cx="149542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1800" dirty="0">
                  <a:latin typeface="微软雅黑 Light" panose="020B0502040204020203" pitchFamily="34" charset="-122"/>
                  <a:ea typeface="微软雅黑 Light" panose="020B0502040204020203" pitchFamily="34" charset="-122"/>
                </a:rPr>
                <a:t> </a:t>
              </a:r>
              <a:r>
                <a:rPr lang="zh-CN" altLang="en-US" sz="1800" dirty="0">
                  <a:latin typeface="微软雅黑 Light" panose="020B0502040204020203" pitchFamily="34" charset="-122"/>
                  <a:ea typeface="微软雅黑 Light" panose="020B0502040204020203" pitchFamily="34" charset="-122"/>
                </a:rPr>
                <a:t>确认 </a:t>
              </a:r>
              <a:r>
                <a:rPr lang="en-US" altLang="zh-CN" sz="1800" dirty="0">
                  <a:latin typeface="微软雅黑 Light" panose="020B0502040204020203" pitchFamily="34" charset="-122"/>
                  <a:ea typeface="微软雅黑 Light" panose="020B0502040204020203" pitchFamily="34" charset="-122"/>
                </a:rPr>
                <a:t>M</a:t>
              </a:r>
              <a:r>
                <a:rPr lang="en-US" altLang="zh-CN" sz="1800" baseline="-25000" dirty="0">
                  <a:latin typeface="微软雅黑 Light" panose="020B0502040204020203" pitchFamily="34" charset="-122"/>
                  <a:ea typeface="微软雅黑 Light" panose="020B0502040204020203" pitchFamily="34" charset="-122"/>
                </a:rPr>
                <a:t>2 </a:t>
              </a:r>
              <a:endParaRPr lang="en-US" altLang="zh-CN" sz="1800" dirty="0">
                <a:latin typeface="微软雅黑 Light" panose="020B0502040204020203" pitchFamily="34" charset="-122"/>
                <a:ea typeface="微软雅黑 Light" panose="020B0502040204020203" pitchFamily="34" charset="-122"/>
              </a:endParaRPr>
            </a:p>
          </p:txBody>
        </p:sp>
        <p:sp>
          <p:nvSpPr>
            <p:cNvPr id="290830" name="Line 14"/>
            <p:cNvSpPr>
              <a:spLocks noChangeShapeType="1"/>
            </p:cNvSpPr>
            <p:nvPr/>
          </p:nvSpPr>
          <p:spPr bwMode="auto">
            <a:xfrm flipH="1">
              <a:off x="5231904" y="2798282"/>
              <a:ext cx="3400425" cy="312737"/>
            </a:xfrm>
            <a:prstGeom prst="line">
              <a:avLst/>
            </a:prstGeom>
            <a:noFill/>
            <a:ln w="2857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290831" name="Line 15"/>
            <p:cNvSpPr>
              <a:spLocks noChangeShapeType="1"/>
            </p:cNvSpPr>
            <p:nvPr/>
          </p:nvSpPr>
          <p:spPr bwMode="auto">
            <a:xfrm flipH="1">
              <a:off x="5231904" y="3842856"/>
              <a:ext cx="3400425" cy="311150"/>
            </a:xfrm>
            <a:prstGeom prst="line">
              <a:avLst/>
            </a:prstGeom>
            <a:noFill/>
            <a:ln w="2857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290832" name="Line 16"/>
            <p:cNvSpPr>
              <a:spLocks noChangeShapeType="1"/>
            </p:cNvSpPr>
            <p:nvPr/>
          </p:nvSpPr>
          <p:spPr bwMode="auto">
            <a:xfrm flipH="1">
              <a:off x="5231904" y="4361969"/>
              <a:ext cx="3400425" cy="314325"/>
            </a:xfrm>
            <a:prstGeom prst="line">
              <a:avLst/>
            </a:prstGeom>
            <a:noFill/>
            <a:ln w="2857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290833" name="Line 17"/>
            <p:cNvSpPr>
              <a:spLocks noChangeShapeType="1"/>
            </p:cNvSpPr>
            <p:nvPr/>
          </p:nvSpPr>
          <p:spPr bwMode="auto">
            <a:xfrm flipH="1">
              <a:off x="5231904" y="4881081"/>
              <a:ext cx="3400425" cy="315912"/>
            </a:xfrm>
            <a:prstGeom prst="line">
              <a:avLst/>
            </a:prstGeom>
            <a:noFill/>
            <a:ln w="2857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290834" name="Text Box 18"/>
            <p:cNvSpPr txBox="1">
              <a:spLocks noChangeArrowheads="1"/>
            </p:cNvSpPr>
            <p:nvPr/>
          </p:nvSpPr>
          <p:spPr bwMode="auto">
            <a:xfrm>
              <a:off x="4254004" y="2096606"/>
              <a:ext cx="100860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800">
                  <a:latin typeface="微软雅黑 Light" panose="020B0502040204020203" pitchFamily="34" charset="-122"/>
                  <a:ea typeface="微软雅黑 Light" panose="020B0502040204020203" pitchFamily="34" charset="-122"/>
                </a:rPr>
                <a:t>发送 </a:t>
              </a:r>
              <a:r>
                <a:rPr lang="en-US" altLang="zh-CN" sz="1800">
                  <a:latin typeface="微软雅黑 Light" panose="020B0502040204020203" pitchFamily="34" charset="-122"/>
                  <a:ea typeface="微软雅黑 Light" panose="020B0502040204020203" pitchFamily="34" charset="-122"/>
                </a:rPr>
                <a:t>M</a:t>
              </a:r>
              <a:r>
                <a:rPr lang="en-US" altLang="zh-CN" sz="1800" baseline="-25000">
                  <a:latin typeface="微软雅黑 Light" panose="020B0502040204020203" pitchFamily="34" charset="-122"/>
                  <a:ea typeface="微软雅黑 Light" panose="020B0502040204020203" pitchFamily="34" charset="-122"/>
                </a:rPr>
                <a:t>2</a:t>
              </a:r>
            </a:p>
          </p:txBody>
        </p:sp>
        <p:sp>
          <p:nvSpPr>
            <p:cNvPr id="290835" name="Text Box 19"/>
            <p:cNvSpPr txBox="1">
              <a:spLocks noChangeArrowheads="1"/>
            </p:cNvSpPr>
            <p:nvPr/>
          </p:nvSpPr>
          <p:spPr bwMode="auto">
            <a:xfrm>
              <a:off x="4254004" y="2606194"/>
              <a:ext cx="100860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800">
                  <a:latin typeface="微软雅黑 Light" panose="020B0502040204020203" pitchFamily="34" charset="-122"/>
                  <a:ea typeface="微软雅黑 Light" panose="020B0502040204020203" pitchFamily="34" charset="-122"/>
                </a:rPr>
                <a:t>发送 </a:t>
              </a:r>
              <a:r>
                <a:rPr lang="en-US" altLang="zh-CN" sz="1800">
                  <a:latin typeface="微软雅黑 Light" panose="020B0502040204020203" pitchFamily="34" charset="-122"/>
                  <a:ea typeface="微软雅黑 Light" panose="020B0502040204020203" pitchFamily="34" charset="-122"/>
                </a:rPr>
                <a:t>M</a:t>
              </a:r>
              <a:r>
                <a:rPr lang="en-US" altLang="zh-CN" sz="1800" baseline="-25000">
                  <a:latin typeface="微软雅黑 Light" panose="020B0502040204020203" pitchFamily="34" charset="-122"/>
                  <a:ea typeface="微软雅黑 Light" panose="020B0502040204020203" pitchFamily="34" charset="-122"/>
                </a:rPr>
                <a:t>3</a:t>
              </a:r>
            </a:p>
          </p:txBody>
        </p:sp>
        <p:sp>
          <p:nvSpPr>
            <p:cNvPr id="290836" name="Text Box 20"/>
            <p:cNvSpPr txBox="1">
              <a:spLocks noChangeArrowheads="1"/>
            </p:cNvSpPr>
            <p:nvPr/>
          </p:nvSpPr>
          <p:spPr bwMode="auto">
            <a:xfrm>
              <a:off x="4254004" y="3112606"/>
              <a:ext cx="101181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800">
                  <a:latin typeface="微软雅黑 Light" panose="020B0502040204020203" pitchFamily="34" charset="-122"/>
                  <a:ea typeface="微软雅黑 Light" panose="020B0502040204020203" pitchFamily="34" charset="-122"/>
                </a:rPr>
                <a:t>发送 </a:t>
              </a:r>
              <a:r>
                <a:rPr lang="en-US" altLang="zh-CN" sz="1800">
                  <a:latin typeface="微软雅黑 Light" panose="020B0502040204020203" pitchFamily="34" charset="-122"/>
                  <a:ea typeface="微软雅黑 Light" panose="020B0502040204020203" pitchFamily="34" charset="-122"/>
                </a:rPr>
                <a:t>M</a:t>
              </a:r>
              <a:r>
                <a:rPr lang="en-US" altLang="zh-CN" sz="1800" baseline="-25000">
                  <a:latin typeface="微软雅黑 Light" panose="020B0502040204020203" pitchFamily="34" charset="-122"/>
                  <a:ea typeface="微软雅黑 Light" panose="020B0502040204020203" pitchFamily="34" charset="-122"/>
                </a:rPr>
                <a:t>4</a:t>
              </a:r>
            </a:p>
          </p:txBody>
        </p:sp>
        <p:sp>
          <p:nvSpPr>
            <p:cNvPr id="290837" name="Line 21"/>
            <p:cNvSpPr>
              <a:spLocks noChangeShapeType="1"/>
            </p:cNvSpPr>
            <p:nvPr/>
          </p:nvSpPr>
          <p:spPr bwMode="auto">
            <a:xfrm>
              <a:off x="5231904" y="3422169"/>
              <a:ext cx="3400425" cy="314325"/>
            </a:xfrm>
            <a:prstGeom prst="line">
              <a:avLst/>
            </a:prstGeom>
            <a:noFill/>
            <a:ln w="28575">
              <a:solidFill>
                <a:schemeClr val="bg2">
                  <a:lumMod val="50000"/>
                </a:schemeClr>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290839" name="Text Box 23"/>
            <p:cNvSpPr txBox="1">
              <a:spLocks noChangeArrowheads="1"/>
            </p:cNvSpPr>
            <p:nvPr/>
          </p:nvSpPr>
          <p:spPr bwMode="auto">
            <a:xfrm>
              <a:off x="4254004" y="3660294"/>
              <a:ext cx="100860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800">
                  <a:latin typeface="微软雅黑 Light" panose="020B0502040204020203" pitchFamily="34" charset="-122"/>
                  <a:ea typeface="微软雅黑 Light" panose="020B0502040204020203" pitchFamily="34" charset="-122"/>
                </a:rPr>
                <a:t>发送 </a:t>
              </a:r>
              <a:r>
                <a:rPr lang="en-US" altLang="zh-CN" sz="1800">
                  <a:latin typeface="微软雅黑 Light" panose="020B0502040204020203" pitchFamily="34" charset="-122"/>
                  <a:ea typeface="微软雅黑 Light" panose="020B0502040204020203" pitchFamily="34" charset="-122"/>
                </a:rPr>
                <a:t>M</a:t>
              </a:r>
              <a:r>
                <a:rPr lang="en-US" altLang="zh-CN" sz="1800" baseline="-25000">
                  <a:latin typeface="微软雅黑 Light" panose="020B0502040204020203" pitchFamily="34" charset="-122"/>
                  <a:ea typeface="微软雅黑 Light" panose="020B0502040204020203" pitchFamily="34" charset="-122"/>
                </a:rPr>
                <a:t>5</a:t>
              </a:r>
            </a:p>
          </p:txBody>
        </p:sp>
        <p:sp>
          <p:nvSpPr>
            <p:cNvPr id="290840" name="Text Box 24"/>
            <p:cNvSpPr txBox="1">
              <a:spLocks noChangeArrowheads="1"/>
            </p:cNvSpPr>
            <p:nvPr/>
          </p:nvSpPr>
          <p:spPr bwMode="auto">
            <a:xfrm>
              <a:off x="4254004" y="4180994"/>
              <a:ext cx="100860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800">
                  <a:latin typeface="微软雅黑 Light" panose="020B0502040204020203" pitchFamily="34" charset="-122"/>
                  <a:ea typeface="微软雅黑 Light" panose="020B0502040204020203" pitchFamily="34" charset="-122"/>
                </a:rPr>
                <a:t>发送 </a:t>
              </a:r>
              <a:r>
                <a:rPr lang="en-US" altLang="zh-CN" sz="1800">
                  <a:latin typeface="微软雅黑 Light" panose="020B0502040204020203" pitchFamily="34" charset="-122"/>
                  <a:ea typeface="微软雅黑 Light" panose="020B0502040204020203" pitchFamily="34" charset="-122"/>
                </a:rPr>
                <a:t>M</a:t>
              </a:r>
              <a:r>
                <a:rPr lang="en-US" altLang="zh-CN" sz="1800" baseline="-25000">
                  <a:latin typeface="微软雅黑 Light" panose="020B0502040204020203" pitchFamily="34" charset="-122"/>
                  <a:ea typeface="微软雅黑 Light" panose="020B0502040204020203" pitchFamily="34" charset="-122"/>
                </a:rPr>
                <a:t>6</a:t>
              </a:r>
            </a:p>
          </p:txBody>
        </p:sp>
        <p:sp>
          <p:nvSpPr>
            <p:cNvPr id="290841" name="Text Box 25"/>
            <p:cNvSpPr txBox="1">
              <a:spLocks noChangeArrowheads="1"/>
            </p:cNvSpPr>
            <p:nvPr/>
          </p:nvSpPr>
          <p:spPr bwMode="auto">
            <a:xfrm>
              <a:off x="8530728" y="3557106"/>
              <a:ext cx="158408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a:latin typeface="微软雅黑 Light" panose="020B0502040204020203" pitchFamily="34" charset="-122"/>
                  <a:ea typeface="微软雅黑 Light" panose="020B0502040204020203" pitchFamily="34" charset="-122"/>
                </a:rPr>
                <a:t> </a:t>
              </a:r>
              <a:r>
                <a:rPr lang="zh-CN" altLang="en-US" sz="1800">
                  <a:latin typeface="微软雅黑 Light" panose="020B0502040204020203" pitchFamily="34" charset="-122"/>
                  <a:ea typeface="微软雅黑 Light" panose="020B0502040204020203" pitchFamily="34" charset="-122"/>
                </a:rPr>
                <a:t>重复确认 </a:t>
              </a:r>
              <a:r>
                <a:rPr lang="en-US" altLang="zh-CN" sz="1800">
                  <a:latin typeface="微软雅黑 Light" panose="020B0502040204020203" pitchFamily="34" charset="-122"/>
                  <a:ea typeface="微软雅黑 Light" panose="020B0502040204020203" pitchFamily="34" charset="-122"/>
                </a:rPr>
                <a:t>M</a:t>
              </a:r>
              <a:r>
                <a:rPr lang="en-US" altLang="zh-CN" sz="1800" baseline="-25000">
                  <a:latin typeface="微软雅黑 Light" panose="020B0502040204020203" pitchFamily="34" charset="-122"/>
                  <a:ea typeface="微软雅黑 Light" panose="020B0502040204020203" pitchFamily="34" charset="-122"/>
                </a:rPr>
                <a:t>2 </a:t>
              </a:r>
              <a:endParaRPr lang="en-US" altLang="zh-CN" sz="1800">
                <a:latin typeface="微软雅黑 Light" panose="020B0502040204020203" pitchFamily="34" charset="-122"/>
                <a:ea typeface="微软雅黑 Light" panose="020B0502040204020203" pitchFamily="34" charset="-122"/>
              </a:endParaRPr>
            </a:p>
          </p:txBody>
        </p:sp>
        <p:grpSp>
          <p:nvGrpSpPr>
            <p:cNvPr id="290842" name="Group 26"/>
            <p:cNvGrpSpPr/>
            <p:nvPr/>
          </p:nvGrpSpPr>
          <p:grpSpPr bwMode="auto">
            <a:xfrm>
              <a:off x="5231904" y="5192235"/>
              <a:ext cx="3400425" cy="528638"/>
              <a:chOff x="2471" y="3293"/>
              <a:chExt cx="2142" cy="333"/>
            </a:xfrm>
          </p:grpSpPr>
          <p:sp>
            <p:nvSpPr>
              <p:cNvPr id="290843" name="Line 27"/>
              <p:cNvSpPr>
                <a:spLocks noChangeShapeType="1"/>
              </p:cNvSpPr>
              <p:nvPr/>
            </p:nvSpPr>
            <p:spPr bwMode="auto">
              <a:xfrm>
                <a:off x="2471" y="3427"/>
                <a:ext cx="2142" cy="199"/>
              </a:xfrm>
              <a:prstGeom prst="line">
                <a:avLst/>
              </a:prstGeom>
              <a:noFill/>
              <a:ln w="2857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290844" name="Text Box 28"/>
              <p:cNvSpPr txBox="1">
                <a:spLocks noChangeArrowheads="1"/>
              </p:cNvSpPr>
              <p:nvPr/>
            </p:nvSpPr>
            <p:spPr bwMode="auto">
              <a:xfrm rot="275181">
                <a:off x="3175" y="3293"/>
                <a:ext cx="101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a:latin typeface="微软雅黑 Light" panose="020B0502040204020203" pitchFamily="34" charset="-122"/>
                    <a:ea typeface="微软雅黑 Light" panose="020B0502040204020203" pitchFamily="34" charset="-122"/>
                  </a:rPr>
                  <a:t>立即重传 </a:t>
                </a:r>
                <a:r>
                  <a:rPr lang="en-US" altLang="zh-CN">
                    <a:latin typeface="微软雅黑 Light" panose="020B0502040204020203" pitchFamily="34" charset="-122"/>
                    <a:ea typeface="微软雅黑 Light" panose="020B0502040204020203" pitchFamily="34" charset="-122"/>
                  </a:rPr>
                  <a:t>M</a:t>
                </a:r>
                <a:r>
                  <a:rPr lang="en-US" altLang="zh-CN" baseline="-25000">
                    <a:latin typeface="微软雅黑 Light" panose="020B0502040204020203" pitchFamily="34" charset="-122"/>
                    <a:ea typeface="微软雅黑 Light" panose="020B0502040204020203" pitchFamily="34" charset="-122"/>
                  </a:rPr>
                  <a:t>3</a:t>
                </a:r>
              </a:p>
            </p:txBody>
          </p:sp>
        </p:grpSp>
        <p:sp>
          <p:nvSpPr>
            <p:cNvPr id="290845" name="Text Box 29"/>
            <p:cNvSpPr txBox="1">
              <a:spLocks noChangeArrowheads="1"/>
            </p:cNvSpPr>
            <p:nvPr/>
          </p:nvSpPr>
          <p:spPr bwMode="auto">
            <a:xfrm>
              <a:off x="8530728" y="4111143"/>
              <a:ext cx="158408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a:latin typeface="微软雅黑 Light" panose="020B0502040204020203" pitchFamily="34" charset="-122"/>
                  <a:ea typeface="微软雅黑 Light" panose="020B0502040204020203" pitchFamily="34" charset="-122"/>
                </a:rPr>
                <a:t> </a:t>
              </a:r>
              <a:r>
                <a:rPr lang="zh-CN" altLang="en-US" sz="1800">
                  <a:latin typeface="微软雅黑 Light" panose="020B0502040204020203" pitchFamily="34" charset="-122"/>
                  <a:ea typeface="微软雅黑 Light" panose="020B0502040204020203" pitchFamily="34" charset="-122"/>
                </a:rPr>
                <a:t>重复确认 </a:t>
              </a:r>
              <a:r>
                <a:rPr lang="en-US" altLang="zh-CN" sz="1800">
                  <a:latin typeface="微软雅黑 Light" panose="020B0502040204020203" pitchFamily="34" charset="-122"/>
                  <a:ea typeface="微软雅黑 Light" panose="020B0502040204020203" pitchFamily="34" charset="-122"/>
                </a:rPr>
                <a:t>M</a:t>
              </a:r>
              <a:r>
                <a:rPr lang="en-US" altLang="zh-CN" sz="1800" baseline="-25000">
                  <a:latin typeface="微软雅黑 Light" panose="020B0502040204020203" pitchFamily="34" charset="-122"/>
                  <a:ea typeface="微软雅黑 Light" panose="020B0502040204020203" pitchFamily="34" charset="-122"/>
                </a:rPr>
                <a:t>2 </a:t>
              </a:r>
              <a:endParaRPr lang="en-US" altLang="zh-CN" sz="1800">
                <a:latin typeface="微软雅黑 Light" panose="020B0502040204020203" pitchFamily="34" charset="-122"/>
                <a:ea typeface="微软雅黑 Light" panose="020B0502040204020203" pitchFamily="34" charset="-122"/>
              </a:endParaRPr>
            </a:p>
          </p:txBody>
        </p:sp>
        <p:sp>
          <p:nvSpPr>
            <p:cNvPr id="290846" name="Text Box 30"/>
            <p:cNvSpPr txBox="1">
              <a:spLocks noChangeArrowheads="1"/>
            </p:cNvSpPr>
            <p:nvPr/>
          </p:nvSpPr>
          <p:spPr bwMode="auto">
            <a:xfrm>
              <a:off x="8530728" y="4633431"/>
              <a:ext cx="158408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a:latin typeface="微软雅黑 Light" panose="020B0502040204020203" pitchFamily="34" charset="-122"/>
                  <a:ea typeface="微软雅黑 Light" panose="020B0502040204020203" pitchFamily="34" charset="-122"/>
                </a:rPr>
                <a:t> </a:t>
              </a:r>
              <a:r>
                <a:rPr lang="zh-CN" altLang="en-US" sz="1800">
                  <a:latin typeface="微软雅黑 Light" panose="020B0502040204020203" pitchFamily="34" charset="-122"/>
                  <a:ea typeface="微软雅黑 Light" panose="020B0502040204020203" pitchFamily="34" charset="-122"/>
                </a:rPr>
                <a:t>重复确认 </a:t>
              </a:r>
              <a:r>
                <a:rPr lang="en-US" altLang="zh-CN" sz="1800">
                  <a:latin typeface="微软雅黑 Light" panose="020B0502040204020203" pitchFamily="34" charset="-122"/>
                  <a:ea typeface="微软雅黑 Light" panose="020B0502040204020203" pitchFamily="34" charset="-122"/>
                </a:rPr>
                <a:t>M</a:t>
              </a:r>
              <a:r>
                <a:rPr lang="en-US" altLang="zh-CN" sz="1800" baseline="-25000">
                  <a:latin typeface="微软雅黑 Light" panose="020B0502040204020203" pitchFamily="34" charset="-122"/>
                  <a:ea typeface="微软雅黑 Light" panose="020B0502040204020203" pitchFamily="34" charset="-122"/>
                </a:rPr>
                <a:t>2 </a:t>
              </a:r>
              <a:endParaRPr lang="en-US" altLang="zh-CN" sz="1800">
                <a:latin typeface="微软雅黑 Light" panose="020B0502040204020203" pitchFamily="34" charset="-122"/>
                <a:ea typeface="微软雅黑 Light" panose="020B0502040204020203" pitchFamily="34" charset="-122"/>
              </a:endParaRPr>
            </a:p>
          </p:txBody>
        </p:sp>
        <p:sp>
          <p:nvSpPr>
            <p:cNvPr id="290847" name="Text Box 31"/>
            <p:cNvSpPr txBox="1">
              <a:spLocks noChangeArrowheads="1"/>
            </p:cNvSpPr>
            <p:nvPr/>
          </p:nvSpPr>
          <p:spPr bwMode="auto">
            <a:xfrm>
              <a:off x="8622803" y="5717693"/>
              <a:ext cx="25840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i="1">
                  <a:latin typeface="微软雅黑 Light" panose="020B0502040204020203" pitchFamily="34" charset="-122"/>
                  <a:ea typeface="微软雅黑 Light" panose="020B0502040204020203" pitchFamily="34" charset="-122"/>
                </a:rPr>
                <a:t>t</a:t>
              </a:r>
            </a:p>
          </p:txBody>
        </p:sp>
        <p:sp>
          <p:nvSpPr>
            <p:cNvPr id="290848" name="Line 32"/>
            <p:cNvSpPr>
              <a:spLocks noChangeShapeType="1"/>
            </p:cNvSpPr>
            <p:nvPr/>
          </p:nvSpPr>
          <p:spPr bwMode="auto">
            <a:xfrm>
              <a:off x="5238254" y="4987444"/>
              <a:ext cx="3398837" cy="314325"/>
            </a:xfrm>
            <a:prstGeom prst="line">
              <a:avLst/>
            </a:prstGeom>
            <a:noFill/>
            <a:ln w="28575">
              <a:solidFill>
                <a:schemeClr val="bg2">
                  <a:lumMod val="50000"/>
                </a:schemeClr>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290849" name="Text Box 33"/>
            <p:cNvSpPr txBox="1">
              <a:spLocks noChangeArrowheads="1"/>
            </p:cNvSpPr>
            <p:nvPr/>
          </p:nvSpPr>
          <p:spPr bwMode="auto">
            <a:xfrm>
              <a:off x="4254004" y="4735031"/>
              <a:ext cx="100700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800">
                  <a:latin typeface="微软雅黑 Light" panose="020B0502040204020203" pitchFamily="34" charset="-122"/>
                  <a:ea typeface="微软雅黑 Light" panose="020B0502040204020203" pitchFamily="34" charset="-122"/>
                </a:rPr>
                <a:t>发送 </a:t>
              </a:r>
              <a:r>
                <a:rPr lang="en-US" altLang="zh-CN" sz="1800">
                  <a:latin typeface="微软雅黑 Light" panose="020B0502040204020203" pitchFamily="34" charset="-122"/>
                  <a:ea typeface="微软雅黑 Light" panose="020B0502040204020203" pitchFamily="34" charset="-122"/>
                </a:rPr>
                <a:t>M</a:t>
              </a:r>
              <a:r>
                <a:rPr lang="en-US" altLang="zh-CN" sz="1800" baseline="-25000">
                  <a:latin typeface="微软雅黑 Light" panose="020B0502040204020203" pitchFamily="34" charset="-122"/>
                  <a:ea typeface="微软雅黑 Light" panose="020B0502040204020203" pitchFamily="34" charset="-122"/>
                </a:rPr>
                <a:t>7</a:t>
              </a:r>
            </a:p>
          </p:txBody>
        </p:sp>
        <p:grpSp>
          <p:nvGrpSpPr>
            <p:cNvPr id="290850" name="Group 34"/>
            <p:cNvGrpSpPr/>
            <p:nvPr/>
          </p:nvGrpSpPr>
          <p:grpSpPr bwMode="auto">
            <a:xfrm>
              <a:off x="1848941" y="3946044"/>
              <a:ext cx="3355975" cy="1349375"/>
              <a:chOff x="340" y="2508"/>
              <a:chExt cx="2114" cy="850"/>
            </a:xfrm>
          </p:grpSpPr>
          <p:grpSp>
            <p:nvGrpSpPr>
              <p:cNvPr id="290851" name="Group 35"/>
              <p:cNvGrpSpPr/>
              <p:nvPr/>
            </p:nvGrpSpPr>
            <p:grpSpPr bwMode="auto">
              <a:xfrm>
                <a:off x="1729" y="2635"/>
                <a:ext cx="725" cy="666"/>
                <a:chOff x="1257" y="1749"/>
                <a:chExt cx="817" cy="460"/>
              </a:xfrm>
            </p:grpSpPr>
            <p:sp>
              <p:nvSpPr>
                <p:cNvPr id="290852" name="Line 36"/>
                <p:cNvSpPr>
                  <a:spLocks noChangeShapeType="1"/>
                </p:cNvSpPr>
                <p:nvPr/>
              </p:nvSpPr>
              <p:spPr bwMode="auto">
                <a:xfrm>
                  <a:off x="1257" y="1749"/>
                  <a:ext cx="817" cy="0"/>
                </a:xfrm>
                <a:prstGeom prst="line">
                  <a:avLst/>
                </a:prstGeom>
                <a:noFill/>
                <a:ln w="28575">
                  <a:solidFill>
                    <a:schemeClr val="bg2">
                      <a:lumMod val="50000"/>
                    </a:schemeClr>
                  </a:solidFill>
                  <a:prstDash val="dash"/>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290853" name="Line 37"/>
                <p:cNvSpPr>
                  <a:spLocks noChangeShapeType="1"/>
                </p:cNvSpPr>
                <p:nvPr/>
              </p:nvSpPr>
              <p:spPr bwMode="auto">
                <a:xfrm>
                  <a:off x="1257" y="1979"/>
                  <a:ext cx="817" cy="0"/>
                </a:xfrm>
                <a:prstGeom prst="line">
                  <a:avLst/>
                </a:prstGeom>
                <a:noFill/>
                <a:ln w="28575">
                  <a:solidFill>
                    <a:schemeClr val="bg2">
                      <a:lumMod val="50000"/>
                    </a:schemeClr>
                  </a:solidFill>
                  <a:prstDash val="dash"/>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290854" name="Line 38"/>
                <p:cNvSpPr>
                  <a:spLocks noChangeShapeType="1"/>
                </p:cNvSpPr>
                <p:nvPr/>
              </p:nvSpPr>
              <p:spPr bwMode="auto">
                <a:xfrm>
                  <a:off x="1257" y="2209"/>
                  <a:ext cx="817" cy="0"/>
                </a:xfrm>
                <a:prstGeom prst="line">
                  <a:avLst/>
                </a:prstGeom>
                <a:noFill/>
                <a:ln w="28575">
                  <a:solidFill>
                    <a:schemeClr val="bg2">
                      <a:lumMod val="50000"/>
                    </a:schemeClr>
                  </a:solidFill>
                  <a:prstDash val="dash"/>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grpSp>
          <p:sp>
            <p:nvSpPr>
              <p:cNvPr id="290855" name="Text Box 39"/>
              <p:cNvSpPr txBox="1">
                <a:spLocks noChangeArrowheads="1"/>
              </p:cNvSpPr>
              <p:nvPr/>
            </p:nvSpPr>
            <p:spPr bwMode="auto">
              <a:xfrm>
                <a:off x="340" y="2508"/>
                <a:ext cx="1389" cy="850"/>
              </a:xfrm>
              <a:prstGeom prst="rect">
                <a:avLst/>
              </a:prstGeom>
              <a:noFill/>
              <a:ln w="9525">
                <a:solidFill>
                  <a:srgbClr val="0066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endParaRPr lang="en-US" altLang="zh-CN" sz="900" dirty="0">
                  <a:latin typeface="微软雅黑 Light" panose="020B0502040204020203" pitchFamily="34" charset="-122"/>
                  <a:ea typeface="微软雅黑 Light" panose="020B0502040204020203" pitchFamily="34" charset="-122"/>
                </a:endParaRPr>
              </a:p>
              <a:p>
                <a:pPr algn="ctr"/>
                <a:r>
                  <a:rPr lang="zh-CN" altLang="en-US" dirty="0">
                    <a:latin typeface="微软雅黑 Light" panose="020B0502040204020203" pitchFamily="34" charset="-122"/>
                    <a:ea typeface="微软雅黑 Light" panose="020B0502040204020203" pitchFamily="34" charset="-122"/>
                  </a:rPr>
                  <a:t>收到三个连续的</a:t>
                </a:r>
              </a:p>
              <a:p>
                <a:pPr algn="ctr"/>
                <a:r>
                  <a:rPr lang="zh-CN" altLang="en-US" dirty="0">
                    <a:latin typeface="微软雅黑 Light" panose="020B0502040204020203" pitchFamily="34" charset="-122"/>
                    <a:ea typeface="微软雅黑 Light" panose="020B0502040204020203" pitchFamily="34" charset="-122"/>
                  </a:rPr>
                  <a:t>对 </a:t>
                </a:r>
                <a:r>
                  <a:rPr lang="en-US" altLang="zh-CN" dirty="0">
                    <a:latin typeface="微软雅黑 Light" panose="020B0502040204020203" pitchFamily="34" charset="-122"/>
                    <a:ea typeface="微软雅黑 Light" panose="020B0502040204020203" pitchFamily="34" charset="-122"/>
                  </a:rPr>
                  <a:t>M</a:t>
                </a:r>
                <a:r>
                  <a:rPr lang="en-US" altLang="zh-CN" baseline="-25000" dirty="0">
                    <a:latin typeface="微软雅黑 Light" panose="020B0502040204020203" pitchFamily="34" charset="-122"/>
                    <a:ea typeface="微软雅黑 Light" panose="020B0502040204020203" pitchFamily="34" charset="-122"/>
                  </a:rPr>
                  <a:t>2</a:t>
                </a:r>
                <a:r>
                  <a:rPr lang="en-US" altLang="zh-CN" dirty="0">
                    <a:latin typeface="微软雅黑 Light" panose="020B0502040204020203" pitchFamily="34" charset="-122"/>
                    <a:ea typeface="微软雅黑 Light" panose="020B0502040204020203" pitchFamily="34" charset="-122"/>
                  </a:rPr>
                  <a:t> </a:t>
                </a:r>
                <a:r>
                  <a:rPr lang="zh-CN" altLang="en-US" dirty="0">
                    <a:latin typeface="微软雅黑 Light" panose="020B0502040204020203" pitchFamily="34" charset="-122"/>
                    <a:ea typeface="微软雅黑 Light" panose="020B0502040204020203" pitchFamily="34" charset="-122"/>
                  </a:rPr>
                  <a:t>的重复确认</a:t>
                </a:r>
              </a:p>
              <a:p>
                <a:pPr algn="ctr">
                  <a:spcBef>
                    <a:spcPct val="20000"/>
                  </a:spcBef>
                </a:pPr>
                <a:r>
                  <a:rPr lang="zh-CN" altLang="en-US" dirty="0">
                    <a:latin typeface="微软雅黑 Light" panose="020B0502040204020203" pitchFamily="34" charset="-122"/>
                    <a:ea typeface="微软雅黑 Light" panose="020B0502040204020203" pitchFamily="34" charset="-122"/>
                  </a:rPr>
                  <a:t>立即重传 </a:t>
                </a:r>
                <a:r>
                  <a:rPr lang="en-US" altLang="zh-CN" dirty="0">
                    <a:latin typeface="微软雅黑 Light" panose="020B0502040204020203" pitchFamily="34" charset="-122"/>
                    <a:ea typeface="微软雅黑 Light" panose="020B0502040204020203" pitchFamily="34" charset="-122"/>
                  </a:rPr>
                  <a:t>M</a:t>
                </a:r>
                <a:r>
                  <a:rPr lang="en-US" altLang="zh-CN" baseline="-25000" dirty="0">
                    <a:latin typeface="微软雅黑 Light" panose="020B0502040204020203" pitchFamily="34" charset="-122"/>
                    <a:ea typeface="微软雅黑 Light" panose="020B0502040204020203" pitchFamily="34" charset="-122"/>
                  </a:rPr>
                  <a:t>3</a:t>
                </a:r>
              </a:p>
              <a:p>
                <a:pPr algn="ctr"/>
                <a:endParaRPr lang="en-US" altLang="zh-CN" sz="900" dirty="0">
                  <a:latin typeface="微软雅黑 Light" panose="020B0502040204020203" pitchFamily="34" charset="-122"/>
                  <a:ea typeface="微软雅黑 Light" panose="020B0502040204020203" pitchFamily="34" charset="-122"/>
                </a:endParaRPr>
              </a:p>
            </p:txBody>
          </p:sp>
        </p:grpSp>
        <p:sp>
          <p:nvSpPr>
            <p:cNvPr id="290856" name="AutoShape 40"/>
            <p:cNvSpPr>
              <a:spLocks noChangeArrowheads="1"/>
            </p:cNvSpPr>
            <p:nvPr/>
          </p:nvSpPr>
          <p:spPr bwMode="auto">
            <a:xfrm>
              <a:off x="6974979" y="2888768"/>
              <a:ext cx="871537" cy="738188"/>
            </a:xfrm>
            <a:prstGeom prst="irregularSeal1">
              <a:avLst/>
            </a:prstGeom>
            <a:solidFill>
              <a:srgbClr val="FF0000"/>
            </a:solidFill>
            <a:ln w="9525">
              <a:solidFill>
                <a:schemeClr va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latin typeface="微软雅黑 Light" panose="020B0502040204020203" pitchFamily="34" charset="-122"/>
                  <a:ea typeface="微软雅黑 Light" panose="020B0502040204020203" pitchFamily="34" charset="-122"/>
                </a:rPr>
                <a:t>丢失</a:t>
              </a:r>
            </a:p>
          </p:txBody>
        </p:sp>
        <p:sp>
          <p:nvSpPr>
            <p:cNvPr id="290858" name="Line 42"/>
            <p:cNvSpPr>
              <a:spLocks noChangeShapeType="1"/>
            </p:cNvSpPr>
            <p:nvPr/>
          </p:nvSpPr>
          <p:spPr bwMode="auto">
            <a:xfrm>
              <a:off x="5231904" y="2382357"/>
              <a:ext cx="3400425" cy="314325"/>
            </a:xfrm>
            <a:prstGeom prst="line">
              <a:avLst/>
            </a:prstGeom>
            <a:noFill/>
            <a:ln w="28575">
              <a:solidFill>
                <a:schemeClr val="bg2">
                  <a:lumMod val="50000"/>
                </a:schemeClr>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290859" name="Line 43"/>
            <p:cNvSpPr>
              <a:spLocks noChangeShapeType="1"/>
            </p:cNvSpPr>
            <p:nvPr/>
          </p:nvSpPr>
          <p:spPr bwMode="auto">
            <a:xfrm>
              <a:off x="5231904" y="2901468"/>
              <a:ext cx="1830387" cy="158750"/>
            </a:xfrm>
            <a:prstGeom prst="line">
              <a:avLst/>
            </a:prstGeom>
            <a:noFill/>
            <a:ln w="28575">
              <a:solidFill>
                <a:schemeClr val="bg2">
                  <a:lumMod val="50000"/>
                </a:schemeClr>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290860" name="Line 44"/>
            <p:cNvSpPr>
              <a:spLocks noChangeShapeType="1"/>
            </p:cNvSpPr>
            <p:nvPr/>
          </p:nvSpPr>
          <p:spPr bwMode="auto">
            <a:xfrm>
              <a:off x="5238254" y="3942869"/>
              <a:ext cx="3398837" cy="315913"/>
            </a:xfrm>
            <a:prstGeom prst="line">
              <a:avLst/>
            </a:prstGeom>
            <a:noFill/>
            <a:ln w="28575">
              <a:solidFill>
                <a:schemeClr val="bg2">
                  <a:lumMod val="50000"/>
                </a:schemeClr>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290861" name="Line 45"/>
            <p:cNvSpPr>
              <a:spLocks noChangeShapeType="1"/>
            </p:cNvSpPr>
            <p:nvPr/>
          </p:nvSpPr>
          <p:spPr bwMode="auto">
            <a:xfrm>
              <a:off x="5238254" y="4465157"/>
              <a:ext cx="3398837" cy="314325"/>
            </a:xfrm>
            <a:prstGeom prst="line">
              <a:avLst/>
            </a:prstGeom>
            <a:noFill/>
            <a:ln w="28575">
              <a:solidFill>
                <a:schemeClr val="bg2">
                  <a:lumMod val="50000"/>
                </a:schemeClr>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grpSp>
      <p:sp>
        <p:nvSpPr>
          <p:cNvPr id="290862" name="Rectangle 46"/>
          <p:cNvSpPr>
            <a:spLocks noGrp="1" noChangeArrowheads="1"/>
          </p:cNvSpPr>
          <p:nvPr>
            <p:ph type="title"/>
          </p:nvPr>
        </p:nvSpPr>
        <p:spPr/>
        <p:txBody>
          <a:bodyPr/>
          <a:lstStyle/>
          <a:p>
            <a:r>
              <a:rPr lang="zh-CN" altLang="en-US"/>
              <a:t>快速重传示例</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1708DF87-373A-47AE-89DB-7798E4E6C1EC}" type="slidenum">
              <a:rPr lang="en-US" altLang="zh-CN"/>
              <a:t>81</a:t>
            </a:fld>
            <a:endParaRPr lang="en-US" altLang="zh-CN"/>
          </a:p>
        </p:txBody>
      </p:sp>
      <p:sp>
        <p:nvSpPr>
          <p:cNvPr id="302082" name="Rectangle 2"/>
          <p:cNvSpPr>
            <a:spLocks noGrp="1" noChangeArrowheads="1"/>
          </p:cNvSpPr>
          <p:nvPr>
            <p:ph type="title"/>
          </p:nvPr>
        </p:nvSpPr>
        <p:spPr/>
        <p:txBody>
          <a:bodyPr/>
          <a:lstStyle/>
          <a:p>
            <a:r>
              <a:rPr lang="zh-CN" altLang="en-US" dirty="0"/>
              <a:t>快速恢复算法</a:t>
            </a:r>
          </a:p>
        </p:txBody>
      </p:sp>
      <p:sp>
        <p:nvSpPr>
          <p:cNvPr id="302083" name="Rectangle 3"/>
          <p:cNvSpPr>
            <a:spLocks noGrp="1" noChangeArrowheads="1"/>
          </p:cNvSpPr>
          <p:nvPr>
            <p:ph type="body" idx="1"/>
          </p:nvPr>
        </p:nvSpPr>
        <p:spPr/>
        <p:txBody>
          <a:bodyPr/>
          <a:lstStyle/>
          <a:p>
            <a:pPr>
              <a:lnSpc>
                <a:spcPct val="120000"/>
              </a:lnSpc>
            </a:pPr>
            <a:r>
              <a:rPr lang="zh-CN" altLang="en-US" dirty="0"/>
              <a:t>当发送端收到连续三个重复的确认时，就执行“乘法减小”算法，把慢启动门限 </a:t>
            </a:r>
            <a:r>
              <a:rPr lang="en-US" altLang="zh-CN" dirty="0" err="1"/>
              <a:t>ssthresh</a:t>
            </a:r>
            <a:r>
              <a:rPr lang="en-US" altLang="zh-CN" dirty="0"/>
              <a:t> </a:t>
            </a:r>
            <a:r>
              <a:rPr lang="zh-CN" altLang="en-US" dirty="0"/>
              <a:t>减半。但接下去不执行慢启动算法 </a:t>
            </a:r>
          </a:p>
          <a:p>
            <a:pPr>
              <a:lnSpc>
                <a:spcPct val="120000"/>
              </a:lnSpc>
            </a:pPr>
            <a:r>
              <a:rPr lang="zh-CN" altLang="en-US" dirty="0"/>
              <a:t>由于发送方现在认为网络很可能没有发生拥塞，因此现在不执行慢启动算法，即拥塞窗口 </a:t>
            </a:r>
            <a:r>
              <a:rPr lang="en-US" altLang="zh-CN" dirty="0" err="1"/>
              <a:t>cwnd</a:t>
            </a:r>
            <a:r>
              <a:rPr lang="en-US" altLang="zh-CN" dirty="0"/>
              <a:t> </a:t>
            </a:r>
            <a:r>
              <a:rPr lang="zh-CN" altLang="en-US" dirty="0"/>
              <a:t>现在不设置为 </a:t>
            </a:r>
            <a:r>
              <a:rPr lang="en-US" altLang="zh-CN" dirty="0"/>
              <a:t>1</a:t>
            </a:r>
            <a:r>
              <a:rPr lang="zh-CN" altLang="en-US" dirty="0"/>
              <a:t>，而是设置为慢启动门限 </a:t>
            </a:r>
            <a:r>
              <a:rPr lang="en-US" altLang="zh-CN" dirty="0" err="1"/>
              <a:t>ssthresh</a:t>
            </a:r>
            <a:r>
              <a:rPr lang="en-US" altLang="zh-CN" dirty="0"/>
              <a:t> </a:t>
            </a:r>
            <a:r>
              <a:rPr lang="zh-CN" altLang="en-US" dirty="0"/>
              <a:t>减半后的数值，然后开始执行拥塞避免算法（“加法增大”），使拥塞窗口缓慢地线性增大 </a:t>
            </a:r>
          </a:p>
          <a:p>
            <a:endParaRPr lang="en-US" altLang="zh-CN"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灯片编号占位符 5"/>
          <p:cNvSpPr>
            <a:spLocks noGrp="1"/>
          </p:cNvSpPr>
          <p:nvPr>
            <p:ph type="sldNum" sz="quarter" idx="12"/>
          </p:nvPr>
        </p:nvSpPr>
        <p:spPr/>
        <p:txBody>
          <a:bodyPr/>
          <a:lstStyle/>
          <a:p>
            <a:fld id="{70EC9E04-0888-4018-AA0D-4AFEED3E7235}" type="slidenum">
              <a:rPr lang="en-US" altLang="zh-CN"/>
              <a:t>82</a:t>
            </a:fld>
            <a:endParaRPr lang="en-US" altLang="zh-CN"/>
          </a:p>
        </p:txBody>
      </p:sp>
      <p:sp>
        <p:nvSpPr>
          <p:cNvPr id="303106" name="Rectangle 2"/>
          <p:cNvSpPr>
            <a:spLocks noGrp="1" noChangeArrowheads="1"/>
          </p:cNvSpPr>
          <p:nvPr>
            <p:ph type="title"/>
          </p:nvPr>
        </p:nvSpPr>
        <p:spPr/>
        <p:txBody>
          <a:bodyPr/>
          <a:lstStyle/>
          <a:p>
            <a:r>
              <a:rPr lang="zh-CN" altLang="en-US" dirty="0"/>
              <a:t>连续收到三个重复的确认转入拥塞避免</a:t>
            </a:r>
          </a:p>
        </p:txBody>
      </p:sp>
      <p:grpSp>
        <p:nvGrpSpPr>
          <p:cNvPr id="2" name="组合 1"/>
          <p:cNvGrpSpPr/>
          <p:nvPr/>
        </p:nvGrpSpPr>
        <p:grpSpPr>
          <a:xfrm>
            <a:off x="1686996" y="1773238"/>
            <a:ext cx="8701534" cy="4183062"/>
            <a:chOff x="1686996" y="1773238"/>
            <a:chExt cx="8701534" cy="4183062"/>
          </a:xfrm>
        </p:grpSpPr>
        <p:sp>
          <p:nvSpPr>
            <p:cNvPr id="303116" name="Line 12"/>
            <p:cNvSpPr>
              <a:spLocks noChangeShapeType="1"/>
            </p:cNvSpPr>
            <p:nvPr/>
          </p:nvSpPr>
          <p:spPr bwMode="auto">
            <a:xfrm>
              <a:off x="4057650" y="3481388"/>
              <a:ext cx="877888" cy="0"/>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03126" name="Freeform 22"/>
            <p:cNvSpPr/>
            <p:nvPr/>
          </p:nvSpPr>
          <p:spPr bwMode="auto">
            <a:xfrm>
              <a:off x="3897314" y="2611438"/>
              <a:ext cx="2947987" cy="2482850"/>
            </a:xfrm>
            <a:custGeom>
              <a:avLst/>
              <a:gdLst>
                <a:gd name="T0" fmla="*/ 1773 w 1773"/>
                <a:gd name="T1" fmla="*/ 0 h 1370"/>
                <a:gd name="T2" fmla="*/ 618 w 1773"/>
                <a:gd name="T3" fmla="*/ 487 h 1370"/>
                <a:gd name="T4" fmla="*/ 480 w 1773"/>
                <a:gd name="T5" fmla="*/ 961 h 1370"/>
                <a:gd name="T6" fmla="*/ 331 w 1773"/>
                <a:gd name="T7" fmla="*/ 1201 h 1370"/>
                <a:gd name="T8" fmla="*/ 187 w 1773"/>
                <a:gd name="T9" fmla="*/ 1321 h 1370"/>
                <a:gd name="T10" fmla="*/ 55 w 1773"/>
                <a:gd name="T11" fmla="*/ 1369 h 1370"/>
              </a:gdLst>
              <a:ahLst/>
              <a:cxnLst>
                <a:cxn ang="0">
                  <a:pos x="T0" y="T1"/>
                </a:cxn>
                <a:cxn ang="0">
                  <a:pos x="T2" y="T3"/>
                </a:cxn>
                <a:cxn ang="0">
                  <a:pos x="T4" y="T5"/>
                </a:cxn>
                <a:cxn ang="0">
                  <a:pos x="T6" y="T7"/>
                </a:cxn>
                <a:cxn ang="0">
                  <a:pos x="T8" y="T9"/>
                </a:cxn>
                <a:cxn ang="0">
                  <a:pos x="T10" y="T11"/>
                </a:cxn>
              </a:cxnLst>
              <a:rect l="0" t="0" r="r" b="b"/>
              <a:pathLst>
                <a:path w="1773" h="1370">
                  <a:moveTo>
                    <a:pt x="1773" y="0"/>
                  </a:moveTo>
                  <a:lnTo>
                    <a:pt x="618" y="487"/>
                  </a:lnTo>
                  <a:lnTo>
                    <a:pt x="480" y="961"/>
                  </a:lnTo>
                  <a:lnTo>
                    <a:pt x="331" y="1201"/>
                  </a:lnTo>
                  <a:lnTo>
                    <a:pt x="187" y="1321"/>
                  </a:lnTo>
                  <a:cubicBezTo>
                    <a:pt x="47" y="1370"/>
                    <a:pt x="0" y="1369"/>
                    <a:pt x="55" y="1369"/>
                  </a:cubicBezTo>
                </a:path>
              </a:pathLst>
            </a:custGeom>
            <a:noFill/>
            <a:ln w="28575" cmpd="sng">
              <a:solidFill>
                <a:schemeClr val="bg2">
                  <a:lumMod val="50000"/>
                </a:schemeClr>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03127" name="Text Box 23"/>
            <p:cNvSpPr txBox="1">
              <a:spLocks noChangeArrowheads="1"/>
            </p:cNvSpPr>
            <p:nvPr/>
          </p:nvSpPr>
          <p:spPr bwMode="auto">
            <a:xfrm>
              <a:off x="3578225" y="2395538"/>
              <a:ext cx="44595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a:latin typeface="微软雅黑 Light" panose="020B0502040204020203" pitchFamily="34" charset="-122"/>
                  <a:ea typeface="微软雅黑 Light" panose="020B0502040204020203" pitchFamily="34" charset="-122"/>
                </a:rPr>
                <a:t>24</a:t>
              </a:r>
            </a:p>
          </p:txBody>
        </p:sp>
        <p:sp>
          <p:nvSpPr>
            <p:cNvPr id="303128" name="Line 24"/>
            <p:cNvSpPr>
              <a:spLocks noChangeShapeType="1"/>
            </p:cNvSpPr>
            <p:nvPr/>
          </p:nvSpPr>
          <p:spPr bwMode="auto">
            <a:xfrm>
              <a:off x="3976689" y="5221288"/>
              <a:ext cx="5665787" cy="0"/>
            </a:xfrm>
            <a:prstGeom prst="line">
              <a:avLst/>
            </a:prstGeom>
            <a:noFill/>
            <a:ln w="12700">
              <a:solidFill>
                <a:schemeClr val="tx1"/>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03129" name="Line 25"/>
            <p:cNvSpPr>
              <a:spLocks noChangeShapeType="1"/>
            </p:cNvSpPr>
            <p:nvPr/>
          </p:nvSpPr>
          <p:spPr bwMode="auto">
            <a:xfrm>
              <a:off x="3976688" y="2176464"/>
              <a:ext cx="0" cy="3044825"/>
            </a:xfrm>
            <a:prstGeom prst="line">
              <a:avLst/>
            </a:prstGeom>
            <a:noFill/>
            <a:ln w="12700">
              <a:solidFill>
                <a:schemeClr val="tx1"/>
              </a:solidFill>
              <a:round/>
              <a:head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03130" name="Line 26"/>
            <p:cNvSpPr>
              <a:spLocks noChangeShapeType="1"/>
            </p:cNvSpPr>
            <p:nvPr/>
          </p:nvSpPr>
          <p:spPr bwMode="auto">
            <a:xfrm>
              <a:off x="4216400" y="5133976"/>
              <a:ext cx="0" cy="8731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03131" name="Line 27"/>
            <p:cNvSpPr>
              <a:spLocks noChangeShapeType="1"/>
            </p:cNvSpPr>
            <p:nvPr/>
          </p:nvSpPr>
          <p:spPr bwMode="auto">
            <a:xfrm>
              <a:off x="4456113" y="5048250"/>
              <a:ext cx="0" cy="1730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03132" name="Line 28"/>
            <p:cNvSpPr>
              <a:spLocks noChangeShapeType="1"/>
            </p:cNvSpPr>
            <p:nvPr/>
          </p:nvSpPr>
          <p:spPr bwMode="auto">
            <a:xfrm>
              <a:off x="4695825" y="5048250"/>
              <a:ext cx="0" cy="1730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03133" name="Line 29"/>
            <p:cNvSpPr>
              <a:spLocks noChangeShapeType="1"/>
            </p:cNvSpPr>
            <p:nvPr/>
          </p:nvSpPr>
          <p:spPr bwMode="auto">
            <a:xfrm>
              <a:off x="4935538" y="5048250"/>
              <a:ext cx="0" cy="1730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03134" name="Line 30"/>
            <p:cNvSpPr>
              <a:spLocks noChangeShapeType="1"/>
            </p:cNvSpPr>
            <p:nvPr/>
          </p:nvSpPr>
          <p:spPr bwMode="auto">
            <a:xfrm>
              <a:off x="5173663" y="5048250"/>
              <a:ext cx="0" cy="1730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03135" name="Line 31"/>
            <p:cNvSpPr>
              <a:spLocks noChangeShapeType="1"/>
            </p:cNvSpPr>
            <p:nvPr/>
          </p:nvSpPr>
          <p:spPr bwMode="auto">
            <a:xfrm>
              <a:off x="5413375" y="5048250"/>
              <a:ext cx="0" cy="1730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03136" name="Line 32"/>
            <p:cNvSpPr>
              <a:spLocks noChangeShapeType="1"/>
            </p:cNvSpPr>
            <p:nvPr/>
          </p:nvSpPr>
          <p:spPr bwMode="auto">
            <a:xfrm>
              <a:off x="5653088" y="5048250"/>
              <a:ext cx="0" cy="1730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03137" name="Line 33"/>
            <p:cNvSpPr>
              <a:spLocks noChangeShapeType="1"/>
            </p:cNvSpPr>
            <p:nvPr/>
          </p:nvSpPr>
          <p:spPr bwMode="auto">
            <a:xfrm>
              <a:off x="5892800" y="5048250"/>
              <a:ext cx="0" cy="1730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03138" name="Line 34"/>
            <p:cNvSpPr>
              <a:spLocks noChangeShapeType="1"/>
            </p:cNvSpPr>
            <p:nvPr/>
          </p:nvSpPr>
          <p:spPr bwMode="auto">
            <a:xfrm>
              <a:off x="6130925" y="5048250"/>
              <a:ext cx="0" cy="1730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03139" name="Line 35"/>
            <p:cNvSpPr>
              <a:spLocks noChangeShapeType="1"/>
            </p:cNvSpPr>
            <p:nvPr/>
          </p:nvSpPr>
          <p:spPr bwMode="auto">
            <a:xfrm>
              <a:off x="6370638" y="5048250"/>
              <a:ext cx="0" cy="1730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03140" name="Line 36"/>
            <p:cNvSpPr>
              <a:spLocks noChangeShapeType="1"/>
            </p:cNvSpPr>
            <p:nvPr/>
          </p:nvSpPr>
          <p:spPr bwMode="auto">
            <a:xfrm>
              <a:off x="6610350" y="5048250"/>
              <a:ext cx="0" cy="1730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03141" name="Line 37"/>
            <p:cNvSpPr>
              <a:spLocks noChangeShapeType="1"/>
            </p:cNvSpPr>
            <p:nvPr/>
          </p:nvSpPr>
          <p:spPr bwMode="auto">
            <a:xfrm>
              <a:off x="6850063" y="5048250"/>
              <a:ext cx="0" cy="1730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03142" name="Line 38"/>
            <p:cNvSpPr>
              <a:spLocks noChangeShapeType="1"/>
            </p:cNvSpPr>
            <p:nvPr/>
          </p:nvSpPr>
          <p:spPr bwMode="auto">
            <a:xfrm>
              <a:off x="7088188" y="5048250"/>
              <a:ext cx="0" cy="1730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03143" name="Line 39"/>
            <p:cNvSpPr>
              <a:spLocks noChangeShapeType="1"/>
            </p:cNvSpPr>
            <p:nvPr/>
          </p:nvSpPr>
          <p:spPr bwMode="auto">
            <a:xfrm>
              <a:off x="7327900" y="5133976"/>
              <a:ext cx="0" cy="8731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03144" name="Line 40"/>
            <p:cNvSpPr>
              <a:spLocks noChangeShapeType="1"/>
            </p:cNvSpPr>
            <p:nvPr/>
          </p:nvSpPr>
          <p:spPr bwMode="auto">
            <a:xfrm>
              <a:off x="7567613" y="5048250"/>
              <a:ext cx="0" cy="1730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03145" name="Line 41"/>
            <p:cNvSpPr>
              <a:spLocks noChangeShapeType="1"/>
            </p:cNvSpPr>
            <p:nvPr/>
          </p:nvSpPr>
          <p:spPr bwMode="auto">
            <a:xfrm>
              <a:off x="7807325" y="5048250"/>
              <a:ext cx="0" cy="1730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03146" name="Line 42"/>
            <p:cNvSpPr>
              <a:spLocks noChangeShapeType="1"/>
            </p:cNvSpPr>
            <p:nvPr/>
          </p:nvSpPr>
          <p:spPr bwMode="auto">
            <a:xfrm>
              <a:off x="8047038" y="5048250"/>
              <a:ext cx="0" cy="1730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03147" name="Line 43"/>
            <p:cNvSpPr>
              <a:spLocks noChangeShapeType="1"/>
            </p:cNvSpPr>
            <p:nvPr/>
          </p:nvSpPr>
          <p:spPr bwMode="auto">
            <a:xfrm>
              <a:off x="8285163" y="5048250"/>
              <a:ext cx="0" cy="1730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03148" name="Line 44"/>
            <p:cNvSpPr>
              <a:spLocks noChangeShapeType="1"/>
            </p:cNvSpPr>
            <p:nvPr/>
          </p:nvSpPr>
          <p:spPr bwMode="auto">
            <a:xfrm>
              <a:off x="8524875" y="5048250"/>
              <a:ext cx="0" cy="1730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03149" name="Line 45"/>
            <p:cNvSpPr>
              <a:spLocks noChangeShapeType="1"/>
            </p:cNvSpPr>
            <p:nvPr/>
          </p:nvSpPr>
          <p:spPr bwMode="auto">
            <a:xfrm>
              <a:off x="8764588" y="5048250"/>
              <a:ext cx="0" cy="1730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03150" name="Line 46"/>
            <p:cNvSpPr>
              <a:spLocks noChangeShapeType="1"/>
            </p:cNvSpPr>
            <p:nvPr/>
          </p:nvSpPr>
          <p:spPr bwMode="auto">
            <a:xfrm>
              <a:off x="9004300" y="5048250"/>
              <a:ext cx="0" cy="1730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03151" name="Line 47"/>
            <p:cNvSpPr>
              <a:spLocks noChangeShapeType="1"/>
            </p:cNvSpPr>
            <p:nvPr/>
          </p:nvSpPr>
          <p:spPr bwMode="auto">
            <a:xfrm>
              <a:off x="9242425" y="5048250"/>
              <a:ext cx="0" cy="1730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03152" name="Line 48"/>
            <p:cNvSpPr>
              <a:spLocks noChangeShapeType="1"/>
            </p:cNvSpPr>
            <p:nvPr/>
          </p:nvSpPr>
          <p:spPr bwMode="auto">
            <a:xfrm>
              <a:off x="3976688" y="4786313"/>
              <a:ext cx="23971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03153" name="Line 49"/>
            <p:cNvSpPr>
              <a:spLocks noChangeShapeType="1"/>
            </p:cNvSpPr>
            <p:nvPr/>
          </p:nvSpPr>
          <p:spPr bwMode="auto">
            <a:xfrm>
              <a:off x="3976688" y="4351338"/>
              <a:ext cx="23971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03154" name="Line 50"/>
            <p:cNvSpPr>
              <a:spLocks noChangeShapeType="1"/>
            </p:cNvSpPr>
            <p:nvPr/>
          </p:nvSpPr>
          <p:spPr bwMode="auto">
            <a:xfrm>
              <a:off x="3976688" y="3916363"/>
              <a:ext cx="23971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03155" name="Line 51"/>
            <p:cNvSpPr>
              <a:spLocks noChangeShapeType="1"/>
            </p:cNvSpPr>
            <p:nvPr/>
          </p:nvSpPr>
          <p:spPr bwMode="auto">
            <a:xfrm>
              <a:off x="3976688" y="3481388"/>
              <a:ext cx="23971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03156" name="Line 52"/>
            <p:cNvSpPr>
              <a:spLocks noChangeShapeType="1"/>
            </p:cNvSpPr>
            <p:nvPr/>
          </p:nvSpPr>
          <p:spPr bwMode="auto">
            <a:xfrm>
              <a:off x="3976688" y="3046413"/>
              <a:ext cx="23971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03157" name="Line 53"/>
            <p:cNvSpPr>
              <a:spLocks noChangeShapeType="1"/>
            </p:cNvSpPr>
            <p:nvPr/>
          </p:nvSpPr>
          <p:spPr bwMode="auto">
            <a:xfrm>
              <a:off x="3976688" y="2611438"/>
              <a:ext cx="23971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03158" name="Text Box 54"/>
            <p:cNvSpPr txBox="1">
              <a:spLocks noChangeArrowheads="1"/>
            </p:cNvSpPr>
            <p:nvPr/>
          </p:nvSpPr>
          <p:spPr bwMode="auto">
            <a:xfrm>
              <a:off x="4295775" y="5222876"/>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a:latin typeface="微软雅黑 Light" panose="020B0502040204020203" pitchFamily="34" charset="-122"/>
                  <a:ea typeface="微软雅黑 Light" panose="020B0502040204020203" pitchFamily="34" charset="-122"/>
                </a:rPr>
                <a:t>2</a:t>
              </a:r>
            </a:p>
          </p:txBody>
        </p:sp>
        <p:sp>
          <p:nvSpPr>
            <p:cNvPr id="303159" name="Text Box 55"/>
            <p:cNvSpPr txBox="1">
              <a:spLocks noChangeArrowheads="1"/>
            </p:cNvSpPr>
            <p:nvPr/>
          </p:nvSpPr>
          <p:spPr bwMode="auto">
            <a:xfrm>
              <a:off x="4775200" y="5222876"/>
              <a:ext cx="3177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a:latin typeface="微软雅黑 Light" panose="020B0502040204020203" pitchFamily="34" charset="-122"/>
                  <a:ea typeface="微软雅黑 Light" panose="020B0502040204020203" pitchFamily="34" charset="-122"/>
                </a:rPr>
                <a:t>4</a:t>
              </a:r>
            </a:p>
          </p:txBody>
        </p:sp>
        <p:sp>
          <p:nvSpPr>
            <p:cNvPr id="303160" name="Text Box 56"/>
            <p:cNvSpPr txBox="1">
              <a:spLocks noChangeArrowheads="1"/>
            </p:cNvSpPr>
            <p:nvPr/>
          </p:nvSpPr>
          <p:spPr bwMode="auto">
            <a:xfrm>
              <a:off x="5254625" y="5222875"/>
              <a:ext cx="31290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a:latin typeface="微软雅黑 Light" panose="020B0502040204020203" pitchFamily="34" charset="-122"/>
                  <a:ea typeface="微软雅黑 Light" panose="020B0502040204020203" pitchFamily="34" charset="-122"/>
                </a:rPr>
                <a:t>6</a:t>
              </a:r>
            </a:p>
          </p:txBody>
        </p:sp>
        <p:sp>
          <p:nvSpPr>
            <p:cNvPr id="303161" name="Text Box 57"/>
            <p:cNvSpPr txBox="1">
              <a:spLocks noChangeArrowheads="1"/>
            </p:cNvSpPr>
            <p:nvPr/>
          </p:nvSpPr>
          <p:spPr bwMode="auto">
            <a:xfrm>
              <a:off x="5745164" y="5222876"/>
              <a:ext cx="3127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a:latin typeface="微软雅黑 Light" panose="020B0502040204020203" pitchFamily="34" charset="-122"/>
                  <a:ea typeface="微软雅黑 Light" panose="020B0502040204020203" pitchFamily="34" charset="-122"/>
                </a:rPr>
                <a:t>8</a:t>
              </a:r>
            </a:p>
          </p:txBody>
        </p:sp>
        <p:sp>
          <p:nvSpPr>
            <p:cNvPr id="303162" name="Text Box 58"/>
            <p:cNvSpPr txBox="1">
              <a:spLocks noChangeArrowheads="1"/>
            </p:cNvSpPr>
            <p:nvPr/>
          </p:nvSpPr>
          <p:spPr bwMode="auto">
            <a:xfrm>
              <a:off x="6145213" y="5222876"/>
              <a:ext cx="40107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a:latin typeface="微软雅黑 Light" panose="020B0502040204020203" pitchFamily="34" charset="-122"/>
                  <a:ea typeface="微软雅黑 Light" panose="020B0502040204020203" pitchFamily="34" charset="-122"/>
                </a:rPr>
                <a:t>10</a:t>
              </a:r>
            </a:p>
          </p:txBody>
        </p:sp>
        <p:sp>
          <p:nvSpPr>
            <p:cNvPr id="303163" name="Text Box 59"/>
            <p:cNvSpPr txBox="1">
              <a:spLocks noChangeArrowheads="1"/>
            </p:cNvSpPr>
            <p:nvPr/>
          </p:nvSpPr>
          <p:spPr bwMode="auto">
            <a:xfrm>
              <a:off x="6662739" y="5222876"/>
              <a:ext cx="40107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a:latin typeface="微软雅黑 Light" panose="020B0502040204020203" pitchFamily="34" charset="-122"/>
                  <a:ea typeface="微软雅黑 Light" panose="020B0502040204020203" pitchFamily="34" charset="-122"/>
                </a:rPr>
                <a:t>12</a:t>
              </a:r>
            </a:p>
          </p:txBody>
        </p:sp>
        <p:sp>
          <p:nvSpPr>
            <p:cNvPr id="303164" name="Text Box 60"/>
            <p:cNvSpPr txBox="1">
              <a:spLocks noChangeArrowheads="1"/>
            </p:cNvSpPr>
            <p:nvPr/>
          </p:nvSpPr>
          <p:spPr bwMode="auto">
            <a:xfrm>
              <a:off x="7115175" y="5222876"/>
              <a:ext cx="40588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a:latin typeface="微软雅黑 Light" panose="020B0502040204020203" pitchFamily="34" charset="-122"/>
                  <a:ea typeface="微软雅黑 Light" panose="020B0502040204020203" pitchFamily="34" charset="-122"/>
                </a:rPr>
                <a:t>14</a:t>
              </a:r>
            </a:p>
          </p:txBody>
        </p:sp>
        <p:sp>
          <p:nvSpPr>
            <p:cNvPr id="303165" name="Text Box 61"/>
            <p:cNvSpPr txBox="1">
              <a:spLocks noChangeArrowheads="1"/>
            </p:cNvSpPr>
            <p:nvPr/>
          </p:nvSpPr>
          <p:spPr bwMode="auto">
            <a:xfrm>
              <a:off x="7594600" y="5222876"/>
              <a:ext cx="40107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a:latin typeface="微软雅黑 Light" panose="020B0502040204020203" pitchFamily="34" charset="-122"/>
                  <a:ea typeface="微软雅黑 Light" panose="020B0502040204020203" pitchFamily="34" charset="-122"/>
                </a:rPr>
                <a:t>16</a:t>
              </a:r>
            </a:p>
          </p:txBody>
        </p:sp>
        <p:sp>
          <p:nvSpPr>
            <p:cNvPr id="303166" name="Text Box 62"/>
            <p:cNvSpPr txBox="1">
              <a:spLocks noChangeArrowheads="1"/>
            </p:cNvSpPr>
            <p:nvPr/>
          </p:nvSpPr>
          <p:spPr bwMode="auto">
            <a:xfrm>
              <a:off x="8099425" y="5222876"/>
              <a:ext cx="40107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a:latin typeface="微软雅黑 Light" panose="020B0502040204020203" pitchFamily="34" charset="-122"/>
                  <a:ea typeface="微软雅黑 Light" panose="020B0502040204020203" pitchFamily="34" charset="-122"/>
                </a:rPr>
                <a:t>18</a:t>
              </a:r>
            </a:p>
          </p:txBody>
        </p:sp>
        <p:sp>
          <p:nvSpPr>
            <p:cNvPr id="303167" name="Text Box 63"/>
            <p:cNvSpPr txBox="1">
              <a:spLocks noChangeArrowheads="1"/>
            </p:cNvSpPr>
            <p:nvPr/>
          </p:nvSpPr>
          <p:spPr bwMode="auto">
            <a:xfrm>
              <a:off x="8578850" y="5222876"/>
              <a:ext cx="438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a:latin typeface="微软雅黑 Light" panose="020B0502040204020203" pitchFamily="34" charset="-122"/>
                  <a:ea typeface="微软雅黑 Light" panose="020B0502040204020203" pitchFamily="34" charset="-122"/>
                </a:rPr>
                <a:t>20</a:t>
              </a:r>
            </a:p>
          </p:txBody>
        </p:sp>
        <p:sp>
          <p:nvSpPr>
            <p:cNvPr id="303168" name="Text Box 64"/>
            <p:cNvSpPr txBox="1">
              <a:spLocks noChangeArrowheads="1"/>
            </p:cNvSpPr>
            <p:nvPr/>
          </p:nvSpPr>
          <p:spPr bwMode="auto">
            <a:xfrm>
              <a:off x="9043988" y="5222876"/>
              <a:ext cx="438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a:latin typeface="微软雅黑 Light" panose="020B0502040204020203" pitchFamily="34" charset="-122"/>
                  <a:ea typeface="微软雅黑 Light" panose="020B0502040204020203" pitchFamily="34" charset="-122"/>
                </a:rPr>
                <a:t>22</a:t>
              </a:r>
            </a:p>
          </p:txBody>
        </p:sp>
        <p:sp>
          <p:nvSpPr>
            <p:cNvPr id="303169" name="Text Box 65"/>
            <p:cNvSpPr txBox="1">
              <a:spLocks noChangeArrowheads="1"/>
            </p:cNvSpPr>
            <p:nvPr/>
          </p:nvSpPr>
          <p:spPr bwMode="auto">
            <a:xfrm>
              <a:off x="3857625" y="5222876"/>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a:latin typeface="微软雅黑 Light" panose="020B0502040204020203" pitchFamily="34" charset="-122"/>
                  <a:ea typeface="微软雅黑 Light" panose="020B0502040204020203" pitchFamily="34" charset="-122"/>
                </a:rPr>
                <a:t>0</a:t>
              </a:r>
            </a:p>
          </p:txBody>
        </p:sp>
        <p:sp>
          <p:nvSpPr>
            <p:cNvPr id="303170" name="Text Box 66"/>
            <p:cNvSpPr txBox="1">
              <a:spLocks noChangeArrowheads="1"/>
            </p:cNvSpPr>
            <p:nvPr/>
          </p:nvSpPr>
          <p:spPr bwMode="auto">
            <a:xfrm>
              <a:off x="3698875" y="4962525"/>
              <a:ext cx="31290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a:latin typeface="微软雅黑 Light" panose="020B0502040204020203" pitchFamily="34" charset="-122"/>
                  <a:ea typeface="微软雅黑 Light" panose="020B0502040204020203" pitchFamily="34" charset="-122"/>
                </a:rPr>
                <a:t>0</a:t>
              </a:r>
            </a:p>
          </p:txBody>
        </p:sp>
        <p:sp>
          <p:nvSpPr>
            <p:cNvPr id="303171" name="Text Box 67"/>
            <p:cNvSpPr txBox="1">
              <a:spLocks noChangeArrowheads="1"/>
            </p:cNvSpPr>
            <p:nvPr/>
          </p:nvSpPr>
          <p:spPr bwMode="auto">
            <a:xfrm>
              <a:off x="3698875" y="4527550"/>
              <a:ext cx="3177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a:latin typeface="微软雅黑 Light" panose="020B0502040204020203" pitchFamily="34" charset="-122"/>
                  <a:ea typeface="微软雅黑 Light" panose="020B0502040204020203" pitchFamily="34" charset="-122"/>
                </a:rPr>
                <a:t>4</a:t>
              </a:r>
            </a:p>
          </p:txBody>
        </p:sp>
        <p:sp>
          <p:nvSpPr>
            <p:cNvPr id="303172" name="Text Box 68"/>
            <p:cNvSpPr txBox="1">
              <a:spLocks noChangeArrowheads="1"/>
            </p:cNvSpPr>
            <p:nvPr/>
          </p:nvSpPr>
          <p:spPr bwMode="auto">
            <a:xfrm>
              <a:off x="3698875" y="4106863"/>
              <a:ext cx="31290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a:latin typeface="微软雅黑 Light" panose="020B0502040204020203" pitchFamily="34" charset="-122"/>
                  <a:ea typeface="微软雅黑 Light" panose="020B0502040204020203" pitchFamily="34" charset="-122"/>
                </a:rPr>
                <a:t>8</a:t>
              </a:r>
            </a:p>
          </p:txBody>
        </p:sp>
        <p:sp>
          <p:nvSpPr>
            <p:cNvPr id="303173" name="Text Box 69"/>
            <p:cNvSpPr txBox="1">
              <a:spLocks noChangeArrowheads="1"/>
            </p:cNvSpPr>
            <p:nvPr/>
          </p:nvSpPr>
          <p:spPr bwMode="auto">
            <a:xfrm>
              <a:off x="3578225" y="3686176"/>
              <a:ext cx="40107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a:latin typeface="微软雅黑 Light" panose="020B0502040204020203" pitchFamily="34" charset="-122"/>
                  <a:ea typeface="微软雅黑 Light" panose="020B0502040204020203" pitchFamily="34" charset="-122"/>
                </a:rPr>
                <a:t>12</a:t>
              </a:r>
            </a:p>
          </p:txBody>
        </p:sp>
        <p:sp>
          <p:nvSpPr>
            <p:cNvPr id="303174" name="Text Box 70"/>
            <p:cNvSpPr txBox="1">
              <a:spLocks noChangeArrowheads="1"/>
            </p:cNvSpPr>
            <p:nvPr/>
          </p:nvSpPr>
          <p:spPr bwMode="auto">
            <a:xfrm>
              <a:off x="3578225" y="3265488"/>
              <a:ext cx="40107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a:latin typeface="微软雅黑 Light" panose="020B0502040204020203" pitchFamily="34" charset="-122"/>
                  <a:ea typeface="微软雅黑 Light" panose="020B0502040204020203" pitchFamily="34" charset="-122"/>
                </a:rPr>
                <a:t>16</a:t>
              </a:r>
            </a:p>
          </p:txBody>
        </p:sp>
        <p:sp>
          <p:nvSpPr>
            <p:cNvPr id="303175" name="Text Box 71"/>
            <p:cNvSpPr txBox="1">
              <a:spLocks noChangeArrowheads="1"/>
            </p:cNvSpPr>
            <p:nvPr/>
          </p:nvSpPr>
          <p:spPr bwMode="auto">
            <a:xfrm>
              <a:off x="3578225" y="2830513"/>
              <a:ext cx="438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a:latin typeface="微软雅黑 Light" panose="020B0502040204020203" pitchFamily="34" charset="-122"/>
                  <a:ea typeface="微软雅黑 Light" panose="020B0502040204020203" pitchFamily="34" charset="-122"/>
                </a:rPr>
                <a:t>20</a:t>
              </a:r>
            </a:p>
          </p:txBody>
        </p:sp>
        <p:grpSp>
          <p:nvGrpSpPr>
            <p:cNvPr id="303218" name="Group 114"/>
            <p:cNvGrpSpPr/>
            <p:nvPr/>
          </p:nvGrpSpPr>
          <p:grpSpPr bwMode="auto">
            <a:xfrm>
              <a:off x="3937001" y="2551114"/>
              <a:ext cx="5110163" cy="2576513"/>
              <a:chOff x="1520" y="1607"/>
              <a:chExt cx="3219" cy="1623"/>
            </a:xfrm>
          </p:grpSpPr>
          <p:sp>
            <p:nvSpPr>
              <p:cNvPr id="303108" name="Oval 4"/>
              <p:cNvSpPr>
                <a:spLocks noChangeArrowheads="1"/>
              </p:cNvSpPr>
              <p:nvPr/>
            </p:nvSpPr>
            <p:spPr bwMode="auto">
              <a:xfrm>
                <a:off x="1966" y="2714"/>
                <a:ext cx="59" cy="64"/>
              </a:xfrm>
              <a:prstGeom prst="ellipse">
                <a:avLst/>
              </a:prstGeom>
              <a:solidFill>
                <a:schemeClr val="bg2">
                  <a:lumMod val="50000"/>
                </a:schemeClr>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微软雅黑 Light" panose="020B0502040204020203" pitchFamily="34" charset="-122"/>
                  <a:ea typeface="微软雅黑 Light" panose="020B0502040204020203" pitchFamily="34" charset="-122"/>
                </a:endParaRPr>
              </a:p>
            </p:txBody>
          </p:sp>
          <p:sp>
            <p:nvSpPr>
              <p:cNvPr id="303109" name="Oval 5"/>
              <p:cNvSpPr>
                <a:spLocks noChangeArrowheads="1"/>
              </p:cNvSpPr>
              <p:nvPr/>
            </p:nvSpPr>
            <p:spPr bwMode="auto">
              <a:xfrm>
                <a:off x="2268" y="2090"/>
                <a:ext cx="58" cy="64"/>
              </a:xfrm>
              <a:prstGeom prst="ellipse">
                <a:avLst/>
              </a:prstGeom>
              <a:solidFill>
                <a:schemeClr val="bg2">
                  <a:lumMod val="50000"/>
                </a:schemeClr>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微软雅黑 Light" panose="020B0502040204020203" pitchFamily="34" charset="-122"/>
                  <a:ea typeface="微软雅黑 Light" panose="020B0502040204020203" pitchFamily="34" charset="-122"/>
                </a:endParaRPr>
              </a:p>
            </p:txBody>
          </p:sp>
          <p:sp>
            <p:nvSpPr>
              <p:cNvPr id="303110" name="Oval 6"/>
              <p:cNvSpPr>
                <a:spLocks noChangeArrowheads="1"/>
              </p:cNvSpPr>
              <p:nvPr/>
            </p:nvSpPr>
            <p:spPr bwMode="auto">
              <a:xfrm>
                <a:off x="2419" y="2025"/>
                <a:ext cx="58" cy="64"/>
              </a:xfrm>
              <a:prstGeom prst="ellipse">
                <a:avLst/>
              </a:prstGeom>
              <a:solidFill>
                <a:schemeClr val="bg2">
                  <a:lumMod val="50000"/>
                </a:schemeClr>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微软雅黑 Light" panose="020B0502040204020203" pitchFamily="34" charset="-122"/>
                  <a:ea typeface="微软雅黑 Light" panose="020B0502040204020203" pitchFamily="34" charset="-122"/>
                </a:endParaRPr>
              </a:p>
            </p:txBody>
          </p:sp>
          <p:sp>
            <p:nvSpPr>
              <p:cNvPr id="303111" name="Oval 7"/>
              <p:cNvSpPr>
                <a:spLocks noChangeArrowheads="1"/>
              </p:cNvSpPr>
              <p:nvPr/>
            </p:nvSpPr>
            <p:spPr bwMode="auto">
              <a:xfrm>
                <a:off x="2723" y="1888"/>
                <a:ext cx="59" cy="64"/>
              </a:xfrm>
              <a:prstGeom prst="ellipse">
                <a:avLst/>
              </a:prstGeom>
              <a:solidFill>
                <a:schemeClr val="bg2">
                  <a:lumMod val="50000"/>
                </a:schemeClr>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微软雅黑 Light" panose="020B0502040204020203" pitchFamily="34" charset="-122"/>
                  <a:ea typeface="微软雅黑 Light" panose="020B0502040204020203" pitchFamily="34" charset="-122"/>
                </a:endParaRPr>
              </a:p>
            </p:txBody>
          </p:sp>
          <p:sp>
            <p:nvSpPr>
              <p:cNvPr id="303112" name="Oval 8"/>
              <p:cNvSpPr>
                <a:spLocks noChangeArrowheads="1"/>
              </p:cNvSpPr>
              <p:nvPr/>
            </p:nvSpPr>
            <p:spPr bwMode="auto">
              <a:xfrm>
                <a:off x="2569" y="1957"/>
                <a:ext cx="59" cy="63"/>
              </a:xfrm>
              <a:prstGeom prst="ellipse">
                <a:avLst/>
              </a:prstGeom>
              <a:solidFill>
                <a:schemeClr val="bg2">
                  <a:lumMod val="50000"/>
                </a:schemeClr>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微软雅黑 Light" panose="020B0502040204020203" pitchFamily="34" charset="-122"/>
                  <a:ea typeface="微软雅黑 Light" panose="020B0502040204020203" pitchFamily="34" charset="-122"/>
                </a:endParaRPr>
              </a:p>
            </p:txBody>
          </p:sp>
          <p:sp>
            <p:nvSpPr>
              <p:cNvPr id="303113" name="Oval 9"/>
              <p:cNvSpPr>
                <a:spLocks noChangeArrowheads="1"/>
              </p:cNvSpPr>
              <p:nvPr/>
            </p:nvSpPr>
            <p:spPr bwMode="auto">
              <a:xfrm>
                <a:off x="2874" y="1819"/>
                <a:ext cx="59" cy="64"/>
              </a:xfrm>
              <a:prstGeom prst="ellipse">
                <a:avLst/>
              </a:prstGeom>
              <a:solidFill>
                <a:schemeClr val="bg2">
                  <a:lumMod val="50000"/>
                </a:schemeClr>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微软雅黑 Light" panose="020B0502040204020203" pitchFamily="34" charset="-122"/>
                  <a:ea typeface="微软雅黑 Light" panose="020B0502040204020203" pitchFamily="34" charset="-122"/>
                </a:endParaRPr>
              </a:p>
            </p:txBody>
          </p:sp>
          <p:sp>
            <p:nvSpPr>
              <p:cNvPr id="303114" name="Oval 10"/>
              <p:cNvSpPr>
                <a:spLocks noChangeArrowheads="1"/>
              </p:cNvSpPr>
              <p:nvPr/>
            </p:nvSpPr>
            <p:spPr bwMode="auto">
              <a:xfrm>
                <a:off x="3022" y="1754"/>
                <a:ext cx="58" cy="64"/>
              </a:xfrm>
              <a:prstGeom prst="ellipse">
                <a:avLst/>
              </a:prstGeom>
              <a:solidFill>
                <a:schemeClr val="bg2">
                  <a:lumMod val="50000"/>
                </a:schemeClr>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微软雅黑 Light" panose="020B0502040204020203" pitchFamily="34" charset="-122"/>
                  <a:ea typeface="微软雅黑 Light" panose="020B0502040204020203" pitchFamily="34" charset="-122"/>
                </a:endParaRPr>
              </a:p>
            </p:txBody>
          </p:sp>
          <p:sp>
            <p:nvSpPr>
              <p:cNvPr id="303115" name="Oval 11"/>
              <p:cNvSpPr>
                <a:spLocks noChangeArrowheads="1"/>
              </p:cNvSpPr>
              <p:nvPr/>
            </p:nvSpPr>
            <p:spPr bwMode="auto">
              <a:xfrm>
                <a:off x="3172" y="1676"/>
                <a:ext cx="59" cy="64"/>
              </a:xfrm>
              <a:prstGeom prst="ellipse">
                <a:avLst/>
              </a:prstGeom>
              <a:solidFill>
                <a:schemeClr val="bg2">
                  <a:lumMod val="50000"/>
                </a:schemeClr>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微软雅黑 Light" panose="020B0502040204020203" pitchFamily="34" charset="-122"/>
                  <a:ea typeface="微软雅黑 Light" panose="020B0502040204020203" pitchFamily="34" charset="-122"/>
                </a:endParaRPr>
              </a:p>
            </p:txBody>
          </p:sp>
          <p:sp>
            <p:nvSpPr>
              <p:cNvPr id="303117" name="Oval 13"/>
              <p:cNvSpPr>
                <a:spLocks noChangeArrowheads="1"/>
              </p:cNvSpPr>
              <p:nvPr/>
            </p:nvSpPr>
            <p:spPr bwMode="auto">
              <a:xfrm>
                <a:off x="3475" y="2433"/>
                <a:ext cx="59" cy="64"/>
              </a:xfrm>
              <a:prstGeom prst="ellipse">
                <a:avLst/>
              </a:prstGeom>
              <a:solidFill>
                <a:schemeClr val="bg2">
                  <a:lumMod val="50000"/>
                </a:schemeClr>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微软雅黑 Light" panose="020B0502040204020203" pitchFamily="34" charset="-122"/>
                  <a:ea typeface="微软雅黑 Light" panose="020B0502040204020203" pitchFamily="34" charset="-122"/>
                </a:endParaRPr>
              </a:p>
            </p:txBody>
          </p:sp>
          <p:sp>
            <p:nvSpPr>
              <p:cNvPr id="303118" name="Oval 14"/>
              <p:cNvSpPr>
                <a:spLocks noChangeArrowheads="1"/>
              </p:cNvSpPr>
              <p:nvPr/>
            </p:nvSpPr>
            <p:spPr bwMode="auto">
              <a:xfrm>
                <a:off x="3630" y="2369"/>
                <a:ext cx="59" cy="64"/>
              </a:xfrm>
              <a:prstGeom prst="ellipse">
                <a:avLst/>
              </a:prstGeom>
              <a:solidFill>
                <a:schemeClr val="bg2">
                  <a:lumMod val="50000"/>
                </a:schemeClr>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微软雅黑 Light" panose="020B0502040204020203" pitchFamily="34" charset="-122"/>
                  <a:ea typeface="微软雅黑 Light" panose="020B0502040204020203" pitchFamily="34" charset="-122"/>
                </a:endParaRPr>
              </a:p>
            </p:txBody>
          </p:sp>
          <p:sp>
            <p:nvSpPr>
              <p:cNvPr id="303119" name="Oval 15"/>
              <p:cNvSpPr>
                <a:spLocks noChangeArrowheads="1"/>
              </p:cNvSpPr>
              <p:nvPr/>
            </p:nvSpPr>
            <p:spPr bwMode="auto">
              <a:xfrm>
                <a:off x="3777" y="2298"/>
                <a:ext cx="58" cy="64"/>
              </a:xfrm>
              <a:prstGeom prst="ellipse">
                <a:avLst/>
              </a:prstGeom>
              <a:solidFill>
                <a:schemeClr val="bg2">
                  <a:lumMod val="50000"/>
                </a:schemeClr>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微软雅黑 Light" panose="020B0502040204020203" pitchFamily="34" charset="-122"/>
                  <a:ea typeface="微软雅黑 Light" panose="020B0502040204020203" pitchFamily="34" charset="-122"/>
                </a:endParaRPr>
              </a:p>
            </p:txBody>
          </p:sp>
          <p:sp>
            <p:nvSpPr>
              <p:cNvPr id="303120" name="Oval 16"/>
              <p:cNvSpPr>
                <a:spLocks noChangeArrowheads="1"/>
              </p:cNvSpPr>
              <p:nvPr/>
            </p:nvSpPr>
            <p:spPr bwMode="auto">
              <a:xfrm>
                <a:off x="3927" y="2236"/>
                <a:ext cx="59" cy="64"/>
              </a:xfrm>
              <a:prstGeom prst="ellipse">
                <a:avLst/>
              </a:prstGeom>
              <a:solidFill>
                <a:schemeClr val="bg2">
                  <a:lumMod val="50000"/>
                </a:schemeClr>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微软雅黑 Light" panose="020B0502040204020203" pitchFamily="34" charset="-122"/>
                  <a:ea typeface="微软雅黑 Light" panose="020B0502040204020203" pitchFamily="34" charset="-122"/>
                </a:endParaRPr>
              </a:p>
            </p:txBody>
          </p:sp>
          <p:sp>
            <p:nvSpPr>
              <p:cNvPr id="303121" name="Oval 17"/>
              <p:cNvSpPr>
                <a:spLocks noChangeArrowheads="1"/>
              </p:cNvSpPr>
              <p:nvPr/>
            </p:nvSpPr>
            <p:spPr bwMode="auto">
              <a:xfrm>
                <a:off x="4080" y="2164"/>
                <a:ext cx="59" cy="64"/>
              </a:xfrm>
              <a:prstGeom prst="ellipse">
                <a:avLst/>
              </a:prstGeom>
              <a:solidFill>
                <a:schemeClr val="bg2">
                  <a:lumMod val="50000"/>
                </a:schemeClr>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微软雅黑 Light" panose="020B0502040204020203" pitchFamily="34" charset="-122"/>
                  <a:ea typeface="微软雅黑 Light" panose="020B0502040204020203" pitchFamily="34" charset="-122"/>
                </a:endParaRPr>
              </a:p>
            </p:txBody>
          </p:sp>
          <p:sp>
            <p:nvSpPr>
              <p:cNvPr id="303122" name="Oval 18"/>
              <p:cNvSpPr>
                <a:spLocks noChangeArrowheads="1"/>
              </p:cNvSpPr>
              <p:nvPr/>
            </p:nvSpPr>
            <p:spPr bwMode="auto">
              <a:xfrm>
                <a:off x="4231" y="2102"/>
                <a:ext cx="59" cy="64"/>
              </a:xfrm>
              <a:prstGeom prst="ellipse">
                <a:avLst/>
              </a:prstGeom>
              <a:solidFill>
                <a:schemeClr val="bg2">
                  <a:lumMod val="50000"/>
                </a:schemeClr>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微软雅黑 Light" panose="020B0502040204020203" pitchFamily="34" charset="-122"/>
                  <a:ea typeface="微软雅黑 Light" panose="020B0502040204020203" pitchFamily="34" charset="-122"/>
                </a:endParaRPr>
              </a:p>
            </p:txBody>
          </p:sp>
          <p:sp>
            <p:nvSpPr>
              <p:cNvPr id="303123" name="Oval 19"/>
              <p:cNvSpPr>
                <a:spLocks noChangeArrowheads="1"/>
              </p:cNvSpPr>
              <p:nvPr/>
            </p:nvSpPr>
            <p:spPr bwMode="auto">
              <a:xfrm>
                <a:off x="4382" y="2027"/>
                <a:ext cx="58" cy="64"/>
              </a:xfrm>
              <a:prstGeom prst="ellipse">
                <a:avLst/>
              </a:prstGeom>
              <a:solidFill>
                <a:schemeClr val="bg2">
                  <a:lumMod val="50000"/>
                </a:schemeClr>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微软雅黑 Light" panose="020B0502040204020203" pitchFamily="34" charset="-122"/>
                  <a:ea typeface="微软雅黑 Light" panose="020B0502040204020203" pitchFamily="34" charset="-122"/>
                </a:endParaRPr>
              </a:p>
            </p:txBody>
          </p:sp>
          <p:sp>
            <p:nvSpPr>
              <p:cNvPr id="303124" name="Oval 20"/>
              <p:cNvSpPr>
                <a:spLocks noChangeArrowheads="1"/>
              </p:cNvSpPr>
              <p:nvPr/>
            </p:nvSpPr>
            <p:spPr bwMode="auto">
              <a:xfrm>
                <a:off x="4533" y="1954"/>
                <a:ext cx="58" cy="64"/>
              </a:xfrm>
              <a:prstGeom prst="ellipse">
                <a:avLst/>
              </a:prstGeom>
              <a:solidFill>
                <a:schemeClr val="bg2">
                  <a:lumMod val="50000"/>
                </a:schemeClr>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微软雅黑 Light" panose="020B0502040204020203" pitchFamily="34" charset="-122"/>
                  <a:ea typeface="微软雅黑 Light" panose="020B0502040204020203" pitchFamily="34" charset="-122"/>
                </a:endParaRPr>
              </a:p>
            </p:txBody>
          </p:sp>
          <p:sp>
            <p:nvSpPr>
              <p:cNvPr id="303125" name="Oval 21"/>
              <p:cNvSpPr>
                <a:spLocks noChangeArrowheads="1"/>
              </p:cNvSpPr>
              <p:nvPr/>
            </p:nvSpPr>
            <p:spPr bwMode="auto">
              <a:xfrm>
                <a:off x="4680" y="1893"/>
                <a:ext cx="59" cy="64"/>
              </a:xfrm>
              <a:prstGeom prst="ellipse">
                <a:avLst/>
              </a:prstGeom>
              <a:solidFill>
                <a:schemeClr val="bg2">
                  <a:lumMod val="50000"/>
                </a:schemeClr>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微软雅黑 Light" panose="020B0502040204020203" pitchFamily="34" charset="-122"/>
                  <a:ea typeface="微软雅黑 Light" panose="020B0502040204020203" pitchFamily="34" charset="-122"/>
                </a:endParaRPr>
              </a:p>
            </p:txBody>
          </p:sp>
          <p:sp>
            <p:nvSpPr>
              <p:cNvPr id="303176" name="Oval 72"/>
              <p:cNvSpPr>
                <a:spLocks noChangeArrowheads="1"/>
              </p:cNvSpPr>
              <p:nvPr/>
            </p:nvSpPr>
            <p:spPr bwMode="auto">
              <a:xfrm>
                <a:off x="1816" y="2988"/>
                <a:ext cx="58" cy="64"/>
              </a:xfrm>
              <a:prstGeom prst="ellipse">
                <a:avLst/>
              </a:prstGeom>
              <a:solidFill>
                <a:schemeClr val="bg2">
                  <a:lumMod val="50000"/>
                </a:schemeClr>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微软雅黑 Light" panose="020B0502040204020203" pitchFamily="34" charset="-122"/>
                  <a:ea typeface="微软雅黑 Light" panose="020B0502040204020203" pitchFamily="34" charset="-122"/>
                </a:endParaRPr>
              </a:p>
            </p:txBody>
          </p:sp>
          <p:sp>
            <p:nvSpPr>
              <p:cNvPr id="303177" name="Oval 73"/>
              <p:cNvSpPr>
                <a:spLocks noChangeArrowheads="1"/>
              </p:cNvSpPr>
              <p:nvPr/>
            </p:nvSpPr>
            <p:spPr bwMode="auto">
              <a:xfrm>
                <a:off x="1520" y="3166"/>
                <a:ext cx="59" cy="64"/>
              </a:xfrm>
              <a:prstGeom prst="ellipse">
                <a:avLst/>
              </a:prstGeom>
              <a:solidFill>
                <a:schemeClr val="bg2">
                  <a:lumMod val="50000"/>
                </a:schemeClr>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微软雅黑 Light" panose="020B0502040204020203" pitchFamily="34" charset="-122"/>
                  <a:ea typeface="微软雅黑 Light" panose="020B0502040204020203" pitchFamily="34" charset="-122"/>
                </a:endParaRPr>
              </a:p>
            </p:txBody>
          </p:sp>
          <p:sp>
            <p:nvSpPr>
              <p:cNvPr id="303178" name="Oval 74"/>
              <p:cNvSpPr>
                <a:spLocks noChangeArrowheads="1"/>
              </p:cNvSpPr>
              <p:nvPr/>
            </p:nvSpPr>
            <p:spPr bwMode="auto">
              <a:xfrm>
                <a:off x="1659" y="3118"/>
                <a:ext cx="58" cy="64"/>
              </a:xfrm>
              <a:prstGeom prst="ellipse">
                <a:avLst/>
              </a:prstGeom>
              <a:solidFill>
                <a:schemeClr val="bg2">
                  <a:lumMod val="50000"/>
                </a:schemeClr>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微软雅黑 Light" panose="020B0502040204020203" pitchFamily="34" charset="-122"/>
                  <a:ea typeface="微软雅黑 Light" panose="020B0502040204020203" pitchFamily="34" charset="-122"/>
                </a:endParaRPr>
              </a:p>
            </p:txBody>
          </p:sp>
          <p:sp>
            <p:nvSpPr>
              <p:cNvPr id="303179" name="Oval 75"/>
              <p:cNvSpPr>
                <a:spLocks noChangeArrowheads="1"/>
              </p:cNvSpPr>
              <p:nvPr/>
            </p:nvSpPr>
            <p:spPr bwMode="auto">
              <a:xfrm>
                <a:off x="2117" y="2163"/>
                <a:ext cx="59" cy="64"/>
              </a:xfrm>
              <a:prstGeom prst="ellipse">
                <a:avLst/>
              </a:prstGeom>
              <a:solidFill>
                <a:schemeClr val="bg2">
                  <a:lumMod val="50000"/>
                </a:schemeClr>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微软雅黑 Light" panose="020B0502040204020203" pitchFamily="34" charset="-122"/>
                  <a:ea typeface="微软雅黑 Light" panose="020B0502040204020203" pitchFamily="34" charset="-122"/>
                </a:endParaRPr>
              </a:p>
            </p:txBody>
          </p:sp>
          <p:sp>
            <p:nvSpPr>
              <p:cNvPr id="303180" name="Oval 76"/>
              <p:cNvSpPr>
                <a:spLocks noChangeArrowheads="1"/>
              </p:cNvSpPr>
              <p:nvPr/>
            </p:nvSpPr>
            <p:spPr bwMode="auto">
              <a:xfrm>
                <a:off x="3320" y="1607"/>
                <a:ext cx="59" cy="64"/>
              </a:xfrm>
              <a:prstGeom prst="ellipse">
                <a:avLst/>
              </a:prstGeom>
              <a:solidFill>
                <a:schemeClr val="bg2">
                  <a:lumMod val="50000"/>
                </a:schemeClr>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微软雅黑 Light" panose="020B0502040204020203" pitchFamily="34" charset="-122"/>
                  <a:ea typeface="微软雅黑 Light" panose="020B0502040204020203" pitchFamily="34" charset="-122"/>
                </a:endParaRPr>
              </a:p>
            </p:txBody>
          </p:sp>
        </p:grpSp>
        <p:sp>
          <p:nvSpPr>
            <p:cNvPr id="303181" name="Oval 77"/>
            <p:cNvSpPr>
              <a:spLocks noChangeArrowheads="1"/>
            </p:cNvSpPr>
            <p:nvPr/>
          </p:nvSpPr>
          <p:spPr bwMode="auto">
            <a:xfrm>
              <a:off x="8005763" y="3862388"/>
              <a:ext cx="93662" cy="101600"/>
            </a:xfrm>
            <a:prstGeom prst="ellipse">
              <a:avLst/>
            </a:prstGeom>
            <a:solidFill>
              <a:srgbClr val="808080"/>
            </a:solidFill>
            <a:ln w="9525">
              <a:solidFill>
                <a:srgbClr val="80808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微软雅黑 Light" panose="020B0502040204020203" pitchFamily="34" charset="-122"/>
                <a:ea typeface="微软雅黑 Light" panose="020B0502040204020203" pitchFamily="34" charset="-122"/>
              </a:endParaRPr>
            </a:p>
          </p:txBody>
        </p:sp>
        <p:sp>
          <p:nvSpPr>
            <p:cNvPr id="303182" name="Oval 78"/>
            <p:cNvSpPr>
              <a:spLocks noChangeArrowheads="1"/>
            </p:cNvSpPr>
            <p:nvPr/>
          </p:nvSpPr>
          <p:spPr bwMode="auto">
            <a:xfrm>
              <a:off x="7278689" y="4938713"/>
              <a:ext cx="92075" cy="101600"/>
            </a:xfrm>
            <a:prstGeom prst="ellipse">
              <a:avLst/>
            </a:prstGeom>
            <a:solidFill>
              <a:srgbClr val="808080"/>
            </a:solidFill>
            <a:ln w="9525">
              <a:solidFill>
                <a:srgbClr val="80808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微软雅黑 Light" panose="020B0502040204020203" pitchFamily="34" charset="-122"/>
                <a:ea typeface="微软雅黑 Light" panose="020B0502040204020203" pitchFamily="34" charset="-122"/>
              </a:endParaRPr>
            </a:p>
          </p:txBody>
        </p:sp>
        <p:sp>
          <p:nvSpPr>
            <p:cNvPr id="303183" name="Oval 79"/>
            <p:cNvSpPr>
              <a:spLocks noChangeArrowheads="1"/>
            </p:cNvSpPr>
            <p:nvPr/>
          </p:nvSpPr>
          <p:spPr bwMode="auto">
            <a:xfrm>
              <a:off x="7523164" y="4725988"/>
              <a:ext cx="92075" cy="101600"/>
            </a:xfrm>
            <a:prstGeom prst="ellipse">
              <a:avLst/>
            </a:prstGeom>
            <a:solidFill>
              <a:srgbClr val="808080"/>
            </a:solidFill>
            <a:ln w="9525">
              <a:solidFill>
                <a:srgbClr val="80808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微软雅黑 Light" panose="020B0502040204020203" pitchFamily="34" charset="-122"/>
                <a:ea typeface="微软雅黑 Light" panose="020B0502040204020203" pitchFamily="34" charset="-122"/>
              </a:endParaRPr>
            </a:p>
          </p:txBody>
        </p:sp>
        <p:sp>
          <p:nvSpPr>
            <p:cNvPr id="303184" name="Oval 80"/>
            <p:cNvSpPr>
              <a:spLocks noChangeArrowheads="1"/>
            </p:cNvSpPr>
            <p:nvPr/>
          </p:nvSpPr>
          <p:spPr bwMode="auto">
            <a:xfrm>
              <a:off x="7034213" y="5026025"/>
              <a:ext cx="93662" cy="101600"/>
            </a:xfrm>
            <a:prstGeom prst="ellipse">
              <a:avLst/>
            </a:prstGeom>
            <a:solidFill>
              <a:srgbClr val="808080"/>
            </a:solidFill>
            <a:ln w="9525">
              <a:solidFill>
                <a:srgbClr val="80808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微软雅黑 Light" panose="020B0502040204020203" pitchFamily="34" charset="-122"/>
                <a:ea typeface="微软雅黑 Light" panose="020B0502040204020203" pitchFamily="34" charset="-122"/>
              </a:endParaRPr>
            </a:p>
          </p:txBody>
        </p:sp>
        <p:sp>
          <p:nvSpPr>
            <p:cNvPr id="303185" name="Oval 81"/>
            <p:cNvSpPr>
              <a:spLocks noChangeArrowheads="1"/>
            </p:cNvSpPr>
            <p:nvPr/>
          </p:nvSpPr>
          <p:spPr bwMode="auto">
            <a:xfrm>
              <a:off x="7751763" y="4297363"/>
              <a:ext cx="93662" cy="101600"/>
            </a:xfrm>
            <a:prstGeom prst="ellipse">
              <a:avLst/>
            </a:prstGeom>
            <a:solidFill>
              <a:srgbClr val="808080"/>
            </a:solidFill>
            <a:ln w="9525">
              <a:solidFill>
                <a:srgbClr val="80808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微软雅黑 Light" panose="020B0502040204020203" pitchFamily="34" charset="-122"/>
                <a:ea typeface="微软雅黑 Light" panose="020B0502040204020203" pitchFamily="34" charset="-122"/>
              </a:endParaRPr>
            </a:p>
          </p:txBody>
        </p:sp>
        <p:sp>
          <p:nvSpPr>
            <p:cNvPr id="303186" name="Oval 82"/>
            <p:cNvSpPr>
              <a:spLocks noChangeArrowheads="1"/>
            </p:cNvSpPr>
            <p:nvPr/>
          </p:nvSpPr>
          <p:spPr bwMode="auto">
            <a:xfrm>
              <a:off x="8240713" y="3748088"/>
              <a:ext cx="93662" cy="101600"/>
            </a:xfrm>
            <a:prstGeom prst="ellipse">
              <a:avLst/>
            </a:prstGeom>
            <a:solidFill>
              <a:srgbClr val="808080"/>
            </a:solidFill>
            <a:ln w="9525">
              <a:solidFill>
                <a:srgbClr val="80808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微软雅黑 Light" panose="020B0502040204020203" pitchFamily="34" charset="-122"/>
                <a:ea typeface="微软雅黑 Light" panose="020B0502040204020203" pitchFamily="34" charset="-122"/>
              </a:endParaRPr>
            </a:p>
          </p:txBody>
        </p:sp>
        <p:sp>
          <p:nvSpPr>
            <p:cNvPr id="303187" name="Oval 83"/>
            <p:cNvSpPr>
              <a:spLocks noChangeArrowheads="1"/>
            </p:cNvSpPr>
            <p:nvPr/>
          </p:nvSpPr>
          <p:spPr bwMode="auto">
            <a:xfrm>
              <a:off x="8953501" y="3421063"/>
              <a:ext cx="93663" cy="101600"/>
            </a:xfrm>
            <a:prstGeom prst="ellipse">
              <a:avLst/>
            </a:prstGeom>
            <a:solidFill>
              <a:srgbClr val="808080"/>
            </a:solidFill>
            <a:ln w="9525">
              <a:solidFill>
                <a:srgbClr val="80808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微软雅黑 Light" panose="020B0502040204020203" pitchFamily="34" charset="-122"/>
                <a:ea typeface="微软雅黑 Light" panose="020B0502040204020203" pitchFamily="34" charset="-122"/>
              </a:endParaRPr>
            </a:p>
          </p:txBody>
        </p:sp>
        <p:sp>
          <p:nvSpPr>
            <p:cNvPr id="303188" name="Oval 84"/>
            <p:cNvSpPr>
              <a:spLocks noChangeArrowheads="1"/>
            </p:cNvSpPr>
            <p:nvPr/>
          </p:nvSpPr>
          <p:spPr bwMode="auto">
            <a:xfrm>
              <a:off x="8475664" y="3633788"/>
              <a:ext cx="92075" cy="101600"/>
            </a:xfrm>
            <a:prstGeom prst="ellipse">
              <a:avLst/>
            </a:prstGeom>
            <a:solidFill>
              <a:srgbClr val="808080"/>
            </a:solidFill>
            <a:ln w="9525">
              <a:solidFill>
                <a:srgbClr val="80808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微软雅黑 Light" panose="020B0502040204020203" pitchFamily="34" charset="-122"/>
                <a:ea typeface="微软雅黑 Light" panose="020B0502040204020203" pitchFamily="34" charset="-122"/>
              </a:endParaRPr>
            </a:p>
          </p:txBody>
        </p:sp>
        <p:sp>
          <p:nvSpPr>
            <p:cNvPr id="303189" name="Oval 85"/>
            <p:cNvSpPr>
              <a:spLocks noChangeArrowheads="1"/>
            </p:cNvSpPr>
            <p:nvPr/>
          </p:nvSpPr>
          <p:spPr bwMode="auto">
            <a:xfrm>
              <a:off x="8713788" y="3530600"/>
              <a:ext cx="93662" cy="101600"/>
            </a:xfrm>
            <a:prstGeom prst="ellipse">
              <a:avLst/>
            </a:prstGeom>
            <a:solidFill>
              <a:srgbClr val="808080"/>
            </a:solidFill>
            <a:ln w="9525">
              <a:solidFill>
                <a:srgbClr val="80808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微软雅黑 Light" panose="020B0502040204020203" pitchFamily="34" charset="-122"/>
                <a:ea typeface="微软雅黑 Light" panose="020B0502040204020203" pitchFamily="34" charset="-122"/>
              </a:endParaRPr>
            </a:p>
          </p:txBody>
        </p:sp>
        <p:sp>
          <p:nvSpPr>
            <p:cNvPr id="303190" name="Text Box 86"/>
            <p:cNvSpPr txBox="1">
              <a:spLocks noChangeArrowheads="1"/>
            </p:cNvSpPr>
            <p:nvPr/>
          </p:nvSpPr>
          <p:spPr bwMode="auto">
            <a:xfrm>
              <a:off x="9191625" y="5589588"/>
              <a:ext cx="1098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a:latin typeface="微软雅黑 Light" panose="020B0502040204020203" pitchFamily="34" charset="-122"/>
                  <a:ea typeface="微软雅黑 Light" panose="020B0502040204020203" pitchFamily="34" charset="-122"/>
                </a:rPr>
                <a:t>传输轮次</a:t>
              </a:r>
            </a:p>
          </p:txBody>
        </p:sp>
        <p:sp>
          <p:nvSpPr>
            <p:cNvPr id="303191" name="Text Box 87"/>
            <p:cNvSpPr txBox="1">
              <a:spLocks noChangeArrowheads="1"/>
            </p:cNvSpPr>
            <p:nvPr/>
          </p:nvSpPr>
          <p:spPr bwMode="auto">
            <a:xfrm>
              <a:off x="3000375" y="1773238"/>
              <a:ext cx="17843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dirty="0">
                  <a:latin typeface="微软雅黑 Light" panose="020B0502040204020203" pitchFamily="34" charset="-122"/>
                  <a:ea typeface="微软雅黑 Light" panose="020B0502040204020203" pitchFamily="34" charset="-122"/>
                </a:rPr>
                <a:t>拥塞窗口</a:t>
              </a:r>
              <a:r>
                <a:rPr kumimoji="1" lang="en-US" altLang="zh-CN" sz="1800" dirty="0">
                  <a:latin typeface="微软雅黑 Light" panose="020B0502040204020203" pitchFamily="34" charset="-122"/>
                  <a:ea typeface="微软雅黑 Light" panose="020B0502040204020203" pitchFamily="34" charset="-122"/>
                </a:rPr>
                <a:t>(</a:t>
              </a:r>
              <a:r>
                <a:rPr kumimoji="1" lang="en-US" altLang="zh-CN" sz="1800" dirty="0" err="1">
                  <a:latin typeface="微软雅黑 Light" panose="020B0502040204020203" pitchFamily="34" charset="-122"/>
                  <a:ea typeface="微软雅黑 Light" panose="020B0502040204020203" pitchFamily="34" charset="-122"/>
                </a:rPr>
                <a:t>cwnd</a:t>
              </a:r>
              <a:r>
                <a:rPr kumimoji="1" lang="en-US" altLang="zh-CN" sz="1800" dirty="0">
                  <a:latin typeface="微软雅黑 Light" panose="020B0502040204020203" pitchFamily="34" charset="-122"/>
                  <a:ea typeface="微软雅黑 Light" panose="020B0502040204020203" pitchFamily="34" charset="-122"/>
                </a:rPr>
                <a:t>)</a:t>
              </a:r>
            </a:p>
          </p:txBody>
        </p:sp>
        <p:sp>
          <p:nvSpPr>
            <p:cNvPr id="303192" name="Text Box 88"/>
            <p:cNvSpPr txBox="1">
              <a:spLocks noChangeArrowheads="1"/>
            </p:cNvSpPr>
            <p:nvPr/>
          </p:nvSpPr>
          <p:spPr bwMode="auto">
            <a:xfrm>
              <a:off x="7131688" y="1925638"/>
              <a:ext cx="229742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800">
                  <a:latin typeface="微软雅黑 Light" panose="020B0502040204020203" pitchFamily="34" charset="-122"/>
                  <a:ea typeface="微软雅黑 Light" panose="020B0502040204020203" pitchFamily="34" charset="-122"/>
                </a:rPr>
                <a:t>收到 </a:t>
              </a:r>
              <a:r>
                <a:rPr kumimoji="1" lang="en-US" altLang="zh-CN" sz="1800">
                  <a:latin typeface="微软雅黑 Light" panose="020B0502040204020203" pitchFamily="34" charset="-122"/>
                  <a:ea typeface="微软雅黑 Light" panose="020B0502040204020203" pitchFamily="34" charset="-122"/>
                </a:rPr>
                <a:t>3 </a:t>
              </a:r>
              <a:r>
                <a:rPr kumimoji="1" lang="zh-CN" altLang="en-US" sz="1800">
                  <a:latin typeface="微软雅黑 Light" panose="020B0502040204020203" pitchFamily="34" charset="-122"/>
                  <a:ea typeface="微软雅黑 Light" panose="020B0502040204020203" pitchFamily="34" charset="-122"/>
                </a:rPr>
                <a:t>个重复的确认</a:t>
              </a:r>
            </a:p>
            <a:p>
              <a:pPr algn="ctr"/>
              <a:r>
                <a:rPr kumimoji="1" lang="zh-CN" altLang="en-US" sz="1800">
                  <a:latin typeface="微软雅黑 Light" panose="020B0502040204020203" pitchFamily="34" charset="-122"/>
                  <a:ea typeface="微软雅黑 Light" panose="020B0502040204020203" pitchFamily="34" charset="-122"/>
                </a:rPr>
                <a:t>执行快重传算法</a:t>
              </a:r>
            </a:p>
          </p:txBody>
        </p:sp>
        <p:sp>
          <p:nvSpPr>
            <p:cNvPr id="303193" name="Line 89"/>
            <p:cNvSpPr>
              <a:spLocks noChangeShapeType="1"/>
            </p:cNvSpPr>
            <p:nvPr/>
          </p:nvSpPr>
          <p:spPr bwMode="auto">
            <a:xfrm flipH="1">
              <a:off x="6956425" y="2276476"/>
              <a:ext cx="508000" cy="238125"/>
            </a:xfrm>
            <a:prstGeom prst="line">
              <a:avLst/>
            </a:prstGeom>
            <a:noFill/>
            <a:ln w="28575">
              <a:solidFill>
                <a:schemeClr val="tx2"/>
              </a:solidFill>
              <a:rou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03194" name="Line 90"/>
            <p:cNvSpPr>
              <a:spLocks noChangeShapeType="1"/>
            </p:cNvSpPr>
            <p:nvPr/>
          </p:nvSpPr>
          <p:spPr bwMode="auto">
            <a:xfrm rot="-21600000">
              <a:off x="5192713" y="2855913"/>
              <a:ext cx="601662" cy="246062"/>
            </a:xfrm>
            <a:prstGeom prst="line">
              <a:avLst/>
            </a:prstGeom>
            <a:noFill/>
            <a:ln w="28575">
              <a:solidFill>
                <a:schemeClr val="tx2"/>
              </a:solidFill>
              <a:rou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03195" name="Rectangle 91"/>
            <p:cNvSpPr>
              <a:spLocks noChangeArrowheads="1"/>
            </p:cNvSpPr>
            <p:nvPr/>
          </p:nvSpPr>
          <p:spPr bwMode="auto">
            <a:xfrm>
              <a:off x="4057650" y="2524126"/>
              <a:ext cx="198438" cy="232092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微软雅黑 Light" panose="020B0502040204020203" pitchFamily="34" charset="-122"/>
                <a:ea typeface="微软雅黑 Light" panose="020B0502040204020203" pitchFamily="34" charset="-122"/>
              </a:endParaRPr>
            </a:p>
          </p:txBody>
        </p:sp>
        <p:sp>
          <p:nvSpPr>
            <p:cNvPr id="303196" name="Line 92"/>
            <p:cNvSpPr>
              <a:spLocks noChangeShapeType="1"/>
            </p:cNvSpPr>
            <p:nvPr/>
          </p:nvSpPr>
          <p:spPr bwMode="auto">
            <a:xfrm rot="10800000">
              <a:off x="4057650" y="3916364"/>
              <a:ext cx="3030538" cy="9525"/>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03197" name="Rectangle 93"/>
            <p:cNvSpPr>
              <a:spLocks noChangeArrowheads="1"/>
            </p:cNvSpPr>
            <p:nvPr/>
          </p:nvSpPr>
          <p:spPr bwMode="auto">
            <a:xfrm>
              <a:off x="4376738" y="4960939"/>
              <a:ext cx="2552700" cy="17303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微软雅黑 Light" panose="020B0502040204020203" pitchFamily="34" charset="-122"/>
                <a:ea typeface="微软雅黑 Light" panose="020B0502040204020203" pitchFamily="34" charset="-122"/>
              </a:endParaRPr>
            </a:p>
          </p:txBody>
        </p:sp>
        <p:sp>
          <p:nvSpPr>
            <p:cNvPr id="303198" name="Rectangle 94"/>
            <p:cNvSpPr>
              <a:spLocks noChangeArrowheads="1"/>
            </p:cNvSpPr>
            <p:nvPr/>
          </p:nvSpPr>
          <p:spPr bwMode="auto">
            <a:xfrm>
              <a:off x="7488238" y="4960939"/>
              <a:ext cx="1835150" cy="17303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微软雅黑 Light" panose="020B0502040204020203" pitchFamily="34" charset="-122"/>
                <a:ea typeface="微软雅黑 Light" panose="020B0502040204020203" pitchFamily="34" charset="-122"/>
              </a:endParaRPr>
            </a:p>
          </p:txBody>
        </p:sp>
        <p:sp>
          <p:nvSpPr>
            <p:cNvPr id="303199" name="Line 95"/>
            <p:cNvSpPr>
              <a:spLocks noChangeShapeType="1"/>
            </p:cNvSpPr>
            <p:nvPr/>
          </p:nvSpPr>
          <p:spPr bwMode="auto">
            <a:xfrm rot="-21600000">
              <a:off x="6410325" y="2622551"/>
              <a:ext cx="0" cy="1304925"/>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03200" name="Text Box 96"/>
            <p:cNvSpPr txBox="1">
              <a:spLocks noChangeArrowheads="1"/>
            </p:cNvSpPr>
            <p:nvPr/>
          </p:nvSpPr>
          <p:spPr bwMode="auto">
            <a:xfrm>
              <a:off x="2495551" y="4645026"/>
              <a:ext cx="8985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1800">
                  <a:latin typeface="微软雅黑 Light" panose="020B0502040204020203" pitchFamily="34" charset="-122"/>
                  <a:ea typeface="微软雅黑 Light" panose="020B0502040204020203" pitchFamily="34" charset="-122"/>
                </a:rPr>
                <a:t>慢开始</a:t>
              </a:r>
            </a:p>
          </p:txBody>
        </p:sp>
        <p:sp>
          <p:nvSpPr>
            <p:cNvPr id="303201" name="Line 97"/>
            <p:cNvSpPr>
              <a:spLocks noChangeShapeType="1"/>
            </p:cNvSpPr>
            <p:nvPr/>
          </p:nvSpPr>
          <p:spPr bwMode="auto">
            <a:xfrm rot="-21600000">
              <a:off x="3378200" y="4895850"/>
              <a:ext cx="558800" cy="173038"/>
            </a:xfrm>
            <a:prstGeom prst="line">
              <a:avLst/>
            </a:prstGeom>
            <a:noFill/>
            <a:ln w="28575">
              <a:solidFill>
                <a:schemeClr val="tx2"/>
              </a:solidFill>
              <a:rou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03202" name="Text Box 98"/>
            <p:cNvSpPr txBox="1">
              <a:spLocks noChangeArrowheads="1"/>
            </p:cNvSpPr>
            <p:nvPr/>
          </p:nvSpPr>
          <p:spPr bwMode="auto">
            <a:xfrm>
              <a:off x="5807076" y="3128964"/>
              <a:ext cx="1255713" cy="64633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1800" dirty="0">
                  <a:latin typeface="微软雅黑 Light" panose="020B0502040204020203" pitchFamily="34" charset="-122"/>
                  <a:ea typeface="微软雅黑 Light" panose="020B0502040204020203" pitchFamily="34" charset="-122"/>
                </a:rPr>
                <a:t>“</a:t>
              </a:r>
              <a:r>
                <a:rPr kumimoji="1" lang="zh-CN" altLang="en-US" sz="1800" dirty="0">
                  <a:latin typeface="微软雅黑 Light" panose="020B0502040204020203" pitchFamily="34" charset="-122"/>
                  <a:ea typeface="微软雅黑 Light" panose="020B0502040204020203" pitchFamily="34" charset="-122"/>
                </a:rPr>
                <a:t>乘法减小”</a:t>
              </a:r>
            </a:p>
          </p:txBody>
        </p:sp>
        <p:sp>
          <p:nvSpPr>
            <p:cNvPr id="303203" name="Text Box 99"/>
            <p:cNvSpPr txBox="1">
              <a:spLocks noChangeArrowheads="1"/>
            </p:cNvSpPr>
            <p:nvPr/>
          </p:nvSpPr>
          <p:spPr bwMode="auto">
            <a:xfrm>
              <a:off x="7131871" y="2741614"/>
              <a:ext cx="127470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800" dirty="0">
                  <a:solidFill>
                    <a:srgbClr val="FF0000"/>
                  </a:solidFill>
                  <a:latin typeface="微软雅黑 Light" panose="020B0502040204020203" pitchFamily="34" charset="-122"/>
                  <a:ea typeface="微软雅黑 Light" panose="020B0502040204020203" pitchFamily="34" charset="-122"/>
                </a:rPr>
                <a:t>拥塞避免</a:t>
              </a:r>
            </a:p>
            <a:p>
              <a:pPr algn="ctr"/>
              <a:r>
                <a:rPr kumimoji="1" lang="zh-CN" altLang="en-US" sz="1800" dirty="0">
                  <a:solidFill>
                    <a:srgbClr val="FF0000"/>
                  </a:solidFill>
                  <a:latin typeface="微软雅黑 Light" panose="020B0502040204020203" pitchFamily="34" charset="-122"/>
                  <a:ea typeface="微软雅黑 Light" panose="020B0502040204020203" pitchFamily="34" charset="-122"/>
                </a:rPr>
                <a:t>“加法增大”</a:t>
              </a:r>
            </a:p>
          </p:txBody>
        </p:sp>
        <p:sp>
          <p:nvSpPr>
            <p:cNvPr id="303204" name="Freeform 100"/>
            <p:cNvSpPr/>
            <p:nvPr/>
          </p:nvSpPr>
          <p:spPr bwMode="auto">
            <a:xfrm>
              <a:off x="6835776" y="2625725"/>
              <a:ext cx="2314575" cy="2457450"/>
            </a:xfrm>
            <a:custGeom>
              <a:avLst/>
              <a:gdLst>
                <a:gd name="T0" fmla="*/ 0 w 1392"/>
                <a:gd name="T1" fmla="*/ 0 h 1356"/>
                <a:gd name="T2" fmla="*/ 152 w 1392"/>
                <a:gd name="T3" fmla="*/ 1356 h 1356"/>
                <a:gd name="T4" fmla="*/ 300 w 1392"/>
                <a:gd name="T5" fmla="*/ 1300 h 1356"/>
                <a:gd name="T6" fmla="*/ 448 w 1392"/>
                <a:gd name="T7" fmla="*/ 1188 h 1356"/>
                <a:gd name="T8" fmla="*/ 576 w 1392"/>
                <a:gd name="T9" fmla="*/ 952 h 1356"/>
                <a:gd name="T10" fmla="*/ 728 w 1392"/>
                <a:gd name="T11" fmla="*/ 708 h 1356"/>
                <a:gd name="T12" fmla="*/ 1392 w 1392"/>
                <a:gd name="T13" fmla="*/ 428 h 1356"/>
              </a:gdLst>
              <a:ahLst/>
              <a:cxnLst>
                <a:cxn ang="0">
                  <a:pos x="T0" y="T1"/>
                </a:cxn>
                <a:cxn ang="0">
                  <a:pos x="T2" y="T3"/>
                </a:cxn>
                <a:cxn ang="0">
                  <a:pos x="T4" y="T5"/>
                </a:cxn>
                <a:cxn ang="0">
                  <a:pos x="T6" y="T7"/>
                </a:cxn>
                <a:cxn ang="0">
                  <a:pos x="T8" y="T9"/>
                </a:cxn>
                <a:cxn ang="0">
                  <a:pos x="T10" y="T11"/>
                </a:cxn>
                <a:cxn ang="0">
                  <a:pos x="T12" y="T13"/>
                </a:cxn>
              </a:cxnLst>
              <a:rect l="0" t="0" r="r" b="b"/>
              <a:pathLst>
                <a:path w="1392" h="1356">
                  <a:moveTo>
                    <a:pt x="0" y="0"/>
                  </a:moveTo>
                  <a:lnTo>
                    <a:pt x="152" y="1356"/>
                  </a:lnTo>
                  <a:lnTo>
                    <a:pt x="300" y="1300"/>
                  </a:lnTo>
                  <a:lnTo>
                    <a:pt x="448" y="1188"/>
                  </a:lnTo>
                  <a:lnTo>
                    <a:pt x="576" y="952"/>
                  </a:lnTo>
                  <a:lnTo>
                    <a:pt x="728" y="708"/>
                  </a:lnTo>
                  <a:lnTo>
                    <a:pt x="1392" y="428"/>
                  </a:lnTo>
                </a:path>
              </a:pathLst>
            </a:custGeom>
            <a:noFill/>
            <a:ln w="9525" cap="flat">
              <a:solidFill>
                <a:schemeClr val="tx1"/>
              </a:solidFill>
              <a:prstDash val="dash"/>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03205" name="Text Box 101"/>
            <p:cNvSpPr txBox="1">
              <a:spLocks noChangeArrowheads="1"/>
            </p:cNvSpPr>
            <p:nvPr/>
          </p:nvSpPr>
          <p:spPr bwMode="auto">
            <a:xfrm>
              <a:off x="9194870" y="2657475"/>
              <a:ext cx="1193660" cy="646331"/>
            </a:xfrm>
            <a:prstGeom prst="rect">
              <a:avLst/>
            </a:prstGeom>
            <a:solidFill>
              <a:schemeClr val="accent6">
                <a:lumMod val="60000"/>
                <a:lumOff val="40000"/>
              </a:schemeClr>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ctr"/>
              <a:r>
                <a:rPr kumimoji="1" lang="en-US" altLang="zh-CN" sz="1800" dirty="0">
                  <a:latin typeface="微软雅黑 Light" panose="020B0502040204020203" pitchFamily="34" charset="-122"/>
                  <a:ea typeface="微软雅黑 Light" panose="020B0502040204020203" pitchFamily="34" charset="-122"/>
                </a:rPr>
                <a:t>TCP Reno</a:t>
              </a:r>
            </a:p>
            <a:p>
              <a:pPr algn="ctr"/>
              <a:r>
                <a:rPr kumimoji="1" lang="zh-CN" altLang="en-US" sz="1800" dirty="0">
                  <a:latin typeface="微软雅黑 Light" panose="020B0502040204020203" pitchFamily="34" charset="-122"/>
                  <a:ea typeface="微软雅黑 Light" panose="020B0502040204020203" pitchFamily="34" charset="-122"/>
                </a:rPr>
                <a:t>版本</a:t>
              </a:r>
            </a:p>
          </p:txBody>
        </p:sp>
        <p:sp>
          <p:nvSpPr>
            <p:cNvPr id="303206" name="Text Box 102"/>
            <p:cNvSpPr txBox="1">
              <a:spLocks noChangeArrowheads="1"/>
            </p:cNvSpPr>
            <p:nvPr/>
          </p:nvSpPr>
          <p:spPr bwMode="auto">
            <a:xfrm>
              <a:off x="8438711" y="3894138"/>
              <a:ext cx="1797928" cy="646331"/>
            </a:xfrm>
            <a:prstGeom prst="rect">
              <a:avLst/>
            </a:prstGeom>
            <a:solidFill>
              <a:srgbClr val="CCECFF"/>
            </a:solidFill>
            <a:ln>
              <a:noFill/>
            </a:ln>
            <a:effectLst>
              <a:outerShdw dist="45791" dir="2021404"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ctr"/>
              <a:r>
                <a:rPr kumimoji="1" lang="en-US" altLang="zh-CN" sz="1800" dirty="0">
                  <a:latin typeface="微软雅黑 Light" panose="020B0502040204020203" pitchFamily="34" charset="-122"/>
                  <a:ea typeface="微软雅黑 Light" panose="020B0502040204020203" pitchFamily="34" charset="-122"/>
                </a:rPr>
                <a:t>TCP Tahoe </a:t>
              </a:r>
              <a:r>
                <a:rPr kumimoji="1" lang="zh-CN" altLang="en-US" sz="1800" dirty="0">
                  <a:latin typeface="微软雅黑 Light" panose="020B0502040204020203" pitchFamily="34" charset="-122"/>
                  <a:ea typeface="微软雅黑 Light" panose="020B0502040204020203" pitchFamily="34" charset="-122"/>
                </a:rPr>
                <a:t>版本</a:t>
              </a:r>
            </a:p>
            <a:p>
              <a:pPr algn="ctr"/>
              <a:r>
                <a:rPr kumimoji="1" lang="en-US" altLang="zh-CN" sz="1800" dirty="0">
                  <a:latin typeface="微软雅黑 Light" panose="020B0502040204020203" pitchFamily="34" charset="-122"/>
                  <a:ea typeface="微软雅黑 Light" panose="020B0502040204020203" pitchFamily="34" charset="-122"/>
                </a:rPr>
                <a:t>(</a:t>
              </a:r>
              <a:r>
                <a:rPr kumimoji="1" lang="zh-CN" altLang="en-US" sz="1800" dirty="0">
                  <a:latin typeface="微软雅黑 Light" panose="020B0502040204020203" pitchFamily="34" charset="-122"/>
                  <a:ea typeface="微软雅黑 Light" panose="020B0502040204020203" pitchFamily="34" charset="-122"/>
                </a:rPr>
                <a:t>已废弃不用）</a:t>
              </a:r>
            </a:p>
          </p:txBody>
        </p:sp>
        <p:sp>
          <p:nvSpPr>
            <p:cNvPr id="303207" name="Text Box 103"/>
            <p:cNvSpPr txBox="1">
              <a:spLocks noChangeArrowheads="1"/>
            </p:cNvSpPr>
            <p:nvPr/>
          </p:nvSpPr>
          <p:spPr bwMode="auto">
            <a:xfrm>
              <a:off x="1686996" y="3282950"/>
              <a:ext cx="204414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800">
                  <a:latin typeface="微软雅黑 Light" panose="020B0502040204020203" pitchFamily="34" charset="-122"/>
                  <a:ea typeface="微软雅黑 Light" panose="020B0502040204020203" pitchFamily="34" charset="-122"/>
                </a:rPr>
                <a:t>ssthresh </a:t>
              </a:r>
              <a:r>
                <a:rPr kumimoji="1" lang="zh-CN" altLang="en-US" sz="1800">
                  <a:latin typeface="微软雅黑 Light" panose="020B0502040204020203" pitchFamily="34" charset="-122"/>
                  <a:ea typeface="微软雅黑 Light" panose="020B0502040204020203" pitchFamily="34" charset="-122"/>
                </a:rPr>
                <a:t>的初始值</a:t>
              </a:r>
            </a:p>
          </p:txBody>
        </p:sp>
        <p:sp>
          <p:nvSpPr>
            <p:cNvPr id="303208" name="Text Box 104"/>
            <p:cNvSpPr txBox="1">
              <a:spLocks noChangeArrowheads="1"/>
            </p:cNvSpPr>
            <p:nvPr/>
          </p:nvSpPr>
          <p:spPr bwMode="auto">
            <a:xfrm>
              <a:off x="4117209" y="2576514"/>
              <a:ext cx="127470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800" dirty="0">
                  <a:solidFill>
                    <a:srgbClr val="FF0000"/>
                  </a:solidFill>
                  <a:latin typeface="微软雅黑 Light" panose="020B0502040204020203" pitchFamily="34" charset="-122"/>
                  <a:ea typeface="微软雅黑 Light" panose="020B0502040204020203" pitchFamily="34" charset="-122"/>
                </a:rPr>
                <a:t>拥塞避免</a:t>
              </a:r>
            </a:p>
            <a:p>
              <a:pPr algn="ctr"/>
              <a:r>
                <a:rPr kumimoji="1" lang="zh-CN" altLang="en-US" sz="1800" dirty="0">
                  <a:solidFill>
                    <a:srgbClr val="FF0000"/>
                  </a:solidFill>
                  <a:latin typeface="微软雅黑 Light" panose="020B0502040204020203" pitchFamily="34" charset="-122"/>
                  <a:ea typeface="微软雅黑 Light" panose="020B0502040204020203" pitchFamily="34" charset="-122"/>
                </a:rPr>
                <a:t>“加法增大”</a:t>
              </a:r>
            </a:p>
          </p:txBody>
        </p:sp>
        <p:sp>
          <p:nvSpPr>
            <p:cNvPr id="303209" name="Text Box 105"/>
            <p:cNvSpPr txBox="1">
              <a:spLocks noChangeArrowheads="1"/>
            </p:cNvSpPr>
            <p:nvPr/>
          </p:nvSpPr>
          <p:spPr bwMode="auto">
            <a:xfrm>
              <a:off x="1860550" y="3695701"/>
              <a:ext cx="1860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800">
                  <a:latin typeface="微软雅黑 Light" panose="020B0502040204020203" pitchFamily="34" charset="-122"/>
                  <a:ea typeface="微软雅黑 Light" panose="020B0502040204020203" pitchFamily="34" charset="-122"/>
                </a:rPr>
                <a:t>新的 </a:t>
              </a:r>
              <a:r>
                <a:rPr kumimoji="1" lang="en-US" altLang="zh-CN" sz="1800">
                  <a:latin typeface="微软雅黑 Light" panose="020B0502040204020203" pitchFamily="34" charset="-122"/>
                  <a:ea typeface="微软雅黑 Light" panose="020B0502040204020203" pitchFamily="34" charset="-122"/>
                </a:rPr>
                <a:t>ssthresh </a:t>
              </a:r>
              <a:r>
                <a:rPr kumimoji="1" lang="zh-CN" altLang="en-US" sz="1800">
                  <a:latin typeface="微软雅黑 Light" panose="020B0502040204020203" pitchFamily="34" charset="-122"/>
                  <a:ea typeface="微软雅黑 Light" panose="020B0502040204020203" pitchFamily="34" charset="-122"/>
                </a:rPr>
                <a:t>值</a:t>
              </a:r>
            </a:p>
          </p:txBody>
        </p:sp>
        <p:sp>
          <p:nvSpPr>
            <p:cNvPr id="303210" name="Line 106"/>
            <p:cNvSpPr>
              <a:spLocks noChangeShapeType="1"/>
            </p:cNvSpPr>
            <p:nvPr/>
          </p:nvSpPr>
          <p:spPr bwMode="auto">
            <a:xfrm>
              <a:off x="7907338" y="4171950"/>
              <a:ext cx="601662" cy="0"/>
            </a:xfrm>
            <a:prstGeom prst="line">
              <a:avLst/>
            </a:prstGeom>
            <a:noFill/>
            <a:ln w="952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03211" name="Line 107"/>
            <p:cNvSpPr>
              <a:spLocks noChangeShapeType="1"/>
            </p:cNvSpPr>
            <p:nvPr/>
          </p:nvSpPr>
          <p:spPr bwMode="auto">
            <a:xfrm rot="-21600000">
              <a:off x="6442075" y="4902201"/>
              <a:ext cx="558800" cy="174625"/>
            </a:xfrm>
            <a:prstGeom prst="line">
              <a:avLst/>
            </a:prstGeom>
            <a:noFill/>
            <a:ln w="28575">
              <a:solidFill>
                <a:schemeClr val="tx2"/>
              </a:solidFill>
              <a:rou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03212" name="Text Box 108"/>
            <p:cNvSpPr txBox="1">
              <a:spLocks noChangeArrowheads="1"/>
            </p:cNvSpPr>
            <p:nvPr/>
          </p:nvSpPr>
          <p:spPr bwMode="auto">
            <a:xfrm>
              <a:off x="5592764" y="4667251"/>
              <a:ext cx="1049337"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a:spAutoFit/>
            </a:bodyPr>
            <a:lstStyle/>
            <a:p>
              <a:r>
                <a:rPr kumimoji="1" lang="zh-CN" altLang="en-US" sz="1800">
                  <a:latin typeface="微软雅黑 Light" panose="020B0502040204020203" pitchFamily="34" charset="-122"/>
                  <a:ea typeface="微软雅黑 Light" panose="020B0502040204020203" pitchFamily="34" charset="-122"/>
                </a:rPr>
                <a:t>慢开始</a:t>
              </a:r>
            </a:p>
          </p:txBody>
        </p:sp>
        <p:sp>
          <p:nvSpPr>
            <p:cNvPr id="303213" name="Text Box 109"/>
            <p:cNvSpPr txBox="1">
              <a:spLocks noChangeArrowheads="1"/>
            </p:cNvSpPr>
            <p:nvPr/>
          </p:nvSpPr>
          <p:spPr bwMode="auto">
            <a:xfrm>
              <a:off x="5719764" y="3952875"/>
              <a:ext cx="896937"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1800">
                  <a:latin typeface="微软雅黑 Light" panose="020B0502040204020203" pitchFamily="34" charset="-122"/>
                  <a:ea typeface="微软雅黑 Light" panose="020B0502040204020203" pitchFamily="34" charset="-122"/>
                </a:rPr>
                <a:t>快恢复</a:t>
              </a:r>
            </a:p>
          </p:txBody>
        </p:sp>
        <p:sp>
          <p:nvSpPr>
            <p:cNvPr id="303214" name="Line 110"/>
            <p:cNvSpPr>
              <a:spLocks noChangeShapeType="1"/>
            </p:cNvSpPr>
            <p:nvPr/>
          </p:nvSpPr>
          <p:spPr bwMode="auto">
            <a:xfrm flipV="1">
              <a:off x="6473825" y="3954464"/>
              <a:ext cx="585788" cy="217487"/>
            </a:xfrm>
            <a:prstGeom prst="line">
              <a:avLst/>
            </a:prstGeom>
            <a:noFill/>
            <a:ln w="28575">
              <a:solidFill>
                <a:schemeClr val="tx2"/>
              </a:solidFill>
              <a:rou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sp>
          <p:nvSpPr>
            <p:cNvPr id="303215" name="Freeform 111"/>
            <p:cNvSpPr/>
            <p:nvPr/>
          </p:nvSpPr>
          <p:spPr bwMode="auto">
            <a:xfrm>
              <a:off x="6850064" y="2600325"/>
              <a:ext cx="2224087" cy="1327150"/>
            </a:xfrm>
            <a:custGeom>
              <a:avLst/>
              <a:gdLst>
                <a:gd name="T0" fmla="*/ 0 w 1338"/>
                <a:gd name="T1" fmla="*/ 0 h 732"/>
                <a:gd name="T2" fmla="*/ 138 w 1338"/>
                <a:gd name="T3" fmla="*/ 732 h 732"/>
                <a:gd name="T4" fmla="*/ 1338 w 1338"/>
                <a:gd name="T5" fmla="*/ 234 h 732"/>
              </a:gdLst>
              <a:ahLst/>
              <a:cxnLst>
                <a:cxn ang="0">
                  <a:pos x="T0" y="T1"/>
                </a:cxn>
                <a:cxn ang="0">
                  <a:pos x="T2" y="T3"/>
                </a:cxn>
                <a:cxn ang="0">
                  <a:pos x="T4" y="T5"/>
                </a:cxn>
              </a:cxnLst>
              <a:rect l="0" t="0" r="r" b="b"/>
              <a:pathLst>
                <a:path w="1338" h="732">
                  <a:moveTo>
                    <a:pt x="0" y="0"/>
                  </a:moveTo>
                  <a:lnTo>
                    <a:pt x="138" y="732"/>
                  </a:lnTo>
                  <a:lnTo>
                    <a:pt x="1338" y="234"/>
                  </a:lnTo>
                </a:path>
              </a:pathLst>
            </a:custGeom>
            <a:noFill/>
            <a:ln w="28575" cmpd="sng">
              <a:solidFill>
                <a:schemeClr val="bg2">
                  <a:lumMod val="50000"/>
                </a:schemeClr>
              </a:solidFill>
              <a:round/>
            </a:ln>
            <a:effectLst/>
            <a:extLst>
              <a:ext uri="{909E8E84-426E-40DD-AFC4-6F175D3DCCD1}">
                <a14:hiddenFill xmlns:a14="http://schemas.microsoft.com/office/drawing/2010/main">
                  <a:solidFill>
                    <a:schemeClr val="tx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303216" name="Line 112"/>
            <p:cNvSpPr>
              <a:spLocks noChangeShapeType="1"/>
            </p:cNvSpPr>
            <p:nvPr/>
          </p:nvSpPr>
          <p:spPr bwMode="auto">
            <a:xfrm>
              <a:off x="4203701" y="2611438"/>
              <a:ext cx="4387850" cy="0"/>
            </a:xfrm>
            <a:prstGeom prst="line">
              <a:avLst/>
            </a:prstGeom>
            <a:noFill/>
            <a:ln w="9525">
              <a:solidFill>
                <a:schemeClr val="tx1"/>
              </a:solidFill>
              <a:prstDash val="dash"/>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Light" panose="020B0502040204020203" pitchFamily="34" charset="-122"/>
                <a:ea typeface="微软雅黑 Light" panose="020B0502040204020203" pitchFamily="34" charset="-122"/>
              </a:endParaRPr>
            </a:p>
          </p:txBody>
        </p:sp>
      </p:gr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B89B19ED-1F94-4A98-9950-0E3AD702093C}" type="slidenum">
              <a:rPr lang="en-US" altLang="zh-CN"/>
              <a:t>83</a:t>
            </a:fld>
            <a:endParaRPr lang="en-US" altLang="zh-CN"/>
          </a:p>
        </p:txBody>
      </p:sp>
      <p:sp>
        <p:nvSpPr>
          <p:cNvPr id="304130" name="Rectangle 2"/>
          <p:cNvSpPr>
            <a:spLocks noGrp="1" noChangeArrowheads="1"/>
          </p:cNvSpPr>
          <p:nvPr>
            <p:ph type="title"/>
          </p:nvPr>
        </p:nvSpPr>
        <p:spPr/>
        <p:txBody>
          <a:bodyPr/>
          <a:lstStyle/>
          <a:p>
            <a:r>
              <a:rPr lang="zh-CN" altLang="en-US"/>
              <a:t>发送窗口的上限值</a:t>
            </a:r>
          </a:p>
        </p:txBody>
      </p:sp>
      <p:sp>
        <p:nvSpPr>
          <p:cNvPr id="304131" name="Rectangle 3"/>
          <p:cNvSpPr>
            <a:spLocks noGrp="1" noChangeArrowheads="1"/>
          </p:cNvSpPr>
          <p:nvPr>
            <p:ph type="body" idx="1"/>
          </p:nvPr>
        </p:nvSpPr>
        <p:spPr/>
        <p:txBody>
          <a:bodyPr/>
          <a:lstStyle/>
          <a:p>
            <a:pPr>
              <a:lnSpc>
                <a:spcPct val="120000"/>
              </a:lnSpc>
            </a:pPr>
            <a:r>
              <a:rPr lang="zh-CN" altLang="en-US" dirty="0">
                <a:latin typeface="+mn-lt"/>
              </a:rPr>
              <a:t>发送方的发送窗口的上限值应当取为接收方窗口 </a:t>
            </a:r>
            <a:r>
              <a:rPr lang="en-US" altLang="zh-CN" dirty="0" err="1">
                <a:latin typeface="+mn-lt"/>
              </a:rPr>
              <a:t>rwnd</a:t>
            </a:r>
            <a:r>
              <a:rPr lang="en-US" altLang="zh-CN" dirty="0">
                <a:latin typeface="+mn-lt"/>
              </a:rPr>
              <a:t> </a:t>
            </a:r>
            <a:r>
              <a:rPr lang="zh-CN" altLang="en-US" dirty="0">
                <a:latin typeface="+mn-lt"/>
              </a:rPr>
              <a:t>和拥塞窗口 </a:t>
            </a:r>
            <a:r>
              <a:rPr lang="en-US" altLang="zh-CN" dirty="0" err="1">
                <a:latin typeface="+mn-lt"/>
              </a:rPr>
              <a:t>cwnd</a:t>
            </a:r>
            <a:r>
              <a:rPr lang="en-US" altLang="zh-CN" dirty="0">
                <a:latin typeface="+mn-lt"/>
              </a:rPr>
              <a:t> </a:t>
            </a:r>
            <a:r>
              <a:rPr lang="zh-CN" altLang="en-US" dirty="0">
                <a:latin typeface="+mn-lt"/>
              </a:rPr>
              <a:t>这两个变量中较小的一个，即应按以下公式确定：</a:t>
            </a:r>
          </a:p>
          <a:p>
            <a:pPr algn="ctr">
              <a:lnSpc>
                <a:spcPct val="120000"/>
              </a:lnSpc>
              <a:buFont typeface="Wingdings" panose="05000000000000000000" pitchFamily="2" charset="2"/>
              <a:buNone/>
            </a:pPr>
            <a:r>
              <a:rPr lang="zh-CN" altLang="en-US" dirty="0">
                <a:latin typeface="+mn-lt"/>
              </a:rPr>
              <a:t>发送窗口的上限值</a:t>
            </a:r>
            <a:r>
              <a:rPr lang="en-US" altLang="zh-CN" dirty="0">
                <a:latin typeface="+mn-lt"/>
              </a:rPr>
              <a:t>=min(</a:t>
            </a:r>
            <a:r>
              <a:rPr lang="en-US" altLang="zh-CN" dirty="0" err="1">
                <a:latin typeface="+mn-lt"/>
              </a:rPr>
              <a:t>rwnd,cwnd</a:t>
            </a:r>
            <a:r>
              <a:rPr lang="en-US" altLang="zh-CN" dirty="0">
                <a:latin typeface="+mn-lt"/>
              </a:rPr>
              <a:t>)</a:t>
            </a:r>
          </a:p>
          <a:p>
            <a:pPr>
              <a:lnSpc>
                <a:spcPct val="120000"/>
              </a:lnSpc>
            </a:pPr>
            <a:r>
              <a:rPr lang="zh-CN" altLang="en-US" dirty="0">
                <a:latin typeface="+mn-lt"/>
              </a:rPr>
              <a:t>当 </a:t>
            </a:r>
            <a:r>
              <a:rPr lang="en-US" altLang="zh-CN" dirty="0" err="1">
                <a:latin typeface="+mn-lt"/>
              </a:rPr>
              <a:t>rwnd</a:t>
            </a:r>
            <a:r>
              <a:rPr lang="en-US" altLang="zh-CN" dirty="0">
                <a:latin typeface="+mn-lt"/>
              </a:rPr>
              <a:t> &lt; </a:t>
            </a:r>
            <a:r>
              <a:rPr lang="en-US" altLang="zh-CN" dirty="0" err="1">
                <a:latin typeface="+mn-lt"/>
              </a:rPr>
              <a:t>cwnd</a:t>
            </a:r>
            <a:r>
              <a:rPr lang="en-US" altLang="zh-CN" dirty="0">
                <a:latin typeface="+mn-lt"/>
              </a:rPr>
              <a:t> </a:t>
            </a:r>
            <a:r>
              <a:rPr lang="zh-CN" altLang="en-US" dirty="0">
                <a:latin typeface="+mn-lt"/>
              </a:rPr>
              <a:t>时，是接收方的接收能力限制发送窗口的最大值</a:t>
            </a:r>
          </a:p>
          <a:p>
            <a:pPr>
              <a:lnSpc>
                <a:spcPct val="120000"/>
              </a:lnSpc>
            </a:pPr>
            <a:r>
              <a:rPr lang="zh-CN" altLang="en-US" dirty="0">
                <a:latin typeface="+mn-lt"/>
              </a:rPr>
              <a:t>当 </a:t>
            </a:r>
            <a:r>
              <a:rPr lang="en-US" altLang="zh-CN" dirty="0" err="1">
                <a:latin typeface="+mn-lt"/>
              </a:rPr>
              <a:t>cwnd</a:t>
            </a:r>
            <a:r>
              <a:rPr lang="en-US" altLang="zh-CN" dirty="0">
                <a:latin typeface="+mn-lt"/>
              </a:rPr>
              <a:t> &lt; </a:t>
            </a:r>
            <a:r>
              <a:rPr lang="en-US" altLang="zh-CN" dirty="0" err="1">
                <a:latin typeface="+mn-lt"/>
              </a:rPr>
              <a:t>rwnd</a:t>
            </a:r>
            <a:r>
              <a:rPr lang="en-US" altLang="zh-CN" dirty="0">
                <a:latin typeface="+mn-lt"/>
              </a:rPr>
              <a:t> </a:t>
            </a:r>
            <a:r>
              <a:rPr lang="zh-CN" altLang="en-US" dirty="0">
                <a:latin typeface="+mn-lt"/>
              </a:rPr>
              <a:t>时，则是网络的拥塞限制发送窗口的最大值 </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TCP</a:t>
            </a:r>
            <a:r>
              <a:rPr lang="zh-CN" altLang="en-US" dirty="0"/>
              <a:t>选项</a:t>
            </a:r>
          </a:p>
        </p:txBody>
      </p:sp>
      <p:sp>
        <p:nvSpPr>
          <p:cNvPr id="3" name="内容占位符 2"/>
          <p:cNvSpPr>
            <a:spLocks noGrp="1"/>
          </p:cNvSpPr>
          <p:nvPr>
            <p:ph idx="1"/>
          </p:nvPr>
        </p:nvSpPr>
        <p:spPr/>
        <p:txBody>
          <a:bodyPr/>
          <a:lstStyle/>
          <a:p>
            <a:r>
              <a:rPr lang="en-US" altLang="zh-CN" dirty="0"/>
              <a:t>kind=0</a:t>
            </a:r>
            <a:r>
              <a:rPr lang="zh-CN" altLang="en-US" dirty="0"/>
              <a:t>，选项表结束（</a:t>
            </a:r>
            <a:r>
              <a:rPr lang="en-US" altLang="zh-CN" dirty="0"/>
              <a:t>EOP</a:t>
            </a:r>
            <a:r>
              <a:rPr lang="zh-CN" altLang="en-US" dirty="0"/>
              <a:t>）选项</a:t>
            </a:r>
          </a:p>
          <a:p>
            <a:r>
              <a:rPr lang="en-US" altLang="zh-CN" dirty="0"/>
              <a:t>kind=1</a:t>
            </a:r>
            <a:r>
              <a:rPr lang="zh-CN" altLang="en-US" dirty="0"/>
              <a:t>，空操作（</a:t>
            </a:r>
            <a:r>
              <a:rPr lang="en-US" altLang="zh-CN" dirty="0"/>
              <a:t>NOP</a:t>
            </a:r>
            <a:r>
              <a:rPr lang="zh-CN" altLang="en-US" dirty="0"/>
              <a:t>）选项</a:t>
            </a:r>
          </a:p>
          <a:p>
            <a:r>
              <a:rPr lang="en-US" altLang="zh-CN" dirty="0"/>
              <a:t>kind=2</a:t>
            </a:r>
            <a:r>
              <a:rPr lang="zh-CN" altLang="en-US" dirty="0"/>
              <a:t>，最大报文段长度（</a:t>
            </a:r>
            <a:r>
              <a:rPr lang="en-US" altLang="zh-CN" dirty="0"/>
              <a:t>MSS</a:t>
            </a:r>
            <a:r>
              <a:rPr lang="zh-CN" altLang="en-US" dirty="0"/>
              <a:t>）选项</a:t>
            </a:r>
          </a:p>
          <a:p>
            <a:r>
              <a:rPr lang="en-US" altLang="zh-CN" dirty="0"/>
              <a:t>kind=3</a:t>
            </a:r>
            <a:r>
              <a:rPr lang="zh-CN" altLang="en-US" dirty="0"/>
              <a:t>，窗口扩大因子选项</a:t>
            </a:r>
          </a:p>
          <a:p>
            <a:r>
              <a:rPr lang="en-US" altLang="zh-CN" dirty="0"/>
              <a:t>kind=4</a:t>
            </a:r>
            <a:r>
              <a:rPr lang="zh-CN" altLang="en-US" dirty="0"/>
              <a:t>，选择性确认（</a:t>
            </a:r>
            <a:r>
              <a:rPr lang="en-US" altLang="zh-CN" dirty="0"/>
              <a:t>Selective Acknowledgment</a:t>
            </a:r>
            <a:r>
              <a:rPr lang="zh-CN" altLang="en-US" dirty="0"/>
              <a:t>，</a:t>
            </a:r>
            <a:r>
              <a:rPr lang="en-US" altLang="zh-CN" dirty="0"/>
              <a:t>SACK</a:t>
            </a:r>
            <a:r>
              <a:rPr lang="zh-CN" altLang="en-US" dirty="0"/>
              <a:t>）选项</a:t>
            </a:r>
          </a:p>
          <a:p>
            <a:r>
              <a:rPr lang="en-US" altLang="zh-CN" dirty="0"/>
              <a:t>kind=5</a:t>
            </a:r>
            <a:r>
              <a:rPr lang="zh-CN" altLang="en-US" dirty="0"/>
              <a:t>，</a:t>
            </a:r>
            <a:r>
              <a:rPr lang="en-US" altLang="zh-CN" dirty="0"/>
              <a:t>SACK</a:t>
            </a:r>
            <a:r>
              <a:rPr lang="zh-CN" altLang="en-US" dirty="0"/>
              <a:t>实际工作的选项</a:t>
            </a:r>
          </a:p>
          <a:p>
            <a:r>
              <a:rPr lang="en-US" altLang="zh-CN" dirty="0"/>
              <a:t>kind=8</a:t>
            </a:r>
            <a:r>
              <a:rPr lang="zh-CN" altLang="en-US" dirty="0"/>
              <a:t>，时间戳选项</a:t>
            </a:r>
          </a:p>
          <a:p>
            <a:endParaRPr lang="zh-CN" altLang="en-US" dirty="0"/>
          </a:p>
        </p:txBody>
      </p:sp>
      <p:sp>
        <p:nvSpPr>
          <p:cNvPr id="4" name="灯片编号占位符 3"/>
          <p:cNvSpPr>
            <a:spLocks noGrp="1"/>
          </p:cNvSpPr>
          <p:nvPr>
            <p:ph type="sldNum" sz="quarter" idx="12"/>
          </p:nvPr>
        </p:nvSpPr>
        <p:spPr/>
        <p:txBody>
          <a:bodyPr/>
          <a:lstStyle/>
          <a:p>
            <a:fld id="{C5115649-70A0-44B3-983D-302858AA6FDF}" type="slidenum">
              <a:rPr lang="en-US" altLang="zh-CN" smtClean="0"/>
              <a:t>84</a:t>
            </a:fld>
            <a:endParaRPr lang="en-US" altLang="zh-CN"/>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612488" y="980544"/>
            <a:ext cx="10511494" cy="2593762"/>
            <a:chOff x="612488" y="980544"/>
            <a:chExt cx="10511494" cy="2593762"/>
          </a:xfrm>
        </p:grpSpPr>
        <p:sp>
          <p:nvSpPr>
            <p:cNvPr id="10" name="右箭头 9"/>
            <p:cNvSpPr/>
            <p:nvPr/>
          </p:nvSpPr>
          <p:spPr>
            <a:xfrm>
              <a:off x="991902" y="1327027"/>
              <a:ext cx="10132080" cy="277051"/>
            </a:xfrm>
            <a:prstGeom prst="rightArrow">
              <a:avLst>
                <a:gd name="adj1" fmla="val 50000"/>
                <a:gd name="adj2" fmla="val 11981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lnSpc>
                  <a:spcPct val="120000"/>
                </a:lnSpc>
              </a:pPr>
              <a:endParaRPr lang="zh-CN" altLang="en-US" sz="1800">
                <a:solidFill>
                  <a:prstClr val="white"/>
                </a:solidFill>
                <a:ea typeface="微软雅黑 Light" panose="020B0502040204020203" pitchFamily="34" charset="-122"/>
                <a:cs typeface="+mn-ea"/>
                <a:sym typeface="+mn-lt"/>
              </a:endParaRPr>
            </a:p>
          </p:txBody>
        </p:sp>
        <p:cxnSp>
          <p:nvCxnSpPr>
            <p:cNvPr id="12" name="直接连接符 11"/>
            <p:cNvCxnSpPr/>
            <p:nvPr/>
          </p:nvCxnSpPr>
          <p:spPr>
            <a:xfrm>
              <a:off x="1224724" y="1327027"/>
              <a:ext cx="0" cy="48371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612488" y="1842979"/>
              <a:ext cx="1224472" cy="293607"/>
            </a:xfrm>
            <a:prstGeom prst="rect">
              <a:avLst/>
            </a:prstGeom>
            <a:noFill/>
          </p:spPr>
          <p:txBody>
            <a:bodyPr wrap="square" rtlCol="0" anchor="ctr">
              <a:spAutoFit/>
            </a:bodyPr>
            <a:lstStyle/>
            <a:p>
              <a:pPr algn="ctr" defTabSz="913765">
                <a:lnSpc>
                  <a:spcPct val="120000"/>
                </a:lnSpc>
              </a:pPr>
              <a:r>
                <a:rPr lang="en-US" altLang="zh-CN" sz="1200" b="1" dirty="0">
                  <a:solidFill>
                    <a:prstClr val="black"/>
                  </a:solidFill>
                  <a:latin typeface="+mn-lt"/>
                  <a:ea typeface="微软雅黑 Light" panose="020B0502040204020203" pitchFamily="34" charset="-122"/>
                  <a:cs typeface="+mn-ea"/>
                  <a:sym typeface="+mn-lt"/>
                </a:rPr>
                <a:t>HTTP 1.1</a:t>
              </a:r>
              <a:endParaRPr lang="zh-CN" altLang="en-US" sz="1200" b="1" dirty="0">
                <a:solidFill>
                  <a:prstClr val="black"/>
                </a:solidFill>
                <a:latin typeface="+mn-lt"/>
                <a:ea typeface="微软雅黑 Light" panose="020B0502040204020203" pitchFamily="34" charset="-122"/>
                <a:cs typeface="+mn-ea"/>
                <a:sym typeface="+mn-lt"/>
              </a:endParaRPr>
            </a:p>
          </p:txBody>
        </p:sp>
        <p:sp>
          <p:nvSpPr>
            <p:cNvPr id="14" name="文本框 13"/>
            <p:cNvSpPr txBox="1"/>
            <p:nvPr/>
          </p:nvSpPr>
          <p:spPr>
            <a:xfrm>
              <a:off x="612488" y="980544"/>
              <a:ext cx="1224472" cy="330283"/>
            </a:xfrm>
            <a:prstGeom prst="rect">
              <a:avLst/>
            </a:prstGeom>
            <a:noFill/>
          </p:spPr>
          <p:txBody>
            <a:bodyPr wrap="square" rtlCol="0" anchor="ctr">
              <a:spAutoFit/>
            </a:bodyPr>
            <a:lstStyle/>
            <a:p>
              <a:pPr algn="ctr" defTabSz="913765">
                <a:lnSpc>
                  <a:spcPct val="120000"/>
                </a:lnSpc>
              </a:pPr>
              <a:r>
                <a:rPr lang="en-US" altLang="zh-CN" sz="1400" dirty="0">
                  <a:solidFill>
                    <a:prstClr val="black"/>
                  </a:solidFill>
                  <a:latin typeface="+mn-lt"/>
                  <a:ea typeface="微软雅黑 Light" panose="020B0502040204020203" pitchFamily="34" charset="-122"/>
                  <a:cs typeface="+mn-ea"/>
                  <a:sym typeface="+mn-lt"/>
                </a:rPr>
                <a:t>1997</a:t>
              </a:r>
              <a:endParaRPr lang="zh-CN" altLang="en-US" sz="1400" dirty="0">
                <a:solidFill>
                  <a:prstClr val="black"/>
                </a:solidFill>
                <a:latin typeface="+mn-lt"/>
                <a:ea typeface="微软雅黑 Light" panose="020B0502040204020203" pitchFamily="34" charset="-122"/>
                <a:cs typeface="+mn-ea"/>
                <a:sym typeface="+mn-lt"/>
              </a:endParaRPr>
            </a:p>
          </p:txBody>
        </p:sp>
        <p:sp>
          <p:nvSpPr>
            <p:cNvPr id="15" name="文本框 14"/>
            <p:cNvSpPr txBox="1"/>
            <p:nvPr/>
          </p:nvSpPr>
          <p:spPr>
            <a:xfrm>
              <a:off x="1840689" y="1844028"/>
              <a:ext cx="1543944" cy="516423"/>
            </a:xfrm>
            <a:prstGeom prst="rect">
              <a:avLst/>
            </a:prstGeom>
            <a:noFill/>
          </p:spPr>
          <p:txBody>
            <a:bodyPr wrap="square" rtlCol="0" anchor="ctr">
              <a:spAutoFit/>
            </a:bodyPr>
            <a:lstStyle/>
            <a:p>
              <a:pPr defTabSz="913765">
                <a:lnSpc>
                  <a:spcPct val="120000"/>
                </a:lnSpc>
              </a:pPr>
              <a:r>
                <a:rPr lang="en-US" altLang="zh-CN" sz="1200" b="1" dirty="0">
                  <a:solidFill>
                    <a:prstClr val="black"/>
                  </a:solidFill>
                  <a:latin typeface="+mn-lt"/>
                  <a:ea typeface="微软雅黑 Light" panose="020B0502040204020203" pitchFamily="34" charset="-122"/>
                  <a:cs typeface="+mn-ea"/>
                  <a:sym typeface="+mn-lt"/>
                </a:rPr>
                <a:t>HTTPS</a:t>
              </a:r>
              <a:r>
                <a:rPr lang="zh-CN" altLang="en-US" sz="1200" dirty="0">
                  <a:solidFill>
                    <a:prstClr val="black"/>
                  </a:solidFill>
                  <a:latin typeface="+mn-lt"/>
                  <a:ea typeface="微软雅黑 Light" panose="020B0502040204020203" pitchFamily="34" charset="-122"/>
                  <a:cs typeface="+mn-ea"/>
                  <a:sym typeface="+mn-lt"/>
                </a:rPr>
                <a:t>开始广泛使用</a:t>
              </a:r>
              <a:r>
                <a:rPr lang="en-US" altLang="zh-CN" sz="1200" dirty="0">
                  <a:solidFill>
                    <a:prstClr val="black"/>
                  </a:solidFill>
                  <a:latin typeface="+mn-lt"/>
                  <a:ea typeface="微软雅黑 Light" panose="020B0502040204020203" pitchFamily="34" charset="-122"/>
                  <a:cs typeface="+mn-ea"/>
                  <a:sym typeface="+mn-lt"/>
                </a:rPr>
                <a:t>(over TLS/SSL)</a:t>
              </a:r>
              <a:endParaRPr lang="zh-CN" altLang="en-US" sz="1200" dirty="0">
                <a:solidFill>
                  <a:prstClr val="black"/>
                </a:solidFill>
                <a:latin typeface="+mn-lt"/>
                <a:ea typeface="微软雅黑 Light" panose="020B0502040204020203" pitchFamily="34" charset="-122"/>
                <a:cs typeface="+mn-ea"/>
                <a:sym typeface="+mn-lt"/>
              </a:endParaRPr>
            </a:p>
          </p:txBody>
        </p:sp>
        <p:cxnSp>
          <p:nvCxnSpPr>
            <p:cNvPr id="16" name="直接连接符 15"/>
            <p:cNvCxnSpPr/>
            <p:nvPr/>
          </p:nvCxnSpPr>
          <p:spPr>
            <a:xfrm>
              <a:off x="2546925" y="1327027"/>
              <a:ext cx="0" cy="48371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a:xfrm>
              <a:off x="1968421" y="999312"/>
              <a:ext cx="1224472" cy="330283"/>
            </a:xfrm>
            <a:prstGeom prst="rect">
              <a:avLst/>
            </a:prstGeom>
            <a:noFill/>
          </p:spPr>
          <p:txBody>
            <a:bodyPr wrap="square" rtlCol="0" anchor="ctr">
              <a:spAutoFit/>
            </a:bodyPr>
            <a:lstStyle/>
            <a:p>
              <a:pPr algn="ctr" defTabSz="913765">
                <a:lnSpc>
                  <a:spcPct val="120000"/>
                </a:lnSpc>
              </a:pPr>
              <a:r>
                <a:rPr lang="en-US" altLang="zh-CN" sz="1400" dirty="0">
                  <a:solidFill>
                    <a:prstClr val="black"/>
                  </a:solidFill>
                  <a:latin typeface="+mn-lt"/>
                  <a:ea typeface="微软雅黑 Light" panose="020B0502040204020203" pitchFamily="34" charset="-122"/>
                  <a:cs typeface="+mn-ea"/>
                  <a:sym typeface="+mn-lt"/>
                </a:rPr>
                <a:t>2000~2010</a:t>
              </a:r>
              <a:endParaRPr lang="zh-CN" altLang="en-US" sz="1400" dirty="0">
                <a:solidFill>
                  <a:prstClr val="black"/>
                </a:solidFill>
                <a:latin typeface="+mn-lt"/>
                <a:ea typeface="微软雅黑 Light" panose="020B0502040204020203" pitchFamily="34" charset="-122"/>
                <a:cs typeface="+mn-ea"/>
                <a:sym typeface="+mn-lt"/>
              </a:endParaRPr>
            </a:p>
          </p:txBody>
        </p:sp>
        <p:sp>
          <p:nvSpPr>
            <p:cNvPr id="18" name="文本框 17"/>
            <p:cNvSpPr txBox="1"/>
            <p:nvPr/>
          </p:nvSpPr>
          <p:spPr>
            <a:xfrm>
              <a:off x="3593187" y="1013056"/>
              <a:ext cx="1224472" cy="330283"/>
            </a:xfrm>
            <a:prstGeom prst="rect">
              <a:avLst/>
            </a:prstGeom>
            <a:noFill/>
          </p:spPr>
          <p:txBody>
            <a:bodyPr wrap="square" rtlCol="0" anchor="ctr">
              <a:spAutoFit/>
            </a:bodyPr>
            <a:lstStyle/>
            <a:p>
              <a:pPr algn="ctr" defTabSz="913765">
                <a:lnSpc>
                  <a:spcPct val="120000"/>
                </a:lnSpc>
              </a:pPr>
              <a:r>
                <a:rPr lang="en-US" altLang="zh-CN" sz="1400" dirty="0">
                  <a:solidFill>
                    <a:prstClr val="black"/>
                  </a:solidFill>
                  <a:latin typeface="+mn-lt"/>
                  <a:ea typeface="微软雅黑 Light" panose="020B0502040204020203" pitchFamily="34" charset="-122"/>
                  <a:cs typeface="+mn-ea"/>
                  <a:sym typeface="+mn-lt"/>
                </a:rPr>
                <a:t>2010</a:t>
              </a:r>
              <a:endParaRPr lang="zh-CN" altLang="en-US" sz="1400" dirty="0">
                <a:solidFill>
                  <a:prstClr val="black"/>
                </a:solidFill>
                <a:latin typeface="+mn-lt"/>
                <a:ea typeface="微软雅黑 Light" panose="020B0502040204020203" pitchFamily="34" charset="-122"/>
                <a:cs typeface="+mn-ea"/>
                <a:sym typeface="+mn-lt"/>
              </a:endParaRPr>
            </a:p>
          </p:txBody>
        </p:sp>
        <p:sp>
          <p:nvSpPr>
            <p:cNvPr id="20" name="矩形 19"/>
            <p:cNvSpPr/>
            <p:nvPr/>
          </p:nvSpPr>
          <p:spPr>
            <a:xfrm>
              <a:off x="2598663" y="2369734"/>
              <a:ext cx="3781805" cy="959622"/>
            </a:xfrm>
            <a:prstGeom prst="rect">
              <a:avLst/>
            </a:prstGeom>
          </p:spPr>
          <p:txBody>
            <a:bodyPr wrap="none">
              <a:spAutoFit/>
            </a:bodyPr>
            <a:lstStyle/>
            <a:p>
              <a:pPr defTabSz="913765">
                <a:lnSpc>
                  <a:spcPct val="120000"/>
                </a:lnSpc>
              </a:pPr>
              <a:r>
                <a:rPr lang="en-US" altLang="zh-CN" sz="1200" b="1" dirty="0">
                  <a:solidFill>
                    <a:prstClr val="black"/>
                  </a:solidFill>
                  <a:latin typeface="+mn-lt"/>
                  <a:ea typeface="微软雅黑 Light" panose="020B0502040204020203" pitchFamily="34" charset="-122"/>
                  <a:cs typeface="+mn-ea"/>
                  <a:sym typeface="+mn-lt"/>
                </a:rPr>
                <a:t>SPDY</a:t>
              </a:r>
              <a:r>
                <a:rPr lang="zh-CN" altLang="en-US" sz="1200" dirty="0">
                  <a:solidFill>
                    <a:prstClr val="black"/>
                  </a:solidFill>
                  <a:latin typeface="+mn-lt"/>
                  <a:ea typeface="微软雅黑 Light" panose="020B0502040204020203" pitchFamily="34" charset="-122"/>
                  <a:cs typeface="+mn-ea"/>
                  <a:sym typeface="+mn-lt"/>
                </a:rPr>
                <a:t>：</a:t>
              </a:r>
              <a:r>
                <a:rPr lang="en-US" altLang="zh-CN" sz="1200" dirty="0">
                  <a:solidFill>
                    <a:prstClr val="black"/>
                  </a:solidFill>
                  <a:latin typeface="+mn-lt"/>
                  <a:ea typeface="微软雅黑 Light" panose="020B0502040204020203" pitchFamily="34" charset="-122"/>
                  <a:cs typeface="+mn-ea"/>
                  <a:sym typeface="+mn-lt"/>
                </a:rPr>
                <a:t>Google</a:t>
              </a:r>
              <a:r>
                <a:rPr lang="zh-CN" altLang="en-US" sz="1200" dirty="0">
                  <a:solidFill>
                    <a:prstClr val="black"/>
                  </a:solidFill>
                  <a:latin typeface="+mn-lt"/>
                  <a:ea typeface="微软雅黑 Light" panose="020B0502040204020203" pitchFamily="34" charset="-122"/>
                  <a:cs typeface="+mn-ea"/>
                  <a:sym typeface="+mn-lt"/>
                </a:rPr>
                <a:t>对</a:t>
              </a:r>
              <a:r>
                <a:rPr lang="en-US" altLang="zh-CN" sz="1200" dirty="0">
                  <a:solidFill>
                    <a:prstClr val="black"/>
                  </a:solidFill>
                  <a:latin typeface="+mn-lt"/>
                  <a:ea typeface="微软雅黑 Light" panose="020B0502040204020203" pitchFamily="34" charset="-122"/>
                  <a:cs typeface="+mn-ea"/>
                  <a:sym typeface="+mn-lt"/>
                </a:rPr>
                <a:t>HTTP</a:t>
              </a:r>
              <a:r>
                <a:rPr lang="zh-CN" altLang="en-US" sz="1200" dirty="0">
                  <a:solidFill>
                    <a:prstClr val="black"/>
                  </a:solidFill>
                  <a:latin typeface="+mn-lt"/>
                  <a:ea typeface="微软雅黑 Light" panose="020B0502040204020203" pitchFamily="34" charset="-122"/>
                  <a:cs typeface="+mn-ea"/>
                  <a:sym typeface="+mn-lt"/>
                </a:rPr>
                <a:t>的优化</a:t>
              </a:r>
              <a:endParaRPr lang="en-US" altLang="zh-CN" sz="1200" dirty="0">
                <a:solidFill>
                  <a:prstClr val="black"/>
                </a:solidFill>
                <a:latin typeface="+mn-lt"/>
                <a:ea typeface="微软雅黑 Light" panose="020B0502040204020203" pitchFamily="34" charset="-122"/>
                <a:cs typeface="+mn-ea"/>
                <a:sym typeface="+mn-lt"/>
              </a:endParaRPr>
            </a:p>
            <a:p>
              <a:pPr defTabSz="913765">
                <a:lnSpc>
                  <a:spcPct val="120000"/>
                </a:lnSpc>
              </a:pPr>
              <a:r>
                <a:rPr lang="zh-CN" altLang="en-US" sz="1200" dirty="0">
                  <a:solidFill>
                    <a:prstClr val="black"/>
                  </a:solidFill>
                  <a:latin typeface="+mn-lt"/>
                  <a:ea typeface="微软雅黑 Light" panose="020B0502040204020203" pitchFamily="34" charset="-122"/>
                  <a:cs typeface="+mn-ea"/>
                  <a:sym typeface="+mn-lt"/>
                </a:rPr>
                <a:t>主要特性</a:t>
              </a:r>
              <a:r>
                <a:rPr lang="en-US" altLang="zh-CN" sz="1200" dirty="0">
                  <a:solidFill>
                    <a:prstClr val="black"/>
                  </a:solidFill>
                  <a:latin typeface="+mn-lt"/>
                  <a:ea typeface="微软雅黑 Light" panose="020B0502040204020203" pitchFamily="34" charset="-122"/>
                  <a:cs typeface="+mn-ea"/>
                  <a:sym typeface="+mn-lt"/>
                </a:rPr>
                <a:t>: </a:t>
              </a:r>
              <a:r>
                <a:rPr lang="zh-CN" altLang="en-US" sz="1200" dirty="0">
                  <a:solidFill>
                    <a:prstClr val="black"/>
                  </a:solidFill>
                  <a:latin typeface="+mn-lt"/>
                  <a:ea typeface="微软雅黑 Light" panose="020B0502040204020203" pitchFamily="34" charset="-122"/>
                  <a:cs typeface="+mn-ea"/>
                  <a:sym typeface="+mn-lt"/>
                </a:rPr>
                <a:t>在一个</a:t>
              </a:r>
              <a:r>
                <a:rPr lang="en-US" altLang="zh-CN" sz="1200" dirty="0">
                  <a:solidFill>
                    <a:prstClr val="black"/>
                  </a:solidFill>
                  <a:latin typeface="+mn-lt"/>
                  <a:ea typeface="微软雅黑 Light" panose="020B0502040204020203" pitchFamily="34" charset="-122"/>
                  <a:cs typeface="+mn-ea"/>
                  <a:sym typeface="+mn-lt"/>
                </a:rPr>
                <a:t>TCP</a:t>
              </a:r>
              <a:r>
                <a:rPr lang="zh-CN" altLang="en-US" sz="1200" dirty="0">
                  <a:solidFill>
                    <a:prstClr val="black"/>
                  </a:solidFill>
                  <a:latin typeface="+mn-lt"/>
                  <a:ea typeface="微软雅黑 Light" panose="020B0502040204020203" pitchFamily="34" charset="-122"/>
                  <a:cs typeface="+mn-ea"/>
                  <a:sym typeface="+mn-lt"/>
                </a:rPr>
                <a:t>连接内多路复用</a:t>
              </a:r>
              <a:endParaRPr lang="en-US" altLang="zh-CN" sz="1200" dirty="0">
                <a:solidFill>
                  <a:prstClr val="black"/>
                </a:solidFill>
                <a:latin typeface="+mn-lt"/>
                <a:ea typeface="微软雅黑 Light" panose="020B0502040204020203" pitchFamily="34" charset="-122"/>
                <a:cs typeface="+mn-ea"/>
                <a:sym typeface="+mn-lt"/>
              </a:endParaRPr>
            </a:p>
            <a:p>
              <a:pPr defTabSz="913765">
                <a:lnSpc>
                  <a:spcPct val="120000"/>
                </a:lnSpc>
              </a:pPr>
              <a:r>
                <a:rPr lang="zh-CN" altLang="en-US" sz="1200" dirty="0">
                  <a:solidFill>
                    <a:prstClr val="black"/>
                  </a:solidFill>
                  <a:latin typeface="+mn-lt"/>
                  <a:ea typeface="微软雅黑 Light" panose="020B0502040204020203" pitchFamily="34" charset="-122"/>
                  <a:cs typeface="+mn-ea"/>
                  <a:sym typeface="+mn-lt"/>
                </a:rPr>
                <a:t>其它特性包括优先级请求、</a:t>
              </a:r>
              <a:r>
                <a:rPr lang="en-US" altLang="zh-CN" sz="1200" dirty="0">
                  <a:solidFill>
                    <a:prstClr val="black"/>
                  </a:solidFill>
                  <a:latin typeface="+mn-lt"/>
                  <a:ea typeface="微软雅黑 Light" panose="020B0502040204020203" pitchFamily="34" charset="-122"/>
                  <a:cs typeface="+mn-ea"/>
                  <a:sym typeface="+mn-lt"/>
                </a:rPr>
                <a:t>Server push</a:t>
              </a:r>
              <a:r>
                <a:rPr lang="zh-CN" altLang="en-US" sz="1200" dirty="0">
                  <a:solidFill>
                    <a:prstClr val="black"/>
                  </a:solidFill>
                  <a:latin typeface="+mn-lt"/>
                  <a:ea typeface="微软雅黑 Light" panose="020B0502040204020203" pitchFamily="34" charset="-122"/>
                  <a:cs typeface="+mn-ea"/>
                  <a:sym typeface="+mn-lt"/>
                </a:rPr>
                <a:t>、头部压缩等</a:t>
              </a:r>
              <a:endParaRPr lang="en-US" altLang="zh-CN" sz="1200" dirty="0">
                <a:solidFill>
                  <a:prstClr val="black"/>
                </a:solidFill>
                <a:latin typeface="+mn-lt"/>
                <a:ea typeface="微软雅黑 Light" panose="020B0502040204020203" pitchFamily="34" charset="-122"/>
                <a:cs typeface="+mn-ea"/>
                <a:sym typeface="+mn-lt"/>
              </a:endParaRPr>
            </a:p>
            <a:p>
              <a:pPr defTabSz="913765">
                <a:lnSpc>
                  <a:spcPct val="120000"/>
                </a:lnSpc>
              </a:pPr>
              <a:r>
                <a:rPr lang="en-US" altLang="zh-CN" sz="1200" dirty="0">
                  <a:solidFill>
                    <a:prstClr val="black"/>
                  </a:solidFill>
                  <a:latin typeface="+mn-lt"/>
                  <a:ea typeface="微软雅黑 Light" panose="020B0502040204020203" pitchFamily="34" charset="-122"/>
                  <a:cs typeface="+mn-ea"/>
                  <a:sym typeface="+mn-lt"/>
                </a:rPr>
                <a:t>2012</a:t>
              </a:r>
              <a:r>
                <a:rPr lang="zh-CN" altLang="en-US" sz="1200" dirty="0">
                  <a:solidFill>
                    <a:prstClr val="black"/>
                  </a:solidFill>
                  <a:latin typeface="+mn-lt"/>
                  <a:ea typeface="微软雅黑 Light" panose="020B0502040204020203" pitchFamily="34" charset="-122"/>
                  <a:cs typeface="+mn-ea"/>
                  <a:sym typeface="+mn-lt"/>
                </a:rPr>
                <a:t>年中转向标准化</a:t>
              </a:r>
              <a:r>
                <a:rPr lang="en-US" altLang="zh-CN" sz="1200" dirty="0">
                  <a:solidFill>
                    <a:prstClr val="black"/>
                  </a:solidFill>
                  <a:latin typeface="+mn-lt"/>
                  <a:ea typeface="微软雅黑 Light" panose="020B0502040204020203" pitchFamily="34" charset="-122"/>
                  <a:cs typeface="+mn-ea"/>
                  <a:sym typeface="+mn-lt"/>
                </a:rPr>
                <a:t>HTTP/2</a:t>
              </a:r>
              <a:r>
                <a:rPr lang="zh-CN" altLang="en-US" sz="1200" dirty="0">
                  <a:solidFill>
                    <a:prstClr val="black"/>
                  </a:solidFill>
                  <a:latin typeface="+mn-lt"/>
                  <a:ea typeface="微软雅黑 Light" panose="020B0502040204020203" pitchFamily="34" charset="-122"/>
                  <a:cs typeface="+mn-ea"/>
                  <a:sym typeface="+mn-lt"/>
                </a:rPr>
                <a:t>，</a:t>
              </a:r>
              <a:r>
                <a:rPr lang="en-US" altLang="zh-CN" sz="1200" dirty="0">
                  <a:solidFill>
                    <a:prstClr val="black"/>
                  </a:solidFill>
                  <a:latin typeface="+mn-lt"/>
                  <a:ea typeface="微软雅黑 Light" panose="020B0502040204020203" pitchFamily="34" charset="-122"/>
                  <a:cs typeface="+mn-ea"/>
                  <a:sym typeface="+mn-lt"/>
                </a:rPr>
                <a:t>2016</a:t>
              </a:r>
              <a:r>
                <a:rPr lang="zh-CN" altLang="en-US" sz="1200" dirty="0">
                  <a:solidFill>
                    <a:prstClr val="black"/>
                  </a:solidFill>
                  <a:latin typeface="+mn-lt"/>
                  <a:ea typeface="微软雅黑 Light" panose="020B0502040204020203" pitchFamily="34" charset="-122"/>
                  <a:cs typeface="+mn-ea"/>
                  <a:sym typeface="+mn-lt"/>
                </a:rPr>
                <a:t>年终止</a:t>
              </a:r>
            </a:p>
          </p:txBody>
        </p:sp>
        <p:cxnSp>
          <p:nvCxnSpPr>
            <p:cNvPr id="21" name="直接连接符 20"/>
            <p:cNvCxnSpPr/>
            <p:nvPr/>
          </p:nvCxnSpPr>
          <p:spPr>
            <a:xfrm>
              <a:off x="4191053" y="1299512"/>
              <a:ext cx="0" cy="100721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6760085" y="1008057"/>
              <a:ext cx="1224472" cy="330283"/>
            </a:xfrm>
            <a:prstGeom prst="rect">
              <a:avLst/>
            </a:prstGeom>
            <a:noFill/>
          </p:spPr>
          <p:txBody>
            <a:bodyPr wrap="square" rtlCol="0" anchor="ctr">
              <a:spAutoFit/>
            </a:bodyPr>
            <a:lstStyle/>
            <a:p>
              <a:pPr algn="ctr" defTabSz="913765">
                <a:lnSpc>
                  <a:spcPct val="120000"/>
                </a:lnSpc>
              </a:pPr>
              <a:r>
                <a:rPr lang="en-US" altLang="zh-CN" sz="1400" dirty="0">
                  <a:solidFill>
                    <a:prstClr val="black"/>
                  </a:solidFill>
                  <a:latin typeface="+mn-lt"/>
                  <a:ea typeface="微软雅黑 Light" panose="020B0502040204020203" pitchFamily="34" charset="-122"/>
                  <a:cs typeface="+mn-ea"/>
                  <a:sym typeface="+mn-lt"/>
                </a:rPr>
                <a:t>2015</a:t>
              </a:r>
              <a:endParaRPr lang="zh-CN" altLang="en-US" sz="1400" dirty="0">
                <a:solidFill>
                  <a:prstClr val="black"/>
                </a:solidFill>
                <a:latin typeface="+mn-lt"/>
                <a:ea typeface="微软雅黑 Light" panose="020B0502040204020203" pitchFamily="34" charset="-122"/>
                <a:cs typeface="+mn-ea"/>
                <a:sym typeface="+mn-lt"/>
              </a:endParaRPr>
            </a:p>
          </p:txBody>
        </p:sp>
        <p:cxnSp>
          <p:nvCxnSpPr>
            <p:cNvPr id="23" name="直接连接符 22"/>
            <p:cNvCxnSpPr/>
            <p:nvPr/>
          </p:nvCxnSpPr>
          <p:spPr>
            <a:xfrm>
              <a:off x="7394680" y="1316329"/>
              <a:ext cx="0" cy="87805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6456040" y="2281148"/>
              <a:ext cx="3280898" cy="517962"/>
            </a:xfrm>
            <a:prstGeom prst="rect">
              <a:avLst/>
            </a:prstGeom>
            <a:noFill/>
          </p:spPr>
          <p:txBody>
            <a:bodyPr wrap="square" rtlCol="0" anchor="ctr">
              <a:spAutoFit/>
            </a:bodyPr>
            <a:lstStyle/>
            <a:p>
              <a:pPr defTabSz="913765">
                <a:lnSpc>
                  <a:spcPct val="120000"/>
                </a:lnSpc>
              </a:pPr>
              <a:r>
                <a:rPr lang="en-US" altLang="zh-CN" sz="1200" b="1" dirty="0">
                  <a:solidFill>
                    <a:prstClr val="black"/>
                  </a:solidFill>
                  <a:latin typeface="+mn-lt"/>
                  <a:ea typeface="微软雅黑 Light" panose="020B0502040204020203" pitchFamily="34" charset="-122"/>
                  <a:cs typeface="+mn-ea"/>
                  <a:sym typeface="+mn-lt"/>
                </a:rPr>
                <a:t>HTTP/2</a:t>
              </a:r>
              <a:r>
                <a:rPr lang="zh-CN" altLang="en-US" sz="1200" dirty="0">
                  <a:solidFill>
                    <a:prstClr val="black"/>
                  </a:solidFill>
                  <a:latin typeface="+mn-lt"/>
                  <a:ea typeface="微软雅黑 Light" panose="020B0502040204020203" pitchFamily="34" charset="-122"/>
                  <a:cs typeface="+mn-ea"/>
                  <a:sym typeface="+mn-lt"/>
                </a:rPr>
                <a:t>标准发布：继承了很多</a:t>
              </a:r>
              <a:r>
                <a:rPr lang="en-US" altLang="zh-CN" sz="1200" dirty="0">
                  <a:solidFill>
                    <a:prstClr val="black"/>
                  </a:solidFill>
                  <a:latin typeface="+mn-lt"/>
                  <a:ea typeface="微软雅黑 Light" panose="020B0502040204020203" pitchFamily="34" charset="-122"/>
                  <a:cs typeface="+mn-ea"/>
                  <a:sym typeface="+mn-lt"/>
                </a:rPr>
                <a:t>SPDY</a:t>
              </a:r>
              <a:r>
                <a:rPr lang="zh-CN" altLang="en-US" sz="1200" dirty="0">
                  <a:solidFill>
                    <a:prstClr val="black"/>
                  </a:solidFill>
                  <a:latin typeface="+mn-lt"/>
                  <a:ea typeface="微软雅黑 Light" panose="020B0502040204020203" pitchFamily="34" charset="-122"/>
                  <a:cs typeface="+mn-ea"/>
                  <a:sym typeface="+mn-lt"/>
                </a:rPr>
                <a:t>的特性，区别在于不强制加密。</a:t>
              </a:r>
              <a:endParaRPr lang="en-US" altLang="zh-CN" sz="1200" dirty="0">
                <a:solidFill>
                  <a:prstClr val="black"/>
                </a:solidFill>
                <a:latin typeface="+mn-lt"/>
                <a:ea typeface="微软雅黑 Light" panose="020B0502040204020203" pitchFamily="34" charset="-122"/>
                <a:cs typeface="+mn-ea"/>
                <a:sym typeface="+mn-lt"/>
              </a:endParaRPr>
            </a:p>
          </p:txBody>
        </p:sp>
        <p:cxnSp>
          <p:nvCxnSpPr>
            <p:cNvPr id="25" name="直接连接符 24"/>
            <p:cNvCxnSpPr/>
            <p:nvPr/>
          </p:nvCxnSpPr>
          <p:spPr>
            <a:xfrm>
              <a:off x="6404301" y="1293305"/>
              <a:ext cx="0" cy="190097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5819519" y="1014974"/>
              <a:ext cx="1224472" cy="330283"/>
            </a:xfrm>
            <a:prstGeom prst="rect">
              <a:avLst/>
            </a:prstGeom>
            <a:noFill/>
          </p:spPr>
          <p:txBody>
            <a:bodyPr wrap="square" rtlCol="0" anchor="ctr">
              <a:spAutoFit/>
            </a:bodyPr>
            <a:lstStyle/>
            <a:p>
              <a:pPr algn="ctr" defTabSz="913765">
                <a:lnSpc>
                  <a:spcPct val="120000"/>
                </a:lnSpc>
              </a:pPr>
              <a:r>
                <a:rPr lang="en-US" altLang="zh-CN" sz="1400" dirty="0">
                  <a:solidFill>
                    <a:prstClr val="black"/>
                  </a:solidFill>
                  <a:latin typeface="+mn-lt"/>
                  <a:ea typeface="微软雅黑 Light" panose="020B0502040204020203" pitchFamily="34" charset="-122"/>
                  <a:cs typeface="+mn-ea"/>
                  <a:sym typeface="+mn-lt"/>
                </a:rPr>
                <a:t>2012</a:t>
              </a:r>
              <a:endParaRPr lang="zh-CN" altLang="en-US" sz="1400" dirty="0">
                <a:solidFill>
                  <a:prstClr val="black"/>
                </a:solidFill>
                <a:latin typeface="+mn-lt"/>
                <a:ea typeface="微软雅黑 Light" panose="020B0502040204020203" pitchFamily="34" charset="-122"/>
                <a:cs typeface="+mn-ea"/>
                <a:sym typeface="+mn-lt"/>
              </a:endParaRPr>
            </a:p>
          </p:txBody>
        </p:sp>
        <p:sp>
          <p:nvSpPr>
            <p:cNvPr id="27" name="文本框 26"/>
            <p:cNvSpPr txBox="1"/>
            <p:nvPr/>
          </p:nvSpPr>
          <p:spPr>
            <a:xfrm>
              <a:off x="5301965" y="3279482"/>
              <a:ext cx="2204672" cy="294824"/>
            </a:xfrm>
            <a:prstGeom prst="rect">
              <a:avLst/>
            </a:prstGeom>
            <a:noFill/>
          </p:spPr>
          <p:txBody>
            <a:bodyPr wrap="square" rtlCol="0" anchor="ctr">
              <a:spAutoFit/>
            </a:bodyPr>
            <a:lstStyle/>
            <a:p>
              <a:pPr defTabSz="913765">
                <a:lnSpc>
                  <a:spcPct val="120000"/>
                </a:lnSpc>
              </a:pPr>
              <a:r>
                <a:rPr lang="en-US" altLang="zh-CN" sz="1200" b="1" dirty="0">
                  <a:solidFill>
                    <a:srgbClr val="C00000"/>
                  </a:solidFill>
                  <a:latin typeface="+mn-lt"/>
                  <a:ea typeface="微软雅黑 Light" panose="020B0502040204020203" pitchFamily="34" charset="-122"/>
                  <a:cs typeface="+mn-ea"/>
                  <a:sym typeface="+mn-lt"/>
                </a:rPr>
                <a:t>QUIC</a:t>
              </a:r>
              <a:r>
                <a:rPr lang="zh-CN" altLang="en-US" sz="1200" b="1" dirty="0">
                  <a:solidFill>
                    <a:srgbClr val="C00000"/>
                  </a:solidFill>
                  <a:latin typeface="+mn-lt"/>
                  <a:ea typeface="微软雅黑 Light" panose="020B0502040204020203" pitchFamily="34" charset="-122"/>
                  <a:cs typeface="+mn-ea"/>
                  <a:sym typeface="+mn-lt"/>
                </a:rPr>
                <a:t>开始在</a:t>
              </a:r>
              <a:r>
                <a:rPr lang="en-US" altLang="zh-CN" sz="1200" b="1" dirty="0">
                  <a:solidFill>
                    <a:srgbClr val="C00000"/>
                  </a:solidFill>
                  <a:latin typeface="+mn-lt"/>
                  <a:ea typeface="微软雅黑 Light" panose="020B0502040204020203" pitchFamily="34" charset="-122"/>
                  <a:cs typeface="+mn-ea"/>
                  <a:sym typeface="+mn-lt"/>
                </a:rPr>
                <a:t>Google</a:t>
              </a:r>
              <a:r>
                <a:rPr lang="zh-CN" altLang="en-US" sz="1200" b="1" dirty="0">
                  <a:solidFill>
                    <a:srgbClr val="C00000"/>
                  </a:solidFill>
                  <a:latin typeface="+mn-lt"/>
                  <a:ea typeface="微软雅黑 Light" panose="020B0502040204020203" pitchFamily="34" charset="-122"/>
                  <a:cs typeface="+mn-ea"/>
                  <a:sym typeface="+mn-lt"/>
                </a:rPr>
                <a:t>内部部署</a:t>
              </a:r>
            </a:p>
          </p:txBody>
        </p:sp>
        <p:sp>
          <p:nvSpPr>
            <p:cNvPr id="28" name="文本框 27"/>
            <p:cNvSpPr txBox="1"/>
            <p:nvPr/>
          </p:nvSpPr>
          <p:spPr>
            <a:xfrm>
              <a:off x="8018393" y="1013055"/>
              <a:ext cx="1224472" cy="330283"/>
            </a:xfrm>
            <a:prstGeom prst="rect">
              <a:avLst/>
            </a:prstGeom>
            <a:noFill/>
          </p:spPr>
          <p:txBody>
            <a:bodyPr wrap="square" rtlCol="0" anchor="ctr">
              <a:spAutoFit/>
            </a:bodyPr>
            <a:lstStyle/>
            <a:p>
              <a:pPr algn="ctr" defTabSz="913765">
                <a:lnSpc>
                  <a:spcPct val="120000"/>
                </a:lnSpc>
              </a:pPr>
              <a:r>
                <a:rPr lang="en-US" altLang="zh-CN" sz="1400" dirty="0">
                  <a:solidFill>
                    <a:prstClr val="black"/>
                  </a:solidFill>
                  <a:latin typeface="+mn-lt"/>
                  <a:ea typeface="微软雅黑 Light" panose="020B0502040204020203" pitchFamily="34" charset="-122"/>
                  <a:cs typeface="+mn-ea"/>
                  <a:sym typeface="+mn-lt"/>
                </a:rPr>
                <a:t>2016</a:t>
              </a:r>
              <a:endParaRPr lang="zh-CN" altLang="en-US" sz="1400" dirty="0">
                <a:solidFill>
                  <a:prstClr val="black"/>
                </a:solidFill>
                <a:latin typeface="+mn-lt"/>
                <a:ea typeface="微软雅黑 Light" panose="020B0502040204020203" pitchFamily="34" charset="-122"/>
                <a:cs typeface="+mn-ea"/>
                <a:sym typeface="+mn-lt"/>
              </a:endParaRPr>
            </a:p>
          </p:txBody>
        </p:sp>
        <p:cxnSp>
          <p:nvCxnSpPr>
            <p:cNvPr id="29" name="直接连接符 28"/>
            <p:cNvCxnSpPr/>
            <p:nvPr/>
          </p:nvCxnSpPr>
          <p:spPr>
            <a:xfrm>
              <a:off x="8666192" y="1302443"/>
              <a:ext cx="0" cy="48371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a:off x="7963496" y="1788769"/>
              <a:ext cx="1460474" cy="517962"/>
            </a:xfrm>
            <a:prstGeom prst="rect">
              <a:avLst/>
            </a:prstGeom>
            <a:noFill/>
          </p:spPr>
          <p:txBody>
            <a:bodyPr wrap="square" rtlCol="0" anchor="ctr">
              <a:spAutoFit/>
            </a:bodyPr>
            <a:lstStyle/>
            <a:p>
              <a:pPr algn="ctr" defTabSz="913765">
                <a:lnSpc>
                  <a:spcPct val="120000"/>
                </a:lnSpc>
              </a:pPr>
              <a:r>
                <a:rPr lang="en-US" altLang="zh-CN" sz="1200" b="1" dirty="0">
                  <a:solidFill>
                    <a:srgbClr val="C00000"/>
                  </a:solidFill>
                  <a:latin typeface="+mn-lt"/>
                  <a:ea typeface="微软雅黑 Light" panose="020B0502040204020203" pitchFamily="34" charset="-122"/>
                  <a:cs typeface="+mn-ea"/>
                  <a:sym typeface="+mn-lt"/>
                </a:rPr>
                <a:t>QUIC</a:t>
              </a:r>
              <a:r>
                <a:rPr lang="zh-CN" altLang="en-US" sz="1200" b="1" dirty="0">
                  <a:solidFill>
                    <a:srgbClr val="C00000"/>
                  </a:solidFill>
                  <a:latin typeface="+mn-lt"/>
                  <a:ea typeface="微软雅黑 Light" panose="020B0502040204020203" pitchFamily="34" charset="-122"/>
                  <a:cs typeface="+mn-ea"/>
                  <a:sym typeface="+mn-lt"/>
                </a:rPr>
                <a:t>在</a:t>
              </a:r>
              <a:r>
                <a:rPr lang="en-US" altLang="zh-CN" sz="1200" b="1" dirty="0">
                  <a:solidFill>
                    <a:srgbClr val="C00000"/>
                  </a:solidFill>
                  <a:latin typeface="+mn-lt"/>
                  <a:ea typeface="微软雅黑 Light" panose="020B0502040204020203" pitchFamily="34" charset="-122"/>
                  <a:cs typeface="+mn-ea"/>
                  <a:sym typeface="+mn-lt"/>
                </a:rPr>
                <a:t>IETF BOF</a:t>
              </a:r>
            </a:p>
            <a:p>
              <a:pPr algn="ctr" defTabSz="913765">
                <a:lnSpc>
                  <a:spcPct val="120000"/>
                </a:lnSpc>
              </a:pPr>
              <a:r>
                <a:rPr lang="en-US" altLang="zh-CN" sz="1200" b="1" dirty="0">
                  <a:solidFill>
                    <a:srgbClr val="C00000"/>
                  </a:solidFill>
                  <a:latin typeface="+mn-lt"/>
                  <a:ea typeface="微软雅黑 Light" panose="020B0502040204020203" pitchFamily="34" charset="-122"/>
                  <a:cs typeface="+mn-ea"/>
                  <a:sym typeface="+mn-lt"/>
                </a:rPr>
                <a:t>(Breath of Feather)</a:t>
              </a:r>
              <a:endParaRPr lang="zh-CN" altLang="en-US" sz="1200" b="1" dirty="0">
                <a:solidFill>
                  <a:srgbClr val="C00000"/>
                </a:solidFill>
                <a:latin typeface="+mn-lt"/>
                <a:ea typeface="微软雅黑 Light" panose="020B0502040204020203" pitchFamily="34" charset="-122"/>
                <a:cs typeface="+mn-ea"/>
                <a:sym typeface="+mn-lt"/>
              </a:endParaRPr>
            </a:p>
          </p:txBody>
        </p:sp>
        <p:sp>
          <p:nvSpPr>
            <p:cNvPr id="31" name="文本框 30"/>
            <p:cNvSpPr txBox="1"/>
            <p:nvPr/>
          </p:nvSpPr>
          <p:spPr>
            <a:xfrm>
              <a:off x="9395910" y="997359"/>
              <a:ext cx="1224472" cy="330283"/>
            </a:xfrm>
            <a:prstGeom prst="rect">
              <a:avLst/>
            </a:prstGeom>
            <a:noFill/>
          </p:spPr>
          <p:txBody>
            <a:bodyPr wrap="square" rtlCol="0" anchor="ctr">
              <a:spAutoFit/>
            </a:bodyPr>
            <a:lstStyle/>
            <a:p>
              <a:pPr algn="ctr" defTabSz="913765">
                <a:lnSpc>
                  <a:spcPct val="120000"/>
                </a:lnSpc>
              </a:pPr>
              <a:r>
                <a:rPr lang="en-US" altLang="zh-CN" sz="1400" dirty="0">
                  <a:solidFill>
                    <a:prstClr val="black"/>
                  </a:solidFill>
                  <a:latin typeface="+mn-lt"/>
                  <a:ea typeface="微软雅黑 Light" panose="020B0502040204020203" pitchFamily="34" charset="-122"/>
                  <a:cs typeface="+mn-ea"/>
                  <a:sym typeface="+mn-lt"/>
                </a:rPr>
                <a:t>2018</a:t>
              </a:r>
              <a:endParaRPr lang="zh-CN" altLang="en-US" sz="1400" dirty="0">
                <a:solidFill>
                  <a:prstClr val="black"/>
                </a:solidFill>
                <a:latin typeface="+mn-lt"/>
                <a:ea typeface="微软雅黑 Light" panose="020B0502040204020203" pitchFamily="34" charset="-122"/>
                <a:cs typeface="+mn-ea"/>
                <a:sym typeface="+mn-lt"/>
              </a:endParaRPr>
            </a:p>
          </p:txBody>
        </p:sp>
        <p:sp>
          <p:nvSpPr>
            <p:cNvPr id="32" name="文本框 31"/>
            <p:cNvSpPr txBox="1"/>
            <p:nvPr/>
          </p:nvSpPr>
          <p:spPr>
            <a:xfrm>
              <a:off x="9445032" y="1819207"/>
              <a:ext cx="1563430" cy="515206"/>
            </a:xfrm>
            <a:prstGeom prst="rect">
              <a:avLst/>
            </a:prstGeom>
            <a:noFill/>
          </p:spPr>
          <p:txBody>
            <a:bodyPr wrap="square" rtlCol="0" anchor="ctr">
              <a:spAutoFit/>
            </a:bodyPr>
            <a:lstStyle/>
            <a:p>
              <a:pPr defTabSz="913765">
                <a:lnSpc>
                  <a:spcPct val="120000"/>
                </a:lnSpc>
              </a:pPr>
              <a:r>
                <a:rPr lang="en-US" altLang="zh-CN" sz="1200" b="1" dirty="0">
                  <a:solidFill>
                    <a:prstClr val="black"/>
                  </a:solidFill>
                  <a:latin typeface="+mn-lt"/>
                  <a:ea typeface="微软雅黑 Light" panose="020B0502040204020203" pitchFamily="34" charset="-122"/>
                  <a:cs typeface="+mn-ea"/>
                  <a:sym typeface="+mn-lt"/>
                </a:rPr>
                <a:t>HTTP/3</a:t>
              </a:r>
              <a:r>
                <a:rPr lang="zh-CN" altLang="en-US" sz="1200" dirty="0">
                  <a:solidFill>
                    <a:prstClr val="black"/>
                  </a:solidFill>
                  <a:latin typeface="+mn-lt"/>
                  <a:ea typeface="微软雅黑 Light" panose="020B0502040204020203" pitchFamily="34" charset="-122"/>
                  <a:cs typeface="+mn-ea"/>
                  <a:sym typeface="+mn-lt"/>
                </a:rPr>
                <a:t>标准化启动</a:t>
              </a:r>
              <a:endParaRPr lang="en-US" altLang="zh-CN" sz="1200" dirty="0">
                <a:solidFill>
                  <a:prstClr val="black"/>
                </a:solidFill>
                <a:latin typeface="+mn-lt"/>
                <a:ea typeface="微软雅黑 Light" panose="020B0502040204020203" pitchFamily="34" charset="-122"/>
                <a:cs typeface="+mn-ea"/>
                <a:sym typeface="+mn-lt"/>
              </a:endParaRPr>
            </a:p>
            <a:p>
              <a:pPr defTabSz="913765">
                <a:lnSpc>
                  <a:spcPct val="120000"/>
                </a:lnSpc>
              </a:pPr>
              <a:r>
                <a:rPr lang="en-US" altLang="zh-CN" sz="1200" dirty="0">
                  <a:solidFill>
                    <a:prstClr val="black"/>
                  </a:solidFill>
                  <a:latin typeface="+mn-lt"/>
                  <a:ea typeface="微软雅黑 Light" panose="020B0502040204020203" pitchFamily="34" charset="-122"/>
                  <a:cs typeface="+mn-ea"/>
                  <a:sym typeface="+mn-lt"/>
                </a:rPr>
                <a:t>HTTP over QUIC</a:t>
              </a:r>
              <a:endParaRPr lang="zh-CN" altLang="en-US" sz="1200" dirty="0">
                <a:solidFill>
                  <a:prstClr val="black"/>
                </a:solidFill>
                <a:latin typeface="+mn-lt"/>
                <a:ea typeface="微软雅黑 Light" panose="020B0502040204020203" pitchFamily="34" charset="-122"/>
                <a:cs typeface="+mn-ea"/>
                <a:sym typeface="+mn-lt"/>
              </a:endParaRPr>
            </a:p>
          </p:txBody>
        </p:sp>
        <p:sp>
          <p:nvSpPr>
            <p:cNvPr id="35" name="文本框 34"/>
            <p:cNvSpPr txBox="1"/>
            <p:nvPr/>
          </p:nvSpPr>
          <p:spPr>
            <a:xfrm>
              <a:off x="4841178" y="1013514"/>
              <a:ext cx="1224472" cy="330283"/>
            </a:xfrm>
            <a:prstGeom prst="rect">
              <a:avLst/>
            </a:prstGeom>
            <a:noFill/>
          </p:spPr>
          <p:txBody>
            <a:bodyPr wrap="square" rtlCol="0" anchor="ctr">
              <a:spAutoFit/>
            </a:bodyPr>
            <a:lstStyle/>
            <a:p>
              <a:pPr algn="ctr" defTabSz="913765">
                <a:lnSpc>
                  <a:spcPct val="120000"/>
                </a:lnSpc>
              </a:pPr>
              <a:r>
                <a:rPr lang="en-US" altLang="zh-CN" sz="1400" dirty="0">
                  <a:solidFill>
                    <a:prstClr val="black"/>
                  </a:solidFill>
                  <a:latin typeface="+mn-lt"/>
                  <a:ea typeface="微软雅黑 Light" panose="020B0502040204020203" pitchFamily="34" charset="-122"/>
                  <a:cs typeface="+mn-ea"/>
                  <a:sym typeface="+mn-lt"/>
                </a:rPr>
                <a:t>2012</a:t>
              </a:r>
              <a:endParaRPr lang="zh-CN" altLang="en-US" sz="1400" dirty="0">
                <a:solidFill>
                  <a:prstClr val="black"/>
                </a:solidFill>
                <a:latin typeface="+mn-lt"/>
                <a:ea typeface="微软雅黑 Light" panose="020B0502040204020203" pitchFamily="34" charset="-122"/>
                <a:cs typeface="+mn-ea"/>
                <a:sym typeface="+mn-lt"/>
              </a:endParaRPr>
            </a:p>
          </p:txBody>
        </p:sp>
        <p:cxnSp>
          <p:nvCxnSpPr>
            <p:cNvPr id="36" name="直接连接符 35"/>
            <p:cNvCxnSpPr/>
            <p:nvPr/>
          </p:nvCxnSpPr>
          <p:spPr>
            <a:xfrm>
              <a:off x="5429898" y="1316329"/>
              <a:ext cx="0" cy="48371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文本框 36"/>
            <p:cNvSpPr txBox="1"/>
            <p:nvPr/>
          </p:nvSpPr>
          <p:spPr>
            <a:xfrm>
              <a:off x="4600146" y="1803320"/>
              <a:ext cx="1588579" cy="294824"/>
            </a:xfrm>
            <a:prstGeom prst="rect">
              <a:avLst/>
            </a:prstGeom>
            <a:noFill/>
          </p:spPr>
          <p:txBody>
            <a:bodyPr wrap="square" rtlCol="0" anchor="ctr">
              <a:spAutoFit/>
            </a:bodyPr>
            <a:lstStyle/>
            <a:p>
              <a:pPr algn="ctr" defTabSz="913765">
                <a:lnSpc>
                  <a:spcPct val="120000"/>
                </a:lnSpc>
              </a:pPr>
              <a:r>
                <a:rPr lang="en-US" altLang="zh-CN" sz="1200" b="1" dirty="0">
                  <a:solidFill>
                    <a:prstClr val="black"/>
                  </a:solidFill>
                  <a:latin typeface="+mn-lt"/>
                  <a:ea typeface="微软雅黑 Light" panose="020B0502040204020203" pitchFamily="34" charset="-122"/>
                  <a:cs typeface="+mn-ea"/>
                  <a:sym typeface="+mn-lt"/>
                </a:rPr>
                <a:t>HTTP/2</a:t>
              </a:r>
              <a:r>
                <a:rPr lang="zh-CN" altLang="en-US" sz="1200" dirty="0">
                  <a:solidFill>
                    <a:prstClr val="black"/>
                  </a:solidFill>
                  <a:latin typeface="+mn-lt"/>
                  <a:ea typeface="微软雅黑 Light" panose="020B0502040204020203" pitchFamily="34" charset="-122"/>
                  <a:cs typeface="+mn-ea"/>
                  <a:sym typeface="+mn-lt"/>
                </a:rPr>
                <a:t>开始标准化</a:t>
              </a:r>
            </a:p>
          </p:txBody>
        </p:sp>
        <p:cxnSp>
          <p:nvCxnSpPr>
            <p:cNvPr id="38" name="直接连接符 37"/>
            <p:cNvCxnSpPr/>
            <p:nvPr/>
          </p:nvCxnSpPr>
          <p:spPr>
            <a:xfrm>
              <a:off x="10071547" y="1284688"/>
              <a:ext cx="0" cy="48371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 name="标题 6"/>
          <p:cNvSpPr>
            <a:spLocks noGrp="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r>
              <a:rPr lang="en-US" altLang="zh-CN">
                <a:latin typeface="微软雅黑" panose="020B0503020204020204" pitchFamily="34" charset="-122"/>
                <a:sym typeface="+mn-lt"/>
              </a:rPr>
              <a:t>6.4 </a:t>
            </a:r>
            <a:r>
              <a:rPr lang="zh-CN" altLang="en-US"/>
              <a:t>快速</a:t>
            </a:r>
            <a:r>
              <a:rPr lang="en-US" altLang="zh-CN" dirty="0"/>
              <a:t>UDP</a:t>
            </a:r>
            <a:r>
              <a:rPr lang="zh-CN" altLang="en-US" dirty="0"/>
              <a:t>网络连接</a:t>
            </a:r>
            <a:endParaRPr lang="zh-CN" altLang="en-US" dirty="0">
              <a:latin typeface="微软雅黑" panose="020B0503020204020204" pitchFamily="34" charset="-122"/>
            </a:endParaRPr>
          </a:p>
        </p:txBody>
      </p:sp>
      <p:sp>
        <p:nvSpPr>
          <p:cNvPr id="4" name="灯片编号占位符 3"/>
          <p:cNvSpPr>
            <a:spLocks noGrp="1"/>
          </p:cNvSpPr>
          <p:nvPr>
            <p:ph type="sldNum" sz="quarter" idx="12"/>
          </p:nvPr>
        </p:nvSpPr>
        <p:spPr/>
        <p:txBody>
          <a:bodyPr/>
          <a:lstStyle/>
          <a:p>
            <a:fld id="{C8BB1146-E542-4D4E-B8E9-6919A11DDD48}" type="slidenum">
              <a:rPr lang="en-US" smtClean="0"/>
              <a:t>85</a:t>
            </a:fld>
            <a:endParaRPr lang="en-US"/>
          </a:p>
        </p:txBody>
      </p:sp>
      <p:sp>
        <p:nvSpPr>
          <p:cNvPr id="34" name="内容占位符 1"/>
          <p:cNvSpPr>
            <a:spLocks noGrp="1"/>
          </p:cNvSpPr>
          <p:nvPr>
            <p:ph idx="1"/>
          </p:nvPr>
        </p:nvSpPr>
        <p:spPr>
          <a:xfrm>
            <a:off x="431800" y="3816052"/>
            <a:ext cx="11447407" cy="2401015"/>
          </a:xfrm>
        </p:spPr>
        <p:txBody>
          <a:bodyPr>
            <a:noAutofit/>
          </a:bodyPr>
          <a:lstStyle/>
          <a:p>
            <a:r>
              <a:rPr lang="en-US" altLang="zh-CN" sz="2400" dirty="0"/>
              <a:t>QUIC</a:t>
            </a:r>
            <a:r>
              <a:rPr lang="zh-CN" altLang="en-US" sz="2400" dirty="0"/>
              <a:t>：基于</a:t>
            </a:r>
            <a:r>
              <a:rPr lang="en-US" altLang="zh-CN" sz="2400" dirty="0"/>
              <a:t>HTTP</a:t>
            </a:r>
            <a:r>
              <a:rPr lang="zh-CN" altLang="en-US" sz="2400" dirty="0"/>
              <a:t>协议族而来，正转变为通用的传输层协议</a:t>
            </a:r>
          </a:p>
          <a:p>
            <a:pPr lvl="1"/>
            <a:r>
              <a:rPr lang="en-US" altLang="zh-CN" sz="2000" dirty="0"/>
              <a:t>Google</a:t>
            </a:r>
            <a:r>
              <a:rPr lang="zh-CN" altLang="en-US" sz="2000" dirty="0"/>
              <a:t>研究</a:t>
            </a:r>
            <a:r>
              <a:rPr lang="en-US" altLang="zh-CN" sz="2000" dirty="0"/>
              <a:t>QUIC</a:t>
            </a:r>
            <a:r>
              <a:rPr lang="zh-CN" altLang="en-US" sz="2000" dirty="0"/>
              <a:t>，是为了解决</a:t>
            </a:r>
            <a:r>
              <a:rPr lang="en-US" altLang="zh-CN" sz="2000" dirty="0"/>
              <a:t>HTTPS over TCP</a:t>
            </a:r>
            <a:r>
              <a:rPr lang="zh-CN" altLang="en-US" sz="2000" dirty="0"/>
              <a:t>性能不佳的问题</a:t>
            </a:r>
            <a:endParaRPr lang="en-US" altLang="zh-CN" sz="2000" dirty="0"/>
          </a:p>
          <a:p>
            <a:pPr lvl="1"/>
            <a:r>
              <a:rPr lang="zh-CN" altLang="en-US" sz="2000" dirty="0"/>
              <a:t>在协议栈中，主要替代</a:t>
            </a:r>
            <a:r>
              <a:rPr lang="en-US" altLang="zh-CN" sz="2000" dirty="0"/>
              <a:t>HTTP2 + TCP + TLS</a:t>
            </a:r>
            <a:r>
              <a:rPr lang="zh-CN" altLang="en-US" sz="2000" dirty="0"/>
              <a:t>的部分</a:t>
            </a:r>
          </a:p>
          <a:p>
            <a:pPr lvl="1"/>
            <a:r>
              <a:rPr lang="zh-CN" altLang="en-US" sz="2000" dirty="0"/>
              <a:t>解决的核心问题：低时延建立连接、多路复用避免</a:t>
            </a:r>
            <a:r>
              <a:rPr lang="en-US" altLang="zh-CN" sz="2000" dirty="0"/>
              <a:t>TCP</a:t>
            </a:r>
            <a:r>
              <a:rPr lang="zh-CN" altLang="en-US" sz="2000" dirty="0"/>
              <a:t>头阻塞</a:t>
            </a:r>
          </a:p>
          <a:p>
            <a:pPr lvl="1"/>
            <a:r>
              <a:rPr lang="zh-CN" altLang="en-US" sz="2000" dirty="0"/>
              <a:t>随着</a:t>
            </a:r>
            <a:r>
              <a:rPr lang="en-US" altLang="zh-CN" sz="2000" dirty="0"/>
              <a:t>QUIC</a:t>
            </a:r>
            <a:r>
              <a:rPr lang="zh-CN" altLang="en-US" sz="2000" dirty="0"/>
              <a:t>在</a:t>
            </a:r>
            <a:r>
              <a:rPr lang="en-US" altLang="zh-CN" sz="2000" dirty="0"/>
              <a:t>IETF</a:t>
            </a:r>
            <a:r>
              <a:rPr lang="zh-CN" altLang="en-US" sz="2000" dirty="0"/>
              <a:t>标准化的推动，当前的</a:t>
            </a:r>
            <a:r>
              <a:rPr lang="en-US" altLang="zh-CN" sz="2000" dirty="0"/>
              <a:t>QUIC</a:t>
            </a:r>
            <a:r>
              <a:rPr lang="zh-CN" altLang="en-US" sz="2000" dirty="0"/>
              <a:t>已经逐步变为通用的传输协议，不再局限于</a:t>
            </a:r>
            <a:r>
              <a:rPr lang="en-US" altLang="zh-CN" sz="2000" dirty="0"/>
              <a:t>HTTP</a:t>
            </a:r>
            <a:r>
              <a:rPr lang="zh-CN" altLang="en-US" sz="2000" dirty="0"/>
              <a:t>的场景</a:t>
            </a:r>
            <a:endParaRPr lang="zh-CN" altLang="en-US"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r>
              <a:rPr lang="en-US" altLang="zh-CN" dirty="0">
                <a:latin typeface="微软雅黑" panose="020B0503020204020204" pitchFamily="34" charset="-122"/>
                <a:sym typeface="+mn-lt"/>
              </a:rPr>
              <a:t>QUIC</a:t>
            </a:r>
            <a:r>
              <a:rPr lang="zh-CN" altLang="en-US" dirty="0">
                <a:latin typeface="微软雅黑" panose="020B0503020204020204" pitchFamily="34" charset="-122"/>
                <a:sym typeface="+mn-lt"/>
              </a:rPr>
              <a:t>特性：多子流并发复用</a:t>
            </a:r>
          </a:p>
        </p:txBody>
      </p:sp>
      <p:sp>
        <p:nvSpPr>
          <p:cNvPr id="5" name="内容占位符 4"/>
          <p:cNvSpPr>
            <a:spLocks noGrp="1"/>
          </p:cNvSpPr>
          <p:nvPr>
            <p:ph idx="1"/>
          </p:nvPr>
        </p:nvSpPr>
        <p:spPr>
          <a:xfrm>
            <a:off x="334435" y="1052515"/>
            <a:ext cx="7157807" cy="3637347"/>
          </a:xfrm>
        </p:spPr>
        <p:txBody>
          <a:bodyPr>
            <a:normAutofit fontScale="92500" lnSpcReduction="10000"/>
          </a:bodyPr>
          <a:lstStyle/>
          <a:p>
            <a:r>
              <a:rPr lang="en-US" altLang="zh-CN" sz="2000" dirty="0">
                <a:latin typeface="+mn-lt"/>
              </a:rPr>
              <a:t>QUIC</a:t>
            </a:r>
            <a:r>
              <a:rPr lang="zh-CN" altLang="en-US" sz="2000" dirty="0">
                <a:latin typeface="+mn-lt"/>
              </a:rPr>
              <a:t>通过多子流复用一个连接，减少了建立连接的次数，并降低了服务器的开销</a:t>
            </a:r>
            <a:endParaRPr lang="en-US" altLang="zh-CN" sz="2000" dirty="0">
              <a:latin typeface="+mn-lt"/>
            </a:endParaRPr>
          </a:p>
          <a:p>
            <a:r>
              <a:rPr lang="en-US" altLang="zh-CN" sz="2000" dirty="0">
                <a:latin typeface="+mn-lt"/>
              </a:rPr>
              <a:t>HTTP</a:t>
            </a:r>
            <a:r>
              <a:rPr lang="zh-CN" altLang="en-US" sz="2000" dirty="0">
                <a:latin typeface="+mn-lt"/>
              </a:rPr>
              <a:t>的特性决定了业务</a:t>
            </a:r>
            <a:r>
              <a:rPr lang="en-US" altLang="zh-CN" sz="2000" dirty="0">
                <a:latin typeface="+mn-lt"/>
              </a:rPr>
              <a:t>(HTTP</a:t>
            </a:r>
            <a:r>
              <a:rPr lang="zh-CN" altLang="en-US" sz="2000" dirty="0">
                <a:latin typeface="+mn-lt"/>
              </a:rPr>
              <a:t>请求</a:t>
            </a:r>
            <a:r>
              <a:rPr lang="en-US" altLang="zh-CN" sz="2000" dirty="0">
                <a:latin typeface="+mn-lt"/>
              </a:rPr>
              <a:t>/</a:t>
            </a:r>
            <a:r>
              <a:rPr lang="zh-CN" altLang="en-US" sz="2000" dirty="0">
                <a:latin typeface="+mn-lt"/>
              </a:rPr>
              <a:t>响应</a:t>
            </a:r>
            <a:r>
              <a:rPr lang="en-US" altLang="zh-CN" sz="2000" dirty="0">
                <a:latin typeface="+mn-lt"/>
              </a:rPr>
              <a:t>)</a:t>
            </a:r>
            <a:r>
              <a:rPr lang="zh-CN" altLang="en-US" sz="2000" dirty="0">
                <a:latin typeface="+mn-lt"/>
              </a:rPr>
              <a:t>通常是并行的</a:t>
            </a:r>
            <a:endParaRPr lang="en-US" altLang="zh-CN" sz="2000" dirty="0">
              <a:latin typeface="+mn-lt"/>
            </a:endParaRPr>
          </a:p>
          <a:p>
            <a:pPr lvl="1"/>
            <a:r>
              <a:rPr lang="zh-CN" altLang="en-US" sz="1800" dirty="0">
                <a:latin typeface="+mn-lt"/>
              </a:rPr>
              <a:t>例如，打开一个网页，会同时加载很多元素</a:t>
            </a:r>
          </a:p>
          <a:p>
            <a:r>
              <a:rPr lang="en-US" altLang="zh-CN" sz="2000" dirty="0">
                <a:latin typeface="+mn-lt"/>
              </a:rPr>
              <a:t>HTTP/1.1</a:t>
            </a:r>
            <a:r>
              <a:rPr lang="zh-CN" altLang="en-US" sz="2000" dirty="0">
                <a:latin typeface="+mn-lt"/>
              </a:rPr>
              <a:t>中，每个</a:t>
            </a:r>
            <a:r>
              <a:rPr lang="en-US" altLang="zh-CN" sz="2000" dirty="0">
                <a:latin typeface="+mn-lt"/>
              </a:rPr>
              <a:t>HTTP</a:t>
            </a:r>
            <a:r>
              <a:rPr lang="zh-CN" altLang="en-US" sz="2000" dirty="0">
                <a:latin typeface="+mn-lt"/>
              </a:rPr>
              <a:t>消息使用独立的</a:t>
            </a:r>
            <a:r>
              <a:rPr lang="en-US" altLang="zh-CN" sz="2000" dirty="0">
                <a:latin typeface="+mn-lt"/>
              </a:rPr>
              <a:t>TCP</a:t>
            </a:r>
            <a:r>
              <a:rPr lang="zh-CN" altLang="en-US" sz="2000" dirty="0">
                <a:latin typeface="+mn-lt"/>
              </a:rPr>
              <a:t>连接，导致一个</a:t>
            </a:r>
            <a:r>
              <a:rPr lang="en-US" altLang="zh-CN" sz="2000" dirty="0">
                <a:latin typeface="+mn-lt"/>
              </a:rPr>
              <a:t>HTTP</a:t>
            </a:r>
            <a:r>
              <a:rPr lang="zh-CN" altLang="en-US" sz="2000" dirty="0">
                <a:latin typeface="+mn-lt"/>
              </a:rPr>
              <a:t>会话需建立大量的</a:t>
            </a:r>
            <a:r>
              <a:rPr lang="en-US" altLang="zh-CN" sz="2000" dirty="0">
                <a:latin typeface="+mn-lt"/>
              </a:rPr>
              <a:t>TCP</a:t>
            </a:r>
            <a:r>
              <a:rPr lang="zh-CN" altLang="en-US" sz="2000" dirty="0">
                <a:latin typeface="+mn-lt"/>
              </a:rPr>
              <a:t>连接，消耗服务器大量的连接资源；同时，</a:t>
            </a:r>
            <a:r>
              <a:rPr lang="en-US" altLang="zh-CN" sz="2000" dirty="0">
                <a:latin typeface="+mn-lt"/>
              </a:rPr>
              <a:t>TCP</a:t>
            </a:r>
            <a:r>
              <a:rPr lang="zh-CN" altLang="en-US" sz="2000" dirty="0">
                <a:latin typeface="+mn-lt"/>
              </a:rPr>
              <a:t>都需三次握手建立连接，增加时延</a:t>
            </a:r>
          </a:p>
          <a:p>
            <a:r>
              <a:rPr lang="en-US" altLang="zh-CN" sz="2000" dirty="0">
                <a:latin typeface="+mn-lt"/>
              </a:rPr>
              <a:t>HTTP/2</a:t>
            </a:r>
            <a:r>
              <a:rPr lang="zh-CN" altLang="en-US" sz="2000" dirty="0">
                <a:latin typeface="+mn-lt"/>
              </a:rPr>
              <a:t>中，多个</a:t>
            </a:r>
            <a:r>
              <a:rPr lang="en-US" altLang="zh-CN" sz="2000" dirty="0">
                <a:latin typeface="+mn-lt"/>
              </a:rPr>
              <a:t>HTTP</a:t>
            </a:r>
            <a:r>
              <a:rPr lang="zh-CN" altLang="en-US" sz="2000" dirty="0">
                <a:latin typeface="+mn-lt"/>
              </a:rPr>
              <a:t>消息并发复用一条</a:t>
            </a:r>
            <a:r>
              <a:rPr lang="en-US" altLang="zh-CN" sz="2000" dirty="0">
                <a:latin typeface="+mn-lt"/>
              </a:rPr>
              <a:t>TCP</a:t>
            </a:r>
            <a:r>
              <a:rPr lang="zh-CN" altLang="en-US" sz="2000" dirty="0">
                <a:latin typeface="+mn-lt"/>
              </a:rPr>
              <a:t>连接，一个</a:t>
            </a:r>
            <a:r>
              <a:rPr lang="en-US" altLang="zh-CN" sz="2000" dirty="0">
                <a:latin typeface="+mn-lt"/>
              </a:rPr>
              <a:t>HTTP</a:t>
            </a:r>
            <a:r>
              <a:rPr lang="zh-CN" altLang="en-US" sz="2000" dirty="0">
                <a:latin typeface="+mn-lt"/>
              </a:rPr>
              <a:t>会话仅需一条</a:t>
            </a:r>
            <a:r>
              <a:rPr lang="en-US" altLang="zh-CN" sz="2000" dirty="0">
                <a:latin typeface="+mn-lt"/>
              </a:rPr>
              <a:t>TCP</a:t>
            </a:r>
            <a:r>
              <a:rPr lang="zh-CN" altLang="en-US" sz="2000" dirty="0">
                <a:latin typeface="+mn-lt"/>
              </a:rPr>
              <a:t>连接。和</a:t>
            </a:r>
            <a:r>
              <a:rPr lang="en-US" altLang="zh-CN" sz="2000" dirty="0">
                <a:latin typeface="+mn-lt"/>
              </a:rPr>
              <a:t>HTTP/1.1</a:t>
            </a:r>
            <a:r>
              <a:rPr lang="zh-CN" altLang="en-US" sz="2000" dirty="0">
                <a:latin typeface="+mn-lt"/>
              </a:rPr>
              <a:t>相比，节省服务器资源、减少时延。但丢包时会面临</a:t>
            </a:r>
            <a:r>
              <a:rPr lang="en-US" altLang="zh-CN" sz="2000" dirty="0">
                <a:latin typeface="+mn-lt"/>
              </a:rPr>
              <a:t>TCP</a:t>
            </a:r>
            <a:r>
              <a:rPr lang="zh-CN" altLang="en-US" sz="2000" dirty="0">
                <a:latin typeface="+mn-lt"/>
              </a:rPr>
              <a:t>的头阻塞问题</a:t>
            </a:r>
          </a:p>
          <a:p>
            <a:r>
              <a:rPr lang="en-US" altLang="zh-CN" sz="2000" dirty="0">
                <a:latin typeface="+mn-lt"/>
              </a:rPr>
              <a:t>QUIC</a:t>
            </a:r>
            <a:r>
              <a:rPr lang="zh-CN" altLang="en-US" sz="2000" dirty="0">
                <a:latin typeface="+mn-lt"/>
              </a:rPr>
              <a:t>中，多个</a:t>
            </a:r>
            <a:r>
              <a:rPr lang="en-US" altLang="zh-CN" sz="2000" dirty="0">
                <a:latin typeface="+mn-lt"/>
              </a:rPr>
              <a:t>HTTP</a:t>
            </a:r>
            <a:r>
              <a:rPr lang="zh-CN" altLang="en-US" sz="2000" dirty="0">
                <a:latin typeface="+mn-lt"/>
              </a:rPr>
              <a:t>消息并发复用一条</a:t>
            </a:r>
            <a:r>
              <a:rPr lang="en-US" altLang="zh-CN" sz="2000" dirty="0">
                <a:latin typeface="+mn-lt"/>
              </a:rPr>
              <a:t>UDP</a:t>
            </a:r>
            <a:r>
              <a:rPr lang="zh-CN" altLang="en-US" sz="2000" dirty="0">
                <a:latin typeface="+mn-lt"/>
              </a:rPr>
              <a:t>连接。在接收端，基于子流</a:t>
            </a:r>
            <a:r>
              <a:rPr lang="en-US" altLang="zh-CN" sz="2000" dirty="0">
                <a:latin typeface="+mn-lt"/>
              </a:rPr>
              <a:t>Stream</a:t>
            </a:r>
            <a:r>
              <a:rPr lang="zh-CN" altLang="en-US" sz="2000" dirty="0">
                <a:latin typeface="+mn-lt"/>
              </a:rPr>
              <a:t>进行管理，避免头阻塞问题</a:t>
            </a:r>
          </a:p>
          <a:p>
            <a:endParaRPr lang="zh-CN" altLang="en-US" sz="2000" dirty="0"/>
          </a:p>
        </p:txBody>
      </p:sp>
      <p:sp>
        <p:nvSpPr>
          <p:cNvPr id="4" name="灯片编号占位符 3"/>
          <p:cNvSpPr>
            <a:spLocks noGrp="1"/>
          </p:cNvSpPr>
          <p:nvPr>
            <p:ph type="sldNum" sz="quarter" idx="12"/>
          </p:nvPr>
        </p:nvSpPr>
        <p:spPr/>
        <p:txBody>
          <a:bodyPr/>
          <a:lstStyle/>
          <a:p>
            <a:fld id="{C8BB1146-E542-4D4E-B8E9-6919A11DDD48}" type="slidenum">
              <a:rPr lang="en-US" smtClean="0"/>
              <a:t>86</a:t>
            </a:fld>
            <a:endParaRPr lang="en-US"/>
          </a:p>
        </p:txBody>
      </p:sp>
      <p:grpSp>
        <p:nvGrpSpPr>
          <p:cNvPr id="115" name="组合 114"/>
          <p:cNvGrpSpPr/>
          <p:nvPr/>
        </p:nvGrpSpPr>
        <p:grpSpPr>
          <a:xfrm>
            <a:off x="1775520" y="4934457"/>
            <a:ext cx="8806927" cy="1579651"/>
            <a:chOff x="1362973" y="4598858"/>
            <a:chExt cx="9264544" cy="1977573"/>
          </a:xfrm>
        </p:grpSpPr>
        <p:sp>
          <p:nvSpPr>
            <p:cNvPr id="65" name="圆角矩形 64"/>
            <p:cNvSpPr/>
            <p:nvPr/>
          </p:nvSpPr>
          <p:spPr bwMode="auto">
            <a:xfrm>
              <a:off x="1362973" y="4598858"/>
              <a:ext cx="1522800" cy="448574"/>
            </a:xfrm>
            <a:prstGeom prst="roundRect">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04" tIns="45702" rIns="91404" bIns="45702" numCol="1" rtlCol="0" anchor="ctr" anchorCtr="0" compatLnSpc="1"/>
            <a:lstStyle/>
            <a:p>
              <a:pPr algn="ctr" defTabSz="913765" fontAlgn="base">
                <a:lnSpc>
                  <a:spcPct val="120000"/>
                </a:lnSpc>
                <a:spcBef>
                  <a:spcPct val="0"/>
                </a:spcBef>
                <a:spcAft>
                  <a:spcPct val="0"/>
                </a:spcAft>
                <a:buClr>
                  <a:srgbClr val="CC9900"/>
                </a:buClr>
              </a:pPr>
              <a:r>
                <a:rPr lang="en-US" altLang="zh-CN" sz="1400" dirty="0">
                  <a:solidFill>
                    <a:srgbClr val="000000"/>
                  </a:solidFill>
                  <a:latin typeface="微软雅黑 Light" panose="020B0502040204020203" pitchFamily="34" charset="-122"/>
                  <a:ea typeface="微软雅黑 Light" panose="020B0502040204020203" pitchFamily="34" charset="-122"/>
                  <a:cs typeface="+mn-ea"/>
                  <a:sym typeface="+mn-lt"/>
                </a:rPr>
                <a:t>Application</a:t>
              </a:r>
              <a:endParaRPr lang="zh-CN" altLang="en-US" sz="1400" dirty="0">
                <a:solidFill>
                  <a:srgbClr val="000000"/>
                </a:solidFill>
                <a:latin typeface="微软雅黑 Light" panose="020B0502040204020203" pitchFamily="34" charset="-122"/>
                <a:ea typeface="微软雅黑 Light" panose="020B0502040204020203" pitchFamily="34" charset="-122"/>
                <a:cs typeface="+mn-ea"/>
                <a:sym typeface="+mn-lt"/>
              </a:endParaRPr>
            </a:p>
          </p:txBody>
        </p:sp>
        <p:sp>
          <p:nvSpPr>
            <p:cNvPr id="66" name="矩形 65"/>
            <p:cNvSpPr/>
            <p:nvPr/>
          </p:nvSpPr>
          <p:spPr bwMode="auto">
            <a:xfrm>
              <a:off x="3708062" y="5942428"/>
              <a:ext cx="108000" cy="72000"/>
            </a:xfrm>
            <a:prstGeom prst="rect">
              <a:avLst/>
            </a:prstGeom>
            <a:solidFill>
              <a:srgbClr val="00B0F0"/>
            </a:solidFill>
            <a:ln w="9525" cap="flat" cmpd="sng" algn="ctr">
              <a:noFill/>
              <a:prstDash val="solid"/>
              <a:round/>
              <a:headEnd type="none" w="med" len="med"/>
              <a:tailEnd type="none" w="med" len="med"/>
            </a:ln>
            <a:effectLst/>
          </p:spPr>
          <p:txBody>
            <a:bodyPr vert="horz" wrap="square" lIns="91404" tIns="45702" rIns="91404" bIns="45702" numCol="1" rtlCol="0" anchor="t" anchorCtr="0" compatLnSpc="1"/>
            <a:lstStyle/>
            <a:p>
              <a:pPr defTabSz="913765" fontAlgn="base">
                <a:lnSpc>
                  <a:spcPct val="120000"/>
                </a:lnSpc>
                <a:spcBef>
                  <a:spcPct val="0"/>
                </a:spcBef>
                <a:spcAft>
                  <a:spcPct val="0"/>
                </a:spcAft>
                <a:buClr>
                  <a:srgbClr val="CC9900"/>
                </a:buClr>
                <a:buFont typeface="Wingdings" panose="05000000000000000000" pitchFamily="2" charset="2"/>
                <a:buChar char="n"/>
              </a:pPr>
              <a:endParaRPr lang="zh-CN" altLang="en-US" sz="1400">
                <a:solidFill>
                  <a:srgbClr val="000000"/>
                </a:solidFill>
                <a:latin typeface="微软雅黑 Light" panose="020B0502040204020203" pitchFamily="34" charset="-122"/>
                <a:ea typeface="微软雅黑 Light" panose="020B0502040204020203" pitchFamily="34" charset="-122"/>
                <a:cs typeface="+mn-ea"/>
                <a:sym typeface="+mn-lt"/>
              </a:endParaRPr>
            </a:p>
          </p:txBody>
        </p:sp>
        <p:sp>
          <p:nvSpPr>
            <p:cNvPr id="67" name="圆角矩形 66"/>
            <p:cNvSpPr/>
            <p:nvPr/>
          </p:nvSpPr>
          <p:spPr bwMode="auto">
            <a:xfrm>
              <a:off x="1362973" y="5444252"/>
              <a:ext cx="1522800" cy="629677"/>
            </a:xfrm>
            <a:prstGeom prst="roundRect">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04" tIns="45702" rIns="91404" bIns="45702" numCol="1" rtlCol="0" anchor="ctr" anchorCtr="0" compatLnSpc="1"/>
            <a:lstStyle/>
            <a:p>
              <a:pPr algn="ctr" defTabSz="913765" fontAlgn="base">
                <a:lnSpc>
                  <a:spcPct val="120000"/>
                </a:lnSpc>
                <a:spcBef>
                  <a:spcPct val="0"/>
                </a:spcBef>
                <a:spcAft>
                  <a:spcPct val="0"/>
                </a:spcAft>
                <a:buClr>
                  <a:srgbClr val="CC9900"/>
                </a:buClr>
              </a:pPr>
              <a:r>
                <a:rPr lang="en-US" altLang="zh-CN" sz="1400" dirty="0">
                  <a:solidFill>
                    <a:srgbClr val="000000"/>
                  </a:solidFill>
                  <a:latin typeface="微软雅黑 Light" panose="020B0502040204020203" pitchFamily="34" charset="-122"/>
                  <a:ea typeface="微软雅黑 Light" panose="020B0502040204020203" pitchFamily="34" charset="-122"/>
                  <a:cs typeface="+mn-ea"/>
                  <a:sym typeface="+mn-lt"/>
                </a:rPr>
                <a:t>TCP</a:t>
              </a:r>
            </a:p>
            <a:p>
              <a:pPr algn="ctr" defTabSz="913765" fontAlgn="base">
                <a:lnSpc>
                  <a:spcPct val="120000"/>
                </a:lnSpc>
                <a:spcBef>
                  <a:spcPct val="0"/>
                </a:spcBef>
                <a:spcAft>
                  <a:spcPct val="0"/>
                </a:spcAft>
                <a:buClr>
                  <a:srgbClr val="CC9900"/>
                </a:buClr>
              </a:pPr>
              <a:endParaRPr lang="zh-CN" altLang="en-US" sz="1400" dirty="0">
                <a:solidFill>
                  <a:srgbClr val="000000"/>
                </a:solidFill>
                <a:latin typeface="微软雅黑 Light" panose="020B0502040204020203" pitchFamily="34" charset="-122"/>
                <a:ea typeface="微软雅黑 Light" panose="020B0502040204020203" pitchFamily="34" charset="-122"/>
                <a:cs typeface="+mn-ea"/>
                <a:sym typeface="+mn-lt"/>
              </a:endParaRPr>
            </a:p>
          </p:txBody>
        </p:sp>
        <p:sp>
          <p:nvSpPr>
            <p:cNvPr id="68" name="矩形 67"/>
            <p:cNvSpPr/>
            <p:nvPr/>
          </p:nvSpPr>
          <p:spPr bwMode="auto">
            <a:xfrm>
              <a:off x="3427851" y="5942428"/>
              <a:ext cx="108000" cy="72000"/>
            </a:xfrm>
            <a:prstGeom prst="rect">
              <a:avLst/>
            </a:prstGeom>
            <a:solidFill>
              <a:srgbClr val="00B050"/>
            </a:solidFill>
            <a:ln w="9525" cap="flat" cmpd="sng" algn="ctr">
              <a:noFill/>
              <a:prstDash val="solid"/>
              <a:round/>
              <a:headEnd type="none" w="med" len="med"/>
              <a:tailEnd type="none" w="med" len="med"/>
            </a:ln>
            <a:effectLst/>
          </p:spPr>
          <p:txBody>
            <a:bodyPr vert="horz" wrap="square" lIns="91404" tIns="45702" rIns="91404" bIns="45702" numCol="1" rtlCol="0" anchor="t" anchorCtr="0" compatLnSpc="1"/>
            <a:lstStyle/>
            <a:p>
              <a:pPr defTabSz="913765" fontAlgn="base">
                <a:lnSpc>
                  <a:spcPct val="120000"/>
                </a:lnSpc>
                <a:spcBef>
                  <a:spcPct val="0"/>
                </a:spcBef>
                <a:spcAft>
                  <a:spcPct val="0"/>
                </a:spcAft>
                <a:buClr>
                  <a:srgbClr val="CC9900"/>
                </a:buClr>
                <a:buFont typeface="Wingdings" panose="05000000000000000000" pitchFamily="2" charset="2"/>
                <a:buChar char="n"/>
              </a:pPr>
              <a:endParaRPr lang="zh-CN" altLang="en-US" sz="1400">
                <a:solidFill>
                  <a:srgbClr val="000000"/>
                </a:solidFill>
                <a:latin typeface="微软雅黑 Light" panose="020B0502040204020203" pitchFamily="34" charset="-122"/>
                <a:ea typeface="微软雅黑 Light" panose="020B0502040204020203" pitchFamily="34" charset="-122"/>
                <a:cs typeface="+mn-ea"/>
                <a:sym typeface="+mn-lt"/>
              </a:endParaRPr>
            </a:p>
          </p:txBody>
        </p:sp>
        <p:sp>
          <p:nvSpPr>
            <p:cNvPr id="69" name="矩形 68"/>
            <p:cNvSpPr/>
            <p:nvPr/>
          </p:nvSpPr>
          <p:spPr bwMode="auto">
            <a:xfrm>
              <a:off x="3101630" y="5940271"/>
              <a:ext cx="108000" cy="72000"/>
            </a:xfrm>
            <a:prstGeom prst="rect">
              <a:avLst/>
            </a:prstGeom>
            <a:solidFill>
              <a:srgbClr val="FF0000"/>
            </a:solidFill>
            <a:ln w="9525" cap="flat" cmpd="sng" algn="ctr">
              <a:noFill/>
              <a:prstDash val="solid"/>
              <a:round/>
              <a:headEnd type="none" w="med" len="med"/>
              <a:tailEnd type="none" w="med" len="med"/>
            </a:ln>
            <a:effectLst/>
          </p:spPr>
          <p:txBody>
            <a:bodyPr vert="horz" wrap="square" lIns="91404" tIns="45702" rIns="91404" bIns="45702" numCol="1" rtlCol="0" anchor="t" anchorCtr="0" compatLnSpc="1"/>
            <a:lstStyle/>
            <a:p>
              <a:pPr defTabSz="913765" fontAlgn="base">
                <a:lnSpc>
                  <a:spcPct val="120000"/>
                </a:lnSpc>
                <a:spcBef>
                  <a:spcPct val="0"/>
                </a:spcBef>
                <a:spcAft>
                  <a:spcPct val="0"/>
                </a:spcAft>
                <a:buClr>
                  <a:srgbClr val="CC9900"/>
                </a:buClr>
                <a:buFont typeface="Wingdings" panose="05000000000000000000" pitchFamily="2" charset="2"/>
                <a:buChar char="n"/>
              </a:pPr>
              <a:endParaRPr lang="zh-CN" altLang="en-US" sz="1400">
                <a:solidFill>
                  <a:srgbClr val="000000"/>
                </a:solidFill>
                <a:latin typeface="微软雅黑 Light" panose="020B0502040204020203" pitchFamily="34" charset="-122"/>
                <a:ea typeface="微软雅黑 Light" panose="020B0502040204020203" pitchFamily="34" charset="-122"/>
                <a:cs typeface="+mn-ea"/>
                <a:sym typeface="+mn-lt"/>
              </a:endParaRPr>
            </a:p>
          </p:txBody>
        </p:sp>
        <p:sp>
          <p:nvSpPr>
            <p:cNvPr id="70" name="圆角矩形 69"/>
            <p:cNvSpPr/>
            <p:nvPr/>
          </p:nvSpPr>
          <p:spPr bwMode="auto">
            <a:xfrm>
              <a:off x="4094669" y="4598858"/>
              <a:ext cx="1522800" cy="448574"/>
            </a:xfrm>
            <a:prstGeom prst="roundRect">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04" tIns="45702" rIns="91404" bIns="45702" numCol="1" rtlCol="0" anchor="ctr" anchorCtr="0" compatLnSpc="1"/>
            <a:lstStyle/>
            <a:p>
              <a:pPr algn="ctr" defTabSz="913765" fontAlgn="base">
                <a:lnSpc>
                  <a:spcPct val="120000"/>
                </a:lnSpc>
                <a:spcBef>
                  <a:spcPct val="0"/>
                </a:spcBef>
                <a:spcAft>
                  <a:spcPct val="0"/>
                </a:spcAft>
                <a:buClr>
                  <a:srgbClr val="CC9900"/>
                </a:buClr>
              </a:pPr>
              <a:r>
                <a:rPr lang="en-US" altLang="zh-CN" sz="1400" dirty="0">
                  <a:solidFill>
                    <a:srgbClr val="000000"/>
                  </a:solidFill>
                  <a:latin typeface="微软雅黑 Light" panose="020B0502040204020203" pitchFamily="34" charset="-122"/>
                  <a:ea typeface="微软雅黑 Light" panose="020B0502040204020203" pitchFamily="34" charset="-122"/>
                  <a:cs typeface="+mn-ea"/>
                  <a:sym typeface="+mn-lt"/>
                </a:rPr>
                <a:t>Application</a:t>
              </a:r>
              <a:endParaRPr lang="zh-CN" altLang="en-US" sz="1400" dirty="0">
                <a:solidFill>
                  <a:srgbClr val="000000"/>
                </a:solidFill>
                <a:latin typeface="微软雅黑 Light" panose="020B0502040204020203" pitchFamily="34" charset="-122"/>
                <a:ea typeface="微软雅黑 Light" panose="020B0502040204020203" pitchFamily="34" charset="-122"/>
                <a:cs typeface="+mn-ea"/>
                <a:sym typeface="+mn-lt"/>
              </a:endParaRPr>
            </a:p>
          </p:txBody>
        </p:sp>
        <p:sp>
          <p:nvSpPr>
            <p:cNvPr id="71" name="矩形 70"/>
            <p:cNvSpPr/>
            <p:nvPr/>
          </p:nvSpPr>
          <p:spPr bwMode="auto">
            <a:xfrm>
              <a:off x="5287989" y="5927332"/>
              <a:ext cx="108000" cy="72000"/>
            </a:xfrm>
            <a:prstGeom prst="rect">
              <a:avLst/>
            </a:prstGeom>
            <a:solidFill>
              <a:srgbClr val="00B0F0"/>
            </a:solidFill>
            <a:ln w="9525" cap="flat" cmpd="sng" algn="ctr">
              <a:noFill/>
              <a:prstDash val="solid"/>
              <a:round/>
              <a:headEnd type="none" w="med" len="med"/>
              <a:tailEnd type="none" w="med" len="med"/>
            </a:ln>
            <a:effectLst/>
          </p:spPr>
          <p:txBody>
            <a:bodyPr vert="horz" wrap="square" lIns="91404" tIns="45702" rIns="91404" bIns="45702" numCol="1" rtlCol="0" anchor="t" anchorCtr="0" compatLnSpc="1"/>
            <a:lstStyle/>
            <a:p>
              <a:pPr defTabSz="913765" fontAlgn="base">
                <a:lnSpc>
                  <a:spcPct val="120000"/>
                </a:lnSpc>
                <a:spcBef>
                  <a:spcPct val="0"/>
                </a:spcBef>
                <a:spcAft>
                  <a:spcPct val="0"/>
                </a:spcAft>
                <a:buClr>
                  <a:srgbClr val="CC9900"/>
                </a:buClr>
                <a:buFont typeface="Wingdings" panose="05000000000000000000" pitchFamily="2" charset="2"/>
                <a:buChar char="n"/>
              </a:pPr>
              <a:endParaRPr lang="zh-CN" altLang="en-US" sz="1400">
                <a:solidFill>
                  <a:srgbClr val="000000"/>
                </a:solidFill>
                <a:latin typeface="微软雅黑 Light" panose="020B0502040204020203" pitchFamily="34" charset="-122"/>
                <a:ea typeface="微软雅黑 Light" panose="020B0502040204020203" pitchFamily="34" charset="-122"/>
                <a:cs typeface="+mn-ea"/>
                <a:sym typeface="+mn-lt"/>
              </a:endParaRPr>
            </a:p>
          </p:txBody>
        </p:sp>
        <p:sp>
          <p:nvSpPr>
            <p:cNvPr id="72" name="圆角矩形 71"/>
            <p:cNvSpPr/>
            <p:nvPr/>
          </p:nvSpPr>
          <p:spPr bwMode="auto">
            <a:xfrm>
              <a:off x="4094669" y="5444252"/>
              <a:ext cx="1522800" cy="629677"/>
            </a:xfrm>
            <a:prstGeom prst="roundRect">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04" tIns="45702" rIns="91404" bIns="45702" numCol="1" rtlCol="0" anchor="ctr" anchorCtr="0" compatLnSpc="1"/>
            <a:lstStyle/>
            <a:p>
              <a:pPr algn="ctr" defTabSz="913765" fontAlgn="base">
                <a:lnSpc>
                  <a:spcPct val="120000"/>
                </a:lnSpc>
                <a:spcBef>
                  <a:spcPct val="0"/>
                </a:spcBef>
                <a:spcAft>
                  <a:spcPct val="0"/>
                </a:spcAft>
                <a:buClr>
                  <a:srgbClr val="CC9900"/>
                </a:buClr>
              </a:pPr>
              <a:r>
                <a:rPr lang="en-US" altLang="zh-CN" sz="1400" dirty="0">
                  <a:solidFill>
                    <a:srgbClr val="000000"/>
                  </a:solidFill>
                  <a:latin typeface="微软雅黑 Light" panose="020B0502040204020203" pitchFamily="34" charset="-122"/>
                  <a:ea typeface="微软雅黑 Light" panose="020B0502040204020203" pitchFamily="34" charset="-122"/>
                  <a:cs typeface="+mn-ea"/>
                  <a:sym typeface="+mn-lt"/>
                </a:rPr>
                <a:t>TCP</a:t>
              </a:r>
            </a:p>
            <a:p>
              <a:pPr algn="ctr" defTabSz="913765" fontAlgn="base">
                <a:lnSpc>
                  <a:spcPct val="120000"/>
                </a:lnSpc>
                <a:spcBef>
                  <a:spcPct val="0"/>
                </a:spcBef>
                <a:spcAft>
                  <a:spcPct val="0"/>
                </a:spcAft>
                <a:buClr>
                  <a:srgbClr val="CC9900"/>
                </a:buClr>
              </a:pPr>
              <a:endParaRPr lang="zh-CN" altLang="en-US" sz="1400" dirty="0">
                <a:solidFill>
                  <a:srgbClr val="000000"/>
                </a:solidFill>
                <a:latin typeface="微软雅黑 Light" panose="020B0502040204020203" pitchFamily="34" charset="-122"/>
                <a:ea typeface="微软雅黑 Light" panose="020B0502040204020203" pitchFamily="34" charset="-122"/>
                <a:cs typeface="+mn-ea"/>
                <a:sym typeface="+mn-lt"/>
              </a:endParaRPr>
            </a:p>
          </p:txBody>
        </p:sp>
        <p:sp>
          <p:nvSpPr>
            <p:cNvPr id="73" name="矩形 72"/>
            <p:cNvSpPr/>
            <p:nvPr/>
          </p:nvSpPr>
          <p:spPr bwMode="auto">
            <a:xfrm>
              <a:off x="5135590" y="5927332"/>
              <a:ext cx="108000" cy="72000"/>
            </a:xfrm>
            <a:prstGeom prst="rect">
              <a:avLst/>
            </a:prstGeom>
            <a:solidFill>
              <a:srgbClr val="FF0000"/>
            </a:solidFill>
            <a:ln w="9525" cap="flat" cmpd="sng" algn="ctr">
              <a:noFill/>
              <a:prstDash val="solid"/>
              <a:round/>
              <a:headEnd type="none" w="med" len="med"/>
              <a:tailEnd type="none" w="med" len="med"/>
            </a:ln>
            <a:effectLst/>
          </p:spPr>
          <p:txBody>
            <a:bodyPr vert="horz" wrap="square" lIns="91404" tIns="45702" rIns="91404" bIns="45702" numCol="1" rtlCol="0" anchor="t" anchorCtr="0" compatLnSpc="1"/>
            <a:lstStyle/>
            <a:p>
              <a:pPr defTabSz="913765" fontAlgn="base">
                <a:lnSpc>
                  <a:spcPct val="120000"/>
                </a:lnSpc>
                <a:spcBef>
                  <a:spcPct val="0"/>
                </a:spcBef>
                <a:spcAft>
                  <a:spcPct val="0"/>
                </a:spcAft>
                <a:buClr>
                  <a:srgbClr val="CC9900"/>
                </a:buClr>
                <a:buFont typeface="Wingdings" panose="05000000000000000000" pitchFamily="2" charset="2"/>
                <a:buChar char="n"/>
              </a:pPr>
              <a:endParaRPr lang="zh-CN" altLang="en-US" sz="1400">
                <a:solidFill>
                  <a:srgbClr val="000000"/>
                </a:solidFill>
                <a:latin typeface="微软雅黑 Light" panose="020B0502040204020203" pitchFamily="34" charset="-122"/>
                <a:ea typeface="微软雅黑 Light" panose="020B0502040204020203" pitchFamily="34" charset="-122"/>
                <a:cs typeface="+mn-ea"/>
                <a:sym typeface="+mn-lt"/>
              </a:endParaRPr>
            </a:p>
          </p:txBody>
        </p:sp>
        <p:sp>
          <p:nvSpPr>
            <p:cNvPr id="74" name="矩形 73"/>
            <p:cNvSpPr/>
            <p:nvPr/>
          </p:nvSpPr>
          <p:spPr bwMode="auto">
            <a:xfrm>
              <a:off x="4994692" y="5927332"/>
              <a:ext cx="108000" cy="72000"/>
            </a:xfrm>
            <a:prstGeom prst="rect">
              <a:avLst/>
            </a:prstGeom>
            <a:solidFill>
              <a:srgbClr val="00B050"/>
            </a:solidFill>
            <a:ln w="9525" cap="flat" cmpd="sng" algn="ctr">
              <a:noFill/>
              <a:prstDash val="solid"/>
              <a:round/>
              <a:headEnd type="none" w="med" len="med"/>
              <a:tailEnd type="none" w="med" len="med"/>
            </a:ln>
            <a:effectLst/>
          </p:spPr>
          <p:txBody>
            <a:bodyPr vert="horz" wrap="square" lIns="91404" tIns="45702" rIns="91404" bIns="45702" numCol="1" rtlCol="0" anchor="t" anchorCtr="0" compatLnSpc="1"/>
            <a:lstStyle/>
            <a:p>
              <a:pPr defTabSz="913765" fontAlgn="base">
                <a:lnSpc>
                  <a:spcPct val="120000"/>
                </a:lnSpc>
                <a:spcBef>
                  <a:spcPct val="0"/>
                </a:spcBef>
                <a:spcAft>
                  <a:spcPct val="0"/>
                </a:spcAft>
                <a:buClr>
                  <a:srgbClr val="CC9900"/>
                </a:buClr>
                <a:buFont typeface="Wingdings" panose="05000000000000000000" pitchFamily="2" charset="2"/>
                <a:buChar char="n"/>
              </a:pPr>
              <a:endParaRPr lang="zh-CN" altLang="en-US" sz="1400">
                <a:solidFill>
                  <a:srgbClr val="000000"/>
                </a:solidFill>
                <a:latin typeface="微软雅黑 Light" panose="020B0502040204020203" pitchFamily="34" charset="-122"/>
                <a:ea typeface="微软雅黑 Light" panose="020B0502040204020203" pitchFamily="34" charset="-122"/>
                <a:cs typeface="+mn-ea"/>
                <a:sym typeface="+mn-lt"/>
              </a:endParaRPr>
            </a:p>
          </p:txBody>
        </p:sp>
        <p:sp>
          <p:nvSpPr>
            <p:cNvPr id="75" name="矩形 74"/>
            <p:cNvSpPr/>
            <p:nvPr/>
          </p:nvSpPr>
          <p:spPr bwMode="auto">
            <a:xfrm>
              <a:off x="4675516" y="5927332"/>
              <a:ext cx="108000" cy="72000"/>
            </a:xfrm>
            <a:prstGeom prst="rect">
              <a:avLst/>
            </a:prstGeom>
            <a:solidFill>
              <a:srgbClr val="00B0F0"/>
            </a:solidFill>
            <a:ln w="9525" cap="flat" cmpd="sng" algn="ctr">
              <a:noFill/>
              <a:prstDash val="solid"/>
              <a:round/>
              <a:headEnd type="none" w="med" len="med"/>
              <a:tailEnd type="none" w="med" len="med"/>
            </a:ln>
            <a:effectLst/>
          </p:spPr>
          <p:txBody>
            <a:bodyPr vert="horz" wrap="square" lIns="91404" tIns="45702" rIns="91404" bIns="45702" numCol="1" rtlCol="0" anchor="t" anchorCtr="0" compatLnSpc="1"/>
            <a:lstStyle/>
            <a:p>
              <a:pPr defTabSz="913765" fontAlgn="base">
                <a:lnSpc>
                  <a:spcPct val="120000"/>
                </a:lnSpc>
                <a:spcBef>
                  <a:spcPct val="0"/>
                </a:spcBef>
                <a:spcAft>
                  <a:spcPct val="0"/>
                </a:spcAft>
                <a:buClr>
                  <a:srgbClr val="CC9900"/>
                </a:buClr>
                <a:buFont typeface="Wingdings" panose="05000000000000000000" pitchFamily="2" charset="2"/>
                <a:buChar char="n"/>
              </a:pPr>
              <a:endParaRPr lang="zh-CN" altLang="en-US" sz="1400">
                <a:solidFill>
                  <a:srgbClr val="000000"/>
                </a:solidFill>
                <a:latin typeface="微软雅黑 Light" panose="020B0502040204020203" pitchFamily="34" charset="-122"/>
                <a:ea typeface="微软雅黑 Light" panose="020B0502040204020203" pitchFamily="34" charset="-122"/>
                <a:cs typeface="+mn-ea"/>
                <a:sym typeface="+mn-lt"/>
              </a:endParaRPr>
            </a:p>
          </p:txBody>
        </p:sp>
        <p:sp>
          <p:nvSpPr>
            <p:cNvPr id="76" name="矩形 75"/>
            <p:cNvSpPr/>
            <p:nvPr/>
          </p:nvSpPr>
          <p:spPr bwMode="auto">
            <a:xfrm>
              <a:off x="4500113" y="5927332"/>
              <a:ext cx="108000" cy="72000"/>
            </a:xfrm>
            <a:prstGeom prst="rect">
              <a:avLst/>
            </a:prstGeom>
            <a:solidFill>
              <a:srgbClr val="FF0000"/>
            </a:solidFill>
            <a:ln w="9525" cap="flat" cmpd="sng" algn="ctr">
              <a:noFill/>
              <a:prstDash val="solid"/>
              <a:round/>
              <a:headEnd type="none" w="med" len="med"/>
              <a:tailEnd type="none" w="med" len="med"/>
            </a:ln>
            <a:effectLst/>
          </p:spPr>
          <p:txBody>
            <a:bodyPr vert="horz" wrap="square" lIns="91404" tIns="45702" rIns="91404" bIns="45702" numCol="1" rtlCol="0" anchor="t" anchorCtr="0" compatLnSpc="1"/>
            <a:lstStyle/>
            <a:p>
              <a:pPr defTabSz="913765" fontAlgn="base">
                <a:lnSpc>
                  <a:spcPct val="120000"/>
                </a:lnSpc>
                <a:spcBef>
                  <a:spcPct val="0"/>
                </a:spcBef>
                <a:spcAft>
                  <a:spcPct val="0"/>
                </a:spcAft>
                <a:buClr>
                  <a:srgbClr val="CC9900"/>
                </a:buClr>
                <a:buFont typeface="Wingdings" panose="05000000000000000000" pitchFamily="2" charset="2"/>
                <a:buChar char="n"/>
              </a:pPr>
              <a:endParaRPr lang="zh-CN" altLang="en-US" sz="1400">
                <a:solidFill>
                  <a:srgbClr val="000000"/>
                </a:solidFill>
                <a:latin typeface="微软雅黑 Light" panose="020B0502040204020203" pitchFamily="34" charset="-122"/>
                <a:ea typeface="微软雅黑 Light" panose="020B0502040204020203" pitchFamily="34" charset="-122"/>
                <a:cs typeface="+mn-ea"/>
                <a:sym typeface="+mn-lt"/>
              </a:endParaRPr>
            </a:p>
          </p:txBody>
        </p:sp>
        <p:sp>
          <p:nvSpPr>
            <p:cNvPr id="77" name="矩形 76"/>
            <p:cNvSpPr/>
            <p:nvPr/>
          </p:nvSpPr>
          <p:spPr bwMode="auto">
            <a:xfrm>
              <a:off x="4359215" y="5927332"/>
              <a:ext cx="108000" cy="72000"/>
            </a:xfrm>
            <a:prstGeom prst="rect">
              <a:avLst/>
            </a:prstGeom>
            <a:solidFill>
              <a:srgbClr val="00B050"/>
            </a:solidFill>
            <a:ln w="9525" cap="flat" cmpd="sng" algn="ctr">
              <a:noFill/>
              <a:prstDash val="solid"/>
              <a:round/>
              <a:headEnd type="none" w="med" len="med"/>
              <a:tailEnd type="none" w="med" len="med"/>
            </a:ln>
            <a:effectLst/>
          </p:spPr>
          <p:txBody>
            <a:bodyPr vert="horz" wrap="square" lIns="91404" tIns="45702" rIns="91404" bIns="45702" numCol="1" rtlCol="0" anchor="t" anchorCtr="0" compatLnSpc="1"/>
            <a:lstStyle/>
            <a:p>
              <a:pPr defTabSz="913765" fontAlgn="base">
                <a:lnSpc>
                  <a:spcPct val="120000"/>
                </a:lnSpc>
                <a:spcBef>
                  <a:spcPct val="0"/>
                </a:spcBef>
                <a:spcAft>
                  <a:spcPct val="0"/>
                </a:spcAft>
                <a:buClr>
                  <a:srgbClr val="CC9900"/>
                </a:buClr>
                <a:buFont typeface="Wingdings" panose="05000000000000000000" pitchFamily="2" charset="2"/>
                <a:buChar char="n"/>
              </a:pPr>
              <a:endParaRPr lang="zh-CN" altLang="en-US" sz="1400">
                <a:solidFill>
                  <a:srgbClr val="000000"/>
                </a:solidFill>
                <a:latin typeface="微软雅黑 Light" panose="020B0502040204020203" pitchFamily="34" charset="-122"/>
                <a:ea typeface="微软雅黑 Light" panose="020B0502040204020203" pitchFamily="34" charset="-122"/>
                <a:cs typeface="+mn-ea"/>
                <a:sym typeface="+mn-lt"/>
              </a:endParaRPr>
            </a:p>
          </p:txBody>
        </p:sp>
        <p:sp>
          <p:nvSpPr>
            <p:cNvPr id="78" name="矩形 77"/>
            <p:cNvSpPr/>
            <p:nvPr/>
          </p:nvSpPr>
          <p:spPr bwMode="auto">
            <a:xfrm>
              <a:off x="4850919" y="5931645"/>
              <a:ext cx="108000" cy="72000"/>
            </a:xfrm>
            <a:prstGeom prst="rect">
              <a:avLst/>
            </a:prstGeom>
            <a:solidFill>
              <a:srgbClr val="FF0000"/>
            </a:solidFill>
            <a:ln w="9525" cap="flat" cmpd="sng" algn="ctr">
              <a:noFill/>
              <a:prstDash val="solid"/>
              <a:round/>
              <a:headEnd type="none" w="med" len="med"/>
              <a:tailEnd type="none" w="med" len="med"/>
            </a:ln>
            <a:effectLst/>
          </p:spPr>
          <p:txBody>
            <a:bodyPr vert="horz" wrap="square" lIns="91404" tIns="45702" rIns="91404" bIns="45702" numCol="1" rtlCol="0" anchor="t" anchorCtr="0" compatLnSpc="1"/>
            <a:lstStyle/>
            <a:p>
              <a:pPr defTabSz="913765" fontAlgn="base">
                <a:lnSpc>
                  <a:spcPct val="120000"/>
                </a:lnSpc>
                <a:spcBef>
                  <a:spcPct val="0"/>
                </a:spcBef>
                <a:spcAft>
                  <a:spcPct val="0"/>
                </a:spcAft>
                <a:buClr>
                  <a:srgbClr val="CC9900"/>
                </a:buClr>
                <a:buFont typeface="Wingdings" panose="05000000000000000000" pitchFamily="2" charset="2"/>
                <a:buChar char="n"/>
              </a:pPr>
              <a:endParaRPr lang="zh-CN" altLang="en-US" sz="1400">
                <a:solidFill>
                  <a:srgbClr val="000000"/>
                </a:solidFill>
                <a:latin typeface="微软雅黑 Light" panose="020B0502040204020203" pitchFamily="34" charset="-122"/>
                <a:ea typeface="微软雅黑 Light" panose="020B0502040204020203" pitchFamily="34" charset="-122"/>
                <a:cs typeface="+mn-ea"/>
                <a:sym typeface="+mn-lt"/>
              </a:endParaRPr>
            </a:p>
          </p:txBody>
        </p:sp>
        <p:cxnSp>
          <p:nvCxnSpPr>
            <p:cNvPr id="79" name="直接箭头连接符 78"/>
            <p:cNvCxnSpPr>
              <a:stCxn id="67" idx="3"/>
              <a:endCxn id="72" idx="1"/>
            </p:cNvCxnSpPr>
            <p:nvPr/>
          </p:nvCxnSpPr>
          <p:spPr bwMode="auto">
            <a:xfrm>
              <a:off x="2885773" y="5759091"/>
              <a:ext cx="1208896" cy="0"/>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80" name="图片 79"/>
            <p:cNvPicPr>
              <a:picLocks noChangeAspect="1"/>
            </p:cNvPicPr>
            <p:nvPr/>
          </p:nvPicPr>
          <p:blipFill>
            <a:blip r:embed="rId2"/>
            <a:stretch>
              <a:fillRect/>
            </a:stretch>
          </p:blipFill>
          <p:spPr>
            <a:xfrm>
              <a:off x="5284173" y="5874299"/>
              <a:ext cx="125229" cy="203944"/>
            </a:xfrm>
            <a:prstGeom prst="rect">
              <a:avLst/>
            </a:prstGeom>
          </p:spPr>
        </p:pic>
        <p:sp>
          <p:nvSpPr>
            <p:cNvPr id="81" name="矩形 80"/>
            <p:cNvSpPr/>
            <p:nvPr/>
          </p:nvSpPr>
          <p:spPr bwMode="auto">
            <a:xfrm>
              <a:off x="2638746" y="5914392"/>
              <a:ext cx="108000" cy="72000"/>
            </a:xfrm>
            <a:prstGeom prst="rect">
              <a:avLst/>
            </a:prstGeom>
            <a:solidFill>
              <a:srgbClr val="00B050"/>
            </a:solidFill>
            <a:ln w="9525" cap="flat" cmpd="sng" algn="ctr">
              <a:noFill/>
              <a:prstDash val="solid"/>
              <a:round/>
              <a:headEnd type="none" w="med" len="med"/>
              <a:tailEnd type="none" w="med" len="med"/>
            </a:ln>
            <a:effectLst/>
          </p:spPr>
          <p:txBody>
            <a:bodyPr vert="horz" wrap="square" lIns="91404" tIns="45702" rIns="91404" bIns="45702" numCol="1" rtlCol="0" anchor="t" anchorCtr="0" compatLnSpc="1"/>
            <a:lstStyle/>
            <a:p>
              <a:pPr defTabSz="913765" fontAlgn="base">
                <a:lnSpc>
                  <a:spcPct val="120000"/>
                </a:lnSpc>
                <a:spcBef>
                  <a:spcPct val="0"/>
                </a:spcBef>
                <a:spcAft>
                  <a:spcPct val="0"/>
                </a:spcAft>
                <a:buClr>
                  <a:srgbClr val="CC9900"/>
                </a:buClr>
                <a:buFont typeface="Wingdings" panose="05000000000000000000" pitchFamily="2" charset="2"/>
                <a:buChar char="n"/>
              </a:pPr>
              <a:endParaRPr lang="zh-CN" altLang="en-US" sz="1400">
                <a:solidFill>
                  <a:srgbClr val="000000"/>
                </a:solidFill>
                <a:latin typeface="微软雅黑 Light" panose="020B0502040204020203" pitchFamily="34" charset="-122"/>
                <a:ea typeface="微软雅黑 Light" panose="020B0502040204020203" pitchFamily="34" charset="-122"/>
                <a:cs typeface="+mn-ea"/>
                <a:sym typeface="+mn-lt"/>
              </a:endParaRPr>
            </a:p>
          </p:txBody>
        </p:sp>
        <p:sp>
          <p:nvSpPr>
            <p:cNvPr id="82" name="矩形 81"/>
            <p:cNvSpPr/>
            <p:nvPr/>
          </p:nvSpPr>
          <p:spPr bwMode="auto">
            <a:xfrm>
              <a:off x="2286649" y="5914392"/>
              <a:ext cx="108000" cy="72000"/>
            </a:xfrm>
            <a:prstGeom prst="rect">
              <a:avLst/>
            </a:prstGeom>
            <a:solidFill>
              <a:srgbClr val="00B0F0"/>
            </a:solidFill>
            <a:ln w="9525" cap="flat" cmpd="sng" algn="ctr">
              <a:noFill/>
              <a:prstDash val="solid"/>
              <a:round/>
              <a:headEnd type="none" w="med" len="med"/>
              <a:tailEnd type="none" w="med" len="med"/>
            </a:ln>
            <a:effectLst/>
          </p:spPr>
          <p:txBody>
            <a:bodyPr vert="horz" wrap="square" lIns="91404" tIns="45702" rIns="91404" bIns="45702" numCol="1" rtlCol="0" anchor="t" anchorCtr="0" compatLnSpc="1"/>
            <a:lstStyle/>
            <a:p>
              <a:pPr defTabSz="913765" fontAlgn="base">
                <a:lnSpc>
                  <a:spcPct val="120000"/>
                </a:lnSpc>
                <a:spcBef>
                  <a:spcPct val="0"/>
                </a:spcBef>
                <a:spcAft>
                  <a:spcPct val="0"/>
                </a:spcAft>
                <a:buClr>
                  <a:srgbClr val="CC9900"/>
                </a:buClr>
                <a:buFont typeface="Wingdings" panose="05000000000000000000" pitchFamily="2" charset="2"/>
                <a:buChar char="n"/>
              </a:pPr>
              <a:endParaRPr lang="zh-CN" altLang="en-US" sz="1400">
                <a:solidFill>
                  <a:srgbClr val="000000"/>
                </a:solidFill>
                <a:latin typeface="微软雅黑 Light" panose="020B0502040204020203" pitchFamily="34" charset="-122"/>
                <a:ea typeface="微软雅黑 Light" panose="020B0502040204020203" pitchFamily="34" charset="-122"/>
                <a:cs typeface="+mn-ea"/>
                <a:sym typeface="+mn-lt"/>
              </a:endParaRPr>
            </a:p>
          </p:txBody>
        </p:sp>
        <p:sp>
          <p:nvSpPr>
            <p:cNvPr id="83" name="矩形 82"/>
            <p:cNvSpPr/>
            <p:nvPr/>
          </p:nvSpPr>
          <p:spPr bwMode="auto">
            <a:xfrm>
              <a:off x="2077394" y="5914392"/>
              <a:ext cx="108000" cy="72000"/>
            </a:xfrm>
            <a:prstGeom prst="rect">
              <a:avLst/>
            </a:prstGeom>
            <a:solidFill>
              <a:srgbClr val="FF0000"/>
            </a:solidFill>
            <a:ln w="9525" cap="flat" cmpd="sng" algn="ctr">
              <a:noFill/>
              <a:prstDash val="solid"/>
              <a:round/>
              <a:headEnd type="none" w="med" len="med"/>
              <a:tailEnd type="none" w="med" len="med"/>
            </a:ln>
            <a:effectLst/>
          </p:spPr>
          <p:txBody>
            <a:bodyPr vert="horz" wrap="square" lIns="91404" tIns="45702" rIns="91404" bIns="45702" numCol="1" rtlCol="0" anchor="t" anchorCtr="0" compatLnSpc="1"/>
            <a:lstStyle/>
            <a:p>
              <a:pPr defTabSz="913765" fontAlgn="base">
                <a:lnSpc>
                  <a:spcPct val="120000"/>
                </a:lnSpc>
                <a:spcBef>
                  <a:spcPct val="0"/>
                </a:spcBef>
                <a:spcAft>
                  <a:spcPct val="0"/>
                </a:spcAft>
                <a:buClr>
                  <a:srgbClr val="CC9900"/>
                </a:buClr>
                <a:buFont typeface="Wingdings" panose="05000000000000000000" pitchFamily="2" charset="2"/>
                <a:buChar char="n"/>
              </a:pPr>
              <a:endParaRPr lang="zh-CN" altLang="en-US" sz="1400">
                <a:solidFill>
                  <a:srgbClr val="000000"/>
                </a:solidFill>
                <a:latin typeface="微软雅黑 Light" panose="020B0502040204020203" pitchFamily="34" charset="-122"/>
                <a:ea typeface="微软雅黑 Light" panose="020B0502040204020203" pitchFamily="34" charset="-122"/>
                <a:cs typeface="+mn-ea"/>
                <a:sym typeface="+mn-lt"/>
              </a:endParaRPr>
            </a:p>
          </p:txBody>
        </p:sp>
        <p:sp>
          <p:nvSpPr>
            <p:cNvPr id="84" name="矩形 83"/>
            <p:cNvSpPr/>
            <p:nvPr/>
          </p:nvSpPr>
          <p:spPr bwMode="auto">
            <a:xfrm>
              <a:off x="1882793" y="5914392"/>
              <a:ext cx="108000" cy="72000"/>
            </a:xfrm>
            <a:prstGeom prst="rect">
              <a:avLst/>
            </a:prstGeom>
            <a:solidFill>
              <a:srgbClr val="00B050"/>
            </a:solidFill>
            <a:ln w="9525" cap="flat" cmpd="sng" algn="ctr">
              <a:noFill/>
              <a:prstDash val="solid"/>
              <a:round/>
              <a:headEnd type="none" w="med" len="med"/>
              <a:tailEnd type="none" w="med" len="med"/>
            </a:ln>
            <a:effectLst/>
          </p:spPr>
          <p:txBody>
            <a:bodyPr vert="horz" wrap="square" lIns="91404" tIns="45702" rIns="91404" bIns="45702" numCol="1" rtlCol="0" anchor="t" anchorCtr="0" compatLnSpc="1"/>
            <a:lstStyle/>
            <a:p>
              <a:pPr defTabSz="913765" fontAlgn="base">
                <a:lnSpc>
                  <a:spcPct val="120000"/>
                </a:lnSpc>
                <a:spcBef>
                  <a:spcPct val="0"/>
                </a:spcBef>
                <a:spcAft>
                  <a:spcPct val="0"/>
                </a:spcAft>
                <a:buClr>
                  <a:srgbClr val="CC9900"/>
                </a:buClr>
                <a:buFont typeface="Wingdings" panose="05000000000000000000" pitchFamily="2" charset="2"/>
                <a:buChar char="n"/>
              </a:pPr>
              <a:endParaRPr lang="zh-CN" altLang="en-US" sz="1400">
                <a:solidFill>
                  <a:srgbClr val="000000"/>
                </a:solidFill>
                <a:latin typeface="微软雅黑 Light" panose="020B0502040204020203" pitchFamily="34" charset="-122"/>
                <a:ea typeface="微软雅黑 Light" panose="020B0502040204020203" pitchFamily="34" charset="-122"/>
                <a:cs typeface="+mn-ea"/>
                <a:sym typeface="+mn-lt"/>
              </a:endParaRPr>
            </a:p>
          </p:txBody>
        </p:sp>
        <p:sp>
          <p:nvSpPr>
            <p:cNvPr id="85" name="矩形 84"/>
            <p:cNvSpPr/>
            <p:nvPr/>
          </p:nvSpPr>
          <p:spPr bwMode="auto">
            <a:xfrm>
              <a:off x="2462052" y="5918705"/>
              <a:ext cx="108000" cy="72000"/>
            </a:xfrm>
            <a:prstGeom prst="rect">
              <a:avLst/>
            </a:prstGeom>
            <a:solidFill>
              <a:srgbClr val="FF0000"/>
            </a:solidFill>
            <a:ln w="9525" cap="flat" cmpd="sng" algn="ctr">
              <a:noFill/>
              <a:prstDash val="solid"/>
              <a:round/>
              <a:headEnd type="none" w="med" len="med"/>
              <a:tailEnd type="none" w="med" len="med"/>
            </a:ln>
            <a:effectLst/>
          </p:spPr>
          <p:txBody>
            <a:bodyPr vert="horz" wrap="square" lIns="91404" tIns="45702" rIns="91404" bIns="45702" numCol="1" rtlCol="0" anchor="t" anchorCtr="0" compatLnSpc="1"/>
            <a:lstStyle/>
            <a:p>
              <a:pPr defTabSz="913765" fontAlgn="base">
                <a:lnSpc>
                  <a:spcPct val="120000"/>
                </a:lnSpc>
                <a:spcBef>
                  <a:spcPct val="0"/>
                </a:spcBef>
                <a:spcAft>
                  <a:spcPct val="0"/>
                </a:spcAft>
                <a:buClr>
                  <a:srgbClr val="CC9900"/>
                </a:buClr>
                <a:buFont typeface="Wingdings" panose="05000000000000000000" pitchFamily="2" charset="2"/>
                <a:buChar char="n"/>
              </a:pPr>
              <a:endParaRPr lang="zh-CN" altLang="en-US" sz="1400">
                <a:solidFill>
                  <a:srgbClr val="000000"/>
                </a:solidFill>
                <a:latin typeface="微软雅黑 Light" panose="020B0502040204020203" pitchFamily="34" charset="-122"/>
                <a:ea typeface="微软雅黑 Light" panose="020B0502040204020203" pitchFamily="34" charset="-122"/>
                <a:cs typeface="+mn-ea"/>
                <a:sym typeface="+mn-lt"/>
              </a:endParaRPr>
            </a:p>
          </p:txBody>
        </p:sp>
        <p:sp>
          <p:nvSpPr>
            <p:cNvPr id="86" name="圆角矩形 85"/>
            <p:cNvSpPr/>
            <p:nvPr/>
          </p:nvSpPr>
          <p:spPr bwMode="auto">
            <a:xfrm>
              <a:off x="6354795" y="4607485"/>
              <a:ext cx="1522800" cy="448574"/>
            </a:xfrm>
            <a:prstGeom prst="roundRect">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04" tIns="45702" rIns="91404" bIns="45702" numCol="1" rtlCol="0" anchor="ctr" anchorCtr="0" compatLnSpc="1"/>
            <a:lstStyle/>
            <a:p>
              <a:pPr algn="ctr" defTabSz="913765" fontAlgn="base">
                <a:lnSpc>
                  <a:spcPct val="120000"/>
                </a:lnSpc>
                <a:spcBef>
                  <a:spcPct val="0"/>
                </a:spcBef>
                <a:spcAft>
                  <a:spcPct val="0"/>
                </a:spcAft>
                <a:buClr>
                  <a:srgbClr val="CC9900"/>
                </a:buClr>
              </a:pPr>
              <a:r>
                <a:rPr lang="en-US" altLang="zh-CN" sz="1400" dirty="0">
                  <a:solidFill>
                    <a:srgbClr val="000000"/>
                  </a:solidFill>
                  <a:latin typeface="微软雅黑 Light" panose="020B0502040204020203" pitchFamily="34" charset="-122"/>
                  <a:ea typeface="微软雅黑 Light" panose="020B0502040204020203" pitchFamily="34" charset="-122"/>
                  <a:cs typeface="+mn-ea"/>
                  <a:sym typeface="+mn-lt"/>
                </a:rPr>
                <a:t>Application</a:t>
              </a:r>
              <a:endParaRPr lang="zh-CN" altLang="en-US" sz="1400" dirty="0">
                <a:solidFill>
                  <a:srgbClr val="000000"/>
                </a:solidFill>
                <a:latin typeface="微软雅黑 Light" panose="020B0502040204020203" pitchFamily="34" charset="-122"/>
                <a:ea typeface="微软雅黑 Light" panose="020B0502040204020203" pitchFamily="34" charset="-122"/>
                <a:cs typeface="+mn-ea"/>
                <a:sym typeface="+mn-lt"/>
              </a:endParaRPr>
            </a:p>
          </p:txBody>
        </p:sp>
        <p:sp>
          <p:nvSpPr>
            <p:cNvPr id="87" name="矩形 86"/>
            <p:cNvSpPr/>
            <p:nvPr/>
          </p:nvSpPr>
          <p:spPr bwMode="auto">
            <a:xfrm>
              <a:off x="8494149" y="5830950"/>
              <a:ext cx="108000" cy="72000"/>
            </a:xfrm>
            <a:prstGeom prst="rect">
              <a:avLst/>
            </a:prstGeom>
            <a:solidFill>
              <a:srgbClr val="00B0F0"/>
            </a:solidFill>
            <a:ln w="9525" cap="flat" cmpd="sng" algn="ctr">
              <a:noFill/>
              <a:prstDash val="solid"/>
              <a:round/>
              <a:headEnd type="none" w="med" len="med"/>
              <a:tailEnd type="none" w="med" len="med"/>
            </a:ln>
            <a:effectLst/>
          </p:spPr>
          <p:txBody>
            <a:bodyPr vert="horz" wrap="square" lIns="91404" tIns="45702" rIns="91404" bIns="45702" numCol="1" rtlCol="0" anchor="t" anchorCtr="0" compatLnSpc="1"/>
            <a:lstStyle/>
            <a:p>
              <a:pPr defTabSz="913765" fontAlgn="base">
                <a:lnSpc>
                  <a:spcPct val="120000"/>
                </a:lnSpc>
                <a:spcBef>
                  <a:spcPct val="0"/>
                </a:spcBef>
                <a:spcAft>
                  <a:spcPct val="0"/>
                </a:spcAft>
                <a:buClr>
                  <a:srgbClr val="CC9900"/>
                </a:buClr>
                <a:buFont typeface="Wingdings" panose="05000000000000000000" pitchFamily="2" charset="2"/>
                <a:buChar char="n"/>
              </a:pPr>
              <a:endParaRPr lang="zh-CN" altLang="en-US" sz="1400">
                <a:solidFill>
                  <a:srgbClr val="000000"/>
                </a:solidFill>
                <a:latin typeface="微软雅黑 Light" panose="020B0502040204020203" pitchFamily="34" charset="-122"/>
                <a:ea typeface="微软雅黑 Light" panose="020B0502040204020203" pitchFamily="34" charset="-122"/>
                <a:cs typeface="+mn-ea"/>
                <a:sym typeface="+mn-lt"/>
              </a:endParaRPr>
            </a:p>
          </p:txBody>
        </p:sp>
        <p:sp>
          <p:nvSpPr>
            <p:cNvPr id="88" name="圆角矩形 87"/>
            <p:cNvSpPr/>
            <p:nvPr/>
          </p:nvSpPr>
          <p:spPr bwMode="auto">
            <a:xfrm>
              <a:off x="6354795" y="5444252"/>
              <a:ext cx="1522800" cy="640019"/>
            </a:xfrm>
            <a:prstGeom prst="roundRect">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04" tIns="45702" rIns="91404" bIns="45702" numCol="1" rtlCol="0" anchor="ctr" anchorCtr="0" compatLnSpc="1"/>
            <a:lstStyle/>
            <a:p>
              <a:pPr algn="ctr" defTabSz="913765" fontAlgn="base">
                <a:lnSpc>
                  <a:spcPct val="120000"/>
                </a:lnSpc>
                <a:spcBef>
                  <a:spcPct val="0"/>
                </a:spcBef>
                <a:spcAft>
                  <a:spcPct val="0"/>
                </a:spcAft>
                <a:buClr>
                  <a:srgbClr val="CC9900"/>
                </a:buClr>
              </a:pPr>
              <a:r>
                <a:rPr lang="en-US" altLang="zh-CN" sz="1400" dirty="0">
                  <a:solidFill>
                    <a:srgbClr val="000000"/>
                  </a:solidFill>
                  <a:latin typeface="微软雅黑 Light" panose="020B0502040204020203" pitchFamily="34" charset="-122"/>
                  <a:ea typeface="微软雅黑 Light" panose="020B0502040204020203" pitchFamily="34" charset="-122"/>
                  <a:cs typeface="+mn-ea"/>
                  <a:sym typeface="+mn-lt"/>
                </a:rPr>
                <a:t>QUIC</a:t>
              </a:r>
            </a:p>
            <a:p>
              <a:pPr algn="ctr" defTabSz="913765" fontAlgn="base">
                <a:lnSpc>
                  <a:spcPct val="120000"/>
                </a:lnSpc>
                <a:spcBef>
                  <a:spcPct val="0"/>
                </a:spcBef>
                <a:spcAft>
                  <a:spcPct val="0"/>
                </a:spcAft>
                <a:buClr>
                  <a:srgbClr val="CC9900"/>
                </a:buClr>
              </a:pPr>
              <a:endParaRPr lang="zh-CN" altLang="en-US" sz="1400" dirty="0">
                <a:solidFill>
                  <a:srgbClr val="000000"/>
                </a:solidFill>
                <a:latin typeface="微软雅黑 Light" panose="020B0502040204020203" pitchFamily="34" charset="-122"/>
                <a:ea typeface="微软雅黑 Light" panose="020B0502040204020203" pitchFamily="34" charset="-122"/>
                <a:cs typeface="+mn-ea"/>
                <a:sym typeface="+mn-lt"/>
              </a:endParaRPr>
            </a:p>
          </p:txBody>
        </p:sp>
        <p:sp>
          <p:nvSpPr>
            <p:cNvPr id="89" name="矩形 88"/>
            <p:cNvSpPr/>
            <p:nvPr/>
          </p:nvSpPr>
          <p:spPr bwMode="auto">
            <a:xfrm>
              <a:off x="8438545" y="5631049"/>
              <a:ext cx="108000" cy="72000"/>
            </a:xfrm>
            <a:prstGeom prst="rect">
              <a:avLst/>
            </a:prstGeom>
            <a:solidFill>
              <a:srgbClr val="00B050"/>
            </a:solidFill>
            <a:ln w="9525" cap="flat" cmpd="sng" algn="ctr">
              <a:noFill/>
              <a:prstDash val="solid"/>
              <a:round/>
              <a:headEnd type="none" w="med" len="med"/>
              <a:tailEnd type="none" w="med" len="med"/>
            </a:ln>
            <a:effectLst/>
          </p:spPr>
          <p:txBody>
            <a:bodyPr vert="horz" wrap="square" lIns="91404" tIns="45702" rIns="91404" bIns="45702" numCol="1" rtlCol="0" anchor="t" anchorCtr="0" compatLnSpc="1"/>
            <a:lstStyle/>
            <a:p>
              <a:pPr defTabSz="913765" fontAlgn="base">
                <a:lnSpc>
                  <a:spcPct val="120000"/>
                </a:lnSpc>
                <a:spcBef>
                  <a:spcPct val="0"/>
                </a:spcBef>
                <a:spcAft>
                  <a:spcPct val="0"/>
                </a:spcAft>
                <a:buClr>
                  <a:srgbClr val="CC9900"/>
                </a:buClr>
                <a:buFont typeface="Wingdings" panose="05000000000000000000" pitchFamily="2" charset="2"/>
                <a:buChar char="n"/>
              </a:pPr>
              <a:endParaRPr lang="zh-CN" altLang="en-US" sz="1400">
                <a:solidFill>
                  <a:srgbClr val="000000"/>
                </a:solidFill>
                <a:latin typeface="微软雅黑 Light" panose="020B0502040204020203" pitchFamily="34" charset="-122"/>
                <a:ea typeface="微软雅黑 Light" panose="020B0502040204020203" pitchFamily="34" charset="-122"/>
                <a:cs typeface="+mn-ea"/>
                <a:sym typeface="+mn-lt"/>
              </a:endParaRPr>
            </a:p>
          </p:txBody>
        </p:sp>
        <p:sp>
          <p:nvSpPr>
            <p:cNvPr id="90" name="矩形 89"/>
            <p:cNvSpPr/>
            <p:nvPr/>
          </p:nvSpPr>
          <p:spPr bwMode="auto">
            <a:xfrm>
              <a:off x="8190940" y="5548435"/>
              <a:ext cx="108000" cy="72000"/>
            </a:xfrm>
            <a:prstGeom prst="rect">
              <a:avLst/>
            </a:prstGeom>
            <a:solidFill>
              <a:srgbClr val="FF0000"/>
            </a:solidFill>
            <a:ln w="9525" cap="flat" cmpd="sng" algn="ctr">
              <a:noFill/>
              <a:prstDash val="solid"/>
              <a:round/>
              <a:headEnd type="none" w="med" len="med"/>
              <a:tailEnd type="none" w="med" len="med"/>
            </a:ln>
            <a:effectLst/>
          </p:spPr>
          <p:txBody>
            <a:bodyPr vert="horz" wrap="square" lIns="91404" tIns="45702" rIns="91404" bIns="45702" numCol="1" rtlCol="0" anchor="t" anchorCtr="0" compatLnSpc="1"/>
            <a:lstStyle/>
            <a:p>
              <a:pPr defTabSz="913765" fontAlgn="base">
                <a:lnSpc>
                  <a:spcPct val="120000"/>
                </a:lnSpc>
                <a:spcBef>
                  <a:spcPct val="0"/>
                </a:spcBef>
                <a:spcAft>
                  <a:spcPct val="0"/>
                </a:spcAft>
                <a:buClr>
                  <a:srgbClr val="CC9900"/>
                </a:buClr>
                <a:buFont typeface="Wingdings" panose="05000000000000000000" pitchFamily="2" charset="2"/>
                <a:buChar char="n"/>
              </a:pPr>
              <a:endParaRPr lang="zh-CN" altLang="en-US" sz="1400">
                <a:solidFill>
                  <a:srgbClr val="000000"/>
                </a:solidFill>
                <a:latin typeface="微软雅黑 Light" panose="020B0502040204020203" pitchFamily="34" charset="-122"/>
                <a:ea typeface="微软雅黑 Light" panose="020B0502040204020203" pitchFamily="34" charset="-122"/>
                <a:cs typeface="+mn-ea"/>
                <a:sym typeface="+mn-lt"/>
              </a:endParaRPr>
            </a:p>
          </p:txBody>
        </p:sp>
        <p:sp>
          <p:nvSpPr>
            <p:cNvPr id="91" name="圆角矩形 90"/>
            <p:cNvSpPr/>
            <p:nvPr/>
          </p:nvSpPr>
          <p:spPr bwMode="auto">
            <a:xfrm>
              <a:off x="9104717" y="4607485"/>
              <a:ext cx="1522800" cy="448574"/>
            </a:xfrm>
            <a:prstGeom prst="roundRect">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04" tIns="45702" rIns="91404" bIns="45702" numCol="1" rtlCol="0" anchor="ctr" anchorCtr="0" compatLnSpc="1"/>
            <a:lstStyle/>
            <a:p>
              <a:pPr algn="ctr" defTabSz="913765" fontAlgn="base">
                <a:lnSpc>
                  <a:spcPct val="120000"/>
                </a:lnSpc>
                <a:spcBef>
                  <a:spcPct val="0"/>
                </a:spcBef>
                <a:spcAft>
                  <a:spcPct val="0"/>
                </a:spcAft>
                <a:buClr>
                  <a:srgbClr val="CC9900"/>
                </a:buClr>
              </a:pPr>
              <a:r>
                <a:rPr lang="en-US" altLang="zh-CN" sz="1400" dirty="0">
                  <a:solidFill>
                    <a:srgbClr val="000000"/>
                  </a:solidFill>
                  <a:latin typeface="微软雅黑 Light" panose="020B0502040204020203" pitchFamily="34" charset="-122"/>
                  <a:ea typeface="微软雅黑 Light" panose="020B0502040204020203" pitchFamily="34" charset="-122"/>
                  <a:cs typeface="+mn-ea"/>
                  <a:sym typeface="+mn-lt"/>
                </a:rPr>
                <a:t>Application</a:t>
              </a:r>
              <a:endParaRPr lang="zh-CN" altLang="en-US" sz="1400" dirty="0">
                <a:solidFill>
                  <a:srgbClr val="000000"/>
                </a:solidFill>
                <a:latin typeface="微软雅黑 Light" panose="020B0502040204020203" pitchFamily="34" charset="-122"/>
                <a:ea typeface="微软雅黑 Light" panose="020B0502040204020203" pitchFamily="34" charset="-122"/>
                <a:cs typeface="+mn-ea"/>
                <a:sym typeface="+mn-lt"/>
              </a:endParaRPr>
            </a:p>
          </p:txBody>
        </p:sp>
        <p:sp>
          <p:nvSpPr>
            <p:cNvPr id="92" name="矩形 91"/>
            <p:cNvSpPr/>
            <p:nvPr/>
          </p:nvSpPr>
          <p:spPr bwMode="auto">
            <a:xfrm>
              <a:off x="10298037" y="5927332"/>
              <a:ext cx="108000" cy="72000"/>
            </a:xfrm>
            <a:prstGeom prst="rect">
              <a:avLst/>
            </a:prstGeom>
            <a:solidFill>
              <a:srgbClr val="00B0F0"/>
            </a:solidFill>
            <a:ln w="9525" cap="flat" cmpd="sng" algn="ctr">
              <a:noFill/>
              <a:prstDash val="solid"/>
              <a:round/>
              <a:headEnd type="none" w="med" len="med"/>
              <a:tailEnd type="none" w="med" len="med"/>
            </a:ln>
            <a:effectLst/>
          </p:spPr>
          <p:txBody>
            <a:bodyPr vert="horz" wrap="square" lIns="91404" tIns="45702" rIns="91404" bIns="45702" numCol="1" rtlCol="0" anchor="t" anchorCtr="0" compatLnSpc="1"/>
            <a:lstStyle/>
            <a:p>
              <a:pPr defTabSz="913765" fontAlgn="base">
                <a:lnSpc>
                  <a:spcPct val="120000"/>
                </a:lnSpc>
                <a:spcBef>
                  <a:spcPct val="0"/>
                </a:spcBef>
                <a:spcAft>
                  <a:spcPct val="0"/>
                </a:spcAft>
                <a:buClr>
                  <a:srgbClr val="CC9900"/>
                </a:buClr>
                <a:buFont typeface="Wingdings" panose="05000000000000000000" pitchFamily="2" charset="2"/>
                <a:buChar char="n"/>
              </a:pPr>
              <a:endParaRPr lang="zh-CN" altLang="en-US" sz="1400">
                <a:solidFill>
                  <a:srgbClr val="000000"/>
                </a:solidFill>
                <a:latin typeface="微软雅黑 Light" panose="020B0502040204020203" pitchFamily="34" charset="-122"/>
                <a:ea typeface="微软雅黑 Light" panose="020B0502040204020203" pitchFamily="34" charset="-122"/>
                <a:cs typeface="+mn-ea"/>
                <a:sym typeface="+mn-lt"/>
              </a:endParaRPr>
            </a:p>
          </p:txBody>
        </p:sp>
        <p:sp>
          <p:nvSpPr>
            <p:cNvPr id="93" name="圆角矩形 92"/>
            <p:cNvSpPr/>
            <p:nvPr/>
          </p:nvSpPr>
          <p:spPr bwMode="auto">
            <a:xfrm>
              <a:off x="9104717" y="5444252"/>
              <a:ext cx="1522800" cy="640019"/>
            </a:xfrm>
            <a:prstGeom prst="roundRect">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04" tIns="45702" rIns="91404" bIns="45702" numCol="1" rtlCol="0" anchor="ctr" anchorCtr="0" compatLnSpc="1"/>
            <a:lstStyle/>
            <a:p>
              <a:pPr algn="ctr" defTabSz="913765" fontAlgn="base">
                <a:lnSpc>
                  <a:spcPct val="120000"/>
                </a:lnSpc>
                <a:spcBef>
                  <a:spcPct val="0"/>
                </a:spcBef>
                <a:spcAft>
                  <a:spcPct val="0"/>
                </a:spcAft>
                <a:buClr>
                  <a:srgbClr val="CC9900"/>
                </a:buClr>
              </a:pPr>
              <a:r>
                <a:rPr lang="en-US" altLang="zh-CN" sz="1400" dirty="0">
                  <a:solidFill>
                    <a:srgbClr val="000000"/>
                  </a:solidFill>
                  <a:latin typeface="微软雅黑 Light" panose="020B0502040204020203" pitchFamily="34" charset="-122"/>
                  <a:ea typeface="微软雅黑 Light" panose="020B0502040204020203" pitchFamily="34" charset="-122"/>
                  <a:cs typeface="+mn-ea"/>
                  <a:sym typeface="+mn-lt"/>
                </a:rPr>
                <a:t>QUIC</a:t>
              </a:r>
            </a:p>
            <a:p>
              <a:pPr algn="ctr" defTabSz="913765" fontAlgn="base">
                <a:lnSpc>
                  <a:spcPct val="120000"/>
                </a:lnSpc>
                <a:spcBef>
                  <a:spcPct val="0"/>
                </a:spcBef>
                <a:spcAft>
                  <a:spcPct val="0"/>
                </a:spcAft>
                <a:buClr>
                  <a:srgbClr val="CC9900"/>
                </a:buClr>
              </a:pPr>
              <a:endParaRPr lang="zh-CN" altLang="en-US" sz="1400" dirty="0">
                <a:solidFill>
                  <a:srgbClr val="000000"/>
                </a:solidFill>
                <a:latin typeface="微软雅黑 Light" panose="020B0502040204020203" pitchFamily="34" charset="-122"/>
                <a:ea typeface="微软雅黑 Light" panose="020B0502040204020203" pitchFamily="34" charset="-122"/>
                <a:cs typeface="+mn-ea"/>
                <a:sym typeface="+mn-lt"/>
              </a:endParaRPr>
            </a:p>
          </p:txBody>
        </p:sp>
        <p:sp>
          <p:nvSpPr>
            <p:cNvPr id="94" name="矩形 93"/>
            <p:cNvSpPr/>
            <p:nvPr/>
          </p:nvSpPr>
          <p:spPr bwMode="auto">
            <a:xfrm>
              <a:off x="9660335" y="5098849"/>
              <a:ext cx="108000" cy="72000"/>
            </a:xfrm>
            <a:prstGeom prst="rect">
              <a:avLst/>
            </a:prstGeom>
            <a:solidFill>
              <a:srgbClr val="FF0000"/>
            </a:solidFill>
            <a:ln w="9525" cap="flat" cmpd="sng" algn="ctr">
              <a:noFill/>
              <a:prstDash val="solid"/>
              <a:round/>
              <a:headEnd type="none" w="med" len="med"/>
              <a:tailEnd type="none" w="med" len="med"/>
            </a:ln>
            <a:effectLst/>
          </p:spPr>
          <p:txBody>
            <a:bodyPr vert="horz" wrap="square" lIns="91404" tIns="45702" rIns="91404" bIns="45702" numCol="1" rtlCol="0" anchor="t" anchorCtr="0" compatLnSpc="1"/>
            <a:lstStyle/>
            <a:p>
              <a:pPr defTabSz="913765" fontAlgn="base">
                <a:lnSpc>
                  <a:spcPct val="120000"/>
                </a:lnSpc>
                <a:spcBef>
                  <a:spcPct val="0"/>
                </a:spcBef>
                <a:spcAft>
                  <a:spcPct val="0"/>
                </a:spcAft>
                <a:buClr>
                  <a:srgbClr val="CC9900"/>
                </a:buClr>
                <a:buFont typeface="Wingdings" panose="05000000000000000000" pitchFamily="2" charset="2"/>
                <a:buChar char="n"/>
              </a:pPr>
              <a:endParaRPr lang="zh-CN" altLang="en-US" sz="1400">
                <a:solidFill>
                  <a:srgbClr val="000000"/>
                </a:solidFill>
                <a:latin typeface="微软雅黑 Light" panose="020B0502040204020203" pitchFamily="34" charset="-122"/>
                <a:ea typeface="微软雅黑 Light" panose="020B0502040204020203" pitchFamily="34" charset="-122"/>
                <a:cs typeface="+mn-ea"/>
                <a:sym typeface="+mn-lt"/>
              </a:endParaRPr>
            </a:p>
          </p:txBody>
        </p:sp>
        <p:sp>
          <p:nvSpPr>
            <p:cNvPr id="95" name="矩形 94"/>
            <p:cNvSpPr/>
            <p:nvPr/>
          </p:nvSpPr>
          <p:spPr bwMode="auto">
            <a:xfrm>
              <a:off x="10017936" y="5151122"/>
              <a:ext cx="108000" cy="72000"/>
            </a:xfrm>
            <a:prstGeom prst="rect">
              <a:avLst/>
            </a:prstGeom>
            <a:solidFill>
              <a:srgbClr val="00B050"/>
            </a:solidFill>
            <a:ln w="9525" cap="flat" cmpd="sng" algn="ctr">
              <a:noFill/>
              <a:prstDash val="solid"/>
              <a:round/>
              <a:headEnd type="none" w="med" len="med"/>
              <a:tailEnd type="none" w="med" len="med"/>
            </a:ln>
            <a:effectLst/>
          </p:spPr>
          <p:txBody>
            <a:bodyPr vert="horz" wrap="square" lIns="91404" tIns="45702" rIns="91404" bIns="45702" numCol="1" rtlCol="0" anchor="t" anchorCtr="0" compatLnSpc="1"/>
            <a:lstStyle/>
            <a:p>
              <a:pPr defTabSz="913765" fontAlgn="base">
                <a:lnSpc>
                  <a:spcPct val="120000"/>
                </a:lnSpc>
                <a:spcBef>
                  <a:spcPct val="0"/>
                </a:spcBef>
                <a:spcAft>
                  <a:spcPct val="0"/>
                </a:spcAft>
                <a:buClr>
                  <a:srgbClr val="CC9900"/>
                </a:buClr>
                <a:buFont typeface="Wingdings" panose="05000000000000000000" pitchFamily="2" charset="2"/>
                <a:buChar char="n"/>
              </a:pPr>
              <a:endParaRPr lang="zh-CN" altLang="en-US" sz="1400">
                <a:solidFill>
                  <a:srgbClr val="000000"/>
                </a:solidFill>
                <a:latin typeface="微软雅黑 Light" panose="020B0502040204020203" pitchFamily="34" charset="-122"/>
                <a:ea typeface="微软雅黑 Light" panose="020B0502040204020203" pitchFamily="34" charset="-122"/>
                <a:cs typeface="+mn-ea"/>
                <a:sym typeface="+mn-lt"/>
              </a:endParaRPr>
            </a:p>
          </p:txBody>
        </p:sp>
        <p:sp>
          <p:nvSpPr>
            <p:cNvPr id="96" name="矩形 95"/>
            <p:cNvSpPr/>
            <p:nvPr/>
          </p:nvSpPr>
          <p:spPr bwMode="auto">
            <a:xfrm>
              <a:off x="10061798" y="5927332"/>
              <a:ext cx="108000" cy="72000"/>
            </a:xfrm>
            <a:prstGeom prst="rect">
              <a:avLst/>
            </a:prstGeom>
            <a:solidFill>
              <a:srgbClr val="00B0F0"/>
            </a:solidFill>
            <a:ln w="9525" cap="flat" cmpd="sng" algn="ctr">
              <a:noFill/>
              <a:prstDash val="solid"/>
              <a:round/>
              <a:headEnd type="none" w="med" len="med"/>
              <a:tailEnd type="none" w="med" len="med"/>
            </a:ln>
            <a:effectLst/>
          </p:spPr>
          <p:txBody>
            <a:bodyPr vert="horz" wrap="square" lIns="91404" tIns="45702" rIns="91404" bIns="45702" numCol="1" rtlCol="0" anchor="t" anchorCtr="0" compatLnSpc="1"/>
            <a:lstStyle/>
            <a:p>
              <a:pPr defTabSz="913765" fontAlgn="base">
                <a:lnSpc>
                  <a:spcPct val="120000"/>
                </a:lnSpc>
                <a:spcBef>
                  <a:spcPct val="0"/>
                </a:spcBef>
                <a:spcAft>
                  <a:spcPct val="0"/>
                </a:spcAft>
                <a:buClr>
                  <a:srgbClr val="CC9900"/>
                </a:buClr>
                <a:buFont typeface="Wingdings" panose="05000000000000000000" pitchFamily="2" charset="2"/>
                <a:buChar char="n"/>
              </a:pPr>
              <a:endParaRPr lang="zh-CN" altLang="en-US" sz="1400">
                <a:solidFill>
                  <a:srgbClr val="000000"/>
                </a:solidFill>
                <a:latin typeface="微软雅黑 Light" panose="020B0502040204020203" pitchFamily="34" charset="-122"/>
                <a:ea typeface="微软雅黑 Light" panose="020B0502040204020203" pitchFamily="34" charset="-122"/>
                <a:cs typeface="+mn-ea"/>
                <a:sym typeface="+mn-lt"/>
              </a:endParaRPr>
            </a:p>
          </p:txBody>
        </p:sp>
        <p:sp>
          <p:nvSpPr>
            <p:cNvPr id="97" name="矩形 96"/>
            <p:cNvSpPr/>
            <p:nvPr/>
          </p:nvSpPr>
          <p:spPr bwMode="auto">
            <a:xfrm>
              <a:off x="9672163" y="5213983"/>
              <a:ext cx="108000" cy="72000"/>
            </a:xfrm>
            <a:prstGeom prst="rect">
              <a:avLst/>
            </a:prstGeom>
            <a:solidFill>
              <a:srgbClr val="FF0000"/>
            </a:solidFill>
            <a:ln w="9525" cap="flat" cmpd="sng" algn="ctr">
              <a:noFill/>
              <a:prstDash val="solid"/>
              <a:round/>
              <a:headEnd type="none" w="med" len="med"/>
              <a:tailEnd type="none" w="med" len="med"/>
            </a:ln>
            <a:effectLst/>
          </p:spPr>
          <p:txBody>
            <a:bodyPr vert="horz" wrap="square" lIns="91404" tIns="45702" rIns="91404" bIns="45702" numCol="1" rtlCol="0" anchor="t" anchorCtr="0" compatLnSpc="1"/>
            <a:lstStyle/>
            <a:p>
              <a:pPr defTabSz="913765" fontAlgn="base">
                <a:lnSpc>
                  <a:spcPct val="120000"/>
                </a:lnSpc>
                <a:spcBef>
                  <a:spcPct val="0"/>
                </a:spcBef>
                <a:spcAft>
                  <a:spcPct val="0"/>
                </a:spcAft>
                <a:buClr>
                  <a:srgbClr val="CC9900"/>
                </a:buClr>
                <a:buFont typeface="Wingdings" panose="05000000000000000000" pitchFamily="2" charset="2"/>
                <a:buChar char="n"/>
              </a:pPr>
              <a:endParaRPr lang="zh-CN" altLang="en-US" sz="1400">
                <a:solidFill>
                  <a:srgbClr val="000000"/>
                </a:solidFill>
                <a:latin typeface="微软雅黑 Light" panose="020B0502040204020203" pitchFamily="34" charset="-122"/>
                <a:ea typeface="微软雅黑 Light" panose="020B0502040204020203" pitchFamily="34" charset="-122"/>
                <a:cs typeface="+mn-ea"/>
                <a:sym typeface="+mn-lt"/>
              </a:endParaRPr>
            </a:p>
          </p:txBody>
        </p:sp>
        <p:sp>
          <p:nvSpPr>
            <p:cNvPr id="98" name="矩形 97"/>
            <p:cNvSpPr/>
            <p:nvPr/>
          </p:nvSpPr>
          <p:spPr bwMode="auto">
            <a:xfrm>
              <a:off x="10017936" y="5264932"/>
              <a:ext cx="108000" cy="72000"/>
            </a:xfrm>
            <a:prstGeom prst="rect">
              <a:avLst/>
            </a:prstGeom>
            <a:solidFill>
              <a:srgbClr val="00B050"/>
            </a:solidFill>
            <a:ln w="9525" cap="flat" cmpd="sng" algn="ctr">
              <a:noFill/>
              <a:prstDash val="solid"/>
              <a:round/>
              <a:headEnd type="none" w="med" len="med"/>
              <a:tailEnd type="none" w="med" len="med"/>
            </a:ln>
            <a:effectLst/>
          </p:spPr>
          <p:txBody>
            <a:bodyPr vert="horz" wrap="square" lIns="91404" tIns="45702" rIns="91404" bIns="45702" numCol="1" rtlCol="0" anchor="t" anchorCtr="0" compatLnSpc="1"/>
            <a:lstStyle/>
            <a:p>
              <a:pPr defTabSz="913765" fontAlgn="base">
                <a:lnSpc>
                  <a:spcPct val="120000"/>
                </a:lnSpc>
                <a:spcBef>
                  <a:spcPct val="0"/>
                </a:spcBef>
                <a:spcAft>
                  <a:spcPct val="0"/>
                </a:spcAft>
                <a:buClr>
                  <a:srgbClr val="CC9900"/>
                </a:buClr>
                <a:buFont typeface="Wingdings" panose="05000000000000000000" pitchFamily="2" charset="2"/>
                <a:buChar char="n"/>
              </a:pPr>
              <a:endParaRPr lang="zh-CN" altLang="en-US" sz="1400">
                <a:solidFill>
                  <a:srgbClr val="000000"/>
                </a:solidFill>
                <a:latin typeface="微软雅黑 Light" panose="020B0502040204020203" pitchFamily="34" charset="-122"/>
                <a:ea typeface="微软雅黑 Light" panose="020B0502040204020203" pitchFamily="34" charset="-122"/>
                <a:cs typeface="+mn-ea"/>
                <a:sym typeface="+mn-lt"/>
              </a:endParaRPr>
            </a:p>
          </p:txBody>
        </p:sp>
        <p:sp>
          <p:nvSpPr>
            <p:cNvPr id="99" name="矩形 98"/>
            <p:cNvSpPr/>
            <p:nvPr/>
          </p:nvSpPr>
          <p:spPr bwMode="auto">
            <a:xfrm>
              <a:off x="9670553" y="5320489"/>
              <a:ext cx="108000" cy="72000"/>
            </a:xfrm>
            <a:prstGeom prst="rect">
              <a:avLst/>
            </a:prstGeom>
            <a:solidFill>
              <a:srgbClr val="FF0000"/>
            </a:solidFill>
            <a:ln w="9525" cap="flat" cmpd="sng" algn="ctr">
              <a:noFill/>
              <a:prstDash val="solid"/>
              <a:round/>
              <a:headEnd type="none" w="med" len="med"/>
              <a:tailEnd type="none" w="med" len="med"/>
            </a:ln>
            <a:effectLst/>
          </p:spPr>
          <p:txBody>
            <a:bodyPr vert="horz" wrap="square" lIns="91404" tIns="45702" rIns="91404" bIns="45702" numCol="1" rtlCol="0" anchor="t" anchorCtr="0" compatLnSpc="1"/>
            <a:lstStyle/>
            <a:p>
              <a:pPr defTabSz="913765" fontAlgn="base">
                <a:lnSpc>
                  <a:spcPct val="120000"/>
                </a:lnSpc>
                <a:spcBef>
                  <a:spcPct val="0"/>
                </a:spcBef>
                <a:spcAft>
                  <a:spcPct val="0"/>
                </a:spcAft>
                <a:buClr>
                  <a:srgbClr val="CC9900"/>
                </a:buClr>
                <a:buFont typeface="Wingdings" panose="05000000000000000000" pitchFamily="2" charset="2"/>
                <a:buChar char="n"/>
              </a:pPr>
              <a:endParaRPr lang="zh-CN" altLang="en-US" sz="1400">
                <a:solidFill>
                  <a:srgbClr val="000000"/>
                </a:solidFill>
                <a:latin typeface="微软雅黑 Light" panose="020B0502040204020203" pitchFamily="34" charset="-122"/>
                <a:ea typeface="微软雅黑 Light" panose="020B0502040204020203" pitchFamily="34" charset="-122"/>
                <a:cs typeface="+mn-ea"/>
                <a:sym typeface="+mn-lt"/>
              </a:endParaRPr>
            </a:p>
          </p:txBody>
        </p:sp>
        <p:cxnSp>
          <p:nvCxnSpPr>
            <p:cNvPr id="100" name="直接箭头连接符 99"/>
            <p:cNvCxnSpPr>
              <a:stCxn id="88" idx="3"/>
              <a:endCxn id="93" idx="1"/>
            </p:cNvCxnSpPr>
            <p:nvPr/>
          </p:nvCxnSpPr>
          <p:spPr bwMode="auto">
            <a:xfrm>
              <a:off x="7877595" y="5764262"/>
              <a:ext cx="1227122" cy="0"/>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01" name="图片 100"/>
            <p:cNvPicPr>
              <a:picLocks noChangeAspect="1"/>
            </p:cNvPicPr>
            <p:nvPr/>
          </p:nvPicPr>
          <p:blipFill>
            <a:blip r:embed="rId2"/>
            <a:stretch>
              <a:fillRect/>
            </a:stretch>
          </p:blipFill>
          <p:spPr>
            <a:xfrm>
              <a:off x="10289422" y="5844327"/>
              <a:ext cx="125229" cy="203944"/>
            </a:xfrm>
            <a:prstGeom prst="rect">
              <a:avLst/>
            </a:prstGeom>
          </p:spPr>
        </p:pic>
        <p:sp>
          <p:nvSpPr>
            <p:cNvPr id="102" name="矩形 101"/>
            <p:cNvSpPr/>
            <p:nvPr/>
          </p:nvSpPr>
          <p:spPr bwMode="auto">
            <a:xfrm>
              <a:off x="7656447" y="5891507"/>
              <a:ext cx="108000" cy="72000"/>
            </a:xfrm>
            <a:prstGeom prst="rect">
              <a:avLst/>
            </a:prstGeom>
            <a:solidFill>
              <a:srgbClr val="00B050"/>
            </a:solidFill>
            <a:ln w="9525" cap="flat" cmpd="sng" algn="ctr">
              <a:noFill/>
              <a:prstDash val="solid"/>
              <a:round/>
              <a:headEnd type="none" w="med" len="med"/>
              <a:tailEnd type="none" w="med" len="med"/>
            </a:ln>
            <a:effectLst/>
          </p:spPr>
          <p:txBody>
            <a:bodyPr vert="horz" wrap="square" lIns="91404" tIns="45702" rIns="91404" bIns="45702" numCol="1" rtlCol="0" anchor="t" anchorCtr="0" compatLnSpc="1"/>
            <a:lstStyle/>
            <a:p>
              <a:pPr defTabSz="913765" fontAlgn="base">
                <a:lnSpc>
                  <a:spcPct val="120000"/>
                </a:lnSpc>
                <a:spcBef>
                  <a:spcPct val="0"/>
                </a:spcBef>
                <a:spcAft>
                  <a:spcPct val="0"/>
                </a:spcAft>
                <a:buClr>
                  <a:srgbClr val="CC9900"/>
                </a:buClr>
                <a:buFont typeface="Wingdings" panose="05000000000000000000" pitchFamily="2" charset="2"/>
                <a:buChar char="n"/>
              </a:pPr>
              <a:endParaRPr lang="zh-CN" altLang="en-US" sz="1400">
                <a:solidFill>
                  <a:srgbClr val="000000"/>
                </a:solidFill>
                <a:latin typeface="微软雅黑 Light" panose="020B0502040204020203" pitchFamily="34" charset="-122"/>
                <a:ea typeface="微软雅黑 Light" panose="020B0502040204020203" pitchFamily="34" charset="-122"/>
                <a:cs typeface="+mn-ea"/>
                <a:sym typeface="+mn-lt"/>
              </a:endParaRPr>
            </a:p>
          </p:txBody>
        </p:sp>
        <p:sp>
          <p:nvSpPr>
            <p:cNvPr id="103" name="矩形 102"/>
            <p:cNvSpPr/>
            <p:nvPr/>
          </p:nvSpPr>
          <p:spPr bwMode="auto">
            <a:xfrm>
              <a:off x="7268742" y="5967820"/>
              <a:ext cx="108000" cy="72000"/>
            </a:xfrm>
            <a:prstGeom prst="rect">
              <a:avLst/>
            </a:prstGeom>
            <a:solidFill>
              <a:srgbClr val="00B0F0"/>
            </a:solidFill>
            <a:ln w="9525" cap="flat" cmpd="sng" algn="ctr">
              <a:noFill/>
              <a:prstDash val="solid"/>
              <a:round/>
              <a:headEnd type="none" w="med" len="med"/>
              <a:tailEnd type="none" w="med" len="med"/>
            </a:ln>
            <a:effectLst/>
          </p:spPr>
          <p:txBody>
            <a:bodyPr vert="horz" wrap="square" lIns="91404" tIns="45702" rIns="91404" bIns="45702" numCol="1" rtlCol="0" anchor="t" anchorCtr="0" compatLnSpc="1"/>
            <a:lstStyle/>
            <a:p>
              <a:pPr defTabSz="913765" fontAlgn="base">
                <a:lnSpc>
                  <a:spcPct val="120000"/>
                </a:lnSpc>
                <a:spcBef>
                  <a:spcPct val="0"/>
                </a:spcBef>
                <a:spcAft>
                  <a:spcPct val="0"/>
                </a:spcAft>
                <a:buClr>
                  <a:srgbClr val="CC9900"/>
                </a:buClr>
                <a:buFont typeface="Wingdings" panose="05000000000000000000" pitchFamily="2" charset="2"/>
                <a:buChar char="n"/>
              </a:pPr>
              <a:endParaRPr lang="zh-CN" altLang="en-US" sz="1400">
                <a:solidFill>
                  <a:srgbClr val="000000"/>
                </a:solidFill>
                <a:latin typeface="微软雅黑 Light" panose="020B0502040204020203" pitchFamily="34" charset="-122"/>
                <a:ea typeface="微软雅黑 Light" panose="020B0502040204020203" pitchFamily="34" charset="-122"/>
                <a:cs typeface="+mn-ea"/>
                <a:sym typeface="+mn-lt"/>
              </a:endParaRPr>
            </a:p>
          </p:txBody>
        </p:sp>
        <p:sp>
          <p:nvSpPr>
            <p:cNvPr id="104" name="矩形 103"/>
            <p:cNvSpPr/>
            <p:nvPr/>
          </p:nvSpPr>
          <p:spPr bwMode="auto">
            <a:xfrm>
              <a:off x="7069216" y="5793628"/>
              <a:ext cx="108000" cy="72000"/>
            </a:xfrm>
            <a:prstGeom prst="rect">
              <a:avLst/>
            </a:prstGeom>
            <a:solidFill>
              <a:srgbClr val="FF0000"/>
            </a:solidFill>
            <a:ln w="9525" cap="flat" cmpd="sng" algn="ctr">
              <a:noFill/>
              <a:prstDash val="solid"/>
              <a:round/>
              <a:headEnd type="none" w="med" len="med"/>
              <a:tailEnd type="none" w="med" len="med"/>
            </a:ln>
            <a:effectLst/>
          </p:spPr>
          <p:txBody>
            <a:bodyPr vert="horz" wrap="square" lIns="91404" tIns="45702" rIns="91404" bIns="45702" numCol="1" rtlCol="0" anchor="t" anchorCtr="0" compatLnSpc="1"/>
            <a:lstStyle/>
            <a:p>
              <a:pPr defTabSz="913765" fontAlgn="base">
                <a:lnSpc>
                  <a:spcPct val="120000"/>
                </a:lnSpc>
                <a:spcBef>
                  <a:spcPct val="0"/>
                </a:spcBef>
                <a:spcAft>
                  <a:spcPct val="0"/>
                </a:spcAft>
                <a:buClr>
                  <a:srgbClr val="CC9900"/>
                </a:buClr>
                <a:buFont typeface="Wingdings" panose="05000000000000000000" pitchFamily="2" charset="2"/>
                <a:buChar char="n"/>
              </a:pPr>
              <a:endParaRPr lang="zh-CN" altLang="en-US" sz="1400">
                <a:solidFill>
                  <a:srgbClr val="000000"/>
                </a:solidFill>
                <a:latin typeface="微软雅黑 Light" panose="020B0502040204020203" pitchFamily="34" charset="-122"/>
                <a:ea typeface="微软雅黑 Light" panose="020B0502040204020203" pitchFamily="34" charset="-122"/>
                <a:cs typeface="+mn-ea"/>
                <a:sym typeface="+mn-lt"/>
              </a:endParaRPr>
            </a:p>
          </p:txBody>
        </p:sp>
        <p:sp>
          <p:nvSpPr>
            <p:cNvPr id="105" name="矩形 104"/>
            <p:cNvSpPr/>
            <p:nvPr/>
          </p:nvSpPr>
          <p:spPr bwMode="auto">
            <a:xfrm>
              <a:off x="6881037" y="5881165"/>
              <a:ext cx="108000" cy="72000"/>
            </a:xfrm>
            <a:prstGeom prst="rect">
              <a:avLst/>
            </a:prstGeom>
            <a:solidFill>
              <a:srgbClr val="00B050"/>
            </a:solidFill>
            <a:ln w="9525" cap="flat" cmpd="sng" algn="ctr">
              <a:noFill/>
              <a:prstDash val="solid"/>
              <a:round/>
              <a:headEnd type="none" w="med" len="med"/>
              <a:tailEnd type="none" w="med" len="med"/>
            </a:ln>
            <a:effectLst/>
          </p:spPr>
          <p:txBody>
            <a:bodyPr vert="horz" wrap="square" lIns="91404" tIns="45702" rIns="91404" bIns="45702" numCol="1" rtlCol="0" anchor="t" anchorCtr="0" compatLnSpc="1"/>
            <a:lstStyle/>
            <a:p>
              <a:pPr defTabSz="913765" fontAlgn="base">
                <a:lnSpc>
                  <a:spcPct val="120000"/>
                </a:lnSpc>
                <a:spcBef>
                  <a:spcPct val="0"/>
                </a:spcBef>
                <a:spcAft>
                  <a:spcPct val="0"/>
                </a:spcAft>
                <a:buClr>
                  <a:srgbClr val="CC9900"/>
                </a:buClr>
                <a:buFont typeface="Wingdings" panose="05000000000000000000" pitchFamily="2" charset="2"/>
                <a:buChar char="n"/>
              </a:pPr>
              <a:endParaRPr lang="zh-CN" altLang="en-US" sz="1400">
                <a:solidFill>
                  <a:srgbClr val="000000"/>
                </a:solidFill>
                <a:latin typeface="微软雅黑 Light" panose="020B0502040204020203" pitchFamily="34" charset="-122"/>
                <a:ea typeface="微软雅黑 Light" panose="020B0502040204020203" pitchFamily="34" charset="-122"/>
                <a:cs typeface="+mn-ea"/>
                <a:sym typeface="+mn-lt"/>
              </a:endParaRPr>
            </a:p>
          </p:txBody>
        </p:sp>
        <p:sp>
          <p:nvSpPr>
            <p:cNvPr id="106" name="矩形 105"/>
            <p:cNvSpPr/>
            <p:nvPr/>
          </p:nvSpPr>
          <p:spPr bwMode="auto">
            <a:xfrm>
              <a:off x="7453874" y="5797941"/>
              <a:ext cx="108000" cy="72000"/>
            </a:xfrm>
            <a:prstGeom prst="rect">
              <a:avLst/>
            </a:prstGeom>
            <a:solidFill>
              <a:srgbClr val="FF0000"/>
            </a:solidFill>
            <a:ln w="9525" cap="flat" cmpd="sng" algn="ctr">
              <a:noFill/>
              <a:prstDash val="solid"/>
              <a:round/>
              <a:headEnd type="none" w="med" len="med"/>
              <a:tailEnd type="none" w="med" len="med"/>
            </a:ln>
            <a:effectLst/>
          </p:spPr>
          <p:txBody>
            <a:bodyPr vert="horz" wrap="square" lIns="91404" tIns="45702" rIns="91404" bIns="45702" numCol="1" rtlCol="0" anchor="t" anchorCtr="0" compatLnSpc="1"/>
            <a:lstStyle/>
            <a:p>
              <a:pPr defTabSz="913765" fontAlgn="base">
                <a:lnSpc>
                  <a:spcPct val="120000"/>
                </a:lnSpc>
                <a:spcBef>
                  <a:spcPct val="0"/>
                </a:spcBef>
                <a:spcAft>
                  <a:spcPct val="0"/>
                </a:spcAft>
                <a:buClr>
                  <a:srgbClr val="CC9900"/>
                </a:buClr>
                <a:buFont typeface="Wingdings" panose="05000000000000000000" pitchFamily="2" charset="2"/>
                <a:buChar char="n"/>
              </a:pPr>
              <a:endParaRPr lang="zh-CN" altLang="en-US" sz="1400">
                <a:solidFill>
                  <a:srgbClr val="000000"/>
                </a:solidFill>
                <a:latin typeface="微软雅黑 Light" panose="020B0502040204020203" pitchFamily="34" charset="-122"/>
                <a:ea typeface="微软雅黑 Light" panose="020B0502040204020203" pitchFamily="34" charset="-122"/>
                <a:cs typeface="+mn-ea"/>
                <a:sym typeface="+mn-lt"/>
              </a:endParaRPr>
            </a:p>
          </p:txBody>
        </p:sp>
        <p:sp>
          <p:nvSpPr>
            <p:cNvPr id="107" name="矩形 106"/>
            <p:cNvSpPr/>
            <p:nvPr/>
          </p:nvSpPr>
          <p:spPr bwMode="auto">
            <a:xfrm>
              <a:off x="8603090" y="5548435"/>
              <a:ext cx="108000" cy="72000"/>
            </a:xfrm>
            <a:prstGeom prst="rect">
              <a:avLst/>
            </a:prstGeom>
            <a:solidFill>
              <a:srgbClr val="FF0000"/>
            </a:solidFill>
            <a:ln w="9525" cap="flat" cmpd="sng" algn="ctr">
              <a:noFill/>
              <a:prstDash val="solid"/>
              <a:round/>
              <a:headEnd type="none" w="med" len="med"/>
              <a:tailEnd type="none" w="med" len="med"/>
            </a:ln>
            <a:effectLst/>
          </p:spPr>
          <p:txBody>
            <a:bodyPr vert="horz" wrap="square" lIns="91404" tIns="45702" rIns="91404" bIns="45702" numCol="1" rtlCol="0" anchor="t" anchorCtr="0" compatLnSpc="1"/>
            <a:lstStyle/>
            <a:p>
              <a:pPr defTabSz="913765" fontAlgn="base">
                <a:lnSpc>
                  <a:spcPct val="120000"/>
                </a:lnSpc>
                <a:spcBef>
                  <a:spcPct val="0"/>
                </a:spcBef>
                <a:spcAft>
                  <a:spcPct val="0"/>
                </a:spcAft>
                <a:buClr>
                  <a:srgbClr val="CC9900"/>
                </a:buClr>
                <a:buFont typeface="Wingdings" panose="05000000000000000000" pitchFamily="2" charset="2"/>
                <a:buChar char="n"/>
              </a:pPr>
              <a:endParaRPr lang="zh-CN" altLang="en-US" sz="1400">
                <a:solidFill>
                  <a:srgbClr val="000000"/>
                </a:solidFill>
                <a:latin typeface="微软雅黑 Light" panose="020B0502040204020203" pitchFamily="34" charset="-122"/>
                <a:ea typeface="微软雅黑 Light" panose="020B0502040204020203" pitchFamily="34" charset="-122"/>
                <a:cs typeface="+mn-ea"/>
                <a:sym typeface="+mn-lt"/>
              </a:endParaRPr>
            </a:p>
          </p:txBody>
        </p:sp>
        <p:sp>
          <p:nvSpPr>
            <p:cNvPr id="108" name="矩形 107"/>
            <p:cNvSpPr/>
            <p:nvPr/>
          </p:nvSpPr>
          <p:spPr bwMode="auto">
            <a:xfrm>
              <a:off x="8136940" y="5823817"/>
              <a:ext cx="108000" cy="72000"/>
            </a:xfrm>
            <a:prstGeom prst="rect">
              <a:avLst/>
            </a:prstGeom>
            <a:solidFill>
              <a:srgbClr val="00B0F0"/>
            </a:solidFill>
            <a:ln w="9525" cap="flat" cmpd="sng" algn="ctr">
              <a:noFill/>
              <a:prstDash val="solid"/>
              <a:round/>
              <a:headEnd type="none" w="med" len="med"/>
              <a:tailEnd type="none" w="med" len="med"/>
            </a:ln>
            <a:effectLst/>
          </p:spPr>
          <p:txBody>
            <a:bodyPr vert="horz" wrap="square" lIns="91404" tIns="45702" rIns="91404" bIns="45702" numCol="1" rtlCol="0" anchor="t" anchorCtr="0" compatLnSpc="1"/>
            <a:lstStyle/>
            <a:p>
              <a:pPr defTabSz="913765" fontAlgn="base">
                <a:lnSpc>
                  <a:spcPct val="120000"/>
                </a:lnSpc>
                <a:spcBef>
                  <a:spcPct val="0"/>
                </a:spcBef>
                <a:spcAft>
                  <a:spcPct val="0"/>
                </a:spcAft>
                <a:buClr>
                  <a:srgbClr val="CC9900"/>
                </a:buClr>
                <a:buFont typeface="Wingdings" panose="05000000000000000000" pitchFamily="2" charset="2"/>
                <a:buChar char="n"/>
              </a:pPr>
              <a:endParaRPr lang="zh-CN" altLang="en-US" sz="1400">
                <a:solidFill>
                  <a:srgbClr val="000000"/>
                </a:solidFill>
                <a:latin typeface="微软雅黑 Light" panose="020B0502040204020203" pitchFamily="34" charset="-122"/>
                <a:ea typeface="微软雅黑 Light" panose="020B0502040204020203" pitchFamily="34" charset="-122"/>
                <a:cs typeface="+mn-ea"/>
                <a:sym typeface="+mn-lt"/>
              </a:endParaRPr>
            </a:p>
          </p:txBody>
        </p:sp>
        <p:cxnSp>
          <p:nvCxnSpPr>
            <p:cNvPr id="109" name="直接箭头连接符 108"/>
            <p:cNvCxnSpPr>
              <a:stCxn id="65" idx="2"/>
              <a:endCxn id="67" idx="0"/>
            </p:cNvCxnSpPr>
            <p:nvPr/>
          </p:nvCxnSpPr>
          <p:spPr bwMode="auto">
            <a:xfrm>
              <a:off x="2124373" y="5047432"/>
              <a:ext cx="0" cy="396820"/>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0" name="直接箭头连接符 109"/>
            <p:cNvCxnSpPr>
              <a:stCxn id="72" idx="0"/>
              <a:endCxn id="70" idx="2"/>
            </p:cNvCxnSpPr>
            <p:nvPr/>
          </p:nvCxnSpPr>
          <p:spPr bwMode="auto">
            <a:xfrm flipV="1">
              <a:off x="4856069" y="5047432"/>
              <a:ext cx="0" cy="396820"/>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1" name="直接箭头连接符 110"/>
            <p:cNvCxnSpPr>
              <a:stCxn id="86" idx="2"/>
              <a:endCxn id="88" idx="0"/>
            </p:cNvCxnSpPr>
            <p:nvPr/>
          </p:nvCxnSpPr>
          <p:spPr bwMode="auto">
            <a:xfrm>
              <a:off x="7116195" y="5056059"/>
              <a:ext cx="0" cy="388193"/>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 name="直接箭头连接符 111"/>
            <p:cNvCxnSpPr>
              <a:stCxn id="93" idx="0"/>
              <a:endCxn id="91" idx="2"/>
            </p:cNvCxnSpPr>
            <p:nvPr/>
          </p:nvCxnSpPr>
          <p:spPr bwMode="auto">
            <a:xfrm flipV="1">
              <a:off x="9866117" y="5056059"/>
              <a:ext cx="0" cy="388193"/>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3" name="矩形 112"/>
            <p:cNvSpPr/>
            <p:nvPr/>
          </p:nvSpPr>
          <p:spPr>
            <a:xfrm>
              <a:off x="2108170" y="6205413"/>
              <a:ext cx="3064271" cy="371018"/>
            </a:xfrm>
            <a:prstGeom prst="rect">
              <a:avLst/>
            </a:prstGeom>
          </p:spPr>
          <p:txBody>
            <a:bodyPr wrap="none">
              <a:spAutoFit/>
            </a:bodyPr>
            <a:lstStyle/>
            <a:p>
              <a:pPr algn="ctr" defTabSz="913765" fontAlgn="base">
                <a:lnSpc>
                  <a:spcPct val="120000"/>
                </a:lnSpc>
                <a:spcBef>
                  <a:spcPct val="0"/>
                </a:spcBef>
                <a:spcAft>
                  <a:spcPct val="0"/>
                </a:spcAft>
                <a:buClr>
                  <a:srgbClr val="CC9900"/>
                </a:buClr>
              </a:pPr>
              <a:r>
                <a:rPr lang="en-US" altLang="zh-CN" sz="1200" b="1" dirty="0">
                  <a:solidFill>
                    <a:srgbClr val="000000"/>
                  </a:solidFill>
                  <a:latin typeface="微软雅黑 Light" panose="020B0502040204020203" pitchFamily="34" charset="-122"/>
                  <a:ea typeface="微软雅黑 Light" panose="020B0502040204020203" pitchFamily="34" charset="-122"/>
                  <a:cs typeface="+mn-ea"/>
                  <a:sym typeface="+mn-lt"/>
                </a:rPr>
                <a:t>TCP</a:t>
              </a:r>
              <a:r>
                <a:rPr lang="zh-CN" altLang="en-US" sz="1200" b="1" dirty="0">
                  <a:solidFill>
                    <a:srgbClr val="000000"/>
                  </a:solidFill>
                  <a:latin typeface="微软雅黑 Light" panose="020B0502040204020203" pitchFamily="34" charset="-122"/>
                  <a:ea typeface="微软雅黑 Light" panose="020B0502040204020203" pitchFamily="34" charset="-122"/>
                  <a:cs typeface="+mn-ea"/>
                  <a:sym typeface="+mn-lt"/>
                </a:rPr>
                <a:t>头阻塞：丢包后，后续报文都受影响</a:t>
              </a:r>
            </a:p>
          </p:txBody>
        </p:sp>
        <p:sp>
          <p:nvSpPr>
            <p:cNvPr id="114" name="矩形 113"/>
            <p:cNvSpPr/>
            <p:nvPr/>
          </p:nvSpPr>
          <p:spPr>
            <a:xfrm>
              <a:off x="7337256" y="6204571"/>
              <a:ext cx="2529783" cy="371018"/>
            </a:xfrm>
            <a:prstGeom prst="rect">
              <a:avLst/>
            </a:prstGeom>
          </p:spPr>
          <p:txBody>
            <a:bodyPr wrap="none">
              <a:spAutoFit/>
            </a:bodyPr>
            <a:lstStyle/>
            <a:p>
              <a:pPr algn="ctr" defTabSz="913765" fontAlgn="base">
                <a:lnSpc>
                  <a:spcPct val="120000"/>
                </a:lnSpc>
                <a:spcBef>
                  <a:spcPct val="0"/>
                </a:spcBef>
                <a:spcAft>
                  <a:spcPct val="0"/>
                </a:spcAft>
                <a:buClr>
                  <a:srgbClr val="CC9900"/>
                </a:buClr>
              </a:pPr>
              <a:r>
                <a:rPr lang="en-US" altLang="zh-CN" sz="1200" b="1" dirty="0">
                  <a:solidFill>
                    <a:srgbClr val="000000"/>
                  </a:solidFill>
                  <a:latin typeface="微软雅黑 Light" panose="020B0502040204020203" pitchFamily="34" charset="-122"/>
                  <a:ea typeface="微软雅黑 Light" panose="020B0502040204020203" pitchFamily="34" charset="-122"/>
                  <a:cs typeface="+mn-ea"/>
                  <a:sym typeface="+mn-lt"/>
                </a:rPr>
                <a:t>QUIC</a:t>
              </a:r>
              <a:r>
                <a:rPr lang="zh-CN" altLang="en-US" sz="1200" b="1" dirty="0">
                  <a:solidFill>
                    <a:srgbClr val="000000"/>
                  </a:solidFill>
                  <a:latin typeface="微软雅黑 Light" panose="020B0502040204020203" pitchFamily="34" charset="-122"/>
                  <a:ea typeface="微软雅黑 Light" panose="020B0502040204020203" pitchFamily="34" charset="-122"/>
                  <a:cs typeface="+mn-ea"/>
                  <a:sym typeface="+mn-lt"/>
                </a:rPr>
                <a:t>：仅丢包的子流需等待重传</a:t>
              </a:r>
            </a:p>
          </p:txBody>
        </p:sp>
      </p:grpSp>
      <p:pic>
        <p:nvPicPr>
          <p:cNvPr id="8" name="图片 7">
            <a:extLst>
              <a:ext uri="{FF2B5EF4-FFF2-40B4-BE49-F238E27FC236}">
                <a16:creationId xmlns:a16="http://schemas.microsoft.com/office/drawing/2014/main" id="{8A60C9E6-24FE-2F7A-0945-2F0FF8F9C5AD}"/>
              </a:ext>
            </a:extLst>
          </p:cNvPr>
          <p:cNvPicPr>
            <a:picLocks noChangeAspect="1"/>
          </p:cNvPicPr>
          <p:nvPr/>
        </p:nvPicPr>
        <p:blipFill>
          <a:blip r:embed="rId3"/>
          <a:stretch>
            <a:fillRect/>
          </a:stretch>
        </p:blipFill>
        <p:spPr>
          <a:xfrm>
            <a:off x="7883404" y="1365625"/>
            <a:ext cx="3991534" cy="2739928"/>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r>
              <a:rPr lang="en-US" altLang="zh-CN" dirty="0">
                <a:latin typeface="微软雅黑" panose="020B0503020204020204" pitchFamily="34" charset="-122"/>
                <a:sym typeface="+mn-lt"/>
              </a:rPr>
              <a:t>QUIC</a:t>
            </a:r>
            <a:r>
              <a:rPr lang="zh-CN" altLang="en-US" dirty="0">
                <a:latin typeface="微软雅黑" panose="020B0503020204020204" pitchFamily="34" charset="-122"/>
                <a:sym typeface="+mn-lt"/>
              </a:rPr>
              <a:t>报文格式</a:t>
            </a:r>
            <a:endParaRPr lang="zh-CN" altLang="en-US" dirty="0">
              <a:latin typeface="微软雅黑" panose="020B0503020204020204" pitchFamily="34" charset="-122"/>
            </a:endParaRPr>
          </a:p>
        </p:txBody>
      </p:sp>
      <p:sp>
        <p:nvSpPr>
          <p:cNvPr id="4" name="灯片编号占位符 3"/>
          <p:cNvSpPr>
            <a:spLocks noGrp="1"/>
          </p:cNvSpPr>
          <p:nvPr>
            <p:ph type="sldNum" sz="quarter" idx="12"/>
          </p:nvPr>
        </p:nvSpPr>
        <p:spPr/>
        <p:txBody>
          <a:bodyPr/>
          <a:lstStyle/>
          <a:p>
            <a:fld id="{C8BB1146-E542-4D4E-B8E9-6919A11DDD48}" type="slidenum">
              <a:rPr lang="en-US" smtClean="0"/>
              <a:t>87</a:t>
            </a:fld>
            <a:endParaRPr lang="en-US"/>
          </a:p>
        </p:txBody>
      </p:sp>
      <p:sp>
        <p:nvSpPr>
          <p:cNvPr id="10" name="文本框 9"/>
          <p:cNvSpPr txBox="1"/>
          <p:nvPr/>
        </p:nvSpPr>
        <p:spPr>
          <a:xfrm>
            <a:off x="4295801" y="4437112"/>
            <a:ext cx="2448272" cy="461665"/>
          </a:xfrm>
          <a:prstGeom prst="rect">
            <a:avLst/>
          </a:prstGeom>
          <a:noFill/>
        </p:spPr>
        <p:txBody>
          <a:bodyPr wrap="square">
            <a:spAutoFit/>
          </a:bodyPr>
          <a:lstStyle/>
          <a:p>
            <a:pPr algn="ctr"/>
            <a:r>
              <a:rPr lang="en-US" altLang="zh-CN" sz="2400" kern="100" dirty="0">
                <a:effectLst/>
                <a:latin typeface="微软雅黑 Light" panose="020B0502040204020203" pitchFamily="34" charset="-122"/>
                <a:ea typeface="微软雅黑 Light" panose="020B0502040204020203" pitchFamily="34" charset="-122"/>
              </a:rPr>
              <a:t>QUIC</a:t>
            </a:r>
            <a:r>
              <a:rPr lang="zh-CN" altLang="en-US" sz="2400" kern="100" dirty="0">
                <a:effectLst/>
                <a:latin typeface="微软雅黑 Light" panose="020B0502040204020203" pitchFamily="34" charset="-122"/>
                <a:ea typeface="微软雅黑 Light" panose="020B0502040204020203" pitchFamily="34" charset="-122"/>
                <a:cs typeface="Times New Roman" panose="02020603050405020304" pitchFamily="18" charset="0"/>
              </a:rPr>
              <a:t>数据包</a:t>
            </a:r>
            <a:r>
              <a:rPr lang="zh-CN" altLang="zh-CN" sz="2400" kern="100" dirty="0">
                <a:effectLst/>
                <a:latin typeface="微软雅黑 Light" panose="020B0502040204020203" pitchFamily="34" charset="-122"/>
                <a:ea typeface="微软雅黑 Light" panose="020B0502040204020203" pitchFamily="34" charset="-122"/>
                <a:cs typeface="Times New Roman" panose="02020603050405020304" pitchFamily="18" charset="0"/>
              </a:rPr>
              <a:t>格式</a:t>
            </a:r>
            <a:endParaRPr lang="zh-CN" altLang="en-US" sz="2400" dirty="0">
              <a:latin typeface="微软雅黑 Light" panose="020B0502040204020203" pitchFamily="34" charset="-122"/>
              <a:ea typeface="微软雅黑 Light" panose="020B0502040204020203" pitchFamily="34" charset="-122"/>
            </a:endParaRPr>
          </a:p>
        </p:txBody>
      </p:sp>
      <p:sp>
        <p:nvSpPr>
          <p:cNvPr id="5" name="内容占位符 4"/>
          <p:cNvSpPr>
            <a:spLocks noGrp="1"/>
          </p:cNvSpPr>
          <p:nvPr>
            <p:ph idx="1"/>
          </p:nvPr>
        </p:nvSpPr>
        <p:spPr>
          <a:xfrm>
            <a:off x="334434" y="1052514"/>
            <a:ext cx="11523133" cy="2268487"/>
          </a:xfrm>
        </p:spPr>
        <p:txBody>
          <a:bodyPr/>
          <a:lstStyle/>
          <a:p>
            <a:r>
              <a:rPr lang="en-US" altLang="zh-CN" dirty="0"/>
              <a:t>QUIC</a:t>
            </a:r>
            <a:r>
              <a:rPr lang="zh-CN" altLang="en-US" dirty="0"/>
              <a:t>包是由一个公共的首部后面跟着一个或多个帧组成的</a:t>
            </a:r>
          </a:p>
          <a:p>
            <a:r>
              <a:rPr lang="en-US" altLang="zh-CN" dirty="0"/>
              <a:t>QUIC</a:t>
            </a:r>
            <a:r>
              <a:rPr lang="zh-CN" altLang="en-US" dirty="0"/>
              <a:t>通过将流数据封装在一个或多个流帧中来实现复用</a:t>
            </a:r>
          </a:p>
          <a:p>
            <a:r>
              <a:rPr lang="zh-CN" altLang="en-US" dirty="0"/>
              <a:t>单个</a:t>
            </a:r>
            <a:r>
              <a:rPr lang="en-US" altLang="zh-CN" dirty="0"/>
              <a:t>QUIC</a:t>
            </a:r>
            <a:r>
              <a:rPr lang="zh-CN" altLang="en-US" dirty="0"/>
              <a:t>包可以携带来自多个流的帧</a:t>
            </a:r>
          </a:p>
          <a:p>
            <a:r>
              <a:rPr lang="en-US" altLang="zh-CN" dirty="0"/>
              <a:t>QUIC</a:t>
            </a:r>
            <a:r>
              <a:rPr lang="zh-CN" altLang="en-US" dirty="0"/>
              <a:t>有两种首部和多种帧类型</a:t>
            </a:r>
          </a:p>
          <a:p>
            <a:endParaRPr lang="zh-CN" altLang="en-US" dirty="0"/>
          </a:p>
        </p:txBody>
      </p:sp>
      <p:pic>
        <p:nvPicPr>
          <p:cNvPr id="7" name="图片 6"/>
          <p:cNvPicPr>
            <a:picLocks noChangeAspect="1"/>
          </p:cNvPicPr>
          <p:nvPr/>
        </p:nvPicPr>
        <p:blipFill>
          <a:blip r:embed="rId2"/>
          <a:stretch>
            <a:fillRect/>
          </a:stretch>
        </p:blipFill>
        <p:spPr>
          <a:xfrm>
            <a:off x="1631504" y="3568673"/>
            <a:ext cx="7947093" cy="742719"/>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QUIC</a:t>
            </a:r>
            <a:r>
              <a:rPr lang="zh-CN" altLang="en-US" dirty="0"/>
              <a:t>报文格式：首部</a:t>
            </a:r>
          </a:p>
        </p:txBody>
      </p:sp>
      <p:sp>
        <p:nvSpPr>
          <p:cNvPr id="3" name="内容占位符 2"/>
          <p:cNvSpPr>
            <a:spLocks noGrp="1"/>
          </p:cNvSpPr>
          <p:nvPr>
            <p:ph idx="1"/>
          </p:nvPr>
        </p:nvSpPr>
        <p:spPr>
          <a:xfrm>
            <a:off x="334434" y="1052515"/>
            <a:ext cx="11523133" cy="1728414"/>
          </a:xfrm>
        </p:spPr>
        <p:txBody>
          <a:bodyPr/>
          <a:lstStyle/>
          <a:p>
            <a:r>
              <a:rPr lang="en-US" altLang="zh-CN" dirty="0"/>
              <a:t>QUIC</a:t>
            </a:r>
            <a:r>
              <a:rPr lang="zh-CN" altLang="en-US" dirty="0"/>
              <a:t>的两种首部称为长首部和短首部</a:t>
            </a:r>
          </a:p>
          <a:p>
            <a:pPr lvl="1"/>
            <a:r>
              <a:rPr lang="zh-CN" altLang="en-US" dirty="0"/>
              <a:t>长首部是在建立连接之前使用</a:t>
            </a:r>
          </a:p>
          <a:p>
            <a:pPr lvl="1"/>
            <a:r>
              <a:rPr lang="zh-CN" altLang="en-US" dirty="0"/>
              <a:t>短首部是在建立第一个连接之后使用</a:t>
            </a:r>
          </a:p>
          <a:p>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t>88</a:t>
            </a:fld>
            <a:endParaRPr lang="en-US" altLang="zh-CN" dirty="0"/>
          </a:p>
        </p:txBody>
      </p:sp>
      <p:pic>
        <p:nvPicPr>
          <p:cNvPr id="9" name="图片 8"/>
          <p:cNvPicPr>
            <a:picLocks noChangeAspect="1"/>
          </p:cNvPicPr>
          <p:nvPr/>
        </p:nvPicPr>
        <p:blipFill>
          <a:blip r:embed="rId2"/>
          <a:stretch>
            <a:fillRect/>
          </a:stretch>
        </p:blipFill>
        <p:spPr>
          <a:xfrm>
            <a:off x="822241" y="2636912"/>
            <a:ext cx="10547518" cy="3046395"/>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r>
              <a:rPr lang="en-US" altLang="zh-CN" dirty="0">
                <a:latin typeface="微软雅黑" panose="020B0503020204020204" pitchFamily="34" charset="-122"/>
                <a:sym typeface="+mn-lt"/>
              </a:rPr>
              <a:t>QUIC</a:t>
            </a:r>
            <a:r>
              <a:rPr lang="zh-CN" altLang="en-US" dirty="0">
                <a:latin typeface="微软雅黑" panose="020B0503020204020204" pitchFamily="34" charset="-122"/>
                <a:sym typeface="+mn-lt"/>
              </a:rPr>
              <a:t>报文格式：长首部</a:t>
            </a:r>
            <a:endParaRPr lang="zh-CN" altLang="en-US" dirty="0">
              <a:latin typeface="微软雅黑" panose="020B0503020204020204" pitchFamily="34" charset="-122"/>
            </a:endParaRPr>
          </a:p>
        </p:txBody>
      </p:sp>
      <p:sp>
        <p:nvSpPr>
          <p:cNvPr id="4" name="灯片编号占位符 3"/>
          <p:cNvSpPr>
            <a:spLocks noGrp="1"/>
          </p:cNvSpPr>
          <p:nvPr>
            <p:ph type="sldNum" sz="quarter" idx="12"/>
          </p:nvPr>
        </p:nvSpPr>
        <p:spPr/>
        <p:txBody>
          <a:bodyPr/>
          <a:lstStyle/>
          <a:p>
            <a:fld id="{C8BB1146-E542-4D4E-B8E9-6919A11DDD48}" type="slidenum">
              <a:rPr lang="en-US" smtClean="0"/>
              <a:t>89</a:t>
            </a:fld>
            <a:endParaRPr lang="en-US"/>
          </a:p>
        </p:txBody>
      </p:sp>
      <p:sp>
        <p:nvSpPr>
          <p:cNvPr id="5" name="文本框 4"/>
          <p:cNvSpPr txBox="1"/>
          <p:nvPr/>
        </p:nvSpPr>
        <p:spPr>
          <a:xfrm>
            <a:off x="527248" y="1382292"/>
            <a:ext cx="1412240" cy="648000"/>
          </a:xfrm>
          <a:prstGeom prst="rect">
            <a:avLst/>
          </a:prstGeom>
          <a:noFill/>
          <a:ln w="28575">
            <a:solidFill>
              <a:srgbClr val="FF0000"/>
            </a:solidFill>
          </a:ln>
        </p:spPr>
        <p:txBody>
          <a:bodyPr wrap="square" tIns="144000" rtlCol="0">
            <a:noAutofit/>
          </a:bodyPr>
          <a:lstStyle/>
          <a:p>
            <a:pPr algn="ctr"/>
            <a:r>
              <a:rPr lang="en-US" altLang="zh-CN" sz="1600" dirty="0">
                <a:solidFill>
                  <a:srgbClr val="FF0000"/>
                </a:solidFill>
                <a:latin typeface="微软雅黑 Light" panose="020B0502040204020203" pitchFamily="34" charset="-122"/>
                <a:ea typeface="微软雅黑 Light" panose="020B0502040204020203" pitchFamily="34" charset="-122"/>
              </a:rPr>
              <a:t>Header Form</a:t>
            </a:r>
            <a:endParaRPr lang="zh-CN" altLang="en-US" sz="1600" dirty="0">
              <a:solidFill>
                <a:srgbClr val="FF0000"/>
              </a:solidFill>
              <a:latin typeface="微软雅黑 Light" panose="020B0502040204020203" pitchFamily="34" charset="-122"/>
              <a:ea typeface="微软雅黑 Light" panose="020B0502040204020203" pitchFamily="34" charset="-122"/>
            </a:endParaRPr>
          </a:p>
        </p:txBody>
      </p:sp>
      <p:sp>
        <p:nvSpPr>
          <p:cNvPr id="6" name="文本框 5"/>
          <p:cNvSpPr txBox="1"/>
          <p:nvPr/>
        </p:nvSpPr>
        <p:spPr>
          <a:xfrm>
            <a:off x="1939488" y="1382292"/>
            <a:ext cx="1016000"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Fixed Bit</a:t>
            </a:r>
            <a:endParaRPr lang="zh-CN" altLang="en-US" sz="1600" dirty="0">
              <a:latin typeface="微软雅黑 Light" panose="020B0502040204020203" pitchFamily="34" charset="-122"/>
              <a:ea typeface="微软雅黑 Light" panose="020B0502040204020203" pitchFamily="34" charset="-122"/>
            </a:endParaRPr>
          </a:p>
        </p:txBody>
      </p:sp>
      <p:sp>
        <p:nvSpPr>
          <p:cNvPr id="8" name="文本框 7"/>
          <p:cNvSpPr txBox="1"/>
          <p:nvPr/>
        </p:nvSpPr>
        <p:spPr>
          <a:xfrm>
            <a:off x="2955488" y="1382292"/>
            <a:ext cx="1369131" cy="648000"/>
          </a:xfrm>
          <a:prstGeom prst="rect">
            <a:avLst/>
          </a:prstGeom>
          <a:noFill/>
          <a:ln>
            <a:solidFill>
              <a:schemeClr val="tx1"/>
            </a:solidFill>
          </a:ln>
        </p:spPr>
        <p:txBody>
          <a:bodyPr wrap="square" rtlCol="0">
            <a:noAutofit/>
          </a:bodyPr>
          <a:lstStyle/>
          <a:p>
            <a:pPr algn="ctr"/>
            <a:r>
              <a:rPr lang="en-US" altLang="zh-CN" sz="1600" dirty="0">
                <a:latin typeface="微软雅黑 Light" panose="020B0502040204020203" pitchFamily="34" charset="-122"/>
                <a:ea typeface="微软雅黑 Light" panose="020B0502040204020203" pitchFamily="34" charset="-122"/>
              </a:rPr>
              <a:t>Long Packet Type</a:t>
            </a:r>
            <a:endParaRPr lang="zh-CN" altLang="en-US" sz="1600" dirty="0">
              <a:latin typeface="微软雅黑 Light" panose="020B0502040204020203" pitchFamily="34" charset="-122"/>
              <a:ea typeface="微软雅黑 Light" panose="020B0502040204020203" pitchFamily="34" charset="-122"/>
            </a:endParaRPr>
          </a:p>
        </p:txBody>
      </p:sp>
      <p:sp>
        <p:nvSpPr>
          <p:cNvPr id="9" name="文本框 8"/>
          <p:cNvSpPr txBox="1"/>
          <p:nvPr/>
        </p:nvSpPr>
        <p:spPr>
          <a:xfrm>
            <a:off x="4324619" y="1382292"/>
            <a:ext cx="1412241" cy="648000"/>
          </a:xfrm>
          <a:prstGeom prst="rect">
            <a:avLst/>
          </a:prstGeom>
          <a:noFill/>
          <a:ln>
            <a:solidFill>
              <a:schemeClr val="tx1"/>
            </a:solidFill>
          </a:ln>
        </p:spPr>
        <p:txBody>
          <a:bodyPr wrap="square" rtlCol="0">
            <a:noAutofit/>
          </a:bodyPr>
          <a:lstStyle/>
          <a:p>
            <a:pPr algn="ctr"/>
            <a:r>
              <a:rPr lang="en-US" altLang="zh-CN" sz="1600" dirty="0">
                <a:latin typeface="微软雅黑 Light" panose="020B0502040204020203" pitchFamily="34" charset="-122"/>
                <a:ea typeface="微软雅黑 Light" panose="020B0502040204020203" pitchFamily="34" charset="-122"/>
              </a:rPr>
              <a:t>Type-Specific Bits</a:t>
            </a:r>
            <a:endParaRPr lang="zh-CN" altLang="en-US" sz="1600" dirty="0">
              <a:latin typeface="微软雅黑 Light" panose="020B0502040204020203" pitchFamily="34" charset="-122"/>
              <a:ea typeface="微软雅黑 Light" panose="020B0502040204020203" pitchFamily="34" charset="-122"/>
            </a:endParaRPr>
          </a:p>
        </p:txBody>
      </p:sp>
      <p:sp>
        <p:nvSpPr>
          <p:cNvPr id="10" name="文本框 9"/>
          <p:cNvSpPr txBox="1"/>
          <p:nvPr/>
        </p:nvSpPr>
        <p:spPr>
          <a:xfrm>
            <a:off x="5736860" y="1382292"/>
            <a:ext cx="1170867"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Version ID</a:t>
            </a:r>
            <a:endParaRPr lang="zh-CN" altLang="en-US" sz="1600" dirty="0">
              <a:latin typeface="微软雅黑 Light" panose="020B0502040204020203" pitchFamily="34" charset="-122"/>
              <a:ea typeface="微软雅黑 Light" panose="020B0502040204020203" pitchFamily="34" charset="-122"/>
            </a:endParaRPr>
          </a:p>
        </p:txBody>
      </p:sp>
      <p:sp>
        <p:nvSpPr>
          <p:cNvPr id="11" name="文本框 10"/>
          <p:cNvSpPr txBox="1"/>
          <p:nvPr/>
        </p:nvSpPr>
        <p:spPr>
          <a:xfrm>
            <a:off x="6907727" y="1382292"/>
            <a:ext cx="1170867"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DCID Len</a:t>
            </a:r>
            <a:endParaRPr lang="zh-CN" altLang="en-US" sz="1600" dirty="0">
              <a:latin typeface="微软雅黑 Light" panose="020B0502040204020203" pitchFamily="34" charset="-122"/>
              <a:ea typeface="微软雅黑 Light" panose="020B0502040204020203" pitchFamily="34" charset="-122"/>
            </a:endParaRPr>
          </a:p>
        </p:txBody>
      </p:sp>
      <p:sp>
        <p:nvSpPr>
          <p:cNvPr id="12" name="文本框 11"/>
          <p:cNvSpPr txBox="1"/>
          <p:nvPr/>
        </p:nvSpPr>
        <p:spPr>
          <a:xfrm>
            <a:off x="8074540" y="1382292"/>
            <a:ext cx="1170867"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DCID</a:t>
            </a:r>
            <a:endParaRPr lang="zh-CN" altLang="en-US" sz="1600" dirty="0">
              <a:latin typeface="微软雅黑 Light" panose="020B0502040204020203" pitchFamily="34" charset="-122"/>
              <a:ea typeface="微软雅黑 Light" panose="020B0502040204020203" pitchFamily="34" charset="-122"/>
            </a:endParaRPr>
          </a:p>
        </p:txBody>
      </p:sp>
      <p:sp>
        <p:nvSpPr>
          <p:cNvPr id="13" name="文本框 12"/>
          <p:cNvSpPr txBox="1"/>
          <p:nvPr/>
        </p:nvSpPr>
        <p:spPr>
          <a:xfrm>
            <a:off x="9245407" y="1382292"/>
            <a:ext cx="1166813"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SCID Len</a:t>
            </a:r>
            <a:endParaRPr lang="zh-CN" altLang="en-US" sz="1600" dirty="0">
              <a:latin typeface="微软雅黑 Light" panose="020B0502040204020203" pitchFamily="34" charset="-122"/>
              <a:ea typeface="微软雅黑 Light" panose="020B0502040204020203" pitchFamily="34" charset="-122"/>
            </a:endParaRPr>
          </a:p>
        </p:txBody>
      </p:sp>
      <p:sp>
        <p:nvSpPr>
          <p:cNvPr id="14" name="文本框 13"/>
          <p:cNvSpPr txBox="1"/>
          <p:nvPr/>
        </p:nvSpPr>
        <p:spPr>
          <a:xfrm>
            <a:off x="10412220" y="1382292"/>
            <a:ext cx="1166813"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SCID</a:t>
            </a:r>
            <a:endParaRPr lang="zh-CN" altLang="en-US" sz="1600" dirty="0">
              <a:latin typeface="微软雅黑 Light" panose="020B0502040204020203" pitchFamily="34" charset="-122"/>
              <a:ea typeface="微软雅黑 Light" panose="020B0502040204020203" pitchFamily="34" charset="-122"/>
            </a:endParaRPr>
          </a:p>
        </p:txBody>
      </p:sp>
      <p:sp>
        <p:nvSpPr>
          <p:cNvPr id="17" name="文本框 16"/>
          <p:cNvSpPr txBox="1"/>
          <p:nvPr/>
        </p:nvSpPr>
        <p:spPr>
          <a:xfrm>
            <a:off x="908247" y="2063846"/>
            <a:ext cx="57740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1bit</a:t>
            </a:r>
            <a:endParaRPr lang="zh-CN" altLang="en-US" dirty="0">
              <a:latin typeface="微软雅黑 Light" panose="020B0502040204020203" pitchFamily="34" charset="-122"/>
              <a:ea typeface="微软雅黑 Light" panose="020B0502040204020203" pitchFamily="34" charset="-122"/>
            </a:endParaRPr>
          </a:p>
        </p:txBody>
      </p:sp>
      <p:sp>
        <p:nvSpPr>
          <p:cNvPr id="18" name="文本框 17"/>
          <p:cNvSpPr txBox="1"/>
          <p:nvPr/>
        </p:nvSpPr>
        <p:spPr>
          <a:xfrm>
            <a:off x="2169206" y="2063846"/>
            <a:ext cx="57740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1bit</a:t>
            </a:r>
            <a:endParaRPr lang="zh-CN" altLang="en-US" dirty="0">
              <a:latin typeface="微软雅黑 Light" panose="020B0502040204020203" pitchFamily="34" charset="-122"/>
              <a:ea typeface="微软雅黑 Light" panose="020B0502040204020203" pitchFamily="34" charset="-122"/>
            </a:endParaRPr>
          </a:p>
        </p:txBody>
      </p:sp>
      <p:sp>
        <p:nvSpPr>
          <p:cNvPr id="19" name="文本框 18"/>
          <p:cNvSpPr txBox="1"/>
          <p:nvPr/>
        </p:nvSpPr>
        <p:spPr>
          <a:xfrm>
            <a:off x="3361771" y="2063846"/>
            <a:ext cx="728084"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2bits</a:t>
            </a:r>
            <a:endParaRPr lang="zh-CN" altLang="en-US" dirty="0">
              <a:latin typeface="微软雅黑 Light" panose="020B0502040204020203" pitchFamily="34" charset="-122"/>
              <a:ea typeface="微软雅黑 Light" panose="020B0502040204020203" pitchFamily="34" charset="-122"/>
            </a:endParaRPr>
          </a:p>
        </p:txBody>
      </p:sp>
      <p:sp>
        <p:nvSpPr>
          <p:cNvPr id="20" name="文本框 19"/>
          <p:cNvSpPr txBox="1"/>
          <p:nvPr/>
        </p:nvSpPr>
        <p:spPr>
          <a:xfrm>
            <a:off x="4713309" y="2058506"/>
            <a:ext cx="732893"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4bits</a:t>
            </a:r>
            <a:endParaRPr lang="zh-CN" altLang="en-US" dirty="0">
              <a:latin typeface="微软雅黑 Light" panose="020B0502040204020203" pitchFamily="34" charset="-122"/>
              <a:ea typeface="微软雅黑 Light" panose="020B0502040204020203" pitchFamily="34" charset="-122"/>
            </a:endParaRPr>
          </a:p>
        </p:txBody>
      </p:sp>
      <p:sp>
        <p:nvSpPr>
          <p:cNvPr id="21" name="文本框 20"/>
          <p:cNvSpPr txBox="1"/>
          <p:nvPr/>
        </p:nvSpPr>
        <p:spPr>
          <a:xfrm>
            <a:off x="5979891" y="2065885"/>
            <a:ext cx="870751"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32bits</a:t>
            </a:r>
            <a:endParaRPr lang="zh-CN" altLang="en-US" dirty="0">
              <a:latin typeface="微软雅黑 Light" panose="020B0502040204020203" pitchFamily="34" charset="-122"/>
              <a:ea typeface="微软雅黑 Light" panose="020B0502040204020203" pitchFamily="34" charset="-122"/>
            </a:endParaRPr>
          </a:p>
        </p:txBody>
      </p:sp>
      <p:sp>
        <p:nvSpPr>
          <p:cNvPr id="22" name="文本框 21"/>
          <p:cNvSpPr txBox="1"/>
          <p:nvPr/>
        </p:nvSpPr>
        <p:spPr>
          <a:xfrm>
            <a:off x="7218867" y="2058506"/>
            <a:ext cx="728084"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8bits</a:t>
            </a:r>
            <a:endParaRPr lang="zh-CN" altLang="en-US" dirty="0">
              <a:latin typeface="微软雅黑 Light" panose="020B0502040204020203" pitchFamily="34" charset="-122"/>
              <a:ea typeface="微软雅黑 Light" panose="020B0502040204020203" pitchFamily="34" charset="-122"/>
            </a:endParaRPr>
          </a:p>
        </p:txBody>
      </p:sp>
      <p:sp>
        <p:nvSpPr>
          <p:cNvPr id="23" name="文本框 22"/>
          <p:cNvSpPr txBox="1"/>
          <p:nvPr/>
        </p:nvSpPr>
        <p:spPr>
          <a:xfrm>
            <a:off x="8159429" y="2057029"/>
            <a:ext cx="122341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0-160bits</a:t>
            </a:r>
            <a:endParaRPr lang="zh-CN" altLang="en-US" dirty="0">
              <a:latin typeface="微软雅黑 Light" panose="020B0502040204020203" pitchFamily="34" charset="-122"/>
              <a:ea typeface="微软雅黑 Light" panose="020B0502040204020203" pitchFamily="34" charset="-122"/>
            </a:endParaRPr>
          </a:p>
        </p:txBody>
      </p:sp>
      <p:sp>
        <p:nvSpPr>
          <p:cNvPr id="24" name="文本框 23"/>
          <p:cNvSpPr txBox="1"/>
          <p:nvPr/>
        </p:nvSpPr>
        <p:spPr>
          <a:xfrm>
            <a:off x="9492823" y="2057029"/>
            <a:ext cx="728084"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8bits</a:t>
            </a:r>
            <a:endParaRPr lang="zh-CN" altLang="en-US" dirty="0">
              <a:latin typeface="微软雅黑 Light" panose="020B0502040204020203" pitchFamily="34" charset="-122"/>
              <a:ea typeface="微软雅黑 Light" panose="020B0502040204020203" pitchFamily="34" charset="-122"/>
            </a:endParaRPr>
          </a:p>
        </p:txBody>
      </p:sp>
      <p:sp>
        <p:nvSpPr>
          <p:cNvPr id="25" name="文本框 24"/>
          <p:cNvSpPr txBox="1"/>
          <p:nvPr/>
        </p:nvSpPr>
        <p:spPr>
          <a:xfrm>
            <a:off x="10412220" y="2063846"/>
            <a:ext cx="122341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0-160bits</a:t>
            </a:r>
            <a:endParaRPr lang="zh-CN" altLang="en-US" dirty="0">
              <a:latin typeface="微软雅黑 Light" panose="020B0502040204020203" pitchFamily="34" charset="-122"/>
              <a:ea typeface="微软雅黑 Light" panose="020B0502040204020203" pitchFamily="34" charset="-122"/>
            </a:endParaRPr>
          </a:p>
        </p:txBody>
      </p:sp>
      <p:sp>
        <p:nvSpPr>
          <p:cNvPr id="27" name="文本框 26"/>
          <p:cNvSpPr txBox="1"/>
          <p:nvPr/>
        </p:nvSpPr>
        <p:spPr>
          <a:xfrm>
            <a:off x="523240" y="2503729"/>
            <a:ext cx="4060592" cy="460704"/>
          </a:xfrm>
          <a:prstGeom prst="rect">
            <a:avLst/>
          </a:prstGeom>
          <a:solidFill>
            <a:schemeClr val="bg2"/>
          </a:solidFill>
        </p:spPr>
        <p:txBody>
          <a:bodyPr wrap="square">
            <a:spAutoFit/>
          </a:bodyPr>
          <a:lstStyle/>
          <a:p>
            <a:pPr algn="ctr">
              <a:lnSpc>
                <a:spcPct val="150000"/>
              </a:lnSpc>
            </a:pPr>
            <a:r>
              <a:rPr lang="en-US" altLang="zh-CN" sz="1800" kern="100" dirty="0">
                <a:effectLst/>
                <a:latin typeface="微软雅黑 Light" panose="020B0502040204020203" pitchFamily="34" charset="-122"/>
                <a:ea typeface="微软雅黑 Light" panose="020B0502040204020203" pitchFamily="34" charset="-122"/>
              </a:rPr>
              <a:t>Header Form (HF) </a:t>
            </a:r>
            <a:r>
              <a:rPr lang="zh-CN" altLang="zh-CN" sz="1800" kern="100" dirty="0">
                <a:effectLst/>
                <a:latin typeface="微软雅黑 Light" panose="020B0502040204020203" pitchFamily="34" charset="-122"/>
                <a:ea typeface="微软雅黑 Light" panose="020B0502040204020203" pitchFamily="34" charset="-122"/>
              </a:rPr>
              <a:t>：标识</a:t>
            </a:r>
            <a:r>
              <a:rPr lang="zh-CN" altLang="en-US" sz="1800" kern="100" dirty="0">
                <a:effectLst/>
                <a:latin typeface="微软雅黑 Light" panose="020B0502040204020203" pitchFamily="34" charset="-122"/>
                <a:ea typeface="微软雅黑 Light" panose="020B0502040204020203" pitchFamily="34" charset="-122"/>
              </a:rPr>
              <a:t>头</a:t>
            </a:r>
            <a:r>
              <a:rPr lang="zh-CN" altLang="zh-CN" sz="1800" kern="100" dirty="0">
                <a:effectLst/>
                <a:latin typeface="微软雅黑 Light" panose="020B0502040204020203" pitchFamily="34" charset="-122"/>
                <a:ea typeface="微软雅黑 Light" panose="020B0502040204020203" pitchFamily="34" charset="-122"/>
              </a:rPr>
              <a:t>类型</a:t>
            </a:r>
            <a:r>
              <a:rPr lang="zh-CN" altLang="en-US" sz="1800" kern="100" dirty="0">
                <a:effectLst/>
                <a:latin typeface="微软雅黑 Light" panose="020B0502040204020203" pitchFamily="34" charset="-122"/>
                <a:ea typeface="微软雅黑 Light" panose="020B0502040204020203" pitchFamily="34" charset="-122"/>
              </a:rPr>
              <a:t>（</a:t>
            </a:r>
            <a:r>
              <a:rPr lang="en-US" altLang="zh-CN" sz="1800" kern="100" dirty="0">
                <a:effectLst/>
                <a:latin typeface="微软雅黑 Light" panose="020B0502040204020203" pitchFamily="34" charset="-122"/>
                <a:ea typeface="微软雅黑 Light" panose="020B0502040204020203" pitchFamily="34" charset="-122"/>
              </a:rPr>
              <a:t>1</a:t>
            </a:r>
            <a:r>
              <a:rPr lang="zh-CN" altLang="en-US" sz="1800" kern="100" dirty="0">
                <a:effectLst/>
                <a:latin typeface="微软雅黑 Light" panose="020B0502040204020203" pitchFamily="34" charset="-122"/>
                <a:ea typeface="微软雅黑 Light" panose="020B0502040204020203" pitchFamily="34" charset="-122"/>
              </a:rPr>
              <a:t>）</a:t>
            </a:r>
            <a:endParaRPr lang="zh-CN" altLang="zh-CN" sz="1400" kern="100" dirty="0">
              <a:effectLst/>
              <a:latin typeface="微软雅黑 Light" panose="020B0502040204020203" pitchFamily="34" charset="-122"/>
              <a:ea typeface="微软雅黑 Light" panose="020B0502040204020203" pitchFamily="34" charset="-122"/>
            </a:endParaRPr>
          </a:p>
        </p:txBody>
      </p:sp>
      <p:sp>
        <p:nvSpPr>
          <p:cNvPr id="28" name="文本框 27"/>
          <p:cNvSpPr txBox="1"/>
          <p:nvPr/>
        </p:nvSpPr>
        <p:spPr>
          <a:xfrm>
            <a:off x="523240" y="3862718"/>
            <a:ext cx="1412240"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Header Form</a:t>
            </a:r>
            <a:endParaRPr lang="zh-CN" altLang="en-US" sz="1600" dirty="0">
              <a:latin typeface="微软雅黑 Light" panose="020B0502040204020203" pitchFamily="34" charset="-122"/>
              <a:ea typeface="微软雅黑 Light" panose="020B0502040204020203" pitchFamily="34" charset="-122"/>
            </a:endParaRPr>
          </a:p>
        </p:txBody>
      </p:sp>
      <p:sp>
        <p:nvSpPr>
          <p:cNvPr id="29" name="文本框 28"/>
          <p:cNvSpPr txBox="1"/>
          <p:nvPr/>
        </p:nvSpPr>
        <p:spPr>
          <a:xfrm>
            <a:off x="1935480" y="3861048"/>
            <a:ext cx="1016000" cy="648000"/>
          </a:xfrm>
          <a:prstGeom prst="rect">
            <a:avLst/>
          </a:prstGeom>
          <a:noFill/>
          <a:ln w="28575">
            <a:solidFill>
              <a:srgbClr val="FF0000"/>
            </a:solidFill>
          </a:ln>
        </p:spPr>
        <p:txBody>
          <a:bodyPr wrap="square" tIns="144000" rtlCol="0">
            <a:noAutofit/>
          </a:bodyPr>
          <a:lstStyle/>
          <a:p>
            <a:pPr algn="ctr"/>
            <a:r>
              <a:rPr lang="en-US" altLang="zh-CN" sz="1600" dirty="0">
                <a:solidFill>
                  <a:srgbClr val="FF0000"/>
                </a:solidFill>
                <a:latin typeface="微软雅黑 Light" panose="020B0502040204020203" pitchFamily="34" charset="-122"/>
                <a:ea typeface="微软雅黑 Light" panose="020B0502040204020203" pitchFamily="34" charset="-122"/>
              </a:rPr>
              <a:t>Fixed Bit</a:t>
            </a:r>
            <a:endParaRPr lang="zh-CN" altLang="en-US" sz="1600" dirty="0">
              <a:solidFill>
                <a:srgbClr val="FF0000"/>
              </a:solidFill>
              <a:latin typeface="微软雅黑 Light" panose="020B0502040204020203" pitchFamily="34" charset="-122"/>
              <a:ea typeface="微软雅黑 Light" panose="020B0502040204020203" pitchFamily="34" charset="-122"/>
            </a:endParaRPr>
          </a:p>
        </p:txBody>
      </p:sp>
      <p:sp>
        <p:nvSpPr>
          <p:cNvPr id="30" name="文本框 29"/>
          <p:cNvSpPr txBox="1"/>
          <p:nvPr/>
        </p:nvSpPr>
        <p:spPr>
          <a:xfrm>
            <a:off x="2951481" y="3862717"/>
            <a:ext cx="1369131" cy="648000"/>
          </a:xfrm>
          <a:prstGeom prst="rect">
            <a:avLst/>
          </a:prstGeom>
          <a:noFill/>
          <a:ln>
            <a:solidFill>
              <a:schemeClr val="tx1"/>
            </a:solidFill>
          </a:ln>
        </p:spPr>
        <p:txBody>
          <a:bodyPr wrap="square" rtlCol="0">
            <a:noAutofit/>
          </a:bodyPr>
          <a:lstStyle/>
          <a:p>
            <a:pPr algn="ctr"/>
            <a:r>
              <a:rPr lang="en-US" altLang="zh-CN" sz="1600" dirty="0">
                <a:latin typeface="微软雅黑 Light" panose="020B0502040204020203" pitchFamily="34" charset="-122"/>
                <a:ea typeface="微软雅黑 Light" panose="020B0502040204020203" pitchFamily="34" charset="-122"/>
              </a:rPr>
              <a:t>Long Packet Type</a:t>
            </a:r>
            <a:endParaRPr lang="zh-CN" altLang="en-US" sz="1600" dirty="0">
              <a:latin typeface="微软雅黑 Light" panose="020B0502040204020203" pitchFamily="34" charset="-122"/>
              <a:ea typeface="微软雅黑 Light" panose="020B0502040204020203" pitchFamily="34" charset="-122"/>
            </a:endParaRPr>
          </a:p>
        </p:txBody>
      </p:sp>
      <p:sp>
        <p:nvSpPr>
          <p:cNvPr id="31" name="文本框 30"/>
          <p:cNvSpPr txBox="1"/>
          <p:nvPr/>
        </p:nvSpPr>
        <p:spPr>
          <a:xfrm>
            <a:off x="4320612" y="3861048"/>
            <a:ext cx="1412241" cy="648000"/>
          </a:xfrm>
          <a:prstGeom prst="rect">
            <a:avLst/>
          </a:prstGeom>
          <a:noFill/>
          <a:ln>
            <a:solidFill>
              <a:schemeClr val="tx1"/>
            </a:solidFill>
          </a:ln>
        </p:spPr>
        <p:txBody>
          <a:bodyPr wrap="square" rtlCol="0">
            <a:noAutofit/>
          </a:bodyPr>
          <a:lstStyle/>
          <a:p>
            <a:pPr algn="ctr"/>
            <a:r>
              <a:rPr lang="en-US" altLang="zh-CN" sz="1600" dirty="0">
                <a:latin typeface="微软雅黑 Light" panose="020B0502040204020203" pitchFamily="34" charset="-122"/>
                <a:ea typeface="微软雅黑 Light" panose="020B0502040204020203" pitchFamily="34" charset="-122"/>
              </a:rPr>
              <a:t>Type-Specific Bits</a:t>
            </a:r>
            <a:endParaRPr lang="zh-CN" altLang="en-US" sz="1600" dirty="0">
              <a:latin typeface="微软雅黑 Light" panose="020B0502040204020203" pitchFamily="34" charset="-122"/>
              <a:ea typeface="微软雅黑 Light" panose="020B0502040204020203" pitchFamily="34" charset="-122"/>
            </a:endParaRPr>
          </a:p>
        </p:txBody>
      </p:sp>
      <p:sp>
        <p:nvSpPr>
          <p:cNvPr id="32" name="文本框 31"/>
          <p:cNvSpPr txBox="1"/>
          <p:nvPr/>
        </p:nvSpPr>
        <p:spPr>
          <a:xfrm>
            <a:off x="5732853" y="3861048"/>
            <a:ext cx="1170867"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Version ID</a:t>
            </a:r>
            <a:endParaRPr lang="zh-CN" altLang="en-US" sz="1600" dirty="0">
              <a:latin typeface="微软雅黑 Light" panose="020B0502040204020203" pitchFamily="34" charset="-122"/>
              <a:ea typeface="微软雅黑 Light" panose="020B0502040204020203" pitchFamily="34" charset="-122"/>
            </a:endParaRPr>
          </a:p>
        </p:txBody>
      </p:sp>
      <p:sp>
        <p:nvSpPr>
          <p:cNvPr id="33" name="文本框 32"/>
          <p:cNvSpPr txBox="1"/>
          <p:nvPr/>
        </p:nvSpPr>
        <p:spPr>
          <a:xfrm>
            <a:off x="6903720" y="3861048"/>
            <a:ext cx="1170867"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DCID Len</a:t>
            </a:r>
            <a:endParaRPr lang="zh-CN" altLang="en-US" sz="1600" dirty="0">
              <a:latin typeface="微软雅黑 Light" panose="020B0502040204020203" pitchFamily="34" charset="-122"/>
              <a:ea typeface="微软雅黑 Light" panose="020B0502040204020203" pitchFamily="34" charset="-122"/>
            </a:endParaRPr>
          </a:p>
        </p:txBody>
      </p:sp>
      <p:sp>
        <p:nvSpPr>
          <p:cNvPr id="34" name="文本框 33"/>
          <p:cNvSpPr txBox="1"/>
          <p:nvPr/>
        </p:nvSpPr>
        <p:spPr>
          <a:xfrm>
            <a:off x="8070533" y="3861048"/>
            <a:ext cx="1170867"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DCID</a:t>
            </a:r>
            <a:endParaRPr lang="zh-CN" altLang="en-US" sz="1600" dirty="0">
              <a:latin typeface="微软雅黑 Light" panose="020B0502040204020203" pitchFamily="34" charset="-122"/>
              <a:ea typeface="微软雅黑 Light" panose="020B0502040204020203" pitchFamily="34" charset="-122"/>
            </a:endParaRPr>
          </a:p>
        </p:txBody>
      </p:sp>
      <p:sp>
        <p:nvSpPr>
          <p:cNvPr id="35" name="文本框 34"/>
          <p:cNvSpPr txBox="1"/>
          <p:nvPr/>
        </p:nvSpPr>
        <p:spPr>
          <a:xfrm>
            <a:off x="9241400" y="3861048"/>
            <a:ext cx="1166813"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SCID Len</a:t>
            </a:r>
            <a:endParaRPr lang="zh-CN" altLang="en-US" sz="1600" dirty="0">
              <a:latin typeface="微软雅黑 Light" panose="020B0502040204020203" pitchFamily="34" charset="-122"/>
              <a:ea typeface="微软雅黑 Light" panose="020B0502040204020203" pitchFamily="34" charset="-122"/>
            </a:endParaRPr>
          </a:p>
        </p:txBody>
      </p:sp>
      <p:sp>
        <p:nvSpPr>
          <p:cNvPr id="36" name="文本框 35"/>
          <p:cNvSpPr txBox="1"/>
          <p:nvPr/>
        </p:nvSpPr>
        <p:spPr>
          <a:xfrm>
            <a:off x="10408213" y="3861048"/>
            <a:ext cx="1166813"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SCID</a:t>
            </a:r>
            <a:endParaRPr lang="zh-CN" altLang="en-US" sz="1600" dirty="0">
              <a:latin typeface="微软雅黑 Light" panose="020B0502040204020203" pitchFamily="34" charset="-122"/>
              <a:ea typeface="微软雅黑 Light" panose="020B0502040204020203" pitchFamily="34" charset="-122"/>
            </a:endParaRPr>
          </a:p>
        </p:txBody>
      </p:sp>
      <p:sp>
        <p:nvSpPr>
          <p:cNvPr id="38" name="文本框 37"/>
          <p:cNvSpPr txBox="1"/>
          <p:nvPr/>
        </p:nvSpPr>
        <p:spPr>
          <a:xfrm>
            <a:off x="904240" y="4544133"/>
            <a:ext cx="57740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1bit</a:t>
            </a:r>
            <a:endParaRPr lang="zh-CN" altLang="en-US" dirty="0">
              <a:latin typeface="微软雅黑 Light" panose="020B0502040204020203" pitchFamily="34" charset="-122"/>
              <a:ea typeface="微软雅黑 Light" panose="020B0502040204020203" pitchFamily="34" charset="-122"/>
            </a:endParaRPr>
          </a:p>
        </p:txBody>
      </p:sp>
      <p:sp>
        <p:nvSpPr>
          <p:cNvPr id="39" name="文本框 38"/>
          <p:cNvSpPr txBox="1"/>
          <p:nvPr/>
        </p:nvSpPr>
        <p:spPr>
          <a:xfrm>
            <a:off x="2165199" y="4544133"/>
            <a:ext cx="57740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1bit</a:t>
            </a:r>
            <a:endParaRPr lang="zh-CN" altLang="en-US" dirty="0">
              <a:latin typeface="微软雅黑 Light" panose="020B0502040204020203" pitchFamily="34" charset="-122"/>
              <a:ea typeface="微软雅黑 Light" panose="020B0502040204020203" pitchFamily="34" charset="-122"/>
            </a:endParaRPr>
          </a:p>
        </p:txBody>
      </p:sp>
      <p:sp>
        <p:nvSpPr>
          <p:cNvPr id="40" name="文本框 39"/>
          <p:cNvSpPr txBox="1"/>
          <p:nvPr/>
        </p:nvSpPr>
        <p:spPr>
          <a:xfrm>
            <a:off x="3357764" y="4544133"/>
            <a:ext cx="728084"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2bits</a:t>
            </a:r>
            <a:endParaRPr lang="zh-CN" altLang="en-US" dirty="0">
              <a:latin typeface="微软雅黑 Light" panose="020B0502040204020203" pitchFamily="34" charset="-122"/>
              <a:ea typeface="微软雅黑 Light" panose="020B0502040204020203" pitchFamily="34" charset="-122"/>
            </a:endParaRPr>
          </a:p>
        </p:txBody>
      </p:sp>
      <p:sp>
        <p:nvSpPr>
          <p:cNvPr id="41" name="文本框 40"/>
          <p:cNvSpPr txBox="1"/>
          <p:nvPr/>
        </p:nvSpPr>
        <p:spPr>
          <a:xfrm>
            <a:off x="4709302" y="4538793"/>
            <a:ext cx="732893"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4bits</a:t>
            </a:r>
            <a:endParaRPr lang="zh-CN" altLang="en-US" dirty="0">
              <a:latin typeface="微软雅黑 Light" panose="020B0502040204020203" pitchFamily="34" charset="-122"/>
              <a:ea typeface="微软雅黑 Light" panose="020B0502040204020203" pitchFamily="34" charset="-122"/>
            </a:endParaRPr>
          </a:p>
        </p:txBody>
      </p:sp>
      <p:sp>
        <p:nvSpPr>
          <p:cNvPr id="42" name="文本框 41"/>
          <p:cNvSpPr txBox="1"/>
          <p:nvPr/>
        </p:nvSpPr>
        <p:spPr>
          <a:xfrm>
            <a:off x="5975884" y="4546172"/>
            <a:ext cx="870751"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32bits</a:t>
            </a:r>
            <a:endParaRPr lang="zh-CN" altLang="en-US" dirty="0">
              <a:latin typeface="微软雅黑 Light" panose="020B0502040204020203" pitchFamily="34" charset="-122"/>
              <a:ea typeface="微软雅黑 Light" panose="020B0502040204020203" pitchFamily="34" charset="-122"/>
            </a:endParaRPr>
          </a:p>
        </p:txBody>
      </p:sp>
      <p:sp>
        <p:nvSpPr>
          <p:cNvPr id="43" name="文本框 42"/>
          <p:cNvSpPr txBox="1"/>
          <p:nvPr/>
        </p:nvSpPr>
        <p:spPr>
          <a:xfrm>
            <a:off x="7214860" y="4538793"/>
            <a:ext cx="728084"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8bits</a:t>
            </a:r>
            <a:endParaRPr lang="zh-CN" altLang="en-US" dirty="0">
              <a:latin typeface="微软雅黑 Light" panose="020B0502040204020203" pitchFamily="34" charset="-122"/>
              <a:ea typeface="微软雅黑 Light" panose="020B0502040204020203" pitchFamily="34" charset="-122"/>
            </a:endParaRPr>
          </a:p>
        </p:txBody>
      </p:sp>
      <p:sp>
        <p:nvSpPr>
          <p:cNvPr id="44" name="文本框 43"/>
          <p:cNvSpPr txBox="1"/>
          <p:nvPr/>
        </p:nvSpPr>
        <p:spPr>
          <a:xfrm>
            <a:off x="8155422" y="4537316"/>
            <a:ext cx="122341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0-160bits</a:t>
            </a:r>
            <a:endParaRPr lang="zh-CN" altLang="en-US" dirty="0">
              <a:latin typeface="微软雅黑 Light" panose="020B0502040204020203" pitchFamily="34" charset="-122"/>
              <a:ea typeface="微软雅黑 Light" panose="020B0502040204020203" pitchFamily="34" charset="-122"/>
            </a:endParaRPr>
          </a:p>
        </p:txBody>
      </p:sp>
      <p:sp>
        <p:nvSpPr>
          <p:cNvPr id="45" name="文本框 44"/>
          <p:cNvSpPr txBox="1"/>
          <p:nvPr/>
        </p:nvSpPr>
        <p:spPr>
          <a:xfrm>
            <a:off x="9488816" y="4537316"/>
            <a:ext cx="728084"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8bits</a:t>
            </a:r>
            <a:endParaRPr lang="zh-CN" altLang="en-US" dirty="0">
              <a:latin typeface="微软雅黑 Light" panose="020B0502040204020203" pitchFamily="34" charset="-122"/>
              <a:ea typeface="微软雅黑 Light" panose="020B0502040204020203" pitchFamily="34" charset="-122"/>
            </a:endParaRPr>
          </a:p>
        </p:txBody>
      </p:sp>
      <p:sp>
        <p:nvSpPr>
          <p:cNvPr id="46" name="文本框 45"/>
          <p:cNvSpPr txBox="1"/>
          <p:nvPr/>
        </p:nvSpPr>
        <p:spPr>
          <a:xfrm>
            <a:off x="10408213" y="4544133"/>
            <a:ext cx="122341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0-160bits</a:t>
            </a:r>
            <a:endParaRPr lang="zh-CN" altLang="en-US" dirty="0">
              <a:latin typeface="微软雅黑 Light" panose="020B0502040204020203" pitchFamily="34" charset="-122"/>
              <a:ea typeface="微软雅黑 Light" panose="020B0502040204020203" pitchFamily="34" charset="-122"/>
            </a:endParaRPr>
          </a:p>
        </p:txBody>
      </p:sp>
      <p:sp>
        <p:nvSpPr>
          <p:cNvPr id="47" name="文本框 46"/>
          <p:cNvSpPr txBox="1"/>
          <p:nvPr/>
        </p:nvSpPr>
        <p:spPr>
          <a:xfrm>
            <a:off x="523240" y="5013473"/>
            <a:ext cx="7419704" cy="460704"/>
          </a:xfrm>
          <a:prstGeom prst="rect">
            <a:avLst/>
          </a:prstGeom>
          <a:solidFill>
            <a:schemeClr val="bg2"/>
          </a:solidFill>
        </p:spPr>
        <p:txBody>
          <a:bodyPr wrap="square">
            <a:spAutoFit/>
          </a:bodyPr>
          <a:lstStyle>
            <a:defPPr>
              <a:defRPr lang="zh-CN"/>
            </a:defPPr>
            <a:lvl1pPr algn="ctr">
              <a:lnSpc>
                <a:spcPct val="150000"/>
              </a:lnSpc>
              <a:defRPr sz="1800" kern="100">
                <a:effectLst/>
                <a:latin typeface="微软雅黑 Light" panose="020B0502040204020203" pitchFamily="34" charset="-122"/>
                <a:ea typeface="微软雅黑 Light" panose="020B0502040204020203" pitchFamily="34" charset="-122"/>
              </a:defRPr>
            </a:lvl1pPr>
          </a:lstStyle>
          <a:p>
            <a:r>
              <a:rPr lang="en-US" altLang="zh-CN" dirty="0"/>
              <a:t>Fixed Bit (FB) </a:t>
            </a:r>
            <a:r>
              <a:rPr lang="zh-CN" altLang="zh-CN" dirty="0"/>
              <a:t>：指示数据包是否有效。 如果设置为</a:t>
            </a:r>
            <a:r>
              <a:rPr lang="en-US" altLang="zh-CN" dirty="0"/>
              <a:t>0</a:t>
            </a:r>
            <a:r>
              <a:rPr lang="zh-CN" altLang="zh-CN" dirty="0"/>
              <a:t>，则数据包无效</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r>
              <a:rPr lang="en-US" altLang="zh-CN" dirty="0">
                <a:latin typeface="微软雅黑" panose="020B0503020204020204" pitchFamily="34" charset="-122"/>
                <a:sym typeface="+mn-lt"/>
              </a:rPr>
              <a:t>QUIC</a:t>
            </a:r>
            <a:r>
              <a:rPr lang="zh-CN" altLang="en-US" dirty="0">
                <a:latin typeface="微软雅黑" panose="020B0503020204020204" pitchFamily="34" charset="-122"/>
                <a:sym typeface="+mn-lt"/>
              </a:rPr>
              <a:t>报文格式：长首部</a:t>
            </a:r>
            <a:endParaRPr lang="zh-CN" altLang="en-US" dirty="0">
              <a:latin typeface="微软雅黑" panose="020B0503020204020204" pitchFamily="34" charset="-122"/>
            </a:endParaRPr>
          </a:p>
        </p:txBody>
      </p:sp>
      <p:sp>
        <p:nvSpPr>
          <p:cNvPr id="4" name="灯片编号占位符 3"/>
          <p:cNvSpPr>
            <a:spLocks noGrp="1"/>
          </p:cNvSpPr>
          <p:nvPr>
            <p:ph type="sldNum" sz="quarter" idx="12"/>
          </p:nvPr>
        </p:nvSpPr>
        <p:spPr/>
        <p:txBody>
          <a:bodyPr/>
          <a:lstStyle/>
          <a:p>
            <a:fld id="{C8BB1146-E542-4D4E-B8E9-6919A11DDD48}" type="slidenum">
              <a:rPr lang="en-US" smtClean="0"/>
              <a:t>90</a:t>
            </a:fld>
            <a:endParaRPr lang="en-US"/>
          </a:p>
        </p:txBody>
      </p:sp>
      <p:sp>
        <p:nvSpPr>
          <p:cNvPr id="5" name="文本框 4"/>
          <p:cNvSpPr txBox="1"/>
          <p:nvPr/>
        </p:nvSpPr>
        <p:spPr>
          <a:xfrm>
            <a:off x="619158" y="1376559"/>
            <a:ext cx="1412240"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Header Form</a:t>
            </a:r>
            <a:endParaRPr lang="zh-CN" altLang="en-US" sz="1600" dirty="0">
              <a:latin typeface="微软雅黑 Light" panose="020B0502040204020203" pitchFamily="34" charset="-122"/>
              <a:ea typeface="微软雅黑 Light" panose="020B0502040204020203" pitchFamily="34" charset="-122"/>
            </a:endParaRPr>
          </a:p>
        </p:txBody>
      </p:sp>
      <p:sp>
        <p:nvSpPr>
          <p:cNvPr id="6" name="文本框 5"/>
          <p:cNvSpPr txBox="1"/>
          <p:nvPr/>
        </p:nvSpPr>
        <p:spPr>
          <a:xfrm>
            <a:off x="2031399" y="1376559"/>
            <a:ext cx="1016000" cy="648000"/>
          </a:xfrm>
          <a:prstGeom prst="rect">
            <a:avLst/>
          </a:prstGeom>
          <a:noFill/>
          <a:ln w="9525">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Fixed Bit</a:t>
            </a:r>
            <a:endParaRPr lang="zh-CN" altLang="en-US" sz="1600" dirty="0">
              <a:latin typeface="微软雅黑 Light" panose="020B0502040204020203" pitchFamily="34" charset="-122"/>
              <a:ea typeface="微软雅黑 Light" panose="020B0502040204020203" pitchFamily="34" charset="-122"/>
            </a:endParaRPr>
          </a:p>
        </p:txBody>
      </p:sp>
      <p:sp>
        <p:nvSpPr>
          <p:cNvPr id="8" name="文本框 7"/>
          <p:cNvSpPr txBox="1"/>
          <p:nvPr/>
        </p:nvSpPr>
        <p:spPr>
          <a:xfrm>
            <a:off x="3047399" y="1376559"/>
            <a:ext cx="1369131" cy="648000"/>
          </a:xfrm>
          <a:prstGeom prst="rect">
            <a:avLst/>
          </a:prstGeom>
          <a:noFill/>
          <a:ln w="28575">
            <a:solidFill>
              <a:srgbClr val="FF0000"/>
            </a:solidFill>
          </a:ln>
        </p:spPr>
        <p:txBody>
          <a:bodyPr wrap="square" rtlCol="0">
            <a:noAutofit/>
          </a:bodyPr>
          <a:lstStyle/>
          <a:p>
            <a:pPr algn="ctr"/>
            <a:r>
              <a:rPr lang="en-US" altLang="zh-CN" sz="1600" dirty="0">
                <a:solidFill>
                  <a:srgbClr val="FF0000"/>
                </a:solidFill>
                <a:latin typeface="微软雅黑 Light" panose="020B0502040204020203" pitchFamily="34" charset="-122"/>
                <a:ea typeface="微软雅黑 Light" panose="020B0502040204020203" pitchFamily="34" charset="-122"/>
              </a:rPr>
              <a:t>Long Packet Type</a:t>
            </a:r>
            <a:endParaRPr lang="zh-CN" altLang="en-US" sz="1600" dirty="0">
              <a:solidFill>
                <a:srgbClr val="FF0000"/>
              </a:solidFill>
              <a:latin typeface="微软雅黑 Light" panose="020B0502040204020203" pitchFamily="34" charset="-122"/>
              <a:ea typeface="微软雅黑 Light" panose="020B0502040204020203" pitchFamily="34" charset="-122"/>
            </a:endParaRPr>
          </a:p>
        </p:txBody>
      </p:sp>
      <p:sp>
        <p:nvSpPr>
          <p:cNvPr id="9" name="文本框 8"/>
          <p:cNvSpPr txBox="1"/>
          <p:nvPr/>
        </p:nvSpPr>
        <p:spPr>
          <a:xfrm>
            <a:off x="4416530" y="1376559"/>
            <a:ext cx="1412241" cy="648000"/>
          </a:xfrm>
          <a:prstGeom prst="rect">
            <a:avLst/>
          </a:prstGeom>
          <a:noFill/>
          <a:ln>
            <a:solidFill>
              <a:schemeClr val="tx1"/>
            </a:solidFill>
          </a:ln>
        </p:spPr>
        <p:txBody>
          <a:bodyPr wrap="square" rtlCol="0">
            <a:noAutofit/>
          </a:bodyPr>
          <a:lstStyle/>
          <a:p>
            <a:pPr algn="ctr"/>
            <a:r>
              <a:rPr lang="en-US" altLang="zh-CN" sz="1600" dirty="0">
                <a:latin typeface="微软雅黑 Light" panose="020B0502040204020203" pitchFamily="34" charset="-122"/>
                <a:ea typeface="微软雅黑 Light" panose="020B0502040204020203" pitchFamily="34" charset="-122"/>
              </a:rPr>
              <a:t>Type-Specific Bits</a:t>
            </a:r>
            <a:endParaRPr lang="zh-CN" altLang="en-US" sz="1600" dirty="0">
              <a:latin typeface="微软雅黑 Light" panose="020B0502040204020203" pitchFamily="34" charset="-122"/>
              <a:ea typeface="微软雅黑 Light" panose="020B0502040204020203" pitchFamily="34" charset="-122"/>
            </a:endParaRPr>
          </a:p>
        </p:txBody>
      </p:sp>
      <p:sp>
        <p:nvSpPr>
          <p:cNvPr id="10" name="文本框 9"/>
          <p:cNvSpPr txBox="1"/>
          <p:nvPr/>
        </p:nvSpPr>
        <p:spPr>
          <a:xfrm>
            <a:off x="5828771" y="1376559"/>
            <a:ext cx="1170867"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Version ID</a:t>
            </a:r>
            <a:endParaRPr lang="zh-CN" altLang="en-US" sz="1600" dirty="0">
              <a:latin typeface="微软雅黑 Light" panose="020B0502040204020203" pitchFamily="34" charset="-122"/>
              <a:ea typeface="微软雅黑 Light" panose="020B0502040204020203" pitchFamily="34" charset="-122"/>
            </a:endParaRPr>
          </a:p>
        </p:txBody>
      </p:sp>
      <p:sp>
        <p:nvSpPr>
          <p:cNvPr id="11" name="文本框 10"/>
          <p:cNvSpPr txBox="1"/>
          <p:nvPr/>
        </p:nvSpPr>
        <p:spPr>
          <a:xfrm>
            <a:off x="6999638" y="1376559"/>
            <a:ext cx="1170867"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DCID Len</a:t>
            </a:r>
            <a:endParaRPr lang="zh-CN" altLang="en-US" sz="1600" dirty="0">
              <a:latin typeface="微软雅黑 Light" panose="020B0502040204020203" pitchFamily="34" charset="-122"/>
              <a:ea typeface="微软雅黑 Light" panose="020B0502040204020203" pitchFamily="34" charset="-122"/>
            </a:endParaRPr>
          </a:p>
        </p:txBody>
      </p:sp>
      <p:sp>
        <p:nvSpPr>
          <p:cNvPr id="12" name="文本框 11"/>
          <p:cNvSpPr txBox="1"/>
          <p:nvPr/>
        </p:nvSpPr>
        <p:spPr>
          <a:xfrm>
            <a:off x="8166451" y="1376559"/>
            <a:ext cx="1170867"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DCID</a:t>
            </a:r>
            <a:endParaRPr lang="zh-CN" altLang="en-US" sz="1600" dirty="0">
              <a:latin typeface="微软雅黑 Light" panose="020B0502040204020203" pitchFamily="34" charset="-122"/>
              <a:ea typeface="微软雅黑 Light" panose="020B0502040204020203" pitchFamily="34" charset="-122"/>
            </a:endParaRPr>
          </a:p>
        </p:txBody>
      </p:sp>
      <p:sp>
        <p:nvSpPr>
          <p:cNvPr id="13" name="文本框 12"/>
          <p:cNvSpPr txBox="1"/>
          <p:nvPr/>
        </p:nvSpPr>
        <p:spPr>
          <a:xfrm>
            <a:off x="9337318" y="1376559"/>
            <a:ext cx="1166813"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SCID Len</a:t>
            </a:r>
            <a:endParaRPr lang="zh-CN" altLang="en-US" sz="1600" dirty="0">
              <a:latin typeface="微软雅黑 Light" panose="020B0502040204020203" pitchFamily="34" charset="-122"/>
              <a:ea typeface="微软雅黑 Light" panose="020B0502040204020203" pitchFamily="34" charset="-122"/>
            </a:endParaRPr>
          </a:p>
        </p:txBody>
      </p:sp>
      <p:sp>
        <p:nvSpPr>
          <p:cNvPr id="14" name="文本框 13"/>
          <p:cNvSpPr txBox="1"/>
          <p:nvPr/>
        </p:nvSpPr>
        <p:spPr>
          <a:xfrm>
            <a:off x="10504131" y="1376559"/>
            <a:ext cx="1166813"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SCID</a:t>
            </a:r>
            <a:endParaRPr lang="zh-CN" altLang="en-US" sz="1600" dirty="0">
              <a:latin typeface="微软雅黑 Light" panose="020B0502040204020203" pitchFamily="34" charset="-122"/>
              <a:ea typeface="微软雅黑 Light" panose="020B0502040204020203" pitchFamily="34" charset="-122"/>
            </a:endParaRPr>
          </a:p>
        </p:txBody>
      </p:sp>
      <p:sp>
        <p:nvSpPr>
          <p:cNvPr id="17" name="文本框 16"/>
          <p:cNvSpPr txBox="1"/>
          <p:nvPr/>
        </p:nvSpPr>
        <p:spPr>
          <a:xfrm>
            <a:off x="1000158" y="2058809"/>
            <a:ext cx="57740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1bit</a:t>
            </a:r>
            <a:endParaRPr lang="zh-CN" altLang="en-US" dirty="0">
              <a:latin typeface="微软雅黑 Light" panose="020B0502040204020203" pitchFamily="34" charset="-122"/>
              <a:ea typeface="微软雅黑 Light" panose="020B0502040204020203" pitchFamily="34" charset="-122"/>
            </a:endParaRPr>
          </a:p>
        </p:txBody>
      </p:sp>
      <p:sp>
        <p:nvSpPr>
          <p:cNvPr id="18" name="文本框 17"/>
          <p:cNvSpPr txBox="1"/>
          <p:nvPr/>
        </p:nvSpPr>
        <p:spPr>
          <a:xfrm>
            <a:off x="2261117" y="2058809"/>
            <a:ext cx="57740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1bit</a:t>
            </a:r>
            <a:endParaRPr lang="zh-CN" altLang="en-US" dirty="0">
              <a:latin typeface="微软雅黑 Light" panose="020B0502040204020203" pitchFamily="34" charset="-122"/>
              <a:ea typeface="微软雅黑 Light" panose="020B0502040204020203" pitchFamily="34" charset="-122"/>
            </a:endParaRPr>
          </a:p>
        </p:txBody>
      </p:sp>
      <p:sp>
        <p:nvSpPr>
          <p:cNvPr id="19" name="文本框 18"/>
          <p:cNvSpPr txBox="1"/>
          <p:nvPr/>
        </p:nvSpPr>
        <p:spPr>
          <a:xfrm>
            <a:off x="3453682" y="2058809"/>
            <a:ext cx="728084"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2bits</a:t>
            </a:r>
            <a:endParaRPr lang="zh-CN" altLang="en-US" dirty="0">
              <a:latin typeface="微软雅黑 Light" panose="020B0502040204020203" pitchFamily="34" charset="-122"/>
              <a:ea typeface="微软雅黑 Light" panose="020B0502040204020203" pitchFamily="34" charset="-122"/>
            </a:endParaRPr>
          </a:p>
        </p:txBody>
      </p:sp>
      <p:sp>
        <p:nvSpPr>
          <p:cNvPr id="20" name="文本框 19"/>
          <p:cNvSpPr txBox="1"/>
          <p:nvPr/>
        </p:nvSpPr>
        <p:spPr>
          <a:xfrm>
            <a:off x="4805220" y="2053469"/>
            <a:ext cx="732893"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4bits</a:t>
            </a:r>
            <a:endParaRPr lang="zh-CN" altLang="en-US" dirty="0">
              <a:latin typeface="微软雅黑 Light" panose="020B0502040204020203" pitchFamily="34" charset="-122"/>
              <a:ea typeface="微软雅黑 Light" panose="020B0502040204020203" pitchFamily="34" charset="-122"/>
            </a:endParaRPr>
          </a:p>
        </p:txBody>
      </p:sp>
      <p:sp>
        <p:nvSpPr>
          <p:cNvPr id="21" name="文本框 20"/>
          <p:cNvSpPr txBox="1"/>
          <p:nvPr/>
        </p:nvSpPr>
        <p:spPr>
          <a:xfrm>
            <a:off x="6071802" y="2060848"/>
            <a:ext cx="870751"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32bits</a:t>
            </a:r>
            <a:endParaRPr lang="zh-CN" altLang="en-US" dirty="0">
              <a:latin typeface="微软雅黑 Light" panose="020B0502040204020203" pitchFamily="34" charset="-122"/>
              <a:ea typeface="微软雅黑 Light" panose="020B0502040204020203" pitchFamily="34" charset="-122"/>
            </a:endParaRPr>
          </a:p>
        </p:txBody>
      </p:sp>
      <p:sp>
        <p:nvSpPr>
          <p:cNvPr id="22" name="文本框 21"/>
          <p:cNvSpPr txBox="1"/>
          <p:nvPr/>
        </p:nvSpPr>
        <p:spPr>
          <a:xfrm>
            <a:off x="7310778" y="2053469"/>
            <a:ext cx="728084"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8bits</a:t>
            </a:r>
            <a:endParaRPr lang="zh-CN" altLang="en-US" dirty="0">
              <a:latin typeface="微软雅黑 Light" panose="020B0502040204020203" pitchFamily="34" charset="-122"/>
              <a:ea typeface="微软雅黑 Light" panose="020B0502040204020203" pitchFamily="34" charset="-122"/>
            </a:endParaRPr>
          </a:p>
        </p:txBody>
      </p:sp>
      <p:sp>
        <p:nvSpPr>
          <p:cNvPr id="23" name="文本框 22"/>
          <p:cNvSpPr txBox="1"/>
          <p:nvPr/>
        </p:nvSpPr>
        <p:spPr>
          <a:xfrm>
            <a:off x="8251340" y="2051992"/>
            <a:ext cx="122341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0-160bits</a:t>
            </a:r>
            <a:endParaRPr lang="zh-CN" altLang="en-US" dirty="0">
              <a:latin typeface="微软雅黑 Light" panose="020B0502040204020203" pitchFamily="34" charset="-122"/>
              <a:ea typeface="微软雅黑 Light" panose="020B0502040204020203" pitchFamily="34" charset="-122"/>
            </a:endParaRPr>
          </a:p>
        </p:txBody>
      </p:sp>
      <p:sp>
        <p:nvSpPr>
          <p:cNvPr id="24" name="文本框 23"/>
          <p:cNvSpPr txBox="1"/>
          <p:nvPr/>
        </p:nvSpPr>
        <p:spPr>
          <a:xfrm>
            <a:off x="9584734" y="2051992"/>
            <a:ext cx="728084"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8bits</a:t>
            </a:r>
            <a:endParaRPr lang="zh-CN" altLang="en-US" dirty="0">
              <a:latin typeface="微软雅黑 Light" panose="020B0502040204020203" pitchFamily="34" charset="-122"/>
              <a:ea typeface="微软雅黑 Light" panose="020B0502040204020203" pitchFamily="34" charset="-122"/>
            </a:endParaRPr>
          </a:p>
        </p:txBody>
      </p:sp>
      <p:sp>
        <p:nvSpPr>
          <p:cNvPr id="25" name="文本框 24"/>
          <p:cNvSpPr txBox="1"/>
          <p:nvPr/>
        </p:nvSpPr>
        <p:spPr>
          <a:xfrm>
            <a:off x="10504131" y="2058809"/>
            <a:ext cx="122341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0-160bits</a:t>
            </a:r>
            <a:endParaRPr lang="zh-CN" altLang="en-US" dirty="0">
              <a:latin typeface="微软雅黑 Light" panose="020B0502040204020203" pitchFamily="34" charset="-122"/>
              <a:ea typeface="微软雅黑 Light" panose="020B0502040204020203" pitchFamily="34" charset="-122"/>
            </a:endParaRPr>
          </a:p>
        </p:txBody>
      </p:sp>
      <p:sp>
        <p:nvSpPr>
          <p:cNvPr id="27" name="文本框 26"/>
          <p:cNvSpPr txBox="1"/>
          <p:nvPr/>
        </p:nvSpPr>
        <p:spPr>
          <a:xfrm>
            <a:off x="2455503" y="2564505"/>
            <a:ext cx="5795837" cy="2122697"/>
          </a:xfrm>
          <a:prstGeom prst="rect">
            <a:avLst/>
          </a:prstGeom>
          <a:solidFill>
            <a:schemeClr val="bg2"/>
          </a:solidFill>
        </p:spPr>
        <p:txBody>
          <a:bodyPr wrap="square">
            <a:spAutoFit/>
          </a:bodyPr>
          <a:lstStyle>
            <a:defPPr>
              <a:defRPr lang="zh-CN"/>
            </a:defPPr>
            <a:lvl1pPr algn="ctr">
              <a:lnSpc>
                <a:spcPct val="150000"/>
              </a:lnSpc>
              <a:defRPr sz="1800" kern="100">
                <a:effectLst/>
                <a:latin typeface="微软雅黑 Light" panose="020B0502040204020203" pitchFamily="34" charset="-122"/>
                <a:ea typeface="微软雅黑 Light" panose="020B0502040204020203" pitchFamily="34" charset="-122"/>
              </a:defRPr>
            </a:lvl1pPr>
          </a:lstStyle>
          <a:p>
            <a:r>
              <a:rPr lang="en-US" altLang="zh-CN" dirty="0"/>
              <a:t>Long Packet Type (T) </a:t>
            </a:r>
            <a:r>
              <a:rPr lang="zh-CN" altLang="zh-CN" dirty="0"/>
              <a:t>：指示长</a:t>
            </a:r>
            <a:r>
              <a:rPr lang="zh-CN" altLang="en-US" dirty="0"/>
              <a:t>头</a:t>
            </a:r>
            <a:r>
              <a:rPr lang="zh-CN" altLang="zh-CN" dirty="0"/>
              <a:t>包的类型</a:t>
            </a:r>
            <a:endParaRPr lang="en-US" altLang="zh-CN" dirty="0"/>
          </a:p>
          <a:p>
            <a:pPr marL="342900" indent="-342900" algn="l">
              <a:buFont typeface="+mj-lt"/>
              <a:buAutoNum type="arabicPeriod"/>
            </a:pPr>
            <a:r>
              <a:rPr lang="en-US" altLang="zh-CN" dirty="0"/>
              <a:t>0x00: Initial Packet</a:t>
            </a:r>
          </a:p>
          <a:p>
            <a:pPr marL="342900" indent="-342900" algn="l">
              <a:buFont typeface="+mj-lt"/>
              <a:buAutoNum type="arabicPeriod"/>
            </a:pPr>
            <a:r>
              <a:rPr lang="en-US" altLang="zh-CN" dirty="0"/>
              <a:t>0x01: 0-RTT</a:t>
            </a:r>
          </a:p>
          <a:p>
            <a:pPr marL="342900" indent="-342900" algn="l">
              <a:buFont typeface="+mj-lt"/>
              <a:buAutoNum type="arabicPeriod"/>
            </a:pPr>
            <a:r>
              <a:rPr lang="en-US" altLang="zh-CN" dirty="0"/>
              <a:t>0x02: handshake Packet</a:t>
            </a:r>
          </a:p>
          <a:p>
            <a:pPr marL="342900" indent="-342900" algn="l">
              <a:buFont typeface="+mj-lt"/>
              <a:buAutoNum type="arabicPeriod"/>
            </a:pPr>
            <a:r>
              <a:rPr lang="en-US" altLang="zh-CN" dirty="0"/>
              <a:t>0x03: Retry Packet</a:t>
            </a:r>
            <a:endParaRPr lang="zh-CN" altLang="zh-CN"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r>
              <a:rPr lang="en-US" altLang="zh-CN" dirty="0">
                <a:latin typeface="微软雅黑" panose="020B0503020204020204" pitchFamily="34" charset="-122"/>
                <a:sym typeface="+mn-lt"/>
              </a:rPr>
              <a:t>QUIC</a:t>
            </a:r>
            <a:r>
              <a:rPr lang="zh-CN" altLang="en-US" dirty="0">
                <a:latin typeface="微软雅黑" panose="020B0503020204020204" pitchFamily="34" charset="-122"/>
                <a:sym typeface="+mn-lt"/>
              </a:rPr>
              <a:t>报文格式：长首部</a:t>
            </a:r>
            <a:endParaRPr lang="zh-CN" altLang="en-US" dirty="0">
              <a:latin typeface="微软雅黑" panose="020B0503020204020204" pitchFamily="34" charset="-122"/>
            </a:endParaRPr>
          </a:p>
        </p:txBody>
      </p:sp>
      <p:sp>
        <p:nvSpPr>
          <p:cNvPr id="4" name="灯片编号占位符 3"/>
          <p:cNvSpPr>
            <a:spLocks noGrp="1"/>
          </p:cNvSpPr>
          <p:nvPr>
            <p:ph type="sldNum" sz="quarter" idx="12"/>
          </p:nvPr>
        </p:nvSpPr>
        <p:spPr/>
        <p:txBody>
          <a:bodyPr/>
          <a:lstStyle/>
          <a:p>
            <a:fld id="{C8BB1146-E542-4D4E-B8E9-6919A11DDD48}" type="slidenum">
              <a:rPr lang="en-US" smtClean="0"/>
              <a:t>91</a:t>
            </a:fld>
            <a:endParaRPr lang="en-US"/>
          </a:p>
        </p:txBody>
      </p:sp>
      <p:sp>
        <p:nvSpPr>
          <p:cNvPr id="28" name="文本框 27"/>
          <p:cNvSpPr txBox="1"/>
          <p:nvPr/>
        </p:nvSpPr>
        <p:spPr>
          <a:xfrm>
            <a:off x="495853" y="1231621"/>
            <a:ext cx="1412240"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Header Form</a:t>
            </a:r>
            <a:endParaRPr lang="zh-CN" altLang="en-US" sz="1600" dirty="0">
              <a:latin typeface="微软雅黑 Light" panose="020B0502040204020203" pitchFamily="34" charset="-122"/>
              <a:ea typeface="微软雅黑 Light" panose="020B0502040204020203" pitchFamily="34" charset="-122"/>
            </a:endParaRPr>
          </a:p>
        </p:txBody>
      </p:sp>
      <p:sp>
        <p:nvSpPr>
          <p:cNvPr id="29" name="文本框 28"/>
          <p:cNvSpPr txBox="1"/>
          <p:nvPr/>
        </p:nvSpPr>
        <p:spPr>
          <a:xfrm>
            <a:off x="1908094" y="1229952"/>
            <a:ext cx="1016000" cy="648000"/>
          </a:xfrm>
          <a:prstGeom prst="rect">
            <a:avLst/>
          </a:prstGeom>
          <a:noFill/>
          <a:ln w="9525">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Fixed Bit</a:t>
            </a:r>
            <a:endParaRPr lang="zh-CN" altLang="en-US" sz="1600" dirty="0">
              <a:latin typeface="微软雅黑 Light" panose="020B0502040204020203" pitchFamily="34" charset="-122"/>
              <a:ea typeface="微软雅黑 Light" panose="020B0502040204020203" pitchFamily="34" charset="-122"/>
            </a:endParaRPr>
          </a:p>
        </p:txBody>
      </p:sp>
      <p:sp>
        <p:nvSpPr>
          <p:cNvPr id="30" name="文本框 29"/>
          <p:cNvSpPr txBox="1"/>
          <p:nvPr/>
        </p:nvSpPr>
        <p:spPr>
          <a:xfrm>
            <a:off x="2924094" y="1231620"/>
            <a:ext cx="1369131" cy="648000"/>
          </a:xfrm>
          <a:prstGeom prst="rect">
            <a:avLst/>
          </a:prstGeom>
          <a:noFill/>
          <a:ln w="9525">
            <a:solidFill>
              <a:schemeClr val="tx1"/>
            </a:solidFill>
          </a:ln>
        </p:spPr>
        <p:txBody>
          <a:bodyPr wrap="square" rtlCol="0">
            <a:noAutofit/>
          </a:bodyPr>
          <a:lstStyle/>
          <a:p>
            <a:pPr algn="ctr"/>
            <a:r>
              <a:rPr lang="en-US" altLang="zh-CN" sz="1600" dirty="0">
                <a:latin typeface="微软雅黑 Light" panose="020B0502040204020203" pitchFamily="34" charset="-122"/>
                <a:ea typeface="微软雅黑 Light" panose="020B0502040204020203" pitchFamily="34" charset="-122"/>
              </a:rPr>
              <a:t>Long Packet Type</a:t>
            </a:r>
            <a:endParaRPr lang="zh-CN" altLang="en-US" sz="1600" dirty="0">
              <a:latin typeface="微软雅黑 Light" panose="020B0502040204020203" pitchFamily="34" charset="-122"/>
              <a:ea typeface="微软雅黑 Light" panose="020B0502040204020203" pitchFamily="34" charset="-122"/>
            </a:endParaRPr>
          </a:p>
        </p:txBody>
      </p:sp>
      <p:sp>
        <p:nvSpPr>
          <p:cNvPr id="31" name="文本框 30"/>
          <p:cNvSpPr txBox="1"/>
          <p:nvPr/>
        </p:nvSpPr>
        <p:spPr>
          <a:xfrm>
            <a:off x="4293225" y="1229951"/>
            <a:ext cx="1412241" cy="648000"/>
          </a:xfrm>
          <a:prstGeom prst="rect">
            <a:avLst/>
          </a:prstGeom>
          <a:noFill/>
          <a:ln w="28575">
            <a:solidFill>
              <a:srgbClr val="FF0000"/>
            </a:solidFill>
          </a:ln>
        </p:spPr>
        <p:txBody>
          <a:bodyPr wrap="square" rtlCol="0">
            <a:noAutofit/>
          </a:bodyPr>
          <a:lstStyle/>
          <a:p>
            <a:pPr algn="ctr"/>
            <a:r>
              <a:rPr lang="en-US" altLang="zh-CN" sz="1600" dirty="0">
                <a:solidFill>
                  <a:srgbClr val="FF0000"/>
                </a:solidFill>
                <a:latin typeface="微软雅黑 Light" panose="020B0502040204020203" pitchFamily="34" charset="-122"/>
                <a:ea typeface="微软雅黑 Light" panose="020B0502040204020203" pitchFamily="34" charset="-122"/>
              </a:rPr>
              <a:t>Type-Specific Bits</a:t>
            </a:r>
            <a:endParaRPr lang="zh-CN" altLang="en-US" sz="1600" dirty="0">
              <a:solidFill>
                <a:srgbClr val="FF0000"/>
              </a:solidFill>
              <a:latin typeface="微软雅黑 Light" panose="020B0502040204020203" pitchFamily="34" charset="-122"/>
              <a:ea typeface="微软雅黑 Light" panose="020B0502040204020203" pitchFamily="34" charset="-122"/>
            </a:endParaRPr>
          </a:p>
        </p:txBody>
      </p:sp>
      <p:sp>
        <p:nvSpPr>
          <p:cNvPr id="32" name="文本框 31"/>
          <p:cNvSpPr txBox="1"/>
          <p:nvPr/>
        </p:nvSpPr>
        <p:spPr>
          <a:xfrm>
            <a:off x="5705466" y="1229951"/>
            <a:ext cx="1170867"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Version ID</a:t>
            </a:r>
            <a:endParaRPr lang="zh-CN" altLang="en-US" sz="1600" dirty="0">
              <a:latin typeface="微软雅黑 Light" panose="020B0502040204020203" pitchFamily="34" charset="-122"/>
              <a:ea typeface="微软雅黑 Light" panose="020B0502040204020203" pitchFamily="34" charset="-122"/>
            </a:endParaRPr>
          </a:p>
        </p:txBody>
      </p:sp>
      <p:sp>
        <p:nvSpPr>
          <p:cNvPr id="33" name="文本框 32"/>
          <p:cNvSpPr txBox="1"/>
          <p:nvPr/>
        </p:nvSpPr>
        <p:spPr>
          <a:xfrm>
            <a:off x="6876333" y="1229951"/>
            <a:ext cx="1170867"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DCID Len</a:t>
            </a:r>
            <a:endParaRPr lang="zh-CN" altLang="en-US" sz="1600" dirty="0">
              <a:latin typeface="微软雅黑 Light" panose="020B0502040204020203" pitchFamily="34" charset="-122"/>
              <a:ea typeface="微软雅黑 Light" panose="020B0502040204020203" pitchFamily="34" charset="-122"/>
            </a:endParaRPr>
          </a:p>
        </p:txBody>
      </p:sp>
      <p:sp>
        <p:nvSpPr>
          <p:cNvPr id="34" name="文本框 33"/>
          <p:cNvSpPr txBox="1"/>
          <p:nvPr/>
        </p:nvSpPr>
        <p:spPr>
          <a:xfrm>
            <a:off x="8043146" y="1229951"/>
            <a:ext cx="1170867"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DCID</a:t>
            </a:r>
            <a:endParaRPr lang="zh-CN" altLang="en-US" sz="1600" dirty="0">
              <a:latin typeface="微软雅黑 Light" panose="020B0502040204020203" pitchFamily="34" charset="-122"/>
              <a:ea typeface="微软雅黑 Light" panose="020B0502040204020203" pitchFamily="34" charset="-122"/>
            </a:endParaRPr>
          </a:p>
        </p:txBody>
      </p:sp>
      <p:sp>
        <p:nvSpPr>
          <p:cNvPr id="35" name="文本框 34"/>
          <p:cNvSpPr txBox="1"/>
          <p:nvPr/>
        </p:nvSpPr>
        <p:spPr>
          <a:xfrm>
            <a:off x="9214013" y="1229951"/>
            <a:ext cx="1166813"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SCID Len</a:t>
            </a:r>
            <a:endParaRPr lang="zh-CN" altLang="en-US" sz="1600" dirty="0">
              <a:latin typeface="微软雅黑 Light" panose="020B0502040204020203" pitchFamily="34" charset="-122"/>
              <a:ea typeface="微软雅黑 Light" panose="020B0502040204020203" pitchFamily="34" charset="-122"/>
            </a:endParaRPr>
          </a:p>
        </p:txBody>
      </p:sp>
      <p:sp>
        <p:nvSpPr>
          <p:cNvPr id="36" name="文本框 35"/>
          <p:cNvSpPr txBox="1"/>
          <p:nvPr/>
        </p:nvSpPr>
        <p:spPr>
          <a:xfrm>
            <a:off x="10380826" y="1229951"/>
            <a:ext cx="1166813"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SCID</a:t>
            </a:r>
            <a:endParaRPr lang="zh-CN" altLang="en-US" sz="1600" dirty="0">
              <a:latin typeface="微软雅黑 Light" panose="020B0502040204020203" pitchFamily="34" charset="-122"/>
              <a:ea typeface="微软雅黑 Light" panose="020B0502040204020203" pitchFamily="34" charset="-122"/>
            </a:endParaRPr>
          </a:p>
        </p:txBody>
      </p:sp>
      <p:sp>
        <p:nvSpPr>
          <p:cNvPr id="38" name="文本框 37"/>
          <p:cNvSpPr txBox="1"/>
          <p:nvPr/>
        </p:nvSpPr>
        <p:spPr>
          <a:xfrm>
            <a:off x="876853" y="1913036"/>
            <a:ext cx="57740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1bit</a:t>
            </a:r>
            <a:endParaRPr lang="zh-CN" altLang="en-US" dirty="0">
              <a:latin typeface="微软雅黑 Light" panose="020B0502040204020203" pitchFamily="34" charset="-122"/>
              <a:ea typeface="微软雅黑 Light" panose="020B0502040204020203" pitchFamily="34" charset="-122"/>
            </a:endParaRPr>
          </a:p>
        </p:txBody>
      </p:sp>
      <p:sp>
        <p:nvSpPr>
          <p:cNvPr id="39" name="文本框 38"/>
          <p:cNvSpPr txBox="1"/>
          <p:nvPr/>
        </p:nvSpPr>
        <p:spPr>
          <a:xfrm>
            <a:off x="2137812" y="1913036"/>
            <a:ext cx="57740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1bit</a:t>
            </a:r>
            <a:endParaRPr lang="zh-CN" altLang="en-US" dirty="0">
              <a:latin typeface="微软雅黑 Light" panose="020B0502040204020203" pitchFamily="34" charset="-122"/>
              <a:ea typeface="微软雅黑 Light" panose="020B0502040204020203" pitchFamily="34" charset="-122"/>
            </a:endParaRPr>
          </a:p>
        </p:txBody>
      </p:sp>
      <p:sp>
        <p:nvSpPr>
          <p:cNvPr id="40" name="文本框 39"/>
          <p:cNvSpPr txBox="1"/>
          <p:nvPr/>
        </p:nvSpPr>
        <p:spPr>
          <a:xfrm>
            <a:off x="3330377" y="1913036"/>
            <a:ext cx="728084"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2bits</a:t>
            </a:r>
            <a:endParaRPr lang="zh-CN" altLang="en-US" dirty="0">
              <a:latin typeface="微软雅黑 Light" panose="020B0502040204020203" pitchFamily="34" charset="-122"/>
              <a:ea typeface="微软雅黑 Light" panose="020B0502040204020203" pitchFamily="34" charset="-122"/>
            </a:endParaRPr>
          </a:p>
        </p:txBody>
      </p:sp>
      <p:sp>
        <p:nvSpPr>
          <p:cNvPr id="41" name="文本框 40"/>
          <p:cNvSpPr txBox="1"/>
          <p:nvPr/>
        </p:nvSpPr>
        <p:spPr>
          <a:xfrm>
            <a:off x="4681915" y="1907696"/>
            <a:ext cx="732893"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4bits</a:t>
            </a:r>
            <a:endParaRPr lang="zh-CN" altLang="en-US" dirty="0">
              <a:latin typeface="微软雅黑 Light" panose="020B0502040204020203" pitchFamily="34" charset="-122"/>
              <a:ea typeface="微软雅黑 Light" panose="020B0502040204020203" pitchFamily="34" charset="-122"/>
            </a:endParaRPr>
          </a:p>
        </p:txBody>
      </p:sp>
      <p:sp>
        <p:nvSpPr>
          <p:cNvPr id="42" name="文本框 41"/>
          <p:cNvSpPr txBox="1"/>
          <p:nvPr/>
        </p:nvSpPr>
        <p:spPr>
          <a:xfrm>
            <a:off x="5948497" y="1915075"/>
            <a:ext cx="870751"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32bits</a:t>
            </a:r>
            <a:endParaRPr lang="zh-CN" altLang="en-US" dirty="0">
              <a:latin typeface="微软雅黑 Light" panose="020B0502040204020203" pitchFamily="34" charset="-122"/>
              <a:ea typeface="微软雅黑 Light" panose="020B0502040204020203" pitchFamily="34" charset="-122"/>
            </a:endParaRPr>
          </a:p>
        </p:txBody>
      </p:sp>
      <p:sp>
        <p:nvSpPr>
          <p:cNvPr id="43" name="文本框 42"/>
          <p:cNvSpPr txBox="1"/>
          <p:nvPr/>
        </p:nvSpPr>
        <p:spPr>
          <a:xfrm>
            <a:off x="7187473" y="1907696"/>
            <a:ext cx="728084"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8bits</a:t>
            </a:r>
            <a:endParaRPr lang="zh-CN" altLang="en-US" dirty="0">
              <a:latin typeface="微软雅黑 Light" panose="020B0502040204020203" pitchFamily="34" charset="-122"/>
              <a:ea typeface="微软雅黑 Light" panose="020B0502040204020203" pitchFamily="34" charset="-122"/>
            </a:endParaRPr>
          </a:p>
        </p:txBody>
      </p:sp>
      <p:sp>
        <p:nvSpPr>
          <p:cNvPr id="44" name="文本框 43"/>
          <p:cNvSpPr txBox="1"/>
          <p:nvPr/>
        </p:nvSpPr>
        <p:spPr>
          <a:xfrm>
            <a:off x="8128035" y="1906219"/>
            <a:ext cx="122341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0-160bits</a:t>
            </a:r>
            <a:endParaRPr lang="zh-CN" altLang="en-US" dirty="0">
              <a:latin typeface="微软雅黑 Light" panose="020B0502040204020203" pitchFamily="34" charset="-122"/>
              <a:ea typeface="微软雅黑 Light" panose="020B0502040204020203" pitchFamily="34" charset="-122"/>
            </a:endParaRPr>
          </a:p>
        </p:txBody>
      </p:sp>
      <p:sp>
        <p:nvSpPr>
          <p:cNvPr id="45" name="文本框 44"/>
          <p:cNvSpPr txBox="1"/>
          <p:nvPr/>
        </p:nvSpPr>
        <p:spPr>
          <a:xfrm>
            <a:off x="9461429" y="1906219"/>
            <a:ext cx="728084"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8bits</a:t>
            </a:r>
            <a:endParaRPr lang="zh-CN" altLang="en-US" dirty="0">
              <a:latin typeface="微软雅黑 Light" panose="020B0502040204020203" pitchFamily="34" charset="-122"/>
              <a:ea typeface="微软雅黑 Light" panose="020B0502040204020203" pitchFamily="34" charset="-122"/>
            </a:endParaRPr>
          </a:p>
        </p:txBody>
      </p:sp>
      <p:sp>
        <p:nvSpPr>
          <p:cNvPr id="46" name="文本框 45"/>
          <p:cNvSpPr txBox="1"/>
          <p:nvPr/>
        </p:nvSpPr>
        <p:spPr>
          <a:xfrm>
            <a:off x="10380826" y="1913036"/>
            <a:ext cx="122341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0-160bits</a:t>
            </a:r>
            <a:endParaRPr lang="zh-CN" altLang="en-US" dirty="0">
              <a:latin typeface="微软雅黑 Light" panose="020B0502040204020203" pitchFamily="34" charset="-122"/>
              <a:ea typeface="微软雅黑 Light" panose="020B0502040204020203" pitchFamily="34" charset="-122"/>
            </a:endParaRPr>
          </a:p>
        </p:txBody>
      </p:sp>
      <p:sp>
        <p:nvSpPr>
          <p:cNvPr id="47" name="文本框 46"/>
          <p:cNvSpPr txBox="1"/>
          <p:nvPr/>
        </p:nvSpPr>
        <p:spPr>
          <a:xfrm>
            <a:off x="2260553" y="2334340"/>
            <a:ext cx="5569653" cy="460704"/>
          </a:xfrm>
          <a:prstGeom prst="rect">
            <a:avLst/>
          </a:prstGeom>
          <a:solidFill>
            <a:schemeClr val="bg2"/>
          </a:solidFill>
        </p:spPr>
        <p:txBody>
          <a:bodyPr wrap="square">
            <a:spAutoFit/>
          </a:bodyPr>
          <a:lstStyle>
            <a:defPPr>
              <a:defRPr lang="zh-CN"/>
            </a:defPPr>
            <a:lvl1pPr algn="ctr">
              <a:lnSpc>
                <a:spcPct val="150000"/>
              </a:lnSpc>
              <a:defRPr sz="1800" kern="100">
                <a:effectLst/>
                <a:latin typeface="微软雅黑 Light" panose="020B0502040204020203" pitchFamily="34" charset="-122"/>
                <a:ea typeface="微软雅黑 Light" panose="020B0502040204020203" pitchFamily="34" charset="-122"/>
              </a:defRPr>
            </a:lvl1pPr>
          </a:lstStyle>
          <a:p>
            <a:r>
              <a:rPr lang="en-US" altLang="zh-CN" dirty="0"/>
              <a:t>Type-Specific Bits (S) </a:t>
            </a:r>
            <a:r>
              <a:rPr lang="zh-CN" altLang="zh-CN" dirty="0"/>
              <a:t>：指定长</a:t>
            </a:r>
            <a:r>
              <a:rPr lang="zh-CN" altLang="en-US" dirty="0"/>
              <a:t>头</a:t>
            </a:r>
            <a:r>
              <a:rPr lang="zh-CN" altLang="zh-CN" dirty="0"/>
              <a:t>包类型的位</a:t>
            </a:r>
          </a:p>
        </p:txBody>
      </p:sp>
      <p:sp>
        <p:nvSpPr>
          <p:cNvPr id="48" name="文本框 47"/>
          <p:cNvSpPr txBox="1"/>
          <p:nvPr/>
        </p:nvSpPr>
        <p:spPr>
          <a:xfrm>
            <a:off x="495853" y="3834224"/>
            <a:ext cx="1412240"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Header Form</a:t>
            </a:r>
            <a:endParaRPr lang="zh-CN" altLang="en-US" sz="1600" dirty="0">
              <a:latin typeface="微软雅黑 Light" panose="020B0502040204020203" pitchFamily="34" charset="-122"/>
              <a:ea typeface="微软雅黑 Light" panose="020B0502040204020203" pitchFamily="34" charset="-122"/>
            </a:endParaRPr>
          </a:p>
        </p:txBody>
      </p:sp>
      <p:sp>
        <p:nvSpPr>
          <p:cNvPr id="49" name="文本框 48"/>
          <p:cNvSpPr txBox="1"/>
          <p:nvPr/>
        </p:nvSpPr>
        <p:spPr>
          <a:xfrm>
            <a:off x="1908094" y="3834224"/>
            <a:ext cx="1016000" cy="648000"/>
          </a:xfrm>
          <a:prstGeom prst="rect">
            <a:avLst/>
          </a:prstGeom>
          <a:noFill/>
          <a:ln w="9525">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Fixed Bit</a:t>
            </a:r>
            <a:endParaRPr lang="zh-CN" altLang="en-US" sz="1600" dirty="0">
              <a:latin typeface="微软雅黑 Light" panose="020B0502040204020203" pitchFamily="34" charset="-122"/>
              <a:ea typeface="微软雅黑 Light" panose="020B0502040204020203" pitchFamily="34" charset="-122"/>
            </a:endParaRPr>
          </a:p>
        </p:txBody>
      </p:sp>
      <p:sp>
        <p:nvSpPr>
          <p:cNvPr id="50" name="文本框 49"/>
          <p:cNvSpPr txBox="1"/>
          <p:nvPr/>
        </p:nvSpPr>
        <p:spPr>
          <a:xfrm>
            <a:off x="2924094" y="3834224"/>
            <a:ext cx="1369131" cy="648000"/>
          </a:xfrm>
          <a:prstGeom prst="rect">
            <a:avLst/>
          </a:prstGeom>
          <a:noFill/>
          <a:ln w="9525">
            <a:solidFill>
              <a:schemeClr val="tx1"/>
            </a:solidFill>
          </a:ln>
        </p:spPr>
        <p:txBody>
          <a:bodyPr wrap="square" rtlCol="0">
            <a:noAutofit/>
          </a:bodyPr>
          <a:lstStyle/>
          <a:p>
            <a:pPr algn="ctr"/>
            <a:r>
              <a:rPr lang="en-US" altLang="zh-CN" sz="1600" dirty="0">
                <a:latin typeface="微软雅黑 Light" panose="020B0502040204020203" pitchFamily="34" charset="-122"/>
                <a:ea typeface="微软雅黑 Light" panose="020B0502040204020203" pitchFamily="34" charset="-122"/>
              </a:rPr>
              <a:t>Long Packet Type</a:t>
            </a:r>
            <a:endParaRPr lang="zh-CN" altLang="en-US" sz="1600" dirty="0">
              <a:latin typeface="微软雅黑 Light" panose="020B0502040204020203" pitchFamily="34" charset="-122"/>
              <a:ea typeface="微软雅黑 Light" panose="020B0502040204020203" pitchFamily="34" charset="-122"/>
            </a:endParaRPr>
          </a:p>
        </p:txBody>
      </p:sp>
      <p:sp>
        <p:nvSpPr>
          <p:cNvPr id="51" name="文本框 50"/>
          <p:cNvSpPr txBox="1"/>
          <p:nvPr/>
        </p:nvSpPr>
        <p:spPr>
          <a:xfrm>
            <a:off x="4293225" y="3834224"/>
            <a:ext cx="1412241" cy="648000"/>
          </a:xfrm>
          <a:prstGeom prst="rect">
            <a:avLst/>
          </a:prstGeom>
          <a:noFill/>
          <a:ln w="9525">
            <a:solidFill>
              <a:schemeClr val="tx1"/>
            </a:solidFill>
          </a:ln>
        </p:spPr>
        <p:txBody>
          <a:bodyPr wrap="square" rtlCol="0">
            <a:noAutofit/>
          </a:bodyPr>
          <a:lstStyle/>
          <a:p>
            <a:pPr algn="ctr"/>
            <a:r>
              <a:rPr lang="en-US" altLang="zh-CN" sz="1600" dirty="0">
                <a:latin typeface="微软雅黑 Light" panose="020B0502040204020203" pitchFamily="34" charset="-122"/>
                <a:ea typeface="微软雅黑 Light" panose="020B0502040204020203" pitchFamily="34" charset="-122"/>
              </a:rPr>
              <a:t>Type-Specific Bits</a:t>
            </a:r>
            <a:endParaRPr lang="zh-CN" altLang="en-US" sz="1600" dirty="0">
              <a:latin typeface="微软雅黑 Light" panose="020B0502040204020203" pitchFamily="34" charset="-122"/>
              <a:ea typeface="微软雅黑 Light" panose="020B0502040204020203" pitchFamily="34" charset="-122"/>
            </a:endParaRPr>
          </a:p>
        </p:txBody>
      </p:sp>
      <p:sp>
        <p:nvSpPr>
          <p:cNvPr id="52" name="文本框 51"/>
          <p:cNvSpPr txBox="1"/>
          <p:nvPr/>
        </p:nvSpPr>
        <p:spPr>
          <a:xfrm>
            <a:off x="5705466" y="3834224"/>
            <a:ext cx="1170867" cy="648000"/>
          </a:xfrm>
          <a:prstGeom prst="rect">
            <a:avLst/>
          </a:prstGeom>
          <a:noFill/>
          <a:ln w="28575">
            <a:solidFill>
              <a:srgbClr val="FF0000"/>
            </a:solidFill>
          </a:ln>
        </p:spPr>
        <p:txBody>
          <a:bodyPr wrap="square" tIns="144000" rtlCol="0">
            <a:noAutofit/>
          </a:bodyPr>
          <a:lstStyle/>
          <a:p>
            <a:pPr algn="ctr"/>
            <a:r>
              <a:rPr lang="en-US" altLang="zh-CN" sz="1600" dirty="0">
                <a:solidFill>
                  <a:srgbClr val="FF0000"/>
                </a:solidFill>
                <a:latin typeface="微软雅黑 Light" panose="020B0502040204020203" pitchFamily="34" charset="-122"/>
                <a:ea typeface="微软雅黑 Light" panose="020B0502040204020203" pitchFamily="34" charset="-122"/>
              </a:rPr>
              <a:t>Version ID</a:t>
            </a:r>
            <a:endParaRPr lang="zh-CN" altLang="en-US" sz="1600" dirty="0">
              <a:solidFill>
                <a:srgbClr val="FF0000"/>
              </a:solidFill>
              <a:latin typeface="微软雅黑 Light" panose="020B0502040204020203" pitchFamily="34" charset="-122"/>
              <a:ea typeface="微软雅黑 Light" panose="020B0502040204020203" pitchFamily="34" charset="-122"/>
            </a:endParaRPr>
          </a:p>
        </p:txBody>
      </p:sp>
      <p:sp>
        <p:nvSpPr>
          <p:cNvPr id="53" name="文本框 52"/>
          <p:cNvSpPr txBox="1"/>
          <p:nvPr/>
        </p:nvSpPr>
        <p:spPr>
          <a:xfrm>
            <a:off x="6876333" y="3834224"/>
            <a:ext cx="1170867"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DCID Len</a:t>
            </a:r>
            <a:endParaRPr lang="zh-CN" altLang="en-US" sz="1600" dirty="0">
              <a:latin typeface="微软雅黑 Light" panose="020B0502040204020203" pitchFamily="34" charset="-122"/>
              <a:ea typeface="微软雅黑 Light" panose="020B0502040204020203" pitchFamily="34" charset="-122"/>
            </a:endParaRPr>
          </a:p>
        </p:txBody>
      </p:sp>
      <p:sp>
        <p:nvSpPr>
          <p:cNvPr id="54" name="文本框 53"/>
          <p:cNvSpPr txBox="1"/>
          <p:nvPr/>
        </p:nvSpPr>
        <p:spPr>
          <a:xfrm>
            <a:off x="8043146" y="3834224"/>
            <a:ext cx="1170867"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DCID</a:t>
            </a:r>
            <a:endParaRPr lang="zh-CN" altLang="en-US" sz="1600" dirty="0">
              <a:latin typeface="微软雅黑 Light" panose="020B0502040204020203" pitchFamily="34" charset="-122"/>
              <a:ea typeface="微软雅黑 Light" panose="020B0502040204020203" pitchFamily="34" charset="-122"/>
            </a:endParaRPr>
          </a:p>
        </p:txBody>
      </p:sp>
      <p:sp>
        <p:nvSpPr>
          <p:cNvPr id="55" name="文本框 54"/>
          <p:cNvSpPr txBox="1"/>
          <p:nvPr/>
        </p:nvSpPr>
        <p:spPr>
          <a:xfrm>
            <a:off x="9214013" y="3834224"/>
            <a:ext cx="1166813"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SCID Len</a:t>
            </a:r>
            <a:endParaRPr lang="zh-CN" altLang="en-US" sz="1600" dirty="0">
              <a:latin typeface="微软雅黑 Light" panose="020B0502040204020203" pitchFamily="34" charset="-122"/>
              <a:ea typeface="微软雅黑 Light" panose="020B0502040204020203" pitchFamily="34" charset="-122"/>
            </a:endParaRPr>
          </a:p>
        </p:txBody>
      </p:sp>
      <p:sp>
        <p:nvSpPr>
          <p:cNvPr id="56" name="文本框 55"/>
          <p:cNvSpPr txBox="1"/>
          <p:nvPr/>
        </p:nvSpPr>
        <p:spPr>
          <a:xfrm>
            <a:off x="10384722" y="3834224"/>
            <a:ext cx="1166813"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SCID</a:t>
            </a:r>
            <a:endParaRPr lang="zh-CN" altLang="en-US" sz="1600" dirty="0">
              <a:latin typeface="微软雅黑 Light" panose="020B0502040204020203" pitchFamily="34" charset="-122"/>
              <a:ea typeface="微软雅黑 Light" panose="020B0502040204020203" pitchFamily="34" charset="-122"/>
            </a:endParaRPr>
          </a:p>
        </p:txBody>
      </p:sp>
      <p:sp>
        <p:nvSpPr>
          <p:cNvPr id="57" name="文本框 56"/>
          <p:cNvSpPr txBox="1"/>
          <p:nvPr/>
        </p:nvSpPr>
        <p:spPr>
          <a:xfrm>
            <a:off x="876853" y="4509657"/>
            <a:ext cx="57740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1bit</a:t>
            </a:r>
            <a:endParaRPr lang="zh-CN" altLang="en-US" dirty="0">
              <a:latin typeface="微软雅黑 Light" panose="020B0502040204020203" pitchFamily="34" charset="-122"/>
              <a:ea typeface="微软雅黑 Light" panose="020B0502040204020203" pitchFamily="34" charset="-122"/>
            </a:endParaRPr>
          </a:p>
        </p:txBody>
      </p:sp>
      <p:sp>
        <p:nvSpPr>
          <p:cNvPr id="58" name="文本框 57"/>
          <p:cNvSpPr txBox="1"/>
          <p:nvPr/>
        </p:nvSpPr>
        <p:spPr>
          <a:xfrm>
            <a:off x="2137812" y="4509657"/>
            <a:ext cx="57740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1bit</a:t>
            </a:r>
            <a:endParaRPr lang="zh-CN" altLang="en-US" dirty="0">
              <a:latin typeface="微软雅黑 Light" panose="020B0502040204020203" pitchFamily="34" charset="-122"/>
              <a:ea typeface="微软雅黑 Light" panose="020B0502040204020203" pitchFamily="34" charset="-122"/>
            </a:endParaRPr>
          </a:p>
        </p:txBody>
      </p:sp>
      <p:sp>
        <p:nvSpPr>
          <p:cNvPr id="59" name="文本框 58"/>
          <p:cNvSpPr txBox="1"/>
          <p:nvPr/>
        </p:nvSpPr>
        <p:spPr>
          <a:xfrm>
            <a:off x="3330377" y="4509657"/>
            <a:ext cx="728084"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2bits</a:t>
            </a:r>
            <a:endParaRPr lang="zh-CN" altLang="en-US" dirty="0">
              <a:latin typeface="微软雅黑 Light" panose="020B0502040204020203" pitchFamily="34" charset="-122"/>
              <a:ea typeface="微软雅黑 Light" panose="020B0502040204020203" pitchFamily="34" charset="-122"/>
            </a:endParaRPr>
          </a:p>
        </p:txBody>
      </p:sp>
      <p:sp>
        <p:nvSpPr>
          <p:cNvPr id="60" name="文本框 59"/>
          <p:cNvSpPr txBox="1"/>
          <p:nvPr/>
        </p:nvSpPr>
        <p:spPr>
          <a:xfrm>
            <a:off x="4681915" y="4509657"/>
            <a:ext cx="732893"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4bits</a:t>
            </a:r>
            <a:endParaRPr lang="zh-CN" altLang="en-US" dirty="0">
              <a:latin typeface="微软雅黑 Light" panose="020B0502040204020203" pitchFamily="34" charset="-122"/>
              <a:ea typeface="微软雅黑 Light" panose="020B0502040204020203" pitchFamily="34" charset="-122"/>
            </a:endParaRPr>
          </a:p>
        </p:txBody>
      </p:sp>
      <p:sp>
        <p:nvSpPr>
          <p:cNvPr id="61" name="文本框 60"/>
          <p:cNvSpPr txBox="1"/>
          <p:nvPr/>
        </p:nvSpPr>
        <p:spPr>
          <a:xfrm>
            <a:off x="5948497" y="4509657"/>
            <a:ext cx="870751"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32bits</a:t>
            </a:r>
            <a:endParaRPr lang="zh-CN" altLang="en-US" dirty="0">
              <a:latin typeface="微软雅黑 Light" panose="020B0502040204020203" pitchFamily="34" charset="-122"/>
              <a:ea typeface="微软雅黑 Light" panose="020B0502040204020203" pitchFamily="34" charset="-122"/>
            </a:endParaRPr>
          </a:p>
        </p:txBody>
      </p:sp>
      <p:sp>
        <p:nvSpPr>
          <p:cNvPr id="62" name="文本框 61"/>
          <p:cNvSpPr txBox="1"/>
          <p:nvPr/>
        </p:nvSpPr>
        <p:spPr>
          <a:xfrm>
            <a:off x="7187473" y="4509657"/>
            <a:ext cx="728084"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8bits</a:t>
            </a:r>
            <a:endParaRPr lang="zh-CN" altLang="en-US" dirty="0">
              <a:latin typeface="微软雅黑 Light" panose="020B0502040204020203" pitchFamily="34" charset="-122"/>
              <a:ea typeface="微软雅黑 Light" panose="020B0502040204020203" pitchFamily="34" charset="-122"/>
            </a:endParaRPr>
          </a:p>
        </p:txBody>
      </p:sp>
      <p:sp>
        <p:nvSpPr>
          <p:cNvPr id="63" name="文本框 62"/>
          <p:cNvSpPr txBox="1"/>
          <p:nvPr/>
        </p:nvSpPr>
        <p:spPr>
          <a:xfrm>
            <a:off x="8128035" y="4509657"/>
            <a:ext cx="122341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0-160bits</a:t>
            </a:r>
            <a:endParaRPr lang="zh-CN" altLang="en-US" dirty="0">
              <a:latin typeface="微软雅黑 Light" panose="020B0502040204020203" pitchFamily="34" charset="-122"/>
              <a:ea typeface="微软雅黑 Light" panose="020B0502040204020203" pitchFamily="34" charset="-122"/>
            </a:endParaRPr>
          </a:p>
        </p:txBody>
      </p:sp>
      <p:sp>
        <p:nvSpPr>
          <p:cNvPr id="64" name="文本框 63"/>
          <p:cNvSpPr txBox="1"/>
          <p:nvPr/>
        </p:nvSpPr>
        <p:spPr>
          <a:xfrm>
            <a:off x="9461429" y="4509657"/>
            <a:ext cx="728084"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8bits</a:t>
            </a:r>
            <a:endParaRPr lang="zh-CN" altLang="en-US" dirty="0">
              <a:latin typeface="微软雅黑 Light" panose="020B0502040204020203" pitchFamily="34" charset="-122"/>
              <a:ea typeface="微软雅黑 Light" panose="020B0502040204020203" pitchFamily="34" charset="-122"/>
            </a:endParaRPr>
          </a:p>
        </p:txBody>
      </p:sp>
      <p:sp>
        <p:nvSpPr>
          <p:cNvPr id="65" name="文本框 64"/>
          <p:cNvSpPr txBox="1"/>
          <p:nvPr/>
        </p:nvSpPr>
        <p:spPr>
          <a:xfrm>
            <a:off x="10277116" y="4509657"/>
            <a:ext cx="122341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0-160bits</a:t>
            </a:r>
            <a:endParaRPr lang="zh-CN" altLang="en-US" dirty="0">
              <a:latin typeface="微软雅黑 Light" panose="020B0502040204020203" pitchFamily="34" charset="-122"/>
              <a:ea typeface="微软雅黑 Light" panose="020B0502040204020203" pitchFamily="34" charset="-122"/>
            </a:endParaRPr>
          </a:p>
        </p:txBody>
      </p:sp>
      <p:sp>
        <p:nvSpPr>
          <p:cNvPr id="66" name="文本框 65"/>
          <p:cNvSpPr txBox="1"/>
          <p:nvPr/>
        </p:nvSpPr>
        <p:spPr>
          <a:xfrm>
            <a:off x="4671660" y="5127201"/>
            <a:ext cx="4740326" cy="460704"/>
          </a:xfrm>
          <a:prstGeom prst="rect">
            <a:avLst/>
          </a:prstGeom>
          <a:solidFill>
            <a:schemeClr val="bg2"/>
          </a:solidFill>
        </p:spPr>
        <p:txBody>
          <a:bodyPr wrap="square">
            <a:spAutoFit/>
          </a:bodyPr>
          <a:lstStyle>
            <a:defPPr>
              <a:defRPr lang="zh-CN"/>
            </a:defPPr>
            <a:lvl1pPr algn="ctr">
              <a:lnSpc>
                <a:spcPct val="150000"/>
              </a:lnSpc>
              <a:defRPr sz="1800" kern="100">
                <a:effectLst/>
                <a:latin typeface="微软雅黑 Light" panose="020B0502040204020203" pitchFamily="34" charset="-122"/>
                <a:ea typeface="微软雅黑 Light" panose="020B0502040204020203" pitchFamily="34" charset="-122"/>
              </a:defRPr>
            </a:lvl1pPr>
          </a:lstStyle>
          <a:p>
            <a:r>
              <a:rPr lang="en-US" altLang="zh-CN" dirty="0"/>
              <a:t>Version ID (VID) </a:t>
            </a:r>
            <a:r>
              <a:rPr lang="zh-CN" altLang="zh-CN" dirty="0"/>
              <a:t>：用于识别</a:t>
            </a:r>
            <a:r>
              <a:rPr lang="en-US" altLang="zh-CN" dirty="0"/>
              <a:t>QUIC</a:t>
            </a:r>
            <a:r>
              <a:rPr lang="zh-CN" altLang="zh-CN" dirty="0"/>
              <a:t>的版本</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r>
              <a:rPr lang="en-US" altLang="zh-CN" dirty="0">
                <a:latin typeface="微软雅黑" panose="020B0503020204020204" pitchFamily="34" charset="-122"/>
                <a:sym typeface="+mn-lt"/>
              </a:rPr>
              <a:t>QUIC</a:t>
            </a:r>
            <a:r>
              <a:rPr lang="zh-CN" altLang="en-US" dirty="0">
                <a:latin typeface="微软雅黑" panose="020B0503020204020204" pitchFamily="34" charset="-122"/>
                <a:sym typeface="+mn-lt"/>
              </a:rPr>
              <a:t>报文格式：长首部</a:t>
            </a:r>
            <a:endParaRPr lang="zh-CN" altLang="en-US" dirty="0">
              <a:latin typeface="微软雅黑" panose="020B0503020204020204" pitchFamily="34" charset="-122"/>
            </a:endParaRPr>
          </a:p>
        </p:txBody>
      </p:sp>
      <p:sp>
        <p:nvSpPr>
          <p:cNvPr id="4" name="灯片编号占位符 3"/>
          <p:cNvSpPr>
            <a:spLocks noGrp="1"/>
          </p:cNvSpPr>
          <p:nvPr>
            <p:ph type="sldNum" sz="quarter" idx="12"/>
          </p:nvPr>
        </p:nvSpPr>
        <p:spPr/>
        <p:txBody>
          <a:bodyPr/>
          <a:lstStyle/>
          <a:p>
            <a:fld id="{C8BB1146-E542-4D4E-B8E9-6919A11DDD48}" type="slidenum">
              <a:rPr lang="en-US" smtClean="0"/>
              <a:t>92</a:t>
            </a:fld>
            <a:endParaRPr lang="en-US"/>
          </a:p>
        </p:txBody>
      </p:sp>
      <p:sp>
        <p:nvSpPr>
          <p:cNvPr id="5" name="文本框 4"/>
          <p:cNvSpPr txBox="1"/>
          <p:nvPr/>
        </p:nvSpPr>
        <p:spPr>
          <a:xfrm>
            <a:off x="530435" y="4005064"/>
            <a:ext cx="1412240"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Header Form</a:t>
            </a:r>
            <a:endParaRPr lang="zh-CN" altLang="en-US" sz="1600" dirty="0">
              <a:latin typeface="微软雅黑 Light" panose="020B0502040204020203" pitchFamily="34" charset="-122"/>
              <a:ea typeface="微软雅黑 Light" panose="020B0502040204020203" pitchFamily="34" charset="-122"/>
            </a:endParaRPr>
          </a:p>
        </p:txBody>
      </p:sp>
      <p:sp>
        <p:nvSpPr>
          <p:cNvPr id="6" name="文本框 5"/>
          <p:cNvSpPr txBox="1"/>
          <p:nvPr/>
        </p:nvSpPr>
        <p:spPr>
          <a:xfrm>
            <a:off x="1942676" y="4005064"/>
            <a:ext cx="1016000" cy="648000"/>
          </a:xfrm>
          <a:prstGeom prst="rect">
            <a:avLst/>
          </a:prstGeom>
          <a:noFill/>
          <a:ln w="9525">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Fixed Bit</a:t>
            </a:r>
            <a:endParaRPr lang="zh-CN" altLang="en-US" sz="1600" dirty="0">
              <a:latin typeface="微软雅黑 Light" panose="020B0502040204020203" pitchFamily="34" charset="-122"/>
              <a:ea typeface="微软雅黑 Light" panose="020B0502040204020203" pitchFamily="34" charset="-122"/>
            </a:endParaRPr>
          </a:p>
        </p:txBody>
      </p:sp>
      <p:sp>
        <p:nvSpPr>
          <p:cNvPr id="8" name="文本框 7"/>
          <p:cNvSpPr txBox="1"/>
          <p:nvPr/>
        </p:nvSpPr>
        <p:spPr>
          <a:xfrm>
            <a:off x="2958676" y="4005064"/>
            <a:ext cx="1369131" cy="648000"/>
          </a:xfrm>
          <a:prstGeom prst="rect">
            <a:avLst/>
          </a:prstGeom>
          <a:noFill/>
          <a:ln w="9525">
            <a:solidFill>
              <a:schemeClr val="tx1"/>
            </a:solidFill>
          </a:ln>
        </p:spPr>
        <p:txBody>
          <a:bodyPr wrap="square" rtlCol="0">
            <a:noAutofit/>
          </a:bodyPr>
          <a:lstStyle/>
          <a:p>
            <a:pPr algn="ctr"/>
            <a:r>
              <a:rPr lang="en-US" altLang="zh-CN" sz="1600" dirty="0">
                <a:latin typeface="微软雅黑 Light" panose="020B0502040204020203" pitchFamily="34" charset="-122"/>
                <a:ea typeface="微软雅黑 Light" panose="020B0502040204020203" pitchFamily="34" charset="-122"/>
              </a:rPr>
              <a:t>Long Packet Type</a:t>
            </a:r>
            <a:endParaRPr lang="zh-CN" altLang="en-US" sz="1600" dirty="0">
              <a:latin typeface="微软雅黑 Light" panose="020B0502040204020203" pitchFamily="34" charset="-122"/>
              <a:ea typeface="微软雅黑 Light" panose="020B0502040204020203" pitchFamily="34" charset="-122"/>
            </a:endParaRPr>
          </a:p>
        </p:txBody>
      </p:sp>
      <p:sp>
        <p:nvSpPr>
          <p:cNvPr id="9" name="文本框 8"/>
          <p:cNvSpPr txBox="1"/>
          <p:nvPr/>
        </p:nvSpPr>
        <p:spPr>
          <a:xfrm>
            <a:off x="4327807" y="4005064"/>
            <a:ext cx="1412241" cy="648000"/>
          </a:xfrm>
          <a:prstGeom prst="rect">
            <a:avLst/>
          </a:prstGeom>
          <a:noFill/>
          <a:ln w="9525">
            <a:solidFill>
              <a:schemeClr val="tx1"/>
            </a:solidFill>
          </a:ln>
        </p:spPr>
        <p:txBody>
          <a:bodyPr wrap="square" rtlCol="0">
            <a:noAutofit/>
          </a:bodyPr>
          <a:lstStyle/>
          <a:p>
            <a:pPr algn="ctr"/>
            <a:r>
              <a:rPr lang="en-US" altLang="zh-CN" sz="1600" dirty="0">
                <a:latin typeface="微软雅黑 Light" panose="020B0502040204020203" pitchFamily="34" charset="-122"/>
                <a:ea typeface="微软雅黑 Light" panose="020B0502040204020203" pitchFamily="34" charset="-122"/>
              </a:rPr>
              <a:t>Type-Specific Bits</a:t>
            </a:r>
            <a:endParaRPr lang="zh-CN" altLang="en-US" sz="1600" dirty="0">
              <a:latin typeface="微软雅黑 Light" panose="020B0502040204020203" pitchFamily="34" charset="-122"/>
              <a:ea typeface="微软雅黑 Light" panose="020B0502040204020203" pitchFamily="34" charset="-122"/>
            </a:endParaRPr>
          </a:p>
        </p:txBody>
      </p:sp>
      <p:sp>
        <p:nvSpPr>
          <p:cNvPr id="10" name="文本框 9"/>
          <p:cNvSpPr txBox="1"/>
          <p:nvPr/>
        </p:nvSpPr>
        <p:spPr>
          <a:xfrm>
            <a:off x="5740048" y="4005064"/>
            <a:ext cx="1170867" cy="648000"/>
          </a:xfrm>
          <a:prstGeom prst="rect">
            <a:avLst/>
          </a:prstGeom>
          <a:noFill/>
          <a:ln w="9525">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Version ID</a:t>
            </a:r>
            <a:endParaRPr lang="zh-CN" altLang="en-US" sz="1600" dirty="0">
              <a:latin typeface="微软雅黑 Light" panose="020B0502040204020203" pitchFamily="34" charset="-122"/>
              <a:ea typeface="微软雅黑 Light" panose="020B0502040204020203" pitchFamily="34" charset="-122"/>
            </a:endParaRPr>
          </a:p>
        </p:txBody>
      </p:sp>
      <p:sp>
        <p:nvSpPr>
          <p:cNvPr id="11" name="文本框 10"/>
          <p:cNvSpPr txBox="1"/>
          <p:nvPr/>
        </p:nvSpPr>
        <p:spPr>
          <a:xfrm>
            <a:off x="6910915" y="4005064"/>
            <a:ext cx="1170867"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DCID Len</a:t>
            </a:r>
            <a:endParaRPr lang="zh-CN" altLang="en-US" sz="1600" dirty="0">
              <a:latin typeface="微软雅黑 Light" panose="020B0502040204020203" pitchFamily="34" charset="-122"/>
              <a:ea typeface="微软雅黑 Light" panose="020B0502040204020203" pitchFamily="34" charset="-122"/>
            </a:endParaRPr>
          </a:p>
        </p:txBody>
      </p:sp>
      <p:sp>
        <p:nvSpPr>
          <p:cNvPr id="12" name="文本框 11"/>
          <p:cNvSpPr txBox="1"/>
          <p:nvPr/>
        </p:nvSpPr>
        <p:spPr>
          <a:xfrm>
            <a:off x="8077728" y="4005064"/>
            <a:ext cx="1170867" cy="648000"/>
          </a:xfrm>
          <a:prstGeom prst="rect">
            <a:avLst/>
          </a:prstGeom>
          <a:noFill/>
          <a:ln w="28575">
            <a:solidFill>
              <a:srgbClr val="FF0000"/>
            </a:solidFill>
          </a:ln>
        </p:spPr>
        <p:txBody>
          <a:bodyPr wrap="square" tIns="144000" rtlCol="0">
            <a:noAutofit/>
          </a:bodyPr>
          <a:lstStyle/>
          <a:p>
            <a:pPr algn="ctr"/>
            <a:r>
              <a:rPr lang="en-US" altLang="zh-CN" sz="1600" dirty="0">
                <a:solidFill>
                  <a:srgbClr val="FF0000"/>
                </a:solidFill>
                <a:latin typeface="微软雅黑 Light" panose="020B0502040204020203" pitchFamily="34" charset="-122"/>
                <a:ea typeface="微软雅黑 Light" panose="020B0502040204020203" pitchFamily="34" charset="-122"/>
              </a:rPr>
              <a:t>DCID</a:t>
            </a:r>
            <a:endParaRPr lang="zh-CN" altLang="en-US" sz="1600" dirty="0">
              <a:solidFill>
                <a:srgbClr val="FF0000"/>
              </a:solidFill>
              <a:latin typeface="微软雅黑 Light" panose="020B0502040204020203" pitchFamily="34" charset="-122"/>
              <a:ea typeface="微软雅黑 Light" panose="020B0502040204020203" pitchFamily="34" charset="-122"/>
            </a:endParaRPr>
          </a:p>
        </p:txBody>
      </p:sp>
      <p:sp>
        <p:nvSpPr>
          <p:cNvPr id="13" name="文本框 12"/>
          <p:cNvSpPr txBox="1"/>
          <p:nvPr/>
        </p:nvSpPr>
        <p:spPr>
          <a:xfrm>
            <a:off x="9248595" y="4005064"/>
            <a:ext cx="1166813"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SCID Len</a:t>
            </a:r>
            <a:endParaRPr lang="zh-CN" altLang="en-US" sz="1600" dirty="0">
              <a:latin typeface="微软雅黑 Light" panose="020B0502040204020203" pitchFamily="34" charset="-122"/>
              <a:ea typeface="微软雅黑 Light" panose="020B0502040204020203" pitchFamily="34" charset="-122"/>
            </a:endParaRPr>
          </a:p>
        </p:txBody>
      </p:sp>
      <p:sp>
        <p:nvSpPr>
          <p:cNvPr id="14" name="文本框 13"/>
          <p:cNvSpPr txBox="1"/>
          <p:nvPr/>
        </p:nvSpPr>
        <p:spPr>
          <a:xfrm>
            <a:off x="10415408" y="4005064"/>
            <a:ext cx="1166813"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SCID</a:t>
            </a:r>
            <a:endParaRPr lang="zh-CN" altLang="en-US" sz="1600" dirty="0">
              <a:latin typeface="微软雅黑 Light" panose="020B0502040204020203" pitchFamily="34" charset="-122"/>
              <a:ea typeface="微软雅黑 Light" panose="020B0502040204020203" pitchFamily="34" charset="-122"/>
            </a:endParaRPr>
          </a:p>
        </p:txBody>
      </p:sp>
      <p:sp>
        <p:nvSpPr>
          <p:cNvPr id="17" name="文本框 16"/>
          <p:cNvSpPr txBox="1"/>
          <p:nvPr/>
        </p:nvSpPr>
        <p:spPr>
          <a:xfrm>
            <a:off x="911435" y="4687314"/>
            <a:ext cx="57740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1bit</a:t>
            </a:r>
            <a:endParaRPr lang="zh-CN" altLang="en-US" dirty="0">
              <a:latin typeface="微软雅黑 Light" panose="020B0502040204020203" pitchFamily="34" charset="-122"/>
              <a:ea typeface="微软雅黑 Light" panose="020B0502040204020203" pitchFamily="34" charset="-122"/>
            </a:endParaRPr>
          </a:p>
        </p:txBody>
      </p:sp>
      <p:sp>
        <p:nvSpPr>
          <p:cNvPr id="18" name="文本框 17"/>
          <p:cNvSpPr txBox="1"/>
          <p:nvPr/>
        </p:nvSpPr>
        <p:spPr>
          <a:xfrm>
            <a:off x="2172394" y="4687314"/>
            <a:ext cx="57740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1bit</a:t>
            </a:r>
            <a:endParaRPr lang="zh-CN" altLang="en-US" dirty="0">
              <a:latin typeface="微软雅黑 Light" panose="020B0502040204020203" pitchFamily="34" charset="-122"/>
              <a:ea typeface="微软雅黑 Light" panose="020B0502040204020203" pitchFamily="34" charset="-122"/>
            </a:endParaRPr>
          </a:p>
        </p:txBody>
      </p:sp>
      <p:sp>
        <p:nvSpPr>
          <p:cNvPr id="19" name="文本框 18"/>
          <p:cNvSpPr txBox="1"/>
          <p:nvPr/>
        </p:nvSpPr>
        <p:spPr>
          <a:xfrm>
            <a:off x="3364959" y="4687314"/>
            <a:ext cx="728084"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2bits</a:t>
            </a:r>
            <a:endParaRPr lang="zh-CN" altLang="en-US" dirty="0">
              <a:latin typeface="微软雅黑 Light" panose="020B0502040204020203" pitchFamily="34" charset="-122"/>
              <a:ea typeface="微软雅黑 Light" panose="020B0502040204020203" pitchFamily="34" charset="-122"/>
            </a:endParaRPr>
          </a:p>
        </p:txBody>
      </p:sp>
      <p:sp>
        <p:nvSpPr>
          <p:cNvPr id="20" name="文本框 19"/>
          <p:cNvSpPr txBox="1"/>
          <p:nvPr/>
        </p:nvSpPr>
        <p:spPr>
          <a:xfrm>
            <a:off x="4716497" y="4681974"/>
            <a:ext cx="732893"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4bits</a:t>
            </a:r>
            <a:endParaRPr lang="zh-CN" altLang="en-US" dirty="0">
              <a:latin typeface="微软雅黑 Light" panose="020B0502040204020203" pitchFamily="34" charset="-122"/>
              <a:ea typeface="微软雅黑 Light" panose="020B0502040204020203" pitchFamily="34" charset="-122"/>
            </a:endParaRPr>
          </a:p>
        </p:txBody>
      </p:sp>
      <p:sp>
        <p:nvSpPr>
          <p:cNvPr id="21" name="文本框 20"/>
          <p:cNvSpPr txBox="1"/>
          <p:nvPr/>
        </p:nvSpPr>
        <p:spPr>
          <a:xfrm>
            <a:off x="5983079" y="4689353"/>
            <a:ext cx="870751"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32bits</a:t>
            </a:r>
            <a:endParaRPr lang="zh-CN" altLang="en-US" dirty="0">
              <a:latin typeface="微软雅黑 Light" panose="020B0502040204020203" pitchFamily="34" charset="-122"/>
              <a:ea typeface="微软雅黑 Light" panose="020B0502040204020203" pitchFamily="34" charset="-122"/>
            </a:endParaRPr>
          </a:p>
        </p:txBody>
      </p:sp>
      <p:sp>
        <p:nvSpPr>
          <p:cNvPr id="22" name="文本框 21"/>
          <p:cNvSpPr txBox="1"/>
          <p:nvPr/>
        </p:nvSpPr>
        <p:spPr>
          <a:xfrm>
            <a:off x="7222055" y="4681974"/>
            <a:ext cx="728084"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8bits</a:t>
            </a:r>
            <a:endParaRPr lang="zh-CN" altLang="en-US" dirty="0">
              <a:latin typeface="微软雅黑 Light" panose="020B0502040204020203" pitchFamily="34" charset="-122"/>
              <a:ea typeface="微软雅黑 Light" panose="020B0502040204020203" pitchFamily="34" charset="-122"/>
            </a:endParaRPr>
          </a:p>
        </p:txBody>
      </p:sp>
      <p:sp>
        <p:nvSpPr>
          <p:cNvPr id="23" name="文本框 22"/>
          <p:cNvSpPr txBox="1"/>
          <p:nvPr/>
        </p:nvSpPr>
        <p:spPr>
          <a:xfrm>
            <a:off x="8162617" y="4680497"/>
            <a:ext cx="122341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0-160bits</a:t>
            </a:r>
            <a:endParaRPr lang="zh-CN" altLang="en-US" dirty="0">
              <a:latin typeface="微软雅黑 Light" panose="020B0502040204020203" pitchFamily="34" charset="-122"/>
              <a:ea typeface="微软雅黑 Light" panose="020B0502040204020203" pitchFamily="34" charset="-122"/>
            </a:endParaRPr>
          </a:p>
        </p:txBody>
      </p:sp>
      <p:sp>
        <p:nvSpPr>
          <p:cNvPr id="24" name="文本框 23"/>
          <p:cNvSpPr txBox="1"/>
          <p:nvPr/>
        </p:nvSpPr>
        <p:spPr>
          <a:xfrm>
            <a:off x="9496011" y="4680497"/>
            <a:ext cx="728084"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8bits</a:t>
            </a:r>
            <a:endParaRPr lang="zh-CN" altLang="en-US" dirty="0">
              <a:latin typeface="微软雅黑 Light" panose="020B0502040204020203" pitchFamily="34" charset="-122"/>
              <a:ea typeface="微软雅黑 Light" panose="020B0502040204020203" pitchFamily="34" charset="-122"/>
            </a:endParaRPr>
          </a:p>
        </p:txBody>
      </p:sp>
      <p:sp>
        <p:nvSpPr>
          <p:cNvPr id="25" name="文本框 24"/>
          <p:cNvSpPr txBox="1"/>
          <p:nvPr/>
        </p:nvSpPr>
        <p:spPr>
          <a:xfrm>
            <a:off x="10415408" y="4687314"/>
            <a:ext cx="122341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0-160bits</a:t>
            </a:r>
            <a:endParaRPr lang="zh-CN" altLang="en-US" dirty="0">
              <a:latin typeface="微软雅黑 Light" panose="020B0502040204020203" pitchFamily="34" charset="-122"/>
              <a:ea typeface="微软雅黑 Light" panose="020B0502040204020203" pitchFamily="34" charset="-122"/>
            </a:endParaRPr>
          </a:p>
        </p:txBody>
      </p:sp>
      <p:sp>
        <p:nvSpPr>
          <p:cNvPr id="27" name="文本框 26"/>
          <p:cNvSpPr txBox="1"/>
          <p:nvPr/>
        </p:nvSpPr>
        <p:spPr>
          <a:xfrm>
            <a:off x="5434514" y="5227345"/>
            <a:ext cx="5945250" cy="460704"/>
          </a:xfrm>
          <a:prstGeom prst="rect">
            <a:avLst/>
          </a:prstGeom>
          <a:solidFill>
            <a:schemeClr val="bg2"/>
          </a:solidFill>
        </p:spPr>
        <p:txBody>
          <a:bodyPr wrap="square">
            <a:spAutoFit/>
          </a:bodyPr>
          <a:lstStyle>
            <a:defPPr>
              <a:defRPr lang="zh-CN"/>
            </a:defPPr>
            <a:lvl1pPr algn="ctr">
              <a:lnSpc>
                <a:spcPct val="150000"/>
              </a:lnSpc>
              <a:defRPr sz="1800" kern="100">
                <a:effectLst/>
                <a:latin typeface="微软雅黑 Light" panose="020B0502040204020203" pitchFamily="34" charset="-122"/>
                <a:ea typeface="微软雅黑 Light" panose="020B0502040204020203" pitchFamily="34" charset="-122"/>
              </a:defRPr>
            </a:lvl1pPr>
          </a:lstStyle>
          <a:p>
            <a:r>
              <a:rPr lang="en-US" altLang="zh-CN" dirty="0"/>
              <a:t>Destination Connection ID (DCID) </a:t>
            </a:r>
            <a:r>
              <a:rPr lang="zh-CN" altLang="zh-CN" dirty="0"/>
              <a:t>：目的连接</a:t>
            </a:r>
            <a:r>
              <a:rPr lang="en-US" altLang="zh-CN" dirty="0"/>
              <a:t>ID</a:t>
            </a:r>
            <a:endParaRPr lang="zh-CN" altLang="zh-CN" dirty="0"/>
          </a:p>
        </p:txBody>
      </p:sp>
      <p:sp>
        <p:nvSpPr>
          <p:cNvPr id="47" name="文本框 46"/>
          <p:cNvSpPr txBox="1"/>
          <p:nvPr/>
        </p:nvSpPr>
        <p:spPr>
          <a:xfrm>
            <a:off x="526667" y="1355456"/>
            <a:ext cx="1412240"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Header Form</a:t>
            </a:r>
            <a:endParaRPr lang="zh-CN" altLang="en-US" sz="1600" dirty="0">
              <a:latin typeface="微软雅黑 Light" panose="020B0502040204020203" pitchFamily="34" charset="-122"/>
              <a:ea typeface="微软雅黑 Light" panose="020B0502040204020203" pitchFamily="34" charset="-122"/>
            </a:endParaRPr>
          </a:p>
        </p:txBody>
      </p:sp>
      <p:sp>
        <p:nvSpPr>
          <p:cNvPr id="48" name="文本框 47"/>
          <p:cNvSpPr txBox="1"/>
          <p:nvPr/>
        </p:nvSpPr>
        <p:spPr>
          <a:xfrm>
            <a:off x="1938908" y="1355456"/>
            <a:ext cx="1016000" cy="648000"/>
          </a:xfrm>
          <a:prstGeom prst="rect">
            <a:avLst/>
          </a:prstGeom>
          <a:noFill/>
          <a:ln w="9525">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Fixed Bit</a:t>
            </a:r>
            <a:endParaRPr lang="zh-CN" altLang="en-US" sz="1600" dirty="0">
              <a:latin typeface="微软雅黑 Light" panose="020B0502040204020203" pitchFamily="34" charset="-122"/>
              <a:ea typeface="微软雅黑 Light" panose="020B0502040204020203" pitchFamily="34" charset="-122"/>
            </a:endParaRPr>
          </a:p>
        </p:txBody>
      </p:sp>
      <p:sp>
        <p:nvSpPr>
          <p:cNvPr id="49" name="文本框 48"/>
          <p:cNvSpPr txBox="1"/>
          <p:nvPr/>
        </p:nvSpPr>
        <p:spPr>
          <a:xfrm>
            <a:off x="2954908" y="1355456"/>
            <a:ext cx="1369131" cy="648000"/>
          </a:xfrm>
          <a:prstGeom prst="rect">
            <a:avLst/>
          </a:prstGeom>
          <a:noFill/>
          <a:ln w="9525">
            <a:solidFill>
              <a:schemeClr val="tx1"/>
            </a:solidFill>
          </a:ln>
        </p:spPr>
        <p:txBody>
          <a:bodyPr wrap="square" rtlCol="0">
            <a:noAutofit/>
          </a:bodyPr>
          <a:lstStyle/>
          <a:p>
            <a:pPr algn="ctr"/>
            <a:r>
              <a:rPr lang="en-US" altLang="zh-CN" sz="1600" dirty="0">
                <a:latin typeface="微软雅黑 Light" panose="020B0502040204020203" pitchFamily="34" charset="-122"/>
                <a:ea typeface="微软雅黑 Light" panose="020B0502040204020203" pitchFamily="34" charset="-122"/>
              </a:rPr>
              <a:t>Long Packet Type</a:t>
            </a:r>
            <a:endParaRPr lang="zh-CN" altLang="en-US" sz="1600" dirty="0">
              <a:latin typeface="微软雅黑 Light" panose="020B0502040204020203" pitchFamily="34" charset="-122"/>
              <a:ea typeface="微软雅黑 Light" panose="020B0502040204020203" pitchFamily="34" charset="-122"/>
            </a:endParaRPr>
          </a:p>
        </p:txBody>
      </p:sp>
      <p:sp>
        <p:nvSpPr>
          <p:cNvPr id="50" name="文本框 49"/>
          <p:cNvSpPr txBox="1"/>
          <p:nvPr/>
        </p:nvSpPr>
        <p:spPr>
          <a:xfrm>
            <a:off x="4324039" y="1355456"/>
            <a:ext cx="1412241" cy="648000"/>
          </a:xfrm>
          <a:prstGeom prst="rect">
            <a:avLst/>
          </a:prstGeom>
          <a:noFill/>
          <a:ln w="9525">
            <a:solidFill>
              <a:schemeClr val="tx1"/>
            </a:solidFill>
          </a:ln>
        </p:spPr>
        <p:txBody>
          <a:bodyPr wrap="square" rtlCol="0">
            <a:noAutofit/>
          </a:bodyPr>
          <a:lstStyle/>
          <a:p>
            <a:pPr algn="ctr"/>
            <a:r>
              <a:rPr lang="en-US" altLang="zh-CN" sz="1600" dirty="0">
                <a:latin typeface="微软雅黑 Light" panose="020B0502040204020203" pitchFamily="34" charset="-122"/>
                <a:ea typeface="微软雅黑 Light" panose="020B0502040204020203" pitchFamily="34" charset="-122"/>
              </a:rPr>
              <a:t>Type-Specific Bits</a:t>
            </a:r>
            <a:endParaRPr lang="zh-CN" altLang="en-US" sz="1600" dirty="0">
              <a:latin typeface="微软雅黑 Light" panose="020B0502040204020203" pitchFamily="34" charset="-122"/>
              <a:ea typeface="微软雅黑 Light" panose="020B0502040204020203" pitchFamily="34" charset="-122"/>
            </a:endParaRPr>
          </a:p>
        </p:txBody>
      </p:sp>
      <p:sp>
        <p:nvSpPr>
          <p:cNvPr id="51" name="文本框 50"/>
          <p:cNvSpPr txBox="1"/>
          <p:nvPr/>
        </p:nvSpPr>
        <p:spPr>
          <a:xfrm>
            <a:off x="5736280" y="1355456"/>
            <a:ext cx="1170867" cy="648000"/>
          </a:xfrm>
          <a:prstGeom prst="rect">
            <a:avLst/>
          </a:prstGeom>
          <a:noFill/>
          <a:ln w="9525">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Version ID</a:t>
            </a:r>
            <a:endParaRPr lang="zh-CN" altLang="en-US" sz="1600" dirty="0">
              <a:latin typeface="微软雅黑 Light" panose="020B0502040204020203" pitchFamily="34" charset="-122"/>
              <a:ea typeface="微软雅黑 Light" panose="020B0502040204020203" pitchFamily="34" charset="-122"/>
            </a:endParaRPr>
          </a:p>
        </p:txBody>
      </p:sp>
      <p:sp>
        <p:nvSpPr>
          <p:cNvPr id="52" name="文本框 51"/>
          <p:cNvSpPr txBox="1"/>
          <p:nvPr/>
        </p:nvSpPr>
        <p:spPr>
          <a:xfrm>
            <a:off x="6907147" y="1355456"/>
            <a:ext cx="1170867" cy="648000"/>
          </a:xfrm>
          <a:prstGeom prst="rect">
            <a:avLst/>
          </a:prstGeom>
          <a:noFill/>
          <a:ln w="28575">
            <a:solidFill>
              <a:srgbClr val="FF0000"/>
            </a:solidFill>
          </a:ln>
        </p:spPr>
        <p:txBody>
          <a:bodyPr wrap="square" tIns="144000" rtlCol="0">
            <a:noAutofit/>
          </a:bodyPr>
          <a:lstStyle/>
          <a:p>
            <a:pPr algn="ctr"/>
            <a:r>
              <a:rPr lang="en-US" altLang="zh-CN" sz="1600" dirty="0">
                <a:solidFill>
                  <a:srgbClr val="FF0000"/>
                </a:solidFill>
                <a:latin typeface="微软雅黑 Light" panose="020B0502040204020203" pitchFamily="34" charset="-122"/>
                <a:ea typeface="微软雅黑 Light" panose="020B0502040204020203" pitchFamily="34" charset="-122"/>
              </a:rPr>
              <a:t>DCID Len</a:t>
            </a:r>
            <a:endParaRPr lang="zh-CN" altLang="en-US" sz="1600" dirty="0">
              <a:solidFill>
                <a:srgbClr val="FF0000"/>
              </a:solidFill>
              <a:latin typeface="微软雅黑 Light" panose="020B0502040204020203" pitchFamily="34" charset="-122"/>
              <a:ea typeface="微软雅黑 Light" panose="020B0502040204020203" pitchFamily="34" charset="-122"/>
            </a:endParaRPr>
          </a:p>
        </p:txBody>
      </p:sp>
      <p:sp>
        <p:nvSpPr>
          <p:cNvPr id="53" name="文本框 52"/>
          <p:cNvSpPr txBox="1"/>
          <p:nvPr/>
        </p:nvSpPr>
        <p:spPr>
          <a:xfrm>
            <a:off x="8073960" y="1355456"/>
            <a:ext cx="1170867"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DCID</a:t>
            </a:r>
            <a:endParaRPr lang="zh-CN" altLang="en-US" sz="1600" dirty="0">
              <a:latin typeface="微软雅黑 Light" panose="020B0502040204020203" pitchFamily="34" charset="-122"/>
              <a:ea typeface="微软雅黑 Light" panose="020B0502040204020203" pitchFamily="34" charset="-122"/>
            </a:endParaRPr>
          </a:p>
        </p:txBody>
      </p:sp>
      <p:sp>
        <p:nvSpPr>
          <p:cNvPr id="54" name="文本框 53"/>
          <p:cNvSpPr txBox="1"/>
          <p:nvPr/>
        </p:nvSpPr>
        <p:spPr>
          <a:xfrm>
            <a:off x="9244827" y="1355456"/>
            <a:ext cx="1166813"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SCID Len</a:t>
            </a:r>
            <a:endParaRPr lang="zh-CN" altLang="en-US" sz="1600" dirty="0">
              <a:latin typeface="微软雅黑 Light" panose="020B0502040204020203" pitchFamily="34" charset="-122"/>
              <a:ea typeface="微软雅黑 Light" panose="020B0502040204020203" pitchFamily="34" charset="-122"/>
            </a:endParaRPr>
          </a:p>
        </p:txBody>
      </p:sp>
      <p:sp>
        <p:nvSpPr>
          <p:cNvPr id="55" name="文本框 54"/>
          <p:cNvSpPr txBox="1"/>
          <p:nvPr/>
        </p:nvSpPr>
        <p:spPr>
          <a:xfrm>
            <a:off x="10411640" y="1355456"/>
            <a:ext cx="1166813"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SCID</a:t>
            </a:r>
            <a:endParaRPr lang="zh-CN" altLang="en-US" sz="1600" dirty="0">
              <a:latin typeface="微软雅黑 Light" panose="020B0502040204020203" pitchFamily="34" charset="-122"/>
              <a:ea typeface="微软雅黑 Light" panose="020B0502040204020203" pitchFamily="34" charset="-122"/>
            </a:endParaRPr>
          </a:p>
        </p:txBody>
      </p:sp>
      <p:sp>
        <p:nvSpPr>
          <p:cNvPr id="57" name="文本框 56"/>
          <p:cNvSpPr txBox="1"/>
          <p:nvPr/>
        </p:nvSpPr>
        <p:spPr>
          <a:xfrm>
            <a:off x="907667" y="2037706"/>
            <a:ext cx="57740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1bit</a:t>
            </a:r>
            <a:endParaRPr lang="zh-CN" altLang="en-US" dirty="0">
              <a:latin typeface="微软雅黑 Light" panose="020B0502040204020203" pitchFamily="34" charset="-122"/>
              <a:ea typeface="微软雅黑 Light" panose="020B0502040204020203" pitchFamily="34" charset="-122"/>
            </a:endParaRPr>
          </a:p>
        </p:txBody>
      </p:sp>
      <p:sp>
        <p:nvSpPr>
          <p:cNvPr id="58" name="文本框 57"/>
          <p:cNvSpPr txBox="1"/>
          <p:nvPr/>
        </p:nvSpPr>
        <p:spPr>
          <a:xfrm>
            <a:off x="2168626" y="2037706"/>
            <a:ext cx="57740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1bit</a:t>
            </a:r>
            <a:endParaRPr lang="zh-CN" altLang="en-US" dirty="0">
              <a:latin typeface="微软雅黑 Light" panose="020B0502040204020203" pitchFamily="34" charset="-122"/>
              <a:ea typeface="微软雅黑 Light" panose="020B0502040204020203" pitchFamily="34" charset="-122"/>
            </a:endParaRPr>
          </a:p>
        </p:txBody>
      </p:sp>
      <p:sp>
        <p:nvSpPr>
          <p:cNvPr id="59" name="文本框 58"/>
          <p:cNvSpPr txBox="1"/>
          <p:nvPr/>
        </p:nvSpPr>
        <p:spPr>
          <a:xfrm>
            <a:off x="3361191" y="2037706"/>
            <a:ext cx="728084"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2bits</a:t>
            </a:r>
            <a:endParaRPr lang="zh-CN" altLang="en-US" dirty="0">
              <a:latin typeface="微软雅黑 Light" panose="020B0502040204020203" pitchFamily="34" charset="-122"/>
              <a:ea typeface="微软雅黑 Light" panose="020B0502040204020203" pitchFamily="34" charset="-122"/>
            </a:endParaRPr>
          </a:p>
        </p:txBody>
      </p:sp>
      <p:sp>
        <p:nvSpPr>
          <p:cNvPr id="60" name="文本框 59"/>
          <p:cNvSpPr txBox="1"/>
          <p:nvPr/>
        </p:nvSpPr>
        <p:spPr>
          <a:xfrm>
            <a:off x="4712729" y="2032366"/>
            <a:ext cx="732893"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4bits</a:t>
            </a:r>
            <a:endParaRPr lang="zh-CN" altLang="en-US" dirty="0">
              <a:latin typeface="微软雅黑 Light" panose="020B0502040204020203" pitchFamily="34" charset="-122"/>
              <a:ea typeface="微软雅黑 Light" panose="020B0502040204020203" pitchFamily="34" charset="-122"/>
            </a:endParaRPr>
          </a:p>
        </p:txBody>
      </p:sp>
      <p:sp>
        <p:nvSpPr>
          <p:cNvPr id="61" name="文本框 60"/>
          <p:cNvSpPr txBox="1"/>
          <p:nvPr/>
        </p:nvSpPr>
        <p:spPr>
          <a:xfrm>
            <a:off x="5979311" y="2039745"/>
            <a:ext cx="870751"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32bits</a:t>
            </a:r>
            <a:endParaRPr lang="zh-CN" altLang="en-US" dirty="0">
              <a:latin typeface="微软雅黑 Light" panose="020B0502040204020203" pitchFamily="34" charset="-122"/>
              <a:ea typeface="微软雅黑 Light" panose="020B0502040204020203" pitchFamily="34" charset="-122"/>
            </a:endParaRPr>
          </a:p>
        </p:txBody>
      </p:sp>
      <p:sp>
        <p:nvSpPr>
          <p:cNvPr id="62" name="文本框 61"/>
          <p:cNvSpPr txBox="1"/>
          <p:nvPr/>
        </p:nvSpPr>
        <p:spPr>
          <a:xfrm>
            <a:off x="7218287" y="2032366"/>
            <a:ext cx="728084"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8bits</a:t>
            </a:r>
            <a:endParaRPr lang="zh-CN" altLang="en-US" dirty="0">
              <a:latin typeface="微软雅黑 Light" panose="020B0502040204020203" pitchFamily="34" charset="-122"/>
              <a:ea typeface="微软雅黑 Light" panose="020B0502040204020203" pitchFamily="34" charset="-122"/>
            </a:endParaRPr>
          </a:p>
        </p:txBody>
      </p:sp>
      <p:sp>
        <p:nvSpPr>
          <p:cNvPr id="63" name="文本框 62"/>
          <p:cNvSpPr txBox="1"/>
          <p:nvPr/>
        </p:nvSpPr>
        <p:spPr>
          <a:xfrm>
            <a:off x="8158849" y="2030889"/>
            <a:ext cx="122341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0-160bits</a:t>
            </a:r>
            <a:endParaRPr lang="zh-CN" altLang="en-US" dirty="0">
              <a:latin typeface="微软雅黑 Light" panose="020B0502040204020203" pitchFamily="34" charset="-122"/>
              <a:ea typeface="微软雅黑 Light" panose="020B0502040204020203" pitchFamily="34" charset="-122"/>
            </a:endParaRPr>
          </a:p>
        </p:txBody>
      </p:sp>
      <p:sp>
        <p:nvSpPr>
          <p:cNvPr id="64" name="文本框 63"/>
          <p:cNvSpPr txBox="1"/>
          <p:nvPr/>
        </p:nvSpPr>
        <p:spPr>
          <a:xfrm>
            <a:off x="9492243" y="2030889"/>
            <a:ext cx="728084"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8bits</a:t>
            </a:r>
            <a:endParaRPr lang="zh-CN" altLang="en-US" dirty="0">
              <a:latin typeface="微软雅黑 Light" panose="020B0502040204020203" pitchFamily="34" charset="-122"/>
              <a:ea typeface="微软雅黑 Light" panose="020B0502040204020203" pitchFamily="34" charset="-122"/>
            </a:endParaRPr>
          </a:p>
        </p:txBody>
      </p:sp>
      <p:sp>
        <p:nvSpPr>
          <p:cNvPr id="65" name="文本框 64"/>
          <p:cNvSpPr txBox="1"/>
          <p:nvPr/>
        </p:nvSpPr>
        <p:spPr>
          <a:xfrm>
            <a:off x="10411640" y="2037706"/>
            <a:ext cx="122341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0-160bits</a:t>
            </a:r>
            <a:endParaRPr lang="zh-CN" altLang="en-US" dirty="0">
              <a:latin typeface="微软雅黑 Light" panose="020B0502040204020203" pitchFamily="34" charset="-122"/>
              <a:ea typeface="微软雅黑 Light" panose="020B0502040204020203" pitchFamily="34" charset="-122"/>
            </a:endParaRPr>
          </a:p>
        </p:txBody>
      </p:sp>
      <p:sp>
        <p:nvSpPr>
          <p:cNvPr id="66" name="文本框 65"/>
          <p:cNvSpPr txBox="1"/>
          <p:nvPr/>
        </p:nvSpPr>
        <p:spPr>
          <a:xfrm>
            <a:off x="3971374" y="2589711"/>
            <a:ext cx="7404622" cy="460704"/>
          </a:xfrm>
          <a:prstGeom prst="rect">
            <a:avLst/>
          </a:prstGeom>
          <a:solidFill>
            <a:schemeClr val="bg2"/>
          </a:solidFill>
        </p:spPr>
        <p:txBody>
          <a:bodyPr wrap="square">
            <a:spAutoFit/>
          </a:bodyPr>
          <a:lstStyle>
            <a:defPPr>
              <a:defRPr lang="zh-CN"/>
            </a:defPPr>
            <a:lvl1pPr algn="ctr">
              <a:lnSpc>
                <a:spcPct val="150000"/>
              </a:lnSpc>
              <a:defRPr sz="1800" kern="100">
                <a:effectLst/>
                <a:latin typeface="微软雅黑 Light" panose="020B0502040204020203" pitchFamily="34" charset="-122"/>
                <a:ea typeface="微软雅黑 Light" panose="020B0502040204020203" pitchFamily="34" charset="-122"/>
              </a:defRPr>
            </a:lvl1pPr>
          </a:lstStyle>
          <a:p>
            <a:r>
              <a:rPr lang="en-US" altLang="zh-CN" dirty="0"/>
              <a:t>Destination Connection ID Length (DCID Len) </a:t>
            </a:r>
            <a:r>
              <a:rPr lang="zh-CN" altLang="zh-CN" dirty="0"/>
              <a:t>：目的连接</a:t>
            </a:r>
            <a:r>
              <a:rPr lang="en-US" altLang="zh-CN" dirty="0"/>
              <a:t>ID</a:t>
            </a:r>
            <a:r>
              <a:rPr lang="zh-CN" altLang="zh-CN" dirty="0"/>
              <a:t>长度</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r>
              <a:rPr lang="en-US" altLang="zh-CN" dirty="0">
                <a:latin typeface="微软雅黑" panose="020B0503020204020204" pitchFamily="34" charset="-122"/>
                <a:sym typeface="+mn-lt"/>
              </a:rPr>
              <a:t>QUIC</a:t>
            </a:r>
            <a:r>
              <a:rPr lang="zh-CN" altLang="en-US" dirty="0">
                <a:latin typeface="微软雅黑" panose="020B0503020204020204" pitchFamily="34" charset="-122"/>
                <a:sym typeface="+mn-lt"/>
              </a:rPr>
              <a:t>报文格式：长首部</a:t>
            </a:r>
            <a:endParaRPr lang="zh-CN" altLang="en-US" dirty="0">
              <a:latin typeface="微软雅黑" panose="020B0503020204020204" pitchFamily="34" charset="-122"/>
            </a:endParaRPr>
          </a:p>
        </p:txBody>
      </p:sp>
      <p:sp>
        <p:nvSpPr>
          <p:cNvPr id="4" name="灯片编号占位符 3"/>
          <p:cNvSpPr>
            <a:spLocks noGrp="1"/>
          </p:cNvSpPr>
          <p:nvPr>
            <p:ph type="sldNum" sz="quarter" idx="12"/>
          </p:nvPr>
        </p:nvSpPr>
        <p:spPr/>
        <p:txBody>
          <a:bodyPr/>
          <a:lstStyle/>
          <a:p>
            <a:fld id="{C8BB1146-E542-4D4E-B8E9-6919A11DDD48}" type="slidenum">
              <a:rPr lang="en-US" smtClean="0"/>
              <a:t>93</a:t>
            </a:fld>
            <a:endParaRPr lang="en-US"/>
          </a:p>
        </p:txBody>
      </p:sp>
      <p:sp>
        <p:nvSpPr>
          <p:cNvPr id="5" name="文本框 4"/>
          <p:cNvSpPr txBox="1"/>
          <p:nvPr/>
        </p:nvSpPr>
        <p:spPr>
          <a:xfrm>
            <a:off x="658804" y="4283199"/>
            <a:ext cx="1412240"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Header Form</a:t>
            </a:r>
            <a:endParaRPr lang="zh-CN" altLang="en-US" sz="1600" dirty="0">
              <a:latin typeface="微软雅黑 Light" panose="020B0502040204020203" pitchFamily="34" charset="-122"/>
              <a:ea typeface="微软雅黑 Light" panose="020B0502040204020203" pitchFamily="34" charset="-122"/>
            </a:endParaRPr>
          </a:p>
        </p:txBody>
      </p:sp>
      <p:sp>
        <p:nvSpPr>
          <p:cNvPr id="6" name="文本框 5"/>
          <p:cNvSpPr txBox="1"/>
          <p:nvPr/>
        </p:nvSpPr>
        <p:spPr>
          <a:xfrm>
            <a:off x="2071045" y="4283199"/>
            <a:ext cx="1016000" cy="648000"/>
          </a:xfrm>
          <a:prstGeom prst="rect">
            <a:avLst/>
          </a:prstGeom>
          <a:noFill/>
          <a:ln w="9525">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Fixed Bit</a:t>
            </a:r>
            <a:endParaRPr lang="zh-CN" altLang="en-US" sz="1600" dirty="0">
              <a:latin typeface="微软雅黑 Light" panose="020B0502040204020203" pitchFamily="34" charset="-122"/>
              <a:ea typeface="微软雅黑 Light" panose="020B0502040204020203" pitchFamily="34" charset="-122"/>
            </a:endParaRPr>
          </a:p>
        </p:txBody>
      </p:sp>
      <p:sp>
        <p:nvSpPr>
          <p:cNvPr id="8" name="文本框 7"/>
          <p:cNvSpPr txBox="1"/>
          <p:nvPr/>
        </p:nvSpPr>
        <p:spPr>
          <a:xfrm>
            <a:off x="3087045" y="4283199"/>
            <a:ext cx="1369131" cy="648000"/>
          </a:xfrm>
          <a:prstGeom prst="rect">
            <a:avLst/>
          </a:prstGeom>
          <a:noFill/>
          <a:ln w="9525">
            <a:solidFill>
              <a:schemeClr val="tx1"/>
            </a:solidFill>
          </a:ln>
        </p:spPr>
        <p:txBody>
          <a:bodyPr wrap="square" rtlCol="0">
            <a:noAutofit/>
          </a:bodyPr>
          <a:lstStyle/>
          <a:p>
            <a:pPr algn="ctr"/>
            <a:r>
              <a:rPr lang="en-US" altLang="zh-CN" sz="1600" dirty="0">
                <a:latin typeface="微软雅黑 Light" panose="020B0502040204020203" pitchFamily="34" charset="-122"/>
                <a:ea typeface="微软雅黑 Light" panose="020B0502040204020203" pitchFamily="34" charset="-122"/>
              </a:rPr>
              <a:t>Long Packet Type</a:t>
            </a:r>
            <a:endParaRPr lang="zh-CN" altLang="en-US" sz="1600" dirty="0">
              <a:latin typeface="微软雅黑 Light" panose="020B0502040204020203" pitchFamily="34" charset="-122"/>
              <a:ea typeface="微软雅黑 Light" panose="020B0502040204020203" pitchFamily="34" charset="-122"/>
            </a:endParaRPr>
          </a:p>
        </p:txBody>
      </p:sp>
      <p:sp>
        <p:nvSpPr>
          <p:cNvPr id="9" name="文本框 8"/>
          <p:cNvSpPr txBox="1"/>
          <p:nvPr/>
        </p:nvSpPr>
        <p:spPr>
          <a:xfrm>
            <a:off x="4456176" y="4283199"/>
            <a:ext cx="1412241" cy="648000"/>
          </a:xfrm>
          <a:prstGeom prst="rect">
            <a:avLst/>
          </a:prstGeom>
          <a:noFill/>
          <a:ln w="9525">
            <a:solidFill>
              <a:schemeClr val="tx1"/>
            </a:solidFill>
          </a:ln>
        </p:spPr>
        <p:txBody>
          <a:bodyPr wrap="square" rtlCol="0">
            <a:noAutofit/>
          </a:bodyPr>
          <a:lstStyle/>
          <a:p>
            <a:pPr algn="ctr"/>
            <a:r>
              <a:rPr lang="en-US" altLang="zh-CN" sz="1600" dirty="0">
                <a:latin typeface="微软雅黑 Light" panose="020B0502040204020203" pitchFamily="34" charset="-122"/>
                <a:ea typeface="微软雅黑 Light" panose="020B0502040204020203" pitchFamily="34" charset="-122"/>
              </a:rPr>
              <a:t>Type-Specific Bits</a:t>
            </a:r>
            <a:endParaRPr lang="zh-CN" altLang="en-US" sz="1600" dirty="0">
              <a:latin typeface="微软雅黑 Light" panose="020B0502040204020203" pitchFamily="34" charset="-122"/>
              <a:ea typeface="微软雅黑 Light" panose="020B0502040204020203" pitchFamily="34" charset="-122"/>
            </a:endParaRPr>
          </a:p>
        </p:txBody>
      </p:sp>
      <p:sp>
        <p:nvSpPr>
          <p:cNvPr id="10" name="文本框 9"/>
          <p:cNvSpPr txBox="1"/>
          <p:nvPr/>
        </p:nvSpPr>
        <p:spPr>
          <a:xfrm>
            <a:off x="5868417" y="4283199"/>
            <a:ext cx="1170867" cy="648000"/>
          </a:xfrm>
          <a:prstGeom prst="rect">
            <a:avLst/>
          </a:prstGeom>
          <a:noFill/>
          <a:ln w="9525">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Version ID</a:t>
            </a:r>
            <a:endParaRPr lang="zh-CN" altLang="en-US" sz="1600" dirty="0">
              <a:latin typeface="微软雅黑 Light" panose="020B0502040204020203" pitchFamily="34" charset="-122"/>
              <a:ea typeface="微软雅黑 Light" panose="020B0502040204020203" pitchFamily="34" charset="-122"/>
            </a:endParaRPr>
          </a:p>
        </p:txBody>
      </p:sp>
      <p:sp>
        <p:nvSpPr>
          <p:cNvPr id="11" name="文本框 10"/>
          <p:cNvSpPr txBox="1"/>
          <p:nvPr/>
        </p:nvSpPr>
        <p:spPr>
          <a:xfrm>
            <a:off x="7039284" y="4283199"/>
            <a:ext cx="1170867"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DCID Len</a:t>
            </a:r>
            <a:endParaRPr lang="zh-CN" altLang="en-US" sz="1600" dirty="0">
              <a:latin typeface="微软雅黑 Light" panose="020B0502040204020203" pitchFamily="34" charset="-122"/>
              <a:ea typeface="微软雅黑 Light" panose="020B0502040204020203" pitchFamily="34" charset="-122"/>
            </a:endParaRPr>
          </a:p>
        </p:txBody>
      </p:sp>
      <p:sp>
        <p:nvSpPr>
          <p:cNvPr id="12" name="文本框 11"/>
          <p:cNvSpPr txBox="1"/>
          <p:nvPr/>
        </p:nvSpPr>
        <p:spPr>
          <a:xfrm>
            <a:off x="8206097" y="4283199"/>
            <a:ext cx="1170867" cy="648000"/>
          </a:xfrm>
          <a:prstGeom prst="rect">
            <a:avLst/>
          </a:prstGeom>
          <a:noFill/>
          <a:ln w="9525">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DCID</a:t>
            </a:r>
            <a:endParaRPr lang="zh-CN" altLang="en-US" sz="1600" dirty="0">
              <a:latin typeface="微软雅黑 Light" panose="020B0502040204020203" pitchFamily="34" charset="-122"/>
              <a:ea typeface="微软雅黑 Light" panose="020B0502040204020203" pitchFamily="34" charset="-122"/>
            </a:endParaRPr>
          </a:p>
        </p:txBody>
      </p:sp>
      <p:sp>
        <p:nvSpPr>
          <p:cNvPr id="13" name="文本框 12"/>
          <p:cNvSpPr txBox="1"/>
          <p:nvPr/>
        </p:nvSpPr>
        <p:spPr>
          <a:xfrm>
            <a:off x="9376964" y="4283199"/>
            <a:ext cx="1166813"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SCID Len</a:t>
            </a:r>
            <a:endParaRPr lang="zh-CN" altLang="en-US" sz="1600" dirty="0">
              <a:latin typeface="微软雅黑 Light" panose="020B0502040204020203" pitchFamily="34" charset="-122"/>
              <a:ea typeface="微软雅黑 Light" panose="020B0502040204020203" pitchFamily="34" charset="-122"/>
            </a:endParaRPr>
          </a:p>
        </p:txBody>
      </p:sp>
      <p:sp>
        <p:nvSpPr>
          <p:cNvPr id="14" name="文本框 13"/>
          <p:cNvSpPr txBox="1"/>
          <p:nvPr/>
        </p:nvSpPr>
        <p:spPr>
          <a:xfrm>
            <a:off x="10543777" y="4283199"/>
            <a:ext cx="1166813" cy="648000"/>
          </a:xfrm>
          <a:prstGeom prst="rect">
            <a:avLst/>
          </a:prstGeom>
          <a:noFill/>
          <a:ln>
            <a:solidFill>
              <a:schemeClr val="tx1"/>
            </a:solidFill>
          </a:ln>
        </p:spPr>
        <p:txBody>
          <a:bodyPr wrap="square" tIns="144000" rtlCol="0">
            <a:noAutofit/>
          </a:bodyPr>
          <a:lstStyle/>
          <a:p>
            <a:pPr algn="ctr"/>
            <a:r>
              <a:rPr lang="en-US" altLang="zh-CN" sz="1600" dirty="0">
                <a:solidFill>
                  <a:srgbClr val="C00000"/>
                </a:solidFill>
                <a:latin typeface="微软雅黑 Light" panose="020B0502040204020203" pitchFamily="34" charset="-122"/>
                <a:ea typeface="微软雅黑 Light" panose="020B0502040204020203" pitchFamily="34" charset="-122"/>
              </a:rPr>
              <a:t>SCID</a:t>
            </a:r>
            <a:endParaRPr lang="zh-CN" altLang="en-US" sz="1600" dirty="0">
              <a:solidFill>
                <a:srgbClr val="C00000"/>
              </a:solidFill>
              <a:latin typeface="微软雅黑 Light" panose="020B0502040204020203" pitchFamily="34" charset="-122"/>
              <a:ea typeface="微软雅黑 Light" panose="020B0502040204020203" pitchFamily="34" charset="-122"/>
            </a:endParaRPr>
          </a:p>
        </p:txBody>
      </p:sp>
      <p:sp>
        <p:nvSpPr>
          <p:cNvPr id="17" name="文本框 16"/>
          <p:cNvSpPr txBox="1"/>
          <p:nvPr/>
        </p:nvSpPr>
        <p:spPr>
          <a:xfrm>
            <a:off x="1039804" y="4961967"/>
            <a:ext cx="57740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1bit</a:t>
            </a:r>
            <a:endParaRPr lang="zh-CN" altLang="en-US" dirty="0">
              <a:latin typeface="微软雅黑 Light" panose="020B0502040204020203" pitchFamily="34" charset="-122"/>
              <a:ea typeface="微软雅黑 Light" panose="020B0502040204020203" pitchFamily="34" charset="-122"/>
            </a:endParaRPr>
          </a:p>
        </p:txBody>
      </p:sp>
      <p:sp>
        <p:nvSpPr>
          <p:cNvPr id="18" name="文本框 17"/>
          <p:cNvSpPr txBox="1"/>
          <p:nvPr/>
        </p:nvSpPr>
        <p:spPr>
          <a:xfrm>
            <a:off x="2300763" y="4961967"/>
            <a:ext cx="57740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1bit</a:t>
            </a:r>
            <a:endParaRPr lang="zh-CN" altLang="en-US" dirty="0">
              <a:latin typeface="微软雅黑 Light" panose="020B0502040204020203" pitchFamily="34" charset="-122"/>
              <a:ea typeface="微软雅黑 Light" panose="020B0502040204020203" pitchFamily="34" charset="-122"/>
            </a:endParaRPr>
          </a:p>
        </p:txBody>
      </p:sp>
      <p:sp>
        <p:nvSpPr>
          <p:cNvPr id="19" name="文本框 18"/>
          <p:cNvSpPr txBox="1"/>
          <p:nvPr/>
        </p:nvSpPr>
        <p:spPr>
          <a:xfrm>
            <a:off x="3493328" y="4961967"/>
            <a:ext cx="728084"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2bits</a:t>
            </a:r>
            <a:endParaRPr lang="zh-CN" altLang="en-US" dirty="0">
              <a:latin typeface="微软雅黑 Light" panose="020B0502040204020203" pitchFamily="34" charset="-122"/>
              <a:ea typeface="微软雅黑 Light" panose="020B0502040204020203" pitchFamily="34" charset="-122"/>
            </a:endParaRPr>
          </a:p>
        </p:txBody>
      </p:sp>
      <p:sp>
        <p:nvSpPr>
          <p:cNvPr id="20" name="文本框 19"/>
          <p:cNvSpPr txBox="1"/>
          <p:nvPr/>
        </p:nvSpPr>
        <p:spPr>
          <a:xfrm>
            <a:off x="4844866" y="4956627"/>
            <a:ext cx="732893"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4bits</a:t>
            </a:r>
            <a:endParaRPr lang="zh-CN" altLang="en-US" dirty="0">
              <a:latin typeface="微软雅黑 Light" panose="020B0502040204020203" pitchFamily="34" charset="-122"/>
              <a:ea typeface="微软雅黑 Light" panose="020B0502040204020203" pitchFamily="34" charset="-122"/>
            </a:endParaRPr>
          </a:p>
        </p:txBody>
      </p:sp>
      <p:sp>
        <p:nvSpPr>
          <p:cNvPr id="21" name="文本框 20"/>
          <p:cNvSpPr txBox="1"/>
          <p:nvPr/>
        </p:nvSpPr>
        <p:spPr>
          <a:xfrm>
            <a:off x="6111448" y="4964006"/>
            <a:ext cx="870751"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32bits</a:t>
            </a:r>
            <a:endParaRPr lang="zh-CN" altLang="en-US" dirty="0">
              <a:latin typeface="微软雅黑 Light" panose="020B0502040204020203" pitchFamily="34" charset="-122"/>
              <a:ea typeface="微软雅黑 Light" panose="020B0502040204020203" pitchFamily="34" charset="-122"/>
            </a:endParaRPr>
          </a:p>
        </p:txBody>
      </p:sp>
      <p:sp>
        <p:nvSpPr>
          <p:cNvPr id="22" name="文本框 21"/>
          <p:cNvSpPr txBox="1"/>
          <p:nvPr/>
        </p:nvSpPr>
        <p:spPr>
          <a:xfrm>
            <a:off x="7350424" y="4956627"/>
            <a:ext cx="728084"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8bits</a:t>
            </a:r>
            <a:endParaRPr lang="zh-CN" altLang="en-US" dirty="0">
              <a:latin typeface="微软雅黑 Light" panose="020B0502040204020203" pitchFamily="34" charset="-122"/>
              <a:ea typeface="微软雅黑 Light" panose="020B0502040204020203" pitchFamily="34" charset="-122"/>
            </a:endParaRPr>
          </a:p>
        </p:txBody>
      </p:sp>
      <p:sp>
        <p:nvSpPr>
          <p:cNvPr id="23" name="文本框 22"/>
          <p:cNvSpPr txBox="1"/>
          <p:nvPr/>
        </p:nvSpPr>
        <p:spPr>
          <a:xfrm>
            <a:off x="8290986" y="4955150"/>
            <a:ext cx="122341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0-160bits</a:t>
            </a:r>
            <a:endParaRPr lang="zh-CN" altLang="en-US" dirty="0">
              <a:latin typeface="微软雅黑 Light" panose="020B0502040204020203" pitchFamily="34" charset="-122"/>
              <a:ea typeface="微软雅黑 Light" panose="020B0502040204020203" pitchFamily="34" charset="-122"/>
            </a:endParaRPr>
          </a:p>
        </p:txBody>
      </p:sp>
      <p:sp>
        <p:nvSpPr>
          <p:cNvPr id="24" name="文本框 23"/>
          <p:cNvSpPr txBox="1"/>
          <p:nvPr/>
        </p:nvSpPr>
        <p:spPr>
          <a:xfrm>
            <a:off x="9624380" y="4955150"/>
            <a:ext cx="728084"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8bits</a:t>
            </a:r>
            <a:endParaRPr lang="zh-CN" altLang="en-US" dirty="0">
              <a:latin typeface="微软雅黑 Light" panose="020B0502040204020203" pitchFamily="34" charset="-122"/>
              <a:ea typeface="微软雅黑 Light" panose="020B0502040204020203" pitchFamily="34" charset="-122"/>
            </a:endParaRPr>
          </a:p>
        </p:txBody>
      </p:sp>
      <p:sp>
        <p:nvSpPr>
          <p:cNvPr id="25" name="文本框 24"/>
          <p:cNvSpPr txBox="1"/>
          <p:nvPr/>
        </p:nvSpPr>
        <p:spPr>
          <a:xfrm>
            <a:off x="10543777" y="4961967"/>
            <a:ext cx="122341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0-160bits</a:t>
            </a:r>
            <a:endParaRPr lang="zh-CN" altLang="en-US" dirty="0">
              <a:latin typeface="微软雅黑 Light" panose="020B0502040204020203" pitchFamily="34" charset="-122"/>
              <a:ea typeface="微软雅黑 Light" panose="020B0502040204020203" pitchFamily="34" charset="-122"/>
            </a:endParaRPr>
          </a:p>
        </p:txBody>
      </p:sp>
      <p:sp>
        <p:nvSpPr>
          <p:cNvPr id="27" name="文本框 26"/>
          <p:cNvSpPr txBox="1"/>
          <p:nvPr/>
        </p:nvSpPr>
        <p:spPr>
          <a:xfrm>
            <a:off x="7090280" y="5517232"/>
            <a:ext cx="4680520" cy="460704"/>
          </a:xfrm>
          <a:prstGeom prst="rect">
            <a:avLst/>
          </a:prstGeom>
          <a:solidFill>
            <a:schemeClr val="bg2"/>
          </a:solidFill>
        </p:spPr>
        <p:txBody>
          <a:bodyPr wrap="square">
            <a:spAutoFit/>
          </a:bodyPr>
          <a:lstStyle>
            <a:defPPr>
              <a:defRPr lang="zh-CN"/>
            </a:defPPr>
            <a:lvl1pPr algn="ctr">
              <a:lnSpc>
                <a:spcPct val="150000"/>
              </a:lnSpc>
              <a:defRPr sz="1800" kern="100">
                <a:effectLst/>
                <a:latin typeface="微软雅黑 Light" panose="020B0502040204020203" pitchFamily="34" charset="-122"/>
                <a:ea typeface="微软雅黑 Light" panose="020B0502040204020203" pitchFamily="34" charset="-122"/>
              </a:defRPr>
            </a:lvl1pPr>
          </a:lstStyle>
          <a:p>
            <a:r>
              <a:rPr lang="en-US" altLang="zh-CN" dirty="0"/>
              <a:t>Source Connection ID (SCID) </a:t>
            </a:r>
            <a:r>
              <a:rPr lang="zh-CN" altLang="zh-CN" dirty="0"/>
              <a:t>：源连接</a:t>
            </a:r>
            <a:r>
              <a:rPr lang="en-US" altLang="zh-CN" dirty="0"/>
              <a:t>ID</a:t>
            </a:r>
            <a:endParaRPr lang="zh-CN" altLang="zh-CN" dirty="0"/>
          </a:p>
        </p:txBody>
      </p:sp>
      <p:sp>
        <p:nvSpPr>
          <p:cNvPr id="26" name="文本框 25"/>
          <p:cNvSpPr txBox="1"/>
          <p:nvPr/>
        </p:nvSpPr>
        <p:spPr>
          <a:xfrm>
            <a:off x="531215" y="1446913"/>
            <a:ext cx="1412240"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Header Form</a:t>
            </a:r>
            <a:endParaRPr lang="zh-CN" altLang="en-US" sz="1600" dirty="0">
              <a:latin typeface="微软雅黑 Light" panose="020B0502040204020203" pitchFamily="34" charset="-122"/>
              <a:ea typeface="微软雅黑 Light" panose="020B0502040204020203" pitchFamily="34" charset="-122"/>
            </a:endParaRPr>
          </a:p>
        </p:txBody>
      </p:sp>
      <p:sp>
        <p:nvSpPr>
          <p:cNvPr id="28" name="文本框 27"/>
          <p:cNvSpPr txBox="1"/>
          <p:nvPr/>
        </p:nvSpPr>
        <p:spPr>
          <a:xfrm>
            <a:off x="1943456" y="1445244"/>
            <a:ext cx="1016000" cy="648000"/>
          </a:xfrm>
          <a:prstGeom prst="rect">
            <a:avLst/>
          </a:prstGeom>
          <a:noFill/>
          <a:ln w="9525">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Fixed Bit</a:t>
            </a:r>
            <a:endParaRPr lang="zh-CN" altLang="en-US" sz="1600" dirty="0">
              <a:latin typeface="微软雅黑 Light" panose="020B0502040204020203" pitchFamily="34" charset="-122"/>
              <a:ea typeface="微软雅黑 Light" panose="020B0502040204020203" pitchFamily="34" charset="-122"/>
            </a:endParaRPr>
          </a:p>
        </p:txBody>
      </p:sp>
      <p:sp>
        <p:nvSpPr>
          <p:cNvPr id="29" name="文本框 28"/>
          <p:cNvSpPr txBox="1"/>
          <p:nvPr/>
        </p:nvSpPr>
        <p:spPr>
          <a:xfrm>
            <a:off x="2959456" y="1446912"/>
            <a:ext cx="1369131" cy="648000"/>
          </a:xfrm>
          <a:prstGeom prst="rect">
            <a:avLst/>
          </a:prstGeom>
          <a:noFill/>
          <a:ln w="9525">
            <a:solidFill>
              <a:schemeClr val="tx1"/>
            </a:solidFill>
          </a:ln>
        </p:spPr>
        <p:txBody>
          <a:bodyPr wrap="square" rtlCol="0">
            <a:noAutofit/>
          </a:bodyPr>
          <a:lstStyle/>
          <a:p>
            <a:pPr algn="ctr"/>
            <a:r>
              <a:rPr lang="en-US" altLang="zh-CN" sz="1600" dirty="0">
                <a:latin typeface="微软雅黑 Light" panose="020B0502040204020203" pitchFamily="34" charset="-122"/>
                <a:ea typeface="微软雅黑 Light" panose="020B0502040204020203" pitchFamily="34" charset="-122"/>
              </a:rPr>
              <a:t>Long Packet Type</a:t>
            </a:r>
            <a:endParaRPr lang="zh-CN" altLang="en-US" sz="1600" dirty="0">
              <a:latin typeface="微软雅黑 Light" panose="020B0502040204020203" pitchFamily="34" charset="-122"/>
              <a:ea typeface="微软雅黑 Light" panose="020B0502040204020203" pitchFamily="34" charset="-122"/>
            </a:endParaRPr>
          </a:p>
        </p:txBody>
      </p:sp>
      <p:sp>
        <p:nvSpPr>
          <p:cNvPr id="30" name="文本框 29"/>
          <p:cNvSpPr txBox="1"/>
          <p:nvPr/>
        </p:nvSpPr>
        <p:spPr>
          <a:xfrm>
            <a:off x="4328587" y="1445243"/>
            <a:ext cx="1412241" cy="648000"/>
          </a:xfrm>
          <a:prstGeom prst="rect">
            <a:avLst/>
          </a:prstGeom>
          <a:noFill/>
          <a:ln w="9525">
            <a:solidFill>
              <a:schemeClr val="tx1"/>
            </a:solidFill>
          </a:ln>
        </p:spPr>
        <p:txBody>
          <a:bodyPr wrap="square" rtlCol="0">
            <a:noAutofit/>
          </a:bodyPr>
          <a:lstStyle/>
          <a:p>
            <a:pPr algn="ctr"/>
            <a:r>
              <a:rPr lang="en-US" altLang="zh-CN" sz="1600" dirty="0">
                <a:latin typeface="微软雅黑 Light" panose="020B0502040204020203" pitchFamily="34" charset="-122"/>
                <a:ea typeface="微软雅黑 Light" panose="020B0502040204020203" pitchFamily="34" charset="-122"/>
              </a:rPr>
              <a:t>Type-Specific Bits</a:t>
            </a:r>
            <a:endParaRPr lang="zh-CN" altLang="en-US" sz="1600" dirty="0">
              <a:latin typeface="微软雅黑 Light" panose="020B0502040204020203" pitchFamily="34" charset="-122"/>
              <a:ea typeface="微软雅黑 Light" panose="020B0502040204020203" pitchFamily="34" charset="-122"/>
            </a:endParaRPr>
          </a:p>
        </p:txBody>
      </p:sp>
      <p:sp>
        <p:nvSpPr>
          <p:cNvPr id="31" name="文本框 30"/>
          <p:cNvSpPr txBox="1"/>
          <p:nvPr/>
        </p:nvSpPr>
        <p:spPr>
          <a:xfrm>
            <a:off x="5740828" y="1445243"/>
            <a:ext cx="1170867" cy="648000"/>
          </a:xfrm>
          <a:prstGeom prst="rect">
            <a:avLst/>
          </a:prstGeom>
          <a:noFill/>
          <a:ln w="9525">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Version ID</a:t>
            </a:r>
            <a:endParaRPr lang="zh-CN" altLang="en-US" sz="1600" dirty="0">
              <a:latin typeface="微软雅黑 Light" panose="020B0502040204020203" pitchFamily="34" charset="-122"/>
              <a:ea typeface="微软雅黑 Light" panose="020B0502040204020203" pitchFamily="34" charset="-122"/>
            </a:endParaRPr>
          </a:p>
        </p:txBody>
      </p:sp>
      <p:sp>
        <p:nvSpPr>
          <p:cNvPr id="32" name="文本框 31"/>
          <p:cNvSpPr txBox="1"/>
          <p:nvPr/>
        </p:nvSpPr>
        <p:spPr>
          <a:xfrm>
            <a:off x="6911695" y="1445243"/>
            <a:ext cx="1170867" cy="648000"/>
          </a:xfrm>
          <a:prstGeom prst="rect">
            <a:avLst/>
          </a:prstGeom>
          <a:noFill/>
          <a:ln w="9525">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DCID Len</a:t>
            </a:r>
            <a:endParaRPr lang="zh-CN" altLang="en-US" sz="1600" dirty="0">
              <a:latin typeface="微软雅黑 Light" panose="020B0502040204020203" pitchFamily="34" charset="-122"/>
              <a:ea typeface="微软雅黑 Light" panose="020B0502040204020203" pitchFamily="34" charset="-122"/>
            </a:endParaRPr>
          </a:p>
        </p:txBody>
      </p:sp>
      <p:sp>
        <p:nvSpPr>
          <p:cNvPr id="33" name="文本框 32"/>
          <p:cNvSpPr txBox="1"/>
          <p:nvPr/>
        </p:nvSpPr>
        <p:spPr>
          <a:xfrm>
            <a:off x="8078508" y="1445243"/>
            <a:ext cx="1170867"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DCID</a:t>
            </a:r>
            <a:endParaRPr lang="zh-CN" altLang="en-US" sz="1600" dirty="0">
              <a:latin typeface="微软雅黑 Light" panose="020B0502040204020203" pitchFamily="34" charset="-122"/>
              <a:ea typeface="微软雅黑 Light" panose="020B0502040204020203" pitchFamily="34" charset="-122"/>
            </a:endParaRPr>
          </a:p>
        </p:txBody>
      </p:sp>
      <p:sp>
        <p:nvSpPr>
          <p:cNvPr id="34" name="文本框 33"/>
          <p:cNvSpPr txBox="1"/>
          <p:nvPr/>
        </p:nvSpPr>
        <p:spPr>
          <a:xfrm>
            <a:off x="9249375" y="1445243"/>
            <a:ext cx="1166813" cy="648000"/>
          </a:xfrm>
          <a:prstGeom prst="rect">
            <a:avLst/>
          </a:prstGeom>
          <a:noFill/>
          <a:ln w="28575">
            <a:solidFill>
              <a:srgbClr val="FF0000"/>
            </a:solidFill>
          </a:ln>
        </p:spPr>
        <p:txBody>
          <a:bodyPr wrap="square" tIns="144000" rtlCol="0">
            <a:noAutofit/>
          </a:bodyPr>
          <a:lstStyle/>
          <a:p>
            <a:pPr algn="ctr"/>
            <a:r>
              <a:rPr lang="en-US" altLang="zh-CN" sz="1600" dirty="0">
                <a:solidFill>
                  <a:srgbClr val="FF0000"/>
                </a:solidFill>
                <a:latin typeface="微软雅黑 Light" panose="020B0502040204020203" pitchFamily="34" charset="-122"/>
                <a:ea typeface="微软雅黑 Light" panose="020B0502040204020203" pitchFamily="34" charset="-122"/>
              </a:rPr>
              <a:t>SCID Len</a:t>
            </a:r>
            <a:endParaRPr lang="zh-CN" altLang="en-US" sz="1600" dirty="0">
              <a:solidFill>
                <a:srgbClr val="FF0000"/>
              </a:solidFill>
              <a:latin typeface="微软雅黑 Light" panose="020B0502040204020203" pitchFamily="34" charset="-122"/>
              <a:ea typeface="微软雅黑 Light" panose="020B0502040204020203" pitchFamily="34" charset="-122"/>
            </a:endParaRPr>
          </a:p>
        </p:txBody>
      </p:sp>
      <p:sp>
        <p:nvSpPr>
          <p:cNvPr id="35" name="文本框 34"/>
          <p:cNvSpPr txBox="1"/>
          <p:nvPr/>
        </p:nvSpPr>
        <p:spPr>
          <a:xfrm>
            <a:off x="10416188" y="1445243"/>
            <a:ext cx="1166813"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SCID</a:t>
            </a:r>
            <a:endParaRPr lang="zh-CN" altLang="en-US" sz="1600" dirty="0">
              <a:latin typeface="微软雅黑 Light" panose="020B0502040204020203" pitchFamily="34" charset="-122"/>
              <a:ea typeface="微软雅黑 Light" panose="020B0502040204020203" pitchFamily="34" charset="-122"/>
            </a:endParaRPr>
          </a:p>
        </p:txBody>
      </p:sp>
      <p:sp>
        <p:nvSpPr>
          <p:cNvPr id="37" name="文本框 36"/>
          <p:cNvSpPr txBox="1"/>
          <p:nvPr/>
        </p:nvSpPr>
        <p:spPr>
          <a:xfrm>
            <a:off x="912215" y="2128328"/>
            <a:ext cx="57740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1bit</a:t>
            </a:r>
            <a:endParaRPr lang="zh-CN" altLang="en-US" dirty="0">
              <a:latin typeface="微软雅黑 Light" panose="020B0502040204020203" pitchFamily="34" charset="-122"/>
              <a:ea typeface="微软雅黑 Light" panose="020B0502040204020203" pitchFamily="34" charset="-122"/>
            </a:endParaRPr>
          </a:p>
        </p:txBody>
      </p:sp>
      <p:sp>
        <p:nvSpPr>
          <p:cNvPr id="38" name="文本框 37"/>
          <p:cNvSpPr txBox="1"/>
          <p:nvPr/>
        </p:nvSpPr>
        <p:spPr>
          <a:xfrm>
            <a:off x="2173174" y="2128328"/>
            <a:ext cx="57740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1bit</a:t>
            </a:r>
            <a:endParaRPr lang="zh-CN" altLang="en-US" dirty="0">
              <a:latin typeface="微软雅黑 Light" panose="020B0502040204020203" pitchFamily="34" charset="-122"/>
              <a:ea typeface="微软雅黑 Light" panose="020B0502040204020203" pitchFamily="34" charset="-122"/>
            </a:endParaRPr>
          </a:p>
        </p:txBody>
      </p:sp>
      <p:sp>
        <p:nvSpPr>
          <p:cNvPr id="39" name="文本框 38"/>
          <p:cNvSpPr txBox="1"/>
          <p:nvPr/>
        </p:nvSpPr>
        <p:spPr>
          <a:xfrm>
            <a:off x="3365739" y="2128328"/>
            <a:ext cx="728084"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2bits</a:t>
            </a:r>
            <a:endParaRPr lang="zh-CN" altLang="en-US" dirty="0">
              <a:latin typeface="微软雅黑 Light" panose="020B0502040204020203" pitchFamily="34" charset="-122"/>
              <a:ea typeface="微软雅黑 Light" panose="020B0502040204020203" pitchFamily="34" charset="-122"/>
            </a:endParaRPr>
          </a:p>
        </p:txBody>
      </p:sp>
      <p:sp>
        <p:nvSpPr>
          <p:cNvPr id="40" name="文本框 39"/>
          <p:cNvSpPr txBox="1"/>
          <p:nvPr/>
        </p:nvSpPr>
        <p:spPr>
          <a:xfrm>
            <a:off x="4717277" y="2122988"/>
            <a:ext cx="732893"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4bits</a:t>
            </a:r>
            <a:endParaRPr lang="zh-CN" altLang="en-US" dirty="0">
              <a:latin typeface="微软雅黑 Light" panose="020B0502040204020203" pitchFamily="34" charset="-122"/>
              <a:ea typeface="微软雅黑 Light" panose="020B0502040204020203" pitchFamily="34" charset="-122"/>
            </a:endParaRPr>
          </a:p>
        </p:txBody>
      </p:sp>
      <p:sp>
        <p:nvSpPr>
          <p:cNvPr id="41" name="文本框 40"/>
          <p:cNvSpPr txBox="1"/>
          <p:nvPr/>
        </p:nvSpPr>
        <p:spPr>
          <a:xfrm>
            <a:off x="5983859" y="2130367"/>
            <a:ext cx="870751"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32bits</a:t>
            </a:r>
            <a:endParaRPr lang="zh-CN" altLang="en-US" dirty="0">
              <a:latin typeface="微软雅黑 Light" panose="020B0502040204020203" pitchFamily="34" charset="-122"/>
              <a:ea typeface="微软雅黑 Light" panose="020B0502040204020203" pitchFamily="34" charset="-122"/>
            </a:endParaRPr>
          </a:p>
        </p:txBody>
      </p:sp>
      <p:sp>
        <p:nvSpPr>
          <p:cNvPr id="42" name="文本框 41"/>
          <p:cNvSpPr txBox="1"/>
          <p:nvPr/>
        </p:nvSpPr>
        <p:spPr>
          <a:xfrm>
            <a:off x="7222835" y="2122988"/>
            <a:ext cx="728084"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8bits</a:t>
            </a:r>
            <a:endParaRPr lang="zh-CN" altLang="en-US" dirty="0">
              <a:latin typeface="微软雅黑 Light" panose="020B0502040204020203" pitchFamily="34" charset="-122"/>
              <a:ea typeface="微软雅黑 Light" panose="020B0502040204020203" pitchFamily="34" charset="-122"/>
            </a:endParaRPr>
          </a:p>
        </p:txBody>
      </p:sp>
      <p:sp>
        <p:nvSpPr>
          <p:cNvPr id="43" name="文本框 42"/>
          <p:cNvSpPr txBox="1"/>
          <p:nvPr/>
        </p:nvSpPr>
        <p:spPr>
          <a:xfrm>
            <a:off x="8163397" y="2121511"/>
            <a:ext cx="122341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0-160bits</a:t>
            </a:r>
            <a:endParaRPr lang="zh-CN" altLang="en-US" dirty="0">
              <a:latin typeface="微软雅黑 Light" panose="020B0502040204020203" pitchFamily="34" charset="-122"/>
              <a:ea typeface="微软雅黑 Light" panose="020B0502040204020203" pitchFamily="34" charset="-122"/>
            </a:endParaRPr>
          </a:p>
        </p:txBody>
      </p:sp>
      <p:sp>
        <p:nvSpPr>
          <p:cNvPr id="44" name="文本框 43"/>
          <p:cNvSpPr txBox="1"/>
          <p:nvPr/>
        </p:nvSpPr>
        <p:spPr>
          <a:xfrm>
            <a:off x="9496791" y="2121511"/>
            <a:ext cx="728084"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8bits</a:t>
            </a:r>
            <a:endParaRPr lang="zh-CN" altLang="en-US" dirty="0">
              <a:latin typeface="微软雅黑 Light" panose="020B0502040204020203" pitchFamily="34" charset="-122"/>
              <a:ea typeface="微软雅黑 Light" panose="020B0502040204020203" pitchFamily="34" charset="-122"/>
            </a:endParaRPr>
          </a:p>
        </p:txBody>
      </p:sp>
      <p:sp>
        <p:nvSpPr>
          <p:cNvPr id="45" name="文本框 44"/>
          <p:cNvSpPr txBox="1"/>
          <p:nvPr/>
        </p:nvSpPr>
        <p:spPr>
          <a:xfrm>
            <a:off x="10416188" y="2128328"/>
            <a:ext cx="122341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0-160bits</a:t>
            </a:r>
            <a:endParaRPr lang="zh-CN" altLang="en-US" dirty="0">
              <a:latin typeface="微软雅黑 Light" panose="020B0502040204020203" pitchFamily="34" charset="-122"/>
              <a:ea typeface="微软雅黑 Light" panose="020B0502040204020203" pitchFamily="34" charset="-122"/>
            </a:endParaRPr>
          </a:p>
        </p:txBody>
      </p:sp>
      <p:sp>
        <p:nvSpPr>
          <p:cNvPr id="46" name="文本框 45"/>
          <p:cNvSpPr txBox="1"/>
          <p:nvPr/>
        </p:nvSpPr>
        <p:spPr>
          <a:xfrm>
            <a:off x="5270796" y="2791900"/>
            <a:ext cx="6323903" cy="460704"/>
          </a:xfrm>
          <a:prstGeom prst="rect">
            <a:avLst/>
          </a:prstGeom>
          <a:solidFill>
            <a:schemeClr val="bg2"/>
          </a:solidFill>
        </p:spPr>
        <p:txBody>
          <a:bodyPr wrap="square">
            <a:spAutoFit/>
          </a:bodyPr>
          <a:lstStyle>
            <a:defPPr>
              <a:defRPr lang="zh-CN"/>
            </a:defPPr>
            <a:lvl1pPr algn="ctr">
              <a:lnSpc>
                <a:spcPct val="150000"/>
              </a:lnSpc>
              <a:defRPr sz="1800" kern="100">
                <a:effectLst/>
                <a:latin typeface="微软雅黑 Light" panose="020B0502040204020203" pitchFamily="34" charset="-122"/>
                <a:ea typeface="微软雅黑 Light" panose="020B0502040204020203" pitchFamily="34" charset="-122"/>
              </a:defRPr>
            </a:lvl1pPr>
          </a:lstStyle>
          <a:p>
            <a:r>
              <a:rPr lang="en-US" altLang="zh-CN" dirty="0"/>
              <a:t>Source Connection ID Length (SCID Len) </a:t>
            </a:r>
            <a:r>
              <a:rPr lang="zh-CN" altLang="zh-CN" dirty="0"/>
              <a:t>：源连接</a:t>
            </a:r>
            <a:r>
              <a:rPr lang="en-US" altLang="zh-CN" dirty="0"/>
              <a:t>ID</a:t>
            </a:r>
            <a:r>
              <a:rPr lang="zh-CN" altLang="zh-CN" dirty="0"/>
              <a:t>长度</a:t>
            </a:r>
          </a:p>
        </p:txBody>
      </p:sp>
      <p:sp>
        <p:nvSpPr>
          <p:cNvPr id="47" name="文本框 46"/>
          <p:cNvSpPr txBox="1"/>
          <p:nvPr/>
        </p:nvSpPr>
        <p:spPr>
          <a:xfrm>
            <a:off x="10543777" y="4283199"/>
            <a:ext cx="1166813" cy="648000"/>
          </a:xfrm>
          <a:prstGeom prst="rect">
            <a:avLst/>
          </a:prstGeom>
          <a:noFill/>
          <a:ln w="28575">
            <a:solidFill>
              <a:srgbClr val="FF0000"/>
            </a:solidFill>
          </a:ln>
        </p:spPr>
        <p:txBody>
          <a:bodyPr wrap="square" tIns="144000" rtlCol="0">
            <a:noAutofit/>
          </a:bodyPr>
          <a:lstStyle/>
          <a:p>
            <a:pPr algn="ctr"/>
            <a:endParaRPr lang="zh-CN" altLang="en-US" sz="1600" dirty="0">
              <a:solidFill>
                <a:srgbClr val="FF0000"/>
              </a:solidFill>
              <a:latin typeface="微软雅黑 Light" panose="020B0502040204020203" pitchFamily="34" charset="-122"/>
              <a:ea typeface="微软雅黑 Light" panose="020B0502040204020203" pitchFamily="34" charset="-122"/>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r>
              <a:rPr lang="en-US" altLang="zh-CN" dirty="0">
                <a:latin typeface="微软雅黑" panose="020B0503020204020204" pitchFamily="34" charset="-122"/>
                <a:sym typeface="+mn-lt"/>
              </a:rPr>
              <a:t>QUIC</a:t>
            </a:r>
            <a:r>
              <a:rPr lang="zh-CN" altLang="en-US" dirty="0">
                <a:latin typeface="微软雅黑" panose="020B0503020204020204" pitchFamily="34" charset="-122"/>
                <a:sym typeface="+mn-lt"/>
              </a:rPr>
              <a:t>报文格式：短首部</a:t>
            </a:r>
            <a:endParaRPr lang="zh-CN" altLang="en-US" dirty="0">
              <a:latin typeface="微软雅黑" panose="020B0503020204020204" pitchFamily="34" charset="-122"/>
            </a:endParaRPr>
          </a:p>
        </p:txBody>
      </p:sp>
      <p:sp>
        <p:nvSpPr>
          <p:cNvPr id="4" name="灯片编号占位符 3"/>
          <p:cNvSpPr>
            <a:spLocks noGrp="1"/>
          </p:cNvSpPr>
          <p:nvPr>
            <p:ph type="sldNum" sz="quarter" idx="12"/>
          </p:nvPr>
        </p:nvSpPr>
        <p:spPr/>
        <p:txBody>
          <a:bodyPr/>
          <a:lstStyle/>
          <a:p>
            <a:fld id="{C8BB1146-E542-4D4E-B8E9-6919A11DDD48}" type="slidenum">
              <a:rPr lang="en-US" smtClean="0"/>
              <a:t>94</a:t>
            </a:fld>
            <a:endParaRPr lang="en-US"/>
          </a:p>
        </p:txBody>
      </p:sp>
      <p:sp>
        <p:nvSpPr>
          <p:cNvPr id="5" name="文本框 4"/>
          <p:cNvSpPr txBox="1"/>
          <p:nvPr/>
        </p:nvSpPr>
        <p:spPr>
          <a:xfrm>
            <a:off x="527248" y="1383823"/>
            <a:ext cx="1412240" cy="648000"/>
          </a:xfrm>
          <a:prstGeom prst="rect">
            <a:avLst/>
          </a:prstGeom>
          <a:noFill/>
          <a:ln w="28575">
            <a:solidFill>
              <a:srgbClr val="FF0000"/>
            </a:solidFill>
          </a:ln>
        </p:spPr>
        <p:txBody>
          <a:bodyPr wrap="square" tIns="144000" rtlCol="0">
            <a:noAutofit/>
          </a:bodyPr>
          <a:lstStyle/>
          <a:p>
            <a:pPr algn="ctr"/>
            <a:r>
              <a:rPr lang="en-US" altLang="zh-CN" sz="1600" dirty="0">
                <a:solidFill>
                  <a:srgbClr val="FF0000"/>
                </a:solidFill>
                <a:latin typeface="微软雅黑 Light" panose="020B0502040204020203" pitchFamily="34" charset="-122"/>
                <a:ea typeface="微软雅黑 Light" panose="020B0502040204020203" pitchFamily="34" charset="-122"/>
              </a:rPr>
              <a:t>Header Form</a:t>
            </a:r>
            <a:endParaRPr lang="zh-CN" altLang="en-US" sz="1600" dirty="0">
              <a:solidFill>
                <a:srgbClr val="FF0000"/>
              </a:solidFill>
              <a:latin typeface="微软雅黑 Light" panose="020B0502040204020203" pitchFamily="34" charset="-122"/>
              <a:ea typeface="微软雅黑 Light" panose="020B0502040204020203" pitchFamily="34" charset="-122"/>
            </a:endParaRPr>
          </a:p>
        </p:txBody>
      </p:sp>
      <p:sp>
        <p:nvSpPr>
          <p:cNvPr id="6" name="文本框 5"/>
          <p:cNvSpPr txBox="1"/>
          <p:nvPr/>
        </p:nvSpPr>
        <p:spPr>
          <a:xfrm>
            <a:off x="1939488" y="1380762"/>
            <a:ext cx="1016000"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Fixed Bit</a:t>
            </a:r>
            <a:endParaRPr lang="zh-CN" altLang="en-US" sz="1600" dirty="0">
              <a:latin typeface="微软雅黑 Light" panose="020B0502040204020203" pitchFamily="34" charset="-122"/>
              <a:ea typeface="微软雅黑 Light" panose="020B0502040204020203" pitchFamily="34" charset="-122"/>
            </a:endParaRPr>
          </a:p>
        </p:txBody>
      </p:sp>
      <p:sp>
        <p:nvSpPr>
          <p:cNvPr id="8" name="文本框 7"/>
          <p:cNvSpPr txBox="1"/>
          <p:nvPr/>
        </p:nvSpPr>
        <p:spPr>
          <a:xfrm>
            <a:off x="2955488" y="1382430"/>
            <a:ext cx="1369131"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Spin Bit</a:t>
            </a:r>
            <a:endParaRPr lang="zh-CN" altLang="en-US" sz="1600" dirty="0">
              <a:latin typeface="微软雅黑 Light" panose="020B0502040204020203" pitchFamily="34" charset="-122"/>
              <a:ea typeface="微软雅黑 Light" panose="020B0502040204020203" pitchFamily="34" charset="-122"/>
            </a:endParaRPr>
          </a:p>
        </p:txBody>
      </p:sp>
      <p:sp>
        <p:nvSpPr>
          <p:cNvPr id="9" name="文本框 8"/>
          <p:cNvSpPr txBox="1"/>
          <p:nvPr/>
        </p:nvSpPr>
        <p:spPr>
          <a:xfrm>
            <a:off x="4324619" y="1380761"/>
            <a:ext cx="1412241"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Reserved</a:t>
            </a:r>
            <a:endParaRPr lang="zh-CN" altLang="en-US" sz="1600" dirty="0">
              <a:latin typeface="微软雅黑 Light" panose="020B0502040204020203" pitchFamily="34" charset="-122"/>
              <a:ea typeface="微软雅黑 Light" panose="020B0502040204020203" pitchFamily="34" charset="-122"/>
            </a:endParaRPr>
          </a:p>
        </p:txBody>
      </p:sp>
      <p:sp>
        <p:nvSpPr>
          <p:cNvPr id="10" name="文本框 9"/>
          <p:cNvSpPr txBox="1"/>
          <p:nvPr/>
        </p:nvSpPr>
        <p:spPr>
          <a:xfrm>
            <a:off x="5736860" y="1380761"/>
            <a:ext cx="1170867"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Key Phase</a:t>
            </a:r>
            <a:endParaRPr lang="zh-CN" altLang="en-US" sz="1600" dirty="0">
              <a:latin typeface="微软雅黑 Light" panose="020B0502040204020203" pitchFamily="34" charset="-122"/>
              <a:ea typeface="微软雅黑 Light" panose="020B0502040204020203" pitchFamily="34" charset="-122"/>
            </a:endParaRPr>
          </a:p>
        </p:txBody>
      </p:sp>
      <p:sp>
        <p:nvSpPr>
          <p:cNvPr id="11" name="文本框 10"/>
          <p:cNvSpPr txBox="1"/>
          <p:nvPr/>
        </p:nvSpPr>
        <p:spPr>
          <a:xfrm>
            <a:off x="6907727" y="1380761"/>
            <a:ext cx="1170867"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P</a:t>
            </a:r>
            <a:endParaRPr lang="zh-CN" altLang="en-US" sz="1600" dirty="0">
              <a:latin typeface="微软雅黑 Light" panose="020B0502040204020203" pitchFamily="34" charset="-122"/>
              <a:ea typeface="微软雅黑 Light" panose="020B0502040204020203" pitchFamily="34" charset="-122"/>
            </a:endParaRPr>
          </a:p>
        </p:txBody>
      </p:sp>
      <p:sp>
        <p:nvSpPr>
          <p:cNvPr id="12" name="文本框 11"/>
          <p:cNvSpPr txBox="1"/>
          <p:nvPr/>
        </p:nvSpPr>
        <p:spPr>
          <a:xfrm>
            <a:off x="8074540" y="1380761"/>
            <a:ext cx="1170867"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DCID</a:t>
            </a:r>
            <a:endParaRPr lang="zh-CN" altLang="en-US" sz="1600" dirty="0">
              <a:latin typeface="微软雅黑 Light" panose="020B0502040204020203" pitchFamily="34" charset="-122"/>
              <a:ea typeface="微软雅黑 Light" panose="020B0502040204020203" pitchFamily="34" charset="-122"/>
            </a:endParaRPr>
          </a:p>
        </p:txBody>
      </p:sp>
      <p:sp>
        <p:nvSpPr>
          <p:cNvPr id="13" name="文本框 12"/>
          <p:cNvSpPr txBox="1"/>
          <p:nvPr/>
        </p:nvSpPr>
        <p:spPr>
          <a:xfrm>
            <a:off x="9245407" y="1380761"/>
            <a:ext cx="1166813" cy="648000"/>
          </a:xfrm>
          <a:prstGeom prst="rect">
            <a:avLst/>
          </a:prstGeom>
          <a:noFill/>
          <a:ln>
            <a:solidFill>
              <a:schemeClr val="tx1"/>
            </a:solidFill>
          </a:ln>
        </p:spPr>
        <p:txBody>
          <a:bodyPr wrap="square" tIns="46800" rtlCol="0">
            <a:noAutofit/>
          </a:bodyPr>
          <a:lstStyle/>
          <a:p>
            <a:pPr algn="ctr"/>
            <a:r>
              <a:rPr lang="en-US" altLang="zh-CN" sz="1600" dirty="0">
                <a:latin typeface="微软雅黑 Light" panose="020B0502040204020203" pitchFamily="34" charset="-122"/>
                <a:ea typeface="微软雅黑 Light" panose="020B0502040204020203" pitchFamily="34" charset="-122"/>
              </a:rPr>
              <a:t>Packet Number</a:t>
            </a:r>
            <a:endParaRPr lang="zh-CN" altLang="en-US" sz="1600" dirty="0">
              <a:latin typeface="微软雅黑 Light" panose="020B0502040204020203" pitchFamily="34" charset="-122"/>
              <a:ea typeface="微软雅黑 Light" panose="020B0502040204020203" pitchFamily="34" charset="-122"/>
            </a:endParaRPr>
          </a:p>
        </p:txBody>
      </p:sp>
      <p:sp>
        <p:nvSpPr>
          <p:cNvPr id="14" name="文本框 13"/>
          <p:cNvSpPr txBox="1"/>
          <p:nvPr/>
        </p:nvSpPr>
        <p:spPr>
          <a:xfrm>
            <a:off x="10412220" y="1380761"/>
            <a:ext cx="1166813" cy="648000"/>
          </a:xfrm>
          <a:prstGeom prst="rect">
            <a:avLst/>
          </a:prstGeom>
          <a:noFill/>
          <a:ln>
            <a:solidFill>
              <a:schemeClr val="tx1"/>
            </a:solidFill>
          </a:ln>
        </p:spPr>
        <p:txBody>
          <a:bodyPr wrap="square" tIns="46800" rtlCol="0">
            <a:noAutofit/>
          </a:bodyPr>
          <a:lstStyle/>
          <a:p>
            <a:pPr algn="ctr"/>
            <a:r>
              <a:rPr lang="en-US" altLang="zh-CN" sz="1600" dirty="0">
                <a:latin typeface="微软雅黑 Light" panose="020B0502040204020203" pitchFamily="34" charset="-122"/>
                <a:ea typeface="微软雅黑 Light" panose="020B0502040204020203" pitchFamily="34" charset="-122"/>
              </a:rPr>
              <a:t>Packet Payload</a:t>
            </a:r>
            <a:endParaRPr lang="zh-CN" altLang="en-US" sz="1600" dirty="0">
              <a:latin typeface="微软雅黑 Light" panose="020B0502040204020203" pitchFamily="34" charset="-122"/>
              <a:ea typeface="微软雅黑 Light" panose="020B0502040204020203" pitchFamily="34" charset="-122"/>
            </a:endParaRPr>
          </a:p>
        </p:txBody>
      </p:sp>
      <p:sp>
        <p:nvSpPr>
          <p:cNvPr id="17" name="文本框 16"/>
          <p:cNvSpPr txBox="1"/>
          <p:nvPr/>
        </p:nvSpPr>
        <p:spPr>
          <a:xfrm>
            <a:off x="908247" y="2063846"/>
            <a:ext cx="57740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1bit</a:t>
            </a:r>
            <a:endParaRPr lang="zh-CN" altLang="en-US" dirty="0">
              <a:latin typeface="微软雅黑 Light" panose="020B0502040204020203" pitchFamily="34" charset="-122"/>
              <a:ea typeface="微软雅黑 Light" panose="020B0502040204020203" pitchFamily="34" charset="-122"/>
            </a:endParaRPr>
          </a:p>
        </p:txBody>
      </p:sp>
      <p:sp>
        <p:nvSpPr>
          <p:cNvPr id="18" name="文本框 17"/>
          <p:cNvSpPr txBox="1"/>
          <p:nvPr/>
        </p:nvSpPr>
        <p:spPr>
          <a:xfrm>
            <a:off x="2169206" y="2063846"/>
            <a:ext cx="57740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1bit</a:t>
            </a:r>
            <a:endParaRPr lang="zh-CN" altLang="en-US" dirty="0">
              <a:latin typeface="微软雅黑 Light" panose="020B0502040204020203" pitchFamily="34" charset="-122"/>
              <a:ea typeface="微软雅黑 Light" panose="020B0502040204020203" pitchFamily="34" charset="-122"/>
            </a:endParaRPr>
          </a:p>
        </p:txBody>
      </p:sp>
      <p:sp>
        <p:nvSpPr>
          <p:cNvPr id="19" name="文本框 18"/>
          <p:cNvSpPr txBox="1"/>
          <p:nvPr/>
        </p:nvSpPr>
        <p:spPr>
          <a:xfrm>
            <a:off x="3361771" y="2063846"/>
            <a:ext cx="57740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1bit</a:t>
            </a:r>
            <a:endParaRPr lang="zh-CN" altLang="en-US" dirty="0">
              <a:latin typeface="微软雅黑 Light" panose="020B0502040204020203" pitchFamily="34" charset="-122"/>
              <a:ea typeface="微软雅黑 Light" panose="020B0502040204020203" pitchFamily="34" charset="-122"/>
            </a:endParaRPr>
          </a:p>
        </p:txBody>
      </p:sp>
      <p:sp>
        <p:nvSpPr>
          <p:cNvPr id="20" name="文本框 19"/>
          <p:cNvSpPr txBox="1"/>
          <p:nvPr/>
        </p:nvSpPr>
        <p:spPr>
          <a:xfrm>
            <a:off x="4713309" y="2058506"/>
            <a:ext cx="728084"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2bits</a:t>
            </a:r>
            <a:endParaRPr lang="zh-CN" altLang="en-US" dirty="0">
              <a:latin typeface="微软雅黑 Light" panose="020B0502040204020203" pitchFamily="34" charset="-122"/>
              <a:ea typeface="微软雅黑 Light" panose="020B0502040204020203" pitchFamily="34" charset="-122"/>
            </a:endParaRPr>
          </a:p>
        </p:txBody>
      </p:sp>
      <p:sp>
        <p:nvSpPr>
          <p:cNvPr id="21" name="文本框 20"/>
          <p:cNvSpPr txBox="1"/>
          <p:nvPr/>
        </p:nvSpPr>
        <p:spPr>
          <a:xfrm>
            <a:off x="5979891" y="2065885"/>
            <a:ext cx="57740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1bit</a:t>
            </a:r>
            <a:endParaRPr lang="zh-CN" altLang="en-US" dirty="0">
              <a:latin typeface="微软雅黑 Light" panose="020B0502040204020203" pitchFamily="34" charset="-122"/>
              <a:ea typeface="微软雅黑 Light" panose="020B0502040204020203" pitchFamily="34" charset="-122"/>
            </a:endParaRPr>
          </a:p>
        </p:txBody>
      </p:sp>
      <p:sp>
        <p:nvSpPr>
          <p:cNvPr id="22" name="文本框 21"/>
          <p:cNvSpPr txBox="1"/>
          <p:nvPr/>
        </p:nvSpPr>
        <p:spPr>
          <a:xfrm>
            <a:off x="7218867" y="2058506"/>
            <a:ext cx="728084"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2bits</a:t>
            </a:r>
            <a:endParaRPr lang="zh-CN" altLang="en-US" dirty="0">
              <a:latin typeface="微软雅黑 Light" panose="020B0502040204020203" pitchFamily="34" charset="-122"/>
              <a:ea typeface="微软雅黑 Light" panose="020B0502040204020203" pitchFamily="34" charset="-122"/>
            </a:endParaRPr>
          </a:p>
        </p:txBody>
      </p:sp>
      <p:sp>
        <p:nvSpPr>
          <p:cNvPr id="23" name="文本框 22"/>
          <p:cNvSpPr txBox="1"/>
          <p:nvPr/>
        </p:nvSpPr>
        <p:spPr>
          <a:xfrm>
            <a:off x="8159429" y="2057029"/>
            <a:ext cx="970137"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160bits</a:t>
            </a:r>
            <a:endParaRPr lang="zh-CN" altLang="en-US" dirty="0">
              <a:latin typeface="微软雅黑 Light" panose="020B0502040204020203" pitchFamily="34" charset="-122"/>
              <a:ea typeface="微软雅黑 Light" panose="020B0502040204020203" pitchFamily="34" charset="-122"/>
            </a:endParaRPr>
          </a:p>
        </p:txBody>
      </p:sp>
      <p:sp>
        <p:nvSpPr>
          <p:cNvPr id="24" name="文本框 23"/>
          <p:cNvSpPr txBox="1"/>
          <p:nvPr/>
        </p:nvSpPr>
        <p:spPr>
          <a:xfrm>
            <a:off x="9492823" y="2057029"/>
            <a:ext cx="1058303"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P+8bits</a:t>
            </a:r>
            <a:endParaRPr lang="zh-CN" altLang="en-US" dirty="0">
              <a:latin typeface="微软雅黑 Light" panose="020B0502040204020203" pitchFamily="34" charset="-122"/>
              <a:ea typeface="微软雅黑 Light" panose="020B0502040204020203" pitchFamily="34" charset="-122"/>
            </a:endParaRPr>
          </a:p>
        </p:txBody>
      </p:sp>
      <p:sp>
        <p:nvSpPr>
          <p:cNvPr id="27" name="文本框 26"/>
          <p:cNvSpPr txBox="1"/>
          <p:nvPr/>
        </p:nvSpPr>
        <p:spPr>
          <a:xfrm>
            <a:off x="520946" y="2495979"/>
            <a:ext cx="4126045" cy="460704"/>
          </a:xfrm>
          <a:prstGeom prst="rect">
            <a:avLst/>
          </a:prstGeom>
          <a:solidFill>
            <a:schemeClr val="bg2"/>
          </a:solidFill>
        </p:spPr>
        <p:txBody>
          <a:bodyPr wrap="square">
            <a:spAutoFit/>
          </a:bodyPr>
          <a:lstStyle>
            <a:defPPr>
              <a:defRPr lang="zh-CN"/>
            </a:defPPr>
            <a:lvl1pPr algn="ctr">
              <a:lnSpc>
                <a:spcPct val="150000"/>
              </a:lnSpc>
              <a:defRPr sz="1800" kern="100">
                <a:effectLst/>
                <a:latin typeface="微软雅黑 Light" panose="020B0502040204020203" pitchFamily="34" charset="-122"/>
                <a:ea typeface="微软雅黑 Light" panose="020B0502040204020203" pitchFamily="34" charset="-122"/>
              </a:defRPr>
            </a:lvl1pPr>
          </a:lstStyle>
          <a:p>
            <a:r>
              <a:rPr lang="en-US" altLang="zh-CN" dirty="0"/>
              <a:t>Header Form (HF) </a:t>
            </a:r>
            <a:r>
              <a:rPr lang="zh-CN" altLang="zh-CN" dirty="0"/>
              <a:t>：标识</a:t>
            </a:r>
            <a:r>
              <a:rPr lang="zh-CN" altLang="en-US" dirty="0"/>
              <a:t>头</a:t>
            </a:r>
            <a:r>
              <a:rPr lang="zh-CN" altLang="zh-CN" dirty="0"/>
              <a:t>类型</a:t>
            </a:r>
            <a:r>
              <a:rPr lang="zh-CN" altLang="en-US" dirty="0"/>
              <a:t>（</a:t>
            </a:r>
            <a:r>
              <a:rPr lang="en-US" altLang="zh-CN" dirty="0"/>
              <a:t>0</a:t>
            </a:r>
            <a:r>
              <a:rPr lang="zh-CN" altLang="en-US" dirty="0"/>
              <a:t>）</a:t>
            </a:r>
            <a:endParaRPr lang="zh-CN" altLang="zh-CN" dirty="0"/>
          </a:p>
        </p:txBody>
      </p:sp>
      <p:sp>
        <p:nvSpPr>
          <p:cNvPr id="47" name="文本框 46"/>
          <p:cNvSpPr txBox="1"/>
          <p:nvPr/>
        </p:nvSpPr>
        <p:spPr>
          <a:xfrm>
            <a:off x="553884" y="5039361"/>
            <a:ext cx="7605545" cy="460704"/>
          </a:xfrm>
          <a:prstGeom prst="rect">
            <a:avLst/>
          </a:prstGeom>
          <a:solidFill>
            <a:schemeClr val="bg2"/>
          </a:solidFill>
        </p:spPr>
        <p:txBody>
          <a:bodyPr wrap="square">
            <a:spAutoFit/>
          </a:bodyPr>
          <a:lstStyle>
            <a:defPPr>
              <a:defRPr lang="zh-CN"/>
            </a:defPPr>
            <a:lvl1pPr algn="ctr">
              <a:lnSpc>
                <a:spcPct val="150000"/>
              </a:lnSpc>
              <a:defRPr sz="1800" kern="100">
                <a:effectLst/>
                <a:latin typeface="微软雅黑 Light" panose="020B0502040204020203" pitchFamily="34" charset="-122"/>
                <a:ea typeface="微软雅黑 Light" panose="020B0502040204020203" pitchFamily="34" charset="-122"/>
              </a:defRPr>
            </a:lvl1pPr>
          </a:lstStyle>
          <a:p>
            <a:r>
              <a:rPr lang="en-US" altLang="zh-CN" dirty="0"/>
              <a:t>Fixed Bit (FB) </a:t>
            </a:r>
            <a:r>
              <a:rPr lang="zh-CN" altLang="zh-CN" dirty="0"/>
              <a:t>：指示数据包是否有效。 如果设置为</a:t>
            </a:r>
            <a:r>
              <a:rPr lang="en-US" altLang="zh-CN" dirty="0"/>
              <a:t>0</a:t>
            </a:r>
            <a:r>
              <a:rPr lang="zh-CN" altLang="zh-CN" dirty="0"/>
              <a:t>，则数据包无效</a:t>
            </a:r>
          </a:p>
        </p:txBody>
      </p:sp>
      <p:sp>
        <p:nvSpPr>
          <p:cNvPr id="48" name="文本框 47"/>
          <p:cNvSpPr txBox="1"/>
          <p:nvPr/>
        </p:nvSpPr>
        <p:spPr>
          <a:xfrm>
            <a:off x="530736" y="3782163"/>
            <a:ext cx="1412240" cy="648000"/>
          </a:xfrm>
          <a:prstGeom prst="rect">
            <a:avLst/>
          </a:prstGeom>
          <a:noFill/>
          <a:ln w="9525">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Header Form</a:t>
            </a:r>
            <a:endParaRPr lang="zh-CN" altLang="en-US" sz="1600" dirty="0">
              <a:latin typeface="微软雅黑 Light" panose="020B0502040204020203" pitchFamily="34" charset="-122"/>
              <a:ea typeface="微软雅黑 Light" panose="020B0502040204020203" pitchFamily="34" charset="-122"/>
            </a:endParaRPr>
          </a:p>
        </p:txBody>
      </p:sp>
      <p:sp>
        <p:nvSpPr>
          <p:cNvPr id="49" name="文本框 48"/>
          <p:cNvSpPr txBox="1"/>
          <p:nvPr/>
        </p:nvSpPr>
        <p:spPr>
          <a:xfrm>
            <a:off x="1942976" y="3779102"/>
            <a:ext cx="1016000" cy="648000"/>
          </a:xfrm>
          <a:prstGeom prst="rect">
            <a:avLst/>
          </a:prstGeom>
          <a:noFill/>
          <a:ln w="28575">
            <a:solidFill>
              <a:srgbClr val="FF0000"/>
            </a:solidFill>
          </a:ln>
        </p:spPr>
        <p:txBody>
          <a:bodyPr wrap="square" tIns="144000" rtlCol="0">
            <a:noAutofit/>
          </a:bodyPr>
          <a:lstStyle/>
          <a:p>
            <a:pPr algn="ctr"/>
            <a:r>
              <a:rPr lang="en-US" altLang="zh-CN" sz="1600" dirty="0">
                <a:solidFill>
                  <a:srgbClr val="FF0000"/>
                </a:solidFill>
                <a:latin typeface="微软雅黑 Light" panose="020B0502040204020203" pitchFamily="34" charset="-122"/>
                <a:ea typeface="微软雅黑 Light" panose="020B0502040204020203" pitchFamily="34" charset="-122"/>
              </a:rPr>
              <a:t>Fixed Bit</a:t>
            </a:r>
            <a:endParaRPr lang="zh-CN" altLang="en-US" sz="1600" dirty="0">
              <a:solidFill>
                <a:srgbClr val="FF0000"/>
              </a:solidFill>
              <a:latin typeface="微软雅黑 Light" panose="020B0502040204020203" pitchFamily="34" charset="-122"/>
              <a:ea typeface="微软雅黑 Light" panose="020B0502040204020203" pitchFamily="34" charset="-122"/>
            </a:endParaRPr>
          </a:p>
        </p:txBody>
      </p:sp>
      <p:sp>
        <p:nvSpPr>
          <p:cNvPr id="50" name="文本框 49"/>
          <p:cNvSpPr txBox="1"/>
          <p:nvPr/>
        </p:nvSpPr>
        <p:spPr>
          <a:xfrm>
            <a:off x="2958976" y="3780770"/>
            <a:ext cx="1369131"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Spin Bit</a:t>
            </a:r>
            <a:endParaRPr lang="zh-CN" altLang="en-US" sz="1600" dirty="0">
              <a:latin typeface="微软雅黑 Light" panose="020B0502040204020203" pitchFamily="34" charset="-122"/>
              <a:ea typeface="微软雅黑 Light" panose="020B0502040204020203" pitchFamily="34" charset="-122"/>
            </a:endParaRPr>
          </a:p>
        </p:txBody>
      </p:sp>
      <p:sp>
        <p:nvSpPr>
          <p:cNvPr id="51" name="文本框 50"/>
          <p:cNvSpPr txBox="1"/>
          <p:nvPr/>
        </p:nvSpPr>
        <p:spPr>
          <a:xfrm>
            <a:off x="4328107" y="3779101"/>
            <a:ext cx="1412241"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Reserved</a:t>
            </a:r>
            <a:endParaRPr lang="zh-CN" altLang="en-US" sz="1600" dirty="0">
              <a:latin typeface="微软雅黑 Light" panose="020B0502040204020203" pitchFamily="34" charset="-122"/>
              <a:ea typeface="微软雅黑 Light" panose="020B0502040204020203" pitchFamily="34" charset="-122"/>
            </a:endParaRPr>
          </a:p>
        </p:txBody>
      </p:sp>
      <p:sp>
        <p:nvSpPr>
          <p:cNvPr id="52" name="文本框 51"/>
          <p:cNvSpPr txBox="1"/>
          <p:nvPr/>
        </p:nvSpPr>
        <p:spPr>
          <a:xfrm>
            <a:off x="5740348" y="3779101"/>
            <a:ext cx="1170867"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Key Phase</a:t>
            </a:r>
            <a:endParaRPr lang="zh-CN" altLang="en-US" sz="1600" dirty="0">
              <a:latin typeface="微软雅黑 Light" panose="020B0502040204020203" pitchFamily="34" charset="-122"/>
              <a:ea typeface="微软雅黑 Light" panose="020B0502040204020203" pitchFamily="34" charset="-122"/>
            </a:endParaRPr>
          </a:p>
        </p:txBody>
      </p:sp>
      <p:sp>
        <p:nvSpPr>
          <p:cNvPr id="53" name="文本框 52"/>
          <p:cNvSpPr txBox="1"/>
          <p:nvPr/>
        </p:nvSpPr>
        <p:spPr>
          <a:xfrm>
            <a:off x="6911215" y="3779101"/>
            <a:ext cx="1170867"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P</a:t>
            </a:r>
            <a:endParaRPr lang="zh-CN" altLang="en-US" sz="1600" dirty="0">
              <a:latin typeface="微软雅黑 Light" panose="020B0502040204020203" pitchFamily="34" charset="-122"/>
              <a:ea typeface="微软雅黑 Light" panose="020B0502040204020203" pitchFamily="34" charset="-122"/>
            </a:endParaRPr>
          </a:p>
        </p:txBody>
      </p:sp>
      <p:sp>
        <p:nvSpPr>
          <p:cNvPr id="54" name="文本框 53"/>
          <p:cNvSpPr txBox="1"/>
          <p:nvPr/>
        </p:nvSpPr>
        <p:spPr>
          <a:xfrm>
            <a:off x="8078028" y="3779101"/>
            <a:ext cx="1170867"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DCID</a:t>
            </a:r>
            <a:endParaRPr lang="zh-CN" altLang="en-US" sz="1600" dirty="0">
              <a:latin typeface="微软雅黑 Light" panose="020B0502040204020203" pitchFamily="34" charset="-122"/>
              <a:ea typeface="微软雅黑 Light" panose="020B0502040204020203" pitchFamily="34" charset="-122"/>
            </a:endParaRPr>
          </a:p>
        </p:txBody>
      </p:sp>
      <p:sp>
        <p:nvSpPr>
          <p:cNvPr id="55" name="文本框 54"/>
          <p:cNvSpPr txBox="1"/>
          <p:nvPr/>
        </p:nvSpPr>
        <p:spPr>
          <a:xfrm>
            <a:off x="9248895" y="3779101"/>
            <a:ext cx="1166813" cy="648000"/>
          </a:xfrm>
          <a:prstGeom prst="rect">
            <a:avLst/>
          </a:prstGeom>
          <a:noFill/>
          <a:ln>
            <a:solidFill>
              <a:schemeClr val="tx1"/>
            </a:solidFill>
          </a:ln>
        </p:spPr>
        <p:txBody>
          <a:bodyPr wrap="square" tIns="46800" rtlCol="0">
            <a:noAutofit/>
          </a:bodyPr>
          <a:lstStyle/>
          <a:p>
            <a:pPr algn="ctr"/>
            <a:r>
              <a:rPr lang="en-US" altLang="zh-CN" sz="1600" dirty="0">
                <a:latin typeface="微软雅黑 Light" panose="020B0502040204020203" pitchFamily="34" charset="-122"/>
                <a:ea typeface="微软雅黑 Light" panose="020B0502040204020203" pitchFamily="34" charset="-122"/>
              </a:rPr>
              <a:t>Packet Number</a:t>
            </a:r>
            <a:endParaRPr lang="zh-CN" altLang="en-US" sz="1600" dirty="0">
              <a:latin typeface="微软雅黑 Light" panose="020B0502040204020203" pitchFamily="34" charset="-122"/>
              <a:ea typeface="微软雅黑 Light" panose="020B0502040204020203" pitchFamily="34" charset="-122"/>
            </a:endParaRPr>
          </a:p>
        </p:txBody>
      </p:sp>
      <p:sp>
        <p:nvSpPr>
          <p:cNvPr id="56" name="文本框 55"/>
          <p:cNvSpPr txBox="1"/>
          <p:nvPr/>
        </p:nvSpPr>
        <p:spPr>
          <a:xfrm>
            <a:off x="10415708" y="3779101"/>
            <a:ext cx="1166813" cy="648000"/>
          </a:xfrm>
          <a:prstGeom prst="rect">
            <a:avLst/>
          </a:prstGeom>
          <a:noFill/>
          <a:ln>
            <a:solidFill>
              <a:schemeClr val="tx1"/>
            </a:solidFill>
          </a:ln>
        </p:spPr>
        <p:txBody>
          <a:bodyPr wrap="square" tIns="46800" rtlCol="0">
            <a:noAutofit/>
          </a:bodyPr>
          <a:lstStyle/>
          <a:p>
            <a:pPr algn="ctr"/>
            <a:r>
              <a:rPr lang="en-US" altLang="zh-CN" sz="1600" dirty="0">
                <a:latin typeface="微软雅黑 Light" panose="020B0502040204020203" pitchFamily="34" charset="-122"/>
                <a:ea typeface="微软雅黑 Light" panose="020B0502040204020203" pitchFamily="34" charset="-122"/>
              </a:rPr>
              <a:t>Packet Payload</a:t>
            </a:r>
            <a:endParaRPr lang="zh-CN" altLang="en-US" sz="1600" dirty="0">
              <a:latin typeface="微软雅黑 Light" panose="020B0502040204020203" pitchFamily="34" charset="-122"/>
              <a:ea typeface="微软雅黑 Light" panose="020B0502040204020203" pitchFamily="34" charset="-122"/>
            </a:endParaRPr>
          </a:p>
        </p:txBody>
      </p:sp>
      <p:sp>
        <p:nvSpPr>
          <p:cNvPr id="57" name="文本框 56"/>
          <p:cNvSpPr txBox="1"/>
          <p:nvPr/>
        </p:nvSpPr>
        <p:spPr>
          <a:xfrm>
            <a:off x="911735" y="4462186"/>
            <a:ext cx="57740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1bit</a:t>
            </a:r>
            <a:endParaRPr lang="zh-CN" altLang="en-US" dirty="0">
              <a:latin typeface="微软雅黑 Light" panose="020B0502040204020203" pitchFamily="34" charset="-122"/>
              <a:ea typeface="微软雅黑 Light" panose="020B0502040204020203" pitchFamily="34" charset="-122"/>
            </a:endParaRPr>
          </a:p>
        </p:txBody>
      </p:sp>
      <p:sp>
        <p:nvSpPr>
          <p:cNvPr id="58" name="文本框 57"/>
          <p:cNvSpPr txBox="1"/>
          <p:nvPr/>
        </p:nvSpPr>
        <p:spPr>
          <a:xfrm>
            <a:off x="2172694" y="4462186"/>
            <a:ext cx="57740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1bit</a:t>
            </a:r>
            <a:endParaRPr lang="zh-CN" altLang="en-US" dirty="0">
              <a:latin typeface="微软雅黑 Light" panose="020B0502040204020203" pitchFamily="34" charset="-122"/>
              <a:ea typeface="微软雅黑 Light" panose="020B0502040204020203" pitchFamily="34" charset="-122"/>
            </a:endParaRPr>
          </a:p>
        </p:txBody>
      </p:sp>
      <p:sp>
        <p:nvSpPr>
          <p:cNvPr id="59" name="文本框 58"/>
          <p:cNvSpPr txBox="1"/>
          <p:nvPr/>
        </p:nvSpPr>
        <p:spPr>
          <a:xfrm>
            <a:off x="3365259" y="4462186"/>
            <a:ext cx="57740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1bit</a:t>
            </a:r>
            <a:endParaRPr lang="zh-CN" altLang="en-US" dirty="0">
              <a:latin typeface="微软雅黑 Light" panose="020B0502040204020203" pitchFamily="34" charset="-122"/>
              <a:ea typeface="微软雅黑 Light" panose="020B0502040204020203" pitchFamily="34" charset="-122"/>
            </a:endParaRPr>
          </a:p>
        </p:txBody>
      </p:sp>
      <p:sp>
        <p:nvSpPr>
          <p:cNvPr id="60" name="文本框 59"/>
          <p:cNvSpPr txBox="1"/>
          <p:nvPr/>
        </p:nvSpPr>
        <p:spPr>
          <a:xfrm>
            <a:off x="4716797" y="4456846"/>
            <a:ext cx="728084"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2bits</a:t>
            </a:r>
            <a:endParaRPr lang="zh-CN" altLang="en-US" dirty="0">
              <a:latin typeface="微软雅黑 Light" panose="020B0502040204020203" pitchFamily="34" charset="-122"/>
              <a:ea typeface="微软雅黑 Light" panose="020B0502040204020203" pitchFamily="34" charset="-122"/>
            </a:endParaRPr>
          </a:p>
        </p:txBody>
      </p:sp>
      <p:sp>
        <p:nvSpPr>
          <p:cNvPr id="61" name="文本框 60"/>
          <p:cNvSpPr txBox="1"/>
          <p:nvPr/>
        </p:nvSpPr>
        <p:spPr>
          <a:xfrm>
            <a:off x="5983379" y="4464225"/>
            <a:ext cx="57740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1bit</a:t>
            </a:r>
            <a:endParaRPr lang="zh-CN" altLang="en-US" dirty="0">
              <a:latin typeface="微软雅黑 Light" panose="020B0502040204020203" pitchFamily="34" charset="-122"/>
              <a:ea typeface="微软雅黑 Light" panose="020B0502040204020203" pitchFamily="34" charset="-122"/>
            </a:endParaRPr>
          </a:p>
        </p:txBody>
      </p:sp>
      <p:sp>
        <p:nvSpPr>
          <p:cNvPr id="62" name="文本框 61"/>
          <p:cNvSpPr txBox="1"/>
          <p:nvPr/>
        </p:nvSpPr>
        <p:spPr>
          <a:xfrm>
            <a:off x="7222355" y="4456846"/>
            <a:ext cx="728084"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2bits</a:t>
            </a:r>
            <a:endParaRPr lang="zh-CN" altLang="en-US" dirty="0">
              <a:latin typeface="微软雅黑 Light" panose="020B0502040204020203" pitchFamily="34" charset="-122"/>
              <a:ea typeface="微软雅黑 Light" panose="020B0502040204020203" pitchFamily="34" charset="-122"/>
            </a:endParaRPr>
          </a:p>
        </p:txBody>
      </p:sp>
      <p:sp>
        <p:nvSpPr>
          <p:cNvPr id="63" name="文本框 62"/>
          <p:cNvSpPr txBox="1"/>
          <p:nvPr/>
        </p:nvSpPr>
        <p:spPr>
          <a:xfrm>
            <a:off x="8162917" y="4455369"/>
            <a:ext cx="970137"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160bits</a:t>
            </a:r>
            <a:endParaRPr lang="zh-CN" altLang="en-US" dirty="0">
              <a:latin typeface="微软雅黑 Light" panose="020B0502040204020203" pitchFamily="34" charset="-122"/>
              <a:ea typeface="微软雅黑 Light" panose="020B0502040204020203" pitchFamily="34" charset="-122"/>
            </a:endParaRPr>
          </a:p>
        </p:txBody>
      </p:sp>
      <p:sp>
        <p:nvSpPr>
          <p:cNvPr id="64" name="文本框 63"/>
          <p:cNvSpPr txBox="1"/>
          <p:nvPr/>
        </p:nvSpPr>
        <p:spPr>
          <a:xfrm>
            <a:off x="9496311" y="4455369"/>
            <a:ext cx="1058303"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P+8bits</a:t>
            </a:r>
            <a:endParaRPr lang="zh-CN" altLang="en-US" dirty="0">
              <a:latin typeface="微软雅黑 Light" panose="020B0502040204020203" pitchFamily="34" charset="-122"/>
              <a:ea typeface="微软雅黑 Light" panose="020B0502040204020203" pitchFamily="34" charset="-122"/>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r>
              <a:rPr lang="en-US" altLang="zh-CN" dirty="0">
                <a:latin typeface="微软雅黑" panose="020B0503020204020204" pitchFamily="34" charset="-122"/>
                <a:sym typeface="+mn-lt"/>
              </a:rPr>
              <a:t>QUIC</a:t>
            </a:r>
            <a:r>
              <a:rPr lang="zh-CN" altLang="en-US" dirty="0">
                <a:latin typeface="微软雅黑" panose="020B0503020204020204" pitchFamily="34" charset="-122"/>
                <a:sym typeface="+mn-lt"/>
              </a:rPr>
              <a:t>报文格式：短首部</a:t>
            </a:r>
            <a:endParaRPr lang="zh-CN" altLang="en-US" dirty="0">
              <a:latin typeface="微软雅黑" panose="020B0503020204020204" pitchFamily="34" charset="-122"/>
            </a:endParaRPr>
          </a:p>
        </p:txBody>
      </p:sp>
      <p:sp>
        <p:nvSpPr>
          <p:cNvPr id="4" name="灯片编号占位符 3"/>
          <p:cNvSpPr>
            <a:spLocks noGrp="1"/>
          </p:cNvSpPr>
          <p:nvPr>
            <p:ph type="sldNum" sz="quarter" idx="12"/>
          </p:nvPr>
        </p:nvSpPr>
        <p:spPr/>
        <p:txBody>
          <a:bodyPr/>
          <a:lstStyle/>
          <a:p>
            <a:fld id="{C8BB1146-E542-4D4E-B8E9-6919A11DDD48}" type="slidenum">
              <a:rPr lang="en-US" smtClean="0"/>
              <a:t>95</a:t>
            </a:fld>
            <a:endParaRPr lang="en-US"/>
          </a:p>
        </p:txBody>
      </p:sp>
      <p:sp>
        <p:nvSpPr>
          <p:cNvPr id="5" name="文本框 4"/>
          <p:cNvSpPr txBox="1"/>
          <p:nvPr/>
        </p:nvSpPr>
        <p:spPr>
          <a:xfrm>
            <a:off x="527248" y="1383823"/>
            <a:ext cx="1412240" cy="648000"/>
          </a:xfrm>
          <a:prstGeom prst="rect">
            <a:avLst/>
          </a:prstGeom>
          <a:noFill/>
          <a:ln w="9525">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Header Form</a:t>
            </a:r>
            <a:endParaRPr lang="zh-CN" altLang="en-US" sz="1600" dirty="0">
              <a:latin typeface="微软雅黑 Light" panose="020B0502040204020203" pitchFamily="34" charset="-122"/>
              <a:ea typeface="微软雅黑 Light" panose="020B0502040204020203" pitchFamily="34" charset="-122"/>
            </a:endParaRPr>
          </a:p>
        </p:txBody>
      </p:sp>
      <p:sp>
        <p:nvSpPr>
          <p:cNvPr id="6" name="文本框 5"/>
          <p:cNvSpPr txBox="1"/>
          <p:nvPr/>
        </p:nvSpPr>
        <p:spPr>
          <a:xfrm>
            <a:off x="1939488" y="1380762"/>
            <a:ext cx="1016000"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Fixed Bit</a:t>
            </a:r>
            <a:endParaRPr lang="zh-CN" altLang="en-US" sz="1600" dirty="0">
              <a:latin typeface="微软雅黑 Light" panose="020B0502040204020203" pitchFamily="34" charset="-122"/>
              <a:ea typeface="微软雅黑 Light" panose="020B0502040204020203" pitchFamily="34" charset="-122"/>
            </a:endParaRPr>
          </a:p>
        </p:txBody>
      </p:sp>
      <p:sp>
        <p:nvSpPr>
          <p:cNvPr id="8" name="文本框 7"/>
          <p:cNvSpPr txBox="1"/>
          <p:nvPr/>
        </p:nvSpPr>
        <p:spPr>
          <a:xfrm>
            <a:off x="2955488" y="1382430"/>
            <a:ext cx="1369131" cy="648000"/>
          </a:xfrm>
          <a:prstGeom prst="rect">
            <a:avLst/>
          </a:prstGeom>
          <a:noFill/>
          <a:ln w="28575">
            <a:solidFill>
              <a:srgbClr val="FF0000"/>
            </a:solidFill>
          </a:ln>
        </p:spPr>
        <p:txBody>
          <a:bodyPr wrap="square" tIns="144000" rtlCol="0">
            <a:noAutofit/>
          </a:bodyPr>
          <a:lstStyle/>
          <a:p>
            <a:pPr algn="ctr"/>
            <a:r>
              <a:rPr lang="en-US" altLang="zh-CN" sz="1600" dirty="0">
                <a:solidFill>
                  <a:srgbClr val="FF0000"/>
                </a:solidFill>
                <a:latin typeface="微软雅黑 Light" panose="020B0502040204020203" pitchFamily="34" charset="-122"/>
                <a:ea typeface="微软雅黑 Light" panose="020B0502040204020203" pitchFamily="34" charset="-122"/>
              </a:rPr>
              <a:t>Spin Bit</a:t>
            </a:r>
            <a:endParaRPr lang="zh-CN" altLang="en-US" sz="1600" dirty="0">
              <a:solidFill>
                <a:srgbClr val="FF0000"/>
              </a:solidFill>
              <a:latin typeface="微软雅黑 Light" panose="020B0502040204020203" pitchFamily="34" charset="-122"/>
              <a:ea typeface="微软雅黑 Light" panose="020B0502040204020203" pitchFamily="34" charset="-122"/>
            </a:endParaRPr>
          </a:p>
        </p:txBody>
      </p:sp>
      <p:sp>
        <p:nvSpPr>
          <p:cNvPr id="9" name="文本框 8"/>
          <p:cNvSpPr txBox="1"/>
          <p:nvPr/>
        </p:nvSpPr>
        <p:spPr>
          <a:xfrm>
            <a:off x="4324619" y="1380761"/>
            <a:ext cx="1412241"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Reserved</a:t>
            </a:r>
            <a:endParaRPr lang="zh-CN" altLang="en-US" sz="1600" dirty="0">
              <a:latin typeface="微软雅黑 Light" panose="020B0502040204020203" pitchFamily="34" charset="-122"/>
              <a:ea typeface="微软雅黑 Light" panose="020B0502040204020203" pitchFamily="34" charset="-122"/>
            </a:endParaRPr>
          </a:p>
        </p:txBody>
      </p:sp>
      <p:sp>
        <p:nvSpPr>
          <p:cNvPr id="10" name="文本框 9"/>
          <p:cNvSpPr txBox="1"/>
          <p:nvPr/>
        </p:nvSpPr>
        <p:spPr>
          <a:xfrm>
            <a:off x="5736860" y="1380761"/>
            <a:ext cx="1170867"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Key Phase</a:t>
            </a:r>
            <a:endParaRPr lang="zh-CN" altLang="en-US" sz="1600" dirty="0">
              <a:latin typeface="微软雅黑 Light" panose="020B0502040204020203" pitchFamily="34" charset="-122"/>
              <a:ea typeface="微软雅黑 Light" panose="020B0502040204020203" pitchFamily="34" charset="-122"/>
            </a:endParaRPr>
          </a:p>
        </p:txBody>
      </p:sp>
      <p:sp>
        <p:nvSpPr>
          <p:cNvPr id="11" name="文本框 10"/>
          <p:cNvSpPr txBox="1"/>
          <p:nvPr/>
        </p:nvSpPr>
        <p:spPr>
          <a:xfrm>
            <a:off x="6907727" y="1380761"/>
            <a:ext cx="1170867"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P</a:t>
            </a:r>
            <a:endParaRPr lang="zh-CN" altLang="en-US" sz="1600" dirty="0">
              <a:latin typeface="微软雅黑 Light" panose="020B0502040204020203" pitchFamily="34" charset="-122"/>
              <a:ea typeface="微软雅黑 Light" panose="020B0502040204020203" pitchFamily="34" charset="-122"/>
            </a:endParaRPr>
          </a:p>
        </p:txBody>
      </p:sp>
      <p:sp>
        <p:nvSpPr>
          <p:cNvPr id="12" name="文本框 11"/>
          <p:cNvSpPr txBox="1"/>
          <p:nvPr/>
        </p:nvSpPr>
        <p:spPr>
          <a:xfrm>
            <a:off x="8074540" y="1380761"/>
            <a:ext cx="1170867"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DCID</a:t>
            </a:r>
            <a:endParaRPr lang="zh-CN" altLang="en-US" sz="1600" dirty="0">
              <a:latin typeface="微软雅黑 Light" panose="020B0502040204020203" pitchFamily="34" charset="-122"/>
              <a:ea typeface="微软雅黑 Light" panose="020B0502040204020203" pitchFamily="34" charset="-122"/>
            </a:endParaRPr>
          </a:p>
        </p:txBody>
      </p:sp>
      <p:sp>
        <p:nvSpPr>
          <p:cNvPr id="13" name="文本框 12"/>
          <p:cNvSpPr txBox="1"/>
          <p:nvPr/>
        </p:nvSpPr>
        <p:spPr>
          <a:xfrm>
            <a:off x="9245407" y="1380761"/>
            <a:ext cx="1166813" cy="648000"/>
          </a:xfrm>
          <a:prstGeom prst="rect">
            <a:avLst/>
          </a:prstGeom>
          <a:noFill/>
          <a:ln>
            <a:solidFill>
              <a:schemeClr val="tx1"/>
            </a:solidFill>
          </a:ln>
        </p:spPr>
        <p:txBody>
          <a:bodyPr wrap="square" tIns="46800" rtlCol="0">
            <a:noAutofit/>
          </a:bodyPr>
          <a:lstStyle/>
          <a:p>
            <a:pPr algn="ctr"/>
            <a:r>
              <a:rPr lang="en-US" altLang="zh-CN" sz="1600" dirty="0">
                <a:latin typeface="微软雅黑 Light" panose="020B0502040204020203" pitchFamily="34" charset="-122"/>
                <a:ea typeface="微软雅黑 Light" panose="020B0502040204020203" pitchFamily="34" charset="-122"/>
              </a:rPr>
              <a:t>Packet Number</a:t>
            </a:r>
            <a:endParaRPr lang="zh-CN" altLang="en-US" sz="1600" dirty="0">
              <a:latin typeface="微软雅黑 Light" panose="020B0502040204020203" pitchFamily="34" charset="-122"/>
              <a:ea typeface="微软雅黑 Light" panose="020B0502040204020203" pitchFamily="34" charset="-122"/>
            </a:endParaRPr>
          </a:p>
        </p:txBody>
      </p:sp>
      <p:sp>
        <p:nvSpPr>
          <p:cNvPr id="14" name="文本框 13"/>
          <p:cNvSpPr txBox="1"/>
          <p:nvPr/>
        </p:nvSpPr>
        <p:spPr>
          <a:xfrm>
            <a:off x="10412220" y="1380761"/>
            <a:ext cx="1166813" cy="648000"/>
          </a:xfrm>
          <a:prstGeom prst="rect">
            <a:avLst/>
          </a:prstGeom>
          <a:noFill/>
          <a:ln>
            <a:solidFill>
              <a:schemeClr val="tx1"/>
            </a:solidFill>
          </a:ln>
        </p:spPr>
        <p:txBody>
          <a:bodyPr wrap="square" tIns="46800" rtlCol="0">
            <a:noAutofit/>
          </a:bodyPr>
          <a:lstStyle/>
          <a:p>
            <a:pPr algn="ctr"/>
            <a:r>
              <a:rPr lang="en-US" altLang="zh-CN" sz="1600" dirty="0">
                <a:latin typeface="微软雅黑 Light" panose="020B0502040204020203" pitchFamily="34" charset="-122"/>
                <a:ea typeface="微软雅黑 Light" panose="020B0502040204020203" pitchFamily="34" charset="-122"/>
              </a:rPr>
              <a:t>Packet Payload</a:t>
            </a:r>
            <a:endParaRPr lang="zh-CN" altLang="en-US" sz="1600" dirty="0">
              <a:latin typeface="微软雅黑 Light" panose="020B0502040204020203" pitchFamily="34" charset="-122"/>
              <a:ea typeface="微软雅黑 Light" panose="020B0502040204020203" pitchFamily="34" charset="-122"/>
            </a:endParaRPr>
          </a:p>
        </p:txBody>
      </p:sp>
      <p:sp>
        <p:nvSpPr>
          <p:cNvPr id="17" name="文本框 16"/>
          <p:cNvSpPr txBox="1"/>
          <p:nvPr/>
        </p:nvSpPr>
        <p:spPr>
          <a:xfrm>
            <a:off x="908247" y="2063846"/>
            <a:ext cx="57740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1bit</a:t>
            </a:r>
            <a:endParaRPr lang="zh-CN" altLang="en-US" dirty="0">
              <a:latin typeface="微软雅黑 Light" panose="020B0502040204020203" pitchFamily="34" charset="-122"/>
              <a:ea typeface="微软雅黑 Light" panose="020B0502040204020203" pitchFamily="34" charset="-122"/>
            </a:endParaRPr>
          </a:p>
        </p:txBody>
      </p:sp>
      <p:sp>
        <p:nvSpPr>
          <p:cNvPr id="18" name="文本框 17"/>
          <p:cNvSpPr txBox="1"/>
          <p:nvPr/>
        </p:nvSpPr>
        <p:spPr>
          <a:xfrm>
            <a:off x="2169206" y="2063846"/>
            <a:ext cx="57740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1bit</a:t>
            </a:r>
            <a:endParaRPr lang="zh-CN" altLang="en-US" dirty="0">
              <a:latin typeface="微软雅黑 Light" panose="020B0502040204020203" pitchFamily="34" charset="-122"/>
              <a:ea typeface="微软雅黑 Light" panose="020B0502040204020203" pitchFamily="34" charset="-122"/>
            </a:endParaRPr>
          </a:p>
        </p:txBody>
      </p:sp>
      <p:sp>
        <p:nvSpPr>
          <p:cNvPr id="19" name="文本框 18"/>
          <p:cNvSpPr txBox="1"/>
          <p:nvPr/>
        </p:nvSpPr>
        <p:spPr>
          <a:xfrm>
            <a:off x="3361771" y="2063846"/>
            <a:ext cx="57740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1bit</a:t>
            </a:r>
            <a:endParaRPr lang="zh-CN" altLang="en-US" dirty="0">
              <a:latin typeface="微软雅黑 Light" panose="020B0502040204020203" pitchFamily="34" charset="-122"/>
              <a:ea typeface="微软雅黑 Light" panose="020B0502040204020203" pitchFamily="34" charset="-122"/>
            </a:endParaRPr>
          </a:p>
        </p:txBody>
      </p:sp>
      <p:sp>
        <p:nvSpPr>
          <p:cNvPr id="20" name="文本框 19"/>
          <p:cNvSpPr txBox="1"/>
          <p:nvPr/>
        </p:nvSpPr>
        <p:spPr>
          <a:xfrm>
            <a:off x="4713309" y="2058506"/>
            <a:ext cx="728084"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2bits</a:t>
            </a:r>
            <a:endParaRPr lang="zh-CN" altLang="en-US" dirty="0">
              <a:latin typeface="微软雅黑 Light" panose="020B0502040204020203" pitchFamily="34" charset="-122"/>
              <a:ea typeface="微软雅黑 Light" panose="020B0502040204020203" pitchFamily="34" charset="-122"/>
            </a:endParaRPr>
          </a:p>
        </p:txBody>
      </p:sp>
      <p:sp>
        <p:nvSpPr>
          <p:cNvPr id="21" name="文本框 20"/>
          <p:cNvSpPr txBox="1"/>
          <p:nvPr/>
        </p:nvSpPr>
        <p:spPr>
          <a:xfrm>
            <a:off x="5979891" y="2065885"/>
            <a:ext cx="57740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1bit</a:t>
            </a:r>
            <a:endParaRPr lang="zh-CN" altLang="en-US" dirty="0">
              <a:latin typeface="微软雅黑 Light" panose="020B0502040204020203" pitchFamily="34" charset="-122"/>
              <a:ea typeface="微软雅黑 Light" panose="020B0502040204020203" pitchFamily="34" charset="-122"/>
            </a:endParaRPr>
          </a:p>
        </p:txBody>
      </p:sp>
      <p:sp>
        <p:nvSpPr>
          <p:cNvPr id="22" name="文本框 21"/>
          <p:cNvSpPr txBox="1"/>
          <p:nvPr/>
        </p:nvSpPr>
        <p:spPr>
          <a:xfrm>
            <a:off x="7218867" y="2058506"/>
            <a:ext cx="728084"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2bits</a:t>
            </a:r>
            <a:endParaRPr lang="zh-CN" altLang="en-US" dirty="0">
              <a:latin typeface="微软雅黑 Light" panose="020B0502040204020203" pitchFamily="34" charset="-122"/>
              <a:ea typeface="微软雅黑 Light" panose="020B0502040204020203" pitchFamily="34" charset="-122"/>
            </a:endParaRPr>
          </a:p>
        </p:txBody>
      </p:sp>
      <p:sp>
        <p:nvSpPr>
          <p:cNvPr id="23" name="文本框 22"/>
          <p:cNvSpPr txBox="1"/>
          <p:nvPr/>
        </p:nvSpPr>
        <p:spPr>
          <a:xfrm>
            <a:off x="8159429" y="2057029"/>
            <a:ext cx="970137"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160bits</a:t>
            </a:r>
            <a:endParaRPr lang="zh-CN" altLang="en-US" dirty="0">
              <a:latin typeface="微软雅黑 Light" panose="020B0502040204020203" pitchFamily="34" charset="-122"/>
              <a:ea typeface="微软雅黑 Light" panose="020B0502040204020203" pitchFamily="34" charset="-122"/>
            </a:endParaRPr>
          </a:p>
        </p:txBody>
      </p:sp>
      <p:sp>
        <p:nvSpPr>
          <p:cNvPr id="24" name="文本框 23"/>
          <p:cNvSpPr txBox="1"/>
          <p:nvPr/>
        </p:nvSpPr>
        <p:spPr>
          <a:xfrm>
            <a:off x="9492823" y="2057029"/>
            <a:ext cx="1058303"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P+8bits</a:t>
            </a:r>
            <a:endParaRPr lang="zh-CN" altLang="en-US" dirty="0">
              <a:latin typeface="微软雅黑 Light" panose="020B0502040204020203" pitchFamily="34" charset="-122"/>
              <a:ea typeface="微软雅黑 Light" panose="020B0502040204020203" pitchFamily="34" charset="-122"/>
            </a:endParaRPr>
          </a:p>
        </p:txBody>
      </p:sp>
      <p:sp>
        <p:nvSpPr>
          <p:cNvPr id="27" name="文本框 26"/>
          <p:cNvSpPr txBox="1"/>
          <p:nvPr/>
        </p:nvSpPr>
        <p:spPr>
          <a:xfrm>
            <a:off x="2136462" y="2572909"/>
            <a:ext cx="3484528" cy="460704"/>
          </a:xfrm>
          <a:prstGeom prst="rect">
            <a:avLst/>
          </a:prstGeom>
          <a:solidFill>
            <a:schemeClr val="bg2"/>
          </a:solidFill>
        </p:spPr>
        <p:txBody>
          <a:bodyPr wrap="square">
            <a:spAutoFit/>
          </a:bodyPr>
          <a:lstStyle>
            <a:defPPr>
              <a:defRPr lang="zh-CN"/>
            </a:defPPr>
            <a:lvl1pPr algn="ctr">
              <a:lnSpc>
                <a:spcPct val="150000"/>
              </a:lnSpc>
              <a:defRPr sz="1800" kern="100">
                <a:effectLst/>
                <a:latin typeface="微软雅黑 Light" panose="020B0502040204020203" pitchFamily="34" charset="-122"/>
                <a:ea typeface="微软雅黑 Light" panose="020B0502040204020203" pitchFamily="34" charset="-122"/>
              </a:defRPr>
            </a:lvl1pPr>
          </a:lstStyle>
          <a:p>
            <a:r>
              <a:rPr lang="en-US" altLang="zh-CN" dirty="0"/>
              <a:t>Spin Bit </a:t>
            </a:r>
            <a:r>
              <a:rPr lang="zh-CN" altLang="en-US" dirty="0"/>
              <a:t>：时延旋转比特位</a:t>
            </a:r>
            <a:endParaRPr lang="zh-CN" altLang="zh-CN" dirty="0"/>
          </a:p>
        </p:txBody>
      </p:sp>
      <p:sp>
        <p:nvSpPr>
          <p:cNvPr id="47" name="文本框 46"/>
          <p:cNvSpPr txBox="1"/>
          <p:nvPr/>
        </p:nvSpPr>
        <p:spPr>
          <a:xfrm>
            <a:off x="3640053" y="5043418"/>
            <a:ext cx="3052480" cy="460704"/>
          </a:xfrm>
          <a:prstGeom prst="rect">
            <a:avLst/>
          </a:prstGeom>
          <a:solidFill>
            <a:schemeClr val="bg2"/>
          </a:solidFill>
        </p:spPr>
        <p:txBody>
          <a:bodyPr wrap="square">
            <a:spAutoFit/>
          </a:bodyPr>
          <a:lstStyle>
            <a:defPPr>
              <a:defRPr lang="zh-CN"/>
            </a:defPPr>
            <a:lvl1pPr algn="ctr">
              <a:lnSpc>
                <a:spcPct val="150000"/>
              </a:lnSpc>
              <a:defRPr sz="1800" kern="100">
                <a:effectLst/>
                <a:latin typeface="微软雅黑 Light" panose="020B0502040204020203" pitchFamily="34" charset="-122"/>
                <a:ea typeface="微软雅黑 Light" panose="020B0502040204020203" pitchFamily="34" charset="-122"/>
              </a:defRPr>
            </a:lvl1pPr>
          </a:lstStyle>
          <a:p>
            <a:r>
              <a:rPr lang="en-US" altLang="zh-CN" dirty="0"/>
              <a:t>Reserved Bits</a:t>
            </a:r>
            <a:r>
              <a:rPr lang="zh-CN" altLang="en-US" dirty="0"/>
              <a:t>：保留位</a:t>
            </a:r>
            <a:endParaRPr lang="zh-CN" altLang="zh-CN" dirty="0"/>
          </a:p>
        </p:txBody>
      </p:sp>
      <p:sp>
        <p:nvSpPr>
          <p:cNvPr id="48" name="文本框 47"/>
          <p:cNvSpPr txBox="1"/>
          <p:nvPr/>
        </p:nvSpPr>
        <p:spPr>
          <a:xfrm>
            <a:off x="530736" y="3780632"/>
            <a:ext cx="1412240" cy="648000"/>
          </a:xfrm>
          <a:prstGeom prst="rect">
            <a:avLst/>
          </a:prstGeom>
          <a:noFill/>
          <a:ln w="9525">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Header Form</a:t>
            </a:r>
            <a:endParaRPr lang="zh-CN" altLang="en-US" sz="1600" dirty="0">
              <a:latin typeface="微软雅黑 Light" panose="020B0502040204020203" pitchFamily="34" charset="-122"/>
              <a:ea typeface="微软雅黑 Light" panose="020B0502040204020203" pitchFamily="34" charset="-122"/>
            </a:endParaRPr>
          </a:p>
        </p:txBody>
      </p:sp>
      <p:sp>
        <p:nvSpPr>
          <p:cNvPr id="49" name="文本框 48"/>
          <p:cNvSpPr txBox="1"/>
          <p:nvPr/>
        </p:nvSpPr>
        <p:spPr>
          <a:xfrm>
            <a:off x="1942469" y="3780632"/>
            <a:ext cx="1016000" cy="648000"/>
          </a:xfrm>
          <a:prstGeom prst="rect">
            <a:avLst/>
          </a:prstGeom>
          <a:noFill/>
          <a:ln w="9525">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Fixed Bit</a:t>
            </a:r>
            <a:endParaRPr lang="zh-CN" altLang="en-US" sz="1600" dirty="0">
              <a:latin typeface="微软雅黑 Light" panose="020B0502040204020203" pitchFamily="34" charset="-122"/>
              <a:ea typeface="微软雅黑 Light" panose="020B0502040204020203" pitchFamily="34" charset="-122"/>
            </a:endParaRPr>
          </a:p>
        </p:txBody>
      </p:sp>
      <p:sp>
        <p:nvSpPr>
          <p:cNvPr id="50" name="文本框 49"/>
          <p:cNvSpPr txBox="1"/>
          <p:nvPr/>
        </p:nvSpPr>
        <p:spPr>
          <a:xfrm>
            <a:off x="2957962" y="3780632"/>
            <a:ext cx="1369131"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Spin Bit</a:t>
            </a:r>
            <a:endParaRPr lang="zh-CN" altLang="en-US" sz="1600" dirty="0">
              <a:latin typeface="微软雅黑 Light" panose="020B0502040204020203" pitchFamily="34" charset="-122"/>
              <a:ea typeface="微软雅黑 Light" panose="020B0502040204020203" pitchFamily="34" charset="-122"/>
            </a:endParaRPr>
          </a:p>
        </p:txBody>
      </p:sp>
      <p:sp>
        <p:nvSpPr>
          <p:cNvPr id="51" name="文本框 50"/>
          <p:cNvSpPr txBox="1"/>
          <p:nvPr/>
        </p:nvSpPr>
        <p:spPr>
          <a:xfrm>
            <a:off x="4326586" y="3780632"/>
            <a:ext cx="1412241" cy="648000"/>
          </a:xfrm>
          <a:prstGeom prst="rect">
            <a:avLst/>
          </a:prstGeom>
          <a:noFill/>
          <a:ln w="28575">
            <a:solidFill>
              <a:srgbClr val="FF0000"/>
            </a:solidFill>
          </a:ln>
        </p:spPr>
        <p:txBody>
          <a:bodyPr wrap="square" tIns="144000" rtlCol="0">
            <a:noAutofit/>
          </a:bodyPr>
          <a:lstStyle/>
          <a:p>
            <a:pPr algn="ctr"/>
            <a:r>
              <a:rPr lang="en-US" altLang="zh-CN" sz="1600" dirty="0">
                <a:solidFill>
                  <a:srgbClr val="FF0000"/>
                </a:solidFill>
                <a:latin typeface="微软雅黑 Light" panose="020B0502040204020203" pitchFamily="34" charset="-122"/>
                <a:ea typeface="微软雅黑 Light" panose="020B0502040204020203" pitchFamily="34" charset="-122"/>
              </a:rPr>
              <a:t>Reserved</a:t>
            </a:r>
            <a:endParaRPr lang="zh-CN" altLang="en-US" sz="1600" dirty="0">
              <a:solidFill>
                <a:srgbClr val="FF0000"/>
              </a:solidFill>
              <a:latin typeface="微软雅黑 Light" panose="020B0502040204020203" pitchFamily="34" charset="-122"/>
              <a:ea typeface="微软雅黑 Light" panose="020B0502040204020203" pitchFamily="34" charset="-122"/>
            </a:endParaRPr>
          </a:p>
        </p:txBody>
      </p:sp>
      <p:sp>
        <p:nvSpPr>
          <p:cNvPr id="52" name="文本框 51"/>
          <p:cNvSpPr txBox="1"/>
          <p:nvPr/>
        </p:nvSpPr>
        <p:spPr>
          <a:xfrm>
            <a:off x="5738320" y="3780632"/>
            <a:ext cx="1170867"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Key Phase</a:t>
            </a:r>
            <a:endParaRPr lang="zh-CN" altLang="en-US" sz="1600" dirty="0">
              <a:latin typeface="微软雅黑 Light" panose="020B0502040204020203" pitchFamily="34" charset="-122"/>
              <a:ea typeface="微软雅黑 Light" panose="020B0502040204020203" pitchFamily="34" charset="-122"/>
            </a:endParaRPr>
          </a:p>
        </p:txBody>
      </p:sp>
      <p:sp>
        <p:nvSpPr>
          <p:cNvPr id="53" name="文本框 52"/>
          <p:cNvSpPr txBox="1"/>
          <p:nvPr/>
        </p:nvSpPr>
        <p:spPr>
          <a:xfrm>
            <a:off x="6908680" y="3780632"/>
            <a:ext cx="1170867"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P</a:t>
            </a:r>
            <a:endParaRPr lang="zh-CN" altLang="en-US" sz="1600" dirty="0">
              <a:latin typeface="微软雅黑 Light" panose="020B0502040204020203" pitchFamily="34" charset="-122"/>
              <a:ea typeface="微软雅黑 Light" panose="020B0502040204020203" pitchFamily="34" charset="-122"/>
            </a:endParaRPr>
          </a:p>
        </p:txBody>
      </p:sp>
      <p:sp>
        <p:nvSpPr>
          <p:cNvPr id="54" name="文本框 53"/>
          <p:cNvSpPr txBox="1"/>
          <p:nvPr/>
        </p:nvSpPr>
        <p:spPr>
          <a:xfrm>
            <a:off x="8079040" y="3780632"/>
            <a:ext cx="1170867"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DCID</a:t>
            </a:r>
            <a:endParaRPr lang="zh-CN" altLang="en-US" sz="1600" dirty="0">
              <a:latin typeface="微软雅黑 Light" panose="020B0502040204020203" pitchFamily="34" charset="-122"/>
              <a:ea typeface="微软雅黑 Light" panose="020B0502040204020203" pitchFamily="34" charset="-122"/>
            </a:endParaRPr>
          </a:p>
        </p:txBody>
      </p:sp>
      <p:sp>
        <p:nvSpPr>
          <p:cNvPr id="55" name="文本框 54"/>
          <p:cNvSpPr txBox="1"/>
          <p:nvPr/>
        </p:nvSpPr>
        <p:spPr>
          <a:xfrm>
            <a:off x="9249400" y="3780632"/>
            <a:ext cx="1166813" cy="648000"/>
          </a:xfrm>
          <a:prstGeom prst="rect">
            <a:avLst/>
          </a:prstGeom>
          <a:noFill/>
          <a:ln>
            <a:solidFill>
              <a:schemeClr val="tx1"/>
            </a:solidFill>
          </a:ln>
        </p:spPr>
        <p:txBody>
          <a:bodyPr wrap="square" tIns="46800" rtlCol="0">
            <a:noAutofit/>
          </a:bodyPr>
          <a:lstStyle/>
          <a:p>
            <a:pPr algn="ctr"/>
            <a:r>
              <a:rPr lang="en-US" altLang="zh-CN" sz="1600" dirty="0">
                <a:latin typeface="微软雅黑 Light" panose="020B0502040204020203" pitchFamily="34" charset="-122"/>
                <a:ea typeface="微软雅黑 Light" panose="020B0502040204020203" pitchFamily="34" charset="-122"/>
              </a:rPr>
              <a:t>Packet Number</a:t>
            </a:r>
            <a:endParaRPr lang="zh-CN" altLang="en-US" sz="1600" dirty="0">
              <a:latin typeface="微软雅黑 Light" panose="020B0502040204020203" pitchFamily="34" charset="-122"/>
              <a:ea typeface="微软雅黑 Light" panose="020B0502040204020203" pitchFamily="34" charset="-122"/>
            </a:endParaRPr>
          </a:p>
        </p:txBody>
      </p:sp>
      <p:sp>
        <p:nvSpPr>
          <p:cNvPr id="56" name="文本框 55"/>
          <p:cNvSpPr txBox="1"/>
          <p:nvPr/>
        </p:nvSpPr>
        <p:spPr>
          <a:xfrm>
            <a:off x="10415708" y="3780632"/>
            <a:ext cx="1166813" cy="648000"/>
          </a:xfrm>
          <a:prstGeom prst="rect">
            <a:avLst/>
          </a:prstGeom>
          <a:noFill/>
          <a:ln>
            <a:solidFill>
              <a:schemeClr val="tx1"/>
            </a:solidFill>
          </a:ln>
        </p:spPr>
        <p:txBody>
          <a:bodyPr wrap="square" tIns="46800" rtlCol="0">
            <a:noAutofit/>
          </a:bodyPr>
          <a:lstStyle/>
          <a:p>
            <a:pPr algn="ctr"/>
            <a:r>
              <a:rPr lang="en-US" altLang="zh-CN" sz="1600" dirty="0">
                <a:latin typeface="微软雅黑 Light" panose="020B0502040204020203" pitchFamily="34" charset="-122"/>
                <a:ea typeface="微软雅黑 Light" panose="020B0502040204020203" pitchFamily="34" charset="-122"/>
              </a:rPr>
              <a:t>Packet Payload</a:t>
            </a:r>
            <a:endParaRPr lang="zh-CN" altLang="en-US" sz="1600" dirty="0">
              <a:latin typeface="微软雅黑 Light" panose="020B0502040204020203" pitchFamily="34" charset="-122"/>
              <a:ea typeface="微软雅黑 Light" panose="020B0502040204020203" pitchFamily="34" charset="-122"/>
            </a:endParaRPr>
          </a:p>
        </p:txBody>
      </p:sp>
      <p:sp>
        <p:nvSpPr>
          <p:cNvPr id="57" name="文本框 56"/>
          <p:cNvSpPr txBox="1"/>
          <p:nvPr/>
        </p:nvSpPr>
        <p:spPr>
          <a:xfrm>
            <a:off x="911735" y="4462186"/>
            <a:ext cx="57740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1bit</a:t>
            </a:r>
            <a:endParaRPr lang="zh-CN" altLang="en-US" dirty="0">
              <a:latin typeface="微软雅黑 Light" panose="020B0502040204020203" pitchFamily="34" charset="-122"/>
              <a:ea typeface="微软雅黑 Light" panose="020B0502040204020203" pitchFamily="34" charset="-122"/>
            </a:endParaRPr>
          </a:p>
        </p:txBody>
      </p:sp>
      <p:sp>
        <p:nvSpPr>
          <p:cNvPr id="58" name="文本框 57"/>
          <p:cNvSpPr txBox="1"/>
          <p:nvPr/>
        </p:nvSpPr>
        <p:spPr>
          <a:xfrm>
            <a:off x="2172694" y="4462186"/>
            <a:ext cx="57740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1bit</a:t>
            </a:r>
            <a:endParaRPr lang="zh-CN" altLang="en-US" dirty="0">
              <a:latin typeface="微软雅黑 Light" panose="020B0502040204020203" pitchFamily="34" charset="-122"/>
              <a:ea typeface="微软雅黑 Light" panose="020B0502040204020203" pitchFamily="34" charset="-122"/>
            </a:endParaRPr>
          </a:p>
        </p:txBody>
      </p:sp>
      <p:sp>
        <p:nvSpPr>
          <p:cNvPr id="59" name="文本框 58"/>
          <p:cNvSpPr txBox="1"/>
          <p:nvPr/>
        </p:nvSpPr>
        <p:spPr>
          <a:xfrm>
            <a:off x="3365259" y="4462186"/>
            <a:ext cx="57740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1bit</a:t>
            </a:r>
            <a:endParaRPr lang="zh-CN" altLang="en-US" dirty="0">
              <a:latin typeface="微软雅黑 Light" panose="020B0502040204020203" pitchFamily="34" charset="-122"/>
              <a:ea typeface="微软雅黑 Light" panose="020B0502040204020203" pitchFamily="34" charset="-122"/>
            </a:endParaRPr>
          </a:p>
        </p:txBody>
      </p:sp>
      <p:sp>
        <p:nvSpPr>
          <p:cNvPr id="60" name="文本框 59"/>
          <p:cNvSpPr txBox="1"/>
          <p:nvPr/>
        </p:nvSpPr>
        <p:spPr>
          <a:xfrm>
            <a:off x="4716797" y="4456846"/>
            <a:ext cx="728084"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2bits</a:t>
            </a:r>
            <a:endParaRPr lang="zh-CN" altLang="en-US" dirty="0">
              <a:latin typeface="微软雅黑 Light" panose="020B0502040204020203" pitchFamily="34" charset="-122"/>
              <a:ea typeface="微软雅黑 Light" panose="020B0502040204020203" pitchFamily="34" charset="-122"/>
            </a:endParaRPr>
          </a:p>
        </p:txBody>
      </p:sp>
      <p:sp>
        <p:nvSpPr>
          <p:cNvPr id="61" name="文本框 60"/>
          <p:cNvSpPr txBox="1"/>
          <p:nvPr/>
        </p:nvSpPr>
        <p:spPr>
          <a:xfrm>
            <a:off x="5983379" y="4464225"/>
            <a:ext cx="57740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1bit</a:t>
            </a:r>
            <a:endParaRPr lang="zh-CN" altLang="en-US" dirty="0">
              <a:latin typeface="微软雅黑 Light" panose="020B0502040204020203" pitchFamily="34" charset="-122"/>
              <a:ea typeface="微软雅黑 Light" panose="020B0502040204020203" pitchFamily="34" charset="-122"/>
            </a:endParaRPr>
          </a:p>
        </p:txBody>
      </p:sp>
      <p:sp>
        <p:nvSpPr>
          <p:cNvPr id="62" name="文本框 61"/>
          <p:cNvSpPr txBox="1"/>
          <p:nvPr/>
        </p:nvSpPr>
        <p:spPr>
          <a:xfrm>
            <a:off x="7222355" y="4456846"/>
            <a:ext cx="728084"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2bits</a:t>
            </a:r>
            <a:endParaRPr lang="zh-CN" altLang="en-US" dirty="0">
              <a:latin typeface="微软雅黑 Light" panose="020B0502040204020203" pitchFamily="34" charset="-122"/>
              <a:ea typeface="微软雅黑 Light" panose="020B0502040204020203" pitchFamily="34" charset="-122"/>
            </a:endParaRPr>
          </a:p>
        </p:txBody>
      </p:sp>
      <p:sp>
        <p:nvSpPr>
          <p:cNvPr id="63" name="文本框 62"/>
          <p:cNvSpPr txBox="1"/>
          <p:nvPr/>
        </p:nvSpPr>
        <p:spPr>
          <a:xfrm>
            <a:off x="8162917" y="4455369"/>
            <a:ext cx="970137"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160bits</a:t>
            </a:r>
            <a:endParaRPr lang="zh-CN" altLang="en-US" dirty="0">
              <a:latin typeface="微软雅黑 Light" panose="020B0502040204020203" pitchFamily="34" charset="-122"/>
              <a:ea typeface="微软雅黑 Light" panose="020B0502040204020203" pitchFamily="34" charset="-122"/>
            </a:endParaRPr>
          </a:p>
        </p:txBody>
      </p:sp>
      <p:sp>
        <p:nvSpPr>
          <p:cNvPr id="64" name="文本框 63"/>
          <p:cNvSpPr txBox="1"/>
          <p:nvPr/>
        </p:nvSpPr>
        <p:spPr>
          <a:xfrm>
            <a:off x="9496311" y="4455369"/>
            <a:ext cx="1058303"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P+8bits</a:t>
            </a:r>
            <a:endParaRPr lang="zh-CN" altLang="en-US" dirty="0">
              <a:latin typeface="微软雅黑 Light" panose="020B0502040204020203" pitchFamily="34" charset="-122"/>
              <a:ea typeface="微软雅黑 Light" panose="020B0502040204020203" pitchFamily="34" charset="-122"/>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r>
              <a:rPr lang="en-US" altLang="zh-CN" dirty="0">
                <a:latin typeface="微软雅黑" panose="020B0503020204020204" pitchFamily="34" charset="-122"/>
                <a:sym typeface="+mn-lt"/>
              </a:rPr>
              <a:t>QUIC</a:t>
            </a:r>
            <a:r>
              <a:rPr lang="zh-CN" altLang="en-US" dirty="0">
                <a:latin typeface="微软雅黑" panose="020B0503020204020204" pitchFamily="34" charset="-122"/>
                <a:sym typeface="+mn-lt"/>
              </a:rPr>
              <a:t>报文格式：短首部</a:t>
            </a:r>
            <a:endParaRPr lang="zh-CN" altLang="en-US" dirty="0">
              <a:latin typeface="微软雅黑" panose="020B0503020204020204" pitchFamily="34" charset="-122"/>
            </a:endParaRPr>
          </a:p>
        </p:txBody>
      </p:sp>
      <p:sp>
        <p:nvSpPr>
          <p:cNvPr id="4" name="灯片编号占位符 3"/>
          <p:cNvSpPr>
            <a:spLocks noGrp="1"/>
          </p:cNvSpPr>
          <p:nvPr>
            <p:ph type="sldNum" sz="quarter" idx="12"/>
          </p:nvPr>
        </p:nvSpPr>
        <p:spPr/>
        <p:txBody>
          <a:bodyPr/>
          <a:lstStyle/>
          <a:p>
            <a:fld id="{C8BB1146-E542-4D4E-B8E9-6919A11DDD48}" type="slidenum">
              <a:rPr lang="en-US" smtClean="0"/>
              <a:t>96</a:t>
            </a:fld>
            <a:endParaRPr lang="en-US"/>
          </a:p>
        </p:txBody>
      </p:sp>
      <p:sp>
        <p:nvSpPr>
          <p:cNvPr id="5" name="文本框 4"/>
          <p:cNvSpPr txBox="1"/>
          <p:nvPr/>
        </p:nvSpPr>
        <p:spPr>
          <a:xfrm>
            <a:off x="527248" y="1383823"/>
            <a:ext cx="1412240" cy="648000"/>
          </a:xfrm>
          <a:prstGeom prst="rect">
            <a:avLst/>
          </a:prstGeom>
          <a:noFill/>
          <a:ln w="9525">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Header Form</a:t>
            </a:r>
            <a:endParaRPr lang="zh-CN" altLang="en-US" sz="1600" dirty="0">
              <a:latin typeface="微软雅黑 Light" panose="020B0502040204020203" pitchFamily="34" charset="-122"/>
              <a:ea typeface="微软雅黑 Light" panose="020B0502040204020203" pitchFamily="34" charset="-122"/>
            </a:endParaRPr>
          </a:p>
        </p:txBody>
      </p:sp>
      <p:sp>
        <p:nvSpPr>
          <p:cNvPr id="6" name="文本框 5"/>
          <p:cNvSpPr txBox="1"/>
          <p:nvPr/>
        </p:nvSpPr>
        <p:spPr>
          <a:xfrm>
            <a:off x="1939488" y="1380762"/>
            <a:ext cx="1016000"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Fixed Bit</a:t>
            </a:r>
            <a:endParaRPr lang="zh-CN" altLang="en-US" sz="1600" dirty="0">
              <a:latin typeface="微软雅黑 Light" panose="020B0502040204020203" pitchFamily="34" charset="-122"/>
              <a:ea typeface="微软雅黑 Light" panose="020B0502040204020203" pitchFamily="34" charset="-122"/>
            </a:endParaRPr>
          </a:p>
        </p:txBody>
      </p:sp>
      <p:sp>
        <p:nvSpPr>
          <p:cNvPr id="8" name="文本框 7"/>
          <p:cNvSpPr txBox="1"/>
          <p:nvPr/>
        </p:nvSpPr>
        <p:spPr>
          <a:xfrm>
            <a:off x="2955488" y="1382430"/>
            <a:ext cx="1369131"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Spin Bit</a:t>
            </a:r>
            <a:endParaRPr lang="zh-CN" altLang="en-US" sz="1600" dirty="0">
              <a:latin typeface="微软雅黑 Light" panose="020B0502040204020203" pitchFamily="34" charset="-122"/>
              <a:ea typeface="微软雅黑 Light" panose="020B0502040204020203" pitchFamily="34" charset="-122"/>
            </a:endParaRPr>
          </a:p>
        </p:txBody>
      </p:sp>
      <p:sp>
        <p:nvSpPr>
          <p:cNvPr id="9" name="文本框 8"/>
          <p:cNvSpPr txBox="1"/>
          <p:nvPr/>
        </p:nvSpPr>
        <p:spPr>
          <a:xfrm>
            <a:off x="4324619" y="1380761"/>
            <a:ext cx="1412241"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Reserved</a:t>
            </a:r>
            <a:endParaRPr lang="zh-CN" altLang="en-US" sz="1600" dirty="0">
              <a:latin typeface="微软雅黑 Light" panose="020B0502040204020203" pitchFamily="34" charset="-122"/>
              <a:ea typeface="微软雅黑 Light" panose="020B0502040204020203" pitchFamily="34" charset="-122"/>
            </a:endParaRPr>
          </a:p>
        </p:txBody>
      </p:sp>
      <p:sp>
        <p:nvSpPr>
          <p:cNvPr id="10" name="文本框 9"/>
          <p:cNvSpPr txBox="1"/>
          <p:nvPr/>
        </p:nvSpPr>
        <p:spPr>
          <a:xfrm>
            <a:off x="5736860" y="1380761"/>
            <a:ext cx="1170867" cy="648000"/>
          </a:xfrm>
          <a:prstGeom prst="rect">
            <a:avLst/>
          </a:prstGeom>
          <a:noFill/>
          <a:ln w="28575">
            <a:solidFill>
              <a:srgbClr val="FF0000"/>
            </a:solidFill>
          </a:ln>
        </p:spPr>
        <p:txBody>
          <a:bodyPr wrap="square" tIns="144000" rtlCol="0">
            <a:noAutofit/>
          </a:bodyPr>
          <a:lstStyle/>
          <a:p>
            <a:pPr algn="ctr"/>
            <a:r>
              <a:rPr lang="en-US" altLang="zh-CN" sz="1600" dirty="0">
                <a:solidFill>
                  <a:srgbClr val="FF0000"/>
                </a:solidFill>
                <a:latin typeface="微软雅黑 Light" panose="020B0502040204020203" pitchFamily="34" charset="-122"/>
                <a:ea typeface="微软雅黑 Light" panose="020B0502040204020203" pitchFamily="34" charset="-122"/>
              </a:rPr>
              <a:t>Key Phase</a:t>
            </a:r>
            <a:endParaRPr lang="zh-CN" altLang="en-US" sz="1600" dirty="0">
              <a:solidFill>
                <a:srgbClr val="FF0000"/>
              </a:solidFill>
              <a:latin typeface="微软雅黑 Light" panose="020B0502040204020203" pitchFamily="34" charset="-122"/>
              <a:ea typeface="微软雅黑 Light" panose="020B0502040204020203" pitchFamily="34" charset="-122"/>
            </a:endParaRPr>
          </a:p>
        </p:txBody>
      </p:sp>
      <p:sp>
        <p:nvSpPr>
          <p:cNvPr id="11" name="文本框 10"/>
          <p:cNvSpPr txBox="1"/>
          <p:nvPr/>
        </p:nvSpPr>
        <p:spPr>
          <a:xfrm>
            <a:off x="6907727" y="1380761"/>
            <a:ext cx="1170867" cy="648000"/>
          </a:xfrm>
          <a:prstGeom prst="rect">
            <a:avLst/>
          </a:prstGeom>
          <a:noFill/>
          <a:ln w="9525">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P</a:t>
            </a:r>
            <a:endParaRPr lang="zh-CN" altLang="en-US" sz="1600" dirty="0">
              <a:latin typeface="微软雅黑 Light" panose="020B0502040204020203" pitchFamily="34" charset="-122"/>
              <a:ea typeface="微软雅黑 Light" panose="020B0502040204020203" pitchFamily="34" charset="-122"/>
            </a:endParaRPr>
          </a:p>
        </p:txBody>
      </p:sp>
      <p:sp>
        <p:nvSpPr>
          <p:cNvPr id="12" name="文本框 11"/>
          <p:cNvSpPr txBox="1"/>
          <p:nvPr/>
        </p:nvSpPr>
        <p:spPr>
          <a:xfrm>
            <a:off x="8074540" y="1380761"/>
            <a:ext cx="1170867"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DCID</a:t>
            </a:r>
            <a:endParaRPr lang="zh-CN" altLang="en-US" sz="1600" dirty="0">
              <a:latin typeface="微软雅黑 Light" panose="020B0502040204020203" pitchFamily="34" charset="-122"/>
              <a:ea typeface="微软雅黑 Light" panose="020B0502040204020203" pitchFamily="34" charset="-122"/>
            </a:endParaRPr>
          </a:p>
        </p:txBody>
      </p:sp>
      <p:sp>
        <p:nvSpPr>
          <p:cNvPr id="13" name="文本框 12"/>
          <p:cNvSpPr txBox="1"/>
          <p:nvPr/>
        </p:nvSpPr>
        <p:spPr>
          <a:xfrm>
            <a:off x="9245407" y="1380761"/>
            <a:ext cx="1166813" cy="648000"/>
          </a:xfrm>
          <a:prstGeom prst="rect">
            <a:avLst/>
          </a:prstGeom>
          <a:noFill/>
          <a:ln>
            <a:solidFill>
              <a:schemeClr val="tx1"/>
            </a:solidFill>
          </a:ln>
        </p:spPr>
        <p:txBody>
          <a:bodyPr wrap="square" tIns="46800" rtlCol="0">
            <a:noAutofit/>
          </a:bodyPr>
          <a:lstStyle/>
          <a:p>
            <a:pPr algn="ctr"/>
            <a:r>
              <a:rPr lang="en-US" altLang="zh-CN" sz="1600" dirty="0">
                <a:latin typeface="微软雅黑 Light" panose="020B0502040204020203" pitchFamily="34" charset="-122"/>
                <a:ea typeface="微软雅黑 Light" panose="020B0502040204020203" pitchFamily="34" charset="-122"/>
              </a:rPr>
              <a:t>Packet Number</a:t>
            </a:r>
            <a:endParaRPr lang="zh-CN" altLang="en-US" sz="1600" dirty="0">
              <a:latin typeface="微软雅黑 Light" panose="020B0502040204020203" pitchFamily="34" charset="-122"/>
              <a:ea typeface="微软雅黑 Light" panose="020B0502040204020203" pitchFamily="34" charset="-122"/>
            </a:endParaRPr>
          </a:p>
        </p:txBody>
      </p:sp>
      <p:sp>
        <p:nvSpPr>
          <p:cNvPr id="14" name="文本框 13"/>
          <p:cNvSpPr txBox="1"/>
          <p:nvPr/>
        </p:nvSpPr>
        <p:spPr>
          <a:xfrm>
            <a:off x="10412220" y="1380761"/>
            <a:ext cx="1166813" cy="648000"/>
          </a:xfrm>
          <a:prstGeom prst="rect">
            <a:avLst/>
          </a:prstGeom>
          <a:noFill/>
          <a:ln>
            <a:solidFill>
              <a:schemeClr val="tx1"/>
            </a:solidFill>
          </a:ln>
        </p:spPr>
        <p:txBody>
          <a:bodyPr wrap="square" tIns="46800" rtlCol="0">
            <a:noAutofit/>
          </a:bodyPr>
          <a:lstStyle/>
          <a:p>
            <a:pPr algn="ctr"/>
            <a:r>
              <a:rPr lang="en-US" altLang="zh-CN" sz="1600" dirty="0">
                <a:latin typeface="微软雅黑 Light" panose="020B0502040204020203" pitchFamily="34" charset="-122"/>
                <a:ea typeface="微软雅黑 Light" panose="020B0502040204020203" pitchFamily="34" charset="-122"/>
              </a:rPr>
              <a:t>Packet Payload</a:t>
            </a:r>
            <a:endParaRPr lang="zh-CN" altLang="en-US" sz="1600" dirty="0">
              <a:latin typeface="微软雅黑 Light" panose="020B0502040204020203" pitchFamily="34" charset="-122"/>
              <a:ea typeface="微软雅黑 Light" panose="020B0502040204020203" pitchFamily="34" charset="-122"/>
            </a:endParaRPr>
          </a:p>
        </p:txBody>
      </p:sp>
      <p:sp>
        <p:nvSpPr>
          <p:cNvPr id="17" name="文本框 16"/>
          <p:cNvSpPr txBox="1"/>
          <p:nvPr/>
        </p:nvSpPr>
        <p:spPr>
          <a:xfrm>
            <a:off x="908247" y="2063846"/>
            <a:ext cx="57740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1bit</a:t>
            </a:r>
            <a:endParaRPr lang="zh-CN" altLang="en-US" dirty="0">
              <a:latin typeface="微软雅黑 Light" panose="020B0502040204020203" pitchFamily="34" charset="-122"/>
              <a:ea typeface="微软雅黑 Light" panose="020B0502040204020203" pitchFamily="34" charset="-122"/>
            </a:endParaRPr>
          </a:p>
        </p:txBody>
      </p:sp>
      <p:sp>
        <p:nvSpPr>
          <p:cNvPr id="18" name="文本框 17"/>
          <p:cNvSpPr txBox="1"/>
          <p:nvPr/>
        </p:nvSpPr>
        <p:spPr>
          <a:xfrm>
            <a:off x="2169206" y="2063846"/>
            <a:ext cx="57740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1bit</a:t>
            </a:r>
            <a:endParaRPr lang="zh-CN" altLang="en-US" dirty="0">
              <a:latin typeface="微软雅黑 Light" panose="020B0502040204020203" pitchFamily="34" charset="-122"/>
              <a:ea typeface="微软雅黑 Light" panose="020B0502040204020203" pitchFamily="34" charset="-122"/>
            </a:endParaRPr>
          </a:p>
        </p:txBody>
      </p:sp>
      <p:sp>
        <p:nvSpPr>
          <p:cNvPr id="19" name="文本框 18"/>
          <p:cNvSpPr txBox="1"/>
          <p:nvPr/>
        </p:nvSpPr>
        <p:spPr>
          <a:xfrm>
            <a:off x="3361771" y="2063846"/>
            <a:ext cx="57740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1bit</a:t>
            </a:r>
            <a:endParaRPr lang="zh-CN" altLang="en-US" dirty="0">
              <a:latin typeface="微软雅黑 Light" panose="020B0502040204020203" pitchFamily="34" charset="-122"/>
              <a:ea typeface="微软雅黑 Light" panose="020B0502040204020203" pitchFamily="34" charset="-122"/>
            </a:endParaRPr>
          </a:p>
        </p:txBody>
      </p:sp>
      <p:sp>
        <p:nvSpPr>
          <p:cNvPr id="20" name="文本框 19"/>
          <p:cNvSpPr txBox="1"/>
          <p:nvPr/>
        </p:nvSpPr>
        <p:spPr>
          <a:xfrm>
            <a:off x="4713309" y="2058506"/>
            <a:ext cx="728084"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2bits</a:t>
            </a:r>
            <a:endParaRPr lang="zh-CN" altLang="en-US" dirty="0">
              <a:latin typeface="微软雅黑 Light" panose="020B0502040204020203" pitchFamily="34" charset="-122"/>
              <a:ea typeface="微软雅黑 Light" panose="020B0502040204020203" pitchFamily="34" charset="-122"/>
            </a:endParaRPr>
          </a:p>
        </p:txBody>
      </p:sp>
      <p:sp>
        <p:nvSpPr>
          <p:cNvPr id="21" name="文本框 20"/>
          <p:cNvSpPr txBox="1"/>
          <p:nvPr/>
        </p:nvSpPr>
        <p:spPr>
          <a:xfrm>
            <a:off x="5979891" y="2065885"/>
            <a:ext cx="57740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1bit</a:t>
            </a:r>
            <a:endParaRPr lang="zh-CN" altLang="en-US" dirty="0">
              <a:latin typeface="微软雅黑 Light" panose="020B0502040204020203" pitchFamily="34" charset="-122"/>
              <a:ea typeface="微软雅黑 Light" panose="020B0502040204020203" pitchFamily="34" charset="-122"/>
            </a:endParaRPr>
          </a:p>
        </p:txBody>
      </p:sp>
      <p:sp>
        <p:nvSpPr>
          <p:cNvPr id="22" name="文本框 21"/>
          <p:cNvSpPr txBox="1"/>
          <p:nvPr/>
        </p:nvSpPr>
        <p:spPr>
          <a:xfrm>
            <a:off x="7218867" y="2058506"/>
            <a:ext cx="728084"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2bits</a:t>
            </a:r>
            <a:endParaRPr lang="zh-CN" altLang="en-US" dirty="0">
              <a:latin typeface="微软雅黑 Light" panose="020B0502040204020203" pitchFamily="34" charset="-122"/>
              <a:ea typeface="微软雅黑 Light" panose="020B0502040204020203" pitchFamily="34" charset="-122"/>
            </a:endParaRPr>
          </a:p>
        </p:txBody>
      </p:sp>
      <p:sp>
        <p:nvSpPr>
          <p:cNvPr id="23" name="文本框 22"/>
          <p:cNvSpPr txBox="1"/>
          <p:nvPr/>
        </p:nvSpPr>
        <p:spPr>
          <a:xfrm>
            <a:off x="8159429" y="2057029"/>
            <a:ext cx="970137"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160bits</a:t>
            </a:r>
            <a:endParaRPr lang="zh-CN" altLang="en-US" dirty="0">
              <a:latin typeface="微软雅黑 Light" panose="020B0502040204020203" pitchFamily="34" charset="-122"/>
              <a:ea typeface="微软雅黑 Light" panose="020B0502040204020203" pitchFamily="34" charset="-122"/>
            </a:endParaRPr>
          </a:p>
        </p:txBody>
      </p:sp>
      <p:sp>
        <p:nvSpPr>
          <p:cNvPr id="24" name="文本框 23"/>
          <p:cNvSpPr txBox="1"/>
          <p:nvPr/>
        </p:nvSpPr>
        <p:spPr>
          <a:xfrm>
            <a:off x="9492823" y="2057029"/>
            <a:ext cx="1058303"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P+8bits</a:t>
            </a:r>
            <a:endParaRPr lang="zh-CN" altLang="en-US" dirty="0">
              <a:latin typeface="微软雅黑 Light" panose="020B0502040204020203" pitchFamily="34" charset="-122"/>
              <a:ea typeface="微软雅黑 Light" panose="020B0502040204020203" pitchFamily="34" charset="-122"/>
            </a:endParaRPr>
          </a:p>
        </p:txBody>
      </p:sp>
      <p:sp>
        <p:nvSpPr>
          <p:cNvPr id="27" name="文本框 26"/>
          <p:cNvSpPr txBox="1"/>
          <p:nvPr/>
        </p:nvSpPr>
        <p:spPr>
          <a:xfrm>
            <a:off x="4109021" y="2525135"/>
            <a:ext cx="4896544" cy="460704"/>
          </a:xfrm>
          <a:prstGeom prst="rect">
            <a:avLst/>
          </a:prstGeom>
          <a:solidFill>
            <a:schemeClr val="bg2"/>
          </a:solidFill>
        </p:spPr>
        <p:txBody>
          <a:bodyPr wrap="square">
            <a:spAutoFit/>
          </a:bodyPr>
          <a:lstStyle>
            <a:defPPr>
              <a:defRPr lang="zh-CN"/>
            </a:defPPr>
            <a:lvl1pPr algn="ctr">
              <a:lnSpc>
                <a:spcPct val="150000"/>
              </a:lnSpc>
              <a:defRPr sz="1800" kern="100">
                <a:effectLst/>
                <a:latin typeface="微软雅黑 Light" panose="020B0502040204020203" pitchFamily="34" charset="-122"/>
                <a:ea typeface="微软雅黑 Light" panose="020B0502040204020203" pitchFamily="34" charset="-122"/>
              </a:defRPr>
            </a:lvl1pPr>
          </a:lstStyle>
          <a:p>
            <a:r>
              <a:rPr lang="en-US" altLang="zh-CN" dirty="0"/>
              <a:t>Key Phase </a:t>
            </a:r>
            <a:r>
              <a:rPr lang="zh-CN" altLang="en-US" dirty="0"/>
              <a:t>：标识数据包保护密钥</a:t>
            </a:r>
            <a:endParaRPr lang="zh-CN" altLang="zh-CN" dirty="0"/>
          </a:p>
        </p:txBody>
      </p:sp>
      <p:sp>
        <p:nvSpPr>
          <p:cNvPr id="47" name="文本框 46"/>
          <p:cNvSpPr txBox="1"/>
          <p:nvPr/>
        </p:nvSpPr>
        <p:spPr>
          <a:xfrm>
            <a:off x="5026625" y="4990011"/>
            <a:ext cx="5112568" cy="460704"/>
          </a:xfrm>
          <a:prstGeom prst="rect">
            <a:avLst/>
          </a:prstGeom>
          <a:solidFill>
            <a:schemeClr val="bg2"/>
          </a:solidFill>
        </p:spPr>
        <p:txBody>
          <a:bodyPr wrap="square">
            <a:spAutoFit/>
          </a:bodyPr>
          <a:lstStyle>
            <a:defPPr>
              <a:defRPr lang="zh-CN"/>
            </a:defPPr>
            <a:lvl1pPr algn="ctr">
              <a:lnSpc>
                <a:spcPct val="150000"/>
              </a:lnSpc>
              <a:defRPr sz="1800" kern="100">
                <a:effectLst/>
                <a:latin typeface="微软雅黑 Light" panose="020B0502040204020203" pitchFamily="34" charset="-122"/>
                <a:ea typeface="微软雅黑 Light" panose="020B0502040204020203" pitchFamily="34" charset="-122"/>
              </a:defRPr>
            </a:lvl1pPr>
          </a:lstStyle>
          <a:p>
            <a:r>
              <a:rPr lang="en-US" altLang="zh-CN" dirty="0"/>
              <a:t>Packet Number Length (P) </a:t>
            </a:r>
            <a:r>
              <a:rPr lang="zh-CN" altLang="en-US" dirty="0"/>
              <a:t>：包数量长度</a:t>
            </a:r>
          </a:p>
        </p:txBody>
      </p:sp>
      <p:sp>
        <p:nvSpPr>
          <p:cNvPr id="48" name="文本框 47"/>
          <p:cNvSpPr txBox="1"/>
          <p:nvPr/>
        </p:nvSpPr>
        <p:spPr>
          <a:xfrm>
            <a:off x="530736" y="3780632"/>
            <a:ext cx="1412240" cy="648000"/>
          </a:xfrm>
          <a:prstGeom prst="rect">
            <a:avLst/>
          </a:prstGeom>
          <a:noFill/>
          <a:ln w="9525">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Header Form</a:t>
            </a:r>
            <a:endParaRPr lang="zh-CN" altLang="en-US" sz="1600" dirty="0">
              <a:latin typeface="微软雅黑 Light" panose="020B0502040204020203" pitchFamily="34" charset="-122"/>
              <a:ea typeface="微软雅黑 Light" panose="020B0502040204020203" pitchFamily="34" charset="-122"/>
            </a:endParaRPr>
          </a:p>
        </p:txBody>
      </p:sp>
      <p:sp>
        <p:nvSpPr>
          <p:cNvPr id="49" name="文本框 48"/>
          <p:cNvSpPr txBox="1"/>
          <p:nvPr/>
        </p:nvSpPr>
        <p:spPr>
          <a:xfrm>
            <a:off x="1942469" y="3780632"/>
            <a:ext cx="1016000" cy="648000"/>
          </a:xfrm>
          <a:prstGeom prst="rect">
            <a:avLst/>
          </a:prstGeom>
          <a:noFill/>
          <a:ln w="9525">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Fixed Bit</a:t>
            </a:r>
            <a:endParaRPr lang="zh-CN" altLang="en-US" sz="1600" dirty="0">
              <a:latin typeface="微软雅黑 Light" panose="020B0502040204020203" pitchFamily="34" charset="-122"/>
              <a:ea typeface="微软雅黑 Light" panose="020B0502040204020203" pitchFamily="34" charset="-122"/>
            </a:endParaRPr>
          </a:p>
        </p:txBody>
      </p:sp>
      <p:sp>
        <p:nvSpPr>
          <p:cNvPr id="50" name="文本框 49"/>
          <p:cNvSpPr txBox="1"/>
          <p:nvPr/>
        </p:nvSpPr>
        <p:spPr>
          <a:xfrm>
            <a:off x="2957962" y="3780632"/>
            <a:ext cx="1369131"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Spin Bit</a:t>
            </a:r>
            <a:endParaRPr lang="zh-CN" altLang="en-US" sz="1600" dirty="0">
              <a:latin typeface="微软雅黑 Light" panose="020B0502040204020203" pitchFamily="34" charset="-122"/>
              <a:ea typeface="微软雅黑 Light" panose="020B0502040204020203" pitchFamily="34" charset="-122"/>
            </a:endParaRPr>
          </a:p>
        </p:txBody>
      </p:sp>
      <p:sp>
        <p:nvSpPr>
          <p:cNvPr id="51" name="文本框 50"/>
          <p:cNvSpPr txBox="1"/>
          <p:nvPr/>
        </p:nvSpPr>
        <p:spPr>
          <a:xfrm>
            <a:off x="4326586" y="3780632"/>
            <a:ext cx="1412241"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Reserved</a:t>
            </a:r>
            <a:endParaRPr lang="zh-CN" altLang="en-US" sz="1600" dirty="0">
              <a:latin typeface="微软雅黑 Light" panose="020B0502040204020203" pitchFamily="34" charset="-122"/>
              <a:ea typeface="微软雅黑 Light" panose="020B0502040204020203" pitchFamily="34" charset="-122"/>
            </a:endParaRPr>
          </a:p>
        </p:txBody>
      </p:sp>
      <p:sp>
        <p:nvSpPr>
          <p:cNvPr id="52" name="文本框 51"/>
          <p:cNvSpPr txBox="1"/>
          <p:nvPr/>
        </p:nvSpPr>
        <p:spPr>
          <a:xfrm>
            <a:off x="5738320" y="3780632"/>
            <a:ext cx="1170867"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Key Phase</a:t>
            </a:r>
            <a:endParaRPr lang="zh-CN" altLang="en-US" sz="1600" dirty="0">
              <a:latin typeface="微软雅黑 Light" panose="020B0502040204020203" pitchFamily="34" charset="-122"/>
              <a:ea typeface="微软雅黑 Light" panose="020B0502040204020203" pitchFamily="34" charset="-122"/>
            </a:endParaRPr>
          </a:p>
        </p:txBody>
      </p:sp>
      <p:sp>
        <p:nvSpPr>
          <p:cNvPr id="53" name="文本框 52"/>
          <p:cNvSpPr txBox="1"/>
          <p:nvPr/>
        </p:nvSpPr>
        <p:spPr>
          <a:xfrm>
            <a:off x="6908680" y="3780632"/>
            <a:ext cx="1170867" cy="648000"/>
          </a:xfrm>
          <a:prstGeom prst="rect">
            <a:avLst/>
          </a:prstGeom>
          <a:noFill/>
          <a:ln w="28575">
            <a:solidFill>
              <a:srgbClr val="FF0000"/>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P</a:t>
            </a:r>
            <a:endParaRPr lang="zh-CN" altLang="en-US" sz="1600" dirty="0">
              <a:latin typeface="微软雅黑 Light" panose="020B0502040204020203" pitchFamily="34" charset="-122"/>
              <a:ea typeface="微软雅黑 Light" panose="020B0502040204020203" pitchFamily="34" charset="-122"/>
            </a:endParaRPr>
          </a:p>
        </p:txBody>
      </p:sp>
      <p:sp>
        <p:nvSpPr>
          <p:cNvPr id="54" name="文本框 53"/>
          <p:cNvSpPr txBox="1"/>
          <p:nvPr/>
        </p:nvSpPr>
        <p:spPr>
          <a:xfrm>
            <a:off x="8079040" y="3780632"/>
            <a:ext cx="1170867" cy="648000"/>
          </a:xfrm>
          <a:prstGeom prst="rect">
            <a:avLst/>
          </a:prstGeom>
          <a:noFill/>
          <a:ln w="9525">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DCID</a:t>
            </a:r>
            <a:endParaRPr lang="zh-CN" altLang="en-US" sz="1600" dirty="0">
              <a:latin typeface="微软雅黑 Light" panose="020B0502040204020203" pitchFamily="34" charset="-122"/>
              <a:ea typeface="微软雅黑 Light" panose="020B0502040204020203" pitchFamily="34" charset="-122"/>
            </a:endParaRPr>
          </a:p>
        </p:txBody>
      </p:sp>
      <p:sp>
        <p:nvSpPr>
          <p:cNvPr id="55" name="文本框 54"/>
          <p:cNvSpPr txBox="1"/>
          <p:nvPr/>
        </p:nvSpPr>
        <p:spPr>
          <a:xfrm>
            <a:off x="9249400" y="3780632"/>
            <a:ext cx="1166813" cy="648000"/>
          </a:xfrm>
          <a:prstGeom prst="rect">
            <a:avLst/>
          </a:prstGeom>
          <a:noFill/>
          <a:ln>
            <a:solidFill>
              <a:schemeClr val="tx1"/>
            </a:solidFill>
          </a:ln>
        </p:spPr>
        <p:txBody>
          <a:bodyPr wrap="square" tIns="46800" rtlCol="0">
            <a:noAutofit/>
          </a:bodyPr>
          <a:lstStyle/>
          <a:p>
            <a:pPr algn="ctr"/>
            <a:r>
              <a:rPr lang="en-US" altLang="zh-CN" sz="1600" dirty="0">
                <a:latin typeface="微软雅黑 Light" panose="020B0502040204020203" pitchFamily="34" charset="-122"/>
                <a:ea typeface="微软雅黑 Light" panose="020B0502040204020203" pitchFamily="34" charset="-122"/>
              </a:rPr>
              <a:t>Packet Number</a:t>
            </a:r>
            <a:endParaRPr lang="zh-CN" altLang="en-US" sz="1600" dirty="0">
              <a:latin typeface="微软雅黑 Light" panose="020B0502040204020203" pitchFamily="34" charset="-122"/>
              <a:ea typeface="微软雅黑 Light" panose="020B0502040204020203" pitchFamily="34" charset="-122"/>
            </a:endParaRPr>
          </a:p>
        </p:txBody>
      </p:sp>
      <p:sp>
        <p:nvSpPr>
          <p:cNvPr id="56" name="文本框 55"/>
          <p:cNvSpPr txBox="1"/>
          <p:nvPr/>
        </p:nvSpPr>
        <p:spPr>
          <a:xfrm>
            <a:off x="10415708" y="3780632"/>
            <a:ext cx="1166813" cy="648000"/>
          </a:xfrm>
          <a:prstGeom prst="rect">
            <a:avLst/>
          </a:prstGeom>
          <a:noFill/>
          <a:ln>
            <a:solidFill>
              <a:schemeClr val="tx1"/>
            </a:solidFill>
          </a:ln>
        </p:spPr>
        <p:txBody>
          <a:bodyPr wrap="square" tIns="46800" rtlCol="0">
            <a:noAutofit/>
          </a:bodyPr>
          <a:lstStyle/>
          <a:p>
            <a:pPr algn="ctr"/>
            <a:r>
              <a:rPr lang="en-US" altLang="zh-CN" sz="1600" dirty="0">
                <a:latin typeface="微软雅黑 Light" panose="020B0502040204020203" pitchFamily="34" charset="-122"/>
                <a:ea typeface="微软雅黑 Light" panose="020B0502040204020203" pitchFamily="34" charset="-122"/>
              </a:rPr>
              <a:t>Packet Payload</a:t>
            </a:r>
            <a:endParaRPr lang="zh-CN" altLang="en-US" sz="1600" dirty="0">
              <a:latin typeface="微软雅黑 Light" panose="020B0502040204020203" pitchFamily="34" charset="-122"/>
              <a:ea typeface="微软雅黑 Light" panose="020B0502040204020203" pitchFamily="34" charset="-122"/>
            </a:endParaRPr>
          </a:p>
        </p:txBody>
      </p:sp>
      <p:sp>
        <p:nvSpPr>
          <p:cNvPr id="57" name="文本框 56"/>
          <p:cNvSpPr txBox="1"/>
          <p:nvPr/>
        </p:nvSpPr>
        <p:spPr>
          <a:xfrm>
            <a:off x="911735" y="4462186"/>
            <a:ext cx="57740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1bit</a:t>
            </a:r>
            <a:endParaRPr lang="zh-CN" altLang="en-US" dirty="0">
              <a:latin typeface="微软雅黑 Light" panose="020B0502040204020203" pitchFamily="34" charset="-122"/>
              <a:ea typeface="微软雅黑 Light" panose="020B0502040204020203" pitchFamily="34" charset="-122"/>
            </a:endParaRPr>
          </a:p>
        </p:txBody>
      </p:sp>
      <p:sp>
        <p:nvSpPr>
          <p:cNvPr id="58" name="文本框 57"/>
          <p:cNvSpPr txBox="1"/>
          <p:nvPr/>
        </p:nvSpPr>
        <p:spPr>
          <a:xfrm>
            <a:off x="2172694" y="4462186"/>
            <a:ext cx="57740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1bit</a:t>
            </a:r>
            <a:endParaRPr lang="zh-CN" altLang="en-US" dirty="0">
              <a:latin typeface="微软雅黑 Light" panose="020B0502040204020203" pitchFamily="34" charset="-122"/>
              <a:ea typeface="微软雅黑 Light" panose="020B0502040204020203" pitchFamily="34" charset="-122"/>
            </a:endParaRPr>
          </a:p>
        </p:txBody>
      </p:sp>
      <p:sp>
        <p:nvSpPr>
          <p:cNvPr id="59" name="文本框 58"/>
          <p:cNvSpPr txBox="1"/>
          <p:nvPr/>
        </p:nvSpPr>
        <p:spPr>
          <a:xfrm>
            <a:off x="3365259" y="4462186"/>
            <a:ext cx="57740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1bit</a:t>
            </a:r>
            <a:endParaRPr lang="zh-CN" altLang="en-US" dirty="0">
              <a:latin typeface="微软雅黑 Light" panose="020B0502040204020203" pitchFamily="34" charset="-122"/>
              <a:ea typeface="微软雅黑 Light" panose="020B0502040204020203" pitchFamily="34" charset="-122"/>
            </a:endParaRPr>
          </a:p>
        </p:txBody>
      </p:sp>
      <p:sp>
        <p:nvSpPr>
          <p:cNvPr id="60" name="文本框 59"/>
          <p:cNvSpPr txBox="1"/>
          <p:nvPr/>
        </p:nvSpPr>
        <p:spPr>
          <a:xfrm>
            <a:off x="4716797" y="4456846"/>
            <a:ext cx="728084"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2bits</a:t>
            </a:r>
            <a:endParaRPr lang="zh-CN" altLang="en-US" dirty="0">
              <a:latin typeface="微软雅黑 Light" panose="020B0502040204020203" pitchFamily="34" charset="-122"/>
              <a:ea typeface="微软雅黑 Light" panose="020B0502040204020203" pitchFamily="34" charset="-122"/>
            </a:endParaRPr>
          </a:p>
        </p:txBody>
      </p:sp>
      <p:sp>
        <p:nvSpPr>
          <p:cNvPr id="61" name="文本框 60"/>
          <p:cNvSpPr txBox="1"/>
          <p:nvPr/>
        </p:nvSpPr>
        <p:spPr>
          <a:xfrm>
            <a:off x="5983379" y="4464225"/>
            <a:ext cx="57740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1bit</a:t>
            </a:r>
            <a:endParaRPr lang="zh-CN" altLang="en-US" dirty="0">
              <a:latin typeface="微软雅黑 Light" panose="020B0502040204020203" pitchFamily="34" charset="-122"/>
              <a:ea typeface="微软雅黑 Light" panose="020B0502040204020203" pitchFamily="34" charset="-122"/>
            </a:endParaRPr>
          </a:p>
        </p:txBody>
      </p:sp>
      <p:sp>
        <p:nvSpPr>
          <p:cNvPr id="62" name="文本框 61"/>
          <p:cNvSpPr txBox="1"/>
          <p:nvPr/>
        </p:nvSpPr>
        <p:spPr>
          <a:xfrm>
            <a:off x="7222355" y="4456846"/>
            <a:ext cx="728084"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2bits</a:t>
            </a:r>
            <a:endParaRPr lang="zh-CN" altLang="en-US" dirty="0">
              <a:latin typeface="微软雅黑 Light" panose="020B0502040204020203" pitchFamily="34" charset="-122"/>
              <a:ea typeface="微软雅黑 Light" panose="020B0502040204020203" pitchFamily="34" charset="-122"/>
            </a:endParaRPr>
          </a:p>
        </p:txBody>
      </p:sp>
      <p:sp>
        <p:nvSpPr>
          <p:cNvPr id="63" name="文本框 62"/>
          <p:cNvSpPr txBox="1"/>
          <p:nvPr/>
        </p:nvSpPr>
        <p:spPr>
          <a:xfrm>
            <a:off x="8162917" y="4455369"/>
            <a:ext cx="970137"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160bits</a:t>
            </a:r>
            <a:endParaRPr lang="zh-CN" altLang="en-US" dirty="0">
              <a:latin typeface="微软雅黑 Light" panose="020B0502040204020203" pitchFamily="34" charset="-122"/>
              <a:ea typeface="微软雅黑 Light" panose="020B0502040204020203" pitchFamily="34" charset="-122"/>
            </a:endParaRPr>
          </a:p>
        </p:txBody>
      </p:sp>
      <p:sp>
        <p:nvSpPr>
          <p:cNvPr id="64" name="文本框 63"/>
          <p:cNvSpPr txBox="1"/>
          <p:nvPr/>
        </p:nvSpPr>
        <p:spPr>
          <a:xfrm>
            <a:off x="9496311" y="4455369"/>
            <a:ext cx="1058303"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P+8bits</a:t>
            </a:r>
            <a:endParaRPr lang="zh-CN" altLang="en-US" dirty="0">
              <a:latin typeface="微软雅黑 Light" panose="020B0502040204020203" pitchFamily="34" charset="-122"/>
              <a:ea typeface="微软雅黑 Light" panose="020B0502040204020203" pitchFamily="34" charset="-122"/>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r>
              <a:rPr lang="en-US" altLang="zh-CN" dirty="0">
                <a:latin typeface="微软雅黑" panose="020B0503020204020204" pitchFamily="34" charset="-122"/>
                <a:sym typeface="+mn-lt"/>
              </a:rPr>
              <a:t>QUIC</a:t>
            </a:r>
            <a:r>
              <a:rPr lang="zh-CN" altLang="en-US" dirty="0">
                <a:latin typeface="微软雅黑" panose="020B0503020204020204" pitchFamily="34" charset="-122"/>
                <a:sym typeface="+mn-lt"/>
              </a:rPr>
              <a:t>报文格式：短首部</a:t>
            </a:r>
            <a:endParaRPr lang="zh-CN" altLang="en-US" dirty="0">
              <a:latin typeface="微软雅黑" panose="020B0503020204020204" pitchFamily="34" charset="-122"/>
            </a:endParaRPr>
          </a:p>
        </p:txBody>
      </p:sp>
      <p:sp>
        <p:nvSpPr>
          <p:cNvPr id="4" name="灯片编号占位符 3"/>
          <p:cNvSpPr>
            <a:spLocks noGrp="1"/>
          </p:cNvSpPr>
          <p:nvPr>
            <p:ph type="sldNum" sz="quarter" idx="12"/>
          </p:nvPr>
        </p:nvSpPr>
        <p:spPr/>
        <p:txBody>
          <a:bodyPr/>
          <a:lstStyle/>
          <a:p>
            <a:fld id="{C8BB1146-E542-4D4E-B8E9-6919A11DDD48}" type="slidenum">
              <a:rPr lang="en-US" smtClean="0"/>
              <a:t>97</a:t>
            </a:fld>
            <a:endParaRPr lang="en-US"/>
          </a:p>
        </p:txBody>
      </p:sp>
      <p:sp>
        <p:nvSpPr>
          <p:cNvPr id="5" name="文本框 4"/>
          <p:cNvSpPr txBox="1"/>
          <p:nvPr/>
        </p:nvSpPr>
        <p:spPr>
          <a:xfrm>
            <a:off x="527248" y="1137347"/>
            <a:ext cx="1412240" cy="648000"/>
          </a:xfrm>
          <a:prstGeom prst="rect">
            <a:avLst/>
          </a:prstGeom>
          <a:noFill/>
          <a:ln w="9525">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Header Form</a:t>
            </a:r>
            <a:endParaRPr lang="zh-CN" altLang="en-US" sz="1600" dirty="0">
              <a:latin typeface="微软雅黑 Light" panose="020B0502040204020203" pitchFamily="34" charset="-122"/>
              <a:ea typeface="微软雅黑 Light" panose="020B0502040204020203" pitchFamily="34" charset="-122"/>
            </a:endParaRPr>
          </a:p>
        </p:txBody>
      </p:sp>
      <p:sp>
        <p:nvSpPr>
          <p:cNvPr id="6" name="文本框 5"/>
          <p:cNvSpPr txBox="1"/>
          <p:nvPr/>
        </p:nvSpPr>
        <p:spPr>
          <a:xfrm>
            <a:off x="1939488" y="1134286"/>
            <a:ext cx="1016000"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Fixed Bit</a:t>
            </a:r>
            <a:endParaRPr lang="zh-CN" altLang="en-US" sz="1600" dirty="0">
              <a:latin typeface="微软雅黑 Light" panose="020B0502040204020203" pitchFamily="34" charset="-122"/>
              <a:ea typeface="微软雅黑 Light" panose="020B0502040204020203" pitchFamily="34" charset="-122"/>
            </a:endParaRPr>
          </a:p>
        </p:txBody>
      </p:sp>
      <p:sp>
        <p:nvSpPr>
          <p:cNvPr id="8" name="文本框 7"/>
          <p:cNvSpPr txBox="1"/>
          <p:nvPr/>
        </p:nvSpPr>
        <p:spPr>
          <a:xfrm>
            <a:off x="2955488" y="1135954"/>
            <a:ext cx="1369131"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Spin Bit</a:t>
            </a:r>
            <a:endParaRPr lang="zh-CN" altLang="en-US" sz="1600" dirty="0">
              <a:latin typeface="微软雅黑 Light" panose="020B0502040204020203" pitchFamily="34" charset="-122"/>
              <a:ea typeface="微软雅黑 Light" panose="020B0502040204020203" pitchFamily="34" charset="-122"/>
            </a:endParaRPr>
          </a:p>
        </p:txBody>
      </p:sp>
      <p:sp>
        <p:nvSpPr>
          <p:cNvPr id="9" name="文本框 8"/>
          <p:cNvSpPr txBox="1"/>
          <p:nvPr/>
        </p:nvSpPr>
        <p:spPr>
          <a:xfrm>
            <a:off x="4324619" y="1134285"/>
            <a:ext cx="1412241"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Reserved</a:t>
            </a:r>
            <a:endParaRPr lang="zh-CN" altLang="en-US" sz="1600" dirty="0">
              <a:latin typeface="微软雅黑 Light" panose="020B0502040204020203" pitchFamily="34" charset="-122"/>
              <a:ea typeface="微软雅黑 Light" panose="020B0502040204020203" pitchFamily="34" charset="-122"/>
            </a:endParaRPr>
          </a:p>
        </p:txBody>
      </p:sp>
      <p:sp>
        <p:nvSpPr>
          <p:cNvPr id="10" name="文本框 9"/>
          <p:cNvSpPr txBox="1"/>
          <p:nvPr/>
        </p:nvSpPr>
        <p:spPr>
          <a:xfrm>
            <a:off x="5736860" y="1134285"/>
            <a:ext cx="1170867"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Key Phase</a:t>
            </a:r>
            <a:endParaRPr lang="zh-CN" altLang="en-US" sz="1600" dirty="0">
              <a:latin typeface="微软雅黑 Light" panose="020B0502040204020203" pitchFamily="34" charset="-122"/>
              <a:ea typeface="微软雅黑 Light" panose="020B0502040204020203" pitchFamily="34" charset="-122"/>
            </a:endParaRPr>
          </a:p>
        </p:txBody>
      </p:sp>
      <p:sp>
        <p:nvSpPr>
          <p:cNvPr id="11" name="文本框 10"/>
          <p:cNvSpPr txBox="1"/>
          <p:nvPr/>
        </p:nvSpPr>
        <p:spPr>
          <a:xfrm>
            <a:off x="6907727" y="1134285"/>
            <a:ext cx="1170867"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P</a:t>
            </a:r>
            <a:endParaRPr lang="zh-CN" altLang="en-US" sz="1600" dirty="0">
              <a:latin typeface="微软雅黑 Light" panose="020B0502040204020203" pitchFamily="34" charset="-122"/>
              <a:ea typeface="微软雅黑 Light" panose="020B0502040204020203" pitchFamily="34" charset="-122"/>
            </a:endParaRPr>
          </a:p>
        </p:txBody>
      </p:sp>
      <p:sp>
        <p:nvSpPr>
          <p:cNvPr id="12" name="文本框 11"/>
          <p:cNvSpPr txBox="1"/>
          <p:nvPr/>
        </p:nvSpPr>
        <p:spPr>
          <a:xfrm>
            <a:off x="8074540" y="1134285"/>
            <a:ext cx="1170867" cy="648000"/>
          </a:xfrm>
          <a:prstGeom prst="rect">
            <a:avLst/>
          </a:prstGeom>
          <a:noFill/>
          <a:ln w="28575">
            <a:solidFill>
              <a:srgbClr val="FF0000"/>
            </a:solidFill>
          </a:ln>
        </p:spPr>
        <p:txBody>
          <a:bodyPr wrap="square" tIns="144000" rtlCol="0">
            <a:noAutofit/>
          </a:bodyPr>
          <a:lstStyle/>
          <a:p>
            <a:pPr algn="ctr"/>
            <a:r>
              <a:rPr lang="en-US" altLang="zh-CN" sz="1600" dirty="0">
                <a:solidFill>
                  <a:srgbClr val="FF0000"/>
                </a:solidFill>
                <a:latin typeface="微软雅黑 Light" panose="020B0502040204020203" pitchFamily="34" charset="-122"/>
                <a:ea typeface="微软雅黑 Light" panose="020B0502040204020203" pitchFamily="34" charset="-122"/>
              </a:rPr>
              <a:t>DCID</a:t>
            </a:r>
            <a:endParaRPr lang="zh-CN" altLang="en-US" sz="1600" dirty="0">
              <a:solidFill>
                <a:srgbClr val="FF0000"/>
              </a:solidFill>
              <a:latin typeface="微软雅黑 Light" panose="020B0502040204020203" pitchFamily="34" charset="-122"/>
              <a:ea typeface="微软雅黑 Light" panose="020B0502040204020203" pitchFamily="34" charset="-122"/>
            </a:endParaRPr>
          </a:p>
        </p:txBody>
      </p:sp>
      <p:sp>
        <p:nvSpPr>
          <p:cNvPr id="13" name="文本框 12"/>
          <p:cNvSpPr txBox="1"/>
          <p:nvPr/>
        </p:nvSpPr>
        <p:spPr>
          <a:xfrm>
            <a:off x="9245407" y="1134285"/>
            <a:ext cx="1166813" cy="648000"/>
          </a:xfrm>
          <a:prstGeom prst="rect">
            <a:avLst/>
          </a:prstGeom>
          <a:noFill/>
          <a:ln>
            <a:solidFill>
              <a:schemeClr val="tx1"/>
            </a:solidFill>
          </a:ln>
        </p:spPr>
        <p:txBody>
          <a:bodyPr wrap="square" tIns="46800" rtlCol="0">
            <a:noAutofit/>
          </a:bodyPr>
          <a:lstStyle/>
          <a:p>
            <a:pPr algn="ctr"/>
            <a:r>
              <a:rPr lang="en-US" altLang="zh-CN" sz="1600" dirty="0">
                <a:latin typeface="微软雅黑 Light" panose="020B0502040204020203" pitchFamily="34" charset="-122"/>
                <a:ea typeface="微软雅黑 Light" panose="020B0502040204020203" pitchFamily="34" charset="-122"/>
              </a:rPr>
              <a:t>Packet Number</a:t>
            </a:r>
            <a:endParaRPr lang="zh-CN" altLang="en-US" sz="1600" dirty="0">
              <a:latin typeface="微软雅黑 Light" panose="020B0502040204020203" pitchFamily="34" charset="-122"/>
              <a:ea typeface="微软雅黑 Light" panose="020B0502040204020203" pitchFamily="34" charset="-122"/>
            </a:endParaRPr>
          </a:p>
        </p:txBody>
      </p:sp>
      <p:sp>
        <p:nvSpPr>
          <p:cNvPr id="14" name="文本框 13"/>
          <p:cNvSpPr txBox="1"/>
          <p:nvPr/>
        </p:nvSpPr>
        <p:spPr>
          <a:xfrm>
            <a:off x="10412220" y="1134285"/>
            <a:ext cx="1166813" cy="648000"/>
          </a:xfrm>
          <a:prstGeom prst="rect">
            <a:avLst/>
          </a:prstGeom>
          <a:noFill/>
          <a:ln>
            <a:solidFill>
              <a:schemeClr val="tx1"/>
            </a:solidFill>
          </a:ln>
        </p:spPr>
        <p:txBody>
          <a:bodyPr wrap="square" tIns="46800" rtlCol="0">
            <a:noAutofit/>
          </a:bodyPr>
          <a:lstStyle/>
          <a:p>
            <a:pPr algn="ctr"/>
            <a:r>
              <a:rPr lang="en-US" altLang="zh-CN" sz="1600" dirty="0">
                <a:latin typeface="微软雅黑 Light" panose="020B0502040204020203" pitchFamily="34" charset="-122"/>
                <a:ea typeface="微软雅黑 Light" panose="020B0502040204020203" pitchFamily="34" charset="-122"/>
              </a:rPr>
              <a:t>Packet Payload</a:t>
            </a:r>
            <a:endParaRPr lang="zh-CN" altLang="en-US" sz="1600" dirty="0">
              <a:latin typeface="微软雅黑 Light" panose="020B0502040204020203" pitchFamily="34" charset="-122"/>
              <a:ea typeface="微软雅黑 Light" panose="020B0502040204020203" pitchFamily="34" charset="-122"/>
            </a:endParaRPr>
          </a:p>
        </p:txBody>
      </p:sp>
      <p:sp>
        <p:nvSpPr>
          <p:cNvPr id="17" name="文本框 16"/>
          <p:cNvSpPr txBox="1"/>
          <p:nvPr/>
        </p:nvSpPr>
        <p:spPr>
          <a:xfrm>
            <a:off x="908247" y="1817370"/>
            <a:ext cx="57740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1bit</a:t>
            </a:r>
            <a:endParaRPr lang="zh-CN" altLang="en-US" dirty="0">
              <a:latin typeface="微软雅黑 Light" panose="020B0502040204020203" pitchFamily="34" charset="-122"/>
              <a:ea typeface="微软雅黑 Light" panose="020B0502040204020203" pitchFamily="34" charset="-122"/>
            </a:endParaRPr>
          </a:p>
        </p:txBody>
      </p:sp>
      <p:sp>
        <p:nvSpPr>
          <p:cNvPr id="18" name="文本框 17"/>
          <p:cNvSpPr txBox="1"/>
          <p:nvPr/>
        </p:nvSpPr>
        <p:spPr>
          <a:xfrm>
            <a:off x="2169206" y="1817370"/>
            <a:ext cx="57740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1bit</a:t>
            </a:r>
            <a:endParaRPr lang="zh-CN" altLang="en-US" dirty="0">
              <a:latin typeface="微软雅黑 Light" panose="020B0502040204020203" pitchFamily="34" charset="-122"/>
              <a:ea typeface="微软雅黑 Light" panose="020B0502040204020203" pitchFamily="34" charset="-122"/>
            </a:endParaRPr>
          </a:p>
        </p:txBody>
      </p:sp>
      <p:sp>
        <p:nvSpPr>
          <p:cNvPr id="19" name="文本框 18"/>
          <p:cNvSpPr txBox="1"/>
          <p:nvPr/>
        </p:nvSpPr>
        <p:spPr>
          <a:xfrm>
            <a:off x="3361771" y="1817370"/>
            <a:ext cx="57740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1bit</a:t>
            </a:r>
            <a:endParaRPr lang="zh-CN" altLang="en-US" dirty="0">
              <a:latin typeface="微软雅黑 Light" panose="020B0502040204020203" pitchFamily="34" charset="-122"/>
              <a:ea typeface="微软雅黑 Light" panose="020B0502040204020203" pitchFamily="34" charset="-122"/>
            </a:endParaRPr>
          </a:p>
        </p:txBody>
      </p:sp>
      <p:sp>
        <p:nvSpPr>
          <p:cNvPr id="20" name="文本框 19"/>
          <p:cNvSpPr txBox="1"/>
          <p:nvPr/>
        </p:nvSpPr>
        <p:spPr>
          <a:xfrm>
            <a:off x="4713309" y="1812030"/>
            <a:ext cx="728084"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2bits</a:t>
            </a:r>
            <a:endParaRPr lang="zh-CN" altLang="en-US" dirty="0">
              <a:latin typeface="微软雅黑 Light" panose="020B0502040204020203" pitchFamily="34" charset="-122"/>
              <a:ea typeface="微软雅黑 Light" panose="020B0502040204020203" pitchFamily="34" charset="-122"/>
            </a:endParaRPr>
          </a:p>
        </p:txBody>
      </p:sp>
      <p:sp>
        <p:nvSpPr>
          <p:cNvPr id="21" name="文本框 20"/>
          <p:cNvSpPr txBox="1"/>
          <p:nvPr/>
        </p:nvSpPr>
        <p:spPr>
          <a:xfrm>
            <a:off x="5979891" y="1819409"/>
            <a:ext cx="57740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1bit</a:t>
            </a:r>
            <a:endParaRPr lang="zh-CN" altLang="en-US" dirty="0">
              <a:latin typeface="微软雅黑 Light" panose="020B0502040204020203" pitchFamily="34" charset="-122"/>
              <a:ea typeface="微软雅黑 Light" panose="020B0502040204020203" pitchFamily="34" charset="-122"/>
            </a:endParaRPr>
          </a:p>
        </p:txBody>
      </p:sp>
      <p:sp>
        <p:nvSpPr>
          <p:cNvPr id="22" name="文本框 21"/>
          <p:cNvSpPr txBox="1"/>
          <p:nvPr/>
        </p:nvSpPr>
        <p:spPr>
          <a:xfrm>
            <a:off x="7218867" y="1812030"/>
            <a:ext cx="728084"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2bits</a:t>
            </a:r>
            <a:endParaRPr lang="zh-CN" altLang="en-US" dirty="0">
              <a:latin typeface="微软雅黑 Light" panose="020B0502040204020203" pitchFamily="34" charset="-122"/>
              <a:ea typeface="微软雅黑 Light" panose="020B0502040204020203" pitchFamily="34" charset="-122"/>
            </a:endParaRPr>
          </a:p>
        </p:txBody>
      </p:sp>
      <p:sp>
        <p:nvSpPr>
          <p:cNvPr id="23" name="文本框 22"/>
          <p:cNvSpPr txBox="1"/>
          <p:nvPr/>
        </p:nvSpPr>
        <p:spPr>
          <a:xfrm>
            <a:off x="8159429" y="1810553"/>
            <a:ext cx="970137"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160bits</a:t>
            </a:r>
            <a:endParaRPr lang="zh-CN" altLang="en-US" dirty="0">
              <a:latin typeface="微软雅黑 Light" panose="020B0502040204020203" pitchFamily="34" charset="-122"/>
              <a:ea typeface="微软雅黑 Light" panose="020B0502040204020203" pitchFamily="34" charset="-122"/>
            </a:endParaRPr>
          </a:p>
        </p:txBody>
      </p:sp>
      <p:sp>
        <p:nvSpPr>
          <p:cNvPr id="24" name="文本框 23"/>
          <p:cNvSpPr txBox="1"/>
          <p:nvPr/>
        </p:nvSpPr>
        <p:spPr>
          <a:xfrm>
            <a:off x="9492823" y="1810553"/>
            <a:ext cx="1058303"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P+8bits</a:t>
            </a:r>
            <a:endParaRPr lang="zh-CN" altLang="en-US" dirty="0">
              <a:latin typeface="微软雅黑 Light" panose="020B0502040204020203" pitchFamily="34" charset="-122"/>
              <a:ea typeface="微软雅黑 Light" panose="020B0502040204020203" pitchFamily="34" charset="-122"/>
            </a:endParaRPr>
          </a:p>
        </p:txBody>
      </p:sp>
      <p:sp>
        <p:nvSpPr>
          <p:cNvPr id="27" name="文本框 26"/>
          <p:cNvSpPr txBox="1"/>
          <p:nvPr/>
        </p:nvSpPr>
        <p:spPr>
          <a:xfrm>
            <a:off x="5929635" y="2176479"/>
            <a:ext cx="5663952" cy="459869"/>
          </a:xfrm>
          <a:prstGeom prst="rect">
            <a:avLst/>
          </a:prstGeom>
          <a:solidFill>
            <a:schemeClr val="bg2"/>
          </a:solidFill>
        </p:spPr>
        <p:txBody>
          <a:bodyPr wrap="square">
            <a:spAutoFit/>
          </a:bodyPr>
          <a:lstStyle>
            <a:defPPr>
              <a:defRPr lang="zh-CN"/>
            </a:defPPr>
            <a:lvl1pPr algn="ctr">
              <a:lnSpc>
                <a:spcPct val="150000"/>
              </a:lnSpc>
              <a:defRPr sz="1800" kern="100">
                <a:effectLst/>
                <a:latin typeface="微软雅黑 Light" panose="020B0502040204020203" pitchFamily="34" charset="-122"/>
                <a:ea typeface="微软雅黑 Light" panose="020B0502040204020203" pitchFamily="34" charset="-122"/>
              </a:defRPr>
            </a:lvl1pPr>
          </a:lstStyle>
          <a:p>
            <a:r>
              <a:rPr lang="en-US" altLang="zh-CN" dirty="0"/>
              <a:t>Destination Connection ID (DCID) </a:t>
            </a:r>
            <a:r>
              <a:rPr lang="zh-CN" altLang="en-US" dirty="0"/>
              <a:t>：目的连接</a:t>
            </a:r>
            <a:r>
              <a:rPr lang="en-US" altLang="zh-CN" dirty="0"/>
              <a:t>ID</a:t>
            </a:r>
            <a:endParaRPr lang="zh-CN" altLang="zh-CN" dirty="0"/>
          </a:p>
        </p:txBody>
      </p:sp>
      <p:sp>
        <p:nvSpPr>
          <p:cNvPr id="47" name="文本框 46"/>
          <p:cNvSpPr txBox="1"/>
          <p:nvPr/>
        </p:nvSpPr>
        <p:spPr>
          <a:xfrm>
            <a:off x="7851193" y="4176069"/>
            <a:ext cx="3312368" cy="460704"/>
          </a:xfrm>
          <a:prstGeom prst="rect">
            <a:avLst/>
          </a:prstGeom>
          <a:solidFill>
            <a:schemeClr val="bg2"/>
          </a:solidFill>
        </p:spPr>
        <p:txBody>
          <a:bodyPr wrap="square">
            <a:spAutoFit/>
          </a:bodyPr>
          <a:lstStyle>
            <a:defPPr>
              <a:defRPr lang="zh-CN"/>
            </a:defPPr>
            <a:lvl1pPr algn="ctr">
              <a:lnSpc>
                <a:spcPct val="150000"/>
              </a:lnSpc>
              <a:defRPr sz="1800" kern="100">
                <a:effectLst/>
                <a:latin typeface="微软雅黑 Light" panose="020B0502040204020203" pitchFamily="34" charset="-122"/>
                <a:ea typeface="微软雅黑 Light" panose="020B0502040204020203" pitchFamily="34" charset="-122"/>
              </a:defRPr>
            </a:lvl1pPr>
          </a:lstStyle>
          <a:p>
            <a:r>
              <a:rPr lang="en-US" altLang="zh-CN" dirty="0"/>
              <a:t>Packet Number</a:t>
            </a:r>
            <a:r>
              <a:rPr lang="zh-CN" altLang="en-US" dirty="0"/>
              <a:t>：包数量</a:t>
            </a:r>
            <a:endParaRPr lang="zh-CN" altLang="zh-CN" dirty="0"/>
          </a:p>
        </p:txBody>
      </p:sp>
      <p:sp>
        <p:nvSpPr>
          <p:cNvPr id="48" name="文本框 47"/>
          <p:cNvSpPr txBox="1"/>
          <p:nvPr/>
        </p:nvSpPr>
        <p:spPr>
          <a:xfrm>
            <a:off x="541802" y="3101222"/>
            <a:ext cx="1412240" cy="648000"/>
          </a:xfrm>
          <a:prstGeom prst="rect">
            <a:avLst/>
          </a:prstGeom>
          <a:noFill/>
          <a:ln w="9525">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Header Form</a:t>
            </a:r>
            <a:endParaRPr lang="zh-CN" altLang="en-US" sz="1600" dirty="0">
              <a:latin typeface="微软雅黑 Light" panose="020B0502040204020203" pitchFamily="34" charset="-122"/>
              <a:ea typeface="微软雅黑 Light" panose="020B0502040204020203" pitchFamily="34" charset="-122"/>
            </a:endParaRPr>
          </a:p>
        </p:txBody>
      </p:sp>
      <p:sp>
        <p:nvSpPr>
          <p:cNvPr id="49" name="文本框 48"/>
          <p:cNvSpPr txBox="1"/>
          <p:nvPr/>
        </p:nvSpPr>
        <p:spPr>
          <a:xfrm>
            <a:off x="1954042" y="3101222"/>
            <a:ext cx="1016000" cy="648000"/>
          </a:xfrm>
          <a:prstGeom prst="rect">
            <a:avLst/>
          </a:prstGeom>
          <a:noFill/>
          <a:ln w="9525">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Fixed Bit</a:t>
            </a:r>
            <a:endParaRPr lang="zh-CN" altLang="en-US" sz="1600" dirty="0">
              <a:latin typeface="微软雅黑 Light" panose="020B0502040204020203" pitchFamily="34" charset="-122"/>
              <a:ea typeface="微软雅黑 Light" panose="020B0502040204020203" pitchFamily="34" charset="-122"/>
            </a:endParaRPr>
          </a:p>
        </p:txBody>
      </p:sp>
      <p:sp>
        <p:nvSpPr>
          <p:cNvPr id="50" name="文本框 49"/>
          <p:cNvSpPr txBox="1"/>
          <p:nvPr/>
        </p:nvSpPr>
        <p:spPr>
          <a:xfrm>
            <a:off x="2970042" y="3101222"/>
            <a:ext cx="1369131"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Spin Bit</a:t>
            </a:r>
            <a:endParaRPr lang="zh-CN" altLang="en-US" sz="1600" dirty="0">
              <a:latin typeface="微软雅黑 Light" panose="020B0502040204020203" pitchFamily="34" charset="-122"/>
              <a:ea typeface="微软雅黑 Light" panose="020B0502040204020203" pitchFamily="34" charset="-122"/>
            </a:endParaRPr>
          </a:p>
        </p:txBody>
      </p:sp>
      <p:sp>
        <p:nvSpPr>
          <p:cNvPr id="51" name="文本框 50"/>
          <p:cNvSpPr txBox="1"/>
          <p:nvPr/>
        </p:nvSpPr>
        <p:spPr>
          <a:xfrm>
            <a:off x="4339173" y="3101222"/>
            <a:ext cx="1412241"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Reserved</a:t>
            </a:r>
            <a:endParaRPr lang="zh-CN" altLang="en-US" sz="1600" dirty="0">
              <a:latin typeface="微软雅黑 Light" panose="020B0502040204020203" pitchFamily="34" charset="-122"/>
              <a:ea typeface="微软雅黑 Light" panose="020B0502040204020203" pitchFamily="34" charset="-122"/>
            </a:endParaRPr>
          </a:p>
        </p:txBody>
      </p:sp>
      <p:sp>
        <p:nvSpPr>
          <p:cNvPr id="52" name="文本框 51"/>
          <p:cNvSpPr txBox="1"/>
          <p:nvPr/>
        </p:nvSpPr>
        <p:spPr>
          <a:xfrm>
            <a:off x="5751414" y="3101222"/>
            <a:ext cx="1170867"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Key Phase</a:t>
            </a:r>
            <a:endParaRPr lang="zh-CN" altLang="en-US" sz="1600" dirty="0">
              <a:latin typeface="微软雅黑 Light" panose="020B0502040204020203" pitchFamily="34" charset="-122"/>
              <a:ea typeface="微软雅黑 Light" panose="020B0502040204020203" pitchFamily="34" charset="-122"/>
            </a:endParaRPr>
          </a:p>
        </p:txBody>
      </p:sp>
      <p:sp>
        <p:nvSpPr>
          <p:cNvPr id="53" name="文本框 52"/>
          <p:cNvSpPr txBox="1"/>
          <p:nvPr/>
        </p:nvSpPr>
        <p:spPr>
          <a:xfrm>
            <a:off x="6922281" y="3101222"/>
            <a:ext cx="1170867"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P</a:t>
            </a:r>
            <a:endParaRPr lang="zh-CN" altLang="en-US" sz="1600" dirty="0">
              <a:latin typeface="微软雅黑 Light" panose="020B0502040204020203" pitchFamily="34" charset="-122"/>
              <a:ea typeface="微软雅黑 Light" panose="020B0502040204020203" pitchFamily="34" charset="-122"/>
            </a:endParaRPr>
          </a:p>
        </p:txBody>
      </p:sp>
      <p:sp>
        <p:nvSpPr>
          <p:cNvPr id="54" name="文本框 53"/>
          <p:cNvSpPr txBox="1"/>
          <p:nvPr/>
        </p:nvSpPr>
        <p:spPr>
          <a:xfrm>
            <a:off x="8089094" y="3101222"/>
            <a:ext cx="1170867"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DCID</a:t>
            </a:r>
            <a:endParaRPr lang="zh-CN" altLang="en-US" sz="1600" dirty="0">
              <a:latin typeface="微软雅黑 Light" panose="020B0502040204020203" pitchFamily="34" charset="-122"/>
              <a:ea typeface="微软雅黑 Light" panose="020B0502040204020203" pitchFamily="34" charset="-122"/>
            </a:endParaRPr>
          </a:p>
        </p:txBody>
      </p:sp>
      <p:sp>
        <p:nvSpPr>
          <p:cNvPr id="55" name="文本框 54"/>
          <p:cNvSpPr txBox="1"/>
          <p:nvPr/>
        </p:nvSpPr>
        <p:spPr>
          <a:xfrm>
            <a:off x="9259961" y="3101222"/>
            <a:ext cx="1166813" cy="648000"/>
          </a:xfrm>
          <a:prstGeom prst="rect">
            <a:avLst/>
          </a:prstGeom>
          <a:noFill/>
          <a:ln w="28575">
            <a:solidFill>
              <a:srgbClr val="FF0000"/>
            </a:solidFill>
          </a:ln>
        </p:spPr>
        <p:txBody>
          <a:bodyPr wrap="square" tIns="46800" rtlCol="0">
            <a:noAutofit/>
          </a:bodyPr>
          <a:lstStyle/>
          <a:p>
            <a:pPr algn="ctr"/>
            <a:r>
              <a:rPr lang="en-US" altLang="zh-CN" sz="1600" dirty="0">
                <a:solidFill>
                  <a:srgbClr val="FF0000"/>
                </a:solidFill>
                <a:latin typeface="微软雅黑 Light" panose="020B0502040204020203" pitchFamily="34" charset="-122"/>
                <a:ea typeface="微软雅黑 Light" panose="020B0502040204020203" pitchFamily="34" charset="-122"/>
              </a:rPr>
              <a:t>Packet Number</a:t>
            </a:r>
            <a:endParaRPr lang="zh-CN" altLang="en-US" sz="1600" dirty="0">
              <a:solidFill>
                <a:srgbClr val="FF0000"/>
              </a:solidFill>
              <a:latin typeface="微软雅黑 Light" panose="020B0502040204020203" pitchFamily="34" charset="-122"/>
              <a:ea typeface="微软雅黑 Light" panose="020B0502040204020203" pitchFamily="34" charset="-122"/>
            </a:endParaRPr>
          </a:p>
        </p:txBody>
      </p:sp>
      <p:sp>
        <p:nvSpPr>
          <p:cNvPr id="56" name="文本框 55"/>
          <p:cNvSpPr txBox="1"/>
          <p:nvPr/>
        </p:nvSpPr>
        <p:spPr>
          <a:xfrm>
            <a:off x="10426774" y="3101222"/>
            <a:ext cx="1166813" cy="648000"/>
          </a:xfrm>
          <a:prstGeom prst="rect">
            <a:avLst/>
          </a:prstGeom>
          <a:noFill/>
          <a:ln>
            <a:solidFill>
              <a:schemeClr val="tx1"/>
            </a:solidFill>
          </a:ln>
        </p:spPr>
        <p:txBody>
          <a:bodyPr wrap="square" tIns="46800" rtlCol="0">
            <a:noAutofit/>
          </a:bodyPr>
          <a:lstStyle/>
          <a:p>
            <a:pPr algn="ctr"/>
            <a:r>
              <a:rPr lang="en-US" altLang="zh-CN" sz="1600" dirty="0">
                <a:latin typeface="微软雅黑 Light" panose="020B0502040204020203" pitchFamily="34" charset="-122"/>
                <a:ea typeface="微软雅黑 Light" panose="020B0502040204020203" pitchFamily="34" charset="-122"/>
              </a:rPr>
              <a:t>Packet Payload</a:t>
            </a:r>
            <a:endParaRPr lang="zh-CN" altLang="en-US" sz="1600" dirty="0">
              <a:latin typeface="微软雅黑 Light" panose="020B0502040204020203" pitchFamily="34" charset="-122"/>
              <a:ea typeface="微软雅黑 Light" panose="020B0502040204020203" pitchFamily="34" charset="-122"/>
            </a:endParaRPr>
          </a:p>
        </p:txBody>
      </p:sp>
      <p:sp>
        <p:nvSpPr>
          <p:cNvPr id="57" name="文本框 56"/>
          <p:cNvSpPr txBox="1"/>
          <p:nvPr/>
        </p:nvSpPr>
        <p:spPr>
          <a:xfrm>
            <a:off x="922801" y="3782776"/>
            <a:ext cx="57740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1bit</a:t>
            </a:r>
            <a:endParaRPr lang="zh-CN" altLang="en-US" dirty="0">
              <a:latin typeface="微软雅黑 Light" panose="020B0502040204020203" pitchFamily="34" charset="-122"/>
              <a:ea typeface="微软雅黑 Light" panose="020B0502040204020203" pitchFamily="34" charset="-122"/>
            </a:endParaRPr>
          </a:p>
        </p:txBody>
      </p:sp>
      <p:sp>
        <p:nvSpPr>
          <p:cNvPr id="58" name="文本框 57"/>
          <p:cNvSpPr txBox="1"/>
          <p:nvPr/>
        </p:nvSpPr>
        <p:spPr>
          <a:xfrm>
            <a:off x="2183760" y="3782776"/>
            <a:ext cx="57740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1bit</a:t>
            </a:r>
            <a:endParaRPr lang="zh-CN" altLang="en-US" dirty="0">
              <a:latin typeface="微软雅黑 Light" panose="020B0502040204020203" pitchFamily="34" charset="-122"/>
              <a:ea typeface="微软雅黑 Light" panose="020B0502040204020203" pitchFamily="34" charset="-122"/>
            </a:endParaRPr>
          </a:p>
        </p:txBody>
      </p:sp>
      <p:sp>
        <p:nvSpPr>
          <p:cNvPr id="59" name="文本框 58"/>
          <p:cNvSpPr txBox="1"/>
          <p:nvPr/>
        </p:nvSpPr>
        <p:spPr>
          <a:xfrm>
            <a:off x="3376325" y="3782776"/>
            <a:ext cx="57740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1bit</a:t>
            </a:r>
            <a:endParaRPr lang="zh-CN" altLang="en-US" dirty="0">
              <a:latin typeface="微软雅黑 Light" panose="020B0502040204020203" pitchFamily="34" charset="-122"/>
              <a:ea typeface="微软雅黑 Light" panose="020B0502040204020203" pitchFamily="34" charset="-122"/>
            </a:endParaRPr>
          </a:p>
        </p:txBody>
      </p:sp>
      <p:sp>
        <p:nvSpPr>
          <p:cNvPr id="60" name="文本框 59"/>
          <p:cNvSpPr txBox="1"/>
          <p:nvPr/>
        </p:nvSpPr>
        <p:spPr>
          <a:xfrm>
            <a:off x="4727863" y="3777436"/>
            <a:ext cx="728084"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2bits</a:t>
            </a:r>
            <a:endParaRPr lang="zh-CN" altLang="en-US" dirty="0">
              <a:latin typeface="微软雅黑 Light" panose="020B0502040204020203" pitchFamily="34" charset="-122"/>
              <a:ea typeface="微软雅黑 Light" panose="020B0502040204020203" pitchFamily="34" charset="-122"/>
            </a:endParaRPr>
          </a:p>
        </p:txBody>
      </p:sp>
      <p:sp>
        <p:nvSpPr>
          <p:cNvPr id="61" name="文本框 60"/>
          <p:cNvSpPr txBox="1"/>
          <p:nvPr/>
        </p:nvSpPr>
        <p:spPr>
          <a:xfrm>
            <a:off x="5994445" y="3784815"/>
            <a:ext cx="57740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1bit</a:t>
            </a:r>
            <a:endParaRPr lang="zh-CN" altLang="en-US" dirty="0">
              <a:latin typeface="微软雅黑 Light" panose="020B0502040204020203" pitchFamily="34" charset="-122"/>
              <a:ea typeface="微软雅黑 Light" panose="020B0502040204020203" pitchFamily="34" charset="-122"/>
            </a:endParaRPr>
          </a:p>
        </p:txBody>
      </p:sp>
      <p:sp>
        <p:nvSpPr>
          <p:cNvPr id="62" name="文本框 61"/>
          <p:cNvSpPr txBox="1"/>
          <p:nvPr/>
        </p:nvSpPr>
        <p:spPr>
          <a:xfrm>
            <a:off x="7233421" y="3777436"/>
            <a:ext cx="728084"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2bits</a:t>
            </a:r>
            <a:endParaRPr lang="zh-CN" altLang="en-US" dirty="0">
              <a:latin typeface="微软雅黑 Light" panose="020B0502040204020203" pitchFamily="34" charset="-122"/>
              <a:ea typeface="微软雅黑 Light" panose="020B0502040204020203" pitchFamily="34" charset="-122"/>
            </a:endParaRPr>
          </a:p>
        </p:txBody>
      </p:sp>
      <p:sp>
        <p:nvSpPr>
          <p:cNvPr id="63" name="文本框 62"/>
          <p:cNvSpPr txBox="1"/>
          <p:nvPr/>
        </p:nvSpPr>
        <p:spPr>
          <a:xfrm>
            <a:off x="8173983" y="3775959"/>
            <a:ext cx="970137"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160bits</a:t>
            </a:r>
            <a:endParaRPr lang="zh-CN" altLang="en-US" dirty="0">
              <a:latin typeface="微软雅黑 Light" panose="020B0502040204020203" pitchFamily="34" charset="-122"/>
              <a:ea typeface="微软雅黑 Light" panose="020B0502040204020203" pitchFamily="34" charset="-122"/>
            </a:endParaRPr>
          </a:p>
        </p:txBody>
      </p:sp>
      <p:sp>
        <p:nvSpPr>
          <p:cNvPr id="64" name="文本框 63"/>
          <p:cNvSpPr txBox="1"/>
          <p:nvPr/>
        </p:nvSpPr>
        <p:spPr>
          <a:xfrm>
            <a:off x="9507377" y="3775959"/>
            <a:ext cx="1058303"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P+8bits</a:t>
            </a:r>
            <a:endParaRPr lang="zh-CN" altLang="en-US" dirty="0">
              <a:latin typeface="微软雅黑 Light" panose="020B0502040204020203" pitchFamily="34" charset="-122"/>
              <a:ea typeface="微软雅黑 Light" panose="020B0502040204020203" pitchFamily="34" charset="-122"/>
            </a:endParaRPr>
          </a:p>
        </p:txBody>
      </p:sp>
      <p:sp>
        <p:nvSpPr>
          <p:cNvPr id="42" name="文本框 41"/>
          <p:cNvSpPr txBox="1"/>
          <p:nvPr/>
        </p:nvSpPr>
        <p:spPr>
          <a:xfrm>
            <a:off x="541802" y="4924656"/>
            <a:ext cx="1412240" cy="648000"/>
          </a:xfrm>
          <a:prstGeom prst="rect">
            <a:avLst/>
          </a:prstGeom>
          <a:noFill/>
          <a:ln w="9525">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Header Form</a:t>
            </a:r>
            <a:endParaRPr lang="zh-CN" altLang="en-US" sz="1600" dirty="0">
              <a:latin typeface="微软雅黑 Light" panose="020B0502040204020203" pitchFamily="34" charset="-122"/>
              <a:ea typeface="微软雅黑 Light" panose="020B0502040204020203" pitchFamily="34" charset="-122"/>
            </a:endParaRPr>
          </a:p>
        </p:txBody>
      </p:sp>
      <p:sp>
        <p:nvSpPr>
          <p:cNvPr id="43" name="文本框 42"/>
          <p:cNvSpPr txBox="1"/>
          <p:nvPr/>
        </p:nvSpPr>
        <p:spPr>
          <a:xfrm>
            <a:off x="1954042" y="4921595"/>
            <a:ext cx="1016000"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Fixed Bit</a:t>
            </a:r>
            <a:endParaRPr lang="zh-CN" altLang="en-US" sz="1600" dirty="0">
              <a:latin typeface="微软雅黑 Light" panose="020B0502040204020203" pitchFamily="34" charset="-122"/>
              <a:ea typeface="微软雅黑 Light" panose="020B0502040204020203" pitchFamily="34" charset="-122"/>
            </a:endParaRPr>
          </a:p>
        </p:txBody>
      </p:sp>
      <p:sp>
        <p:nvSpPr>
          <p:cNvPr id="44" name="文本框 43"/>
          <p:cNvSpPr txBox="1"/>
          <p:nvPr/>
        </p:nvSpPr>
        <p:spPr>
          <a:xfrm>
            <a:off x="2970042" y="4923263"/>
            <a:ext cx="1369131"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Spin Bit</a:t>
            </a:r>
            <a:endParaRPr lang="zh-CN" altLang="en-US" sz="1600" dirty="0">
              <a:latin typeface="微软雅黑 Light" panose="020B0502040204020203" pitchFamily="34" charset="-122"/>
              <a:ea typeface="微软雅黑 Light" panose="020B0502040204020203" pitchFamily="34" charset="-122"/>
            </a:endParaRPr>
          </a:p>
        </p:txBody>
      </p:sp>
      <p:sp>
        <p:nvSpPr>
          <p:cNvPr id="45" name="文本框 44"/>
          <p:cNvSpPr txBox="1"/>
          <p:nvPr/>
        </p:nvSpPr>
        <p:spPr>
          <a:xfrm>
            <a:off x="4339173" y="4921594"/>
            <a:ext cx="1412241"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Reserved</a:t>
            </a:r>
            <a:endParaRPr lang="zh-CN" altLang="en-US" sz="1600" dirty="0">
              <a:latin typeface="微软雅黑 Light" panose="020B0502040204020203" pitchFamily="34" charset="-122"/>
              <a:ea typeface="微软雅黑 Light" panose="020B0502040204020203" pitchFamily="34" charset="-122"/>
            </a:endParaRPr>
          </a:p>
        </p:txBody>
      </p:sp>
      <p:sp>
        <p:nvSpPr>
          <p:cNvPr id="46" name="文本框 45"/>
          <p:cNvSpPr txBox="1"/>
          <p:nvPr/>
        </p:nvSpPr>
        <p:spPr>
          <a:xfrm>
            <a:off x="5751414" y="4921594"/>
            <a:ext cx="1170867"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Key Phase</a:t>
            </a:r>
            <a:endParaRPr lang="zh-CN" altLang="en-US" sz="1600" dirty="0">
              <a:latin typeface="微软雅黑 Light" panose="020B0502040204020203" pitchFamily="34" charset="-122"/>
              <a:ea typeface="微软雅黑 Light" panose="020B0502040204020203" pitchFamily="34" charset="-122"/>
            </a:endParaRPr>
          </a:p>
        </p:txBody>
      </p:sp>
      <p:sp>
        <p:nvSpPr>
          <p:cNvPr id="65" name="文本框 64"/>
          <p:cNvSpPr txBox="1"/>
          <p:nvPr/>
        </p:nvSpPr>
        <p:spPr>
          <a:xfrm>
            <a:off x="6922281" y="4921594"/>
            <a:ext cx="1170867"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P</a:t>
            </a:r>
            <a:endParaRPr lang="zh-CN" altLang="en-US" sz="1600" dirty="0">
              <a:latin typeface="微软雅黑 Light" panose="020B0502040204020203" pitchFamily="34" charset="-122"/>
              <a:ea typeface="微软雅黑 Light" panose="020B0502040204020203" pitchFamily="34" charset="-122"/>
            </a:endParaRPr>
          </a:p>
        </p:txBody>
      </p:sp>
      <p:sp>
        <p:nvSpPr>
          <p:cNvPr id="66" name="文本框 65"/>
          <p:cNvSpPr txBox="1"/>
          <p:nvPr/>
        </p:nvSpPr>
        <p:spPr>
          <a:xfrm>
            <a:off x="8089094" y="4921594"/>
            <a:ext cx="1170867" cy="648000"/>
          </a:xfrm>
          <a:prstGeom prst="rect">
            <a:avLst/>
          </a:prstGeom>
          <a:noFill/>
          <a:ln>
            <a:solidFill>
              <a:schemeClr val="tx1"/>
            </a:solidFill>
          </a:ln>
        </p:spPr>
        <p:txBody>
          <a:bodyPr wrap="square" tIns="144000" rtlCol="0">
            <a:noAutofit/>
          </a:bodyPr>
          <a:lstStyle/>
          <a:p>
            <a:pPr algn="ctr"/>
            <a:r>
              <a:rPr lang="en-US" altLang="zh-CN" sz="1600" dirty="0">
                <a:latin typeface="微软雅黑 Light" panose="020B0502040204020203" pitchFamily="34" charset="-122"/>
                <a:ea typeface="微软雅黑 Light" panose="020B0502040204020203" pitchFamily="34" charset="-122"/>
              </a:rPr>
              <a:t>DCID</a:t>
            </a:r>
            <a:endParaRPr lang="zh-CN" altLang="en-US" sz="1600" dirty="0">
              <a:latin typeface="微软雅黑 Light" panose="020B0502040204020203" pitchFamily="34" charset="-122"/>
              <a:ea typeface="微软雅黑 Light" panose="020B0502040204020203" pitchFamily="34" charset="-122"/>
            </a:endParaRPr>
          </a:p>
        </p:txBody>
      </p:sp>
      <p:sp>
        <p:nvSpPr>
          <p:cNvPr id="67" name="文本框 66"/>
          <p:cNvSpPr txBox="1"/>
          <p:nvPr/>
        </p:nvSpPr>
        <p:spPr>
          <a:xfrm>
            <a:off x="9259961" y="4921594"/>
            <a:ext cx="1166813" cy="648000"/>
          </a:xfrm>
          <a:prstGeom prst="rect">
            <a:avLst/>
          </a:prstGeom>
          <a:noFill/>
          <a:ln>
            <a:solidFill>
              <a:schemeClr val="tx1"/>
            </a:solidFill>
          </a:ln>
        </p:spPr>
        <p:txBody>
          <a:bodyPr wrap="square" tIns="46800" rtlCol="0">
            <a:noAutofit/>
          </a:bodyPr>
          <a:lstStyle/>
          <a:p>
            <a:pPr algn="ctr"/>
            <a:r>
              <a:rPr lang="en-US" altLang="zh-CN" sz="1600" dirty="0">
                <a:latin typeface="微软雅黑 Light" panose="020B0502040204020203" pitchFamily="34" charset="-122"/>
                <a:ea typeface="微软雅黑 Light" panose="020B0502040204020203" pitchFamily="34" charset="-122"/>
              </a:rPr>
              <a:t>Packet Number</a:t>
            </a:r>
            <a:endParaRPr lang="zh-CN" altLang="en-US" sz="1600" dirty="0">
              <a:latin typeface="微软雅黑 Light" panose="020B0502040204020203" pitchFamily="34" charset="-122"/>
              <a:ea typeface="微软雅黑 Light" panose="020B0502040204020203" pitchFamily="34" charset="-122"/>
            </a:endParaRPr>
          </a:p>
        </p:txBody>
      </p:sp>
      <p:sp>
        <p:nvSpPr>
          <p:cNvPr id="68" name="文本框 67"/>
          <p:cNvSpPr txBox="1"/>
          <p:nvPr/>
        </p:nvSpPr>
        <p:spPr>
          <a:xfrm>
            <a:off x="10426774" y="4921594"/>
            <a:ext cx="1166813" cy="648000"/>
          </a:xfrm>
          <a:prstGeom prst="rect">
            <a:avLst/>
          </a:prstGeom>
          <a:noFill/>
          <a:ln>
            <a:solidFill>
              <a:schemeClr val="tx1"/>
            </a:solidFill>
          </a:ln>
        </p:spPr>
        <p:txBody>
          <a:bodyPr wrap="square" tIns="46800" rtlCol="0">
            <a:noAutofit/>
          </a:bodyPr>
          <a:lstStyle/>
          <a:p>
            <a:pPr algn="ctr"/>
            <a:r>
              <a:rPr lang="en-US" altLang="zh-CN" sz="1600" dirty="0">
                <a:solidFill>
                  <a:srgbClr val="C00000"/>
                </a:solidFill>
                <a:latin typeface="微软雅黑 Light" panose="020B0502040204020203" pitchFamily="34" charset="-122"/>
                <a:ea typeface="微软雅黑 Light" panose="020B0502040204020203" pitchFamily="34" charset="-122"/>
              </a:rPr>
              <a:t>Packet Payload</a:t>
            </a:r>
            <a:endParaRPr lang="zh-CN" altLang="en-US" sz="1600" dirty="0">
              <a:solidFill>
                <a:srgbClr val="C00000"/>
              </a:solidFill>
              <a:latin typeface="微软雅黑 Light" panose="020B0502040204020203" pitchFamily="34" charset="-122"/>
              <a:ea typeface="微软雅黑 Light" panose="020B0502040204020203" pitchFamily="34" charset="-122"/>
            </a:endParaRPr>
          </a:p>
        </p:txBody>
      </p:sp>
      <p:sp>
        <p:nvSpPr>
          <p:cNvPr id="69" name="文本框 68"/>
          <p:cNvSpPr txBox="1"/>
          <p:nvPr/>
        </p:nvSpPr>
        <p:spPr>
          <a:xfrm>
            <a:off x="922801" y="5604679"/>
            <a:ext cx="57740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1bit</a:t>
            </a:r>
            <a:endParaRPr lang="zh-CN" altLang="en-US" dirty="0">
              <a:latin typeface="微软雅黑 Light" panose="020B0502040204020203" pitchFamily="34" charset="-122"/>
              <a:ea typeface="微软雅黑 Light" panose="020B0502040204020203" pitchFamily="34" charset="-122"/>
            </a:endParaRPr>
          </a:p>
        </p:txBody>
      </p:sp>
      <p:sp>
        <p:nvSpPr>
          <p:cNvPr id="70" name="文本框 69"/>
          <p:cNvSpPr txBox="1"/>
          <p:nvPr/>
        </p:nvSpPr>
        <p:spPr>
          <a:xfrm>
            <a:off x="2183760" y="5604679"/>
            <a:ext cx="57740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1bit</a:t>
            </a:r>
            <a:endParaRPr lang="zh-CN" altLang="en-US" dirty="0">
              <a:latin typeface="微软雅黑 Light" panose="020B0502040204020203" pitchFamily="34" charset="-122"/>
              <a:ea typeface="微软雅黑 Light" panose="020B0502040204020203" pitchFamily="34" charset="-122"/>
            </a:endParaRPr>
          </a:p>
        </p:txBody>
      </p:sp>
      <p:sp>
        <p:nvSpPr>
          <p:cNvPr id="71" name="文本框 70"/>
          <p:cNvSpPr txBox="1"/>
          <p:nvPr/>
        </p:nvSpPr>
        <p:spPr>
          <a:xfrm>
            <a:off x="3376325" y="5604679"/>
            <a:ext cx="57740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1bit</a:t>
            </a:r>
            <a:endParaRPr lang="zh-CN" altLang="en-US" dirty="0">
              <a:latin typeface="微软雅黑 Light" panose="020B0502040204020203" pitchFamily="34" charset="-122"/>
              <a:ea typeface="微软雅黑 Light" panose="020B0502040204020203" pitchFamily="34" charset="-122"/>
            </a:endParaRPr>
          </a:p>
        </p:txBody>
      </p:sp>
      <p:sp>
        <p:nvSpPr>
          <p:cNvPr id="72" name="文本框 71"/>
          <p:cNvSpPr txBox="1"/>
          <p:nvPr/>
        </p:nvSpPr>
        <p:spPr>
          <a:xfrm>
            <a:off x="4727863" y="5599339"/>
            <a:ext cx="728084"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2bits</a:t>
            </a:r>
            <a:endParaRPr lang="zh-CN" altLang="en-US" dirty="0">
              <a:latin typeface="微软雅黑 Light" panose="020B0502040204020203" pitchFamily="34" charset="-122"/>
              <a:ea typeface="微软雅黑 Light" panose="020B0502040204020203" pitchFamily="34" charset="-122"/>
            </a:endParaRPr>
          </a:p>
        </p:txBody>
      </p:sp>
      <p:sp>
        <p:nvSpPr>
          <p:cNvPr id="73" name="文本框 72"/>
          <p:cNvSpPr txBox="1"/>
          <p:nvPr/>
        </p:nvSpPr>
        <p:spPr>
          <a:xfrm>
            <a:off x="5994445" y="5606718"/>
            <a:ext cx="577402"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1bit</a:t>
            </a:r>
            <a:endParaRPr lang="zh-CN" altLang="en-US" dirty="0">
              <a:latin typeface="微软雅黑 Light" panose="020B0502040204020203" pitchFamily="34" charset="-122"/>
              <a:ea typeface="微软雅黑 Light" panose="020B0502040204020203" pitchFamily="34" charset="-122"/>
            </a:endParaRPr>
          </a:p>
        </p:txBody>
      </p:sp>
      <p:sp>
        <p:nvSpPr>
          <p:cNvPr id="74" name="文本框 73"/>
          <p:cNvSpPr txBox="1"/>
          <p:nvPr/>
        </p:nvSpPr>
        <p:spPr>
          <a:xfrm>
            <a:off x="7233421" y="5599339"/>
            <a:ext cx="728084"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2bits</a:t>
            </a:r>
            <a:endParaRPr lang="zh-CN" altLang="en-US" dirty="0">
              <a:latin typeface="微软雅黑 Light" panose="020B0502040204020203" pitchFamily="34" charset="-122"/>
              <a:ea typeface="微软雅黑 Light" panose="020B0502040204020203" pitchFamily="34" charset="-122"/>
            </a:endParaRPr>
          </a:p>
        </p:txBody>
      </p:sp>
      <p:sp>
        <p:nvSpPr>
          <p:cNvPr id="75" name="文本框 74"/>
          <p:cNvSpPr txBox="1"/>
          <p:nvPr/>
        </p:nvSpPr>
        <p:spPr>
          <a:xfrm>
            <a:off x="8173983" y="5597862"/>
            <a:ext cx="970137"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160bits</a:t>
            </a:r>
            <a:endParaRPr lang="zh-CN" altLang="en-US" dirty="0">
              <a:latin typeface="微软雅黑 Light" panose="020B0502040204020203" pitchFamily="34" charset="-122"/>
              <a:ea typeface="微软雅黑 Light" panose="020B0502040204020203" pitchFamily="34" charset="-122"/>
            </a:endParaRPr>
          </a:p>
        </p:txBody>
      </p:sp>
      <p:sp>
        <p:nvSpPr>
          <p:cNvPr id="76" name="文本框 75"/>
          <p:cNvSpPr txBox="1"/>
          <p:nvPr/>
        </p:nvSpPr>
        <p:spPr>
          <a:xfrm>
            <a:off x="9507377" y="5597862"/>
            <a:ext cx="1058303" cy="400110"/>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P+8bits</a:t>
            </a:r>
            <a:endParaRPr lang="zh-CN" altLang="en-US" dirty="0">
              <a:latin typeface="微软雅黑 Light" panose="020B0502040204020203" pitchFamily="34" charset="-122"/>
              <a:ea typeface="微软雅黑 Light" panose="020B0502040204020203" pitchFamily="34" charset="-122"/>
            </a:endParaRPr>
          </a:p>
        </p:txBody>
      </p:sp>
      <p:sp>
        <p:nvSpPr>
          <p:cNvPr id="77" name="文本框 76"/>
          <p:cNvSpPr txBox="1"/>
          <p:nvPr/>
        </p:nvSpPr>
        <p:spPr>
          <a:xfrm>
            <a:off x="8205887" y="5997972"/>
            <a:ext cx="3374732" cy="460704"/>
          </a:xfrm>
          <a:prstGeom prst="rect">
            <a:avLst/>
          </a:prstGeom>
          <a:solidFill>
            <a:schemeClr val="bg2"/>
          </a:solidFill>
        </p:spPr>
        <p:txBody>
          <a:bodyPr wrap="square">
            <a:spAutoFit/>
          </a:bodyPr>
          <a:lstStyle>
            <a:defPPr>
              <a:defRPr lang="zh-CN"/>
            </a:defPPr>
            <a:lvl1pPr algn="ctr">
              <a:lnSpc>
                <a:spcPct val="150000"/>
              </a:lnSpc>
              <a:defRPr sz="1800" kern="100">
                <a:effectLst/>
                <a:latin typeface="微软雅黑 Light" panose="020B0502040204020203" pitchFamily="34" charset="-122"/>
                <a:ea typeface="微软雅黑 Light" panose="020B0502040204020203" pitchFamily="34" charset="-122"/>
              </a:defRPr>
            </a:lvl1pPr>
          </a:lstStyle>
          <a:p>
            <a:r>
              <a:rPr lang="en-US" altLang="zh-CN" dirty="0"/>
              <a:t>Packet Payload</a:t>
            </a:r>
            <a:r>
              <a:rPr lang="zh-CN" altLang="en-US" dirty="0"/>
              <a:t>：包载荷</a:t>
            </a:r>
            <a:endParaRPr lang="zh-CN" altLang="zh-CN" dirty="0"/>
          </a:p>
        </p:txBody>
      </p:sp>
      <p:sp>
        <p:nvSpPr>
          <p:cNvPr id="78" name="文本框 77"/>
          <p:cNvSpPr txBox="1"/>
          <p:nvPr/>
        </p:nvSpPr>
        <p:spPr>
          <a:xfrm>
            <a:off x="10444246" y="4921594"/>
            <a:ext cx="1166813" cy="648000"/>
          </a:xfrm>
          <a:prstGeom prst="rect">
            <a:avLst/>
          </a:prstGeom>
          <a:noFill/>
          <a:ln w="28575">
            <a:solidFill>
              <a:srgbClr val="FF0000"/>
            </a:solidFill>
          </a:ln>
        </p:spPr>
        <p:txBody>
          <a:bodyPr wrap="square" tIns="46800" rtlCol="0">
            <a:noAutofit/>
          </a:bodyPr>
          <a:lstStyle/>
          <a:p>
            <a:pPr algn="ctr"/>
            <a:endParaRPr lang="zh-CN" altLang="en-US" sz="1600" dirty="0">
              <a:solidFill>
                <a:srgbClr val="FF0000"/>
              </a:solidFill>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2"/>
          <a:stretch>
            <a:fillRect/>
          </a:stretch>
        </p:blipFill>
        <p:spPr>
          <a:xfrm>
            <a:off x="1343472" y="979881"/>
            <a:ext cx="9505056" cy="2774161"/>
          </a:xfrm>
          <a:prstGeom prst="rect">
            <a:avLst/>
          </a:prstGeom>
        </p:spPr>
      </p:pic>
      <p:sp>
        <p:nvSpPr>
          <p:cNvPr id="3" name="标题 2"/>
          <p:cNvSpPr>
            <a:spLocks noGrp="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r>
              <a:rPr lang="en-US" altLang="zh-CN" dirty="0">
                <a:latin typeface="微软雅黑" panose="020B0503020204020204" pitchFamily="34" charset="-122"/>
                <a:sym typeface="+mn-lt"/>
              </a:rPr>
              <a:t>QUIC</a:t>
            </a:r>
            <a:r>
              <a:rPr lang="zh-CN" altLang="en-US" dirty="0">
                <a:latin typeface="微软雅黑" panose="020B0503020204020204" pitchFamily="34" charset="-122"/>
                <a:sym typeface="+mn-lt"/>
              </a:rPr>
              <a:t>报文格式：</a:t>
            </a:r>
            <a:r>
              <a:rPr lang="en-US" altLang="zh-CN" dirty="0">
                <a:latin typeface="微软雅黑" panose="020B0503020204020204" pitchFamily="34" charset="-122"/>
                <a:sym typeface="+mn-lt"/>
              </a:rPr>
              <a:t>QUIC</a:t>
            </a:r>
            <a:r>
              <a:rPr lang="zh-CN" altLang="en-US" dirty="0">
                <a:latin typeface="微软雅黑" panose="020B0503020204020204" pitchFamily="34" charset="-122"/>
                <a:sym typeface="+mn-lt"/>
              </a:rPr>
              <a:t>帧类型</a:t>
            </a:r>
            <a:endParaRPr lang="zh-CN" altLang="en-US" dirty="0">
              <a:latin typeface="微软雅黑" panose="020B0503020204020204" pitchFamily="34" charset="-122"/>
            </a:endParaRPr>
          </a:p>
        </p:txBody>
      </p:sp>
      <p:sp>
        <p:nvSpPr>
          <p:cNvPr id="6" name="内容占位符 5"/>
          <p:cNvSpPr>
            <a:spLocks noGrp="1"/>
          </p:cNvSpPr>
          <p:nvPr>
            <p:ph idx="1"/>
          </p:nvPr>
        </p:nvSpPr>
        <p:spPr>
          <a:xfrm>
            <a:off x="334434" y="3754042"/>
            <a:ext cx="11523133" cy="2735659"/>
          </a:xfrm>
        </p:spPr>
        <p:txBody>
          <a:bodyPr>
            <a:normAutofit fontScale="85000" lnSpcReduction="10000"/>
          </a:bodyPr>
          <a:lstStyle/>
          <a:p>
            <a:r>
              <a:rPr lang="en-US" altLang="zh-CN" dirty="0">
                <a:latin typeface="+mn-lt"/>
              </a:rPr>
              <a:t>Frame Type</a:t>
            </a:r>
            <a:r>
              <a:rPr lang="zh-CN" altLang="en-US" dirty="0">
                <a:latin typeface="+mn-lt"/>
              </a:rPr>
              <a:t>：</a:t>
            </a:r>
            <a:r>
              <a:rPr lang="en-US" altLang="zh-CN" dirty="0">
                <a:latin typeface="+mn-lt"/>
              </a:rPr>
              <a:t>1</a:t>
            </a:r>
            <a:r>
              <a:rPr lang="zh-CN" altLang="en-US" dirty="0">
                <a:latin typeface="+mn-lt"/>
              </a:rPr>
              <a:t>个字节，表示帧类型，包含可变的标志，其表现形式为</a:t>
            </a:r>
            <a:r>
              <a:rPr lang="en-US" altLang="zh-CN" dirty="0">
                <a:latin typeface="+mn-lt"/>
              </a:rPr>
              <a:t>1fdoooss</a:t>
            </a:r>
            <a:r>
              <a:rPr lang="zh-CN" altLang="en-US" dirty="0">
                <a:latin typeface="+mn-lt"/>
              </a:rPr>
              <a:t>。</a:t>
            </a:r>
          </a:p>
          <a:p>
            <a:pPr lvl="1"/>
            <a:r>
              <a:rPr lang="en-US" altLang="zh-CN" dirty="0">
                <a:latin typeface="+mn-lt"/>
              </a:rPr>
              <a:t>1: 1bit</a:t>
            </a:r>
            <a:r>
              <a:rPr lang="zh-CN" altLang="en-US" dirty="0">
                <a:latin typeface="+mn-lt"/>
              </a:rPr>
              <a:t>，必须设置为</a:t>
            </a:r>
            <a:r>
              <a:rPr lang="en-US" altLang="zh-CN" dirty="0">
                <a:latin typeface="+mn-lt"/>
              </a:rPr>
              <a:t>1</a:t>
            </a:r>
            <a:r>
              <a:rPr lang="zh-CN" altLang="en-US" dirty="0">
                <a:latin typeface="+mn-lt"/>
              </a:rPr>
              <a:t>，标志这是一个流类型帧</a:t>
            </a:r>
          </a:p>
          <a:p>
            <a:pPr lvl="1"/>
            <a:r>
              <a:rPr lang="en-US" altLang="zh-CN" dirty="0">
                <a:latin typeface="+mn-lt"/>
              </a:rPr>
              <a:t>f: 1bit</a:t>
            </a:r>
            <a:r>
              <a:rPr lang="zh-CN" altLang="en-US" dirty="0">
                <a:latin typeface="+mn-lt"/>
              </a:rPr>
              <a:t>，</a:t>
            </a:r>
            <a:r>
              <a:rPr lang="en-US" altLang="zh-CN" dirty="0">
                <a:latin typeface="+mn-lt"/>
              </a:rPr>
              <a:t>Fin bit</a:t>
            </a:r>
            <a:r>
              <a:rPr lang="zh-CN" altLang="en-US" dirty="0">
                <a:latin typeface="+mn-lt"/>
              </a:rPr>
              <a:t>。如果设置为</a:t>
            </a:r>
            <a:r>
              <a:rPr lang="en-US" altLang="zh-CN" dirty="0">
                <a:latin typeface="+mn-lt"/>
              </a:rPr>
              <a:t>1</a:t>
            </a:r>
            <a:r>
              <a:rPr lang="zh-CN" altLang="en-US" dirty="0">
                <a:latin typeface="+mn-lt"/>
              </a:rPr>
              <a:t>，标识发送端完成了这条流上的发送并且希望进入半关闭状态</a:t>
            </a:r>
          </a:p>
          <a:p>
            <a:pPr lvl="1"/>
            <a:r>
              <a:rPr lang="en-US" altLang="zh-CN" dirty="0">
                <a:latin typeface="+mn-lt"/>
              </a:rPr>
              <a:t>d: 1bit</a:t>
            </a:r>
            <a:r>
              <a:rPr lang="zh-CN" altLang="en-US" dirty="0">
                <a:latin typeface="+mn-lt"/>
              </a:rPr>
              <a:t>，标识当前流的首部中是否包含数据长度</a:t>
            </a:r>
            <a:endParaRPr lang="en-US" altLang="zh-CN" dirty="0">
              <a:latin typeface="+mn-lt"/>
            </a:endParaRPr>
          </a:p>
          <a:p>
            <a:pPr lvl="2"/>
            <a:r>
              <a:rPr lang="zh-CN" altLang="en-US" dirty="0">
                <a:latin typeface="+mn-lt"/>
              </a:rPr>
              <a:t>如果设置为</a:t>
            </a:r>
            <a:r>
              <a:rPr lang="en-US" altLang="zh-CN" dirty="0">
                <a:latin typeface="+mn-lt"/>
              </a:rPr>
              <a:t>0</a:t>
            </a:r>
            <a:r>
              <a:rPr lang="zh-CN" altLang="en-US" dirty="0">
                <a:latin typeface="+mn-lt"/>
              </a:rPr>
              <a:t>，标识无数据长度字段，这个流类型帧的大小为包的大小</a:t>
            </a:r>
            <a:endParaRPr lang="en-US" altLang="zh-CN" dirty="0">
              <a:latin typeface="+mn-lt"/>
            </a:endParaRPr>
          </a:p>
          <a:p>
            <a:pPr lvl="2"/>
            <a:r>
              <a:rPr lang="zh-CN" altLang="en-US" dirty="0">
                <a:latin typeface="+mn-lt"/>
              </a:rPr>
              <a:t>如果设置为</a:t>
            </a:r>
            <a:r>
              <a:rPr lang="en-US" altLang="zh-CN" dirty="0">
                <a:latin typeface="+mn-lt"/>
              </a:rPr>
              <a:t>1</a:t>
            </a:r>
            <a:r>
              <a:rPr lang="zh-CN" altLang="en-US" dirty="0">
                <a:latin typeface="+mn-lt"/>
              </a:rPr>
              <a:t>，标识有数据长度字段</a:t>
            </a:r>
          </a:p>
          <a:p>
            <a:pPr lvl="1"/>
            <a:r>
              <a:rPr lang="en-US" altLang="zh-CN" dirty="0">
                <a:latin typeface="+mn-lt"/>
              </a:rPr>
              <a:t>o: 3bit</a:t>
            </a:r>
            <a:r>
              <a:rPr lang="zh-CN" altLang="en-US" dirty="0">
                <a:latin typeface="+mn-lt"/>
              </a:rPr>
              <a:t>，编码了首部中</a:t>
            </a:r>
            <a:r>
              <a:rPr lang="zh-CN" altLang="en-US" dirty="0">
                <a:solidFill>
                  <a:srgbClr val="C00000"/>
                </a:solidFill>
                <a:latin typeface="+mn-lt"/>
              </a:rPr>
              <a:t>偏移量</a:t>
            </a:r>
            <a:r>
              <a:rPr lang="zh-CN" altLang="en-US" dirty="0">
                <a:latin typeface="+mn-lt"/>
              </a:rPr>
              <a:t>的长度，比如</a:t>
            </a:r>
            <a:r>
              <a:rPr lang="en-US" altLang="zh-CN" dirty="0">
                <a:latin typeface="+mn-lt"/>
              </a:rPr>
              <a:t>0</a:t>
            </a:r>
            <a:r>
              <a:rPr lang="zh-CN" altLang="en-US" dirty="0">
                <a:latin typeface="+mn-lt"/>
              </a:rPr>
              <a:t>，</a:t>
            </a:r>
            <a:r>
              <a:rPr lang="en-US" altLang="zh-CN" dirty="0">
                <a:latin typeface="+mn-lt"/>
              </a:rPr>
              <a:t>16</a:t>
            </a:r>
            <a:r>
              <a:rPr lang="zh-CN" altLang="en-US" dirty="0">
                <a:latin typeface="+mn-lt"/>
              </a:rPr>
              <a:t>，</a:t>
            </a:r>
            <a:r>
              <a:rPr lang="en-US" altLang="zh-CN" dirty="0">
                <a:latin typeface="+mn-lt"/>
              </a:rPr>
              <a:t>24</a:t>
            </a:r>
            <a:r>
              <a:rPr lang="zh-CN" altLang="en-US" dirty="0">
                <a:latin typeface="+mn-lt"/>
              </a:rPr>
              <a:t>，</a:t>
            </a:r>
            <a:r>
              <a:rPr lang="en-US" altLang="zh-CN" dirty="0">
                <a:latin typeface="+mn-lt"/>
              </a:rPr>
              <a:t>32</a:t>
            </a:r>
            <a:r>
              <a:rPr lang="zh-CN" altLang="en-US" dirty="0">
                <a:latin typeface="+mn-lt"/>
              </a:rPr>
              <a:t>，</a:t>
            </a:r>
            <a:r>
              <a:rPr lang="en-US" altLang="zh-CN" dirty="0">
                <a:latin typeface="+mn-lt"/>
              </a:rPr>
              <a:t>40</a:t>
            </a:r>
            <a:r>
              <a:rPr lang="zh-CN" altLang="en-US" dirty="0">
                <a:latin typeface="+mn-lt"/>
              </a:rPr>
              <a:t>，</a:t>
            </a:r>
            <a:r>
              <a:rPr lang="en-US" altLang="zh-CN" dirty="0">
                <a:latin typeface="+mn-lt"/>
              </a:rPr>
              <a:t>48</a:t>
            </a:r>
            <a:r>
              <a:rPr lang="zh-CN" altLang="en-US" dirty="0">
                <a:latin typeface="+mn-lt"/>
              </a:rPr>
              <a:t>，</a:t>
            </a:r>
            <a:r>
              <a:rPr lang="en-US" altLang="zh-CN" dirty="0">
                <a:latin typeface="+mn-lt"/>
              </a:rPr>
              <a:t>56</a:t>
            </a:r>
            <a:r>
              <a:rPr lang="zh-CN" altLang="en-US" dirty="0">
                <a:latin typeface="+mn-lt"/>
              </a:rPr>
              <a:t>，</a:t>
            </a:r>
            <a:r>
              <a:rPr lang="en-US" altLang="zh-CN" dirty="0">
                <a:latin typeface="+mn-lt"/>
              </a:rPr>
              <a:t>64</a:t>
            </a:r>
            <a:r>
              <a:rPr lang="zh-CN" altLang="en-US" dirty="0">
                <a:latin typeface="+mn-lt"/>
              </a:rPr>
              <a:t>（单位：</a:t>
            </a:r>
            <a:r>
              <a:rPr lang="en-US" altLang="zh-CN" dirty="0">
                <a:latin typeface="+mn-lt"/>
              </a:rPr>
              <a:t>bit</a:t>
            </a:r>
            <a:r>
              <a:rPr lang="zh-CN" altLang="en-US" dirty="0">
                <a:latin typeface="+mn-lt"/>
              </a:rPr>
              <a:t>）</a:t>
            </a:r>
          </a:p>
          <a:p>
            <a:pPr lvl="1"/>
            <a:r>
              <a:rPr lang="en-US" altLang="zh-CN" dirty="0">
                <a:latin typeface="+mn-lt"/>
              </a:rPr>
              <a:t>s: 2bit</a:t>
            </a:r>
            <a:r>
              <a:rPr lang="zh-CN" altLang="en-US" dirty="0">
                <a:latin typeface="+mn-lt"/>
              </a:rPr>
              <a:t>，编码了首部中</a:t>
            </a:r>
            <a:r>
              <a:rPr lang="zh-CN" altLang="en-US" dirty="0">
                <a:solidFill>
                  <a:srgbClr val="C00000"/>
                </a:solidFill>
                <a:latin typeface="+mn-lt"/>
              </a:rPr>
              <a:t>流</a:t>
            </a:r>
            <a:r>
              <a:rPr lang="en-US" altLang="zh-CN" dirty="0">
                <a:solidFill>
                  <a:srgbClr val="C00000"/>
                </a:solidFill>
                <a:latin typeface="+mn-lt"/>
              </a:rPr>
              <a:t>ID</a:t>
            </a:r>
            <a:r>
              <a:rPr lang="zh-CN" altLang="en-US" dirty="0">
                <a:latin typeface="+mn-lt"/>
              </a:rPr>
              <a:t>的长度，比如</a:t>
            </a:r>
            <a:r>
              <a:rPr lang="en-US" altLang="zh-CN" dirty="0">
                <a:latin typeface="+mn-lt"/>
              </a:rPr>
              <a:t>8</a:t>
            </a:r>
            <a:r>
              <a:rPr lang="zh-CN" altLang="en-US" dirty="0">
                <a:latin typeface="+mn-lt"/>
              </a:rPr>
              <a:t>，</a:t>
            </a:r>
            <a:r>
              <a:rPr lang="en-US" altLang="zh-CN" dirty="0">
                <a:latin typeface="+mn-lt"/>
              </a:rPr>
              <a:t>16</a:t>
            </a:r>
            <a:r>
              <a:rPr lang="zh-CN" altLang="en-US" dirty="0">
                <a:latin typeface="+mn-lt"/>
              </a:rPr>
              <a:t>，</a:t>
            </a:r>
            <a:r>
              <a:rPr lang="en-US" altLang="zh-CN" dirty="0">
                <a:latin typeface="+mn-lt"/>
              </a:rPr>
              <a:t>24</a:t>
            </a:r>
            <a:r>
              <a:rPr lang="zh-CN" altLang="en-US" dirty="0">
                <a:latin typeface="+mn-lt"/>
              </a:rPr>
              <a:t>，</a:t>
            </a:r>
            <a:r>
              <a:rPr lang="en-US" altLang="zh-CN" dirty="0">
                <a:latin typeface="+mn-lt"/>
              </a:rPr>
              <a:t>32</a:t>
            </a:r>
            <a:r>
              <a:rPr lang="zh-CN" altLang="en-US" dirty="0">
                <a:latin typeface="+mn-lt"/>
              </a:rPr>
              <a:t>（单位：</a:t>
            </a:r>
            <a:r>
              <a:rPr lang="en-US" altLang="zh-CN" dirty="0">
                <a:latin typeface="+mn-lt"/>
              </a:rPr>
              <a:t>bit</a:t>
            </a:r>
            <a:r>
              <a:rPr lang="zh-CN" altLang="en-US" dirty="0">
                <a:latin typeface="+mn-lt"/>
              </a:rPr>
              <a:t>）</a:t>
            </a:r>
          </a:p>
        </p:txBody>
      </p:sp>
      <p:sp>
        <p:nvSpPr>
          <p:cNvPr id="2" name="灯片编号占位符 1"/>
          <p:cNvSpPr>
            <a:spLocks noGrp="1"/>
          </p:cNvSpPr>
          <p:nvPr>
            <p:ph type="sldNum" sz="quarter" idx="12"/>
          </p:nvPr>
        </p:nvSpPr>
        <p:spPr/>
        <p:txBody>
          <a:bodyPr/>
          <a:lstStyle/>
          <a:p>
            <a:fld id="{C8BB1146-E542-4D4E-B8E9-6919A11DDD48}" type="slidenum">
              <a:rPr lang="en-US" smtClean="0"/>
              <a:t>98</a:t>
            </a:fld>
            <a:endParaRPr 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文本框 8"/>
          <p:cNvSpPr txBox="1"/>
          <p:nvPr/>
        </p:nvSpPr>
        <p:spPr>
          <a:xfrm>
            <a:off x="1487488" y="1624655"/>
            <a:ext cx="1800200" cy="648000"/>
          </a:xfrm>
          <a:prstGeom prst="rect">
            <a:avLst/>
          </a:prstGeom>
          <a:noFill/>
          <a:ln w="28575">
            <a:solidFill>
              <a:srgbClr val="FF0000"/>
            </a:solidFill>
          </a:ln>
        </p:spPr>
        <p:txBody>
          <a:bodyPr wrap="square" tIns="46800" rtlCol="0">
            <a:noAutofit/>
          </a:bodyPr>
          <a:lstStyle/>
          <a:p>
            <a:pPr algn="ctr"/>
            <a:endParaRPr lang="zh-CN" altLang="en-US" sz="1600" dirty="0">
              <a:solidFill>
                <a:srgbClr val="FF0000"/>
              </a:solidFill>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2"/>
          <a:stretch>
            <a:fillRect/>
          </a:stretch>
        </p:blipFill>
        <p:spPr>
          <a:xfrm>
            <a:off x="1343472" y="979881"/>
            <a:ext cx="9505056" cy="2774161"/>
          </a:xfrm>
          <a:prstGeom prst="rect">
            <a:avLst/>
          </a:prstGeom>
        </p:spPr>
      </p:pic>
      <p:sp>
        <p:nvSpPr>
          <p:cNvPr id="3" name="标题 2"/>
          <p:cNvSpPr>
            <a:spLocks noGrp="1"/>
          </p:cNvSpPr>
          <p:nvPr>
            <p:ph type="title"/>
          </p:nvPr>
        </p:nvSpPr>
        <p:spPr/>
        <p:txBody>
          <a:bodyPr/>
          <a:lstStyle/>
          <a:p>
            <a:r>
              <a:rPr lang="en-US" altLang="zh-CN" dirty="0">
                <a:cs typeface="+mn-ea"/>
                <a:sym typeface="+mn-lt"/>
              </a:rPr>
              <a:t>QUIC</a:t>
            </a:r>
            <a:r>
              <a:rPr lang="zh-CN" altLang="en-US" dirty="0">
                <a:cs typeface="+mn-ea"/>
                <a:sym typeface="+mn-lt"/>
              </a:rPr>
              <a:t>报文格式：</a:t>
            </a:r>
            <a:r>
              <a:rPr lang="en-US" altLang="zh-CN" dirty="0">
                <a:cs typeface="+mn-ea"/>
                <a:sym typeface="+mn-lt"/>
              </a:rPr>
              <a:t>QUIC</a:t>
            </a:r>
            <a:r>
              <a:rPr lang="zh-CN" altLang="en-US" dirty="0">
                <a:cs typeface="+mn-ea"/>
                <a:sym typeface="+mn-lt"/>
              </a:rPr>
              <a:t>帧类型</a:t>
            </a:r>
            <a:endParaRPr lang="zh-CN" altLang="en-US" dirty="0"/>
          </a:p>
        </p:txBody>
      </p:sp>
      <p:sp>
        <p:nvSpPr>
          <p:cNvPr id="6" name="内容占位符 5"/>
          <p:cNvSpPr>
            <a:spLocks noGrp="1"/>
          </p:cNvSpPr>
          <p:nvPr>
            <p:ph idx="1"/>
          </p:nvPr>
        </p:nvSpPr>
        <p:spPr>
          <a:xfrm>
            <a:off x="334434" y="3717032"/>
            <a:ext cx="11523133" cy="2772669"/>
          </a:xfrm>
        </p:spPr>
        <p:txBody>
          <a:bodyPr/>
          <a:lstStyle/>
          <a:p>
            <a:r>
              <a:rPr lang="en-US" altLang="zh-CN" dirty="0"/>
              <a:t>Stream ID</a:t>
            </a:r>
            <a:r>
              <a:rPr lang="zh-CN" altLang="en-US" dirty="0"/>
              <a:t>：用于标识当前数据流属于哪个资源请求</a:t>
            </a:r>
          </a:p>
          <a:p>
            <a:r>
              <a:rPr lang="en-US" altLang="zh-CN" dirty="0"/>
              <a:t>Offset</a:t>
            </a:r>
            <a:r>
              <a:rPr lang="zh-CN" altLang="en-US" dirty="0"/>
              <a:t>：标识当前数据包在当前</a:t>
            </a:r>
            <a:r>
              <a:rPr lang="en-US" altLang="zh-CN" dirty="0"/>
              <a:t>Stream ID </a:t>
            </a:r>
            <a:r>
              <a:rPr lang="zh-CN" altLang="en-US" dirty="0"/>
              <a:t>中的字节偏移量</a:t>
            </a:r>
          </a:p>
          <a:p>
            <a:r>
              <a:rPr lang="en-US" altLang="zh-CN" dirty="0"/>
              <a:t>Length</a:t>
            </a:r>
            <a:r>
              <a:rPr lang="zh-CN" altLang="en-US" dirty="0"/>
              <a:t>：数据长度，表示实际应用数据的长度</a:t>
            </a:r>
          </a:p>
          <a:p>
            <a:r>
              <a:rPr lang="en-US" altLang="zh-CN" dirty="0"/>
              <a:t>Stream Data</a:t>
            </a:r>
            <a:r>
              <a:rPr lang="zh-CN" altLang="en-US" dirty="0"/>
              <a:t>：实际的应用数据</a:t>
            </a:r>
          </a:p>
        </p:txBody>
      </p:sp>
      <p:sp>
        <p:nvSpPr>
          <p:cNvPr id="2" name="灯片编号占位符 1"/>
          <p:cNvSpPr>
            <a:spLocks noGrp="1"/>
          </p:cNvSpPr>
          <p:nvPr>
            <p:ph type="sldNum" sz="quarter" idx="12"/>
          </p:nvPr>
        </p:nvSpPr>
        <p:spPr/>
        <p:txBody>
          <a:bodyPr/>
          <a:lstStyle/>
          <a:p>
            <a:fld id="{C8BB1146-E542-4D4E-B8E9-6919A11DDD48}" type="slidenum">
              <a:rPr lang="en-US" smtClean="0"/>
              <a:t>99</a:t>
            </a:fld>
            <a:endParaRPr 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文本框 7"/>
          <p:cNvSpPr txBox="1"/>
          <p:nvPr/>
        </p:nvSpPr>
        <p:spPr>
          <a:xfrm>
            <a:off x="3287688" y="1556442"/>
            <a:ext cx="7488832" cy="720430"/>
          </a:xfrm>
          <a:prstGeom prst="rect">
            <a:avLst/>
          </a:prstGeom>
          <a:noFill/>
          <a:ln w="28575">
            <a:solidFill>
              <a:srgbClr val="FF0000"/>
            </a:solidFill>
          </a:ln>
        </p:spPr>
        <p:txBody>
          <a:bodyPr wrap="square" tIns="46800" rtlCol="0">
            <a:noAutofit/>
          </a:bodyPr>
          <a:lstStyle/>
          <a:p>
            <a:pPr algn="ctr"/>
            <a:endParaRPr lang="zh-CN" altLang="en-US" sz="1600" dirty="0">
              <a:solidFill>
                <a:srgbClr val="FF0000"/>
              </a:solidFill>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r>
              <a:rPr lang="en-US" altLang="zh-CN" dirty="0">
                <a:latin typeface="微软雅黑" panose="020B0503020204020204" pitchFamily="34" charset="-122"/>
                <a:sym typeface="+mn-lt"/>
              </a:rPr>
              <a:t>QUIC</a:t>
            </a:r>
            <a:r>
              <a:rPr lang="zh-CN" altLang="en-US" dirty="0">
                <a:latin typeface="微软雅黑" panose="020B0503020204020204" pitchFamily="34" charset="-122"/>
                <a:sym typeface="+mn-lt"/>
              </a:rPr>
              <a:t>特性：低时延建立连接</a:t>
            </a:r>
          </a:p>
        </p:txBody>
      </p:sp>
      <p:pic>
        <p:nvPicPr>
          <p:cNvPr id="12" name="內容版面配置區 2"/>
          <p:cNvPicPr>
            <a:picLocks noGrp="1" noChangeAspect="1"/>
          </p:cNvPicPr>
          <p:nvPr>
            <p:ph sz="half" idx="1"/>
          </p:nvPr>
        </p:nvPicPr>
        <p:blipFill rotWithShape="1">
          <a:blip r:embed="rId2" cstate="print">
            <a:extLst>
              <a:ext uri="{28A0092B-C50C-407E-A947-70E740481C1C}">
                <a14:useLocalDpi xmlns:a14="http://schemas.microsoft.com/office/drawing/2010/main" val="0"/>
              </a:ext>
            </a:extLst>
          </a:blip>
          <a:stretch>
            <a:fillRect/>
          </a:stretch>
        </p:blipFill>
        <p:spPr>
          <a:xfrm>
            <a:off x="436563" y="1092357"/>
            <a:ext cx="5659437" cy="3746737"/>
          </a:xfrm>
        </p:spPr>
      </p:pic>
      <p:sp>
        <p:nvSpPr>
          <p:cNvPr id="8" name="内容占位符 7"/>
          <p:cNvSpPr>
            <a:spLocks noGrp="1"/>
          </p:cNvSpPr>
          <p:nvPr>
            <p:ph sz="half" idx="2"/>
          </p:nvPr>
        </p:nvSpPr>
        <p:spPr>
          <a:xfrm>
            <a:off x="6104135" y="1052514"/>
            <a:ext cx="5753434" cy="5256805"/>
          </a:xfrm>
        </p:spPr>
        <p:txBody>
          <a:bodyPr>
            <a:normAutofit fontScale="92500" lnSpcReduction="10000"/>
          </a:bodyPr>
          <a:lstStyle/>
          <a:p>
            <a:r>
              <a:rPr lang="en-US" altLang="zh-CN" dirty="0">
                <a:latin typeface="+mn-lt"/>
              </a:rPr>
              <a:t>QUIC</a:t>
            </a:r>
            <a:r>
              <a:rPr lang="zh-CN" altLang="en-US" dirty="0">
                <a:latin typeface="+mn-lt"/>
              </a:rPr>
              <a:t>通过优化握手过程，在建立加密连接时可以做到</a:t>
            </a:r>
            <a:r>
              <a:rPr lang="en-US" altLang="zh-CN" dirty="0">
                <a:latin typeface="+mn-lt"/>
              </a:rPr>
              <a:t>1RTT</a:t>
            </a:r>
            <a:r>
              <a:rPr lang="zh-CN" altLang="en-US" dirty="0">
                <a:latin typeface="+mn-lt"/>
              </a:rPr>
              <a:t>或</a:t>
            </a:r>
            <a:r>
              <a:rPr lang="en-US" altLang="zh-CN" dirty="0">
                <a:latin typeface="+mn-lt"/>
              </a:rPr>
              <a:t>0RTT</a:t>
            </a:r>
            <a:r>
              <a:rPr lang="zh-CN" altLang="en-US" dirty="0">
                <a:latin typeface="+mn-lt"/>
              </a:rPr>
              <a:t>，降低了握手时延</a:t>
            </a:r>
          </a:p>
          <a:p>
            <a:r>
              <a:rPr lang="zh-CN" altLang="en-US" dirty="0">
                <a:latin typeface="+mn-lt"/>
              </a:rPr>
              <a:t>首次连接</a:t>
            </a:r>
          </a:p>
          <a:p>
            <a:pPr lvl="1"/>
            <a:r>
              <a:rPr lang="en-US" altLang="zh-CN" dirty="0">
                <a:latin typeface="+mn-lt"/>
              </a:rPr>
              <a:t>QUIC</a:t>
            </a:r>
            <a:r>
              <a:rPr lang="zh-CN" altLang="en-US" dirty="0">
                <a:latin typeface="+mn-lt"/>
              </a:rPr>
              <a:t>将传输层握手和加密握手合二为一，在首次建立连接时仅需</a:t>
            </a:r>
            <a:r>
              <a:rPr lang="en-US" altLang="zh-CN" dirty="0">
                <a:latin typeface="+mn-lt"/>
              </a:rPr>
              <a:t>1RTT</a:t>
            </a:r>
            <a:r>
              <a:rPr lang="zh-CN" altLang="en-US" dirty="0">
                <a:latin typeface="+mn-lt"/>
              </a:rPr>
              <a:t>；</a:t>
            </a:r>
            <a:endParaRPr lang="en-US" altLang="zh-CN" dirty="0">
              <a:latin typeface="+mn-lt"/>
            </a:endParaRPr>
          </a:p>
          <a:p>
            <a:pPr lvl="1"/>
            <a:r>
              <a:rPr lang="en-US" altLang="zh-CN" dirty="0">
                <a:latin typeface="+mn-lt"/>
              </a:rPr>
              <a:t>TCP/TLS</a:t>
            </a:r>
            <a:r>
              <a:rPr lang="zh-CN" altLang="en-US" dirty="0">
                <a:latin typeface="+mn-lt"/>
              </a:rPr>
              <a:t>的传输层握手和加密握手分开，根据</a:t>
            </a:r>
            <a:r>
              <a:rPr lang="en-US" altLang="zh-CN" dirty="0">
                <a:latin typeface="+mn-lt"/>
              </a:rPr>
              <a:t>TLS</a:t>
            </a:r>
            <a:r>
              <a:rPr lang="zh-CN" altLang="en-US" dirty="0">
                <a:latin typeface="+mn-lt"/>
              </a:rPr>
              <a:t>版本不同，分别需要</a:t>
            </a:r>
            <a:r>
              <a:rPr lang="en-US" altLang="zh-CN" dirty="0">
                <a:latin typeface="+mn-lt"/>
              </a:rPr>
              <a:t>2-3</a:t>
            </a:r>
            <a:r>
              <a:rPr lang="zh-CN" altLang="en-US" dirty="0">
                <a:latin typeface="+mn-lt"/>
              </a:rPr>
              <a:t>个</a:t>
            </a:r>
            <a:r>
              <a:rPr lang="en-US" altLang="zh-CN" dirty="0">
                <a:latin typeface="+mn-lt"/>
              </a:rPr>
              <a:t>RTT</a:t>
            </a:r>
            <a:r>
              <a:rPr lang="zh-CN" altLang="en-US" dirty="0">
                <a:latin typeface="+mn-lt"/>
              </a:rPr>
              <a:t>；</a:t>
            </a:r>
            <a:endParaRPr lang="en-US" altLang="zh-CN" dirty="0">
              <a:latin typeface="+mn-lt"/>
            </a:endParaRPr>
          </a:p>
          <a:p>
            <a:r>
              <a:rPr lang="zh-CN" altLang="en-US" dirty="0">
                <a:latin typeface="+mn-lt"/>
              </a:rPr>
              <a:t>复用连接</a:t>
            </a:r>
          </a:p>
          <a:p>
            <a:pPr lvl="1"/>
            <a:r>
              <a:rPr lang="en-US" altLang="zh-CN" dirty="0">
                <a:latin typeface="+mn-lt"/>
              </a:rPr>
              <a:t>QUIC</a:t>
            </a:r>
            <a:r>
              <a:rPr lang="zh-CN" altLang="en-US" dirty="0">
                <a:latin typeface="+mn-lt"/>
              </a:rPr>
              <a:t>连接建立后在两端缓存连接参数、密钥等，后续建立连接不需协商，</a:t>
            </a:r>
            <a:r>
              <a:rPr lang="en-US" altLang="zh-CN" dirty="0">
                <a:latin typeface="+mn-lt"/>
              </a:rPr>
              <a:t>0RTT</a:t>
            </a:r>
            <a:r>
              <a:rPr lang="zh-CN" altLang="en-US" dirty="0">
                <a:latin typeface="+mn-lt"/>
              </a:rPr>
              <a:t>即可发送数据</a:t>
            </a:r>
          </a:p>
          <a:p>
            <a:pPr lvl="1"/>
            <a:r>
              <a:rPr lang="en-US" altLang="zh-CN" dirty="0">
                <a:latin typeface="+mn-lt"/>
              </a:rPr>
              <a:t>TCP/TLS</a:t>
            </a:r>
            <a:r>
              <a:rPr lang="zh-CN" altLang="en-US" dirty="0">
                <a:latin typeface="+mn-lt"/>
              </a:rPr>
              <a:t>后续连接中，加密握手次数可减少，但</a:t>
            </a:r>
            <a:r>
              <a:rPr lang="en-US" altLang="zh-CN" dirty="0">
                <a:latin typeface="+mn-lt"/>
              </a:rPr>
              <a:t>TCP</a:t>
            </a:r>
            <a:r>
              <a:rPr lang="zh-CN" altLang="en-US" dirty="0">
                <a:latin typeface="+mn-lt"/>
              </a:rPr>
              <a:t>握手不可省略</a:t>
            </a:r>
          </a:p>
        </p:txBody>
      </p:sp>
      <p:sp>
        <p:nvSpPr>
          <p:cNvPr id="7" name="灯片编号占位符 6"/>
          <p:cNvSpPr>
            <a:spLocks noGrp="1"/>
          </p:cNvSpPr>
          <p:nvPr>
            <p:ph type="sldNum" sz="quarter" idx="12"/>
          </p:nvPr>
        </p:nvSpPr>
        <p:spPr/>
        <p:txBody>
          <a:bodyPr/>
          <a:lstStyle/>
          <a:p>
            <a:fld id="{C8BB1146-E542-4D4E-B8E9-6919A11DDD48}" type="slidenum">
              <a:rPr lang="en-US" smtClean="0"/>
              <a:t>100</a:t>
            </a:fld>
            <a:endParaRPr lang="en-US"/>
          </a:p>
        </p:txBody>
      </p:sp>
      <p:sp>
        <p:nvSpPr>
          <p:cNvPr id="4" name="文本框 3"/>
          <p:cNvSpPr txBox="1"/>
          <p:nvPr/>
        </p:nvSpPr>
        <p:spPr>
          <a:xfrm>
            <a:off x="431800" y="1491847"/>
            <a:ext cx="312694" cy="1249188"/>
          </a:xfrm>
          <a:prstGeom prst="rect">
            <a:avLst/>
          </a:prstGeom>
          <a:solidFill>
            <a:schemeClr val="bg2"/>
          </a:solidFill>
        </p:spPr>
        <p:txBody>
          <a:bodyPr wrap="square" rtlCol="0" anchor="ctr">
            <a:spAutoFit/>
          </a:bodyPr>
          <a:lstStyle>
            <a:defPPr>
              <a:defRPr lang="zh-CN"/>
            </a:defPPr>
            <a:lvl1pPr algn="ctr" defTabSz="913765">
              <a:lnSpc>
                <a:spcPct val="120000"/>
              </a:lnSpc>
              <a:defRPr sz="1600">
                <a:solidFill>
                  <a:srgbClr val="000000"/>
                </a:solidFill>
                <a:latin typeface="+mn-ea"/>
                <a:ea typeface="+mn-ea"/>
                <a:cs typeface="+mn-ea"/>
              </a:defRPr>
            </a:lvl1pPr>
          </a:lstStyle>
          <a:p>
            <a:r>
              <a:rPr lang="zh-CN" altLang="en-US" dirty="0">
                <a:sym typeface="+mn-lt"/>
              </a:rPr>
              <a:t>首次连接</a:t>
            </a:r>
          </a:p>
        </p:txBody>
      </p:sp>
      <p:sp>
        <p:nvSpPr>
          <p:cNvPr id="17" name="文本框 16"/>
          <p:cNvSpPr txBox="1"/>
          <p:nvPr/>
        </p:nvSpPr>
        <p:spPr>
          <a:xfrm>
            <a:off x="431800" y="3171210"/>
            <a:ext cx="312694" cy="1249188"/>
          </a:xfrm>
          <a:prstGeom prst="rect">
            <a:avLst/>
          </a:prstGeom>
          <a:solidFill>
            <a:schemeClr val="bg2"/>
          </a:solidFill>
        </p:spPr>
        <p:txBody>
          <a:bodyPr wrap="square" rtlCol="0" anchor="ctr">
            <a:spAutoFit/>
          </a:bodyPr>
          <a:lstStyle>
            <a:defPPr>
              <a:defRPr lang="zh-CN"/>
            </a:defPPr>
            <a:lvl1pPr algn="ctr" defTabSz="913765">
              <a:lnSpc>
                <a:spcPct val="120000"/>
              </a:lnSpc>
              <a:defRPr sz="1600">
                <a:solidFill>
                  <a:srgbClr val="000000"/>
                </a:solidFill>
                <a:latin typeface="+mn-ea"/>
                <a:ea typeface="+mn-ea"/>
                <a:cs typeface="+mn-ea"/>
              </a:defRPr>
            </a:lvl1pPr>
          </a:lstStyle>
          <a:p>
            <a:r>
              <a:rPr lang="zh-CN" altLang="en-US" dirty="0">
                <a:sym typeface="+mn-lt"/>
              </a:rPr>
              <a:t>复用连接</a:t>
            </a:r>
          </a:p>
        </p:txBody>
      </p:sp>
      <p:grpSp>
        <p:nvGrpSpPr>
          <p:cNvPr id="2" name="组合 1"/>
          <p:cNvGrpSpPr/>
          <p:nvPr/>
        </p:nvGrpSpPr>
        <p:grpSpPr>
          <a:xfrm>
            <a:off x="334432" y="5212152"/>
            <a:ext cx="5659437" cy="1204625"/>
            <a:chOff x="2054666" y="5201837"/>
            <a:chExt cx="6380511" cy="1048055"/>
          </a:xfrm>
          <a:solidFill>
            <a:schemeClr val="bg2"/>
          </a:solidFill>
        </p:grpSpPr>
        <p:sp>
          <p:nvSpPr>
            <p:cNvPr id="5" name="圆角矩形 4"/>
            <p:cNvSpPr/>
            <p:nvPr/>
          </p:nvSpPr>
          <p:spPr bwMode="auto">
            <a:xfrm>
              <a:off x="2054666" y="5201839"/>
              <a:ext cx="1362443" cy="422530"/>
            </a:xfrm>
            <a:prstGeom prst="roundRect">
              <a:avLst/>
            </a:prstGeom>
            <a:grpFill/>
            <a:ln w="9525" cap="flat" cmpd="sng" algn="ctr">
              <a:noFill/>
              <a:prstDash val="solid"/>
              <a:round/>
              <a:headEnd type="none" w="med" len="med"/>
              <a:tailEnd type="none" w="med" len="med"/>
            </a:ln>
            <a:effectLst/>
          </p:spPr>
          <p:txBody>
            <a:bodyPr vert="horz" wrap="square" lIns="91404" tIns="45702" rIns="91404" bIns="45702" numCol="1" rtlCol="0" anchor="ctr" anchorCtr="0" compatLnSpc="1"/>
            <a:lstStyle/>
            <a:p>
              <a:pPr algn="ctr" defTabSz="913765" fontAlgn="base">
                <a:lnSpc>
                  <a:spcPct val="120000"/>
                </a:lnSpc>
                <a:spcBef>
                  <a:spcPct val="0"/>
                </a:spcBef>
                <a:spcAft>
                  <a:spcPct val="0"/>
                </a:spcAft>
                <a:buClr>
                  <a:srgbClr val="CC9900"/>
                </a:buClr>
              </a:pPr>
              <a:r>
                <a:rPr lang="zh-CN" altLang="en-US" sz="1400" dirty="0">
                  <a:solidFill>
                    <a:srgbClr val="000000"/>
                  </a:solidFill>
                  <a:cs typeface="+mn-ea"/>
                  <a:sym typeface="+mn-lt"/>
                </a:rPr>
                <a:t>多子流复用</a:t>
              </a:r>
            </a:p>
          </p:txBody>
        </p:sp>
        <p:sp>
          <p:nvSpPr>
            <p:cNvPr id="19" name="圆角矩形 18"/>
            <p:cNvSpPr/>
            <p:nvPr/>
          </p:nvSpPr>
          <p:spPr bwMode="auto">
            <a:xfrm>
              <a:off x="4417382" y="5201837"/>
              <a:ext cx="1664248" cy="524027"/>
            </a:xfrm>
            <a:prstGeom prst="roundRect">
              <a:avLst/>
            </a:prstGeom>
            <a:grpFill/>
            <a:ln w="9525" cap="flat" cmpd="sng" algn="ctr">
              <a:noFill/>
              <a:prstDash val="solid"/>
              <a:round/>
              <a:headEnd type="none" w="med" len="med"/>
              <a:tailEnd type="none" w="med" len="med"/>
            </a:ln>
            <a:effectLst/>
          </p:spPr>
          <p:txBody>
            <a:bodyPr vert="horz" wrap="square" lIns="91404" tIns="45702" rIns="91404" bIns="45702" numCol="1" rtlCol="0" anchor="ctr" anchorCtr="0" compatLnSpc="1"/>
            <a:lstStyle/>
            <a:p>
              <a:pPr algn="ctr" defTabSz="913765" fontAlgn="base">
                <a:lnSpc>
                  <a:spcPct val="120000"/>
                </a:lnSpc>
                <a:spcBef>
                  <a:spcPct val="0"/>
                </a:spcBef>
                <a:spcAft>
                  <a:spcPct val="0"/>
                </a:spcAft>
                <a:buClr>
                  <a:srgbClr val="CC9900"/>
                </a:buClr>
              </a:pPr>
              <a:r>
                <a:rPr lang="zh-CN" altLang="en-US" sz="1400" dirty="0">
                  <a:solidFill>
                    <a:srgbClr val="000000"/>
                  </a:solidFill>
                  <a:cs typeface="+mn-ea"/>
                  <a:sym typeface="+mn-lt"/>
                </a:rPr>
                <a:t>减少建立</a:t>
              </a:r>
              <a:endParaRPr lang="en-US" altLang="zh-CN" sz="1400" dirty="0">
                <a:solidFill>
                  <a:srgbClr val="000000"/>
                </a:solidFill>
                <a:cs typeface="+mn-ea"/>
                <a:sym typeface="+mn-lt"/>
              </a:endParaRPr>
            </a:p>
            <a:p>
              <a:pPr algn="ctr" defTabSz="913765" fontAlgn="base">
                <a:lnSpc>
                  <a:spcPct val="120000"/>
                </a:lnSpc>
                <a:spcBef>
                  <a:spcPct val="0"/>
                </a:spcBef>
                <a:spcAft>
                  <a:spcPct val="0"/>
                </a:spcAft>
                <a:buClr>
                  <a:srgbClr val="CC9900"/>
                </a:buClr>
              </a:pPr>
              <a:r>
                <a:rPr lang="zh-CN" altLang="en-US" sz="1400" dirty="0">
                  <a:solidFill>
                    <a:srgbClr val="000000"/>
                  </a:solidFill>
                  <a:cs typeface="+mn-ea"/>
                  <a:sym typeface="+mn-lt"/>
                </a:rPr>
                <a:t>连接次数</a:t>
              </a:r>
            </a:p>
          </p:txBody>
        </p:sp>
        <p:sp>
          <p:nvSpPr>
            <p:cNvPr id="18" name="圆角矩形 17"/>
            <p:cNvSpPr/>
            <p:nvPr/>
          </p:nvSpPr>
          <p:spPr bwMode="auto">
            <a:xfrm>
              <a:off x="2054666" y="5827362"/>
              <a:ext cx="1362443" cy="422530"/>
            </a:xfrm>
            <a:prstGeom prst="roundRect">
              <a:avLst/>
            </a:prstGeom>
            <a:grpFill/>
            <a:ln w="9525" cap="flat" cmpd="sng" algn="ctr">
              <a:noFill/>
              <a:prstDash val="solid"/>
              <a:round/>
              <a:headEnd type="none" w="med" len="med"/>
              <a:tailEnd type="none" w="med" len="med"/>
            </a:ln>
            <a:effectLst/>
          </p:spPr>
          <p:txBody>
            <a:bodyPr vert="horz" wrap="square" lIns="91404" tIns="45702" rIns="91404" bIns="45702" numCol="1" rtlCol="0" anchor="ctr" anchorCtr="0" compatLnSpc="1"/>
            <a:lstStyle/>
            <a:p>
              <a:pPr algn="ctr" defTabSz="913765" fontAlgn="base">
                <a:lnSpc>
                  <a:spcPct val="120000"/>
                </a:lnSpc>
                <a:spcBef>
                  <a:spcPct val="0"/>
                </a:spcBef>
                <a:spcAft>
                  <a:spcPct val="0"/>
                </a:spcAft>
                <a:buClr>
                  <a:srgbClr val="CC9900"/>
                </a:buClr>
              </a:pPr>
              <a:r>
                <a:rPr lang="zh-CN" altLang="en-US" sz="1400" dirty="0">
                  <a:solidFill>
                    <a:srgbClr val="000000"/>
                  </a:solidFill>
                  <a:cs typeface="+mn-ea"/>
                  <a:sym typeface="+mn-lt"/>
                </a:rPr>
                <a:t>低时延握手</a:t>
              </a:r>
            </a:p>
          </p:txBody>
        </p:sp>
        <p:sp>
          <p:nvSpPr>
            <p:cNvPr id="20" name="圆角矩形 19"/>
            <p:cNvSpPr/>
            <p:nvPr/>
          </p:nvSpPr>
          <p:spPr bwMode="auto">
            <a:xfrm>
              <a:off x="4408212" y="5763622"/>
              <a:ext cx="1673419" cy="486268"/>
            </a:xfrm>
            <a:prstGeom prst="roundRect">
              <a:avLst/>
            </a:prstGeom>
            <a:grpFill/>
            <a:ln w="9525" cap="flat" cmpd="sng" algn="ctr">
              <a:noFill/>
              <a:prstDash val="solid"/>
              <a:round/>
              <a:headEnd type="none" w="med" len="med"/>
              <a:tailEnd type="none" w="med" len="med"/>
            </a:ln>
            <a:effectLst/>
          </p:spPr>
          <p:txBody>
            <a:bodyPr vert="horz" wrap="square" lIns="91404" tIns="45702" rIns="91404" bIns="45702" numCol="1" rtlCol="0" anchor="ctr" anchorCtr="0" compatLnSpc="1"/>
            <a:lstStyle/>
            <a:p>
              <a:pPr algn="ctr" defTabSz="913765" fontAlgn="base">
                <a:lnSpc>
                  <a:spcPct val="120000"/>
                </a:lnSpc>
                <a:spcBef>
                  <a:spcPct val="0"/>
                </a:spcBef>
                <a:spcAft>
                  <a:spcPct val="0"/>
                </a:spcAft>
                <a:buClr>
                  <a:srgbClr val="CC9900"/>
                </a:buClr>
              </a:pPr>
              <a:r>
                <a:rPr lang="zh-CN" altLang="en-US" sz="1400" dirty="0">
                  <a:solidFill>
                    <a:srgbClr val="000000"/>
                  </a:solidFill>
                  <a:cs typeface="+mn-ea"/>
                  <a:sym typeface="+mn-lt"/>
                </a:rPr>
                <a:t>减少单次</a:t>
              </a:r>
              <a:endParaRPr lang="en-US" altLang="zh-CN" sz="1400" dirty="0">
                <a:solidFill>
                  <a:srgbClr val="000000"/>
                </a:solidFill>
                <a:cs typeface="+mn-ea"/>
                <a:sym typeface="+mn-lt"/>
              </a:endParaRPr>
            </a:p>
            <a:p>
              <a:pPr algn="ctr" defTabSz="913765" fontAlgn="base">
                <a:lnSpc>
                  <a:spcPct val="120000"/>
                </a:lnSpc>
                <a:spcBef>
                  <a:spcPct val="0"/>
                </a:spcBef>
                <a:spcAft>
                  <a:spcPct val="0"/>
                </a:spcAft>
                <a:buClr>
                  <a:srgbClr val="CC9900"/>
                </a:buClr>
              </a:pPr>
              <a:r>
                <a:rPr lang="zh-CN" altLang="en-US" sz="1400" dirty="0">
                  <a:solidFill>
                    <a:srgbClr val="000000"/>
                  </a:solidFill>
                  <a:cs typeface="+mn-ea"/>
                  <a:sym typeface="+mn-lt"/>
                </a:rPr>
                <a:t>连接时延</a:t>
              </a:r>
            </a:p>
          </p:txBody>
        </p:sp>
        <p:sp>
          <p:nvSpPr>
            <p:cNvPr id="21" name="圆角矩形 20"/>
            <p:cNvSpPr/>
            <p:nvPr/>
          </p:nvSpPr>
          <p:spPr bwMode="auto">
            <a:xfrm>
              <a:off x="7072734" y="5201837"/>
              <a:ext cx="1362443" cy="1048052"/>
            </a:xfrm>
            <a:prstGeom prst="roundRect">
              <a:avLst/>
            </a:prstGeom>
            <a:grpFill/>
            <a:ln w="9525" cap="flat" cmpd="sng" algn="ctr">
              <a:noFill/>
              <a:prstDash val="solid"/>
              <a:round/>
              <a:headEnd type="none" w="med" len="med"/>
              <a:tailEnd type="none" w="med" len="med"/>
            </a:ln>
            <a:effectLst/>
          </p:spPr>
          <p:txBody>
            <a:bodyPr vert="horz" wrap="square" lIns="91404" tIns="45702" rIns="91404" bIns="45702" numCol="1" rtlCol="0" anchor="ctr" anchorCtr="0" compatLnSpc="1"/>
            <a:lstStyle/>
            <a:p>
              <a:pPr algn="ctr" defTabSz="913765" fontAlgn="base">
                <a:lnSpc>
                  <a:spcPct val="120000"/>
                </a:lnSpc>
                <a:spcBef>
                  <a:spcPct val="0"/>
                </a:spcBef>
                <a:spcAft>
                  <a:spcPct val="0"/>
                </a:spcAft>
                <a:buClr>
                  <a:srgbClr val="CC9900"/>
                </a:buClr>
              </a:pPr>
              <a:r>
                <a:rPr lang="en-US" altLang="zh-CN" sz="1400" dirty="0">
                  <a:solidFill>
                    <a:srgbClr val="000000"/>
                  </a:solidFill>
                  <a:cs typeface="+mn-ea"/>
                  <a:sym typeface="+mn-lt"/>
                </a:rPr>
                <a:t>QUIC</a:t>
              </a:r>
            </a:p>
            <a:p>
              <a:pPr algn="ctr" defTabSz="913765" fontAlgn="base">
                <a:lnSpc>
                  <a:spcPct val="120000"/>
                </a:lnSpc>
                <a:spcBef>
                  <a:spcPct val="0"/>
                </a:spcBef>
                <a:spcAft>
                  <a:spcPct val="0"/>
                </a:spcAft>
                <a:buClr>
                  <a:srgbClr val="CC9900"/>
                </a:buClr>
              </a:pPr>
              <a:r>
                <a:rPr lang="zh-CN" altLang="en-US" sz="1400" dirty="0">
                  <a:solidFill>
                    <a:srgbClr val="000000"/>
                  </a:solidFill>
                  <a:cs typeface="+mn-ea"/>
                  <a:sym typeface="+mn-lt"/>
                </a:rPr>
                <a:t>低时延</a:t>
              </a:r>
            </a:p>
          </p:txBody>
        </p:sp>
        <p:sp>
          <p:nvSpPr>
            <p:cNvPr id="6" name="右箭头 5"/>
            <p:cNvSpPr/>
            <p:nvPr/>
          </p:nvSpPr>
          <p:spPr bwMode="auto">
            <a:xfrm>
              <a:off x="3417108" y="5341094"/>
              <a:ext cx="991104" cy="145242"/>
            </a:xfrm>
            <a:prstGeom prst="rightArrow">
              <a:avLst/>
            </a:prstGeom>
            <a:grpFill/>
            <a:ln w="9525" cap="flat" cmpd="sng" algn="ctr">
              <a:noFill/>
              <a:prstDash val="solid"/>
              <a:round/>
              <a:headEnd type="none" w="med" len="med"/>
              <a:tailEnd type="none" w="med" len="med"/>
            </a:ln>
            <a:effectLst/>
          </p:spPr>
          <p:txBody>
            <a:bodyPr vert="horz" wrap="square" lIns="91404" tIns="45702" rIns="91404" bIns="45702" numCol="1" rtlCol="0" anchor="t" anchorCtr="0" compatLnSpc="1"/>
            <a:lstStyle/>
            <a:p>
              <a:pPr defTabSz="913765" fontAlgn="base">
                <a:lnSpc>
                  <a:spcPct val="120000"/>
                </a:lnSpc>
                <a:spcBef>
                  <a:spcPct val="0"/>
                </a:spcBef>
                <a:spcAft>
                  <a:spcPct val="0"/>
                </a:spcAft>
                <a:buClr>
                  <a:srgbClr val="CC9900"/>
                </a:buClr>
                <a:buFont typeface="Wingdings" panose="05000000000000000000" pitchFamily="2" charset="2"/>
                <a:buChar char="n"/>
              </a:pPr>
              <a:endParaRPr lang="zh-CN" altLang="en-US" sz="1800">
                <a:solidFill>
                  <a:srgbClr val="000000"/>
                </a:solidFill>
                <a:cs typeface="+mn-ea"/>
                <a:sym typeface="+mn-lt"/>
              </a:endParaRPr>
            </a:p>
          </p:txBody>
        </p:sp>
        <p:sp>
          <p:nvSpPr>
            <p:cNvPr id="22" name="右箭头 21"/>
            <p:cNvSpPr/>
            <p:nvPr/>
          </p:nvSpPr>
          <p:spPr bwMode="auto">
            <a:xfrm>
              <a:off x="3417107" y="5976645"/>
              <a:ext cx="991103" cy="136065"/>
            </a:xfrm>
            <a:prstGeom prst="rightArrow">
              <a:avLst/>
            </a:prstGeom>
            <a:grpFill/>
            <a:ln w="9525" cap="flat" cmpd="sng" algn="ctr">
              <a:noFill/>
              <a:prstDash val="solid"/>
              <a:round/>
              <a:headEnd type="none" w="med" len="med"/>
              <a:tailEnd type="none" w="med" len="med"/>
            </a:ln>
            <a:effectLst/>
          </p:spPr>
          <p:txBody>
            <a:bodyPr vert="horz" wrap="square" lIns="91404" tIns="45702" rIns="91404" bIns="45702" numCol="1" rtlCol="0" anchor="t" anchorCtr="0" compatLnSpc="1"/>
            <a:lstStyle/>
            <a:p>
              <a:pPr defTabSz="913765" fontAlgn="base">
                <a:lnSpc>
                  <a:spcPct val="120000"/>
                </a:lnSpc>
                <a:spcBef>
                  <a:spcPct val="0"/>
                </a:spcBef>
                <a:spcAft>
                  <a:spcPct val="0"/>
                </a:spcAft>
                <a:buClr>
                  <a:srgbClr val="CC9900"/>
                </a:buClr>
                <a:buFont typeface="Wingdings" panose="05000000000000000000" pitchFamily="2" charset="2"/>
                <a:buChar char="n"/>
              </a:pPr>
              <a:endParaRPr lang="zh-CN" altLang="en-US" sz="1800">
                <a:solidFill>
                  <a:srgbClr val="000000"/>
                </a:solidFill>
                <a:cs typeface="+mn-ea"/>
                <a:sym typeface="+mn-lt"/>
              </a:endParaRPr>
            </a:p>
          </p:txBody>
        </p:sp>
        <p:sp>
          <p:nvSpPr>
            <p:cNvPr id="23" name="右箭头 22"/>
            <p:cNvSpPr/>
            <p:nvPr/>
          </p:nvSpPr>
          <p:spPr bwMode="auto">
            <a:xfrm>
              <a:off x="6081630" y="5342319"/>
              <a:ext cx="991103" cy="144017"/>
            </a:xfrm>
            <a:prstGeom prst="rightArrow">
              <a:avLst/>
            </a:prstGeom>
            <a:grpFill/>
            <a:ln w="9525" cap="flat" cmpd="sng" algn="ctr">
              <a:noFill/>
              <a:prstDash val="solid"/>
              <a:round/>
              <a:headEnd type="none" w="med" len="med"/>
              <a:tailEnd type="none" w="med" len="med"/>
            </a:ln>
            <a:effectLst/>
          </p:spPr>
          <p:txBody>
            <a:bodyPr vert="horz" wrap="square" lIns="91404" tIns="45702" rIns="91404" bIns="45702" numCol="1" rtlCol="0" anchor="t" anchorCtr="0" compatLnSpc="1"/>
            <a:lstStyle/>
            <a:p>
              <a:pPr defTabSz="913765" fontAlgn="base">
                <a:lnSpc>
                  <a:spcPct val="120000"/>
                </a:lnSpc>
                <a:spcBef>
                  <a:spcPct val="0"/>
                </a:spcBef>
                <a:spcAft>
                  <a:spcPct val="0"/>
                </a:spcAft>
                <a:buClr>
                  <a:srgbClr val="CC9900"/>
                </a:buClr>
                <a:buFont typeface="Wingdings" panose="05000000000000000000" pitchFamily="2" charset="2"/>
                <a:buChar char="n"/>
              </a:pPr>
              <a:endParaRPr lang="zh-CN" altLang="en-US" sz="1800">
                <a:solidFill>
                  <a:srgbClr val="000000"/>
                </a:solidFill>
                <a:cs typeface="+mn-ea"/>
                <a:sym typeface="+mn-lt"/>
              </a:endParaRPr>
            </a:p>
          </p:txBody>
        </p:sp>
        <p:sp>
          <p:nvSpPr>
            <p:cNvPr id="24" name="右箭头 23"/>
            <p:cNvSpPr/>
            <p:nvPr/>
          </p:nvSpPr>
          <p:spPr bwMode="auto">
            <a:xfrm>
              <a:off x="6081630" y="5975048"/>
              <a:ext cx="991103" cy="137663"/>
            </a:xfrm>
            <a:prstGeom prst="rightArrow">
              <a:avLst/>
            </a:prstGeom>
            <a:grpFill/>
            <a:ln w="9525" cap="flat" cmpd="sng" algn="ctr">
              <a:noFill/>
              <a:prstDash val="solid"/>
              <a:round/>
              <a:headEnd type="none" w="med" len="med"/>
              <a:tailEnd type="none" w="med" len="med"/>
            </a:ln>
            <a:effectLst/>
          </p:spPr>
          <p:txBody>
            <a:bodyPr vert="horz" wrap="square" lIns="91404" tIns="45702" rIns="91404" bIns="45702" numCol="1" rtlCol="0" anchor="t" anchorCtr="0" compatLnSpc="1"/>
            <a:lstStyle/>
            <a:p>
              <a:pPr defTabSz="913765" fontAlgn="base">
                <a:lnSpc>
                  <a:spcPct val="120000"/>
                </a:lnSpc>
                <a:spcBef>
                  <a:spcPct val="0"/>
                </a:spcBef>
                <a:spcAft>
                  <a:spcPct val="0"/>
                </a:spcAft>
                <a:buClr>
                  <a:srgbClr val="CC9900"/>
                </a:buClr>
                <a:buFont typeface="Wingdings" panose="05000000000000000000" pitchFamily="2" charset="2"/>
                <a:buChar char="n"/>
              </a:pPr>
              <a:endParaRPr lang="zh-CN" altLang="en-US" sz="1800">
                <a:solidFill>
                  <a:srgbClr val="000000"/>
                </a:solidFill>
                <a:cs typeface="+mn-ea"/>
                <a:sym typeface="+mn-lt"/>
              </a:endParaRPr>
            </a:p>
          </p:txBody>
        </p:sp>
      </p:gr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r>
              <a:rPr lang="en-US" altLang="zh-CN" dirty="0">
                <a:latin typeface="微软雅黑" panose="020B0503020204020204" pitchFamily="34" charset="-122"/>
                <a:sym typeface="+mn-lt"/>
              </a:rPr>
              <a:t>QUIC</a:t>
            </a:r>
            <a:r>
              <a:rPr lang="zh-CN" altLang="en-US" dirty="0">
                <a:latin typeface="微软雅黑" panose="020B0503020204020204" pitchFamily="34" charset="-122"/>
                <a:sym typeface="+mn-lt"/>
              </a:rPr>
              <a:t>连接转移</a:t>
            </a:r>
            <a:endParaRPr lang="zh-CN" altLang="en-US" dirty="0">
              <a:latin typeface="微软雅黑" panose="020B0503020204020204" pitchFamily="34" charset="-122"/>
            </a:endParaRPr>
          </a:p>
        </p:txBody>
      </p:sp>
      <p:sp>
        <p:nvSpPr>
          <p:cNvPr id="4" name="内容占位符 3"/>
          <p:cNvSpPr>
            <a:spLocks noGrp="1"/>
          </p:cNvSpPr>
          <p:nvPr>
            <p:ph idx="1"/>
          </p:nvPr>
        </p:nvSpPr>
        <p:spPr>
          <a:xfrm>
            <a:off x="334434" y="1052514"/>
            <a:ext cx="7129717" cy="4392709"/>
          </a:xfrm>
        </p:spPr>
        <p:txBody>
          <a:bodyPr/>
          <a:lstStyle/>
          <a:p>
            <a:r>
              <a:rPr lang="zh-CN" altLang="en-US" dirty="0"/>
              <a:t>连接有连接</a:t>
            </a:r>
            <a:r>
              <a:rPr lang="en-US" altLang="zh-CN" dirty="0"/>
              <a:t>ID</a:t>
            </a:r>
            <a:r>
              <a:rPr lang="zh-CN" altLang="en-US" dirty="0"/>
              <a:t>标识，不以</a:t>
            </a:r>
            <a:r>
              <a:rPr lang="en-US" altLang="zh-CN" dirty="0"/>
              <a:t>4</a:t>
            </a:r>
            <a:r>
              <a:rPr lang="zh-CN" altLang="en-US" dirty="0"/>
              <a:t>元组标识。例如</a:t>
            </a:r>
            <a:endParaRPr lang="en-US" altLang="zh-CN" dirty="0"/>
          </a:p>
          <a:p>
            <a:pPr lvl="1"/>
            <a:r>
              <a:rPr lang="zh-CN" altLang="en-US" dirty="0"/>
              <a:t>客户端先使用 </a:t>
            </a:r>
            <a:r>
              <a:rPr lang="en-US" altLang="zh-CN" dirty="0"/>
              <a:t>IP1 </a:t>
            </a:r>
            <a:r>
              <a:rPr lang="zh-CN" altLang="en-US" dirty="0"/>
              <a:t>发送了 </a:t>
            </a:r>
            <a:r>
              <a:rPr lang="en-US" altLang="zh-CN" dirty="0"/>
              <a:t>1 </a:t>
            </a:r>
            <a:r>
              <a:rPr lang="zh-CN" altLang="en-US" dirty="0"/>
              <a:t>和 </a:t>
            </a:r>
            <a:r>
              <a:rPr lang="en-US" altLang="zh-CN" dirty="0"/>
              <a:t>2 </a:t>
            </a:r>
            <a:r>
              <a:rPr lang="zh-CN" altLang="en-US" dirty="0"/>
              <a:t>数据包</a:t>
            </a:r>
          </a:p>
          <a:p>
            <a:pPr lvl="1"/>
            <a:r>
              <a:rPr lang="en-US" altLang="zh-CN" dirty="0"/>
              <a:t>IP </a:t>
            </a:r>
            <a:r>
              <a:rPr lang="zh-CN" altLang="en-US" dirty="0"/>
              <a:t>变更为 </a:t>
            </a:r>
            <a:r>
              <a:rPr lang="en-US" altLang="zh-CN" dirty="0"/>
              <a:t>IP2</a:t>
            </a:r>
            <a:r>
              <a:rPr lang="zh-CN" altLang="en-US" dirty="0"/>
              <a:t>，发送了 </a:t>
            </a:r>
            <a:r>
              <a:rPr lang="en-US" altLang="zh-CN" dirty="0"/>
              <a:t>3 </a:t>
            </a:r>
            <a:r>
              <a:rPr lang="zh-CN" altLang="en-US" dirty="0"/>
              <a:t>和 </a:t>
            </a:r>
            <a:r>
              <a:rPr lang="en-US" altLang="zh-CN" dirty="0"/>
              <a:t>4 </a:t>
            </a:r>
            <a:r>
              <a:rPr lang="zh-CN" altLang="en-US" dirty="0"/>
              <a:t>数据包</a:t>
            </a:r>
          </a:p>
          <a:p>
            <a:pPr lvl="1"/>
            <a:r>
              <a:rPr lang="zh-CN" altLang="en-US" dirty="0"/>
              <a:t>服务器根据数据包首部的 </a:t>
            </a:r>
            <a:r>
              <a:rPr lang="en-US" altLang="zh-CN" dirty="0"/>
              <a:t>SCID </a:t>
            </a:r>
            <a:r>
              <a:rPr lang="zh-CN" altLang="en-US" dirty="0"/>
              <a:t>字段可以判断这 </a:t>
            </a:r>
            <a:r>
              <a:rPr lang="en-US" altLang="zh-CN" dirty="0"/>
              <a:t>4 </a:t>
            </a:r>
            <a:r>
              <a:rPr lang="zh-CN" altLang="en-US" dirty="0"/>
              <a:t>个包是来自于同一个客户端</a:t>
            </a:r>
          </a:p>
          <a:p>
            <a:r>
              <a:rPr lang="en-US" altLang="zh-CN" dirty="0"/>
              <a:t>QUIC </a:t>
            </a:r>
            <a:r>
              <a:rPr lang="zh-CN" altLang="en-US" dirty="0"/>
              <a:t>能实现连接迁移的根本原因是底层使用 </a:t>
            </a:r>
            <a:r>
              <a:rPr lang="en-US" altLang="zh-CN" dirty="0"/>
              <a:t>UDP </a:t>
            </a:r>
            <a:r>
              <a:rPr lang="zh-CN" altLang="en-US" dirty="0"/>
              <a:t>协议就是无连接的</a:t>
            </a:r>
          </a:p>
          <a:p>
            <a:endParaRPr lang="zh-CN" altLang="en-US" dirty="0"/>
          </a:p>
        </p:txBody>
      </p:sp>
      <p:sp>
        <p:nvSpPr>
          <p:cNvPr id="2" name="灯片编号占位符 1"/>
          <p:cNvSpPr>
            <a:spLocks noGrp="1"/>
          </p:cNvSpPr>
          <p:nvPr>
            <p:ph type="sldNum" sz="quarter" idx="12"/>
          </p:nvPr>
        </p:nvSpPr>
        <p:spPr/>
        <p:txBody>
          <a:bodyPr/>
          <a:lstStyle/>
          <a:p>
            <a:fld id="{C8BB1146-E542-4D4E-B8E9-6919A11DDD48}" type="slidenum">
              <a:rPr lang="en-US" smtClean="0"/>
              <a:t>101</a:t>
            </a:fld>
            <a:endParaRPr lang="en-US"/>
          </a:p>
        </p:txBody>
      </p:sp>
      <p:pic>
        <p:nvPicPr>
          <p:cNvPr id="8" name="图片 7"/>
          <p:cNvPicPr>
            <a:picLocks noChangeAspect="1"/>
          </p:cNvPicPr>
          <p:nvPr/>
        </p:nvPicPr>
        <p:blipFill>
          <a:blip r:embed="rId2"/>
          <a:stretch>
            <a:fillRect/>
          </a:stretch>
        </p:blipFill>
        <p:spPr>
          <a:xfrm>
            <a:off x="7773373" y="1092515"/>
            <a:ext cx="3836478" cy="5486954"/>
          </a:xfrm>
          <a:prstGeom prst="rect">
            <a:avLst/>
          </a:prstGeom>
        </p:spPr>
      </p:pic>
      <p:pic>
        <p:nvPicPr>
          <p:cNvPr id="11" name="图片 10"/>
          <p:cNvPicPr>
            <a:picLocks noChangeAspect="1"/>
          </p:cNvPicPr>
          <p:nvPr/>
        </p:nvPicPr>
        <p:blipFill>
          <a:blip r:embed="rId3"/>
          <a:stretch>
            <a:fillRect/>
          </a:stretch>
        </p:blipFill>
        <p:spPr>
          <a:xfrm>
            <a:off x="597050" y="5770900"/>
            <a:ext cx="6757988" cy="597218"/>
          </a:xfrm>
          <a:prstGeom prst="rect">
            <a:avLst/>
          </a:prstGeom>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r>
              <a:rPr lang="en-US" altLang="zh-CN" dirty="0">
                <a:latin typeface="微软雅黑" panose="020B0503020204020204" pitchFamily="34" charset="-122"/>
              </a:rPr>
              <a:t>QUIC</a:t>
            </a:r>
            <a:r>
              <a:rPr lang="zh-CN" altLang="en-US" dirty="0">
                <a:latin typeface="微软雅黑" panose="020B0503020204020204" pitchFamily="34" charset="-122"/>
              </a:rPr>
              <a:t>无队头阻塞多路复用</a:t>
            </a:r>
          </a:p>
        </p:txBody>
      </p:sp>
      <p:sp>
        <p:nvSpPr>
          <p:cNvPr id="2" name="灯片编号占位符 1"/>
          <p:cNvSpPr>
            <a:spLocks noGrp="1"/>
          </p:cNvSpPr>
          <p:nvPr>
            <p:ph type="sldNum" sz="quarter" idx="12"/>
          </p:nvPr>
        </p:nvSpPr>
        <p:spPr/>
        <p:txBody>
          <a:bodyPr/>
          <a:lstStyle/>
          <a:p>
            <a:fld id="{C8BB1146-E542-4D4E-B8E9-6919A11DDD48}" type="slidenum">
              <a:rPr lang="en-US" smtClean="0"/>
              <a:t>102</a:t>
            </a:fld>
            <a:endParaRPr lang="en-US"/>
          </a:p>
        </p:txBody>
      </p:sp>
      <p:sp>
        <p:nvSpPr>
          <p:cNvPr id="4" name="内容占位符 3"/>
          <p:cNvSpPr>
            <a:spLocks noGrp="1"/>
          </p:cNvSpPr>
          <p:nvPr>
            <p:ph idx="1"/>
          </p:nvPr>
        </p:nvSpPr>
        <p:spPr/>
        <p:txBody>
          <a:bodyPr/>
          <a:lstStyle/>
          <a:p>
            <a:r>
              <a:rPr lang="en-US" altLang="zh-CN" dirty="0"/>
              <a:t>QUIC</a:t>
            </a:r>
            <a:r>
              <a:rPr lang="zh-CN" altLang="en-US" dirty="0"/>
              <a:t>设计了连接（</a:t>
            </a:r>
            <a:r>
              <a:rPr lang="en-US" altLang="zh-CN" dirty="0"/>
              <a:t>Connection</a:t>
            </a:r>
            <a:r>
              <a:rPr lang="zh-CN" altLang="en-US" dirty="0"/>
              <a:t>）和流（</a:t>
            </a:r>
            <a:r>
              <a:rPr lang="en-US" altLang="zh-CN" dirty="0"/>
              <a:t>Stream</a:t>
            </a:r>
            <a:r>
              <a:rPr lang="zh-CN" altLang="en-US" dirty="0"/>
              <a:t>）的概念</a:t>
            </a:r>
          </a:p>
          <a:p>
            <a:pPr lvl="1"/>
            <a:r>
              <a:rPr lang="zh-CN" altLang="en-US" dirty="0"/>
              <a:t>一个连接可以复用传输多个流，每个流之间都是独立的</a:t>
            </a:r>
          </a:p>
          <a:p>
            <a:pPr lvl="1"/>
            <a:r>
              <a:rPr lang="zh-CN" altLang="en-US" dirty="0"/>
              <a:t>一个</a:t>
            </a:r>
            <a:r>
              <a:rPr lang="en-US" altLang="zh-CN" dirty="0"/>
              <a:t>stream</a:t>
            </a:r>
            <a:r>
              <a:rPr lang="zh-CN" altLang="en-US" dirty="0"/>
              <a:t>丢包并不会影响到其它</a:t>
            </a:r>
            <a:r>
              <a:rPr lang="en-US" altLang="zh-CN" dirty="0"/>
              <a:t>Stream</a:t>
            </a:r>
            <a:r>
              <a:rPr lang="zh-CN" altLang="en-US" dirty="0"/>
              <a:t>的处理</a:t>
            </a:r>
            <a:endParaRPr lang="en-US" altLang="zh-CN" dirty="0"/>
          </a:p>
          <a:p>
            <a:pPr lvl="1"/>
            <a:r>
              <a:rPr lang="zh-CN" altLang="en-US" dirty="0"/>
              <a:t>仍然存在单条流上的队头阻塞</a:t>
            </a:r>
          </a:p>
          <a:p>
            <a:endParaRPr lang="zh-CN" altLang="en-US" dirty="0"/>
          </a:p>
        </p:txBody>
      </p:sp>
      <p:pic>
        <p:nvPicPr>
          <p:cNvPr id="8" name="图片 7"/>
          <p:cNvPicPr>
            <a:picLocks noChangeAspect="1"/>
          </p:cNvPicPr>
          <p:nvPr/>
        </p:nvPicPr>
        <p:blipFill>
          <a:blip r:embed="rId2"/>
          <a:stretch>
            <a:fillRect/>
          </a:stretch>
        </p:blipFill>
        <p:spPr>
          <a:xfrm>
            <a:off x="1271464" y="3212976"/>
            <a:ext cx="9264836" cy="2814194"/>
          </a:xfrm>
          <a:prstGeom prst="rect">
            <a:avLst/>
          </a:prstGeom>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拥塞控制与流量控制</a:t>
            </a:r>
          </a:p>
        </p:txBody>
      </p:sp>
      <p:sp>
        <p:nvSpPr>
          <p:cNvPr id="3" name="内容占位符 2"/>
          <p:cNvSpPr>
            <a:spLocks noGrp="1"/>
          </p:cNvSpPr>
          <p:nvPr>
            <p:ph idx="1"/>
          </p:nvPr>
        </p:nvSpPr>
        <p:spPr>
          <a:xfrm>
            <a:off x="334434" y="1052514"/>
            <a:ext cx="11523133" cy="3744638"/>
          </a:xfrm>
        </p:spPr>
        <p:txBody>
          <a:bodyPr>
            <a:normAutofit/>
          </a:bodyPr>
          <a:lstStyle/>
          <a:p>
            <a:r>
              <a:rPr lang="en-US" altLang="zh-CN" dirty="0"/>
              <a:t>QUIC </a:t>
            </a:r>
            <a:r>
              <a:rPr lang="zh-CN" altLang="en-US" dirty="0"/>
              <a:t>的拥塞控制不再依赖内核的拥塞控制算法，而是在应用层上实现</a:t>
            </a:r>
            <a:endParaRPr lang="en-US" altLang="zh-CN" dirty="0"/>
          </a:p>
          <a:p>
            <a:r>
              <a:rPr lang="en-US" altLang="zh-CN" dirty="0"/>
              <a:t>QUIC </a:t>
            </a:r>
            <a:r>
              <a:rPr lang="zh-CN" altLang="en-US" dirty="0"/>
              <a:t>采用了一种基于限制（</a:t>
            </a:r>
            <a:r>
              <a:rPr lang="en-US" altLang="zh-CN" dirty="0"/>
              <a:t>limit-based</a:t>
            </a:r>
            <a:r>
              <a:rPr lang="zh-CN" altLang="en-US" dirty="0"/>
              <a:t>）的流量控制方案</a:t>
            </a:r>
            <a:endParaRPr lang="en-US" altLang="zh-CN" dirty="0"/>
          </a:p>
          <a:p>
            <a:pPr lvl="1"/>
            <a:r>
              <a:rPr lang="zh-CN" altLang="en-US" dirty="0"/>
              <a:t>接收方通告了对在流（</a:t>
            </a:r>
            <a:r>
              <a:rPr lang="en-US" altLang="zh-CN" dirty="0"/>
              <a:t>stream</a:t>
            </a:r>
            <a:r>
              <a:rPr lang="zh-CN" altLang="en-US" dirty="0"/>
              <a:t>）和整个连接（</a:t>
            </a:r>
            <a:r>
              <a:rPr lang="en-US" altLang="zh-CN" dirty="0"/>
              <a:t>connection</a:t>
            </a:r>
            <a:r>
              <a:rPr lang="zh-CN" altLang="en-US" dirty="0"/>
              <a:t>）上准备接收的总字节数的限制</a:t>
            </a:r>
            <a:endParaRPr lang="en-US" altLang="zh-CN" dirty="0"/>
          </a:p>
          <a:p>
            <a:pPr lvl="1"/>
            <a:r>
              <a:rPr lang="zh-CN" altLang="en-US" dirty="0"/>
              <a:t>发送方发送的数据不能超过这两个限制</a:t>
            </a:r>
            <a:endParaRPr lang="en-US" altLang="zh-CN" dirty="0"/>
          </a:p>
          <a:p>
            <a:endParaRPr lang="zh-CN" altLang="en-US" dirty="0"/>
          </a:p>
          <a:p>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t>103</a:t>
            </a:fld>
            <a:endParaRPr lang="en-US" altLang="zh-CN"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r>
              <a:rPr lang="en-US" altLang="zh-CN" dirty="0">
                <a:latin typeface="微软雅黑" panose="020B0503020204020204" pitchFamily="34" charset="-122"/>
              </a:rPr>
              <a:t>QUIC</a:t>
            </a:r>
            <a:r>
              <a:rPr lang="zh-CN" altLang="en-US" dirty="0">
                <a:latin typeface="微软雅黑" panose="020B0503020204020204" pitchFamily="34" charset="-122"/>
              </a:rPr>
              <a:t>控制</a:t>
            </a:r>
            <a:r>
              <a:rPr lang="en-US" altLang="zh-CN" dirty="0">
                <a:latin typeface="微软雅黑" panose="020B0503020204020204" pitchFamily="34" charset="-122"/>
              </a:rPr>
              <a:t>——</a:t>
            </a:r>
            <a:r>
              <a:rPr lang="zh-CN" altLang="en-US" dirty="0">
                <a:latin typeface="微软雅黑" panose="020B0503020204020204" pitchFamily="34" charset="-122"/>
              </a:rPr>
              <a:t>流控制</a:t>
            </a:r>
          </a:p>
        </p:txBody>
      </p:sp>
      <p:sp>
        <p:nvSpPr>
          <p:cNvPr id="2" name="内容占位符 1"/>
          <p:cNvSpPr>
            <a:spLocks noGrp="1"/>
          </p:cNvSpPr>
          <p:nvPr>
            <p:ph idx="1"/>
          </p:nvPr>
        </p:nvSpPr>
        <p:spPr/>
        <p:txBody>
          <a:bodyPr/>
          <a:lstStyle/>
          <a:p>
            <a:r>
              <a:rPr lang="zh-CN" altLang="en-US" dirty="0"/>
              <a:t>通过限制流（</a:t>
            </a:r>
            <a:r>
              <a:rPr lang="en-US" altLang="zh-CN" dirty="0"/>
              <a:t>Stream</a:t>
            </a:r>
            <a:r>
              <a:rPr lang="zh-CN" altLang="en-US" dirty="0"/>
              <a:t>）发送的最大绝对字节偏移量，防止单个流消耗连接（</a:t>
            </a:r>
            <a:r>
              <a:rPr lang="en-US" altLang="zh-CN" dirty="0"/>
              <a:t>Connection</a:t>
            </a:r>
            <a:r>
              <a:rPr lang="zh-CN" altLang="en-US" dirty="0"/>
              <a:t>）的全部接收缓冲</a:t>
            </a:r>
            <a:endParaRPr lang="en-US" altLang="zh-CN" dirty="0"/>
          </a:p>
          <a:p>
            <a:r>
              <a:rPr lang="en-US" altLang="zh-CN" dirty="0"/>
              <a:t>Stream</a:t>
            </a:r>
            <a:r>
              <a:rPr lang="zh-CN" altLang="en-US" dirty="0"/>
              <a:t>流基于</a:t>
            </a:r>
            <a:r>
              <a:rPr lang="en-US" altLang="zh-CN" dirty="0"/>
              <a:t>Stream </a:t>
            </a:r>
            <a:r>
              <a:rPr lang="en-US" altLang="zh-CN" dirty="0" err="1"/>
              <a:t>ID+Offset</a:t>
            </a:r>
            <a:r>
              <a:rPr lang="zh-CN" altLang="en-US" dirty="0"/>
              <a:t>进行包确认，流量控制需要保证所发送的所有包</a:t>
            </a:r>
            <a:r>
              <a:rPr lang="en-US" altLang="zh-CN" dirty="0"/>
              <a:t>offset</a:t>
            </a:r>
            <a:r>
              <a:rPr lang="zh-CN" altLang="en-US" dirty="0"/>
              <a:t>小于最大绝对字节偏移量</a:t>
            </a:r>
            <a:endParaRPr lang="en-US" altLang="zh-CN" dirty="0"/>
          </a:p>
          <a:p>
            <a:r>
              <a:rPr lang="en-US" altLang="zh-CN" dirty="0"/>
              <a:t>QUIC</a:t>
            </a:r>
            <a:r>
              <a:rPr lang="zh-CN" altLang="en-US" dirty="0"/>
              <a:t>利用</a:t>
            </a:r>
            <a:r>
              <a:rPr lang="en-US" altLang="zh-CN" dirty="0"/>
              <a:t>ACK Frame</a:t>
            </a:r>
            <a:r>
              <a:rPr lang="zh-CN" altLang="en-US" dirty="0"/>
              <a:t>来进行数据包的确认，来保证可靠传输</a:t>
            </a:r>
          </a:p>
        </p:txBody>
      </p:sp>
      <p:sp>
        <p:nvSpPr>
          <p:cNvPr id="4" name="灯片编号占位符 3"/>
          <p:cNvSpPr>
            <a:spLocks noGrp="1"/>
          </p:cNvSpPr>
          <p:nvPr>
            <p:ph type="sldNum" sz="quarter" idx="12"/>
          </p:nvPr>
        </p:nvSpPr>
        <p:spPr/>
        <p:txBody>
          <a:bodyPr/>
          <a:lstStyle/>
          <a:p>
            <a:fld id="{C8BB1146-E542-4D4E-B8E9-6919A11DDD48}" type="slidenum">
              <a:rPr lang="en-US" smtClean="0"/>
              <a:t>104</a:t>
            </a:fld>
            <a:endParaRPr lang="en-US"/>
          </a:p>
        </p:txBody>
      </p:sp>
      <p:pic>
        <p:nvPicPr>
          <p:cNvPr id="12" name="图片 11"/>
          <p:cNvPicPr>
            <a:picLocks noChangeAspect="1"/>
          </p:cNvPicPr>
          <p:nvPr/>
        </p:nvPicPr>
        <p:blipFill>
          <a:blip r:embed="rId2"/>
          <a:stretch>
            <a:fillRect/>
          </a:stretch>
        </p:blipFill>
        <p:spPr>
          <a:xfrm>
            <a:off x="1234231" y="3800384"/>
            <a:ext cx="9723537" cy="2005102"/>
          </a:xfrm>
          <a:prstGeom prst="rect">
            <a:avLst/>
          </a:prstGeom>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r>
              <a:rPr lang="en-US" altLang="zh-CN" dirty="0">
                <a:latin typeface="微软雅黑" panose="020B0503020204020204" pitchFamily="34" charset="-122"/>
              </a:rPr>
              <a:t>QUIC</a:t>
            </a:r>
            <a:r>
              <a:rPr lang="zh-CN" altLang="en-US" dirty="0">
                <a:latin typeface="微软雅黑" panose="020B0503020204020204" pitchFamily="34" charset="-122"/>
              </a:rPr>
              <a:t>控制</a:t>
            </a:r>
            <a:r>
              <a:rPr lang="en-US" altLang="zh-CN" dirty="0">
                <a:latin typeface="微软雅黑" panose="020B0503020204020204" pitchFamily="34" charset="-122"/>
              </a:rPr>
              <a:t>——</a:t>
            </a:r>
            <a:r>
              <a:rPr lang="zh-CN" altLang="en-US" dirty="0">
                <a:latin typeface="微软雅黑" panose="020B0503020204020204" pitchFamily="34" charset="-122"/>
              </a:rPr>
              <a:t>连接控制</a:t>
            </a:r>
          </a:p>
        </p:txBody>
      </p:sp>
      <p:sp>
        <p:nvSpPr>
          <p:cNvPr id="2" name="内容占位符 1"/>
          <p:cNvSpPr>
            <a:spLocks noGrp="1"/>
          </p:cNvSpPr>
          <p:nvPr>
            <p:ph idx="1"/>
          </p:nvPr>
        </p:nvSpPr>
        <p:spPr/>
        <p:txBody>
          <a:bodyPr/>
          <a:lstStyle/>
          <a:p>
            <a:pPr algn="just"/>
            <a:r>
              <a:rPr lang="zh-CN" altLang="en-US" dirty="0"/>
              <a:t>连接控制通过限制所有</a:t>
            </a:r>
            <a:r>
              <a:rPr lang="en-US" altLang="zh-CN" dirty="0"/>
              <a:t>STREAM</a:t>
            </a:r>
            <a:r>
              <a:rPr lang="zh-CN" altLang="en-US" dirty="0"/>
              <a:t>帧的数据总字节数，防止发送方超过接收方的连接缓冲容量</a:t>
            </a:r>
            <a:endParaRPr lang="en-US" altLang="zh-CN" dirty="0"/>
          </a:p>
          <a:p>
            <a:pPr algn="just"/>
            <a:r>
              <a:rPr lang="zh-CN" altLang="en-US" dirty="0"/>
              <a:t>连接控制具有总的缓冲区大小限制，为每个</a:t>
            </a:r>
            <a:r>
              <a:rPr lang="en-US" altLang="zh-CN" dirty="0"/>
              <a:t>Stream</a:t>
            </a:r>
            <a:r>
              <a:rPr lang="zh-CN" altLang="en-US" dirty="0"/>
              <a:t>动态分配缓冲区大小，优先向速度更快的</a:t>
            </a:r>
            <a:r>
              <a:rPr lang="en-US" altLang="zh-CN" dirty="0"/>
              <a:t>stream</a:t>
            </a:r>
            <a:r>
              <a:rPr lang="zh-CN" altLang="en-US" dirty="0"/>
              <a:t>倾斜</a:t>
            </a:r>
          </a:p>
        </p:txBody>
      </p:sp>
      <p:sp>
        <p:nvSpPr>
          <p:cNvPr id="4" name="灯片编号占位符 3"/>
          <p:cNvSpPr>
            <a:spLocks noGrp="1"/>
          </p:cNvSpPr>
          <p:nvPr>
            <p:ph type="sldNum" sz="quarter" idx="12"/>
          </p:nvPr>
        </p:nvSpPr>
        <p:spPr/>
        <p:txBody>
          <a:bodyPr/>
          <a:lstStyle/>
          <a:p>
            <a:fld id="{C8BB1146-E542-4D4E-B8E9-6919A11DDD48}" type="slidenum">
              <a:rPr lang="en-US" smtClean="0"/>
              <a:t>105</a:t>
            </a:fld>
            <a:endParaRPr lang="en-US"/>
          </a:p>
        </p:txBody>
      </p:sp>
      <p:sp>
        <p:nvSpPr>
          <p:cNvPr id="5" name="Rectangle 2"/>
          <p:cNvSpPr>
            <a:spLocks noChangeArrowheads="1"/>
          </p:cNvSpPr>
          <p:nvPr/>
        </p:nvSpPr>
        <p:spPr bwMode="auto">
          <a:xfrm>
            <a:off x="2783632" y="412115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17" name="图片 16"/>
          <p:cNvPicPr>
            <a:picLocks noChangeAspect="1"/>
          </p:cNvPicPr>
          <p:nvPr/>
        </p:nvPicPr>
        <p:blipFill>
          <a:blip r:embed="rId2"/>
          <a:stretch>
            <a:fillRect/>
          </a:stretch>
        </p:blipFill>
        <p:spPr>
          <a:xfrm>
            <a:off x="2135560" y="3140968"/>
            <a:ext cx="7645443" cy="2808312"/>
          </a:xfrm>
          <a:prstGeom prst="rect">
            <a:avLst/>
          </a:prstGeom>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QUIC</a:t>
            </a:r>
            <a:r>
              <a:rPr lang="zh-CN" altLang="en-US" dirty="0"/>
              <a:t>可靠传输</a:t>
            </a:r>
          </a:p>
        </p:txBody>
      </p:sp>
      <p:sp>
        <p:nvSpPr>
          <p:cNvPr id="3" name="内容占位符 2"/>
          <p:cNvSpPr>
            <a:spLocks noGrp="1"/>
          </p:cNvSpPr>
          <p:nvPr>
            <p:ph idx="1"/>
          </p:nvPr>
        </p:nvSpPr>
        <p:spPr/>
        <p:txBody>
          <a:bodyPr/>
          <a:lstStyle/>
          <a:p>
            <a:r>
              <a:rPr lang="zh-CN" altLang="en-US" dirty="0"/>
              <a:t>每一个流都有一个唯一标识</a:t>
            </a:r>
            <a:r>
              <a:rPr lang="en-US" altLang="zh-CN" dirty="0"/>
              <a:t>——</a:t>
            </a:r>
            <a:r>
              <a:rPr lang="zh-CN" altLang="en-US" dirty="0"/>
              <a:t>流 </a:t>
            </a:r>
            <a:r>
              <a:rPr lang="en-US" altLang="zh-CN" dirty="0"/>
              <a:t>ID</a:t>
            </a:r>
          </a:p>
          <a:p>
            <a:r>
              <a:rPr lang="zh-CN" altLang="en-US" dirty="0"/>
              <a:t>流 </a:t>
            </a:r>
            <a:r>
              <a:rPr lang="en-US" altLang="zh-CN" dirty="0"/>
              <a:t>ID </a:t>
            </a:r>
            <a:r>
              <a:rPr lang="zh-CN" altLang="en-US" dirty="0"/>
              <a:t>由客户 </a:t>
            </a:r>
            <a:r>
              <a:rPr lang="en-US" altLang="zh-CN" dirty="0"/>
              <a:t>- </a:t>
            </a:r>
            <a:r>
              <a:rPr lang="zh-CN" altLang="en-US" dirty="0"/>
              <a:t>服务器进行静态分配，避免冲突</a:t>
            </a:r>
            <a:endParaRPr lang="en-US" altLang="zh-CN" dirty="0"/>
          </a:p>
          <a:p>
            <a:pPr lvl="1"/>
            <a:r>
              <a:rPr lang="zh-CN" altLang="en-US" dirty="0"/>
              <a:t>客户主动发起的流的 </a:t>
            </a:r>
            <a:r>
              <a:rPr lang="en-US" altLang="zh-CN" dirty="0"/>
              <a:t>ID </a:t>
            </a:r>
            <a:r>
              <a:rPr lang="zh-CN" altLang="en-US" dirty="0"/>
              <a:t>都是奇数</a:t>
            </a:r>
            <a:endParaRPr lang="en-US" altLang="zh-CN" dirty="0"/>
          </a:p>
          <a:p>
            <a:pPr lvl="1"/>
            <a:r>
              <a:rPr lang="zh-CN" altLang="en-US" dirty="0"/>
              <a:t>服务器发起的流的 </a:t>
            </a:r>
            <a:r>
              <a:rPr lang="en-US" altLang="zh-CN" dirty="0"/>
              <a:t>ID </a:t>
            </a:r>
            <a:r>
              <a:rPr lang="zh-CN" altLang="en-US" dirty="0"/>
              <a:t>都是偶数</a:t>
            </a:r>
            <a:endParaRPr lang="en-US" altLang="zh-CN" dirty="0"/>
          </a:p>
          <a:p>
            <a:r>
              <a:rPr lang="en-US" altLang="zh-CN" dirty="0"/>
              <a:t>QUIC </a:t>
            </a:r>
            <a:r>
              <a:rPr lang="zh-CN" altLang="en-US" dirty="0"/>
              <a:t>数据包的大小，需要满足</a:t>
            </a:r>
            <a:r>
              <a:rPr lang="en-US" altLang="zh-CN" dirty="0"/>
              <a:t>MTU</a:t>
            </a:r>
            <a:r>
              <a:rPr lang="zh-CN" altLang="en-US" dirty="0"/>
              <a:t>限制，以避免被分段</a:t>
            </a:r>
            <a:endParaRPr lang="en-US" altLang="zh-CN" dirty="0"/>
          </a:p>
          <a:p>
            <a:pPr lvl="1"/>
            <a:r>
              <a:rPr lang="zh-CN" altLang="en-US" dirty="0"/>
              <a:t>在 </a:t>
            </a:r>
            <a:r>
              <a:rPr lang="en-US" altLang="zh-CN" dirty="0"/>
              <a:t>IPv6 </a:t>
            </a:r>
            <a:r>
              <a:rPr lang="zh-CN" altLang="en-US" dirty="0"/>
              <a:t>下的最大长度为 </a:t>
            </a:r>
            <a:r>
              <a:rPr lang="en-US" altLang="zh-CN" dirty="0"/>
              <a:t>1350 byte</a:t>
            </a:r>
          </a:p>
          <a:p>
            <a:pPr lvl="1"/>
            <a:r>
              <a:rPr lang="zh-CN" altLang="en-US" dirty="0"/>
              <a:t>在 </a:t>
            </a:r>
            <a:r>
              <a:rPr lang="en-US" altLang="zh-CN" dirty="0"/>
              <a:t>IPv4 </a:t>
            </a:r>
            <a:r>
              <a:rPr lang="zh-CN" altLang="en-US" dirty="0"/>
              <a:t>下的最大长度为 </a:t>
            </a:r>
            <a:r>
              <a:rPr lang="en-US" altLang="zh-CN" dirty="0"/>
              <a:t>1370 byte</a:t>
            </a:r>
          </a:p>
          <a:p>
            <a:r>
              <a:rPr lang="en-US" altLang="zh-CN" dirty="0"/>
              <a:t>QUIC</a:t>
            </a:r>
            <a:r>
              <a:rPr lang="zh-CN" altLang="en-US" dirty="0"/>
              <a:t>利用</a:t>
            </a:r>
            <a:r>
              <a:rPr lang="en-US" altLang="zh-CN" dirty="0"/>
              <a:t>ACK Frame</a:t>
            </a:r>
            <a:r>
              <a:rPr lang="zh-CN" altLang="en-US" dirty="0"/>
              <a:t>来进行数据包的确认，来保证可靠传输。两个重要特点</a:t>
            </a:r>
            <a:endParaRPr lang="en-US" altLang="zh-CN" dirty="0"/>
          </a:p>
          <a:p>
            <a:pPr lvl="1"/>
            <a:r>
              <a:rPr lang="zh-CN" altLang="en-US" dirty="0"/>
              <a:t>完整性</a:t>
            </a:r>
            <a:endParaRPr lang="en-US" altLang="zh-CN" dirty="0"/>
          </a:p>
          <a:p>
            <a:pPr lvl="1"/>
            <a:r>
              <a:rPr lang="zh-CN" altLang="en-US" dirty="0"/>
              <a:t>可靠性（有效性）</a:t>
            </a:r>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t>106</a:t>
            </a:fld>
            <a:endParaRPr lang="en-US" altLang="zh-CN"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r>
              <a:rPr lang="en-US" altLang="zh-CN" dirty="0">
                <a:latin typeface="微软雅黑" panose="020B0503020204020204" pitchFamily="34" charset="-122"/>
              </a:rPr>
              <a:t>QUIC</a:t>
            </a:r>
            <a:r>
              <a:rPr lang="zh-CN" altLang="en-US" dirty="0">
                <a:latin typeface="微软雅黑" panose="020B0503020204020204" pitchFamily="34" charset="-122"/>
              </a:rPr>
              <a:t>可靠传输</a:t>
            </a:r>
            <a:r>
              <a:rPr lang="en-US" altLang="zh-CN" dirty="0">
                <a:latin typeface="微软雅黑" panose="020B0503020204020204" pitchFamily="34" charset="-122"/>
              </a:rPr>
              <a:t>—</a:t>
            </a:r>
            <a:r>
              <a:rPr lang="zh-CN" altLang="en-US" dirty="0"/>
              <a:t>完整性、有效性</a:t>
            </a:r>
            <a:endParaRPr lang="zh-CN" altLang="en-US" dirty="0">
              <a:latin typeface="微软雅黑" panose="020B0503020204020204" pitchFamily="34" charset="-122"/>
            </a:endParaRPr>
          </a:p>
        </p:txBody>
      </p:sp>
      <p:sp>
        <p:nvSpPr>
          <p:cNvPr id="6" name="内容占位符 5"/>
          <p:cNvSpPr>
            <a:spLocks noGrp="1"/>
          </p:cNvSpPr>
          <p:nvPr>
            <p:ph sz="half" idx="1"/>
          </p:nvPr>
        </p:nvSpPr>
        <p:spPr>
          <a:xfrm>
            <a:off x="334434" y="5039083"/>
            <a:ext cx="5659967" cy="1450617"/>
          </a:xfrm>
        </p:spPr>
        <p:txBody>
          <a:bodyPr>
            <a:noAutofit/>
          </a:bodyPr>
          <a:lstStyle/>
          <a:p>
            <a:r>
              <a:rPr lang="zh-CN" altLang="en-US" sz="2200" dirty="0"/>
              <a:t>通过包号</a:t>
            </a:r>
            <a:r>
              <a:rPr lang="en-US" altLang="zh-CN" sz="2200" dirty="0"/>
              <a:t>(PKN)</a:t>
            </a:r>
            <a:r>
              <a:rPr lang="zh-CN" altLang="en-US" sz="2200" dirty="0"/>
              <a:t>和选择性确认</a:t>
            </a:r>
            <a:r>
              <a:rPr lang="en-US" altLang="zh-CN" sz="2200" dirty="0"/>
              <a:t>(SACK)</a:t>
            </a:r>
            <a:r>
              <a:rPr lang="zh-CN" altLang="en-US" sz="2200" dirty="0"/>
              <a:t>保证发送的数据都能被收到</a:t>
            </a:r>
            <a:endParaRPr lang="en-US" altLang="zh-CN" sz="2200" dirty="0"/>
          </a:p>
          <a:p>
            <a:r>
              <a:rPr lang="zh-CN" altLang="en-US" sz="2200" dirty="0"/>
              <a:t>数据包号单调递增数据包，数据一样，但数据包号不同</a:t>
            </a:r>
            <a:endParaRPr lang="en-US" altLang="zh-CN" sz="2200" dirty="0"/>
          </a:p>
          <a:p>
            <a:pPr lvl="1"/>
            <a:endParaRPr lang="en-US" altLang="zh-CN" sz="2200" dirty="0"/>
          </a:p>
          <a:p>
            <a:pPr lvl="1"/>
            <a:endParaRPr lang="zh-CN" altLang="en-US" sz="2200" dirty="0"/>
          </a:p>
        </p:txBody>
      </p:sp>
      <p:sp>
        <p:nvSpPr>
          <p:cNvPr id="5" name="内容占位符 4"/>
          <p:cNvSpPr>
            <a:spLocks noGrp="1"/>
          </p:cNvSpPr>
          <p:nvPr>
            <p:ph sz="half" idx="2"/>
          </p:nvPr>
        </p:nvSpPr>
        <p:spPr>
          <a:xfrm>
            <a:off x="6197601" y="5039083"/>
            <a:ext cx="5659967" cy="1450618"/>
          </a:xfrm>
        </p:spPr>
        <p:txBody>
          <a:bodyPr>
            <a:normAutofit fontScale="77500" lnSpcReduction="20000"/>
          </a:bodyPr>
          <a:lstStyle/>
          <a:p>
            <a:r>
              <a:rPr lang="zh-CN" altLang="en-US" dirty="0"/>
              <a:t>接收方通过数据偏移量保证数据的有效性</a:t>
            </a:r>
            <a:endParaRPr lang="en-US" altLang="zh-CN" dirty="0"/>
          </a:p>
          <a:p>
            <a:r>
              <a:rPr lang="zh-CN" altLang="en-US" dirty="0"/>
              <a:t>利用该延迟与单调递增的数据包号，可以精确地估算往返时间（</a:t>
            </a:r>
            <a:r>
              <a:rPr lang="en-US" altLang="zh-CN" dirty="0"/>
              <a:t>RTT</a:t>
            </a:r>
            <a:r>
              <a:rPr lang="zh-CN" altLang="en-US" dirty="0"/>
              <a:t>）有助于丢失检测，可以解决 </a:t>
            </a:r>
            <a:r>
              <a:rPr lang="en-US" altLang="zh-CN" dirty="0"/>
              <a:t>TCP </a:t>
            </a:r>
            <a:r>
              <a:rPr lang="zh-CN" altLang="en-US" dirty="0"/>
              <a:t>的重传歧义问题</a:t>
            </a:r>
            <a:endParaRPr lang="en-US" altLang="zh-CN" dirty="0"/>
          </a:p>
          <a:p>
            <a:endParaRPr lang="zh-CN" altLang="en-US" dirty="0"/>
          </a:p>
        </p:txBody>
      </p:sp>
      <p:sp>
        <p:nvSpPr>
          <p:cNvPr id="4" name="灯片编号占位符 3"/>
          <p:cNvSpPr>
            <a:spLocks noGrp="1"/>
          </p:cNvSpPr>
          <p:nvPr>
            <p:ph type="sldNum" sz="quarter" idx="12"/>
          </p:nvPr>
        </p:nvSpPr>
        <p:spPr/>
        <p:txBody>
          <a:bodyPr/>
          <a:lstStyle/>
          <a:p>
            <a:fld id="{C8BB1146-E542-4D4E-B8E9-6919A11DDD48}" type="slidenum">
              <a:rPr lang="en-US" smtClean="0"/>
              <a:t>107</a:t>
            </a:fld>
            <a:endParaRPr lang="en-US"/>
          </a:p>
        </p:txBody>
      </p:sp>
      <p:sp>
        <p:nvSpPr>
          <p:cNvPr id="9" name="Rectangle 23"/>
          <p:cNvSpPr>
            <a:spLocks noChangeArrowheads="1"/>
          </p:cNvSpPr>
          <p:nvPr/>
        </p:nvSpPr>
        <p:spPr bwMode="auto">
          <a:xfrm>
            <a:off x="2063552" y="219537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23" name="object 2"/>
          <p:cNvPicPr/>
          <p:nvPr/>
        </p:nvPicPr>
        <p:blipFill>
          <a:blip r:embed="rId2" cstate="print"/>
          <a:stretch>
            <a:fillRect/>
          </a:stretch>
        </p:blipFill>
        <p:spPr>
          <a:xfrm>
            <a:off x="1125377" y="1075449"/>
            <a:ext cx="4078080" cy="3562423"/>
          </a:xfrm>
          <a:prstGeom prst="rect">
            <a:avLst/>
          </a:prstGeom>
        </p:spPr>
      </p:pic>
      <p:grpSp>
        <p:nvGrpSpPr>
          <p:cNvPr id="21" name="docshapegroup1"/>
          <p:cNvGrpSpPr/>
          <p:nvPr/>
        </p:nvGrpSpPr>
        <p:grpSpPr bwMode="auto">
          <a:xfrm>
            <a:off x="7065731" y="1075449"/>
            <a:ext cx="4032448" cy="4320478"/>
            <a:chOff x="0" y="0"/>
            <a:chExt cx="3842" cy="4208"/>
          </a:xfrm>
        </p:grpSpPr>
        <p:sp>
          <p:nvSpPr>
            <p:cNvPr id="22" name="docshape2"/>
            <p:cNvSpPr>
              <a:spLocks noChangeArrowheads="1"/>
            </p:cNvSpPr>
            <p:nvPr/>
          </p:nvSpPr>
          <p:spPr bwMode="auto">
            <a:xfrm>
              <a:off x="7" y="7"/>
              <a:ext cx="880" cy="294"/>
            </a:xfrm>
            <a:prstGeom prst="rect">
              <a:avLst/>
            </a:prstGeom>
            <a:noFill/>
            <a:ln w="9525">
              <a:solidFill>
                <a:srgbClr val="00AEEF"/>
              </a:solidFill>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pic>
          <p:nvPicPr>
            <p:cNvPr id="24" name="docshape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1" y="79"/>
              <a:ext cx="297" cy="148"/>
            </a:xfrm>
            <a:prstGeom prst="rect">
              <a:avLst/>
            </a:prstGeom>
            <a:noFill/>
            <a:extLst>
              <a:ext uri="{909E8E84-426E-40DD-AFC4-6F175D3DCCD1}">
                <a14:hiddenFill xmlns:a14="http://schemas.microsoft.com/office/drawing/2010/main">
                  <a:solidFill>
                    <a:srgbClr val="FFFFFF"/>
                  </a:solidFill>
                </a14:hiddenFill>
              </a:ext>
            </a:extLst>
          </p:spPr>
        </p:pic>
        <p:sp>
          <p:nvSpPr>
            <p:cNvPr id="25" name="Line 20"/>
            <p:cNvSpPr>
              <a:spLocks noChangeShapeType="1"/>
            </p:cNvSpPr>
            <p:nvPr/>
          </p:nvSpPr>
          <p:spPr bwMode="auto">
            <a:xfrm>
              <a:off x="423" y="297"/>
              <a:ext cx="0" cy="3911"/>
            </a:xfrm>
            <a:prstGeom prst="line">
              <a:avLst/>
            </a:prstGeom>
            <a:noFill/>
            <a:ln w="9525">
              <a:solidFill>
                <a:srgbClr val="00AEEF"/>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26" name="docshape4"/>
            <p:cNvSpPr>
              <a:spLocks noChangeArrowheads="1"/>
            </p:cNvSpPr>
            <p:nvPr/>
          </p:nvSpPr>
          <p:spPr bwMode="auto">
            <a:xfrm>
              <a:off x="2955" y="7"/>
              <a:ext cx="880" cy="294"/>
            </a:xfrm>
            <a:prstGeom prst="rect">
              <a:avLst/>
            </a:prstGeom>
            <a:noFill/>
            <a:ln w="9525">
              <a:solidFill>
                <a:srgbClr val="00AEEF"/>
              </a:solidFill>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7" name="docshape5"/>
            <p:cNvSpPr/>
            <p:nvPr/>
          </p:nvSpPr>
          <p:spPr bwMode="auto">
            <a:xfrm>
              <a:off x="3154" y="82"/>
              <a:ext cx="465" cy="144"/>
            </a:xfrm>
            <a:custGeom>
              <a:avLst/>
              <a:gdLst>
                <a:gd name="T0" fmla="+- 0 3229 3155"/>
                <a:gd name="T1" fmla="*/ T0 w 465"/>
                <a:gd name="T2" fmla="+- 0 223 83"/>
                <a:gd name="T3" fmla="*/ 223 h 144"/>
                <a:gd name="T4" fmla="+- 0 3282 3155"/>
                <a:gd name="T5" fmla="*/ T4 w 465"/>
                <a:gd name="T6" fmla="+- 0 99 83"/>
                <a:gd name="T7" fmla="*/ 99 h 144"/>
                <a:gd name="T8" fmla="+- 0 3250 3155"/>
                <a:gd name="T9" fmla="*/ T8 w 465"/>
                <a:gd name="T10" fmla="+- 0 181 83"/>
                <a:gd name="T11" fmla="*/ 181 h 144"/>
                <a:gd name="T12" fmla="+- 0 3238 3155"/>
                <a:gd name="T13" fmla="*/ T12 w 465"/>
                <a:gd name="T14" fmla="+- 0 219 83"/>
                <a:gd name="T15" fmla="*/ 219 h 144"/>
                <a:gd name="T16" fmla="+- 0 3271 3155"/>
                <a:gd name="T17" fmla="*/ T16 w 465"/>
                <a:gd name="T18" fmla="+- 0 193 83"/>
                <a:gd name="T19" fmla="*/ 193 h 144"/>
                <a:gd name="T20" fmla="+- 0 3284 3155"/>
                <a:gd name="T21" fmla="*/ T20 w 465"/>
                <a:gd name="T22" fmla="+- 0 200 83"/>
                <a:gd name="T23" fmla="*/ 200 h 144"/>
                <a:gd name="T24" fmla="+- 0 3297 3155"/>
                <a:gd name="T25" fmla="*/ T24 w 465"/>
                <a:gd name="T26" fmla="+- 0 208 83"/>
                <a:gd name="T27" fmla="*/ 208 h 144"/>
                <a:gd name="T28" fmla="+- 0 3269 3155"/>
                <a:gd name="T29" fmla="*/ T28 w 465"/>
                <a:gd name="T30" fmla="+- 0 159 83"/>
                <a:gd name="T31" fmla="*/ 159 h 144"/>
                <a:gd name="T32" fmla="+- 0 3287 3155"/>
                <a:gd name="T33" fmla="*/ T32 w 465"/>
                <a:gd name="T34" fmla="+- 0 155 83"/>
                <a:gd name="T35" fmla="*/ 155 h 144"/>
                <a:gd name="T36" fmla="+- 0 3246 3155"/>
                <a:gd name="T37" fmla="*/ T36 w 465"/>
                <a:gd name="T38" fmla="+- 0 125 83"/>
                <a:gd name="T39" fmla="*/ 125 h 144"/>
                <a:gd name="T40" fmla="+- 0 3263 3155"/>
                <a:gd name="T41" fmla="*/ T40 w 465"/>
                <a:gd name="T42" fmla="+- 0 139 83"/>
                <a:gd name="T43" fmla="*/ 139 h 144"/>
                <a:gd name="T44" fmla="+- 0 3265 3155"/>
                <a:gd name="T45" fmla="*/ T44 w 465"/>
                <a:gd name="T46" fmla="+- 0 108 83"/>
                <a:gd name="T47" fmla="*/ 108 h 144"/>
                <a:gd name="T48" fmla="+- 0 3278 3155"/>
                <a:gd name="T49" fmla="*/ T48 w 465"/>
                <a:gd name="T50" fmla="+- 0 110 83"/>
                <a:gd name="T51" fmla="*/ 110 h 144"/>
                <a:gd name="T52" fmla="+- 0 3166 3155"/>
                <a:gd name="T53" fmla="*/ T52 w 465"/>
                <a:gd name="T54" fmla="+- 0 86 83"/>
                <a:gd name="T55" fmla="*/ 86 h 144"/>
                <a:gd name="T56" fmla="+- 0 3157 3155"/>
                <a:gd name="T57" fmla="*/ T56 w 465"/>
                <a:gd name="T58" fmla="+- 0 215 83"/>
                <a:gd name="T59" fmla="*/ 215 h 144"/>
                <a:gd name="T60" fmla="+- 0 3176 3155"/>
                <a:gd name="T61" fmla="*/ T60 w 465"/>
                <a:gd name="T62" fmla="+- 0 183 83"/>
                <a:gd name="T63" fmla="*/ 183 h 144"/>
                <a:gd name="T64" fmla="+- 0 3216 3155"/>
                <a:gd name="T65" fmla="*/ T64 w 465"/>
                <a:gd name="T66" fmla="+- 0 97 83"/>
                <a:gd name="T67" fmla="*/ 97 h 144"/>
                <a:gd name="T68" fmla="+- 0 3182 3155"/>
                <a:gd name="T69" fmla="*/ T68 w 465"/>
                <a:gd name="T70" fmla="+- 0 208 83"/>
                <a:gd name="T71" fmla="*/ 208 h 144"/>
                <a:gd name="T72" fmla="+- 0 3204 3155"/>
                <a:gd name="T73" fmla="*/ T72 w 465"/>
                <a:gd name="T74" fmla="+- 0 219 83"/>
                <a:gd name="T75" fmla="*/ 219 h 144"/>
                <a:gd name="T76" fmla="+- 0 3198 3155"/>
                <a:gd name="T77" fmla="*/ T76 w 465"/>
                <a:gd name="T78" fmla="+- 0 205 83"/>
                <a:gd name="T79" fmla="*/ 205 h 144"/>
                <a:gd name="T80" fmla="+- 0 3198 3155"/>
                <a:gd name="T81" fmla="*/ T80 w 465"/>
                <a:gd name="T82" fmla="+- 0 97 83"/>
                <a:gd name="T83" fmla="*/ 97 h 144"/>
                <a:gd name="T84" fmla="+- 0 3202 3155"/>
                <a:gd name="T85" fmla="*/ T84 w 465"/>
                <a:gd name="T86" fmla="+- 0 86 83"/>
                <a:gd name="T87" fmla="*/ 86 h 144"/>
                <a:gd name="T88" fmla="+- 0 3407 3155"/>
                <a:gd name="T89" fmla="*/ T88 w 465"/>
                <a:gd name="T90" fmla="+- 0 225 83"/>
                <a:gd name="T91" fmla="*/ 225 h 144"/>
                <a:gd name="T92" fmla="+- 0 3355 3155"/>
                <a:gd name="T93" fmla="*/ T92 w 465"/>
                <a:gd name="T94" fmla="+- 0 204 83"/>
                <a:gd name="T95" fmla="*/ 204 h 144"/>
                <a:gd name="T96" fmla="+- 0 3369 3155"/>
                <a:gd name="T97" fmla="*/ T96 w 465"/>
                <a:gd name="T98" fmla="+- 0 205 83"/>
                <a:gd name="T99" fmla="*/ 205 h 144"/>
                <a:gd name="T100" fmla="+- 0 3416 3155"/>
                <a:gd name="T101" fmla="*/ T100 w 465"/>
                <a:gd name="T102" fmla="+- 0 176 83"/>
                <a:gd name="T103" fmla="*/ 176 h 144"/>
                <a:gd name="T104" fmla="+- 0 3425 3155"/>
                <a:gd name="T105" fmla="*/ T104 w 465"/>
                <a:gd name="T106" fmla="+- 0 209 83"/>
                <a:gd name="T107" fmla="*/ 209 h 144"/>
                <a:gd name="T108" fmla="+- 0 3372 3155"/>
                <a:gd name="T109" fmla="*/ T108 w 465"/>
                <a:gd name="T110" fmla="+- 0 159 83"/>
                <a:gd name="T111" fmla="*/ 159 h 144"/>
                <a:gd name="T112" fmla="+- 0 3410 3155"/>
                <a:gd name="T113" fmla="*/ T112 w 465"/>
                <a:gd name="T114" fmla="+- 0 143 83"/>
                <a:gd name="T115" fmla="*/ 143 h 144"/>
                <a:gd name="T116" fmla="+- 0 3450 3155"/>
                <a:gd name="T117" fmla="*/ T116 w 465"/>
                <a:gd name="T118" fmla="+- 0 159 83"/>
                <a:gd name="T119" fmla="*/ 159 h 144"/>
                <a:gd name="T120" fmla="+- 0 3410 3155"/>
                <a:gd name="T121" fmla="*/ T120 w 465"/>
                <a:gd name="T122" fmla="+- 0 143 83"/>
                <a:gd name="T123" fmla="*/ 143 h 144"/>
                <a:gd name="T124" fmla="+- 0 3328 3155"/>
                <a:gd name="T125" fmla="*/ T124 w 465"/>
                <a:gd name="T126" fmla="+- 0 163 83"/>
                <a:gd name="T127" fmla="*/ 163 h 144"/>
                <a:gd name="T128" fmla="+- 0 3378 3155"/>
                <a:gd name="T129" fmla="*/ T128 w 465"/>
                <a:gd name="T130" fmla="+- 0 149 83"/>
                <a:gd name="T131" fmla="*/ 149 h 144"/>
                <a:gd name="T132" fmla="+- 0 3376 3155"/>
                <a:gd name="T133" fmla="*/ T132 w 465"/>
                <a:gd name="T134" fmla="+- 0 120 83"/>
                <a:gd name="T135" fmla="*/ 120 h 144"/>
                <a:gd name="T136" fmla="+- 0 3336 3155"/>
                <a:gd name="T137" fmla="*/ T136 w 465"/>
                <a:gd name="T138" fmla="+- 0 131 83"/>
                <a:gd name="T139" fmla="*/ 131 h 144"/>
                <a:gd name="T140" fmla="+- 0 3433 3155"/>
                <a:gd name="T141" fmla="*/ T140 w 465"/>
                <a:gd name="T142" fmla="+- 0 109 83"/>
                <a:gd name="T143" fmla="*/ 109 h 144"/>
                <a:gd name="T144" fmla="+- 0 3404 3155"/>
                <a:gd name="T145" fmla="*/ T144 w 465"/>
                <a:gd name="T146" fmla="+- 0 115 83"/>
                <a:gd name="T147" fmla="*/ 115 h 144"/>
                <a:gd name="T148" fmla="+- 0 3412 3155"/>
                <a:gd name="T149" fmla="*/ T148 w 465"/>
                <a:gd name="T150" fmla="+- 0 105 83"/>
                <a:gd name="T151" fmla="*/ 105 h 144"/>
                <a:gd name="T152" fmla="+- 0 3504 3155"/>
                <a:gd name="T153" fmla="*/ T152 w 465"/>
                <a:gd name="T154" fmla="+- 0 222 83"/>
                <a:gd name="T155" fmla="*/ 222 h 144"/>
                <a:gd name="T156" fmla="+- 0 3548 3155"/>
                <a:gd name="T157" fmla="*/ T156 w 465"/>
                <a:gd name="T158" fmla="+- 0 176 83"/>
                <a:gd name="T159" fmla="*/ 176 h 144"/>
                <a:gd name="T160" fmla="+- 0 3591 3155"/>
                <a:gd name="T161" fmla="*/ T160 w 465"/>
                <a:gd name="T162" fmla="+- 0 209 83"/>
                <a:gd name="T163" fmla="*/ 209 h 144"/>
                <a:gd name="T164" fmla="+- 0 3582 3155"/>
                <a:gd name="T165" fmla="*/ T164 w 465"/>
                <a:gd name="T166" fmla="+- 0 222 83"/>
                <a:gd name="T167" fmla="*/ 222 h 144"/>
                <a:gd name="T168" fmla="+- 0 3538 3155"/>
                <a:gd name="T169" fmla="*/ T168 w 465"/>
                <a:gd name="T170" fmla="+- 0 212 83"/>
                <a:gd name="T171" fmla="*/ 212 h 144"/>
                <a:gd name="T172" fmla="+- 0 3537 3155"/>
                <a:gd name="T173" fmla="*/ T172 w 465"/>
                <a:gd name="T174" fmla="+- 0 208 83"/>
                <a:gd name="T175" fmla="*/ 208 h 144"/>
                <a:gd name="T176" fmla="+- 0 3474 3155"/>
                <a:gd name="T177" fmla="*/ T176 w 465"/>
                <a:gd name="T178" fmla="+- 0 188 83"/>
                <a:gd name="T179" fmla="*/ 188 h 144"/>
                <a:gd name="T180" fmla="+- 0 3501 3155"/>
                <a:gd name="T181" fmla="*/ T180 w 465"/>
                <a:gd name="T182" fmla="+- 0 177 83"/>
                <a:gd name="T183" fmla="*/ 177 h 144"/>
                <a:gd name="T184" fmla="+- 0 3578 3155"/>
                <a:gd name="T185" fmla="*/ T184 w 465"/>
                <a:gd name="T186" fmla="+- 0 175 83"/>
                <a:gd name="T187" fmla="*/ 175 h 144"/>
                <a:gd name="T188" fmla="+- 0 3618 3155"/>
                <a:gd name="T189" fmla="*/ T188 w 465"/>
                <a:gd name="T190" fmla="+- 0 176 83"/>
                <a:gd name="T191" fmla="*/ 176 h 144"/>
                <a:gd name="T192" fmla="+- 0 3581 3155"/>
                <a:gd name="T193" fmla="*/ T192 w 465"/>
                <a:gd name="T194" fmla="+- 0 177 83"/>
                <a:gd name="T195" fmla="*/ 177 h 144"/>
                <a:gd name="T196" fmla="+- 0 3601 3155"/>
                <a:gd name="T197" fmla="*/ T196 w 465"/>
                <a:gd name="T198" fmla="+- 0 138 83"/>
                <a:gd name="T199" fmla="*/ 138 h 144"/>
                <a:gd name="T200" fmla="+- 0 3611 3155"/>
                <a:gd name="T201" fmla="*/ T200 w 465"/>
                <a:gd name="T202" fmla="+- 0 146 83"/>
                <a:gd name="T203" fmla="*/ 146 h 144"/>
                <a:gd name="T204" fmla="+- 0 3548 3155"/>
                <a:gd name="T205" fmla="*/ T204 w 465"/>
                <a:gd name="T206" fmla="+- 0 137 83"/>
                <a:gd name="T207" fmla="*/ 137 h 144"/>
                <a:gd name="T208" fmla="+- 0 3568 3155"/>
                <a:gd name="T209" fmla="*/ T208 w 465"/>
                <a:gd name="T210" fmla="+- 0 136 83"/>
                <a:gd name="T211" fmla="*/ 136 h 144"/>
                <a:gd name="T212" fmla="+- 0 3576 3155"/>
                <a:gd name="T213" fmla="*/ T212 w 465"/>
                <a:gd name="T214" fmla="+- 0 129 83"/>
                <a:gd name="T215" fmla="*/ 129 h 144"/>
                <a:gd name="T216" fmla="+- 0 3504 3155"/>
                <a:gd name="T217" fmla="*/ T216 w 465"/>
                <a:gd name="T218" fmla="+- 0 122 83"/>
                <a:gd name="T219" fmla="*/ 122 h 144"/>
                <a:gd name="T220" fmla="+- 0 3493 3155"/>
                <a:gd name="T221" fmla="*/ T220 w 465"/>
                <a:gd name="T222" fmla="+- 0 87 83"/>
                <a:gd name="T223" fmla="*/ 87 h 144"/>
                <a:gd name="T224" fmla="+- 0 3551 3155"/>
                <a:gd name="T225" fmla="*/ T224 w 465"/>
                <a:gd name="T226" fmla="+- 0 92 83"/>
                <a:gd name="T227" fmla="*/ 92 h 144"/>
                <a:gd name="T228" fmla="+- 0 3596 3155"/>
                <a:gd name="T229" fmla="*/ T228 w 465"/>
                <a:gd name="T230" fmla="+- 0 122 83"/>
                <a:gd name="T231" fmla="*/ 122 h 144"/>
                <a:gd name="T232" fmla="+- 0 3524 3155"/>
                <a:gd name="T233" fmla="*/ T232 w 465"/>
                <a:gd name="T234" fmla="+- 0 122 83"/>
                <a:gd name="T235" fmla="*/ 122 h 144"/>
                <a:gd name="T236" fmla="+- 0 3536 3155"/>
                <a:gd name="T237" fmla="*/ T236 w 465"/>
                <a:gd name="T238" fmla="+- 0 118 83"/>
                <a:gd name="T239" fmla="*/ 118 h 144"/>
                <a:gd name="T240" fmla="+- 0 3589 3155"/>
                <a:gd name="T241" fmla="*/ T240 w 465"/>
                <a:gd name="T242" fmla="+- 0 88 83"/>
                <a:gd name="T243" fmla="*/ 88 h 144"/>
                <a:gd name="T244" fmla="+- 0 3531 3155"/>
                <a:gd name="T245" fmla="*/ T244 w 465"/>
                <a:gd name="T246" fmla="+- 0 88 83"/>
                <a:gd name="T247" fmla="*/ 88 h 144"/>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 ang="0">
                  <a:pos x="T129" y="T131"/>
                </a:cxn>
                <a:cxn ang="0">
                  <a:pos x="T133" y="T135"/>
                </a:cxn>
                <a:cxn ang="0">
                  <a:pos x="T137" y="T139"/>
                </a:cxn>
                <a:cxn ang="0">
                  <a:pos x="T141" y="T143"/>
                </a:cxn>
                <a:cxn ang="0">
                  <a:pos x="T145" y="T147"/>
                </a:cxn>
                <a:cxn ang="0">
                  <a:pos x="T149" y="T151"/>
                </a:cxn>
                <a:cxn ang="0">
                  <a:pos x="T153" y="T155"/>
                </a:cxn>
                <a:cxn ang="0">
                  <a:pos x="T157" y="T159"/>
                </a:cxn>
                <a:cxn ang="0">
                  <a:pos x="T161" y="T163"/>
                </a:cxn>
                <a:cxn ang="0">
                  <a:pos x="T165" y="T167"/>
                </a:cxn>
                <a:cxn ang="0">
                  <a:pos x="T169" y="T171"/>
                </a:cxn>
                <a:cxn ang="0">
                  <a:pos x="T173" y="T175"/>
                </a:cxn>
                <a:cxn ang="0">
                  <a:pos x="T177" y="T179"/>
                </a:cxn>
                <a:cxn ang="0">
                  <a:pos x="T181" y="T183"/>
                </a:cxn>
                <a:cxn ang="0">
                  <a:pos x="T185" y="T187"/>
                </a:cxn>
                <a:cxn ang="0">
                  <a:pos x="T189" y="T191"/>
                </a:cxn>
                <a:cxn ang="0">
                  <a:pos x="T193" y="T195"/>
                </a:cxn>
                <a:cxn ang="0">
                  <a:pos x="T197" y="T199"/>
                </a:cxn>
                <a:cxn ang="0">
                  <a:pos x="T201" y="T203"/>
                </a:cxn>
                <a:cxn ang="0">
                  <a:pos x="T205" y="T207"/>
                </a:cxn>
                <a:cxn ang="0">
                  <a:pos x="T209" y="T211"/>
                </a:cxn>
                <a:cxn ang="0">
                  <a:pos x="T213" y="T215"/>
                </a:cxn>
                <a:cxn ang="0">
                  <a:pos x="T217" y="T219"/>
                </a:cxn>
                <a:cxn ang="0">
                  <a:pos x="T221" y="T223"/>
                </a:cxn>
                <a:cxn ang="0">
                  <a:pos x="T225" y="T227"/>
                </a:cxn>
                <a:cxn ang="0">
                  <a:pos x="T229" y="T231"/>
                </a:cxn>
                <a:cxn ang="0">
                  <a:pos x="T233" y="T235"/>
                </a:cxn>
                <a:cxn ang="0">
                  <a:pos x="T237" y="T239"/>
                </a:cxn>
                <a:cxn ang="0">
                  <a:pos x="T241" y="T243"/>
                </a:cxn>
                <a:cxn ang="0">
                  <a:pos x="T245" y="T247"/>
                </a:cxn>
              </a:cxnLst>
              <a:rect l="0" t="0" r="r" b="b"/>
              <a:pathLst>
                <a:path w="465" h="144">
                  <a:moveTo>
                    <a:pt x="70" y="6"/>
                  </a:moveTo>
                  <a:lnTo>
                    <a:pt x="69" y="7"/>
                  </a:lnTo>
                  <a:lnTo>
                    <a:pt x="68" y="7"/>
                  </a:lnTo>
                  <a:lnTo>
                    <a:pt x="69" y="25"/>
                  </a:lnTo>
                  <a:lnTo>
                    <a:pt x="69" y="122"/>
                  </a:lnTo>
                  <a:lnTo>
                    <a:pt x="68" y="132"/>
                  </a:lnTo>
                  <a:lnTo>
                    <a:pt x="68" y="137"/>
                  </a:lnTo>
                  <a:lnTo>
                    <a:pt x="69" y="139"/>
                  </a:lnTo>
                  <a:lnTo>
                    <a:pt x="70" y="140"/>
                  </a:lnTo>
                  <a:lnTo>
                    <a:pt x="71" y="140"/>
                  </a:lnTo>
                  <a:lnTo>
                    <a:pt x="73" y="140"/>
                  </a:lnTo>
                  <a:lnTo>
                    <a:pt x="74" y="140"/>
                  </a:lnTo>
                  <a:lnTo>
                    <a:pt x="75" y="140"/>
                  </a:lnTo>
                  <a:lnTo>
                    <a:pt x="80" y="139"/>
                  </a:lnTo>
                  <a:lnTo>
                    <a:pt x="81" y="137"/>
                  </a:lnTo>
                  <a:lnTo>
                    <a:pt x="82" y="135"/>
                  </a:lnTo>
                  <a:lnTo>
                    <a:pt x="81" y="125"/>
                  </a:lnTo>
                  <a:lnTo>
                    <a:pt x="81" y="68"/>
                  </a:lnTo>
                  <a:lnTo>
                    <a:pt x="131" y="68"/>
                  </a:lnTo>
                  <a:lnTo>
                    <a:pt x="126" y="64"/>
                  </a:lnTo>
                  <a:lnTo>
                    <a:pt x="81" y="64"/>
                  </a:lnTo>
                  <a:lnTo>
                    <a:pt x="81" y="17"/>
                  </a:lnTo>
                  <a:lnTo>
                    <a:pt x="127" y="17"/>
                  </a:lnTo>
                  <a:lnTo>
                    <a:pt x="127" y="16"/>
                  </a:lnTo>
                  <a:lnTo>
                    <a:pt x="122" y="13"/>
                  </a:lnTo>
                  <a:lnTo>
                    <a:pt x="82" y="13"/>
                  </a:lnTo>
                  <a:lnTo>
                    <a:pt x="71" y="7"/>
                  </a:lnTo>
                  <a:lnTo>
                    <a:pt x="70" y="6"/>
                  </a:lnTo>
                  <a:close/>
                  <a:moveTo>
                    <a:pt x="91" y="68"/>
                  </a:moveTo>
                  <a:lnTo>
                    <a:pt x="89" y="68"/>
                  </a:lnTo>
                  <a:lnTo>
                    <a:pt x="90" y="72"/>
                  </a:lnTo>
                  <a:lnTo>
                    <a:pt x="90" y="77"/>
                  </a:lnTo>
                  <a:lnTo>
                    <a:pt x="90" y="79"/>
                  </a:lnTo>
                  <a:lnTo>
                    <a:pt x="91" y="86"/>
                  </a:lnTo>
                  <a:lnTo>
                    <a:pt x="92" y="90"/>
                  </a:lnTo>
                  <a:lnTo>
                    <a:pt x="95" y="98"/>
                  </a:lnTo>
                  <a:lnTo>
                    <a:pt x="96" y="101"/>
                  </a:lnTo>
                  <a:lnTo>
                    <a:pt x="98" y="105"/>
                  </a:lnTo>
                  <a:lnTo>
                    <a:pt x="100" y="108"/>
                  </a:lnTo>
                  <a:lnTo>
                    <a:pt x="101" y="111"/>
                  </a:lnTo>
                  <a:lnTo>
                    <a:pt x="97" y="117"/>
                  </a:lnTo>
                  <a:lnTo>
                    <a:pt x="89" y="127"/>
                  </a:lnTo>
                  <a:lnTo>
                    <a:pt x="87" y="130"/>
                  </a:lnTo>
                  <a:lnTo>
                    <a:pt x="84" y="133"/>
                  </a:lnTo>
                  <a:lnTo>
                    <a:pt x="83" y="135"/>
                  </a:lnTo>
                  <a:lnTo>
                    <a:pt x="83" y="136"/>
                  </a:lnTo>
                  <a:lnTo>
                    <a:pt x="84" y="136"/>
                  </a:lnTo>
                  <a:lnTo>
                    <a:pt x="86" y="135"/>
                  </a:lnTo>
                  <a:lnTo>
                    <a:pt x="94" y="128"/>
                  </a:lnTo>
                  <a:lnTo>
                    <a:pt x="98" y="126"/>
                  </a:lnTo>
                  <a:lnTo>
                    <a:pt x="100" y="123"/>
                  </a:lnTo>
                  <a:lnTo>
                    <a:pt x="103" y="121"/>
                  </a:lnTo>
                  <a:lnTo>
                    <a:pt x="107" y="117"/>
                  </a:lnTo>
                  <a:lnTo>
                    <a:pt x="129" y="117"/>
                  </a:lnTo>
                  <a:lnTo>
                    <a:pt x="125" y="115"/>
                  </a:lnTo>
                  <a:lnTo>
                    <a:pt x="122" y="113"/>
                  </a:lnTo>
                  <a:lnTo>
                    <a:pt x="118" y="111"/>
                  </a:lnTo>
                  <a:lnTo>
                    <a:pt x="116" y="110"/>
                  </a:lnTo>
                  <a:lnTo>
                    <a:pt x="114" y="108"/>
                  </a:lnTo>
                  <a:lnTo>
                    <a:pt x="118" y="101"/>
                  </a:lnTo>
                  <a:lnTo>
                    <a:pt x="118" y="100"/>
                  </a:lnTo>
                  <a:lnTo>
                    <a:pt x="107" y="100"/>
                  </a:lnTo>
                  <a:lnTo>
                    <a:pt x="103" y="95"/>
                  </a:lnTo>
                  <a:lnTo>
                    <a:pt x="100" y="91"/>
                  </a:lnTo>
                  <a:lnTo>
                    <a:pt x="97" y="86"/>
                  </a:lnTo>
                  <a:lnTo>
                    <a:pt x="95" y="81"/>
                  </a:lnTo>
                  <a:lnTo>
                    <a:pt x="93" y="77"/>
                  </a:lnTo>
                  <a:lnTo>
                    <a:pt x="92" y="72"/>
                  </a:lnTo>
                  <a:lnTo>
                    <a:pt x="91" y="68"/>
                  </a:lnTo>
                  <a:close/>
                  <a:moveTo>
                    <a:pt x="129" y="117"/>
                  </a:moveTo>
                  <a:lnTo>
                    <a:pt x="107" y="117"/>
                  </a:lnTo>
                  <a:lnTo>
                    <a:pt x="114" y="124"/>
                  </a:lnTo>
                  <a:lnTo>
                    <a:pt x="118" y="128"/>
                  </a:lnTo>
                  <a:lnTo>
                    <a:pt x="121" y="130"/>
                  </a:lnTo>
                  <a:lnTo>
                    <a:pt x="125" y="133"/>
                  </a:lnTo>
                  <a:lnTo>
                    <a:pt x="129" y="135"/>
                  </a:lnTo>
                  <a:lnTo>
                    <a:pt x="129" y="134"/>
                  </a:lnTo>
                  <a:lnTo>
                    <a:pt x="131" y="132"/>
                  </a:lnTo>
                  <a:lnTo>
                    <a:pt x="133" y="130"/>
                  </a:lnTo>
                  <a:lnTo>
                    <a:pt x="136" y="127"/>
                  </a:lnTo>
                  <a:lnTo>
                    <a:pt x="139" y="126"/>
                  </a:lnTo>
                  <a:lnTo>
                    <a:pt x="142" y="125"/>
                  </a:lnTo>
                  <a:lnTo>
                    <a:pt x="143" y="125"/>
                  </a:lnTo>
                  <a:lnTo>
                    <a:pt x="144" y="124"/>
                  </a:lnTo>
                  <a:lnTo>
                    <a:pt x="144" y="123"/>
                  </a:lnTo>
                  <a:lnTo>
                    <a:pt x="142" y="122"/>
                  </a:lnTo>
                  <a:lnTo>
                    <a:pt x="138" y="121"/>
                  </a:lnTo>
                  <a:lnTo>
                    <a:pt x="136" y="120"/>
                  </a:lnTo>
                  <a:lnTo>
                    <a:pt x="133" y="119"/>
                  </a:lnTo>
                  <a:lnTo>
                    <a:pt x="129" y="117"/>
                  </a:lnTo>
                  <a:close/>
                  <a:moveTo>
                    <a:pt x="131" y="68"/>
                  </a:moveTo>
                  <a:lnTo>
                    <a:pt x="116" y="68"/>
                  </a:lnTo>
                  <a:lnTo>
                    <a:pt x="115" y="71"/>
                  </a:lnTo>
                  <a:lnTo>
                    <a:pt x="114" y="76"/>
                  </a:lnTo>
                  <a:lnTo>
                    <a:pt x="113" y="79"/>
                  </a:lnTo>
                  <a:lnTo>
                    <a:pt x="111" y="89"/>
                  </a:lnTo>
                  <a:lnTo>
                    <a:pt x="110" y="92"/>
                  </a:lnTo>
                  <a:lnTo>
                    <a:pt x="108" y="96"/>
                  </a:lnTo>
                  <a:lnTo>
                    <a:pt x="107" y="100"/>
                  </a:lnTo>
                  <a:lnTo>
                    <a:pt x="118" y="100"/>
                  </a:lnTo>
                  <a:lnTo>
                    <a:pt x="120" y="97"/>
                  </a:lnTo>
                  <a:lnTo>
                    <a:pt x="121" y="94"/>
                  </a:lnTo>
                  <a:lnTo>
                    <a:pt x="122" y="91"/>
                  </a:lnTo>
                  <a:lnTo>
                    <a:pt x="125" y="84"/>
                  </a:lnTo>
                  <a:lnTo>
                    <a:pt x="128" y="74"/>
                  </a:lnTo>
                  <a:lnTo>
                    <a:pt x="132" y="72"/>
                  </a:lnTo>
                  <a:lnTo>
                    <a:pt x="134" y="71"/>
                  </a:lnTo>
                  <a:lnTo>
                    <a:pt x="133" y="70"/>
                  </a:lnTo>
                  <a:lnTo>
                    <a:pt x="132" y="69"/>
                  </a:lnTo>
                  <a:lnTo>
                    <a:pt x="131" y="68"/>
                  </a:lnTo>
                  <a:close/>
                  <a:moveTo>
                    <a:pt x="120" y="60"/>
                  </a:moveTo>
                  <a:lnTo>
                    <a:pt x="118" y="62"/>
                  </a:lnTo>
                  <a:lnTo>
                    <a:pt x="116" y="64"/>
                  </a:lnTo>
                  <a:lnTo>
                    <a:pt x="126" y="64"/>
                  </a:lnTo>
                  <a:lnTo>
                    <a:pt x="122" y="61"/>
                  </a:lnTo>
                  <a:lnTo>
                    <a:pt x="120" y="60"/>
                  </a:lnTo>
                  <a:close/>
                  <a:moveTo>
                    <a:pt x="92" y="41"/>
                  </a:moveTo>
                  <a:lnTo>
                    <a:pt x="91" y="42"/>
                  </a:lnTo>
                  <a:lnTo>
                    <a:pt x="91" y="43"/>
                  </a:lnTo>
                  <a:lnTo>
                    <a:pt x="92" y="44"/>
                  </a:lnTo>
                  <a:lnTo>
                    <a:pt x="99" y="46"/>
                  </a:lnTo>
                  <a:lnTo>
                    <a:pt x="101" y="49"/>
                  </a:lnTo>
                  <a:lnTo>
                    <a:pt x="102" y="54"/>
                  </a:lnTo>
                  <a:lnTo>
                    <a:pt x="102" y="56"/>
                  </a:lnTo>
                  <a:lnTo>
                    <a:pt x="103" y="56"/>
                  </a:lnTo>
                  <a:lnTo>
                    <a:pt x="104" y="57"/>
                  </a:lnTo>
                  <a:lnTo>
                    <a:pt x="105" y="57"/>
                  </a:lnTo>
                  <a:lnTo>
                    <a:pt x="108" y="56"/>
                  </a:lnTo>
                  <a:lnTo>
                    <a:pt x="115" y="52"/>
                  </a:lnTo>
                  <a:lnTo>
                    <a:pt x="118" y="50"/>
                  </a:lnTo>
                  <a:lnTo>
                    <a:pt x="120" y="48"/>
                  </a:lnTo>
                  <a:lnTo>
                    <a:pt x="121" y="45"/>
                  </a:lnTo>
                  <a:lnTo>
                    <a:pt x="122" y="43"/>
                  </a:lnTo>
                  <a:lnTo>
                    <a:pt x="100" y="43"/>
                  </a:lnTo>
                  <a:lnTo>
                    <a:pt x="98" y="43"/>
                  </a:lnTo>
                  <a:lnTo>
                    <a:pt x="92" y="41"/>
                  </a:lnTo>
                  <a:close/>
                  <a:moveTo>
                    <a:pt x="127" y="17"/>
                  </a:moveTo>
                  <a:lnTo>
                    <a:pt x="110" y="17"/>
                  </a:lnTo>
                  <a:lnTo>
                    <a:pt x="110" y="22"/>
                  </a:lnTo>
                  <a:lnTo>
                    <a:pt x="110" y="25"/>
                  </a:lnTo>
                  <a:lnTo>
                    <a:pt x="110" y="31"/>
                  </a:lnTo>
                  <a:lnTo>
                    <a:pt x="109" y="38"/>
                  </a:lnTo>
                  <a:lnTo>
                    <a:pt x="108" y="40"/>
                  </a:lnTo>
                  <a:lnTo>
                    <a:pt x="106" y="42"/>
                  </a:lnTo>
                  <a:lnTo>
                    <a:pt x="105" y="42"/>
                  </a:lnTo>
                  <a:lnTo>
                    <a:pt x="100" y="43"/>
                  </a:lnTo>
                  <a:lnTo>
                    <a:pt x="122" y="43"/>
                  </a:lnTo>
                  <a:lnTo>
                    <a:pt x="122" y="42"/>
                  </a:lnTo>
                  <a:lnTo>
                    <a:pt x="122" y="41"/>
                  </a:lnTo>
                  <a:lnTo>
                    <a:pt x="123" y="37"/>
                  </a:lnTo>
                  <a:lnTo>
                    <a:pt x="123" y="33"/>
                  </a:lnTo>
                  <a:lnTo>
                    <a:pt x="123" y="27"/>
                  </a:lnTo>
                  <a:lnTo>
                    <a:pt x="124" y="22"/>
                  </a:lnTo>
                  <a:lnTo>
                    <a:pt x="127" y="20"/>
                  </a:lnTo>
                  <a:lnTo>
                    <a:pt x="128" y="18"/>
                  </a:lnTo>
                  <a:lnTo>
                    <a:pt x="127" y="17"/>
                  </a:lnTo>
                  <a:close/>
                  <a:moveTo>
                    <a:pt x="114" y="8"/>
                  </a:moveTo>
                  <a:lnTo>
                    <a:pt x="113" y="9"/>
                  </a:lnTo>
                  <a:lnTo>
                    <a:pt x="110" y="13"/>
                  </a:lnTo>
                  <a:lnTo>
                    <a:pt x="122" y="13"/>
                  </a:lnTo>
                  <a:lnTo>
                    <a:pt x="117" y="9"/>
                  </a:lnTo>
                  <a:lnTo>
                    <a:pt x="114" y="8"/>
                  </a:lnTo>
                  <a:close/>
                  <a:moveTo>
                    <a:pt x="11" y="3"/>
                  </a:moveTo>
                  <a:lnTo>
                    <a:pt x="11" y="4"/>
                  </a:lnTo>
                  <a:lnTo>
                    <a:pt x="11" y="10"/>
                  </a:lnTo>
                  <a:lnTo>
                    <a:pt x="11" y="19"/>
                  </a:lnTo>
                  <a:lnTo>
                    <a:pt x="12" y="65"/>
                  </a:lnTo>
                  <a:lnTo>
                    <a:pt x="12" y="81"/>
                  </a:lnTo>
                  <a:lnTo>
                    <a:pt x="12" y="97"/>
                  </a:lnTo>
                  <a:lnTo>
                    <a:pt x="11" y="104"/>
                  </a:lnTo>
                  <a:lnTo>
                    <a:pt x="7" y="118"/>
                  </a:lnTo>
                  <a:lnTo>
                    <a:pt x="5" y="123"/>
                  </a:lnTo>
                  <a:lnTo>
                    <a:pt x="3" y="130"/>
                  </a:lnTo>
                  <a:lnTo>
                    <a:pt x="2" y="132"/>
                  </a:lnTo>
                  <a:lnTo>
                    <a:pt x="0" y="137"/>
                  </a:lnTo>
                  <a:lnTo>
                    <a:pt x="0" y="138"/>
                  </a:lnTo>
                  <a:lnTo>
                    <a:pt x="0" y="139"/>
                  </a:lnTo>
                  <a:lnTo>
                    <a:pt x="2" y="138"/>
                  </a:lnTo>
                  <a:lnTo>
                    <a:pt x="5" y="133"/>
                  </a:lnTo>
                  <a:lnTo>
                    <a:pt x="7" y="131"/>
                  </a:lnTo>
                  <a:lnTo>
                    <a:pt x="12" y="123"/>
                  </a:lnTo>
                  <a:lnTo>
                    <a:pt x="13" y="120"/>
                  </a:lnTo>
                  <a:lnTo>
                    <a:pt x="17" y="113"/>
                  </a:lnTo>
                  <a:lnTo>
                    <a:pt x="18" y="109"/>
                  </a:lnTo>
                  <a:lnTo>
                    <a:pt x="19" y="104"/>
                  </a:lnTo>
                  <a:lnTo>
                    <a:pt x="21" y="100"/>
                  </a:lnTo>
                  <a:lnTo>
                    <a:pt x="22" y="96"/>
                  </a:lnTo>
                  <a:lnTo>
                    <a:pt x="24" y="81"/>
                  </a:lnTo>
                  <a:lnTo>
                    <a:pt x="55" y="81"/>
                  </a:lnTo>
                  <a:lnTo>
                    <a:pt x="55" y="77"/>
                  </a:lnTo>
                  <a:lnTo>
                    <a:pt x="24" y="77"/>
                  </a:lnTo>
                  <a:lnTo>
                    <a:pt x="24" y="46"/>
                  </a:lnTo>
                  <a:lnTo>
                    <a:pt x="55" y="46"/>
                  </a:lnTo>
                  <a:lnTo>
                    <a:pt x="55" y="42"/>
                  </a:lnTo>
                  <a:lnTo>
                    <a:pt x="24" y="42"/>
                  </a:lnTo>
                  <a:lnTo>
                    <a:pt x="24" y="14"/>
                  </a:lnTo>
                  <a:lnTo>
                    <a:pt x="60" y="14"/>
                  </a:lnTo>
                  <a:lnTo>
                    <a:pt x="61" y="14"/>
                  </a:lnTo>
                  <a:lnTo>
                    <a:pt x="60" y="13"/>
                  </a:lnTo>
                  <a:lnTo>
                    <a:pt x="58" y="11"/>
                  </a:lnTo>
                  <a:lnTo>
                    <a:pt x="57" y="10"/>
                  </a:lnTo>
                  <a:lnTo>
                    <a:pt x="24" y="10"/>
                  </a:lnTo>
                  <a:lnTo>
                    <a:pt x="14" y="4"/>
                  </a:lnTo>
                  <a:lnTo>
                    <a:pt x="11" y="3"/>
                  </a:lnTo>
                  <a:close/>
                  <a:moveTo>
                    <a:pt x="27" y="122"/>
                  </a:moveTo>
                  <a:lnTo>
                    <a:pt x="26" y="122"/>
                  </a:lnTo>
                  <a:lnTo>
                    <a:pt x="25" y="123"/>
                  </a:lnTo>
                  <a:lnTo>
                    <a:pt x="26" y="124"/>
                  </a:lnTo>
                  <a:lnTo>
                    <a:pt x="27" y="125"/>
                  </a:lnTo>
                  <a:lnTo>
                    <a:pt x="29" y="126"/>
                  </a:lnTo>
                  <a:lnTo>
                    <a:pt x="31" y="127"/>
                  </a:lnTo>
                  <a:lnTo>
                    <a:pt x="33" y="128"/>
                  </a:lnTo>
                  <a:lnTo>
                    <a:pt x="36" y="132"/>
                  </a:lnTo>
                  <a:lnTo>
                    <a:pt x="37" y="134"/>
                  </a:lnTo>
                  <a:lnTo>
                    <a:pt x="37" y="135"/>
                  </a:lnTo>
                  <a:lnTo>
                    <a:pt x="38" y="136"/>
                  </a:lnTo>
                  <a:lnTo>
                    <a:pt x="38" y="138"/>
                  </a:lnTo>
                  <a:lnTo>
                    <a:pt x="40" y="139"/>
                  </a:lnTo>
                  <a:lnTo>
                    <a:pt x="42" y="138"/>
                  </a:lnTo>
                  <a:lnTo>
                    <a:pt x="49" y="136"/>
                  </a:lnTo>
                  <a:lnTo>
                    <a:pt x="51" y="135"/>
                  </a:lnTo>
                  <a:lnTo>
                    <a:pt x="52" y="134"/>
                  </a:lnTo>
                  <a:lnTo>
                    <a:pt x="54" y="132"/>
                  </a:lnTo>
                  <a:lnTo>
                    <a:pt x="55" y="130"/>
                  </a:lnTo>
                  <a:lnTo>
                    <a:pt x="55" y="128"/>
                  </a:lnTo>
                  <a:lnTo>
                    <a:pt x="55" y="124"/>
                  </a:lnTo>
                  <a:lnTo>
                    <a:pt x="39" y="124"/>
                  </a:lnTo>
                  <a:lnTo>
                    <a:pt x="36" y="124"/>
                  </a:lnTo>
                  <a:lnTo>
                    <a:pt x="27" y="122"/>
                  </a:lnTo>
                  <a:close/>
                  <a:moveTo>
                    <a:pt x="55" y="81"/>
                  </a:moveTo>
                  <a:lnTo>
                    <a:pt x="43" y="81"/>
                  </a:lnTo>
                  <a:lnTo>
                    <a:pt x="43" y="122"/>
                  </a:lnTo>
                  <a:lnTo>
                    <a:pt x="42" y="122"/>
                  </a:lnTo>
                  <a:lnTo>
                    <a:pt x="40" y="124"/>
                  </a:lnTo>
                  <a:lnTo>
                    <a:pt x="39" y="124"/>
                  </a:lnTo>
                  <a:lnTo>
                    <a:pt x="55" y="124"/>
                  </a:lnTo>
                  <a:lnTo>
                    <a:pt x="55" y="81"/>
                  </a:lnTo>
                  <a:close/>
                  <a:moveTo>
                    <a:pt x="55" y="46"/>
                  </a:moveTo>
                  <a:lnTo>
                    <a:pt x="43" y="46"/>
                  </a:lnTo>
                  <a:lnTo>
                    <a:pt x="43" y="77"/>
                  </a:lnTo>
                  <a:lnTo>
                    <a:pt x="55" y="77"/>
                  </a:lnTo>
                  <a:lnTo>
                    <a:pt x="55" y="46"/>
                  </a:lnTo>
                  <a:close/>
                  <a:moveTo>
                    <a:pt x="60" y="14"/>
                  </a:moveTo>
                  <a:lnTo>
                    <a:pt x="43" y="14"/>
                  </a:lnTo>
                  <a:lnTo>
                    <a:pt x="43" y="42"/>
                  </a:lnTo>
                  <a:lnTo>
                    <a:pt x="55" y="42"/>
                  </a:lnTo>
                  <a:lnTo>
                    <a:pt x="55" y="18"/>
                  </a:lnTo>
                  <a:lnTo>
                    <a:pt x="59" y="15"/>
                  </a:lnTo>
                  <a:lnTo>
                    <a:pt x="60" y="14"/>
                  </a:lnTo>
                  <a:close/>
                  <a:moveTo>
                    <a:pt x="47" y="3"/>
                  </a:moveTo>
                  <a:lnTo>
                    <a:pt x="47" y="3"/>
                  </a:lnTo>
                  <a:lnTo>
                    <a:pt x="46" y="4"/>
                  </a:lnTo>
                  <a:lnTo>
                    <a:pt x="42" y="10"/>
                  </a:lnTo>
                  <a:lnTo>
                    <a:pt x="57" y="10"/>
                  </a:lnTo>
                  <a:lnTo>
                    <a:pt x="50" y="5"/>
                  </a:lnTo>
                  <a:lnTo>
                    <a:pt x="47" y="3"/>
                  </a:lnTo>
                  <a:close/>
                  <a:moveTo>
                    <a:pt x="228" y="127"/>
                  </a:moveTo>
                  <a:lnTo>
                    <a:pt x="226" y="128"/>
                  </a:lnTo>
                  <a:lnTo>
                    <a:pt x="226" y="129"/>
                  </a:lnTo>
                  <a:lnTo>
                    <a:pt x="227" y="129"/>
                  </a:lnTo>
                  <a:lnTo>
                    <a:pt x="233" y="132"/>
                  </a:lnTo>
                  <a:lnTo>
                    <a:pt x="237" y="136"/>
                  </a:lnTo>
                  <a:lnTo>
                    <a:pt x="239" y="140"/>
                  </a:lnTo>
                  <a:lnTo>
                    <a:pt x="240" y="143"/>
                  </a:lnTo>
                  <a:lnTo>
                    <a:pt x="241" y="143"/>
                  </a:lnTo>
                  <a:lnTo>
                    <a:pt x="242" y="144"/>
                  </a:lnTo>
                  <a:lnTo>
                    <a:pt x="244" y="143"/>
                  </a:lnTo>
                  <a:lnTo>
                    <a:pt x="252" y="142"/>
                  </a:lnTo>
                  <a:lnTo>
                    <a:pt x="258" y="140"/>
                  </a:lnTo>
                  <a:lnTo>
                    <a:pt x="263" y="137"/>
                  </a:lnTo>
                  <a:lnTo>
                    <a:pt x="268" y="129"/>
                  </a:lnTo>
                  <a:lnTo>
                    <a:pt x="242" y="129"/>
                  </a:lnTo>
                  <a:lnTo>
                    <a:pt x="228" y="127"/>
                  </a:lnTo>
                  <a:close/>
                  <a:moveTo>
                    <a:pt x="230" y="91"/>
                  </a:moveTo>
                  <a:lnTo>
                    <a:pt x="215" y="91"/>
                  </a:lnTo>
                  <a:lnTo>
                    <a:pt x="213" y="99"/>
                  </a:lnTo>
                  <a:lnTo>
                    <a:pt x="212" y="102"/>
                  </a:lnTo>
                  <a:lnTo>
                    <a:pt x="209" y="107"/>
                  </a:lnTo>
                  <a:lnTo>
                    <a:pt x="205" y="115"/>
                  </a:lnTo>
                  <a:lnTo>
                    <a:pt x="200" y="121"/>
                  </a:lnTo>
                  <a:lnTo>
                    <a:pt x="193" y="126"/>
                  </a:lnTo>
                  <a:lnTo>
                    <a:pt x="183" y="132"/>
                  </a:lnTo>
                  <a:lnTo>
                    <a:pt x="170" y="137"/>
                  </a:lnTo>
                  <a:lnTo>
                    <a:pt x="165" y="139"/>
                  </a:lnTo>
                  <a:lnTo>
                    <a:pt x="163" y="140"/>
                  </a:lnTo>
                  <a:lnTo>
                    <a:pt x="164" y="141"/>
                  </a:lnTo>
                  <a:lnTo>
                    <a:pt x="166" y="141"/>
                  </a:lnTo>
                  <a:lnTo>
                    <a:pt x="181" y="138"/>
                  </a:lnTo>
                  <a:lnTo>
                    <a:pt x="189" y="135"/>
                  </a:lnTo>
                  <a:lnTo>
                    <a:pt x="208" y="127"/>
                  </a:lnTo>
                  <a:lnTo>
                    <a:pt x="214" y="122"/>
                  </a:lnTo>
                  <a:lnTo>
                    <a:pt x="222" y="111"/>
                  </a:lnTo>
                  <a:lnTo>
                    <a:pt x="225" y="107"/>
                  </a:lnTo>
                  <a:lnTo>
                    <a:pt x="227" y="101"/>
                  </a:lnTo>
                  <a:lnTo>
                    <a:pt x="230" y="91"/>
                  </a:lnTo>
                  <a:close/>
                  <a:moveTo>
                    <a:pt x="265" y="82"/>
                  </a:moveTo>
                  <a:lnTo>
                    <a:pt x="263" y="84"/>
                  </a:lnTo>
                  <a:lnTo>
                    <a:pt x="261" y="87"/>
                  </a:lnTo>
                  <a:lnTo>
                    <a:pt x="177" y="87"/>
                  </a:lnTo>
                  <a:lnTo>
                    <a:pt x="175" y="89"/>
                  </a:lnTo>
                  <a:lnTo>
                    <a:pt x="177" y="91"/>
                  </a:lnTo>
                  <a:lnTo>
                    <a:pt x="261" y="91"/>
                  </a:lnTo>
                  <a:lnTo>
                    <a:pt x="261" y="93"/>
                  </a:lnTo>
                  <a:lnTo>
                    <a:pt x="261" y="99"/>
                  </a:lnTo>
                  <a:lnTo>
                    <a:pt x="261" y="101"/>
                  </a:lnTo>
                  <a:lnTo>
                    <a:pt x="260" y="106"/>
                  </a:lnTo>
                  <a:lnTo>
                    <a:pt x="258" y="116"/>
                  </a:lnTo>
                  <a:lnTo>
                    <a:pt x="257" y="120"/>
                  </a:lnTo>
                  <a:lnTo>
                    <a:pt x="255" y="123"/>
                  </a:lnTo>
                  <a:lnTo>
                    <a:pt x="254" y="125"/>
                  </a:lnTo>
                  <a:lnTo>
                    <a:pt x="252" y="127"/>
                  </a:lnTo>
                  <a:lnTo>
                    <a:pt x="247" y="129"/>
                  </a:lnTo>
                  <a:lnTo>
                    <a:pt x="242" y="129"/>
                  </a:lnTo>
                  <a:lnTo>
                    <a:pt x="268" y="129"/>
                  </a:lnTo>
                  <a:lnTo>
                    <a:pt x="270" y="126"/>
                  </a:lnTo>
                  <a:lnTo>
                    <a:pt x="272" y="120"/>
                  </a:lnTo>
                  <a:lnTo>
                    <a:pt x="275" y="97"/>
                  </a:lnTo>
                  <a:lnTo>
                    <a:pt x="280" y="95"/>
                  </a:lnTo>
                  <a:lnTo>
                    <a:pt x="281" y="94"/>
                  </a:lnTo>
                  <a:lnTo>
                    <a:pt x="282" y="93"/>
                  </a:lnTo>
                  <a:lnTo>
                    <a:pt x="281" y="92"/>
                  </a:lnTo>
                  <a:lnTo>
                    <a:pt x="280" y="90"/>
                  </a:lnTo>
                  <a:lnTo>
                    <a:pt x="268" y="83"/>
                  </a:lnTo>
                  <a:lnTo>
                    <a:pt x="265" y="82"/>
                  </a:lnTo>
                  <a:close/>
                  <a:moveTo>
                    <a:pt x="220" y="69"/>
                  </a:moveTo>
                  <a:lnTo>
                    <a:pt x="217" y="69"/>
                  </a:lnTo>
                  <a:lnTo>
                    <a:pt x="217" y="76"/>
                  </a:lnTo>
                  <a:lnTo>
                    <a:pt x="216" y="82"/>
                  </a:lnTo>
                  <a:lnTo>
                    <a:pt x="216" y="85"/>
                  </a:lnTo>
                  <a:lnTo>
                    <a:pt x="216" y="87"/>
                  </a:lnTo>
                  <a:lnTo>
                    <a:pt x="231" y="87"/>
                  </a:lnTo>
                  <a:lnTo>
                    <a:pt x="231" y="85"/>
                  </a:lnTo>
                  <a:lnTo>
                    <a:pt x="231" y="81"/>
                  </a:lnTo>
                  <a:lnTo>
                    <a:pt x="232" y="78"/>
                  </a:lnTo>
                  <a:lnTo>
                    <a:pt x="236" y="76"/>
                  </a:lnTo>
                  <a:lnTo>
                    <a:pt x="238" y="74"/>
                  </a:lnTo>
                  <a:lnTo>
                    <a:pt x="235" y="72"/>
                  </a:lnTo>
                  <a:lnTo>
                    <a:pt x="220" y="69"/>
                  </a:lnTo>
                  <a:close/>
                  <a:moveTo>
                    <a:pt x="255" y="60"/>
                  </a:moveTo>
                  <a:lnTo>
                    <a:pt x="233" y="60"/>
                  </a:lnTo>
                  <a:lnTo>
                    <a:pt x="238" y="64"/>
                  </a:lnTo>
                  <a:lnTo>
                    <a:pt x="244" y="68"/>
                  </a:lnTo>
                  <a:lnTo>
                    <a:pt x="257" y="76"/>
                  </a:lnTo>
                  <a:lnTo>
                    <a:pt x="265" y="79"/>
                  </a:lnTo>
                  <a:lnTo>
                    <a:pt x="282" y="85"/>
                  </a:lnTo>
                  <a:lnTo>
                    <a:pt x="287" y="86"/>
                  </a:lnTo>
                  <a:lnTo>
                    <a:pt x="289" y="86"/>
                  </a:lnTo>
                  <a:lnTo>
                    <a:pt x="290" y="86"/>
                  </a:lnTo>
                  <a:lnTo>
                    <a:pt x="291" y="83"/>
                  </a:lnTo>
                  <a:lnTo>
                    <a:pt x="292" y="80"/>
                  </a:lnTo>
                  <a:lnTo>
                    <a:pt x="295" y="76"/>
                  </a:lnTo>
                  <a:lnTo>
                    <a:pt x="300" y="73"/>
                  </a:lnTo>
                  <a:lnTo>
                    <a:pt x="303" y="71"/>
                  </a:lnTo>
                  <a:lnTo>
                    <a:pt x="304" y="70"/>
                  </a:lnTo>
                  <a:lnTo>
                    <a:pt x="303" y="69"/>
                  </a:lnTo>
                  <a:lnTo>
                    <a:pt x="292" y="69"/>
                  </a:lnTo>
                  <a:lnTo>
                    <a:pt x="289" y="69"/>
                  </a:lnTo>
                  <a:lnTo>
                    <a:pt x="284" y="68"/>
                  </a:lnTo>
                  <a:lnTo>
                    <a:pt x="279" y="67"/>
                  </a:lnTo>
                  <a:lnTo>
                    <a:pt x="266" y="64"/>
                  </a:lnTo>
                  <a:lnTo>
                    <a:pt x="260" y="62"/>
                  </a:lnTo>
                  <a:lnTo>
                    <a:pt x="255" y="60"/>
                  </a:lnTo>
                  <a:close/>
                  <a:moveTo>
                    <a:pt x="214" y="26"/>
                  </a:moveTo>
                  <a:lnTo>
                    <a:pt x="211" y="26"/>
                  </a:lnTo>
                  <a:lnTo>
                    <a:pt x="213" y="32"/>
                  </a:lnTo>
                  <a:lnTo>
                    <a:pt x="213" y="34"/>
                  </a:lnTo>
                  <a:lnTo>
                    <a:pt x="214" y="36"/>
                  </a:lnTo>
                  <a:lnTo>
                    <a:pt x="217" y="41"/>
                  </a:lnTo>
                  <a:lnTo>
                    <a:pt x="220" y="46"/>
                  </a:lnTo>
                  <a:lnTo>
                    <a:pt x="224" y="52"/>
                  </a:lnTo>
                  <a:lnTo>
                    <a:pt x="213" y="60"/>
                  </a:lnTo>
                  <a:lnTo>
                    <a:pt x="202" y="66"/>
                  </a:lnTo>
                  <a:lnTo>
                    <a:pt x="181" y="77"/>
                  </a:lnTo>
                  <a:lnTo>
                    <a:pt x="173" y="80"/>
                  </a:lnTo>
                  <a:lnTo>
                    <a:pt x="161" y="84"/>
                  </a:lnTo>
                  <a:lnTo>
                    <a:pt x="160" y="85"/>
                  </a:lnTo>
                  <a:lnTo>
                    <a:pt x="160" y="86"/>
                  </a:lnTo>
                  <a:lnTo>
                    <a:pt x="163" y="86"/>
                  </a:lnTo>
                  <a:lnTo>
                    <a:pt x="177" y="83"/>
                  </a:lnTo>
                  <a:lnTo>
                    <a:pt x="185" y="81"/>
                  </a:lnTo>
                  <a:lnTo>
                    <a:pt x="200" y="76"/>
                  </a:lnTo>
                  <a:lnTo>
                    <a:pt x="208" y="73"/>
                  </a:lnTo>
                  <a:lnTo>
                    <a:pt x="217" y="69"/>
                  </a:lnTo>
                  <a:lnTo>
                    <a:pt x="220" y="69"/>
                  </a:lnTo>
                  <a:lnTo>
                    <a:pt x="217" y="68"/>
                  </a:lnTo>
                  <a:lnTo>
                    <a:pt x="223" y="66"/>
                  </a:lnTo>
                  <a:lnTo>
                    <a:pt x="228" y="63"/>
                  </a:lnTo>
                  <a:lnTo>
                    <a:pt x="233" y="60"/>
                  </a:lnTo>
                  <a:lnTo>
                    <a:pt x="255" y="60"/>
                  </a:lnTo>
                  <a:lnTo>
                    <a:pt x="251" y="58"/>
                  </a:lnTo>
                  <a:lnTo>
                    <a:pt x="247" y="56"/>
                  </a:lnTo>
                  <a:lnTo>
                    <a:pt x="243" y="54"/>
                  </a:lnTo>
                  <a:lnTo>
                    <a:pt x="253" y="48"/>
                  </a:lnTo>
                  <a:lnTo>
                    <a:pt x="253" y="47"/>
                  </a:lnTo>
                  <a:lnTo>
                    <a:pt x="231" y="47"/>
                  </a:lnTo>
                  <a:lnTo>
                    <a:pt x="227" y="43"/>
                  </a:lnTo>
                  <a:lnTo>
                    <a:pt x="224" y="40"/>
                  </a:lnTo>
                  <a:lnTo>
                    <a:pt x="221" y="37"/>
                  </a:lnTo>
                  <a:lnTo>
                    <a:pt x="219" y="34"/>
                  </a:lnTo>
                  <a:lnTo>
                    <a:pt x="216" y="30"/>
                  </a:lnTo>
                  <a:lnTo>
                    <a:pt x="214" y="26"/>
                  </a:lnTo>
                  <a:close/>
                  <a:moveTo>
                    <a:pt x="208" y="0"/>
                  </a:moveTo>
                  <a:lnTo>
                    <a:pt x="208" y="0"/>
                  </a:lnTo>
                  <a:lnTo>
                    <a:pt x="207" y="2"/>
                  </a:lnTo>
                  <a:lnTo>
                    <a:pt x="204" y="9"/>
                  </a:lnTo>
                  <a:lnTo>
                    <a:pt x="202" y="14"/>
                  </a:lnTo>
                  <a:lnTo>
                    <a:pt x="199" y="21"/>
                  </a:lnTo>
                  <a:lnTo>
                    <a:pt x="191" y="35"/>
                  </a:lnTo>
                  <a:lnTo>
                    <a:pt x="187" y="41"/>
                  </a:lnTo>
                  <a:lnTo>
                    <a:pt x="181" y="48"/>
                  </a:lnTo>
                  <a:lnTo>
                    <a:pt x="179" y="51"/>
                  </a:lnTo>
                  <a:lnTo>
                    <a:pt x="172" y="60"/>
                  </a:lnTo>
                  <a:lnTo>
                    <a:pt x="171" y="61"/>
                  </a:lnTo>
                  <a:lnTo>
                    <a:pt x="171" y="62"/>
                  </a:lnTo>
                  <a:lnTo>
                    <a:pt x="173" y="62"/>
                  </a:lnTo>
                  <a:lnTo>
                    <a:pt x="179" y="58"/>
                  </a:lnTo>
                  <a:lnTo>
                    <a:pt x="185" y="53"/>
                  </a:lnTo>
                  <a:lnTo>
                    <a:pt x="190" y="48"/>
                  </a:lnTo>
                  <a:lnTo>
                    <a:pt x="199" y="39"/>
                  </a:lnTo>
                  <a:lnTo>
                    <a:pt x="205" y="33"/>
                  </a:lnTo>
                  <a:lnTo>
                    <a:pt x="211" y="26"/>
                  </a:lnTo>
                  <a:lnTo>
                    <a:pt x="278" y="26"/>
                  </a:lnTo>
                  <a:lnTo>
                    <a:pt x="271" y="22"/>
                  </a:lnTo>
                  <a:lnTo>
                    <a:pt x="215" y="22"/>
                  </a:lnTo>
                  <a:lnTo>
                    <a:pt x="216" y="19"/>
                  </a:lnTo>
                  <a:lnTo>
                    <a:pt x="222" y="12"/>
                  </a:lnTo>
                  <a:lnTo>
                    <a:pt x="225" y="10"/>
                  </a:lnTo>
                  <a:lnTo>
                    <a:pt x="227" y="8"/>
                  </a:lnTo>
                  <a:lnTo>
                    <a:pt x="225" y="6"/>
                  </a:lnTo>
                  <a:lnTo>
                    <a:pt x="211" y="1"/>
                  </a:lnTo>
                  <a:lnTo>
                    <a:pt x="208" y="0"/>
                  </a:lnTo>
                  <a:close/>
                  <a:moveTo>
                    <a:pt x="278" y="26"/>
                  </a:moveTo>
                  <a:lnTo>
                    <a:pt x="254" y="26"/>
                  </a:lnTo>
                  <a:lnTo>
                    <a:pt x="249" y="32"/>
                  </a:lnTo>
                  <a:lnTo>
                    <a:pt x="241" y="39"/>
                  </a:lnTo>
                  <a:lnTo>
                    <a:pt x="231" y="47"/>
                  </a:lnTo>
                  <a:lnTo>
                    <a:pt x="253" y="47"/>
                  </a:lnTo>
                  <a:lnTo>
                    <a:pt x="262" y="40"/>
                  </a:lnTo>
                  <a:lnTo>
                    <a:pt x="272" y="32"/>
                  </a:lnTo>
                  <a:lnTo>
                    <a:pt x="280" y="30"/>
                  </a:lnTo>
                  <a:lnTo>
                    <a:pt x="281" y="29"/>
                  </a:lnTo>
                  <a:lnTo>
                    <a:pt x="280" y="28"/>
                  </a:lnTo>
                  <a:lnTo>
                    <a:pt x="278" y="26"/>
                  </a:lnTo>
                  <a:close/>
                  <a:moveTo>
                    <a:pt x="262" y="16"/>
                  </a:moveTo>
                  <a:lnTo>
                    <a:pt x="260" y="18"/>
                  </a:lnTo>
                  <a:lnTo>
                    <a:pt x="257" y="22"/>
                  </a:lnTo>
                  <a:lnTo>
                    <a:pt x="271" y="22"/>
                  </a:lnTo>
                  <a:lnTo>
                    <a:pt x="264" y="17"/>
                  </a:lnTo>
                  <a:lnTo>
                    <a:pt x="262" y="16"/>
                  </a:lnTo>
                  <a:close/>
                  <a:moveTo>
                    <a:pt x="384" y="98"/>
                  </a:moveTo>
                  <a:lnTo>
                    <a:pt x="340" y="98"/>
                  </a:lnTo>
                  <a:lnTo>
                    <a:pt x="340" y="129"/>
                  </a:lnTo>
                  <a:lnTo>
                    <a:pt x="340" y="138"/>
                  </a:lnTo>
                  <a:lnTo>
                    <a:pt x="341" y="140"/>
                  </a:lnTo>
                  <a:lnTo>
                    <a:pt x="343" y="140"/>
                  </a:lnTo>
                  <a:lnTo>
                    <a:pt x="346" y="140"/>
                  </a:lnTo>
                  <a:lnTo>
                    <a:pt x="348" y="140"/>
                  </a:lnTo>
                  <a:lnTo>
                    <a:pt x="349" y="139"/>
                  </a:lnTo>
                  <a:lnTo>
                    <a:pt x="351" y="137"/>
                  </a:lnTo>
                  <a:lnTo>
                    <a:pt x="351" y="129"/>
                  </a:lnTo>
                  <a:lnTo>
                    <a:pt x="383" y="129"/>
                  </a:lnTo>
                  <a:lnTo>
                    <a:pt x="382" y="125"/>
                  </a:lnTo>
                  <a:lnTo>
                    <a:pt x="351" y="125"/>
                  </a:lnTo>
                  <a:lnTo>
                    <a:pt x="351" y="102"/>
                  </a:lnTo>
                  <a:lnTo>
                    <a:pt x="386" y="102"/>
                  </a:lnTo>
                  <a:lnTo>
                    <a:pt x="387" y="101"/>
                  </a:lnTo>
                  <a:lnTo>
                    <a:pt x="386" y="100"/>
                  </a:lnTo>
                  <a:lnTo>
                    <a:pt x="384" y="98"/>
                  </a:lnTo>
                  <a:close/>
                  <a:moveTo>
                    <a:pt x="393" y="93"/>
                  </a:moveTo>
                  <a:lnTo>
                    <a:pt x="393" y="93"/>
                  </a:lnTo>
                  <a:lnTo>
                    <a:pt x="393" y="95"/>
                  </a:lnTo>
                  <a:lnTo>
                    <a:pt x="393" y="98"/>
                  </a:lnTo>
                  <a:lnTo>
                    <a:pt x="393" y="129"/>
                  </a:lnTo>
                  <a:lnTo>
                    <a:pt x="393" y="139"/>
                  </a:lnTo>
                  <a:lnTo>
                    <a:pt x="393" y="140"/>
                  </a:lnTo>
                  <a:lnTo>
                    <a:pt x="395" y="140"/>
                  </a:lnTo>
                  <a:lnTo>
                    <a:pt x="398" y="140"/>
                  </a:lnTo>
                  <a:lnTo>
                    <a:pt x="403" y="139"/>
                  </a:lnTo>
                  <a:lnTo>
                    <a:pt x="404" y="138"/>
                  </a:lnTo>
                  <a:lnTo>
                    <a:pt x="404" y="130"/>
                  </a:lnTo>
                  <a:lnTo>
                    <a:pt x="436" y="130"/>
                  </a:lnTo>
                  <a:lnTo>
                    <a:pt x="436" y="126"/>
                  </a:lnTo>
                  <a:lnTo>
                    <a:pt x="404" y="126"/>
                  </a:lnTo>
                  <a:lnTo>
                    <a:pt x="404" y="102"/>
                  </a:lnTo>
                  <a:lnTo>
                    <a:pt x="438" y="102"/>
                  </a:lnTo>
                  <a:lnTo>
                    <a:pt x="435" y="100"/>
                  </a:lnTo>
                  <a:lnTo>
                    <a:pt x="432" y="98"/>
                  </a:lnTo>
                  <a:lnTo>
                    <a:pt x="406" y="98"/>
                  </a:lnTo>
                  <a:lnTo>
                    <a:pt x="393" y="93"/>
                  </a:lnTo>
                  <a:close/>
                  <a:moveTo>
                    <a:pt x="436" y="130"/>
                  </a:moveTo>
                  <a:lnTo>
                    <a:pt x="424" y="130"/>
                  </a:lnTo>
                  <a:lnTo>
                    <a:pt x="424" y="138"/>
                  </a:lnTo>
                  <a:lnTo>
                    <a:pt x="425" y="139"/>
                  </a:lnTo>
                  <a:lnTo>
                    <a:pt x="427" y="139"/>
                  </a:lnTo>
                  <a:lnTo>
                    <a:pt x="432" y="139"/>
                  </a:lnTo>
                  <a:lnTo>
                    <a:pt x="435" y="138"/>
                  </a:lnTo>
                  <a:lnTo>
                    <a:pt x="436" y="136"/>
                  </a:lnTo>
                  <a:lnTo>
                    <a:pt x="436" y="130"/>
                  </a:lnTo>
                  <a:close/>
                  <a:moveTo>
                    <a:pt x="383" y="129"/>
                  </a:moveTo>
                  <a:lnTo>
                    <a:pt x="371" y="129"/>
                  </a:lnTo>
                  <a:lnTo>
                    <a:pt x="371" y="137"/>
                  </a:lnTo>
                  <a:lnTo>
                    <a:pt x="373" y="139"/>
                  </a:lnTo>
                  <a:lnTo>
                    <a:pt x="378" y="139"/>
                  </a:lnTo>
                  <a:lnTo>
                    <a:pt x="382" y="137"/>
                  </a:lnTo>
                  <a:lnTo>
                    <a:pt x="383" y="135"/>
                  </a:lnTo>
                  <a:lnTo>
                    <a:pt x="383" y="129"/>
                  </a:lnTo>
                  <a:close/>
                  <a:moveTo>
                    <a:pt x="438" y="102"/>
                  </a:moveTo>
                  <a:lnTo>
                    <a:pt x="424" y="102"/>
                  </a:lnTo>
                  <a:lnTo>
                    <a:pt x="424" y="126"/>
                  </a:lnTo>
                  <a:lnTo>
                    <a:pt x="436" y="126"/>
                  </a:lnTo>
                  <a:lnTo>
                    <a:pt x="436" y="105"/>
                  </a:lnTo>
                  <a:lnTo>
                    <a:pt x="438" y="103"/>
                  </a:lnTo>
                  <a:lnTo>
                    <a:pt x="439" y="102"/>
                  </a:lnTo>
                  <a:lnTo>
                    <a:pt x="438" y="102"/>
                  </a:lnTo>
                  <a:close/>
                  <a:moveTo>
                    <a:pt x="386" y="102"/>
                  </a:moveTo>
                  <a:lnTo>
                    <a:pt x="371" y="102"/>
                  </a:lnTo>
                  <a:lnTo>
                    <a:pt x="371" y="125"/>
                  </a:lnTo>
                  <a:lnTo>
                    <a:pt x="382" y="125"/>
                  </a:lnTo>
                  <a:lnTo>
                    <a:pt x="382" y="105"/>
                  </a:lnTo>
                  <a:lnTo>
                    <a:pt x="385" y="103"/>
                  </a:lnTo>
                  <a:lnTo>
                    <a:pt x="386" y="102"/>
                  </a:lnTo>
                  <a:close/>
                  <a:moveTo>
                    <a:pt x="381" y="68"/>
                  </a:moveTo>
                  <a:lnTo>
                    <a:pt x="364" y="68"/>
                  </a:lnTo>
                  <a:lnTo>
                    <a:pt x="358" y="75"/>
                  </a:lnTo>
                  <a:lnTo>
                    <a:pt x="351" y="82"/>
                  </a:lnTo>
                  <a:lnTo>
                    <a:pt x="336" y="93"/>
                  </a:lnTo>
                  <a:lnTo>
                    <a:pt x="331" y="97"/>
                  </a:lnTo>
                  <a:lnTo>
                    <a:pt x="324" y="102"/>
                  </a:lnTo>
                  <a:lnTo>
                    <a:pt x="320" y="104"/>
                  </a:lnTo>
                  <a:lnTo>
                    <a:pt x="319" y="105"/>
                  </a:lnTo>
                  <a:lnTo>
                    <a:pt x="320" y="106"/>
                  </a:lnTo>
                  <a:lnTo>
                    <a:pt x="321" y="106"/>
                  </a:lnTo>
                  <a:lnTo>
                    <a:pt x="322" y="106"/>
                  </a:lnTo>
                  <a:lnTo>
                    <a:pt x="325" y="105"/>
                  </a:lnTo>
                  <a:lnTo>
                    <a:pt x="332" y="102"/>
                  </a:lnTo>
                  <a:lnTo>
                    <a:pt x="335" y="100"/>
                  </a:lnTo>
                  <a:lnTo>
                    <a:pt x="340" y="98"/>
                  </a:lnTo>
                  <a:lnTo>
                    <a:pt x="384" y="98"/>
                  </a:lnTo>
                  <a:lnTo>
                    <a:pt x="383" y="97"/>
                  </a:lnTo>
                  <a:lnTo>
                    <a:pt x="351" y="97"/>
                  </a:lnTo>
                  <a:lnTo>
                    <a:pt x="346" y="94"/>
                  </a:lnTo>
                  <a:lnTo>
                    <a:pt x="353" y="90"/>
                  </a:lnTo>
                  <a:lnTo>
                    <a:pt x="359" y="86"/>
                  </a:lnTo>
                  <a:lnTo>
                    <a:pt x="370" y="78"/>
                  </a:lnTo>
                  <a:lnTo>
                    <a:pt x="375" y="73"/>
                  </a:lnTo>
                  <a:lnTo>
                    <a:pt x="381" y="68"/>
                  </a:lnTo>
                  <a:close/>
                  <a:moveTo>
                    <a:pt x="407" y="68"/>
                  </a:moveTo>
                  <a:lnTo>
                    <a:pt x="404" y="68"/>
                  </a:lnTo>
                  <a:lnTo>
                    <a:pt x="405" y="70"/>
                  </a:lnTo>
                  <a:lnTo>
                    <a:pt x="406" y="73"/>
                  </a:lnTo>
                  <a:lnTo>
                    <a:pt x="411" y="82"/>
                  </a:lnTo>
                  <a:lnTo>
                    <a:pt x="414" y="85"/>
                  </a:lnTo>
                  <a:lnTo>
                    <a:pt x="423" y="92"/>
                  </a:lnTo>
                  <a:lnTo>
                    <a:pt x="426" y="94"/>
                  </a:lnTo>
                  <a:lnTo>
                    <a:pt x="434" y="98"/>
                  </a:lnTo>
                  <a:lnTo>
                    <a:pt x="439" y="101"/>
                  </a:lnTo>
                  <a:lnTo>
                    <a:pt x="441" y="102"/>
                  </a:lnTo>
                  <a:lnTo>
                    <a:pt x="448" y="104"/>
                  </a:lnTo>
                  <a:lnTo>
                    <a:pt x="449" y="104"/>
                  </a:lnTo>
                  <a:lnTo>
                    <a:pt x="451" y="102"/>
                  </a:lnTo>
                  <a:lnTo>
                    <a:pt x="452" y="100"/>
                  </a:lnTo>
                  <a:lnTo>
                    <a:pt x="454" y="99"/>
                  </a:lnTo>
                  <a:lnTo>
                    <a:pt x="457" y="96"/>
                  </a:lnTo>
                  <a:lnTo>
                    <a:pt x="459" y="95"/>
                  </a:lnTo>
                  <a:lnTo>
                    <a:pt x="463" y="93"/>
                  </a:lnTo>
                  <a:lnTo>
                    <a:pt x="464" y="92"/>
                  </a:lnTo>
                  <a:lnTo>
                    <a:pt x="465" y="91"/>
                  </a:lnTo>
                  <a:lnTo>
                    <a:pt x="463" y="91"/>
                  </a:lnTo>
                  <a:lnTo>
                    <a:pt x="458" y="90"/>
                  </a:lnTo>
                  <a:lnTo>
                    <a:pt x="453" y="90"/>
                  </a:lnTo>
                  <a:lnTo>
                    <a:pt x="448" y="89"/>
                  </a:lnTo>
                  <a:lnTo>
                    <a:pt x="437" y="85"/>
                  </a:lnTo>
                  <a:lnTo>
                    <a:pt x="431" y="83"/>
                  </a:lnTo>
                  <a:lnTo>
                    <a:pt x="418" y="78"/>
                  </a:lnTo>
                  <a:lnTo>
                    <a:pt x="412" y="73"/>
                  </a:lnTo>
                  <a:lnTo>
                    <a:pt x="407" y="68"/>
                  </a:lnTo>
                  <a:close/>
                  <a:moveTo>
                    <a:pt x="426" y="94"/>
                  </a:moveTo>
                  <a:lnTo>
                    <a:pt x="425" y="95"/>
                  </a:lnTo>
                  <a:lnTo>
                    <a:pt x="423" y="98"/>
                  </a:lnTo>
                  <a:lnTo>
                    <a:pt x="432" y="98"/>
                  </a:lnTo>
                  <a:lnTo>
                    <a:pt x="428" y="95"/>
                  </a:lnTo>
                  <a:lnTo>
                    <a:pt x="426" y="94"/>
                  </a:lnTo>
                  <a:close/>
                  <a:moveTo>
                    <a:pt x="375" y="92"/>
                  </a:moveTo>
                  <a:lnTo>
                    <a:pt x="373" y="94"/>
                  </a:lnTo>
                  <a:lnTo>
                    <a:pt x="370" y="97"/>
                  </a:lnTo>
                  <a:lnTo>
                    <a:pt x="383" y="97"/>
                  </a:lnTo>
                  <a:lnTo>
                    <a:pt x="378" y="94"/>
                  </a:lnTo>
                  <a:lnTo>
                    <a:pt x="375" y="92"/>
                  </a:lnTo>
                  <a:close/>
                  <a:moveTo>
                    <a:pt x="446" y="55"/>
                  </a:moveTo>
                  <a:lnTo>
                    <a:pt x="445" y="55"/>
                  </a:lnTo>
                  <a:lnTo>
                    <a:pt x="444" y="56"/>
                  </a:lnTo>
                  <a:lnTo>
                    <a:pt x="438" y="63"/>
                  </a:lnTo>
                  <a:lnTo>
                    <a:pt x="322" y="63"/>
                  </a:lnTo>
                  <a:lnTo>
                    <a:pt x="320" y="66"/>
                  </a:lnTo>
                  <a:lnTo>
                    <a:pt x="322" y="68"/>
                  </a:lnTo>
                  <a:lnTo>
                    <a:pt x="443" y="68"/>
                  </a:lnTo>
                  <a:lnTo>
                    <a:pt x="457" y="68"/>
                  </a:lnTo>
                  <a:lnTo>
                    <a:pt x="459" y="67"/>
                  </a:lnTo>
                  <a:lnTo>
                    <a:pt x="459" y="65"/>
                  </a:lnTo>
                  <a:lnTo>
                    <a:pt x="456" y="63"/>
                  </a:lnTo>
                  <a:lnTo>
                    <a:pt x="449" y="57"/>
                  </a:lnTo>
                  <a:lnTo>
                    <a:pt x="447" y="55"/>
                  </a:lnTo>
                  <a:lnTo>
                    <a:pt x="446" y="55"/>
                  </a:lnTo>
                  <a:close/>
                  <a:moveTo>
                    <a:pt x="382" y="42"/>
                  </a:moveTo>
                  <a:lnTo>
                    <a:pt x="381" y="43"/>
                  </a:lnTo>
                  <a:lnTo>
                    <a:pt x="378" y="50"/>
                  </a:lnTo>
                  <a:lnTo>
                    <a:pt x="377" y="52"/>
                  </a:lnTo>
                  <a:lnTo>
                    <a:pt x="375" y="54"/>
                  </a:lnTo>
                  <a:lnTo>
                    <a:pt x="369" y="61"/>
                  </a:lnTo>
                  <a:lnTo>
                    <a:pt x="368" y="63"/>
                  </a:lnTo>
                  <a:lnTo>
                    <a:pt x="385" y="63"/>
                  </a:lnTo>
                  <a:lnTo>
                    <a:pt x="393" y="54"/>
                  </a:lnTo>
                  <a:lnTo>
                    <a:pt x="396" y="53"/>
                  </a:lnTo>
                  <a:lnTo>
                    <a:pt x="399" y="52"/>
                  </a:lnTo>
                  <a:lnTo>
                    <a:pt x="398" y="50"/>
                  </a:lnTo>
                  <a:lnTo>
                    <a:pt x="396" y="49"/>
                  </a:lnTo>
                  <a:lnTo>
                    <a:pt x="384" y="43"/>
                  </a:lnTo>
                  <a:lnTo>
                    <a:pt x="382" y="42"/>
                  </a:lnTo>
                  <a:close/>
                  <a:moveTo>
                    <a:pt x="409" y="45"/>
                  </a:moveTo>
                  <a:lnTo>
                    <a:pt x="406" y="46"/>
                  </a:lnTo>
                  <a:lnTo>
                    <a:pt x="407" y="48"/>
                  </a:lnTo>
                  <a:lnTo>
                    <a:pt x="409" y="49"/>
                  </a:lnTo>
                  <a:lnTo>
                    <a:pt x="413" y="53"/>
                  </a:lnTo>
                  <a:lnTo>
                    <a:pt x="415" y="57"/>
                  </a:lnTo>
                  <a:lnTo>
                    <a:pt x="417" y="61"/>
                  </a:lnTo>
                  <a:lnTo>
                    <a:pt x="418" y="63"/>
                  </a:lnTo>
                  <a:lnTo>
                    <a:pt x="420" y="63"/>
                  </a:lnTo>
                  <a:lnTo>
                    <a:pt x="423" y="63"/>
                  </a:lnTo>
                  <a:lnTo>
                    <a:pt x="425" y="63"/>
                  </a:lnTo>
                  <a:lnTo>
                    <a:pt x="428" y="61"/>
                  </a:lnTo>
                  <a:lnTo>
                    <a:pt x="429" y="59"/>
                  </a:lnTo>
                  <a:lnTo>
                    <a:pt x="429" y="54"/>
                  </a:lnTo>
                  <a:lnTo>
                    <a:pt x="428" y="52"/>
                  </a:lnTo>
                  <a:lnTo>
                    <a:pt x="425" y="47"/>
                  </a:lnTo>
                  <a:lnTo>
                    <a:pt x="421" y="46"/>
                  </a:lnTo>
                  <a:lnTo>
                    <a:pt x="409" y="45"/>
                  </a:lnTo>
                  <a:close/>
                  <a:moveTo>
                    <a:pt x="338" y="4"/>
                  </a:moveTo>
                  <a:lnTo>
                    <a:pt x="337" y="5"/>
                  </a:lnTo>
                  <a:lnTo>
                    <a:pt x="337" y="10"/>
                  </a:lnTo>
                  <a:lnTo>
                    <a:pt x="338" y="35"/>
                  </a:lnTo>
                  <a:lnTo>
                    <a:pt x="337" y="47"/>
                  </a:lnTo>
                  <a:lnTo>
                    <a:pt x="338" y="49"/>
                  </a:lnTo>
                  <a:lnTo>
                    <a:pt x="340" y="49"/>
                  </a:lnTo>
                  <a:lnTo>
                    <a:pt x="344" y="49"/>
                  </a:lnTo>
                  <a:lnTo>
                    <a:pt x="348" y="47"/>
                  </a:lnTo>
                  <a:lnTo>
                    <a:pt x="349" y="45"/>
                  </a:lnTo>
                  <a:lnTo>
                    <a:pt x="349" y="39"/>
                  </a:lnTo>
                  <a:lnTo>
                    <a:pt x="381" y="39"/>
                  </a:lnTo>
                  <a:lnTo>
                    <a:pt x="381" y="35"/>
                  </a:lnTo>
                  <a:lnTo>
                    <a:pt x="349" y="35"/>
                  </a:lnTo>
                  <a:lnTo>
                    <a:pt x="349" y="14"/>
                  </a:lnTo>
                  <a:lnTo>
                    <a:pt x="385" y="14"/>
                  </a:lnTo>
                  <a:lnTo>
                    <a:pt x="385" y="13"/>
                  </a:lnTo>
                  <a:lnTo>
                    <a:pt x="385" y="12"/>
                  </a:lnTo>
                  <a:lnTo>
                    <a:pt x="383" y="10"/>
                  </a:lnTo>
                  <a:lnTo>
                    <a:pt x="382" y="9"/>
                  </a:lnTo>
                  <a:lnTo>
                    <a:pt x="349" y="9"/>
                  </a:lnTo>
                  <a:lnTo>
                    <a:pt x="340" y="5"/>
                  </a:lnTo>
                  <a:lnTo>
                    <a:pt x="338" y="4"/>
                  </a:lnTo>
                  <a:close/>
                  <a:moveTo>
                    <a:pt x="441" y="39"/>
                  </a:moveTo>
                  <a:lnTo>
                    <a:pt x="429" y="39"/>
                  </a:lnTo>
                  <a:lnTo>
                    <a:pt x="429" y="45"/>
                  </a:lnTo>
                  <a:lnTo>
                    <a:pt x="430" y="45"/>
                  </a:lnTo>
                  <a:lnTo>
                    <a:pt x="432" y="45"/>
                  </a:lnTo>
                  <a:lnTo>
                    <a:pt x="437" y="46"/>
                  </a:lnTo>
                  <a:lnTo>
                    <a:pt x="440" y="44"/>
                  </a:lnTo>
                  <a:lnTo>
                    <a:pt x="441" y="42"/>
                  </a:lnTo>
                  <a:lnTo>
                    <a:pt x="441" y="39"/>
                  </a:lnTo>
                  <a:close/>
                  <a:moveTo>
                    <a:pt x="396" y="4"/>
                  </a:moveTo>
                  <a:lnTo>
                    <a:pt x="396" y="5"/>
                  </a:lnTo>
                  <a:lnTo>
                    <a:pt x="396" y="9"/>
                  </a:lnTo>
                  <a:lnTo>
                    <a:pt x="396" y="35"/>
                  </a:lnTo>
                  <a:lnTo>
                    <a:pt x="396" y="44"/>
                  </a:lnTo>
                  <a:lnTo>
                    <a:pt x="396" y="45"/>
                  </a:lnTo>
                  <a:lnTo>
                    <a:pt x="397" y="45"/>
                  </a:lnTo>
                  <a:lnTo>
                    <a:pt x="402" y="45"/>
                  </a:lnTo>
                  <a:lnTo>
                    <a:pt x="403" y="45"/>
                  </a:lnTo>
                  <a:lnTo>
                    <a:pt x="404" y="45"/>
                  </a:lnTo>
                  <a:lnTo>
                    <a:pt x="406" y="44"/>
                  </a:lnTo>
                  <a:lnTo>
                    <a:pt x="407" y="42"/>
                  </a:lnTo>
                  <a:lnTo>
                    <a:pt x="407" y="39"/>
                  </a:lnTo>
                  <a:lnTo>
                    <a:pt x="441" y="39"/>
                  </a:lnTo>
                  <a:lnTo>
                    <a:pt x="441" y="35"/>
                  </a:lnTo>
                  <a:lnTo>
                    <a:pt x="407" y="35"/>
                  </a:lnTo>
                  <a:lnTo>
                    <a:pt x="407" y="14"/>
                  </a:lnTo>
                  <a:lnTo>
                    <a:pt x="444" y="14"/>
                  </a:lnTo>
                  <a:lnTo>
                    <a:pt x="445" y="13"/>
                  </a:lnTo>
                  <a:lnTo>
                    <a:pt x="445" y="12"/>
                  </a:lnTo>
                  <a:lnTo>
                    <a:pt x="442" y="10"/>
                  </a:lnTo>
                  <a:lnTo>
                    <a:pt x="408" y="10"/>
                  </a:lnTo>
                  <a:lnTo>
                    <a:pt x="398" y="5"/>
                  </a:lnTo>
                  <a:lnTo>
                    <a:pt x="396" y="4"/>
                  </a:lnTo>
                  <a:close/>
                  <a:moveTo>
                    <a:pt x="381" y="39"/>
                  </a:moveTo>
                  <a:lnTo>
                    <a:pt x="369" y="39"/>
                  </a:lnTo>
                  <a:lnTo>
                    <a:pt x="369" y="44"/>
                  </a:lnTo>
                  <a:lnTo>
                    <a:pt x="370" y="45"/>
                  </a:lnTo>
                  <a:lnTo>
                    <a:pt x="374" y="45"/>
                  </a:lnTo>
                  <a:lnTo>
                    <a:pt x="376" y="45"/>
                  </a:lnTo>
                  <a:lnTo>
                    <a:pt x="380" y="43"/>
                  </a:lnTo>
                  <a:lnTo>
                    <a:pt x="381" y="42"/>
                  </a:lnTo>
                  <a:lnTo>
                    <a:pt x="382" y="41"/>
                  </a:lnTo>
                  <a:lnTo>
                    <a:pt x="381" y="39"/>
                  </a:lnTo>
                  <a:close/>
                  <a:moveTo>
                    <a:pt x="385" y="14"/>
                  </a:moveTo>
                  <a:lnTo>
                    <a:pt x="369" y="14"/>
                  </a:lnTo>
                  <a:lnTo>
                    <a:pt x="369" y="35"/>
                  </a:lnTo>
                  <a:lnTo>
                    <a:pt x="381" y="35"/>
                  </a:lnTo>
                  <a:lnTo>
                    <a:pt x="381" y="31"/>
                  </a:lnTo>
                  <a:lnTo>
                    <a:pt x="381" y="17"/>
                  </a:lnTo>
                  <a:lnTo>
                    <a:pt x="384" y="15"/>
                  </a:lnTo>
                  <a:lnTo>
                    <a:pt x="385" y="14"/>
                  </a:lnTo>
                  <a:close/>
                  <a:moveTo>
                    <a:pt x="444" y="14"/>
                  </a:moveTo>
                  <a:lnTo>
                    <a:pt x="429" y="14"/>
                  </a:lnTo>
                  <a:lnTo>
                    <a:pt x="429" y="35"/>
                  </a:lnTo>
                  <a:lnTo>
                    <a:pt x="441" y="35"/>
                  </a:lnTo>
                  <a:lnTo>
                    <a:pt x="441" y="17"/>
                  </a:lnTo>
                  <a:lnTo>
                    <a:pt x="444" y="15"/>
                  </a:lnTo>
                  <a:lnTo>
                    <a:pt x="444" y="14"/>
                  </a:lnTo>
                  <a:close/>
                  <a:moveTo>
                    <a:pt x="434" y="5"/>
                  </a:moveTo>
                  <a:lnTo>
                    <a:pt x="433" y="5"/>
                  </a:lnTo>
                  <a:lnTo>
                    <a:pt x="431" y="6"/>
                  </a:lnTo>
                  <a:lnTo>
                    <a:pt x="428" y="10"/>
                  </a:lnTo>
                  <a:lnTo>
                    <a:pt x="442" y="10"/>
                  </a:lnTo>
                  <a:lnTo>
                    <a:pt x="437" y="6"/>
                  </a:lnTo>
                  <a:lnTo>
                    <a:pt x="435" y="5"/>
                  </a:lnTo>
                  <a:lnTo>
                    <a:pt x="434" y="5"/>
                  </a:lnTo>
                  <a:close/>
                  <a:moveTo>
                    <a:pt x="374" y="4"/>
                  </a:moveTo>
                  <a:lnTo>
                    <a:pt x="371" y="6"/>
                  </a:lnTo>
                  <a:lnTo>
                    <a:pt x="368" y="9"/>
                  </a:lnTo>
                  <a:lnTo>
                    <a:pt x="382" y="9"/>
                  </a:lnTo>
                  <a:lnTo>
                    <a:pt x="376" y="5"/>
                  </a:lnTo>
                  <a:lnTo>
                    <a:pt x="374" y="4"/>
                  </a:lnTo>
                  <a:close/>
                </a:path>
              </a:pathLst>
            </a:custGeom>
            <a:solidFill>
              <a:srgbClr val="231F2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 name="Line 17"/>
            <p:cNvSpPr>
              <a:spLocks noChangeShapeType="1"/>
            </p:cNvSpPr>
            <p:nvPr/>
          </p:nvSpPr>
          <p:spPr bwMode="auto">
            <a:xfrm>
              <a:off x="3390" y="297"/>
              <a:ext cx="0" cy="3877"/>
            </a:xfrm>
            <a:prstGeom prst="line">
              <a:avLst/>
            </a:prstGeom>
            <a:noFill/>
            <a:ln w="9525">
              <a:solidFill>
                <a:srgbClr val="00AEEF"/>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pic>
          <p:nvPicPr>
            <p:cNvPr id="29" name="docshape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2" y="2475"/>
              <a:ext cx="2970" cy="1393"/>
            </a:xfrm>
            <a:prstGeom prst="rect">
              <a:avLst/>
            </a:prstGeom>
            <a:noFill/>
            <a:extLst>
              <a:ext uri="{909E8E84-426E-40DD-AFC4-6F175D3DCCD1}">
                <a14:hiddenFill xmlns:a14="http://schemas.microsoft.com/office/drawing/2010/main">
                  <a:solidFill>
                    <a:srgbClr val="FFFFFF"/>
                  </a:solidFill>
                </a14:hiddenFill>
              </a:ext>
            </a:extLst>
          </p:spPr>
        </p:pic>
        <p:pic>
          <p:nvPicPr>
            <p:cNvPr id="30" name="docshape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2" y="700"/>
              <a:ext cx="2971" cy="1600"/>
            </a:xfrm>
            <a:prstGeom prst="rect">
              <a:avLst/>
            </a:prstGeom>
            <a:noFill/>
            <a:extLst>
              <a:ext uri="{909E8E84-426E-40DD-AFC4-6F175D3DCCD1}">
                <a14:hiddenFill xmlns:a14="http://schemas.microsoft.com/office/drawing/2010/main">
                  <a:solidFill>
                    <a:srgbClr val="FFFFFF"/>
                  </a:solidFill>
                </a14:hiddenFill>
              </a:ext>
            </a:extLst>
          </p:spPr>
        </p:pic>
      </p:grpSp>
      <p:sp>
        <p:nvSpPr>
          <p:cNvPr id="31" name="文本框 30"/>
          <p:cNvSpPr txBox="1"/>
          <p:nvPr/>
        </p:nvSpPr>
        <p:spPr bwMode="auto">
          <a:xfrm>
            <a:off x="896047" y="2430016"/>
            <a:ext cx="354083" cy="1015663"/>
          </a:xfrm>
          <a:prstGeom prst="rect">
            <a:avLst/>
          </a:prstGeom>
          <a:solidFill>
            <a:schemeClr val="accent2"/>
          </a:solidFill>
          <a:ln>
            <a:noFill/>
          </a:ln>
          <a:effectLst/>
        </p:spPr>
        <p:txBody>
          <a:bodyPr wrap="square">
            <a:spAutoFit/>
          </a:bodyPr>
          <a:lstStyle/>
          <a:p>
            <a:pPr algn="ctr"/>
            <a:r>
              <a:rPr lang="zh-CN" altLang="en-US" dirty="0">
                <a:latin typeface="微软雅黑 Light" panose="020B0502040204020203" pitchFamily="34" charset="-122"/>
                <a:ea typeface="微软雅黑 Light" panose="020B0502040204020203" pitchFamily="34" charset="-122"/>
              </a:rPr>
              <a:t>完整性</a:t>
            </a:r>
          </a:p>
        </p:txBody>
      </p:sp>
      <p:sp>
        <p:nvSpPr>
          <p:cNvPr id="33" name="文本框 32"/>
          <p:cNvSpPr txBox="1"/>
          <p:nvPr/>
        </p:nvSpPr>
        <p:spPr bwMode="auto">
          <a:xfrm>
            <a:off x="11024813" y="2308318"/>
            <a:ext cx="431716" cy="1015663"/>
          </a:xfrm>
          <a:prstGeom prst="rect">
            <a:avLst/>
          </a:prstGeom>
          <a:solidFill>
            <a:schemeClr val="accent2"/>
          </a:solidFill>
          <a:ln>
            <a:noFill/>
          </a:ln>
          <a:effectLst/>
        </p:spPr>
        <p:txBody>
          <a:bodyPr wrap="square">
            <a:spAutoFit/>
          </a:bodyPr>
          <a:lstStyle>
            <a:defPPr>
              <a:defRPr lang="zh-CN"/>
            </a:defPPr>
            <a:lvl1pPr algn="ctr">
              <a:defRPr>
                <a:latin typeface="微软雅黑 Light" panose="020B0502040204020203" pitchFamily="34" charset="-122"/>
                <a:ea typeface="微软雅黑 Light" panose="020B0502040204020203" pitchFamily="34" charset="-122"/>
              </a:defRPr>
            </a:lvl1pPr>
          </a:lstStyle>
          <a:p>
            <a:r>
              <a:rPr lang="zh-CN" altLang="en-US" dirty="0"/>
              <a:t>有效性</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6.5socket</a:t>
            </a:r>
            <a:r>
              <a:rPr lang="zh-CN" altLang="en-US" dirty="0"/>
              <a:t>程序设计 </a:t>
            </a:r>
          </a:p>
        </p:txBody>
      </p:sp>
      <p:sp>
        <p:nvSpPr>
          <p:cNvPr id="6" name="内容占位符 5"/>
          <p:cNvSpPr>
            <a:spLocks noGrp="1"/>
          </p:cNvSpPr>
          <p:nvPr>
            <p:ph idx="1"/>
          </p:nvPr>
        </p:nvSpPr>
        <p:spPr/>
        <p:txBody>
          <a:bodyPr/>
          <a:lstStyle/>
          <a:p>
            <a:pPr>
              <a:lnSpc>
                <a:spcPct val="120000"/>
              </a:lnSpc>
            </a:pPr>
            <a:r>
              <a:rPr lang="en-US" altLang="zh-CN" dirty="0"/>
              <a:t>socket </a:t>
            </a:r>
            <a:r>
              <a:rPr lang="zh-CN" altLang="en-US" dirty="0"/>
              <a:t>提供了简单的编程接口；</a:t>
            </a:r>
            <a:endParaRPr lang="en-US" altLang="zh-CN" dirty="0"/>
          </a:p>
          <a:p>
            <a:pPr>
              <a:lnSpc>
                <a:spcPct val="120000"/>
              </a:lnSpc>
            </a:pPr>
            <a:r>
              <a:rPr lang="zh-CN" altLang="en-US" dirty="0"/>
              <a:t>传输层提供两种服务</a:t>
            </a:r>
            <a:endParaRPr lang="en-US" altLang="zh-CN" dirty="0"/>
          </a:p>
          <a:p>
            <a:pPr lvl="1">
              <a:lnSpc>
                <a:spcPct val="120000"/>
              </a:lnSpc>
            </a:pPr>
            <a:r>
              <a:rPr lang="zh-CN" altLang="en-US" dirty="0"/>
              <a:t>面向连接的模型使用传输控制协议（</a:t>
            </a:r>
            <a:r>
              <a:rPr lang="en-US" altLang="zh-CN" dirty="0"/>
              <a:t>TCP</a:t>
            </a:r>
            <a:r>
              <a:rPr lang="zh-CN" altLang="en-US" dirty="0"/>
              <a:t>）</a:t>
            </a:r>
            <a:endParaRPr lang="en-US" altLang="zh-CN" dirty="0"/>
          </a:p>
          <a:p>
            <a:pPr lvl="1">
              <a:lnSpc>
                <a:spcPct val="120000"/>
              </a:lnSpc>
            </a:pPr>
            <a:r>
              <a:rPr lang="zh-CN" altLang="en-US" dirty="0"/>
              <a:t>无连接的模型使用用户数据报协议（</a:t>
            </a:r>
            <a:r>
              <a:rPr lang="en-US" altLang="zh-CN" dirty="0"/>
              <a:t>UDP</a:t>
            </a:r>
            <a:r>
              <a:rPr lang="zh-CN" altLang="en-US" dirty="0"/>
              <a:t>）</a:t>
            </a:r>
            <a:endParaRPr lang="en-US" altLang="zh-CN" dirty="0"/>
          </a:p>
          <a:p>
            <a:pPr marL="342900" lvl="1" indent="-342900">
              <a:lnSpc>
                <a:spcPct val="120000"/>
              </a:lnSpc>
              <a:buClr>
                <a:srgbClr val="C80000"/>
              </a:buClr>
            </a:pPr>
            <a:r>
              <a:rPr lang="zh-CN" altLang="en-US" sz="2800" dirty="0"/>
              <a:t>两种不同类型的服务具有不同类型的 </a:t>
            </a:r>
            <a:r>
              <a:rPr lang="en-US" altLang="zh-CN" sz="2800" dirty="0"/>
              <a:t>socket</a:t>
            </a:r>
            <a:endParaRPr lang="zh-CN" altLang="en-US" sz="2800" dirty="0"/>
          </a:p>
        </p:txBody>
      </p:sp>
      <p:sp>
        <p:nvSpPr>
          <p:cNvPr id="5" name="灯片编号占位符 4"/>
          <p:cNvSpPr>
            <a:spLocks noGrp="1"/>
          </p:cNvSpPr>
          <p:nvPr>
            <p:ph type="sldNum" sz="quarter" idx="12"/>
          </p:nvPr>
        </p:nvSpPr>
        <p:spPr/>
        <p:txBody>
          <a:bodyPr/>
          <a:lstStyle/>
          <a:p>
            <a:pPr>
              <a:defRPr/>
            </a:pPr>
            <a:fld id="{5ACAED0A-32C0-459D-9CE5-9FDF4154FCB4}" type="slidenum">
              <a:rPr lang="en-US" altLang="zh-CN" smtClean="0"/>
              <a:t>108</a:t>
            </a:fld>
            <a:endParaRPr lang="en-US" altLang="zh-CN"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面向连接编程模型 </a:t>
            </a:r>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t>109</a:t>
            </a:fld>
            <a:endParaRPr lang="en-US" altLang="zh-CN" dirty="0"/>
          </a:p>
        </p:txBody>
      </p:sp>
      <p:grpSp>
        <p:nvGrpSpPr>
          <p:cNvPr id="5" name="画布 2795"/>
          <p:cNvGrpSpPr/>
          <p:nvPr/>
        </p:nvGrpSpPr>
        <p:grpSpPr>
          <a:xfrm>
            <a:off x="2495600" y="1032472"/>
            <a:ext cx="5544616" cy="5546997"/>
            <a:chOff x="0" y="0"/>
            <a:chExt cx="4036695" cy="4613275"/>
          </a:xfrm>
        </p:grpSpPr>
        <p:sp>
          <p:nvSpPr>
            <p:cNvPr id="6" name="矩形 5"/>
            <p:cNvSpPr/>
            <p:nvPr/>
          </p:nvSpPr>
          <p:spPr>
            <a:xfrm>
              <a:off x="0" y="0"/>
              <a:ext cx="4036695" cy="4613275"/>
            </a:xfrm>
            <a:prstGeom prst="rect">
              <a:avLst/>
            </a:prstGeom>
            <a:noFill/>
            <a:ln>
              <a:noFill/>
            </a:ln>
          </p:spPr>
        </p:sp>
        <p:sp>
          <p:nvSpPr>
            <p:cNvPr id="7" name="文本框 875"/>
            <p:cNvSpPr txBox="1">
              <a:spLocks noChangeArrowheads="1"/>
            </p:cNvSpPr>
            <p:nvPr/>
          </p:nvSpPr>
          <p:spPr bwMode="auto">
            <a:xfrm>
              <a:off x="597656" y="0"/>
              <a:ext cx="684784" cy="297422"/>
            </a:xfrm>
            <a:prstGeom prst="rect">
              <a:avLst/>
            </a:prstGeom>
            <a:noFill/>
            <a:ln>
              <a:noFill/>
            </a:ln>
          </p:spPr>
          <p:txBody>
            <a:bodyPr rot="0" vert="horz" wrap="square" lIns="91440" tIns="45720" rIns="91440" bIns="45720" anchor="t" anchorCtr="0" upright="1">
              <a:noAutofit/>
            </a:bodyPr>
            <a:lstStyle/>
            <a:p>
              <a:pPr algn="just"/>
              <a:r>
                <a:rPr lang="zh-CN" sz="1400" b="1" kern="100" dirty="0">
                  <a:effectLst/>
                  <a:latin typeface="微软雅黑 Light" panose="020B0502040204020203" pitchFamily="34" charset="-122"/>
                  <a:ea typeface="微软雅黑 Light" panose="020B0502040204020203" pitchFamily="34" charset="-122"/>
                  <a:cs typeface="宋体" panose="02010600030101010101" pitchFamily="2" charset="-122"/>
                </a:rPr>
                <a:t>服务器</a:t>
              </a:r>
              <a:endParaRPr lang="zh-CN" sz="1800" kern="100" dirty="0">
                <a:effectLst/>
                <a:latin typeface="微软雅黑 Light" panose="020B0502040204020203" pitchFamily="34" charset="-122"/>
                <a:ea typeface="微软雅黑 Light" panose="020B0502040204020203" pitchFamily="34" charset="-122"/>
                <a:cs typeface="宋体" panose="02010600030101010101" pitchFamily="2" charset="-122"/>
              </a:endParaRPr>
            </a:p>
          </p:txBody>
        </p:sp>
        <p:sp>
          <p:nvSpPr>
            <p:cNvPr id="8" name="文本框 876"/>
            <p:cNvSpPr txBox="1">
              <a:spLocks noChangeArrowheads="1"/>
            </p:cNvSpPr>
            <p:nvPr/>
          </p:nvSpPr>
          <p:spPr bwMode="auto">
            <a:xfrm>
              <a:off x="570293" y="243410"/>
              <a:ext cx="685504" cy="296701"/>
            </a:xfrm>
            <a:prstGeom prst="rect">
              <a:avLst/>
            </a:prstGeom>
            <a:noFill/>
            <a:ln w="19050">
              <a:solidFill>
                <a:srgbClr val="00B0F0"/>
              </a:solidFill>
              <a:miter lim="800000"/>
            </a:ln>
          </p:spPr>
          <p:txBody>
            <a:bodyPr rot="0" vert="horz" wrap="square" lIns="91440" tIns="45720" rIns="91440" bIns="45720" anchor="t" anchorCtr="0" upright="1">
              <a:noAutofit/>
            </a:bodyPr>
            <a:lstStyle/>
            <a:p>
              <a:pPr algn="ctr"/>
              <a:r>
                <a:rPr lang="en-US" sz="1400" b="1" kern="100" dirty="0">
                  <a:effectLst/>
                  <a:latin typeface="微软雅黑 Light" panose="020B0502040204020203" pitchFamily="34" charset="-122"/>
                  <a:ea typeface="微软雅黑 Light" panose="020B0502040204020203" pitchFamily="34" charset="-122"/>
                  <a:cs typeface="宋体" panose="02010600030101010101" pitchFamily="2" charset="-122"/>
                </a:rPr>
                <a:t>socket ( )</a:t>
              </a:r>
              <a:endParaRPr lang="zh-CN" sz="1800" kern="100" dirty="0">
                <a:effectLst/>
                <a:latin typeface="微软雅黑 Light" panose="020B0502040204020203" pitchFamily="34" charset="-122"/>
                <a:ea typeface="微软雅黑 Light" panose="020B0502040204020203" pitchFamily="34" charset="-122"/>
                <a:cs typeface="宋体" panose="02010600030101010101" pitchFamily="2" charset="-122"/>
              </a:endParaRPr>
            </a:p>
          </p:txBody>
        </p:sp>
        <p:cxnSp>
          <p:nvCxnSpPr>
            <p:cNvPr id="9" name="直线 877"/>
            <p:cNvCxnSpPr>
              <a:cxnSpLocks noChangeShapeType="1"/>
            </p:cNvCxnSpPr>
            <p:nvPr/>
          </p:nvCxnSpPr>
          <p:spPr bwMode="auto">
            <a:xfrm>
              <a:off x="792794" y="540112"/>
              <a:ext cx="0" cy="198041"/>
            </a:xfrm>
            <a:prstGeom prst="line">
              <a:avLst/>
            </a:prstGeom>
            <a:noFill/>
            <a:ln w="19050">
              <a:solidFill>
                <a:srgbClr val="00B0F0"/>
              </a:solidFill>
              <a:round/>
              <a:tailEnd type="triangle" w="med" len="med"/>
            </a:ln>
          </p:spPr>
        </p:cxnSp>
        <p:sp>
          <p:nvSpPr>
            <p:cNvPr id="10" name="文本框 878"/>
            <p:cNvSpPr txBox="1">
              <a:spLocks noChangeArrowheads="1"/>
            </p:cNvSpPr>
            <p:nvPr/>
          </p:nvSpPr>
          <p:spPr bwMode="auto">
            <a:xfrm>
              <a:off x="570293" y="738153"/>
              <a:ext cx="685504" cy="296701"/>
            </a:xfrm>
            <a:prstGeom prst="rect">
              <a:avLst/>
            </a:prstGeom>
            <a:noFill/>
            <a:ln w="19050">
              <a:solidFill>
                <a:srgbClr val="00B0F0"/>
              </a:solidFill>
              <a:miter lim="800000"/>
            </a:ln>
          </p:spPr>
          <p:txBody>
            <a:bodyPr rot="0" vert="horz" wrap="square" lIns="91440" tIns="45720" rIns="91440" bIns="45720" anchor="t" anchorCtr="0" upright="1">
              <a:noAutofit/>
            </a:bodyPr>
            <a:lstStyle/>
            <a:p>
              <a:pPr algn="ctr"/>
              <a:r>
                <a:rPr lang="en-US" sz="1400" b="1" kern="100" dirty="0">
                  <a:effectLst/>
                  <a:latin typeface="微软雅黑 Light" panose="020B0502040204020203" pitchFamily="34" charset="-122"/>
                  <a:ea typeface="微软雅黑 Light" panose="020B0502040204020203" pitchFamily="34" charset="-122"/>
                  <a:cs typeface="宋体" panose="02010600030101010101" pitchFamily="2" charset="-122"/>
                </a:rPr>
                <a:t>bind( )</a:t>
              </a:r>
              <a:endParaRPr lang="zh-CN" sz="1800" kern="100" dirty="0">
                <a:effectLst/>
                <a:latin typeface="微软雅黑 Light" panose="020B0502040204020203" pitchFamily="34" charset="-122"/>
                <a:ea typeface="微软雅黑 Light" panose="020B0502040204020203" pitchFamily="34" charset="-122"/>
                <a:cs typeface="宋体" panose="02010600030101010101" pitchFamily="2" charset="-122"/>
              </a:endParaRPr>
            </a:p>
          </p:txBody>
        </p:sp>
        <p:cxnSp>
          <p:nvCxnSpPr>
            <p:cNvPr id="11" name="直线 880"/>
            <p:cNvCxnSpPr>
              <a:cxnSpLocks noChangeShapeType="1"/>
            </p:cNvCxnSpPr>
            <p:nvPr/>
          </p:nvCxnSpPr>
          <p:spPr bwMode="auto">
            <a:xfrm>
              <a:off x="792794" y="1034854"/>
              <a:ext cx="0" cy="198761"/>
            </a:xfrm>
            <a:prstGeom prst="line">
              <a:avLst/>
            </a:prstGeom>
            <a:noFill/>
            <a:ln w="19050">
              <a:solidFill>
                <a:srgbClr val="00B0F0"/>
              </a:solidFill>
              <a:round/>
              <a:tailEnd type="triangle" w="med" len="med"/>
            </a:ln>
          </p:spPr>
        </p:cxnSp>
        <p:sp>
          <p:nvSpPr>
            <p:cNvPr id="12" name="文本框 881"/>
            <p:cNvSpPr txBox="1">
              <a:spLocks noChangeArrowheads="1"/>
            </p:cNvSpPr>
            <p:nvPr/>
          </p:nvSpPr>
          <p:spPr bwMode="auto">
            <a:xfrm>
              <a:off x="570293" y="1233615"/>
              <a:ext cx="685504" cy="297422"/>
            </a:xfrm>
            <a:prstGeom prst="rect">
              <a:avLst/>
            </a:prstGeom>
            <a:noFill/>
            <a:ln w="19050">
              <a:solidFill>
                <a:srgbClr val="00B0F0"/>
              </a:solidFill>
              <a:miter lim="800000"/>
            </a:ln>
          </p:spPr>
          <p:txBody>
            <a:bodyPr rot="0" vert="horz" wrap="square" lIns="91440" tIns="45720" rIns="91440" bIns="45720" anchor="t" anchorCtr="0" upright="1">
              <a:noAutofit/>
            </a:bodyPr>
            <a:lstStyle/>
            <a:p>
              <a:pPr algn="ctr"/>
              <a:r>
                <a:rPr lang="en-US" sz="1400" b="1" kern="100" dirty="0">
                  <a:effectLst/>
                  <a:latin typeface="微软雅黑 Light" panose="020B0502040204020203" pitchFamily="34" charset="-122"/>
                  <a:ea typeface="微软雅黑 Light" panose="020B0502040204020203" pitchFamily="34" charset="-122"/>
                  <a:cs typeface="宋体" panose="02010600030101010101" pitchFamily="2" charset="-122"/>
                </a:rPr>
                <a:t>listen( )</a:t>
              </a:r>
              <a:endParaRPr lang="zh-CN" sz="1800" kern="100" dirty="0">
                <a:effectLst/>
                <a:latin typeface="微软雅黑 Light" panose="020B0502040204020203" pitchFamily="34" charset="-122"/>
                <a:ea typeface="微软雅黑 Light" panose="020B0502040204020203" pitchFamily="34" charset="-122"/>
                <a:cs typeface="宋体" panose="02010600030101010101" pitchFamily="2" charset="-122"/>
              </a:endParaRPr>
            </a:p>
          </p:txBody>
        </p:sp>
        <p:sp>
          <p:nvSpPr>
            <p:cNvPr id="13" name="文本框 885"/>
            <p:cNvSpPr txBox="1">
              <a:spLocks noChangeArrowheads="1"/>
            </p:cNvSpPr>
            <p:nvPr/>
          </p:nvSpPr>
          <p:spPr bwMode="auto">
            <a:xfrm>
              <a:off x="569573" y="1729078"/>
              <a:ext cx="686224" cy="297422"/>
            </a:xfrm>
            <a:prstGeom prst="rect">
              <a:avLst/>
            </a:prstGeom>
            <a:noFill/>
            <a:ln w="19050">
              <a:solidFill>
                <a:srgbClr val="00B0F0"/>
              </a:solidFill>
              <a:miter lim="800000"/>
            </a:ln>
          </p:spPr>
          <p:txBody>
            <a:bodyPr rot="0" vert="horz" wrap="square" lIns="91440" tIns="45720" rIns="91440" bIns="45720" anchor="t" anchorCtr="0" upright="1">
              <a:noAutofit/>
            </a:bodyPr>
            <a:lstStyle/>
            <a:p>
              <a:pPr algn="ctr"/>
              <a:r>
                <a:rPr lang="en-US" sz="1400" b="1" kern="100" dirty="0">
                  <a:effectLst/>
                  <a:latin typeface="微软雅黑 Light" panose="020B0502040204020203" pitchFamily="34" charset="-122"/>
                  <a:ea typeface="微软雅黑 Light" panose="020B0502040204020203" pitchFamily="34" charset="-122"/>
                  <a:cs typeface="宋体" panose="02010600030101010101" pitchFamily="2" charset="-122"/>
                </a:rPr>
                <a:t>accept( )</a:t>
              </a:r>
              <a:endParaRPr lang="zh-CN" sz="1800" kern="100" dirty="0">
                <a:effectLst/>
                <a:latin typeface="微软雅黑 Light" panose="020B0502040204020203" pitchFamily="34" charset="-122"/>
                <a:ea typeface="微软雅黑 Light" panose="020B0502040204020203" pitchFamily="34" charset="-122"/>
                <a:cs typeface="宋体" panose="02010600030101010101" pitchFamily="2" charset="-122"/>
              </a:endParaRPr>
            </a:p>
          </p:txBody>
        </p:sp>
        <p:cxnSp>
          <p:nvCxnSpPr>
            <p:cNvPr id="14" name="直线 883"/>
            <p:cNvCxnSpPr>
              <a:cxnSpLocks noChangeShapeType="1"/>
            </p:cNvCxnSpPr>
            <p:nvPr/>
          </p:nvCxnSpPr>
          <p:spPr bwMode="auto">
            <a:xfrm>
              <a:off x="792794" y="1531037"/>
              <a:ext cx="0" cy="198041"/>
            </a:xfrm>
            <a:prstGeom prst="line">
              <a:avLst/>
            </a:prstGeom>
            <a:noFill/>
            <a:ln w="19050">
              <a:solidFill>
                <a:srgbClr val="00B0F0"/>
              </a:solidFill>
              <a:round/>
              <a:tailEnd type="triangle" w="med" len="med"/>
            </a:ln>
          </p:spPr>
        </p:cxnSp>
        <p:cxnSp>
          <p:nvCxnSpPr>
            <p:cNvPr id="15" name="直线 886"/>
            <p:cNvCxnSpPr>
              <a:cxnSpLocks noChangeShapeType="1"/>
            </p:cNvCxnSpPr>
            <p:nvPr/>
          </p:nvCxnSpPr>
          <p:spPr bwMode="auto">
            <a:xfrm>
              <a:off x="808953" y="2026500"/>
              <a:ext cx="720" cy="198041"/>
            </a:xfrm>
            <a:prstGeom prst="line">
              <a:avLst/>
            </a:prstGeom>
            <a:noFill/>
            <a:ln w="19050">
              <a:solidFill>
                <a:srgbClr val="00B0F0"/>
              </a:solidFill>
              <a:round/>
              <a:tailEnd type="triangle" w="med" len="med"/>
            </a:ln>
          </p:spPr>
        </p:cxnSp>
        <p:sp>
          <p:nvSpPr>
            <p:cNvPr id="16" name="文本框 887"/>
            <p:cNvSpPr txBox="1">
              <a:spLocks noChangeArrowheads="1"/>
            </p:cNvSpPr>
            <p:nvPr/>
          </p:nvSpPr>
          <p:spPr bwMode="auto">
            <a:xfrm>
              <a:off x="107290" y="2224541"/>
              <a:ext cx="1828970" cy="297422"/>
            </a:xfrm>
            <a:prstGeom prst="rect">
              <a:avLst/>
            </a:prstGeom>
            <a:solidFill>
              <a:srgbClr val="FFFFFF"/>
            </a:solidFill>
            <a:ln w="19050">
              <a:solidFill>
                <a:srgbClr val="00B0F0"/>
              </a:solidFill>
              <a:miter lim="800000"/>
            </a:ln>
          </p:spPr>
          <p:txBody>
            <a:bodyPr rot="0" vert="horz" wrap="square" lIns="91440" tIns="45720" rIns="91440" bIns="45720" anchor="t" anchorCtr="0" upright="1">
              <a:noAutofit/>
            </a:bodyPr>
            <a:lstStyle/>
            <a:p>
              <a:pPr algn="ctr"/>
              <a:r>
                <a:rPr lang="zh-CN" sz="1400" b="1" kern="100">
                  <a:effectLst/>
                  <a:latin typeface="微软雅黑 Light" panose="020B0502040204020203" pitchFamily="34" charset="-122"/>
                  <a:ea typeface="微软雅黑 Light" panose="020B0502040204020203" pitchFamily="34" charset="-122"/>
                  <a:cs typeface="宋体" panose="02010600030101010101" pitchFamily="2" charset="-122"/>
                </a:rPr>
                <a:t>等待来自客户的连接</a:t>
              </a:r>
              <a:endParaRPr lang="zh-CN" sz="1800" kern="100">
                <a:effectLst/>
                <a:latin typeface="微软雅黑 Light" panose="020B0502040204020203" pitchFamily="34" charset="-122"/>
                <a:ea typeface="微软雅黑 Light" panose="020B0502040204020203" pitchFamily="34" charset="-122"/>
                <a:cs typeface="宋体" panose="02010600030101010101" pitchFamily="2" charset="-122"/>
              </a:endParaRPr>
            </a:p>
          </p:txBody>
        </p:sp>
        <p:cxnSp>
          <p:nvCxnSpPr>
            <p:cNvPr id="17" name="直线 889"/>
            <p:cNvCxnSpPr>
              <a:cxnSpLocks noChangeShapeType="1"/>
            </p:cNvCxnSpPr>
            <p:nvPr/>
          </p:nvCxnSpPr>
          <p:spPr bwMode="auto">
            <a:xfrm flipH="1">
              <a:off x="792794" y="2521962"/>
              <a:ext cx="720" cy="367996"/>
            </a:xfrm>
            <a:prstGeom prst="line">
              <a:avLst/>
            </a:prstGeom>
            <a:noFill/>
            <a:ln w="19050">
              <a:solidFill>
                <a:srgbClr val="00B0F0"/>
              </a:solidFill>
              <a:round/>
              <a:tailEnd type="triangle" w="med" len="med"/>
            </a:ln>
          </p:spPr>
        </p:cxnSp>
        <p:cxnSp>
          <p:nvCxnSpPr>
            <p:cNvPr id="18" name="直线 891"/>
            <p:cNvCxnSpPr>
              <a:cxnSpLocks noChangeShapeType="1"/>
            </p:cNvCxnSpPr>
            <p:nvPr/>
          </p:nvCxnSpPr>
          <p:spPr bwMode="auto">
            <a:xfrm flipH="1">
              <a:off x="792794" y="2572372"/>
              <a:ext cx="2171722" cy="0"/>
            </a:xfrm>
            <a:prstGeom prst="line">
              <a:avLst/>
            </a:prstGeom>
            <a:noFill/>
            <a:ln w="15875">
              <a:solidFill>
                <a:srgbClr val="00B0F0"/>
              </a:solidFill>
              <a:round/>
              <a:headEnd type="triangle" w="med" len="med"/>
              <a:tailEnd type="triangle" w="med" len="med"/>
            </a:ln>
          </p:spPr>
        </p:cxnSp>
        <p:sp>
          <p:nvSpPr>
            <p:cNvPr id="19" name="文本框 888"/>
            <p:cNvSpPr txBox="1">
              <a:spLocks noChangeArrowheads="1"/>
            </p:cNvSpPr>
            <p:nvPr/>
          </p:nvSpPr>
          <p:spPr bwMode="auto">
            <a:xfrm>
              <a:off x="2965956" y="2424022"/>
              <a:ext cx="914485" cy="296701"/>
            </a:xfrm>
            <a:prstGeom prst="rect">
              <a:avLst/>
            </a:prstGeom>
            <a:solidFill>
              <a:srgbClr val="FFFFFF"/>
            </a:solidFill>
            <a:ln w="19050">
              <a:solidFill>
                <a:srgbClr val="00B0F0"/>
              </a:solidFill>
              <a:miter lim="800000"/>
            </a:ln>
          </p:spPr>
          <p:txBody>
            <a:bodyPr rot="0" vert="horz" wrap="square" lIns="91440" tIns="45720" rIns="91440" bIns="45720" anchor="t" anchorCtr="0" upright="1">
              <a:noAutofit/>
            </a:bodyPr>
            <a:lstStyle/>
            <a:p>
              <a:pPr algn="ctr"/>
              <a:r>
                <a:rPr lang="en-US" sz="1400" b="1" kern="100" dirty="0">
                  <a:effectLst/>
                  <a:latin typeface="微软雅黑 Light" panose="020B0502040204020203" pitchFamily="34" charset="-122"/>
                  <a:ea typeface="微软雅黑 Light" panose="020B0502040204020203" pitchFamily="34" charset="-122"/>
                  <a:cs typeface="宋体" panose="02010600030101010101" pitchFamily="2" charset="-122"/>
                </a:rPr>
                <a:t>connect( )</a:t>
              </a:r>
              <a:endParaRPr lang="zh-CN" sz="1800" kern="100" dirty="0">
                <a:effectLst/>
                <a:latin typeface="微软雅黑 Light" panose="020B0502040204020203" pitchFamily="34" charset="-122"/>
                <a:ea typeface="微软雅黑 Light" panose="020B0502040204020203" pitchFamily="34" charset="-122"/>
                <a:cs typeface="宋体" panose="02010600030101010101" pitchFamily="2" charset="-122"/>
              </a:endParaRPr>
            </a:p>
          </p:txBody>
        </p:sp>
        <p:cxnSp>
          <p:nvCxnSpPr>
            <p:cNvPr id="20" name="直线 884"/>
            <p:cNvCxnSpPr>
              <a:cxnSpLocks noChangeShapeType="1"/>
            </p:cNvCxnSpPr>
            <p:nvPr/>
          </p:nvCxnSpPr>
          <p:spPr bwMode="auto">
            <a:xfrm>
              <a:off x="3446240" y="1729078"/>
              <a:ext cx="0" cy="693504"/>
            </a:xfrm>
            <a:prstGeom prst="line">
              <a:avLst/>
            </a:prstGeom>
            <a:noFill/>
            <a:ln w="19050">
              <a:solidFill>
                <a:srgbClr val="00B0F0"/>
              </a:solidFill>
              <a:round/>
              <a:tailEnd type="triangle" w="med" len="med"/>
            </a:ln>
          </p:spPr>
        </p:cxnSp>
        <p:sp>
          <p:nvSpPr>
            <p:cNvPr id="21" name="文本框 882"/>
            <p:cNvSpPr txBox="1">
              <a:spLocks noChangeArrowheads="1"/>
            </p:cNvSpPr>
            <p:nvPr/>
          </p:nvSpPr>
          <p:spPr bwMode="auto">
            <a:xfrm>
              <a:off x="3080446" y="1431656"/>
              <a:ext cx="799994" cy="297422"/>
            </a:xfrm>
            <a:prstGeom prst="rect">
              <a:avLst/>
            </a:prstGeom>
            <a:solidFill>
              <a:srgbClr val="FFFFFF"/>
            </a:solidFill>
            <a:ln w="19050">
              <a:solidFill>
                <a:srgbClr val="00B0F0"/>
              </a:solidFill>
              <a:miter lim="800000"/>
            </a:ln>
          </p:spPr>
          <p:txBody>
            <a:bodyPr rot="0" vert="horz" wrap="square" lIns="91440" tIns="45720" rIns="91440" bIns="45720" anchor="t" anchorCtr="0" upright="1">
              <a:noAutofit/>
            </a:bodyPr>
            <a:lstStyle/>
            <a:p>
              <a:pPr algn="ctr"/>
              <a:r>
                <a:rPr lang="en-US" sz="1400" b="1" kern="100" dirty="0">
                  <a:effectLst/>
                  <a:latin typeface="微软雅黑 Light" panose="020B0502040204020203" pitchFamily="34" charset="-122"/>
                  <a:ea typeface="微软雅黑 Light" panose="020B0502040204020203" pitchFamily="34" charset="-122"/>
                  <a:cs typeface="宋体" panose="02010600030101010101" pitchFamily="2" charset="-122"/>
                </a:rPr>
                <a:t>socket( )</a:t>
              </a:r>
              <a:endParaRPr lang="zh-CN" sz="1800" kern="100" dirty="0">
                <a:effectLst/>
                <a:latin typeface="微软雅黑 Light" panose="020B0502040204020203" pitchFamily="34" charset="-122"/>
                <a:ea typeface="微软雅黑 Light" panose="020B0502040204020203" pitchFamily="34" charset="-122"/>
                <a:cs typeface="宋体" panose="02010600030101010101" pitchFamily="2" charset="-122"/>
              </a:endParaRPr>
            </a:p>
          </p:txBody>
        </p:sp>
        <p:sp>
          <p:nvSpPr>
            <p:cNvPr id="22" name="文本框 879"/>
            <p:cNvSpPr txBox="1">
              <a:spLocks noChangeArrowheads="1"/>
            </p:cNvSpPr>
            <p:nvPr/>
          </p:nvSpPr>
          <p:spPr bwMode="auto">
            <a:xfrm>
              <a:off x="3205410" y="1193477"/>
              <a:ext cx="466478" cy="296701"/>
            </a:xfrm>
            <a:prstGeom prst="rect">
              <a:avLst/>
            </a:prstGeom>
            <a:noFill/>
            <a:ln>
              <a:noFill/>
            </a:ln>
          </p:spPr>
          <p:txBody>
            <a:bodyPr rot="0" vert="horz" wrap="square" lIns="91440" tIns="45720" rIns="91440" bIns="45720" anchor="t" anchorCtr="0" upright="1">
              <a:noAutofit/>
            </a:bodyPr>
            <a:lstStyle/>
            <a:p>
              <a:pPr algn="l"/>
              <a:r>
                <a:rPr lang="zh-CN" sz="1400" b="1" kern="100">
                  <a:effectLst/>
                  <a:latin typeface="微软雅黑 Light" panose="020B0502040204020203" pitchFamily="34" charset="-122"/>
                  <a:ea typeface="微软雅黑 Light" panose="020B0502040204020203" pitchFamily="34" charset="-122"/>
                  <a:cs typeface="宋体" panose="02010600030101010101" pitchFamily="2" charset="-122"/>
                </a:rPr>
                <a:t>客户</a:t>
              </a:r>
              <a:endParaRPr lang="zh-CN" sz="1800" kern="100">
                <a:effectLst/>
                <a:latin typeface="微软雅黑 Light" panose="020B0502040204020203" pitchFamily="34" charset="-122"/>
                <a:ea typeface="微软雅黑 Light" panose="020B0502040204020203" pitchFamily="34" charset="-122"/>
                <a:cs typeface="宋体" panose="02010600030101010101" pitchFamily="2" charset="-122"/>
              </a:endParaRPr>
            </a:p>
          </p:txBody>
        </p:sp>
        <p:sp>
          <p:nvSpPr>
            <p:cNvPr id="23" name="文本框 892"/>
            <p:cNvSpPr txBox="1">
              <a:spLocks noChangeArrowheads="1"/>
            </p:cNvSpPr>
            <p:nvPr/>
          </p:nvSpPr>
          <p:spPr bwMode="auto">
            <a:xfrm>
              <a:off x="506207" y="2889958"/>
              <a:ext cx="685504" cy="297422"/>
            </a:xfrm>
            <a:prstGeom prst="rect">
              <a:avLst/>
            </a:prstGeom>
            <a:noFill/>
            <a:ln w="19050">
              <a:solidFill>
                <a:srgbClr val="00B0F0"/>
              </a:solidFill>
              <a:miter lim="800000"/>
            </a:ln>
          </p:spPr>
          <p:txBody>
            <a:bodyPr rot="0" vert="horz" wrap="square" lIns="91440" tIns="45720" rIns="91440" bIns="45720" anchor="t" anchorCtr="0" upright="1">
              <a:noAutofit/>
            </a:bodyPr>
            <a:lstStyle/>
            <a:p>
              <a:pPr algn="ctr"/>
              <a:r>
                <a:rPr lang="en-US" sz="1400" b="1" kern="100" dirty="0">
                  <a:effectLst/>
                  <a:latin typeface="微软雅黑 Light" panose="020B0502040204020203" pitchFamily="34" charset="-122"/>
                  <a:ea typeface="微软雅黑 Light" panose="020B0502040204020203" pitchFamily="34" charset="-122"/>
                  <a:cs typeface="宋体" panose="02010600030101010101" pitchFamily="2" charset="-122"/>
                </a:rPr>
                <a:t>read( )</a:t>
              </a:r>
              <a:endParaRPr lang="zh-CN" sz="1800" kern="100" dirty="0">
                <a:effectLst/>
                <a:latin typeface="微软雅黑 Light" panose="020B0502040204020203" pitchFamily="34" charset="-122"/>
                <a:ea typeface="微软雅黑 Light" panose="020B0502040204020203" pitchFamily="34" charset="-122"/>
                <a:cs typeface="宋体" panose="02010600030101010101" pitchFamily="2" charset="-122"/>
              </a:endParaRPr>
            </a:p>
          </p:txBody>
        </p:sp>
        <p:cxnSp>
          <p:nvCxnSpPr>
            <p:cNvPr id="24" name="直线 890"/>
            <p:cNvCxnSpPr>
              <a:cxnSpLocks noChangeShapeType="1"/>
            </p:cNvCxnSpPr>
            <p:nvPr/>
          </p:nvCxnSpPr>
          <p:spPr bwMode="auto">
            <a:xfrm>
              <a:off x="3446240" y="2720723"/>
              <a:ext cx="0" cy="198041"/>
            </a:xfrm>
            <a:prstGeom prst="line">
              <a:avLst/>
            </a:prstGeom>
            <a:noFill/>
            <a:ln w="19050">
              <a:solidFill>
                <a:srgbClr val="00B0F0"/>
              </a:solidFill>
              <a:round/>
              <a:tailEnd type="triangle" w="med" len="med"/>
            </a:ln>
          </p:spPr>
        </p:cxnSp>
        <p:sp>
          <p:nvSpPr>
            <p:cNvPr id="25" name="文本框 894"/>
            <p:cNvSpPr txBox="1">
              <a:spLocks noChangeArrowheads="1"/>
            </p:cNvSpPr>
            <p:nvPr/>
          </p:nvSpPr>
          <p:spPr bwMode="auto">
            <a:xfrm>
              <a:off x="3027881" y="2918764"/>
              <a:ext cx="800714" cy="296701"/>
            </a:xfrm>
            <a:prstGeom prst="rect">
              <a:avLst/>
            </a:prstGeom>
            <a:solidFill>
              <a:srgbClr val="FFFFFF"/>
            </a:solidFill>
            <a:ln w="19050">
              <a:solidFill>
                <a:srgbClr val="00B0F0"/>
              </a:solidFill>
              <a:miter lim="800000"/>
            </a:ln>
          </p:spPr>
          <p:txBody>
            <a:bodyPr rot="0" vert="horz" wrap="square" lIns="91440" tIns="45720" rIns="91440" bIns="45720" anchor="t" anchorCtr="0" upright="1">
              <a:noAutofit/>
            </a:bodyPr>
            <a:lstStyle/>
            <a:p>
              <a:pPr algn="ctr"/>
              <a:r>
                <a:rPr lang="en-US" sz="1400" b="1" kern="100" dirty="0">
                  <a:effectLst/>
                  <a:latin typeface="微软雅黑 Light" panose="020B0502040204020203" pitchFamily="34" charset="-122"/>
                  <a:ea typeface="微软雅黑 Light" panose="020B0502040204020203" pitchFamily="34" charset="-122"/>
                  <a:cs typeface="Times New Roman" panose="02020603050405020304" pitchFamily="18" charset="0"/>
                </a:rPr>
                <a:t>write( )</a:t>
              </a:r>
              <a:endParaRPr lang="zh-CN" sz="1400" kern="100" dirty="0">
                <a:effectLst/>
                <a:latin typeface="微软雅黑 Light" panose="020B0502040204020203" pitchFamily="34" charset="-122"/>
                <a:ea typeface="微软雅黑 Light" panose="020B0502040204020203" pitchFamily="34" charset="-122"/>
                <a:cs typeface="Times New Roman" panose="02020603050405020304" pitchFamily="18" charset="0"/>
              </a:endParaRPr>
            </a:p>
          </p:txBody>
        </p:sp>
        <p:cxnSp>
          <p:nvCxnSpPr>
            <p:cNvPr id="26" name="直线 893"/>
            <p:cNvCxnSpPr>
              <a:cxnSpLocks noChangeShapeType="1"/>
            </p:cNvCxnSpPr>
            <p:nvPr/>
          </p:nvCxnSpPr>
          <p:spPr bwMode="auto">
            <a:xfrm flipH="1" flipV="1">
              <a:off x="1191711" y="3085119"/>
              <a:ext cx="1836171" cy="720"/>
            </a:xfrm>
            <a:prstGeom prst="line">
              <a:avLst/>
            </a:prstGeom>
            <a:noFill/>
            <a:ln w="19050">
              <a:solidFill>
                <a:srgbClr val="00B0F0"/>
              </a:solidFill>
              <a:round/>
              <a:tailEnd type="triangle" w="med" len="med"/>
            </a:ln>
          </p:spPr>
        </p:cxnSp>
        <p:sp>
          <p:nvSpPr>
            <p:cNvPr id="27" name="文本框 895"/>
            <p:cNvSpPr txBox="1">
              <a:spLocks noChangeArrowheads="1"/>
            </p:cNvSpPr>
            <p:nvPr/>
          </p:nvSpPr>
          <p:spPr bwMode="auto">
            <a:xfrm>
              <a:off x="1255796" y="2813622"/>
              <a:ext cx="1405570" cy="296701"/>
            </a:xfrm>
            <a:prstGeom prst="rect">
              <a:avLst/>
            </a:prstGeom>
            <a:noFill/>
            <a:ln>
              <a:noFill/>
            </a:ln>
          </p:spPr>
          <p:txBody>
            <a:bodyPr rot="0" vert="horz" wrap="square" lIns="91440" tIns="45720" rIns="91440" bIns="45720" anchor="t" anchorCtr="0" upright="1">
              <a:noAutofit/>
            </a:bodyPr>
            <a:lstStyle/>
            <a:p>
              <a:pPr indent="306070" algn="just"/>
              <a:r>
                <a:rPr lang="zh-CN" sz="1800" b="1" kern="100" dirty="0">
                  <a:effectLst/>
                  <a:latin typeface="微软雅黑 Light" panose="020B0502040204020203" pitchFamily="34" charset="-122"/>
                  <a:ea typeface="微软雅黑 Light" panose="020B0502040204020203" pitchFamily="34" charset="-122"/>
                  <a:cs typeface="宋体" panose="02010600030101010101" pitchFamily="2" charset="-122"/>
                </a:rPr>
                <a:t>数据（请求）</a:t>
              </a:r>
              <a:endParaRPr lang="zh-CN" sz="1800" kern="100" dirty="0">
                <a:effectLst/>
                <a:latin typeface="微软雅黑 Light" panose="020B0502040204020203" pitchFamily="34" charset="-122"/>
                <a:ea typeface="微软雅黑 Light" panose="020B0502040204020203" pitchFamily="34" charset="-122"/>
                <a:cs typeface="宋体" panose="02010600030101010101" pitchFamily="2" charset="-122"/>
              </a:endParaRPr>
            </a:p>
          </p:txBody>
        </p:sp>
        <p:cxnSp>
          <p:nvCxnSpPr>
            <p:cNvPr id="28" name="直线 896"/>
            <p:cNvCxnSpPr>
              <a:cxnSpLocks noChangeShapeType="1"/>
            </p:cNvCxnSpPr>
            <p:nvPr/>
          </p:nvCxnSpPr>
          <p:spPr bwMode="auto">
            <a:xfrm>
              <a:off x="794234" y="3187380"/>
              <a:ext cx="720" cy="297422"/>
            </a:xfrm>
            <a:prstGeom prst="line">
              <a:avLst/>
            </a:prstGeom>
            <a:noFill/>
            <a:ln w="19050">
              <a:solidFill>
                <a:srgbClr val="00B0F0"/>
              </a:solidFill>
              <a:round/>
              <a:tailEnd type="triangle" w="med" len="med"/>
            </a:ln>
          </p:spPr>
        </p:cxnSp>
        <p:sp>
          <p:nvSpPr>
            <p:cNvPr id="29" name="文本框 898"/>
            <p:cNvSpPr txBox="1">
              <a:spLocks noChangeArrowheads="1"/>
            </p:cNvSpPr>
            <p:nvPr/>
          </p:nvSpPr>
          <p:spPr bwMode="auto">
            <a:xfrm>
              <a:off x="476684" y="3484801"/>
              <a:ext cx="709179" cy="296701"/>
            </a:xfrm>
            <a:prstGeom prst="rect">
              <a:avLst/>
            </a:prstGeom>
            <a:solidFill>
              <a:srgbClr val="FFFFFF"/>
            </a:solidFill>
            <a:ln w="19050">
              <a:solidFill>
                <a:srgbClr val="00B0F0"/>
              </a:solidFill>
              <a:miter lim="800000"/>
            </a:ln>
          </p:spPr>
          <p:txBody>
            <a:bodyPr rot="0" vert="horz" wrap="square" lIns="91440" tIns="45720" rIns="91440" bIns="45720" anchor="t" anchorCtr="0" upright="1">
              <a:noAutofit/>
            </a:bodyPr>
            <a:lstStyle/>
            <a:p>
              <a:pPr algn="ctr"/>
              <a:r>
                <a:rPr lang="zh-CN" sz="1400" b="1" kern="100" dirty="0">
                  <a:effectLst/>
                  <a:latin typeface="微软雅黑 Light" panose="020B0502040204020203" pitchFamily="34" charset="-122"/>
                  <a:ea typeface="微软雅黑 Light" panose="020B0502040204020203" pitchFamily="34" charset="-122"/>
                  <a:cs typeface="宋体" panose="02010600030101010101" pitchFamily="2" charset="-122"/>
                </a:rPr>
                <a:t>数据处理</a:t>
              </a:r>
              <a:endParaRPr lang="zh-CN" sz="1800" kern="100" dirty="0">
                <a:effectLst/>
                <a:latin typeface="微软雅黑 Light" panose="020B0502040204020203" pitchFamily="34" charset="-122"/>
                <a:ea typeface="微软雅黑 Light" panose="020B0502040204020203" pitchFamily="34" charset="-122"/>
                <a:cs typeface="宋体" panose="02010600030101010101" pitchFamily="2" charset="-122"/>
              </a:endParaRPr>
            </a:p>
          </p:txBody>
        </p:sp>
        <p:cxnSp>
          <p:nvCxnSpPr>
            <p:cNvPr id="30" name="直线 900"/>
            <p:cNvCxnSpPr>
              <a:cxnSpLocks noChangeShapeType="1"/>
            </p:cNvCxnSpPr>
            <p:nvPr/>
          </p:nvCxnSpPr>
          <p:spPr bwMode="auto">
            <a:xfrm>
              <a:off x="792794" y="3781503"/>
              <a:ext cx="720" cy="198041"/>
            </a:xfrm>
            <a:prstGeom prst="line">
              <a:avLst/>
            </a:prstGeom>
            <a:noFill/>
            <a:ln w="19050">
              <a:solidFill>
                <a:srgbClr val="00B0F0"/>
              </a:solidFill>
              <a:round/>
              <a:tailEnd type="triangle" w="med" len="med"/>
            </a:ln>
          </p:spPr>
        </p:cxnSp>
        <p:sp>
          <p:nvSpPr>
            <p:cNvPr id="31" name="文本框 903"/>
            <p:cNvSpPr txBox="1">
              <a:spLocks noChangeArrowheads="1"/>
            </p:cNvSpPr>
            <p:nvPr/>
          </p:nvSpPr>
          <p:spPr bwMode="auto">
            <a:xfrm>
              <a:off x="476684" y="3979544"/>
              <a:ext cx="686224" cy="296701"/>
            </a:xfrm>
            <a:prstGeom prst="rect">
              <a:avLst/>
            </a:prstGeom>
            <a:solidFill>
              <a:srgbClr val="FFFFFF"/>
            </a:solidFill>
            <a:ln w="19050">
              <a:solidFill>
                <a:srgbClr val="00B0F0"/>
              </a:solidFill>
              <a:miter lim="800000"/>
            </a:ln>
          </p:spPr>
          <p:txBody>
            <a:bodyPr rot="0" vert="horz" wrap="square" lIns="91440" tIns="45720" rIns="91440" bIns="45720" anchor="t" anchorCtr="0" upright="1">
              <a:noAutofit/>
            </a:bodyPr>
            <a:lstStyle/>
            <a:p>
              <a:pPr algn="ctr"/>
              <a:r>
                <a:rPr lang="en-US" sz="1400" b="1" kern="100" dirty="0">
                  <a:effectLst/>
                  <a:latin typeface="微软雅黑 Light" panose="020B0502040204020203" pitchFamily="34" charset="-122"/>
                  <a:ea typeface="微软雅黑 Light" panose="020B0502040204020203" pitchFamily="34" charset="-122"/>
                  <a:cs typeface="宋体" panose="02010600030101010101" pitchFamily="2" charset="-122"/>
                </a:rPr>
                <a:t>write( )</a:t>
              </a:r>
              <a:endParaRPr lang="zh-CN" sz="1800" kern="100" dirty="0">
                <a:effectLst/>
                <a:latin typeface="微软雅黑 Light" panose="020B0502040204020203" pitchFamily="34" charset="-122"/>
                <a:ea typeface="微软雅黑 Light" panose="020B0502040204020203" pitchFamily="34" charset="-122"/>
                <a:cs typeface="宋体" panose="02010600030101010101" pitchFamily="2" charset="-122"/>
              </a:endParaRPr>
            </a:p>
          </p:txBody>
        </p:sp>
        <p:cxnSp>
          <p:nvCxnSpPr>
            <p:cNvPr id="32" name="直线 897"/>
            <p:cNvCxnSpPr>
              <a:cxnSpLocks noChangeShapeType="1"/>
            </p:cNvCxnSpPr>
            <p:nvPr/>
          </p:nvCxnSpPr>
          <p:spPr bwMode="auto">
            <a:xfrm>
              <a:off x="3446240" y="3215466"/>
              <a:ext cx="0" cy="594123"/>
            </a:xfrm>
            <a:prstGeom prst="line">
              <a:avLst/>
            </a:prstGeom>
            <a:noFill/>
            <a:ln w="19050">
              <a:solidFill>
                <a:srgbClr val="00B0F0"/>
              </a:solidFill>
              <a:round/>
              <a:tailEnd type="triangle" w="med" len="med"/>
            </a:ln>
          </p:spPr>
        </p:cxnSp>
        <p:sp>
          <p:nvSpPr>
            <p:cNvPr id="33" name="文本框 902"/>
            <p:cNvSpPr txBox="1">
              <a:spLocks noChangeArrowheads="1"/>
            </p:cNvSpPr>
            <p:nvPr/>
          </p:nvSpPr>
          <p:spPr bwMode="auto">
            <a:xfrm>
              <a:off x="3027881" y="3809589"/>
              <a:ext cx="800714" cy="297422"/>
            </a:xfrm>
            <a:prstGeom prst="rect">
              <a:avLst/>
            </a:prstGeom>
            <a:solidFill>
              <a:srgbClr val="FFFFFF"/>
            </a:solidFill>
            <a:ln w="19050">
              <a:solidFill>
                <a:srgbClr val="00B0F0"/>
              </a:solidFill>
              <a:miter lim="800000"/>
            </a:ln>
          </p:spPr>
          <p:txBody>
            <a:bodyPr rot="0" vert="horz" wrap="square" lIns="91440" tIns="45720" rIns="91440" bIns="45720" anchor="t" anchorCtr="0" upright="1">
              <a:noAutofit/>
            </a:bodyPr>
            <a:lstStyle/>
            <a:p>
              <a:pPr algn="ctr"/>
              <a:r>
                <a:rPr lang="en-US" sz="1400" b="1" kern="100" dirty="0">
                  <a:effectLst/>
                  <a:latin typeface="微软雅黑 Light" panose="020B0502040204020203" pitchFamily="34" charset="-122"/>
                  <a:ea typeface="微软雅黑 Light" panose="020B0502040204020203" pitchFamily="34" charset="-122"/>
                  <a:cs typeface="Times New Roman" panose="02020603050405020304" pitchFamily="18" charset="0"/>
                </a:rPr>
                <a:t>read( )</a:t>
              </a:r>
              <a:endParaRPr lang="zh-CN" sz="1400" kern="100" dirty="0">
                <a:effectLst/>
                <a:latin typeface="微软雅黑 Light" panose="020B0502040204020203" pitchFamily="34" charset="-122"/>
                <a:ea typeface="微软雅黑 Light" panose="020B0502040204020203" pitchFamily="34" charset="-122"/>
                <a:cs typeface="Times New Roman" panose="02020603050405020304" pitchFamily="18" charset="0"/>
              </a:endParaRPr>
            </a:p>
          </p:txBody>
        </p:sp>
        <p:cxnSp>
          <p:nvCxnSpPr>
            <p:cNvPr id="34" name="直线 901"/>
            <p:cNvCxnSpPr>
              <a:cxnSpLocks noChangeShapeType="1"/>
            </p:cNvCxnSpPr>
            <p:nvPr/>
          </p:nvCxnSpPr>
          <p:spPr bwMode="auto">
            <a:xfrm flipV="1">
              <a:off x="1162908" y="3979544"/>
              <a:ext cx="1864973" cy="127466"/>
            </a:xfrm>
            <a:prstGeom prst="line">
              <a:avLst/>
            </a:prstGeom>
            <a:noFill/>
            <a:ln w="19050">
              <a:solidFill>
                <a:srgbClr val="00B0F0"/>
              </a:solidFill>
              <a:round/>
              <a:tailEnd type="triangle" w="med" len="med"/>
            </a:ln>
          </p:spPr>
        </p:cxnSp>
        <p:sp>
          <p:nvSpPr>
            <p:cNvPr id="35" name="文本框 899"/>
            <p:cNvSpPr txBox="1">
              <a:spLocks noChangeArrowheads="1"/>
            </p:cNvSpPr>
            <p:nvPr/>
          </p:nvSpPr>
          <p:spPr bwMode="auto">
            <a:xfrm>
              <a:off x="1255797" y="3781503"/>
              <a:ext cx="1405570" cy="296701"/>
            </a:xfrm>
            <a:prstGeom prst="rect">
              <a:avLst/>
            </a:prstGeom>
            <a:noFill/>
            <a:ln>
              <a:noFill/>
            </a:ln>
          </p:spPr>
          <p:txBody>
            <a:bodyPr rot="0" vert="horz" wrap="square" lIns="91440" tIns="45720" rIns="91440" bIns="45720" anchor="t" anchorCtr="0" upright="1">
              <a:noAutofit/>
            </a:bodyPr>
            <a:lstStyle/>
            <a:p>
              <a:pPr indent="306070" algn="just"/>
              <a:r>
                <a:rPr lang="zh-CN" sz="1800" b="1" kern="100" dirty="0">
                  <a:effectLst/>
                  <a:latin typeface="微软雅黑 Light" panose="020B0502040204020203" pitchFamily="34" charset="-122"/>
                  <a:ea typeface="微软雅黑 Light" panose="020B0502040204020203" pitchFamily="34" charset="-122"/>
                  <a:cs typeface="宋体" panose="02010600030101010101" pitchFamily="2" charset="-122"/>
                </a:rPr>
                <a:t>数据（回答）</a:t>
              </a:r>
              <a:endParaRPr lang="zh-CN" sz="1800" kern="100" dirty="0">
                <a:effectLst/>
                <a:latin typeface="微软雅黑 Light" panose="020B0502040204020203" pitchFamily="34" charset="-122"/>
                <a:ea typeface="微软雅黑 Light" panose="020B0502040204020203" pitchFamily="34" charset="-122"/>
                <a:cs typeface="宋体" panose="02010600030101010101" pitchFamily="2" charset="-122"/>
              </a:endParaRPr>
            </a:p>
          </p:txBody>
        </p:sp>
        <p:sp>
          <p:nvSpPr>
            <p:cNvPr id="36" name="文本框 899"/>
            <p:cNvSpPr txBox="1">
              <a:spLocks noChangeArrowheads="1"/>
            </p:cNvSpPr>
            <p:nvPr/>
          </p:nvSpPr>
          <p:spPr bwMode="auto">
            <a:xfrm>
              <a:off x="1114664" y="4315853"/>
              <a:ext cx="2240848" cy="297422"/>
            </a:xfrm>
            <a:prstGeom prst="rect">
              <a:avLst/>
            </a:prstGeom>
            <a:noFill/>
            <a:ln>
              <a:noFill/>
            </a:ln>
          </p:spPr>
          <p:txBody>
            <a:bodyPr rot="0" vert="horz" wrap="square" lIns="91440" tIns="45720" rIns="91440" bIns="45720" anchor="t" anchorCtr="0" upright="1">
              <a:noAutofit/>
            </a:bodyPr>
            <a:lstStyle/>
            <a:p>
              <a:pPr indent="1270" algn="ctr"/>
              <a:r>
                <a:rPr lang="zh-CN" sz="1800" b="1" kern="100" dirty="0">
                  <a:effectLst/>
                  <a:latin typeface="微软雅黑 Light" panose="020B0502040204020203" pitchFamily="34" charset="-122"/>
                  <a:ea typeface="微软雅黑 Light" panose="020B0502040204020203" pitchFamily="34" charset="-122"/>
                  <a:cs typeface="宋体" panose="02010600030101010101" pitchFamily="2" charset="-122"/>
                </a:rPr>
                <a:t>面向连接服务流程</a:t>
              </a:r>
              <a:endParaRPr lang="zh-CN" sz="1800" kern="100" dirty="0">
                <a:effectLst/>
                <a:latin typeface="微软雅黑 Light" panose="020B0502040204020203" pitchFamily="34" charset="-122"/>
                <a:ea typeface="微软雅黑 Light" panose="020B0502040204020203" pitchFamily="34" charset="-122"/>
                <a:cs typeface="宋体" panose="02010600030101010101" pitchFamily="2" charset="-122"/>
              </a:endParaRPr>
            </a:p>
          </p:txBody>
        </p:sp>
      </p:gr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无连接编程模型 </a:t>
            </a:r>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t>110</a:t>
            </a:fld>
            <a:endParaRPr lang="en-US" altLang="zh-CN" dirty="0"/>
          </a:p>
        </p:txBody>
      </p:sp>
      <p:grpSp>
        <p:nvGrpSpPr>
          <p:cNvPr id="5" name="画布 4072"/>
          <p:cNvGrpSpPr/>
          <p:nvPr/>
        </p:nvGrpSpPr>
        <p:grpSpPr>
          <a:xfrm>
            <a:off x="3071664" y="1052736"/>
            <a:ext cx="6192688" cy="5256584"/>
            <a:chOff x="0" y="0"/>
            <a:chExt cx="3789680" cy="3471132"/>
          </a:xfrm>
        </p:grpSpPr>
        <p:sp>
          <p:nvSpPr>
            <p:cNvPr id="6" name="矩形 5"/>
            <p:cNvSpPr/>
            <p:nvPr/>
          </p:nvSpPr>
          <p:spPr>
            <a:xfrm>
              <a:off x="0" y="0"/>
              <a:ext cx="3789680" cy="3470275"/>
            </a:xfrm>
            <a:prstGeom prst="rect">
              <a:avLst/>
            </a:prstGeom>
            <a:noFill/>
            <a:ln>
              <a:noFill/>
            </a:ln>
          </p:spPr>
        </p:sp>
        <p:sp>
          <p:nvSpPr>
            <p:cNvPr id="7" name="文本框 907"/>
            <p:cNvSpPr txBox="1">
              <a:spLocks noChangeArrowheads="1"/>
            </p:cNvSpPr>
            <p:nvPr/>
          </p:nvSpPr>
          <p:spPr bwMode="auto">
            <a:xfrm>
              <a:off x="365795" y="367252"/>
              <a:ext cx="799997" cy="297425"/>
            </a:xfrm>
            <a:prstGeom prst="rect">
              <a:avLst/>
            </a:prstGeom>
            <a:solidFill>
              <a:srgbClr val="FFFFFF"/>
            </a:solidFill>
            <a:ln w="19050">
              <a:solidFill>
                <a:srgbClr val="00B0F0"/>
              </a:solidFill>
              <a:miter lim="800000"/>
            </a:ln>
          </p:spPr>
          <p:txBody>
            <a:bodyPr rot="0" vert="horz" wrap="square" lIns="91440" tIns="45720" rIns="91440" bIns="45720" anchor="t" anchorCtr="0" upright="1">
              <a:noAutofit/>
            </a:bodyPr>
            <a:lstStyle/>
            <a:p>
              <a:pPr algn="ctr"/>
              <a:r>
                <a:rPr lang="en-US" sz="1800" b="1" kern="100" dirty="0">
                  <a:effectLst/>
                  <a:latin typeface="微软雅黑 Light" panose="020B0502040204020203" pitchFamily="34" charset="-122"/>
                  <a:ea typeface="微软雅黑 Light" panose="020B0502040204020203" pitchFamily="34" charset="-122"/>
                  <a:cs typeface="Times New Roman" panose="02020603050405020304" pitchFamily="18" charset="0"/>
                </a:rPr>
                <a:t>socket( )</a:t>
              </a:r>
              <a:endParaRPr lang="zh-CN" sz="1800" kern="100" dirty="0">
                <a:effectLst/>
                <a:latin typeface="微软雅黑 Light" panose="020B0502040204020203" pitchFamily="34" charset="-122"/>
                <a:ea typeface="微软雅黑 Light" panose="020B0502040204020203" pitchFamily="34" charset="-122"/>
                <a:cs typeface="Times New Roman" panose="02020603050405020304" pitchFamily="18" charset="0"/>
              </a:endParaRPr>
            </a:p>
          </p:txBody>
        </p:sp>
        <p:cxnSp>
          <p:nvCxnSpPr>
            <p:cNvPr id="8" name="直线 908"/>
            <p:cNvCxnSpPr>
              <a:cxnSpLocks noChangeShapeType="1"/>
            </p:cNvCxnSpPr>
            <p:nvPr/>
          </p:nvCxnSpPr>
          <p:spPr bwMode="auto">
            <a:xfrm>
              <a:off x="702788" y="664677"/>
              <a:ext cx="0" cy="198043"/>
            </a:xfrm>
            <a:prstGeom prst="line">
              <a:avLst/>
            </a:prstGeom>
            <a:noFill/>
            <a:ln w="19050">
              <a:solidFill>
                <a:srgbClr val="00B0F0"/>
              </a:solidFill>
              <a:round/>
              <a:tailEnd type="triangle" w="med" len="med"/>
            </a:ln>
          </p:spPr>
        </p:cxnSp>
        <p:sp>
          <p:nvSpPr>
            <p:cNvPr id="9" name="文本框 906"/>
            <p:cNvSpPr txBox="1">
              <a:spLocks noChangeArrowheads="1"/>
            </p:cNvSpPr>
            <p:nvPr/>
          </p:nvSpPr>
          <p:spPr bwMode="auto">
            <a:xfrm>
              <a:off x="492019" y="61913"/>
              <a:ext cx="686226" cy="297425"/>
            </a:xfrm>
            <a:prstGeom prst="rect">
              <a:avLst/>
            </a:prstGeom>
            <a:solidFill>
              <a:srgbClr val="FFFFFF"/>
            </a:solidFill>
            <a:ln w="9525">
              <a:solidFill>
                <a:srgbClr val="FFFFFF"/>
              </a:solidFill>
              <a:miter lim="800000"/>
            </a:ln>
          </p:spPr>
          <p:txBody>
            <a:bodyPr rot="0" vert="horz" wrap="square" lIns="91440" tIns="45720" rIns="91440" bIns="45720" anchor="t" anchorCtr="0" upright="1">
              <a:noAutofit/>
            </a:bodyPr>
            <a:lstStyle/>
            <a:p>
              <a:pPr algn="just"/>
              <a:r>
                <a:rPr lang="zh-CN" sz="1800" b="1" kern="100" dirty="0">
                  <a:effectLst/>
                  <a:latin typeface="微软雅黑 Light" panose="020B0502040204020203" pitchFamily="34" charset="-122"/>
                  <a:ea typeface="微软雅黑 Light" panose="020B0502040204020203" pitchFamily="34" charset="-122"/>
                  <a:cs typeface="宋体" panose="02010600030101010101" pitchFamily="2" charset="-122"/>
                </a:rPr>
                <a:t>服务器</a:t>
              </a:r>
              <a:endParaRPr lang="zh-CN" sz="1800" kern="100" dirty="0">
                <a:effectLst/>
                <a:latin typeface="微软雅黑 Light" panose="020B0502040204020203" pitchFamily="34" charset="-122"/>
                <a:ea typeface="微软雅黑 Light" panose="020B0502040204020203" pitchFamily="34" charset="-122"/>
                <a:cs typeface="宋体" panose="02010600030101010101" pitchFamily="2" charset="-122"/>
              </a:endParaRPr>
            </a:p>
          </p:txBody>
        </p:sp>
        <p:sp>
          <p:nvSpPr>
            <p:cNvPr id="10" name="文本框 911"/>
            <p:cNvSpPr txBox="1">
              <a:spLocks noChangeArrowheads="1"/>
            </p:cNvSpPr>
            <p:nvPr/>
          </p:nvSpPr>
          <p:spPr bwMode="auto">
            <a:xfrm>
              <a:off x="365795" y="862721"/>
              <a:ext cx="799997" cy="297425"/>
            </a:xfrm>
            <a:prstGeom prst="rect">
              <a:avLst/>
            </a:prstGeom>
            <a:solidFill>
              <a:srgbClr val="FFFFFF"/>
            </a:solidFill>
            <a:ln w="19050">
              <a:solidFill>
                <a:srgbClr val="00B0F0"/>
              </a:solidFill>
              <a:miter lim="800000"/>
            </a:ln>
          </p:spPr>
          <p:txBody>
            <a:bodyPr rot="0" vert="horz" wrap="square" lIns="91440" tIns="45720" rIns="91440" bIns="45720" anchor="t" anchorCtr="0" upright="1">
              <a:noAutofit/>
            </a:bodyPr>
            <a:lstStyle/>
            <a:p>
              <a:pPr algn="ctr"/>
              <a:r>
                <a:rPr lang="en-US" sz="1800" b="1" kern="100" dirty="0">
                  <a:effectLst/>
                  <a:latin typeface="微软雅黑 Light" panose="020B0502040204020203" pitchFamily="34" charset="-122"/>
                  <a:ea typeface="微软雅黑 Light" panose="020B0502040204020203" pitchFamily="34" charset="-122"/>
                  <a:cs typeface="Times New Roman" panose="02020603050405020304" pitchFamily="18" charset="0"/>
                </a:rPr>
                <a:t>bind( )</a:t>
              </a:r>
              <a:endParaRPr lang="zh-CN" sz="1800" kern="100" dirty="0">
                <a:effectLst/>
                <a:latin typeface="微软雅黑 Light" panose="020B0502040204020203" pitchFamily="34" charset="-122"/>
                <a:ea typeface="微软雅黑 Light" panose="020B0502040204020203" pitchFamily="34" charset="-122"/>
                <a:cs typeface="Times New Roman" panose="02020603050405020304" pitchFamily="18" charset="0"/>
              </a:endParaRPr>
            </a:p>
          </p:txBody>
        </p:sp>
        <p:cxnSp>
          <p:nvCxnSpPr>
            <p:cNvPr id="11" name="直线 912"/>
            <p:cNvCxnSpPr>
              <a:cxnSpLocks noChangeShapeType="1"/>
            </p:cNvCxnSpPr>
            <p:nvPr/>
          </p:nvCxnSpPr>
          <p:spPr bwMode="auto">
            <a:xfrm>
              <a:off x="702788" y="1160146"/>
              <a:ext cx="0" cy="198043"/>
            </a:xfrm>
            <a:prstGeom prst="line">
              <a:avLst/>
            </a:prstGeom>
            <a:noFill/>
            <a:ln w="19050">
              <a:solidFill>
                <a:srgbClr val="00B0F0"/>
              </a:solidFill>
              <a:round/>
              <a:tailEnd type="triangle" w="med" len="med"/>
            </a:ln>
          </p:spPr>
        </p:cxnSp>
        <p:sp>
          <p:nvSpPr>
            <p:cNvPr id="12" name="文本框 914"/>
            <p:cNvSpPr txBox="1">
              <a:spLocks noChangeArrowheads="1"/>
            </p:cNvSpPr>
            <p:nvPr/>
          </p:nvSpPr>
          <p:spPr bwMode="auto">
            <a:xfrm>
              <a:off x="296669" y="1358189"/>
              <a:ext cx="914488" cy="297425"/>
            </a:xfrm>
            <a:prstGeom prst="rect">
              <a:avLst/>
            </a:prstGeom>
            <a:solidFill>
              <a:srgbClr val="FFFFFF"/>
            </a:solidFill>
            <a:ln w="19050">
              <a:solidFill>
                <a:srgbClr val="00B0F0"/>
              </a:solidFill>
              <a:miter lim="800000"/>
            </a:ln>
          </p:spPr>
          <p:txBody>
            <a:bodyPr rot="0" vert="horz" wrap="square" lIns="91440" tIns="45720" rIns="91440" bIns="45720" anchor="t" anchorCtr="0" upright="1">
              <a:noAutofit/>
            </a:bodyPr>
            <a:lstStyle/>
            <a:p>
              <a:pPr algn="ctr"/>
              <a:r>
                <a:rPr lang="en-US" sz="1800" b="1" kern="100" dirty="0" err="1">
                  <a:effectLst/>
                  <a:latin typeface="微软雅黑 Light" panose="020B0502040204020203" pitchFamily="34" charset="-122"/>
                  <a:ea typeface="微软雅黑 Light" panose="020B0502040204020203" pitchFamily="34" charset="-122"/>
                  <a:cs typeface="Times New Roman" panose="02020603050405020304" pitchFamily="18" charset="0"/>
                </a:rPr>
                <a:t>recvfrom</a:t>
              </a:r>
              <a:r>
                <a:rPr lang="en-US" sz="1800" b="1" kern="100" dirty="0">
                  <a:effectLst/>
                  <a:latin typeface="微软雅黑 Light" panose="020B0502040204020203" pitchFamily="34" charset="-122"/>
                  <a:ea typeface="微软雅黑 Light" panose="020B0502040204020203" pitchFamily="34" charset="-122"/>
                  <a:cs typeface="Times New Roman" panose="02020603050405020304" pitchFamily="18" charset="0"/>
                </a:rPr>
                <a:t>( )</a:t>
              </a:r>
              <a:endParaRPr lang="zh-CN" sz="1800" kern="100" dirty="0">
                <a:effectLst/>
                <a:latin typeface="微软雅黑 Light" panose="020B0502040204020203" pitchFamily="34" charset="-122"/>
                <a:ea typeface="微软雅黑 Light" panose="020B0502040204020203" pitchFamily="34" charset="-122"/>
                <a:cs typeface="Times New Roman" panose="02020603050405020304" pitchFamily="18" charset="0"/>
              </a:endParaRPr>
            </a:p>
          </p:txBody>
        </p:sp>
        <p:cxnSp>
          <p:nvCxnSpPr>
            <p:cNvPr id="13" name="直线 916"/>
            <p:cNvCxnSpPr>
              <a:cxnSpLocks noChangeShapeType="1"/>
            </p:cNvCxnSpPr>
            <p:nvPr/>
          </p:nvCxnSpPr>
          <p:spPr bwMode="auto">
            <a:xfrm>
              <a:off x="702788" y="1655614"/>
              <a:ext cx="0" cy="198043"/>
            </a:xfrm>
            <a:prstGeom prst="line">
              <a:avLst/>
            </a:prstGeom>
            <a:noFill/>
            <a:ln w="19050">
              <a:solidFill>
                <a:srgbClr val="00B0F0"/>
              </a:solidFill>
              <a:round/>
              <a:tailEnd type="triangle" w="med" len="med"/>
            </a:ln>
          </p:spPr>
        </p:cxnSp>
        <p:sp>
          <p:nvSpPr>
            <p:cNvPr id="14" name="文本框 918"/>
            <p:cNvSpPr txBox="1">
              <a:spLocks noChangeArrowheads="1"/>
            </p:cNvSpPr>
            <p:nvPr/>
          </p:nvSpPr>
          <p:spPr bwMode="auto">
            <a:xfrm>
              <a:off x="11243" y="1837323"/>
              <a:ext cx="1410111" cy="297425"/>
            </a:xfrm>
            <a:prstGeom prst="rect">
              <a:avLst/>
            </a:prstGeom>
            <a:solidFill>
              <a:srgbClr val="FFFFFF"/>
            </a:solidFill>
            <a:ln w="19050">
              <a:solidFill>
                <a:srgbClr val="00B0F0"/>
              </a:solidFill>
              <a:miter lim="800000"/>
            </a:ln>
          </p:spPr>
          <p:txBody>
            <a:bodyPr rot="0" vert="horz" wrap="square" lIns="0" tIns="45720" rIns="91440" bIns="45720" anchor="t" anchorCtr="0" upright="1">
              <a:noAutofit/>
            </a:bodyPr>
            <a:lstStyle/>
            <a:p>
              <a:pPr indent="229235" algn="ctr">
                <a:lnSpc>
                  <a:spcPct val="150000"/>
                </a:lnSpc>
              </a:pPr>
              <a:r>
                <a:rPr lang="zh-CN" sz="1600" b="1" kern="100" dirty="0">
                  <a:effectLst/>
                  <a:latin typeface="微软雅黑 Light" panose="020B0502040204020203" pitchFamily="34" charset="-122"/>
                  <a:ea typeface="微软雅黑 Light" panose="020B0502040204020203" pitchFamily="34" charset="-122"/>
                  <a:cs typeface="宋体" panose="02010600030101010101" pitchFamily="2" charset="-122"/>
                </a:rPr>
                <a:t>等待来自客户的数据</a:t>
              </a:r>
              <a:endParaRPr lang="zh-CN" sz="1600" kern="100" dirty="0">
                <a:effectLst/>
                <a:latin typeface="微软雅黑 Light" panose="020B0502040204020203" pitchFamily="34" charset="-122"/>
                <a:ea typeface="微软雅黑 Light" panose="020B0502040204020203" pitchFamily="34" charset="-122"/>
                <a:cs typeface="宋体" panose="02010600030101010101" pitchFamily="2" charset="-122"/>
              </a:endParaRPr>
            </a:p>
          </p:txBody>
        </p:sp>
        <p:cxnSp>
          <p:nvCxnSpPr>
            <p:cNvPr id="15" name="直线 919"/>
            <p:cNvCxnSpPr>
              <a:cxnSpLocks noChangeShapeType="1"/>
            </p:cNvCxnSpPr>
            <p:nvPr/>
          </p:nvCxnSpPr>
          <p:spPr bwMode="auto">
            <a:xfrm>
              <a:off x="702788" y="2151083"/>
              <a:ext cx="0" cy="198043"/>
            </a:xfrm>
            <a:prstGeom prst="line">
              <a:avLst/>
            </a:prstGeom>
            <a:noFill/>
            <a:ln w="19050">
              <a:solidFill>
                <a:srgbClr val="00B0F0"/>
              </a:solidFill>
              <a:round/>
              <a:tailEnd type="triangle" w="med" len="med"/>
            </a:ln>
          </p:spPr>
        </p:cxnSp>
        <p:cxnSp>
          <p:nvCxnSpPr>
            <p:cNvPr id="16" name="直线 921"/>
            <p:cNvCxnSpPr>
              <a:cxnSpLocks noChangeShapeType="1"/>
            </p:cNvCxnSpPr>
            <p:nvPr/>
          </p:nvCxnSpPr>
          <p:spPr bwMode="auto">
            <a:xfrm flipH="1">
              <a:off x="702788" y="2202214"/>
              <a:ext cx="1942747" cy="0"/>
            </a:xfrm>
            <a:prstGeom prst="line">
              <a:avLst/>
            </a:prstGeom>
            <a:noFill/>
            <a:ln w="19050">
              <a:solidFill>
                <a:srgbClr val="00B0F0"/>
              </a:solidFill>
              <a:round/>
              <a:tailEnd type="triangle" w="med" len="med"/>
            </a:ln>
          </p:spPr>
        </p:cxnSp>
        <p:sp>
          <p:nvSpPr>
            <p:cNvPr id="17" name="文本框 920"/>
            <p:cNvSpPr txBox="1">
              <a:spLocks noChangeArrowheads="1"/>
            </p:cNvSpPr>
            <p:nvPr/>
          </p:nvSpPr>
          <p:spPr bwMode="auto">
            <a:xfrm>
              <a:off x="2645534" y="2051701"/>
              <a:ext cx="686226" cy="297425"/>
            </a:xfrm>
            <a:prstGeom prst="rect">
              <a:avLst/>
            </a:prstGeom>
            <a:solidFill>
              <a:srgbClr val="FFFFFF"/>
            </a:solidFill>
            <a:ln w="19050">
              <a:solidFill>
                <a:srgbClr val="00B0F0"/>
              </a:solidFill>
              <a:miter lim="800000"/>
            </a:ln>
          </p:spPr>
          <p:txBody>
            <a:bodyPr rot="0" vert="horz" wrap="square" lIns="91440" tIns="45720" rIns="91440" bIns="45720" anchor="t" anchorCtr="0" upright="1">
              <a:noAutofit/>
            </a:bodyPr>
            <a:lstStyle/>
            <a:p>
              <a:pPr algn="ctr"/>
              <a:r>
                <a:rPr lang="en-US" sz="1800" b="1" kern="100" dirty="0" err="1">
                  <a:effectLst/>
                  <a:latin typeface="微软雅黑 Light" panose="020B0502040204020203" pitchFamily="34" charset="-122"/>
                  <a:ea typeface="微软雅黑 Light" panose="020B0502040204020203" pitchFamily="34" charset="-122"/>
                  <a:cs typeface="Times New Roman" panose="02020603050405020304" pitchFamily="18" charset="0"/>
                </a:rPr>
                <a:t>sendto</a:t>
              </a:r>
              <a:r>
                <a:rPr lang="en-US" sz="1800" b="1" kern="100" dirty="0">
                  <a:effectLst/>
                  <a:latin typeface="微软雅黑 Light" panose="020B0502040204020203" pitchFamily="34" charset="-122"/>
                  <a:ea typeface="微软雅黑 Light" panose="020B0502040204020203" pitchFamily="34" charset="-122"/>
                  <a:cs typeface="Times New Roman" panose="02020603050405020304" pitchFamily="18" charset="0"/>
                </a:rPr>
                <a:t>( )</a:t>
              </a:r>
              <a:endParaRPr lang="zh-CN" sz="1800" kern="100" dirty="0">
                <a:effectLst/>
                <a:latin typeface="微软雅黑 Light" panose="020B0502040204020203" pitchFamily="34" charset="-122"/>
                <a:ea typeface="微软雅黑 Light" panose="020B0502040204020203" pitchFamily="34" charset="-122"/>
                <a:cs typeface="Times New Roman" panose="02020603050405020304" pitchFamily="18" charset="0"/>
              </a:endParaRPr>
            </a:p>
          </p:txBody>
        </p:sp>
        <p:sp>
          <p:nvSpPr>
            <p:cNvPr id="18" name="文本框 917"/>
            <p:cNvSpPr txBox="1">
              <a:spLocks noChangeArrowheads="1"/>
            </p:cNvSpPr>
            <p:nvPr/>
          </p:nvSpPr>
          <p:spPr bwMode="auto">
            <a:xfrm>
              <a:off x="1502425" y="1949540"/>
              <a:ext cx="1013496" cy="296705"/>
            </a:xfrm>
            <a:prstGeom prst="rect">
              <a:avLst/>
            </a:prstGeom>
            <a:noFill/>
            <a:ln w="19050">
              <a:noFill/>
            </a:ln>
          </p:spPr>
          <p:txBody>
            <a:bodyPr rot="0" vert="horz" wrap="square" lIns="91440" tIns="45720" rIns="91440" bIns="45720" anchor="t" anchorCtr="0" upright="1">
              <a:noAutofit/>
            </a:bodyPr>
            <a:lstStyle/>
            <a:p>
              <a:pPr algn="just"/>
              <a:r>
                <a:rPr lang="zh-CN" sz="1800" b="1" kern="100" dirty="0">
                  <a:effectLst/>
                  <a:latin typeface="微软雅黑 Light" panose="020B0502040204020203" pitchFamily="34" charset="-122"/>
                  <a:ea typeface="微软雅黑 Light" panose="020B0502040204020203" pitchFamily="34" charset="-122"/>
                  <a:cs typeface="宋体" panose="02010600030101010101" pitchFamily="2" charset="-122"/>
                </a:rPr>
                <a:t>数据（请求）</a:t>
              </a:r>
              <a:endParaRPr lang="zh-CN" sz="1800" kern="100" dirty="0">
                <a:effectLst/>
                <a:latin typeface="微软雅黑 Light" panose="020B0502040204020203" pitchFamily="34" charset="-122"/>
                <a:ea typeface="微软雅黑 Light" panose="020B0502040204020203" pitchFamily="34" charset="-122"/>
                <a:cs typeface="宋体" panose="02010600030101010101" pitchFamily="2" charset="-122"/>
              </a:endParaRPr>
            </a:p>
          </p:txBody>
        </p:sp>
        <p:cxnSp>
          <p:nvCxnSpPr>
            <p:cNvPr id="19" name="直线 915"/>
            <p:cNvCxnSpPr>
              <a:cxnSpLocks noChangeShapeType="1"/>
            </p:cNvCxnSpPr>
            <p:nvPr/>
          </p:nvCxnSpPr>
          <p:spPr bwMode="auto">
            <a:xfrm>
              <a:off x="2954444" y="1556232"/>
              <a:ext cx="0" cy="495469"/>
            </a:xfrm>
            <a:prstGeom prst="line">
              <a:avLst/>
            </a:prstGeom>
            <a:noFill/>
            <a:ln w="19050">
              <a:solidFill>
                <a:srgbClr val="00B0F0"/>
              </a:solidFill>
              <a:round/>
              <a:tailEnd type="triangle" w="med" len="med"/>
            </a:ln>
          </p:spPr>
        </p:cxnSp>
        <p:sp>
          <p:nvSpPr>
            <p:cNvPr id="20" name="文本框 913"/>
            <p:cNvSpPr txBox="1">
              <a:spLocks noChangeArrowheads="1"/>
            </p:cNvSpPr>
            <p:nvPr/>
          </p:nvSpPr>
          <p:spPr bwMode="auto">
            <a:xfrm>
              <a:off x="2592969" y="1259527"/>
              <a:ext cx="799997" cy="296705"/>
            </a:xfrm>
            <a:prstGeom prst="rect">
              <a:avLst/>
            </a:prstGeom>
            <a:solidFill>
              <a:srgbClr val="FFFFFF"/>
            </a:solidFill>
            <a:ln w="19050">
              <a:solidFill>
                <a:srgbClr val="00B0F0"/>
              </a:solidFill>
              <a:miter lim="800000"/>
            </a:ln>
          </p:spPr>
          <p:txBody>
            <a:bodyPr rot="0" vert="horz" wrap="square" lIns="91440" tIns="45720" rIns="91440" bIns="45720" anchor="t" anchorCtr="0" upright="1">
              <a:noAutofit/>
            </a:bodyPr>
            <a:lstStyle/>
            <a:p>
              <a:pPr algn="ctr"/>
              <a:r>
                <a:rPr lang="en-US" sz="1800" b="1" kern="100" dirty="0">
                  <a:effectLst/>
                  <a:latin typeface="微软雅黑 Light" panose="020B0502040204020203" pitchFamily="34" charset="-122"/>
                  <a:ea typeface="微软雅黑 Light" panose="020B0502040204020203" pitchFamily="34" charset="-122"/>
                  <a:cs typeface="Times New Roman" panose="02020603050405020304" pitchFamily="18" charset="0"/>
                </a:rPr>
                <a:t>bind( )</a:t>
              </a:r>
              <a:endParaRPr lang="zh-CN" sz="1800" kern="100" dirty="0">
                <a:effectLst/>
                <a:latin typeface="微软雅黑 Light" panose="020B0502040204020203" pitchFamily="34" charset="-122"/>
                <a:ea typeface="微软雅黑 Light" panose="020B0502040204020203" pitchFamily="34" charset="-122"/>
                <a:cs typeface="Times New Roman" panose="02020603050405020304" pitchFamily="18" charset="0"/>
              </a:endParaRPr>
            </a:p>
          </p:txBody>
        </p:sp>
        <p:cxnSp>
          <p:nvCxnSpPr>
            <p:cNvPr id="21" name="直线 910"/>
            <p:cNvCxnSpPr>
              <a:cxnSpLocks noChangeShapeType="1"/>
            </p:cNvCxnSpPr>
            <p:nvPr/>
          </p:nvCxnSpPr>
          <p:spPr bwMode="auto">
            <a:xfrm>
              <a:off x="2954444" y="962822"/>
              <a:ext cx="0" cy="296705"/>
            </a:xfrm>
            <a:prstGeom prst="line">
              <a:avLst/>
            </a:prstGeom>
            <a:noFill/>
            <a:ln w="19050">
              <a:solidFill>
                <a:srgbClr val="00B0F0"/>
              </a:solidFill>
              <a:round/>
              <a:tailEnd type="triangle" w="med" len="med"/>
            </a:ln>
          </p:spPr>
        </p:cxnSp>
        <p:sp>
          <p:nvSpPr>
            <p:cNvPr id="22" name="文本框 909"/>
            <p:cNvSpPr txBox="1">
              <a:spLocks noChangeArrowheads="1"/>
            </p:cNvSpPr>
            <p:nvPr/>
          </p:nvSpPr>
          <p:spPr bwMode="auto">
            <a:xfrm>
              <a:off x="2592969" y="664677"/>
              <a:ext cx="799997" cy="297425"/>
            </a:xfrm>
            <a:prstGeom prst="rect">
              <a:avLst/>
            </a:prstGeom>
            <a:solidFill>
              <a:srgbClr val="FFFFFF"/>
            </a:solidFill>
            <a:ln w="19050">
              <a:solidFill>
                <a:srgbClr val="00B0F0"/>
              </a:solidFill>
              <a:miter lim="800000"/>
            </a:ln>
          </p:spPr>
          <p:txBody>
            <a:bodyPr rot="0" vert="horz" wrap="square" lIns="91440" tIns="45720" rIns="91440" bIns="45720" anchor="t" anchorCtr="0" upright="1">
              <a:noAutofit/>
            </a:bodyPr>
            <a:lstStyle/>
            <a:p>
              <a:pPr algn="ctr"/>
              <a:r>
                <a:rPr lang="en-US" sz="1800" b="1" kern="100" dirty="0">
                  <a:effectLst/>
                  <a:latin typeface="微软雅黑 Light" panose="020B0502040204020203" pitchFamily="34" charset="-122"/>
                  <a:ea typeface="微软雅黑 Light" panose="020B0502040204020203" pitchFamily="34" charset="-122"/>
                  <a:cs typeface="Times New Roman" panose="02020603050405020304" pitchFamily="18" charset="0"/>
                </a:rPr>
                <a:t>socket( )</a:t>
              </a:r>
              <a:endParaRPr lang="zh-CN" sz="1800" kern="100" dirty="0">
                <a:effectLst/>
                <a:latin typeface="微软雅黑 Light" panose="020B0502040204020203" pitchFamily="34" charset="-122"/>
                <a:ea typeface="微软雅黑 Light" panose="020B0502040204020203" pitchFamily="34" charset="-122"/>
                <a:cs typeface="Times New Roman" panose="02020603050405020304" pitchFamily="18" charset="0"/>
              </a:endParaRPr>
            </a:p>
          </p:txBody>
        </p:sp>
        <p:sp>
          <p:nvSpPr>
            <p:cNvPr id="23" name="文本框 905"/>
            <p:cNvSpPr txBox="1">
              <a:spLocks noChangeArrowheads="1"/>
            </p:cNvSpPr>
            <p:nvPr/>
          </p:nvSpPr>
          <p:spPr bwMode="auto">
            <a:xfrm>
              <a:off x="2592969" y="367252"/>
              <a:ext cx="799997" cy="296705"/>
            </a:xfrm>
            <a:prstGeom prst="rect">
              <a:avLst/>
            </a:prstGeom>
            <a:noFill/>
            <a:ln>
              <a:noFill/>
            </a:ln>
          </p:spPr>
          <p:txBody>
            <a:bodyPr rot="0" vert="horz" wrap="square" lIns="91440" tIns="45720" rIns="91440" bIns="45720" anchor="t" anchorCtr="0" upright="1">
              <a:noAutofit/>
            </a:bodyPr>
            <a:lstStyle/>
            <a:p>
              <a:pPr indent="229235" algn="just"/>
              <a:r>
                <a:rPr lang="zh-CN" sz="1800" b="1" kern="100">
                  <a:effectLst/>
                  <a:latin typeface="微软雅黑 Light" panose="020B0502040204020203" pitchFamily="34" charset="-122"/>
                  <a:ea typeface="微软雅黑 Light" panose="020B0502040204020203" pitchFamily="34" charset="-122"/>
                  <a:cs typeface="宋体" panose="02010600030101010101" pitchFamily="2" charset="-122"/>
                </a:rPr>
                <a:t>客户</a:t>
              </a:r>
              <a:endParaRPr lang="zh-CN" sz="1800" kern="100">
                <a:effectLst/>
                <a:latin typeface="微软雅黑 Light" panose="020B0502040204020203" pitchFamily="34" charset="-122"/>
                <a:ea typeface="微软雅黑 Light" panose="020B0502040204020203" pitchFamily="34" charset="-122"/>
                <a:cs typeface="宋体" panose="02010600030101010101" pitchFamily="2" charset="-122"/>
              </a:endParaRPr>
            </a:p>
          </p:txBody>
        </p:sp>
        <p:sp>
          <p:nvSpPr>
            <p:cNvPr id="24" name="文本框 923"/>
            <p:cNvSpPr txBox="1">
              <a:spLocks noChangeArrowheads="1"/>
            </p:cNvSpPr>
            <p:nvPr/>
          </p:nvSpPr>
          <p:spPr bwMode="auto">
            <a:xfrm>
              <a:off x="249338" y="2370319"/>
              <a:ext cx="928908" cy="296705"/>
            </a:xfrm>
            <a:prstGeom prst="rect">
              <a:avLst/>
            </a:prstGeom>
            <a:solidFill>
              <a:srgbClr val="FFFFFF"/>
            </a:solidFill>
            <a:ln w="19050">
              <a:solidFill>
                <a:srgbClr val="00B0F0"/>
              </a:solidFill>
              <a:miter lim="800000"/>
            </a:ln>
          </p:spPr>
          <p:txBody>
            <a:bodyPr rot="0" vert="horz" wrap="square" lIns="0" tIns="45720" rIns="91440" bIns="45720" anchor="t" anchorCtr="0" upright="1">
              <a:noAutofit/>
            </a:bodyPr>
            <a:lstStyle/>
            <a:p>
              <a:pPr indent="229235" algn="ctr"/>
              <a:r>
                <a:rPr lang="zh-CN" sz="1800" b="1" kern="100" dirty="0">
                  <a:effectLst/>
                  <a:latin typeface="微软雅黑 Light" panose="020B0502040204020203" pitchFamily="34" charset="-122"/>
                  <a:ea typeface="微软雅黑 Light" panose="020B0502040204020203" pitchFamily="34" charset="-122"/>
                  <a:cs typeface="宋体" panose="02010600030101010101" pitchFamily="2" charset="-122"/>
                </a:rPr>
                <a:t>数据处理</a:t>
              </a:r>
              <a:endParaRPr lang="zh-CN" sz="1800" kern="100" dirty="0">
                <a:effectLst/>
                <a:latin typeface="微软雅黑 Light" panose="020B0502040204020203" pitchFamily="34" charset="-122"/>
                <a:ea typeface="微软雅黑 Light" panose="020B0502040204020203" pitchFamily="34" charset="-122"/>
                <a:cs typeface="宋体" panose="02010600030101010101" pitchFamily="2" charset="-122"/>
              </a:endParaRPr>
            </a:p>
          </p:txBody>
        </p:sp>
        <p:cxnSp>
          <p:nvCxnSpPr>
            <p:cNvPr id="25" name="直线 925"/>
            <p:cNvCxnSpPr>
              <a:cxnSpLocks noChangeShapeType="1"/>
            </p:cNvCxnSpPr>
            <p:nvPr/>
          </p:nvCxnSpPr>
          <p:spPr bwMode="auto">
            <a:xfrm>
              <a:off x="702788" y="2645831"/>
              <a:ext cx="0" cy="198764"/>
            </a:xfrm>
            <a:prstGeom prst="line">
              <a:avLst/>
            </a:prstGeom>
            <a:noFill/>
            <a:ln w="19050">
              <a:solidFill>
                <a:srgbClr val="00B0F0"/>
              </a:solidFill>
              <a:round/>
              <a:tailEnd type="triangle" w="med" len="med"/>
            </a:ln>
          </p:spPr>
        </p:cxnSp>
        <p:sp>
          <p:nvSpPr>
            <p:cNvPr id="26" name="文本框 928"/>
            <p:cNvSpPr txBox="1">
              <a:spLocks noChangeArrowheads="1"/>
            </p:cNvSpPr>
            <p:nvPr/>
          </p:nvSpPr>
          <p:spPr bwMode="auto">
            <a:xfrm>
              <a:off x="251304" y="2844595"/>
              <a:ext cx="914488" cy="297425"/>
            </a:xfrm>
            <a:prstGeom prst="rect">
              <a:avLst/>
            </a:prstGeom>
            <a:solidFill>
              <a:srgbClr val="FFFFFF"/>
            </a:solidFill>
            <a:ln w="19050">
              <a:solidFill>
                <a:srgbClr val="00B0F0"/>
              </a:solidFill>
              <a:miter lim="800000"/>
            </a:ln>
          </p:spPr>
          <p:txBody>
            <a:bodyPr rot="0" vert="horz" wrap="square" lIns="91440" tIns="45720" rIns="91440" bIns="45720" anchor="t" anchorCtr="0" upright="1">
              <a:noAutofit/>
            </a:bodyPr>
            <a:lstStyle/>
            <a:p>
              <a:pPr algn="ctr"/>
              <a:r>
                <a:rPr lang="en-US" sz="1800" b="1" kern="100" dirty="0" err="1">
                  <a:effectLst/>
                  <a:latin typeface="微软雅黑 Light" panose="020B0502040204020203" pitchFamily="34" charset="-122"/>
                  <a:ea typeface="微软雅黑 Light" panose="020B0502040204020203" pitchFamily="34" charset="-122"/>
                  <a:cs typeface="Times New Roman" panose="02020603050405020304" pitchFamily="18" charset="0"/>
                </a:rPr>
                <a:t>sendto</a:t>
              </a:r>
              <a:r>
                <a:rPr lang="en-US" sz="1800" b="1" kern="100" dirty="0">
                  <a:effectLst/>
                  <a:latin typeface="微软雅黑 Light" panose="020B0502040204020203" pitchFamily="34" charset="-122"/>
                  <a:ea typeface="微软雅黑 Light" panose="020B0502040204020203" pitchFamily="34" charset="-122"/>
                  <a:cs typeface="Times New Roman" panose="02020603050405020304" pitchFamily="18" charset="0"/>
                </a:rPr>
                <a:t>( )</a:t>
              </a:r>
              <a:endParaRPr lang="zh-CN" sz="1800" kern="100" dirty="0">
                <a:effectLst/>
                <a:latin typeface="微软雅黑 Light" panose="020B0502040204020203" pitchFamily="34" charset="-122"/>
                <a:ea typeface="微软雅黑 Light" panose="020B0502040204020203" pitchFamily="34" charset="-122"/>
                <a:cs typeface="Times New Roman" panose="02020603050405020304" pitchFamily="18" charset="0"/>
              </a:endParaRPr>
            </a:p>
          </p:txBody>
        </p:sp>
        <p:cxnSp>
          <p:nvCxnSpPr>
            <p:cNvPr id="27" name="直线 926"/>
            <p:cNvCxnSpPr>
              <a:cxnSpLocks noChangeShapeType="1"/>
            </p:cNvCxnSpPr>
            <p:nvPr/>
          </p:nvCxnSpPr>
          <p:spPr bwMode="auto">
            <a:xfrm>
              <a:off x="1165792" y="3005910"/>
              <a:ext cx="1371732" cy="720"/>
            </a:xfrm>
            <a:prstGeom prst="line">
              <a:avLst/>
            </a:prstGeom>
            <a:noFill/>
            <a:ln w="19050">
              <a:solidFill>
                <a:srgbClr val="00B0F0"/>
              </a:solidFill>
              <a:round/>
              <a:tailEnd type="triangle" w="med" len="med"/>
            </a:ln>
          </p:spPr>
        </p:cxnSp>
        <p:sp>
          <p:nvSpPr>
            <p:cNvPr id="28" name="文本框 927"/>
            <p:cNvSpPr txBox="1">
              <a:spLocks noChangeArrowheads="1"/>
            </p:cNvSpPr>
            <p:nvPr/>
          </p:nvSpPr>
          <p:spPr bwMode="auto">
            <a:xfrm>
              <a:off x="2537524" y="2844595"/>
              <a:ext cx="914488" cy="297425"/>
            </a:xfrm>
            <a:prstGeom prst="rect">
              <a:avLst/>
            </a:prstGeom>
            <a:solidFill>
              <a:srgbClr val="FFFFFF"/>
            </a:solidFill>
            <a:ln w="19050">
              <a:solidFill>
                <a:srgbClr val="00B0F0"/>
              </a:solidFill>
              <a:miter lim="800000"/>
            </a:ln>
          </p:spPr>
          <p:txBody>
            <a:bodyPr rot="0" vert="horz" wrap="square" lIns="91440" tIns="45720" rIns="91440" bIns="45720" anchor="t" anchorCtr="0" upright="1">
              <a:noAutofit/>
            </a:bodyPr>
            <a:lstStyle/>
            <a:p>
              <a:pPr algn="ctr"/>
              <a:r>
                <a:rPr lang="en-US" sz="1800" b="1" kern="100" dirty="0" err="1">
                  <a:effectLst/>
                  <a:latin typeface="微软雅黑 Light" panose="020B0502040204020203" pitchFamily="34" charset="-122"/>
                  <a:ea typeface="微软雅黑 Light" panose="020B0502040204020203" pitchFamily="34" charset="-122"/>
                  <a:cs typeface="Times New Roman" panose="02020603050405020304" pitchFamily="18" charset="0"/>
                </a:rPr>
                <a:t>recvfrom</a:t>
              </a:r>
              <a:r>
                <a:rPr lang="en-US" sz="1800" b="1" kern="100" dirty="0">
                  <a:effectLst/>
                  <a:latin typeface="微软雅黑 Light" panose="020B0502040204020203" pitchFamily="34" charset="-122"/>
                  <a:ea typeface="微软雅黑 Light" panose="020B0502040204020203" pitchFamily="34" charset="-122"/>
                  <a:cs typeface="Times New Roman" panose="02020603050405020304" pitchFamily="18" charset="0"/>
                </a:rPr>
                <a:t>( )</a:t>
              </a:r>
              <a:endParaRPr lang="zh-CN" sz="1800" kern="100" dirty="0">
                <a:effectLst/>
                <a:latin typeface="微软雅黑 Light" panose="020B0502040204020203" pitchFamily="34" charset="-122"/>
                <a:ea typeface="微软雅黑 Light" panose="020B0502040204020203" pitchFamily="34" charset="-122"/>
                <a:cs typeface="Times New Roman" panose="02020603050405020304" pitchFamily="18" charset="0"/>
              </a:endParaRPr>
            </a:p>
          </p:txBody>
        </p:sp>
        <p:cxnSp>
          <p:nvCxnSpPr>
            <p:cNvPr id="29" name="直线 922"/>
            <p:cNvCxnSpPr>
              <a:cxnSpLocks noChangeShapeType="1"/>
            </p:cNvCxnSpPr>
            <p:nvPr/>
          </p:nvCxnSpPr>
          <p:spPr bwMode="auto">
            <a:xfrm>
              <a:off x="2954444" y="2349126"/>
              <a:ext cx="0" cy="495469"/>
            </a:xfrm>
            <a:prstGeom prst="line">
              <a:avLst/>
            </a:prstGeom>
            <a:noFill/>
            <a:ln w="19050">
              <a:solidFill>
                <a:srgbClr val="00B0F0"/>
              </a:solidFill>
              <a:round/>
              <a:tailEnd type="triangle" w="med" len="med"/>
            </a:ln>
          </p:spPr>
        </p:cxnSp>
        <p:sp>
          <p:nvSpPr>
            <p:cNvPr id="30" name="文本框 924"/>
            <p:cNvSpPr txBox="1">
              <a:spLocks noChangeArrowheads="1"/>
            </p:cNvSpPr>
            <p:nvPr/>
          </p:nvSpPr>
          <p:spPr bwMode="auto">
            <a:xfrm>
              <a:off x="702788" y="3174427"/>
              <a:ext cx="2309262" cy="296705"/>
            </a:xfrm>
            <a:prstGeom prst="rect">
              <a:avLst/>
            </a:prstGeom>
            <a:noFill/>
            <a:ln>
              <a:noFill/>
            </a:ln>
          </p:spPr>
          <p:txBody>
            <a:bodyPr rot="0" vert="horz" wrap="square" lIns="91440" tIns="45720" rIns="91440" bIns="45720" anchor="t" anchorCtr="0" upright="1">
              <a:noAutofit/>
            </a:bodyPr>
            <a:lstStyle/>
            <a:p>
              <a:pPr indent="1270" algn="ctr"/>
              <a:r>
                <a:rPr lang="zh-CN" sz="1800" b="1" kern="100" dirty="0">
                  <a:effectLst/>
                  <a:latin typeface="微软雅黑 Light" panose="020B0502040204020203" pitchFamily="34" charset="-122"/>
                  <a:ea typeface="微软雅黑 Light" panose="020B0502040204020203" pitchFamily="34" charset="-122"/>
                  <a:cs typeface="宋体" panose="02010600030101010101" pitchFamily="2" charset="-122"/>
                </a:rPr>
                <a:t>无连接服务流程</a:t>
              </a:r>
              <a:endParaRPr lang="zh-CN" sz="1800" kern="100" dirty="0">
                <a:effectLst/>
                <a:latin typeface="微软雅黑 Light" panose="020B0502040204020203" pitchFamily="34" charset="-122"/>
                <a:ea typeface="微软雅黑 Light" panose="020B0502040204020203" pitchFamily="34" charset="-122"/>
                <a:cs typeface="宋体" panose="02010600030101010101" pitchFamily="2" charset="-122"/>
              </a:endParaRPr>
            </a:p>
          </p:txBody>
        </p:sp>
        <p:sp>
          <p:nvSpPr>
            <p:cNvPr id="31" name="文本框 924"/>
            <p:cNvSpPr txBox="1">
              <a:spLocks noChangeArrowheads="1"/>
            </p:cNvSpPr>
            <p:nvPr/>
          </p:nvSpPr>
          <p:spPr bwMode="auto">
            <a:xfrm>
              <a:off x="1460163" y="2742415"/>
              <a:ext cx="1013496" cy="297425"/>
            </a:xfrm>
            <a:prstGeom prst="rect">
              <a:avLst/>
            </a:prstGeom>
            <a:noFill/>
            <a:ln>
              <a:noFill/>
            </a:ln>
          </p:spPr>
          <p:txBody>
            <a:bodyPr rot="0" vert="horz" wrap="square" lIns="91440" tIns="45720" rIns="91440" bIns="45720" anchor="t" anchorCtr="0" upright="1">
              <a:noAutofit/>
            </a:bodyPr>
            <a:lstStyle/>
            <a:p>
              <a:pPr algn="just"/>
              <a:r>
                <a:rPr lang="zh-CN" sz="1800" b="1" kern="100" dirty="0">
                  <a:effectLst/>
                  <a:latin typeface="微软雅黑 Light" panose="020B0502040204020203" pitchFamily="34" charset="-122"/>
                  <a:ea typeface="微软雅黑 Light" panose="020B0502040204020203" pitchFamily="34" charset="-122"/>
                  <a:cs typeface="宋体" panose="02010600030101010101" pitchFamily="2" charset="-122"/>
                </a:rPr>
                <a:t>数据（回答）</a:t>
              </a:r>
              <a:endParaRPr lang="zh-CN" sz="1800" kern="100" dirty="0">
                <a:effectLst/>
                <a:latin typeface="微软雅黑 Light" panose="020B0502040204020203" pitchFamily="34" charset="-122"/>
                <a:ea typeface="微软雅黑 Light" panose="020B0502040204020203" pitchFamily="34" charset="-122"/>
                <a:cs typeface="宋体" panose="02010600030101010101" pitchFamily="2" charset="-122"/>
              </a:endParaRPr>
            </a:p>
          </p:txBody>
        </p:sp>
      </p:gr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6.6 </a:t>
            </a:r>
            <a:r>
              <a:rPr lang="zh-CN" altLang="en-US" dirty="0"/>
              <a:t>本章总结</a:t>
            </a:r>
          </a:p>
        </p:txBody>
      </p:sp>
      <p:sp>
        <p:nvSpPr>
          <p:cNvPr id="3" name="内容占位符 2"/>
          <p:cNvSpPr>
            <a:spLocks noGrp="1"/>
          </p:cNvSpPr>
          <p:nvPr>
            <p:ph idx="1"/>
          </p:nvPr>
        </p:nvSpPr>
        <p:spPr/>
        <p:txBody>
          <a:bodyPr/>
          <a:lstStyle/>
          <a:p>
            <a:r>
              <a:rPr lang="zh-CN" altLang="en-US" dirty="0"/>
              <a:t>传输层介于通信子网和资源子网之间</a:t>
            </a:r>
          </a:p>
          <a:p>
            <a:r>
              <a:rPr lang="zh-CN" altLang="en-US" dirty="0"/>
              <a:t>两个主要的传输协议</a:t>
            </a:r>
            <a:r>
              <a:rPr lang="en-US" altLang="zh-CN" dirty="0"/>
              <a:t>UDP</a:t>
            </a:r>
            <a:r>
              <a:rPr lang="zh-CN" altLang="en-US" dirty="0"/>
              <a:t>和</a:t>
            </a:r>
            <a:r>
              <a:rPr lang="en-US" altLang="zh-CN" dirty="0"/>
              <a:t>TCP</a:t>
            </a:r>
            <a:r>
              <a:rPr lang="zh-CN" altLang="en-US" dirty="0"/>
              <a:t>。</a:t>
            </a:r>
            <a:r>
              <a:rPr lang="en-US" altLang="zh-CN" dirty="0"/>
              <a:t>UDP</a:t>
            </a:r>
            <a:r>
              <a:rPr lang="zh-CN" altLang="en-US" dirty="0"/>
              <a:t>是一个无连接的协议，</a:t>
            </a:r>
            <a:r>
              <a:rPr lang="en-US" altLang="zh-CN" dirty="0"/>
              <a:t>TCP</a:t>
            </a:r>
            <a:r>
              <a:rPr lang="zh-CN" altLang="en-US" dirty="0"/>
              <a:t>协议提供了一个可靠的、双向的、拥塞可控的字节流服务</a:t>
            </a:r>
          </a:p>
          <a:p>
            <a:r>
              <a:rPr lang="en-US" altLang="zh-CN" dirty="0"/>
              <a:t>TCP</a:t>
            </a:r>
            <a:r>
              <a:rPr lang="zh-CN" altLang="en-US" dirty="0"/>
              <a:t>拥塞控制遵循</a:t>
            </a:r>
            <a:r>
              <a:rPr lang="en-US" altLang="zh-CN" dirty="0"/>
              <a:t>AIMD</a:t>
            </a:r>
            <a:r>
              <a:rPr lang="zh-CN" altLang="en-US" dirty="0"/>
              <a:t>控制法则，</a:t>
            </a:r>
            <a:r>
              <a:rPr lang="en-US" altLang="zh-CN" dirty="0"/>
              <a:t>AIMD</a:t>
            </a:r>
            <a:r>
              <a:rPr lang="zh-CN" altLang="en-US" dirty="0"/>
              <a:t>控制法则能将传输速率收敛到一个相对公平和有效的分配方案上</a:t>
            </a:r>
          </a:p>
          <a:p>
            <a:r>
              <a:rPr lang="zh-CN" altLang="en-US" dirty="0"/>
              <a:t>慢启动、拥塞避免、快速重传和快速恢复四个算法构成了</a:t>
            </a:r>
            <a:r>
              <a:rPr lang="en-US" altLang="zh-CN" dirty="0"/>
              <a:t>TCP</a:t>
            </a:r>
            <a:r>
              <a:rPr lang="zh-CN" altLang="en-US" dirty="0"/>
              <a:t>拥塞控制的基础</a:t>
            </a:r>
          </a:p>
          <a:p>
            <a:r>
              <a:rPr lang="en-US" altLang="zh-CN" dirty="0"/>
              <a:t>QUIC</a:t>
            </a:r>
            <a:r>
              <a:rPr lang="zh-CN" altLang="en-US" dirty="0"/>
              <a:t>运行在</a:t>
            </a:r>
            <a:r>
              <a:rPr lang="en-US" altLang="zh-CN" dirty="0"/>
              <a:t>UDP</a:t>
            </a:r>
            <a:r>
              <a:rPr lang="zh-CN" altLang="en-US" dirty="0"/>
              <a:t>之上，它的主要目标是让</a:t>
            </a:r>
            <a:r>
              <a:rPr lang="en-US" altLang="zh-CN" dirty="0"/>
              <a:t>HTTP</a:t>
            </a:r>
            <a:r>
              <a:rPr lang="zh-CN" altLang="en-US" dirty="0"/>
              <a:t>等应用层协议运行得更加快速</a:t>
            </a:r>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t>111</a:t>
            </a:fld>
            <a:endParaRPr lang="en-US" altLang="zh-CN"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Tc2ZGZiNzZiNDVlOGViOWVmM2JhOTY0NGJkNjUyYzgifQ=="/>
</p:tagLst>
</file>

<file path=ppt/theme/theme1.xml><?xml version="1.0" encoding="utf-8"?>
<a:theme xmlns:a="http://schemas.openxmlformats.org/drawingml/2006/main" name="my-network">
  <a:themeElements>
    <a:clrScheme name="蓝色暖调">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自定义 1">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cap="flat" cmpd="sng" algn="ctr">
          <a:solidFill>
            <a:srgbClr val="FF0000"/>
          </a:solidFill>
          <a:prstDash val="solid"/>
          <a:round/>
          <a:headEnd type="none" w="med" len="med"/>
          <a:tailEnd type="none" w="med" len="med"/>
        </a:ln>
      </a:spPr>
      <a:bodyPr vert="horz" wrap="square" lIns="91440" tIns="45720" rIns="91440" bIns="45720" numCol="1" rtlCol="0"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sz="2000" b="0" i="0" u="none" strike="noStrike" cap="none" normalizeH="0" baseline="0" dirty="0" smtClean="0">
            <a:ln>
              <a:noFill/>
            </a:ln>
            <a:solidFill>
              <a:schemeClr val="tx1"/>
            </a:solidFill>
            <a:effectLst/>
            <a:latin typeface="微软雅黑 Light" panose="020B0502040204020203" pitchFamily="34" charset="-122"/>
            <a:ea typeface="微软雅黑 Light" panose="020B0502040204020203" pitchFamily="34" charset="-122"/>
          </a:defRPr>
        </a:defPPr>
      </a:lstStyle>
    </a:spDef>
    <a:lnDef>
      <a:spPr bwMode="auto">
        <a:xfrm>
          <a:off x="0" y="0"/>
          <a:ext cx="1" cy="1"/>
        </a:xfrm>
        <a:custGeom>
          <a:avLst/>
          <a:gdLst/>
          <a:ahLst/>
          <a:cxnLst/>
          <a:rect l="0" t="0" r="0" b="0"/>
          <a:pathLst/>
        </a:custGeom>
        <a:noFill/>
        <a:ln w="9525" cap="flat" cmpd="sng" algn="ctr">
          <a:solidFill>
            <a:srgbClr val="FF0000"/>
          </a:solidFill>
          <a:prstDash val="solid"/>
          <a:round/>
          <a:headEnd type="none" w="med" len="med"/>
          <a:tailEnd type="none" w="med" len="med"/>
        </a:ln>
      </a:spPr>
      <a:bodyPr vert="horz" wrap="squar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000" b="0" i="0" u="none" strike="noStrike" cap="none" normalizeH="0" baseline="0" smtClean="0">
            <a:ln>
              <a:noFill/>
            </a:ln>
            <a:solidFill>
              <a:schemeClr val="tx1"/>
            </a:solidFill>
            <a:effectLst/>
            <a:latin typeface="Arial" panose="020B0604020202020204" pitchFamily="34" charset="0"/>
            <a:ea typeface="黑体" panose="02010609060101010101" pitchFamily="49" charset="-122"/>
          </a:defRPr>
        </a:defPPr>
      </a:lstStyle>
    </a:lnDef>
    <a:txDef>
      <a:spPr bwMode="auto">
        <a:solidFill>
          <a:schemeClr val="accent1"/>
        </a:solidFill>
        <a:ln>
          <a:noFill/>
        </a:ln>
      </a:spPr>
      <a:bodyPr>
        <a:spAutoFit/>
      </a:bodyPr>
      <a:lstStyle>
        <a:defPPr algn="l">
          <a:defRPr dirty="0">
            <a:latin typeface="微软雅黑 Light" panose="020B0502040204020203" pitchFamily="34" charset="-122"/>
            <a:ea typeface="微软雅黑 Light" panose="020B0502040204020203" pitchFamily="34" charset="-122"/>
          </a:defRPr>
        </a:defPPr>
      </a:lstStyle>
    </a:txDef>
  </a:objectDefaults>
  <a:extraClrSchemeLst>
    <a:extraClrScheme>
      <a:clrScheme name="my-networ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my-networ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my-networ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my-networ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my-networ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my-networ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my-network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my-networ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my-networ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my-networ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my-networ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my-networ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281</TotalTime>
  <Words>9047</Words>
  <Application>Microsoft Office PowerPoint</Application>
  <PresentationFormat>宽屏</PresentationFormat>
  <Paragraphs>2100</Paragraphs>
  <Slides>111</Slides>
  <Notes>7</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111</vt:i4>
      </vt:variant>
    </vt:vector>
  </HeadingPairs>
  <TitlesOfParts>
    <vt:vector size="120" baseType="lpstr">
      <vt:lpstr>微软雅黑</vt:lpstr>
      <vt:lpstr>微软雅黑 Light</vt:lpstr>
      <vt:lpstr>Arial</vt:lpstr>
      <vt:lpstr>Symbol</vt:lpstr>
      <vt:lpstr>Tahoma</vt:lpstr>
      <vt:lpstr>Times New Roman</vt:lpstr>
      <vt:lpstr>Wingdings</vt:lpstr>
      <vt:lpstr>my-network</vt:lpstr>
      <vt:lpstr>VISIO</vt:lpstr>
      <vt:lpstr>计算机网络</vt:lpstr>
      <vt:lpstr>第六章 传输层</vt:lpstr>
      <vt:lpstr>6.1传输层基本原理</vt:lpstr>
      <vt:lpstr>传输层提供逻辑通信</vt:lpstr>
      <vt:lpstr>传输协议</vt:lpstr>
      <vt:lpstr>传输层功能</vt:lpstr>
      <vt:lpstr>传输层地址</vt:lpstr>
      <vt:lpstr>访问点通信</vt:lpstr>
      <vt:lpstr>传输层复用—向上复用、向下复用</vt:lpstr>
      <vt:lpstr>可靠传输</vt:lpstr>
      <vt:lpstr>差错控制</vt:lpstr>
      <vt:lpstr>次序控制—分段和组合</vt:lpstr>
      <vt:lpstr>次序控制—连接和分割</vt:lpstr>
      <vt:lpstr>丢失控制与重复控制</vt:lpstr>
      <vt:lpstr>传输层流量控制</vt:lpstr>
      <vt:lpstr>滑动窗口</vt:lpstr>
      <vt:lpstr>传输层的流量控制</vt:lpstr>
      <vt:lpstr>传输连接</vt:lpstr>
      <vt:lpstr>连接建立</vt:lpstr>
      <vt:lpstr>连接终止</vt:lpstr>
      <vt:lpstr>三次握手方法的连接释放</vt:lpstr>
      <vt:lpstr>6.2 用户数据报协议</vt:lpstr>
      <vt:lpstr>UDP特征</vt:lpstr>
      <vt:lpstr>采用的通信方式</vt:lpstr>
      <vt:lpstr>UDP报头格式</vt:lpstr>
      <vt:lpstr>UDP报头格式</vt:lpstr>
      <vt:lpstr>UDP报头格式</vt:lpstr>
      <vt:lpstr>UDP校验和</vt:lpstr>
      <vt:lpstr>计算 UDP 检验和的例子 </vt:lpstr>
      <vt:lpstr>6.3 传输控制协议</vt:lpstr>
      <vt:lpstr>TCP提供的服务</vt:lpstr>
      <vt:lpstr>TCP的报头格式</vt:lpstr>
      <vt:lpstr>TCP的报头字段</vt:lpstr>
      <vt:lpstr>TCP的报头字段</vt:lpstr>
      <vt:lpstr>TCP的报头字段</vt:lpstr>
      <vt:lpstr>TCP的报头字段</vt:lpstr>
      <vt:lpstr>TCP的报头字段</vt:lpstr>
      <vt:lpstr>TCP的报头字段</vt:lpstr>
      <vt:lpstr>TCP的报头字段</vt:lpstr>
      <vt:lpstr>TCP的报头字段</vt:lpstr>
      <vt:lpstr>TCP的报头字段</vt:lpstr>
      <vt:lpstr>TCP的报头字段</vt:lpstr>
      <vt:lpstr>TCP的报头字段</vt:lpstr>
      <vt:lpstr>TCP的报头字段</vt:lpstr>
      <vt:lpstr>TCP的报头字段</vt:lpstr>
      <vt:lpstr>TCP的报头字段</vt:lpstr>
      <vt:lpstr>TCP的报头字段</vt:lpstr>
      <vt:lpstr>TCP的报头字段</vt:lpstr>
      <vt:lpstr>TCP的报头字段</vt:lpstr>
      <vt:lpstr>TCP特性</vt:lpstr>
      <vt:lpstr>TCP面向流的概念 </vt:lpstr>
      <vt:lpstr>TCP特性</vt:lpstr>
      <vt:lpstr>TCP所采用的技术</vt:lpstr>
      <vt:lpstr>超时重传时间的选择</vt:lpstr>
      <vt:lpstr>加权平均往返时间</vt:lpstr>
      <vt:lpstr>超时重传时间 RTO</vt:lpstr>
      <vt:lpstr>Karn算法及其修正</vt:lpstr>
      <vt:lpstr>TCP计时器管理</vt:lpstr>
      <vt:lpstr>TCP SACK</vt:lpstr>
      <vt:lpstr>RFC 2018的一些规定</vt:lpstr>
      <vt:lpstr>TCP何时发送数据</vt:lpstr>
      <vt:lpstr>提高性能的措施</vt:lpstr>
      <vt:lpstr>提高性能的措施</vt:lpstr>
      <vt:lpstr>连接建立</vt:lpstr>
      <vt:lpstr>连接建立报文序列</vt:lpstr>
      <vt:lpstr>TCP连接的释放</vt:lpstr>
      <vt:lpstr>A必须等待2MSL的时间</vt:lpstr>
      <vt:lpstr>TCP正常的连接建立和关闭</vt:lpstr>
      <vt:lpstr>TCP拥塞控制原理</vt:lpstr>
      <vt:lpstr>拥塞控制方式</vt:lpstr>
      <vt:lpstr>传输层拥塞控制</vt:lpstr>
      <vt:lpstr>慢启动</vt:lpstr>
      <vt:lpstr>拥塞避免</vt:lpstr>
      <vt:lpstr>慢启动和拥塞避免工作过程</vt:lpstr>
      <vt:lpstr>乘法减小(multiplicative decrease)</vt:lpstr>
      <vt:lpstr>加法增大(additive increase)</vt:lpstr>
      <vt:lpstr>拥塞避免</vt:lpstr>
      <vt:lpstr>例题</vt:lpstr>
      <vt:lpstr>快速重传/快速恢复</vt:lpstr>
      <vt:lpstr>快速重传示例</vt:lpstr>
      <vt:lpstr>快速恢复算法</vt:lpstr>
      <vt:lpstr>连续收到三个重复的确认转入拥塞避免</vt:lpstr>
      <vt:lpstr>发送窗口的上限值</vt:lpstr>
      <vt:lpstr>TCP选项</vt:lpstr>
      <vt:lpstr>6.4 快速UDP网络连接</vt:lpstr>
      <vt:lpstr>QUIC特性：多子流并发复用</vt:lpstr>
      <vt:lpstr>QUIC报文格式</vt:lpstr>
      <vt:lpstr>QUIC报文格式：首部</vt:lpstr>
      <vt:lpstr>QUIC报文格式：长首部</vt:lpstr>
      <vt:lpstr>QUIC报文格式：长首部</vt:lpstr>
      <vt:lpstr>QUIC报文格式：长首部</vt:lpstr>
      <vt:lpstr>QUIC报文格式：长首部</vt:lpstr>
      <vt:lpstr>QUIC报文格式：长首部</vt:lpstr>
      <vt:lpstr>QUIC报文格式：短首部</vt:lpstr>
      <vt:lpstr>QUIC报文格式：短首部</vt:lpstr>
      <vt:lpstr>QUIC报文格式：短首部</vt:lpstr>
      <vt:lpstr>QUIC报文格式：短首部</vt:lpstr>
      <vt:lpstr>QUIC报文格式：QUIC帧类型</vt:lpstr>
      <vt:lpstr>QUIC报文格式：QUIC帧类型</vt:lpstr>
      <vt:lpstr>QUIC特性：低时延建立连接</vt:lpstr>
      <vt:lpstr>QUIC连接转移</vt:lpstr>
      <vt:lpstr>QUIC无队头阻塞多路复用</vt:lpstr>
      <vt:lpstr>拥塞控制与流量控制</vt:lpstr>
      <vt:lpstr>QUIC控制——流控制</vt:lpstr>
      <vt:lpstr>QUIC控制——连接控制</vt:lpstr>
      <vt:lpstr>QUIC可靠传输</vt:lpstr>
      <vt:lpstr>QUIC可靠传输—完整性、有效性</vt:lpstr>
      <vt:lpstr>6.5socket程序设计 </vt:lpstr>
      <vt:lpstr>面向连接编程模型 </vt:lpstr>
      <vt:lpstr>无连接编程模型 </vt:lpstr>
      <vt:lpstr>6.6 本章总结</vt:lpstr>
    </vt:vector>
  </TitlesOfParts>
  <Company>Jilin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第六章 传输层</dc:title>
  <dc:creator>Zhang Zongsheng</dc:creator>
  <cp:lastModifiedBy>Huo yanmei</cp:lastModifiedBy>
  <cp:revision>20231107</cp:revision>
  <cp:lastPrinted>2113-01-01T00:00:00Z</cp:lastPrinted>
  <dcterms:created xsi:type="dcterms:W3CDTF">2003-06-07T12:50:00Z</dcterms:created>
  <dcterms:modified xsi:type="dcterms:W3CDTF">2024-03-24T07:57:37Z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46B750876E27417E88D9310A26267921_12</vt:lpwstr>
  </property>
  <property fmtid="{D5CDD505-2E9C-101B-9397-08002B2CF9AE}" pid="3" name="KSOProductBuildVer">
    <vt:lpwstr>2052-12.1.0.16250</vt:lpwstr>
  </property>
</Properties>
</file>