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5" r:id="rId1"/>
    <p:sldMasterId id="2147483730" r:id="rId2"/>
  </p:sldMasterIdLst>
  <p:notesMasterIdLst>
    <p:notesMasterId r:id="rId54"/>
  </p:notesMasterIdLst>
  <p:handoutMasterIdLst>
    <p:handoutMasterId r:id="rId55"/>
  </p:handoutMasterIdLst>
  <p:sldIdLst>
    <p:sldId id="2147475562" r:id="rId3"/>
    <p:sldId id="2147474990" r:id="rId4"/>
    <p:sldId id="2147475460" r:id="rId5"/>
    <p:sldId id="557" r:id="rId6"/>
    <p:sldId id="558" r:id="rId7"/>
    <p:sldId id="2147475564" r:id="rId8"/>
    <p:sldId id="2147475565" r:id="rId9"/>
    <p:sldId id="2147475566" r:id="rId10"/>
    <p:sldId id="2147475567" r:id="rId11"/>
    <p:sldId id="2147475568" r:id="rId12"/>
    <p:sldId id="2147475569" r:id="rId13"/>
    <p:sldId id="2147475570" r:id="rId14"/>
    <p:sldId id="2147475571" r:id="rId15"/>
    <p:sldId id="2147475572" r:id="rId16"/>
    <p:sldId id="2147475573" r:id="rId17"/>
    <p:sldId id="2147475574" r:id="rId18"/>
    <p:sldId id="2147475575" r:id="rId19"/>
    <p:sldId id="2147475576" r:id="rId20"/>
    <p:sldId id="2147475577" r:id="rId21"/>
    <p:sldId id="2147475578" r:id="rId22"/>
    <p:sldId id="2147475579" r:id="rId23"/>
    <p:sldId id="2147475580" r:id="rId24"/>
    <p:sldId id="2147475581" r:id="rId25"/>
    <p:sldId id="2147475582" r:id="rId26"/>
    <p:sldId id="2147475583" r:id="rId27"/>
    <p:sldId id="2147475587" r:id="rId28"/>
    <p:sldId id="2147475586" r:id="rId29"/>
    <p:sldId id="2147475585" r:id="rId30"/>
    <p:sldId id="2147475584" r:id="rId31"/>
    <p:sldId id="2147475596" r:id="rId32"/>
    <p:sldId id="2147475595" r:id="rId33"/>
    <p:sldId id="2147475594" r:id="rId34"/>
    <p:sldId id="2147475593" r:id="rId35"/>
    <p:sldId id="2147475600" r:id="rId36"/>
    <p:sldId id="2147475599" r:id="rId37"/>
    <p:sldId id="2147475592" r:id="rId38"/>
    <p:sldId id="2147475598" r:id="rId39"/>
    <p:sldId id="2147475597" r:id="rId40"/>
    <p:sldId id="2147475604" r:id="rId41"/>
    <p:sldId id="2147475603" r:id="rId42"/>
    <p:sldId id="2147475602" r:id="rId43"/>
    <p:sldId id="2147475601" r:id="rId44"/>
    <p:sldId id="2147475605" r:id="rId45"/>
    <p:sldId id="2147475606" r:id="rId46"/>
    <p:sldId id="2147475607" r:id="rId47"/>
    <p:sldId id="2147475611" r:id="rId48"/>
    <p:sldId id="2147475610" r:id="rId49"/>
    <p:sldId id="2147475609" r:id="rId50"/>
    <p:sldId id="2147475608" r:id="rId51"/>
    <p:sldId id="2147475614" r:id="rId52"/>
    <p:sldId id="2147475613" r:id="rId53"/>
  </p:sldIdLst>
  <p:sldSz cx="12192000" cy="6858000"/>
  <p:notesSz cx="6400800" cy="86868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736">
          <p15:clr>
            <a:srgbClr val="A4A3A4"/>
          </p15:clr>
        </p15:guide>
        <p15:guide id="2" pos="201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0000"/>
    <a:srgbClr val="FFCCCC"/>
    <a:srgbClr val="FFCC99"/>
    <a:srgbClr val="99CC00"/>
    <a:srgbClr val="FF99FF"/>
    <a:srgbClr val="CCFF33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主题样式 2 - 强调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87" autoAdjust="0"/>
    <p:restoredTop sz="86563" autoAdjust="0"/>
  </p:normalViewPr>
  <p:slideViewPr>
    <p:cSldViewPr>
      <p:cViewPr varScale="1">
        <p:scale>
          <a:sx n="67" d="100"/>
          <a:sy n="67" d="100"/>
        </p:scale>
        <p:origin x="136" y="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12709"/>
    </p:cViewPr>
  </p:sorterViewPr>
  <p:notesViewPr>
    <p:cSldViewPr>
      <p:cViewPr varScale="1">
        <p:scale>
          <a:sx n="78" d="100"/>
          <a:sy n="78" d="100"/>
        </p:scale>
        <p:origin x="-3156" y="-84"/>
      </p:cViewPr>
      <p:guideLst>
        <p:guide orient="horz" pos="2736"/>
        <p:guide pos="201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773363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6201" tIns="43099" rIns="86201" bIns="43099" numCol="1" anchor="t" anchorCtr="0" compatLnSpc="1">
            <a:prstTxWarp prst="textNoShape">
              <a:avLst/>
            </a:prstTxWarp>
          </a:bodyPr>
          <a:lstStyle>
            <a:lvl1pPr defTabSz="862013" eaLnBrk="1" latinLnBrk="1" hangingPunct="1">
              <a:defRPr kumimoji="1" sz="11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627438" y="0"/>
            <a:ext cx="2773362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6201" tIns="43099" rIns="86201" bIns="43099" numCol="1" anchor="t" anchorCtr="0" compatLnSpc="1">
            <a:prstTxWarp prst="textNoShape">
              <a:avLst/>
            </a:prstTxWarp>
          </a:bodyPr>
          <a:lstStyle>
            <a:lvl1pPr algn="r" defTabSz="862013" eaLnBrk="1" latinLnBrk="1" hangingPunct="1">
              <a:defRPr kumimoji="1" sz="11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8C3BBC7-FB4C-48C3-893A-3E44C3B17902}" type="datetimeFigureOut">
              <a:rPr lang="en-US" altLang="zh-CN">
                <a:ea typeface="微软雅黑" panose="020B0503020204020204" pitchFamily="34" charset="-122"/>
              </a:rPr>
              <a:pPr>
                <a:defRPr/>
              </a:pPr>
              <a:t>2/29/2024</a:t>
            </a:fld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251825"/>
            <a:ext cx="2773363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6201" tIns="43099" rIns="86201" bIns="43099" numCol="1" anchor="b" anchorCtr="0" compatLnSpc="1">
            <a:prstTxWarp prst="textNoShape">
              <a:avLst/>
            </a:prstTxWarp>
          </a:bodyPr>
          <a:lstStyle>
            <a:lvl1pPr defTabSz="862013" eaLnBrk="1" latinLnBrk="1" hangingPunct="1">
              <a:defRPr kumimoji="1" sz="11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627438" y="8251825"/>
            <a:ext cx="2773362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6201" tIns="43099" rIns="86201" bIns="43099" numCol="1" anchor="b" anchorCtr="0" compatLnSpc="1">
            <a:prstTxWarp prst="textNoShape">
              <a:avLst/>
            </a:prstTxWarp>
          </a:bodyPr>
          <a:lstStyle>
            <a:lvl1pPr algn="r" defTabSz="862013" eaLnBrk="1" latinLnBrk="1" hangingPunct="1">
              <a:defRPr kumimoji="1" sz="11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6A1991C-6362-4795-95E8-6E409B523B26}" type="slidenum">
              <a:rPr lang="en-US" altLang="zh-CN">
                <a:ea typeface="微软雅黑" panose="020B0503020204020204" pitchFamily="34" charset="-122"/>
              </a:rPr>
              <a:pPr>
                <a:defRPr/>
              </a:pPr>
              <a:t>‹#›</a:t>
            </a:fld>
            <a:endParaRPr lang="en-US" altLang="zh-CN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19066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773363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6201" tIns="43099" rIns="86201" bIns="43099" numCol="1" anchor="t" anchorCtr="0" compatLnSpc="1">
            <a:prstTxWarp prst="textNoShape">
              <a:avLst/>
            </a:prstTxWarp>
          </a:bodyPr>
          <a:lstStyle>
            <a:lvl1pPr defTabSz="862013" eaLnBrk="1" latinLnBrk="1" hangingPunct="1">
              <a:defRPr kumimoji="1" sz="1100"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627438" y="0"/>
            <a:ext cx="2773362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6201" tIns="43099" rIns="86201" bIns="43099" numCol="1" anchor="t" anchorCtr="0" compatLnSpc="1">
            <a:prstTxWarp prst="textNoShape">
              <a:avLst/>
            </a:prstTxWarp>
          </a:bodyPr>
          <a:lstStyle>
            <a:lvl1pPr algn="r" defTabSz="862013" eaLnBrk="1" latinLnBrk="1" hangingPunct="1">
              <a:defRPr kumimoji="1" sz="1100"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01BB706-2087-4C78-9866-D4E342199E42}" type="datetimeFigureOut">
              <a:rPr lang="en-US" altLang="zh-CN" smtClean="0"/>
              <a:pPr>
                <a:defRPr/>
              </a:pPr>
              <a:t>2/29/2024</a:t>
            </a:fld>
            <a:endParaRPr lang="en-US" altLang="zh-CN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04800" y="650875"/>
            <a:ext cx="5791200" cy="32575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54075" y="4125913"/>
            <a:ext cx="4692650" cy="391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6201" tIns="43099" rIns="86201" bIns="4309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dirty="0"/>
              <a:t>单击此处编辑母版文本样式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251825"/>
            <a:ext cx="2773363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6201" tIns="43099" rIns="86201" bIns="43099" numCol="1" anchor="b" anchorCtr="0" compatLnSpc="1">
            <a:prstTxWarp prst="textNoShape">
              <a:avLst/>
            </a:prstTxWarp>
          </a:bodyPr>
          <a:lstStyle>
            <a:lvl1pPr defTabSz="862013" eaLnBrk="1" latinLnBrk="1" hangingPunct="1">
              <a:defRPr kumimoji="1" sz="1100"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627438" y="8251825"/>
            <a:ext cx="2773362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6201" tIns="43099" rIns="86201" bIns="43099" numCol="1" anchor="b" anchorCtr="0" compatLnSpc="1">
            <a:prstTxWarp prst="textNoShape">
              <a:avLst/>
            </a:prstTxWarp>
          </a:bodyPr>
          <a:lstStyle>
            <a:lvl1pPr algn="r" defTabSz="862013" eaLnBrk="1" latinLnBrk="1" hangingPunct="1">
              <a:defRPr kumimoji="1" sz="1100"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276C582E-0752-4FCA-8E88-DA8DD40C2D79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663903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76C582E-0752-4FCA-8E88-DA8DD40C2D79}" type="slidenum">
              <a:rPr lang="en-US" altLang="zh-CN" smtClean="0"/>
              <a:pPr>
                <a:defRPr/>
              </a:pPr>
              <a:t>22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39606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76C582E-0752-4FCA-8E88-DA8DD40C2D79}" type="slidenum">
              <a:rPr lang="en-US" altLang="zh-CN" smtClean="0"/>
              <a:pPr>
                <a:defRPr/>
              </a:pPr>
              <a:t>29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902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8015818" y="3248026"/>
            <a:ext cx="4176183" cy="360363"/>
          </a:xfrm>
          <a:prstGeom prst="rect">
            <a:avLst/>
          </a:prstGeom>
          <a:solidFill>
            <a:srgbClr val="0000C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endParaRPr lang="zh-CN" altLang="zh-CN" sz="18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0" y="3248026"/>
            <a:ext cx="4176184" cy="360363"/>
          </a:xfrm>
          <a:prstGeom prst="rect">
            <a:avLst/>
          </a:prstGeom>
          <a:solidFill>
            <a:srgbClr val="C8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endParaRPr lang="zh-CN" altLang="zh-CN" sz="18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4176185" y="3248026"/>
            <a:ext cx="3839633" cy="360363"/>
          </a:xfrm>
          <a:prstGeom prst="rect">
            <a:avLst/>
          </a:prstGeom>
          <a:solidFill>
            <a:srgbClr val="00C8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endParaRPr lang="zh-CN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21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638301"/>
            <a:ext cx="10363200" cy="1476375"/>
          </a:xfrm>
        </p:spPr>
        <p:txBody>
          <a:bodyPr/>
          <a:lstStyle>
            <a:lvl1pPr algn="ctr">
              <a:defRPr sz="4400"/>
            </a:lvl1pPr>
          </a:lstStyle>
          <a:p>
            <a:pPr lvl="0"/>
            <a:r>
              <a:rPr lang="en-US" altLang="zh-CN" noProof="0" dirty="0"/>
              <a:t>Click to edit Master title style</a:t>
            </a:r>
          </a:p>
        </p:txBody>
      </p:sp>
      <p:sp>
        <p:nvSpPr>
          <p:cNvPr id="6021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946525"/>
            <a:ext cx="8534400" cy="141763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>
              <a:defRPr/>
            </a:pPr>
            <a:fld id="{C558A38C-9563-49DB-962B-8E2D0E47AF89}" type="datetime1">
              <a:rPr lang="zh-CN" altLang="en-US" smtClean="0"/>
              <a:pPr>
                <a:defRPr/>
              </a:pPr>
              <a:t>2024/2/29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>
              <a:defRPr/>
            </a:pPr>
            <a:fld id="{5D3F4DF0-0E70-4480-8313-566D8EB0767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1259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eaLnBrk="1" hangingPunct="1">
              <a:defRPr sz="280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  <a:lvl2pPr eaLnBrk="1" hangingPunct="1">
              <a:defRPr sz="240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2pPr>
            <a:lvl3pPr eaLnBrk="1" hangingPunct="1">
              <a:defRPr sz="200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3pPr>
            <a:lvl4pPr eaLnBrk="1" hangingPunct="1">
              <a:defRPr sz="180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4pPr>
            <a:lvl5pPr eaLnBrk="1" hangingPunct="1">
              <a:defRPr sz="180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54517" y="6453336"/>
            <a:ext cx="2844800" cy="206375"/>
          </a:xfrm>
          <a:ln/>
        </p:spPr>
        <p:txBody>
          <a:bodyPr/>
          <a:lstStyle>
            <a:lvl1pPr>
              <a:defRPr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2F05A8FC-FE35-4522-A3F1-FDC30BC87663}" type="datetime1">
              <a:rPr lang="zh-CN" altLang="en-US" smtClean="0"/>
              <a:pPr>
                <a:defRPr/>
              </a:pPr>
              <a:t>2024/2/29</a:t>
            </a:fld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453336"/>
            <a:ext cx="3860800" cy="206375"/>
          </a:xfrm>
          <a:ln/>
        </p:spPr>
        <p:txBody>
          <a:bodyPr/>
          <a:lstStyle>
            <a:lvl1pPr>
              <a:defRPr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848528" y="6453336"/>
            <a:ext cx="1188956" cy="252266"/>
          </a:xfrm>
          <a:ln/>
        </p:spPr>
        <p:txBody>
          <a:bodyPr/>
          <a:lstStyle>
            <a:lvl1pPr>
              <a:defRPr>
                <a:solidFill>
                  <a:schemeClr val="accent1">
                    <a:lumMod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816960B2-2B11-492C-B588-5290E1274F96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13821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zh-CN" altLang="en-US" sz="3200" baseline="0" dirty="0">
                <a:latin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34434" y="1052514"/>
            <a:ext cx="5659967" cy="5437187"/>
          </a:xfrm>
        </p:spPr>
        <p:txBody>
          <a:bodyPr>
            <a:normAutofit/>
          </a:bodyPr>
          <a:lstStyle>
            <a:lvl1pPr eaLnBrk="1" hangingPunct="1">
              <a:defRPr sz="280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  <a:lvl2pPr eaLnBrk="1" hangingPunct="1">
              <a:defRPr sz="240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2pPr>
            <a:lvl3pPr eaLnBrk="1" hangingPunct="1">
              <a:defRPr sz="200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3pPr>
            <a:lvl4pPr eaLnBrk="1" hangingPunct="1">
              <a:defRPr sz="180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4pPr>
            <a:lvl5pPr eaLnBrk="1" hangingPunct="1">
              <a:defRPr sz="180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1" y="1052514"/>
            <a:ext cx="5659967" cy="5437187"/>
          </a:xfrm>
        </p:spPr>
        <p:txBody>
          <a:bodyPr>
            <a:normAutofit/>
          </a:bodyPr>
          <a:lstStyle>
            <a:lvl1pPr eaLnBrk="1" hangingPunct="1">
              <a:defRPr sz="280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  <a:lvl2pPr eaLnBrk="1" hangingPunct="1">
              <a:defRPr sz="240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2pPr>
            <a:lvl3pPr eaLnBrk="1" hangingPunct="1">
              <a:defRPr sz="200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3pPr>
            <a:lvl4pPr eaLnBrk="1" hangingPunct="1">
              <a:defRPr sz="180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4pPr>
            <a:lvl5pPr eaLnBrk="1" hangingPunct="1">
              <a:defRPr sz="180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54517" y="6453336"/>
            <a:ext cx="1116947" cy="206375"/>
          </a:xfrm>
          <a:ln/>
        </p:spPr>
        <p:txBody>
          <a:bodyPr/>
          <a:lstStyle>
            <a:lvl1pPr>
              <a:defRPr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74A4702B-75A0-4351-8445-3AAC53651245}" type="datetime1">
              <a:rPr lang="zh-CN" altLang="en-US" smtClean="0"/>
              <a:pPr>
                <a:defRPr/>
              </a:pPr>
              <a:t>2024/2/29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453336"/>
            <a:ext cx="3860800" cy="206375"/>
          </a:xfrm>
          <a:ln/>
        </p:spPr>
        <p:txBody>
          <a:bodyPr/>
          <a:lstStyle>
            <a:lvl1pPr>
              <a:defRPr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992544" y="6453336"/>
            <a:ext cx="1044940" cy="206375"/>
          </a:xfrm>
          <a:ln/>
        </p:spPr>
        <p:txBody>
          <a:bodyPr/>
          <a:lstStyle>
            <a:lvl1pPr>
              <a:defRPr>
                <a:solidFill>
                  <a:schemeClr val="accent1">
                    <a:lumMod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5ACAED0A-32C0-459D-9CE5-9FDF4154FCB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20399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zh-CN" altLang="en-US" sz="3200" baseline="0">
                <a:latin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7CCD3FF8-DB94-40AD-8DCD-802D0CF6FBF3}" type="datetime1">
              <a:rPr lang="zh-CN" altLang="en-US" smtClean="0"/>
              <a:pPr>
                <a:defRPr/>
              </a:pPr>
              <a:t>2024/2/29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848528" y="6453336"/>
            <a:ext cx="1188956" cy="206375"/>
          </a:xfrm>
          <a:ln/>
        </p:spPr>
        <p:txBody>
          <a:bodyPr/>
          <a:lstStyle>
            <a:lvl1pPr>
              <a:defRPr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A48A0D3F-54C8-4397-8424-A82B9694014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046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>
              <a:defRPr/>
            </a:pPr>
            <a:fld id="{C023B7D7-C4B8-414A-AB8D-8E8B0D471E32}" type="datetime1">
              <a:rPr lang="zh-CN" altLang="en-US" smtClean="0"/>
              <a:pPr>
                <a:defRPr/>
              </a:pPr>
              <a:t>2024/2/29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>
              <a:defRPr/>
            </a:pPr>
            <a:fld id="{4D270BE4-B6C0-4BD9-A22C-75B345F819B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F768DDA-4DC2-4840-B5E7-8DF35596DC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4E9C2A9-330A-4562-B27A-A9D6DF35CFD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>
                <a:latin typeface="+mn-ea"/>
                <a:ea typeface="+mn-ea"/>
              </a:defRPr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altLang="zh-CN" dirty="0"/>
              <a:t>Click to add text</a:t>
            </a:r>
            <a:endParaRPr lang="en-US" dirty="0"/>
          </a:p>
        </p:txBody>
      </p:sp>
      <p:cxnSp>
        <p:nvCxnSpPr>
          <p:cNvPr id="7" name="Straight Connector 7">
            <a:extLst>
              <a:ext uri="{FF2B5EF4-FFF2-40B4-BE49-F238E27FC236}">
                <a16:creationId xmlns:a16="http://schemas.microsoft.com/office/drawing/2014/main" id="{2F12F5EE-14A6-40FD-BA61-0B363C2EFA22}"/>
              </a:ext>
            </a:extLst>
          </p:cNvPr>
          <p:cNvCxnSpPr>
            <a:cxnSpLocks/>
          </p:cNvCxnSpPr>
          <p:nvPr userDrawn="1"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Freeform: Shape 8">
            <a:extLst>
              <a:ext uri="{FF2B5EF4-FFF2-40B4-BE49-F238E27FC236}">
                <a16:creationId xmlns:a16="http://schemas.microsoft.com/office/drawing/2014/main" id="{743FFFD6-FCC7-42BB-95A9-310C3CDFB8E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72353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800" y="71438"/>
            <a:ext cx="11328400" cy="765175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zh-CN" altLang="en-US" sz="3200" baseline="0">
                <a:latin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34434" y="1052514"/>
            <a:ext cx="11523133" cy="5437187"/>
          </a:xfrm>
        </p:spPr>
        <p:txBody>
          <a:bodyPr>
            <a:normAutofit/>
          </a:bodyPr>
          <a:lstStyle>
            <a:lvl1pPr>
              <a:defRPr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pPr lvl="0"/>
            <a:endParaRPr lang="zh-CN" altLang="en-US" noProof="0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BA58DBD2-DAF7-4686-908D-FBE4A4C7898C}" type="datetime1">
              <a:rPr lang="zh-CN" altLang="en-US" smtClean="0"/>
              <a:pPr>
                <a:defRPr/>
              </a:pPr>
              <a:t>2024/2/29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6E6425F8-8564-4543-A15C-E4EDED80C1B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1841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EFC42D-31E7-41FF-871F-88F1F8EDA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6A91D7-2F43-42C0-9191-496193DD5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CA46D1-CD68-4913-B173-8449E8B28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628D4-A47E-487D-A054-67D31F5D1896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7EE5F7-2865-487F-877C-8255B7E8A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6162DF-0F46-481C-864A-6DA84B4D2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89444-52F8-41D3-8F7E-B98977DAD0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090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8C66C1-EBB2-4F5E-9303-4DD4BD293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628D4-A47E-487D-A054-67D31F5D1896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B62B36-6E1F-49A7-BBE1-78729409F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7CA3AB-6E81-4757-8DBA-345EF4BE1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89444-52F8-41D3-8F7E-B98977DAD02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96B65F0-A658-468A-AB3C-A9A371967E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1500187"/>
            <a:ext cx="3161602" cy="1136725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03CCEDB-5E6F-4D83-9A3C-04CEF67FA199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altLang="zh-CN" dirty="0"/>
              <a:t>Click to add text</a:t>
            </a:r>
            <a:endParaRPr lang="en-US" dirty="0"/>
          </a:p>
        </p:txBody>
      </p:sp>
      <p:cxnSp>
        <p:nvCxnSpPr>
          <p:cNvPr id="9" name="Straight Connector 7">
            <a:extLst>
              <a:ext uri="{FF2B5EF4-FFF2-40B4-BE49-F238E27FC236}">
                <a16:creationId xmlns:a16="http://schemas.microsoft.com/office/drawing/2014/main" id="{9F68AC51-7913-4097-9E75-7A4171451C56}"/>
              </a:ext>
            </a:extLst>
          </p:cNvPr>
          <p:cNvCxnSpPr>
            <a:cxnSpLocks/>
          </p:cNvCxnSpPr>
          <p:nvPr userDrawn="1"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B3CDED6C-4071-41B3-BA10-DD136BEAD2D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7383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394688-5690-4C37-9233-A5359AFEC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512A7E-B56F-4983-BFA8-DEAFA47DB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1F4A74-B4F6-4878-9CCD-043A59AE9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628D4-A47E-487D-A054-67D31F5D1896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F1DC9C-CB21-49D5-B707-E4A5643DC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62D5EE-DADB-4C01-A5AB-B9EF666E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89444-52F8-41D3-8F7E-B98977DAD0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746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EC9A02-702A-4697-B28A-84D110EC9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9D86E3-1446-4ED0-8F94-58446184A5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301890-4393-44FC-B76B-7E1F5537A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374F1B-DF6D-4A48-B115-1C52E9F47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628D4-A47E-487D-A054-67D31F5D1896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854E57-A0B4-4F73-B2A7-752BB0492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93834E-D6BA-4F5E-B6E8-ED4EC23D7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89444-52F8-41D3-8F7E-B98977DAD0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24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7475EB-4052-42C1-8AC5-C8B6E76EB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F59C86-9D79-4738-8E0B-D03CA4573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C91FC9-C3FD-43E7-AD91-31E393306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4DB15CE-91AF-45BF-8687-76242AE2D3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F5F3185-183F-4BA8-975F-2EED2AA652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F9DD88-33A6-47DC-A76F-6305264FF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628D4-A47E-487D-A054-67D31F5D1896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88A937B-CFA8-4501-A5E7-1D86006A4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6EF9105-FBB4-4A79-8C33-7B037DE66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89444-52F8-41D3-8F7E-B98977DAD0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160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88BEAA-48C3-4C2F-9E30-92F078AE4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A68C8E5-F8A7-415D-917A-F18FAAABA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628D4-A47E-487D-A054-67D31F5D1896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2778171-AEDA-49AC-A19E-886C1DCD3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D7DC43-32A3-4135-9589-50EF361D2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89444-52F8-41D3-8F7E-B98977DAD0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342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798719C-35F8-4284-BD4C-CC63CF0E9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628D4-A47E-487D-A054-67D31F5D1896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F266A80-73B7-4E8E-8A2C-62B970DA7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653A32-B8D4-483C-A1D5-70AB0A4B9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89444-52F8-41D3-8F7E-B98977DAD0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6488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D95C6D-F2B4-4FE0-A766-949EB4E28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818F51-24F2-4F94-B090-556CAB380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0247F1D-37AF-4AFD-9F74-143CD2704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E31D63-3741-49AC-BDDC-71C45B7FD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628D4-A47E-487D-A054-67D31F5D1896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71682B-AF23-4675-ADEA-8913DD13B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4B419C-50C8-41D3-B8CE-8BECD4D50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89444-52F8-41D3-8F7E-B98977DAD0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066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B5955E-D344-4F32-AE0B-C9619691D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40379B-4C3B-47C9-AB41-CB78E5CB38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2C5FC0-6342-416B-B4E3-AB20FE675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C6B241-6E68-40E5-BFC5-99070DEB5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628D4-A47E-487D-A054-67D31F5D1896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639951-4535-4CB4-8FEB-A6C2E9ECC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301AFD-47D3-40B1-9E7F-C8DCDE045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89444-52F8-41D3-8F7E-B98977DAD0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384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C9004-8CB8-48EA-85BA-7AF88B635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9AE3B8-0738-4C90-B684-F4C4F081F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BC12A8-B74D-424B-8C16-24A2D7518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628D4-A47E-487D-A054-67D31F5D1896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BB7849-BF87-4653-9B32-9D01A4695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6A65FF-E9CE-4BAC-A29A-391DA812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89444-52F8-41D3-8F7E-B98977DAD0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3564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99EE8E-0DEB-4737-B535-D4FA4F588F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8754B7-B600-42DD-92DD-D2AD9645F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0644B8-155E-4FCC-9697-32999F0A4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628D4-A47E-487D-A054-67D31F5D1896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DB47E4-4A97-42DA-AC74-FEA9F677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28502B-DC18-423F-B9BA-2988183DD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89444-52F8-41D3-8F7E-B98977DAD0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444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1800" y="71438"/>
            <a:ext cx="113284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434" y="1052514"/>
            <a:ext cx="11523133" cy="543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</p:txBody>
      </p:sp>
      <p:sp>
        <p:nvSpPr>
          <p:cNvPr id="60109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4517" y="6453336"/>
            <a:ext cx="2844800" cy="20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>
                <a:latin typeface="微软雅黑 Light" panose="020B0502040204020203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2D1F4785-08EB-4209-AF19-1B7710BBBAF1}" type="datetime1">
              <a:rPr lang="zh-CN" altLang="en-US" smtClean="0"/>
              <a:pPr>
                <a:defRPr/>
              </a:pPr>
              <a:t>2024/2/29</a:t>
            </a:fld>
            <a:endParaRPr lang="en-US" altLang="zh-CN" dirty="0"/>
          </a:p>
        </p:txBody>
      </p:sp>
      <p:sp>
        <p:nvSpPr>
          <p:cNvPr id="6010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453336"/>
            <a:ext cx="3860800" cy="20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>
                <a:latin typeface="微软雅黑 Light" panose="020B0502040204020203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010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92684" y="6453336"/>
            <a:ext cx="2844800" cy="20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>
                <a:solidFill>
                  <a:schemeClr val="accent1">
                    <a:lumMod val="25000"/>
                  </a:schemeClr>
                </a:solidFill>
                <a:latin typeface="微软雅黑 Light" panose="020B0502040204020203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E3FAE0D9-500F-4F53-BD2E-C1D74A0BC936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2554818" y="863600"/>
            <a:ext cx="9637183" cy="71438"/>
          </a:xfrm>
          <a:prstGeom prst="rect">
            <a:avLst/>
          </a:prstGeom>
          <a:solidFill>
            <a:srgbClr val="0000C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endParaRPr lang="zh-CN" altLang="zh-CN" sz="1800" baseline="0" dirty="0">
              <a:latin typeface="微软雅黑 Light" panose="020B0502040204020203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863600"/>
            <a:ext cx="1295400" cy="71438"/>
          </a:xfrm>
          <a:prstGeom prst="rect">
            <a:avLst/>
          </a:prstGeom>
          <a:solidFill>
            <a:srgbClr val="C8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endParaRPr lang="zh-CN" altLang="zh-CN" sz="1800" baseline="0" dirty="0">
              <a:latin typeface="微软雅黑 Light" panose="020B0502040204020203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1295400" y="863600"/>
            <a:ext cx="1295400" cy="71438"/>
          </a:xfrm>
          <a:prstGeom prst="rect">
            <a:avLst/>
          </a:prstGeom>
          <a:solidFill>
            <a:srgbClr val="00C8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endParaRPr lang="zh-CN" altLang="zh-CN" sz="1800" baseline="0">
              <a:latin typeface="微软雅黑 Light" panose="020B0502040204020203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18" r:id="rId2"/>
    <p:sldLayoutId id="2147483720" r:id="rId3"/>
    <p:sldLayoutId id="2147483722" r:id="rId4"/>
    <p:sldLayoutId id="2147483723" r:id="rId5"/>
    <p:sldLayoutId id="2147483728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altLang="zh-CN" sz="3200" baseline="0" dirty="0">
          <a:solidFill>
            <a:schemeClr val="tx1"/>
          </a:solidFill>
          <a:latin typeface="微软雅黑 Light" panose="020B0502040204020203" pitchFamily="34" charset="-122"/>
          <a:ea typeface="微软雅黑" panose="020B0503020204020204" pitchFamily="34" charset="-122"/>
          <a:cs typeface="Times New Roman" panose="02020603050405020304" pitchFamily="18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80000"/>
        </a:buClr>
        <a:buSzPct val="80000"/>
        <a:buFont typeface="Wingdings" panose="05000000000000000000" pitchFamily="2" charset="2"/>
        <a:buChar char="n"/>
        <a:defRPr sz="2800" baseline="0">
          <a:solidFill>
            <a:schemeClr val="tx1"/>
          </a:solidFill>
          <a:latin typeface="微软雅黑 Light" panose="020B0502040204020203" pitchFamily="34" charset="-122"/>
          <a:ea typeface="微软雅黑" panose="020B0503020204020204" pitchFamily="34" charset="-122"/>
          <a:cs typeface="Times New Roman" panose="02020603050405020304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C800"/>
        </a:buClr>
        <a:buSzPct val="80000"/>
        <a:buFont typeface="Wingdings" panose="05000000000000000000" pitchFamily="2" charset="2"/>
        <a:buChar char="n"/>
        <a:defRPr sz="2400" baseline="0">
          <a:solidFill>
            <a:schemeClr val="tx1"/>
          </a:solidFill>
          <a:latin typeface="微软雅黑 Light" panose="020B0502040204020203" pitchFamily="34" charset="-122"/>
          <a:ea typeface="微软雅黑" panose="020B0503020204020204" pitchFamily="34" charset="-122"/>
          <a:cs typeface="Times New Roman" panose="02020603050405020304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00C8"/>
        </a:buClr>
        <a:buSzPct val="80000"/>
        <a:buFont typeface="Wingdings" panose="05000000000000000000" pitchFamily="2" charset="2"/>
        <a:buChar char="n"/>
        <a:defRPr sz="2000" baseline="0">
          <a:solidFill>
            <a:schemeClr val="tx1"/>
          </a:solidFill>
          <a:latin typeface="微软雅黑 Light" panose="020B0502040204020203" pitchFamily="34" charset="-122"/>
          <a:ea typeface="微软雅黑" panose="020B0503020204020204" pitchFamily="34" charset="-122"/>
          <a:cs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7F00"/>
        </a:buClr>
        <a:buSzPct val="80000"/>
        <a:buFont typeface="Wingdings" panose="05000000000000000000" pitchFamily="2" charset="2"/>
        <a:buChar char="u"/>
        <a:defRPr sz="2000">
          <a:solidFill>
            <a:schemeClr val="tx1"/>
          </a:solidFill>
          <a:latin typeface="Times New Roman" panose="02020603050405020304" pitchFamily="18" charset="0"/>
          <a:ea typeface="微软雅黑" panose="020B0503020204020204" pitchFamily="34" charset="-122"/>
          <a:cs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02767C5-FD8C-405D-AA08-C1CD962BD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C4E8C1-988F-457A-B888-1B2C308DC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C9B2E7-61B6-415C-AAD9-ACC9AAFDAC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628D4-A47E-487D-A054-67D31F5D1896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61181F-854B-480C-A353-621DBD650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73E2AF-BBD1-409C-BB3E-60DC2E293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89444-52F8-41D3-8F7E-B98977DAD0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594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29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0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sv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A95DC3-7B4D-433C-812F-A9C488D9F2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5400" dirty="0">
                <a:latin typeface="+mn-ea"/>
                <a:ea typeface="+mn-ea"/>
              </a:rPr>
              <a:t>计算机网络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516ABEF-F3DA-47E0-B8A6-0C1C39C0C5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  <a:cs typeface="华文琥珀" panose="02010800040101010101" charset="-122"/>
              </a:rPr>
              <a:t>胡亮</a:t>
            </a:r>
            <a:r>
              <a:rPr lang="en-US" altLang="zh-CN" dirty="0">
                <a:latin typeface="+mn-ea"/>
                <a:ea typeface="+mn-ea"/>
                <a:cs typeface="华文琥珀" panose="02010800040101010101" charset="-122"/>
              </a:rPr>
              <a:t> </a:t>
            </a:r>
            <a:r>
              <a:rPr lang="zh-CN" altLang="en-US" dirty="0">
                <a:latin typeface="+mn-ea"/>
                <a:ea typeface="+mn-ea"/>
                <a:cs typeface="华文琥珀" panose="02010800040101010101" charset="-122"/>
              </a:rPr>
              <a:t>等编著</a:t>
            </a:r>
          </a:p>
        </p:txBody>
      </p:sp>
    </p:spTree>
    <p:extLst>
      <p:ext uri="{BB962C8B-B14F-4D97-AF65-F5344CB8AC3E}">
        <p14:creationId xmlns:p14="http://schemas.microsoft.com/office/powerpoint/2010/main" val="3675514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77A248-E192-4035-897F-A69F5B594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物理层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270E62-7D21-4FA5-BAB8-8054E2C6E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3.1 </a:t>
            </a:r>
            <a:r>
              <a:rPr lang="zh-CN" altLang="en-US" dirty="0"/>
              <a:t>物理层功能</a:t>
            </a:r>
          </a:p>
          <a:p>
            <a:pPr marL="0" indent="0">
              <a:buNone/>
            </a:pPr>
            <a:r>
              <a:rPr lang="en-US" altLang="zh-CN" dirty="0"/>
              <a:t>3.2 </a:t>
            </a:r>
            <a:r>
              <a:rPr lang="zh-CN" altLang="en-US" dirty="0"/>
              <a:t>传输介质</a:t>
            </a:r>
          </a:p>
          <a:p>
            <a:pPr marL="0" indent="0">
              <a:buNone/>
            </a:pPr>
            <a:r>
              <a:rPr lang="en-US" altLang="zh-CN" dirty="0"/>
              <a:t>3.3 </a:t>
            </a:r>
            <a:r>
              <a:rPr lang="zh-CN" altLang="en-US" dirty="0"/>
              <a:t>物理接口</a:t>
            </a:r>
          </a:p>
          <a:p>
            <a:pPr marL="0" indent="0">
              <a:buNone/>
            </a:pPr>
            <a:r>
              <a:rPr lang="en-US" altLang="zh-CN" dirty="0"/>
              <a:t>3.4 </a:t>
            </a:r>
            <a:r>
              <a:rPr lang="zh-CN" altLang="en-US" dirty="0"/>
              <a:t>物理层互连设备</a:t>
            </a:r>
          </a:p>
          <a:p>
            <a:pPr marL="0" indent="0">
              <a:buNone/>
            </a:pPr>
            <a:r>
              <a:rPr lang="en-US" altLang="zh-CN" dirty="0"/>
              <a:t>3.5 </a:t>
            </a:r>
            <a:r>
              <a:rPr lang="zh-CN" altLang="en-US" dirty="0"/>
              <a:t>本章总结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142D19-D6DA-4A04-9AA5-3C7E6423C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853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4D833A-C7A8-4CEB-AD96-BA5208E50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zh-CN" altLang="en-US" dirty="0"/>
              <a:t>物理层功能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78D69E-7C53-46F1-A22E-60A9CC23A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负责如何将计算机连接到通信媒体上</a:t>
            </a:r>
          </a:p>
          <a:p>
            <a:r>
              <a:rPr lang="zh-CN" altLang="en-US" dirty="0"/>
              <a:t>数据传输的单位是比特</a:t>
            </a:r>
            <a:r>
              <a:rPr lang="en-US" altLang="zh-CN" dirty="0"/>
              <a:t>(Bit)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014D2B-6165-4EAC-BA0D-A6914C86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+mn-ea"/>
                <a:ea typeface="+mn-ea"/>
              </a:rPr>
              <a:pPr>
                <a:defRPr/>
              </a:pPr>
              <a:t>3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6085A8AB-E683-4C56-AFE8-923E639FF9B4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5875025" y="1386403"/>
            <a:ext cx="447125" cy="7336010"/>
          </a:xfrm>
          <a:prstGeom prst="can">
            <a:avLst>
              <a:gd name="adj" fmla="val 22418"/>
            </a:avLst>
          </a:prstGeom>
          <a:gradFill rotWithShape="1">
            <a:gsLst>
              <a:gs pos="0">
                <a:srgbClr val="CCECFF">
                  <a:gamma/>
                  <a:shade val="46275"/>
                  <a:invGamma/>
                </a:srgbClr>
              </a:gs>
              <a:gs pos="50000">
                <a:srgbClr val="CCECFF"/>
              </a:gs>
              <a:gs pos="100000">
                <a:srgbClr val="CCECFF">
                  <a:gamma/>
                  <a:shade val="4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DFEBF76-8D24-46C2-890C-D1535F636DB3}"/>
              </a:ext>
            </a:extLst>
          </p:cNvPr>
          <p:cNvGrpSpPr>
            <a:grpSpLocks/>
          </p:cNvGrpSpPr>
          <p:nvPr/>
        </p:nvGrpSpPr>
        <p:grpSpPr bwMode="auto">
          <a:xfrm>
            <a:off x="6267999" y="4953956"/>
            <a:ext cx="1512165" cy="205095"/>
            <a:chOff x="5004048" y="5681302"/>
            <a:chExt cx="2461177" cy="366712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D48FFC7A-E047-4578-9600-E6D43D22F01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04048" y="6040526"/>
              <a:ext cx="359989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B640BC4D-BE02-4250-B85B-F5C5DABD10E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-5400000">
              <a:off x="5184425" y="5868401"/>
              <a:ext cx="359224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08051E02-E081-4A95-80C8-FD5CE52E761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364037" y="5687037"/>
              <a:ext cx="359989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898AF4F8-BD60-4F57-957C-926BF19CB20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-5400000">
              <a:off x="5538667" y="5860914"/>
              <a:ext cx="359224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88582361-1C3D-4099-8118-F4B096ABE76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-5400000">
              <a:off x="5891153" y="5860914"/>
              <a:ext cx="359224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A055262-3F29-4CAE-8C57-70232C84F7E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057515" y="5692772"/>
              <a:ext cx="359989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8B1C9FA5-B3B6-4921-B085-02413F8319F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-5400000">
              <a:off x="6232144" y="5866649"/>
              <a:ext cx="359224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629423DC-1A85-4ECA-9974-EB49CDB81D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10776" y="6040526"/>
              <a:ext cx="359989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F2709746-2801-4809-9A08-E1F296AB3F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98506" y="6040526"/>
              <a:ext cx="359989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9378125E-97C9-4357-B530-D6AA9EF03B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-5400000">
              <a:off x="6578883" y="5868402"/>
              <a:ext cx="359224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53073DE1-9AD9-4CBD-98A2-DE141B4210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745245" y="5687038"/>
              <a:ext cx="359989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F96A388C-F78D-4053-889F-B05F1CAF535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-5400000">
              <a:off x="6933125" y="5860915"/>
              <a:ext cx="359224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115B1450-C510-4419-959F-6167B026C2F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105236" y="6040526"/>
              <a:ext cx="359989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0052E05E-4FC5-45D0-AF4E-18218B3539A3}"/>
              </a:ext>
            </a:extLst>
          </p:cNvPr>
          <p:cNvSpPr/>
          <p:nvPr/>
        </p:nvSpPr>
        <p:spPr>
          <a:xfrm>
            <a:off x="2602006" y="3200400"/>
            <a:ext cx="2716306" cy="99508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+mn-ea"/>
              </a:rPr>
              <a:t>物理层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48564A2-9487-491B-9AE7-7DC445419349}"/>
              </a:ext>
            </a:extLst>
          </p:cNvPr>
          <p:cNvSpPr/>
          <p:nvPr/>
        </p:nvSpPr>
        <p:spPr>
          <a:xfrm>
            <a:off x="6788930" y="3200400"/>
            <a:ext cx="2716306" cy="99508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dirty="0">
                <a:latin typeface="+mn-ea"/>
              </a:rPr>
              <a:t>物理层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85E0ADF-6158-43AE-8E69-0CB3D81337F6}"/>
              </a:ext>
            </a:extLst>
          </p:cNvPr>
          <p:cNvSpPr txBox="1"/>
          <p:nvPr/>
        </p:nvSpPr>
        <p:spPr>
          <a:xfrm>
            <a:off x="3575193" y="3561449"/>
            <a:ext cx="1673269" cy="338554"/>
          </a:xfrm>
          <a:prstGeom prst="rect">
            <a:avLst/>
          </a:prstGeom>
          <a:noFill/>
          <a:ln w="15875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+mn-ea"/>
                <a:ea typeface="+mn-ea"/>
              </a:rPr>
              <a:t>101010 101010</a:t>
            </a:r>
            <a:endParaRPr lang="zh-CN" altLang="en-US" sz="1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3" name="箭头: 下 22">
            <a:extLst>
              <a:ext uri="{FF2B5EF4-FFF2-40B4-BE49-F238E27FC236}">
                <a16:creationId xmlns:a16="http://schemas.microsoft.com/office/drawing/2014/main" id="{386BC8EF-5F3A-447B-9118-4267030C7580}"/>
              </a:ext>
            </a:extLst>
          </p:cNvPr>
          <p:cNvSpPr/>
          <p:nvPr/>
        </p:nvSpPr>
        <p:spPr>
          <a:xfrm>
            <a:off x="3779263" y="4259919"/>
            <a:ext cx="349623" cy="5165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9CD79495-13A9-4074-8A2B-E28238E19587}"/>
              </a:ext>
            </a:extLst>
          </p:cNvPr>
          <p:cNvSpPr/>
          <p:nvPr/>
        </p:nvSpPr>
        <p:spPr>
          <a:xfrm flipV="1">
            <a:off x="8264556" y="4269773"/>
            <a:ext cx="349623" cy="5165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B380AC9-E8C8-4E6D-8689-CD5DF56A6B15}"/>
              </a:ext>
            </a:extLst>
          </p:cNvPr>
          <p:cNvGrpSpPr>
            <a:grpSpLocks/>
          </p:cNvGrpSpPr>
          <p:nvPr/>
        </p:nvGrpSpPr>
        <p:grpSpPr bwMode="auto">
          <a:xfrm>
            <a:off x="4421193" y="4953956"/>
            <a:ext cx="1512165" cy="205095"/>
            <a:chOff x="5004048" y="5681302"/>
            <a:chExt cx="2461177" cy="366712"/>
          </a:xfrm>
        </p:grpSpPr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0200B3EA-AE67-4F80-88C1-DFC2997CEA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04048" y="6040526"/>
              <a:ext cx="359989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07483164-A4E4-4AC3-AF32-19F6EE654A5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-5400000">
              <a:off x="5184425" y="5868401"/>
              <a:ext cx="359224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58786A04-6D70-4034-B29A-B38B2FE51F3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364037" y="5687037"/>
              <a:ext cx="359989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02B7842F-FEBC-4956-8593-F3342EBC25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-5400000">
              <a:off x="5538667" y="5860914"/>
              <a:ext cx="359224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B9EB7793-3481-4990-AA44-980E0FBE4D0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-5400000">
              <a:off x="5891153" y="5860914"/>
              <a:ext cx="359224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1B4093E5-A8CE-415C-9F41-215398EA84F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057515" y="5692772"/>
              <a:ext cx="359989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27D87B2E-CD20-4B0D-B357-96C4881E736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-5400000">
              <a:off x="6232144" y="5866649"/>
              <a:ext cx="359224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CB0956EF-A9E9-4C18-8773-A25EB59CF65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10776" y="6040526"/>
              <a:ext cx="359989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D4EA9715-D2AC-47F4-8849-F3FFC766D09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98506" y="6040526"/>
              <a:ext cx="359989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B58C8C82-5F2A-4648-A446-67ABDA4DFF8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-5400000">
              <a:off x="6578883" y="5868402"/>
              <a:ext cx="359224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E952EDBE-35A7-403D-8D02-6298EEDA23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745245" y="5687038"/>
              <a:ext cx="359989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5C6412E5-A055-48F3-B510-B0681E257BA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-5400000">
              <a:off x="6933125" y="5860915"/>
              <a:ext cx="359224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EAC70C46-FF18-4F4E-A533-C3322F09DA6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105236" y="6040526"/>
              <a:ext cx="359989" cy="0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6257F47B-3776-47BA-9C1C-9C5F274633E7}"/>
              </a:ext>
            </a:extLst>
          </p:cNvPr>
          <p:cNvSpPr txBox="1"/>
          <p:nvPr/>
        </p:nvSpPr>
        <p:spPr>
          <a:xfrm>
            <a:off x="5544589" y="440310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传输介质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EA8784D5-D2F4-4914-8FA0-7EBE69F4F3DA}"/>
              </a:ext>
            </a:extLst>
          </p:cNvPr>
          <p:cNvCxnSpPr>
            <a:cxnSpLocks/>
            <a:stCxn id="46" idx="1"/>
            <a:endCxn id="22" idx="1"/>
          </p:cNvCxnSpPr>
          <p:nvPr/>
        </p:nvCxnSpPr>
        <p:spPr>
          <a:xfrm flipH="1">
            <a:off x="3575193" y="2692702"/>
            <a:ext cx="1724" cy="1038024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FC5CCB19-DE1A-40CB-95CC-3F01AF0F7906}"/>
              </a:ext>
            </a:extLst>
          </p:cNvPr>
          <p:cNvCxnSpPr>
            <a:cxnSpLocks/>
            <a:stCxn id="46" idx="3"/>
            <a:endCxn id="22" idx="3"/>
          </p:cNvCxnSpPr>
          <p:nvPr/>
        </p:nvCxnSpPr>
        <p:spPr>
          <a:xfrm flipH="1">
            <a:off x="5248462" y="2692702"/>
            <a:ext cx="1724" cy="1038024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828A1871-7EB7-47A0-8569-28A7799191B1}"/>
              </a:ext>
            </a:extLst>
          </p:cNvPr>
          <p:cNvSpPr txBox="1"/>
          <p:nvPr/>
        </p:nvSpPr>
        <p:spPr>
          <a:xfrm>
            <a:off x="6930081" y="3567654"/>
            <a:ext cx="1673269" cy="338554"/>
          </a:xfrm>
          <a:prstGeom prst="rect">
            <a:avLst/>
          </a:prstGeom>
          <a:noFill/>
          <a:ln w="15875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+mn-ea"/>
                <a:ea typeface="+mn-ea"/>
              </a:rPr>
              <a:t>101010 101010</a:t>
            </a:r>
            <a:endParaRPr lang="zh-CN" altLang="en-US" sz="1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B813989-BE62-481D-BECD-FE341C562027}"/>
              </a:ext>
            </a:extLst>
          </p:cNvPr>
          <p:cNvCxnSpPr>
            <a:cxnSpLocks/>
            <a:stCxn id="47" idx="1"/>
            <a:endCxn id="42" idx="1"/>
          </p:cNvCxnSpPr>
          <p:nvPr/>
        </p:nvCxnSpPr>
        <p:spPr>
          <a:xfrm>
            <a:off x="6923454" y="2692702"/>
            <a:ext cx="6627" cy="1044229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D563075-9281-42CF-82DF-4CFA507AA531}"/>
              </a:ext>
            </a:extLst>
          </p:cNvPr>
          <p:cNvCxnSpPr>
            <a:cxnSpLocks/>
            <a:stCxn id="47" idx="3"/>
            <a:endCxn id="42" idx="3"/>
          </p:cNvCxnSpPr>
          <p:nvPr/>
        </p:nvCxnSpPr>
        <p:spPr>
          <a:xfrm>
            <a:off x="8596723" y="2692702"/>
            <a:ext cx="6627" cy="1044229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箭头: 下 44">
            <a:extLst>
              <a:ext uri="{FF2B5EF4-FFF2-40B4-BE49-F238E27FC236}">
                <a16:creationId xmlns:a16="http://schemas.microsoft.com/office/drawing/2014/main" id="{4A5510FD-C6CB-43E4-8D47-E6F210426E1E}"/>
              </a:ext>
            </a:extLst>
          </p:cNvPr>
          <p:cNvSpPr/>
          <p:nvPr/>
        </p:nvSpPr>
        <p:spPr>
          <a:xfrm>
            <a:off x="4260551" y="2997583"/>
            <a:ext cx="302554" cy="409125"/>
          </a:xfrm>
          <a:prstGeom prst="downArrow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33CED24-E648-4BF1-8AC5-147CD62D9185}"/>
              </a:ext>
            </a:extLst>
          </p:cNvPr>
          <p:cNvSpPr/>
          <p:nvPr/>
        </p:nvSpPr>
        <p:spPr>
          <a:xfrm>
            <a:off x="3576917" y="2453979"/>
            <a:ext cx="1673269" cy="4774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n-ea"/>
              </a:rPr>
              <a:t>L2 </a:t>
            </a:r>
            <a:r>
              <a:rPr lang="zh-CN" altLang="en-US" dirty="0">
                <a:latin typeface="+mn-ea"/>
              </a:rPr>
              <a:t>数据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2985916-0667-4640-B9F4-D206716C94EF}"/>
              </a:ext>
            </a:extLst>
          </p:cNvPr>
          <p:cNvSpPr/>
          <p:nvPr/>
        </p:nvSpPr>
        <p:spPr>
          <a:xfrm>
            <a:off x="6923454" y="2453979"/>
            <a:ext cx="1673269" cy="4774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n-ea"/>
              </a:rPr>
              <a:t>L2 </a:t>
            </a:r>
            <a:r>
              <a:rPr lang="zh-CN" altLang="en-US" dirty="0">
                <a:latin typeface="+mn-ea"/>
              </a:rPr>
              <a:t>数据</a:t>
            </a:r>
          </a:p>
        </p:txBody>
      </p:sp>
      <p:sp>
        <p:nvSpPr>
          <p:cNvPr id="48" name="箭头: 下 47">
            <a:extLst>
              <a:ext uri="{FF2B5EF4-FFF2-40B4-BE49-F238E27FC236}">
                <a16:creationId xmlns:a16="http://schemas.microsoft.com/office/drawing/2014/main" id="{5DA1DEF5-AF7A-44FA-AAF3-C0DB9EE03385}"/>
              </a:ext>
            </a:extLst>
          </p:cNvPr>
          <p:cNvSpPr/>
          <p:nvPr/>
        </p:nvSpPr>
        <p:spPr>
          <a:xfrm flipV="1">
            <a:off x="7619324" y="2997583"/>
            <a:ext cx="302554" cy="409125"/>
          </a:xfrm>
          <a:prstGeom prst="downArrow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9" name="箭头: 下 48">
            <a:extLst>
              <a:ext uri="{FF2B5EF4-FFF2-40B4-BE49-F238E27FC236}">
                <a16:creationId xmlns:a16="http://schemas.microsoft.com/office/drawing/2014/main" id="{8959D924-B667-4818-8168-190065A0CD8E}"/>
              </a:ext>
            </a:extLst>
          </p:cNvPr>
          <p:cNvSpPr/>
          <p:nvPr/>
        </p:nvSpPr>
        <p:spPr>
          <a:xfrm>
            <a:off x="4269916" y="2995837"/>
            <a:ext cx="302554" cy="409125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0" name="箭头: 下 49">
            <a:extLst>
              <a:ext uri="{FF2B5EF4-FFF2-40B4-BE49-F238E27FC236}">
                <a16:creationId xmlns:a16="http://schemas.microsoft.com/office/drawing/2014/main" id="{1610F678-72D2-4E54-947E-6C071F132DB0}"/>
              </a:ext>
            </a:extLst>
          </p:cNvPr>
          <p:cNvSpPr/>
          <p:nvPr/>
        </p:nvSpPr>
        <p:spPr>
          <a:xfrm flipV="1">
            <a:off x="7628689" y="2995837"/>
            <a:ext cx="302554" cy="409125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52361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225B-B5C6-4A28-8825-F93ACD379C9F}" type="slidenum"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4</a:t>
            </a:fld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要解决的问题</a:t>
            </a:r>
          </a:p>
        </p:txBody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线路配置</a:t>
            </a:r>
          </a:p>
          <a:p>
            <a:r>
              <a:rPr lang="zh-CN" altLang="en-US" dirty="0"/>
              <a:t>数据通信模式</a:t>
            </a:r>
          </a:p>
          <a:p>
            <a:r>
              <a:rPr lang="zh-CN" altLang="en-US" dirty="0"/>
              <a:t>拓扑结构</a:t>
            </a:r>
          </a:p>
          <a:p>
            <a:r>
              <a:rPr lang="zh-CN" altLang="en-US" dirty="0"/>
              <a:t>信号</a:t>
            </a:r>
          </a:p>
          <a:p>
            <a:r>
              <a:rPr lang="zh-CN" altLang="en-US" dirty="0"/>
              <a:t>编码</a:t>
            </a:r>
          </a:p>
          <a:p>
            <a:r>
              <a:rPr lang="zh-CN" altLang="en-US" dirty="0"/>
              <a:t>接口</a:t>
            </a:r>
          </a:p>
          <a:p>
            <a:r>
              <a:rPr lang="zh-CN" altLang="en-US" dirty="0"/>
              <a:t>介质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特性</a:t>
            </a:r>
          </a:p>
        </p:txBody>
      </p:sp>
      <p:sp>
        <p:nvSpPr>
          <p:cNvPr id="400387" name="Rectangle 3"/>
          <p:cNvSpPr>
            <a:spLocks noGrp="1" noChangeArrowheads="1"/>
          </p:cNvSpPr>
          <p:nvPr>
            <p:ph idx="1"/>
          </p:nvPr>
        </p:nvSpPr>
        <p:spPr>
          <a:xfrm>
            <a:off x="334434" y="1052513"/>
            <a:ext cx="11523133" cy="5400823"/>
          </a:xfrm>
        </p:spPr>
        <p:txBody>
          <a:bodyPr>
            <a:normAutofit/>
          </a:bodyPr>
          <a:lstStyle/>
          <a:p>
            <a:r>
              <a:rPr lang="zh-CN" altLang="en-US" dirty="0"/>
              <a:t>机械特性</a:t>
            </a:r>
          </a:p>
          <a:p>
            <a:pPr lvl="1"/>
            <a:r>
              <a:rPr lang="zh-CN" altLang="en-US" sz="2600" dirty="0"/>
              <a:t>说明接口的插头尺寸、插头各管脚的位置等</a:t>
            </a:r>
          </a:p>
          <a:p>
            <a:r>
              <a:rPr lang="zh-CN" altLang="en-US" dirty="0"/>
              <a:t>电气特性</a:t>
            </a:r>
          </a:p>
          <a:p>
            <a:pPr lvl="1"/>
            <a:r>
              <a:rPr lang="zh-CN" altLang="en-US" sz="2600" dirty="0"/>
              <a:t>说明传输线上出现的电压应在什么范围</a:t>
            </a:r>
          </a:p>
          <a:p>
            <a:r>
              <a:rPr lang="zh-CN" altLang="en-US" dirty="0"/>
              <a:t>功能特性</a:t>
            </a:r>
          </a:p>
          <a:p>
            <a:pPr lvl="1"/>
            <a:r>
              <a:rPr lang="zh-CN" altLang="en-US" sz="2600" dirty="0"/>
              <a:t>说明某根传输线上出现的某一电平代表何种意义</a:t>
            </a:r>
          </a:p>
          <a:p>
            <a:r>
              <a:rPr lang="zh-CN" altLang="en-US" dirty="0"/>
              <a:t>规程特性</a:t>
            </a:r>
          </a:p>
          <a:p>
            <a:pPr lvl="1"/>
            <a:r>
              <a:rPr lang="zh-CN" altLang="en-US" sz="2600" dirty="0"/>
              <a:t>说明对于不同的功能各种可能事件出现的先后顺序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073F-BFDE-4676-A655-BADA7CEB5FDF}" type="slidenum">
              <a:rPr lang="en-US" altLang="zh-CN">
                <a:latin typeface="+mn-ea"/>
                <a:ea typeface="+mn-ea"/>
              </a:rPr>
              <a:pPr/>
              <a:t>5</a:t>
            </a:fld>
            <a:endParaRPr lang="en-US" altLang="zh-CN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D6503-7174-42DE-A13F-EF7A4C656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传输介质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D2C693-435F-461D-A668-6FF206327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信息最终要转变成信号才能传输。</a:t>
            </a:r>
          </a:p>
          <a:p>
            <a:pPr>
              <a:lnSpc>
                <a:spcPct val="90000"/>
              </a:lnSpc>
            </a:pPr>
            <a:r>
              <a:rPr lang="zh-CN" altLang="en-US" dirty="0"/>
              <a:t>用于传输信号的介质分为：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导向传输媒体（有线介质）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非导向传输媒体（无线介质）</a:t>
            </a:r>
          </a:p>
          <a:p>
            <a:pPr>
              <a:lnSpc>
                <a:spcPct val="90000"/>
              </a:lnSpc>
            </a:pPr>
            <a:r>
              <a:rPr lang="zh-CN" altLang="en-US" dirty="0"/>
              <a:t>各种类型：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双绞线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同轴电缆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光纤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微波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红外</a:t>
            </a:r>
          </a:p>
          <a:p>
            <a:pPr lvl="1">
              <a:lnSpc>
                <a:spcPct val="90000"/>
              </a:lnSpc>
            </a:pPr>
            <a:r>
              <a:rPr lang="zh-CN" altLang="en-US" dirty="0">
                <a:sym typeface="Symbol" panose="05050102010706020507" pitchFamily="18" charset="2"/>
              </a:rPr>
              <a:t> 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49AF30-CC25-472F-A537-574BC5D1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defRPr/>
              </a:pPr>
              <a:t>6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7107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EDE196-E941-4B16-875B-3589B22FD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传输介质频谱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54F074-251E-4613-A296-384E40374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/>
              <a:pPr>
                <a:defRPr/>
              </a:pPr>
              <a:t>7</a:t>
            </a:fld>
            <a:endParaRPr lang="en-US" altLang="zh-CN" dirty="0"/>
          </a:p>
        </p:txBody>
      </p:sp>
      <p:sp>
        <p:nvSpPr>
          <p:cNvPr id="5" name="Line 3">
            <a:extLst>
              <a:ext uri="{FF2B5EF4-FFF2-40B4-BE49-F238E27FC236}">
                <a16:creationId xmlns:a16="http://schemas.microsoft.com/office/drawing/2014/main" id="{111B4F2B-4CD4-4A68-8320-4D5B265BC05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3365" y="2522725"/>
            <a:ext cx="2349500" cy="8382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1437082-5535-4A29-8337-73B84EAEE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2465" y="3048187"/>
            <a:ext cx="36195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sz="1800"/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1F4A42D0-4E70-40C2-BC0C-11C6D0A3DC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5478" y="2522725"/>
            <a:ext cx="1171575" cy="8382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D4F778D-62C2-4B3C-AD23-E900D35DF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5465" y="3048187"/>
            <a:ext cx="323850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sz="1800"/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02546862-9E5C-4B15-B47D-B22526CFDE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5465" y="3341875"/>
            <a:ext cx="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CFBA62EC-6EB1-42D0-9DCD-C6010284A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6403" y="4095937"/>
            <a:ext cx="320675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sz="1400"/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60AC58EF-5BE0-4DEA-B003-636EBEA9E2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6028" y="3345050"/>
            <a:ext cx="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FFB8C8BC-E63C-4169-8B90-437D7A112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303" y="4114987"/>
            <a:ext cx="198437" cy="56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sz="140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FF61AFCC-D0B3-458F-8448-44BE449B2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6015" y="3384737"/>
            <a:ext cx="223838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sz="1400"/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EA48D411-E90F-45E9-824D-4DEB1E079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4428" y="3348225"/>
            <a:ext cx="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AB24E2C0-CF10-4BF3-AC12-FF1198391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3265" y="3737162"/>
            <a:ext cx="833438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sz="1400"/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D68AD336-5ED2-4434-BD4B-0AA65A835C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8628" y="3354575"/>
            <a:ext cx="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1F4DF243-A2D4-4BBB-899A-4BC86962E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2103" y="4122925"/>
            <a:ext cx="2667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sz="1400"/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815F3EF5-9BD4-4CFA-87AC-FEEC33AEBB4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1790" y="3348225"/>
            <a:ext cx="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8C03CD77-EB4A-4785-BF25-F5DFEA245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415" y="3810187"/>
            <a:ext cx="230188" cy="277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sz="1400"/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3769C3C8-09E0-4E95-8D92-9F63F99E55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7540" y="2141725"/>
            <a:ext cx="7543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A3A78320-EA72-43AA-8B72-CBFCA440D20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6590" y="2522725"/>
            <a:ext cx="7543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DEB57AF2-9E07-4CF4-AB06-3E5D09EBA4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4365" y="21417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6D6E2CCD-A65C-4764-A74A-76B5E1DB61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4165" y="2146487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18CEC599-3818-4AF9-B5D7-33435407AB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4990" y="2157600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9F35275B-6A2D-424D-BFE4-BAC3F6A9B7F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8240" y="214172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A7402403-4EAE-4A72-AB37-572189470E8A}"/>
              </a:ext>
            </a:extLst>
          </p:cNvPr>
          <p:cNvSpPr>
            <a:spLocks noChangeShapeType="1"/>
          </p:cNvSpPr>
          <p:nvPr/>
        </p:nvSpPr>
        <p:spPr bwMode="auto">
          <a:xfrm>
            <a:off x="9118040" y="2151250"/>
            <a:ext cx="0" cy="366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8C798CB5-EFCD-46A2-8ACA-154708158C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0715" y="3348225"/>
            <a:ext cx="7050088" cy="4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28" name="Text Box 26">
            <a:extLst>
              <a:ext uri="{FF2B5EF4-FFF2-40B4-BE49-F238E27FC236}">
                <a16:creationId xmlns:a16="http://schemas.microsoft.com/office/drawing/2014/main" id="{32758FFB-83C3-4692-A0F0-645554297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2790" y="2160775"/>
            <a:ext cx="793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无线电</a:t>
            </a:r>
          </a:p>
        </p:txBody>
      </p:sp>
      <p:sp>
        <p:nvSpPr>
          <p:cNvPr id="29" name="Text Box 27">
            <a:extLst>
              <a:ext uri="{FF2B5EF4-FFF2-40B4-BE49-F238E27FC236}">
                <a16:creationId xmlns:a16="http://schemas.microsoft.com/office/drawing/2014/main" id="{9C745CDE-7C54-4C8C-8EF3-43D5FCDAF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3865" y="2160775"/>
            <a:ext cx="590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微波</a:t>
            </a:r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DEF33EE4-F959-4DA0-AAC7-B67ECED7DC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8265" y="214172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29">
            <a:extLst>
              <a:ext uri="{FF2B5EF4-FFF2-40B4-BE49-F238E27FC236}">
                <a16:creationId xmlns:a16="http://schemas.microsoft.com/office/drawing/2014/main" id="{C4F6D7D3-6C20-4CA9-AABB-E4DD49CA13D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9815" y="214172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ACD4E296-3FBB-46BF-A2E9-DF3945382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5265" y="2160775"/>
            <a:ext cx="793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dirty="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红外线</a:t>
            </a:r>
          </a:p>
        </p:txBody>
      </p:sp>
      <p:sp>
        <p:nvSpPr>
          <p:cNvPr id="33" name="Text Box 31">
            <a:extLst>
              <a:ext uri="{FF2B5EF4-FFF2-40B4-BE49-F238E27FC236}">
                <a16:creationId xmlns:a16="http://schemas.microsoft.com/office/drawing/2014/main" id="{32362433-62C8-47FD-BCA5-E3AEE29B6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1965" y="2675125"/>
            <a:ext cx="793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可见光</a:t>
            </a:r>
          </a:p>
        </p:txBody>
      </p:sp>
      <p:sp>
        <p:nvSpPr>
          <p:cNvPr id="34" name="Text Box 32">
            <a:extLst>
              <a:ext uri="{FF2B5EF4-FFF2-40B4-BE49-F238E27FC236}">
                <a16:creationId xmlns:a16="http://schemas.microsoft.com/office/drawing/2014/main" id="{40453A7A-4DA1-409A-AABD-F9C8D7223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065" y="2675125"/>
            <a:ext cx="793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紫外线</a:t>
            </a:r>
          </a:p>
        </p:txBody>
      </p:sp>
      <p:sp>
        <p:nvSpPr>
          <p:cNvPr id="35" name="Line 33">
            <a:extLst>
              <a:ext uri="{FF2B5EF4-FFF2-40B4-BE49-F238E27FC236}">
                <a16:creationId xmlns:a16="http://schemas.microsoft.com/office/drawing/2014/main" id="{838D3E86-7D74-4BA8-8A83-7689DEA24E0A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6065" y="2141725"/>
            <a:ext cx="0" cy="385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Text Box 34">
            <a:extLst>
              <a:ext uri="{FF2B5EF4-FFF2-40B4-BE49-F238E27FC236}">
                <a16:creationId xmlns:a16="http://schemas.microsoft.com/office/drawing/2014/main" id="{C11687FA-FE60-42C4-AA59-028F0A8E3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3265" y="2160775"/>
            <a:ext cx="736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6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zh-CN" altLang="en-US" sz="16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射线</a:t>
            </a:r>
          </a:p>
        </p:txBody>
      </p:sp>
      <p:sp>
        <p:nvSpPr>
          <p:cNvPr id="37" name="Text Box 35">
            <a:extLst>
              <a:ext uri="{FF2B5EF4-FFF2-40B4-BE49-F238E27FC236}">
                <a16:creationId xmlns:a16="http://schemas.microsoft.com/office/drawing/2014/main" id="{13D3414C-B096-475A-AD62-414C833A8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7265" y="2129025"/>
            <a:ext cx="2682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6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</a:t>
            </a:r>
          </a:p>
        </p:txBody>
      </p:sp>
      <p:sp>
        <p:nvSpPr>
          <p:cNvPr id="38" name="Text Box 36">
            <a:extLst>
              <a:ext uri="{FF2B5EF4-FFF2-40B4-BE49-F238E27FC236}">
                <a16:creationId xmlns:a16="http://schemas.microsoft.com/office/drawing/2014/main" id="{194394DD-D700-4F15-96AD-96B16A5C4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6490" y="2160775"/>
            <a:ext cx="590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射线</a:t>
            </a:r>
          </a:p>
        </p:txBody>
      </p:sp>
      <p:sp>
        <p:nvSpPr>
          <p:cNvPr id="39" name="Text Box 37">
            <a:extLst>
              <a:ext uri="{FF2B5EF4-FFF2-40B4-BE49-F238E27FC236}">
                <a16:creationId xmlns:a16="http://schemas.microsoft.com/office/drawing/2014/main" id="{988C8FC1-B21E-4C01-A16F-5BA4AE16A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5771" y="3374107"/>
            <a:ext cx="6463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200" dirty="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双绞线</a:t>
            </a:r>
          </a:p>
        </p:txBody>
      </p:sp>
      <p:sp>
        <p:nvSpPr>
          <p:cNvPr id="40" name="Line 38">
            <a:extLst>
              <a:ext uri="{FF2B5EF4-FFF2-40B4-BE49-F238E27FC236}">
                <a16:creationId xmlns:a16="http://schemas.microsoft.com/office/drawing/2014/main" id="{52764CB7-E5B2-4048-9356-AF15EE1C13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0715" y="3665725"/>
            <a:ext cx="1352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41" name="Text Box 39">
            <a:extLst>
              <a:ext uri="{FF2B5EF4-FFF2-40B4-BE49-F238E27FC236}">
                <a16:creationId xmlns:a16="http://schemas.microsoft.com/office/drawing/2014/main" id="{0B5296DE-82BF-40C5-82A7-9E715BD54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4591" y="3744325"/>
            <a:ext cx="80021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200" dirty="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同轴电缆</a:t>
            </a:r>
          </a:p>
        </p:txBody>
      </p:sp>
      <p:sp>
        <p:nvSpPr>
          <p:cNvPr id="42" name="Line 40">
            <a:extLst>
              <a:ext uri="{FF2B5EF4-FFF2-40B4-BE49-F238E27FC236}">
                <a16:creationId xmlns:a16="http://schemas.microsoft.com/office/drawing/2014/main" id="{39D416D6-0B93-4A37-80C0-3873DC2F701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1265" y="4038787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43" name="Text Box 41">
            <a:extLst>
              <a:ext uri="{FF2B5EF4-FFF2-40B4-BE49-F238E27FC236}">
                <a16:creationId xmlns:a16="http://schemas.microsoft.com/office/drawing/2014/main" id="{7704AF51-CE8C-45D0-B15F-34B7B7B90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7273" y="3406550"/>
            <a:ext cx="49244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200" dirty="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卫星</a:t>
            </a:r>
          </a:p>
        </p:txBody>
      </p:sp>
      <p:sp>
        <p:nvSpPr>
          <p:cNvPr id="44" name="Line 42">
            <a:extLst>
              <a:ext uri="{FF2B5EF4-FFF2-40B4-BE49-F238E27FC236}">
                <a16:creationId xmlns:a16="http://schemas.microsoft.com/office/drawing/2014/main" id="{27619AB0-C423-4C69-B826-73036920775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4865" y="3695887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45" name="Text Box 43">
            <a:extLst>
              <a:ext uri="{FF2B5EF4-FFF2-40B4-BE49-F238E27FC236}">
                <a16:creationId xmlns:a16="http://schemas.microsoft.com/office/drawing/2014/main" id="{9EB6FBEA-8346-43A4-BA37-08BC10042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5180" y="3833587"/>
            <a:ext cx="80021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200" dirty="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地面微波</a:t>
            </a:r>
          </a:p>
        </p:txBody>
      </p:sp>
      <p:sp>
        <p:nvSpPr>
          <p:cNvPr id="46" name="Line 44">
            <a:extLst>
              <a:ext uri="{FF2B5EF4-FFF2-40B4-BE49-F238E27FC236}">
                <a16:creationId xmlns:a16="http://schemas.microsoft.com/office/drawing/2014/main" id="{DC91E528-7084-4E18-BF95-AF721C035CB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3165" y="4122925"/>
            <a:ext cx="93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47" name="Text Box 45">
            <a:extLst>
              <a:ext uri="{FF2B5EF4-FFF2-40B4-BE49-F238E27FC236}">
                <a16:creationId xmlns:a16="http://schemas.microsoft.com/office/drawing/2014/main" id="{204AAEC0-5639-4EFA-833A-668C03DC2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468" y="4249797"/>
            <a:ext cx="646331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en-US" altLang="zh-CN" sz="1200" dirty="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zh-CN" altLang="en-US" sz="1200" dirty="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调幅</a:t>
            </a:r>
          </a:p>
          <a:p>
            <a:pPr algn="l">
              <a:lnSpc>
                <a:spcPct val="90000"/>
              </a:lnSpc>
            </a:pPr>
            <a:r>
              <a:rPr kumimoji="1" lang="zh-CN" altLang="en-US" sz="1200" dirty="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无线电</a:t>
            </a:r>
          </a:p>
        </p:txBody>
      </p:sp>
      <p:sp>
        <p:nvSpPr>
          <p:cNvPr id="48" name="Text Box 47">
            <a:extLst>
              <a:ext uri="{FF2B5EF4-FFF2-40B4-BE49-F238E27FC236}">
                <a16:creationId xmlns:a16="http://schemas.microsoft.com/office/drawing/2014/main" id="{ED151B33-40E0-49B3-817B-1082120E8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281" y="4273663"/>
            <a:ext cx="646331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en-US" altLang="zh-CN" sz="1200" dirty="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zh-CN" altLang="en-US" sz="1200" dirty="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海事</a:t>
            </a:r>
          </a:p>
          <a:p>
            <a:pPr algn="l">
              <a:lnSpc>
                <a:spcPct val="90000"/>
              </a:lnSpc>
            </a:pPr>
            <a:r>
              <a:rPr kumimoji="1" lang="zh-CN" altLang="en-US" sz="1200" dirty="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无线电</a:t>
            </a:r>
          </a:p>
        </p:txBody>
      </p:sp>
      <p:sp>
        <p:nvSpPr>
          <p:cNvPr id="49" name="Line 48">
            <a:extLst>
              <a:ext uri="{FF2B5EF4-FFF2-40B4-BE49-F238E27FC236}">
                <a16:creationId xmlns:a16="http://schemas.microsoft.com/office/drawing/2014/main" id="{11B57446-7E0A-4248-B099-CE4C84719D1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3365" y="4656325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50" name="Text Box 49">
            <a:extLst>
              <a:ext uri="{FF2B5EF4-FFF2-40B4-BE49-F238E27FC236}">
                <a16:creationId xmlns:a16="http://schemas.microsoft.com/office/drawing/2014/main" id="{F477D0FC-0C49-4305-BCEA-DA4B70586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8258" y="3429814"/>
            <a:ext cx="49244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200" dirty="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光纤</a:t>
            </a:r>
          </a:p>
        </p:txBody>
      </p:sp>
      <p:sp>
        <p:nvSpPr>
          <p:cNvPr id="51" name="Line 50">
            <a:extLst>
              <a:ext uri="{FF2B5EF4-FFF2-40B4-BE49-F238E27FC236}">
                <a16:creationId xmlns:a16="http://schemas.microsoft.com/office/drawing/2014/main" id="{53A182D4-ADB5-41D4-B4FB-A77E01584796}"/>
              </a:ext>
            </a:extLst>
          </p:cNvPr>
          <p:cNvSpPr>
            <a:spLocks noChangeShapeType="1"/>
          </p:cNvSpPr>
          <p:nvPr/>
        </p:nvSpPr>
        <p:spPr bwMode="auto">
          <a:xfrm>
            <a:off x="8429065" y="3708587"/>
            <a:ext cx="596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52" name="Text Box 51">
            <a:extLst>
              <a:ext uri="{FF2B5EF4-FFF2-40B4-BE49-F238E27FC236}">
                <a16:creationId xmlns:a16="http://schemas.microsoft.com/office/drawing/2014/main" id="{7210C744-C0BD-46B8-96CF-133BDB05B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3911" y="4761099"/>
            <a:ext cx="49244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200" dirty="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电视</a:t>
            </a:r>
          </a:p>
        </p:txBody>
      </p:sp>
      <p:sp>
        <p:nvSpPr>
          <p:cNvPr id="53" name="Line 52">
            <a:extLst>
              <a:ext uri="{FF2B5EF4-FFF2-40B4-BE49-F238E27FC236}">
                <a16:creationId xmlns:a16="http://schemas.microsoft.com/office/drawing/2014/main" id="{4ECAA5A6-7376-42D9-8B80-8C11FD728C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76465" y="2294125"/>
            <a:ext cx="1905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Line 53">
            <a:extLst>
              <a:ext uri="{FF2B5EF4-FFF2-40B4-BE49-F238E27FC236}">
                <a16:creationId xmlns:a16="http://schemas.microsoft.com/office/drawing/2014/main" id="{A79B8499-4F68-43D3-A1F5-A8A1DDA92AB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08265" y="2294125"/>
            <a:ext cx="82550" cy="454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Line 54">
            <a:extLst>
              <a:ext uri="{FF2B5EF4-FFF2-40B4-BE49-F238E27FC236}">
                <a16:creationId xmlns:a16="http://schemas.microsoft.com/office/drawing/2014/main" id="{300AC31D-A56C-41AC-85DF-B189C4DFB5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4065" y="4732525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56" name="Line 55">
            <a:extLst>
              <a:ext uri="{FF2B5EF4-FFF2-40B4-BE49-F238E27FC236}">
                <a16:creationId xmlns:a16="http://schemas.microsoft.com/office/drawing/2014/main" id="{724CF397-3286-4797-B187-B35CEBE12E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2265" y="4732525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57" name="Line 56">
            <a:extLst>
              <a:ext uri="{FF2B5EF4-FFF2-40B4-BE49-F238E27FC236}">
                <a16:creationId xmlns:a16="http://schemas.microsoft.com/office/drawing/2014/main" id="{55B16E8C-DB18-41A1-B513-10839FB398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1465" y="5037325"/>
            <a:ext cx="749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58" name="Line 57">
            <a:extLst>
              <a:ext uri="{FF2B5EF4-FFF2-40B4-BE49-F238E27FC236}">
                <a16:creationId xmlns:a16="http://schemas.microsoft.com/office/drawing/2014/main" id="{2DCD9BC9-F08C-4393-900D-8F5DDFFE93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5953" y="5105587"/>
            <a:ext cx="70596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59" name="Line 58">
            <a:extLst>
              <a:ext uri="{FF2B5EF4-FFF2-40B4-BE49-F238E27FC236}">
                <a16:creationId xmlns:a16="http://schemas.microsoft.com/office/drawing/2014/main" id="{2E30430B-BC5D-48DF-A814-7FD6877297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7065" y="3352987"/>
            <a:ext cx="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60" name="Line 59">
            <a:extLst>
              <a:ext uri="{FF2B5EF4-FFF2-40B4-BE49-F238E27FC236}">
                <a16:creationId xmlns:a16="http://schemas.microsoft.com/office/drawing/2014/main" id="{E6CB38B9-CFB4-4E28-9028-AB17C2CA49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7590" y="3346637"/>
            <a:ext cx="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61" name="Line 60">
            <a:extLst>
              <a:ext uri="{FF2B5EF4-FFF2-40B4-BE49-F238E27FC236}">
                <a16:creationId xmlns:a16="http://schemas.microsoft.com/office/drawing/2014/main" id="{18CD3659-851B-4370-97D3-BD27F42A4929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5990" y="3354575"/>
            <a:ext cx="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62" name="Line 61">
            <a:extLst>
              <a:ext uri="{FF2B5EF4-FFF2-40B4-BE49-F238E27FC236}">
                <a16:creationId xmlns:a16="http://schemas.microsoft.com/office/drawing/2014/main" id="{BDF9FED6-0CC3-47C0-85D0-278E278F385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0190" y="3351400"/>
            <a:ext cx="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63" name="Line 62">
            <a:extLst>
              <a:ext uri="{FF2B5EF4-FFF2-40B4-BE49-F238E27FC236}">
                <a16:creationId xmlns:a16="http://schemas.microsoft.com/office/drawing/2014/main" id="{BF45A132-F51B-45C0-AF23-BE7BAF8A85EF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9153" y="3352987"/>
            <a:ext cx="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64" name="Line 63">
            <a:extLst>
              <a:ext uri="{FF2B5EF4-FFF2-40B4-BE49-F238E27FC236}">
                <a16:creationId xmlns:a16="http://schemas.microsoft.com/office/drawing/2014/main" id="{0A5889FB-5127-42D9-AADE-26A0E1F84A50}"/>
              </a:ext>
            </a:extLst>
          </p:cNvPr>
          <p:cNvSpPr>
            <a:spLocks noChangeShapeType="1"/>
          </p:cNvSpPr>
          <p:nvPr/>
        </p:nvSpPr>
        <p:spPr bwMode="auto">
          <a:xfrm>
            <a:off x="8448115" y="3364100"/>
            <a:ext cx="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65" name="Line 64">
            <a:extLst>
              <a:ext uri="{FF2B5EF4-FFF2-40B4-BE49-F238E27FC236}">
                <a16:creationId xmlns:a16="http://schemas.microsoft.com/office/drawing/2014/main" id="{7555254E-FF4C-430C-855E-F28A92CCE2E2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2315" y="3356162"/>
            <a:ext cx="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66" name="Line 65">
            <a:extLst>
              <a:ext uri="{FF2B5EF4-FFF2-40B4-BE49-F238E27FC236}">
                <a16:creationId xmlns:a16="http://schemas.microsoft.com/office/drawing/2014/main" id="{C8C6495D-2D14-416A-A1C1-4E77915FBBED}"/>
              </a:ext>
            </a:extLst>
          </p:cNvPr>
          <p:cNvSpPr>
            <a:spLocks noChangeShapeType="1"/>
          </p:cNvSpPr>
          <p:nvPr/>
        </p:nvSpPr>
        <p:spPr bwMode="auto">
          <a:xfrm>
            <a:off x="9621278" y="3352987"/>
            <a:ext cx="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DFB968D-6F72-4701-A2CC-8438180881FA}"/>
              </a:ext>
            </a:extLst>
          </p:cNvPr>
          <p:cNvGrpSpPr>
            <a:grpSpLocks/>
          </p:cNvGrpSpPr>
          <p:nvPr/>
        </p:nvGrpSpPr>
        <p:grpSpPr bwMode="auto">
          <a:xfrm>
            <a:off x="1723465" y="1836925"/>
            <a:ext cx="752475" cy="368300"/>
            <a:chOff x="6" y="352"/>
            <a:chExt cx="474" cy="232"/>
          </a:xfrm>
        </p:grpSpPr>
        <p:sp>
          <p:nvSpPr>
            <p:cNvPr id="68" name="Text Box 67">
              <a:extLst>
                <a:ext uri="{FF2B5EF4-FFF2-40B4-BE49-F238E27FC236}">
                  <a16:creationId xmlns:a16="http://schemas.microsoft.com/office/drawing/2014/main" id="{1B76BCA2-8661-46C9-983D-9636D629C3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" y="353"/>
              <a:ext cx="3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800" b="1">
                  <a:solidFill>
                    <a:srgbClr val="3333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(Hz)</a:t>
              </a:r>
            </a:p>
          </p:txBody>
        </p:sp>
        <p:sp>
          <p:nvSpPr>
            <p:cNvPr id="69" name="Text Box 68">
              <a:extLst>
                <a:ext uri="{FF2B5EF4-FFF2-40B4-BE49-F238E27FC236}">
                  <a16:creationId xmlns:a16="http://schemas.microsoft.com/office/drawing/2014/main" id="{1D4F8C8A-84D9-4AD6-865B-28A1AA9820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" y="352"/>
              <a:ext cx="1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800" b="1">
                  <a:solidFill>
                    <a:srgbClr val="3333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f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6077FE9-E463-420C-A9F8-7D3B7A0B2F24}"/>
              </a:ext>
            </a:extLst>
          </p:cNvPr>
          <p:cNvGrpSpPr>
            <a:grpSpLocks/>
          </p:cNvGrpSpPr>
          <p:nvPr/>
        </p:nvGrpSpPr>
        <p:grpSpPr bwMode="auto">
          <a:xfrm>
            <a:off x="1729815" y="3056125"/>
            <a:ext cx="746125" cy="371475"/>
            <a:chOff x="78" y="1589"/>
            <a:chExt cx="470" cy="234"/>
          </a:xfrm>
        </p:grpSpPr>
        <p:sp>
          <p:nvSpPr>
            <p:cNvPr id="71" name="Text Box 70">
              <a:extLst>
                <a:ext uri="{FF2B5EF4-FFF2-40B4-BE49-F238E27FC236}">
                  <a16:creationId xmlns:a16="http://schemas.microsoft.com/office/drawing/2014/main" id="{FE196F4E-47A0-4BD1-8D6E-0A1FF8C221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" y="1589"/>
              <a:ext cx="4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800" b="1">
                  <a:solidFill>
                    <a:srgbClr val="3333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(Hz)</a:t>
              </a:r>
            </a:p>
          </p:txBody>
        </p:sp>
        <p:sp>
          <p:nvSpPr>
            <p:cNvPr id="72" name="Text Box 71">
              <a:extLst>
                <a:ext uri="{FF2B5EF4-FFF2-40B4-BE49-F238E27FC236}">
                  <a16:creationId xmlns:a16="http://schemas.microsoft.com/office/drawing/2014/main" id="{A4ADAA86-0BBD-4D16-B1EB-48FDEDDCFB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" y="1592"/>
              <a:ext cx="1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800" b="1">
                  <a:solidFill>
                    <a:srgbClr val="3333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f</a:t>
              </a:r>
            </a:p>
          </p:txBody>
        </p:sp>
      </p:grpSp>
      <p:sp>
        <p:nvSpPr>
          <p:cNvPr id="73" name="Text Box 93">
            <a:extLst>
              <a:ext uri="{FF2B5EF4-FFF2-40B4-BE49-F238E27FC236}">
                <a16:creationId xmlns:a16="http://schemas.microsoft.com/office/drawing/2014/main" id="{4E4B637E-F91C-49FE-A270-16C209A69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7515" y="3027550"/>
            <a:ext cx="7575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6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1600" b="1" baseline="300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         </a:t>
            </a:r>
            <a:r>
              <a:rPr kumimoji="1" lang="en-US" altLang="zh-CN" sz="16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1600" b="1" baseline="300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         </a:t>
            </a:r>
            <a:r>
              <a:rPr kumimoji="1" lang="en-US" altLang="zh-CN" sz="16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1600" b="1" baseline="300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6         </a:t>
            </a:r>
            <a:r>
              <a:rPr kumimoji="1" lang="en-US" altLang="zh-CN" sz="16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1600" b="1" baseline="300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7         </a:t>
            </a:r>
            <a:r>
              <a:rPr kumimoji="1" lang="en-US" altLang="zh-CN" sz="16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1600" b="1" baseline="300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8         </a:t>
            </a:r>
            <a:r>
              <a:rPr kumimoji="1" lang="en-US" altLang="zh-CN" sz="16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1600" b="1" baseline="300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9         </a:t>
            </a:r>
            <a:r>
              <a:rPr kumimoji="1" lang="en-US" altLang="zh-CN" sz="16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1600" b="1" baseline="300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        </a:t>
            </a:r>
            <a:r>
              <a:rPr kumimoji="1" lang="en-US" altLang="zh-CN" sz="16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1600" b="1" baseline="300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11      </a:t>
            </a:r>
            <a:r>
              <a:rPr kumimoji="1" lang="en-US" altLang="zh-CN" sz="16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1600" b="1" baseline="300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12       </a:t>
            </a:r>
            <a:r>
              <a:rPr kumimoji="1" lang="en-US" altLang="zh-CN" sz="16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1600" b="1" baseline="300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13       </a:t>
            </a:r>
            <a:r>
              <a:rPr kumimoji="1" lang="en-US" altLang="zh-CN" sz="16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1600" b="1" baseline="300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14       </a:t>
            </a:r>
            <a:r>
              <a:rPr kumimoji="1" lang="en-US" altLang="zh-CN" sz="16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1600" b="1" baseline="300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15       </a:t>
            </a:r>
            <a:r>
              <a:rPr kumimoji="1" lang="en-US" altLang="zh-CN" sz="16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1600" b="1" baseline="300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16</a:t>
            </a:r>
            <a:endParaRPr kumimoji="1" lang="en-US" altLang="zh-CN" sz="1600" b="1">
              <a:solidFill>
                <a:srgbClr val="333399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4" name="Text Box 94">
            <a:extLst>
              <a:ext uri="{FF2B5EF4-FFF2-40B4-BE49-F238E27FC236}">
                <a16:creationId xmlns:a16="http://schemas.microsoft.com/office/drawing/2014/main" id="{1C94B279-B35D-43AC-ADEE-E61FC761A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9265" y="1805175"/>
            <a:ext cx="7645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6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1600" b="1" baseline="300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         </a:t>
            </a:r>
            <a:r>
              <a:rPr kumimoji="1" lang="en-US" altLang="zh-CN" sz="16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1600" b="1" baseline="300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         </a:t>
            </a:r>
            <a:r>
              <a:rPr kumimoji="1" lang="en-US" altLang="zh-CN" sz="16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1600" b="1" baseline="300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         </a:t>
            </a:r>
            <a:r>
              <a:rPr kumimoji="1" lang="en-US" altLang="zh-CN" sz="16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1600" b="1" baseline="300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6         </a:t>
            </a:r>
            <a:r>
              <a:rPr kumimoji="1" lang="en-US" altLang="zh-CN" sz="16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1600" b="1" baseline="300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8         </a:t>
            </a:r>
            <a:r>
              <a:rPr kumimoji="1" lang="en-US" altLang="zh-CN" sz="16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1600" b="1" baseline="300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        </a:t>
            </a:r>
            <a:r>
              <a:rPr kumimoji="1" lang="en-US" altLang="zh-CN" sz="16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1600" b="1" baseline="300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12        </a:t>
            </a:r>
            <a:r>
              <a:rPr kumimoji="1" lang="en-US" altLang="zh-CN" sz="16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1600" b="1" baseline="300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14       </a:t>
            </a:r>
            <a:r>
              <a:rPr kumimoji="1" lang="en-US" altLang="zh-CN" sz="16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1600" b="1" baseline="300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16       </a:t>
            </a:r>
            <a:r>
              <a:rPr kumimoji="1" lang="en-US" altLang="zh-CN" sz="16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1600" b="1" baseline="300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18       </a:t>
            </a:r>
            <a:r>
              <a:rPr kumimoji="1" lang="en-US" altLang="zh-CN" sz="16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1600" b="1" baseline="300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20       </a:t>
            </a:r>
            <a:r>
              <a:rPr kumimoji="1" lang="en-US" altLang="zh-CN" sz="16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1600" b="1" baseline="300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22       </a:t>
            </a:r>
            <a:r>
              <a:rPr kumimoji="1" lang="en-US" altLang="zh-CN" sz="16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1600" b="1" baseline="3000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24</a:t>
            </a:r>
            <a:endParaRPr kumimoji="1" lang="en-US" altLang="zh-CN" sz="1600" b="1">
              <a:solidFill>
                <a:srgbClr val="333399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5" name="Line 95">
            <a:extLst>
              <a:ext uri="{FF2B5EF4-FFF2-40B4-BE49-F238E27FC236}">
                <a16:creationId xmlns:a16="http://schemas.microsoft.com/office/drawing/2014/main" id="{BF3F5751-5A01-4F29-8DC2-249B9BD5F9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0265" y="4653150"/>
            <a:ext cx="35718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76" name="Rectangle 96">
            <a:extLst>
              <a:ext uri="{FF2B5EF4-FFF2-40B4-BE49-F238E27FC236}">
                <a16:creationId xmlns:a16="http://schemas.microsoft.com/office/drawing/2014/main" id="{83320A1B-62CE-4BC2-B48B-4E52C0FBD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7265" y="4122925"/>
            <a:ext cx="84138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sz="1400"/>
          </a:p>
        </p:txBody>
      </p:sp>
      <p:sp>
        <p:nvSpPr>
          <p:cNvPr id="77" name="Text Box 46">
            <a:extLst>
              <a:ext uri="{FF2B5EF4-FFF2-40B4-BE49-F238E27FC236}">
                <a16:creationId xmlns:a16="http://schemas.microsoft.com/office/drawing/2014/main" id="{DF633135-DF5D-416F-A6C7-5FACAB2AB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7050" y="4201430"/>
            <a:ext cx="646331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en-US" altLang="zh-CN" sz="1200" dirty="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zh-CN" altLang="en-US" sz="1200" dirty="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调频</a:t>
            </a:r>
          </a:p>
          <a:p>
            <a:pPr algn="l">
              <a:lnSpc>
                <a:spcPct val="90000"/>
              </a:lnSpc>
            </a:pPr>
            <a:r>
              <a:rPr kumimoji="1" lang="zh-CN" altLang="en-US" sz="1200" dirty="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无线电</a:t>
            </a:r>
          </a:p>
        </p:txBody>
      </p:sp>
      <p:sp>
        <p:nvSpPr>
          <p:cNvPr id="78" name="Text Box 97">
            <a:extLst>
              <a:ext uri="{FF2B5EF4-FFF2-40B4-BE49-F238E27FC236}">
                <a16:creationId xmlns:a16="http://schemas.microsoft.com/office/drawing/2014/main" id="{DFDBCC01-EB18-404F-8C01-3BE837773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557" y="4193492"/>
            <a:ext cx="684803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en-US" altLang="zh-CN" sz="1200" dirty="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zh-CN" altLang="en-US" sz="1200" dirty="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移动</a:t>
            </a:r>
          </a:p>
          <a:p>
            <a:pPr algn="l">
              <a:lnSpc>
                <a:spcPct val="90000"/>
              </a:lnSpc>
            </a:pPr>
            <a:r>
              <a:rPr kumimoji="1" lang="zh-CN" altLang="en-US" sz="1200" dirty="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无线电 </a:t>
            </a:r>
          </a:p>
        </p:txBody>
      </p:sp>
    </p:spTree>
    <p:extLst>
      <p:ext uri="{BB962C8B-B14F-4D97-AF65-F5344CB8AC3E}">
        <p14:creationId xmlns:p14="http://schemas.microsoft.com/office/powerpoint/2010/main" val="1613480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0B39D6-67AD-4B9E-91E8-9AF3EBD5F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双绞线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63C338-8A75-4CE1-8B6C-CF78BD972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E0508F-4A15-4512-9C72-C1E124214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3982" y="1461443"/>
            <a:ext cx="4727816" cy="20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 descr="Rj45plug-8p8c">
            <a:extLst>
              <a:ext uri="{FF2B5EF4-FFF2-40B4-BE49-F238E27FC236}">
                <a16:creationId xmlns:a16="http://schemas.microsoft.com/office/drawing/2014/main" id="{36FF8DC0-04EC-454A-B846-AF94013DC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480" y="4138005"/>
            <a:ext cx="1665711" cy="1792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1" descr="File:UTP cable.jpg">
            <a:extLst>
              <a:ext uri="{FF2B5EF4-FFF2-40B4-BE49-F238E27FC236}">
                <a16:creationId xmlns:a16="http://schemas.microsoft.com/office/drawing/2014/main" id="{B0A4D9EB-CE55-4B88-BD87-7BD1066CB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044" y="4208231"/>
            <a:ext cx="2354864" cy="1921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3" descr="File:CAT-5E-Wall Outlet.jpg">
            <a:extLst>
              <a:ext uri="{FF2B5EF4-FFF2-40B4-BE49-F238E27FC236}">
                <a16:creationId xmlns:a16="http://schemas.microsoft.com/office/drawing/2014/main" id="{D71844DD-8893-4FC0-9604-6914F673F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094" y="4138005"/>
            <a:ext cx="1958035" cy="1792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41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F62907-3AC9-46C8-8D85-8873B641A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双绞线类型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C0231F-C7DD-4674-905C-A257DC4A2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UTP</a:t>
            </a:r>
            <a:r>
              <a:rPr lang="zh-CN" altLang="en-US" dirty="0"/>
              <a:t>非屏蔽双绞线</a:t>
            </a:r>
          </a:p>
          <a:p>
            <a:r>
              <a:rPr lang="zh-CN" altLang="en-US" dirty="0"/>
              <a:t>屏蔽双绞线</a:t>
            </a:r>
          </a:p>
          <a:p>
            <a:pPr lvl="1"/>
            <a:r>
              <a:rPr lang="en-US" altLang="zh-CN" dirty="0"/>
              <a:t>STP</a:t>
            </a:r>
          </a:p>
          <a:p>
            <a:pPr lvl="1"/>
            <a:r>
              <a:rPr lang="en-US" altLang="zh-CN" dirty="0"/>
              <a:t>S/UTP</a:t>
            </a:r>
          </a:p>
          <a:p>
            <a:pPr lvl="1"/>
            <a:r>
              <a:rPr lang="en-US" altLang="zh-CN" dirty="0"/>
              <a:t>S/STP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773139-0442-4699-8AAD-333E0B27F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defRPr/>
              </a:pPr>
              <a:t>9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5" descr="220px-STP-cable">
            <a:extLst>
              <a:ext uri="{FF2B5EF4-FFF2-40B4-BE49-F238E27FC236}">
                <a16:creationId xmlns:a16="http://schemas.microsoft.com/office/drawing/2014/main" id="{1E3CE9B2-E9E6-419C-B40F-30842EBB9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206" y="3717032"/>
            <a:ext cx="209550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7" descr="220px-S-UTP-cable">
            <a:extLst>
              <a:ext uri="{FF2B5EF4-FFF2-40B4-BE49-F238E27FC236}">
                <a16:creationId xmlns:a16="http://schemas.microsoft.com/office/drawing/2014/main" id="{85486B89-EE8D-4F9D-8CD9-9F8948C1D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056" y="3717032"/>
            <a:ext cx="209550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9" descr="220px-S-STP-cable">
            <a:extLst>
              <a:ext uri="{FF2B5EF4-FFF2-40B4-BE49-F238E27FC236}">
                <a16:creationId xmlns:a16="http://schemas.microsoft.com/office/drawing/2014/main" id="{26312272-42A0-4237-974A-712B543EC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3881" y="3717032"/>
            <a:ext cx="209550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1" descr="220px-UTP-cable">
            <a:extLst>
              <a:ext uri="{FF2B5EF4-FFF2-40B4-BE49-F238E27FC236}">
                <a16:creationId xmlns:a16="http://schemas.microsoft.com/office/drawing/2014/main" id="{F3F69A9A-23CB-4C89-A896-6C283B11B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3544" y="3717032"/>
            <a:ext cx="209550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0596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057FD3-2789-4C79-8545-B4A359F59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连线标准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6E22C8-2C63-4506-AA2D-AA158B163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EIA/TIA</a:t>
            </a:r>
            <a:r>
              <a:rPr lang="zh-CN" altLang="en-US" dirty="0"/>
              <a:t>布线标准中规定了双绞线的两种线序</a:t>
            </a:r>
            <a:r>
              <a:rPr lang="en-US" altLang="zh-CN" dirty="0"/>
              <a:t>568A</a:t>
            </a:r>
            <a:r>
              <a:rPr lang="zh-CN" altLang="en-US" dirty="0"/>
              <a:t>与</a:t>
            </a:r>
            <a:r>
              <a:rPr lang="en-US" altLang="zh-CN" dirty="0"/>
              <a:t>568B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C44EE3-41BD-4759-AE58-0746D66CD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defRPr/>
              </a:pPr>
              <a:t>10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5" descr="568-A">
            <a:extLst>
              <a:ext uri="{FF2B5EF4-FFF2-40B4-BE49-F238E27FC236}">
                <a16:creationId xmlns:a16="http://schemas.microsoft.com/office/drawing/2014/main" id="{0873A1DD-B727-4FC2-923D-1F8D80152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2160588"/>
            <a:ext cx="1096962" cy="3278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7" descr="568-B">
            <a:extLst>
              <a:ext uri="{FF2B5EF4-FFF2-40B4-BE49-F238E27FC236}">
                <a16:creationId xmlns:a16="http://schemas.microsoft.com/office/drawing/2014/main" id="{B8391FFF-C099-4DED-B862-71066B18E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51" y="2162174"/>
            <a:ext cx="1144587" cy="328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Group 197">
            <a:extLst>
              <a:ext uri="{FF2B5EF4-FFF2-40B4-BE49-F238E27FC236}">
                <a16:creationId xmlns:a16="http://schemas.microsoft.com/office/drawing/2014/main" id="{435C4940-C231-4C94-ABEA-8D19044E15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1459959"/>
              </p:ext>
            </p:extLst>
          </p:nvPr>
        </p:nvGraphicFramePr>
        <p:xfrm>
          <a:off x="3071813" y="1981199"/>
          <a:ext cx="2665413" cy="3565528"/>
        </p:xfrm>
        <a:graphic>
          <a:graphicData uri="http://schemas.openxmlformats.org/drawingml/2006/table">
            <a:tbl>
              <a:tblPr/>
              <a:tblGrid>
                <a:gridCol w="576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1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568A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Pair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Wire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88">
                <a:tc row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White/Blue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188">
                <a:tc row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White/Orange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1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Orange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 row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White/Green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1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Green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 row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White/Brown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1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Brown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8" name="Group 198">
            <a:extLst>
              <a:ext uri="{FF2B5EF4-FFF2-40B4-BE49-F238E27FC236}">
                <a16:creationId xmlns:a16="http://schemas.microsoft.com/office/drawing/2014/main" id="{32EBCA5E-02E4-4014-8EED-3191036E3B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811880"/>
              </p:ext>
            </p:extLst>
          </p:nvPr>
        </p:nvGraphicFramePr>
        <p:xfrm>
          <a:off x="6096000" y="1981199"/>
          <a:ext cx="2665412" cy="3565528"/>
        </p:xfrm>
        <a:graphic>
          <a:graphicData uri="http://schemas.openxmlformats.org/drawingml/2006/table">
            <a:tbl>
              <a:tblPr/>
              <a:tblGrid>
                <a:gridCol w="576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1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568B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Pair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Wire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88">
                <a:tc row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White/Blue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188">
                <a:tc row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White/Green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1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Green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 row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White/Orange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1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Orange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 row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White/Brown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1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Brown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1823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A8ADB-7E13-4946-9C28-94108B16A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UTP</a:t>
            </a:r>
            <a:r>
              <a:rPr lang="zh-CN" altLang="en-US" dirty="0"/>
              <a:t>插座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EB09BA-ADC2-4EC1-982F-9BEE3A51D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  <p:pic>
        <p:nvPicPr>
          <p:cNvPr id="5" name="Picture 4" descr="ethernet_standards">
            <a:extLst>
              <a:ext uri="{FF2B5EF4-FFF2-40B4-BE49-F238E27FC236}">
                <a16:creationId xmlns:a16="http://schemas.microsoft.com/office/drawing/2014/main" id="{0128CF94-6445-411E-90D2-70FAEDC90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1957" y="1391770"/>
            <a:ext cx="6668086" cy="4567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4279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B2D73B-4BB9-473D-92B8-572EC50B6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双绞线连接器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6E5459-1441-4380-9583-2C0A8A597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8P8C</a:t>
            </a:r>
            <a:r>
              <a:rPr lang="zh-CN" altLang="en-US" dirty="0"/>
              <a:t>，也称之为</a:t>
            </a:r>
            <a:r>
              <a:rPr lang="en-US" altLang="zh-CN" dirty="0"/>
              <a:t>RJ45</a:t>
            </a:r>
            <a:r>
              <a:rPr lang="zh-CN" altLang="en-US" dirty="0"/>
              <a:t>，是以太网使用双绞线连接时常用的连接器插头。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8P8C</a:t>
            </a:r>
            <a:r>
              <a:rPr lang="zh-CN" altLang="en-US" dirty="0"/>
              <a:t>：</a:t>
            </a:r>
          </a:p>
          <a:p>
            <a:pPr lvl="1"/>
            <a:r>
              <a:rPr lang="en-US" altLang="zh-CN" dirty="0"/>
              <a:t>8</a:t>
            </a:r>
            <a:r>
              <a:rPr lang="zh-CN" altLang="en-US" dirty="0"/>
              <a:t>个位置</a:t>
            </a:r>
            <a:r>
              <a:rPr lang="en-US" altLang="zh-CN" dirty="0"/>
              <a:t>(Position)</a:t>
            </a:r>
          </a:p>
          <a:p>
            <a:pPr lvl="1"/>
            <a:r>
              <a:rPr lang="en-US" altLang="zh-CN" dirty="0"/>
              <a:t>8</a:t>
            </a:r>
            <a:r>
              <a:rPr lang="zh-CN" altLang="en-US" dirty="0"/>
              <a:t>个触点</a:t>
            </a:r>
            <a:r>
              <a:rPr lang="en-US" altLang="zh-CN" dirty="0"/>
              <a:t>(Contact)</a:t>
            </a:r>
          </a:p>
          <a:p>
            <a:r>
              <a:rPr lang="zh-CN" altLang="en-US" dirty="0"/>
              <a:t>在百兆以太网中，仅使用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  <a:r>
              <a:rPr lang="zh-CN" altLang="en-US" dirty="0"/>
              <a:t>四根线。</a:t>
            </a:r>
          </a:p>
          <a:p>
            <a:r>
              <a:rPr lang="zh-CN" altLang="en-US" dirty="0"/>
              <a:t>差分信号传输方式，减少电磁干扰，其中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为</a:t>
            </a:r>
            <a:r>
              <a:rPr lang="en-US" altLang="zh-CN" dirty="0"/>
              <a:t>TX(</a:t>
            </a:r>
            <a:r>
              <a:rPr lang="zh-CN" altLang="en-US" dirty="0"/>
              <a:t>发送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  <a:r>
              <a:rPr lang="zh-CN" altLang="en-US" dirty="0"/>
              <a:t>为</a:t>
            </a:r>
            <a:r>
              <a:rPr lang="en-US" altLang="zh-CN" dirty="0"/>
              <a:t>RX(</a:t>
            </a:r>
            <a:r>
              <a:rPr lang="zh-CN" altLang="en-US" dirty="0"/>
              <a:t>接收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在千兆以太网或者以太网供电中，全部的四对都被使用。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45C629-B1F9-4ACA-9614-C8C561047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defRPr/>
              </a:pPr>
              <a:t>12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5713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4CC159-22C8-4BFD-8BD2-E1E28DC5A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直连线与交叉线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552CE7-3BA5-4FCF-A2D4-37373DEC4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直连线就是两端相同，同为</a:t>
            </a:r>
            <a:r>
              <a:rPr lang="en-US" altLang="zh-CN" dirty="0"/>
              <a:t>EIA-568-A</a:t>
            </a:r>
            <a:r>
              <a:rPr lang="zh-CN" altLang="en-US" dirty="0"/>
              <a:t>或者同为</a:t>
            </a:r>
            <a:r>
              <a:rPr lang="en-US" altLang="zh-CN" dirty="0"/>
              <a:t>EIA-568-B</a:t>
            </a:r>
          </a:p>
          <a:p>
            <a:r>
              <a:rPr lang="zh-CN" altLang="en-US" dirty="0"/>
              <a:t>交叉线就是一端使用</a:t>
            </a:r>
            <a:r>
              <a:rPr lang="en-US" altLang="zh-CN" dirty="0"/>
              <a:t>EIA-568-A</a:t>
            </a:r>
            <a:r>
              <a:rPr lang="zh-CN" altLang="en-US" dirty="0"/>
              <a:t>，另一端使用</a:t>
            </a:r>
            <a:r>
              <a:rPr lang="en-US" altLang="zh-CN" dirty="0"/>
              <a:t>EIA-568-B</a:t>
            </a:r>
            <a:r>
              <a:rPr lang="zh-CN" altLang="en-US" dirty="0"/>
              <a:t>的连接方法。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EBEA6D-9C92-4052-9324-B2427DC06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defRPr/>
              </a:pPr>
              <a:t>13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6595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A889BE-FB13-48A7-BD01-32655904F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双绞线参数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A053D3-A751-4FAB-B00A-C04E9EFF4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429" y="6035751"/>
            <a:ext cx="11523133" cy="835170"/>
          </a:xfrm>
        </p:spPr>
        <p:txBody>
          <a:bodyPr/>
          <a:lstStyle/>
          <a:p>
            <a:r>
              <a:rPr lang="zh-CN" altLang="en-US" dirty="0"/>
              <a:t>传输速率 = lanes × bits per hertz × spectral bandwidth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8E02C7-B78C-41FF-A7C0-462512D4B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defRPr/>
              </a:pPr>
              <a:t>14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5F93248-EBD3-4A40-A094-4D1BAFF84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762393"/>
              </p:ext>
            </p:extLst>
          </p:nvPr>
        </p:nvGraphicFramePr>
        <p:xfrm>
          <a:off x="119336" y="1026582"/>
          <a:ext cx="11881320" cy="4804836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414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5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99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8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56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07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899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2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4249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56706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 dirty="0">
                          <a:effectLst/>
                        </a:rPr>
                        <a:t>Name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194009" marT="29563" marB="29563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Standard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194009" marT="29563" marB="29563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kern="0">
                          <a:effectLst/>
                        </a:rPr>
                        <a:t>Speed</a:t>
                      </a:r>
                      <a:br>
                        <a:rPr lang="en-US" sz="1400" kern="0">
                          <a:effectLst/>
                        </a:rPr>
                      </a:br>
                      <a:r>
                        <a:rPr lang="en-US" sz="1400" kern="0">
                          <a:effectLst/>
                        </a:rPr>
                        <a:t>(Mbit/s)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194009" marT="29563" marB="29563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kern="0">
                          <a:effectLst/>
                        </a:rPr>
                        <a:t>Pairs</a:t>
                      </a:r>
                      <a:br>
                        <a:rPr lang="en-US" sz="1400" kern="0">
                          <a:effectLst/>
                        </a:rPr>
                      </a:br>
                      <a:r>
                        <a:rPr lang="en-US" sz="1400" kern="0">
                          <a:effectLst/>
                        </a:rPr>
                        <a:t>required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194009" marT="29563" marB="29563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kern="0">
                          <a:effectLst/>
                        </a:rPr>
                        <a:t>Lanes</a:t>
                      </a:r>
                      <a:br>
                        <a:rPr lang="en-US" sz="1400" kern="0">
                          <a:effectLst/>
                        </a:rPr>
                      </a:br>
                      <a:r>
                        <a:rPr lang="en-US" sz="1400" kern="0">
                          <a:effectLst/>
                        </a:rPr>
                        <a:t>per</a:t>
                      </a:r>
                      <a:br>
                        <a:rPr lang="en-US" sz="1400" kern="0">
                          <a:effectLst/>
                        </a:rPr>
                      </a:br>
                      <a:r>
                        <a:rPr lang="en-US" sz="1400" kern="0">
                          <a:effectLst/>
                        </a:rPr>
                        <a:t>direction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194009" marT="29563" marB="29563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kern="0">
                          <a:effectLst/>
                        </a:rPr>
                        <a:t>Bits</a:t>
                      </a:r>
                      <a:br>
                        <a:rPr lang="en-US" sz="1400" kern="0">
                          <a:effectLst/>
                        </a:rPr>
                      </a:br>
                      <a:r>
                        <a:rPr lang="en-US" sz="1400" kern="0">
                          <a:effectLst/>
                        </a:rPr>
                        <a:t>per</a:t>
                      </a:r>
                      <a:br>
                        <a:rPr lang="en-US" sz="1400" kern="0">
                          <a:effectLst/>
                        </a:rPr>
                      </a:br>
                      <a:r>
                        <a:rPr lang="en-US" sz="1400" kern="0">
                          <a:effectLst/>
                        </a:rPr>
                        <a:t>hertz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194009" marT="29563" marB="29563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u="none" strike="noStrike" kern="0" dirty="0">
                          <a:effectLst/>
                        </a:rPr>
                        <a:t>Line code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194009" marT="29563" marB="29563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u="none" strike="noStrike" kern="0" dirty="0">
                          <a:effectLst/>
                        </a:rPr>
                        <a:t>Symbol</a:t>
                      </a:r>
                      <a:br>
                        <a:rPr lang="en-US" sz="1400" u="none" strike="noStrike" kern="0" dirty="0">
                          <a:effectLst/>
                        </a:rPr>
                      </a:br>
                      <a:r>
                        <a:rPr lang="en-US" sz="1400" u="none" strike="noStrike" kern="0" dirty="0">
                          <a:effectLst/>
                        </a:rPr>
                        <a:t>rate</a:t>
                      </a:r>
                      <a:r>
                        <a:rPr lang="en-US" sz="1400" kern="0" dirty="0">
                          <a:effectLst/>
                        </a:rPr>
                        <a:t> per</a:t>
                      </a:r>
                      <a:br>
                        <a:rPr lang="en-US" sz="1400" kern="0" dirty="0">
                          <a:effectLst/>
                        </a:rPr>
                      </a:br>
                      <a:r>
                        <a:rPr lang="en-US" sz="1400" kern="0" dirty="0">
                          <a:effectLst/>
                        </a:rPr>
                        <a:t>lane</a:t>
                      </a:r>
                      <a:br>
                        <a:rPr lang="en-US" sz="1400" kern="0" dirty="0">
                          <a:effectLst/>
                        </a:rPr>
                      </a:br>
                      <a:r>
                        <a:rPr lang="en-US" sz="1400" kern="0" dirty="0">
                          <a:effectLst/>
                        </a:rPr>
                        <a:t>(</a:t>
                      </a:r>
                      <a:r>
                        <a:rPr lang="en-US" sz="1400" kern="0" dirty="0" err="1">
                          <a:effectLst/>
                        </a:rPr>
                        <a:t>MBd</a:t>
                      </a:r>
                      <a:r>
                        <a:rPr lang="en-US" sz="1400" kern="0" dirty="0">
                          <a:effectLst/>
                        </a:rPr>
                        <a:t>)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194009" marT="29563" marB="29563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kern="0">
                          <a:effectLst/>
                        </a:rPr>
                        <a:t>BW</a:t>
                      </a:r>
                      <a:br>
                        <a:rPr lang="en-US" sz="1400" kern="0">
                          <a:effectLst/>
                        </a:rPr>
                      </a:br>
                      <a:r>
                        <a:rPr lang="en-US" sz="1400" kern="0">
                          <a:effectLst/>
                        </a:rPr>
                        <a:t>(MHz)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194009" marT="29563" marB="29563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kern="0">
                          <a:effectLst/>
                        </a:rPr>
                        <a:t>Max</a:t>
                      </a:r>
                      <a:br>
                        <a:rPr lang="en-US" sz="1400" kern="0">
                          <a:effectLst/>
                        </a:rPr>
                      </a:br>
                      <a:r>
                        <a:rPr lang="en-US" sz="1400" kern="0">
                          <a:effectLst/>
                        </a:rPr>
                        <a:t>distance</a:t>
                      </a:r>
                      <a:br>
                        <a:rPr lang="en-US" sz="1400" kern="0">
                          <a:effectLst/>
                        </a:rPr>
                      </a:br>
                      <a:r>
                        <a:rPr lang="en-US" sz="1400" kern="0">
                          <a:effectLst/>
                        </a:rPr>
                        <a:t>(m)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194009" marT="29563" marB="29563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kern="0">
                          <a:effectLst/>
                        </a:rPr>
                        <a:t>Cable</a:t>
                      </a:r>
                      <a:br>
                        <a:rPr lang="en-US" sz="1400" kern="0">
                          <a:effectLst/>
                        </a:rPr>
                      </a:br>
                      <a:r>
                        <a:rPr lang="en-US" sz="1400" kern="0">
                          <a:effectLst/>
                        </a:rPr>
                        <a:t>req.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194009" marT="29563" marB="29563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kern="0">
                          <a:effectLst/>
                        </a:rPr>
                        <a:t>Cable</a:t>
                      </a:r>
                      <a:br>
                        <a:rPr lang="en-US" sz="1400" kern="0">
                          <a:effectLst/>
                        </a:rPr>
                      </a:br>
                      <a:r>
                        <a:rPr lang="en-US" sz="1400" kern="0">
                          <a:effectLst/>
                        </a:rPr>
                        <a:t>rating</a:t>
                      </a:r>
                      <a:br>
                        <a:rPr lang="en-US" sz="1400" kern="0">
                          <a:effectLst/>
                        </a:rPr>
                      </a:br>
                      <a:r>
                        <a:rPr lang="en-US" sz="1400" kern="0">
                          <a:effectLst/>
                        </a:rPr>
                        <a:t>(MHz)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194009" marT="29563" marB="2956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909"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10BASE-T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 dirty="0">
                          <a:effectLst/>
                        </a:rPr>
                        <a:t>802.3i-1990</a:t>
                      </a:r>
                      <a:br>
                        <a:rPr lang="en-US" sz="1600" kern="0" dirty="0">
                          <a:effectLst/>
                        </a:rPr>
                      </a:br>
                      <a:r>
                        <a:rPr lang="en-US" sz="1400" kern="0" dirty="0">
                          <a:effectLst/>
                        </a:rPr>
                        <a:t>(CL14)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10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2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u="none" strike="noStrike" kern="0" dirty="0">
                          <a:effectLst/>
                        </a:rPr>
                        <a:t>PE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10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10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100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u="none" strike="noStrike" kern="0" dirty="0">
                          <a:solidFill>
                            <a:schemeClr val="tx1"/>
                          </a:solidFill>
                          <a:effectLst/>
                        </a:rPr>
                        <a:t>Cat 3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16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005"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u="none" strike="noStrike" kern="0" dirty="0">
                          <a:effectLst/>
                        </a:rPr>
                        <a:t>100BASE-TX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802.3u-1995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100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2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2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3.2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u="none" strike="noStrike" kern="0" dirty="0">
                          <a:effectLst/>
                        </a:rPr>
                        <a:t>4B5B</a:t>
                      </a:r>
                      <a:br>
                        <a:rPr lang="en-US" sz="1600" kern="0" dirty="0">
                          <a:effectLst/>
                        </a:rPr>
                      </a:br>
                      <a:r>
                        <a:rPr lang="en-US" sz="1600" kern="0" dirty="0">
                          <a:effectLst/>
                        </a:rPr>
                        <a:t>MLT-3</a:t>
                      </a:r>
                      <a:br>
                        <a:rPr lang="en-US" sz="1600" kern="0" dirty="0">
                          <a:effectLst/>
                        </a:rPr>
                      </a:br>
                      <a:r>
                        <a:rPr lang="en-US" sz="1600" u="none" strike="noStrike" kern="0" dirty="0">
                          <a:effectLst/>
                        </a:rPr>
                        <a:t>NRZ-I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125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31.25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100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u="none" strike="noStrike" kern="0" dirty="0">
                          <a:solidFill>
                            <a:schemeClr val="tx1"/>
                          </a:solidFill>
                          <a:effectLst/>
                        </a:rPr>
                        <a:t>Cat 5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100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046"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u="none" strike="noStrike" kern="0" dirty="0">
                          <a:effectLst/>
                        </a:rPr>
                        <a:t>1000BASE‑T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802.3ab-1999</a:t>
                      </a:r>
                      <a:br>
                        <a:rPr lang="en-US" sz="1600" kern="0">
                          <a:effectLst/>
                        </a:rPr>
                      </a:br>
                      <a:r>
                        <a:rPr lang="en-US" sz="1400" kern="0">
                          <a:effectLst/>
                        </a:rPr>
                        <a:t>(CL40)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1000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4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4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4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TCM</a:t>
                      </a:r>
                      <a:br>
                        <a:rPr lang="en-US" sz="1600" kern="0">
                          <a:effectLst/>
                        </a:rPr>
                      </a:br>
                      <a:r>
                        <a:rPr lang="en-US" sz="1600" kern="0">
                          <a:effectLst/>
                        </a:rPr>
                        <a:t>4D-PAM-5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125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 dirty="0">
                          <a:effectLst/>
                        </a:rPr>
                        <a:t>62.5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100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u="none" strike="noStrike" kern="0" dirty="0">
                          <a:solidFill>
                            <a:schemeClr val="tx1"/>
                          </a:solidFill>
                          <a:effectLst/>
                        </a:rPr>
                        <a:t>Cat 5e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100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005"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u="none" strike="noStrike" kern="0" dirty="0">
                          <a:effectLst/>
                        </a:rPr>
                        <a:t>2.5GBASE-T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802.3bz-2016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2500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4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4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6.25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64B65B</a:t>
                      </a:r>
                      <a:br>
                        <a:rPr lang="en-US" sz="1600" kern="0">
                          <a:effectLst/>
                        </a:rPr>
                      </a:br>
                      <a:r>
                        <a:rPr lang="en-US" sz="1600" kern="0">
                          <a:effectLst/>
                        </a:rPr>
                        <a:t>PAM-16</a:t>
                      </a:r>
                      <a:br>
                        <a:rPr lang="en-US" sz="1600" kern="0">
                          <a:effectLst/>
                        </a:rPr>
                      </a:br>
                      <a:r>
                        <a:rPr lang="en-US" sz="1600" kern="0">
                          <a:effectLst/>
                        </a:rPr>
                        <a:t>128-DSQ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800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100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100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u="none" strike="noStrike" kern="0" dirty="0">
                          <a:solidFill>
                            <a:schemeClr val="tx1"/>
                          </a:solidFill>
                          <a:effectLst/>
                        </a:rPr>
                        <a:t>Cat 5e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100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005"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u="none" strike="noStrike" kern="0" dirty="0">
                          <a:effectLst/>
                        </a:rPr>
                        <a:t>5GBASE-T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802.3bz-2016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5000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4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4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6.25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64B65B</a:t>
                      </a:r>
                      <a:br>
                        <a:rPr lang="en-US" sz="1600" kern="0">
                          <a:effectLst/>
                        </a:rPr>
                      </a:br>
                      <a:r>
                        <a:rPr lang="en-US" sz="1600" kern="0">
                          <a:effectLst/>
                        </a:rPr>
                        <a:t>PAM-16</a:t>
                      </a:r>
                      <a:br>
                        <a:rPr lang="en-US" sz="1600" kern="0">
                          <a:effectLst/>
                        </a:rPr>
                      </a:br>
                      <a:r>
                        <a:rPr lang="en-US" sz="1600" kern="0">
                          <a:effectLst/>
                        </a:rPr>
                        <a:t>128-DSQ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800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200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>
                          <a:effectLst/>
                        </a:rPr>
                        <a:t>100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u="none" strike="noStrike" kern="0" dirty="0">
                          <a:solidFill>
                            <a:schemeClr val="tx1"/>
                          </a:solidFill>
                          <a:effectLst/>
                        </a:rPr>
                        <a:t>Cat 6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kern="0" dirty="0">
                          <a:effectLst/>
                        </a:rPr>
                        <a:t>250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127" marR="59127" marT="29563" marB="2956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1444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53FB60-2667-4726-A8AE-9F136AF4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同轴电缆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C3DD7E-4E0B-46BF-B23A-A164BE879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用于总线网络的拓扑结构</a:t>
            </a:r>
          </a:p>
          <a:p>
            <a:r>
              <a:rPr lang="zh-CN" altLang="en-US" dirty="0"/>
              <a:t>有两种类型：</a:t>
            </a:r>
          </a:p>
          <a:p>
            <a:pPr lvl="1"/>
            <a:r>
              <a:rPr lang="zh-CN" altLang="en-US" dirty="0"/>
              <a:t>细缆</a:t>
            </a:r>
            <a:r>
              <a:rPr lang="en-US" altLang="zh-CN" dirty="0"/>
              <a:t>(10Base2)</a:t>
            </a:r>
          </a:p>
          <a:p>
            <a:pPr lvl="1"/>
            <a:r>
              <a:rPr lang="zh-CN" altLang="en-US" dirty="0"/>
              <a:t>粗缆</a:t>
            </a:r>
            <a:r>
              <a:rPr lang="en-US" altLang="zh-CN" dirty="0"/>
              <a:t>(10Base5)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096DD4-E3E7-43BB-959F-846857C7D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defRPr/>
              </a:pPr>
              <a:t>15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54" descr="coaxial">
            <a:extLst>
              <a:ext uri="{FF2B5EF4-FFF2-40B4-BE49-F238E27FC236}">
                <a16:creationId xmlns:a16="http://schemas.microsoft.com/office/drawing/2014/main" id="{007721E7-9899-4014-8D2B-EDFE40B5E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4046" y="3713443"/>
            <a:ext cx="5184775" cy="98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43">
            <a:extLst>
              <a:ext uri="{FF2B5EF4-FFF2-40B4-BE49-F238E27FC236}">
                <a16:creationId xmlns:a16="http://schemas.microsoft.com/office/drawing/2014/main" id="{A7536310-36E8-49CA-8EDB-4C98D0CD8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909" y="2846669"/>
            <a:ext cx="1584325" cy="504825"/>
          </a:xfrm>
          <a:prstGeom prst="wedgeRoundRectCallout">
            <a:avLst>
              <a:gd name="adj1" fmla="val 45792"/>
              <a:gd name="adj2" fmla="val 186477"/>
              <a:gd name="adj3" fmla="val 16667"/>
            </a:avLst>
          </a:prstGeom>
          <a:solidFill>
            <a:srgbClr val="0066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内层导体</a:t>
            </a:r>
          </a:p>
        </p:txBody>
      </p:sp>
      <p:sp>
        <p:nvSpPr>
          <p:cNvPr id="7" name="AutoShape 45">
            <a:extLst>
              <a:ext uri="{FF2B5EF4-FFF2-40B4-BE49-F238E27FC236}">
                <a16:creationId xmlns:a16="http://schemas.microsoft.com/office/drawing/2014/main" id="{2575CDD6-9058-4B54-B996-8042A2B01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971" y="2775232"/>
            <a:ext cx="2663825" cy="574675"/>
          </a:xfrm>
          <a:prstGeom prst="wedgeRoundRectCallout">
            <a:avLst>
              <a:gd name="adj1" fmla="val -44519"/>
              <a:gd name="adj2" fmla="val 128731"/>
              <a:gd name="adj3" fmla="val 16667"/>
            </a:avLst>
          </a:prstGeom>
          <a:solidFill>
            <a:srgbClr val="0066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第三层网格导线</a:t>
            </a:r>
          </a:p>
        </p:txBody>
      </p:sp>
      <p:sp>
        <p:nvSpPr>
          <p:cNvPr id="8" name="AutoShape 46">
            <a:extLst>
              <a:ext uri="{FF2B5EF4-FFF2-40B4-BE49-F238E27FC236}">
                <a16:creationId xmlns:a16="http://schemas.microsoft.com/office/drawing/2014/main" id="{4C2FA27B-7A16-476A-8102-E852B67D1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784" y="5151719"/>
            <a:ext cx="2232025" cy="504825"/>
          </a:xfrm>
          <a:prstGeom prst="wedgeRoundRectCallout">
            <a:avLst>
              <a:gd name="adj1" fmla="val 43671"/>
              <a:gd name="adj2" fmla="val -182389"/>
              <a:gd name="adj3" fmla="val 16667"/>
            </a:avLst>
          </a:prstGeom>
          <a:solidFill>
            <a:srgbClr val="0066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第二层绝缘体</a:t>
            </a:r>
          </a:p>
        </p:txBody>
      </p:sp>
      <p:sp>
        <p:nvSpPr>
          <p:cNvPr id="9" name="AutoShape 47">
            <a:extLst>
              <a:ext uri="{FF2B5EF4-FFF2-40B4-BE49-F238E27FC236}">
                <a16:creationId xmlns:a16="http://schemas.microsoft.com/office/drawing/2014/main" id="{273B5BE1-399E-4820-8BD6-7B39F720B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7158" y="5224744"/>
            <a:ext cx="2519362" cy="504825"/>
          </a:xfrm>
          <a:prstGeom prst="wedgeRoundRectCallout">
            <a:avLst>
              <a:gd name="adj1" fmla="val -36579"/>
              <a:gd name="adj2" fmla="val -169495"/>
              <a:gd name="adj3" fmla="val 16667"/>
            </a:avLst>
          </a:prstGeom>
          <a:solidFill>
            <a:srgbClr val="0066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最外层塑料外皮</a:t>
            </a:r>
          </a:p>
        </p:txBody>
      </p:sp>
    </p:spTree>
    <p:extLst>
      <p:ext uri="{BB962C8B-B14F-4D97-AF65-F5344CB8AC3E}">
        <p14:creationId xmlns:p14="http://schemas.microsoft.com/office/powerpoint/2010/main" val="1239161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9579C3-18BD-4660-829F-2070D641F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光纤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9F1E77-E184-4C71-9FC8-31911B1EF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defRPr/>
              </a:pPr>
              <a:t>16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7198C55-321B-42AE-AD02-86C363674FF5}"/>
              </a:ext>
            </a:extLst>
          </p:cNvPr>
          <p:cNvGrpSpPr>
            <a:grpSpLocks/>
          </p:cNvGrpSpPr>
          <p:nvPr/>
        </p:nvGrpSpPr>
        <p:grpSpPr bwMode="auto">
          <a:xfrm>
            <a:off x="2351088" y="4149726"/>
            <a:ext cx="3871912" cy="1108075"/>
            <a:chOff x="986" y="2779"/>
            <a:chExt cx="1379" cy="397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BBF4AE40-7C15-4126-B323-47F0B547E7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2" y="2779"/>
              <a:ext cx="783" cy="397"/>
              <a:chOff x="1582" y="2779"/>
              <a:chExt cx="783" cy="397"/>
            </a:xfrm>
          </p:grpSpPr>
          <p:sp>
            <p:nvSpPr>
              <p:cNvPr id="17" name="Freeform 7">
                <a:extLst>
                  <a:ext uri="{FF2B5EF4-FFF2-40B4-BE49-F238E27FC236}">
                    <a16:creationId xmlns:a16="http://schemas.microsoft.com/office/drawing/2014/main" id="{45DAEB0F-3D3E-442F-ADA0-3B22C554B0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2" y="2779"/>
                <a:ext cx="783" cy="397"/>
              </a:xfrm>
              <a:custGeom>
                <a:avLst/>
                <a:gdLst>
                  <a:gd name="T0" fmla="*/ 0 w 134"/>
                  <a:gd name="T1" fmla="*/ 27 h 53"/>
                  <a:gd name="T2" fmla="*/ 21 w 134"/>
                  <a:gd name="T3" fmla="*/ 53 h 53"/>
                  <a:gd name="T4" fmla="*/ 113 w 134"/>
                  <a:gd name="T5" fmla="*/ 53 h 53"/>
                  <a:gd name="T6" fmla="*/ 134 w 134"/>
                  <a:gd name="T7" fmla="*/ 27 h 53"/>
                  <a:gd name="T8" fmla="*/ 113 w 134"/>
                  <a:gd name="T9" fmla="*/ 0 h 53"/>
                  <a:gd name="T10" fmla="*/ 21 w 134"/>
                  <a:gd name="T11" fmla="*/ 0 h 53"/>
                  <a:gd name="T12" fmla="*/ 0 w 134"/>
                  <a:gd name="T13" fmla="*/ 27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4" h="53">
                    <a:moveTo>
                      <a:pt x="0" y="27"/>
                    </a:moveTo>
                    <a:cubicBezTo>
                      <a:pt x="0" y="41"/>
                      <a:pt x="9" y="53"/>
                      <a:pt x="21" y="53"/>
                    </a:cubicBezTo>
                    <a:lnTo>
                      <a:pt x="113" y="53"/>
                    </a:lnTo>
                    <a:cubicBezTo>
                      <a:pt x="125" y="53"/>
                      <a:pt x="134" y="41"/>
                      <a:pt x="134" y="27"/>
                    </a:cubicBezTo>
                    <a:cubicBezTo>
                      <a:pt x="134" y="12"/>
                      <a:pt x="125" y="0"/>
                      <a:pt x="113" y="0"/>
                    </a:cubicBezTo>
                    <a:lnTo>
                      <a:pt x="21" y="0"/>
                    </a:lnTo>
                    <a:cubicBezTo>
                      <a:pt x="9" y="0"/>
                      <a:pt x="0" y="12"/>
                      <a:pt x="0" y="27"/>
                    </a:cubicBez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Freeform 8">
                <a:extLst>
                  <a:ext uri="{FF2B5EF4-FFF2-40B4-BE49-F238E27FC236}">
                    <a16:creationId xmlns:a16="http://schemas.microsoft.com/office/drawing/2014/main" id="{A34D2A4B-1EBD-4A86-BF16-DA16AA0C32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2" y="2779"/>
                <a:ext cx="783" cy="397"/>
              </a:xfrm>
              <a:custGeom>
                <a:avLst/>
                <a:gdLst>
                  <a:gd name="T0" fmla="*/ 0 w 134"/>
                  <a:gd name="T1" fmla="*/ 27 h 53"/>
                  <a:gd name="T2" fmla="*/ 21 w 134"/>
                  <a:gd name="T3" fmla="*/ 53 h 53"/>
                  <a:gd name="T4" fmla="*/ 113 w 134"/>
                  <a:gd name="T5" fmla="*/ 53 h 53"/>
                  <a:gd name="T6" fmla="*/ 134 w 134"/>
                  <a:gd name="T7" fmla="*/ 27 h 53"/>
                  <a:gd name="T8" fmla="*/ 113 w 134"/>
                  <a:gd name="T9" fmla="*/ 0 h 53"/>
                  <a:gd name="T10" fmla="*/ 21 w 134"/>
                  <a:gd name="T11" fmla="*/ 0 h 53"/>
                  <a:gd name="T12" fmla="*/ 0 w 134"/>
                  <a:gd name="T13" fmla="*/ 27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4" h="53">
                    <a:moveTo>
                      <a:pt x="0" y="27"/>
                    </a:moveTo>
                    <a:cubicBezTo>
                      <a:pt x="0" y="41"/>
                      <a:pt x="9" y="53"/>
                      <a:pt x="21" y="53"/>
                    </a:cubicBezTo>
                    <a:lnTo>
                      <a:pt x="113" y="53"/>
                    </a:lnTo>
                    <a:cubicBezTo>
                      <a:pt x="125" y="53"/>
                      <a:pt x="134" y="41"/>
                      <a:pt x="134" y="27"/>
                    </a:cubicBezTo>
                    <a:cubicBezTo>
                      <a:pt x="134" y="12"/>
                      <a:pt x="125" y="0"/>
                      <a:pt x="113" y="0"/>
                    </a:cubicBezTo>
                    <a:lnTo>
                      <a:pt x="21" y="0"/>
                    </a:lnTo>
                    <a:cubicBezTo>
                      <a:pt x="9" y="0"/>
                      <a:pt x="0" y="12"/>
                      <a:pt x="0" y="27"/>
                    </a:cubicBez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Freeform 9">
                <a:extLst>
                  <a:ext uri="{FF2B5EF4-FFF2-40B4-BE49-F238E27FC236}">
                    <a16:creationId xmlns:a16="http://schemas.microsoft.com/office/drawing/2014/main" id="{B21FFC69-C55D-4418-A8AC-1D3EAAEC7A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5" y="2779"/>
                <a:ext cx="123" cy="397"/>
              </a:xfrm>
              <a:custGeom>
                <a:avLst/>
                <a:gdLst>
                  <a:gd name="T0" fmla="*/ 0 w 21"/>
                  <a:gd name="T1" fmla="*/ 53 h 53"/>
                  <a:gd name="T2" fmla="*/ 21 w 21"/>
                  <a:gd name="T3" fmla="*/ 27 h 53"/>
                  <a:gd name="T4" fmla="*/ 0 w 21"/>
                  <a:gd name="T5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" h="53">
                    <a:moveTo>
                      <a:pt x="0" y="53"/>
                    </a:moveTo>
                    <a:cubicBezTo>
                      <a:pt x="12" y="53"/>
                      <a:pt x="21" y="41"/>
                      <a:pt x="21" y="27"/>
                    </a:cubicBezTo>
                    <a:cubicBezTo>
                      <a:pt x="21" y="12"/>
                      <a:pt x="12" y="0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" name="Oval 10">
              <a:extLst>
                <a:ext uri="{FF2B5EF4-FFF2-40B4-BE49-F238E27FC236}">
                  <a16:creationId xmlns:a16="http://schemas.microsoft.com/office/drawing/2014/main" id="{3A5517D9-FCC7-43AE-BE89-519E5E471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2" y="2779"/>
              <a:ext cx="252" cy="39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" name="Group 11">
              <a:extLst>
                <a:ext uri="{FF2B5EF4-FFF2-40B4-BE49-F238E27FC236}">
                  <a16:creationId xmlns:a16="http://schemas.microsoft.com/office/drawing/2014/main" id="{3B29D2DB-7F16-4607-9D0F-658498640D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7" y="2839"/>
              <a:ext cx="579" cy="270"/>
              <a:chOff x="1167" y="2839"/>
              <a:chExt cx="579" cy="270"/>
            </a:xfrm>
          </p:grpSpPr>
          <p:sp>
            <p:nvSpPr>
              <p:cNvPr id="14" name="Freeform 12">
                <a:extLst>
                  <a:ext uri="{FF2B5EF4-FFF2-40B4-BE49-F238E27FC236}">
                    <a16:creationId xmlns:a16="http://schemas.microsoft.com/office/drawing/2014/main" id="{77BA231B-2E04-46D7-8C67-A52A318556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7" y="2839"/>
                <a:ext cx="579" cy="270"/>
              </a:xfrm>
              <a:custGeom>
                <a:avLst/>
                <a:gdLst>
                  <a:gd name="T0" fmla="*/ 0 w 99"/>
                  <a:gd name="T1" fmla="*/ 18 h 36"/>
                  <a:gd name="T2" fmla="*/ 16 w 99"/>
                  <a:gd name="T3" fmla="*/ 36 h 36"/>
                  <a:gd name="T4" fmla="*/ 83 w 99"/>
                  <a:gd name="T5" fmla="*/ 36 h 36"/>
                  <a:gd name="T6" fmla="*/ 99 w 99"/>
                  <a:gd name="T7" fmla="*/ 18 h 36"/>
                  <a:gd name="T8" fmla="*/ 83 w 99"/>
                  <a:gd name="T9" fmla="*/ 0 h 36"/>
                  <a:gd name="T10" fmla="*/ 16 w 99"/>
                  <a:gd name="T11" fmla="*/ 0 h 36"/>
                  <a:gd name="T12" fmla="*/ 0 w 99"/>
                  <a:gd name="T13" fmla="*/ 18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9" h="36">
                    <a:moveTo>
                      <a:pt x="0" y="18"/>
                    </a:moveTo>
                    <a:cubicBezTo>
                      <a:pt x="0" y="28"/>
                      <a:pt x="7" y="36"/>
                      <a:pt x="16" y="36"/>
                    </a:cubicBezTo>
                    <a:lnTo>
                      <a:pt x="83" y="36"/>
                    </a:lnTo>
                    <a:cubicBezTo>
                      <a:pt x="92" y="36"/>
                      <a:pt x="99" y="28"/>
                      <a:pt x="99" y="18"/>
                    </a:cubicBezTo>
                    <a:cubicBezTo>
                      <a:pt x="99" y="8"/>
                      <a:pt x="92" y="0"/>
                      <a:pt x="83" y="0"/>
                    </a:cubicBezTo>
                    <a:lnTo>
                      <a:pt x="16" y="0"/>
                    </a:lnTo>
                    <a:cubicBezTo>
                      <a:pt x="7" y="0"/>
                      <a:pt x="0" y="8"/>
                      <a:pt x="0" y="18"/>
                    </a:cubicBez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Freeform 13">
                <a:extLst>
                  <a:ext uri="{FF2B5EF4-FFF2-40B4-BE49-F238E27FC236}">
                    <a16:creationId xmlns:a16="http://schemas.microsoft.com/office/drawing/2014/main" id="{129A2C25-C601-4E91-8804-B9A3A7BA75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7" y="2839"/>
                <a:ext cx="579" cy="270"/>
              </a:xfrm>
              <a:custGeom>
                <a:avLst/>
                <a:gdLst>
                  <a:gd name="T0" fmla="*/ 0 w 99"/>
                  <a:gd name="T1" fmla="*/ 18 h 36"/>
                  <a:gd name="T2" fmla="*/ 16 w 99"/>
                  <a:gd name="T3" fmla="*/ 36 h 36"/>
                  <a:gd name="T4" fmla="*/ 83 w 99"/>
                  <a:gd name="T5" fmla="*/ 36 h 36"/>
                  <a:gd name="T6" fmla="*/ 99 w 99"/>
                  <a:gd name="T7" fmla="*/ 18 h 36"/>
                  <a:gd name="T8" fmla="*/ 83 w 99"/>
                  <a:gd name="T9" fmla="*/ 0 h 36"/>
                  <a:gd name="T10" fmla="*/ 16 w 99"/>
                  <a:gd name="T11" fmla="*/ 0 h 36"/>
                  <a:gd name="T12" fmla="*/ 0 w 99"/>
                  <a:gd name="T13" fmla="*/ 18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9" h="36">
                    <a:moveTo>
                      <a:pt x="0" y="18"/>
                    </a:moveTo>
                    <a:cubicBezTo>
                      <a:pt x="0" y="28"/>
                      <a:pt x="7" y="36"/>
                      <a:pt x="16" y="36"/>
                    </a:cubicBezTo>
                    <a:lnTo>
                      <a:pt x="83" y="36"/>
                    </a:lnTo>
                    <a:cubicBezTo>
                      <a:pt x="92" y="36"/>
                      <a:pt x="99" y="28"/>
                      <a:pt x="99" y="18"/>
                    </a:cubicBezTo>
                    <a:cubicBezTo>
                      <a:pt x="99" y="8"/>
                      <a:pt x="92" y="0"/>
                      <a:pt x="83" y="0"/>
                    </a:cubicBezTo>
                    <a:lnTo>
                      <a:pt x="16" y="0"/>
                    </a:lnTo>
                    <a:cubicBezTo>
                      <a:pt x="7" y="0"/>
                      <a:pt x="0" y="8"/>
                      <a:pt x="0" y="18"/>
                    </a:cubicBez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Freeform 14">
                <a:extLst>
                  <a:ext uri="{FF2B5EF4-FFF2-40B4-BE49-F238E27FC236}">
                    <a16:creationId xmlns:a16="http://schemas.microsoft.com/office/drawing/2014/main" id="{445A1DD5-265D-4857-BC4B-72E31189DE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1" y="2839"/>
                <a:ext cx="88" cy="270"/>
              </a:xfrm>
              <a:custGeom>
                <a:avLst/>
                <a:gdLst>
                  <a:gd name="T0" fmla="*/ 0 w 15"/>
                  <a:gd name="T1" fmla="*/ 36 h 36"/>
                  <a:gd name="T2" fmla="*/ 15 w 15"/>
                  <a:gd name="T3" fmla="*/ 18 h 36"/>
                  <a:gd name="T4" fmla="*/ 0 w 15"/>
                  <a:gd name="T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" h="36">
                    <a:moveTo>
                      <a:pt x="0" y="36"/>
                    </a:moveTo>
                    <a:cubicBezTo>
                      <a:pt x="8" y="36"/>
                      <a:pt x="15" y="28"/>
                      <a:pt x="15" y="18"/>
                    </a:cubicBezTo>
                    <a:cubicBezTo>
                      <a:pt x="15" y="8"/>
                      <a:pt x="8" y="0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" name="Group 15">
              <a:extLst>
                <a:ext uri="{FF2B5EF4-FFF2-40B4-BE49-F238E27FC236}">
                  <a16:creationId xmlns:a16="http://schemas.microsoft.com/office/drawing/2014/main" id="{E07F1368-5ED3-4045-8BFE-9D631EA31F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6" y="2907"/>
              <a:ext cx="275" cy="127"/>
              <a:chOff x="986" y="2907"/>
              <a:chExt cx="275" cy="127"/>
            </a:xfrm>
          </p:grpSpPr>
          <p:sp>
            <p:nvSpPr>
              <p:cNvPr id="11" name="Freeform 16">
                <a:extLst>
                  <a:ext uri="{FF2B5EF4-FFF2-40B4-BE49-F238E27FC236}">
                    <a16:creationId xmlns:a16="http://schemas.microsoft.com/office/drawing/2014/main" id="{DD0BFB45-3CC9-47EC-A9E2-B9B7D212BE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6" y="2907"/>
                <a:ext cx="275" cy="127"/>
              </a:xfrm>
              <a:custGeom>
                <a:avLst/>
                <a:gdLst>
                  <a:gd name="T0" fmla="*/ 0 w 47"/>
                  <a:gd name="T1" fmla="*/ 9 h 17"/>
                  <a:gd name="T2" fmla="*/ 7 w 47"/>
                  <a:gd name="T3" fmla="*/ 17 h 17"/>
                  <a:gd name="T4" fmla="*/ 40 w 47"/>
                  <a:gd name="T5" fmla="*/ 17 h 17"/>
                  <a:gd name="T6" fmla="*/ 47 w 47"/>
                  <a:gd name="T7" fmla="*/ 9 h 17"/>
                  <a:gd name="T8" fmla="*/ 40 w 47"/>
                  <a:gd name="T9" fmla="*/ 0 h 17"/>
                  <a:gd name="T10" fmla="*/ 7 w 47"/>
                  <a:gd name="T11" fmla="*/ 0 h 17"/>
                  <a:gd name="T12" fmla="*/ 0 w 47"/>
                  <a:gd name="T13" fmla="*/ 9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" h="17">
                    <a:moveTo>
                      <a:pt x="0" y="9"/>
                    </a:moveTo>
                    <a:cubicBezTo>
                      <a:pt x="0" y="14"/>
                      <a:pt x="3" y="17"/>
                      <a:pt x="7" y="17"/>
                    </a:cubicBezTo>
                    <a:lnTo>
                      <a:pt x="40" y="17"/>
                    </a:lnTo>
                    <a:cubicBezTo>
                      <a:pt x="44" y="17"/>
                      <a:pt x="47" y="14"/>
                      <a:pt x="47" y="9"/>
                    </a:cubicBezTo>
                    <a:cubicBezTo>
                      <a:pt x="47" y="4"/>
                      <a:pt x="44" y="0"/>
                      <a:pt x="40" y="0"/>
                    </a:cubicBezTo>
                    <a:lnTo>
                      <a:pt x="7" y="0"/>
                    </a:lnTo>
                    <a:cubicBezTo>
                      <a:pt x="3" y="0"/>
                      <a:pt x="0" y="4"/>
                      <a:pt x="0" y="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Freeform 17">
                <a:extLst>
                  <a:ext uri="{FF2B5EF4-FFF2-40B4-BE49-F238E27FC236}">
                    <a16:creationId xmlns:a16="http://schemas.microsoft.com/office/drawing/2014/main" id="{FC013862-FD52-470A-BEE6-0D4BAC3BFC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6" y="2907"/>
                <a:ext cx="275" cy="127"/>
              </a:xfrm>
              <a:custGeom>
                <a:avLst/>
                <a:gdLst>
                  <a:gd name="T0" fmla="*/ 0 w 47"/>
                  <a:gd name="T1" fmla="*/ 9 h 17"/>
                  <a:gd name="T2" fmla="*/ 7 w 47"/>
                  <a:gd name="T3" fmla="*/ 17 h 17"/>
                  <a:gd name="T4" fmla="*/ 40 w 47"/>
                  <a:gd name="T5" fmla="*/ 17 h 17"/>
                  <a:gd name="T6" fmla="*/ 47 w 47"/>
                  <a:gd name="T7" fmla="*/ 9 h 17"/>
                  <a:gd name="T8" fmla="*/ 40 w 47"/>
                  <a:gd name="T9" fmla="*/ 0 h 17"/>
                  <a:gd name="T10" fmla="*/ 7 w 47"/>
                  <a:gd name="T11" fmla="*/ 0 h 17"/>
                  <a:gd name="T12" fmla="*/ 0 w 47"/>
                  <a:gd name="T13" fmla="*/ 9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" h="17">
                    <a:moveTo>
                      <a:pt x="0" y="9"/>
                    </a:moveTo>
                    <a:cubicBezTo>
                      <a:pt x="0" y="14"/>
                      <a:pt x="3" y="17"/>
                      <a:pt x="7" y="17"/>
                    </a:cubicBezTo>
                    <a:lnTo>
                      <a:pt x="40" y="17"/>
                    </a:lnTo>
                    <a:cubicBezTo>
                      <a:pt x="44" y="17"/>
                      <a:pt x="47" y="14"/>
                      <a:pt x="47" y="9"/>
                    </a:cubicBezTo>
                    <a:cubicBezTo>
                      <a:pt x="47" y="4"/>
                      <a:pt x="44" y="0"/>
                      <a:pt x="40" y="0"/>
                    </a:cubicBezTo>
                    <a:lnTo>
                      <a:pt x="7" y="0"/>
                    </a:lnTo>
                    <a:cubicBezTo>
                      <a:pt x="3" y="0"/>
                      <a:pt x="0" y="4"/>
                      <a:pt x="0" y="9"/>
                    </a:cubicBez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Freeform 18">
                <a:extLst>
                  <a:ext uri="{FF2B5EF4-FFF2-40B4-BE49-F238E27FC236}">
                    <a16:creationId xmlns:a16="http://schemas.microsoft.com/office/drawing/2014/main" id="{603C2420-5074-40E6-9686-0909AE32D6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" y="2907"/>
                <a:ext cx="47" cy="127"/>
              </a:xfrm>
              <a:custGeom>
                <a:avLst/>
                <a:gdLst>
                  <a:gd name="T0" fmla="*/ 0 w 8"/>
                  <a:gd name="T1" fmla="*/ 17 h 17"/>
                  <a:gd name="T2" fmla="*/ 8 w 8"/>
                  <a:gd name="T3" fmla="*/ 9 h 17"/>
                  <a:gd name="T4" fmla="*/ 0 w 8"/>
                  <a:gd name="T5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17">
                    <a:moveTo>
                      <a:pt x="0" y="17"/>
                    </a:moveTo>
                    <a:cubicBezTo>
                      <a:pt x="4" y="17"/>
                      <a:pt x="8" y="14"/>
                      <a:pt x="8" y="9"/>
                    </a:cubicBezTo>
                    <a:cubicBezTo>
                      <a:pt x="8" y="4"/>
                      <a:pt x="4" y="0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" name="Oval 19">
              <a:extLst>
                <a:ext uri="{FF2B5EF4-FFF2-40B4-BE49-F238E27FC236}">
                  <a16:creationId xmlns:a16="http://schemas.microsoft.com/office/drawing/2014/main" id="{4108AE44-52E2-4809-826B-643F5B7A93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" y="2907"/>
              <a:ext cx="94" cy="12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Rectangle 20">
            <a:extLst>
              <a:ext uri="{FF2B5EF4-FFF2-40B4-BE49-F238E27FC236}">
                <a16:creationId xmlns:a16="http://schemas.microsoft.com/office/drawing/2014/main" id="{8C837A3C-47FD-42DF-BE73-84CD763E7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350" y="5661025"/>
            <a:ext cx="63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纤芯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21">
            <a:extLst>
              <a:ext uri="{FF2B5EF4-FFF2-40B4-BE49-F238E27FC236}">
                <a16:creationId xmlns:a16="http://schemas.microsoft.com/office/drawing/2014/main" id="{15F377F8-A993-4C31-B242-B19B61B81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0238" y="5661025"/>
            <a:ext cx="9525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保护层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36F4551B-E76D-47F3-9939-8F6C1ADB8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150" y="5661025"/>
            <a:ext cx="63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包层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ED48C53E-1225-430E-9B2C-22D7AEBBC398}"/>
              </a:ext>
            </a:extLst>
          </p:cNvPr>
          <p:cNvGrpSpPr>
            <a:grpSpLocks/>
          </p:cNvGrpSpPr>
          <p:nvPr/>
        </p:nvGrpSpPr>
        <p:grpSpPr bwMode="auto">
          <a:xfrm>
            <a:off x="7032626" y="4149725"/>
            <a:ext cx="1382713" cy="1373188"/>
            <a:chOff x="3207" y="2435"/>
            <a:chExt cx="1134" cy="1134"/>
          </a:xfrm>
        </p:grpSpPr>
        <p:sp>
          <p:nvSpPr>
            <p:cNvPr id="24" name="Oval 24">
              <a:extLst>
                <a:ext uri="{FF2B5EF4-FFF2-40B4-BE49-F238E27FC236}">
                  <a16:creationId xmlns:a16="http://schemas.microsoft.com/office/drawing/2014/main" id="{C5EA619E-B572-45B0-BD87-68F05BC76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7" y="2435"/>
              <a:ext cx="1134" cy="1134"/>
            </a:xfrm>
            <a:prstGeom prst="ellipse">
              <a:avLst/>
            </a:prstGeom>
            <a:solidFill>
              <a:srgbClr val="333333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Oval 25">
              <a:extLst>
                <a:ext uri="{FF2B5EF4-FFF2-40B4-BE49-F238E27FC236}">
                  <a16:creationId xmlns:a16="http://schemas.microsoft.com/office/drawing/2014/main" id="{52C1C75A-8CC7-4A5E-883A-50564296D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8" y="2610"/>
              <a:ext cx="812" cy="785"/>
            </a:xfrm>
            <a:prstGeom prst="ellipse">
              <a:avLst/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Oval 26">
              <a:extLst>
                <a:ext uri="{FF2B5EF4-FFF2-40B4-BE49-F238E27FC236}">
                  <a16:creationId xmlns:a16="http://schemas.microsoft.com/office/drawing/2014/main" id="{BF8513BD-4FE0-4A83-B784-E7EB51645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1" y="2753"/>
              <a:ext cx="446" cy="499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Oval 27">
              <a:extLst>
                <a:ext uri="{FF2B5EF4-FFF2-40B4-BE49-F238E27FC236}">
                  <a16:creationId xmlns:a16="http://schemas.microsoft.com/office/drawing/2014/main" id="{7A39F3AE-BC2F-4E3C-8A11-6E5DFBCCA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2" y="2915"/>
              <a:ext cx="183" cy="1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Oval 28">
              <a:extLst>
                <a:ext uri="{FF2B5EF4-FFF2-40B4-BE49-F238E27FC236}">
                  <a16:creationId xmlns:a16="http://schemas.microsoft.com/office/drawing/2014/main" id="{2B5FE994-820D-4296-B6D3-1929AE124B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7" y="2435"/>
              <a:ext cx="1134" cy="1134"/>
            </a:xfrm>
            <a:prstGeom prst="ellipse">
              <a:avLst/>
            </a:prstGeom>
            <a:solidFill>
              <a:srgbClr val="333333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Oval 29">
              <a:extLst>
                <a:ext uri="{FF2B5EF4-FFF2-40B4-BE49-F238E27FC236}">
                  <a16:creationId xmlns:a16="http://schemas.microsoft.com/office/drawing/2014/main" id="{D6AC4B61-9E4F-4DE0-A8E3-B54FC5F49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2" y="2610"/>
              <a:ext cx="784" cy="785"/>
            </a:xfrm>
            <a:prstGeom prst="ellipse">
              <a:avLst/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Oval 30">
              <a:extLst>
                <a:ext uri="{FF2B5EF4-FFF2-40B4-BE49-F238E27FC236}">
                  <a16:creationId xmlns:a16="http://schemas.microsoft.com/office/drawing/2014/main" id="{CB21330E-9EEC-4CA3-8C43-FC0CABCAE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4" y="2752"/>
              <a:ext cx="499" cy="499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Oval 31">
              <a:extLst>
                <a:ext uri="{FF2B5EF4-FFF2-40B4-BE49-F238E27FC236}">
                  <a16:creationId xmlns:a16="http://schemas.microsoft.com/office/drawing/2014/main" id="{EE0B659E-9D78-485E-8D5F-54B5166C02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6" y="2915"/>
              <a:ext cx="175" cy="1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2" name="Rectangle 32">
            <a:extLst>
              <a:ext uri="{FF2B5EF4-FFF2-40B4-BE49-F238E27FC236}">
                <a16:creationId xmlns:a16="http://schemas.microsoft.com/office/drawing/2014/main" id="{2C67855E-C522-4244-9EC0-3B1FBDEF9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4075" y="5878513"/>
            <a:ext cx="9525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保护层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Rectangle 33">
            <a:extLst>
              <a:ext uri="{FF2B5EF4-FFF2-40B4-BE49-F238E27FC236}">
                <a16:creationId xmlns:a16="http://schemas.microsoft.com/office/drawing/2014/main" id="{7D9BBED3-0E2F-477E-9A75-FA6C89750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0" y="4294188"/>
            <a:ext cx="63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包层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Rectangle 34">
            <a:extLst>
              <a:ext uri="{FF2B5EF4-FFF2-40B4-BE49-F238E27FC236}">
                <a16:creationId xmlns:a16="http://schemas.microsoft.com/office/drawing/2014/main" id="{8FACDF7C-3DCC-47E2-A9E1-741771144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5875" y="5086350"/>
            <a:ext cx="1270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填充材料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ED67679D-8F09-44EF-8608-0C1676FC4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5513" y="3573463"/>
            <a:ext cx="63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芯材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Line 36">
            <a:extLst>
              <a:ext uri="{FF2B5EF4-FFF2-40B4-BE49-F238E27FC236}">
                <a16:creationId xmlns:a16="http://schemas.microsoft.com/office/drawing/2014/main" id="{7DF2427F-773C-42C9-9100-655106663A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34325" y="4581526"/>
            <a:ext cx="1042988" cy="23177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Line 40">
            <a:extLst>
              <a:ext uri="{FF2B5EF4-FFF2-40B4-BE49-F238E27FC236}">
                <a16:creationId xmlns:a16="http://schemas.microsoft.com/office/drawing/2014/main" id="{280E7EDF-7288-4C3C-A11A-072CF347E6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53351" y="4006851"/>
            <a:ext cx="792163" cy="79057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Line 41">
            <a:extLst>
              <a:ext uri="{FF2B5EF4-FFF2-40B4-BE49-F238E27FC236}">
                <a16:creationId xmlns:a16="http://schemas.microsoft.com/office/drawing/2014/main" id="{4A8293F5-E759-4039-809C-9116A27D4FF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088314" y="5003800"/>
            <a:ext cx="744537" cy="2984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Line 42">
            <a:extLst>
              <a:ext uri="{FF2B5EF4-FFF2-40B4-BE49-F238E27FC236}">
                <a16:creationId xmlns:a16="http://schemas.microsoft.com/office/drawing/2014/main" id="{6D1F34CC-EE77-40F2-8F07-8A7DA6CD999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045451" y="5326064"/>
            <a:ext cx="500063" cy="62388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Line 43">
            <a:extLst>
              <a:ext uri="{FF2B5EF4-FFF2-40B4-BE49-F238E27FC236}">
                <a16:creationId xmlns:a16="http://schemas.microsoft.com/office/drawing/2014/main" id="{5653205D-DF99-447E-9040-F9725F5B27C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43475" y="5300663"/>
            <a:ext cx="0" cy="360362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Line 44">
            <a:extLst>
              <a:ext uri="{FF2B5EF4-FFF2-40B4-BE49-F238E27FC236}">
                <a16:creationId xmlns:a16="http://schemas.microsoft.com/office/drawing/2014/main" id="{3C26AF59-0EA1-48EF-BC04-582D8F19648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46488" y="5084763"/>
            <a:ext cx="0" cy="576262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Line 45">
            <a:extLst>
              <a:ext uri="{FF2B5EF4-FFF2-40B4-BE49-F238E27FC236}">
                <a16:creationId xmlns:a16="http://schemas.microsoft.com/office/drawing/2014/main" id="{524A70F1-D808-44D6-986A-C7E14712DF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40013" y="4868863"/>
            <a:ext cx="0" cy="792162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3" name="Picture 52" descr="RED - Rivera Engineering and Design FIBER CABLE LOOSE TUBE">
            <a:extLst>
              <a:ext uri="{FF2B5EF4-FFF2-40B4-BE49-F238E27FC236}">
                <a16:creationId xmlns:a16="http://schemas.microsoft.com/office/drawing/2014/main" id="{07B9508F-FB67-454F-B14B-7424A4954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4" y="1268414"/>
            <a:ext cx="3919537" cy="214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54" descr="RED - Rivera Engineering and Design FIBER CABLES">
            <a:extLst>
              <a:ext uri="{FF2B5EF4-FFF2-40B4-BE49-F238E27FC236}">
                <a16:creationId xmlns:a16="http://schemas.microsoft.com/office/drawing/2014/main" id="{71E0669A-B8BD-448C-8FD3-D4F3C33C7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564" y="1268413"/>
            <a:ext cx="4289425" cy="2144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1026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6DA2BA-DA68-462E-931A-EE44153F3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光纤工作原理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E3E858-CD54-45E0-A306-81FB83EA0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defRPr/>
              </a:pPr>
              <a:t>17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1">
            <a:extLst>
              <a:ext uri="{FF2B5EF4-FFF2-40B4-BE49-F238E27FC236}">
                <a16:creationId xmlns:a16="http://schemas.microsoft.com/office/drawing/2014/main" id="{8B1EF6BF-B7C9-4291-91FB-C28426CA9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3150" y="5407457"/>
            <a:ext cx="4891088" cy="24447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22">
            <a:extLst>
              <a:ext uri="{FF2B5EF4-FFF2-40B4-BE49-F238E27FC236}">
                <a16:creationId xmlns:a16="http://schemas.microsoft.com/office/drawing/2014/main" id="{5F6CDC0B-D895-42C6-A671-F0567643E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3150" y="5651931"/>
            <a:ext cx="4891088" cy="344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BCF73839-E24F-4413-B480-ABF3E52F8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3150" y="5996419"/>
            <a:ext cx="4891088" cy="24606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24">
            <a:extLst>
              <a:ext uri="{FF2B5EF4-FFF2-40B4-BE49-F238E27FC236}">
                <a16:creationId xmlns:a16="http://schemas.microsoft.com/office/drawing/2014/main" id="{826656FA-63ED-45A5-BD5F-CB1516C0405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45688" y="5389994"/>
            <a:ext cx="835025" cy="869950"/>
          </a:xfrm>
          <a:prstGeom prst="can">
            <a:avLst>
              <a:gd name="adj" fmla="val 26046"/>
            </a:avLst>
          </a:prstGeom>
          <a:gradFill rotWithShape="1">
            <a:gsLst>
              <a:gs pos="0">
                <a:srgbClr val="DDDDDD">
                  <a:gamma/>
                  <a:shade val="46275"/>
                  <a:invGamma/>
                </a:srgbClr>
              </a:gs>
              <a:gs pos="5000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25">
            <a:extLst>
              <a:ext uri="{FF2B5EF4-FFF2-40B4-BE49-F238E27FC236}">
                <a16:creationId xmlns:a16="http://schemas.microsoft.com/office/drawing/2014/main" id="{FBEFE53C-797E-4388-B856-E5919D6081E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879907" y="5606688"/>
            <a:ext cx="344488" cy="434975"/>
          </a:xfrm>
          <a:prstGeom prst="can">
            <a:avLst>
              <a:gd name="adj" fmla="val 20711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Group 26">
            <a:extLst>
              <a:ext uri="{FF2B5EF4-FFF2-40B4-BE49-F238E27FC236}">
                <a16:creationId xmlns:a16="http://schemas.microsoft.com/office/drawing/2014/main" id="{245261FB-DE47-41A3-8B97-80DC490F1CAC}"/>
              </a:ext>
            </a:extLst>
          </p:cNvPr>
          <p:cNvGrpSpPr>
            <a:grpSpLocks/>
          </p:cNvGrpSpPr>
          <p:nvPr/>
        </p:nvGrpSpPr>
        <p:grpSpPr bwMode="auto">
          <a:xfrm>
            <a:off x="4433150" y="5407457"/>
            <a:ext cx="4891088" cy="835025"/>
            <a:chOff x="912" y="912"/>
            <a:chExt cx="4608" cy="816"/>
          </a:xfrm>
        </p:grpSpPr>
        <p:sp>
          <p:nvSpPr>
            <p:cNvPr id="11" name="Line 27">
              <a:extLst>
                <a:ext uri="{FF2B5EF4-FFF2-40B4-BE49-F238E27FC236}">
                  <a16:creationId xmlns:a16="http://schemas.microsoft.com/office/drawing/2014/main" id="{3E8F6409-2625-41C3-A613-EE8C5E1D61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912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28">
              <a:extLst>
                <a:ext uri="{FF2B5EF4-FFF2-40B4-BE49-F238E27FC236}">
                  <a16:creationId xmlns:a16="http://schemas.microsoft.com/office/drawing/2014/main" id="{83E00BD4-C0C8-4310-A6F0-0BFFDD84A1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152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29">
              <a:extLst>
                <a:ext uri="{FF2B5EF4-FFF2-40B4-BE49-F238E27FC236}">
                  <a16:creationId xmlns:a16="http://schemas.microsoft.com/office/drawing/2014/main" id="{A506DD05-CED1-48B3-828D-0AF47007FE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488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30">
              <a:extLst>
                <a:ext uri="{FF2B5EF4-FFF2-40B4-BE49-F238E27FC236}">
                  <a16:creationId xmlns:a16="http://schemas.microsoft.com/office/drawing/2014/main" id="{88B01451-15DB-439F-8D1A-BCB5478224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728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Line 31">
            <a:extLst>
              <a:ext uri="{FF2B5EF4-FFF2-40B4-BE49-F238E27FC236}">
                <a16:creationId xmlns:a16="http://schemas.microsoft.com/office/drawing/2014/main" id="{38948627-1E5D-4D10-ACEA-BDA4434317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4725" y="5821795"/>
            <a:ext cx="5176838" cy="3175"/>
          </a:xfrm>
          <a:prstGeom prst="line">
            <a:avLst/>
          </a:prstGeom>
          <a:noFill/>
          <a:ln w="19050">
            <a:solidFill>
              <a:srgbClr val="333399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Box 32">
            <a:extLst>
              <a:ext uri="{FF2B5EF4-FFF2-40B4-BE49-F238E27FC236}">
                <a16:creationId xmlns:a16="http://schemas.microsoft.com/office/drawing/2014/main" id="{9CCADEB6-B043-4AD3-B76A-20C8DFEBB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0525" y="4226357"/>
            <a:ext cx="1200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0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高折射率</a:t>
            </a:r>
          </a:p>
          <a:p>
            <a:r>
              <a:rPr kumimoji="1" lang="en-US" altLang="zh-CN" sz="20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20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纤芯</a:t>
            </a:r>
            <a:r>
              <a:rPr kumimoji="1" lang="en-US" altLang="zh-CN" sz="20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7" name="Text Box 33">
            <a:extLst>
              <a:ext uri="{FF2B5EF4-FFF2-40B4-BE49-F238E27FC236}">
                <a16:creationId xmlns:a16="http://schemas.microsoft.com/office/drawing/2014/main" id="{394E931A-A5F3-480C-A330-59167D25E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5125" y="4226357"/>
            <a:ext cx="1200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0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低折射率</a:t>
            </a:r>
          </a:p>
          <a:p>
            <a:r>
              <a:rPr kumimoji="1" lang="en-US" altLang="zh-CN" sz="20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20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包层</a:t>
            </a:r>
            <a:r>
              <a:rPr kumimoji="1" lang="en-US" altLang="zh-CN" sz="20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8" name="Line 34">
            <a:extLst>
              <a:ext uri="{FF2B5EF4-FFF2-40B4-BE49-F238E27FC236}">
                <a16:creationId xmlns:a16="http://schemas.microsoft.com/office/drawing/2014/main" id="{647909B2-68E4-4094-871C-04D32C099D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06126" y="4945495"/>
            <a:ext cx="220663" cy="706437"/>
          </a:xfrm>
          <a:prstGeom prst="line">
            <a:avLst/>
          </a:prstGeom>
          <a:noFill/>
          <a:ln w="1905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Line 35">
            <a:extLst>
              <a:ext uri="{FF2B5EF4-FFF2-40B4-BE49-F238E27FC236}">
                <a16:creationId xmlns:a16="http://schemas.microsoft.com/office/drawing/2014/main" id="{186ADCF1-E8E7-4A21-BE2E-937A3E5C47B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4264" y="4874056"/>
            <a:ext cx="388937" cy="533400"/>
          </a:xfrm>
          <a:prstGeom prst="line">
            <a:avLst/>
          </a:prstGeom>
          <a:noFill/>
          <a:ln w="1905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Box 36">
            <a:extLst>
              <a:ext uri="{FF2B5EF4-FFF2-40B4-BE49-F238E27FC236}">
                <a16:creationId xmlns:a16="http://schemas.microsoft.com/office/drawing/2014/main" id="{FF19BD11-17B2-43E3-9353-031373C5A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2688" y="4970895"/>
            <a:ext cx="4756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20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光线在纤芯中传输的方式是不断地全反射</a:t>
            </a:r>
          </a:p>
        </p:txBody>
      </p:sp>
      <p:sp>
        <p:nvSpPr>
          <p:cNvPr id="21" name="Freeform 37">
            <a:extLst>
              <a:ext uri="{FF2B5EF4-FFF2-40B4-BE49-F238E27FC236}">
                <a16:creationId xmlns:a16="http://schemas.microsoft.com/office/drawing/2014/main" id="{172F54BE-7B3E-4188-9E8F-B5B0377FCA82}"/>
              </a:ext>
            </a:extLst>
          </p:cNvPr>
          <p:cNvSpPr>
            <a:spLocks/>
          </p:cNvSpPr>
          <p:nvPr/>
        </p:nvSpPr>
        <p:spPr bwMode="auto">
          <a:xfrm>
            <a:off x="4460138" y="5651931"/>
            <a:ext cx="4870450" cy="344488"/>
          </a:xfrm>
          <a:custGeom>
            <a:avLst/>
            <a:gdLst>
              <a:gd name="T0" fmla="*/ 0 w 4302"/>
              <a:gd name="T1" fmla="*/ 108 h 336"/>
              <a:gd name="T2" fmla="*/ 384 w 4302"/>
              <a:gd name="T3" fmla="*/ 0 h 336"/>
              <a:gd name="T4" fmla="*/ 1560 w 4302"/>
              <a:gd name="T5" fmla="*/ 336 h 336"/>
              <a:gd name="T6" fmla="*/ 2742 w 4302"/>
              <a:gd name="T7" fmla="*/ 0 h 336"/>
              <a:gd name="T8" fmla="*/ 3918 w 4302"/>
              <a:gd name="T9" fmla="*/ 330 h 336"/>
              <a:gd name="T10" fmla="*/ 4302 w 4302"/>
              <a:gd name="T11" fmla="*/ 204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02" h="336">
                <a:moveTo>
                  <a:pt x="0" y="108"/>
                </a:moveTo>
                <a:lnTo>
                  <a:pt x="384" y="0"/>
                </a:lnTo>
                <a:lnTo>
                  <a:pt x="1560" y="336"/>
                </a:lnTo>
                <a:lnTo>
                  <a:pt x="2742" y="0"/>
                </a:lnTo>
                <a:lnTo>
                  <a:pt x="3918" y="330"/>
                </a:lnTo>
                <a:lnTo>
                  <a:pt x="4302" y="204"/>
                </a:lnTo>
              </a:path>
            </a:pathLst>
          </a:custGeom>
          <a:noFill/>
          <a:ln w="57150" cmpd="sng">
            <a:solidFill>
              <a:schemeClr val="hlink"/>
            </a:solidFill>
            <a:round/>
            <a:headEnd type="none" w="med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Arc 38">
            <a:extLst>
              <a:ext uri="{FF2B5EF4-FFF2-40B4-BE49-F238E27FC236}">
                <a16:creationId xmlns:a16="http://schemas.microsoft.com/office/drawing/2014/main" id="{1991BC6E-080D-4A05-8052-7B6AC20EFDDF}"/>
              </a:ext>
            </a:extLst>
          </p:cNvPr>
          <p:cNvSpPr>
            <a:spLocks/>
          </p:cNvSpPr>
          <p:nvPr/>
        </p:nvSpPr>
        <p:spPr bwMode="auto">
          <a:xfrm rot="9720000">
            <a:off x="4823997" y="2935035"/>
            <a:ext cx="96838" cy="7937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905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Group 39">
            <a:extLst>
              <a:ext uri="{FF2B5EF4-FFF2-40B4-BE49-F238E27FC236}">
                <a16:creationId xmlns:a16="http://schemas.microsoft.com/office/drawing/2014/main" id="{B73BCC3A-231A-4B75-8099-6DA8BBB9A297}"/>
              </a:ext>
            </a:extLst>
          </p:cNvPr>
          <p:cNvGrpSpPr>
            <a:grpSpLocks/>
          </p:cNvGrpSpPr>
          <p:nvPr/>
        </p:nvGrpSpPr>
        <p:grpSpPr bwMode="auto">
          <a:xfrm>
            <a:off x="4347748" y="2115884"/>
            <a:ext cx="2944813" cy="488950"/>
            <a:chOff x="292" y="1032"/>
            <a:chExt cx="1732" cy="216"/>
          </a:xfrm>
        </p:grpSpPr>
        <p:grpSp>
          <p:nvGrpSpPr>
            <p:cNvPr id="24" name="Group 40">
              <a:extLst>
                <a:ext uri="{FF2B5EF4-FFF2-40B4-BE49-F238E27FC236}">
                  <a16:creationId xmlns:a16="http://schemas.microsoft.com/office/drawing/2014/main" id="{F504A809-10E0-408B-90ED-20D5AA3666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" y="1032"/>
              <a:ext cx="1732" cy="216"/>
              <a:chOff x="292" y="1032"/>
              <a:chExt cx="1732" cy="216"/>
            </a:xfrm>
          </p:grpSpPr>
          <p:sp>
            <p:nvSpPr>
              <p:cNvPr id="26" name="Line 41">
                <a:extLst>
                  <a:ext uri="{FF2B5EF4-FFF2-40B4-BE49-F238E27FC236}">
                    <a16:creationId xmlns:a16="http://schemas.microsoft.com/office/drawing/2014/main" id="{11D1520A-4AD3-4376-9667-9A66BDDD31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" y="1032"/>
                <a:ext cx="17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Line 42">
                <a:extLst>
                  <a:ext uri="{FF2B5EF4-FFF2-40B4-BE49-F238E27FC236}">
                    <a16:creationId xmlns:a16="http://schemas.microsoft.com/office/drawing/2014/main" id="{5CE2A807-8EAE-4FFC-8280-F287A6C046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" y="1248"/>
                <a:ext cx="17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5" name="Rectangle 43">
              <a:extLst>
                <a:ext uri="{FF2B5EF4-FFF2-40B4-BE49-F238E27FC236}">
                  <a16:creationId xmlns:a16="http://schemas.microsoft.com/office/drawing/2014/main" id="{D595B732-B1F3-4A46-927A-46A392F28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" y="1041"/>
              <a:ext cx="1716" cy="198"/>
            </a:xfrm>
            <a:prstGeom prst="rect">
              <a:avLst/>
            </a:prstGeom>
            <a:solidFill>
              <a:srgbClr val="66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Group 44">
            <a:extLst>
              <a:ext uri="{FF2B5EF4-FFF2-40B4-BE49-F238E27FC236}">
                <a16:creationId xmlns:a16="http://schemas.microsoft.com/office/drawing/2014/main" id="{E7CC5778-8EFF-4D04-867B-1D5DBBBBA07E}"/>
              </a:ext>
            </a:extLst>
          </p:cNvPr>
          <p:cNvGrpSpPr>
            <a:grpSpLocks/>
          </p:cNvGrpSpPr>
          <p:nvPr/>
        </p:nvGrpSpPr>
        <p:grpSpPr bwMode="auto">
          <a:xfrm>
            <a:off x="4335048" y="3538285"/>
            <a:ext cx="2924175" cy="436563"/>
            <a:chOff x="284" y="1656"/>
            <a:chExt cx="1720" cy="192"/>
          </a:xfrm>
        </p:grpSpPr>
        <p:grpSp>
          <p:nvGrpSpPr>
            <p:cNvPr id="29" name="Group 45">
              <a:extLst>
                <a:ext uri="{FF2B5EF4-FFF2-40B4-BE49-F238E27FC236}">
                  <a16:creationId xmlns:a16="http://schemas.microsoft.com/office/drawing/2014/main" id="{CCA7B507-E0FD-4F4C-85A1-D72D8DC3D0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" y="1656"/>
              <a:ext cx="1720" cy="192"/>
              <a:chOff x="284" y="1656"/>
              <a:chExt cx="1720" cy="192"/>
            </a:xfrm>
          </p:grpSpPr>
          <p:sp>
            <p:nvSpPr>
              <p:cNvPr id="31" name="Line 46">
                <a:extLst>
                  <a:ext uri="{FF2B5EF4-FFF2-40B4-BE49-F238E27FC236}">
                    <a16:creationId xmlns:a16="http://schemas.microsoft.com/office/drawing/2014/main" id="{0A2D6058-46AC-4E58-83B8-2447AE833D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4" y="1656"/>
                <a:ext cx="17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Line 47">
                <a:extLst>
                  <a:ext uri="{FF2B5EF4-FFF2-40B4-BE49-F238E27FC236}">
                    <a16:creationId xmlns:a16="http://schemas.microsoft.com/office/drawing/2014/main" id="{1652D678-3893-4026-A75F-FF0F07C0B5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4" y="1848"/>
                <a:ext cx="17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0" name="Rectangle 48">
              <a:extLst>
                <a:ext uri="{FF2B5EF4-FFF2-40B4-BE49-F238E27FC236}">
                  <a16:creationId xmlns:a16="http://schemas.microsoft.com/office/drawing/2014/main" id="{C159FD9C-4ED3-4969-99E5-98B81BB3C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664"/>
              <a:ext cx="1704" cy="176"/>
            </a:xfrm>
            <a:prstGeom prst="rect">
              <a:avLst/>
            </a:prstGeom>
            <a:solidFill>
              <a:srgbClr val="66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Line 49">
            <a:extLst>
              <a:ext uri="{FF2B5EF4-FFF2-40B4-BE49-F238E27FC236}">
                <a16:creationId xmlns:a16="http://schemas.microsoft.com/office/drawing/2014/main" id="{6AC2D7E2-32E9-4EBD-836C-D5BB19546F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9885" y="1587248"/>
            <a:ext cx="0" cy="1931987"/>
          </a:xfrm>
          <a:prstGeom prst="line">
            <a:avLst/>
          </a:prstGeom>
          <a:noFill/>
          <a:ln w="12700">
            <a:solidFill>
              <a:srgbClr val="333399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Line 50">
            <a:extLst>
              <a:ext uri="{FF2B5EF4-FFF2-40B4-BE49-F238E27FC236}">
                <a16:creationId xmlns:a16="http://schemas.microsoft.com/office/drawing/2014/main" id="{39DE2AA9-6703-4B9F-BF77-AF63FE4836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46236" y="2252410"/>
            <a:ext cx="395287" cy="365125"/>
          </a:xfrm>
          <a:prstGeom prst="line">
            <a:avLst/>
          </a:prstGeom>
          <a:noFill/>
          <a:ln w="57150">
            <a:solidFill>
              <a:srgbClr val="333399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Line 51">
            <a:extLst>
              <a:ext uri="{FF2B5EF4-FFF2-40B4-BE49-F238E27FC236}">
                <a16:creationId xmlns:a16="http://schemas.microsoft.com/office/drawing/2014/main" id="{5C528718-CF9D-47C1-9B4B-49E12235F6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7785" y="2608009"/>
            <a:ext cx="292100" cy="749300"/>
          </a:xfrm>
          <a:prstGeom prst="line">
            <a:avLst/>
          </a:prstGeom>
          <a:noFill/>
          <a:ln w="57150">
            <a:solidFill>
              <a:srgbClr val="333399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Arc 52">
            <a:extLst>
              <a:ext uri="{FF2B5EF4-FFF2-40B4-BE49-F238E27FC236}">
                <a16:creationId xmlns:a16="http://schemas.microsoft.com/office/drawing/2014/main" id="{CF7D5D97-C1BA-4524-BCF1-AF3774910C0B}"/>
              </a:ext>
            </a:extLst>
          </p:cNvPr>
          <p:cNvSpPr>
            <a:spLocks/>
          </p:cNvSpPr>
          <p:nvPr/>
        </p:nvSpPr>
        <p:spPr bwMode="auto">
          <a:xfrm>
            <a:off x="4943061" y="2357185"/>
            <a:ext cx="142875" cy="1238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905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Line 53">
            <a:extLst>
              <a:ext uri="{FF2B5EF4-FFF2-40B4-BE49-F238E27FC236}">
                <a16:creationId xmlns:a16="http://schemas.microsoft.com/office/drawing/2014/main" id="{870E00BE-BDE6-4243-A667-7862BACCDC25}"/>
              </a:ext>
            </a:extLst>
          </p:cNvPr>
          <p:cNvSpPr>
            <a:spLocks noChangeShapeType="1"/>
          </p:cNvSpPr>
          <p:nvPr/>
        </p:nvSpPr>
        <p:spPr bwMode="auto">
          <a:xfrm>
            <a:off x="6259097" y="1606298"/>
            <a:ext cx="0" cy="1931987"/>
          </a:xfrm>
          <a:prstGeom prst="line">
            <a:avLst/>
          </a:prstGeom>
          <a:noFill/>
          <a:ln w="12700">
            <a:solidFill>
              <a:srgbClr val="333399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Line 54">
            <a:extLst>
              <a:ext uri="{FF2B5EF4-FFF2-40B4-BE49-F238E27FC236}">
                <a16:creationId xmlns:a16="http://schemas.microsoft.com/office/drawing/2014/main" id="{89FAA660-C7B4-41C3-B8D0-474C43AC86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90748" y="2608010"/>
            <a:ext cx="779463" cy="346075"/>
          </a:xfrm>
          <a:prstGeom prst="line">
            <a:avLst/>
          </a:prstGeom>
          <a:noFill/>
          <a:ln w="57150">
            <a:solidFill>
              <a:srgbClr val="333399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Line 55">
            <a:extLst>
              <a:ext uri="{FF2B5EF4-FFF2-40B4-BE49-F238E27FC236}">
                <a16:creationId xmlns:a16="http://schemas.microsoft.com/office/drawing/2014/main" id="{8A52CDF7-7709-4A28-8FBC-0EA3A310BF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5448" y="2608009"/>
            <a:ext cx="892175" cy="355600"/>
          </a:xfrm>
          <a:prstGeom prst="line">
            <a:avLst/>
          </a:prstGeom>
          <a:noFill/>
          <a:ln w="57150">
            <a:solidFill>
              <a:srgbClr val="333399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Arc 56">
            <a:extLst>
              <a:ext uri="{FF2B5EF4-FFF2-40B4-BE49-F238E27FC236}">
                <a16:creationId xmlns:a16="http://schemas.microsoft.com/office/drawing/2014/main" id="{6B8048F4-88EF-4746-B7B4-7813924981C1}"/>
              </a:ext>
            </a:extLst>
          </p:cNvPr>
          <p:cNvSpPr>
            <a:spLocks/>
          </p:cNvSpPr>
          <p:nvPr/>
        </p:nvSpPr>
        <p:spPr bwMode="auto">
          <a:xfrm rot="9840000">
            <a:off x="5981286" y="2711197"/>
            <a:ext cx="236537" cy="32861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9050" cap="rnd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Freeform 57">
            <a:extLst>
              <a:ext uri="{FF2B5EF4-FFF2-40B4-BE49-F238E27FC236}">
                <a16:creationId xmlns:a16="http://schemas.microsoft.com/office/drawing/2014/main" id="{A30287A9-EF24-4AAC-9797-A47131E40FE1}"/>
              </a:ext>
            </a:extLst>
          </p:cNvPr>
          <p:cNvSpPr>
            <a:spLocks/>
          </p:cNvSpPr>
          <p:nvPr/>
        </p:nvSpPr>
        <p:spPr bwMode="auto">
          <a:xfrm>
            <a:off x="4219161" y="2157160"/>
            <a:ext cx="153987" cy="1820863"/>
          </a:xfrm>
          <a:custGeom>
            <a:avLst/>
            <a:gdLst>
              <a:gd name="T0" fmla="*/ 78 w 91"/>
              <a:gd name="T1" fmla="*/ 0 h 799"/>
              <a:gd name="T2" fmla="*/ 78 w 91"/>
              <a:gd name="T3" fmla="*/ 18 h 799"/>
              <a:gd name="T4" fmla="*/ 78 w 91"/>
              <a:gd name="T5" fmla="*/ 36 h 799"/>
              <a:gd name="T6" fmla="*/ 60 w 91"/>
              <a:gd name="T7" fmla="*/ 54 h 799"/>
              <a:gd name="T8" fmla="*/ 60 w 91"/>
              <a:gd name="T9" fmla="*/ 72 h 799"/>
              <a:gd name="T10" fmla="*/ 54 w 91"/>
              <a:gd name="T11" fmla="*/ 90 h 799"/>
              <a:gd name="T12" fmla="*/ 54 w 91"/>
              <a:gd name="T13" fmla="*/ 108 h 799"/>
              <a:gd name="T14" fmla="*/ 72 w 91"/>
              <a:gd name="T15" fmla="*/ 126 h 799"/>
              <a:gd name="T16" fmla="*/ 90 w 91"/>
              <a:gd name="T17" fmla="*/ 144 h 799"/>
              <a:gd name="T18" fmla="*/ 90 w 91"/>
              <a:gd name="T19" fmla="*/ 162 h 799"/>
              <a:gd name="T20" fmla="*/ 90 w 91"/>
              <a:gd name="T21" fmla="*/ 180 h 799"/>
              <a:gd name="T22" fmla="*/ 90 w 91"/>
              <a:gd name="T23" fmla="*/ 198 h 799"/>
              <a:gd name="T24" fmla="*/ 84 w 91"/>
              <a:gd name="T25" fmla="*/ 198 h 799"/>
              <a:gd name="T26" fmla="*/ 66 w 91"/>
              <a:gd name="T27" fmla="*/ 210 h 799"/>
              <a:gd name="T28" fmla="*/ 48 w 91"/>
              <a:gd name="T29" fmla="*/ 228 h 799"/>
              <a:gd name="T30" fmla="*/ 36 w 91"/>
              <a:gd name="T31" fmla="*/ 246 h 799"/>
              <a:gd name="T32" fmla="*/ 18 w 91"/>
              <a:gd name="T33" fmla="*/ 258 h 799"/>
              <a:gd name="T34" fmla="*/ 12 w 91"/>
              <a:gd name="T35" fmla="*/ 276 h 799"/>
              <a:gd name="T36" fmla="*/ 12 w 91"/>
              <a:gd name="T37" fmla="*/ 294 h 799"/>
              <a:gd name="T38" fmla="*/ 12 w 91"/>
              <a:gd name="T39" fmla="*/ 312 h 799"/>
              <a:gd name="T40" fmla="*/ 12 w 91"/>
              <a:gd name="T41" fmla="*/ 330 h 799"/>
              <a:gd name="T42" fmla="*/ 0 w 91"/>
              <a:gd name="T43" fmla="*/ 348 h 799"/>
              <a:gd name="T44" fmla="*/ 0 w 91"/>
              <a:gd name="T45" fmla="*/ 366 h 799"/>
              <a:gd name="T46" fmla="*/ 0 w 91"/>
              <a:gd name="T47" fmla="*/ 384 h 799"/>
              <a:gd name="T48" fmla="*/ 0 w 91"/>
              <a:gd name="T49" fmla="*/ 402 h 799"/>
              <a:gd name="T50" fmla="*/ 0 w 91"/>
              <a:gd name="T51" fmla="*/ 420 h 799"/>
              <a:gd name="T52" fmla="*/ 0 w 91"/>
              <a:gd name="T53" fmla="*/ 438 h 799"/>
              <a:gd name="T54" fmla="*/ 18 w 91"/>
              <a:gd name="T55" fmla="*/ 450 h 799"/>
              <a:gd name="T56" fmla="*/ 36 w 91"/>
              <a:gd name="T57" fmla="*/ 462 h 799"/>
              <a:gd name="T58" fmla="*/ 54 w 91"/>
              <a:gd name="T59" fmla="*/ 474 h 799"/>
              <a:gd name="T60" fmla="*/ 60 w 91"/>
              <a:gd name="T61" fmla="*/ 492 h 799"/>
              <a:gd name="T62" fmla="*/ 78 w 91"/>
              <a:gd name="T63" fmla="*/ 510 h 799"/>
              <a:gd name="T64" fmla="*/ 84 w 91"/>
              <a:gd name="T65" fmla="*/ 528 h 799"/>
              <a:gd name="T66" fmla="*/ 90 w 91"/>
              <a:gd name="T67" fmla="*/ 546 h 799"/>
              <a:gd name="T68" fmla="*/ 90 w 91"/>
              <a:gd name="T69" fmla="*/ 564 h 799"/>
              <a:gd name="T70" fmla="*/ 90 w 91"/>
              <a:gd name="T71" fmla="*/ 582 h 799"/>
              <a:gd name="T72" fmla="*/ 90 w 91"/>
              <a:gd name="T73" fmla="*/ 600 h 799"/>
              <a:gd name="T74" fmla="*/ 72 w 91"/>
              <a:gd name="T75" fmla="*/ 600 h 799"/>
              <a:gd name="T76" fmla="*/ 66 w 91"/>
              <a:gd name="T77" fmla="*/ 618 h 799"/>
              <a:gd name="T78" fmla="*/ 60 w 91"/>
              <a:gd name="T79" fmla="*/ 636 h 799"/>
              <a:gd name="T80" fmla="*/ 54 w 91"/>
              <a:gd name="T81" fmla="*/ 654 h 799"/>
              <a:gd name="T82" fmla="*/ 48 w 91"/>
              <a:gd name="T83" fmla="*/ 672 h 799"/>
              <a:gd name="T84" fmla="*/ 48 w 91"/>
              <a:gd name="T85" fmla="*/ 690 h 799"/>
              <a:gd name="T86" fmla="*/ 48 w 91"/>
              <a:gd name="T87" fmla="*/ 708 h 799"/>
              <a:gd name="T88" fmla="*/ 48 w 91"/>
              <a:gd name="T89" fmla="*/ 726 h 799"/>
              <a:gd name="T90" fmla="*/ 48 w 91"/>
              <a:gd name="T91" fmla="*/ 744 h 799"/>
              <a:gd name="T92" fmla="*/ 54 w 91"/>
              <a:gd name="T93" fmla="*/ 762 h 799"/>
              <a:gd name="T94" fmla="*/ 60 w 91"/>
              <a:gd name="T95" fmla="*/ 780 h 799"/>
              <a:gd name="T96" fmla="*/ 72 w 91"/>
              <a:gd name="T97" fmla="*/ 798 h 799"/>
              <a:gd name="T98" fmla="*/ 72 w 91"/>
              <a:gd name="T99" fmla="*/ 792 h 799"/>
              <a:gd name="T100" fmla="*/ 72 w 91"/>
              <a:gd name="T101" fmla="*/ 786 h 7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91" h="799">
                <a:moveTo>
                  <a:pt x="78" y="0"/>
                </a:moveTo>
                <a:lnTo>
                  <a:pt x="78" y="18"/>
                </a:lnTo>
                <a:lnTo>
                  <a:pt x="78" y="36"/>
                </a:lnTo>
                <a:lnTo>
                  <a:pt x="60" y="54"/>
                </a:lnTo>
                <a:lnTo>
                  <a:pt x="60" y="72"/>
                </a:lnTo>
                <a:lnTo>
                  <a:pt x="54" y="90"/>
                </a:lnTo>
                <a:lnTo>
                  <a:pt x="54" y="108"/>
                </a:lnTo>
                <a:lnTo>
                  <a:pt x="72" y="126"/>
                </a:lnTo>
                <a:lnTo>
                  <a:pt x="90" y="144"/>
                </a:lnTo>
                <a:lnTo>
                  <a:pt x="90" y="162"/>
                </a:lnTo>
                <a:lnTo>
                  <a:pt x="90" y="180"/>
                </a:lnTo>
                <a:lnTo>
                  <a:pt x="90" y="198"/>
                </a:lnTo>
                <a:lnTo>
                  <a:pt x="84" y="198"/>
                </a:lnTo>
                <a:lnTo>
                  <a:pt x="66" y="210"/>
                </a:lnTo>
                <a:lnTo>
                  <a:pt x="48" y="228"/>
                </a:lnTo>
                <a:lnTo>
                  <a:pt x="36" y="246"/>
                </a:lnTo>
                <a:lnTo>
                  <a:pt x="18" y="258"/>
                </a:lnTo>
                <a:lnTo>
                  <a:pt x="12" y="276"/>
                </a:lnTo>
                <a:lnTo>
                  <a:pt x="12" y="294"/>
                </a:lnTo>
                <a:lnTo>
                  <a:pt x="12" y="312"/>
                </a:lnTo>
                <a:lnTo>
                  <a:pt x="12" y="330"/>
                </a:lnTo>
                <a:lnTo>
                  <a:pt x="0" y="348"/>
                </a:lnTo>
                <a:lnTo>
                  <a:pt x="0" y="366"/>
                </a:lnTo>
                <a:lnTo>
                  <a:pt x="0" y="384"/>
                </a:lnTo>
                <a:lnTo>
                  <a:pt x="0" y="402"/>
                </a:lnTo>
                <a:lnTo>
                  <a:pt x="0" y="420"/>
                </a:lnTo>
                <a:lnTo>
                  <a:pt x="0" y="438"/>
                </a:lnTo>
                <a:lnTo>
                  <a:pt x="18" y="450"/>
                </a:lnTo>
                <a:lnTo>
                  <a:pt x="36" y="462"/>
                </a:lnTo>
                <a:lnTo>
                  <a:pt x="54" y="474"/>
                </a:lnTo>
                <a:lnTo>
                  <a:pt x="60" y="492"/>
                </a:lnTo>
                <a:lnTo>
                  <a:pt x="78" y="510"/>
                </a:lnTo>
                <a:lnTo>
                  <a:pt x="84" y="528"/>
                </a:lnTo>
                <a:lnTo>
                  <a:pt x="90" y="546"/>
                </a:lnTo>
                <a:lnTo>
                  <a:pt x="90" y="564"/>
                </a:lnTo>
                <a:lnTo>
                  <a:pt x="90" y="582"/>
                </a:lnTo>
                <a:lnTo>
                  <a:pt x="90" y="600"/>
                </a:lnTo>
                <a:lnTo>
                  <a:pt x="72" y="600"/>
                </a:lnTo>
                <a:lnTo>
                  <a:pt x="66" y="618"/>
                </a:lnTo>
                <a:lnTo>
                  <a:pt x="60" y="636"/>
                </a:lnTo>
                <a:lnTo>
                  <a:pt x="54" y="654"/>
                </a:lnTo>
                <a:lnTo>
                  <a:pt x="48" y="672"/>
                </a:lnTo>
                <a:lnTo>
                  <a:pt x="48" y="690"/>
                </a:lnTo>
                <a:lnTo>
                  <a:pt x="48" y="708"/>
                </a:lnTo>
                <a:lnTo>
                  <a:pt x="48" y="726"/>
                </a:lnTo>
                <a:lnTo>
                  <a:pt x="48" y="744"/>
                </a:lnTo>
                <a:lnTo>
                  <a:pt x="54" y="762"/>
                </a:lnTo>
                <a:lnTo>
                  <a:pt x="60" y="780"/>
                </a:lnTo>
                <a:lnTo>
                  <a:pt x="72" y="798"/>
                </a:lnTo>
                <a:lnTo>
                  <a:pt x="72" y="792"/>
                </a:lnTo>
                <a:lnTo>
                  <a:pt x="72" y="786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Rectangle 58">
            <a:extLst>
              <a:ext uri="{FF2B5EF4-FFF2-40B4-BE49-F238E27FC236}">
                <a16:creationId xmlns:a16="http://schemas.microsoft.com/office/drawing/2014/main" id="{9EF7F277-F55F-46AC-8978-DE2D4FF10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7623" y="1141159"/>
            <a:ext cx="1106073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折射角</a:t>
            </a:r>
          </a:p>
        </p:txBody>
      </p:sp>
      <p:sp>
        <p:nvSpPr>
          <p:cNvPr id="43" name="Rectangle 59">
            <a:extLst>
              <a:ext uri="{FF2B5EF4-FFF2-40B4-BE49-F238E27FC236}">
                <a16:creationId xmlns:a16="http://schemas.microsoft.com/office/drawing/2014/main" id="{C891606A-FCA1-499A-A54E-5502E7AB7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0848" y="3125534"/>
            <a:ext cx="1096963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入射角</a:t>
            </a:r>
          </a:p>
        </p:txBody>
      </p:sp>
      <p:sp>
        <p:nvSpPr>
          <p:cNvPr id="44" name="Line 60">
            <a:extLst>
              <a:ext uri="{FF2B5EF4-FFF2-40B4-BE49-F238E27FC236}">
                <a16:creationId xmlns:a16="http://schemas.microsoft.com/office/drawing/2014/main" id="{6B776157-E52D-48CE-A1D1-6CE3D07110BD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7998" y="1660273"/>
            <a:ext cx="119063" cy="720725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Line 61">
            <a:extLst>
              <a:ext uri="{FF2B5EF4-FFF2-40B4-BE49-F238E27FC236}">
                <a16:creationId xmlns:a16="http://schemas.microsoft.com/office/drawing/2014/main" id="{CBB4A192-B8B3-4A45-BFCF-9BBC776603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20847" y="1615822"/>
            <a:ext cx="1047750" cy="76835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Line 62">
            <a:extLst>
              <a:ext uri="{FF2B5EF4-FFF2-40B4-BE49-F238E27FC236}">
                <a16:creationId xmlns:a16="http://schemas.microsoft.com/office/drawing/2014/main" id="{315FD328-96F6-4841-97C1-9A2EDA2835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8922" y="3009648"/>
            <a:ext cx="298450" cy="255587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Line 63">
            <a:extLst>
              <a:ext uri="{FF2B5EF4-FFF2-40B4-BE49-F238E27FC236}">
                <a16:creationId xmlns:a16="http://schemas.microsoft.com/office/drawing/2014/main" id="{DF93F62A-3FA8-4DCB-B2E2-77E3983763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14610" y="2954084"/>
            <a:ext cx="165100" cy="242888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Line 64">
            <a:extLst>
              <a:ext uri="{FF2B5EF4-FFF2-40B4-BE49-F238E27FC236}">
                <a16:creationId xmlns:a16="http://schemas.microsoft.com/office/drawing/2014/main" id="{50125BD1-2225-4AAD-AD30-131DCCB36C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02073" y="2717547"/>
            <a:ext cx="608013" cy="328612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Line 65">
            <a:extLst>
              <a:ext uri="{FF2B5EF4-FFF2-40B4-BE49-F238E27FC236}">
                <a16:creationId xmlns:a16="http://schemas.microsoft.com/office/drawing/2014/main" id="{5091EA3C-A487-4AD1-9A25-4806B23F79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59197" y="1685673"/>
            <a:ext cx="501650" cy="708025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Freeform 66">
            <a:extLst>
              <a:ext uri="{FF2B5EF4-FFF2-40B4-BE49-F238E27FC236}">
                <a16:creationId xmlns:a16="http://schemas.microsoft.com/office/drawing/2014/main" id="{B5BA3CFF-1EC9-4B2B-BBA7-06255C083069}"/>
              </a:ext>
            </a:extLst>
          </p:cNvPr>
          <p:cNvSpPr>
            <a:spLocks/>
          </p:cNvSpPr>
          <p:nvPr/>
        </p:nvSpPr>
        <p:spPr bwMode="auto">
          <a:xfrm>
            <a:off x="7279861" y="2130172"/>
            <a:ext cx="22225" cy="493712"/>
          </a:xfrm>
          <a:custGeom>
            <a:avLst/>
            <a:gdLst>
              <a:gd name="T0" fmla="*/ 0 w 13"/>
              <a:gd name="T1" fmla="*/ 0 h 217"/>
              <a:gd name="T2" fmla="*/ 6 w 13"/>
              <a:gd name="T3" fmla="*/ 18 h 217"/>
              <a:gd name="T4" fmla="*/ 6 w 13"/>
              <a:gd name="T5" fmla="*/ 36 h 217"/>
              <a:gd name="T6" fmla="*/ 6 w 13"/>
              <a:gd name="T7" fmla="*/ 54 h 217"/>
              <a:gd name="T8" fmla="*/ 6 w 13"/>
              <a:gd name="T9" fmla="*/ 72 h 217"/>
              <a:gd name="T10" fmla="*/ 6 w 13"/>
              <a:gd name="T11" fmla="*/ 90 h 217"/>
              <a:gd name="T12" fmla="*/ 0 w 13"/>
              <a:gd name="T13" fmla="*/ 108 h 217"/>
              <a:gd name="T14" fmla="*/ 0 w 13"/>
              <a:gd name="T15" fmla="*/ 126 h 217"/>
              <a:gd name="T16" fmla="*/ 0 w 13"/>
              <a:gd name="T17" fmla="*/ 144 h 217"/>
              <a:gd name="T18" fmla="*/ 0 w 13"/>
              <a:gd name="T19" fmla="*/ 162 h 217"/>
              <a:gd name="T20" fmla="*/ 0 w 13"/>
              <a:gd name="T21" fmla="*/ 180 h 217"/>
              <a:gd name="T22" fmla="*/ 6 w 13"/>
              <a:gd name="T23" fmla="*/ 198 h 217"/>
              <a:gd name="T24" fmla="*/ 12 w 13"/>
              <a:gd name="T25" fmla="*/ 216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" h="217">
                <a:moveTo>
                  <a:pt x="0" y="0"/>
                </a:moveTo>
                <a:lnTo>
                  <a:pt x="6" y="18"/>
                </a:lnTo>
                <a:lnTo>
                  <a:pt x="6" y="36"/>
                </a:lnTo>
                <a:lnTo>
                  <a:pt x="6" y="54"/>
                </a:lnTo>
                <a:lnTo>
                  <a:pt x="6" y="72"/>
                </a:lnTo>
                <a:lnTo>
                  <a:pt x="6" y="90"/>
                </a:lnTo>
                <a:lnTo>
                  <a:pt x="0" y="108"/>
                </a:lnTo>
                <a:lnTo>
                  <a:pt x="0" y="126"/>
                </a:lnTo>
                <a:lnTo>
                  <a:pt x="0" y="144"/>
                </a:lnTo>
                <a:lnTo>
                  <a:pt x="0" y="162"/>
                </a:lnTo>
                <a:lnTo>
                  <a:pt x="0" y="180"/>
                </a:lnTo>
                <a:lnTo>
                  <a:pt x="6" y="198"/>
                </a:lnTo>
                <a:lnTo>
                  <a:pt x="12" y="216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Freeform 67">
            <a:extLst>
              <a:ext uri="{FF2B5EF4-FFF2-40B4-BE49-F238E27FC236}">
                <a16:creationId xmlns:a16="http://schemas.microsoft.com/office/drawing/2014/main" id="{FE4AA3D1-A5C0-4DF7-B72F-950A13C8ACA0}"/>
              </a:ext>
            </a:extLst>
          </p:cNvPr>
          <p:cNvSpPr>
            <a:spLocks/>
          </p:cNvSpPr>
          <p:nvPr/>
        </p:nvSpPr>
        <p:spPr bwMode="auto">
          <a:xfrm>
            <a:off x="7249697" y="2608010"/>
            <a:ext cx="82550" cy="919163"/>
          </a:xfrm>
          <a:custGeom>
            <a:avLst/>
            <a:gdLst>
              <a:gd name="T0" fmla="*/ 18 w 49"/>
              <a:gd name="T1" fmla="*/ 0 h 403"/>
              <a:gd name="T2" fmla="*/ 12 w 49"/>
              <a:gd name="T3" fmla="*/ 18 h 403"/>
              <a:gd name="T4" fmla="*/ 12 w 49"/>
              <a:gd name="T5" fmla="*/ 36 h 403"/>
              <a:gd name="T6" fmla="*/ 12 w 49"/>
              <a:gd name="T7" fmla="*/ 54 h 403"/>
              <a:gd name="T8" fmla="*/ 12 w 49"/>
              <a:gd name="T9" fmla="*/ 72 h 403"/>
              <a:gd name="T10" fmla="*/ 24 w 49"/>
              <a:gd name="T11" fmla="*/ 90 h 403"/>
              <a:gd name="T12" fmla="*/ 24 w 49"/>
              <a:gd name="T13" fmla="*/ 108 h 403"/>
              <a:gd name="T14" fmla="*/ 30 w 49"/>
              <a:gd name="T15" fmla="*/ 126 h 403"/>
              <a:gd name="T16" fmla="*/ 36 w 49"/>
              <a:gd name="T17" fmla="*/ 144 h 403"/>
              <a:gd name="T18" fmla="*/ 36 w 49"/>
              <a:gd name="T19" fmla="*/ 162 h 403"/>
              <a:gd name="T20" fmla="*/ 48 w 49"/>
              <a:gd name="T21" fmla="*/ 180 h 403"/>
              <a:gd name="T22" fmla="*/ 48 w 49"/>
              <a:gd name="T23" fmla="*/ 198 h 403"/>
              <a:gd name="T24" fmla="*/ 48 w 49"/>
              <a:gd name="T25" fmla="*/ 216 h 403"/>
              <a:gd name="T26" fmla="*/ 48 w 49"/>
              <a:gd name="T27" fmla="*/ 234 h 403"/>
              <a:gd name="T28" fmla="*/ 48 w 49"/>
              <a:gd name="T29" fmla="*/ 252 h 403"/>
              <a:gd name="T30" fmla="*/ 48 w 49"/>
              <a:gd name="T31" fmla="*/ 270 h 403"/>
              <a:gd name="T32" fmla="*/ 42 w 49"/>
              <a:gd name="T33" fmla="*/ 288 h 403"/>
              <a:gd name="T34" fmla="*/ 36 w 49"/>
              <a:gd name="T35" fmla="*/ 306 h 403"/>
              <a:gd name="T36" fmla="*/ 30 w 49"/>
              <a:gd name="T37" fmla="*/ 324 h 403"/>
              <a:gd name="T38" fmla="*/ 18 w 49"/>
              <a:gd name="T39" fmla="*/ 342 h 403"/>
              <a:gd name="T40" fmla="*/ 12 w 49"/>
              <a:gd name="T41" fmla="*/ 366 h 403"/>
              <a:gd name="T42" fmla="*/ 12 w 49"/>
              <a:gd name="T43" fmla="*/ 384 h 403"/>
              <a:gd name="T44" fmla="*/ 0 w 49"/>
              <a:gd name="T45" fmla="*/ 402 h 403"/>
              <a:gd name="T46" fmla="*/ 0 w 49"/>
              <a:gd name="T47" fmla="*/ 402 h 4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9" h="403">
                <a:moveTo>
                  <a:pt x="18" y="0"/>
                </a:moveTo>
                <a:lnTo>
                  <a:pt x="12" y="18"/>
                </a:lnTo>
                <a:lnTo>
                  <a:pt x="12" y="36"/>
                </a:lnTo>
                <a:lnTo>
                  <a:pt x="12" y="54"/>
                </a:lnTo>
                <a:lnTo>
                  <a:pt x="12" y="72"/>
                </a:lnTo>
                <a:lnTo>
                  <a:pt x="24" y="90"/>
                </a:lnTo>
                <a:lnTo>
                  <a:pt x="24" y="108"/>
                </a:lnTo>
                <a:lnTo>
                  <a:pt x="30" y="126"/>
                </a:lnTo>
                <a:lnTo>
                  <a:pt x="36" y="144"/>
                </a:lnTo>
                <a:lnTo>
                  <a:pt x="36" y="162"/>
                </a:lnTo>
                <a:lnTo>
                  <a:pt x="48" y="180"/>
                </a:lnTo>
                <a:lnTo>
                  <a:pt x="48" y="198"/>
                </a:lnTo>
                <a:lnTo>
                  <a:pt x="48" y="216"/>
                </a:lnTo>
                <a:lnTo>
                  <a:pt x="48" y="234"/>
                </a:lnTo>
                <a:lnTo>
                  <a:pt x="48" y="252"/>
                </a:lnTo>
                <a:lnTo>
                  <a:pt x="48" y="270"/>
                </a:lnTo>
                <a:lnTo>
                  <a:pt x="42" y="288"/>
                </a:lnTo>
                <a:lnTo>
                  <a:pt x="36" y="306"/>
                </a:lnTo>
                <a:lnTo>
                  <a:pt x="30" y="324"/>
                </a:lnTo>
                <a:lnTo>
                  <a:pt x="18" y="342"/>
                </a:lnTo>
                <a:lnTo>
                  <a:pt x="12" y="366"/>
                </a:lnTo>
                <a:lnTo>
                  <a:pt x="12" y="384"/>
                </a:lnTo>
                <a:lnTo>
                  <a:pt x="0" y="402"/>
                </a:lnTo>
                <a:lnTo>
                  <a:pt x="0" y="402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Freeform 68">
            <a:extLst>
              <a:ext uri="{FF2B5EF4-FFF2-40B4-BE49-F238E27FC236}">
                <a16:creationId xmlns:a16="http://schemas.microsoft.com/office/drawing/2014/main" id="{738FB101-6DEB-4144-8D72-18698F0ABF48}"/>
              </a:ext>
            </a:extLst>
          </p:cNvPr>
          <p:cNvSpPr>
            <a:spLocks/>
          </p:cNvSpPr>
          <p:nvPr/>
        </p:nvSpPr>
        <p:spPr bwMode="auto">
          <a:xfrm>
            <a:off x="7229061" y="3523998"/>
            <a:ext cx="22225" cy="454025"/>
          </a:xfrm>
          <a:custGeom>
            <a:avLst/>
            <a:gdLst>
              <a:gd name="T0" fmla="*/ 12 w 13"/>
              <a:gd name="T1" fmla="*/ 0 h 199"/>
              <a:gd name="T2" fmla="*/ 12 w 13"/>
              <a:gd name="T3" fmla="*/ 18 h 199"/>
              <a:gd name="T4" fmla="*/ 12 w 13"/>
              <a:gd name="T5" fmla="*/ 36 h 199"/>
              <a:gd name="T6" fmla="*/ 12 w 13"/>
              <a:gd name="T7" fmla="*/ 54 h 199"/>
              <a:gd name="T8" fmla="*/ 12 w 13"/>
              <a:gd name="T9" fmla="*/ 72 h 199"/>
              <a:gd name="T10" fmla="*/ 12 w 13"/>
              <a:gd name="T11" fmla="*/ 90 h 199"/>
              <a:gd name="T12" fmla="*/ 12 w 13"/>
              <a:gd name="T13" fmla="*/ 108 h 199"/>
              <a:gd name="T14" fmla="*/ 12 w 13"/>
              <a:gd name="T15" fmla="*/ 126 h 199"/>
              <a:gd name="T16" fmla="*/ 12 w 13"/>
              <a:gd name="T17" fmla="*/ 144 h 199"/>
              <a:gd name="T18" fmla="*/ 12 w 13"/>
              <a:gd name="T19" fmla="*/ 162 h 199"/>
              <a:gd name="T20" fmla="*/ 6 w 13"/>
              <a:gd name="T21" fmla="*/ 180 h 199"/>
              <a:gd name="T22" fmla="*/ 0 w 13"/>
              <a:gd name="T23" fmla="*/ 198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3" h="199">
                <a:moveTo>
                  <a:pt x="12" y="0"/>
                </a:moveTo>
                <a:lnTo>
                  <a:pt x="12" y="18"/>
                </a:lnTo>
                <a:lnTo>
                  <a:pt x="12" y="36"/>
                </a:lnTo>
                <a:lnTo>
                  <a:pt x="12" y="54"/>
                </a:lnTo>
                <a:lnTo>
                  <a:pt x="12" y="72"/>
                </a:lnTo>
                <a:lnTo>
                  <a:pt x="12" y="90"/>
                </a:lnTo>
                <a:lnTo>
                  <a:pt x="12" y="108"/>
                </a:lnTo>
                <a:lnTo>
                  <a:pt x="12" y="126"/>
                </a:lnTo>
                <a:lnTo>
                  <a:pt x="12" y="144"/>
                </a:lnTo>
                <a:lnTo>
                  <a:pt x="12" y="162"/>
                </a:lnTo>
                <a:lnTo>
                  <a:pt x="6" y="180"/>
                </a:lnTo>
                <a:lnTo>
                  <a:pt x="0" y="19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Arc 69">
            <a:extLst>
              <a:ext uri="{FF2B5EF4-FFF2-40B4-BE49-F238E27FC236}">
                <a16:creationId xmlns:a16="http://schemas.microsoft.com/office/drawing/2014/main" id="{024E2FD1-74FD-4E23-B5B4-530AB8922EF7}"/>
              </a:ext>
            </a:extLst>
          </p:cNvPr>
          <p:cNvSpPr>
            <a:spLocks/>
          </p:cNvSpPr>
          <p:nvPr/>
        </p:nvSpPr>
        <p:spPr bwMode="auto">
          <a:xfrm rot="540000">
            <a:off x="6252748" y="2346073"/>
            <a:ext cx="354013" cy="34607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9050" cap="rnd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Text Box 70">
            <a:extLst>
              <a:ext uri="{FF2B5EF4-FFF2-40B4-BE49-F238E27FC236}">
                <a16:creationId xmlns:a16="http://schemas.microsoft.com/office/drawing/2014/main" id="{312668C9-5952-4940-9AF6-D7AEF3592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1922" y="1249110"/>
            <a:ext cx="249299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zh-CN" altLang="en-US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包层</a:t>
            </a:r>
          </a:p>
          <a:p>
            <a:pPr algn="l"/>
            <a:r>
              <a:rPr kumimoji="1" lang="zh-CN" altLang="en-US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（低折射率的媒体）</a:t>
            </a:r>
          </a:p>
        </p:txBody>
      </p:sp>
      <p:sp>
        <p:nvSpPr>
          <p:cNvPr id="55" name="Line 71">
            <a:extLst>
              <a:ext uri="{FF2B5EF4-FFF2-40B4-BE49-F238E27FC236}">
                <a16:creationId xmlns:a16="http://schemas.microsoft.com/office/drawing/2014/main" id="{BB226D0C-FE2D-4A9C-8DBF-5B86BF9E1B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38560" y="3701798"/>
            <a:ext cx="652462" cy="109537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 Box 72">
            <a:extLst>
              <a:ext uri="{FF2B5EF4-FFF2-40B4-BE49-F238E27FC236}">
                <a16:creationId xmlns:a16="http://schemas.microsoft.com/office/drawing/2014/main" id="{845329E9-2C3F-4A9D-A7D0-5209DB1F3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0847" y="3408110"/>
            <a:ext cx="249299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zh-CN" altLang="en-US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包层</a:t>
            </a:r>
          </a:p>
          <a:p>
            <a:pPr algn="l"/>
            <a:r>
              <a:rPr kumimoji="1" lang="zh-CN" altLang="en-US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（低折射率的媒体）</a:t>
            </a:r>
          </a:p>
        </p:txBody>
      </p:sp>
      <p:sp>
        <p:nvSpPr>
          <p:cNvPr id="57" name="Text Box 73">
            <a:extLst>
              <a:ext uri="{FF2B5EF4-FFF2-40B4-BE49-F238E27FC236}">
                <a16:creationId xmlns:a16="http://schemas.microsoft.com/office/drawing/2014/main" id="{24D7B905-D726-4015-829F-DD08DBAFE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2285" y="2333373"/>
            <a:ext cx="28194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en-US" altLang="zh-CN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kumimoji="1" lang="zh-CN" altLang="en-US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纤芯</a:t>
            </a:r>
          </a:p>
          <a:p>
            <a:pPr algn="l"/>
            <a:r>
              <a:rPr kumimoji="1" lang="zh-CN" altLang="en-US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（高折射率的媒体）            </a:t>
            </a:r>
          </a:p>
        </p:txBody>
      </p:sp>
      <p:sp>
        <p:nvSpPr>
          <p:cNvPr id="58" name="AutoShape 74">
            <a:extLst>
              <a:ext uri="{FF2B5EF4-FFF2-40B4-BE49-F238E27FC236}">
                <a16:creationId xmlns:a16="http://schemas.microsoft.com/office/drawing/2014/main" id="{81950E77-E404-4DC0-84D8-DDC899DAAB8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851404" y="2392903"/>
            <a:ext cx="1885950" cy="1306513"/>
          </a:xfrm>
          <a:prstGeom prst="can">
            <a:avLst>
              <a:gd name="adj" fmla="val 29815"/>
            </a:avLst>
          </a:prstGeom>
          <a:gradFill rotWithShape="1">
            <a:gsLst>
              <a:gs pos="0">
                <a:srgbClr val="66FFFF">
                  <a:gamma/>
                  <a:shade val="46275"/>
                  <a:invGamma/>
                </a:srgbClr>
              </a:gs>
              <a:gs pos="50000">
                <a:srgbClr val="66FFFF"/>
              </a:gs>
              <a:gs pos="100000">
                <a:srgbClr val="66FFFF">
                  <a:gamma/>
                  <a:shade val="46275"/>
                  <a:invGamma/>
                </a:srgbClr>
              </a:gs>
            </a:gsLst>
            <a:lin ang="0" scaled="1"/>
          </a:gradFill>
          <a:ln w="9525">
            <a:solidFill>
              <a:srgbClr val="3333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AutoShape 75">
            <a:extLst>
              <a:ext uri="{FF2B5EF4-FFF2-40B4-BE49-F238E27FC236}">
                <a16:creationId xmlns:a16="http://schemas.microsoft.com/office/drawing/2014/main" id="{13CFC999-CA5B-44E0-BC26-0327ACA0219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077747" y="2746122"/>
            <a:ext cx="901700" cy="654050"/>
          </a:xfrm>
          <a:prstGeom prst="can">
            <a:avLst>
              <a:gd name="adj" fmla="val 27343"/>
            </a:avLst>
          </a:prstGeom>
          <a:solidFill>
            <a:srgbClr val="FFFFFF"/>
          </a:solidFill>
          <a:ln w="9525">
            <a:solidFill>
              <a:srgbClr val="3333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Text Box 76">
            <a:extLst>
              <a:ext uri="{FF2B5EF4-FFF2-40B4-BE49-F238E27FC236}">
                <a16:creationId xmlns:a16="http://schemas.microsoft.com/office/drawing/2014/main" id="{80068FAB-469D-4B7E-9C5B-C7424A7E3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2333" y="1360646"/>
            <a:ext cx="6976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包层</a:t>
            </a:r>
          </a:p>
        </p:txBody>
      </p:sp>
      <p:sp>
        <p:nvSpPr>
          <p:cNvPr id="61" name="Line 77">
            <a:extLst>
              <a:ext uri="{FF2B5EF4-FFF2-40B4-BE49-F238E27FC236}">
                <a16:creationId xmlns:a16="http://schemas.microsoft.com/office/drawing/2014/main" id="{53C9DFE3-9FDB-4845-9412-C374D4F730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76136" y="1733298"/>
            <a:ext cx="3175" cy="655637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Text Box 78">
            <a:extLst>
              <a:ext uri="{FF2B5EF4-FFF2-40B4-BE49-F238E27FC236}">
                <a16:creationId xmlns:a16="http://schemas.microsoft.com/office/drawing/2014/main" id="{4DA5A372-DC96-48D0-8459-A81E54318A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7635" y="1514222"/>
            <a:ext cx="6969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zh-CN" altLang="en-US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纤芯</a:t>
            </a:r>
          </a:p>
        </p:txBody>
      </p:sp>
      <p:sp>
        <p:nvSpPr>
          <p:cNvPr id="63" name="Line 79">
            <a:extLst>
              <a:ext uri="{FF2B5EF4-FFF2-40B4-BE49-F238E27FC236}">
                <a16:creationId xmlns:a16="http://schemas.microsoft.com/office/drawing/2014/main" id="{65438C46-A542-4587-B535-606ED9427B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42872" y="1952372"/>
            <a:ext cx="249238" cy="874712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9004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5" grpId="0" animBg="1"/>
      <p:bldP spid="16" grpId="0"/>
      <p:bldP spid="17" grpId="0"/>
      <p:bldP spid="18" grpId="0" animBg="1"/>
      <p:bldP spid="19" grpId="0" animBg="1"/>
      <p:bldP spid="20" grpId="0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40F0A3-4742-473B-8068-165DEDDB4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光纤的特点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47486C-A577-410E-A255-9F14B0E1F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优点：抗干扰，传输速率高、距离长</a:t>
            </a:r>
          </a:p>
          <a:p>
            <a:r>
              <a:rPr lang="zh-CN" altLang="en-US" dirty="0"/>
              <a:t>缺点：价格贵，安装维护困难，费用高 </a:t>
            </a:r>
          </a:p>
          <a:p>
            <a:r>
              <a:rPr lang="zh-CN" altLang="en-US" dirty="0"/>
              <a:t>规格：单模，多模 </a:t>
            </a:r>
          </a:p>
          <a:p>
            <a:r>
              <a:rPr lang="zh-CN" altLang="en-US" dirty="0"/>
              <a:t>光缆组件</a:t>
            </a:r>
          </a:p>
          <a:p>
            <a:r>
              <a:rPr lang="zh-CN" altLang="en-US" dirty="0"/>
              <a:t>光电转换设备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C5AE5E-05E4-4674-BC54-8F6987BC1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defRPr/>
              </a:pPr>
              <a:t>18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9524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283511-58B8-42F2-B617-012F54CBE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光的模式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F58FB7-AAB5-43B1-949E-38B90F7D2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光学上把具有一定频率、一定的偏振状态和传播方向的光波称做光波的一种模式。</a:t>
            </a:r>
          </a:p>
          <a:p>
            <a:pPr lvl="1"/>
            <a:r>
              <a:rPr lang="zh-CN" altLang="en-US" dirty="0"/>
              <a:t>只允许传输一个模式光波的光导纤维称为单模光导纤维</a:t>
            </a:r>
            <a:endParaRPr lang="en-US" altLang="zh-CN" dirty="0"/>
          </a:p>
          <a:p>
            <a:pPr lvl="1"/>
            <a:r>
              <a:rPr lang="zh-CN" altLang="en-US" dirty="0"/>
              <a:t>允许同时传输多个模式光波的光导纤维称为多模光导纤维。</a:t>
            </a:r>
            <a:endParaRPr lang="en-US" altLang="zh-CN" dirty="0"/>
          </a:p>
          <a:p>
            <a:r>
              <a:rPr lang="zh-CN" altLang="en-US" dirty="0"/>
              <a:t>单模光纤芯径约在</a:t>
            </a:r>
            <a:r>
              <a:rPr lang="en-US" altLang="zh-CN" dirty="0"/>
              <a:t>1</a:t>
            </a:r>
            <a:r>
              <a:rPr lang="zh-CN" altLang="en-US" dirty="0"/>
              <a:t>～</a:t>
            </a:r>
            <a:r>
              <a:rPr lang="en-US" altLang="zh-CN" dirty="0"/>
              <a:t>10μm</a:t>
            </a:r>
            <a:r>
              <a:rPr lang="zh-CN" altLang="en-US" dirty="0"/>
              <a:t>之间，在给定的工作波长上，只传输单一基模，适于大容量长距离通信系统。</a:t>
            </a:r>
          </a:p>
          <a:p>
            <a:r>
              <a:rPr lang="zh-CN" altLang="en-US" dirty="0"/>
              <a:t>多模光纤能传输多个模式的光波，芯径约在</a:t>
            </a:r>
            <a:r>
              <a:rPr lang="en-US" altLang="zh-CN" dirty="0"/>
              <a:t>50</a:t>
            </a:r>
            <a:r>
              <a:rPr lang="zh-CN" altLang="en-US" dirty="0"/>
              <a:t>～</a:t>
            </a:r>
            <a:r>
              <a:rPr lang="en-US" altLang="zh-CN" dirty="0"/>
              <a:t>60μm</a:t>
            </a:r>
            <a:r>
              <a:rPr lang="zh-CN" altLang="en-US" dirty="0"/>
              <a:t>之间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2711D2-D17E-4285-ABBC-97605B044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defRPr/>
              </a:pPr>
              <a:t>19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25675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235687-13C3-4008-92F3-A172BB5B5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多模光纤与单模光纤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190381-9BA8-4B7C-8DF2-EAF897016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+mn-ea"/>
                <a:ea typeface="+mn-ea"/>
              </a:rPr>
              <a:pPr>
                <a:defRPr/>
              </a:pPr>
              <a:t>20</a:t>
            </a:fld>
            <a:endParaRPr lang="en-US" altLang="zh-CN" dirty="0">
              <a:latin typeface="+mn-ea"/>
              <a:ea typeface="+mn-ea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83CDC82-A1A8-4A29-BB3C-C6D217DCDEE1}"/>
              </a:ext>
            </a:extLst>
          </p:cNvPr>
          <p:cNvGrpSpPr>
            <a:grpSpLocks/>
          </p:cNvGrpSpPr>
          <p:nvPr/>
        </p:nvGrpSpPr>
        <p:grpSpPr bwMode="auto">
          <a:xfrm>
            <a:off x="1574800" y="3883028"/>
            <a:ext cx="9080500" cy="1457325"/>
            <a:chOff x="48" y="2768"/>
            <a:chExt cx="5720" cy="91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5FDA2D1-9E27-4B99-A304-0B6BC71561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2" y="3158"/>
              <a:ext cx="4476" cy="528"/>
              <a:chOff x="682" y="3072"/>
              <a:chExt cx="4476" cy="528"/>
            </a:xfrm>
          </p:grpSpPr>
          <p:sp>
            <p:nvSpPr>
              <p:cNvPr id="23" name="Rectangle 6">
                <a:extLst>
                  <a:ext uri="{FF2B5EF4-FFF2-40B4-BE49-F238E27FC236}">
                    <a16:creationId xmlns:a16="http://schemas.microsoft.com/office/drawing/2014/main" id="{9A68C6A2-FD8A-44D2-825C-7D2CF6356B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3168"/>
                <a:ext cx="4320" cy="336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4" name="Group 7">
                <a:extLst>
                  <a:ext uri="{FF2B5EF4-FFF2-40B4-BE49-F238E27FC236}">
                    <a16:creationId xmlns:a16="http://schemas.microsoft.com/office/drawing/2014/main" id="{0AEE2C09-2551-49F9-A361-F08EAF1ECA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2" y="3072"/>
                <a:ext cx="4476" cy="528"/>
                <a:chOff x="682" y="3072"/>
                <a:chExt cx="4476" cy="528"/>
              </a:xfrm>
            </p:grpSpPr>
            <p:sp>
              <p:nvSpPr>
                <p:cNvPr id="25" name="Rectangle 8">
                  <a:extLst>
                    <a:ext uri="{FF2B5EF4-FFF2-40B4-BE49-F238E27FC236}">
                      <a16:creationId xmlns:a16="http://schemas.microsoft.com/office/drawing/2014/main" id="{1749125D-C431-4121-ACFD-EEE69855D4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3072"/>
                  <a:ext cx="4320" cy="240"/>
                </a:xfrm>
                <a:prstGeom prst="rect">
                  <a:avLst/>
                </a:prstGeom>
                <a:solidFill>
                  <a:srgbClr val="EAEAEA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6" name="Rectangle 9">
                  <a:extLst>
                    <a:ext uri="{FF2B5EF4-FFF2-40B4-BE49-F238E27FC236}">
                      <a16:creationId xmlns:a16="http://schemas.microsoft.com/office/drawing/2014/main" id="{22C21DED-0F60-4011-8D1A-198FD32B3A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3360"/>
                  <a:ext cx="4320" cy="240"/>
                </a:xfrm>
                <a:prstGeom prst="rect">
                  <a:avLst/>
                </a:prstGeom>
                <a:solidFill>
                  <a:srgbClr val="EAEAEA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" name="Line 10">
                  <a:extLst>
                    <a:ext uri="{FF2B5EF4-FFF2-40B4-BE49-F238E27FC236}">
                      <a16:creationId xmlns:a16="http://schemas.microsoft.com/office/drawing/2014/main" id="{DEC7C149-CDEB-4176-9C95-2C0B460CA7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3072"/>
                  <a:ext cx="432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8" name="Line 11">
                  <a:extLst>
                    <a:ext uri="{FF2B5EF4-FFF2-40B4-BE49-F238E27FC236}">
                      <a16:creationId xmlns:a16="http://schemas.microsoft.com/office/drawing/2014/main" id="{87A441B0-8EBF-4C7E-9920-8C19FBD94C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3312"/>
                  <a:ext cx="432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9" name="Line 12">
                  <a:extLst>
                    <a:ext uri="{FF2B5EF4-FFF2-40B4-BE49-F238E27FC236}">
                      <a16:creationId xmlns:a16="http://schemas.microsoft.com/office/drawing/2014/main" id="{5DB836D2-55CD-4A30-9D59-2B3BB0E8F2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3360"/>
                  <a:ext cx="432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0" name="Line 13">
                  <a:extLst>
                    <a:ext uri="{FF2B5EF4-FFF2-40B4-BE49-F238E27FC236}">
                      <a16:creationId xmlns:a16="http://schemas.microsoft.com/office/drawing/2014/main" id="{36B94F3D-61BC-4985-A7C5-036CD1E62A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3600"/>
                  <a:ext cx="432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1" name="Line 14">
                  <a:extLst>
                    <a:ext uri="{FF2B5EF4-FFF2-40B4-BE49-F238E27FC236}">
                      <a16:creationId xmlns:a16="http://schemas.microsoft.com/office/drawing/2014/main" id="{7DB648DC-9506-494A-B984-05AF7C8047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82" y="3333"/>
                  <a:ext cx="4476" cy="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"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7" name="Group 15">
              <a:extLst>
                <a:ext uri="{FF2B5EF4-FFF2-40B4-BE49-F238E27FC236}">
                  <a16:creationId xmlns:a16="http://schemas.microsoft.com/office/drawing/2014/main" id="{512B5975-9DB7-4EB6-83B7-274E305B2B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2840"/>
              <a:ext cx="5720" cy="818"/>
              <a:chOff x="48" y="2930"/>
              <a:chExt cx="5720" cy="818"/>
            </a:xfrm>
          </p:grpSpPr>
          <p:grpSp>
            <p:nvGrpSpPr>
              <p:cNvPr id="9" name="Group 16">
                <a:extLst>
                  <a:ext uri="{FF2B5EF4-FFF2-40B4-BE49-F238E27FC236}">
                    <a16:creationId xmlns:a16="http://schemas.microsoft.com/office/drawing/2014/main" id="{83988A0A-8939-48AE-BF82-EA75CADFAA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" y="2930"/>
                <a:ext cx="756" cy="818"/>
                <a:chOff x="48" y="2930"/>
                <a:chExt cx="756" cy="818"/>
              </a:xfrm>
            </p:grpSpPr>
            <p:grpSp>
              <p:nvGrpSpPr>
                <p:cNvPr id="17" name="Group 17">
                  <a:extLst>
                    <a:ext uri="{FF2B5EF4-FFF2-40B4-BE49-F238E27FC236}">
                      <a16:creationId xmlns:a16="http://schemas.microsoft.com/office/drawing/2014/main" id="{17ADBFB6-34A9-4451-8313-B0E3A1C8F27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8" y="3220"/>
                  <a:ext cx="480" cy="528"/>
                  <a:chOff x="240" y="2448"/>
                  <a:chExt cx="480" cy="528"/>
                </a:xfrm>
              </p:grpSpPr>
              <p:grpSp>
                <p:nvGrpSpPr>
                  <p:cNvPr id="19" name="Group 18">
                    <a:extLst>
                      <a:ext uri="{FF2B5EF4-FFF2-40B4-BE49-F238E27FC236}">
                        <a16:creationId xmlns:a16="http://schemas.microsoft.com/office/drawing/2014/main" id="{EE505DE8-C3B6-4698-9EDD-ECD48EFDA9F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40" y="2448"/>
                    <a:ext cx="480" cy="528"/>
                    <a:chOff x="240" y="2448"/>
                    <a:chExt cx="672" cy="672"/>
                  </a:xfrm>
                </p:grpSpPr>
                <p:sp>
                  <p:nvSpPr>
                    <p:cNvPr id="21" name="Rectangle 19">
                      <a:extLst>
                        <a:ext uri="{FF2B5EF4-FFF2-40B4-BE49-F238E27FC236}">
                          <a16:creationId xmlns:a16="http://schemas.microsoft.com/office/drawing/2014/main" id="{D865FE56-F9BB-4273-9A64-199A2B0F13B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0" y="2448"/>
                      <a:ext cx="672" cy="672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333399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22" name="Line 20">
                      <a:extLst>
                        <a:ext uri="{FF2B5EF4-FFF2-40B4-BE49-F238E27FC236}">
                          <a16:creationId xmlns:a16="http://schemas.microsoft.com/office/drawing/2014/main" id="{6FF2CA70-B1E7-40C9-9C6E-275DC111696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76" y="2448"/>
                      <a:ext cx="0" cy="672"/>
                    </a:xfrm>
                    <a:prstGeom prst="line">
                      <a:avLst/>
                    </a:prstGeom>
                    <a:noFill/>
                    <a:ln w="6350">
                      <a:solidFill>
                        <a:srgbClr val="333399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</p:grpSp>
              <p:sp>
                <p:nvSpPr>
                  <p:cNvPr id="20" name="Freeform 21">
                    <a:extLst>
                      <a:ext uri="{FF2B5EF4-FFF2-40B4-BE49-F238E27FC236}">
                        <a16:creationId xmlns:a16="http://schemas.microsoft.com/office/drawing/2014/main" id="{2CDF8FAF-C368-4D97-ABA0-8F536DEA13E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0" y="2450"/>
                    <a:ext cx="480" cy="526"/>
                  </a:xfrm>
                  <a:custGeom>
                    <a:avLst/>
                    <a:gdLst>
                      <a:gd name="T0" fmla="*/ 0 w 672"/>
                      <a:gd name="T1" fmla="*/ 670 h 670"/>
                      <a:gd name="T2" fmla="*/ 126 w 672"/>
                      <a:gd name="T3" fmla="*/ 637 h 670"/>
                      <a:gd name="T4" fmla="*/ 192 w 672"/>
                      <a:gd name="T5" fmla="*/ 526 h 670"/>
                      <a:gd name="T6" fmla="*/ 240 w 672"/>
                      <a:gd name="T7" fmla="*/ 334 h 670"/>
                      <a:gd name="T8" fmla="*/ 279 w 672"/>
                      <a:gd name="T9" fmla="*/ 139 h 670"/>
                      <a:gd name="T10" fmla="*/ 303 w 672"/>
                      <a:gd name="T11" fmla="*/ 40 h 670"/>
                      <a:gd name="T12" fmla="*/ 339 w 672"/>
                      <a:gd name="T13" fmla="*/ 1 h 670"/>
                      <a:gd name="T14" fmla="*/ 369 w 672"/>
                      <a:gd name="T15" fmla="*/ 34 h 670"/>
                      <a:gd name="T16" fmla="*/ 396 w 672"/>
                      <a:gd name="T17" fmla="*/ 136 h 670"/>
                      <a:gd name="T18" fmla="*/ 432 w 672"/>
                      <a:gd name="T19" fmla="*/ 337 h 670"/>
                      <a:gd name="T20" fmla="*/ 456 w 672"/>
                      <a:gd name="T21" fmla="*/ 457 h 670"/>
                      <a:gd name="T22" fmla="*/ 504 w 672"/>
                      <a:gd name="T23" fmla="*/ 595 h 670"/>
                      <a:gd name="T24" fmla="*/ 573 w 672"/>
                      <a:gd name="T25" fmla="*/ 643 h 670"/>
                      <a:gd name="T26" fmla="*/ 612 w 672"/>
                      <a:gd name="T27" fmla="*/ 655 h 670"/>
                      <a:gd name="T28" fmla="*/ 672 w 672"/>
                      <a:gd name="T29" fmla="*/ 670 h 6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672" h="670">
                        <a:moveTo>
                          <a:pt x="0" y="670"/>
                        </a:moveTo>
                        <a:cubicBezTo>
                          <a:pt x="21" y="664"/>
                          <a:pt x="94" y="661"/>
                          <a:pt x="126" y="637"/>
                        </a:cubicBezTo>
                        <a:cubicBezTo>
                          <a:pt x="158" y="613"/>
                          <a:pt x="173" y="576"/>
                          <a:pt x="192" y="526"/>
                        </a:cubicBezTo>
                        <a:cubicBezTo>
                          <a:pt x="211" y="476"/>
                          <a:pt x="226" y="398"/>
                          <a:pt x="240" y="334"/>
                        </a:cubicBezTo>
                        <a:cubicBezTo>
                          <a:pt x="254" y="270"/>
                          <a:pt x="269" y="188"/>
                          <a:pt x="279" y="139"/>
                        </a:cubicBezTo>
                        <a:cubicBezTo>
                          <a:pt x="289" y="90"/>
                          <a:pt x="293" y="63"/>
                          <a:pt x="303" y="40"/>
                        </a:cubicBezTo>
                        <a:cubicBezTo>
                          <a:pt x="313" y="17"/>
                          <a:pt x="328" y="2"/>
                          <a:pt x="339" y="1"/>
                        </a:cubicBezTo>
                        <a:cubicBezTo>
                          <a:pt x="350" y="0"/>
                          <a:pt x="360" y="12"/>
                          <a:pt x="369" y="34"/>
                        </a:cubicBezTo>
                        <a:cubicBezTo>
                          <a:pt x="378" y="56"/>
                          <a:pt x="386" y="86"/>
                          <a:pt x="396" y="136"/>
                        </a:cubicBezTo>
                        <a:cubicBezTo>
                          <a:pt x="406" y="186"/>
                          <a:pt x="422" y="284"/>
                          <a:pt x="432" y="337"/>
                        </a:cubicBezTo>
                        <a:cubicBezTo>
                          <a:pt x="442" y="390"/>
                          <a:pt x="444" y="414"/>
                          <a:pt x="456" y="457"/>
                        </a:cubicBezTo>
                        <a:cubicBezTo>
                          <a:pt x="468" y="500"/>
                          <a:pt x="485" y="564"/>
                          <a:pt x="504" y="595"/>
                        </a:cubicBezTo>
                        <a:cubicBezTo>
                          <a:pt x="523" y="626"/>
                          <a:pt x="555" y="633"/>
                          <a:pt x="573" y="643"/>
                        </a:cubicBezTo>
                        <a:cubicBezTo>
                          <a:pt x="591" y="653"/>
                          <a:pt x="596" y="651"/>
                          <a:pt x="612" y="655"/>
                        </a:cubicBezTo>
                        <a:cubicBezTo>
                          <a:pt x="628" y="659"/>
                          <a:pt x="660" y="667"/>
                          <a:pt x="672" y="670"/>
                        </a:cubicBezTo>
                      </a:path>
                    </a:pathLst>
                  </a:custGeom>
                  <a:noFill/>
                  <a:ln w="28575" cmpd="sng">
                    <a:solidFill>
                      <a:srgbClr val="333399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18" name="Text Box 22">
                  <a:extLst>
                    <a:ext uri="{FF2B5EF4-FFF2-40B4-BE49-F238E27FC236}">
                      <a16:creationId xmlns:a16="http://schemas.microsoft.com/office/drawing/2014/main" id="{F77973B7-23A6-4AB9-930F-4E8E9CD70FD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" y="2930"/>
                  <a:ext cx="75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kumimoji="1" lang="zh-CN" altLang="en-US" sz="2000">
                      <a:solidFill>
                        <a:srgbClr val="333399"/>
                      </a:solidFill>
                      <a:latin typeface="+mn-ea"/>
                      <a:ea typeface="+mn-ea"/>
                    </a:rPr>
                    <a:t>输入脉冲</a:t>
                  </a:r>
                </a:p>
              </p:txBody>
            </p:sp>
          </p:grpSp>
          <p:grpSp>
            <p:nvGrpSpPr>
              <p:cNvPr id="10" name="Group 23">
                <a:extLst>
                  <a:ext uri="{FF2B5EF4-FFF2-40B4-BE49-F238E27FC236}">
                    <a16:creationId xmlns:a16="http://schemas.microsoft.com/office/drawing/2014/main" id="{C61C0AE1-8323-4483-AF01-7CFAE7109F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12" y="2947"/>
                <a:ext cx="756" cy="801"/>
                <a:chOff x="5012" y="2947"/>
                <a:chExt cx="756" cy="801"/>
              </a:xfrm>
            </p:grpSpPr>
            <p:sp>
              <p:nvSpPr>
                <p:cNvPr id="11" name="Text Box 24">
                  <a:extLst>
                    <a:ext uri="{FF2B5EF4-FFF2-40B4-BE49-F238E27FC236}">
                      <a16:creationId xmlns:a16="http://schemas.microsoft.com/office/drawing/2014/main" id="{BED60F5D-B2FF-4D3D-87AF-8D2F712CF3F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012" y="2947"/>
                  <a:ext cx="75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kumimoji="1" lang="zh-CN" altLang="en-US" sz="2000">
                      <a:solidFill>
                        <a:srgbClr val="333399"/>
                      </a:solidFill>
                      <a:latin typeface="+mn-ea"/>
                      <a:ea typeface="+mn-ea"/>
                    </a:rPr>
                    <a:t>输出脉冲</a:t>
                  </a:r>
                </a:p>
              </p:txBody>
            </p:sp>
            <p:grpSp>
              <p:nvGrpSpPr>
                <p:cNvPr id="12" name="Group 25">
                  <a:extLst>
                    <a:ext uri="{FF2B5EF4-FFF2-40B4-BE49-F238E27FC236}">
                      <a16:creationId xmlns:a16="http://schemas.microsoft.com/office/drawing/2014/main" id="{1EDD2933-4DB3-47C2-9D70-B093137C485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148" y="3220"/>
                  <a:ext cx="480" cy="528"/>
                  <a:chOff x="240" y="2448"/>
                  <a:chExt cx="480" cy="528"/>
                </a:xfrm>
              </p:grpSpPr>
              <p:grpSp>
                <p:nvGrpSpPr>
                  <p:cNvPr id="13" name="Group 26">
                    <a:extLst>
                      <a:ext uri="{FF2B5EF4-FFF2-40B4-BE49-F238E27FC236}">
                        <a16:creationId xmlns:a16="http://schemas.microsoft.com/office/drawing/2014/main" id="{3BC6054B-C044-469C-ABC3-B9C79C32B15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40" y="2448"/>
                    <a:ext cx="480" cy="528"/>
                    <a:chOff x="240" y="2448"/>
                    <a:chExt cx="672" cy="672"/>
                  </a:xfrm>
                </p:grpSpPr>
                <p:sp>
                  <p:nvSpPr>
                    <p:cNvPr id="15" name="Rectangle 27">
                      <a:extLst>
                        <a:ext uri="{FF2B5EF4-FFF2-40B4-BE49-F238E27FC236}">
                          <a16:creationId xmlns:a16="http://schemas.microsoft.com/office/drawing/2014/main" id="{9A2F1BC0-DF0C-4E37-B86B-2DF60705B65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0" y="2448"/>
                      <a:ext cx="672" cy="672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333399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16" name="Line 28">
                      <a:extLst>
                        <a:ext uri="{FF2B5EF4-FFF2-40B4-BE49-F238E27FC236}">
                          <a16:creationId xmlns:a16="http://schemas.microsoft.com/office/drawing/2014/main" id="{824B3816-1BBD-4855-8E88-62AABC94245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76" y="2448"/>
                      <a:ext cx="0" cy="672"/>
                    </a:xfrm>
                    <a:prstGeom prst="line">
                      <a:avLst/>
                    </a:prstGeom>
                    <a:noFill/>
                    <a:ln w="6350">
                      <a:solidFill>
                        <a:srgbClr val="333399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</p:grpSp>
              <p:sp>
                <p:nvSpPr>
                  <p:cNvPr id="14" name="Freeform 29">
                    <a:extLst>
                      <a:ext uri="{FF2B5EF4-FFF2-40B4-BE49-F238E27FC236}">
                        <a16:creationId xmlns:a16="http://schemas.microsoft.com/office/drawing/2014/main" id="{26209279-ECCB-4A84-9722-F7F39CB4786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0" y="2450"/>
                    <a:ext cx="480" cy="526"/>
                  </a:xfrm>
                  <a:custGeom>
                    <a:avLst/>
                    <a:gdLst>
                      <a:gd name="T0" fmla="*/ 0 w 672"/>
                      <a:gd name="T1" fmla="*/ 670 h 670"/>
                      <a:gd name="T2" fmla="*/ 126 w 672"/>
                      <a:gd name="T3" fmla="*/ 637 h 670"/>
                      <a:gd name="T4" fmla="*/ 192 w 672"/>
                      <a:gd name="T5" fmla="*/ 526 h 670"/>
                      <a:gd name="T6" fmla="*/ 240 w 672"/>
                      <a:gd name="T7" fmla="*/ 334 h 670"/>
                      <a:gd name="T8" fmla="*/ 279 w 672"/>
                      <a:gd name="T9" fmla="*/ 139 h 670"/>
                      <a:gd name="T10" fmla="*/ 303 w 672"/>
                      <a:gd name="T11" fmla="*/ 40 h 670"/>
                      <a:gd name="T12" fmla="*/ 339 w 672"/>
                      <a:gd name="T13" fmla="*/ 1 h 670"/>
                      <a:gd name="T14" fmla="*/ 369 w 672"/>
                      <a:gd name="T15" fmla="*/ 34 h 670"/>
                      <a:gd name="T16" fmla="*/ 396 w 672"/>
                      <a:gd name="T17" fmla="*/ 136 h 670"/>
                      <a:gd name="T18" fmla="*/ 432 w 672"/>
                      <a:gd name="T19" fmla="*/ 337 h 670"/>
                      <a:gd name="T20" fmla="*/ 456 w 672"/>
                      <a:gd name="T21" fmla="*/ 457 h 670"/>
                      <a:gd name="T22" fmla="*/ 504 w 672"/>
                      <a:gd name="T23" fmla="*/ 595 h 670"/>
                      <a:gd name="T24" fmla="*/ 573 w 672"/>
                      <a:gd name="T25" fmla="*/ 643 h 670"/>
                      <a:gd name="T26" fmla="*/ 612 w 672"/>
                      <a:gd name="T27" fmla="*/ 655 h 670"/>
                      <a:gd name="T28" fmla="*/ 672 w 672"/>
                      <a:gd name="T29" fmla="*/ 670 h 6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672" h="670">
                        <a:moveTo>
                          <a:pt x="0" y="670"/>
                        </a:moveTo>
                        <a:cubicBezTo>
                          <a:pt x="21" y="664"/>
                          <a:pt x="94" y="661"/>
                          <a:pt x="126" y="637"/>
                        </a:cubicBezTo>
                        <a:cubicBezTo>
                          <a:pt x="158" y="613"/>
                          <a:pt x="173" y="576"/>
                          <a:pt x="192" y="526"/>
                        </a:cubicBezTo>
                        <a:cubicBezTo>
                          <a:pt x="211" y="476"/>
                          <a:pt x="226" y="398"/>
                          <a:pt x="240" y="334"/>
                        </a:cubicBezTo>
                        <a:cubicBezTo>
                          <a:pt x="254" y="270"/>
                          <a:pt x="269" y="188"/>
                          <a:pt x="279" y="139"/>
                        </a:cubicBezTo>
                        <a:cubicBezTo>
                          <a:pt x="289" y="90"/>
                          <a:pt x="293" y="63"/>
                          <a:pt x="303" y="40"/>
                        </a:cubicBezTo>
                        <a:cubicBezTo>
                          <a:pt x="313" y="17"/>
                          <a:pt x="328" y="2"/>
                          <a:pt x="339" y="1"/>
                        </a:cubicBezTo>
                        <a:cubicBezTo>
                          <a:pt x="350" y="0"/>
                          <a:pt x="360" y="12"/>
                          <a:pt x="369" y="34"/>
                        </a:cubicBezTo>
                        <a:cubicBezTo>
                          <a:pt x="378" y="56"/>
                          <a:pt x="386" y="86"/>
                          <a:pt x="396" y="136"/>
                        </a:cubicBezTo>
                        <a:cubicBezTo>
                          <a:pt x="406" y="186"/>
                          <a:pt x="422" y="284"/>
                          <a:pt x="432" y="337"/>
                        </a:cubicBezTo>
                        <a:cubicBezTo>
                          <a:pt x="442" y="390"/>
                          <a:pt x="444" y="414"/>
                          <a:pt x="456" y="457"/>
                        </a:cubicBezTo>
                        <a:cubicBezTo>
                          <a:pt x="468" y="500"/>
                          <a:pt x="485" y="564"/>
                          <a:pt x="504" y="595"/>
                        </a:cubicBezTo>
                        <a:cubicBezTo>
                          <a:pt x="523" y="626"/>
                          <a:pt x="555" y="633"/>
                          <a:pt x="573" y="643"/>
                        </a:cubicBezTo>
                        <a:cubicBezTo>
                          <a:pt x="591" y="653"/>
                          <a:pt x="596" y="651"/>
                          <a:pt x="612" y="655"/>
                        </a:cubicBezTo>
                        <a:cubicBezTo>
                          <a:pt x="628" y="659"/>
                          <a:pt x="660" y="667"/>
                          <a:pt x="672" y="670"/>
                        </a:cubicBezTo>
                      </a:path>
                    </a:pathLst>
                  </a:custGeom>
                  <a:noFill/>
                  <a:ln w="28575" cmpd="sng">
                    <a:solidFill>
                      <a:srgbClr val="333399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</p:grpSp>
        </p:grpSp>
        <p:sp>
          <p:nvSpPr>
            <p:cNvPr id="8" name="Text Box 30">
              <a:extLst>
                <a:ext uri="{FF2B5EF4-FFF2-40B4-BE49-F238E27FC236}">
                  <a16:creationId xmlns:a16="http://schemas.microsoft.com/office/drawing/2014/main" id="{88B4FB9E-30FD-46C8-9C64-14035EAA0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0" y="2768"/>
              <a:ext cx="76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2000" dirty="0">
                  <a:solidFill>
                    <a:srgbClr val="333399"/>
                  </a:solidFill>
                  <a:latin typeface="+mn-ea"/>
                  <a:ea typeface="+mn-ea"/>
                </a:rPr>
                <a:t>单模光纤</a:t>
              </a:r>
            </a:p>
          </p:txBody>
        </p:sp>
      </p:grpSp>
      <p:sp>
        <p:nvSpPr>
          <p:cNvPr id="32" name="Freeform 31">
            <a:extLst>
              <a:ext uri="{FF2B5EF4-FFF2-40B4-BE49-F238E27FC236}">
                <a16:creationId xmlns:a16="http://schemas.microsoft.com/office/drawing/2014/main" id="{09759F68-2460-40F6-94FC-22E2D3B0E6BD}"/>
              </a:ext>
            </a:extLst>
          </p:cNvPr>
          <p:cNvSpPr>
            <a:spLocks/>
          </p:cNvSpPr>
          <p:nvPr/>
        </p:nvSpPr>
        <p:spPr bwMode="auto">
          <a:xfrm>
            <a:off x="2794000" y="2514600"/>
            <a:ext cx="6762750" cy="533400"/>
          </a:xfrm>
          <a:custGeom>
            <a:avLst/>
            <a:gdLst>
              <a:gd name="T0" fmla="*/ 0 w 4260"/>
              <a:gd name="T1" fmla="*/ 150 h 336"/>
              <a:gd name="T2" fmla="*/ 666 w 4260"/>
              <a:gd name="T3" fmla="*/ 0 h 336"/>
              <a:gd name="T4" fmla="*/ 2310 w 4260"/>
              <a:gd name="T5" fmla="*/ 336 h 336"/>
              <a:gd name="T6" fmla="*/ 3936 w 4260"/>
              <a:gd name="T7" fmla="*/ 0 h 336"/>
              <a:gd name="T8" fmla="*/ 4260 w 4260"/>
              <a:gd name="T9" fmla="*/ 72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60" h="336">
                <a:moveTo>
                  <a:pt x="0" y="150"/>
                </a:moveTo>
                <a:lnTo>
                  <a:pt x="666" y="0"/>
                </a:lnTo>
                <a:lnTo>
                  <a:pt x="2310" y="336"/>
                </a:lnTo>
                <a:lnTo>
                  <a:pt x="3936" y="0"/>
                </a:lnTo>
                <a:lnTo>
                  <a:pt x="4260" y="72"/>
                </a:lnTo>
              </a:path>
            </a:pathLst>
          </a:custGeom>
          <a:noFill/>
          <a:ln w="38100" cmpd="sng">
            <a:solidFill>
              <a:srgbClr val="339933"/>
            </a:solidFill>
            <a:round/>
            <a:headEnd type="none" w="med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7FD6B4-E6C4-472B-B8E3-AAE966A78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6050" y="2143125"/>
            <a:ext cx="6858000" cy="3810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2C55646-7CC6-457F-9084-FAE4DFC07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1925" y="3055938"/>
            <a:ext cx="6858000" cy="3810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9AA48F1-BE6B-45D1-9477-ACC96808C024}"/>
              </a:ext>
            </a:extLst>
          </p:cNvPr>
          <p:cNvGrpSpPr>
            <a:grpSpLocks/>
          </p:cNvGrpSpPr>
          <p:nvPr/>
        </p:nvGrpSpPr>
        <p:grpSpPr bwMode="auto">
          <a:xfrm>
            <a:off x="2701925" y="2141538"/>
            <a:ext cx="6858000" cy="1295400"/>
            <a:chOff x="912" y="912"/>
            <a:chExt cx="4608" cy="816"/>
          </a:xfrm>
        </p:grpSpPr>
        <p:sp>
          <p:nvSpPr>
            <p:cNvPr id="36" name="Line 35">
              <a:extLst>
                <a:ext uri="{FF2B5EF4-FFF2-40B4-BE49-F238E27FC236}">
                  <a16:creationId xmlns:a16="http://schemas.microsoft.com/office/drawing/2014/main" id="{79B46EB9-9BA6-4E5E-B24F-7B069AE6EC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912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7" name="Line 36">
              <a:extLst>
                <a:ext uri="{FF2B5EF4-FFF2-40B4-BE49-F238E27FC236}">
                  <a16:creationId xmlns:a16="http://schemas.microsoft.com/office/drawing/2014/main" id="{6800086A-B625-4F26-9AD1-3A1D82EE3C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152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8" name="Line 37">
              <a:extLst>
                <a:ext uri="{FF2B5EF4-FFF2-40B4-BE49-F238E27FC236}">
                  <a16:creationId xmlns:a16="http://schemas.microsoft.com/office/drawing/2014/main" id="{B5B77B39-DC77-4AFB-91BB-760D469205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488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9" name="Line 38">
              <a:extLst>
                <a:ext uri="{FF2B5EF4-FFF2-40B4-BE49-F238E27FC236}">
                  <a16:creationId xmlns:a16="http://schemas.microsoft.com/office/drawing/2014/main" id="{D6F5E276-4A69-46F4-B61F-FAE3B615C7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728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0" name="Line 39">
            <a:extLst>
              <a:ext uri="{FF2B5EF4-FFF2-40B4-BE49-F238E27FC236}">
                <a16:creationId xmlns:a16="http://schemas.microsoft.com/office/drawing/2014/main" id="{9EDE46F7-C4B4-4709-8DAA-191524F0E3D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5400" y="2784476"/>
            <a:ext cx="7105650" cy="4763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773F660-7737-4AE5-AE20-942F34BA5166}"/>
              </a:ext>
            </a:extLst>
          </p:cNvPr>
          <p:cNvGrpSpPr>
            <a:grpSpLocks/>
          </p:cNvGrpSpPr>
          <p:nvPr/>
        </p:nvGrpSpPr>
        <p:grpSpPr bwMode="auto">
          <a:xfrm>
            <a:off x="1558926" y="1909764"/>
            <a:ext cx="9096375" cy="1298575"/>
            <a:chOff x="38" y="1288"/>
            <a:chExt cx="5730" cy="818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DC5BC93-2E6C-4CF9-BCC4-C74767A922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" y="1288"/>
              <a:ext cx="756" cy="818"/>
              <a:chOff x="38" y="1288"/>
              <a:chExt cx="756" cy="818"/>
            </a:xfrm>
          </p:grpSpPr>
          <p:sp>
            <p:nvSpPr>
              <p:cNvPr id="48" name="Rectangle 42">
                <a:extLst>
                  <a:ext uri="{FF2B5EF4-FFF2-40B4-BE49-F238E27FC236}">
                    <a16:creationId xmlns:a16="http://schemas.microsoft.com/office/drawing/2014/main" id="{6F214315-BE0C-4A47-A536-6830475F4B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" y="1578"/>
                <a:ext cx="480" cy="52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9" name="Line 43">
                <a:extLst>
                  <a:ext uri="{FF2B5EF4-FFF2-40B4-BE49-F238E27FC236}">
                    <a16:creationId xmlns:a16="http://schemas.microsoft.com/office/drawing/2014/main" id="{BDCF8E7E-1380-44B7-BF01-8A9BA28707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" y="1578"/>
                <a:ext cx="0" cy="528"/>
              </a:xfrm>
              <a:prstGeom prst="line">
                <a:avLst/>
              </a:prstGeom>
              <a:noFill/>
              <a:ln w="6350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0" name="Freeform 44">
                <a:extLst>
                  <a:ext uri="{FF2B5EF4-FFF2-40B4-BE49-F238E27FC236}">
                    <a16:creationId xmlns:a16="http://schemas.microsoft.com/office/drawing/2014/main" id="{0EAE2B31-6E76-4373-A9B1-7FDC367632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" y="1580"/>
                <a:ext cx="480" cy="526"/>
              </a:xfrm>
              <a:custGeom>
                <a:avLst/>
                <a:gdLst>
                  <a:gd name="T0" fmla="*/ 0 w 672"/>
                  <a:gd name="T1" fmla="*/ 670 h 670"/>
                  <a:gd name="T2" fmla="*/ 126 w 672"/>
                  <a:gd name="T3" fmla="*/ 637 h 670"/>
                  <a:gd name="T4" fmla="*/ 192 w 672"/>
                  <a:gd name="T5" fmla="*/ 526 h 670"/>
                  <a:gd name="T6" fmla="*/ 240 w 672"/>
                  <a:gd name="T7" fmla="*/ 334 h 670"/>
                  <a:gd name="T8" fmla="*/ 279 w 672"/>
                  <a:gd name="T9" fmla="*/ 139 h 670"/>
                  <a:gd name="T10" fmla="*/ 303 w 672"/>
                  <a:gd name="T11" fmla="*/ 40 h 670"/>
                  <a:gd name="T12" fmla="*/ 339 w 672"/>
                  <a:gd name="T13" fmla="*/ 1 h 670"/>
                  <a:gd name="T14" fmla="*/ 369 w 672"/>
                  <a:gd name="T15" fmla="*/ 34 h 670"/>
                  <a:gd name="T16" fmla="*/ 396 w 672"/>
                  <a:gd name="T17" fmla="*/ 136 h 670"/>
                  <a:gd name="T18" fmla="*/ 432 w 672"/>
                  <a:gd name="T19" fmla="*/ 337 h 670"/>
                  <a:gd name="T20" fmla="*/ 456 w 672"/>
                  <a:gd name="T21" fmla="*/ 457 h 670"/>
                  <a:gd name="T22" fmla="*/ 504 w 672"/>
                  <a:gd name="T23" fmla="*/ 595 h 670"/>
                  <a:gd name="T24" fmla="*/ 573 w 672"/>
                  <a:gd name="T25" fmla="*/ 643 h 670"/>
                  <a:gd name="T26" fmla="*/ 612 w 672"/>
                  <a:gd name="T27" fmla="*/ 655 h 670"/>
                  <a:gd name="T28" fmla="*/ 672 w 672"/>
                  <a:gd name="T29" fmla="*/ 670 h 6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72" h="670">
                    <a:moveTo>
                      <a:pt x="0" y="670"/>
                    </a:moveTo>
                    <a:cubicBezTo>
                      <a:pt x="21" y="664"/>
                      <a:pt x="94" y="661"/>
                      <a:pt x="126" y="637"/>
                    </a:cubicBezTo>
                    <a:cubicBezTo>
                      <a:pt x="158" y="613"/>
                      <a:pt x="173" y="576"/>
                      <a:pt x="192" y="526"/>
                    </a:cubicBezTo>
                    <a:cubicBezTo>
                      <a:pt x="211" y="476"/>
                      <a:pt x="226" y="398"/>
                      <a:pt x="240" y="334"/>
                    </a:cubicBezTo>
                    <a:cubicBezTo>
                      <a:pt x="254" y="270"/>
                      <a:pt x="269" y="188"/>
                      <a:pt x="279" y="139"/>
                    </a:cubicBezTo>
                    <a:cubicBezTo>
                      <a:pt x="289" y="90"/>
                      <a:pt x="293" y="63"/>
                      <a:pt x="303" y="40"/>
                    </a:cubicBezTo>
                    <a:cubicBezTo>
                      <a:pt x="313" y="17"/>
                      <a:pt x="328" y="2"/>
                      <a:pt x="339" y="1"/>
                    </a:cubicBezTo>
                    <a:cubicBezTo>
                      <a:pt x="350" y="0"/>
                      <a:pt x="360" y="12"/>
                      <a:pt x="369" y="34"/>
                    </a:cubicBezTo>
                    <a:cubicBezTo>
                      <a:pt x="378" y="56"/>
                      <a:pt x="386" y="86"/>
                      <a:pt x="396" y="136"/>
                    </a:cubicBezTo>
                    <a:cubicBezTo>
                      <a:pt x="406" y="186"/>
                      <a:pt x="422" y="284"/>
                      <a:pt x="432" y="337"/>
                    </a:cubicBezTo>
                    <a:cubicBezTo>
                      <a:pt x="442" y="390"/>
                      <a:pt x="444" y="414"/>
                      <a:pt x="456" y="457"/>
                    </a:cubicBezTo>
                    <a:cubicBezTo>
                      <a:pt x="468" y="500"/>
                      <a:pt x="485" y="564"/>
                      <a:pt x="504" y="595"/>
                    </a:cubicBezTo>
                    <a:cubicBezTo>
                      <a:pt x="523" y="626"/>
                      <a:pt x="555" y="633"/>
                      <a:pt x="573" y="643"/>
                    </a:cubicBezTo>
                    <a:cubicBezTo>
                      <a:pt x="591" y="653"/>
                      <a:pt x="596" y="651"/>
                      <a:pt x="612" y="655"/>
                    </a:cubicBezTo>
                    <a:cubicBezTo>
                      <a:pt x="628" y="659"/>
                      <a:pt x="660" y="667"/>
                      <a:pt x="672" y="670"/>
                    </a:cubicBezTo>
                  </a:path>
                </a:pathLst>
              </a:custGeom>
              <a:noFill/>
              <a:ln w="28575" cmpd="sng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1" name="Text Box 45">
                <a:extLst>
                  <a:ext uri="{FF2B5EF4-FFF2-40B4-BE49-F238E27FC236}">
                    <a16:creationId xmlns:a16="http://schemas.microsoft.com/office/drawing/2014/main" id="{F1537411-6711-4F09-ABC2-12090CBCE6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" y="1288"/>
                <a:ext cx="75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2000" dirty="0">
                    <a:solidFill>
                      <a:srgbClr val="333399"/>
                    </a:solidFill>
                    <a:latin typeface="+mn-ea"/>
                    <a:ea typeface="+mn-ea"/>
                  </a:rPr>
                  <a:t>输入脉冲</a:t>
                </a:r>
              </a:p>
            </p:txBody>
          </p:sp>
        </p:grpSp>
        <p:grpSp>
          <p:nvGrpSpPr>
            <p:cNvPr id="43" name="Group 46">
              <a:extLst>
                <a:ext uri="{FF2B5EF4-FFF2-40B4-BE49-F238E27FC236}">
                  <a16:creationId xmlns:a16="http://schemas.microsoft.com/office/drawing/2014/main" id="{D28EE1A9-A1B7-4CE1-8671-311D2A69B5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12" y="1305"/>
              <a:ext cx="756" cy="801"/>
              <a:chOff x="5012" y="1305"/>
              <a:chExt cx="756" cy="801"/>
            </a:xfrm>
          </p:grpSpPr>
          <p:sp>
            <p:nvSpPr>
              <p:cNvPr id="44" name="Rectangle 47">
                <a:extLst>
                  <a:ext uri="{FF2B5EF4-FFF2-40B4-BE49-F238E27FC236}">
                    <a16:creationId xmlns:a16="http://schemas.microsoft.com/office/drawing/2014/main" id="{1F102E26-65A0-44F0-8AC8-BB51852F04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0" y="1578"/>
                <a:ext cx="476" cy="52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5" name="Line 48">
                <a:extLst>
                  <a:ext uri="{FF2B5EF4-FFF2-40B4-BE49-F238E27FC236}">
                    <a16:creationId xmlns:a16="http://schemas.microsoft.com/office/drawing/2014/main" id="{6CBCC97E-434E-46C6-8168-B89803E80D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48" y="1578"/>
                <a:ext cx="0" cy="528"/>
              </a:xfrm>
              <a:prstGeom prst="line">
                <a:avLst/>
              </a:prstGeom>
              <a:noFill/>
              <a:ln w="6350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6" name="Freeform 49">
                <a:extLst>
                  <a:ext uri="{FF2B5EF4-FFF2-40B4-BE49-F238E27FC236}">
                    <a16:creationId xmlns:a16="http://schemas.microsoft.com/office/drawing/2014/main" id="{2EE2235D-39D9-4F48-9DBB-49C1006B4F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8" y="1726"/>
                <a:ext cx="480" cy="222"/>
              </a:xfrm>
              <a:custGeom>
                <a:avLst/>
                <a:gdLst>
                  <a:gd name="T0" fmla="*/ 0 w 678"/>
                  <a:gd name="T1" fmla="*/ 280 h 283"/>
                  <a:gd name="T2" fmla="*/ 87 w 678"/>
                  <a:gd name="T3" fmla="*/ 244 h 283"/>
                  <a:gd name="T4" fmla="*/ 150 w 678"/>
                  <a:gd name="T5" fmla="*/ 193 h 283"/>
                  <a:gd name="T6" fmla="*/ 201 w 678"/>
                  <a:gd name="T7" fmla="*/ 130 h 283"/>
                  <a:gd name="T8" fmla="*/ 258 w 678"/>
                  <a:gd name="T9" fmla="*/ 43 h 283"/>
                  <a:gd name="T10" fmla="*/ 339 w 678"/>
                  <a:gd name="T11" fmla="*/ 1 h 283"/>
                  <a:gd name="T12" fmla="*/ 426 w 678"/>
                  <a:gd name="T13" fmla="*/ 37 h 283"/>
                  <a:gd name="T14" fmla="*/ 492 w 678"/>
                  <a:gd name="T15" fmla="*/ 139 h 283"/>
                  <a:gd name="T16" fmla="*/ 528 w 678"/>
                  <a:gd name="T17" fmla="*/ 190 h 283"/>
                  <a:gd name="T18" fmla="*/ 591 w 678"/>
                  <a:gd name="T19" fmla="*/ 238 h 283"/>
                  <a:gd name="T20" fmla="*/ 678 w 678"/>
                  <a:gd name="T21" fmla="*/ 283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78" h="283">
                    <a:moveTo>
                      <a:pt x="0" y="280"/>
                    </a:moveTo>
                    <a:cubicBezTo>
                      <a:pt x="14" y="274"/>
                      <a:pt x="62" y="258"/>
                      <a:pt x="87" y="244"/>
                    </a:cubicBezTo>
                    <a:cubicBezTo>
                      <a:pt x="112" y="230"/>
                      <a:pt x="131" y="212"/>
                      <a:pt x="150" y="193"/>
                    </a:cubicBezTo>
                    <a:cubicBezTo>
                      <a:pt x="169" y="174"/>
                      <a:pt x="183" y="155"/>
                      <a:pt x="201" y="130"/>
                    </a:cubicBezTo>
                    <a:cubicBezTo>
                      <a:pt x="219" y="105"/>
                      <a:pt x="235" y="64"/>
                      <a:pt x="258" y="43"/>
                    </a:cubicBezTo>
                    <a:cubicBezTo>
                      <a:pt x="281" y="22"/>
                      <a:pt x="311" y="2"/>
                      <a:pt x="339" y="1"/>
                    </a:cubicBezTo>
                    <a:cubicBezTo>
                      <a:pt x="367" y="0"/>
                      <a:pt x="401" y="14"/>
                      <a:pt x="426" y="37"/>
                    </a:cubicBezTo>
                    <a:cubicBezTo>
                      <a:pt x="451" y="60"/>
                      <a:pt x="475" y="113"/>
                      <a:pt x="492" y="139"/>
                    </a:cubicBezTo>
                    <a:cubicBezTo>
                      <a:pt x="509" y="165"/>
                      <a:pt x="512" y="174"/>
                      <a:pt x="528" y="190"/>
                    </a:cubicBezTo>
                    <a:cubicBezTo>
                      <a:pt x="544" y="206"/>
                      <a:pt x="566" y="222"/>
                      <a:pt x="591" y="238"/>
                    </a:cubicBezTo>
                    <a:cubicBezTo>
                      <a:pt x="616" y="254"/>
                      <a:pt x="660" y="274"/>
                      <a:pt x="678" y="283"/>
                    </a:cubicBezTo>
                  </a:path>
                </a:pathLst>
              </a:custGeom>
              <a:noFill/>
              <a:ln w="28575" cmpd="sng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7" name="Text Box 50">
                <a:extLst>
                  <a:ext uri="{FF2B5EF4-FFF2-40B4-BE49-F238E27FC236}">
                    <a16:creationId xmlns:a16="http://schemas.microsoft.com/office/drawing/2014/main" id="{63FA56D6-8983-463C-8380-99AA18248E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12" y="1305"/>
                <a:ext cx="75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2000">
                    <a:solidFill>
                      <a:srgbClr val="333399"/>
                    </a:solidFill>
                    <a:latin typeface="+mn-ea"/>
                    <a:ea typeface="+mn-ea"/>
                  </a:rPr>
                  <a:t>输出脉冲</a:t>
                </a:r>
              </a:p>
            </p:txBody>
          </p:sp>
        </p:grpSp>
      </p:grpSp>
      <p:sp>
        <p:nvSpPr>
          <p:cNvPr id="52" name="Line 51">
            <a:extLst>
              <a:ext uri="{FF2B5EF4-FFF2-40B4-BE49-F238E27FC236}">
                <a16:creationId xmlns:a16="http://schemas.microsoft.com/office/drawing/2014/main" id="{565E958A-632F-45C0-A34E-F8DF4EF422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17801" y="4921251"/>
            <a:ext cx="6951663" cy="11113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DA1D3182-D931-4F46-BCAA-2853922B14F9}"/>
              </a:ext>
            </a:extLst>
          </p:cNvPr>
          <p:cNvSpPr>
            <a:spLocks/>
          </p:cNvSpPr>
          <p:nvPr/>
        </p:nvSpPr>
        <p:spPr bwMode="auto">
          <a:xfrm>
            <a:off x="2686050" y="2514601"/>
            <a:ext cx="6851650" cy="523875"/>
          </a:xfrm>
          <a:custGeom>
            <a:avLst/>
            <a:gdLst>
              <a:gd name="T0" fmla="*/ 0 w 4316"/>
              <a:gd name="T1" fmla="*/ 128 h 330"/>
              <a:gd name="T2" fmla="*/ 434 w 4316"/>
              <a:gd name="T3" fmla="*/ 0 h 330"/>
              <a:gd name="T4" fmla="*/ 1586 w 4316"/>
              <a:gd name="T5" fmla="*/ 330 h 330"/>
              <a:gd name="T6" fmla="*/ 2738 w 4316"/>
              <a:gd name="T7" fmla="*/ 0 h 330"/>
              <a:gd name="T8" fmla="*/ 3944 w 4316"/>
              <a:gd name="T9" fmla="*/ 330 h 330"/>
              <a:gd name="T10" fmla="*/ 4316 w 4316"/>
              <a:gd name="T11" fmla="*/ 204 h 3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6" h="330">
                <a:moveTo>
                  <a:pt x="0" y="128"/>
                </a:moveTo>
                <a:lnTo>
                  <a:pt x="434" y="0"/>
                </a:lnTo>
                <a:lnTo>
                  <a:pt x="1586" y="330"/>
                </a:lnTo>
                <a:lnTo>
                  <a:pt x="2738" y="0"/>
                </a:lnTo>
                <a:lnTo>
                  <a:pt x="3944" y="330"/>
                </a:lnTo>
                <a:lnTo>
                  <a:pt x="4316" y="204"/>
                </a:lnTo>
              </a:path>
            </a:pathLst>
          </a:custGeom>
          <a:noFill/>
          <a:ln w="38100" cmpd="sng">
            <a:solidFill>
              <a:srgbClr val="339933"/>
            </a:solidFill>
            <a:round/>
            <a:headEnd type="none" w="med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54" name="Text Box 53">
            <a:extLst>
              <a:ext uri="{FF2B5EF4-FFF2-40B4-BE49-F238E27FC236}">
                <a16:creationId xmlns:a16="http://schemas.microsoft.com/office/drawing/2014/main" id="{0D14C2F1-0965-406E-8952-42C473657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7650" y="1554101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000" dirty="0">
                <a:solidFill>
                  <a:srgbClr val="333399"/>
                </a:solidFill>
                <a:latin typeface="+mn-ea"/>
                <a:ea typeface="+mn-ea"/>
              </a:rPr>
              <a:t>多模光纤</a:t>
            </a:r>
          </a:p>
        </p:txBody>
      </p:sp>
    </p:spTree>
    <p:extLst>
      <p:ext uri="{BB962C8B-B14F-4D97-AF65-F5344CB8AC3E}">
        <p14:creationId xmlns:p14="http://schemas.microsoft.com/office/powerpoint/2010/main" val="1732552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52" grpId="0" animBg="1"/>
      <p:bldP spid="5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45716D-C162-4151-9FD4-4DBDD547B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光缆组件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6574F7-10D2-4ED5-892F-F2C2F4DC8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E54301-3149-4746-8FBF-8F173A32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/>
              <a:pPr>
                <a:defRPr/>
              </a:pPr>
              <a:t>21</a:t>
            </a:fld>
            <a:endParaRPr lang="en-US" altLang="zh-CN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AB2B4965-E93C-4917-9FE9-80EEC0A439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9" y="1412876"/>
          <a:ext cx="2592387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6" name="Bitmap Image" r:id="rId3" imgW="3952381" imgH="3076190" progId="Paint.Picture">
                  <p:embed/>
                </p:oleObj>
              </mc:Choice>
              <mc:Fallback>
                <p:oleObj name="Bitmap Image" r:id="rId3" imgW="3952381" imgH="3076190" progId="Paint.Picture">
                  <p:embed/>
                  <p:pic>
                    <p:nvPicPr>
                      <p:cNvPr id="2263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1412876"/>
                        <a:ext cx="2592387" cy="201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>
            <a:extLst>
              <a:ext uri="{FF2B5EF4-FFF2-40B4-BE49-F238E27FC236}">
                <a16:creationId xmlns:a16="http://schemas.microsoft.com/office/drawing/2014/main" id="{DB5FEBE5-F275-47AE-9F42-812EB224FD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3475" y="4365625"/>
          <a:ext cx="2592388" cy="158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7" name="BMP 图象" r:id="rId5" imgW="3809524" imgH="2324424" progId="Paint.Picture">
                  <p:embed/>
                </p:oleObj>
              </mc:Choice>
              <mc:Fallback>
                <p:oleObj name="BMP 图象" r:id="rId5" imgW="3809524" imgH="2324424" progId="Paint.Picture">
                  <p:embed/>
                  <p:pic>
                    <p:nvPicPr>
                      <p:cNvPr id="22631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5" y="4365625"/>
                        <a:ext cx="2592388" cy="158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13">
            <a:extLst>
              <a:ext uri="{FF2B5EF4-FFF2-40B4-BE49-F238E27FC236}">
                <a16:creationId xmlns:a16="http://schemas.microsoft.com/office/drawing/2014/main" id="{28273871-6E89-47EE-8F9A-C751BC891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3" y="4221163"/>
            <a:ext cx="2520950" cy="168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22B7F91-A28B-40C3-B189-A3DFB7A3AD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24788" y="4221164"/>
          <a:ext cx="2520950" cy="173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8" name="Bitmap Image" r:id="rId8" imgW="3914286" imgH="2695951" progId="Paint.Picture">
                  <p:embed/>
                </p:oleObj>
              </mc:Choice>
              <mc:Fallback>
                <p:oleObj name="Bitmap Image" r:id="rId8" imgW="3914286" imgH="2695951" progId="Paint.Picture">
                  <p:embed/>
                  <p:pic>
                    <p:nvPicPr>
                      <p:cNvPr id="2263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4788" y="4221164"/>
                        <a:ext cx="2520950" cy="173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16">
            <a:extLst>
              <a:ext uri="{FF2B5EF4-FFF2-40B4-BE49-F238E27FC236}">
                <a16:creationId xmlns:a16="http://schemas.microsoft.com/office/drawing/2014/main" id="{1F02BF15-8C63-446F-BCB6-4A922CFDD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363" y="1341438"/>
            <a:ext cx="2736850" cy="2347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2657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3AC3D-E1DA-4E18-824B-541D9C99874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zh-CN" altLang="en-US" dirty="0"/>
              <a:t>光电转换设备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ED2F89-8446-4DA7-B3EB-14AFAA2BFD86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zh-CN" altLang="en-US" dirty="0"/>
              <a:t>设备必须与光纤匹配</a:t>
            </a:r>
          </a:p>
          <a:p>
            <a:pPr lvl="1"/>
            <a:r>
              <a:rPr lang="zh-CN" altLang="en-US" dirty="0"/>
              <a:t>传输：发光二极管</a:t>
            </a:r>
            <a:r>
              <a:rPr lang="en-US" altLang="zh-CN" dirty="0"/>
              <a:t>(LED)</a:t>
            </a:r>
            <a:r>
              <a:rPr lang="zh-CN" altLang="en-US" dirty="0"/>
              <a:t>或注入激光二极管</a:t>
            </a:r>
            <a:r>
              <a:rPr lang="en-US" altLang="zh-CN" dirty="0"/>
              <a:t>(ILD)</a:t>
            </a:r>
          </a:p>
          <a:p>
            <a:pPr lvl="1"/>
            <a:r>
              <a:rPr lang="zh-CN" altLang="en-US" dirty="0"/>
              <a:t>接收：光敏元件或光敏二极管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8FBCE9-0FDF-461D-97CC-6893AE92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defRPr/>
              </a:pPr>
              <a:t>22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C394091-45F1-4467-A22D-8471AFB5E453}"/>
              </a:ext>
            </a:extLst>
          </p:cNvPr>
          <p:cNvSpPr/>
          <p:nvPr/>
        </p:nvSpPr>
        <p:spPr bwMode="auto">
          <a:xfrm>
            <a:off x="1199456" y="4221088"/>
            <a:ext cx="10297144" cy="8640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E74D350-CF50-44BB-BB56-EDE389A8F5DC}"/>
              </a:ext>
            </a:extLst>
          </p:cNvPr>
          <p:cNvSpPr txBox="1"/>
          <p:nvPr/>
        </p:nvSpPr>
        <p:spPr>
          <a:xfrm>
            <a:off x="1507167" y="4453081"/>
            <a:ext cx="14401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Signal In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4382D87-7FB0-4D98-9B4F-F5EBE00514E5}"/>
              </a:ext>
            </a:extLst>
          </p:cNvPr>
          <p:cNvSpPr txBox="1"/>
          <p:nvPr/>
        </p:nvSpPr>
        <p:spPr>
          <a:xfrm>
            <a:off x="9984431" y="4437112"/>
            <a:ext cx="158417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Signal Out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132E3C3-534E-4843-B3B1-F5F26CD23D81}"/>
              </a:ext>
            </a:extLst>
          </p:cNvPr>
          <p:cNvCxnSpPr/>
          <p:nvPr/>
        </p:nvCxnSpPr>
        <p:spPr bwMode="auto">
          <a:xfrm>
            <a:off x="2999656" y="4637167"/>
            <a:ext cx="1080120" cy="0"/>
          </a:xfrm>
          <a:prstGeom prst="straightConnector1">
            <a:avLst/>
          </a:prstGeom>
          <a:noFill/>
          <a:ln w="571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962F94E-D257-49D4-A4B2-8694746C8E5E}"/>
              </a:ext>
            </a:extLst>
          </p:cNvPr>
          <p:cNvGrpSpPr/>
          <p:nvPr/>
        </p:nvGrpSpPr>
        <p:grpSpPr>
          <a:xfrm>
            <a:off x="4151784" y="4329100"/>
            <a:ext cx="1296144" cy="648072"/>
            <a:chOff x="3359696" y="2852936"/>
            <a:chExt cx="1296144" cy="648072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BBFB5E2-8CFA-46A6-9587-0FBEAD6F8A26}"/>
                </a:ext>
              </a:extLst>
            </p:cNvPr>
            <p:cNvSpPr/>
            <p:nvPr/>
          </p:nvSpPr>
          <p:spPr bwMode="auto">
            <a:xfrm>
              <a:off x="3359696" y="2852936"/>
              <a:ext cx="1224136" cy="576064"/>
            </a:xfrm>
            <a:prstGeom prst="rect">
              <a:avLst/>
            </a:prstGeom>
            <a:grpFill/>
            <a:ln w="9525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TX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3E3412FA-67C5-4F76-94DA-0765C5B28D7A}"/>
                </a:ext>
              </a:extLst>
            </p:cNvPr>
            <p:cNvCxnSpPr/>
            <p:nvPr/>
          </p:nvCxnSpPr>
          <p:spPr bwMode="auto">
            <a:xfrm>
              <a:off x="4583832" y="2852936"/>
              <a:ext cx="72008" cy="72008"/>
            </a:xfrm>
            <a:prstGeom prst="line">
              <a:avLst/>
            </a:prstGeom>
            <a:grpFill/>
            <a:ln w="9525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E02A932F-1CE1-44CC-A295-642BBBFFB97A}"/>
                </a:ext>
              </a:extLst>
            </p:cNvPr>
            <p:cNvCxnSpPr/>
            <p:nvPr/>
          </p:nvCxnSpPr>
          <p:spPr bwMode="auto">
            <a:xfrm>
              <a:off x="4583832" y="3429000"/>
              <a:ext cx="72008" cy="72008"/>
            </a:xfrm>
            <a:prstGeom prst="line">
              <a:avLst/>
            </a:prstGeom>
            <a:grpFill/>
            <a:ln w="9525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877FA0CB-1B45-47F9-8FAA-03809CFD5F5B}"/>
                </a:ext>
              </a:extLst>
            </p:cNvPr>
            <p:cNvCxnSpPr/>
            <p:nvPr/>
          </p:nvCxnSpPr>
          <p:spPr bwMode="auto">
            <a:xfrm>
              <a:off x="3359696" y="3429000"/>
              <a:ext cx="72008" cy="72008"/>
            </a:xfrm>
            <a:prstGeom prst="line">
              <a:avLst/>
            </a:prstGeom>
            <a:grpFill/>
            <a:ln w="9525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06B34CA4-0434-4EAF-A208-712653C937E3}"/>
                </a:ext>
              </a:extLst>
            </p:cNvPr>
            <p:cNvCxnSpPr/>
            <p:nvPr/>
          </p:nvCxnSpPr>
          <p:spPr bwMode="auto">
            <a:xfrm>
              <a:off x="3431704" y="3501008"/>
              <a:ext cx="1224136" cy="0"/>
            </a:xfrm>
            <a:prstGeom prst="line">
              <a:avLst/>
            </a:prstGeom>
            <a:grpFill/>
            <a:ln w="9525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9F85665A-5997-4DCE-BAC4-9C1CA890249E}"/>
                </a:ext>
              </a:extLst>
            </p:cNvPr>
            <p:cNvCxnSpPr/>
            <p:nvPr/>
          </p:nvCxnSpPr>
          <p:spPr bwMode="auto">
            <a:xfrm>
              <a:off x="4655840" y="2924944"/>
              <a:ext cx="0" cy="576064"/>
            </a:xfrm>
            <a:prstGeom prst="line">
              <a:avLst/>
            </a:prstGeom>
            <a:grpFill/>
            <a:ln w="9525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67BD7D98-566B-45AA-8086-B9896FE8C520}"/>
              </a:ext>
            </a:extLst>
          </p:cNvPr>
          <p:cNvGrpSpPr/>
          <p:nvPr/>
        </p:nvGrpSpPr>
        <p:grpSpPr>
          <a:xfrm>
            <a:off x="7496802" y="4313131"/>
            <a:ext cx="1296144" cy="648072"/>
            <a:chOff x="3359696" y="2852936"/>
            <a:chExt cx="1296144" cy="648072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65E20265-FF36-47C2-847F-5AD8A221CE1B}"/>
                </a:ext>
              </a:extLst>
            </p:cNvPr>
            <p:cNvSpPr/>
            <p:nvPr/>
          </p:nvSpPr>
          <p:spPr bwMode="auto">
            <a:xfrm>
              <a:off x="3359696" y="2852936"/>
              <a:ext cx="1224136" cy="576064"/>
            </a:xfrm>
            <a:prstGeom prst="rect">
              <a:avLst/>
            </a:prstGeom>
            <a:grpFill/>
            <a:ln w="9525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RX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7EC14FB0-7108-4165-BADF-779D4AE74DF4}"/>
                </a:ext>
              </a:extLst>
            </p:cNvPr>
            <p:cNvCxnSpPr/>
            <p:nvPr/>
          </p:nvCxnSpPr>
          <p:spPr bwMode="auto">
            <a:xfrm>
              <a:off x="4583832" y="2852936"/>
              <a:ext cx="72008" cy="72008"/>
            </a:xfrm>
            <a:prstGeom prst="line">
              <a:avLst/>
            </a:prstGeom>
            <a:grpFill/>
            <a:ln w="9525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ACAF6F2-860E-491B-A273-1FE48E9CD933}"/>
                </a:ext>
              </a:extLst>
            </p:cNvPr>
            <p:cNvCxnSpPr/>
            <p:nvPr/>
          </p:nvCxnSpPr>
          <p:spPr bwMode="auto">
            <a:xfrm>
              <a:off x="4583832" y="3429000"/>
              <a:ext cx="72008" cy="72008"/>
            </a:xfrm>
            <a:prstGeom prst="line">
              <a:avLst/>
            </a:prstGeom>
            <a:grpFill/>
            <a:ln w="9525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6C4A2835-465F-4216-864F-E815BE1DB440}"/>
                </a:ext>
              </a:extLst>
            </p:cNvPr>
            <p:cNvCxnSpPr/>
            <p:nvPr/>
          </p:nvCxnSpPr>
          <p:spPr bwMode="auto">
            <a:xfrm>
              <a:off x="3359696" y="3429000"/>
              <a:ext cx="72008" cy="72008"/>
            </a:xfrm>
            <a:prstGeom prst="line">
              <a:avLst/>
            </a:prstGeom>
            <a:grpFill/>
            <a:ln w="9525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9240CCA8-2527-4F0E-87CA-B59290864A31}"/>
                </a:ext>
              </a:extLst>
            </p:cNvPr>
            <p:cNvCxnSpPr/>
            <p:nvPr/>
          </p:nvCxnSpPr>
          <p:spPr bwMode="auto">
            <a:xfrm>
              <a:off x="3431704" y="3501008"/>
              <a:ext cx="1224136" cy="0"/>
            </a:xfrm>
            <a:prstGeom prst="line">
              <a:avLst/>
            </a:prstGeom>
            <a:grpFill/>
            <a:ln w="9525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B544BC2F-B4B2-45EC-8127-71F0DB323655}"/>
                </a:ext>
              </a:extLst>
            </p:cNvPr>
            <p:cNvCxnSpPr/>
            <p:nvPr/>
          </p:nvCxnSpPr>
          <p:spPr bwMode="auto">
            <a:xfrm>
              <a:off x="4655840" y="2924944"/>
              <a:ext cx="0" cy="576064"/>
            </a:xfrm>
            <a:prstGeom prst="line">
              <a:avLst/>
            </a:prstGeom>
            <a:grpFill/>
            <a:ln w="9525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2D7293B7-8B4A-4B4D-A778-7123C3397299}"/>
              </a:ext>
            </a:extLst>
          </p:cNvPr>
          <p:cNvCxnSpPr/>
          <p:nvPr/>
        </p:nvCxnSpPr>
        <p:spPr bwMode="auto">
          <a:xfrm>
            <a:off x="8832304" y="4617132"/>
            <a:ext cx="1080120" cy="0"/>
          </a:xfrm>
          <a:prstGeom prst="straightConnector1">
            <a:avLst/>
          </a:prstGeom>
          <a:noFill/>
          <a:ln w="571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DBD85C30-2637-4112-8BBD-6A534003B584}"/>
              </a:ext>
            </a:extLst>
          </p:cNvPr>
          <p:cNvSpPr/>
          <p:nvPr/>
        </p:nvSpPr>
        <p:spPr bwMode="auto">
          <a:xfrm>
            <a:off x="5434314" y="4293096"/>
            <a:ext cx="2023130" cy="440950"/>
          </a:xfrm>
          <a:custGeom>
            <a:avLst/>
            <a:gdLst>
              <a:gd name="connsiteX0" fmla="*/ 0 w 3624600"/>
              <a:gd name="connsiteY0" fmla="*/ 1320678 h 1320678"/>
              <a:gd name="connsiteX1" fmla="*/ 1047509 w 3624600"/>
              <a:gd name="connsiteY1" fmla="*/ 250019 h 1320678"/>
              <a:gd name="connsiteX2" fmla="*/ 1782501 w 3624600"/>
              <a:gd name="connsiteY2" fmla="*/ 846116 h 1320678"/>
              <a:gd name="connsiteX3" fmla="*/ 2789499 w 3624600"/>
              <a:gd name="connsiteY3" fmla="*/ 1164 h 1320678"/>
              <a:gd name="connsiteX4" fmla="*/ 3582364 w 3624600"/>
              <a:gd name="connsiteY4" fmla="*/ 1066035 h 1320678"/>
              <a:gd name="connsiteX5" fmla="*/ 3541853 w 3624600"/>
              <a:gd name="connsiteY5" fmla="*/ 990799 h 1320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24600" h="1320678">
                <a:moveTo>
                  <a:pt x="0" y="1320678"/>
                </a:moveTo>
                <a:cubicBezTo>
                  <a:pt x="375213" y="824895"/>
                  <a:pt x="750426" y="329113"/>
                  <a:pt x="1047509" y="250019"/>
                </a:cubicBezTo>
                <a:cubicBezTo>
                  <a:pt x="1344593" y="170925"/>
                  <a:pt x="1492169" y="887592"/>
                  <a:pt x="1782501" y="846116"/>
                </a:cubicBezTo>
                <a:cubicBezTo>
                  <a:pt x="2072833" y="804640"/>
                  <a:pt x="2489522" y="-35489"/>
                  <a:pt x="2789499" y="1164"/>
                </a:cubicBezTo>
                <a:cubicBezTo>
                  <a:pt x="3089476" y="37817"/>
                  <a:pt x="3456972" y="901096"/>
                  <a:pt x="3582364" y="1066035"/>
                </a:cubicBezTo>
                <a:cubicBezTo>
                  <a:pt x="3707756" y="1230974"/>
                  <a:pt x="3510987" y="1011055"/>
                  <a:pt x="3541853" y="990799"/>
                </a:cubicBezTo>
              </a:path>
            </a:pathLst>
          </a:custGeom>
          <a:noFill/>
          <a:ln w="1905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3E90F571-525F-46B4-8A2D-120D282AC642}"/>
              </a:ext>
            </a:extLst>
          </p:cNvPr>
          <p:cNvCxnSpPr/>
          <p:nvPr/>
        </p:nvCxnSpPr>
        <p:spPr bwMode="auto">
          <a:xfrm>
            <a:off x="5735960" y="3789040"/>
            <a:ext cx="648072" cy="61206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7C325770-5AEB-4F95-AA97-A664D62E56E5}"/>
              </a:ext>
            </a:extLst>
          </p:cNvPr>
          <p:cNvSpPr txBox="1"/>
          <p:nvPr/>
        </p:nvSpPr>
        <p:spPr>
          <a:xfrm>
            <a:off x="3719736" y="2733598"/>
            <a:ext cx="3928640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LIGHT</a:t>
            </a:r>
          </a:p>
          <a:p>
            <a:pPr algn="l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Confined in a Waveguide</a:t>
            </a:r>
          </a:p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(fiber)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1AE95040-C10B-4E77-A814-C3CD969B5E10}"/>
              </a:ext>
            </a:extLst>
          </p:cNvPr>
          <p:cNvCxnSpPr/>
          <p:nvPr/>
        </p:nvCxnSpPr>
        <p:spPr bwMode="auto">
          <a:xfrm>
            <a:off x="5447928" y="5157192"/>
            <a:ext cx="792088" cy="7920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72AFD1B3-26AF-454A-8961-F572288DFA0D}"/>
              </a:ext>
            </a:extLst>
          </p:cNvPr>
          <p:cNvCxnSpPr/>
          <p:nvPr/>
        </p:nvCxnSpPr>
        <p:spPr bwMode="auto">
          <a:xfrm flipH="1">
            <a:off x="6816080" y="5157192"/>
            <a:ext cx="641364" cy="79208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3E1A01A2-AD2D-4B13-93EA-9B03C7AD0B93}"/>
              </a:ext>
            </a:extLst>
          </p:cNvPr>
          <p:cNvSpPr txBox="1"/>
          <p:nvPr/>
        </p:nvSpPr>
        <p:spPr>
          <a:xfrm>
            <a:off x="4117544" y="5353181"/>
            <a:ext cx="144016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LASER or LED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99B62B3-CDD6-4909-B325-015FE5045E82}"/>
              </a:ext>
            </a:extLst>
          </p:cNvPr>
          <p:cNvSpPr txBox="1"/>
          <p:nvPr/>
        </p:nvSpPr>
        <p:spPr>
          <a:xfrm>
            <a:off x="7987554" y="5273940"/>
            <a:ext cx="1852861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PIN</a:t>
            </a:r>
          </a:p>
          <a:p>
            <a:pPr algn="l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photodiode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E45E58E-53B3-48C0-BF18-CB848DB6E75A}"/>
              </a:ext>
            </a:extLst>
          </p:cNvPr>
          <p:cNvSpPr txBox="1"/>
          <p:nvPr/>
        </p:nvSpPr>
        <p:spPr>
          <a:xfrm>
            <a:off x="5779246" y="6075732"/>
            <a:ext cx="187220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connectors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E0BC31F-EEFE-4C9F-90CE-7E27DD230AEB}"/>
              </a:ext>
            </a:extLst>
          </p:cNvPr>
          <p:cNvSpPr txBox="1"/>
          <p:nvPr/>
        </p:nvSpPr>
        <p:spPr>
          <a:xfrm>
            <a:off x="1307468" y="3785120"/>
            <a:ext cx="14401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Electrical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459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CCA7F1-73FC-41C3-A8CE-7510F2BB2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无线传输介质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AF43E2-75A4-4C38-8F4B-222961DD8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无线传播的主要信号：</a:t>
            </a:r>
          </a:p>
          <a:p>
            <a:pPr lvl="1"/>
            <a:r>
              <a:rPr lang="zh-CN" altLang="en-US" dirty="0"/>
              <a:t>地面微波</a:t>
            </a:r>
          </a:p>
          <a:p>
            <a:pPr lvl="1"/>
            <a:r>
              <a:rPr lang="zh-CN" altLang="en-US" dirty="0"/>
              <a:t>卫星微波</a:t>
            </a:r>
          </a:p>
          <a:p>
            <a:pPr lvl="1"/>
            <a:r>
              <a:rPr lang="zh-CN" altLang="en-US" dirty="0"/>
              <a:t>红外线</a:t>
            </a:r>
          </a:p>
          <a:p>
            <a:r>
              <a:rPr lang="zh-CN" altLang="en-US" dirty="0"/>
              <a:t>无线传播的两种方法：</a:t>
            </a:r>
          </a:p>
          <a:p>
            <a:pPr lvl="1"/>
            <a:r>
              <a:rPr lang="zh-CN" altLang="en-US" dirty="0"/>
              <a:t>定向</a:t>
            </a:r>
          </a:p>
          <a:p>
            <a:pPr lvl="1"/>
            <a:r>
              <a:rPr lang="zh-CN" altLang="en-US" dirty="0"/>
              <a:t>全向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1898EF-18D4-40F3-A999-C3AAF633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defRPr/>
              </a:pPr>
              <a:t>23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2060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5F38FA-8250-4B28-AE9E-CF0122625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微波通信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63A0DC-DCC8-48E8-8CEE-704FB2F76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视距传播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电离层反射</a:t>
            </a:r>
          </a:p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80C65A-D3B6-4AB5-B485-58BAAC55F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+mn-ea"/>
                <a:ea typeface="+mn-ea"/>
              </a:rPr>
              <a:pPr>
                <a:defRPr/>
              </a:pPr>
              <a:t>24</a:t>
            </a:fld>
            <a:endParaRPr lang="en-US" altLang="zh-CN" dirty="0">
              <a:latin typeface="+mn-ea"/>
              <a:ea typeface="+mn-ea"/>
            </a:endParaRPr>
          </a:p>
        </p:txBody>
      </p:sp>
      <p:grpSp>
        <p:nvGrpSpPr>
          <p:cNvPr id="5" name="Group 27">
            <a:extLst>
              <a:ext uri="{FF2B5EF4-FFF2-40B4-BE49-F238E27FC236}">
                <a16:creationId xmlns:a16="http://schemas.microsoft.com/office/drawing/2014/main" id="{B9C04C1C-C2F2-475D-8A60-BC4BC04F74D9}"/>
              </a:ext>
            </a:extLst>
          </p:cNvPr>
          <p:cNvGrpSpPr>
            <a:grpSpLocks/>
          </p:cNvGrpSpPr>
          <p:nvPr/>
        </p:nvGrpSpPr>
        <p:grpSpPr bwMode="auto">
          <a:xfrm>
            <a:off x="3973515" y="1235551"/>
            <a:ext cx="3706812" cy="1754187"/>
            <a:chOff x="295" y="1389"/>
            <a:chExt cx="2335" cy="1105"/>
          </a:xfrm>
        </p:grpSpPr>
        <p:sp>
          <p:nvSpPr>
            <p:cNvPr id="6" name="Freeform 10">
              <a:extLst>
                <a:ext uri="{FF2B5EF4-FFF2-40B4-BE49-F238E27FC236}">
                  <a16:creationId xmlns:a16="http://schemas.microsoft.com/office/drawing/2014/main" id="{BA8CC430-81EA-4AE0-9025-B579750D4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" y="2115"/>
              <a:ext cx="2335" cy="379"/>
            </a:xfrm>
            <a:custGeom>
              <a:avLst/>
              <a:gdLst>
                <a:gd name="T0" fmla="*/ 0 w 2335"/>
                <a:gd name="T1" fmla="*/ 379 h 379"/>
                <a:gd name="T2" fmla="*/ 2335 w 2335"/>
                <a:gd name="T3" fmla="*/ 379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35" h="379">
                  <a:moveTo>
                    <a:pt x="0" y="379"/>
                  </a:moveTo>
                  <a:cubicBezTo>
                    <a:pt x="602" y="0"/>
                    <a:pt x="1648" y="0"/>
                    <a:pt x="2335" y="379"/>
                  </a:cubicBezTo>
                </a:path>
              </a:pathLst>
            </a:custGeom>
            <a:noFill/>
            <a:ln w="38100" cap="rnd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" name="Text Box 11">
              <a:extLst>
                <a:ext uri="{FF2B5EF4-FFF2-40B4-BE49-F238E27FC236}">
                  <a16:creationId xmlns:a16="http://schemas.microsoft.com/office/drawing/2014/main" id="{3D33FF1C-B5B4-477D-AA89-17B7896818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205"/>
              <a:ext cx="76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>
                  <a:latin typeface="+mn-ea"/>
                  <a:ea typeface="+mn-ea"/>
                </a:rPr>
                <a:t>地球表面</a:t>
              </a:r>
            </a:p>
          </p:txBody>
        </p:sp>
        <p:pic>
          <p:nvPicPr>
            <p:cNvPr id="8" name="Picture 12" descr="天线">
              <a:extLst>
                <a:ext uri="{FF2B5EF4-FFF2-40B4-BE49-F238E27FC236}">
                  <a16:creationId xmlns:a16="http://schemas.microsoft.com/office/drawing/2014/main" id="{B8A0C2C3-3E25-45CF-BA61-4F464ECD24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926587">
              <a:off x="295" y="1434"/>
              <a:ext cx="562" cy="9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13" descr="天线">
              <a:extLst>
                <a:ext uri="{FF2B5EF4-FFF2-40B4-BE49-F238E27FC236}">
                  <a16:creationId xmlns:a16="http://schemas.microsoft.com/office/drawing/2014/main" id="{EFD43AC1-203A-4176-A699-3C8C38B63E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95398">
              <a:off x="2018" y="1434"/>
              <a:ext cx="562" cy="9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Freeform 18">
              <a:extLst>
                <a:ext uri="{FF2B5EF4-FFF2-40B4-BE49-F238E27FC236}">
                  <a16:creationId xmlns:a16="http://schemas.microsoft.com/office/drawing/2014/main" id="{3B24DE28-1B80-4CC0-9FF7-D801FDF67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" y="1389"/>
              <a:ext cx="1316" cy="106"/>
            </a:xfrm>
            <a:custGeom>
              <a:avLst/>
              <a:gdLst>
                <a:gd name="T0" fmla="*/ 0 w 2335"/>
                <a:gd name="T1" fmla="*/ 379 h 379"/>
                <a:gd name="T2" fmla="*/ 2335 w 2335"/>
                <a:gd name="T3" fmla="*/ 379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35" h="379">
                  <a:moveTo>
                    <a:pt x="0" y="379"/>
                  </a:moveTo>
                  <a:cubicBezTo>
                    <a:pt x="602" y="0"/>
                    <a:pt x="1648" y="0"/>
                    <a:pt x="2335" y="379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dash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1" name="Group 28">
            <a:extLst>
              <a:ext uri="{FF2B5EF4-FFF2-40B4-BE49-F238E27FC236}">
                <a16:creationId xmlns:a16="http://schemas.microsoft.com/office/drawing/2014/main" id="{A0C2F522-B52D-4F59-A8A4-6874F04B2C68}"/>
              </a:ext>
            </a:extLst>
          </p:cNvPr>
          <p:cNvGrpSpPr>
            <a:grpSpLocks/>
          </p:cNvGrpSpPr>
          <p:nvPr/>
        </p:nvGrpSpPr>
        <p:grpSpPr bwMode="auto">
          <a:xfrm>
            <a:off x="3690941" y="3683475"/>
            <a:ext cx="4283075" cy="2519362"/>
            <a:chOff x="227" y="2478"/>
            <a:chExt cx="2698" cy="1587"/>
          </a:xfrm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AC05E7E5-76C7-4420-92EE-580DDB5C5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" y="3277"/>
              <a:ext cx="1904" cy="788"/>
            </a:xfrm>
            <a:custGeom>
              <a:avLst/>
              <a:gdLst>
                <a:gd name="T0" fmla="*/ 0 w 2335"/>
                <a:gd name="T1" fmla="*/ 379 h 379"/>
                <a:gd name="T2" fmla="*/ 2335 w 2335"/>
                <a:gd name="T3" fmla="*/ 379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35" h="379">
                  <a:moveTo>
                    <a:pt x="0" y="379"/>
                  </a:moveTo>
                  <a:cubicBezTo>
                    <a:pt x="602" y="0"/>
                    <a:pt x="1648" y="0"/>
                    <a:pt x="2335" y="379"/>
                  </a:cubicBezTo>
                </a:path>
              </a:pathLst>
            </a:custGeom>
            <a:noFill/>
            <a:ln w="38100" cap="rnd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3" name="Text Box 15">
              <a:extLst>
                <a:ext uri="{FF2B5EF4-FFF2-40B4-BE49-F238E27FC236}">
                  <a16:creationId xmlns:a16="http://schemas.microsoft.com/office/drawing/2014/main" id="{D809D55E-0593-405D-8E41-0FEBC8916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7" y="3549"/>
              <a:ext cx="76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+mn-ea"/>
                  <a:ea typeface="+mn-ea"/>
                </a:rPr>
                <a:t>地球表面</a:t>
              </a:r>
            </a:p>
          </p:txBody>
        </p:sp>
        <p:pic>
          <p:nvPicPr>
            <p:cNvPr id="14" name="Picture 16" descr="天线">
              <a:extLst>
                <a:ext uri="{FF2B5EF4-FFF2-40B4-BE49-F238E27FC236}">
                  <a16:creationId xmlns:a16="http://schemas.microsoft.com/office/drawing/2014/main" id="{BF30EF3B-18E4-4B4D-B1CE-7D34FFAFC1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3052299">
              <a:off x="351" y="3413"/>
              <a:ext cx="318" cy="5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7" descr="天线">
              <a:extLst>
                <a:ext uri="{FF2B5EF4-FFF2-40B4-BE49-F238E27FC236}">
                  <a16:creationId xmlns:a16="http://schemas.microsoft.com/office/drawing/2014/main" id="{BB3B5F2C-6398-4803-9953-0FF88BE729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3137896" flipH="1">
              <a:off x="2483" y="3504"/>
              <a:ext cx="318" cy="5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6" name="Group 23">
              <a:extLst>
                <a:ext uri="{FF2B5EF4-FFF2-40B4-BE49-F238E27FC236}">
                  <a16:creationId xmlns:a16="http://schemas.microsoft.com/office/drawing/2014/main" id="{CA2E34D2-62AC-43B9-86C9-093A1A51BB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" y="2478"/>
              <a:ext cx="2653" cy="713"/>
              <a:chOff x="431" y="2461"/>
              <a:chExt cx="2335" cy="713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E3D1719C-000C-418F-86D4-0A61D1FB8F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" y="2795"/>
                <a:ext cx="2335" cy="379"/>
              </a:xfrm>
              <a:custGeom>
                <a:avLst/>
                <a:gdLst>
                  <a:gd name="T0" fmla="*/ 0 w 2335"/>
                  <a:gd name="T1" fmla="*/ 379 h 379"/>
                  <a:gd name="T2" fmla="*/ 2335 w 2335"/>
                  <a:gd name="T3" fmla="*/ 379 h 3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335" h="379">
                    <a:moveTo>
                      <a:pt x="0" y="379"/>
                    </a:moveTo>
                    <a:cubicBezTo>
                      <a:pt x="602" y="0"/>
                      <a:pt x="1648" y="0"/>
                      <a:pt x="2335" y="379"/>
                    </a:cubicBezTo>
                  </a:path>
                </a:pathLst>
              </a:custGeom>
              <a:noFill/>
              <a:ln w="38100" cap="flat" cmpd="sng">
                <a:solidFill>
                  <a:srgbClr val="008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DB3B33B6-A22A-4A82-9249-769A4887D1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" y="2461"/>
                <a:ext cx="2335" cy="379"/>
              </a:xfrm>
              <a:custGeom>
                <a:avLst/>
                <a:gdLst>
                  <a:gd name="T0" fmla="*/ 0 w 2335"/>
                  <a:gd name="T1" fmla="*/ 379 h 379"/>
                  <a:gd name="T2" fmla="*/ 2335 w 2335"/>
                  <a:gd name="T3" fmla="*/ 379 h 3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335" h="379">
                    <a:moveTo>
                      <a:pt x="0" y="379"/>
                    </a:moveTo>
                    <a:cubicBezTo>
                      <a:pt x="602" y="0"/>
                      <a:pt x="1648" y="0"/>
                      <a:pt x="2335" y="379"/>
                    </a:cubicBezTo>
                  </a:path>
                </a:pathLst>
              </a:custGeom>
              <a:noFill/>
              <a:ln w="38100" cap="flat" cmpd="sng">
                <a:solidFill>
                  <a:srgbClr val="008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17" name="Freeform 21">
              <a:extLst>
                <a:ext uri="{FF2B5EF4-FFF2-40B4-BE49-F238E27FC236}">
                  <a16:creationId xmlns:a16="http://schemas.microsoft.com/office/drawing/2014/main" id="{AD401D62-7A83-405C-96EC-D0C81667C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" y="2478"/>
              <a:ext cx="2222" cy="1014"/>
            </a:xfrm>
            <a:custGeom>
              <a:avLst/>
              <a:gdLst>
                <a:gd name="T0" fmla="*/ 0 w 2335"/>
                <a:gd name="T1" fmla="*/ 379 h 379"/>
                <a:gd name="T2" fmla="*/ 2335 w 2335"/>
                <a:gd name="T3" fmla="*/ 379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35" h="379">
                  <a:moveTo>
                    <a:pt x="0" y="379"/>
                  </a:moveTo>
                  <a:cubicBezTo>
                    <a:pt x="602" y="0"/>
                    <a:pt x="1648" y="0"/>
                    <a:pt x="2335" y="379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dash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8" name="Text Box 24">
              <a:extLst>
                <a:ext uri="{FF2B5EF4-FFF2-40B4-BE49-F238E27FC236}">
                  <a16:creationId xmlns:a16="http://schemas.microsoft.com/office/drawing/2014/main" id="{A825D618-5BC2-4762-9510-3F7C428CDB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5" y="2704"/>
              <a:ext cx="601" cy="252"/>
            </a:xfrm>
            <a:prstGeom prst="rect">
              <a:avLst/>
            </a:prstGeom>
            <a:solidFill>
              <a:srgbClr val="0070C0"/>
            </a:solidFill>
            <a:ln w="12700" algn="ctr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+mn-ea"/>
                  <a:ea typeface="+mn-ea"/>
                </a:rPr>
                <a:t>电离层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71696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1BF81B-49E2-4C12-B0FE-CEA1215BD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  <a:ea typeface="+mj-ea"/>
              </a:rPr>
              <a:t>卫星通信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E59376-F02D-45BF-9D15-1C0D03885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+mj-ea"/>
                <a:ea typeface="+mj-ea"/>
              </a:rPr>
              <a:pPr>
                <a:defRPr/>
              </a:pPr>
              <a:t>25</a:t>
            </a:fld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6" name="Freeform 956">
            <a:extLst>
              <a:ext uri="{FF2B5EF4-FFF2-40B4-BE49-F238E27FC236}">
                <a16:creationId xmlns:a16="http://schemas.microsoft.com/office/drawing/2014/main" id="{74EA2B0B-95D1-46AD-B0EA-EB09A413E5E3}"/>
              </a:ext>
            </a:extLst>
          </p:cNvPr>
          <p:cNvSpPr>
            <a:spLocks/>
          </p:cNvSpPr>
          <p:nvPr/>
        </p:nvSpPr>
        <p:spPr bwMode="auto">
          <a:xfrm>
            <a:off x="2063751" y="4941888"/>
            <a:ext cx="3706813" cy="601662"/>
          </a:xfrm>
          <a:custGeom>
            <a:avLst/>
            <a:gdLst>
              <a:gd name="T0" fmla="*/ 0 w 2335"/>
              <a:gd name="T1" fmla="*/ 379 h 379"/>
              <a:gd name="T2" fmla="*/ 2335 w 2335"/>
              <a:gd name="T3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335" h="379">
                <a:moveTo>
                  <a:pt x="0" y="379"/>
                </a:moveTo>
                <a:cubicBezTo>
                  <a:pt x="602" y="0"/>
                  <a:pt x="1648" y="0"/>
                  <a:pt x="2335" y="379"/>
                </a:cubicBezTo>
              </a:path>
            </a:pathLst>
          </a:custGeom>
          <a:noFill/>
          <a:ln w="38100" cap="rnd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+mj-ea"/>
              <a:ea typeface="+mj-ea"/>
            </a:endParaRPr>
          </a:p>
        </p:txBody>
      </p:sp>
      <p:sp>
        <p:nvSpPr>
          <p:cNvPr id="7" name="Freeform 962">
            <a:extLst>
              <a:ext uri="{FF2B5EF4-FFF2-40B4-BE49-F238E27FC236}">
                <a16:creationId xmlns:a16="http://schemas.microsoft.com/office/drawing/2014/main" id="{593E4246-8782-47B8-B7B0-2C8815A4685F}"/>
              </a:ext>
            </a:extLst>
          </p:cNvPr>
          <p:cNvSpPr>
            <a:spLocks/>
          </p:cNvSpPr>
          <p:nvPr/>
        </p:nvSpPr>
        <p:spPr bwMode="auto">
          <a:xfrm>
            <a:off x="6384926" y="4941888"/>
            <a:ext cx="3706813" cy="601662"/>
          </a:xfrm>
          <a:custGeom>
            <a:avLst/>
            <a:gdLst>
              <a:gd name="T0" fmla="*/ 0 w 2335"/>
              <a:gd name="T1" fmla="*/ 379 h 379"/>
              <a:gd name="T2" fmla="*/ 2335 w 2335"/>
              <a:gd name="T3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335" h="379">
                <a:moveTo>
                  <a:pt x="0" y="379"/>
                </a:moveTo>
                <a:cubicBezTo>
                  <a:pt x="602" y="0"/>
                  <a:pt x="1648" y="0"/>
                  <a:pt x="2335" y="379"/>
                </a:cubicBezTo>
              </a:path>
            </a:pathLst>
          </a:custGeom>
          <a:noFill/>
          <a:ln w="38100" cap="rnd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+mj-ea"/>
              <a:ea typeface="+mj-ea"/>
            </a:endParaRPr>
          </a:p>
        </p:txBody>
      </p:sp>
      <p:pic>
        <p:nvPicPr>
          <p:cNvPr id="8" name="Picture 937" descr="接受器3">
            <a:extLst>
              <a:ext uri="{FF2B5EF4-FFF2-40B4-BE49-F238E27FC236}">
                <a16:creationId xmlns:a16="http://schemas.microsoft.com/office/drawing/2014/main" id="{F2D78C7C-B871-478C-A639-32D8EF6E3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27606">
            <a:off x="4872039" y="4508500"/>
            <a:ext cx="611187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945" descr="接受器3">
            <a:extLst>
              <a:ext uri="{FF2B5EF4-FFF2-40B4-BE49-F238E27FC236}">
                <a16:creationId xmlns:a16="http://schemas.microsoft.com/office/drawing/2014/main" id="{4F0D621B-2B74-4C0F-97DC-09332530A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69036" flipH="1">
            <a:off x="2317750" y="4508500"/>
            <a:ext cx="611188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 946">
            <a:extLst>
              <a:ext uri="{FF2B5EF4-FFF2-40B4-BE49-F238E27FC236}">
                <a16:creationId xmlns:a16="http://schemas.microsoft.com/office/drawing/2014/main" id="{D8038C08-2D07-4E2E-B34B-0ADC447C0D84}"/>
              </a:ext>
            </a:extLst>
          </p:cNvPr>
          <p:cNvSpPr>
            <a:spLocks/>
          </p:cNvSpPr>
          <p:nvPr/>
        </p:nvSpPr>
        <p:spPr bwMode="auto">
          <a:xfrm rot="969549" flipH="1">
            <a:off x="3109913" y="2420939"/>
            <a:ext cx="361950" cy="2225675"/>
          </a:xfrm>
          <a:custGeom>
            <a:avLst/>
            <a:gdLst>
              <a:gd name="T0" fmla="*/ 404 w 404"/>
              <a:gd name="T1" fmla="*/ 771 h 1294"/>
              <a:gd name="T2" fmla="*/ 87 w 404"/>
              <a:gd name="T3" fmla="*/ 0 h 1294"/>
              <a:gd name="T4" fmla="*/ 224 w 404"/>
              <a:gd name="T5" fmla="*/ 574 h 1294"/>
              <a:gd name="T6" fmla="*/ 0 w 404"/>
              <a:gd name="T7" fmla="*/ 466 h 1294"/>
              <a:gd name="T8" fmla="*/ 301 w 404"/>
              <a:gd name="T9" fmla="*/ 1294 h 1294"/>
              <a:gd name="T10" fmla="*/ 155 w 404"/>
              <a:gd name="T11" fmla="*/ 686 h 1294"/>
              <a:gd name="T12" fmla="*/ 404 w 404"/>
              <a:gd name="T13" fmla="*/ 771 h 1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04" h="1294">
                <a:moveTo>
                  <a:pt x="404" y="771"/>
                </a:moveTo>
                <a:lnTo>
                  <a:pt x="87" y="0"/>
                </a:lnTo>
                <a:lnTo>
                  <a:pt x="224" y="574"/>
                </a:lnTo>
                <a:lnTo>
                  <a:pt x="0" y="466"/>
                </a:lnTo>
                <a:lnTo>
                  <a:pt x="301" y="1294"/>
                </a:lnTo>
                <a:lnTo>
                  <a:pt x="155" y="686"/>
                </a:lnTo>
                <a:lnTo>
                  <a:pt x="404" y="771"/>
                </a:lnTo>
                <a:close/>
              </a:path>
            </a:pathLst>
          </a:custGeom>
          <a:solidFill>
            <a:srgbClr val="0066FF"/>
          </a:solidFill>
          <a:ln w="9525">
            <a:solidFill>
              <a:srgbClr val="ECF6A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j-ea"/>
              <a:ea typeface="+mj-ea"/>
            </a:endParaRPr>
          </a:p>
        </p:txBody>
      </p:sp>
      <p:pic>
        <p:nvPicPr>
          <p:cNvPr id="11" name="Picture 947" descr="卫星">
            <a:extLst>
              <a:ext uri="{FF2B5EF4-FFF2-40B4-BE49-F238E27FC236}">
                <a16:creationId xmlns:a16="http://schemas.microsoft.com/office/drawing/2014/main" id="{C5E8EB77-2DC6-45B3-927C-C85E7DA5D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13" y="1341439"/>
            <a:ext cx="1619250" cy="122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reeform 957">
            <a:extLst>
              <a:ext uri="{FF2B5EF4-FFF2-40B4-BE49-F238E27FC236}">
                <a16:creationId xmlns:a16="http://schemas.microsoft.com/office/drawing/2014/main" id="{6E891568-5217-4A39-9F11-983AF2A84DFE}"/>
              </a:ext>
            </a:extLst>
          </p:cNvPr>
          <p:cNvSpPr>
            <a:spLocks/>
          </p:cNvSpPr>
          <p:nvPr/>
        </p:nvSpPr>
        <p:spPr bwMode="auto">
          <a:xfrm rot="-969549">
            <a:off x="4259263" y="2420939"/>
            <a:ext cx="361950" cy="2225675"/>
          </a:xfrm>
          <a:custGeom>
            <a:avLst/>
            <a:gdLst>
              <a:gd name="T0" fmla="*/ 404 w 404"/>
              <a:gd name="T1" fmla="*/ 771 h 1294"/>
              <a:gd name="T2" fmla="*/ 87 w 404"/>
              <a:gd name="T3" fmla="*/ 0 h 1294"/>
              <a:gd name="T4" fmla="*/ 224 w 404"/>
              <a:gd name="T5" fmla="*/ 574 h 1294"/>
              <a:gd name="T6" fmla="*/ 0 w 404"/>
              <a:gd name="T7" fmla="*/ 466 h 1294"/>
              <a:gd name="T8" fmla="*/ 301 w 404"/>
              <a:gd name="T9" fmla="*/ 1294 h 1294"/>
              <a:gd name="T10" fmla="*/ 155 w 404"/>
              <a:gd name="T11" fmla="*/ 686 h 1294"/>
              <a:gd name="T12" fmla="*/ 404 w 404"/>
              <a:gd name="T13" fmla="*/ 771 h 1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04" h="1294">
                <a:moveTo>
                  <a:pt x="404" y="771"/>
                </a:moveTo>
                <a:lnTo>
                  <a:pt x="87" y="0"/>
                </a:lnTo>
                <a:lnTo>
                  <a:pt x="224" y="574"/>
                </a:lnTo>
                <a:lnTo>
                  <a:pt x="0" y="466"/>
                </a:lnTo>
                <a:lnTo>
                  <a:pt x="301" y="1294"/>
                </a:lnTo>
                <a:lnTo>
                  <a:pt x="155" y="686"/>
                </a:lnTo>
                <a:lnTo>
                  <a:pt x="404" y="771"/>
                </a:lnTo>
                <a:close/>
              </a:path>
            </a:pathLst>
          </a:custGeom>
          <a:solidFill>
            <a:srgbClr val="0066FF"/>
          </a:solidFill>
          <a:ln w="9525">
            <a:solidFill>
              <a:srgbClr val="ECF6A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j-ea"/>
              <a:ea typeface="+mj-ea"/>
            </a:endParaRPr>
          </a:p>
        </p:txBody>
      </p:sp>
      <p:pic>
        <p:nvPicPr>
          <p:cNvPr id="13" name="Picture 958" descr="接受器3">
            <a:extLst>
              <a:ext uri="{FF2B5EF4-FFF2-40B4-BE49-F238E27FC236}">
                <a16:creationId xmlns:a16="http://schemas.microsoft.com/office/drawing/2014/main" id="{EA554AD0-6555-4FA9-B494-F73F7C904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4252">
            <a:off x="9193214" y="4508500"/>
            <a:ext cx="611187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959" descr="接受器3">
            <a:extLst>
              <a:ext uri="{FF2B5EF4-FFF2-40B4-BE49-F238E27FC236}">
                <a16:creationId xmlns:a16="http://schemas.microsoft.com/office/drawing/2014/main" id="{EE3DE619-C158-41FF-BAB0-F24EA17D8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02956" flipH="1">
            <a:off x="6638925" y="4508500"/>
            <a:ext cx="611188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Freeform 960">
            <a:extLst>
              <a:ext uri="{FF2B5EF4-FFF2-40B4-BE49-F238E27FC236}">
                <a16:creationId xmlns:a16="http://schemas.microsoft.com/office/drawing/2014/main" id="{D38CCEA2-BA60-4CBD-8B3D-7D6E19E82EF2}"/>
              </a:ext>
            </a:extLst>
          </p:cNvPr>
          <p:cNvSpPr>
            <a:spLocks/>
          </p:cNvSpPr>
          <p:nvPr/>
        </p:nvSpPr>
        <p:spPr bwMode="auto">
          <a:xfrm rot="969549" flipH="1">
            <a:off x="7431088" y="2239964"/>
            <a:ext cx="361950" cy="2225675"/>
          </a:xfrm>
          <a:custGeom>
            <a:avLst/>
            <a:gdLst>
              <a:gd name="T0" fmla="*/ 404 w 404"/>
              <a:gd name="T1" fmla="*/ 771 h 1294"/>
              <a:gd name="T2" fmla="*/ 87 w 404"/>
              <a:gd name="T3" fmla="*/ 0 h 1294"/>
              <a:gd name="T4" fmla="*/ 224 w 404"/>
              <a:gd name="T5" fmla="*/ 574 h 1294"/>
              <a:gd name="T6" fmla="*/ 0 w 404"/>
              <a:gd name="T7" fmla="*/ 466 h 1294"/>
              <a:gd name="T8" fmla="*/ 301 w 404"/>
              <a:gd name="T9" fmla="*/ 1294 h 1294"/>
              <a:gd name="T10" fmla="*/ 155 w 404"/>
              <a:gd name="T11" fmla="*/ 686 h 1294"/>
              <a:gd name="T12" fmla="*/ 404 w 404"/>
              <a:gd name="T13" fmla="*/ 771 h 1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04" h="1294">
                <a:moveTo>
                  <a:pt x="404" y="771"/>
                </a:moveTo>
                <a:lnTo>
                  <a:pt x="87" y="0"/>
                </a:lnTo>
                <a:lnTo>
                  <a:pt x="224" y="574"/>
                </a:lnTo>
                <a:lnTo>
                  <a:pt x="0" y="466"/>
                </a:lnTo>
                <a:lnTo>
                  <a:pt x="301" y="1294"/>
                </a:lnTo>
                <a:lnTo>
                  <a:pt x="155" y="686"/>
                </a:lnTo>
                <a:lnTo>
                  <a:pt x="404" y="771"/>
                </a:lnTo>
                <a:close/>
              </a:path>
            </a:pathLst>
          </a:custGeom>
          <a:solidFill>
            <a:srgbClr val="0066FF"/>
          </a:solidFill>
          <a:ln w="9525">
            <a:solidFill>
              <a:srgbClr val="ECF6A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j-ea"/>
              <a:ea typeface="+mj-ea"/>
            </a:endParaRPr>
          </a:p>
        </p:txBody>
      </p:sp>
      <p:pic>
        <p:nvPicPr>
          <p:cNvPr id="16" name="Picture 961" descr="卫星">
            <a:extLst>
              <a:ext uri="{FF2B5EF4-FFF2-40B4-BE49-F238E27FC236}">
                <a16:creationId xmlns:a16="http://schemas.microsoft.com/office/drawing/2014/main" id="{AF0B881A-FDC0-4BAC-809D-7B18AC12A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988" y="1341439"/>
            <a:ext cx="1619250" cy="122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Freeform 963">
            <a:extLst>
              <a:ext uri="{FF2B5EF4-FFF2-40B4-BE49-F238E27FC236}">
                <a16:creationId xmlns:a16="http://schemas.microsoft.com/office/drawing/2014/main" id="{D3A63A93-3969-479C-9C49-B381B80D1A4D}"/>
              </a:ext>
            </a:extLst>
          </p:cNvPr>
          <p:cNvSpPr>
            <a:spLocks/>
          </p:cNvSpPr>
          <p:nvPr/>
        </p:nvSpPr>
        <p:spPr bwMode="auto">
          <a:xfrm rot="-969549">
            <a:off x="8580438" y="2239964"/>
            <a:ext cx="361950" cy="2225675"/>
          </a:xfrm>
          <a:custGeom>
            <a:avLst/>
            <a:gdLst>
              <a:gd name="T0" fmla="*/ 404 w 404"/>
              <a:gd name="T1" fmla="*/ 771 h 1294"/>
              <a:gd name="T2" fmla="*/ 87 w 404"/>
              <a:gd name="T3" fmla="*/ 0 h 1294"/>
              <a:gd name="T4" fmla="*/ 224 w 404"/>
              <a:gd name="T5" fmla="*/ 574 h 1294"/>
              <a:gd name="T6" fmla="*/ 0 w 404"/>
              <a:gd name="T7" fmla="*/ 466 h 1294"/>
              <a:gd name="T8" fmla="*/ 301 w 404"/>
              <a:gd name="T9" fmla="*/ 1294 h 1294"/>
              <a:gd name="T10" fmla="*/ 155 w 404"/>
              <a:gd name="T11" fmla="*/ 686 h 1294"/>
              <a:gd name="T12" fmla="*/ 404 w 404"/>
              <a:gd name="T13" fmla="*/ 771 h 1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04" h="1294">
                <a:moveTo>
                  <a:pt x="404" y="771"/>
                </a:moveTo>
                <a:lnTo>
                  <a:pt x="87" y="0"/>
                </a:lnTo>
                <a:lnTo>
                  <a:pt x="224" y="574"/>
                </a:lnTo>
                <a:lnTo>
                  <a:pt x="0" y="466"/>
                </a:lnTo>
                <a:lnTo>
                  <a:pt x="301" y="1294"/>
                </a:lnTo>
                <a:lnTo>
                  <a:pt x="155" y="686"/>
                </a:lnTo>
                <a:lnTo>
                  <a:pt x="404" y="771"/>
                </a:lnTo>
                <a:close/>
              </a:path>
            </a:pathLst>
          </a:custGeom>
          <a:solidFill>
            <a:srgbClr val="0066FF"/>
          </a:solidFill>
          <a:ln w="9525">
            <a:solidFill>
              <a:srgbClr val="ECF6A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j-ea"/>
              <a:ea typeface="+mj-ea"/>
            </a:endParaRPr>
          </a:p>
        </p:txBody>
      </p:sp>
      <p:pic>
        <p:nvPicPr>
          <p:cNvPr id="18" name="Picture 964" descr="接受器3">
            <a:extLst>
              <a:ext uri="{FF2B5EF4-FFF2-40B4-BE49-F238E27FC236}">
                <a16:creationId xmlns:a16="http://schemas.microsoft.com/office/drawing/2014/main" id="{2F925DB2-02A7-443D-8346-5582114B7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46604" flipH="1">
            <a:off x="7464425" y="4365625"/>
            <a:ext cx="611188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967" descr="接受器3">
            <a:extLst>
              <a:ext uri="{FF2B5EF4-FFF2-40B4-BE49-F238E27FC236}">
                <a16:creationId xmlns:a16="http://schemas.microsoft.com/office/drawing/2014/main" id="{6AEBB706-7F8E-4A8E-97B6-7A1CED971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45247">
            <a:off x="8472489" y="4365625"/>
            <a:ext cx="611187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 Box 968">
            <a:extLst>
              <a:ext uri="{FF2B5EF4-FFF2-40B4-BE49-F238E27FC236}">
                <a16:creationId xmlns:a16="http://schemas.microsoft.com/office/drawing/2014/main" id="{C6B92CCE-2FB4-4E53-95FD-24E9E941F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7557" y="5752587"/>
            <a:ext cx="198002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点对点通信线路</a:t>
            </a:r>
          </a:p>
        </p:txBody>
      </p:sp>
      <p:sp>
        <p:nvSpPr>
          <p:cNvPr id="21" name="Text Box 969">
            <a:extLst>
              <a:ext uri="{FF2B5EF4-FFF2-40B4-BE49-F238E27FC236}">
                <a16:creationId xmlns:a16="http://schemas.microsoft.com/office/drawing/2014/main" id="{76653402-A1EF-4F95-BEF9-E9A57325B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351" y="5779417"/>
            <a:ext cx="198002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广播式通信线路</a:t>
            </a:r>
          </a:p>
        </p:txBody>
      </p:sp>
      <p:sp>
        <p:nvSpPr>
          <p:cNvPr id="22" name="Text Box 970">
            <a:extLst>
              <a:ext uri="{FF2B5EF4-FFF2-40B4-BE49-F238E27FC236}">
                <a16:creationId xmlns:a16="http://schemas.microsoft.com/office/drawing/2014/main" id="{F3C0E1CC-97AD-4F18-B18A-693403AE8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084763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latin typeface="+mj-ea"/>
                <a:ea typeface="+mj-ea"/>
              </a:rPr>
              <a:t>地球表面</a:t>
            </a:r>
          </a:p>
        </p:txBody>
      </p:sp>
      <p:sp>
        <p:nvSpPr>
          <p:cNvPr id="23" name="Text Box 971">
            <a:extLst>
              <a:ext uri="{FF2B5EF4-FFF2-40B4-BE49-F238E27FC236}">
                <a16:creationId xmlns:a16="http://schemas.microsoft.com/office/drawing/2014/main" id="{5FC059BC-0E17-4B39-925D-546BAD8FB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0325" y="5229226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latin typeface="+mj-ea"/>
                <a:ea typeface="+mj-ea"/>
              </a:rPr>
              <a:t>地球表面</a:t>
            </a:r>
          </a:p>
        </p:txBody>
      </p:sp>
      <p:sp>
        <p:nvSpPr>
          <p:cNvPr id="24" name="Freeform 981">
            <a:extLst>
              <a:ext uri="{FF2B5EF4-FFF2-40B4-BE49-F238E27FC236}">
                <a16:creationId xmlns:a16="http://schemas.microsoft.com/office/drawing/2014/main" id="{7B980DA4-51F2-44FC-B4B3-3F1DB5863C08}"/>
              </a:ext>
            </a:extLst>
          </p:cNvPr>
          <p:cNvSpPr>
            <a:spLocks/>
          </p:cNvSpPr>
          <p:nvPr/>
        </p:nvSpPr>
        <p:spPr bwMode="auto">
          <a:xfrm rot="-447762">
            <a:off x="8256588" y="2239964"/>
            <a:ext cx="361950" cy="2225675"/>
          </a:xfrm>
          <a:custGeom>
            <a:avLst/>
            <a:gdLst>
              <a:gd name="T0" fmla="*/ 404 w 404"/>
              <a:gd name="T1" fmla="*/ 771 h 1294"/>
              <a:gd name="T2" fmla="*/ 87 w 404"/>
              <a:gd name="T3" fmla="*/ 0 h 1294"/>
              <a:gd name="T4" fmla="*/ 224 w 404"/>
              <a:gd name="T5" fmla="*/ 574 h 1294"/>
              <a:gd name="T6" fmla="*/ 0 w 404"/>
              <a:gd name="T7" fmla="*/ 466 h 1294"/>
              <a:gd name="T8" fmla="*/ 301 w 404"/>
              <a:gd name="T9" fmla="*/ 1294 h 1294"/>
              <a:gd name="T10" fmla="*/ 155 w 404"/>
              <a:gd name="T11" fmla="*/ 686 h 1294"/>
              <a:gd name="T12" fmla="*/ 404 w 404"/>
              <a:gd name="T13" fmla="*/ 771 h 1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04" h="1294">
                <a:moveTo>
                  <a:pt x="404" y="771"/>
                </a:moveTo>
                <a:lnTo>
                  <a:pt x="87" y="0"/>
                </a:lnTo>
                <a:lnTo>
                  <a:pt x="224" y="574"/>
                </a:lnTo>
                <a:lnTo>
                  <a:pt x="0" y="466"/>
                </a:lnTo>
                <a:lnTo>
                  <a:pt x="301" y="1294"/>
                </a:lnTo>
                <a:lnTo>
                  <a:pt x="155" y="686"/>
                </a:lnTo>
                <a:lnTo>
                  <a:pt x="404" y="771"/>
                </a:lnTo>
                <a:close/>
              </a:path>
            </a:pathLst>
          </a:custGeom>
          <a:solidFill>
            <a:srgbClr val="0066FF"/>
          </a:solidFill>
          <a:ln w="9525">
            <a:solidFill>
              <a:srgbClr val="ECF6A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j-ea"/>
              <a:ea typeface="+mj-ea"/>
            </a:endParaRPr>
          </a:p>
        </p:txBody>
      </p:sp>
      <p:sp>
        <p:nvSpPr>
          <p:cNvPr id="25" name="Freeform 982">
            <a:extLst>
              <a:ext uri="{FF2B5EF4-FFF2-40B4-BE49-F238E27FC236}">
                <a16:creationId xmlns:a16="http://schemas.microsoft.com/office/drawing/2014/main" id="{56EDD239-1B54-4DB6-9F65-34B6E940B8D8}"/>
              </a:ext>
            </a:extLst>
          </p:cNvPr>
          <p:cNvSpPr>
            <a:spLocks/>
          </p:cNvSpPr>
          <p:nvPr/>
        </p:nvSpPr>
        <p:spPr bwMode="auto">
          <a:xfrm rot="447762" flipH="1">
            <a:off x="7753350" y="2241551"/>
            <a:ext cx="361950" cy="2225675"/>
          </a:xfrm>
          <a:custGeom>
            <a:avLst/>
            <a:gdLst>
              <a:gd name="T0" fmla="*/ 404 w 404"/>
              <a:gd name="T1" fmla="*/ 771 h 1294"/>
              <a:gd name="T2" fmla="*/ 87 w 404"/>
              <a:gd name="T3" fmla="*/ 0 h 1294"/>
              <a:gd name="T4" fmla="*/ 224 w 404"/>
              <a:gd name="T5" fmla="*/ 574 h 1294"/>
              <a:gd name="T6" fmla="*/ 0 w 404"/>
              <a:gd name="T7" fmla="*/ 466 h 1294"/>
              <a:gd name="T8" fmla="*/ 301 w 404"/>
              <a:gd name="T9" fmla="*/ 1294 h 1294"/>
              <a:gd name="T10" fmla="*/ 155 w 404"/>
              <a:gd name="T11" fmla="*/ 686 h 1294"/>
              <a:gd name="T12" fmla="*/ 404 w 404"/>
              <a:gd name="T13" fmla="*/ 771 h 1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04" h="1294">
                <a:moveTo>
                  <a:pt x="404" y="771"/>
                </a:moveTo>
                <a:lnTo>
                  <a:pt x="87" y="0"/>
                </a:lnTo>
                <a:lnTo>
                  <a:pt x="224" y="574"/>
                </a:lnTo>
                <a:lnTo>
                  <a:pt x="0" y="466"/>
                </a:lnTo>
                <a:lnTo>
                  <a:pt x="301" y="1294"/>
                </a:lnTo>
                <a:lnTo>
                  <a:pt x="155" y="686"/>
                </a:lnTo>
                <a:lnTo>
                  <a:pt x="404" y="771"/>
                </a:lnTo>
                <a:close/>
              </a:path>
            </a:pathLst>
          </a:custGeom>
          <a:solidFill>
            <a:srgbClr val="0066FF"/>
          </a:solidFill>
          <a:ln w="9525">
            <a:solidFill>
              <a:srgbClr val="ECF6A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085319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5C0CA4-0961-403A-96A8-7C9A8926E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WLan</a:t>
            </a:r>
            <a:r>
              <a:rPr lang="zh-CN" altLang="en-US" dirty="0"/>
              <a:t>组件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2C0E16-2C11-405A-BB3D-12589CF98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/>
              <a:pPr>
                <a:defRPr/>
              </a:pPr>
              <a:t>26</a:t>
            </a:fld>
            <a:endParaRPr lang="en-US" altLang="zh-CN" dirty="0"/>
          </a:p>
        </p:txBody>
      </p:sp>
      <p:pic>
        <p:nvPicPr>
          <p:cNvPr id="5" name="Picture 4" descr="adapters">
            <a:extLst>
              <a:ext uri="{FF2B5EF4-FFF2-40B4-BE49-F238E27FC236}">
                <a16:creationId xmlns:a16="http://schemas.microsoft.com/office/drawing/2014/main" id="{95FB5E20-2A92-4958-B85E-009953D0D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0651" y="3128069"/>
            <a:ext cx="1447800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wireless-network-new-4">
            <a:extLst>
              <a:ext uri="{FF2B5EF4-FFF2-40B4-BE49-F238E27FC236}">
                <a16:creationId xmlns:a16="http://schemas.microsoft.com/office/drawing/2014/main" id="{80362C48-076C-46EC-9096-DEEA089C2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629" y="1448593"/>
            <a:ext cx="1439862" cy="130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xbox_360_wireless_network_adaptor">
            <a:extLst>
              <a:ext uri="{FF2B5EF4-FFF2-40B4-BE49-F238E27FC236}">
                <a16:creationId xmlns:a16="http://schemas.microsoft.com/office/drawing/2014/main" id="{53E58C3D-9F84-4521-A542-8AF8B4D2F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30" y="3144556"/>
            <a:ext cx="1223963" cy="1223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Linksys%20WRT54G%20back">
            <a:extLst>
              <a:ext uri="{FF2B5EF4-FFF2-40B4-BE49-F238E27FC236}">
                <a16:creationId xmlns:a16="http://schemas.microsoft.com/office/drawing/2014/main" id="{0AE237DB-32EF-4814-9451-5D45C6A87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101" y="1354137"/>
            <a:ext cx="1657350" cy="127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9" descr="33-314-027_1">
            <a:extLst>
              <a:ext uri="{FF2B5EF4-FFF2-40B4-BE49-F238E27FC236}">
                <a16:creationId xmlns:a16="http://schemas.microsoft.com/office/drawing/2014/main" id="{130EC522-6C0C-43BC-BCD2-C81FB9454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572" y="3124676"/>
            <a:ext cx="1584325" cy="1189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linksys%20wireless%20adapter">
            <a:extLst>
              <a:ext uri="{FF2B5EF4-FFF2-40B4-BE49-F238E27FC236}">
                <a16:creationId xmlns:a16="http://schemas.microsoft.com/office/drawing/2014/main" id="{9996A3F8-49E4-4139-812D-128783377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833" y="3232625"/>
            <a:ext cx="1008062" cy="100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91123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7CED37-E619-41B3-BEE4-9327456E9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 </a:t>
            </a:r>
            <a:r>
              <a:rPr lang="zh-CN" altLang="en-US" dirty="0"/>
              <a:t>物理层接口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85D1FB-68E1-48E4-B314-C14C192CE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defRPr/>
              </a:pPr>
              <a:t>27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7CCA122F-C12D-4982-B945-BB4157511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4" y="2205038"/>
            <a:ext cx="719137" cy="1295400"/>
          </a:xfrm>
          <a:prstGeom prst="roundRect">
            <a:avLst>
              <a:gd name="adj" fmla="val 16667"/>
            </a:avLst>
          </a:prstGeom>
          <a:solidFill>
            <a:srgbClr val="0066CC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DTE</a:t>
            </a: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50154495-DB4B-47DC-8201-3AE4E936A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2205038"/>
            <a:ext cx="719138" cy="1295400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DCE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35497380-ABE5-4F99-A717-3E7C8808E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3714" y="2205038"/>
            <a:ext cx="719137" cy="1295400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DCE</a:t>
            </a: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E35716C8-1CF8-4494-9348-5C89DBBC4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9114" y="2205038"/>
            <a:ext cx="719137" cy="1295400"/>
          </a:xfrm>
          <a:prstGeom prst="roundRect">
            <a:avLst>
              <a:gd name="adj" fmla="val 16667"/>
            </a:avLst>
          </a:prstGeom>
          <a:solidFill>
            <a:srgbClr val="0066CC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DTE</a:t>
            </a:r>
          </a:p>
        </p:txBody>
      </p:sp>
      <p:pic>
        <p:nvPicPr>
          <p:cNvPr id="9" name="Picture 25">
            <a:extLst>
              <a:ext uri="{FF2B5EF4-FFF2-40B4-BE49-F238E27FC236}">
                <a16:creationId xmlns:a16="http://schemas.microsoft.com/office/drawing/2014/main" id="{80CAC653-D061-4DCF-8894-B5C4D9D4B1C5}"/>
              </a:ext>
            </a:extLst>
          </p:cNvPr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2205039"/>
            <a:ext cx="21590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" name="Text Box 9">
            <a:extLst>
              <a:ext uri="{FF2B5EF4-FFF2-40B4-BE49-F238E27FC236}">
                <a16:creationId xmlns:a16="http://schemas.microsoft.com/office/drawing/2014/main" id="{6F7F0370-2DD7-406D-926A-A6C7A3472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7363" y="2689226"/>
            <a:ext cx="1200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通信网络</a:t>
            </a:r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5F9D0254-024D-4489-91BB-927FD800CD7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7351" y="2852738"/>
            <a:ext cx="576263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4DCA5A5E-A68F-469B-B96C-F60D25A8F72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48525" y="2852738"/>
            <a:ext cx="863600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C1610B9F-846E-451A-913F-0761380D7E8F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851" y="2852738"/>
            <a:ext cx="576263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A1AD467A-83A8-48E5-878D-25ECF21FB7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4338" y="2852738"/>
            <a:ext cx="863600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B30AFB11-9F5A-4801-9B87-AB8EC7526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151" y="4221163"/>
            <a:ext cx="178811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DTE-DCE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5EA10E30-A864-4E41-A046-52E904CED0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16275" y="2924175"/>
            <a:ext cx="0" cy="12969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Box 17">
            <a:extLst>
              <a:ext uri="{FF2B5EF4-FFF2-40B4-BE49-F238E27FC236}">
                <a16:creationId xmlns:a16="http://schemas.microsoft.com/office/drawing/2014/main" id="{8CD70DEF-4CE4-4CF8-A9A0-900723F4E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0064" y="4221163"/>
            <a:ext cx="178811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DTE-DCE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0D5409F5-5563-4C58-B24E-4223A2F094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20188" y="2924175"/>
            <a:ext cx="0" cy="12969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0748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2A233E-0055-47B8-8F69-A75286A79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DTE</a:t>
            </a:r>
            <a:r>
              <a:rPr lang="zh-CN" altLang="en-US" dirty="0">
                <a:latin typeface="+mn-ea"/>
                <a:ea typeface="+mn-ea"/>
              </a:rPr>
              <a:t>与</a:t>
            </a:r>
            <a:r>
              <a:rPr lang="en-US" altLang="zh-CN" dirty="0">
                <a:latin typeface="+mn-ea"/>
                <a:ea typeface="+mn-ea"/>
              </a:rPr>
              <a:t>DCE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86D31F-6536-4882-B647-69E406503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DTE(Data Terminal Equipment)</a:t>
            </a:r>
            <a:r>
              <a:rPr lang="zh-CN" altLang="en-US" sz="2800" dirty="0"/>
              <a:t>是具有数据处理能力及发送和接收数据信息能力的设备。</a:t>
            </a:r>
          </a:p>
          <a:p>
            <a:r>
              <a:rPr lang="en-US" altLang="zh-CN" sz="2800" dirty="0"/>
              <a:t>DCE(Data Circuit-Terminating Equipment)</a:t>
            </a:r>
            <a:r>
              <a:rPr lang="zh-CN" altLang="en-US" sz="2800" dirty="0"/>
              <a:t>是能够通过网络发送和接收模拟或数字信号形式数据的设备。 </a:t>
            </a:r>
          </a:p>
          <a:p>
            <a:r>
              <a:rPr lang="en-US" altLang="zh-CN" sz="2800" dirty="0"/>
              <a:t>DTE</a:t>
            </a:r>
            <a:r>
              <a:rPr lang="zh-CN" altLang="en-US" sz="2800" dirty="0"/>
              <a:t>一般不直接连接网络，它通过一台</a:t>
            </a:r>
            <a:r>
              <a:rPr lang="en-US" altLang="zh-CN" sz="2800" dirty="0"/>
              <a:t>DCE</a:t>
            </a:r>
            <a:r>
              <a:rPr lang="zh-CN" altLang="en-US" sz="2800" dirty="0"/>
              <a:t>通信，</a:t>
            </a:r>
            <a:r>
              <a:rPr lang="en-US" altLang="zh-CN" sz="2800" dirty="0"/>
              <a:t>DTE</a:t>
            </a:r>
            <a:r>
              <a:rPr lang="zh-CN" altLang="en-US" sz="2800" dirty="0"/>
              <a:t>和</a:t>
            </a:r>
            <a:r>
              <a:rPr lang="en-US" altLang="zh-CN" sz="2800" dirty="0"/>
              <a:t>DCE</a:t>
            </a:r>
            <a:r>
              <a:rPr lang="zh-CN" altLang="en-US" sz="2800" dirty="0"/>
              <a:t>的连接称为</a:t>
            </a:r>
            <a:r>
              <a:rPr lang="en-US" altLang="zh-CN" sz="2800" dirty="0"/>
              <a:t>DTE—DCE</a:t>
            </a:r>
            <a:r>
              <a:rPr lang="zh-CN" altLang="en-US" sz="2800" dirty="0"/>
              <a:t>接口。</a:t>
            </a:r>
          </a:p>
          <a:p>
            <a:r>
              <a:rPr lang="zh-CN" altLang="en-US" sz="2800" dirty="0"/>
              <a:t>在</a:t>
            </a:r>
            <a:r>
              <a:rPr lang="en-US" altLang="zh-CN" sz="2800" dirty="0"/>
              <a:t>DTE—DCE</a:t>
            </a:r>
            <a:r>
              <a:rPr lang="zh-CN" altLang="en-US" sz="2800" dirty="0"/>
              <a:t>接口上既有数据信息又有控制信息。</a:t>
            </a:r>
          </a:p>
          <a:p>
            <a:r>
              <a:rPr lang="zh-CN" altLang="en-US" sz="2800" dirty="0"/>
              <a:t>为了使各个计算机公司生产的</a:t>
            </a:r>
            <a:r>
              <a:rPr lang="en-US" altLang="zh-CN" sz="2800" dirty="0"/>
              <a:t>DTE</a:t>
            </a:r>
            <a:r>
              <a:rPr lang="zh-CN" altLang="en-US" sz="2800" dirty="0"/>
              <a:t>可以方便地和</a:t>
            </a:r>
            <a:r>
              <a:rPr lang="en-US" altLang="zh-CN" sz="2800" dirty="0"/>
              <a:t>DCE</a:t>
            </a:r>
            <a:r>
              <a:rPr lang="zh-CN" altLang="en-US" sz="2800" dirty="0"/>
              <a:t>相连，就必须对</a:t>
            </a:r>
            <a:r>
              <a:rPr lang="en-US" altLang="zh-CN" sz="2800" dirty="0"/>
              <a:t>DTE—DCE</a:t>
            </a:r>
            <a:r>
              <a:rPr lang="zh-CN" altLang="en-US" sz="2800" dirty="0"/>
              <a:t>接口进行标准化，这些标准就是我们通常所说的物理层协议。</a:t>
            </a:r>
          </a:p>
          <a:p>
            <a:endParaRPr lang="en-US" altLang="zh-CN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A4798E-EC75-4916-A887-E263C7E56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+mn-ea"/>
                <a:ea typeface="+mn-ea"/>
              </a:rPr>
              <a:pPr>
                <a:defRPr/>
              </a:pPr>
              <a:t>28</a:t>
            </a:fld>
            <a:endParaRPr lang="en-US" altLang="zh-CN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534616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AE7055-FD43-4845-98D5-1C1DB8548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EIA-232</a:t>
            </a:r>
            <a:r>
              <a:rPr lang="zh-CN" altLang="en-US" dirty="0">
                <a:latin typeface="+mn-ea"/>
                <a:ea typeface="+mn-ea"/>
              </a:rPr>
              <a:t>接口标准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5C79A1-471E-49D8-A37D-6781DA6D8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EIA-232</a:t>
            </a:r>
            <a:r>
              <a:rPr lang="zh-CN" altLang="en-US" dirty="0"/>
              <a:t>接口标准是由电子工业协会</a:t>
            </a:r>
            <a:r>
              <a:rPr lang="en-US" altLang="zh-CN" dirty="0"/>
              <a:t>(EIA)1962</a:t>
            </a:r>
            <a:r>
              <a:rPr lang="zh-CN" altLang="en-US" dirty="0"/>
              <a:t>年制定的，早期称为</a:t>
            </a:r>
            <a:r>
              <a:rPr lang="en-US" altLang="zh-CN" dirty="0"/>
              <a:t>RS-232</a:t>
            </a:r>
            <a:r>
              <a:rPr lang="zh-CN" altLang="en-US" dirty="0"/>
              <a:t>标准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0394A5-D2F3-480B-9482-F10E6FE28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+mn-ea"/>
                <a:ea typeface="+mn-ea"/>
              </a:rPr>
              <a:pPr>
                <a:defRPr/>
              </a:pPr>
              <a:t>29</a:t>
            </a:fld>
            <a:endParaRPr lang="en-US" altLang="zh-CN" dirty="0">
              <a:latin typeface="+mn-ea"/>
              <a:ea typeface="+mn-ea"/>
            </a:endParaRP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DB381491-71AA-4393-9712-A73812CF3FCC}"/>
              </a:ext>
            </a:extLst>
          </p:cNvPr>
          <p:cNvGrpSpPr/>
          <p:nvPr/>
        </p:nvGrpSpPr>
        <p:grpSpPr>
          <a:xfrm>
            <a:off x="623392" y="2060848"/>
            <a:ext cx="12197562" cy="4110801"/>
            <a:chOff x="91126" y="2065287"/>
            <a:chExt cx="12998257" cy="4380650"/>
          </a:xfrm>
        </p:grpSpPr>
        <p:pic>
          <p:nvPicPr>
            <p:cNvPr id="6" name="图形 5">
              <a:extLst>
                <a:ext uri="{FF2B5EF4-FFF2-40B4-BE49-F238E27FC236}">
                  <a16:creationId xmlns:a16="http://schemas.microsoft.com/office/drawing/2014/main" id="{039FF9D7-CC16-42D0-830B-F53B874E1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9861" y="3645025"/>
              <a:ext cx="2207578" cy="1671453"/>
            </a:xfrm>
            <a:prstGeom prst="rect">
              <a:avLst/>
            </a:prstGeom>
          </p:spPr>
        </p:pic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55D7191B-D40E-49F2-947D-61684FCA16BE}"/>
                </a:ext>
              </a:extLst>
            </p:cNvPr>
            <p:cNvGrpSpPr/>
            <p:nvPr/>
          </p:nvGrpSpPr>
          <p:grpSpPr>
            <a:xfrm>
              <a:off x="3719736" y="4297109"/>
              <a:ext cx="4176464" cy="842518"/>
              <a:chOff x="3791744" y="2600908"/>
              <a:chExt cx="4893468" cy="1370231"/>
            </a:xfrm>
          </p:grpSpPr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BFD69273-8C87-4B88-B41C-953114AD8965}"/>
                  </a:ext>
                </a:extLst>
              </p:cNvPr>
              <p:cNvGrpSpPr/>
              <p:nvPr/>
            </p:nvGrpSpPr>
            <p:grpSpPr>
              <a:xfrm>
                <a:off x="3791744" y="2602987"/>
                <a:ext cx="1224136" cy="1368152"/>
                <a:chOff x="3791744" y="2602987"/>
                <a:chExt cx="1224136" cy="1368152"/>
              </a:xfrm>
            </p:grpSpPr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A3F0D31C-7CA9-4DE7-90A8-CE016EEA18E9}"/>
                    </a:ext>
                  </a:extLst>
                </p:cNvPr>
                <p:cNvSpPr/>
                <p:nvPr/>
              </p:nvSpPr>
              <p:spPr bwMode="auto">
                <a:xfrm>
                  <a:off x="3791744" y="3019072"/>
                  <a:ext cx="144016" cy="625952"/>
                </a:xfrm>
                <a:prstGeom prst="rect">
                  <a:avLst/>
                </a:prstGeom>
                <a:noFill/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  <a:ea typeface="+mn-ea"/>
                  </a:endParaRPr>
                </a:p>
              </p:txBody>
            </p:sp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878D9BD8-3A57-41A9-A989-7AE53DE8F655}"/>
                    </a:ext>
                  </a:extLst>
                </p:cNvPr>
                <p:cNvSpPr/>
                <p:nvPr/>
              </p:nvSpPr>
              <p:spPr bwMode="auto">
                <a:xfrm>
                  <a:off x="3935760" y="2602987"/>
                  <a:ext cx="792088" cy="1368152"/>
                </a:xfrm>
                <a:prstGeom prst="rect">
                  <a:avLst/>
                </a:prstGeom>
                <a:noFill/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  <a:ea typeface="+mn-ea"/>
                  </a:endParaRPr>
                </a:p>
              </p:txBody>
            </p:sp>
            <p:sp>
              <p:nvSpPr>
                <p:cNvPr id="9" name="矩形: 剪去左右顶角 8">
                  <a:extLst>
                    <a:ext uri="{FF2B5EF4-FFF2-40B4-BE49-F238E27FC236}">
                      <a16:creationId xmlns:a16="http://schemas.microsoft.com/office/drawing/2014/main" id="{CE6C3F65-AF07-4D2A-8BB0-F687C35B4B4C}"/>
                    </a:ext>
                  </a:extLst>
                </p:cNvPr>
                <p:cNvSpPr/>
                <p:nvPr/>
              </p:nvSpPr>
              <p:spPr bwMode="auto">
                <a:xfrm rot="5400000">
                  <a:off x="3946612" y="2819011"/>
                  <a:ext cx="914400" cy="936104"/>
                </a:xfrm>
                <a:prstGeom prst="snip2SameRect">
                  <a:avLst/>
                </a:prstGeom>
                <a:noFill/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  <a:ea typeface="+mn-ea"/>
                  </a:endParaRPr>
                </a:p>
              </p:txBody>
            </p:sp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21624FBB-F551-4BFD-B6C0-D77576B34636}"/>
                    </a:ext>
                  </a:extLst>
                </p:cNvPr>
                <p:cNvSpPr/>
                <p:nvPr/>
              </p:nvSpPr>
              <p:spPr bwMode="auto">
                <a:xfrm>
                  <a:off x="4871864" y="3140968"/>
                  <a:ext cx="144016" cy="288032"/>
                </a:xfrm>
                <a:prstGeom prst="rect">
                  <a:avLst/>
                </a:prstGeom>
                <a:noFill/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1970D36-3BF5-4E3B-A0C5-650A16B5DAF7}"/>
                  </a:ext>
                </a:extLst>
              </p:cNvPr>
              <p:cNvSpPr/>
              <p:nvPr/>
            </p:nvSpPr>
            <p:spPr bwMode="auto">
              <a:xfrm>
                <a:off x="5015880" y="3212976"/>
                <a:ext cx="2448272" cy="144016"/>
              </a:xfrm>
              <a:prstGeom prst="rect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endParaRPr>
              </a:p>
            </p:txBody>
          </p:sp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88906F49-C064-4646-A303-FC20D3152739}"/>
                  </a:ext>
                </a:extLst>
              </p:cNvPr>
              <p:cNvGrpSpPr/>
              <p:nvPr/>
            </p:nvGrpSpPr>
            <p:grpSpPr>
              <a:xfrm rot="10800000">
                <a:off x="7461076" y="2600908"/>
                <a:ext cx="1224136" cy="1368152"/>
                <a:chOff x="3791744" y="2602987"/>
                <a:chExt cx="1224136" cy="1368152"/>
              </a:xfrm>
            </p:grpSpPr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7C8774F7-F0E3-4EC2-A31C-62C1A3059EDB}"/>
                    </a:ext>
                  </a:extLst>
                </p:cNvPr>
                <p:cNvSpPr/>
                <p:nvPr/>
              </p:nvSpPr>
              <p:spPr bwMode="auto">
                <a:xfrm>
                  <a:off x="3791744" y="3019072"/>
                  <a:ext cx="144016" cy="625952"/>
                </a:xfrm>
                <a:prstGeom prst="rect">
                  <a:avLst/>
                </a:prstGeom>
                <a:noFill/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  <a:ea typeface="+mn-ea"/>
                  </a:endParaRPr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E4A2279B-47B5-40A2-AA65-9BF4D6EC40AE}"/>
                    </a:ext>
                  </a:extLst>
                </p:cNvPr>
                <p:cNvSpPr/>
                <p:nvPr/>
              </p:nvSpPr>
              <p:spPr bwMode="auto">
                <a:xfrm>
                  <a:off x="3935760" y="2602987"/>
                  <a:ext cx="792088" cy="1368152"/>
                </a:xfrm>
                <a:prstGeom prst="rect">
                  <a:avLst/>
                </a:prstGeom>
                <a:noFill/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  <a:ea typeface="+mn-ea"/>
                  </a:endParaRPr>
                </a:p>
              </p:txBody>
            </p:sp>
            <p:sp>
              <p:nvSpPr>
                <p:cNvPr id="16" name="矩形: 剪去左右顶角 15">
                  <a:extLst>
                    <a:ext uri="{FF2B5EF4-FFF2-40B4-BE49-F238E27FC236}">
                      <a16:creationId xmlns:a16="http://schemas.microsoft.com/office/drawing/2014/main" id="{13226FC1-64DB-4B2B-A5A1-74DA5882C183}"/>
                    </a:ext>
                  </a:extLst>
                </p:cNvPr>
                <p:cNvSpPr/>
                <p:nvPr/>
              </p:nvSpPr>
              <p:spPr bwMode="auto">
                <a:xfrm rot="5400000">
                  <a:off x="3946612" y="2819011"/>
                  <a:ext cx="914400" cy="936104"/>
                </a:xfrm>
                <a:prstGeom prst="snip2SameRect">
                  <a:avLst/>
                </a:prstGeom>
                <a:noFill/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  <a:ea typeface="+mn-ea"/>
                  </a:endParaRPr>
                </a:p>
              </p:txBody>
            </p:sp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93D9839C-8424-437D-BD62-DB02C180627E}"/>
                    </a:ext>
                  </a:extLst>
                </p:cNvPr>
                <p:cNvSpPr/>
                <p:nvPr/>
              </p:nvSpPr>
              <p:spPr bwMode="auto">
                <a:xfrm>
                  <a:off x="4871864" y="3140968"/>
                  <a:ext cx="144016" cy="288032"/>
                </a:xfrm>
                <a:prstGeom prst="rect">
                  <a:avLst/>
                </a:prstGeom>
                <a:noFill/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949B76B1-ADB1-4F12-B4C3-4593A3A00809}"/>
                </a:ext>
              </a:extLst>
            </p:cNvPr>
            <p:cNvGrpSpPr/>
            <p:nvPr/>
          </p:nvGrpSpPr>
          <p:grpSpPr>
            <a:xfrm>
              <a:off x="8387090" y="4507417"/>
              <a:ext cx="1972708" cy="420621"/>
              <a:chOff x="8184232" y="3770467"/>
              <a:chExt cx="1972708" cy="420621"/>
            </a:xfrm>
          </p:grpSpPr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8C0CB38A-7D0C-44BF-8833-66125E3C28A8}"/>
                  </a:ext>
                </a:extLst>
              </p:cNvPr>
              <p:cNvSpPr/>
              <p:nvPr/>
            </p:nvSpPr>
            <p:spPr bwMode="auto">
              <a:xfrm>
                <a:off x="8184232" y="3770467"/>
                <a:ext cx="1972708" cy="420621"/>
              </a:xfrm>
              <a:prstGeom prst="rect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endParaRP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00813A11-438D-4C37-B170-E23D4332C3A2}"/>
                  </a:ext>
                </a:extLst>
              </p:cNvPr>
              <p:cNvSpPr/>
              <p:nvPr/>
            </p:nvSpPr>
            <p:spPr bwMode="auto">
              <a:xfrm>
                <a:off x="8256240" y="3814744"/>
                <a:ext cx="360040" cy="120504"/>
              </a:xfrm>
              <a:prstGeom prst="rect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endParaRP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7C1F4017-FC2B-41A3-96F3-66EA7AF84201}"/>
                  </a:ext>
                </a:extLst>
              </p:cNvPr>
              <p:cNvSpPr/>
              <p:nvPr/>
            </p:nvSpPr>
            <p:spPr bwMode="auto">
              <a:xfrm>
                <a:off x="8328248" y="4005064"/>
                <a:ext cx="1705778" cy="146085"/>
              </a:xfrm>
              <a:prstGeom prst="rect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endParaRPr>
              </a:p>
            </p:txBody>
          </p: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9347A577-5338-43EC-9018-96C2AB11C2AF}"/>
                  </a:ext>
                </a:extLst>
              </p:cNvPr>
              <p:cNvSpPr/>
              <p:nvPr/>
            </p:nvSpPr>
            <p:spPr bwMode="auto">
              <a:xfrm>
                <a:off x="8367583" y="4021725"/>
                <a:ext cx="117055" cy="117055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endParaRPr>
              </a:p>
            </p:txBody>
          </p: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0DCEB307-AB31-4DAD-AA43-138E078060FC}"/>
                  </a:ext>
                </a:extLst>
              </p:cNvPr>
              <p:cNvSpPr/>
              <p:nvPr/>
            </p:nvSpPr>
            <p:spPr bwMode="auto">
              <a:xfrm>
                <a:off x="8579452" y="4021725"/>
                <a:ext cx="117055" cy="117055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endParaRPr>
              </a:p>
            </p:txBody>
          </p: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346C5678-8EFA-4309-A291-68EBA38E5C63}"/>
                  </a:ext>
                </a:extLst>
              </p:cNvPr>
              <p:cNvSpPr/>
              <p:nvPr/>
            </p:nvSpPr>
            <p:spPr bwMode="auto">
              <a:xfrm>
                <a:off x="8795736" y="4021725"/>
                <a:ext cx="117055" cy="117055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endParaRPr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33E04062-3ECD-4BF8-BC04-CE7D45A1D213}"/>
                  </a:ext>
                </a:extLst>
              </p:cNvPr>
              <p:cNvSpPr/>
              <p:nvPr/>
            </p:nvSpPr>
            <p:spPr bwMode="auto">
              <a:xfrm>
                <a:off x="9002434" y="4021725"/>
                <a:ext cx="117055" cy="117055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endParaRPr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F81CBD35-4BB7-4359-AFF2-4E0C286FCDA0}"/>
                  </a:ext>
                </a:extLst>
              </p:cNvPr>
              <p:cNvSpPr/>
              <p:nvPr/>
            </p:nvSpPr>
            <p:spPr bwMode="auto">
              <a:xfrm>
                <a:off x="9214303" y="4021725"/>
                <a:ext cx="117055" cy="117055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endParaRPr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99A21DD7-BE89-4006-A1AC-2B3187D72CD3}"/>
                  </a:ext>
                </a:extLst>
              </p:cNvPr>
              <p:cNvSpPr/>
              <p:nvPr/>
            </p:nvSpPr>
            <p:spPr bwMode="auto">
              <a:xfrm>
                <a:off x="9430587" y="4021725"/>
                <a:ext cx="117055" cy="117055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endParaRPr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1F962D26-6D88-4660-9F79-9B62453A8F57}"/>
                  </a:ext>
                </a:extLst>
              </p:cNvPr>
              <p:cNvSpPr/>
              <p:nvPr/>
            </p:nvSpPr>
            <p:spPr bwMode="auto">
              <a:xfrm>
                <a:off x="9639512" y="4018544"/>
                <a:ext cx="117055" cy="117055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endParaRPr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B719A9EE-5EAC-4BD4-8C78-A1AE7B0B328C}"/>
                  </a:ext>
                </a:extLst>
              </p:cNvPr>
              <p:cNvSpPr/>
              <p:nvPr/>
            </p:nvSpPr>
            <p:spPr bwMode="auto">
              <a:xfrm>
                <a:off x="9851381" y="4018544"/>
                <a:ext cx="117055" cy="117055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endParaRP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104FBC3F-DB7A-48A9-862D-13E9AF9AC208}"/>
                </a:ext>
              </a:extLst>
            </p:cNvPr>
            <p:cNvGrpSpPr/>
            <p:nvPr/>
          </p:nvGrpSpPr>
          <p:grpSpPr>
            <a:xfrm>
              <a:off x="10806842" y="2574821"/>
              <a:ext cx="1024104" cy="2231459"/>
              <a:chOff x="10484307" y="1788627"/>
              <a:chExt cx="1024104" cy="2231459"/>
            </a:xfrm>
          </p:grpSpPr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8C9EEE9A-785A-48C2-8D68-5AE81DAC9114}"/>
                  </a:ext>
                </a:extLst>
              </p:cNvPr>
              <p:cNvSpPr/>
              <p:nvPr/>
            </p:nvSpPr>
            <p:spPr bwMode="auto">
              <a:xfrm>
                <a:off x="10685451" y="1788627"/>
                <a:ext cx="822960" cy="2146621"/>
              </a:xfrm>
              <a:custGeom>
                <a:avLst/>
                <a:gdLst>
                  <a:gd name="connsiteX0" fmla="*/ 0 w 822960"/>
                  <a:gd name="connsiteY0" fmla="*/ 2146621 h 2146621"/>
                  <a:gd name="connsiteX1" fmla="*/ 529389 w 822960"/>
                  <a:gd name="connsiteY1" fmla="*/ 1597981 h 2146621"/>
                  <a:gd name="connsiteX2" fmla="*/ 125128 w 822960"/>
                  <a:gd name="connsiteY2" fmla="*/ 173442 h 2146621"/>
                  <a:gd name="connsiteX3" fmla="*/ 822960 w 822960"/>
                  <a:gd name="connsiteY3" fmla="*/ 24250 h 2146621"/>
                  <a:gd name="connsiteX4" fmla="*/ 822960 w 822960"/>
                  <a:gd name="connsiteY4" fmla="*/ 24250 h 2146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22960" h="2146621">
                    <a:moveTo>
                      <a:pt x="0" y="2146621"/>
                    </a:moveTo>
                    <a:cubicBezTo>
                      <a:pt x="254267" y="2036732"/>
                      <a:pt x="508534" y="1926844"/>
                      <a:pt x="529389" y="1597981"/>
                    </a:cubicBezTo>
                    <a:cubicBezTo>
                      <a:pt x="550244" y="1269118"/>
                      <a:pt x="76199" y="435731"/>
                      <a:pt x="125128" y="173442"/>
                    </a:cubicBezTo>
                    <a:cubicBezTo>
                      <a:pt x="174057" y="-88847"/>
                      <a:pt x="822960" y="24250"/>
                      <a:pt x="822960" y="24250"/>
                    </a:cubicBezTo>
                    <a:lnTo>
                      <a:pt x="822960" y="24250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endParaRPr>
              </a:p>
            </p:txBody>
          </p: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FCD65C1B-F86E-4986-B3F1-A23B7AF1A5C3}"/>
                  </a:ext>
                </a:extLst>
              </p:cNvPr>
              <p:cNvGrpSpPr/>
              <p:nvPr/>
            </p:nvGrpSpPr>
            <p:grpSpPr>
              <a:xfrm>
                <a:off x="10484307" y="1830346"/>
                <a:ext cx="1024104" cy="2189740"/>
                <a:chOff x="10484307" y="1830346"/>
                <a:chExt cx="1024104" cy="2189740"/>
              </a:xfrm>
            </p:grpSpPr>
            <p:sp>
              <p:nvSpPr>
                <p:cNvPr id="34" name="任意多边形: 形状 33">
                  <a:extLst>
                    <a:ext uri="{FF2B5EF4-FFF2-40B4-BE49-F238E27FC236}">
                      <a16:creationId xmlns:a16="http://schemas.microsoft.com/office/drawing/2014/main" id="{A215A264-6DB2-4486-A6CA-C0811E017C0B}"/>
                    </a:ext>
                  </a:extLst>
                </p:cNvPr>
                <p:cNvSpPr/>
                <p:nvPr/>
              </p:nvSpPr>
              <p:spPr bwMode="auto">
                <a:xfrm>
                  <a:off x="10685451" y="1830346"/>
                  <a:ext cx="822960" cy="2146621"/>
                </a:xfrm>
                <a:custGeom>
                  <a:avLst/>
                  <a:gdLst>
                    <a:gd name="connsiteX0" fmla="*/ 0 w 822960"/>
                    <a:gd name="connsiteY0" fmla="*/ 2146621 h 2146621"/>
                    <a:gd name="connsiteX1" fmla="*/ 529389 w 822960"/>
                    <a:gd name="connsiteY1" fmla="*/ 1597981 h 2146621"/>
                    <a:gd name="connsiteX2" fmla="*/ 125128 w 822960"/>
                    <a:gd name="connsiteY2" fmla="*/ 173442 h 2146621"/>
                    <a:gd name="connsiteX3" fmla="*/ 822960 w 822960"/>
                    <a:gd name="connsiteY3" fmla="*/ 24250 h 2146621"/>
                    <a:gd name="connsiteX4" fmla="*/ 822960 w 822960"/>
                    <a:gd name="connsiteY4" fmla="*/ 24250 h 21466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22960" h="2146621">
                      <a:moveTo>
                        <a:pt x="0" y="2146621"/>
                      </a:moveTo>
                      <a:cubicBezTo>
                        <a:pt x="254267" y="2036732"/>
                        <a:pt x="508534" y="1926844"/>
                        <a:pt x="529389" y="1597981"/>
                      </a:cubicBezTo>
                      <a:cubicBezTo>
                        <a:pt x="550244" y="1269118"/>
                        <a:pt x="76199" y="435731"/>
                        <a:pt x="125128" y="173442"/>
                      </a:cubicBezTo>
                      <a:cubicBezTo>
                        <a:pt x="174057" y="-88847"/>
                        <a:pt x="822960" y="24250"/>
                        <a:pt x="822960" y="24250"/>
                      </a:cubicBezTo>
                      <a:lnTo>
                        <a:pt x="822960" y="24250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  <a:ea typeface="+mn-ea"/>
                  </a:endParaRPr>
                </a:p>
              </p:txBody>
            </p:sp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5DCE992F-8491-4C27-A93C-6FDFD9F43650}"/>
                    </a:ext>
                  </a:extLst>
                </p:cNvPr>
                <p:cNvSpPr/>
                <p:nvPr/>
              </p:nvSpPr>
              <p:spPr bwMode="auto">
                <a:xfrm>
                  <a:off x="10484307" y="3903746"/>
                  <a:ext cx="201805" cy="116340"/>
                </a:xfrm>
                <a:prstGeom prst="rect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2000" b="0" i="0" u="none" strike="noStrike" cap="none" normalizeH="0" baseline="0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effectLst/>
                    <a:latin typeface="+mn-ea"/>
                    <a:ea typeface="+mn-ea"/>
                  </a:endParaRPr>
                </a:p>
              </p:txBody>
            </p: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00B8CF1A-A3D3-4EF5-BCD3-D275E6F2E047}"/>
                    </a:ext>
                  </a:extLst>
                </p:cNvPr>
                <p:cNvCxnSpPr/>
                <p:nvPr/>
              </p:nvCxnSpPr>
              <p:spPr bwMode="auto">
                <a:xfrm flipV="1">
                  <a:off x="10491113" y="3861048"/>
                  <a:ext cx="213399" cy="4327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44396248-B45D-48F8-8388-EE2B21E1C6E3}"/>
                </a:ext>
              </a:extLst>
            </p:cNvPr>
            <p:cNvCxnSpPr/>
            <p:nvPr/>
          </p:nvCxnSpPr>
          <p:spPr bwMode="auto">
            <a:xfrm>
              <a:off x="2890061" y="4689940"/>
              <a:ext cx="75766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29A62F73-0A11-41FD-9972-28C2BC666BA5}"/>
                </a:ext>
              </a:extLst>
            </p:cNvPr>
            <p:cNvCxnSpPr/>
            <p:nvPr/>
          </p:nvCxnSpPr>
          <p:spPr bwMode="auto">
            <a:xfrm>
              <a:off x="10378101" y="4725144"/>
              <a:ext cx="398419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4975582E-B6D4-4115-86E1-883F246450D0}"/>
                </a:ext>
              </a:extLst>
            </p:cNvPr>
            <p:cNvCxnSpPr/>
            <p:nvPr/>
          </p:nvCxnSpPr>
          <p:spPr bwMode="auto">
            <a:xfrm>
              <a:off x="7929829" y="4755494"/>
              <a:ext cx="398419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871A3789-006E-4C0C-96C5-171F4E9703E3}"/>
                </a:ext>
              </a:extLst>
            </p:cNvPr>
            <p:cNvSpPr txBox="1"/>
            <p:nvPr/>
          </p:nvSpPr>
          <p:spPr>
            <a:xfrm>
              <a:off x="154517" y="5494794"/>
              <a:ext cx="3715938" cy="9511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latin typeface="+mn-ea"/>
                  <a:ea typeface="+mn-ea"/>
                </a:rPr>
                <a:t>DTE</a:t>
              </a:r>
            </a:p>
            <a:p>
              <a:pPr algn="l"/>
              <a:r>
                <a:rPr lang="en-US" altLang="zh-CN" b="1" dirty="0">
                  <a:latin typeface="+mn-ea"/>
                  <a:ea typeface="+mn-ea"/>
                </a:rPr>
                <a:t>Data Terminal Equipment</a:t>
              </a:r>
              <a:endParaRPr lang="zh-CN" altLang="en-US" b="1" dirty="0">
                <a:latin typeface="+mn-ea"/>
                <a:ea typeface="+mn-ea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8B1DA25F-95BE-42E2-A276-9925A0E8B73D}"/>
                </a:ext>
              </a:extLst>
            </p:cNvPr>
            <p:cNvSpPr txBox="1"/>
            <p:nvPr/>
          </p:nvSpPr>
          <p:spPr>
            <a:xfrm>
              <a:off x="7662238" y="5350740"/>
              <a:ext cx="3715938" cy="9511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latin typeface="+mn-ea"/>
                  <a:ea typeface="+mn-ea"/>
                </a:rPr>
                <a:t>DCE</a:t>
              </a:r>
            </a:p>
            <a:p>
              <a:pPr algn="l"/>
              <a:r>
                <a:rPr lang="en-US" altLang="zh-CN" b="1" dirty="0">
                  <a:latin typeface="+mn-ea"/>
                  <a:ea typeface="+mn-ea"/>
                </a:rPr>
                <a:t>Data Terminal Equipment</a:t>
              </a:r>
              <a:endParaRPr lang="zh-CN" altLang="en-US" b="1" dirty="0">
                <a:latin typeface="+mn-ea"/>
                <a:ea typeface="+mn-ea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7BF25514-540B-4987-97D4-BCFBF4652E8C}"/>
                </a:ext>
              </a:extLst>
            </p:cNvPr>
            <p:cNvSpPr txBox="1"/>
            <p:nvPr/>
          </p:nvSpPr>
          <p:spPr>
            <a:xfrm>
              <a:off x="91126" y="2936026"/>
              <a:ext cx="3715938" cy="49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Computer</a:t>
              </a:r>
              <a:endParaRPr lang="zh-CN" altLang="en-US" sz="1400" b="1" dirty="0">
                <a:latin typeface="+mn-ea"/>
                <a:ea typeface="+mn-ea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2ABB6197-9FF9-4B7E-84FC-96BFCC523716}"/>
                </a:ext>
              </a:extLst>
            </p:cNvPr>
            <p:cNvSpPr txBox="1"/>
            <p:nvPr/>
          </p:nvSpPr>
          <p:spPr>
            <a:xfrm>
              <a:off x="3901492" y="4244227"/>
              <a:ext cx="3715938" cy="3935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800" dirty="0">
                  <a:latin typeface="+mn-ea"/>
                  <a:ea typeface="+mn-ea"/>
                </a:rPr>
                <a:t>Interface Cable</a:t>
              </a:r>
              <a:endParaRPr lang="zh-CN" altLang="en-US" sz="1100" dirty="0">
                <a:latin typeface="+mn-ea"/>
                <a:ea typeface="+mn-ea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A14CCAC6-2D1E-4CA6-A523-6BC132B0CD3D}"/>
                </a:ext>
              </a:extLst>
            </p:cNvPr>
            <p:cNvSpPr txBox="1"/>
            <p:nvPr/>
          </p:nvSpPr>
          <p:spPr>
            <a:xfrm>
              <a:off x="7526025" y="4016025"/>
              <a:ext cx="3715938" cy="49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Modem</a:t>
              </a:r>
              <a:endParaRPr lang="zh-CN" altLang="en-US" sz="1400" b="1" dirty="0">
                <a:latin typeface="+mn-ea"/>
                <a:ea typeface="+mn-ea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E41CB45C-FE76-4609-A363-3CF59B0893C1}"/>
                </a:ext>
              </a:extLst>
            </p:cNvPr>
            <p:cNvSpPr txBox="1"/>
            <p:nvPr/>
          </p:nvSpPr>
          <p:spPr>
            <a:xfrm>
              <a:off x="2143434" y="3388693"/>
              <a:ext cx="3715938" cy="3935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800" dirty="0">
                  <a:latin typeface="+mn-ea"/>
                  <a:ea typeface="+mn-ea"/>
                </a:rPr>
                <a:t>Male DB25</a:t>
              </a:r>
              <a:endParaRPr lang="zh-CN" altLang="en-US" sz="1100" dirty="0">
                <a:latin typeface="+mn-ea"/>
                <a:ea typeface="+mn-ea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4F346D0B-C632-42B4-B442-56C5A075A704}"/>
                </a:ext>
              </a:extLst>
            </p:cNvPr>
            <p:cNvSpPr txBox="1"/>
            <p:nvPr/>
          </p:nvSpPr>
          <p:spPr>
            <a:xfrm>
              <a:off x="5976033" y="3354563"/>
              <a:ext cx="3715938" cy="3935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800" dirty="0">
                  <a:latin typeface="+mn-ea"/>
                  <a:ea typeface="+mn-ea"/>
                </a:rPr>
                <a:t>Female DB25</a:t>
              </a:r>
              <a:endParaRPr lang="zh-CN" altLang="en-US" sz="1100" dirty="0">
                <a:latin typeface="+mn-ea"/>
                <a:ea typeface="+mn-ea"/>
              </a:endParaRPr>
            </a:p>
          </p:txBody>
        </p: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382BD972-BF47-4526-99F9-0F951329ED17}"/>
                </a:ext>
              </a:extLst>
            </p:cNvPr>
            <p:cNvCxnSpPr/>
            <p:nvPr/>
          </p:nvCxnSpPr>
          <p:spPr bwMode="auto">
            <a:xfrm flipH="1">
              <a:off x="2890061" y="3803392"/>
              <a:ext cx="685659" cy="748302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A83F7675-9082-4EC4-A96D-B6933EC11DE0}"/>
                </a:ext>
              </a:extLst>
            </p:cNvPr>
            <p:cNvCxnSpPr/>
            <p:nvPr/>
          </p:nvCxnSpPr>
          <p:spPr bwMode="auto">
            <a:xfrm>
              <a:off x="8028745" y="3726864"/>
              <a:ext cx="306875" cy="97414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69267BEA-4F5F-48BD-B9F2-9FD800A8B886}"/>
                </a:ext>
              </a:extLst>
            </p:cNvPr>
            <p:cNvSpPr txBox="1"/>
            <p:nvPr/>
          </p:nvSpPr>
          <p:spPr>
            <a:xfrm>
              <a:off x="9373445" y="2065287"/>
              <a:ext cx="3715938" cy="3935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800" dirty="0">
                  <a:latin typeface="+mn-ea"/>
                  <a:ea typeface="+mn-ea"/>
                </a:rPr>
                <a:t>Telephone Line</a:t>
              </a:r>
              <a:endParaRPr lang="zh-CN" altLang="en-US" sz="1100" dirty="0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46933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1787DF-480F-4904-B791-613384328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  <a:ea typeface="+mj-ea"/>
              </a:rPr>
              <a:t>机械特性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E694F5-8E57-4B39-9EC9-B4A27D19F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DB25</a:t>
            </a:r>
            <a:r>
              <a:rPr lang="zh-CN" altLang="en-US" dirty="0"/>
              <a:t>连接器</a:t>
            </a:r>
          </a:p>
          <a:p>
            <a:r>
              <a:rPr lang="zh-CN" altLang="en-US" dirty="0"/>
              <a:t>数据</a:t>
            </a:r>
            <a:r>
              <a:rPr lang="en-US" altLang="zh-CN" dirty="0"/>
              <a:t>-4</a:t>
            </a:r>
            <a:r>
              <a:rPr lang="zh-CN" altLang="en-US" dirty="0"/>
              <a:t>，控制</a:t>
            </a:r>
            <a:r>
              <a:rPr lang="en-US" altLang="zh-CN" dirty="0"/>
              <a:t>-11</a:t>
            </a:r>
            <a:r>
              <a:rPr lang="zh-CN" altLang="en-US" dirty="0"/>
              <a:t>，定时</a:t>
            </a:r>
            <a:r>
              <a:rPr lang="en-US" altLang="zh-CN" dirty="0"/>
              <a:t>-3</a:t>
            </a:r>
            <a:r>
              <a:rPr lang="zh-CN" altLang="en-US" dirty="0"/>
              <a:t>，其它</a:t>
            </a:r>
            <a:r>
              <a:rPr lang="en-US" altLang="zh-CN" dirty="0"/>
              <a:t>-7</a:t>
            </a:r>
          </a:p>
          <a:p>
            <a:r>
              <a:rPr lang="zh-CN" altLang="en-US" dirty="0"/>
              <a:t>电缆长度不能超过</a:t>
            </a:r>
            <a:r>
              <a:rPr lang="en-US" altLang="zh-CN" dirty="0"/>
              <a:t>25</a:t>
            </a:r>
            <a:r>
              <a:rPr lang="zh-CN" altLang="en-US" dirty="0"/>
              <a:t>米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8DB247-4517-4690-952C-644F59422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+mj-ea"/>
                <a:ea typeface="+mj-ea"/>
              </a:rPr>
              <a:pPr>
                <a:defRPr/>
              </a:pPr>
              <a:t>30</a:t>
            </a:fld>
            <a:endParaRPr lang="en-US" altLang="zh-CN" dirty="0">
              <a:latin typeface="+mj-ea"/>
              <a:ea typeface="+mj-ea"/>
            </a:endParaRPr>
          </a:p>
        </p:txBody>
      </p:sp>
      <p:pic>
        <p:nvPicPr>
          <p:cNvPr id="5" name="Picture 41" descr="db25 male">
            <a:extLst>
              <a:ext uri="{FF2B5EF4-FFF2-40B4-BE49-F238E27FC236}">
                <a16:creationId xmlns:a16="http://schemas.microsoft.com/office/drawing/2014/main" id="{34D8069C-7D99-4E18-A640-355425B00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316" y="2873455"/>
            <a:ext cx="4200525" cy="17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45">
            <a:extLst>
              <a:ext uri="{FF2B5EF4-FFF2-40B4-BE49-F238E27FC236}">
                <a16:creationId xmlns:a16="http://schemas.microsoft.com/office/drawing/2014/main" id="{A7587DD2-5D3A-402A-B085-B7F5A3E5D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5770" y="3580658"/>
            <a:ext cx="6976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kumimoji="1" lang="zh-CN" altLang="en-US" dirty="0">
                <a:latin typeface="+mj-ea"/>
                <a:ea typeface="+mj-ea"/>
              </a:rPr>
              <a:t>阳型</a:t>
            </a:r>
            <a:endParaRPr kumimoji="1" lang="en-US" altLang="zh-CN" dirty="0">
              <a:latin typeface="+mj-ea"/>
              <a:ea typeface="+mj-ea"/>
            </a:endParaRPr>
          </a:p>
        </p:txBody>
      </p:sp>
      <p:sp>
        <p:nvSpPr>
          <p:cNvPr id="7" name="Rectangle 46">
            <a:extLst>
              <a:ext uri="{FF2B5EF4-FFF2-40B4-BE49-F238E27FC236}">
                <a16:creationId xmlns:a16="http://schemas.microsoft.com/office/drawing/2014/main" id="{2C5FA895-4671-4F68-B486-519554FAA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5769" y="5318690"/>
            <a:ext cx="6976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kumimoji="1" lang="zh-CN" altLang="en-US" dirty="0">
                <a:latin typeface="+mj-ea"/>
                <a:ea typeface="+mj-ea"/>
              </a:rPr>
              <a:t>阴型</a:t>
            </a:r>
            <a:endParaRPr kumimoji="1" lang="en-US" altLang="zh-CN" dirty="0">
              <a:latin typeface="+mj-ea"/>
              <a:ea typeface="+mj-ea"/>
            </a:endParaRPr>
          </a:p>
        </p:txBody>
      </p:sp>
      <p:pic>
        <p:nvPicPr>
          <p:cNvPr id="8" name="Picture 47" descr="DB25 Connector - Crimp - Female - 1-DB25FCC">
            <a:extLst>
              <a:ext uri="{FF2B5EF4-FFF2-40B4-BE49-F238E27FC236}">
                <a16:creationId xmlns:a16="http://schemas.microsoft.com/office/drawing/2014/main" id="{C6ED602B-EF5F-4B13-901B-FFF9EA342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516" y="3810080"/>
            <a:ext cx="1908175" cy="119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4" descr="db25 female">
            <a:extLst>
              <a:ext uri="{FF2B5EF4-FFF2-40B4-BE49-F238E27FC236}">
                <a16:creationId xmlns:a16="http://schemas.microsoft.com/office/drawing/2014/main" id="{47C73301-BE98-46BB-B1C1-2B4523542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316" y="4728170"/>
            <a:ext cx="4200525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83244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F22921-AE49-49C4-BC49-404DBA520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电气特性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8D356D-206E-49D6-9F45-B1C5A33A0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数据以逻辑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的形式传输。</a:t>
            </a:r>
          </a:p>
          <a:p>
            <a:pPr>
              <a:lnSpc>
                <a:spcPct val="90000"/>
              </a:lnSpc>
            </a:pPr>
            <a:r>
              <a:rPr lang="zh-CN" altLang="en-US" dirty="0"/>
              <a:t>数据信号采用非归零电平编码</a:t>
            </a:r>
            <a:r>
              <a:rPr lang="en-US" altLang="zh-CN" dirty="0"/>
              <a:t>(NRZ-L)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0</a:t>
            </a:r>
            <a:r>
              <a:rPr lang="zh-CN" altLang="en-US" dirty="0"/>
              <a:t>对应正电平，</a:t>
            </a:r>
            <a:r>
              <a:rPr lang="en-US" altLang="zh-CN" dirty="0"/>
              <a:t>1</a:t>
            </a:r>
            <a:r>
              <a:rPr lang="zh-CN" altLang="en-US" dirty="0"/>
              <a:t>对应负电平。电压</a:t>
            </a:r>
            <a:r>
              <a:rPr lang="en-US" altLang="zh-CN" dirty="0"/>
              <a:t>-15</a:t>
            </a:r>
            <a:r>
              <a:rPr lang="zh-CN" altLang="en-US" dirty="0"/>
              <a:t>～</a:t>
            </a:r>
            <a:r>
              <a:rPr lang="en-US" altLang="zh-CN" dirty="0"/>
              <a:t>+15V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68FEA3-8067-4816-8763-31A88543C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defRPr/>
              </a:pPr>
              <a:t>31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374C2D-847E-4982-BC74-A44E20EDC4B3}"/>
              </a:ext>
            </a:extLst>
          </p:cNvPr>
          <p:cNvGrpSpPr>
            <a:grpSpLocks/>
          </p:cNvGrpSpPr>
          <p:nvPr/>
        </p:nvGrpSpPr>
        <p:grpSpPr bwMode="auto">
          <a:xfrm>
            <a:off x="2351584" y="2564904"/>
            <a:ext cx="7424738" cy="3870325"/>
            <a:chOff x="340" y="1434"/>
            <a:chExt cx="4677" cy="2438"/>
          </a:xfrm>
        </p:grpSpPr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F1A0E06B-2F5B-4756-A2D0-E43943B36D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36" y="1513"/>
              <a:ext cx="0" cy="235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B059762A-7CF6-4F79-93BC-77F526360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2" y="2710"/>
              <a:ext cx="380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8BE46DB-CD14-48A5-BB63-54958A77D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" y="1701"/>
              <a:ext cx="3683" cy="77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5B368E0-E81D-47CB-AC76-7EBD707FC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" y="2931"/>
              <a:ext cx="3683" cy="78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4550F4A6-91D3-4D3F-8DAE-5AA9BAB4AA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2" y="3455"/>
              <a:ext cx="49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56F852F4-E828-4CF9-BFC1-5BB59FA013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1" y="1965"/>
              <a:ext cx="0" cy="14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EFCCF3AE-B93B-4FAD-BBF4-FA44B63231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1" y="1965"/>
              <a:ext cx="49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F3878770-C237-48BD-B770-068417B711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0" y="1965"/>
              <a:ext cx="0" cy="14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DAC814F3-416C-42E3-AB00-94BB433AE7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0" y="3455"/>
              <a:ext cx="5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EAC3047F-F986-42FD-B701-17137FF2E8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0" y="2315"/>
              <a:ext cx="0" cy="11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0CD50EDA-B8B8-4F7E-8B0F-03303757CB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0" y="2184"/>
              <a:ext cx="624" cy="219"/>
            </a:xfrm>
            <a:custGeom>
              <a:avLst/>
              <a:gdLst>
                <a:gd name="T0" fmla="*/ 0 w 100"/>
                <a:gd name="T1" fmla="*/ 29 h 50"/>
                <a:gd name="T2" fmla="*/ 30 w 100"/>
                <a:gd name="T3" fmla="*/ 0 h 50"/>
                <a:gd name="T4" fmla="*/ 60 w 100"/>
                <a:gd name="T5" fmla="*/ 29 h 50"/>
                <a:gd name="T6" fmla="*/ 100 w 100"/>
                <a:gd name="T7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" h="50">
                  <a:moveTo>
                    <a:pt x="0" y="29"/>
                  </a:moveTo>
                  <a:cubicBezTo>
                    <a:pt x="10" y="14"/>
                    <a:pt x="20" y="0"/>
                    <a:pt x="30" y="0"/>
                  </a:cubicBezTo>
                  <a:cubicBezTo>
                    <a:pt x="40" y="0"/>
                    <a:pt x="48" y="20"/>
                    <a:pt x="60" y="29"/>
                  </a:cubicBezTo>
                  <a:cubicBezTo>
                    <a:pt x="72" y="37"/>
                    <a:pt x="93" y="46"/>
                    <a:pt x="100" y="5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A1E84C9F-F6CB-4346-9276-46A0C73B83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4" y="2403"/>
              <a:ext cx="0" cy="9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B98A934-2C11-4C67-9565-5151306CD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" y="1706"/>
              <a:ext cx="100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D935E7-74D7-49B4-9A87-C58D3F54C1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6" y="1706"/>
              <a:ext cx="100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2030D30-32D9-4BA7-A181-415EB2B28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" y="1706"/>
              <a:ext cx="100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70B2C54-CDF6-475B-AF77-57FCCEB654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1706"/>
              <a:ext cx="100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743B400-ED71-4283-95A2-E850A21877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8" y="3203"/>
              <a:ext cx="64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有效区域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7216A7C-4A58-4071-9E4B-93BC62EE95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8" y="2474"/>
              <a:ext cx="64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无效区域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4277A08-F019-4899-A2FA-CB0D2372D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8" y="2704"/>
              <a:ext cx="64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无效区域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8BD28FE-761F-43B9-BF5E-514A16E81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8" y="2024"/>
              <a:ext cx="64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有效区域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84E58E-815D-4568-8828-B3434F9534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2750"/>
              <a:ext cx="32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1457BCA-6377-4B51-8780-E14875C22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1434"/>
              <a:ext cx="53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电压</a:t>
              </a:r>
              <a:r>
                <a: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(V)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E9B40A6-A9A9-49D5-B708-31659C35F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1" y="2614"/>
              <a:ext cx="100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altLang="zh-CN" sz="21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33615EC-6903-4B24-B2DF-922BAA7ED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1" y="2387"/>
              <a:ext cx="100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altLang="zh-CN" sz="21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84C0D67-0F0E-443B-B728-30FA9EB7C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" y="1616"/>
              <a:ext cx="200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altLang="zh-CN" sz="2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15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A619FD6-A949-4F47-8090-25B6758DC4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" y="2840"/>
              <a:ext cx="17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altLang="zh-CN" sz="21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-3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0648407-A57B-4A18-8445-CBD546EF7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" y="3612"/>
              <a:ext cx="27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altLang="zh-CN" sz="21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-15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78435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A90DC8-9FE6-4001-AFEB-9F1BF5B85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电气特性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278D89-7060-4C43-B262-76EBCB9EF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控制信号的电气规范：电压</a:t>
            </a:r>
            <a:r>
              <a:rPr lang="en-US" altLang="zh-CN" dirty="0"/>
              <a:t>-15</a:t>
            </a:r>
            <a:r>
              <a:rPr lang="zh-CN" altLang="en-US" dirty="0"/>
              <a:t>～</a:t>
            </a:r>
            <a:r>
              <a:rPr lang="en-US" altLang="zh-CN" dirty="0"/>
              <a:t>+15V</a:t>
            </a:r>
          </a:p>
          <a:p>
            <a:pPr lvl="1"/>
            <a:r>
              <a:rPr lang="zh-CN" altLang="en-US" dirty="0"/>
              <a:t>正电平</a:t>
            </a:r>
            <a:r>
              <a:rPr lang="en-US" altLang="zh-CN" dirty="0"/>
              <a:t>—</a:t>
            </a:r>
            <a:r>
              <a:rPr lang="zh-CN" altLang="en-US" dirty="0"/>
              <a:t>开</a:t>
            </a:r>
          </a:p>
          <a:p>
            <a:pPr lvl="1"/>
            <a:r>
              <a:rPr lang="zh-CN" altLang="en-US" dirty="0"/>
              <a:t>负电平</a:t>
            </a:r>
            <a:r>
              <a:rPr lang="en-US" altLang="zh-CN" dirty="0"/>
              <a:t>—</a:t>
            </a:r>
            <a:r>
              <a:rPr lang="zh-CN" altLang="en-US" dirty="0"/>
              <a:t>关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B6699B-3AC4-41FC-A242-2F522DEF2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defRPr/>
              </a:pPr>
              <a:t>32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A12E71F5-3A83-40C6-9C68-093BD881076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22178" y="2698501"/>
            <a:ext cx="0" cy="37449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E9720AC5-B5C9-40DF-A611-796F9207BD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1703" y="4598738"/>
            <a:ext cx="603408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B47268D-AE8D-444F-8373-5D0C6431D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1704" y="2996952"/>
            <a:ext cx="5846763" cy="1233487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07B96318-34D0-4E38-AB28-57E3244EF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1704" y="4949576"/>
            <a:ext cx="5846763" cy="1249362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3DDA5BCF-3C7A-4B9B-8030-9E92D2E9B7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5829" y="3438276"/>
            <a:ext cx="1584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073C9337-C528-4C5E-A774-43C9B9D2EC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00153" y="3438277"/>
            <a:ext cx="0" cy="23764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Line 13">
            <a:extLst>
              <a:ext uri="{FF2B5EF4-FFF2-40B4-BE49-F238E27FC236}">
                <a16:creationId xmlns:a16="http://schemas.microsoft.com/office/drawing/2014/main" id="{A5A5B197-FBAD-4230-B215-48EAA943AB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0153" y="5814763"/>
            <a:ext cx="2374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21">
            <a:extLst>
              <a:ext uri="{FF2B5EF4-FFF2-40B4-BE49-F238E27FC236}">
                <a16:creationId xmlns:a16="http://schemas.microsoft.com/office/drawing/2014/main" id="{CC57183A-F214-4BFA-8508-BFC6A9AB9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0353" y="5381376"/>
            <a:ext cx="82073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有效区域</a:t>
            </a:r>
          </a:p>
        </p:txBody>
      </p:sp>
      <p:sp>
        <p:nvSpPr>
          <p:cNvPr id="13" name="Rectangle 22">
            <a:extLst>
              <a:ext uri="{FF2B5EF4-FFF2-40B4-BE49-F238E27FC236}">
                <a16:creationId xmlns:a16="http://schemas.microsoft.com/office/drawing/2014/main" id="{4788FCE9-F917-4AC4-B23B-EDA926F35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0353" y="4224088"/>
            <a:ext cx="82073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无效区域</a:t>
            </a:r>
          </a:p>
        </p:txBody>
      </p:sp>
      <p:sp>
        <p:nvSpPr>
          <p:cNvPr id="14" name="Rectangle 23">
            <a:extLst>
              <a:ext uri="{FF2B5EF4-FFF2-40B4-BE49-F238E27FC236}">
                <a16:creationId xmlns:a16="http://schemas.microsoft.com/office/drawing/2014/main" id="{049C4EE1-5AD0-4C55-8FC2-5C638BB6E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0353" y="4589213"/>
            <a:ext cx="82073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无效区域</a:t>
            </a:r>
          </a:p>
        </p:txBody>
      </p:sp>
      <p:sp>
        <p:nvSpPr>
          <p:cNvPr id="15" name="Rectangle 24">
            <a:extLst>
              <a:ext uri="{FF2B5EF4-FFF2-40B4-BE49-F238E27FC236}">
                <a16:creationId xmlns:a16="http://schemas.microsoft.com/office/drawing/2014/main" id="{FA30E32C-910A-4528-BC91-B949A4760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0353" y="3509713"/>
            <a:ext cx="82073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有效区域</a:t>
            </a:r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3FF7BAB0-EDD8-4A0E-81F6-9AA9C7664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8003" y="4662238"/>
            <a:ext cx="4103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</a:p>
        </p:txBody>
      </p:sp>
      <p:sp>
        <p:nvSpPr>
          <p:cNvPr id="17" name="Rectangle 26">
            <a:extLst>
              <a:ext uri="{FF2B5EF4-FFF2-40B4-BE49-F238E27FC236}">
                <a16:creationId xmlns:a16="http://schemas.microsoft.com/office/drawing/2014/main" id="{51B0A65D-8758-454F-9125-6AB8C84AE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028" y="2573088"/>
            <a:ext cx="85600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电压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(V)</a:t>
            </a: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2229FB3F-C57A-4023-B5AD-56C8763E3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168" y="4446339"/>
            <a:ext cx="15869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1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ectangle 28">
            <a:extLst>
              <a:ext uri="{FF2B5EF4-FFF2-40B4-BE49-F238E27FC236}">
                <a16:creationId xmlns:a16="http://schemas.microsoft.com/office/drawing/2014/main" id="{DC8ECE77-9C67-4625-B9F0-7A40000AE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168" y="4085977"/>
            <a:ext cx="15869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1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5367528F-4C80-411B-8587-64EDCC5FF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471" y="2862014"/>
            <a:ext cx="31739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1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30">
            <a:extLst>
              <a:ext uri="{FF2B5EF4-FFF2-40B4-BE49-F238E27FC236}">
                <a16:creationId xmlns:a16="http://schemas.microsoft.com/office/drawing/2014/main" id="{680225C7-0E65-46A5-AA0C-F7EF98DBD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49" y="4805114"/>
            <a:ext cx="27571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1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-3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31">
            <a:extLst>
              <a:ext uri="{FF2B5EF4-FFF2-40B4-BE49-F238E27FC236}">
                <a16:creationId xmlns:a16="http://schemas.microsoft.com/office/drawing/2014/main" id="{6D687322-BF1C-44F8-98EB-9CEDB2C2A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0452" y="6030664"/>
            <a:ext cx="43441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1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-15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32">
            <a:extLst>
              <a:ext uri="{FF2B5EF4-FFF2-40B4-BE49-F238E27FC236}">
                <a16:creationId xmlns:a16="http://schemas.microsoft.com/office/drawing/2014/main" id="{8304C2CA-B0E8-455F-865A-11436D32B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8628" y="3077913"/>
            <a:ext cx="20518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</a:t>
            </a:r>
          </a:p>
        </p:txBody>
      </p:sp>
      <p:sp>
        <p:nvSpPr>
          <p:cNvPr id="24" name="Rectangle 33">
            <a:extLst>
              <a:ext uri="{FF2B5EF4-FFF2-40B4-BE49-F238E27FC236}">
                <a16:creationId xmlns:a16="http://schemas.microsoft.com/office/drawing/2014/main" id="{CB3F93E6-F363-431E-993D-9B8D6C2A8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0291" y="5381376"/>
            <a:ext cx="20518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</a:t>
            </a:r>
          </a:p>
        </p:txBody>
      </p:sp>
    </p:spTree>
    <p:extLst>
      <p:ext uri="{BB962C8B-B14F-4D97-AF65-F5344CB8AC3E}">
        <p14:creationId xmlns:p14="http://schemas.microsoft.com/office/powerpoint/2010/main" val="26142576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AC2EE2-E839-42E0-ABC8-E12358B61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RS-232</a:t>
            </a:r>
            <a:r>
              <a:rPr lang="zh-CN" altLang="en-US" dirty="0"/>
              <a:t>异步串行传输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B9C03C-4F2B-4970-86CE-09921E6DA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每个数据包含有</a:t>
            </a:r>
            <a:r>
              <a:rPr lang="en-US" altLang="zh-CN" dirty="0"/>
              <a:t>7</a:t>
            </a:r>
            <a:r>
              <a:rPr lang="zh-CN" altLang="en-US" dirty="0"/>
              <a:t>或</a:t>
            </a:r>
            <a:r>
              <a:rPr lang="en-US" altLang="zh-CN" dirty="0"/>
              <a:t>8 bit</a:t>
            </a:r>
            <a:r>
              <a:rPr lang="zh-CN" altLang="en-US" dirty="0"/>
              <a:t>数据位、</a:t>
            </a:r>
            <a:r>
              <a:rPr lang="en-US" altLang="zh-CN" dirty="0"/>
              <a:t>1bit</a:t>
            </a:r>
            <a:r>
              <a:rPr lang="zh-CN" altLang="en-US" dirty="0"/>
              <a:t>起始位，</a:t>
            </a:r>
            <a:r>
              <a:rPr lang="en-US" altLang="zh-CN" dirty="0"/>
              <a:t>1bit</a:t>
            </a:r>
            <a:r>
              <a:rPr lang="zh-CN" altLang="en-US" dirty="0"/>
              <a:t>停止位，</a:t>
            </a:r>
            <a:r>
              <a:rPr lang="en-US" altLang="zh-CN" dirty="0"/>
              <a:t>1bit</a:t>
            </a:r>
            <a:r>
              <a:rPr lang="zh-CN" altLang="en-US" dirty="0"/>
              <a:t>校验位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65369D-C50B-4A1F-97CB-4CE1B1DAB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defRPr/>
              </a:pPr>
              <a:t>33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5" descr="rs232">
            <a:extLst>
              <a:ext uri="{FF2B5EF4-FFF2-40B4-BE49-F238E27FC236}">
                <a16:creationId xmlns:a16="http://schemas.microsoft.com/office/drawing/2014/main" id="{4DC5BC4D-343A-4EF0-8B07-6A3B69CCE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137" y="1814513"/>
            <a:ext cx="7947025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41555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9A4AD6-BE16-4191-9D15-51FC264DE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  <a:ea typeface="+mj-ea"/>
              </a:rPr>
              <a:t>功能特性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36CB07-7A6B-4813-82B8-BC03A32B3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2-TxD</a:t>
            </a:r>
            <a:r>
              <a:rPr lang="zh-CN" altLang="en-US" sz="2800" dirty="0"/>
              <a:t>、</a:t>
            </a:r>
            <a:r>
              <a:rPr lang="en-US" altLang="zh-CN" sz="2800" dirty="0"/>
              <a:t>3-RxD</a:t>
            </a:r>
            <a:r>
              <a:rPr lang="zh-CN" altLang="en-US" sz="2800" dirty="0"/>
              <a:t>、</a:t>
            </a:r>
            <a:r>
              <a:rPr lang="en-US" altLang="zh-CN" sz="2800" dirty="0"/>
              <a:t>4-RTS</a:t>
            </a:r>
            <a:r>
              <a:rPr lang="zh-CN" altLang="en-US" sz="2800" dirty="0"/>
              <a:t>、</a:t>
            </a:r>
            <a:r>
              <a:rPr lang="en-US" altLang="zh-CN" sz="2800" dirty="0"/>
              <a:t>5-CTS</a:t>
            </a:r>
            <a:r>
              <a:rPr lang="zh-CN" altLang="en-US" sz="2800" dirty="0"/>
              <a:t>、</a:t>
            </a:r>
            <a:r>
              <a:rPr lang="en-US" altLang="zh-CN" sz="2800" dirty="0"/>
              <a:t>6-DSR</a:t>
            </a:r>
            <a:r>
              <a:rPr lang="zh-CN" altLang="en-US" sz="2800" dirty="0"/>
              <a:t>、</a:t>
            </a:r>
            <a:r>
              <a:rPr lang="en-US" altLang="zh-CN" sz="2800" dirty="0"/>
              <a:t>7-SG</a:t>
            </a:r>
            <a:r>
              <a:rPr lang="zh-CN" altLang="en-US" sz="2800" dirty="0"/>
              <a:t>、</a:t>
            </a:r>
            <a:r>
              <a:rPr lang="en-US" altLang="zh-CN" sz="2800" dirty="0"/>
              <a:t>8-CD</a:t>
            </a:r>
            <a:r>
              <a:rPr lang="zh-CN" altLang="en-US" sz="2800" dirty="0"/>
              <a:t>、</a:t>
            </a:r>
            <a:r>
              <a:rPr lang="en-US" altLang="zh-CN" sz="2800" dirty="0"/>
              <a:t>20-DTR</a:t>
            </a:r>
            <a:r>
              <a:rPr lang="zh-CN" altLang="en-US" sz="2800" dirty="0"/>
              <a:t>、</a:t>
            </a:r>
            <a:r>
              <a:rPr lang="en-US" altLang="zh-CN" sz="2800" dirty="0"/>
              <a:t>22-RI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81E6-D6CC-4AB4-BD63-21DE03417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+mj-ea"/>
                <a:ea typeface="+mj-ea"/>
              </a:rPr>
              <a:pPr>
                <a:defRPr/>
              </a:pPr>
              <a:t>34</a:t>
            </a:fld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353" name="Oval 4">
            <a:extLst>
              <a:ext uri="{FF2B5EF4-FFF2-40B4-BE49-F238E27FC236}">
                <a16:creationId xmlns:a16="http://schemas.microsoft.com/office/drawing/2014/main" id="{90389116-6D6C-426E-A8AC-54AFEE7203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76320" y="3819153"/>
            <a:ext cx="258762" cy="260350"/>
          </a:xfrm>
          <a:prstGeom prst="ellipse">
            <a:avLst/>
          </a:prstGeom>
          <a:solidFill>
            <a:srgbClr val="00CC99"/>
          </a:solidFill>
          <a:ln w="11176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zh-CN" sz="1800">
              <a:latin typeface="+mj-lt"/>
            </a:endParaRPr>
          </a:p>
        </p:txBody>
      </p:sp>
      <p:sp>
        <p:nvSpPr>
          <p:cNvPr id="354" name="Oval 5">
            <a:extLst>
              <a:ext uri="{FF2B5EF4-FFF2-40B4-BE49-F238E27FC236}">
                <a16:creationId xmlns:a16="http://schemas.microsoft.com/office/drawing/2014/main" id="{EA6485B5-31BB-4868-8D49-C0178830AB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14345" y="3819153"/>
            <a:ext cx="260350" cy="260350"/>
          </a:xfrm>
          <a:prstGeom prst="ellipse">
            <a:avLst/>
          </a:prstGeom>
          <a:solidFill>
            <a:srgbClr val="00CC99"/>
          </a:solidFill>
          <a:ln w="11176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zh-CN" sz="1800">
              <a:latin typeface="+mj-lt"/>
            </a:endParaRPr>
          </a:p>
        </p:txBody>
      </p:sp>
      <p:sp>
        <p:nvSpPr>
          <p:cNvPr id="355" name="Oval 6">
            <a:extLst>
              <a:ext uri="{FF2B5EF4-FFF2-40B4-BE49-F238E27FC236}">
                <a16:creationId xmlns:a16="http://schemas.microsoft.com/office/drawing/2014/main" id="{90240CFE-2571-436F-9CE1-1F4170A981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57132" y="3819153"/>
            <a:ext cx="258763" cy="260350"/>
          </a:xfrm>
          <a:prstGeom prst="ellipse">
            <a:avLst/>
          </a:prstGeom>
          <a:solidFill>
            <a:srgbClr val="00CC99"/>
          </a:solidFill>
          <a:ln w="11176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zh-CN" sz="1800">
              <a:latin typeface="+mj-lt"/>
            </a:endParaRPr>
          </a:p>
        </p:txBody>
      </p:sp>
      <p:sp>
        <p:nvSpPr>
          <p:cNvPr id="356" name="Oval 7">
            <a:extLst>
              <a:ext uri="{FF2B5EF4-FFF2-40B4-BE49-F238E27FC236}">
                <a16:creationId xmlns:a16="http://schemas.microsoft.com/office/drawing/2014/main" id="{DDE52570-83B4-4DB8-8BCB-1C2906D4A3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95157" y="3819153"/>
            <a:ext cx="260350" cy="260350"/>
          </a:xfrm>
          <a:prstGeom prst="ellipse">
            <a:avLst/>
          </a:prstGeom>
          <a:solidFill>
            <a:srgbClr val="00CC99"/>
          </a:solidFill>
          <a:ln w="11176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zh-CN" sz="1800">
              <a:latin typeface="+mj-lt"/>
            </a:endParaRPr>
          </a:p>
        </p:txBody>
      </p:sp>
      <p:sp>
        <p:nvSpPr>
          <p:cNvPr id="357" name="Oval 8">
            <a:extLst>
              <a:ext uri="{FF2B5EF4-FFF2-40B4-BE49-F238E27FC236}">
                <a16:creationId xmlns:a16="http://schemas.microsoft.com/office/drawing/2014/main" id="{348AC91E-3417-4A02-A010-7DDF20DFA7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37945" y="3819153"/>
            <a:ext cx="258762" cy="260350"/>
          </a:xfrm>
          <a:prstGeom prst="ellipse">
            <a:avLst/>
          </a:prstGeom>
          <a:solidFill>
            <a:srgbClr val="00CC99"/>
          </a:solidFill>
          <a:ln w="11176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zh-CN" sz="1800">
              <a:latin typeface="+mj-lt"/>
            </a:endParaRPr>
          </a:p>
        </p:txBody>
      </p:sp>
      <p:sp>
        <p:nvSpPr>
          <p:cNvPr id="358" name="Oval 9">
            <a:extLst>
              <a:ext uri="{FF2B5EF4-FFF2-40B4-BE49-F238E27FC236}">
                <a16:creationId xmlns:a16="http://schemas.microsoft.com/office/drawing/2014/main" id="{83A45FC2-C25A-48B0-A437-17F9DDA33A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79145" y="3819153"/>
            <a:ext cx="258762" cy="260350"/>
          </a:xfrm>
          <a:prstGeom prst="ellipse">
            <a:avLst/>
          </a:prstGeom>
          <a:solidFill>
            <a:srgbClr val="FF3300"/>
          </a:solidFill>
          <a:ln w="11176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zh-CN" sz="1800">
              <a:latin typeface="+mj-lt"/>
            </a:endParaRPr>
          </a:p>
        </p:txBody>
      </p:sp>
      <p:sp>
        <p:nvSpPr>
          <p:cNvPr id="359" name="Oval 10">
            <a:extLst>
              <a:ext uri="{FF2B5EF4-FFF2-40B4-BE49-F238E27FC236}">
                <a16:creationId xmlns:a16="http://schemas.microsoft.com/office/drawing/2014/main" id="{F9505569-0D87-485D-8277-52A52A8F79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17170" y="3819153"/>
            <a:ext cx="260350" cy="260350"/>
          </a:xfrm>
          <a:prstGeom prst="ellipse">
            <a:avLst/>
          </a:prstGeom>
          <a:solidFill>
            <a:srgbClr val="FF3300"/>
          </a:solidFill>
          <a:ln w="11176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zh-CN" sz="1800">
              <a:latin typeface="+mj-lt"/>
            </a:endParaRPr>
          </a:p>
        </p:txBody>
      </p:sp>
      <p:sp>
        <p:nvSpPr>
          <p:cNvPr id="360" name="Oval 11">
            <a:extLst>
              <a:ext uri="{FF2B5EF4-FFF2-40B4-BE49-F238E27FC236}">
                <a16:creationId xmlns:a16="http://schemas.microsoft.com/office/drawing/2014/main" id="{7554316D-0D6C-4607-9624-F2B3EE0FAB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59957" y="3819153"/>
            <a:ext cx="258763" cy="260350"/>
          </a:xfrm>
          <a:prstGeom prst="ellipse">
            <a:avLst/>
          </a:prstGeom>
          <a:solidFill>
            <a:srgbClr val="FF3300"/>
          </a:solidFill>
          <a:ln w="11176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zh-CN" sz="1800">
              <a:latin typeface="+mj-lt"/>
            </a:endParaRPr>
          </a:p>
        </p:txBody>
      </p:sp>
      <p:sp>
        <p:nvSpPr>
          <p:cNvPr id="361" name="Oval 12">
            <a:extLst>
              <a:ext uri="{FF2B5EF4-FFF2-40B4-BE49-F238E27FC236}">
                <a16:creationId xmlns:a16="http://schemas.microsoft.com/office/drawing/2014/main" id="{EA11F8C3-43CA-4F21-8E70-5091F292E8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97982" y="3819153"/>
            <a:ext cx="260350" cy="260350"/>
          </a:xfrm>
          <a:prstGeom prst="ellipse">
            <a:avLst/>
          </a:prstGeom>
          <a:solidFill>
            <a:srgbClr val="FF3300"/>
          </a:solidFill>
          <a:ln w="11176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zh-CN" sz="1800">
              <a:latin typeface="+mj-lt"/>
            </a:endParaRPr>
          </a:p>
        </p:txBody>
      </p:sp>
      <p:sp>
        <p:nvSpPr>
          <p:cNvPr id="362" name="Oval 13">
            <a:extLst>
              <a:ext uri="{FF2B5EF4-FFF2-40B4-BE49-F238E27FC236}">
                <a16:creationId xmlns:a16="http://schemas.microsoft.com/office/drawing/2014/main" id="{ED257A76-5E85-4CAA-8E0B-E2550D1493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40770" y="3819153"/>
            <a:ext cx="258762" cy="260350"/>
          </a:xfrm>
          <a:prstGeom prst="ellipse">
            <a:avLst/>
          </a:prstGeom>
          <a:solidFill>
            <a:srgbClr val="FF3300"/>
          </a:solidFill>
          <a:ln w="11176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zh-CN" sz="1800">
              <a:latin typeface="+mj-lt"/>
            </a:endParaRPr>
          </a:p>
        </p:txBody>
      </p:sp>
      <p:sp>
        <p:nvSpPr>
          <p:cNvPr id="363" name="Oval 14">
            <a:extLst>
              <a:ext uri="{FF2B5EF4-FFF2-40B4-BE49-F238E27FC236}">
                <a16:creationId xmlns:a16="http://schemas.microsoft.com/office/drawing/2014/main" id="{76AF148A-9D3C-4F1E-8FB2-F18AE31EB8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81970" y="3819153"/>
            <a:ext cx="258762" cy="260350"/>
          </a:xfrm>
          <a:prstGeom prst="ellipse">
            <a:avLst/>
          </a:prstGeom>
          <a:solidFill>
            <a:srgbClr val="FF3300"/>
          </a:solidFill>
          <a:ln w="11176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zh-CN" sz="1800">
              <a:latin typeface="+mj-lt"/>
            </a:endParaRPr>
          </a:p>
        </p:txBody>
      </p:sp>
      <p:sp>
        <p:nvSpPr>
          <p:cNvPr id="364" name="Oval 15">
            <a:extLst>
              <a:ext uri="{FF2B5EF4-FFF2-40B4-BE49-F238E27FC236}">
                <a16:creationId xmlns:a16="http://schemas.microsoft.com/office/drawing/2014/main" id="{DF2E593D-86C3-483E-88A1-E62EFD9580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19995" y="3819153"/>
            <a:ext cx="260350" cy="260350"/>
          </a:xfrm>
          <a:prstGeom prst="ellipse">
            <a:avLst/>
          </a:prstGeom>
          <a:solidFill>
            <a:srgbClr val="FF3300"/>
          </a:solidFill>
          <a:ln w="11176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zh-CN" sz="1800">
              <a:latin typeface="+mj-lt"/>
            </a:endParaRPr>
          </a:p>
        </p:txBody>
      </p:sp>
      <p:sp>
        <p:nvSpPr>
          <p:cNvPr id="365" name="Oval 16">
            <a:extLst>
              <a:ext uri="{FF2B5EF4-FFF2-40B4-BE49-F238E27FC236}">
                <a16:creationId xmlns:a16="http://schemas.microsoft.com/office/drawing/2014/main" id="{774FFDBA-5F98-4087-922D-739E9E41B3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62782" y="3819153"/>
            <a:ext cx="258763" cy="260350"/>
          </a:xfrm>
          <a:prstGeom prst="ellipse">
            <a:avLst/>
          </a:prstGeom>
          <a:solidFill>
            <a:srgbClr val="00CC99"/>
          </a:solidFill>
          <a:ln w="11176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zh-CN" sz="1800">
              <a:latin typeface="+mj-lt"/>
            </a:endParaRPr>
          </a:p>
        </p:txBody>
      </p:sp>
      <p:sp>
        <p:nvSpPr>
          <p:cNvPr id="366" name="Oval 17">
            <a:extLst>
              <a:ext uri="{FF2B5EF4-FFF2-40B4-BE49-F238E27FC236}">
                <a16:creationId xmlns:a16="http://schemas.microsoft.com/office/drawing/2014/main" id="{7628DF29-31AF-4190-8F7F-16D1483BB9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95332" y="4339853"/>
            <a:ext cx="258763" cy="260350"/>
          </a:xfrm>
          <a:prstGeom prst="ellipse">
            <a:avLst/>
          </a:prstGeom>
          <a:solidFill>
            <a:srgbClr val="00CC99"/>
          </a:solidFill>
          <a:ln w="11176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zh-CN" sz="1800">
              <a:latin typeface="+mj-lt"/>
            </a:endParaRPr>
          </a:p>
        </p:txBody>
      </p:sp>
      <p:sp>
        <p:nvSpPr>
          <p:cNvPr id="367" name="Oval 18">
            <a:extLst>
              <a:ext uri="{FF2B5EF4-FFF2-40B4-BE49-F238E27FC236}">
                <a16:creationId xmlns:a16="http://schemas.microsoft.com/office/drawing/2014/main" id="{6AD16B17-9AC6-463E-B806-49A91C979C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36532" y="4339853"/>
            <a:ext cx="258763" cy="260350"/>
          </a:xfrm>
          <a:prstGeom prst="ellipse">
            <a:avLst/>
          </a:prstGeom>
          <a:solidFill>
            <a:srgbClr val="00CC99"/>
          </a:solidFill>
          <a:ln w="11176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zh-CN" sz="1800">
              <a:latin typeface="+mj-lt"/>
            </a:endParaRPr>
          </a:p>
        </p:txBody>
      </p:sp>
      <p:sp>
        <p:nvSpPr>
          <p:cNvPr id="368" name="Oval 19">
            <a:extLst>
              <a:ext uri="{FF2B5EF4-FFF2-40B4-BE49-F238E27FC236}">
                <a16:creationId xmlns:a16="http://schemas.microsoft.com/office/drawing/2014/main" id="{AAD5ADEA-9DBF-4D4D-A91F-B98CF15AC5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76145" y="4339853"/>
            <a:ext cx="258762" cy="260350"/>
          </a:xfrm>
          <a:prstGeom prst="ellipse">
            <a:avLst/>
          </a:prstGeom>
          <a:solidFill>
            <a:srgbClr val="00CC99"/>
          </a:solidFill>
          <a:ln w="11176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zh-CN" sz="1800">
              <a:latin typeface="+mj-lt"/>
            </a:endParaRPr>
          </a:p>
        </p:txBody>
      </p:sp>
      <p:sp>
        <p:nvSpPr>
          <p:cNvPr id="369" name="Oval 20">
            <a:extLst>
              <a:ext uri="{FF2B5EF4-FFF2-40B4-BE49-F238E27FC236}">
                <a16:creationId xmlns:a16="http://schemas.microsoft.com/office/drawing/2014/main" id="{3FB47C50-5684-4F38-901B-B6692995E2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17345" y="4339853"/>
            <a:ext cx="258762" cy="260350"/>
          </a:xfrm>
          <a:prstGeom prst="ellipse">
            <a:avLst/>
          </a:prstGeom>
          <a:solidFill>
            <a:srgbClr val="FF3300"/>
          </a:solidFill>
          <a:ln w="11176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zh-CN" sz="1800">
              <a:latin typeface="+mj-lt"/>
            </a:endParaRPr>
          </a:p>
        </p:txBody>
      </p:sp>
      <p:sp>
        <p:nvSpPr>
          <p:cNvPr id="370" name="Oval 21">
            <a:extLst>
              <a:ext uri="{FF2B5EF4-FFF2-40B4-BE49-F238E27FC236}">
                <a16:creationId xmlns:a16="http://schemas.microsoft.com/office/drawing/2014/main" id="{CDACEAEB-5F4A-4C55-99D6-1FFCB11335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56957" y="4339853"/>
            <a:ext cx="258763" cy="260350"/>
          </a:xfrm>
          <a:prstGeom prst="ellipse">
            <a:avLst/>
          </a:prstGeom>
          <a:solidFill>
            <a:srgbClr val="00CC99"/>
          </a:solidFill>
          <a:ln w="11176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zh-CN" sz="1800">
              <a:latin typeface="+mj-lt"/>
            </a:endParaRPr>
          </a:p>
        </p:txBody>
      </p:sp>
      <p:sp>
        <p:nvSpPr>
          <p:cNvPr id="371" name="Oval 22">
            <a:extLst>
              <a:ext uri="{FF2B5EF4-FFF2-40B4-BE49-F238E27FC236}">
                <a16:creationId xmlns:a16="http://schemas.microsoft.com/office/drawing/2014/main" id="{1574C66F-76F8-481C-8E4E-6561285CCC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8157" y="4339853"/>
            <a:ext cx="258763" cy="260350"/>
          </a:xfrm>
          <a:prstGeom prst="ellipse">
            <a:avLst/>
          </a:prstGeom>
          <a:solidFill>
            <a:srgbClr val="FF3300"/>
          </a:solidFill>
          <a:ln w="11176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zh-CN" sz="1800">
              <a:latin typeface="+mj-lt"/>
            </a:endParaRPr>
          </a:p>
        </p:txBody>
      </p:sp>
      <p:sp>
        <p:nvSpPr>
          <p:cNvPr id="372" name="Oval 23">
            <a:extLst>
              <a:ext uri="{FF2B5EF4-FFF2-40B4-BE49-F238E27FC236}">
                <a16:creationId xmlns:a16="http://schemas.microsoft.com/office/drawing/2014/main" id="{8D556265-2137-4D72-8D9F-5FF00432EE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9357" y="4339853"/>
            <a:ext cx="258763" cy="260350"/>
          </a:xfrm>
          <a:prstGeom prst="ellipse">
            <a:avLst/>
          </a:prstGeom>
          <a:solidFill>
            <a:srgbClr val="00CC99"/>
          </a:solidFill>
          <a:ln w="11176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zh-CN" sz="1800">
              <a:latin typeface="+mj-lt"/>
            </a:endParaRPr>
          </a:p>
        </p:txBody>
      </p:sp>
      <p:sp>
        <p:nvSpPr>
          <p:cNvPr id="373" name="Oval 24">
            <a:extLst>
              <a:ext uri="{FF2B5EF4-FFF2-40B4-BE49-F238E27FC236}">
                <a16:creationId xmlns:a16="http://schemas.microsoft.com/office/drawing/2014/main" id="{05CC984F-A529-4157-ABE5-CD76631687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78970" y="4339853"/>
            <a:ext cx="258762" cy="260350"/>
          </a:xfrm>
          <a:prstGeom prst="ellipse">
            <a:avLst/>
          </a:prstGeom>
          <a:solidFill>
            <a:srgbClr val="00CC99"/>
          </a:solidFill>
          <a:ln w="11176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zh-CN" sz="1800">
              <a:latin typeface="+mj-lt"/>
            </a:endParaRPr>
          </a:p>
        </p:txBody>
      </p:sp>
      <p:sp>
        <p:nvSpPr>
          <p:cNvPr id="374" name="Oval 25">
            <a:extLst>
              <a:ext uri="{FF2B5EF4-FFF2-40B4-BE49-F238E27FC236}">
                <a16:creationId xmlns:a16="http://schemas.microsoft.com/office/drawing/2014/main" id="{7E480AF0-1BEF-4BD2-AB2C-C3C33A0D4B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20170" y="4339853"/>
            <a:ext cx="258762" cy="260350"/>
          </a:xfrm>
          <a:prstGeom prst="ellipse">
            <a:avLst/>
          </a:prstGeom>
          <a:solidFill>
            <a:srgbClr val="00CC99"/>
          </a:solidFill>
          <a:ln w="11176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zh-CN" sz="1800">
              <a:latin typeface="+mj-lt"/>
            </a:endParaRPr>
          </a:p>
        </p:txBody>
      </p:sp>
      <p:sp>
        <p:nvSpPr>
          <p:cNvPr id="375" name="Oval 26">
            <a:extLst>
              <a:ext uri="{FF2B5EF4-FFF2-40B4-BE49-F238E27FC236}">
                <a16:creationId xmlns:a16="http://schemas.microsoft.com/office/drawing/2014/main" id="{3D4015B2-7AF9-470D-A5ED-4D1D1F397D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59782" y="4339853"/>
            <a:ext cx="258763" cy="260350"/>
          </a:xfrm>
          <a:prstGeom prst="ellipse">
            <a:avLst/>
          </a:prstGeom>
          <a:solidFill>
            <a:srgbClr val="00CC99"/>
          </a:solidFill>
          <a:ln w="11176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zh-CN" sz="1800">
              <a:latin typeface="+mj-lt"/>
            </a:endParaRPr>
          </a:p>
        </p:txBody>
      </p:sp>
      <p:sp>
        <p:nvSpPr>
          <p:cNvPr id="376" name="Oval 27">
            <a:extLst>
              <a:ext uri="{FF2B5EF4-FFF2-40B4-BE49-F238E27FC236}">
                <a16:creationId xmlns:a16="http://schemas.microsoft.com/office/drawing/2014/main" id="{0190E26F-D166-4AE0-AA6C-515205A1E3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00982" y="4339853"/>
            <a:ext cx="258763" cy="260350"/>
          </a:xfrm>
          <a:prstGeom prst="ellipse">
            <a:avLst/>
          </a:prstGeom>
          <a:solidFill>
            <a:srgbClr val="00CC99"/>
          </a:solidFill>
          <a:ln w="11176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zh-CN" sz="1800">
              <a:latin typeface="+mj-lt"/>
            </a:endParaRPr>
          </a:p>
        </p:txBody>
      </p:sp>
      <p:sp>
        <p:nvSpPr>
          <p:cNvPr id="377" name="Oval 28">
            <a:extLst>
              <a:ext uri="{FF2B5EF4-FFF2-40B4-BE49-F238E27FC236}">
                <a16:creationId xmlns:a16="http://schemas.microsoft.com/office/drawing/2014/main" id="{E35D3376-F892-486F-9732-DA4D4F9AB9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42182" y="4339853"/>
            <a:ext cx="258763" cy="260350"/>
          </a:xfrm>
          <a:prstGeom prst="ellipse">
            <a:avLst/>
          </a:prstGeom>
          <a:solidFill>
            <a:srgbClr val="00CC99"/>
          </a:solidFill>
          <a:ln w="11176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zh-CN" sz="1800">
              <a:latin typeface="+mj-lt"/>
            </a:endParaRPr>
          </a:p>
        </p:txBody>
      </p:sp>
      <p:sp>
        <p:nvSpPr>
          <p:cNvPr id="378" name="Rectangle 29">
            <a:extLst>
              <a:ext uri="{FF2B5EF4-FFF2-40B4-BE49-F238E27FC236}">
                <a16:creationId xmlns:a16="http://schemas.microsoft.com/office/drawing/2014/main" id="{322EE216-32BF-49C5-BF27-F0B118F269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45332" y="3403228"/>
            <a:ext cx="6937375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300">
                <a:solidFill>
                  <a:srgbClr val="000000"/>
                </a:solidFill>
                <a:latin typeface="+mj-lt"/>
              </a:rPr>
              <a:t>1     2      3     4      5      6      7     8      9    10    11   12     13</a:t>
            </a:r>
            <a:endParaRPr lang="en-US" altLang="zh-CN" sz="1800">
              <a:latin typeface="+mj-lt"/>
            </a:endParaRPr>
          </a:p>
        </p:txBody>
      </p:sp>
      <p:sp>
        <p:nvSpPr>
          <p:cNvPr id="379" name="Rectangle 30">
            <a:extLst>
              <a:ext uri="{FF2B5EF4-FFF2-40B4-BE49-F238E27FC236}">
                <a16:creationId xmlns:a16="http://schemas.microsoft.com/office/drawing/2014/main" id="{06D1855F-2D0A-4814-A62B-63EB617F31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27895" y="4574803"/>
            <a:ext cx="64262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300">
                <a:solidFill>
                  <a:srgbClr val="000000"/>
                </a:solidFill>
                <a:latin typeface="+mj-lt"/>
              </a:rPr>
              <a:t>14   15    16    17    18   19    20    21    22   23    24   25</a:t>
            </a:r>
            <a:endParaRPr lang="en-US" altLang="zh-CN" sz="1800">
              <a:latin typeface="+mj-lt"/>
            </a:endParaRPr>
          </a:p>
        </p:txBody>
      </p:sp>
      <p:grpSp>
        <p:nvGrpSpPr>
          <p:cNvPr id="380" name="Group 31">
            <a:extLst>
              <a:ext uri="{FF2B5EF4-FFF2-40B4-BE49-F238E27FC236}">
                <a16:creationId xmlns:a16="http://schemas.microsoft.com/office/drawing/2014/main" id="{7D204972-9AB9-4699-9ABB-625A3836FE7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640482" y="3254003"/>
            <a:ext cx="8078788" cy="1800225"/>
            <a:chOff x="762" y="1971"/>
            <a:chExt cx="4237" cy="1142"/>
          </a:xfrm>
        </p:grpSpPr>
        <p:sp>
          <p:nvSpPr>
            <p:cNvPr id="381" name="Freeform 32">
              <a:extLst>
                <a:ext uri="{FF2B5EF4-FFF2-40B4-BE49-F238E27FC236}">
                  <a16:creationId xmlns:a16="http://schemas.microsoft.com/office/drawing/2014/main" id="{DD10299F-1155-4F6C-8958-176BC4F07FA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23" y="3020"/>
              <a:ext cx="88" cy="93"/>
            </a:xfrm>
            <a:custGeom>
              <a:avLst/>
              <a:gdLst>
                <a:gd name="T0" fmla="*/ 0 w 88"/>
                <a:gd name="T1" fmla="*/ 0 h 93"/>
                <a:gd name="T2" fmla="*/ 33 w 88"/>
                <a:gd name="T3" fmla="*/ 76 h 93"/>
                <a:gd name="T4" fmla="*/ 88 w 88"/>
                <a:gd name="T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8" h="93">
                  <a:moveTo>
                    <a:pt x="0" y="0"/>
                  </a:moveTo>
                  <a:cubicBezTo>
                    <a:pt x="6" y="13"/>
                    <a:pt x="18" y="61"/>
                    <a:pt x="33" y="76"/>
                  </a:cubicBezTo>
                  <a:cubicBezTo>
                    <a:pt x="48" y="91"/>
                    <a:pt x="77" y="90"/>
                    <a:pt x="88" y="93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82" name="Freeform 33">
              <a:extLst>
                <a:ext uri="{FF2B5EF4-FFF2-40B4-BE49-F238E27FC236}">
                  <a16:creationId xmlns:a16="http://schemas.microsoft.com/office/drawing/2014/main" id="{4FDCBB88-8C04-4DA9-BF8F-1C414475C3AA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>
              <a:off x="4649" y="3020"/>
              <a:ext cx="88" cy="93"/>
            </a:xfrm>
            <a:custGeom>
              <a:avLst/>
              <a:gdLst>
                <a:gd name="T0" fmla="*/ 0 w 88"/>
                <a:gd name="T1" fmla="*/ 0 h 93"/>
                <a:gd name="T2" fmla="*/ 33 w 88"/>
                <a:gd name="T3" fmla="*/ 76 h 93"/>
                <a:gd name="T4" fmla="*/ 88 w 88"/>
                <a:gd name="T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8" h="93">
                  <a:moveTo>
                    <a:pt x="0" y="0"/>
                  </a:moveTo>
                  <a:cubicBezTo>
                    <a:pt x="6" y="13"/>
                    <a:pt x="18" y="61"/>
                    <a:pt x="33" y="76"/>
                  </a:cubicBezTo>
                  <a:cubicBezTo>
                    <a:pt x="48" y="91"/>
                    <a:pt x="77" y="90"/>
                    <a:pt x="88" y="93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83" name="Line 34">
              <a:extLst>
                <a:ext uri="{FF2B5EF4-FFF2-40B4-BE49-F238E27FC236}">
                  <a16:creationId xmlns:a16="http://schemas.microsoft.com/office/drawing/2014/main" id="{BBF29951-6763-46DF-B890-7705E8E3560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733" y="2170"/>
              <a:ext cx="228" cy="8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4" name="Line 35">
              <a:extLst>
                <a:ext uri="{FF2B5EF4-FFF2-40B4-BE49-F238E27FC236}">
                  <a16:creationId xmlns:a16="http://schemas.microsoft.com/office/drawing/2014/main" id="{35D39ED7-C96B-4E41-AB09-4E3B88A3654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11" y="3113"/>
              <a:ext cx="35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85" name="Line 36">
              <a:extLst>
                <a:ext uri="{FF2B5EF4-FFF2-40B4-BE49-F238E27FC236}">
                  <a16:creationId xmlns:a16="http://schemas.microsoft.com/office/drawing/2014/main" id="{17E21C8A-F95D-439F-9084-1987B995964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1" y="2169"/>
              <a:ext cx="223" cy="8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6" name="Freeform 37">
              <a:extLst>
                <a:ext uri="{FF2B5EF4-FFF2-40B4-BE49-F238E27FC236}">
                  <a16:creationId xmlns:a16="http://schemas.microsoft.com/office/drawing/2014/main" id="{B2A6AE84-3A1B-438E-910F-B3994C58A26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62" y="1971"/>
              <a:ext cx="78" cy="222"/>
            </a:xfrm>
            <a:custGeom>
              <a:avLst/>
              <a:gdLst>
                <a:gd name="T0" fmla="*/ 78 w 78"/>
                <a:gd name="T1" fmla="*/ 6 h 222"/>
                <a:gd name="T2" fmla="*/ 6 w 78"/>
                <a:gd name="T3" fmla="*/ 36 h 222"/>
                <a:gd name="T4" fmla="*/ 44 w 78"/>
                <a:gd name="T5" fmla="*/ 222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8" h="222">
                  <a:moveTo>
                    <a:pt x="78" y="6"/>
                  </a:moveTo>
                  <a:cubicBezTo>
                    <a:pt x="66" y="11"/>
                    <a:pt x="12" y="0"/>
                    <a:pt x="6" y="36"/>
                  </a:cubicBezTo>
                  <a:cubicBezTo>
                    <a:pt x="0" y="72"/>
                    <a:pt x="36" y="183"/>
                    <a:pt x="44" y="222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87" name="Freeform 38">
              <a:extLst>
                <a:ext uri="{FF2B5EF4-FFF2-40B4-BE49-F238E27FC236}">
                  <a16:creationId xmlns:a16="http://schemas.microsoft.com/office/drawing/2014/main" id="{35178A91-29C1-4D3B-8CE1-7A90A7038BA4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>
              <a:off x="4921" y="1971"/>
              <a:ext cx="78" cy="222"/>
            </a:xfrm>
            <a:custGeom>
              <a:avLst/>
              <a:gdLst>
                <a:gd name="T0" fmla="*/ 78 w 78"/>
                <a:gd name="T1" fmla="*/ 6 h 222"/>
                <a:gd name="T2" fmla="*/ 6 w 78"/>
                <a:gd name="T3" fmla="*/ 36 h 222"/>
                <a:gd name="T4" fmla="*/ 44 w 78"/>
                <a:gd name="T5" fmla="*/ 222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8" h="222">
                  <a:moveTo>
                    <a:pt x="78" y="6"/>
                  </a:moveTo>
                  <a:cubicBezTo>
                    <a:pt x="66" y="11"/>
                    <a:pt x="12" y="0"/>
                    <a:pt x="6" y="36"/>
                  </a:cubicBezTo>
                  <a:cubicBezTo>
                    <a:pt x="0" y="72"/>
                    <a:pt x="36" y="183"/>
                    <a:pt x="44" y="222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88" name="Line 39">
              <a:extLst>
                <a:ext uri="{FF2B5EF4-FFF2-40B4-BE49-F238E27FC236}">
                  <a16:creationId xmlns:a16="http://schemas.microsoft.com/office/drawing/2014/main" id="{B669C57C-B1BC-4B84-BC5E-75E820F8D68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839" y="1979"/>
              <a:ext cx="40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89" name="Line 40">
            <a:extLst>
              <a:ext uri="{FF2B5EF4-FFF2-40B4-BE49-F238E27FC236}">
                <a16:creationId xmlns:a16="http://schemas.microsoft.com/office/drawing/2014/main" id="{7E2DA4FE-A459-49EF-A721-9A5B21F671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59620" y="2979366"/>
            <a:ext cx="0" cy="288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90" name="Text Box 41">
            <a:extLst>
              <a:ext uri="{FF2B5EF4-FFF2-40B4-BE49-F238E27FC236}">
                <a16:creationId xmlns:a16="http://schemas.microsoft.com/office/drawing/2014/main" id="{7636D179-E86F-4AD6-84E6-E188C2183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7682" y="2144341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保护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接地</a:t>
            </a:r>
          </a:p>
        </p:txBody>
      </p:sp>
      <p:sp>
        <p:nvSpPr>
          <p:cNvPr id="391" name="Line 42">
            <a:extLst>
              <a:ext uri="{FF2B5EF4-FFF2-40B4-BE49-F238E27FC236}">
                <a16:creationId xmlns:a16="http://schemas.microsoft.com/office/drawing/2014/main" id="{11CD2E31-728F-49FF-811D-8354C20D5E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21595" y="2979366"/>
            <a:ext cx="0" cy="288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92" name="Text Box 43">
            <a:extLst>
              <a:ext uri="{FF2B5EF4-FFF2-40B4-BE49-F238E27FC236}">
                <a16:creationId xmlns:a16="http://schemas.microsoft.com/office/drawing/2014/main" id="{F76EF68A-802F-421F-9698-541E71128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9657" y="2144341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发送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</a:t>
            </a:r>
          </a:p>
        </p:txBody>
      </p:sp>
      <p:sp>
        <p:nvSpPr>
          <p:cNvPr id="393" name="Line 46">
            <a:extLst>
              <a:ext uri="{FF2B5EF4-FFF2-40B4-BE49-F238E27FC236}">
                <a16:creationId xmlns:a16="http://schemas.microsoft.com/office/drawing/2014/main" id="{A7EFEA40-2648-4153-B683-647244DFA0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12145" y="2979366"/>
            <a:ext cx="0" cy="288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94" name="Text Box 47">
            <a:extLst>
              <a:ext uri="{FF2B5EF4-FFF2-40B4-BE49-F238E27FC236}">
                <a16:creationId xmlns:a16="http://schemas.microsoft.com/office/drawing/2014/main" id="{C3554905-B3A0-4E39-8BD1-61F2E8250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0207" y="2144341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接收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</a:t>
            </a:r>
          </a:p>
        </p:txBody>
      </p:sp>
      <p:sp>
        <p:nvSpPr>
          <p:cNvPr id="395" name="Line 48">
            <a:extLst>
              <a:ext uri="{FF2B5EF4-FFF2-40B4-BE49-F238E27FC236}">
                <a16:creationId xmlns:a16="http://schemas.microsoft.com/office/drawing/2014/main" id="{976E3B89-D50F-4F95-B4E5-99B345308F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74120" y="2979366"/>
            <a:ext cx="0" cy="288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96" name="Text Box 49">
            <a:extLst>
              <a:ext uri="{FF2B5EF4-FFF2-40B4-BE49-F238E27FC236}">
                <a16:creationId xmlns:a16="http://schemas.microsoft.com/office/drawing/2014/main" id="{8B812E34-08FE-41E6-A41F-1CFCF2D66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2182" y="2144341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请求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发送</a:t>
            </a:r>
          </a:p>
        </p:txBody>
      </p:sp>
      <p:sp>
        <p:nvSpPr>
          <p:cNvPr id="397" name="Line 50">
            <a:extLst>
              <a:ext uri="{FF2B5EF4-FFF2-40B4-BE49-F238E27FC236}">
                <a16:creationId xmlns:a16="http://schemas.microsoft.com/office/drawing/2014/main" id="{68CB5270-38F5-4581-9453-23EFADFACE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64670" y="2979366"/>
            <a:ext cx="0" cy="288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98" name="Text Box 51">
            <a:extLst>
              <a:ext uri="{FF2B5EF4-FFF2-40B4-BE49-F238E27FC236}">
                <a16:creationId xmlns:a16="http://schemas.microsoft.com/office/drawing/2014/main" id="{52A0A30F-B494-4D65-9991-3EB912CD8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2732" y="2144341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清除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待发</a:t>
            </a:r>
          </a:p>
        </p:txBody>
      </p:sp>
      <p:sp>
        <p:nvSpPr>
          <p:cNvPr id="399" name="Line 52">
            <a:extLst>
              <a:ext uri="{FF2B5EF4-FFF2-40B4-BE49-F238E27FC236}">
                <a16:creationId xmlns:a16="http://schemas.microsoft.com/office/drawing/2014/main" id="{B72D9A41-6221-47BB-946C-3512FD49F6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67907" y="2979366"/>
            <a:ext cx="0" cy="288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00" name="Text Box 53">
            <a:extLst>
              <a:ext uri="{FF2B5EF4-FFF2-40B4-BE49-F238E27FC236}">
                <a16:creationId xmlns:a16="http://schemas.microsoft.com/office/drawing/2014/main" id="{658FAE1C-4FC1-49E2-8CDF-268895DAF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6445" y="2155453"/>
            <a:ext cx="543739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DCE</a:t>
            </a:r>
          </a:p>
          <a:p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设备</a:t>
            </a:r>
          </a:p>
          <a:p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就需</a:t>
            </a:r>
          </a:p>
        </p:txBody>
      </p:sp>
      <p:sp>
        <p:nvSpPr>
          <p:cNvPr id="401" name="Line 54">
            <a:extLst>
              <a:ext uri="{FF2B5EF4-FFF2-40B4-BE49-F238E27FC236}">
                <a16:creationId xmlns:a16="http://schemas.microsoft.com/office/drawing/2014/main" id="{1C23F467-6D1C-49D1-9E81-6E810D4AD5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44170" y="2979366"/>
            <a:ext cx="0" cy="288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02" name="Text Box 55">
            <a:extLst>
              <a:ext uri="{FF2B5EF4-FFF2-40B4-BE49-F238E27FC236}">
                <a16:creationId xmlns:a16="http://schemas.microsoft.com/office/drawing/2014/main" id="{9FFC2EF1-C9E1-4438-ADF7-568D62385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2232" y="2144341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信号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地线</a:t>
            </a:r>
          </a:p>
        </p:txBody>
      </p:sp>
      <p:sp>
        <p:nvSpPr>
          <p:cNvPr id="403" name="Line 56">
            <a:extLst>
              <a:ext uri="{FF2B5EF4-FFF2-40B4-BE49-F238E27FC236}">
                <a16:creationId xmlns:a16="http://schemas.microsoft.com/office/drawing/2014/main" id="{2BC66679-426C-4F87-AFC3-024DD35AED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06145" y="2979366"/>
            <a:ext cx="0" cy="288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04" name="Text Box 57">
            <a:extLst>
              <a:ext uri="{FF2B5EF4-FFF2-40B4-BE49-F238E27FC236}">
                <a16:creationId xmlns:a16="http://schemas.microsoft.com/office/drawing/2014/main" id="{045166F0-DACA-429A-94DE-F332051F4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4207" y="2144341"/>
            <a:ext cx="543739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</a:t>
            </a:r>
          </a:p>
          <a:p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载波</a:t>
            </a:r>
          </a:p>
          <a:p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检测</a:t>
            </a:r>
          </a:p>
        </p:txBody>
      </p:sp>
      <p:sp>
        <p:nvSpPr>
          <p:cNvPr id="405" name="Line 58">
            <a:extLst>
              <a:ext uri="{FF2B5EF4-FFF2-40B4-BE49-F238E27FC236}">
                <a16:creationId xmlns:a16="http://schemas.microsoft.com/office/drawing/2014/main" id="{5FBD8A11-11DD-4C56-9C2A-FEE250A56B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96695" y="3050803"/>
            <a:ext cx="0" cy="217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06" name="Line 60">
            <a:extLst>
              <a:ext uri="{FF2B5EF4-FFF2-40B4-BE49-F238E27FC236}">
                <a16:creationId xmlns:a16="http://schemas.microsoft.com/office/drawing/2014/main" id="{6B87290C-0934-4085-90C1-9BAFF28B68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72957" y="3050803"/>
            <a:ext cx="0" cy="217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07" name="Text Box 61">
            <a:extLst>
              <a:ext uri="{FF2B5EF4-FFF2-40B4-BE49-F238E27FC236}">
                <a16:creationId xmlns:a16="http://schemas.microsoft.com/office/drawing/2014/main" id="{55A6E9D4-F656-4F31-9392-68CEC3586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3357" y="2144341"/>
            <a:ext cx="65274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保留</a:t>
            </a:r>
          </a:p>
          <a:p>
            <a:r>
              <a:rPr lang="en-US" altLang="zh-CN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</a:t>
            </a:r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测试</a:t>
            </a:r>
            <a:r>
              <a:rPr lang="en-US" altLang="zh-CN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</a:t>
            </a:r>
          </a:p>
        </p:txBody>
      </p:sp>
      <p:sp>
        <p:nvSpPr>
          <p:cNvPr id="408" name="Line 62">
            <a:extLst>
              <a:ext uri="{FF2B5EF4-FFF2-40B4-BE49-F238E27FC236}">
                <a16:creationId xmlns:a16="http://schemas.microsoft.com/office/drawing/2014/main" id="{35DA0AD0-2213-4E7D-BCD3-9124212D06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77782" y="2979366"/>
            <a:ext cx="0" cy="288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09" name="Text Box 63">
            <a:extLst>
              <a:ext uri="{FF2B5EF4-FFF2-40B4-BE49-F238E27FC236}">
                <a16:creationId xmlns:a16="http://schemas.microsoft.com/office/drawing/2014/main" id="{9FBD4B62-FD33-4986-AADD-905E250C5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1882" y="2144341"/>
            <a:ext cx="36420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未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定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义</a:t>
            </a:r>
          </a:p>
        </p:txBody>
      </p:sp>
      <p:sp>
        <p:nvSpPr>
          <p:cNvPr id="410" name="Text Box 65">
            <a:extLst>
              <a:ext uri="{FF2B5EF4-FFF2-40B4-BE49-F238E27FC236}">
                <a16:creationId xmlns:a16="http://schemas.microsoft.com/office/drawing/2014/main" id="{F34FEEA4-0E31-45EE-940B-A67AC11E6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7782" y="2144341"/>
            <a:ext cx="1008063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辅助信道数据载波检测</a:t>
            </a:r>
          </a:p>
        </p:txBody>
      </p:sp>
      <p:sp>
        <p:nvSpPr>
          <p:cNvPr id="411" name="Line 66">
            <a:extLst>
              <a:ext uri="{FF2B5EF4-FFF2-40B4-BE49-F238E27FC236}">
                <a16:creationId xmlns:a16="http://schemas.microsoft.com/office/drawing/2014/main" id="{A31E716C-C4BB-456D-AB79-8038CE2AC2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57282" y="2979366"/>
            <a:ext cx="0" cy="288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12" name="Text Box 67">
            <a:extLst>
              <a:ext uri="{FF2B5EF4-FFF2-40B4-BE49-F238E27FC236}">
                <a16:creationId xmlns:a16="http://schemas.microsoft.com/office/drawing/2014/main" id="{9052FBC2-8E0C-4ADF-AA02-E8DF5C771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3907" y="2144341"/>
            <a:ext cx="8382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辅助信道清除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待发</a:t>
            </a:r>
          </a:p>
        </p:txBody>
      </p:sp>
      <p:sp>
        <p:nvSpPr>
          <p:cNvPr id="413" name="Line 68">
            <a:extLst>
              <a:ext uri="{FF2B5EF4-FFF2-40B4-BE49-F238E27FC236}">
                <a16:creationId xmlns:a16="http://schemas.microsoft.com/office/drawing/2014/main" id="{0AEFE75B-FF08-48A0-AF07-1949E5D55B2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6695" y="3050803"/>
            <a:ext cx="5762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14" name="Line 69">
            <a:extLst>
              <a:ext uri="{FF2B5EF4-FFF2-40B4-BE49-F238E27FC236}">
                <a16:creationId xmlns:a16="http://schemas.microsoft.com/office/drawing/2014/main" id="{2306D022-8DD6-440B-A1BF-84A253AC74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85620" y="2979366"/>
            <a:ext cx="0" cy="71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15" name="Line 70">
            <a:extLst>
              <a:ext uri="{FF2B5EF4-FFF2-40B4-BE49-F238E27FC236}">
                <a16:creationId xmlns:a16="http://schemas.microsoft.com/office/drawing/2014/main" id="{DD7CE318-A380-4443-81C5-30FCFDE846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46957" y="5054228"/>
            <a:ext cx="0" cy="288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16" name="Line 71">
            <a:extLst>
              <a:ext uri="{FF2B5EF4-FFF2-40B4-BE49-F238E27FC236}">
                <a16:creationId xmlns:a16="http://schemas.microsoft.com/office/drawing/2014/main" id="{2E77FADD-E2D3-4015-991E-194C5D5B60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24807" y="5054228"/>
            <a:ext cx="0" cy="288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17" name="Line 72">
            <a:extLst>
              <a:ext uri="{FF2B5EF4-FFF2-40B4-BE49-F238E27FC236}">
                <a16:creationId xmlns:a16="http://schemas.microsoft.com/office/drawing/2014/main" id="{CFC845BA-B335-444F-984D-DDF55DD749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43920" y="5054228"/>
            <a:ext cx="0" cy="288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18" name="Line 73">
            <a:extLst>
              <a:ext uri="{FF2B5EF4-FFF2-40B4-BE49-F238E27FC236}">
                <a16:creationId xmlns:a16="http://schemas.microsoft.com/office/drawing/2014/main" id="{573E2F44-FE6D-4EAB-907F-FB3214E1A4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5895" y="5054228"/>
            <a:ext cx="0" cy="288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19" name="Line 74">
            <a:extLst>
              <a:ext uri="{FF2B5EF4-FFF2-40B4-BE49-F238E27FC236}">
                <a16:creationId xmlns:a16="http://schemas.microsoft.com/office/drawing/2014/main" id="{A28F3B03-B78D-454F-844E-CA3694C346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96445" y="5054228"/>
            <a:ext cx="0" cy="288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20" name="Line 75">
            <a:extLst>
              <a:ext uri="{FF2B5EF4-FFF2-40B4-BE49-F238E27FC236}">
                <a16:creationId xmlns:a16="http://schemas.microsoft.com/office/drawing/2014/main" id="{DEAFBF80-566C-43B9-8B0D-B8BED55B06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99682" y="5054228"/>
            <a:ext cx="0" cy="288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21" name="Line 76">
            <a:extLst>
              <a:ext uri="{FF2B5EF4-FFF2-40B4-BE49-F238E27FC236}">
                <a16:creationId xmlns:a16="http://schemas.microsoft.com/office/drawing/2014/main" id="{53DC7935-5AE4-4649-83F9-7158E3E962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75945" y="5054228"/>
            <a:ext cx="0" cy="288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22" name="Line 77">
            <a:extLst>
              <a:ext uri="{FF2B5EF4-FFF2-40B4-BE49-F238E27FC236}">
                <a16:creationId xmlns:a16="http://schemas.microsoft.com/office/drawing/2014/main" id="{B7FB424E-9C42-44F6-88F7-966D605B61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37920" y="5054228"/>
            <a:ext cx="0" cy="288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23" name="Line 79">
            <a:extLst>
              <a:ext uri="{FF2B5EF4-FFF2-40B4-BE49-F238E27FC236}">
                <a16:creationId xmlns:a16="http://schemas.microsoft.com/office/drawing/2014/main" id="{3D61D7B1-C5CC-433F-9A83-067AFC9319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44345" y="5054228"/>
            <a:ext cx="0" cy="288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24" name="Line 80">
            <a:extLst>
              <a:ext uri="{FF2B5EF4-FFF2-40B4-BE49-F238E27FC236}">
                <a16:creationId xmlns:a16="http://schemas.microsoft.com/office/drawing/2014/main" id="{3430FAA5-5FB5-40D0-BEE7-782F19313A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20607" y="5054228"/>
            <a:ext cx="0" cy="288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25" name="Line 81">
            <a:extLst>
              <a:ext uri="{FF2B5EF4-FFF2-40B4-BE49-F238E27FC236}">
                <a16:creationId xmlns:a16="http://schemas.microsoft.com/office/drawing/2014/main" id="{9C763410-605E-4BDE-959D-E5CBFE50F7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82582" y="5054228"/>
            <a:ext cx="0" cy="288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26" name="Line 82">
            <a:extLst>
              <a:ext uri="{FF2B5EF4-FFF2-40B4-BE49-F238E27FC236}">
                <a16:creationId xmlns:a16="http://schemas.microsoft.com/office/drawing/2014/main" id="{4DFC4951-0FDD-4D22-934C-1865B51945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9945" y="5054228"/>
            <a:ext cx="0" cy="288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27" name="Text Box 83">
            <a:extLst>
              <a:ext uri="{FF2B5EF4-FFF2-40B4-BE49-F238E27FC236}">
                <a16:creationId xmlns:a16="http://schemas.microsoft.com/office/drawing/2014/main" id="{32EC0B6C-3695-449F-A659-367748B36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3907" y="5309816"/>
            <a:ext cx="54373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辅助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信道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发送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</a:t>
            </a:r>
          </a:p>
        </p:txBody>
      </p:sp>
      <p:sp>
        <p:nvSpPr>
          <p:cNvPr id="428" name="Text Box 84">
            <a:extLst>
              <a:ext uri="{FF2B5EF4-FFF2-40B4-BE49-F238E27FC236}">
                <a16:creationId xmlns:a16="http://schemas.microsoft.com/office/drawing/2014/main" id="{AD06E284-E79D-4C9A-B2FC-960ACD7F4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8570" y="5309816"/>
            <a:ext cx="723275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DCE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到</a:t>
            </a:r>
          </a:p>
          <a:p>
            <a:r>
              <a:rPr lang="en-US" altLang="zh-CN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DTE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发送方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时钟</a:t>
            </a:r>
          </a:p>
        </p:txBody>
      </p:sp>
      <p:sp>
        <p:nvSpPr>
          <p:cNvPr id="429" name="Text Box 85">
            <a:extLst>
              <a:ext uri="{FF2B5EF4-FFF2-40B4-BE49-F238E27FC236}">
                <a16:creationId xmlns:a16="http://schemas.microsoft.com/office/drawing/2014/main" id="{C448BDC4-04C3-4D7E-AD65-12A9AE453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7220" y="5309816"/>
            <a:ext cx="54373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辅助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信道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接收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</a:t>
            </a:r>
          </a:p>
        </p:txBody>
      </p:sp>
      <p:sp>
        <p:nvSpPr>
          <p:cNvPr id="430" name="Text Box 87">
            <a:extLst>
              <a:ext uri="{FF2B5EF4-FFF2-40B4-BE49-F238E27FC236}">
                <a16:creationId xmlns:a16="http://schemas.microsoft.com/office/drawing/2014/main" id="{829247A7-A1B4-45C0-9E13-E318FF3DD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3232" y="5309816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本地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回送</a:t>
            </a:r>
          </a:p>
        </p:txBody>
      </p:sp>
      <p:sp>
        <p:nvSpPr>
          <p:cNvPr id="431" name="Text Box 88">
            <a:extLst>
              <a:ext uri="{FF2B5EF4-FFF2-40B4-BE49-F238E27FC236}">
                <a16:creationId xmlns:a16="http://schemas.microsoft.com/office/drawing/2014/main" id="{182C2980-223F-47B7-9458-6F2C7315F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6470" y="5309816"/>
            <a:ext cx="54373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辅助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信道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请求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发送</a:t>
            </a:r>
          </a:p>
        </p:txBody>
      </p:sp>
      <p:sp>
        <p:nvSpPr>
          <p:cNvPr id="432" name="Text Box 89">
            <a:extLst>
              <a:ext uri="{FF2B5EF4-FFF2-40B4-BE49-F238E27FC236}">
                <a16:creationId xmlns:a16="http://schemas.microsoft.com/office/drawing/2014/main" id="{232D01EC-A158-4BF9-A318-BFB6D2FDA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9245" y="5309816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DTE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就绪</a:t>
            </a:r>
          </a:p>
        </p:txBody>
      </p:sp>
      <p:sp>
        <p:nvSpPr>
          <p:cNvPr id="433" name="Text Box 90">
            <a:extLst>
              <a:ext uri="{FF2B5EF4-FFF2-40B4-BE49-F238E27FC236}">
                <a16:creationId xmlns:a16="http://schemas.microsoft.com/office/drawing/2014/main" id="{9F966753-BB66-49B2-8BE5-FE0A3ADD7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995" y="5309816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远程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回送</a:t>
            </a:r>
          </a:p>
        </p:txBody>
      </p:sp>
      <p:sp>
        <p:nvSpPr>
          <p:cNvPr id="434" name="Text Box 91">
            <a:extLst>
              <a:ext uri="{FF2B5EF4-FFF2-40B4-BE49-F238E27FC236}">
                <a16:creationId xmlns:a16="http://schemas.microsoft.com/office/drawing/2014/main" id="{39BF06EA-FBE4-4627-AA76-F211DAADA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1770" y="5309816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振铃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指示</a:t>
            </a:r>
          </a:p>
        </p:txBody>
      </p:sp>
      <p:sp>
        <p:nvSpPr>
          <p:cNvPr id="435" name="Text Box 92">
            <a:extLst>
              <a:ext uri="{FF2B5EF4-FFF2-40B4-BE49-F238E27FC236}">
                <a16:creationId xmlns:a16="http://schemas.microsoft.com/office/drawing/2014/main" id="{EA3F3543-C6E9-4059-8C19-8A734C0CB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1520" y="5309816"/>
            <a:ext cx="54373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速率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选择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或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指示</a:t>
            </a:r>
          </a:p>
        </p:txBody>
      </p:sp>
      <p:sp>
        <p:nvSpPr>
          <p:cNvPr id="436" name="Text Box 93">
            <a:extLst>
              <a:ext uri="{FF2B5EF4-FFF2-40B4-BE49-F238E27FC236}">
                <a16:creationId xmlns:a16="http://schemas.microsoft.com/office/drawing/2014/main" id="{BBFA1F31-1E1F-4CBB-B751-155E5404E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5532" y="5309816"/>
            <a:ext cx="723275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DCE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到</a:t>
            </a:r>
          </a:p>
          <a:p>
            <a:r>
              <a:rPr lang="en-US" altLang="zh-CN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DTE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接收方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时钟</a:t>
            </a:r>
          </a:p>
        </p:txBody>
      </p:sp>
      <p:sp>
        <p:nvSpPr>
          <p:cNvPr id="437" name="Text Box 94">
            <a:extLst>
              <a:ext uri="{FF2B5EF4-FFF2-40B4-BE49-F238E27FC236}">
                <a16:creationId xmlns:a16="http://schemas.microsoft.com/office/drawing/2014/main" id="{BA6DE8D2-4784-432C-AF2E-D06CE223C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9682" y="5309816"/>
            <a:ext cx="723275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DTE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到</a:t>
            </a:r>
          </a:p>
          <a:p>
            <a:r>
              <a:rPr lang="en-US" altLang="zh-CN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DCE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发送方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时钟</a:t>
            </a:r>
          </a:p>
        </p:txBody>
      </p:sp>
      <p:sp>
        <p:nvSpPr>
          <p:cNvPr id="438" name="Text Box 95">
            <a:extLst>
              <a:ext uri="{FF2B5EF4-FFF2-40B4-BE49-F238E27FC236}">
                <a16:creationId xmlns:a16="http://schemas.microsoft.com/office/drawing/2014/main" id="{BC396423-FC67-40B0-A455-4E14C6D55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4045" y="5309816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测试</a:t>
            </a:r>
          </a:p>
          <a:p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模式</a:t>
            </a:r>
          </a:p>
        </p:txBody>
      </p:sp>
      <p:sp>
        <p:nvSpPr>
          <p:cNvPr id="439" name="Line 96">
            <a:extLst>
              <a:ext uri="{FF2B5EF4-FFF2-40B4-BE49-F238E27FC236}">
                <a16:creationId xmlns:a16="http://schemas.microsoft.com/office/drawing/2014/main" id="{A0344659-31DD-4DF8-B8FD-9929D06F58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09595" y="2979366"/>
            <a:ext cx="0" cy="288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3277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036783-15FC-4260-835C-5DA4538B3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EIA-232</a:t>
            </a:r>
            <a:r>
              <a:rPr lang="zh-CN" altLang="en-US" dirty="0"/>
              <a:t>引脚功能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68EC45-DEDB-4AF1-AF2A-D97722E3E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defRPr/>
              </a:pPr>
              <a:t>35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Group 80">
            <a:extLst>
              <a:ext uri="{FF2B5EF4-FFF2-40B4-BE49-F238E27FC236}">
                <a16:creationId xmlns:a16="http://schemas.microsoft.com/office/drawing/2014/main" id="{90A93A20-D5E1-4049-9486-BD86B4CB42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724684"/>
              </p:ext>
            </p:extLst>
          </p:nvPr>
        </p:nvGraphicFramePr>
        <p:xfrm>
          <a:off x="1774825" y="1130300"/>
          <a:ext cx="8642350" cy="5395278"/>
        </p:xfrm>
        <a:graphic>
          <a:graphicData uri="http://schemas.openxmlformats.org/drawingml/2006/table">
            <a:tbl>
              <a:tblPr/>
              <a:tblGrid>
                <a:gridCol w="1008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线路代号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连线号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信号方向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功能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de-DE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AA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保护地。连接设备外壳或者地表。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5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de-DE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AB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信号地。所有的信号电平以它为参考电平。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de-DE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BA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DTE 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→ 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发送数据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(TD)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。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DTE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在该线上传送数据给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de-DE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BB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 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→ 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接收数据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(RD)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。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DTE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在该线上接收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传来的数据。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9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de-DE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CA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DTE 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→ 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请求发送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(RTS)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。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DTE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在发送数据之前使用该线路请求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的许可。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de-DE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CB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 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→ 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清除待发送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(CTS)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。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使用该线路允许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DTE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发送数据。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de-DE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CC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 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→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准备好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(DSR)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。该线路上的信号表示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已经连上通信媒体，完成了操作准备。比如说，如果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是一台调制解调器，该线路就用来表示它是否在线。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8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de-DE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CD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DTE 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→ 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DTE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准备好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(DTR)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。该线路上的信号表示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DTE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已经准备好进行发送和接收。他可用来给一台调制解调器发信号，告诉它什么时候连接通信信道。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9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de-DE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CE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 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→ 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振铃指示。表示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从通信信道上收到一个振铃信号（比如调制解调器收到一个呼叫）。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CF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DCE 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→ 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DTE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数据载波检测。表示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收到一个符合适当标准的载波信号。基本上，这表示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理解引入信号。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37398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62500C-0214-4B0A-8374-3C17F2120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EIA-232</a:t>
            </a:r>
            <a:r>
              <a:rPr lang="zh-CN" altLang="en-US" dirty="0"/>
              <a:t>引脚功能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CC56D6-B516-4FCE-82C7-225737BB1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/>
              <a:pPr>
                <a:defRPr/>
              </a:pPr>
              <a:t>36</a:t>
            </a:fld>
            <a:endParaRPr lang="en-US" altLang="zh-CN" dirty="0"/>
          </a:p>
        </p:txBody>
      </p:sp>
      <p:graphicFrame>
        <p:nvGraphicFramePr>
          <p:cNvPr id="5" name="Group 202">
            <a:extLst>
              <a:ext uri="{FF2B5EF4-FFF2-40B4-BE49-F238E27FC236}">
                <a16:creationId xmlns:a16="http://schemas.microsoft.com/office/drawing/2014/main" id="{4BC49311-F37D-4300-A66D-9CE5E60424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1232574"/>
              </p:ext>
            </p:extLst>
          </p:nvPr>
        </p:nvGraphicFramePr>
        <p:xfrm>
          <a:off x="1774825" y="1130300"/>
          <a:ext cx="8642350" cy="5426393"/>
        </p:xfrm>
        <a:graphic>
          <a:graphicData uri="http://schemas.openxmlformats.org/drawingml/2006/table">
            <a:tbl>
              <a:tblPr/>
              <a:tblGrid>
                <a:gridCol w="1008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60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线路代号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连线号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信号方向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功能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CH/CI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DCE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→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DTE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DTE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→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DCE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数据信号速率选择或指示。在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DTE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之间有两种信号速率可用时，该线路指明使用哪一种。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0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DA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DTE 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→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 DCE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DTE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到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发送信号时钟。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用此时钟信号为信号的产生计时。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DB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DCE 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→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 DTE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到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DTE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发送信号时钟。类似于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DA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，但这里是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为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DTE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的信号发送提供定时信号。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DD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DCE 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→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 DTE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到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DTE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接收信号时钟。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为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DTE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的信号接收提供定时信号。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7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RL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DTE 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→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 DCE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远程回送。用于测试，指示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返回传输信号。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7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LL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DTE 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→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 DCE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本地回送。指示本地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返回传输信号。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7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SBA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DTE 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→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 DCE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辅助信道发送数据。和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BA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一样，但它使用辅助信道。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1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SBB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DCE 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→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 DTE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辅助信道接收数据。和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BB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一样，但它使用辅助信道。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9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SCA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DTE 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→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 DCE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辅助信道请求发送。和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CA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一样，但它使用辅助信道。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SCB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DCE 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→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 DTE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辅助信道清除待发送。和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CB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一样，但它使用辅助信道。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8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SCF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DCE 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→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 DTE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辅助信道数据载波检测。和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CF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一样，但它使用辅助信道。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08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TM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DCE 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→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 DTE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测试模式。表示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DCE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处于测试模式。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2030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4D94B-A5A3-4E1C-849F-DAC55C789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规程特性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212B34-4713-4F04-8397-BBDEBD711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描述</a:t>
            </a:r>
            <a:r>
              <a:rPr lang="en-US" altLang="zh-CN" dirty="0"/>
              <a:t>232</a:t>
            </a:r>
            <a:r>
              <a:rPr lang="zh-CN" altLang="en-US" dirty="0"/>
              <a:t>串行通信的规程，同步全双工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3D8141-E82B-4816-9746-E23B18AA7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+mn-ea"/>
                <a:ea typeface="+mn-ea"/>
              </a:rPr>
              <a:pPr>
                <a:defRPr/>
              </a:pPr>
              <a:t>37</a:t>
            </a:fld>
            <a:endParaRPr lang="en-US" altLang="zh-CN" dirty="0">
              <a:latin typeface="+mn-ea"/>
              <a:ea typeface="+mn-ea"/>
            </a:endParaRPr>
          </a:p>
        </p:txBody>
      </p:sp>
      <p:grpSp>
        <p:nvGrpSpPr>
          <p:cNvPr id="189" name="Group 135">
            <a:extLst>
              <a:ext uri="{FF2B5EF4-FFF2-40B4-BE49-F238E27FC236}">
                <a16:creationId xmlns:a16="http://schemas.microsoft.com/office/drawing/2014/main" id="{BEE6793C-873F-43B1-B8F8-2E9225AFC90C}"/>
              </a:ext>
            </a:extLst>
          </p:cNvPr>
          <p:cNvGrpSpPr>
            <a:grpSpLocks/>
          </p:cNvGrpSpPr>
          <p:nvPr/>
        </p:nvGrpSpPr>
        <p:grpSpPr bwMode="auto">
          <a:xfrm>
            <a:off x="3146747" y="2621305"/>
            <a:ext cx="631825" cy="4148137"/>
            <a:chOff x="573" y="1537"/>
            <a:chExt cx="398" cy="2613"/>
          </a:xfrm>
        </p:grpSpPr>
        <p:sp>
          <p:nvSpPr>
            <p:cNvPr id="190" name="Freeform 15">
              <a:extLst>
                <a:ext uri="{FF2B5EF4-FFF2-40B4-BE49-F238E27FC236}">
                  <a16:creationId xmlns:a16="http://schemas.microsoft.com/office/drawing/2014/main" id="{FC1301F7-3935-4266-8BAA-20F6E7E01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" y="1541"/>
              <a:ext cx="358" cy="2609"/>
            </a:xfrm>
            <a:custGeom>
              <a:avLst/>
              <a:gdLst>
                <a:gd name="T0" fmla="*/ 7 w 60"/>
                <a:gd name="T1" fmla="*/ 0 h 510"/>
                <a:gd name="T2" fmla="*/ 0 w 60"/>
                <a:gd name="T3" fmla="*/ 7 h 510"/>
                <a:gd name="T4" fmla="*/ 0 w 60"/>
                <a:gd name="T5" fmla="*/ 502 h 510"/>
                <a:gd name="T6" fmla="*/ 7 w 60"/>
                <a:gd name="T7" fmla="*/ 510 h 510"/>
                <a:gd name="T8" fmla="*/ 52 w 60"/>
                <a:gd name="T9" fmla="*/ 510 h 510"/>
                <a:gd name="T10" fmla="*/ 60 w 60"/>
                <a:gd name="T11" fmla="*/ 502 h 510"/>
                <a:gd name="T12" fmla="*/ 60 w 60"/>
                <a:gd name="T13" fmla="*/ 7 h 510"/>
                <a:gd name="T14" fmla="*/ 52 w 60"/>
                <a:gd name="T15" fmla="*/ 0 h 510"/>
                <a:gd name="T16" fmla="*/ 7 w 60"/>
                <a:gd name="T17" fmla="*/ 0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510">
                  <a:moveTo>
                    <a:pt x="7" y="0"/>
                  </a:moveTo>
                  <a:cubicBezTo>
                    <a:pt x="3" y="0"/>
                    <a:pt x="0" y="3"/>
                    <a:pt x="0" y="7"/>
                  </a:cubicBezTo>
                  <a:lnTo>
                    <a:pt x="0" y="502"/>
                  </a:lnTo>
                  <a:cubicBezTo>
                    <a:pt x="0" y="507"/>
                    <a:pt x="3" y="510"/>
                    <a:pt x="7" y="510"/>
                  </a:cubicBezTo>
                  <a:lnTo>
                    <a:pt x="52" y="510"/>
                  </a:lnTo>
                  <a:cubicBezTo>
                    <a:pt x="57" y="510"/>
                    <a:pt x="60" y="507"/>
                    <a:pt x="60" y="502"/>
                  </a:cubicBezTo>
                  <a:lnTo>
                    <a:pt x="60" y="7"/>
                  </a:lnTo>
                  <a:cubicBezTo>
                    <a:pt x="60" y="3"/>
                    <a:pt x="57" y="0"/>
                    <a:pt x="52" y="0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C0C0C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91" name="Oval 16">
              <a:extLst>
                <a:ext uri="{FF2B5EF4-FFF2-40B4-BE49-F238E27FC236}">
                  <a16:creationId xmlns:a16="http://schemas.microsoft.com/office/drawing/2014/main" id="{2200A9FA-EB6A-4666-8386-5038E7E18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1592"/>
              <a:ext cx="103" cy="103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192" name="Oval 17">
              <a:extLst>
                <a:ext uri="{FF2B5EF4-FFF2-40B4-BE49-F238E27FC236}">
                  <a16:creationId xmlns:a16="http://schemas.microsoft.com/office/drawing/2014/main" id="{7C03181B-CFE7-484A-B012-CDA76CF6FE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1746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193" name="Oval 18">
              <a:extLst>
                <a:ext uri="{FF2B5EF4-FFF2-40B4-BE49-F238E27FC236}">
                  <a16:creationId xmlns:a16="http://schemas.microsoft.com/office/drawing/2014/main" id="{EC73FB50-E8AF-4716-A1D5-4CE46AF2E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1967"/>
              <a:ext cx="103" cy="103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194" name="Oval 19">
              <a:extLst>
                <a:ext uri="{FF2B5EF4-FFF2-40B4-BE49-F238E27FC236}">
                  <a16:creationId xmlns:a16="http://schemas.microsoft.com/office/drawing/2014/main" id="{D692890B-B9A6-4A7D-8E26-283E622FB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2121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195" name="Oval 20">
              <a:extLst>
                <a:ext uri="{FF2B5EF4-FFF2-40B4-BE49-F238E27FC236}">
                  <a16:creationId xmlns:a16="http://schemas.microsoft.com/office/drawing/2014/main" id="{B992CE53-874F-48C7-B62F-E2D7DAF95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2370"/>
              <a:ext cx="103" cy="103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196" name="Oval 21">
              <a:extLst>
                <a:ext uri="{FF2B5EF4-FFF2-40B4-BE49-F238E27FC236}">
                  <a16:creationId xmlns:a16="http://schemas.microsoft.com/office/drawing/2014/main" id="{090A9186-42D0-45C0-B9B8-581913698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2524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197" name="Oval 22">
              <a:extLst>
                <a:ext uri="{FF2B5EF4-FFF2-40B4-BE49-F238E27FC236}">
                  <a16:creationId xmlns:a16="http://schemas.microsoft.com/office/drawing/2014/main" id="{B687DCE5-A928-43C8-8B87-6D1E7AF3F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2677"/>
              <a:ext cx="103" cy="103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198" name="Oval 23">
              <a:extLst>
                <a:ext uri="{FF2B5EF4-FFF2-40B4-BE49-F238E27FC236}">
                  <a16:creationId xmlns:a16="http://schemas.microsoft.com/office/drawing/2014/main" id="{6F9FA554-130F-4A89-B06D-D1F54E4B3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2916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199" name="Oval 24">
              <a:extLst>
                <a:ext uri="{FF2B5EF4-FFF2-40B4-BE49-F238E27FC236}">
                  <a16:creationId xmlns:a16="http://schemas.microsoft.com/office/drawing/2014/main" id="{46FC988B-B1AE-4B10-9FB4-509C49933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3069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00" name="Oval 25">
              <a:extLst>
                <a:ext uri="{FF2B5EF4-FFF2-40B4-BE49-F238E27FC236}">
                  <a16:creationId xmlns:a16="http://schemas.microsoft.com/office/drawing/2014/main" id="{E28ECA62-5554-4969-83FF-4EF25317EB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3222"/>
              <a:ext cx="103" cy="103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01" name="Oval 26">
              <a:extLst>
                <a:ext uri="{FF2B5EF4-FFF2-40B4-BE49-F238E27FC236}">
                  <a16:creationId xmlns:a16="http://schemas.microsoft.com/office/drawing/2014/main" id="{AF6FD201-19BB-450B-AD4F-1477434241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3376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02" name="Oval 27">
              <a:extLst>
                <a:ext uri="{FF2B5EF4-FFF2-40B4-BE49-F238E27FC236}">
                  <a16:creationId xmlns:a16="http://schemas.microsoft.com/office/drawing/2014/main" id="{EE901FD9-228E-4A9C-AFF7-D024EE460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3639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03" name="Oval 28">
              <a:extLst>
                <a:ext uri="{FF2B5EF4-FFF2-40B4-BE49-F238E27FC236}">
                  <a16:creationId xmlns:a16="http://schemas.microsoft.com/office/drawing/2014/main" id="{9922B477-ED6B-4B0E-B8AC-C37FACDC4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3792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04" name="Oval 29">
              <a:extLst>
                <a:ext uri="{FF2B5EF4-FFF2-40B4-BE49-F238E27FC236}">
                  <a16:creationId xmlns:a16="http://schemas.microsoft.com/office/drawing/2014/main" id="{D231DD56-BEB4-46B7-ACE8-4B17D3AE6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3947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05" name="Text Box 31">
              <a:extLst>
                <a:ext uri="{FF2B5EF4-FFF2-40B4-BE49-F238E27FC236}">
                  <a16:creationId xmlns:a16="http://schemas.microsoft.com/office/drawing/2014/main" id="{1887A431-8408-46E7-8A21-095E9E439B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1537"/>
              <a:ext cx="23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206" name="Text Box 33">
              <a:extLst>
                <a:ext uri="{FF2B5EF4-FFF2-40B4-BE49-F238E27FC236}">
                  <a16:creationId xmlns:a16="http://schemas.microsoft.com/office/drawing/2014/main" id="{08644F40-2D89-45DF-BAB1-050EA09A68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" y="1706"/>
              <a:ext cx="22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7</a:t>
              </a:r>
            </a:p>
          </p:txBody>
        </p:sp>
        <p:sp>
          <p:nvSpPr>
            <p:cNvPr id="207" name="Text Box 34">
              <a:extLst>
                <a:ext uri="{FF2B5EF4-FFF2-40B4-BE49-F238E27FC236}">
                  <a16:creationId xmlns:a16="http://schemas.microsoft.com/office/drawing/2014/main" id="{F3F27495-2C12-4554-9E15-DA68E0F4FE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" y="1918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20</a:t>
              </a:r>
            </a:p>
          </p:txBody>
        </p:sp>
        <p:sp>
          <p:nvSpPr>
            <p:cNvPr id="208" name="Text Box 35">
              <a:extLst>
                <a:ext uri="{FF2B5EF4-FFF2-40B4-BE49-F238E27FC236}">
                  <a16:creationId xmlns:a16="http://schemas.microsoft.com/office/drawing/2014/main" id="{2D56AD26-DF80-4807-8200-2F32901FAF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" y="2069"/>
              <a:ext cx="22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6</a:t>
              </a:r>
            </a:p>
          </p:txBody>
        </p:sp>
        <p:sp>
          <p:nvSpPr>
            <p:cNvPr id="209" name="Text Box 36">
              <a:extLst>
                <a:ext uri="{FF2B5EF4-FFF2-40B4-BE49-F238E27FC236}">
                  <a16:creationId xmlns:a16="http://schemas.microsoft.com/office/drawing/2014/main" id="{EDD44CBA-718F-4E9E-AAF5-F6A2AB27C9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" y="2317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4</a:t>
              </a:r>
            </a:p>
          </p:txBody>
        </p:sp>
        <p:sp>
          <p:nvSpPr>
            <p:cNvPr id="210" name="Text Box 37">
              <a:extLst>
                <a:ext uri="{FF2B5EF4-FFF2-40B4-BE49-F238E27FC236}">
                  <a16:creationId xmlns:a16="http://schemas.microsoft.com/office/drawing/2014/main" id="{2E48E978-4FA2-4D8F-AFFF-7EF10B738A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" y="2478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5</a:t>
              </a:r>
            </a:p>
          </p:txBody>
        </p:sp>
        <p:sp>
          <p:nvSpPr>
            <p:cNvPr id="211" name="Text Box 38">
              <a:extLst>
                <a:ext uri="{FF2B5EF4-FFF2-40B4-BE49-F238E27FC236}">
                  <a16:creationId xmlns:a16="http://schemas.microsoft.com/office/drawing/2014/main" id="{5422A8E1-5933-4BA6-BCC2-66BEEFCCA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" y="2626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8</a:t>
              </a:r>
            </a:p>
          </p:txBody>
        </p:sp>
        <p:sp>
          <p:nvSpPr>
            <p:cNvPr id="212" name="Text Box 39">
              <a:extLst>
                <a:ext uri="{FF2B5EF4-FFF2-40B4-BE49-F238E27FC236}">
                  <a16:creationId xmlns:a16="http://schemas.microsoft.com/office/drawing/2014/main" id="{2122CC4C-4C10-4430-96FF-8020D00BC7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" y="2874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213" name="Text Box 40">
              <a:extLst>
                <a:ext uri="{FF2B5EF4-FFF2-40B4-BE49-F238E27FC236}">
                  <a16:creationId xmlns:a16="http://schemas.microsoft.com/office/drawing/2014/main" id="{029E3E90-7C3A-471F-85FB-6540FBB762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" y="3035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24</a:t>
              </a:r>
            </a:p>
          </p:txBody>
        </p:sp>
        <p:sp>
          <p:nvSpPr>
            <p:cNvPr id="214" name="Text Box 41">
              <a:extLst>
                <a:ext uri="{FF2B5EF4-FFF2-40B4-BE49-F238E27FC236}">
                  <a16:creationId xmlns:a16="http://schemas.microsoft.com/office/drawing/2014/main" id="{FE1BE1D1-271C-48A8-8D50-80A67FD228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" y="3183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3</a:t>
              </a:r>
            </a:p>
          </p:txBody>
        </p:sp>
        <p:sp>
          <p:nvSpPr>
            <p:cNvPr id="215" name="Text Box 42">
              <a:extLst>
                <a:ext uri="{FF2B5EF4-FFF2-40B4-BE49-F238E27FC236}">
                  <a16:creationId xmlns:a16="http://schemas.microsoft.com/office/drawing/2014/main" id="{9B715A4B-7273-4127-AD38-24DCAB7526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" y="3319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17</a:t>
              </a:r>
            </a:p>
          </p:txBody>
        </p:sp>
        <p:sp>
          <p:nvSpPr>
            <p:cNvPr id="216" name="Text Box 45">
              <a:extLst>
                <a:ext uri="{FF2B5EF4-FFF2-40B4-BE49-F238E27FC236}">
                  <a16:creationId xmlns:a16="http://schemas.microsoft.com/office/drawing/2014/main" id="{04C583B6-2601-4A22-A8EC-47C69DFA48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" y="3584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4</a:t>
              </a:r>
            </a:p>
          </p:txBody>
        </p:sp>
        <p:sp>
          <p:nvSpPr>
            <p:cNvPr id="217" name="Text Box 46">
              <a:extLst>
                <a:ext uri="{FF2B5EF4-FFF2-40B4-BE49-F238E27FC236}">
                  <a16:creationId xmlns:a16="http://schemas.microsoft.com/office/drawing/2014/main" id="{839FF1CB-7E63-4E21-AAA4-0816F31E68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" y="3745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5</a:t>
              </a:r>
            </a:p>
          </p:txBody>
        </p:sp>
        <p:sp>
          <p:nvSpPr>
            <p:cNvPr id="218" name="Text Box 47">
              <a:extLst>
                <a:ext uri="{FF2B5EF4-FFF2-40B4-BE49-F238E27FC236}">
                  <a16:creationId xmlns:a16="http://schemas.microsoft.com/office/drawing/2014/main" id="{3CAC43A2-8710-4A36-9AA4-1BC9FDB5D6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" y="3893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8</a:t>
              </a:r>
            </a:p>
          </p:txBody>
        </p:sp>
      </p:grpSp>
      <p:grpSp>
        <p:nvGrpSpPr>
          <p:cNvPr id="219" name="Group 136">
            <a:extLst>
              <a:ext uri="{FF2B5EF4-FFF2-40B4-BE49-F238E27FC236}">
                <a16:creationId xmlns:a16="http://schemas.microsoft.com/office/drawing/2014/main" id="{1CE42084-6C31-4613-9AF7-C1E34A671A77}"/>
              </a:ext>
            </a:extLst>
          </p:cNvPr>
          <p:cNvGrpSpPr>
            <a:grpSpLocks/>
          </p:cNvGrpSpPr>
          <p:nvPr/>
        </p:nvGrpSpPr>
        <p:grpSpPr bwMode="auto">
          <a:xfrm>
            <a:off x="4505647" y="2619717"/>
            <a:ext cx="655638" cy="4148138"/>
            <a:chOff x="1429" y="1519"/>
            <a:chExt cx="413" cy="2613"/>
          </a:xfrm>
        </p:grpSpPr>
        <p:sp>
          <p:nvSpPr>
            <p:cNvPr id="220" name="Freeform 48">
              <a:extLst>
                <a:ext uri="{FF2B5EF4-FFF2-40B4-BE49-F238E27FC236}">
                  <a16:creationId xmlns:a16="http://schemas.microsoft.com/office/drawing/2014/main" id="{477AA563-FEA0-4517-9723-C5B3A791664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429" y="1523"/>
              <a:ext cx="358" cy="2609"/>
            </a:xfrm>
            <a:custGeom>
              <a:avLst/>
              <a:gdLst>
                <a:gd name="T0" fmla="*/ 7 w 60"/>
                <a:gd name="T1" fmla="*/ 0 h 510"/>
                <a:gd name="T2" fmla="*/ 0 w 60"/>
                <a:gd name="T3" fmla="*/ 7 h 510"/>
                <a:gd name="T4" fmla="*/ 0 w 60"/>
                <a:gd name="T5" fmla="*/ 502 h 510"/>
                <a:gd name="T6" fmla="*/ 7 w 60"/>
                <a:gd name="T7" fmla="*/ 510 h 510"/>
                <a:gd name="T8" fmla="*/ 52 w 60"/>
                <a:gd name="T9" fmla="*/ 510 h 510"/>
                <a:gd name="T10" fmla="*/ 60 w 60"/>
                <a:gd name="T11" fmla="*/ 502 h 510"/>
                <a:gd name="T12" fmla="*/ 60 w 60"/>
                <a:gd name="T13" fmla="*/ 7 h 510"/>
                <a:gd name="T14" fmla="*/ 52 w 60"/>
                <a:gd name="T15" fmla="*/ 0 h 510"/>
                <a:gd name="T16" fmla="*/ 7 w 60"/>
                <a:gd name="T17" fmla="*/ 0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510">
                  <a:moveTo>
                    <a:pt x="7" y="0"/>
                  </a:moveTo>
                  <a:cubicBezTo>
                    <a:pt x="3" y="0"/>
                    <a:pt x="0" y="3"/>
                    <a:pt x="0" y="7"/>
                  </a:cubicBezTo>
                  <a:lnTo>
                    <a:pt x="0" y="502"/>
                  </a:lnTo>
                  <a:cubicBezTo>
                    <a:pt x="0" y="507"/>
                    <a:pt x="3" y="510"/>
                    <a:pt x="7" y="510"/>
                  </a:cubicBezTo>
                  <a:lnTo>
                    <a:pt x="52" y="510"/>
                  </a:lnTo>
                  <a:cubicBezTo>
                    <a:pt x="57" y="510"/>
                    <a:pt x="60" y="507"/>
                    <a:pt x="60" y="502"/>
                  </a:cubicBezTo>
                  <a:lnTo>
                    <a:pt x="60" y="7"/>
                  </a:lnTo>
                  <a:cubicBezTo>
                    <a:pt x="60" y="3"/>
                    <a:pt x="57" y="0"/>
                    <a:pt x="52" y="0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C0C0C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21" name="Oval 49">
              <a:extLst>
                <a:ext uri="{FF2B5EF4-FFF2-40B4-BE49-F238E27FC236}">
                  <a16:creationId xmlns:a16="http://schemas.microsoft.com/office/drawing/2014/main" id="{F4D61C9E-D763-4036-AADB-4119A670A54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485" y="1574"/>
              <a:ext cx="103" cy="103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22" name="Oval 50">
              <a:extLst>
                <a:ext uri="{FF2B5EF4-FFF2-40B4-BE49-F238E27FC236}">
                  <a16:creationId xmlns:a16="http://schemas.microsoft.com/office/drawing/2014/main" id="{22A8FAF6-39EB-4D3C-AC1D-74B67EB4E34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485" y="1728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23" name="Oval 51">
              <a:extLst>
                <a:ext uri="{FF2B5EF4-FFF2-40B4-BE49-F238E27FC236}">
                  <a16:creationId xmlns:a16="http://schemas.microsoft.com/office/drawing/2014/main" id="{E00BDC3E-EC7C-4047-B43E-436E44780C4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485" y="1949"/>
              <a:ext cx="103" cy="103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24" name="Oval 52">
              <a:extLst>
                <a:ext uri="{FF2B5EF4-FFF2-40B4-BE49-F238E27FC236}">
                  <a16:creationId xmlns:a16="http://schemas.microsoft.com/office/drawing/2014/main" id="{A80342D4-4FBF-4F60-8F1C-1A909C52892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485" y="2103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25" name="Oval 53">
              <a:extLst>
                <a:ext uri="{FF2B5EF4-FFF2-40B4-BE49-F238E27FC236}">
                  <a16:creationId xmlns:a16="http://schemas.microsoft.com/office/drawing/2014/main" id="{9B55BD8B-6288-4C2C-B242-EACEF999FB1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485" y="2352"/>
              <a:ext cx="103" cy="103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26" name="Oval 54">
              <a:extLst>
                <a:ext uri="{FF2B5EF4-FFF2-40B4-BE49-F238E27FC236}">
                  <a16:creationId xmlns:a16="http://schemas.microsoft.com/office/drawing/2014/main" id="{356BC8ED-BD0D-4202-A46A-B7014D48D85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485" y="2506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27" name="Oval 55">
              <a:extLst>
                <a:ext uri="{FF2B5EF4-FFF2-40B4-BE49-F238E27FC236}">
                  <a16:creationId xmlns:a16="http://schemas.microsoft.com/office/drawing/2014/main" id="{238DBC75-0F13-4FC6-894B-73D5F7CF712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485" y="2659"/>
              <a:ext cx="103" cy="103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28" name="Oval 56">
              <a:extLst>
                <a:ext uri="{FF2B5EF4-FFF2-40B4-BE49-F238E27FC236}">
                  <a16:creationId xmlns:a16="http://schemas.microsoft.com/office/drawing/2014/main" id="{ED11AE1B-25BE-4F9E-9FD0-CC309A0FF5B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485" y="2898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29" name="Oval 57">
              <a:extLst>
                <a:ext uri="{FF2B5EF4-FFF2-40B4-BE49-F238E27FC236}">
                  <a16:creationId xmlns:a16="http://schemas.microsoft.com/office/drawing/2014/main" id="{7383D77C-58C1-477E-863C-D151CE56369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485" y="3051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30" name="Oval 58">
              <a:extLst>
                <a:ext uri="{FF2B5EF4-FFF2-40B4-BE49-F238E27FC236}">
                  <a16:creationId xmlns:a16="http://schemas.microsoft.com/office/drawing/2014/main" id="{1EE718F1-C235-45A3-A6F7-F13C1A9282C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485" y="3204"/>
              <a:ext cx="103" cy="103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31" name="Oval 59">
              <a:extLst>
                <a:ext uri="{FF2B5EF4-FFF2-40B4-BE49-F238E27FC236}">
                  <a16:creationId xmlns:a16="http://schemas.microsoft.com/office/drawing/2014/main" id="{54AFCAA7-051E-4B2E-BFB0-F040114E88A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485" y="3358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32" name="Oval 60">
              <a:extLst>
                <a:ext uri="{FF2B5EF4-FFF2-40B4-BE49-F238E27FC236}">
                  <a16:creationId xmlns:a16="http://schemas.microsoft.com/office/drawing/2014/main" id="{56EA6CE6-AC3D-4771-B588-9C0CF8C05AF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485" y="3621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33" name="Oval 61">
              <a:extLst>
                <a:ext uri="{FF2B5EF4-FFF2-40B4-BE49-F238E27FC236}">
                  <a16:creationId xmlns:a16="http://schemas.microsoft.com/office/drawing/2014/main" id="{63283F22-8B07-4C02-8BD2-91F0F6AE569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485" y="3774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34" name="Oval 62">
              <a:extLst>
                <a:ext uri="{FF2B5EF4-FFF2-40B4-BE49-F238E27FC236}">
                  <a16:creationId xmlns:a16="http://schemas.microsoft.com/office/drawing/2014/main" id="{9B2FC243-D844-4387-A2F5-0746A69F4DC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485" y="3929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35" name="Text Box 63">
              <a:extLst>
                <a:ext uri="{FF2B5EF4-FFF2-40B4-BE49-F238E27FC236}">
                  <a16:creationId xmlns:a16="http://schemas.microsoft.com/office/drawing/2014/main" id="{6C3EFBCD-47DE-47B9-8C06-DF8EDDC63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570" y="1519"/>
              <a:ext cx="23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236" name="Text Box 64">
              <a:extLst>
                <a:ext uri="{FF2B5EF4-FFF2-40B4-BE49-F238E27FC236}">
                  <a16:creationId xmlns:a16="http://schemas.microsoft.com/office/drawing/2014/main" id="{30EBBEB6-1984-458A-B3F6-EFD30AF926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570" y="1688"/>
              <a:ext cx="22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7</a:t>
              </a:r>
            </a:p>
          </p:txBody>
        </p:sp>
        <p:sp>
          <p:nvSpPr>
            <p:cNvPr id="237" name="Text Box 65">
              <a:extLst>
                <a:ext uri="{FF2B5EF4-FFF2-40B4-BE49-F238E27FC236}">
                  <a16:creationId xmlns:a16="http://schemas.microsoft.com/office/drawing/2014/main" id="{6F6327E3-3F8A-4CE3-8C50-9568DD5F06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570" y="1900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20</a:t>
              </a:r>
            </a:p>
          </p:txBody>
        </p:sp>
        <p:sp>
          <p:nvSpPr>
            <p:cNvPr id="238" name="Text Box 66">
              <a:extLst>
                <a:ext uri="{FF2B5EF4-FFF2-40B4-BE49-F238E27FC236}">
                  <a16:creationId xmlns:a16="http://schemas.microsoft.com/office/drawing/2014/main" id="{698B1025-40E7-4D67-AAC7-35B596E0BB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570" y="2051"/>
              <a:ext cx="22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6</a:t>
              </a:r>
            </a:p>
          </p:txBody>
        </p:sp>
        <p:sp>
          <p:nvSpPr>
            <p:cNvPr id="239" name="Text Box 67">
              <a:extLst>
                <a:ext uri="{FF2B5EF4-FFF2-40B4-BE49-F238E27FC236}">
                  <a16:creationId xmlns:a16="http://schemas.microsoft.com/office/drawing/2014/main" id="{93B346FB-434F-4BAE-A58F-37222C9D4D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570" y="2299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4</a:t>
              </a:r>
            </a:p>
          </p:txBody>
        </p:sp>
        <p:sp>
          <p:nvSpPr>
            <p:cNvPr id="240" name="Text Box 68">
              <a:extLst>
                <a:ext uri="{FF2B5EF4-FFF2-40B4-BE49-F238E27FC236}">
                  <a16:creationId xmlns:a16="http://schemas.microsoft.com/office/drawing/2014/main" id="{2C306857-0DA5-409D-8A48-BB5547EA6B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570" y="2460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5</a:t>
              </a:r>
            </a:p>
          </p:txBody>
        </p:sp>
        <p:sp>
          <p:nvSpPr>
            <p:cNvPr id="241" name="Text Box 69">
              <a:extLst>
                <a:ext uri="{FF2B5EF4-FFF2-40B4-BE49-F238E27FC236}">
                  <a16:creationId xmlns:a16="http://schemas.microsoft.com/office/drawing/2014/main" id="{4A398213-C3F6-4830-98F4-634C2DF70A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570" y="2608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8</a:t>
              </a:r>
            </a:p>
          </p:txBody>
        </p:sp>
        <p:sp>
          <p:nvSpPr>
            <p:cNvPr id="242" name="Text Box 70">
              <a:extLst>
                <a:ext uri="{FF2B5EF4-FFF2-40B4-BE49-F238E27FC236}">
                  <a16:creationId xmlns:a16="http://schemas.microsoft.com/office/drawing/2014/main" id="{E1FD764E-0032-4C85-B0F9-D5E419D236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570" y="2856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243" name="Text Box 71">
              <a:extLst>
                <a:ext uri="{FF2B5EF4-FFF2-40B4-BE49-F238E27FC236}">
                  <a16:creationId xmlns:a16="http://schemas.microsoft.com/office/drawing/2014/main" id="{671215E9-A5B2-4874-8BA7-01F4A23416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570" y="3017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24</a:t>
              </a:r>
            </a:p>
          </p:txBody>
        </p:sp>
        <p:sp>
          <p:nvSpPr>
            <p:cNvPr id="244" name="Text Box 72">
              <a:extLst>
                <a:ext uri="{FF2B5EF4-FFF2-40B4-BE49-F238E27FC236}">
                  <a16:creationId xmlns:a16="http://schemas.microsoft.com/office/drawing/2014/main" id="{F0A5F1B1-8283-40CB-909C-F75B525D8E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570" y="3165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3</a:t>
              </a:r>
            </a:p>
          </p:txBody>
        </p:sp>
        <p:sp>
          <p:nvSpPr>
            <p:cNvPr id="245" name="Text Box 73">
              <a:extLst>
                <a:ext uri="{FF2B5EF4-FFF2-40B4-BE49-F238E27FC236}">
                  <a16:creationId xmlns:a16="http://schemas.microsoft.com/office/drawing/2014/main" id="{61E244FA-6DF6-4616-B6D2-526215D678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570" y="3301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17</a:t>
              </a:r>
            </a:p>
          </p:txBody>
        </p:sp>
        <p:sp>
          <p:nvSpPr>
            <p:cNvPr id="246" name="Text Box 74">
              <a:extLst>
                <a:ext uri="{FF2B5EF4-FFF2-40B4-BE49-F238E27FC236}">
                  <a16:creationId xmlns:a16="http://schemas.microsoft.com/office/drawing/2014/main" id="{B51135FF-BA73-4169-BCA3-6ECFC9F365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570" y="3566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4</a:t>
              </a:r>
            </a:p>
          </p:txBody>
        </p:sp>
        <p:sp>
          <p:nvSpPr>
            <p:cNvPr id="247" name="Text Box 75">
              <a:extLst>
                <a:ext uri="{FF2B5EF4-FFF2-40B4-BE49-F238E27FC236}">
                  <a16:creationId xmlns:a16="http://schemas.microsoft.com/office/drawing/2014/main" id="{0F71CC5D-B5FB-4A86-B9BF-ACD7C43E9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570" y="3727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5</a:t>
              </a:r>
            </a:p>
          </p:txBody>
        </p:sp>
        <p:sp>
          <p:nvSpPr>
            <p:cNvPr id="248" name="Text Box 76">
              <a:extLst>
                <a:ext uri="{FF2B5EF4-FFF2-40B4-BE49-F238E27FC236}">
                  <a16:creationId xmlns:a16="http://schemas.microsoft.com/office/drawing/2014/main" id="{143626D2-7820-45EA-A349-8090DAAD4E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570" y="3875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8</a:t>
              </a:r>
            </a:p>
          </p:txBody>
        </p:sp>
      </p:grpSp>
      <p:grpSp>
        <p:nvGrpSpPr>
          <p:cNvPr id="249" name="Group 137">
            <a:extLst>
              <a:ext uri="{FF2B5EF4-FFF2-40B4-BE49-F238E27FC236}">
                <a16:creationId xmlns:a16="http://schemas.microsoft.com/office/drawing/2014/main" id="{66D87D81-4AC7-434E-A615-FBC327A2C71E}"/>
              </a:ext>
            </a:extLst>
          </p:cNvPr>
          <p:cNvGrpSpPr>
            <a:grpSpLocks/>
          </p:cNvGrpSpPr>
          <p:nvPr/>
        </p:nvGrpSpPr>
        <p:grpSpPr bwMode="auto">
          <a:xfrm>
            <a:off x="7529835" y="2621305"/>
            <a:ext cx="631825" cy="4148137"/>
            <a:chOff x="4151" y="1542"/>
            <a:chExt cx="398" cy="2613"/>
          </a:xfrm>
        </p:grpSpPr>
        <p:sp>
          <p:nvSpPr>
            <p:cNvPr id="250" name="Freeform 77">
              <a:extLst>
                <a:ext uri="{FF2B5EF4-FFF2-40B4-BE49-F238E27FC236}">
                  <a16:creationId xmlns:a16="http://schemas.microsoft.com/office/drawing/2014/main" id="{A2386341-73D0-4DFC-A9EB-EC9A5637E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" y="1546"/>
              <a:ext cx="358" cy="2609"/>
            </a:xfrm>
            <a:custGeom>
              <a:avLst/>
              <a:gdLst>
                <a:gd name="T0" fmla="*/ 7 w 60"/>
                <a:gd name="T1" fmla="*/ 0 h 510"/>
                <a:gd name="T2" fmla="*/ 0 w 60"/>
                <a:gd name="T3" fmla="*/ 7 h 510"/>
                <a:gd name="T4" fmla="*/ 0 w 60"/>
                <a:gd name="T5" fmla="*/ 502 h 510"/>
                <a:gd name="T6" fmla="*/ 7 w 60"/>
                <a:gd name="T7" fmla="*/ 510 h 510"/>
                <a:gd name="T8" fmla="*/ 52 w 60"/>
                <a:gd name="T9" fmla="*/ 510 h 510"/>
                <a:gd name="T10" fmla="*/ 60 w 60"/>
                <a:gd name="T11" fmla="*/ 502 h 510"/>
                <a:gd name="T12" fmla="*/ 60 w 60"/>
                <a:gd name="T13" fmla="*/ 7 h 510"/>
                <a:gd name="T14" fmla="*/ 52 w 60"/>
                <a:gd name="T15" fmla="*/ 0 h 510"/>
                <a:gd name="T16" fmla="*/ 7 w 60"/>
                <a:gd name="T17" fmla="*/ 0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510">
                  <a:moveTo>
                    <a:pt x="7" y="0"/>
                  </a:moveTo>
                  <a:cubicBezTo>
                    <a:pt x="3" y="0"/>
                    <a:pt x="0" y="3"/>
                    <a:pt x="0" y="7"/>
                  </a:cubicBezTo>
                  <a:lnTo>
                    <a:pt x="0" y="502"/>
                  </a:lnTo>
                  <a:cubicBezTo>
                    <a:pt x="0" y="507"/>
                    <a:pt x="3" y="510"/>
                    <a:pt x="7" y="510"/>
                  </a:cubicBezTo>
                  <a:lnTo>
                    <a:pt x="52" y="510"/>
                  </a:lnTo>
                  <a:cubicBezTo>
                    <a:pt x="57" y="510"/>
                    <a:pt x="60" y="507"/>
                    <a:pt x="60" y="502"/>
                  </a:cubicBezTo>
                  <a:lnTo>
                    <a:pt x="60" y="7"/>
                  </a:lnTo>
                  <a:cubicBezTo>
                    <a:pt x="60" y="3"/>
                    <a:pt x="57" y="0"/>
                    <a:pt x="52" y="0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C0C0C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51" name="Oval 78">
              <a:extLst>
                <a:ext uri="{FF2B5EF4-FFF2-40B4-BE49-F238E27FC236}">
                  <a16:creationId xmlns:a16="http://schemas.microsoft.com/office/drawing/2014/main" id="{42C53A56-1B3E-42F6-ABE3-235A15A46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" y="1597"/>
              <a:ext cx="103" cy="103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52" name="Oval 79">
              <a:extLst>
                <a:ext uri="{FF2B5EF4-FFF2-40B4-BE49-F238E27FC236}">
                  <a16:creationId xmlns:a16="http://schemas.microsoft.com/office/drawing/2014/main" id="{8A95B539-8FE3-4846-8235-B8EF213BEA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" y="1751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53" name="Oval 80">
              <a:extLst>
                <a:ext uri="{FF2B5EF4-FFF2-40B4-BE49-F238E27FC236}">
                  <a16:creationId xmlns:a16="http://schemas.microsoft.com/office/drawing/2014/main" id="{52867B7C-CC30-4EE5-A0E8-F20AF9864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" y="1972"/>
              <a:ext cx="103" cy="103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54" name="Oval 81">
              <a:extLst>
                <a:ext uri="{FF2B5EF4-FFF2-40B4-BE49-F238E27FC236}">
                  <a16:creationId xmlns:a16="http://schemas.microsoft.com/office/drawing/2014/main" id="{4D8CBE2C-4948-40FA-AC01-392C3A650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" y="2126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55" name="Oval 82">
              <a:extLst>
                <a:ext uri="{FF2B5EF4-FFF2-40B4-BE49-F238E27FC236}">
                  <a16:creationId xmlns:a16="http://schemas.microsoft.com/office/drawing/2014/main" id="{47D9E871-5EE7-40A5-BD66-4CB70E179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" y="2375"/>
              <a:ext cx="103" cy="103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56" name="Oval 83">
              <a:extLst>
                <a:ext uri="{FF2B5EF4-FFF2-40B4-BE49-F238E27FC236}">
                  <a16:creationId xmlns:a16="http://schemas.microsoft.com/office/drawing/2014/main" id="{95A0A424-AB66-4AD0-97B1-59411CBFE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" y="2529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57" name="Oval 84">
              <a:extLst>
                <a:ext uri="{FF2B5EF4-FFF2-40B4-BE49-F238E27FC236}">
                  <a16:creationId xmlns:a16="http://schemas.microsoft.com/office/drawing/2014/main" id="{70982935-052E-41F3-916D-742C2A96B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" y="2682"/>
              <a:ext cx="103" cy="103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58" name="Oval 85">
              <a:extLst>
                <a:ext uri="{FF2B5EF4-FFF2-40B4-BE49-F238E27FC236}">
                  <a16:creationId xmlns:a16="http://schemas.microsoft.com/office/drawing/2014/main" id="{FE09CF64-53C7-4D2D-9E35-7A0C1B0267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" y="2921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59" name="Oval 86">
              <a:extLst>
                <a:ext uri="{FF2B5EF4-FFF2-40B4-BE49-F238E27FC236}">
                  <a16:creationId xmlns:a16="http://schemas.microsoft.com/office/drawing/2014/main" id="{7D373A82-8C62-4C54-8647-263C4C528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" y="3074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60" name="Oval 87">
              <a:extLst>
                <a:ext uri="{FF2B5EF4-FFF2-40B4-BE49-F238E27FC236}">
                  <a16:creationId xmlns:a16="http://schemas.microsoft.com/office/drawing/2014/main" id="{01F9D2F2-F8FC-4959-B4E8-4A5F1A14F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" y="3227"/>
              <a:ext cx="103" cy="103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61" name="Oval 88">
              <a:extLst>
                <a:ext uri="{FF2B5EF4-FFF2-40B4-BE49-F238E27FC236}">
                  <a16:creationId xmlns:a16="http://schemas.microsoft.com/office/drawing/2014/main" id="{4D91FC55-7A6B-4F10-AC20-1965AC36E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" y="3381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62" name="Oval 89">
              <a:extLst>
                <a:ext uri="{FF2B5EF4-FFF2-40B4-BE49-F238E27FC236}">
                  <a16:creationId xmlns:a16="http://schemas.microsoft.com/office/drawing/2014/main" id="{0A0CEB66-BBBA-4A18-BB59-645076DE2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" y="3644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63" name="Oval 90">
              <a:extLst>
                <a:ext uri="{FF2B5EF4-FFF2-40B4-BE49-F238E27FC236}">
                  <a16:creationId xmlns:a16="http://schemas.microsoft.com/office/drawing/2014/main" id="{0FA396E3-5968-464B-AE52-4545D1290B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" y="3797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64" name="Oval 91">
              <a:extLst>
                <a:ext uri="{FF2B5EF4-FFF2-40B4-BE49-F238E27FC236}">
                  <a16:creationId xmlns:a16="http://schemas.microsoft.com/office/drawing/2014/main" id="{4AB372B0-AAFA-484C-80F0-F0217DA65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" y="3952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65" name="Text Box 92">
              <a:extLst>
                <a:ext uri="{FF2B5EF4-FFF2-40B4-BE49-F238E27FC236}">
                  <a16:creationId xmlns:a16="http://schemas.microsoft.com/office/drawing/2014/main" id="{60D683C9-ACE8-401B-99F0-82EF366230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0" y="1542"/>
              <a:ext cx="23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266" name="Text Box 93">
              <a:extLst>
                <a:ext uri="{FF2B5EF4-FFF2-40B4-BE49-F238E27FC236}">
                  <a16:creationId xmlns:a16="http://schemas.microsoft.com/office/drawing/2014/main" id="{0ECD0F34-0EBD-458E-9552-8DF38233F0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6" y="1711"/>
              <a:ext cx="22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7</a:t>
              </a:r>
            </a:p>
          </p:txBody>
        </p:sp>
        <p:sp>
          <p:nvSpPr>
            <p:cNvPr id="267" name="Text Box 94">
              <a:extLst>
                <a:ext uri="{FF2B5EF4-FFF2-40B4-BE49-F238E27FC236}">
                  <a16:creationId xmlns:a16="http://schemas.microsoft.com/office/drawing/2014/main" id="{60139B02-334F-4538-87B2-6B18B029DB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" y="1923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20</a:t>
              </a:r>
            </a:p>
          </p:txBody>
        </p:sp>
        <p:sp>
          <p:nvSpPr>
            <p:cNvPr id="268" name="Text Box 95">
              <a:extLst>
                <a:ext uri="{FF2B5EF4-FFF2-40B4-BE49-F238E27FC236}">
                  <a16:creationId xmlns:a16="http://schemas.microsoft.com/office/drawing/2014/main" id="{EF71E5FE-BA36-44BC-9E00-D313C2E5C1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6" y="2074"/>
              <a:ext cx="22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6</a:t>
              </a:r>
            </a:p>
          </p:txBody>
        </p:sp>
        <p:sp>
          <p:nvSpPr>
            <p:cNvPr id="269" name="Text Box 96">
              <a:extLst>
                <a:ext uri="{FF2B5EF4-FFF2-40B4-BE49-F238E27FC236}">
                  <a16:creationId xmlns:a16="http://schemas.microsoft.com/office/drawing/2014/main" id="{034E84D2-8764-4D97-A1B5-9A23111121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" y="2322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8</a:t>
              </a:r>
            </a:p>
          </p:txBody>
        </p:sp>
        <p:sp>
          <p:nvSpPr>
            <p:cNvPr id="270" name="Text Box 97">
              <a:extLst>
                <a:ext uri="{FF2B5EF4-FFF2-40B4-BE49-F238E27FC236}">
                  <a16:creationId xmlns:a16="http://schemas.microsoft.com/office/drawing/2014/main" id="{D8970E1F-377C-480A-BA67-2B63289E8F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" y="2483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4</a:t>
              </a:r>
            </a:p>
          </p:txBody>
        </p:sp>
        <p:sp>
          <p:nvSpPr>
            <p:cNvPr id="271" name="Text Box 98">
              <a:extLst>
                <a:ext uri="{FF2B5EF4-FFF2-40B4-BE49-F238E27FC236}">
                  <a16:creationId xmlns:a16="http://schemas.microsoft.com/office/drawing/2014/main" id="{2A54997B-1C2A-4F69-A4F1-93B01253B0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" y="2631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5</a:t>
              </a:r>
            </a:p>
          </p:txBody>
        </p:sp>
        <p:sp>
          <p:nvSpPr>
            <p:cNvPr id="272" name="Text Box 99">
              <a:extLst>
                <a:ext uri="{FF2B5EF4-FFF2-40B4-BE49-F238E27FC236}">
                  <a16:creationId xmlns:a16="http://schemas.microsoft.com/office/drawing/2014/main" id="{E015BF7B-A32D-49FC-9861-12DF483C71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" y="2879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3</a:t>
              </a:r>
            </a:p>
          </p:txBody>
        </p:sp>
        <p:sp>
          <p:nvSpPr>
            <p:cNvPr id="273" name="Text Box 100">
              <a:extLst>
                <a:ext uri="{FF2B5EF4-FFF2-40B4-BE49-F238E27FC236}">
                  <a16:creationId xmlns:a16="http://schemas.microsoft.com/office/drawing/2014/main" id="{C2C8501E-A072-436E-A8C5-4BB2B2F448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" y="3040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17</a:t>
              </a:r>
            </a:p>
          </p:txBody>
        </p:sp>
        <p:sp>
          <p:nvSpPr>
            <p:cNvPr id="274" name="Text Box 101">
              <a:extLst>
                <a:ext uri="{FF2B5EF4-FFF2-40B4-BE49-F238E27FC236}">
                  <a16:creationId xmlns:a16="http://schemas.microsoft.com/office/drawing/2014/main" id="{DD0EF4ED-97D9-45E8-8696-DC486FBF99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" y="3188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275" name="Text Box 102">
              <a:extLst>
                <a:ext uri="{FF2B5EF4-FFF2-40B4-BE49-F238E27FC236}">
                  <a16:creationId xmlns:a16="http://schemas.microsoft.com/office/drawing/2014/main" id="{04D2BB94-132C-4F01-AB05-13022D915D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" y="3324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24</a:t>
              </a:r>
            </a:p>
          </p:txBody>
        </p:sp>
        <p:sp>
          <p:nvSpPr>
            <p:cNvPr id="276" name="Text Box 103">
              <a:extLst>
                <a:ext uri="{FF2B5EF4-FFF2-40B4-BE49-F238E27FC236}">
                  <a16:creationId xmlns:a16="http://schemas.microsoft.com/office/drawing/2014/main" id="{5FFF4C13-483C-4F09-8F53-D61DB1A55A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" y="3589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8</a:t>
              </a:r>
            </a:p>
          </p:txBody>
        </p:sp>
        <p:sp>
          <p:nvSpPr>
            <p:cNvPr id="277" name="Text Box 104">
              <a:extLst>
                <a:ext uri="{FF2B5EF4-FFF2-40B4-BE49-F238E27FC236}">
                  <a16:creationId xmlns:a16="http://schemas.microsoft.com/office/drawing/2014/main" id="{1737A3A3-7782-48EF-9568-D8A3D3A4E0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" y="3750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4</a:t>
              </a:r>
            </a:p>
          </p:txBody>
        </p:sp>
        <p:sp>
          <p:nvSpPr>
            <p:cNvPr id="278" name="Text Box 105">
              <a:extLst>
                <a:ext uri="{FF2B5EF4-FFF2-40B4-BE49-F238E27FC236}">
                  <a16:creationId xmlns:a16="http://schemas.microsoft.com/office/drawing/2014/main" id="{18EC5A86-41CB-413A-9211-50A9643DBD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" y="3898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600">
                  <a:latin typeface="+mn-ea"/>
                  <a:ea typeface="+mn-ea"/>
                </a:rPr>
                <a:t>5</a:t>
              </a:r>
            </a:p>
          </p:txBody>
        </p:sp>
      </p:grpSp>
      <p:grpSp>
        <p:nvGrpSpPr>
          <p:cNvPr id="279" name="Group 138">
            <a:extLst>
              <a:ext uri="{FF2B5EF4-FFF2-40B4-BE49-F238E27FC236}">
                <a16:creationId xmlns:a16="http://schemas.microsoft.com/office/drawing/2014/main" id="{7D17F0B6-88B9-4E1A-9F82-C9F104BB7B46}"/>
              </a:ext>
            </a:extLst>
          </p:cNvPr>
          <p:cNvGrpSpPr>
            <a:grpSpLocks/>
          </p:cNvGrpSpPr>
          <p:nvPr/>
        </p:nvGrpSpPr>
        <p:grpSpPr bwMode="auto">
          <a:xfrm>
            <a:off x="8888735" y="2619717"/>
            <a:ext cx="655637" cy="4148138"/>
            <a:chOff x="5007" y="1524"/>
            <a:chExt cx="413" cy="2613"/>
          </a:xfrm>
        </p:grpSpPr>
        <p:sp>
          <p:nvSpPr>
            <p:cNvPr id="280" name="Freeform 106">
              <a:extLst>
                <a:ext uri="{FF2B5EF4-FFF2-40B4-BE49-F238E27FC236}">
                  <a16:creationId xmlns:a16="http://schemas.microsoft.com/office/drawing/2014/main" id="{74E9C044-DD95-4869-A185-F7D0CA20D02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007" y="1528"/>
              <a:ext cx="358" cy="2609"/>
            </a:xfrm>
            <a:custGeom>
              <a:avLst/>
              <a:gdLst>
                <a:gd name="T0" fmla="*/ 7 w 60"/>
                <a:gd name="T1" fmla="*/ 0 h 510"/>
                <a:gd name="T2" fmla="*/ 0 w 60"/>
                <a:gd name="T3" fmla="*/ 7 h 510"/>
                <a:gd name="T4" fmla="*/ 0 w 60"/>
                <a:gd name="T5" fmla="*/ 502 h 510"/>
                <a:gd name="T6" fmla="*/ 7 w 60"/>
                <a:gd name="T7" fmla="*/ 510 h 510"/>
                <a:gd name="T8" fmla="*/ 52 w 60"/>
                <a:gd name="T9" fmla="*/ 510 h 510"/>
                <a:gd name="T10" fmla="*/ 60 w 60"/>
                <a:gd name="T11" fmla="*/ 502 h 510"/>
                <a:gd name="T12" fmla="*/ 60 w 60"/>
                <a:gd name="T13" fmla="*/ 7 h 510"/>
                <a:gd name="T14" fmla="*/ 52 w 60"/>
                <a:gd name="T15" fmla="*/ 0 h 510"/>
                <a:gd name="T16" fmla="*/ 7 w 60"/>
                <a:gd name="T17" fmla="*/ 0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510">
                  <a:moveTo>
                    <a:pt x="7" y="0"/>
                  </a:moveTo>
                  <a:cubicBezTo>
                    <a:pt x="3" y="0"/>
                    <a:pt x="0" y="3"/>
                    <a:pt x="0" y="7"/>
                  </a:cubicBezTo>
                  <a:lnTo>
                    <a:pt x="0" y="502"/>
                  </a:lnTo>
                  <a:cubicBezTo>
                    <a:pt x="0" y="507"/>
                    <a:pt x="3" y="510"/>
                    <a:pt x="7" y="510"/>
                  </a:cubicBezTo>
                  <a:lnTo>
                    <a:pt x="52" y="510"/>
                  </a:lnTo>
                  <a:cubicBezTo>
                    <a:pt x="57" y="510"/>
                    <a:pt x="60" y="507"/>
                    <a:pt x="60" y="502"/>
                  </a:cubicBezTo>
                  <a:lnTo>
                    <a:pt x="60" y="7"/>
                  </a:lnTo>
                  <a:cubicBezTo>
                    <a:pt x="60" y="3"/>
                    <a:pt x="57" y="0"/>
                    <a:pt x="52" y="0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C0C0C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1" name="Oval 107">
              <a:extLst>
                <a:ext uri="{FF2B5EF4-FFF2-40B4-BE49-F238E27FC236}">
                  <a16:creationId xmlns:a16="http://schemas.microsoft.com/office/drawing/2014/main" id="{2E60658D-3E85-4227-8ACE-A50531DAD17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063" y="1579"/>
              <a:ext cx="103" cy="103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82" name="Oval 108">
              <a:extLst>
                <a:ext uri="{FF2B5EF4-FFF2-40B4-BE49-F238E27FC236}">
                  <a16:creationId xmlns:a16="http://schemas.microsoft.com/office/drawing/2014/main" id="{71973769-29F3-4B66-8255-C977F66D7AC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063" y="1733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83" name="Oval 109">
              <a:extLst>
                <a:ext uri="{FF2B5EF4-FFF2-40B4-BE49-F238E27FC236}">
                  <a16:creationId xmlns:a16="http://schemas.microsoft.com/office/drawing/2014/main" id="{B0FF8B86-242E-4234-B3E3-522F7F83FDD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063" y="1954"/>
              <a:ext cx="103" cy="103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84" name="Oval 110">
              <a:extLst>
                <a:ext uri="{FF2B5EF4-FFF2-40B4-BE49-F238E27FC236}">
                  <a16:creationId xmlns:a16="http://schemas.microsoft.com/office/drawing/2014/main" id="{D77999C5-01CD-4900-9B13-08967542DDC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063" y="2108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85" name="Oval 111">
              <a:extLst>
                <a:ext uri="{FF2B5EF4-FFF2-40B4-BE49-F238E27FC236}">
                  <a16:creationId xmlns:a16="http://schemas.microsoft.com/office/drawing/2014/main" id="{4E89487B-0902-40EE-B92F-6D02A905C3B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063" y="2357"/>
              <a:ext cx="103" cy="103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86" name="Oval 112">
              <a:extLst>
                <a:ext uri="{FF2B5EF4-FFF2-40B4-BE49-F238E27FC236}">
                  <a16:creationId xmlns:a16="http://schemas.microsoft.com/office/drawing/2014/main" id="{BF7D6D29-55AD-42E4-980D-53B75D863B3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063" y="2511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87" name="Oval 113">
              <a:extLst>
                <a:ext uri="{FF2B5EF4-FFF2-40B4-BE49-F238E27FC236}">
                  <a16:creationId xmlns:a16="http://schemas.microsoft.com/office/drawing/2014/main" id="{FB010B07-3C82-4AC9-8029-750AF51AA29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063" y="2664"/>
              <a:ext cx="103" cy="103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88" name="Oval 114">
              <a:extLst>
                <a:ext uri="{FF2B5EF4-FFF2-40B4-BE49-F238E27FC236}">
                  <a16:creationId xmlns:a16="http://schemas.microsoft.com/office/drawing/2014/main" id="{AF10534C-7F4D-4C41-A2AE-307863E4ED5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063" y="2903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89" name="Oval 115">
              <a:extLst>
                <a:ext uri="{FF2B5EF4-FFF2-40B4-BE49-F238E27FC236}">
                  <a16:creationId xmlns:a16="http://schemas.microsoft.com/office/drawing/2014/main" id="{373C02EF-034F-40DA-AF84-FA865C4AE80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063" y="3056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90" name="Oval 116">
              <a:extLst>
                <a:ext uri="{FF2B5EF4-FFF2-40B4-BE49-F238E27FC236}">
                  <a16:creationId xmlns:a16="http://schemas.microsoft.com/office/drawing/2014/main" id="{5F262821-50EA-4BE2-8CE8-A1746394971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063" y="3209"/>
              <a:ext cx="103" cy="103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91" name="Oval 117">
              <a:extLst>
                <a:ext uri="{FF2B5EF4-FFF2-40B4-BE49-F238E27FC236}">
                  <a16:creationId xmlns:a16="http://schemas.microsoft.com/office/drawing/2014/main" id="{C9FABE19-16F1-4F6E-8261-C88DDD8ABE2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063" y="3363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92" name="Oval 118">
              <a:extLst>
                <a:ext uri="{FF2B5EF4-FFF2-40B4-BE49-F238E27FC236}">
                  <a16:creationId xmlns:a16="http://schemas.microsoft.com/office/drawing/2014/main" id="{4F3EB619-43DE-4462-9E6E-BB5C0AE37B9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063" y="3626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93" name="Oval 119">
              <a:extLst>
                <a:ext uri="{FF2B5EF4-FFF2-40B4-BE49-F238E27FC236}">
                  <a16:creationId xmlns:a16="http://schemas.microsoft.com/office/drawing/2014/main" id="{5E673E39-6855-4718-BEB7-BE7FABAD07A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063" y="3779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94" name="Oval 120">
              <a:extLst>
                <a:ext uri="{FF2B5EF4-FFF2-40B4-BE49-F238E27FC236}">
                  <a16:creationId xmlns:a16="http://schemas.microsoft.com/office/drawing/2014/main" id="{0F2F2814-C3DD-4420-8D1A-824EAD61562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063" y="3934"/>
              <a:ext cx="103" cy="102"/>
            </a:xfrm>
            <a:prstGeom prst="ellipse">
              <a:avLst/>
            </a:prstGeom>
            <a:solidFill>
              <a:srgbClr val="00CC99"/>
            </a:solidFill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latin typeface="+mn-ea"/>
                <a:ea typeface="+mn-ea"/>
              </a:endParaRPr>
            </a:p>
          </p:txBody>
        </p:sp>
        <p:sp>
          <p:nvSpPr>
            <p:cNvPr id="295" name="Text Box 121">
              <a:extLst>
                <a:ext uri="{FF2B5EF4-FFF2-40B4-BE49-F238E27FC236}">
                  <a16:creationId xmlns:a16="http://schemas.microsoft.com/office/drawing/2014/main" id="{17365437-1970-40BB-9612-A3E25BA027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148" y="1524"/>
              <a:ext cx="23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296" name="Text Box 122">
              <a:extLst>
                <a:ext uri="{FF2B5EF4-FFF2-40B4-BE49-F238E27FC236}">
                  <a16:creationId xmlns:a16="http://schemas.microsoft.com/office/drawing/2014/main" id="{F6BB795D-59A4-41F2-A4EA-A6E288BB42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148" y="1693"/>
              <a:ext cx="22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7</a:t>
              </a:r>
            </a:p>
          </p:txBody>
        </p:sp>
        <p:sp>
          <p:nvSpPr>
            <p:cNvPr id="297" name="Text Box 123">
              <a:extLst>
                <a:ext uri="{FF2B5EF4-FFF2-40B4-BE49-F238E27FC236}">
                  <a16:creationId xmlns:a16="http://schemas.microsoft.com/office/drawing/2014/main" id="{8F9BF809-EDBB-4210-A2C2-EB9BE50EDF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148" y="1905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20</a:t>
              </a:r>
            </a:p>
          </p:txBody>
        </p:sp>
        <p:sp>
          <p:nvSpPr>
            <p:cNvPr id="298" name="Text Box 124">
              <a:extLst>
                <a:ext uri="{FF2B5EF4-FFF2-40B4-BE49-F238E27FC236}">
                  <a16:creationId xmlns:a16="http://schemas.microsoft.com/office/drawing/2014/main" id="{2E94A869-72CD-4AB6-ADD8-141B6E4E15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148" y="2056"/>
              <a:ext cx="22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6</a:t>
              </a:r>
            </a:p>
          </p:txBody>
        </p:sp>
        <p:sp>
          <p:nvSpPr>
            <p:cNvPr id="299" name="Text Box 125">
              <a:extLst>
                <a:ext uri="{FF2B5EF4-FFF2-40B4-BE49-F238E27FC236}">
                  <a16:creationId xmlns:a16="http://schemas.microsoft.com/office/drawing/2014/main" id="{DD1A3385-C9F8-4BA3-BA19-63888BE78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148" y="2304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8</a:t>
              </a:r>
            </a:p>
          </p:txBody>
        </p:sp>
        <p:sp>
          <p:nvSpPr>
            <p:cNvPr id="300" name="Text Box 126">
              <a:extLst>
                <a:ext uri="{FF2B5EF4-FFF2-40B4-BE49-F238E27FC236}">
                  <a16:creationId xmlns:a16="http://schemas.microsoft.com/office/drawing/2014/main" id="{DCD9B85D-7E57-4AA6-99AA-2DEC2431DA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148" y="2465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4</a:t>
              </a:r>
            </a:p>
          </p:txBody>
        </p:sp>
        <p:sp>
          <p:nvSpPr>
            <p:cNvPr id="301" name="Text Box 127">
              <a:extLst>
                <a:ext uri="{FF2B5EF4-FFF2-40B4-BE49-F238E27FC236}">
                  <a16:creationId xmlns:a16="http://schemas.microsoft.com/office/drawing/2014/main" id="{E4E2FECF-7933-468B-99FC-6ED1A6415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148" y="2613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5</a:t>
              </a:r>
            </a:p>
          </p:txBody>
        </p:sp>
        <p:sp>
          <p:nvSpPr>
            <p:cNvPr id="302" name="Text Box 128">
              <a:extLst>
                <a:ext uri="{FF2B5EF4-FFF2-40B4-BE49-F238E27FC236}">
                  <a16:creationId xmlns:a16="http://schemas.microsoft.com/office/drawing/2014/main" id="{ACD9EFA7-2F2B-412E-B6C8-E7F445A3A2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148" y="2861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3</a:t>
              </a:r>
            </a:p>
          </p:txBody>
        </p:sp>
        <p:sp>
          <p:nvSpPr>
            <p:cNvPr id="303" name="Text Box 129">
              <a:extLst>
                <a:ext uri="{FF2B5EF4-FFF2-40B4-BE49-F238E27FC236}">
                  <a16:creationId xmlns:a16="http://schemas.microsoft.com/office/drawing/2014/main" id="{7A4FC3F9-1E49-4685-A422-A96994F11F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148" y="3022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17</a:t>
              </a:r>
            </a:p>
          </p:txBody>
        </p:sp>
        <p:sp>
          <p:nvSpPr>
            <p:cNvPr id="304" name="Text Box 130">
              <a:extLst>
                <a:ext uri="{FF2B5EF4-FFF2-40B4-BE49-F238E27FC236}">
                  <a16:creationId xmlns:a16="http://schemas.microsoft.com/office/drawing/2014/main" id="{AFA1A13A-B074-4F40-B40F-5E87170404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148" y="3170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305" name="Text Box 131">
              <a:extLst>
                <a:ext uri="{FF2B5EF4-FFF2-40B4-BE49-F238E27FC236}">
                  <a16:creationId xmlns:a16="http://schemas.microsoft.com/office/drawing/2014/main" id="{8D8F35DC-6AB2-4D7D-B1E7-76D9BE396D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148" y="3306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24</a:t>
              </a:r>
            </a:p>
          </p:txBody>
        </p:sp>
        <p:sp>
          <p:nvSpPr>
            <p:cNvPr id="306" name="Text Box 132">
              <a:extLst>
                <a:ext uri="{FF2B5EF4-FFF2-40B4-BE49-F238E27FC236}">
                  <a16:creationId xmlns:a16="http://schemas.microsoft.com/office/drawing/2014/main" id="{C310809A-CAA1-44A2-8170-CDE60270BE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148" y="3571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8</a:t>
              </a:r>
            </a:p>
          </p:txBody>
        </p:sp>
        <p:sp>
          <p:nvSpPr>
            <p:cNvPr id="307" name="Text Box 133">
              <a:extLst>
                <a:ext uri="{FF2B5EF4-FFF2-40B4-BE49-F238E27FC236}">
                  <a16:creationId xmlns:a16="http://schemas.microsoft.com/office/drawing/2014/main" id="{4066119E-D3FE-4325-A6D0-3CF54448F2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148" y="3732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4</a:t>
              </a:r>
            </a:p>
          </p:txBody>
        </p:sp>
        <p:sp>
          <p:nvSpPr>
            <p:cNvPr id="308" name="Text Box 134">
              <a:extLst>
                <a:ext uri="{FF2B5EF4-FFF2-40B4-BE49-F238E27FC236}">
                  <a16:creationId xmlns:a16="http://schemas.microsoft.com/office/drawing/2014/main" id="{BB74C8A5-9B3C-4188-9368-A1AFA69FBB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148" y="3880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>
                  <a:latin typeface="+mn-ea"/>
                  <a:ea typeface="+mn-ea"/>
                </a:rPr>
                <a:t>5</a:t>
              </a:r>
            </a:p>
          </p:txBody>
        </p:sp>
      </p:grpSp>
      <p:sp>
        <p:nvSpPr>
          <p:cNvPr id="309" name="Line 139">
            <a:extLst>
              <a:ext uri="{FF2B5EF4-FFF2-40B4-BE49-F238E27FC236}">
                <a16:creationId xmlns:a16="http://schemas.microsoft.com/office/drawing/2014/main" id="{80B9D0D6-B48D-451A-8C29-BACCBBF47A5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0322" y="4051642"/>
            <a:ext cx="2519363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10" name="Line 140">
            <a:extLst>
              <a:ext uri="{FF2B5EF4-FFF2-40B4-BE49-F238E27FC236}">
                <a16:creationId xmlns:a16="http://schemas.microsoft.com/office/drawing/2014/main" id="{7A4BCEA7-D15F-430A-BDA6-62F67CF8D5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80322" y="4556467"/>
            <a:ext cx="2519363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11" name="Line 141">
            <a:extLst>
              <a:ext uri="{FF2B5EF4-FFF2-40B4-BE49-F238E27FC236}">
                <a16:creationId xmlns:a16="http://schemas.microsoft.com/office/drawing/2014/main" id="{7AA3AF34-4EDB-457C-92F0-B160431DE5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0322" y="4915242"/>
            <a:ext cx="2519363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12" name="Line 142">
            <a:extLst>
              <a:ext uri="{FF2B5EF4-FFF2-40B4-BE49-F238E27FC236}">
                <a16:creationId xmlns:a16="http://schemas.microsoft.com/office/drawing/2014/main" id="{C1D1611B-DB52-4EB0-8FF6-E325F484BC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80322" y="5420067"/>
            <a:ext cx="2519363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13" name="Line 143">
            <a:extLst>
              <a:ext uri="{FF2B5EF4-FFF2-40B4-BE49-F238E27FC236}">
                <a16:creationId xmlns:a16="http://schemas.microsoft.com/office/drawing/2014/main" id="{20AB8736-5992-451C-857F-F43FC1A5C3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0322" y="6067767"/>
            <a:ext cx="2519363" cy="0"/>
          </a:xfrm>
          <a:prstGeom prst="line">
            <a:avLst/>
          </a:prstGeom>
          <a:noFill/>
          <a:ln w="28575">
            <a:solidFill>
              <a:srgbClr val="FF33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14" name="Line 144">
            <a:extLst>
              <a:ext uri="{FF2B5EF4-FFF2-40B4-BE49-F238E27FC236}">
                <a16:creationId xmlns:a16="http://schemas.microsoft.com/office/drawing/2014/main" id="{45B6A464-CF90-4530-8043-997890EDB9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80322" y="6499567"/>
            <a:ext cx="2519363" cy="0"/>
          </a:xfrm>
          <a:prstGeom prst="line">
            <a:avLst/>
          </a:prstGeom>
          <a:noFill/>
          <a:ln w="28575">
            <a:solidFill>
              <a:srgbClr val="FF33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15" name="Line 145">
            <a:extLst>
              <a:ext uri="{FF2B5EF4-FFF2-40B4-BE49-F238E27FC236}">
                <a16:creationId xmlns:a16="http://schemas.microsoft.com/office/drawing/2014/main" id="{ACBAE60C-8003-411B-B0C3-6109854B6C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722" y="2789580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16" name="Line 146">
            <a:extLst>
              <a:ext uri="{FF2B5EF4-FFF2-40B4-BE49-F238E27FC236}">
                <a16:creationId xmlns:a16="http://schemas.microsoft.com/office/drawing/2014/main" id="{AF861AD6-4F5A-4478-9BE4-6F58D0C35E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722" y="3043580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17" name="Line 147">
            <a:extLst>
              <a:ext uri="{FF2B5EF4-FFF2-40B4-BE49-F238E27FC236}">
                <a16:creationId xmlns:a16="http://schemas.microsoft.com/office/drawing/2014/main" id="{6B4656B4-F3DA-48C7-95A6-D51D6C10218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722" y="3384892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18" name="Line 148">
            <a:extLst>
              <a:ext uri="{FF2B5EF4-FFF2-40B4-BE49-F238E27FC236}">
                <a16:creationId xmlns:a16="http://schemas.microsoft.com/office/drawing/2014/main" id="{F00F40F7-4EEE-45E0-AC3A-2F9A4EB96F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722" y="3619842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19" name="Line 149">
            <a:extLst>
              <a:ext uri="{FF2B5EF4-FFF2-40B4-BE49-F238E27FC236}">
                <a16:creationId xmlns:a16="http://schemas.microsoft.com/office/drawing/2014/main" id="{0D4E0101-13D6-42E5-AD58-3AB2EF1110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722" y="4013542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20" name="Line 150">
            <a:extLst>
              <a:ext uri="{FF2B5EF4-FFF2-40B4-BE49-F238E27FC236}">
                <a16:creationId xmlns:a16="http://schemas.microsoft.com/office/drawing/2014/main" id="{8F50AE40-D8D1-4F0D-AF14-5C903F34C7D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722" y="4510430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21" name="Line 151">
            <a:extLst>
              <a:ext uri="{FF2B5EF4-FFF2-40B4-BE49-F238E27FC236}">
                <a16:creationId xmlns:a16="http://schemas.microsoft.com/office/drawing/2014/main" id="{CCCDC605-FE2F-4096-9C49-5E4B777BF3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722" y="4878730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22" name="Line 152">
            <a:extLst>
              <a:ext uri="{FF2B5EF4-FFF2-40B4-BE49-F238E27FC236}">
                <a16:creationId xmlns:a16="http://schemas.microsoft.com/office/drawing/2014/main" id="{05DCF747-28C1-48CD-9612-00DE7BC04A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722" y="5132730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23" name="Line 153">
            <a:extLst>
              <a:ext uri="{FF2B5EF4-FFF2-40B4-BE49-F238E27FC236}">
                <a16:creationId xmlns:a16="http://schemas.microsoft.com/office/drawing/2014/main" id="{269C13AA-BDB8-4206-ADC5-0F0C5E68BCC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722" y="5381967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24" name="Line 154">
            <a:extLst>
              <a:ext uri="{FF2B5EF4-FFF2-40B4-BE49-F238E27FC236}">
                <a16:creationId xmlns:a16="http://schemas.microsoft.com/office/drawing/2014/main" id="{CD46A17B-9516-4246-879B-061AAF4625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722" y="5635967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25" name="Line 155">
            <a:extLst>
              <a:ext uri="{FF2B5EF4-FFF2-40B4-BE49-F238E27FC236}">
                <a16:creationId xmlns:a16="http://schemas.microsoft.com/office/drawing/2014/main" id="{EA4B8A00-52C9-435A-B93B-A30CBED151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722" y="6034430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26" name="Line 156">
            <a:extLst>
              <a:ext uri="{FF2B5EF4-FFF2-40B4-BE49-F238E27FC236}">
                <a16:creationId xmlns:a16="http://schemas.microsoft.com/office/drawing/2014/main" id="{44400D62-58EA-4E14-B5B4-EBB9B0E947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722" y="6283667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27" name="Line 157">
            <a:extLst>
              <a:ext uri="{FF2B5EF4-FFF2-40B4-BE49-F238E27FC236}">
                <a16:creationId xmlns:a16="http://schemas.microsoft.com/office/drawing/2014/main" id="{96869A3E-CE9B-43C9-B83F-372AE593030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722" y="6537667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28" name="Line 158">
            <a:extLst>
              <a:ext uri="{FF2B5EF4-FFF2-40B4-BE49-F238E27FC236}">
                <a16:creationId xmlns:a16="http://schemas.microsoft.com/office/drawing/2014/main" id="{C6546C35-D00E-4F86-A80D-26C64E288D8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722" y="4267542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29" name="Line 159">
            <a:extLst>
              <a:ext uri="{FF2B5EF4-FFF2-40B4-BE49-F238E27FC236}">
                <a16:creationId xmlns:a16="http://schemas.microsoft.com/office/drawing/2014/main" id="{B0A0E6B3-59DD-433D-9A88-67E51996F461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4510" y="2789580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30" name="Line 160">
            <a:extLst>
              <a:ext uri="{FF2B5EF4-FFF2-40B4-BE49-F238E27FC236}">
                <a16:creationId xmlns:a16="http://schemas.microsoft.com/office/drawing/2014/main" id="{0D709ABE-6AC1-46D2-9EC1-FA3FE5C1BA6F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4510" y="3043580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31" name="Line 161">
            <a:extLst>
              <a:ext uri="{FF2B5EF4-FFF2-40B4-BE49-F238E27FC236}">
                <a16:creationId xmlns:a16="http://schemas.microsoft.com/office/drawing/2014/main" id="{E9E0BB33-F58A-4F0E-A3AE-74B73BA3818A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4510" y="3384892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32" name="Line 162">
            <a:extLst>
              <a:ext uri="{FF2B5EF4-FFF2-40B4-BE49-F238E27FC236}">
                <a16:creationId xmlns:a16="http://schemas.microsoft.com/office/drawing/2014/main" id="{408AC2FB-9394-4418-89EC-FF9087638640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4510" y="3619842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33" name="Line 163">
            <a:extLst>
              <a:ext uri="{FF2B5EF4-FFF2-40B4-BE49-F238E27FC236}">
                <a16:creationId xmlns:a16="http://schemas.microsoft.com/office/drawing/2014/main" id="{B47480CC-085F-4946-9478-9B7A47CB935B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4510" y="4013542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34" name="Line 164">
            <a:extLst>
              <a:ext uri="{FF2B5EF4-FFF2-40B4-BE49-F238E27FC236}">
                <a16:creationId xmlns:a16="http://schemas.microsoft.com/office/drawing/2014/main" id="{C6394C99-F62C-4E32-AEA3-567E64B26BCF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4510" y="4510430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35" name="Line 165">
            <a:extLst>
              <a:ext uri="{FF2B5EF4-FFF2-40B4-BE49-F238E27FC236}">
                <a16:creationId xmlns:a16="http://schemas.microsoft.com/office/drawing/2014/main" id="{0BA099FC-3436-46E2-AE4A-CBF4B3E2E82C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4510" y="4878730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36" name="Line 166">
            <a:extLst>
              <a:ext uri="{FF2B5EF4-FFF2-40B4-BE49-F238E27FC236}">
                <a16:creationId xmlns:a16="http://schemas.microsoft.com/office/drawing/2014/main" id="{510724B6-EDE4-4CDC-9A27-CA1946C59E6F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4510" y="5132730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37" name="Line 167">
            <a:extLst>
              <a:ext uri="{FF2B5EF4-FFF2-40B4-BE49-F238E27FC236}">
                <a16:creationId xmlns:a16="http://schemas.microsoft.com/office/drawing/2014/main" id="{A56D1353-BA61-46A2-B6FA-4ED8B41E889C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4510" y="5381967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38" name="Line 168">
            <a:extLst>
              <a:ext uri="{FF2B5EF4-FFF2-40B4-BE49-F238E27FC236}">
                <a16:creationId xmlns:a16="http://schemas.microsoft.com/office/drawing/2014/main" id="{D7FDF14D-C8A2-4EC8-AB56-5E2BF1A525E3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4510" y="5635967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39" name="Line 169">
            <a:extLst>
              <a:ext uri="{FF2B5EF4-FFF2-40B4-BE49-F238E27FC236}">
                <a16:creationId xmlns:a16="http://schemas.microsoft.com/office/drawing/2014/main" id="{46A21022-2666-4F75-87F6-D27AC8970CAF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4510" y="6034430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40" name="Line 170">
            <a:extLst>
              <a:ext uri="{FF2B5EF4-FFF2-40B4-BE49-F238E27FC236}">
                <a16:creationId xmlns:a16="http://schemas.microsoft.com/office/drawing/2014/main" id="{EFE1E0D6-F3E8-4EE6-BA71-98C480914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4510" y="6283667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41" name="Line 171">
            <a:extLst>
              <a:ext uri="{FF2B5EF4-FFF2-40B4-BE49-F238E27FC236}">
                <a16:creationId xmlns:a16="http://schemas.microsoft.com/office/drawing/2014/main" id="{24E151A5-E715-4F9B-B4CF-FA463BDADA1E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4510" y="6537667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42" name="Line 172">
            <a:extLst>
              <a:ext uri="{FF2B5EF4-FFF2-40B4-BE49-F238E27FC236}">
                <a16:creationId xmlns:a16="http://schemas.microsoft.com/office/drawing/2014/main" id="{4C2D1717-F1F1-4AD8-ADEF-8B6613C7871A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4510" y="4267542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43" name="Text Box 173">
            <a:extLst>
              <a:ext uri="{FF2B5EF4-FFF2-40B4-BE49-F238E27FC236}">
                <a16:creationId xmlns:a16="http://schemas.microsoft.com/office/drawing/2014/main" id="{1BA978FD-8475-436F-BE94-E6286720B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385" y="5726455"/>
            <a:ext cx="38735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>
                <a:latin typeface="+mn-ea"/>
                <a:ea typeface="+mn-ea"/>
              </a:rPr>
              <a:t>关</a:t>
            </a:r>
          </a:p>
          <a:p>
            <a:r>
              <a:rPr lang="zh-CN" altLang="en-US" sz="1600">
                <a:latin typeface="+mn-ea"/>
                <a:ea typeface="+mn-ea"/>
              </a:rPr>
              <a:t>关</a:t>
            </a:r>
          </a:p>
          <a:p>
            <a:r>
              <a:rPr lang="zh-CN" altLang="en-US" sz="1600">
                <a:latin typeface="+mn-ea"/>
                <a:ea typeface="+mn-ea"/>
              </a:rPr>
              <a:t>关</a:t>
            </a:r>
          </a:p>
        </p:txBody>
      </p:sp>
      <p:sp>
        <p:nvSpPr>
          <p:cNvPr id="344" name="Text Box 174">
            <a:extLst>
              <a:ext uri="{FF2B5EF4-FFF2-40B4-BE49-F238E27FC236}">
                <a16:creationId xmlns:a16="http://schemas.microsoft.com/office/drawing/2014/main" id="{395476F2-EE86-4C97-A6D6-99EC2BE4C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0410" y="5735980"/>
            <a:ext cx="38735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>
                <a:latin typeface="+mn-ea"/>
                <a:ea typeface="+mn-ea"/>
              </a:rPr>
              <a:t>关</a:t>
            </a:r>
          </a:p>
          <a:p>
            <a:r>
              <a:rPr lang="zh-CN" altLang="en-US" sz="1600">
                <a:latin typeface="+mn-ea"/>
                <a:ea typeface="+mn-ea"/>
              </a:rPr>
              <a:t>关</a:t>
            </a:r>
          </a:p>
          <a:p>
            <a:r>
              <a:rPr lang="zh-CN" altLang="en-US" sz="1600">
                <a:latin typeface="+mn-ea"/>
                <a:ea typeface="+mn-ea"/>
              </a:rPr>
              <a:t>关</a:t>
            </a:r>
          </a:p>
        </p:txBody>
      </p:sp>
      <p:pic>
        <p:nvPicPr>
          <p:cNvPr id="345" name="Picture 25">
            <a:extLst>
              <a:ext uri="{FF2B5EF4-FFF2-40B4-BE49-F238E27FC236}">
                <a16:creationId xmlns:a16="http://schemas.microsoft.com/office/drawing/2014/main" id="{BC3084DE-57ED-4DC0-938C-E80ADB192541}"/>
              </a:ext>
            </a:extLst>
          </p:cNvPr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647" y="1675155"/>
            <a:ext cx="1322388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6" name="Text Box 9">
            <a:extLst>
              <a:ext uri="{FF2B5EF4-FFF2-40B4-BE49-F238E27FC236}">
                <a16:creationId xmlns:a16="http://schemas.microsoft.com/office/drawing/2014/main" id="{BADFD00B-8BDF-4E64-9C29-89A63E7FC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5960" y="1891055"/>
            <a:ext cx="1200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通信网络</a:t>
            </a:r>
          </a:p>
        </p:txBody>
      </p:sp>
      <p:grpSp>
        <p:nvGrpSpPr>
          <p:cNvPr id="347" name="Group 194">
            <a:extLst>
              <a:ext uri="{FF2B5EF4-FFF2-40B4-BE49-F238E27FC236}">
                <a16:creationId xmlns:a16="http://schemas.microsoft.com/office/drawing/2014/main" id="{48BFEA8C-BFD5-47D2-8A4A-CBDE1D1AA8C7}"/>
              </a:ext>
            </a:extLst>
          </p:cNvPr>
          <p:cNvGrpSpPr>
            <a:grpSpLocks/>
          </p:cNvGrpSpPr>
          <p:nvPr/>
        </p:nvGrpSpPr>
        <p:grpSpPr bwMode="auto">
          <a:xfrm>
            <a:off x="3207072" y="1746592"/>
            <a:ext cx="1863725" cy="711200"/>
            <a:chOff x="930" y="980"/>
            <a:chExt cx="1128" cy="448"/>
          </a:xfrm>
        </p:grpSpPr>
        <p:sp>
          <p:nvSpPr>
            <p:cNvPr id="348" name="AutoShape 4">
              <a:extLst>
                <a:ext uri="{FF2B5EF4-FFF2-40B4-BE49-F238E27FC236}">
                  <a16:creationId xmlns:a16="http://schemas.microsoft.com/office/drawing/2014/main" id="{3EB59804-C0E4-43FE-8070-6B6B0DFD8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" y="980"/>
              <a:ext cx="403" cy="448"/>
            </a:xfrm>
            <a:prstGeom prst="roundRect">
              <a:avLst>
                <a:gd name="adj" fmla="val 16667"/>
              </a:avLst>
            </a:prstGeom>
            <a:solidFill>
              <a:srgbClr val="0066CC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+mn-ea"/>
                  <a:ea typeface="+mn-ea"/>
                </a:rPr>
                <a:t>DTE</a:t>
              </a:r>
            </a:p>
          </p:txBody>
        </p:sp>
        <p:sp>
          <p:nvSpPr>
            <p:cNvPr id="349" name="AutoShape 5">
              <a:extLst>
                <a:ext uri="{FF2B5EF4-FFF2-40B4-BE49-F238E27FC236}">
                  <a16:creationId xmlns:a16="http://schemas.microsoft.com/office/drawing/2014/main" id="{23861837-E115-4D39-8527-B7D1675B5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6" y="980"/>
              <a:ext cx="402" cy="448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+mn-ea"/>
                  <a:ea typeface="+mn-ea"/>
                </a:rPr>
                <a:t>DCE</a:t>
              </a:r>
            </a:p>
          </p:txBody>
        </p:sp>
        <p:sp>
          <p:nvSpPr>
            <p:cNvPr id="350" name="Line 10">
              <a:extLst>
                <a:ext uri="{FF2B5EF4-FFF2-40B4-BE49-F238E27FC236}">
                  <a16:creationId xmlns:a16="http://schemas.microsoft.com/office/drawing/2014/main" id="{2E4E6885-BC20-4736-B883-0046EE0012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3" y="1204"/>
              <a:ext cx="322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351" name="Group 193">
            <a:extLst>
              <a:ext uri="{FF2B5EF4-FFF2-40B4-BE49-F238E27FC236}">
                <a16:creationId xmlns:a16="http://schemas.microsoft.com/office/drawing/2014/main" id="{23ED30AE-A8E4-4A63-8A4A-E1DA5CB85478}"/>
              </a:ext>
            </a:extLst>
          </p:cNvPr>
          <p:cNvGrpSpPr>
            <a:grpSpLocks/>
          </p:cNvGrpSpPr>
          <p:nvPr/>
        </p:nvGrpSpPr>
        <p:grpSpPr bwMode="auto">
          <a:xfrm>
            <a:off x="7555235" y="1746592"/>
            <a:ext cx="1916112" cy="711200"/>
            <a:chOff x="3623" y="980"/>
            <a:chExt cx="1127" cy="448"/>
          </a:xfrm>
        </p:grpSpPr>
        <p:sp>
          <p:nvSpPr>
            <p:cNvPr id="352" name="AutoShape 6">
              <a:extLst>
                <a:ext uri="{FF2B5EF4-FFF2-40B4-BE49-F238E27FC236}">
                  <a16:creationId xmlns:a16="http://schemas.microsoft.com/office/drawing/2014/main" id="{4719A937-2329-472C-96B0-B7EEE271F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3" y="980"/>
              <a:ext cx="402" cy="448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+mn-ea"/>
                  <a:ea typeface="+mn-ea"/>
                </a:rPr>
                <a:t>DCE</a:t>
              </a:r>
            </a:p>
          </p:txBody>
        </p:sp>
        <p:sp>
          <p:nvSpPr>
            <p:cNvPr id="353" name="AutoShape 7">
              <a:extLst>
                <a:ext uri="{FF2B5EF4-FFF2-40B4-BE49-F238E27FC236}">
                  <a16:creationId xmlns:a16="http://schemas.microsoft.com/office/drawing/2014/main" id="{FB34F097-82E1-49ED-A6FA-E9747C60C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7" y="980"/>
              <a:ext cx="403" cy="448"/>
            </a:xfrm>
            <a:prstGeom prst="roundRect">
              <a:avLst>
                <a:gd name="adj" fmla="val 16667"/>
              </a:avLst>
            </a:prstGeom>
            <a:solidFill>
              <a:srgbClr val="0066CC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+mn-ea"/>
                  <a:ea typeface="+mn-ea"/>
                </a:rPr>
                <a:t>DTE</a:t>
              </a:r>
            </a:p>
          </p:txBody>
        </p:sp>
        <p:sp>
          <p:nvSpPr>
            <p:cNvPr id="354" name="Line 12">
              <a:extLst>
                <a:ext uri="{FF2B5EF4-FFF2-40B4-BE49-F238E27FC236}">
                  <a16:creationId xmlns:a16="http://schemas.microsoft.com/office/drawing/2014/main" id="{8F3D7085-AC95-47F6-898C-95A33596E1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1204"/>
              <a:ext cx="322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355" name="Line 13">
            <a:extLst>
              <a:ext uri="{FF2B5EF4-FFF2-40B4-BE49-F238E27FC236}">
                <a16:creationId xmlns:a16="http://schemas.microsoft.com/office/drawing/2014/main" id="{FE9FE662-C512-42AC-91AB-F437E003EC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0797" y="2102192"/>
            <a:ext cx="592138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56" name="Line 175">
            <a:extLst>
              <a:ext uri="{FF2B5EF4-FFF2-40B4-BE49-F238E27FC236}">
                <a16:creationId xmlns:a16="http://schemas.microsoft.com/office/drawing/2014/main" id="{164E8D6A-3DBF-4B41-BD62-CF99352CAAD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3097" y="2106955"/>
            <a:ext cx="592138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57" name="Text Box 177">
            <a:extLst>
              <a:ext uri="{FF2B5EF4-FFF2-40B4-BE49-F238E27FC236}">
                <a16:creationId xmlns:a16="http://schemas.microsoft.com/office/drawing/2014/main" id="{2E4E8037-BC4A-4349-AED6-AA7F4CACF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8022" y="2756242"/>
            <a:ext cx="1289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800">
                <a:latin typeface="+mn-ea"/>
                <a:ea typeface="+mn-ea"/>
              </a:rPr>
              <a:t>步骤</a:t>
            </a:r>
            <a:r>
              <a:rPr lang="en-US" altLang="zh-CN" sz="1800">
                <a:latin typeface="+mn-ea"/>
                <a:ea typeface="+mn-ea"/>
              </a:rPr>
              <a:t>1:</a:t>
            </a:r>
            <a:r>
              <a:rPr lang="zh-CN" altLang="en-US" sz="1800">
                <a:latin typeface="+mn-ea"/>
                <a:ea typeface="+mn-ea"/>
              </a:rPr>
              <a:t>准备</a:t>
            </a:r>
          </a:p>
        </p:txBody>
      </p:sp>
      <p:sp>
        <p:nvSpPr>
          <p:cNvPr id="358" name="Text Box 178">
            <a:extLst>
              <a:ext uri="{FF2B5EF4-FFF2-40B4-BE49-F238E27FC236}">
                <a16:creationId xmlns:a16="http://schemas.microsoft.com/office/drawing/2014/main" id="{3A5ACBA6-E8B4-44C2-83F9-BB0346882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8022" y="3259480"/>
            <a:ext cx="1289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800">
                <a:latin typeface="+mn-ea"/>
                <a:ea typeface="+mn-ea"/>
              </a:rPr>
              <a:t>步骤</a:t>
            </a:r>
            <a:r>
              <a:rPr lang="en-US" altLang="zh-CN" sz="1800">
                <a:latin typeface="+mn-ea"/>
                <a:ea typeface="+mn-ea"/>
              </a:rPr>
              <a:t>2:</a:t>
            </a:r>
            <a:r>
              <a:rPr lang="zh-CN" altLang="en-US" sz="1800">
                <a:latin typeface="+mn-ea"/>
                <a:ea typeface="+mn-ea"/>
              </a:rPr>
              <a:t>就绪</a:t>
            </a:r>
          </a:p>
        </p:txBody>
      </p:sp>
      <p:sp>
        <p:nvSpPr>
          <p:cNvPr id="359" name="Text Box 179">
            <a:extLst>
              <a:ext uri="{FF2B5EF4-FFF2-40B4-BE49-F238E27FC236}">
                <a16:creationId xmlns:a16="http://schemas.microsoft.com/office/drawing/2014/main" id="{850B4080-FBA7-4AF4-97DF-A9D196D50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8022" y="4051642"/>
            <a:ext cx="1289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800">
                <a:latin typeface="+mn-ea"/>
                <a:ea typeface="+mn-ea"/>
              </a:rPr>
              <a:t>步骤</a:t>
            </a:r>
            <a:r>
              <a:rPr lang="en-US" altLang="zh-CN" sz="1800">
                <a:latin typeface="+mn-ea"/>
                <a:ea typeface="+mn-ea"/>
              </a:rPr>
              <a:t>3:</a:t>
            </a:r>
            <a:r>
              <a:rPr lang="zh-CN" altLang="en-US" sz="1800">
                <a:latin typeface="+mn-ea"/>
                <a:ea typeface="+mn-ea"/>
              </a:rPr>
              <a:t>建立</a:t>
            </a:r>
          </a:p>
        </p:txBody>
      </p:sp>
      <p:sp>
        <p:nvSpPr>
          <p:cNvPr id="360" name="Text Box 180">
            <a:extLst>
              <a:ext uri="{FF2B5EF4-FFF2-40B4-BE49-F238E27FC236}">
                <a16:creationId xmlns:a16="http://schemas.microsoft.com/office/drawing/2014/main" id="{D76AB622-2FE4-4D53-ABF8-85695FD28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8022" y="4915242"/>
            <a:ext cx="1098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800" dirty="0">
                <a:latin typeface="+mn-ea"/>
                <a:ea typeface="+mn-ea"/>
              </a:rPr>
              <a:t>步骤</a:t>
            </a:r>
            <a:r>
              <a:rPr lang="en-US" altLang="zh-CN" sz="1800" dirty="0">
                <a:latin typeface="+mn-ea"/>
                <a:ea typeface="+mn-ea"/>
              </a:rPr>
              <a:t>4:</a:t>
            </a:r>
          </a:p>
          <a:p>
            <a:pPr algn="l"/>
            <a:r>
              <a:rPr lang="zh-CN" altLang="en-US" sz="1800" dirty="0">
                <a:latin typeface="+mn-ea"/>
                <a:ea typeface="+mn-ea"/>
              </a:rPr>
              <a:t>数据传输</a:t>
            </a:r>
          </a:p>
        </p:txBody>
      </p:sp>
      <p:sp>
        <p:nvSpPr>
          <p:cNvPr id="361" name="Text Box 181">
            <a:extLst>
              <a:ext uri="{FF2B5EF4-FFF2-40B4-BE49-F238E27FC236}">
                <a16:creationId xmlns:a16="http://schemas.microsoft.com/office/drawing/2014/main" id="{474A495A-774F-4E44-84F3-BEAEF7177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8022" y="5996330"/>
            <a:ext cx="1289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800">
                <a:latin typeface="+mn-ea"/>
                <a:ea typeface="+mn-ea"/>
              </a:rPr>
              <a:t>步骤</a:t>
            </a:r>
            <a:r>
              <a:rPr lang="en-US" altLang="zh-CN" sz="1800">
                <a:latin typeface="+mn-ea"/>
                <a:ea typeface="+mn-ea"/>
              </a:rPr>
              <a:t>5:</a:t>
            </a:r>
            <a:r>
              <a:rPr lang="zh-CN" altLang="en-US" sz="1800">
                <a:latin typeface="+mn-ea"/>
                <a:ea typeface="+mn-ea"/>
              </a:rPr>
              <a:t>清除</a:t>
            </a:r>
          </a:p>
        </p:txBody>
      </p:sp>
      <p:sp>
        <p:nvSpPr>
          <p:cNvPr id="362" name="Text Box 182">
            <a:extLst>
              <a:ext uri="{FF2B5EF4-FFF2-40B4-BE49-F238E27FC236}">
                <a16:creationId xmlns:a16="http://schemas.microsoft.com/office/drawing/2014/main" id="{7A797F07-B295-4D13-9C9A-23EA9D416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1347" y="2756242"/>
            <a:ext cx="1289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800">
                <a:latin typeface="+mn-ea"/>
                <a:ea typeface="+mn-ea"/>
              </a:rPr>
              <a:t>步骤</a:t>
            </a:r>
            <a:r>
              <a:rPr lang="en-US" altLang="zh-CN" sz="1800">
                <a:latin typeface="+mn-ea"/>
                <a:ea typeface="+mn-ea"/>
              </a:rPr>
              <a:t>1:</a:t>
            </a:r>
            <a:r>
              <a:rPr lang="zh-CN" altLang="en-US" sz="1800">
                <a:latin typeface="+mn-ea"/>
                <a:ea typeface="+mn-ea"/>
              </a:rPr>
              <a:t>准备</a:t>
            </a:r>
          </a:p>
        </p:txBody>
      </p:sp>
      <p:sp>
        <p:nvSpPr>
          <p:cNvPr id="363" name="Text Box 183">
            <a:extLst>
              <a:ext uri="{FF2B5EF4-FFF2-40B4-BE49-F238E27FC236}">
                <a16:creationId xmlns:a16="http://schemas.microsoft.com/office/drawing/2014/main" id="{CC5DE1E1-AA8D-4E57-A101-5B06093E1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1347" y="3259480"/>
            <a:ext cx="1289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800">
                <a:latin typeface="+mn-ea"/>
                <a:ea typeface="+mn-ea"/>
              </a:rPr>
              <a:t>步骤</a:t>
            </a:r>
            <a:r>
              <a:rPr lang="en-US" altLang="zh-CN" sz="1800">
                <a:latin typeface="+mn-ea"/>
                <a:ea typeface="+mn-ea"/>
              </a:rPr>
              <a:t>2:</a:t>
            </a:r>
            <a:r>
              <a:rPr lang="zh-CN" altLang="en-US" sz="1800">
                <a:latin typeface="+mn-ea"/>
                <a:ea typeface="+mn-ea"/>
              </a:rPr>
              <a:t>就绪</a:t>
            </a:r>
          </a:p>
        </p:txBody>
      </p:sp>
      <p:sp>
        <p:nvSpPr>
          <p:cNvPr id="364" name="Text Box 184">
            <a:extLst>
              <a:ext uri="{FF2B5EF4-FFF2-40B4-BE49-F238E27FC236}">
                <a16:creationId xmlns:a16="http://schemas.microsoft.com/office/drawing/2014/main" id="{0A17A2B6-EF7F-429E-852C-1B1E58E59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1347" y="4051642"/>
            <a:ext cx="1289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800">
                <a:latin typeface="+mn-ea"/>
                <a:ea typeface="+mn-ea"/>
              </a:rPr>
              <a:t>步骤</a:t>
            </a:r>
            <a:r>
              <a:rPr lang="en-US" altLang="zh-CN" sz="1800">
                <a:latin typeface="+mn-ea"/>
                <a:ea typeface="+mn-ea"/>
              </a:rPr>
              <a:t>3:</a:t>
            </a:r>
            <a:r>
              <a:rPr lang="zh-CN" altLang="en-US" sz="1800">
                <a:latin typeface="+mn-ea"/>
                <a:ea typeface="+mn-ea"/>
              </a:rPr>
              <a:t>建立</a:t>
            </a:r>
          </a:p>
        </p:txBody>
      </p:sp>
      <p:sp>
        <p:nvSpPr>
          <p:cNvPr id="365" name="Text Box 185">
            <a:extLst>
              <a:ext uri="{FF2B5EF4-FFF2-40B4-BE49-F238E27FC236}">
                <a16:creationId xmlns:a16="http://schemas.microsoft.com/office/drawing/2014/main" id="{2B117E9E-4FE7-4EEF-AB3D-6C8F4EFE4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1347" y="4915242"/>
            <a:ext cx="1098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800">
                <a:latin typeface="+mn-ea"/>
                <a:ea typeface="+mn-ea"/>
              </a:rPr>
              <a:t>步骤</a:t>
            </a:r>
            <a:r>
              <a:rPr lang="en-US" altLang="zh-CN" sz="1800">
                <a:latin typeface="+mn-ea"/>
                <a:ea typeface="+mn-ea"/>
              </a:rPr>
              <a:t>4:</a:t>
            </a:r>
          </a:p>
          <a:p>
            <a:pPr algn="l"/>
            <a:r>
              <a:rPr lang="zh-CN" altLang="en-US" sz="1800">
                <a:latin typeface="+mn-ea"/>
                <a:ea typeface="+mn-ea"/>
              </a:rPr>
              <a:t>数据传输</a:t>
            </a:r>
          </a:p>
        </p:txBody>
      </p:sp>
      <p:sp>
        <p:nvSpPr>
          <p:cNvPr id="366" name="Text Box 186">
            <a:extLst>
              <a:ext uri="{FF2B5EF4-FFF2-40B4-BE49-F238E27FC236}">
                <a16:creationId xmlns:a16="http://schemas.microsoft.com/office/drawing/2014/main" id="{5F564D20-2F55-41FA-8531-0D62B936F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1347" y="5996330"/>
            <a:ext cx="1289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800">
                <a:latin typeface="+mn-ea"/>
                <a:ea typeface="+mn-ea"/>
              </a:rPr>
              <a:t>步骤</a:t>
            </a:r>
            <a:r>
              <a:rPr lang="en-US" altLang="zh-CN" sz="1800">
                <a:latin typeface="+mn-ea"/>
                <a:ea typeface="+mn-ea"/>
              </a:rPr>
              <a:t>5:</a:t>
            </a:r>
            <a:r>
              <a:rPr lang="zh-CN" altLang="en-US" sz="1800">
                <a:latin typeface="+mn-ea"/>
                <a:ea typeface="+mn-ea"/>
              </a:rPr>
              <a:t>清除</a:t>
            </a:r>
          </a:p>
        </p:txBody>
      </p:sp>
      <p:sp>
        <p:nvSpPr>
          <p:cNvPr id="367" name="Text Box 187">
            <a:extLst>
              <a:ext uri="{FF2B5EF4-FFF2-40B4-BE49-F238E27FC236}">
                <a16:creationId xmlns:a16="http://schemas.microsoft.com/office/drawing/2014/main" id="{301F2621-7BF6-488D-A3F3-0BE32AAA2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8385" y="3764305"/>
            <a:ext cx="590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>
                <a:latin typeface="+mn-ea"/>
                <a:ea typeface="+mn-ea"/>
              </a:rPr>
              <a:t>载波</a:t>
            </a:r>
          </a:p>
        </p:txBody>
      </p:sp>
      <p:sp>
        <p:nvSpPr>
          <p:cNvPr id="368" name="Text Box 188">
            <a:extLst>
              <a:ext uri="{FF2B5EF4-FFF2-40B4-BE49-F238E27FC236}">
                <a16:creationId xmlns:a16="http://schemas.microsoft.com/office/drawing/2014/main" id="{12EBF32C-21FB-4B9F-BC52-457695AA8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8385" y="4267542"/>
            <a:ext cx="590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>
                <a:latin typeface="+mn-ea"/>
                <a:ea typeface="+mn-ea"/>
              </a:rPr>
              <a:t>载波</a:t>
            </a:r>
          </a:p>
        </p:txBody>
      </p:sp>
      <p:sp>
        <p:nvSpPr>
          <p:cNvPr id="369" name="Text Box 189">
            <a:extLst>
              <a:ext uri="{FF2B5EF4-FFF2-40B4-BE49-F238E27FC236}">
                <a16:creationId xmlns:a16="http://schemas.microsoft.com/office/drawing/2014/main" id="{C4157266-9BBE-440C-A071-12F2E799A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8385" y="4627905"/>
            <a:ext cx="590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>
                <a:latin typeface="+mn-ea"/>
                <a:ea typeface="+mn-ea"/>
              </a:rPr>
              <a:t>数据</a:t>
            </a:r>
          </a:p>
        </p:txBody>
      </p:sp>
      <p:sp>
        <p:nvSpPr>
          <p:cNvPr id="370" name="Text Box 190">
            <a:extLst>
              <a:ext uri="{FF2B5EF4-FFF2-40B4-BE49-F238E27FC236}">
                <a16:creationId xmlns:a16="http://schemas.microsoft.com/office/drawing/2014/main" id="{325E7192-120A-4906-9D2D-83D4ACFDD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8385" y="5132730"/>
            <a:ext cx="590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>
                <a:latin typeface="+mn-ea"/>
                <a:ea typeface="+mn-ea"/>
              </a:rPr>
              <a:t>数据</a:t>
            </a:r>
          </a:p>
        </p:txBody>
      </p:sp>
      <p:sp>
        <p:nvSpPr>
          <p:cNvPr id="371" name="Text Box 191">
            <a:extLst>
              <a:ext uri="{FF2B5EF4-FFF2-40B4-BE49-F238E27FC236}">
                <a16:creationId xmlns:a16="http://schemas.microsoft.com/office/drawing/2014/main" id="{6F71705F-BDE4-4A54-B25A-916D3B5C2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6785" y="5731217"/>
            <a:ext cx="793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>
                <a:latin typeface="+mn-ea"/>
                <a:ea typeface="+mn-ea"/>
              </a:rPr>
              <a:t>载波关</a:t>
            </a:r>
          </a:p>
        </p:txBody>
      </p:sp>
      <p:sp>
        <p:nvSpPr>
          <p:cNvPr id="372" name="Text Box 192">
            <a:extLst>
              <a:ext uri="{FF2B5EF4-FFF2-40B4-BE49-F238E27FC236}">
                <a16:creationId xmlns:a16="http://schemas.microsoft.com/office/drawing/2014/main" id="{EEC177C4-406A-4ACB-871F-AF4C6DF84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6785" y="6163017"/>
            <a:ext cx="793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>
                <a:latin typeface="+mn-ea"/>
                <a:ea typeface="+mn-ea"/>
              </a:rPr>
              <a:t>载波关</a:t>
            </a:r>
          </a:p>
        </p:txBody>
      </p:sp>
    </p:spTree>
    <p:extLst>
      <p:ext uri="{BB962C8B-B14F-4D97-AF65-F5344CB8AC3E}">
        <p14:creationId xmlns:p14="http://schemas.microsoft.com/office/powerpoint/2010/main" val="24370568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C7AD07-B79B-4B9B-9948-8A376DAAC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EIA-232</a:t>
            </a:r>
            <a:r>
              <a:rPr lang="zh-CN" altLang="en-US" dirty="0"/>
              <a:t>子集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9A3F01-010F-4B0C-9A17-CFDB5F1F8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由于大多数用户并不需要</a:t>
            </a:r>
            <a:r>
              <a:rPr lang="en-US" altLang="zh-CN" dirty="0"/>
              <a:t>EIA-232</a:t>
            </a:r>
            <a:r>
              <a:rPr lang="zh-CN" altLang="en-US" dirty="0"/>
              <a:t>标准接口的所有功能。</a:t>
            </a:r>
          </a:p>
          <a:p>
            <a:pPr lvl="1"/>
            <a:r>
              <a:rPr lang="zh-CN" altLang="en-US" dirty="0"/>
              <a:t>例如：在异步串行通信中，不需要同步时钟信号线。只需要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/>
              <a:t>7</a:t>
            </a:r>
            <a:r>
              <a:rPr lang="zh-CN" altLang="en-US" dirty="0"/>
              <a:t>、</a:t>
            </a:r>
            <a:r>
              <a:rPr lang="en-US" altLang="zh-CN" dirty="0"/>
              <a:t>8</a:t>
            </a:r>
            <a:r>
              <a:rPr lang="zh-CN" altLang="en-US" dirty="0"/>
              <a:t>、</a:t>
            </a:r>
            <a:r>
              <a:rPr lang="en-US" altLang="zh-CN" dirty="0"/>
              <a:t>20</a:t>
            </a:r>
            <a:r>
              <a:rPr lang="zh-CN" altLang="en-US" dirty="0"/>
              <a:t>和</a:t>
            </a:r>
            <a:r>
              <a:rPr lang="en-US" altLang="zh-CN" dirty="0"/>
              <a:t>22</a:t>
            </a:r>
            <a:r>
              <a:rPr lang="zh-CN" altLang="en-US" dirty="0"/>
              <a:t>号信号线，共</a:t>
            </a:r>
            <a:r>
              <a:rPr lang="en-US" altLang="zh-CN" dirty="0"/>
              <a:t>9</a:t>
            </a:r>
            <a:r>
              <a:rPr lang="zh-CN" altLang="en-US" dirty="0"/>
              <a:t>针。计算机的串行口实际上就是</a:t>
            </a:r>
            <a:r>
              <a:rPr lang="en-US" altLang="zh-CN" dirty="0"/>
              <a:t>EIA-232</a:t>
            </a:r>
            <a:r>
              <a:rPr lang="zh-CN" altLang="en-US" dirty="0"/>
              <a:t>标准接口的一个子集。</a:t>
            </a:r>
          </a:p>
          <a:p>
            <a:r>
              <a:rPr lang="zh-CN" altLang="en-US" dirty="0"/>
              <a:t>很多实际的</a:t>
            </a:r>
            <a:r>
              <a:rPr lang="en-US" altLang="zh-CN" dirty="0"/>
              <a:t>DTE—DCE</a:t>
            </a:r>
            <a:r>
              <a:rPr lang="zh-CN" altLang="en-US" dirty="0"/>
              <a:t>接口只用到</a:t>
            </a:r>
            <a:r>
              <a:rPr lang="en-US" altLang="zh-CN" dirty="0"/>
              <a:t>9</a:t>
            </a:r>
            <a:r>
              <a:rPr lang="zh-CN" altLang="en-US" dirty="0"/>
              <a:t>针的连接器，这是</a:t>
            </a:r>
            <a:r>
              <a:rPr lang="en-US" altLang="zh-CN" dirty="0"/>
              <a:t>EIA-232</a:t>
            </a:r>
            <a:r>
              <a:rPr lang="zh-CN" altLang="en-US" dirty="0"/>
              <a:t>标准接口的一个子集。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C0633A-708E-43C6-9AC5-8C6EBC3A0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/>
              <a:pPr>
                <a:defRPr/>
              </a:pPr>
              <a:t>38</a:t>
            </a:fld>
            <a:endParaRPr lang="en-US" altLang="zh-CN" dirty="0"/>
          </a:p>
        </p:txBody>
      </p:sp>
      <p:pic>
        <p:nvPicPr>
          <p:cNvPr id="5" name="Picture 8" descr="150px-RS-232">
            <a:extLst>
              <a:ext uri="{FF2B5EF4-FFF2-40B4-BE49-F238E27FC236}">
                <a16:creationId xmlns:a16="http://schemas.microsoft.com/office/drawing/2014/main" id="{0654944D-BB18-4F37-B08A-97106E52E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4232" y="4149080"/>
            <a:ext cx="2101850" cy="1582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50263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EFC717-FD35-46C5-9D94-4A2F6ECA5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USB</a:t>
            </a:r>
            <a:r>
              <a:rPr lang="zh-CN" altLang="en-US" dirty="0"/>
              <a:t>（</a:t>
            </a:r>
            <a:r>
              <a:rPr lang="en-US" altLang="zh-CN" dirty="0"/>
              <a:t>Universal Serial Bus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80DF1A-4335-4D37-BEE2-D81FE4E83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/>
              <a:pPr>
                <a:defRPr/>
              </a:pPr>
              <a:t>39</a:t>
            </a:fld>
            <a:endParaRPr lang="en-US" altLang="zh-CN" dirty="0"/>
          </a:p>
        </p:txBody>
      </p:sp>
      <p:pic>
        <p:nvPicPr>
          <p:cNvPr id="5" name="Picture 4" descr="https://upload.wikimedia.org/wikipedia/commons/4/43/USB_2.0_and_3.0_connectors.png">
            <a:extLst>
              <a:ext uri="{FF2B5EF4-FFF2-40B4-BE49-F238E27FC236}">
                <a16:creationId xmlns:a16="http://schemas.microsoft.com/office/drawing/2014/main" id="{FC86A947-0904-4E44-AD96-5F2D0134D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648" y="3609258"/>
            <a:ext cx="6068834" cy="30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CB6BF8C-FC75-406F-B515-9BB6B74CA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526055"/>
              </p:ext>
            </p:extLst>
          </p:nvPr>
        </p:nvGraphicFramePr>
        <p:xfrm>
          <a:off x="1847850" y="1124744"/>
          <a:ext cx="8642352" cy="2520279"/>
        </p:xfrm>
        <a:graphic>
          <a:graphicData uri="http://schemas.openxmlformats.org/drawingml/2006/table">
            <a:tbl>
              <a:tblPr/>
              <a:tblGrid>
                <a:gridCol w="1367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1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38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8291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标准</a:t>
                      </a:r>
                      <a:endParaRPr 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  <a:latin typeface="+mn-ea"/>
                          <a:ea typeface="+mn-ea"/>
                        </a:rPr>
                        <a:t>USB 1.0</a:t>
                      </a:r>
                      <a:br>
                        <a:rPr lang="en-US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sz="1600" dirty="0">
                          <a:effectLst/>
                          <a:latin typeface="+mn-ea"/>
                          <a:ea typeface="+mn-ea"/>
                        </a:rPr>
                        <a:t>1996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  <a:latin typeface="+mn-ea"/>
                          <a:ea typeface="+mn-ea"/>
                        </a:rPr>
                        <a:t>USB 2.0</a:t>
                      </a:r>
                      <a:br>
                        <a:rPr lang="en-US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sz="1600" dirty="0">
                          <a:effectLst/>
                          <a:latin typeface="+mn-ea"/>
                          <a:ea typeface="+mn-ea"/>
                        </a:rPr>
                        <a:t>2001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  <a:latin typeface="+mn-ea"/>
                          <a:ea typeface="+mn-ea"/>
                        </a:rPr>
                        <a:t>USB 2.0</a:t>
                      </a:r>
                      <a:br>
                        <a:rPr lang="en-US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sz="1600" dirty="0">
                          <a:effectLst/>
                          <a:latin typeface="+mn-ea"/>
                          <a:ea typeface="+mn-ea"/>
                        </a:rPr>
                        <a:t>Revised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  <a:latin typeface="+mn-ea"/>
                          <a:ea typeface="+mn-ea"/>
                        </a:rPr>
                        <a:t>USB 3.0</a:t>
                      </a:r>
                      <a:br>
                        <a:rPr lang="en-US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sz="1600" dirty="0">
                          <a:effectLst/>
                          <a:latin typeface="+mn-ea"/>
                          <a:ea typeface="+mn-ea"/>
                        </a:rPr>
                        <a:t>2011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  <a:latin typeface="+mn-ea"/>
                          <a:ea typeface="+mn-ea"/>
                        </a:rPr>
                        <a:t>USB 3.1 &amp; 3.2</a:t>
                      </a:r>
                      <a:br>
                        <a:rPr lang="en-US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sz="1600" dirty="0">
                          <a:effectLst/>
                          <a:latin typeface="+mn-ea"/>
                          <a:ea typeface="+mn-ea"/>
                        </a:rPr>
                        <a:t>2014 &amp; 2017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347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速率</a:t>
                      </a:r>
                      <a:endParaRPr 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  <a:latin typeface="+mn-ea"/>
                          <a:ea typeface="+mn-ea"/>
                        </a:rPr>
                        <a:t>187.5 kB/s</a:t>
                      </a:r>
                      <a:br>
                        <a:rPr lang="en-US" sz="160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sz="160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i="1">
                          <a:effectLst/>
                          <a:latin typeface="+mn-ea"/>
                          <a:ea typeface="+mn-ea"/>
                        </a:rPr>
                        <a:t>Low Speed</a:t>
                      </a:r>
                      <a:r>
                        <a:rPr lang="en-US" sz="1600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600">
                          <a:effectLst/>
                          <a:latin typeface="+mn-ea"/>
                          <a:ea typeface="+mn-ea"/>
                        </a:rPr>
                        <a:t>60 MB/s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600">
                          <a:effectLst/>
                          <a:latin typeface="+mn-ea"/>
                          <a:ea typeface="+mn-ea"/>
                        </a:rPr>
                        <a:t>60 MB/s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600">
                          <a:effectLst/>
                          <a:latin typeface="+mn-ea"/>
                          <a:ea typeface="+mn-ea"/>
                        </a:rPr>
                        <a:t>625 MB/s</a:t>
                      </a:r>
                      <a:br>
                        <a:rPr lang="en-US" sz="160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sz="160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i="1">
                          <a:effectLst/>
                          <a:latin typeface="+mn-ea"/>
                          <a:ea typeface="+mn-ea"/>
                        </a:rPr>
                        <a:t>SuperSpeed</a:t>
                      </a:r>
                      <a:r>
                        <a:rPr lang="en-US" sz="1600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600">
                          <a:effectLst/>
                          <a:latin typeface="+mn-ea"/>
                          <a:ea typeface="+mn-ea"/>
                        </a:rPr>
                        <a:t>1.25 GB/s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05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600">
                          <a:effectLst/>
                          <a:latin typeface="+mn-ea"/>
                          <a:ea typeface="+mn-ea"/>
                        </a:rPr>
                        <a:t>1.5 MB/s</a:t>
                      </a:r>
                      <a:br>
                        <a:rPr lang="en-US" sz="160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sz="160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i="1">
                          <a:effectLst/>
                          <a:latin typeface="+mn-ea"/>
                          <a:ea typeface="+mn-ea"/>
                        </a:rPr>
                        <a:t>Full Speed</a:t>
                      </a:r>
                      <a:r>
                        <a:rPr lang="en-US" sz="1600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9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+mn-ea"/>
                          <a:ea typeface="+mn-ea"/>
                        </a:rPr>
                        <a:t>2.5 GB/s</a:t>
                      </a:r>
                      <a:br>
                        <a:rPr lang="en-US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sz="16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i="1" dirty="0">
                          <a:effectLst/>
                          <a:latin typeface="+mn-ea"/>
                          <a:ea typeface="+mn-ea"/>
                        </a:rPr>
                        <a:t>SuperSpeed+</a:t>
                      </a:r>
                      <a:r>
                        <a:rPr lang="en-US" sz="160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972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86F781-4ECC-4A01-AAA3-14515549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USB 2.0/3.0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E64E70-E424-4D7E-8288-3B2815B3E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USB 2.0:</a:t>
            </a:r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线用于供电</a:t>
            </a:r>
            <a:r>
              <a:rPr lang="en-US" altLang="zh-CN" dirty="0"/>
              <a:t>(VBUS and GND)</a:t>
            </a:r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线用于差分信号传输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USB 3.0: </a:t>
            </a:r>
          </a:p>
          <a:p>
            <a:pPr lvl="1"/>
            <a:r>
              <a:rPr lang="en-US" altLang="zh-CN" dirty="0"/>
              <a:t>4</a:t>
            </a:r>
            <a:r>
              <a:rPr lang="zh-CN" altLang="en-US" dirty="0"/>
              <a:t>线用于传输</a:t>
            </a:r>
            <a:r>
              <a:rPr lang="en-US" altLang="zh-CN" dirty="0"/>
              <a:t>: </a:t>
            </a:r>
            <a:r>
              <a:rPr lang="en-US" altLang="zh-CN" dirty="0" err="1"/>
              <a:t>SSTx</a:t>
            </a:r>
            <a:r>
              <a:rPr lang="en-US" altLang="zh-CN" dirty="0"/>
              <a:t>+, </a:t>
            </a:r>
            <a:r>
              <a:rPr lang="en-US" altLang="zh-CN" dirty="0" err="1"/>
              <a:t>SSTx</a:t>
            </a:r>
            <a:r>
              <a:rPr lang="en-US" altLang="zh-CN" dirty="0"/>
              <a:t>−, </a:t>
            </a:r>
            <a:r>
              <a:rPr lang="en-US" altLang="zh-CN" dirty="0" err="1"/>
              <a:t>SSRx</a:t>
            </a:r>
            <a:r>
              <a:rPr lang="en-US" altLang="zh-CN" dirty="0"/>
              <a:t>+ and </a:t>
            </a:r>
            <a:r>
              <a:rPr lang="en-US" altLang="zh-CN" dirty="0" err="1"/>
              <a:t>SSRx</a:t>
            </a:r>
            <a:r>
              <a:rPr lang="en-US" altLang="zh-CN" dirty="0"/>
              <a:t>−</a:t>
            </a:r>
          </a:p>
          <a:p>
            <a:pPr lvl="1"/>
            <a:r>
              <a:rPr lang="zh-CN" altLang="en-US" dirty="0"/>
              <a:t>全双工数据传输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2F34B0-D5E8-462B-AD25-887A347A4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/>
              <a:pPr>
                <a:defRPr/>
              </a:pPr>
              <a:t>40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704799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F96EEA-33CD-4EF9-92C2-070922729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USB 2.0 </a:t>
            </a:r>
            <a:r>
              <a:rPr lang="zh-CN" altLang="en-US" dirty="0"/>
              <a:t>引脚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4C5E53-9910-4C60-87AD-ADE5B0A74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/>
              <a:pPr>
                <a:defRPr/>
              </a:pPr>
              <a:t>41</a:t>
            </a:fld>
            <a:endParaRPr lang="en-US" altLang="zh-CN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9D75E57-06F4-4138-B3FB-2AB5F0186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370325"/>
              </p:ext>
            </p:extLst>
          </p:nvPr>
        </p:nvGraphicFramePr>
        <p:xfrm>
          <a:off x="4069151" y="1600617"/>
          <a:ext cx="6049020" cy="2288178"/>
        </p:xfrm>
        <a:graphic>
          <a:graphicData uri="http://schemas.openxmlformats.org/drawingml/2006/table">
            <a:tbl>
              <a:tblPr/>
              <a:tblGrid>
                <a:gridCol w="792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9378">
                <a:tc gridSpan="5"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</a:rPr>
                        <a:t>Type-A and -B pinout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8F9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Pin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Wire color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V</a:t>
                      </a:r>
                      <a:r>
                        <a:rPr lang="en-US" baseline="-25000" dirty="0">
                          <a:effectLst/>
                        </a:rPr>
                        <a:t>BUS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FFFF"/>
                          </a:solidFill>
                          <a:effectLst/>
                        </a:rPr>
                        <a:t>Red or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Orange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+5 V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D−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White or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Gold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Data−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D+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FFFF"/>
                          </a:solidFill>
                          <a:effectLst/>
                        </a:rPr>
                        <a:t>Green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Data+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u="none" strike="noStrike" dirty="0">
                          <a:solidFill>
                            <a:srgbClr val="0B0080"/>
                          </a:solidFill>
                          <a:effectLst/>
                        </a:rPr>
                        <a:t>GND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FFFF"/>
                          </a:solidFill>
                          <a:effectLst/>
                        </a:rPr>
                        <a:t>Black or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FFFF"/>
                          </a:solidFill>
                          <a:effectLst/>
                        </a:rPr>
                        <a:t>Blue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Ground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2" descr="https://upload.wikimedia.org/wikipedia/commons/thumb/7/7f/USB_2.0_connectors.svg/250px-USB_2.0_connectors.svg.png">
            <a:extLst>
              <a:ext uri="{FF2B5EF4-FFF2-40B4-BE49-F238E27FC236}">
                <a16:creationId xmlns:a16="http://schemas.microsoft.com/office/drawing/2014/main" id="{51A88E01-0BD8-4D5B-AB87-02EBBA6B3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871" y="1364497"/>
            <a:ext cx="2381250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22044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2447AD-E953-4F87-AE57-52DA6F880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差分信号</a:t>
            </a:r>
            <a:r>
              <a:rPr lang="en-US" altLang="zh-CN" dirty="0"/>
              <a:t>(Differential signaling)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26FF51-3BA3-44F8-BB81-60C022FC7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/>
              <a:pPr>
                <a:defRPr/>
              </a:pPr>
              <a:t>42</a:t>
            </a:fld>
            <a:endParaRPr lang="en-US" altLang="zh-CN" dirty="0"/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3D31FE63-731E-40AE-B20F-52A06AEBA036}"/>
              </a:ext>
            </a:extLst>
          </p:cNvPr>
          <p:cNvGrpSpPr/>
          <p:nvPr/>
        </p:nvGrpSpPr>
        <p:grpSpPr>
          <a:xfrm>
            <a:off x="458281" y="3466804"/>
            <a:ext cx="2155772" cy="1938331"/>
            <a:chOff x="191344" y="1419225"/>
            <a:chExt cx="2155772" cy="1938331"/>
          </a:xfrm>
        </p:grpSpPr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AF163487-D694-4B76-BD55-B1949EE0C4DD}"/>
                </a:ext>
              </a:extLst>
            </p:cNvPr>
            <p:cNvSpPr/>
            <p:nvPr/>
          </p:nvSpPr>
          <p:spPr bwMode="auto">
            <a:xfrm>
              <a:off x="191344" y="1419225"/>
              <a:ext cx="2155769" cy="153471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31715E34-7748-48EA-92F0-57D8A4CF6838}"/>
                </a:ext>
              </a:extLst>
            </p:cNvPr>
            <p:cNvSpPr/>
            <p:nvPr/>
          </p:nvSpPr>
          <p:spPr bwMode="auto">
            <a:xfrm>
              <a:off x="342215" y="1821559"/>
              <a:ext cx="1655762" cy="989081"/>
            </a:xfrm>
            <a:custGeom>
              <a:avLst/>
              <a:gdLst>
                <a:gd name="connsiteX0" fmla="*/ 0 w 1498600"/>
                <a:gd name="connsiteY0" fmla="*/ 920295 h 921971"/>
                <a:gd name="connsiteX1" fmla="*/ 190500 w 1498600"/>
                <a:gd name="connsiteY1" fmla="*/ 799645 h 921971"/>
                <a:gd name="connsiteX2" fmla="*/ 450850 w 1498600"/>
                <a:gd name="connsiteY2" fmla="*/ 145595 h 921971"/>
                <a:gd name="connsiteX3" fmla="*/ 1098550 w 1498600"/>
                <a:gd name="connsiteY3" fmla="*/ 56695 h 921971"/>
                <a:gd name="connsiteX4" fmla="*/ 1308100 w 1498600"/>
                <a:gd name="connsiteY4" fmla="*/ 850445 h 921971"/>
                <a:gd name="connsiteX5" fmla="*/ 1498600 w 1498600"/>
                <a:gd name="connsiteY5" fmla="*/ 882195 h 921971"/>
                <a:gd name="connsiteX0" fmla="*/ 0 w 1498600"/>
                <a:gd name="connsiteY0" fmla="*/ 956220 h 959247"/>
                <a:gd name="connsiteX1" fmla="*/ 190500 w 1498600"/>
                <a:gd name="connsiteY1" fmla="*/ 835570 h 959247"/>
                <a:gd name="connsiteX2" fmla="*/ 450850 w 1498600"/>
                <a:gd name="connsiteY2" fmla="*/ 98970 h 959247"/>
                <a:gd name="connsiteX3" fmla="*/ 1098550 w 1498600"/>
                <a:gd name="connsiteY3" fmla="*/ 92620 h 959247"/>
                <a:gd name="connsiteX4" fmla="*/ 1308100 w 1498600"/>
                <a:gd name="connsiteY4" fmla="*/ 886370 h 959247"/>
                <a:gd name="connsiteX5" fmla="*/ 1498600 w 1498600"/>
                <a:gd name="connsiteY5" fmla="*/ 918120 h 959247"/>
                <a:gd name="connsiteX0" fmla="*/ 0 w 1520031"/>
                <a:gd name="connsiteY0" fmla="*/ 956220 h 972888"/>
                <a:gd name="connsiteX1" fmla="*/ 190500 w 1520031"/>
                <a:gd name="connsiteY1" fmla="*/ 835570 h 972888"/>
                <a:gd name="connsiteX2" fmla="*/ 450850 w 1520031"/>
                <a:gd name="connsiteY2" fmla="*/ 98970 h 972888"/>
                <a:gd name="connsiteX3" fmla="*/ 1098550 w 1520031"/>
                <a:gd name="connsiteY3" fmla="*/ 92620 h 972888"/>
                <a:gd name="connsiteX4" fmla="*/ 1308100 w 1520031"/>
                <a:gd name="connsiteY4" fmla="*/ 886370 h 972888"/>
                <a:gd name="connsiteX5" fmla="*/ 1520031 w 1520031"/>
                <a:gd name="connsiteY5" fmla="*/ 953839 h 972888"/>
                <a:gd name="connsiteX0" fmla="*/ 0 w 1558131"/>
                <a:gd name="connsiteY0" fmla="*/ 956220 h 986516"/>
                <a:gd name="connsiteX1" fmla="*/ 190500 w 1558131"/>
                <a:gd name="connsiteY1" fmla="*/ 835570 h 986516"/>
                <a:gd name="connsiteX2" fmla="*/ 450850 w 1558131"/>
                <a:gd name="connsiteY2" fmla="*/ 98970 h 986516"/>
                <a:gd name="connsiteX3" fmla="*/ 1098550 w 1558131"/>
                <a:gd name="connsiteY3" fmla="*/ 92620 h 986516"/>
                <a:gd name="connsiteX4" fmla="*/ 1308100 w 1558131"/>
                <a:gd name="connsiteY4" fmla="*/ 886370 h 986516"/>
                <a:gd name="connsiteX5" fmla="*/ 1558131 w 1558131"/>
                <a:gd name="connsiteY5" fmla="*/ 977651 h 986516"/>
                <a:gd name="connsiteX0" fmla="*/ 0 w 1598612"/>
                <a:gd name="connsiteY0" fmla="*/ 975270 h 986516"/>
                <a:gd name="connsiteX1" fmla="*/ 230981 w 1598612"/>
                <a:gd name="connsiteY1" fmla="*/ 835570 h 986516"/>
                <a:gd name="connsiteX2" fmla="*/ 491331 w 1598612"/>
                <a:gd name="connsiteY2" fmla="*/ 98970 h 986516"/>
                <a:gd name="connsiteX3" fmla="*/ 1139031 w 1598612"/>
                <a:gd name="connsiteY3" fmla="*/ 92620 h 986516"/>
                <a:gd name="connsiteX4" fmla="*/ 1348581 w 1598612"/>
                <a:gd name="connsiteY4" fmla="*/ 886370 h 986516"/>
                <a:gd name="connsiteX5" fmla="*/ 1598612 w 1598612"/>
                <a:gd name="connsiteY5" fmla="*/ 977651 h 986516"/>
                <a:gd name="connsiteX0" fmla="*/ 0 w 1655762"/>
                <a:gd name="connsiteY0" fmla="*/ 975270 h 991351"/>
                <a:gd name="connsiteX1" fmla="*/ 230981 w 1655762"/>
                <a:gd name="connsiteY1" fmla="*/ 835570 h 991351"/>
                <a:gd name="connsiteX2" fmla="*/ 491331 w 1655762"/>
                <a:gd name="connsiteY2" fmla="*/ 98970 h 991351"/>
                <a:gd name="connsiteX3" fmla="*/ 1139031 w 1655762"/>
                <a:gd name="connsiteY3" fmla="*/ 92620 h 991351"/>
                <a:gd name="connsiteX4" fmla="*/ 1348581 w 1655762"/>
                <a:gd name="connsiteY4" fmla="*/ 886370 h 991351"/>
                <a:gd name="connsiteX5" fmla="*/ 1655762 w 1655762"/>
                <a:gd name="connsiteY5" fmla="*/ 984795 h 991351"/>
                <a:gd name="connsiteX0" fmla="*/ 0 w 1655762"/>
                <a:gd name="connsiteY0" fmla="*/ 981820 h 997901"/>
                <a:gd name="connsiteX1" fmla="*/ 230981 w 1655762"/>
                <a:gd name="connsiteY1" fmla="*/ 842120 h 997901"/>
                <a:gd name="connsiteX2" fmla="*/ 486569 w 1655762"/>
                <a:gd name="connsiteY2" fmla="*/ 93614 h 997901"/>
                <a:gd name="connsiteX3" fmla="*/ 1139031 w 1655762"/>
                <a:gd name="connsiteY3" fmla="*/ 99170 h 997901"/>
                <a:gd name="connsiteX4" fmla="*/ 1348581 w 1655762"/>
                <a:gd name="connsiteY4" fmla="*/ 892920 h 997901"/>
                <a:gd name="connsiteX5" fmla="*/ 1655762 w 1655762"/>
                <a:gd name="connsiteY5" fmla="*/ 991345 h 997901"/>
                <a:gd name="connsiteX0" fmla="*/ 0 w 1655762"/>
                <a:gd name="connsiteY0" fmla="*/ 987266 h 1003347"/>
                <a:gd name="connsiteX1" fmla="*/ 230981 w 1655762"/>
                <a:gd name="connsiteY1" fmla="*/ 847566 h 1003347"/>
                <a:gd name="connsiteX2" fmla="*/ 486569 w 1655762"/>
                <a:gd name="connsiteY2" fmla="*/ 99060 h 1003347"/>
                <a:gd name="connsiteX3" fmla="*/ 1167606 w 1655762"/>
                <a:gd name="connsiteY3" fmla="*/ 95091 h 1003347"/>
                <a:gd name="connsiteX4" fmla="*/ 1348581 w 1655762"/>
                <a:gd name="connsiteY4" fmla="*/ 898366 h 1003347"/>
                <a:gd name="connsiteX5" fmla="*/ 1655762 w 1655762"/>
                <a:gd name="connsiteY5" fmla="*/ 996791 h 1003347"/>
                <a:gd name="connsiteX0" fmla="*/ 0 w 1655762"/>
                <a:gd name="connsiteY0" fmla="*/ 988562 h 1004643"/>
                <a:gd name="connsiteX1" fmla="*/ 230981 w 1655762"/>
                <a:gd name="connsiteY1" fmla="*/ 848862 h 1004643"/>
                <a:gd name="connsiteX2" fmla="*/ 446088 w 1655762"/>
                <a:gd name="connsiteY2" fmla="*/ 97975 h 1004643"/>
                <a:gd name="connsiteX3" fmla="*/ 1167606 w 1655762"/>
                <a:gd name="connsiteY3" fmla="*/ 96387 h 1004643"/>
                <a:gd name="connsiteX4" fmla="*/ 1348581 w 1655762"/>
                <a:gd name="connsiteY4" fmla="*/ 899662 h 1004643"/>
                <a:gd name="connsiteX5" fmla="*/ 1655762 w 1655762"/>
                <a:gd name="connsiteY5" fmla="*/ 998087 h 1004643"/>
                <a:gd name="connsiteX0" fmla="*/ 0 w 1655762"/>
                <a:gd name="connsiteY0" fmla="*/ 989872 h 1005953"/>
                <a:gd name="connsiteX1" fmla="*/ 230981 w 1655762"/>
                <a:gd name="connsiteY1" fmla="*/ 850172 h 1005953"/>
                <a:gd name="connsiteX2" fmla="*/ 415131 w 1655762"/>
                <a:gd name="connsiteY2" fmla="*/ 96904 h 1005953"/>
                <a:gd name="connsiteX3" fmla="*/ 1167606 w 1655762"/>
                <a:gd name="connsiteY3" fmla="*/ 97697 h 1005953"/>
                <a:gd name="connsiteX4" fmla="*/ 1348581 w 1655762"/>
                <a:gd name="connsiteY4" fmla="*/ 900972 h 1005953"/>
                <a:gd name="connsiteX5" fmla="*/ 1655762 w 1655762"/>
                <a:gd name="connsiteY5" fmla="*/ 999397 h 1005953"/>
                <a:gd name="connsiteX0" fmla="*/ 0 w 1655762"/>
                <a:gd name="connsiteY0" fmla="*/ 987624 h 997943"/>
                <a:gd name="connsiteX1" fmla="*/ 230981 w 1655762"/>
                <a:gd name="connsiteY1" fmla="*/ 847924 h 997943"/>
                <a:gd name="connsiteX2" fmla="*/ 415131 w 1655762"/>
                <a:gd name="connsiteY2" fmla="*/ 94656 h 997943"/>
                <a:gd name="connsiteX3" fmla="*/ 1167606 w 1655762"/>
                <a:gd name="connsiteY3" fmla="*/ 95449 h 997943"/>
                <a:gd name="connsiteX4" fmla="*/ 1336674 w 1655762"/>
                <a:gd name="connsiteY4" fmla="*/ 863005 h 997943"/>
                <a:gd name="connsiteX5" fmla="*/ 1655762 w 1655762"/>
                <a:gd name="connsiteY5" fmla="*/ 997149 h 997943"/>
                <a:gd name="connsiteX0" fmla="*/ 0 w 1655762"/>
                <a:gd name="connsiteY0" fmla="*/ 987624 h 989081"/>
                <a:gd name="connsiteX1" fmla="*/ 230981 w 1655762"/>
                <a:gd name="connsiteY1" fmla="*/ 847924 h 989081"/>
                <a:gd name="connsiteX2" fmla="*/ 415131 w 1655762"/>
                <a:gd name="connsiteY2" fmla="*/ 94656 h 989081"/>
                <a:gd name="connsiteX3" fmla="*/ 1167606 w 1655762"/>
                <a:gd name="connsiteY3" fmla="*/ 95449 h 989081"/>
                <a:gd name="connsiteX4" fmla="*/ 1336674 w 1655762"/>
                <a:gd name="connsiteY4" fmla="*/ 863005 h 989081"/>
                <a:gd name="connsiteX5" fmla="*/ 1655762 w 1655762"/>
                <a:gd name="connsiteY5" fmla="*/ 986434 h 989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55762" h="989081">
                  <a:moveTo>
                    <a:pt x="0" y="987624"/>
                  </a:moveTo>
                  <a:cubicBezTo>
                    <a:pt x="57679" y="991857"/>
                    <a:pt x="161793" y="996752"/>
                    <a:pt x="230981" y="847924"/>
                  </a:cubicBezTo>
                  <a:cubicBezTo>
                    <a:pt x="300169" y="699096"/>
                    <a:pt x="259027" y="220068"/>
                    <a:pt x="415131" y="94656"/>
                  </a:cubicBezTo>
                  <a:cubicBezTo>
                    <a:pt x="571235" y="-30756"/>
                    <a:pt x="1014016" y="-32609"/>
                    <a:pt x="1167606" y="95449"/>
                  </a:cubicBezTo>
                  <a:cubicBezTo>
                    <a:pt x="1321196" y="223507"/>
                    <a:pt x="1269999" y="725422"/>
                    <a:pt x="1336674" y="863005"/>
                  </a:cubicBezTo>
                  <a:cubicBezTo>
                    <a:pt x="1403349" y="1000588"/>
                    <a:pt x="1613429" y="989609"/>
                    <a:pt x="1655762" y="986434"/>
                  </a:cubicBezTo>
                </a:path>
              </a:pathLst>
            </a:cu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85C7BE4B-9DDD-4010-9069-2E32CC7CC00F}"/>
                </a:ext>
              </a:extLst>
            </p:cNvPr>
            <p:cNvCxnSpPr>
              <a:endCxn id="7" idx="0"/>
            </p:cNvCxnSpPr>
            <p:nvPr/>
          </p:nvCxnSpPr>
          <p:spPr bwMode="auto">
            <a:xfrm>
              <a:off x="342215" y="2809183"/>
              <a:ext cx="0" cy="0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FE58D517-20EE-4E4E-856E-8066263C14DF}"/>
                </a:ext>
              </a:extLst>
            </p:cNvPr>
            <p:cNvCxnSpPr>
              <a:stCxn id="7" idx="0"/>
            </p:cNvCxnSpPr>
            <p:nvPr/>
          </p:nvCxnSpPr>
          <p:spPr bwMode="auto">
            <a:xfrm flipV="1">
              <a:off x="342215" y="1542383"/>
              <a:ext cx="0" cy="126680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1501EECC-773D-4688-94EE-147512425A48}"/>
                </a:ext>
              </a:extLst>
            </p:cNvPr>
            <p:cNvCxnSpPr/>
            <p:nvPr/>
          </p:nvCxnSpPr>
          <p:spPr bwMode="auto">
            <a:xfrm>
              <a:off x="342215" y="2814144"/>
              <a:ext cx="1896889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0AEEEFD-D362-495E-BE05-F3C886B98922}"/>
                </a:ext>
              </a:extLst>
            </p:cNvPr>
            <p:cNvSpPr txBox="1"/>
            <p:nvPr/>
          </p:nvSpPr>
          <p:spPr>
            <a:xfrm>
              <a:off x="2131092" y="2478486"/>
              <a:ext cx="2160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</a:t>
              </a:r>
              <a:endParaRPr lang="zh-CN" altLang="en-US" i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AD079EB9-31FC-484B-B75D-E896465A46E2}"/>
                </a:ext>
              </a:extLst>
            </p:cNvPr>
            <p:cNvSpPr txBox="1"/>
            <p:nvPr/>
          </p:nvSpPr>
          <p:spPr>
            <a:xfrm>
              <a:off x="795607" y="2957446"/>
              <a:ext cx="98772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发送方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335B484-EB77-4FAA-B4D8-B9FDA22AC030}"/>
              </a:ext>
            </a:extLst>
          </p:cNvPr>
          <p:cNvGrpSpPr/>
          <p:nvPr/>
        </p:nvGrpSpPr>
        <p:grpSpPr>
          <a:xfrm>
            <a:off x="2757870" y="2315763"/>
            <a:ext cx="1345695" cy="1449958"/>
            <a:chOff x="670718" y="1628801"/>
            <a:chExt cx="2004902" cy="2160240"/>
          </a:xfrm>
        </p:grpSpPr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2AFFC9CA-1318-4E36-A672-35E3B7A66E20}"/>
                </a:ext>
              </a:extLst>
            </p:cNvPr>
            <p:cNvSpPr/>
            <p:nvPr/>
          </p:nvSpPr>
          <p:spPr bwMode="auto">
            <a:xfrm rot="10800000">
              <a:off x="670718" y="2402517"/>
              <a:ext cx="1655762" cy="989081"/>
            </a:xfrm>
            <a:custGeom>
              <a:avLst/>
              <a:gdLst>
                <a:gd name="connsiteX0" fmla="*/ 0 w 1498600"/>
                <a:gd name="connsiteY0" fmla="*/ 920295 h 921971"/>
                <a:gd name="connsiteX1" fmla="*/ 190500 w 1498600"/>
                <a:gd name="connsiteY1" fmla="*/ 799645 h 921971"/>
                <a:gd name="connsiteX2" fmla="*/ 450850 w 1498600"/>
                <a:gd name="connsiteY2" fmla="*/ 145595 h 921971"/>
                <a:gd name="connsiteX3" fmla="*/ 1098550 w 1498600"/>
                <a:gd name="connsiteY3" fmla="*/ 56695 h 921971"/>
                <a:gd name="connsiteX4" fmla="*/ 1308100 w 1498600"/>
                <a:gd name="connsiteY4" fmla="*/ 850445 h 921971"/>
                <a:gd name="connsiteX5" fmla="*/ 1498600 w 1498600"/>
                <a:gd name="connsiteY5" fmla="*/ 882195 h 921971"/>
                <a:gd name="connsiteX0" fmla="*/ 0 w 1498600"/>
                <a:gd name="connsiteY0" fmla="*/ 956220 h 959247"/>
                <a:gd name="connsiteX1" fmla="*/ 190500 w 1498600"/>
                <a:gd name="connsiteY1" fmla="*/ 835570 h 959247"/>
                <a:gd name="connsiteX2" fmla="*/ 450850 w 1498600"/>
                <a:gd name="connsiteY2" fmla="*/ 98970 h 959247"/>
                <a:gd name="connsiteX3" fmla="*/ 1098550 w 1498600"/>
                <a:gd name="connsiteY3" fmla="*/ 92620 h 959247"/>
                <a:gd name="connsiteX4" fmla="*/ 1308100 w 1498600"/>
                <a:gd name="connsiteY4" fmla="*/ 886370 h 959247"/>
                <a:gd name="connsiteX5" fmla="*/ 1498600 w 1498600"/>
                <a:gd name="connsiteY5" fmla="*/ 918120 h 959247"/>
                <a:gd name="connsiteX0" fmla="*/ 0 w 1520031"/>
                <a:gd name="connsiteY0" fmla="*/ 956220 h 972888"/>
                <a:gd name="connsiteX1" fmla="*/ 190500 w 1520031"/>
                <a:gd name="connsiteY1" fmla="*/ 835570 h 972888"/>
                <a:gd name="connsiteX2" fmla="*/ 450850 w 1520031"/>
                <a:gd name="connsiteY2" fmla="*/ 98970 h 972888"/>
                <a:gd name="connsiteX3" fmla="*/ 1098550 w 1520031"/>
                <a:gd name="connsiteY3" fmla="*/ 92620 h 972888"/>
                <a:gd name="connsiteX4" fmla="*/ 1308100 w 1520031"/>
                <a:gd name="connsiteY4" fmla="*/ 886370 h 972888"/>
                <a:gd name="connsiteX5" fmla="*/ 1520031 w 1520031"/>
                <a:gd name="connsiteY5" fmla="*/ 953839 h 972888"/>
                <a:gd name="connsiteX0" fmla="*/ 0 w 1558131"/>
                <a:gd name="connsiteY0" fmla="*/ 956220 h 986516"/>
                <a:gd name="connsiteX1" fmla="*/ 190500 w 1558131"/>
                <a:gd name="connsiteY1" fmla="*/ 835570 h 986516"/>
                <a:gd name="connsiteX2" fmla="*/ 450850 w 1558131"/>
                <a:gd name="connsiteY2" fmla="*/ 98970 h 986516"/>
                <a:gd name="connsiteX3" fmla="*/ 1098550 w 1558131"/>
                <a:gd name="connsiteY3" fmla="*/ 92620 h 986516"/>
                <a:gd name="connsiteX4" fmla="*/ 1308100 w 1558131"/>
                <a:gd name="connsiteY4" fmla="*/ 886370 h 986516"/>
                <a:gd name="connsiteX5" fmla="*/ 1558131 w 1558131"/>
                <a:gd name="connsiteY5" fmla="*/ 977651 h 986516"/>
                <a:gd name="connsiteX0" fmla="*/ 0 w 1598612"/>
                <a:gd name="connsiteY0" fmla="*/ 975270 h 986516"/>
                <a:gd name="connsiteX1" fmla="*/ 230981 w 1598612"/>
                <a:gd name="connsiteY1" fmla="*/ 835570 h 986516"/>
                <a:gd name="connsiteX2" fmla="*/ 491331 w 1598612"/>
                <a:gd name="connsiteY2" fmla="*/ 98970 h 986516"/>
                <a:gd name="connsiteX3" fmla="*/ 1139031 w 1598612"/>
                <a:gd name="connsiteY3" fmla="*/ 92620 h 986516"/>
                <a:gd name="connsiteX4" fmla="*/ 1348581 w 1598612"/>
                <a:gd name="connsiteY4" fmla="*/ 886370 h 986516"/>
                <a:gd name="connsiteX5" fmla="*/ 1598612 w 1598612"/>
                <a:gd name="connsiteY5" fmla="*/ 977651 h 986516"/>
                <a:gd name="connsiteX0" fmla="*/ 0 w 1655762"/>
                <a:gd name="connsiteY0" fmla="*/ 975270 h 991351"/>
                <a:gd name="connsiteX1" fmla="*/ 230981 w 1655762"/>
                <a:gd name="connsiteY1" fmla="*/ 835570 h 991351"/>
                <a:gd name="connsiteX2" fmla="*/ 491331 w 1655762"/>
                <a:gd name="connsiteY2" fmla="*/ 98970 h 991351"/>
                <a:gd name="connsiteX3" fmla="*/ 1139031 w 1655762"/>
                <a:gd name="connsiteY3" fmla="*/ 92620 h 991351"/>
                <a:gd name="connsiteX4" fmla="*/ 1348581 w 1655762"/>
                <a:gd name="connsiteY4" fmla="*/ 886370 h 991351"/>
                <a:gd name="connsiteX5" fmla="*/ 1655762 w 1655762"/>
                <a:gd name="connsiteY5" fmla="*/ 984795 h 991351"/>
                <a:gd name="connsiteX0" fmla="*/ 0 w 1655762"/>
                <a:gd name="connsiteY0" fmla="*/ 981820 h 997901"/>
                <a:gd name="connsiteX1" fmla="*/ 230981 w 1655762"/>
                <a:gd name="connsiteY1" fmla="*/ 842120 h 997901"/>
                <a:gd name="connsiteX2" fmla="*/ 486569 w 1655762"/>
                <a:gd name="connsiteY2" fmla="*/ 93614 h 997901"/>
                <a:gd name="connsiteX3" fmla="*/ 1139031 w 1655762"/>
                <a:gd name="connsiteY3" fmla="*/ 99170 h 997901"/>
                <a:gd name="connsiteX4" fmla="*/ 1348581 w 1655762"/>
                <a:gd name="connsiteY4" fmla="*/ 892920 h 997901"/>
                <a:gd name="connsiteX5" fmla="*/ 1655762 w 1655762"/>
                <a:gd name="connsiteY5" fmla="*/ 991345 h 997901"/>
                <a:gd name="connsiteX0" fmla="*/ 0 w 1655762"/>
                <a:gd name="connsiteY0" fmla="*/ 987266 h 1003347"/>
                <a:gd name="connsiteX1" fmla="*/ 230981 w 1655762"/>
                <a:gd name="connsiteY1" fmla="*/ 847566 h 1003347"/>
                <a:gd name="connsiteX2" fmla="*/ 486569 w 1655762"/>
                <a:gd name="connsiteY2" fmla="*/ 99060 h 1003347"/>
                <a:gd name="connsiteX3" fmla="*/ 1167606 w 1655762"/>
                <a:gd name="connsiteY3" fmla="*/ 95091 h 1003347"/>
                <a:gd name="connsiteX4" fmla="*/ 1348581 w 1655762"/>
                <a:gd name="connsiteY4" fmla="*/ 898366 h 1003347"/>
                <a:gd name="connsiteX5" fmla="*/ 1655762 w 1655762"/>
                <a:gd name="connsiteY5" fmla="*/ 996791 h 1003347"/>
                <a:gd name="connsiteX0" fmla="*/ 0 w 1655762"/>
                <a:gd name="connsiteY0" fmla="*/ 988562 h 1004643"/>
                <a:gd name="connsiteX1" fmla="*/ 230981 w 1655762"/>
                <a:gd name="connsiteY1" fmla="*/ 848862 h 1004643"/>
                <a:gd name="connsiteX2" fmla="*/ 446088 w 1655762"/>
                <a:gd name="connsiteY2" fmla="*/ 97975 h 1004643"/>
                <a:gd name="connsiteX3" fmla="*/ 1167606 w 1655762"/>
                <a:gd name="connsiteY3" fmla="*/ 96387 h 1004643"/>
                <a:gd name="connsiteX4" fmla="*/ 1348581 w 1655762"/>
                <a:gd name="connsiteY4" fmla="*/ 899662 h 1004643"/>
                <a:gd name="connsiteX5" fmla="*/ 1655762 w 1655762"/>
                <a:gd name="connsiteY5" fmla="*/ 998087 h 1004643"/>
                <a:gd name="connsiteX0" fmla="*/ 0 w 1655762"/>
                <a:gd name="connsiteY0" fmla="*/ 989872 h 1005953"/>
                <a:gd name="connsiteX1" fmla="*/ 230981 w 1655762"/>
                <a:gd name="connsiteY1" fmla="*/ 850172 h 1005953"/>
                <a:gd name="connsiteX2" fmla="*/ 415131 w 1655762"/>
                <a:gd name="connsiteY2" fmla="*/ 96904 h 1005953"/>
                <a:gd name="connsiteX3" fmla="*/ 1167606 w 1655762"/>
                <a:gd name="connsiteY3" fmla="*/ 97697 h 1005953"/>
                <a:gd name="connsiteX4" fmla="*/ 1348581 w 1655762"/>
                <a:gd name="connsiteY4" fmla="*/ 900972 h 1005953"/>
                <a:gd name="connsiteX5" fmla="*/ 1655762 w 1655762"/>
                <a:gd name="connsiteY5" fmla="*/ 999397 h 1005953"/>
                <a:gd name="connsiteX0" fmla="*/ 0 w 1655762"/>
                <a:gd name="connsiteY0" fmla="*/ 987624 h 997943"/>
                <a:gd name="connsiteX1" fmla="*/ 230981 w 1655762"/>
                <a:gd name="connsiteY1" fmla="*/ 847924 h 997943"/>
                <a:gd name="connsiteX2" fmla="*/ 415131 w 1655762"/>
                <a:gd name="connsiteY2" fmla="*/ 94656 h 997943"/>
                <a:gd name="connsiteX3" fmla="*/ 1167606 w 1655762"/>
                <a:gd name="connsiteY3" fmla="*/ 95449 h 997943"/>
                <a:gd name="connsiteX4" fmla="*/ 1336674 w 1655762"/>
                <a:gd name="connsiteY4" fmla="*/ 863005 h 997943"/>
                <a:gd name="connsiteX5" fmla="*/ 1655762 w 1655762"/>
                <a:gd name="connsiteY5" fmla="*/ 997149 h 997943"/>
                <a:gd name="connsiteX0" fmla="*/ 0 w 1655762"/>
                <a:gd name="connsiteY0" fmla="*/ 987624 h 989081"/>
                <a:gd name="connsiteX1" fmla="*/ 230981 w 1655762"/>
                <a:gd name="connsiteY1" fmla="*/ 847924 h 989081"/>
                <a:gd name="connsiteX2" fmla="*/ 415131 w 1655762"/>
                <a:gd name="connsiteY2" fmla="*/ 94656 h 989081"/>
                <a:gd name="connsiteX3" fmla="*/ 1167606 w 1655762"/>
                <a:gd name="connsiteY3" fmla="*/ 95449 h 989081"/>
                <a:gd name="connsiteX4" fmla="*/ 1336674 w 1655762"/>
                <a:gd name="connsiteY4" fmla="*/ 863005 h 989081"/>
                <a:gd name="connsiteX5" fmla="*/ 1655762 w 1655762"/>
                <a:gd name="connsiteY5" fmla="*/ 986434 h 989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55762" h="989081">
                  <a:moveTo>
                    <a:pt x="0" y="987624"/>
                  </a:moveTo>
                  <a:cubicBezTo>
                    <a:pt x="57679" y="991857"/>
                    <a:pt x="161793" y="996752"/>
                    <a:pt x="230981" y="847924"/>
                  </a:cubicBezTo>
                  <a:cubicBezTo>
                    <a:pt x="300169" y="699096"/>
                    <a:pt x="259027" y="220068"/>
                    <a:pt x="415131" y="94656"/>
                  </a:cubicBezTo>
                  <a:cubicBezTo>
                    <a:pt x="571235" y="-30756"/>
                    <a:pt x="1014016" y="-32609"/>
                    <a:pt x="1167606" y="95449"/>
                  </a:cubicBezTo>
                  <a:cubicBezTo>
                    <a:pt x="1321196" y="223507"/>
                    <a:pt x="1269999" y="725422"/>
                    <a:pt x="1336674" y="863005"/>
                  </a:cubicBezTo>
                  <a:cubicBezTo>
                    <a:pt x="1403349" y="1000588"/>
                    <a:pt x="1613429" y="989609"/>
                    <a:pt x="1655762" y="986434"/>
                  </a:cubicBezTo>
                </a:path>
              </a:pathLst>
            </a:cu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613C3EDD-C2D5-4DDF-9A95-A4A5F921E1A3}"/>
                </a:ext>
              </a:extLst>
            </p:cNvPr>
            <p:cNvCxnSpPr/>
            <p:nvPr/>
          </p:nvCxnSpPr>
          <p:spPr bwMode="auto">
            <a:xfrm flipV="1">
              <a:off x="670719" y="1628801"/>
              <a:ext cx="0" cy="216024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D07AC016-70A7-4BA8-B0C9-0675281361A2}"/>
                </a:ext>
              </a:extLst>
            </p:cNvPr>
            <p:cNvCxnSpPr/>
            <p:nvPr/>
          </p:nvCxnSpPr>
          <p:spPr bwMode="auto">
            <a:xfrm>
              <a:off x="670719" y="2402517"/>
              <a:ext cx="1896889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6E0440B-EE36-46DD-954A-D715B28EC8B6}"/>
                </a:ext>
              </a:extLst>
            </p:cNvPr>
            <p:cNvSpPr txBox="1"/>
            <p:nvPr/>
          </p:nvSpPr>
          <p:spPr>
            <a:xfrm>
              <a:off x="2459596" y="2564904"/>
              <a:ext cx="2160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</a:t>
              </a:r>
              <a:endParaRPr lang="zh-CN" altLang="en-US" i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0A8DEE90-5855-4A6C-BDF6-81A11AA2331C}"/>
              </a:ext>
            </a:extLst>
          </p:cNvPr>
          <p:cNvGrpSpPr/>
          <p:nvPr/>
        </p:nvGrpSpPr>
        <p:grpSpPr>
          <a:xfrm>
            <a:off x="2817090" y="5476057"/>
            <a:ext cx="1675988" cy="1117001"/>
            <a:chOff x="670719" y="1628801"/>
            <a:chExt cx="2004901" cy="1336213"/>
          </a:xfrm>
        </p:grpSpPr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F39A9262-D733-4AFA-BC38-1BB259E83164}"/>
                </a:ext>
              </a:extLst>
            </p:cNvPr>
            <p:cNvSpPr/>
            <p:nvPr/>
          </p:nvSpPr>
          <p:spPr bwMode="auto">
            <a:xfrm>
              <a:off x="670719" y="1907977"/>
              <a:ext cx="1655762" cy="989081"/>
            </a:xfrm>
            <a:custGeom>
              <a:avLst/>
              <a:gdLst>
                <a:gd name="connsiteX0" fmla="*/ 0 w 1498600"/>
                <a:gd name="connsiteY0" fmla="*/ 920295 h 921971"/>
                <a:gd name="connsiteX1" fmla="*/ 190500 w 1498600"/>
                <a:gd name="connsiteY1" fmla="*/ 799645 h 921971"/>
                <a:gd name="connsiteX2" fmla="*/ 450850 w 1498600"/>
                <a:gd name="connsiteY2" fmla="*/ 145595 h 921971"/>
                <a:gd name="connsiteX3" fmla="*/ 1098550 w 1498600"/>
                <a:gd name="connsiteY3" fmla="*/ 56695 h 921971"/>
                <a:gd name="connsiteX4" fmla="*/ 1308100 w 1498600"/>
                <a:gd name="connsiteY4" fmla="*/ 850445 h 921971"/>
                <a:gd name="connsiteX5" fmla="*/ 1498600 w 1498600"/>
                <a:gd name="connsiteY5" fmla="*/ 882195 h 921971"/>
                <a:gd name="connsiteX0" fmla="*/ 0 w 1498600"/>
                <a:gd name="connsiteY0" fmla="*/ 956220 h 959247"/>
                <a:gd name="connsiteX1" fmla="*/ 190500 w 1498600"/>
                <a:gd name="connsiteY1" fmla="*/ 835570 h 959247"/>
                <a:gd name="connsiteX2" fmla="*/ 450850 w 1498600"/>
                <a:gd name="connsiteY2" fmla="*/ 98970 h 959247"/>
                <a:gd name="connsiteX3" fmla="*/ 1098550 w 1498600"/>
                <a:gd name="connsiteY3" fmla="*/ 92620 h 959247"/>
                <a:gd name="connsiteX4" fmla="*/ 1308100 w 1498600"/>
                <a:gd name="connsiteY4" fmla="*/ 886370 h 959247"/>
                <a:gd name="connsiteX5" fmla="*/ 1498600 w 1498600"/>
                <a:gd name="connsiteY5" fmla="*/ 918120 h 959247"/>
                <a:gd name="connsiteX0" fmla="*/ 0 w 1520031"/>
                <a:gd name="connsiteY0" fmla="*/ 956220 h 972888"/>
                <a:gd name="connsiteX1" fmla="*/ 190500 w 1520031"/>
                <a:gd name="connsiteY1" fmla="*/ 835570 h 972888"/>
                <a:gd name="connsiteX2" fmla="*/ 450850 w 1520031"/>
                <a:gd name="connsiteY2" fmla="*/ 98970 h 972888"/>
                <a:gd name="connsiteX3" fmla="*/ 1098550 w 1520031"/>
                <a:gd name="connsiteY3" fmla="*/ 92620 h 972888"/>
                <a:gd name="connsiteX4" fmla="*/ 1308100 w 1520031"/>
                <a:gd name="connsiteY4" fmla="*/ 886370 h 972888"/>
                <a:gd name="connsiteX5" fmla="*/ 1520031 w 1520031"/>
                <a:gd name="connsiteY5" fmla="*/ 953839 h 972888"/>
                <a:gd name="connsiteX0" fmla="*/ 0 w 1558131"/>
                <a:gd name="connsiteY0" fmla="*/ 956220 h 986516"/>
                <a:gd name="connsiteX1" fmla="*/ 190500 w 1558131"/>
                <a:gd name="connsiteY1" fmla="*/ 835570 h 986516"/>
                <a:gd name="connsiteX2" fmla="*/ 450850 w 1558131"/>
                <a:gd name="connsiteY2" fmla="*/ 98970 h 986516"/>
                <a:gd name="connsiteX3" fmla="*/ 1098550 w 1558131"/>
                <a:gd name="connsiteY3" fmla="*/ 92620 h 986516"/>
                <a:gd name="connsiteX4" fmla="*/ 1308100 w 1558131"/>
                <a:gd name="connsiteY4" fmla="*/ 886370 h 986516"/>
                <a:gd name="connsiteX5" fmla="*/ 1558131 w 1558131"/>
                <a:gd name="connsiteY5" fmla="*/ 977651 h 986516"/>
                <a:gd name="connsiteX0" fmla="*/ 0 w 1598612"/>
                <a:gd name="connsiteY0" fmla="*/ 975270 h 986516"/>
                <a:gd name="connsiteX1" fmla="*/ 230981 w 1598612"/>
                <a:gd name="connsiteY1" fmla="*/ 835570 h 986516"/>
                <a:gd name="connsiteX2" fmla="*/ 491331 w 1598612"/>
                <a:gd name="connsiteY2" fmla="*/ 98970 h 986516"/>
                <a:gd name="connsiteX3" fmla="*/ 1139031 w 1598612"/>
                <a:gd name="connsiteY3" fmla="*/ 92620 h 986516"/>
                <a:gd name="connsiteX4" fmla="*/ 1348581 w 1598612"/>
                <a:gd name="connsiteY4" fmla="*/ 886370 h 986516"/>
                <a:gd name="connsiteX5" fmla="*/ 1598612 w 1598612"/>
                <a:gd name="connsiteY5" fmla="*/ 977651 h 986516"/>
                <a:gd name="connsiteX0" fmla="*/ 0 w 1655762"/>
                <a:gd name="connsiteY0" fmla="*/ 975270 h 991351"/>
                <a:gd name="connsiteX1" fmla="*/ 230981 w 1655762"/>
                <a:gd name="connsiteY1" fmla="*/ 835570 h 991351"/>
                <a:gd name="connsiteX2" fmla="*/ 491331 w 1655762"/>
                <a:gd name="connsiteY2" fmla="*/ 98970 h 991351"/>
                <a:gd name="connsiteX3" fmla="*/ 1139031 w 1655762"/>
                <a:gd name="connsiteY3" fmla="*/ 92620 h 991351"/>
                <a:gd name="connsiteX4" fmla="*/ 1348581 w 1655762"/>
                <a:gd name="connsiteY4" fmla="*/ 886370 h 991351"/>
                <a:gd name="connsiteX5" fmla="*/ 1655762 w 1655762"/>
                <a:gd name="connsiteY5" fmla="*/ 984795 h 991351"/>
                <a:gd name="connsiteX0" fmla="*/ 0 w 1655762"/>
                <a:gd name="connsiteY0" fmla="*/ 981820 h 997901"/>
                <a:gd name="connsiteX1" fmla="*/ 230981 w 1655762"/>
                <a:gd name="connsiteY1" fmla="*/ 842120 h 997901"/>
                <a:gd name="connsiteX2" fmla="*/ 486569 w 1655762"/>
                <a:gd name="connsiteY2" fmla="*/ 93614 h 997901"/>
                <a:gd name="connsiteX3" fmla="*/ 1139031 w 1655762"/>
                <a:gd name="connsiteY3" fmla="*/ 99170 h 997901"/>
                <a:gd name="connsiteX4" fmla="*/ 1348581 w 1655762"/>
                <a:gd name="connsiteY4" fmla="*/ 892920 h 997901"/>
                <a:gd name="connsiteX5" fmla="*/ 1655762 w 1655762"/>
                <a:gd name="connsiteY5" fmla="*/ 991345 h 997901"/>
                <a:gd name="connsiteX0" fmla="*/ 0 w 1655762"/>
                <a:gd name="connsiteY0" fmla="*/ 987266 h 1003347"/>
                <a:gd name="connsiteX1" fmla="*/ 230981 w 1655762"/>
                <a:gd name="connsiteY1" fmla="*/ 847566 h 1003347"/>
                <a:gd name="connsiteX2" fmla="*/ 486569 w 1655762"/>
                <a:gd name="connsiteY2" fmla="*/ 99060 h 1003347"/>
                <a:gd name="connsiteX3" fmla="*/ 1167606 w 1655762"/>
                <a:gd name="connsiteY3" fmla="*/ 95091 h 1003347"/>
                <a:gd name="connsiteX4" fmla="*/ 1348581 w 1655762"/>
                <a:gd name="connsiteY4" fmla="*/ 898366 h 1003347"/>
                <a:gd name="connsiteX5" fmla="*/ 1655762 w 1655762"/>
                <a:gd name="connsiteY5" fmla="*/ 996791 h 1003347"/>
                <a:gd name="connsiteX0" fmla="*/ 0 w 1655762"/>
                <a:gd name="connsiteY0" fmla="*/ 988562 h 1004643"/>
                <a:gd name="connsiteX1" fmla="*/ 230981 w 1655762"/>
                <a:gd name="connsiteY1" fmla="*/ 848862 h 1004643"/>
                <a:gd name="connsiteX2" fmla="*/ 446088 w 1655762"/>
                <a:gd name="connsiteY2" fmla="*/ 97975 h 1004643"/>
                <a:gd name="connsiteX3" fmla="*/ 1167606 w 1655762"/>
                <a:gd name="connsiteY3" fmla="*/ 96387 h 1004643"/>
                <a:gd name="connsiteX4" fmla="*/ 1348581 w 1655762"/>
                <a:gd name="connsiteY4" fmla="*/ 899662 h 1004643"/>
                <a:gd name="connsiteX5" fmla="*/ 1655762 w 1655762"/>
                <a:gd name="connsiteY5" fmla="*/ 998087 h 1004643"/>
                <a:gd name="connsiteX0" fmla="*/ 0 w 1655762"/>
                <a:gd name="connsiteY0" fmla="*/ 989872 h 1005953"/>
                <a:gd name="connsiteX1" fmla="*/ 230981 w 1655762"/>
                <a:gd name="connsiteY1" fmla="*/ 850172 h 1005953"/>
                <a:gd name="connsiteX2" fmla="*/ 415131 w 1655762"/>
                <a:gd name="connsiteY2" fmla="*/ 96904 h 1005953"/>
                <a:gd name="connsiteX3" fmla="*/ 1167606 w 1655762"/>
                <a:gd name="connsiteY3" fmla="*/ 97697 h 1005953"/>
                <a:gd name="connsiteX4" fmla="*/ 1348581 w 1655762"/>
                <a:gd name="connsiteY4" fmla="*/ 900972 h 1005953"/>
                <a:gd name="connsiteX5" fmla="*/ 1655762 w 1655762"/>
                <a:gd name="connsiteY5" fmla="*/ 999397 h 1005953"/>
                <a:gd name="connsiteX0" fmla="*/ 0 w 1655762"/>
                <a:gd name="connsiteY0" fmla="*/ 987624 h 997943"/>
                <a:gd name="connsiteX1" fmla="*/ 230981 w 1655762"/>
                <a:gd name="connsiteY1" fmla="*/ 847924 h 997943"/>
                <a:gd name="connsiteX2" fmla="*/ 415131 w 1655762"/>
                <a:gd name="connsiteY2" fmla="*/ 94656 h 997943"/>
                <a:gd name="connsiteX3" fmla="*/ 1167606 w 1655762"/>
                <a:gd name="connsiteY3" fmla="*/ 95449 h 997943"/>
                <a:gd name="connsiteX4" fmla="*/ 1336674 w 1655762"/>
                <a:gd name="connsiteY4" fmla="*/ 863005 h 997943"/>
                <a:gd name="connsiteX5" fmla="*/ 1655762 w 1655762"/>
                <a:gd name="connsiteY5" fmla="*/ 997149 h 997943"/>
                <a:gd name="connsiteX0" fmla="*/ 0 w 1655762"/>
                <a:gd name="connsiteY0" fmla="*/ 987624 h 989081"/>
                <a:gd name="connsiteX1" fmla="*/ 230981 w 1655762"/>
                <a:gd name="connsiteY1" fmla="*/ 847924 h 989081"/>
                <a:gd name="connsiteX2" fmla="*/ 415131 w 1655762"/>
                <a:gd name="connsiteY2" fmla="*/ 94656 h 989081"/>
                <a:gd name="connsiteX3" fmla="*/ 1167606 w 1655762"/>
                <a:gd name="connsiteY3" fmla="*/ 95449 h 989081"/>
                <a:gd name="connsiteX4" fmla="*/ 1336674 w 1655762"/>
                <a:gd name="connsiteY4" fmla="*/ 863005 h 989081"/>
                <a:gd name="connsiteX5" fmla="*/ 1655762 w 1655762"/>
                <a:gd name="connsiteY5" fmla="*/ 986434 h 989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55762" h="989081">
                  <a:moveTo>
                    <a:pt x="0" y="987624"/>
                  </a:moveTo>
                  <a:cubicBezTo>
                    <a:pt x="57679" y="991857"/>
                    <a:pt x="161793" y="996752"/>
                    <a:pt x="230981" y="847924"/>
                  </a:cubicBezTo>
                  <a:cubicBezTo>
                    <a:pt x="300169" y="699096"/>
                    <a:pt x="259027" y="220068"/>
                    <a:pt x="415131" y="94656"/>
                  </a:cubicBezTo>
                  <a:cubicBezTo>
                    <a:pt x="571235" y="-30756"/>
                    <a:pt x="1014016" y="-32609"/>
                    <a:pt x="1167606" y="95449"/>
                  </a:cubicBezTo>
                  <a:cubicBezTo>
                    <a:pt x="1321196" y="223507"/>
                    <a:pt x="1269999" y="725422"/>
                    <a:pt x="1336674" y="863005"/>
                  </a:cubicBezTo>
                  <a:cubicBezTo>
                    <a:pt x="1403349" y="1000588"/>
                    <a:pt x="1613429" y="989609"/>
                    <a:pt x="1655762" y="986434"/>
                  </a:cubicBezTo>
                </a:path>
              </a:pathLst>
            </a:cu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410A4982-9FBB-4DA8-974F-6982CB5F903A}"/>
                </a:ext>
              </a:extLst>
            </p:cNvPr>
            <p:cNvCxnSpPr>
              <a:endCxn id="26" idx="0"/>
            </p:cNvCxnSpPr>
            <p:nvPr/>
          </p:nvCxnSpPr>
          <p:spPr bwMode="auto">
            <a:xfrm>
              <a:off x="670719" y="2895601"/>
              <a:ext cx="0" cy="0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010F9CA3-00AB-4387-B766-05E13146267D}"/>
                </a:ext>
              </a:extLst>
            </p:cNvPr>
            <p:cNvCxnSpPr>
              <a:stCxn id="26" idx="0"/>
            </p:cNvCxnSpPr>
            <p:nvPr/>
          </p:nvCxnSpPr>
          <p:spPr bwMode="auto">
            <a:xfrm flipV="1">
              <a:off x="670719" y="1628801"/>
              <a:ext cx="0" cy="126680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7333A3AE-2F42-4E73-A5B9-8BDBB3789D34}"/>
                </a:ext>
              </a:extLst>
            </p:cNvPr>
            <p:cNvCxnSpPr/>
            <p:nvPr/>
          </p:nvCxnSpPr>
          <p:spPr bwMode="auto">
            <a:xfrm>
              <a:off x="670719" y="2900562"/>
              <a:ext cx="1896889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DE828556-C309-4E99-B34B-3AD33FC9C91B}"/>
                </a:ext>
              </a:extLst>
            </p:cNvPr>
            <p:cNvSpPr txBox="1"/>
            <p:nvPr/>
          </p:nvSpPr>
          <p:spPr>
            <a:xfrm>
              <a:off x="2459596" y="2564904"/>
              <a:ext cx="2160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</a:t>
              </a:r>
              <a:endParaRPr lang="zh-CN" altLang="en-US" i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46E35EA8-5343-40C9-B986-894F26484822}"/>
              </a:ext>
            </a:extLst>
          </p:cNvPr>
          <p:cNvGrpSpPr/>
          <p:nvPr/>
        </p:nvGrpSpPr>
        <p:grpSpPr>
          <a:xfrm>
            <a:off x="2614050" y="3596368"/>
            <a:ext cx="6938334" cy="1641987"/>
            <a:chOff x="2572442" y="3140968"/>
            <a:chExt cx="6938334" cy="1641987"/>
          </a:xfrm>
        </p:grpSpPr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1824D6E4-801E-43D5-AD60-99E4C7441020}"/>
                </a:ext>
              </a:extLst>
            </p:cNvPr>
            <p:cNvSpPr/>
            <p:nvPr/>
          </p:nvSpPr>
          <p:spPr bwMode="auto">
            <a:xfrm>
              <a:off x="5002827" y="3140968"/>
              <a:ext cx="423099" cy="1641987"/>
            </a:xfrm>
            <a:custGeom>
              <a:avLst/>
              <a:gdLst>
                <a:gd name="connsiteX0" fmla="*/ 423099 w 423099"/>
                <a:gd name="connsiteY0" fmla="*/ 0 h 1641987"/>
                <a:gd name="connsiteX1" fmla="*/ 312 w 423099"/>
                <a:gd name="connsiteY1" fmla="*/ 545690 h 1641987"/>
                <a:gd name="connsiteX2" fmla="*/ 349357 w 423099"/>
                <a:gd name="connsiteY2" fmla="*/ 1106129 h 1641987"/>
                <a:gd name="connsiteX3" fmla="*/ 39641 w 423099"/>
                <a:gd name="connsiteY3" fmla="*/ 1641987 h 1641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099" h="1641987">
                  <a:moveTo>
                    <a:pt x="423099" y="0"/>
                  </a:moveTo>
                  <a:cubicBezTo>
                    <a:pt x="217850" y="180667"/>
                    <a:pt x="12602" y="361335"/>
                    <a:pt x="312" y="545690"/>
                  </a:cubicBezTo>
                  <a:cubicBezTo>
                    <a:pt x="-11978" y="730045"/>
                    <a:pt x="342802" y="923413"/>
                    <a:pt x="349357" y="1106129"/>
                  </a:cubicBezTo>
                  <a:cubicBezTo>
                    <a:pt x="355912" y="1288845"/>
                    <a:pt x="60944" y="1568245"/>
                    <a:pt x="39641" y="1641987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endParaRPr>
            </a:p>
          </p:txBody>
        </p:sp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0D619F67-720C-49B4-BED9-B7145FB49EE1}"/>
                </a:ext>
              </a:extLst>
            </p:cNvPr>
            <p:cNvSpPr/>
            <p:nvPr/>
          </p:nvSpPr>
          <p:spPr bwMode="auto">
            <a:xfrm>
              <a:off x="5096837" y="3140968"/>
              <a:ext cx="423099" cy="1641987"/>
            </a:xfrm>
            <a:custGeom>
              <a:avLst/>
              <a:gdLst>
                <a:gd name="connsiteX0" fmla="*/ 423099 w 423099"/>
                <a:gd name="connsiteY0" fmla="*/ 0 h 1641987"/>
                <a:gd name="connsiteX1" fmla="*/ 312 w 423099"/>
                <a:gd name="connsiteY1" fmla="*/ 545690 h 1641987"/>
                <a:gd name="connsiteX2" fmla="*/ 349357 w 423099"/>
                <a:gd name="connsiteY2" fmla="*/ 1106129 h 1641987"/>
                <a:gd name="connsiteX3" fmla="*/ 39641 w 423099"/>
                <a:gd name="connsiteY3" fmla="*/ 1641987 h 1641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099" h="1641987">
                  <a:moveTo>
                    <a:pt x="423099" y="0"/>
                  </a:moveTo>
                  <a:cubicBezTo>
                    <a:pt x="217850" y="180667"/>
                    <a:pt x="12602" y="361335"/>
                    <a:pt x="312" y="545690"/>
                  </a:cubicBezTo>
                  <a:cubicBezTo>
                    <a:pt x="-11978" y="730045"/>
                    <a:pt x="342802" y="923413"/>
                    <a:pt x="349357" y="1106129"/>
                  </a:cubicBezTo>
                  <a:cubicBezTo>
                    <a:pt x="355912" y="1288845"/>
                    <a:pt x="60944" y="1568245"/>
                    <a:pt x="39641" y="1641987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08E4418E-CB6C-4E2E-831E-DF0E39FCF2B2}"/>
                </a:ext>
              </a:extLst>
            </p:cNvPr>
            <p:cNvSpPr txBox="1"/>
            <p:nvPr/>
          </p:nvSpPr>
          <p:spPr>
            <a:xfrm>
              <a:off x="6886893" y="3485382"/>
              <a:ext cx="7374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-</a:t>
              </a:r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12EC56D4-0080-4E9D-9175-EAD08140A75F}"/>
                </a:ext>
              </a:extLst>
            </p:cNvPr>
            <p:cNvSpPr txBox="1"/>
            <p:nvPr/>
          </p:nvSpPr>
          <p:spPr>
            <a:xfrm>
              <a:off x="6880038" y="3989438"/>
              <a:ext cx="7374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+</a:t>
              </a:r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5BA3A4F6-6717-4530-8131-CADB7FD29F96}"/>
                </a:ext>
              </a:extLst>
            </p:cNvPr>
            <p:cNvCxnSpPr/>
            <p:nvPr/>
          </p:nvCxnSpPr>
          <p:spPr bwMode="auto">
            <a:xfrm>
              <a:off x="2572442" y="3931839"/>
              <a:ext cx="796555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0910440B-7242-457B-87F3-1940EA5F47E8}"/>
                </a:ext>
              </a:extLst>
            </p:cNvPr>
            <p:cNvCxnSpPr/>
            <p:nvPr/>
          </p:nvCxnSpPr>
          <p:spPr bwMode="auto">
            <a:xfrm>
              <a:off x="3368997" y="3571799"/>
              <a:ext cx="0" cy="72008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E533CA2D-3529-4696-8BA9-57056F1EBAB7}"/>
                </a:ext>
              </a:extLst>
            </p:cNvPr>
            <p:cNvCxnSpPr/>
            <p:nvPr/>
          </p:nvCxnSpPr>
          <p:spPr bwMode="auto">
            <a:xfrm>
              <a:off x="3368997" y="3571799"/>
              <a:ext cx="36004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F8D61C4F-DD09-4765-9990-94A2624D84AB}"/>
                </a:ext>
              </a:extLst>
            </p:cNvPr>
            <p:cNvCxnSpPr/>
            <p:nvPr/>
          </p:nvCxnSpPr>
          <p:spPr bwMode="auto">
            <a:xfrm>
              <a:off x="3368997" y="4291879"/>
              <a:ext cx="36004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7" name="等腰三角形 46">
              <a:extLst>
                <a:ext uri="{FF2B5EF4-FFF2-40B4-BE49-F238E27FC236}">
                  <a16:creationId xmlns:a16="http://schemas.microsoft.com/office/drawing/2014/main" id="{8DA27E16-2188-415B-8B01-1320CF701044}"/>
                </a:ext>
              </a:extLst>
            </p:cNvPr>
            <p:cNvSpPr/>
            <p:nvPr/>
          </p:nvSpPr>
          <p:spPr bwMode="auto">
            <a:xfrm rot="5400000">
              <a:off x="3729037" y="3391780"/>
              <a:ext cx="360030" cy="360038"/>
            </a:xfrm>
            <a:prstGeom prst="triangl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48" name="等腰三角形 47">
              <a:extLst>
                <a:ext uri="{FF2B5EF4-FFF2-40B4-BE49-F238E27FC236}">
                  <a16:creationId xmlns:a16="http://schemas.microsoft.com/office/drawing/2014/main" id="{96E3E22E-717E-43F8-9099-817F0D46780A}"/>
                </a:ext>
              </a:extLst>
            </p:cNvPr>
            <p:cNvSpPr/>
            <p:nvPr/>
          </p:nvSpPr>
          <p:spPr bwMode="auto">
            <a:xfrm rot="5400000">
              <a:off x="3729037" y="4111860"/>
              <a:ext cx="360030" cy="360038"/>
            </a:xfrm>
            <a:prstGeom prst="triangl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FFD922AF-9249-4ACA-B57F-AD8AD2773D45}"/>
                </a:ext>
              </a:extLst>
            </p:cNvPr>
            <p:cNvSpPr/>
            <p:nvPr/>
          </p:nvSpPr>
          <p:spPr bwMode="auto">
            <a:xfrm>
              <a:off x="3340125" y="3902966"/>
              <a:ext cx="57746" cy="57746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6401BADC-1B45-4F88-932F-F83C5FBF4EEE}"/>
                </a:ext>
              </a:extLst>
            </p:cNvPr>
            <p:cNvSpPr/>
            <p:nvPr/>
          </p:nvSpPr>
          <p:spPr bwMode="auto">
            <a:xfrm>
              <a:off x="4089071" y="3487550"/>
              <a:ext cx="144015" cy="144015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CFE7EAD-C1FE-47CD-9F11-12866EB3F3E4}"/>
                </a:ext>
              </a:extLst>
            </p:cNvPr>
            <p:cNvCxnSpPr>
              <a:stCxn id="50" idx="6"/>
            </p:cNvCxnSpPr>
            <p:nvPr/>
          </p:nvCxnSpPr>
          <p:spPr bwMode="auto">
            <a:xfrm>
              <a:off x="4233086" y="3559558"/>
              <a:ext cx="792095" cy="354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7BBC7744-C6AC-4563-A589-B920A8F815E1}"/>
                </a:ext>
              </a:extLst>
            </p:cNvPr>
            <p:cNvCxnSpPr>
              <a:stCxn id="48" idx="0"/>
            </p:cNvCxnSpPr>
            <p:nvPr/>
          </p:nvCxnSpPr>
          <p:spPr bwMode="auto">
            <a:xfrm>
              <a:off x="4089071" y="4291879"/>
              <a:ext cx="1261717" cy="255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7" name="等腰三角形 56">
              <a:extLst>
                <a:ext uri="{FF2B5EF4-FFF2-40B4-BE49-F238E27FC236}">
                  <a16:creationId xmlns:a16="http://schemas.microsoft.com/office/drawing/2014/main" id="{2E65AB32-938B-4F71-BA3B-458235D61469}"/>
                </a:ext>
              </a:extLst>
            </p:cNvPr>
            <p:cNvSpPr/>
            <p:nvPr/>
          </p:nvSpPr>
          <p:spPr bwMode="auto">
            <a:xfrm rot="5400000">
              <a:off x="7001297" y="3389767"/>
              <a:ext cx="1020343" cy="1084144"/>
            </a:xfrm>
            <a:prstGeom prst="triangle">
              <a:avLst>
                <a:gd name="adj" fmla="val 50934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93ED36FA-FE30-42C0-AE06-F0DEB4C7B1F5}"/>
                </a:ext>
              </a:extLst>
            </p:cNvPr>
            <p:cNvCxnSpPr/>
            <p:nvPr/>
          </p:nvCxnSpPr>
          <p:spPr bwMode="auto">
            <a:xfrm>
              <a:off x="5133192" y="3562024"/>
              <a:ext cx="1836204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02AFE952-2198-476F-97D2-B1BB203B2CD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57229" y="4291879"/>
              <a:ext cx="151216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AA21836C-12D5-48A6-8AA5-C76D40E662EE}"/>
                </a:ext>
              </a:extLst>
            </p:cNvPr>
            <p:cNvCxnSpPr/>
            <p:nvPr/>
          </p:nvCxnSpPr>
          <p:spPr bwMode="auto">
            <a:xfrm>
              <a:off x="8037763" y="3944905"/>
              <a:ext cx="1473013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349701C8-EB6E-4896-B135-0DCFF817C90A}"/>
              </a:ext>
            </a:extLst>
          </p:cNvPr>
          <p:cNvSpPr/>
          <p:nvPr/>
        </p:nvSpPr>
        <p:spPr bwMode="auto">
          <a:xfrm>
            <a:off x="5187616" y="2894274"/>
            <a:ext cx="217832" cy="688762"/>
          </a:xfrm>
          <a:custGeom>
            <a:avLst/>
            <a:gdLst>
              <a:gd name="connsiteX0" fmla="*/ 205922 w 301172"/>
              <a:gd name="connsiteY0" fmla="*/ 0 h 1228725"/>
              <a:gd name="connsiteX1" fmla="*/ 1134 w 301172"/>
              <a:gd name="connsiteY1" fmla="*/ 314325 h 1228725"/>
              <a:gd name="connsiteX2" fmla="*/ 286884 w 301172"/>
              <a:gd name="connsiteY2" fmla="*/ 590550 h 1228725"/>
              <a:gd name="connsiteX3" fmla="*/ 34472 w 301172"/>
              <a:gd name="connsiteY3" fmla="*/ 766763 h 1228725"/>
              <a:gd name="connsiteX4" fmla="*/ 267834 w 301172"/>
              <a:gd name="connsiteY4" fmla="*/ 962025 h 1228725"/>
              <a:gd name="connsiteX5" fmla="*/ 301172 w 301172"/>
              <a:gd name="connsiteY5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172" h="1228725">
                <a:moveTo>
                  <a:pt x="205922" y="0"/>
                </a:moveTo>
                <a:cubicBezTo>
                  <a:pt x="96781" y="107950"/>
                  <a:pt x="-12360" y="215900"/>
                  <a:pt x="1134" y="314325"/>
                </a:cubicBezTo>
                <a:cubicBezTo>
                  <a:pt x="14628" y="412750"/>
                  <a:pt x="281328" y="515144"/>
                  <a:pt x="286884" y="590550"/>
                </a:cubicBezTo>
                <a:cubicBezTo>
                  <a:pt x="292440" y="665956"/>
                  <a:pt x="37647" y="704850"/>
                  <a:pt x="34472" y="766763"/>
                </a:cubicBezTo>
                <a:cubicBezTo>
                  <a:pt x="31297" y="828676"/>
                  <a:pt x="223384" y="885031"/>
                  <a:pt x="267834" y="962025"/>
                </a:cubicBezTo>
                <a:cubicBezTo>
                  <a:pt x="312284" y="1039019"/>
                  <a:pt x="290853" y="1152525"/>
                  <a:pt x="301172" y="1228725"/>
                </a:cubicBezTo>
              </a:path>
            </a:pathLst>
          </a:custGeom>
          <a:noFill/>
          <a:ln w="127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>
              <a:ln w="19050"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E8ECCCC1-F7F9-42A7-AE04-1B767455BD48}"/>
              </a:ext>
            </a:extLst>
          </p:cNvPr>
          <p:cNvGrpSpPr/>
          <p:nvPr/>
        </p:nvGrpSpPr>
        <p:grpSpPr>
          <a:xfrm>
            <a:off x="7577147" y="2048243"/>
            <a:ext cx="1815048" cy="1659584"/>
            <a:chOff x="9698796" y="1892622"/>
            <a:chExt cx="2004901" cy="1833176"/>
          </a:xfrm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DD847F44-05C4-4E11-B95D-A9675EC05BE7}"/>
                </a:ext>
              </a:extLst>
            </p:cNvPr>
            <p:cNvGrpSpPr/>
            <p:nvPr/>
          </p:nvGrpSpPr>
          <p:grpSpPr>
            <a:xfrm>
              <a:off x="9698796" y="1892622"/>
              <a:ext cx="2004901" cy="1833176"/>
              <a:chOff x="670719" y="1628801"/>
              <a:chExt cx="2004901" cy="1833176"/>
            </a:xfrm>
          </p:grpSpPr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547A845E-7806-4F06-BE95-108B1371A6EA}"/>
                  </a:ext>
                </a:extLst>
              </p:cNvPr>
              <p:cNvCxnSpPr/>
              <p:nvPr/>
            </p:nvCxnSpPr>
            <p:spPr bwMode="auto">
              <a:xfrm flipV="1">
                <a:off x="670719" y="1628801"/>
                <a:ext cx="0" cy="1833176"/>
              </a:xfrm>
              <a:prstGeom prst="line">
                <a:avLst/>
              </a:prstGeom>
              <a:noFill/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2" name="直接箭头连接符 81">
                <a:extLst>
                  <a:ext uri="{FF2B5EF4-FFF2-40B4-BE49-F238E27FC236}">
                    <a16:creationId xmlns:a16="http://schemas.microsoft.com/office/drawing/2014/main" id="{87E929C4-9E57-4737-9787-FB1BBC8ECA5E}"/>
                  </a:ext>
                </a:extLst>
              </p:cNvPr>
              <p:cNvCxnSpPr/>
              <p:nvPr/>
            </p:nvCxnSpPr>
            <p:spPr bwMode="auto">
              <a:xfrm>
                <a:off x="670719" y="2402517"/>
                <a:ext cx="1896889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916F519B-5713-40F2-9107-912EFAF868E1}"/>
                  </a:ext>
                </a:extLst>
              </p:cNvPr>
              <p:cNvSpPr txBox="1"/>
              <p:nvPr/>
            </p:nvSpPr>
            <p:spPr>
              <a:xfrm>
                <a:off x="2459596" y="2564904"/>
                <a:ext cx="2160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i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t</a:t>
                </a:r>
                <a:endParaRPr lang="zh-CN" altLang="en-US" i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sp>
          <p:nvSpPr>
            <p:cNvPr id="84" name="任意多边形: 形状 83">
              <a:extLst>
                <a:ext uri="{FF2B5EF4-FFF2-40B4-BE49-F238E27FC236}">
                  <a16:creationId xmlns:a16="http://schemas.microsoft.com/office/drawing/2014/main" id="{D0E49ED1-8BAB-417A-B30D-7492181E70DE}"/>
                </a:ext>
              </a:extLst>
            </p:cNvPr>
            <p:cNvSpPr/>
            <p:nvPr/>
          </p:nvSpPr>
          <p:spPr bwMode="auto">
            <a:xfrm>
              <a:off x="9705975" y="2396975"/>
              <a:ext cx="1457325" cy="1132372"/>
            </a:xfrm>
            <a:custGeom>
              <a:avLst/>
              <a:gdLst>
                <a:gd name="connsiteX0" fmla="*/ 0 w 1457325"/>
                <a:gd name="connsiteY0" fmla="*/ 274788 h 1132372"/>
                <a:gd name="connsiteX1" fmla="*/ 171450 w 1457325"/>
                <a:gd name="connsiteY1" fmla="*/ 689125 h 1132372"/>
                <a:gd name="connsiteX2" fmla="*/ 457200 w 1457325"/>
                <a:gd name="connsiteY2" fmla="*/ 3325 h 1132372"/>
                <a:gd name="connsiteX3" fmla="*/ 719138 w 1457325"/>
                <a:gd name="connsiteY3" fmla="*/ 1032025 h 1132372"/>
                <a:gd name="connsiteX4" fmla="*/ 1052513 w 1457325"/>
                <a:gd name="connsiteY4" fmla="*/ 1017738 h 1132372"/>
                <a:gd name="connsiteX5" fmla="*/ 1290638 w 1457325"/>
                <a:gd name="connsiteY5" fmla="*/ 365275 h 1132372"/>
                <a:gd name="connsiteX6" fmla="*/ 1457325 w 1457325"/>
                <a:gd name="connsiteY6" fmla="*/ 270025 h 113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7325" h="1132372">
                  <a:moveTo>
                    <a:pt x="0" y="274788"/>
                  </a:moveTo>
                  <a:cubicBezTo>
                    <a:pt x="47625" y="504578"/>
                    <a:pt x="95250" y="734369"/>
                    <a:pt x="171450" y="689125"/>
                  </a:cubicBezTo>
                  <a:cubicBezTo>
                    <a:pt x="247650" y="643881"/>
                    <a:pt x="365919" y="-53825"/>
                    <a:pt x="457200" y="3325"/>
                  </a:cubicBezTo>
                  <a:cubicBezTo>
                    <a:pt x="548481" y="60475"/>
                    <a:pt x="619919" y="862956"/>
                    <a:pt x="719138" y="1032025"/>
                  </a:cubicBezTo>
                  <a:cubicBezTo>
                    <a:pt x="818357" y="1201094"/>
                    <a:pt x="957263" y="1128863"/>
                    <a:pt x="1052513" y="1017738"/>
                  </a:cubicBezTo>
                  <a:cubicBezTo>
                    <a:pt x="1147763" y="906613"/>
                    <a:pt x="1223169" y="489894"/>
                    <a:pt x="1290638" y="365275"/>
                  </a:cubicBezTo>
                  <a:cubicBezTo>
                    <a:pt x="1358107" y="240656"/>
                    <a:pt x="1410494" y="271612"/>
                    <a:pt x="1457325" y="270025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endParaRPr>
            </a:p>
          </p:txBody>
        </p:sp>
        <p:sp>
          <p:nvSpPr>
            <p:cNvPr id="85" name="任意多边形: 形状 84">
              <a:extLst>
                <a:ext uri="{FF2B5EF4-FFF2-40B4-BE49-F238E27FC236}">
                  <a16:creationId xmlns:a16="http://schemas.microsoft.com/office/drawing/2014/main" id="{C0CC4417-6F08-483A-AD86-46667958232C}"/>
                </a:ext>
              </a:extLst>
            </p:cNvPr>
            <p:cNvSpPr/>
            <p:nvPr/>
          </p:nvSpPr>
          <p:spPr bwMode="auto">
            <a:xfrm>
              <a:off x="9912424" y="2395113"/>
              <a:ext cx="452437" cy="781475"/>
            </a:xfrm>
            <a:custGeom>
              <a:avLst/>
              <a:gdLst>
                <a:gd name="connsiteX0" fmla="*/ 0 w 485775"/>
                <a:gd name="connsiteY0" fmla="*/ 681462 h 767187"/>
                <a:gd name="connsiteX1" fmla="*/ 238125 w 485775"/>
                <a:gd name="connsiteY1" fmla="*/ 425 h 767187"/>
                <a:gd name="connsiteX2" fmla="*/ 485775 w 485775"/>
                <a:gd name="connsiteY2" fmla="*/ 767187 h 767187"/>
                <a:gd name="connsiteX0" fmla="*/ 0 w 452437"/>
                <a:gd name="connsiteY0" fmla="*/ 681462 h 781475"/>
                <a:gd name="connsiteX1" fmla="*/ 238125 w 452437"/>
                <a:gd name="connsiteY1" fmla="*/ 425 h 781475"/>
                <a:gd name="connsiteX2" fmla="*/ 452437 w 452437"/>
                <a:gd name="connsiteY2" fmla="*/ 781475 h 78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2437" h="781475">
                  <a:moveTo>
                    <a:pt x="0" y="681462"/>
                  </a:moveTo>
                  <a:cubicBezTo>
                    <a:pt x="78581" y="333799"/>
                    <a:pt x="157163" y="-13863"/>
                    <a:pt x="238125" y="425"/>
                  </a:cubicBezTo>
                  <a:cubicBezTo>
                    <a:pt x="319088" y="14712"/>
                    <a:pt x="404812" y="657650"/>
                    <a:pt x="452437" y="781475"/>
                  </a:cubicBezTo>
                </a:path>
              </a:pathLst>
            </a:custGeom>
            <a:noFill/>
            <a:ln w="571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endParaRPr>
            </a:p>
          </p:txBody>
        </p: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7D2028B2-B1D6-4CC4-A880-44A2A1F867C0}"/>
              </a:ext>
            </a:extLst>
          </p:cNvPr>
          <p:cNvGrpSpPr/>
          <p:nvPr/>
        </p:nvGrpSpPr>
        <p:grpSpPr>
          <a:xfrm>
            <a:off x="7746498" y="5125662"/>
            <a:ext cx="1659909" cy="1471690"/>
            <a:chOff x="9264352" y="4418647"/>
            <a:chExt cx="2004901" cy="1777563"/>
          </a:xfrm>
        </p:grpSpPr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4C90EDA5-2034-4CEE-8831-E544B0D9906D}"/>
                </a:ext>
              </a:extLst>
            </p:cNvPr>
            <p:cNvGrpSpPr/>
            <p:nvPr/>
          </p:nvGrpSpPr>
          <p:grpSpPr>
            <a:xfrm>
              <a:off x="9264352" y="4859997"/>
              <a:ext cx="2004901" cy="1336213"/>
              <a:chOff x="670719" y="1628801"/>
              <a:chExt cx="2004901" cy="1336213"/>
            </a:xfrm>
          </p:grpSpPr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F6B8963F-0ED9-49BF-8D7D-B6CF82B1D5AE}"/>
                  </a:ext>
                </a:extLst>
              </p:cNvPr>
              <p:cNvCxnSpPr/>
              <p:nvPr/>
            </p:nvCxnSpPr>
            <p:spPr bwMode="auto">
              <a:xfrm>
                <a:off x="670719" y="2895601"/>
                <a:ext cx="0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CDD5C0BA-8714-49BC-BED1-C9D11765CA24}"/>
                  </a:ext>
                </a:extLst>
              </p:cNvPr>
              <p:cNvCxnSpPr/>
              <p:nvPr/>
            </p:nvCxnSpPr>
            <p:spPr bwMode="auto">
              <a:xfrm flipV="1">
                <a:off x="670719" y="1628801"/>
                <a:ext cx="0" cy="1266800"/>
              </a:xfrm>
              <a:prstGeom prst="line">
                <a:avLst/>
              </a:prstGeom>
              <a:noFill/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0" name="直接箭头连接符 89">
                <a:extLst>
                  <a:ext uri="{FF2B5EF4-FFF2-40B4-BE49-F238E27FC236}">
                    <a16:creationId xmlns:a16="http://schemas.microsoft.com/office/drawing/2014/main" id="{7C908688-48DD-4AEE-A26D-4267DD130518}"/>
                  </a:ext>
                </a:extLst>
              </p:cNvPr>
              <p:cNvCxnSpPr/>
              <p:nvPr/>
            </p:nvCxnSpPr>
            <p:spPr bwMode="auto">
              <a:xfrm>
                <a:off x="670719" y="2900562"/>
                <a:ext cx="1896889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9C77D4FA-F7D0-4D3C-83B1-9BFBE3183360}"/>
                  </a:ext>
                </a:extLst>
              </p:cNvPr>
              <p:cNvSpPr txBox="1"/>
              <p:nvPr/>
            </p:nvSpPr>
            <p:spPr>
              <a:xfrm>
                <a:off x="2459596" y="2564904"/>
                <a:ext cx="2160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i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t</a:t>
                </a:r>
                <a:endParaRPr lang="zh-CN" altLang="en-US" i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sp>
          <p:nvSpPr>
            <p:cNvPr id="92" name="任意多边形: 形状 91">
              <a:extLst>
                <a:ext uri="{FF2B5EF4-FFF2-40B4-BE49-F238E27FC236}">
                  <a16:creationId xmlns:a16="http://schemas.microsoft.com/office/drawing/2014/main" id="{879D30D3-8C1D-4670-9F62-06F6501A2B0A}"/>
                </a:ext>
              </a:extLst>
            </p:cNvPr>
            <p:cNvSpPr/>
            <p:nvPr/>
          </p:nvSpPr>
          <p:spPr bwMode="auto">
            <a:xfrm>
              <a:off x="9281885" y="4446651"/>
              <a:ext cx="1632857" cy="1691982"/>
            </a:xfrm>
            <a:custGeom>
              <a:avLst/>
              <a:gdLst>
                <a:gd name="connsiteX0" fmla="*/ 0 w 2010228"/>
                <a:gd name="connsiteY0" fmla="*/ 1685635 h 1838035"/>
                <a:gd name="connsiteX1" fmla="*/ 232228 w 2010228"/>
                <a:gd name="connsiteY1" fmla="*/ 1569520 h 1838035"/>
                <a:gd name="connsiteX2" fmla="*/ 326571 w 2010228"/>
                <a:gd name="connsiteY2" fmla="*/ 851063 h 1838035"/>
                <a:gd name="connsiteX3" fmla="*/ 486228 w 2010228"/>
                <a:gd name="connsiteY3" fmla="*/ 1978 h 1838035"/>
                <a:gd name="connsiteX4" fmla="*/ 609600 w 2010228"/>
                <a:gd name="connsiteY4" fmla="*/ 618835 h 1838035"/>
                <a:gd name="connsiteX5" fmla="*/ 696685 w 2010228"/>
                <a:gd name="connsiteY5" fmla="*/ 691406 h 1838035"/>
                <a:gd name="connsiteX6" fmla="*/ 1364343 w 2010228"/>
                <a:gd name="connsiteY6" fmla="*/ 720435 h 1838035"/>
                <a:gd name="connsiteX7" fmla="*/ 1611085 w 2010228"/>
                <a:gd name="connsiteY7" fmla="*/ 1627578 h 1838035"/>
                <a:gd name="connsiteX8" fmla="*/ 2010228 w 2010228"/>
                <a:gd name="connsiteY8" fmla="*/ 1838035 h 1838035"/>
                <a:gd name="connsiteX0" fmla="*/ 0 w 2010228"/>
                <a:gd name="connsiteY0" fmla="*/ 1685635 h 1838035"/>
                <a:gd name="connsiteX1" fmla="*/ 232228 w 2010228"/>
                <a:gd name="connsiteY1" fmla="*/ 1569520 h 1838035"/>
                <a:gd name="connsiteX2" fmla="*/ 326571 w 2010228"/>
                <a:gd name="connsiteY2" fmla="*/ 851063 h 1838035"/>
                <a:gd name="connsiteX3" fmla="*/ 486228 w 2010228"/>
                <a:gd name="connsiteY3" fmla="*/ 1978 h 1838035"/>
                <a:gd name="connsiteX4" fmla="*/ 609600 w 2010228"/>
                <a:gd name="connsiteY4" fmla="*/ 618835 h 1838035"/>
                <a:gd name="connsiteX5" fmla="*/ 696685 w 2010228"/>
                <a:gd name="connsiteY5" fmla="*/ 691406 h 1838035"/>
                <a:gd name="connsiteX6" fmla="*/ 1204686 w 2010228"/>
                <a:gd name="connsiteY6" fmla="*/ 829292 h 1838035"/>
                <a:gd name="connsiteX7" fmla="*/ 1611085 w 2010228"/>
                <a:gd name="connsiteY7" fmla="*/ 1627578 h 1838035"/>
                <a:gd name="connsiteX8" fmla="*/ 2010228 w 2010228"/>
                <a:gd name="connsiteY8" fmla="*/ 1838035 h 1838035"/>
                <a:gd name="connsiteX0" fmla="*/ 0 w 2010228"/>
                <a:gd name="connsiteY0" fmla="*/ 1685635 h 1838035"/>
                <a:gd name="connsiteX1" fmla="*/ 232228 w 2010228"/>
                <a:gd name="connsiteY1" fmla="*/ 1569520 h 1838035"/>
                <a:gd name="connsiteX2" fmla="*/ 326571 w 2010228"/>
                <a:gd name="connsiteY2" fmla="*/ 851063 h 1838035"/>
                <a:gd name="connsiteX3" fmla="*/ 486228 w 2010228"/>
                <a:gd name="connsiteY3" fmla="*/ 1978 h 1838035"/>
                <a:gd name="connsiteX4" fmla="*/ 609600 w 2010228"/>
                <a:gd name="connsiteY4" fmla="*/ 618835 h 1838035"/>
                <a:gd name="connsiteX5" fmla="*/ 696685 w 2010228"/>
                <a:gd name="connsiteY5" fmla="*/ 691406 h 1838035"/>
                <a:gd name="connsiteX6" fmla="*/ 1204686 w 2010228"/>
                <a:gd name="connsiteY6" fmla="*/ 829292 h 1838035"/>
                <a:gd name="connsiteX7" fmla="*/ 1328057 w 2010228"/>
                <a:gd name="connsiteY7" fmla="*/ 1613063 h 1838035"/>
                <a:gd name="connsiteX8" fmla="*/ 2010228 w 2010228"/>
                <a:gd name="connsiteY8" fmla="*/ 1838035 h 1838035"/>
                <a:gd name="connsiteX0" fmla="*/ 0 w 1632857"/>
                <a:gd name="connsiteY0" fmla="*/ 1685635 h 1710053"/>
                <a:gd name="connsiteX1" fmla="*/ 232228 w 1632857"/>
                <a:gd name="connsiteY1" fmla="*/ 1569520 h 1710053"/>
                <a:gd name="connsiteX2" fmla="*/ 326571 w 1632857"/>
                <a:gd name="connsiteY2" fmla="*/ 851063 h 1710053"/>
                <a:gd name="connsiteX3" fmla="*/ 486228 w 1632857"/>
                <a:gd name="connsiteY3" fmla="*/ 1978 h 1710053"/>
                <a:gd name="connsiteX4" fmla="*/ 609600 w 1632857"/>
                <a:gd name="connsiteY4" fmla="*/ 618835 h 1710053"/>
                <a:gd name="connsiteX5" fmla="*/ 696685 w 1632857"/>
                <a:gd name="connsiteY5" fmla="*/ 691406 h 1710053"/>
                <a:gd name="connsiteX6" fmla="*/ 1204686 w 1632857"/>
                <a:gd name="connsiteY6" fmla="*/ 829292 h 1710053"/>
                <a:gd name="connsiteX7" fmla="*/ 1328057 w 1632857"/>
                <a:gd name="connsiteY7" fmla="*/ 1613063 h 1710053"/>
                <a:gd name="connsiteX8" fmla="*/ 1632857 w 1632857"/>
                <a:gd name="connsiteY8" fmla="*/ 1685635 h 1710053"/>
                <a:gd name="connsiteX0" fmla="*/ 0 w 1632857"/>
                <a:gd name="connsiteY0" fmla="*/ 1685635 h 1691982"/>
                <a:gd name="connsiteX1" fmla="*/ 232228 w 1632857"/>
                <a:gd name="connsiteY1" fmla="*/ 1569520 h 1691982"/>
                <a:gd name="connsiteX2" fmla="*/ 326571 w 1632857"/>
                <a:gd name="connsiteY2" fmla="*/ 851063 h 1691982"/>
                <a:gd name="connsiteX3" fmla="*/ 486228 w 1632857"/>
                <a:gd name="connsiteY3" fmla="*/ 1978 h 1691982"/>
                <a:gd name="connsiteX4" fmla="*/ 609600 w 1632857"/>
                <a:gd name="connsiteY4" fmla="*/ 618835 h 1691982"/>
                <a:gd name="connsiteX5" fmla="*/ 696685 w 1632857"/>
                <a:gd name="connsiteY5" fmla="*/ 691406 h 1691982"/>
                <a:gd name="connsiteX6" fmla="*/ 1204686 w 1632857"/>
                <a:gd name="connsiteY6" fmla="*/ 829292 h 1691982"/>
                <a:gd name="connsiteX7" fmla="*/ 1349828 w 1632857"/>
                <a:gd name="connsiteY7" fmla="*/ 1511463 h 1691982"/>
                <a:gd name="connsiteX8" fmla="*/ 1632857 w 1632857"/>
                <a:gd name="connsiteY8" fmla="*/ 1685635 h 1691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32857" h="1691982">
                  <a:moveTo>
                    <a:pt x="0" y="1685635"/>
                  </a:moveTo>
                  <a:cubicBezTo>
                    <a:pt x="88900" y="1697125"/>
                    <a:pt x="177800" y="1708615"/>
                    <a:pt x="232228" y="1569520"/>
                  </a:cubicBezTo>
                  <a:cubicBezTo>
                    <a:pt x="286656" y="1430425"/>
                    <a:pt x="284238" y="1112320"/>
                    <a:pt x="326571" y="851063"/>
                  </a:cubicBezTo>
                  <a:cubicBezTo>
                    <a:pt x="368904" y="589806"/>
                    <a:pt x="439057" y="40683"/>
                    <a:pt x="486228" y="1978"/>
                  </a:cubicBezTo>
                  <a:cubicBezTo>
                    <a:pt x="533399" y="-36727"/>
                    <a:pt x="574524" y="503930"/>
                    <a:pt x="609600" y="618835"/>
                  </a:cubicBezTo>
                  <a:cubicBezTo>
                    <a:pt x="644676" y="733740"/>
                    <a:pt x="597504" y="656330"/>
                    <a:pt x="696685" y="691406"/>
                  </a:cubicBezTo>
                  <a:cubicBezTo>
                    <a:pt x="795866" y="726482"/>
                    <a:pt x="1095829" y="692616"/>
                    <a:pt x="1204686" y="829292"/>
                  </a:cubicBezTo>
                  <a:cubicBezTo>
                    <a:pt x="1313543" y="965968"/>
                    <a:pt x="1242181" y="1325196"/>
                    <a:pt x="1349828" y="1511463"/>
                  </a:cubicBezTo>
                  <a:cubicBezTo>
                    <a:pt x="1457475" y="1697730"/>
                    <a:pt x="1608667" y="1654188"/>
                    <a:pt x="1632857" y="1685635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endParaRPr>
            </a:p>
          </p:txBody>
        </p:sp>
        <p:sp>
          <p:nvSpPr>
            <p:cNvPr id="93" name="任意多边形: 形状 92">
              <a:extLst>
                <a:ext uri="{FF2B5EF4-FFF2-40B4-BE49-F238E27FC236}">
                  <a16:creationId xmlns:a16="http://schemas.microsoft.com/office/drawing/2014/main" id="{D46B8471-F1AE-4280-9610-9ED524DB23C9}"/>
                </a:ext>
              </a:extLst>
            </p:cNvPr>
            <p:cNvSpPr/>
            <p:nvPr/>
          </p:nvSpPr>
          <p:spPr bwMode="auto">
            <a:xfrm>
              <a:off x="9594850" y="4418647"/>
              <a:ext cx="330200" cy="851853"/>
            </a:xfrm>
            <a:custGeom>
              <a:avLst/>
              <a:gdLst>
                <a:gd name="connsiteX0" fmla="*/ 0 w 330200"/>
                <a:gd name="connsiteY0" fmla="*/ 851853 h 851853"/>
                <a:gd name="connsiteX1" fmla="*/ 152400 w 330200"/>
                <a:gd name="connsiteY1" fmla="*/ 953 h 851853"/>
                <a:gd name="connsiteX2" fmla="*/ 330200 w 330200"/>
                <a:gd name="connsiteY2" fmla="*/ 718503 h 851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200" h="851853">
                  <a:moveTo>
                    <a:pt x="0" y="851853"/>
                  </a:moveTo>
                  <a:cubicBezTo>
                    <a:pt x="48683" y="437515"/>
                    <a:pt x="97367" y="23178"/>
                    <a:pt x="152400" y="953"/>
                  </a:cubicBezTo>
                  <a:cubicBezTo>
                    <a:pt x="207433" y="-21272"/>
                    <a:pt x="268816" y="348615"/>
                    <a:pt x="330200" y="718503"/>
                  </a:cubicBezTo>
                </a:path>
              </a:pathLst>
            </a:cu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endParaRPr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A7972AB9-66EE-491D-8686-E9256A0F5571}"/>
              </a:ext>
            </a:extLst>
          </p:cNvPr>
          <p:cNvGrpSpPr/>
          <p:nvPr/>
        </p:nvGrpSpPr>
        <p:grpSpPr>
          <a:xfrm>
            <a:off x="3425233" y="1220910"/>
            <a:ext cx="3482165" cy="1693372"/>
            <a:chOff x="3425233" y="972966"/>
            <a:chExt cx="3482165" cy="1745969"/>
          </a:xfrm>
        </p:grpSpPr>
        <p:grpSp>
          <p:nvGrpSpPr>
            <p:cNvPr id="96" name="组合 95">
              <a:extLst>
                <a:ext uri="{FF2B5EF4-FFF2-40B4-BE49-F238E27FC236}">
                  <a16:creationId xmlns:a16="http://schemas.microsoft.com/office/drawing/2014/main" id="{EE7CB6C5-FB35-4D33-972F-7DF580F8B30A}"/>
                </a:ext>
              </a:extLst>
            </p:cNvPr>
            <p:cNvGrpSpPr/>
            <p:nvPr/>
          </p:nvGrpSpPr>
          <p:grpSpPr>
            <a:xfrm>
              <a:off x="4458481" y="1215127"/>
              <a:ext cx="1925551" cy="1220031"/>
              <a:chOff x="3647728" y="1556792"/>
              <a:chExt cx="2108918" cy="1336213"/>
            </a:xfrm>
          </p:grpSpPr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F662F69C-3B82-4750-8B4C-C815E7AF7905}"/>
                  </a:ext>
                </a:extLst>
              </p:cNvPr>
              <p:cNvSpPr txBox="1"/>
              <p:nvPr/>
            </p:nvSpPr>
            <p:spPr>
              <a:xfrm>
                <a:off x="4789359" y="1915988"/>
                <a:ext cx="967287" cy="4518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噪声</a:t>
                </a:r>
              </a:p>
            </p:txBody>
          </p: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1A1DA7B6-CB91-4F77-AF1E-245B33932743}"/>
                  </a:ext>
                </a:extLst>
              </p:cNvPr>
              <p:cNvGrpSpPr/>
              <p:nvPr/>
            </p:nvGrpSpPr>
            <p:grpSpPr>
              <a:xfrm>
                <a:off x="3647728" y="1556792"/>
                <a:ext cx="2004901" cy="1336213"/>
                <a:chOff x="670719" y="1628801"/>
                <a:chExt cx="2004901" cy="1336213"/>
              </a:xfrm>
            </p:grpSpPr>
            <p:cxnSp>
              <p:nvCxnSpPr>
                <p:cNvPr id="33" name="直接连接符 32">
                  <a:extLst>
                    <a:ext uri="{FF2B5EF4-FFF2-40B4-BE49-F238E27FC236}">
                      <a16:creationId xmlns:a16="http://schemas.microsoft.com/office/drawing/2014/main" id="{5C7E378D-E999-4E66-B3B0-F00DE2DA0D3D}"/>
                    </a:ext>
                  </a:extLst>
                </p:cNvPr>
                <p:cNvCxnSpPr/>
                <p:nvPr/>
              </p:nvCxnSpPr>
              <p:spPr bwMode="auto">
                <a:xfrm>
                  <a:off x="670719" y="2895601"/>
                  <a:ext cx="0" cy="0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4" name="直接连接符 33">
                  <a:extLst>
                    <a:ext uri="{FF2B5EF4-FFF2-40B4-BE49-F238E27FC236}">
                      <a16:creationId xmlns:a16="http://schemas.microsoft.com/office/drawing/2014/main" id="{36302A0F-5FF7-401C-B11F-4F9013747599}"/>
                    </a:ext>
                  </a:extLst>
                </p:cNvPr>
                <p:cNvCxnSpPr/>
                <p:nvPr/>
              </p:nvCxnSpPr>
              <p:spPr bwMode="auto">
                <a:xfrm flipV="1">
                  <a:off x="670719" y="1628801"/>
                  <a:ext cx="0" cy="1266800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5" name="直接箭头连接符 34">
                  <a:extLst>
                    <a:ext uri="{FF2B5EF4-FFF2-40B4-BE49-F238E27FC236}">
                      <a16:creationId xmlns:a16="http://schemas.microsoft.com/office/drawing/2014/main" id="{F5880C70-895D-4A5B-8451-0B9649594471}"/>
                    </a:ext>
                  </a:extLst>
                </p:cNvPr>
                <p:cNvCxnSpPr/>
                <p:nvPr/>
              </p:nvCxnSpPr>
              <p:spPr bwMode="auto">
                <a:xfrm>
                  <a:off x="670719" y="2900562"/>
                  <a:ext cx="1896889" cy="0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525A4908-3C0A-4B2C-89FA-B11CB23A23D4}"/>
                    </a:ext>
                  </a:extLst>
                </p:cNvPr>
                <p:cNvSpPr txBox="1"/>
                <p:nvPr/>
              </p:nvSpPr>
              <p:spPr>
                <a:xfrm>
                  <a:off x="2459596" y="2564904"/>
                  <a:ext cx="21602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zh-CN" i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rPr>
                    <a:t>t</a:t>
                  </a:r>
                  <a:endParaRPr lang="zh-CN" altLang="en-US" i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972CC0B0-53E6-464C-91A4-89D0778D73C8}"/>
                  </a:ext>
                </a:extLst>
              </p:cNvPr>
              <p:cNvSpPr/>
              <p:nvPr/>
            </p:nvSpPr>
            <p:spPr bwMode="auto">
              <a:xfrm>
                <a:off x="3657600" y="2060848"/>
                <a:ext cx="1304925" cy="756862"/>
              </a:xfrm>
              <a:custGeom>
                <a:avLst/>
                <a:gdLst>
                  <a:gd name="connsiteX0" fmla="*/ 0 w 1304925"/>
                  <a:gd name="connsiteY0" fmla="*/ 742950 h 756862"/>
                  <a:gd name="connsiteX1" fmla="*/ 157163 w 1304925"/>
                  <a:gd name="connsiteY1" fmla="*/ 657225 h 756862"/>
                  <a:gd name="connsiteX2" fmla="*/ 404813 w 1304925"/>
                  <a:gd name="connsiteY2" fmla="*/ 0 h 756862"/>
                  <a:gd name="connsiteX3" fmla="*/ 681038 w 1304925"/>
                  <a:gd name="connsiteY3" fmla="*/ 652462 h 756862"/>
                  <a:gd name="connsiteX4" fmla="*/ 1304925 w 1304925"/>
                  <a:gd name="connsiteY4" fmla="*/ 742950 h 756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4925" h="756862">
                    <a:moveTo>
                      <a:pt x="0" y="742950"/>
                    </a:moveTo>
                    <a:cubicBezTo>
                      <a:pt x="44847" y="762000"/>
                      <a:pt x="89694" y="781050"/>
                      <a:pt x="157163" y="657225"/>
                    </a:cubicBezTo>
                    <a:cubicBezTo>
                      <a:pt x="224632" y="533400"/>
                      <a:pt x="317501" y="794"/>
                      <a:pt x="404813" y="0"/>
                    </a:cubicBezTo>
                    <a:cubicBezTo>
                      <a:pt x="492125" y="-794"/>
                      <a:pt x="531019" y="528637"/>
                      <a:pt x="681038" y="652462"/>
                    </a:cubicBezTo>
                    <a:cubicBezTo>
                      <a:pt x="831057" y="776287"/>
                      <a:pt x="1206500" y="750094"/>
                      <a:pt x="1304925" y="742950"/>
                    </a:cubicBezTo>
                  </a:path>
                </a:pathLst>
              </a:custGeom>
              <a:noFill/>
              <a:ln w="381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000" b="0" i="0" u="none" strike="noStrike" cap="none" normalizeH="0" baseline="0">
                  <a:ln w="28575">
                    <a:solidFill>
                      <a:schemeClr val="tx1"/>
                    </a:solidFill>
                  </a:ln>
                  <a:solidFill>
                    <a:schemeClr val="tx1"/>
                  </a:solidFill>
                  <a:effectLst/>
                  <a:latin typeface="Arial" charset="0"/>
                  <a:ea typeface="黑体" pitchFamily="2" charset="-122"/>
                </a:endParaRPr>
              </a:p>
            </p:txBody>
          </p:sp>
        </p:grpSp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DACEB1F1-E3BB-4CF9-8173-65ABBFF62698}"/>
                </a:ext>
              </a:extLst>
            </p:cNvPr>
            <p:cNvSpPr/>
            <p:nvPr/>
          </p:nvSpPr>
          <p:spPr bwMode="auto">
            <a:xfrm>
              <a:off x="3425233" y="972966"/>
              <a:ext cx="3482165" cy="1745969"/>
            </a:xfrm>
            <a:prstGeom prst="ellipse">
              <a:avLst/>
            </a:prstGeom>
            <a:noFill/>
            <a:ln w="2857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06CC0EE3-9455-4699-ADEC-FF5D9772B3E8}"/>
              </a:ext>
            </a:extLst>
          </p:cNvPr>
          <p:cNvGrpSpPr/>
          <p:nvPr/>
        </p:nvGrpSpPr>
        <p:grpSpPr>
          <a:xfrm>
            <a:off x="9532437" y="3394796"/>
            <a:ext cx="2155772" cy="1938331"/>
            <a:chOff x="191344" y="1419225"/>
            <a:chExt cx="2155772" cy="1938331"/>
          </a:xfrm>
        </p:grpSpPr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6551BE81-31B5-4247-90C8-31B93F5D7A65}"/>
                </a:ext>
              </a:extLst>
            </p:cNvPr>
            <p:cNvSpPr/>
            <p:nvPr/>
          </p:nvSpPr>
          <p:spPr bwMode="auto">
            <a:xfrm>
              <a:off x="191344" y="1419225"/>
              <a:ext cx="2155769" cy="153471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06" name="任意多边形: 形状 105">
              <a:extLst>
                <a:ext uri="{FF2B5EF4-FFF2-40B4-BE49-F238E27FC236}">
                  <a16:creationId xmlns:a16="http://schemas.microsoft.com/office/drawing/2014/main" id="{E52B04B2-D9BB-4A4A-99DB-B9C83E831BAF}"/>
                </a:ext>
              </a:extLst>
            </p:cNvPr>
            <p:cNvSpPr/>
            <p:nvPr/>
          </p:nvSpPr>
          <p:spPr bwMode="auto">
            <a:xfrm>
              <a:off x="342215" y="1821559"/>
              <a:ext cx="1655762" cy="989081"/>
            </a:xfrm>
            <a:custGeom>
              <a:avLst/>
              <a:gdLst>
                <a:gd name="connsiteX0" fmla="*/ 0 w 1498600"/>
                <a:gd name="connsiteY0" fmla="*/ 920295 h 921971"/>
                <a:gd name="connsiteX1" fmla="*/ 190500 w 1498600"/>
                <a:gd name="connsiteY1" fmla="*/ 799645 h 921971"/>
                <a:gd name="connsiteX2" fmla="*/ 450850 w 1498600"/>
                <a:gd name="connsiteY2" fmla="*/ 145595 h 921971"/>
                <a:gd name="connsiteX3" fmla="*/ 1098550 w 1498600"/>
                <a:gd name="connsiteY3" fmla="*/ 56695 h 921971"/>
                <a:gd name="connsiteX4" fmla="*/ 1308100 w 1498600"/>
                <a:gd name="connsiteY4" fmla="*/ 850445 h 921971"/>
                <a:gd name="connsiteX5" fmla="*/ 1498600 w 1498600"/>
                <a:gd name="connsiteY5" fmla="*/ 882195 h 921971"/>
                <a:gd name="connsiteX0" fmla="*/ 0 w 1498600"/>
                <a:gd name="connsiteY0" fmla="*/ 956220 h 959247"/>
                <a:gd name="connsiteX1" fmla="*/ 190500 w 1498600"/>
                <a:gd name="connsiteY1" fmla="*/ 835570 h 959247"/>
                <a:gd name="connsiteX2" fmla="*/ 450850 w 1498600"/>
                <a:gd name="connsiteY2" fmla="*/ 98970 h 959247"/>
                <a:gd name="connsiteX3" fmla="*/ 1098550 w 1498600"/>
                <a:gd name="connsiteY3" fmla="*/ 92620 h 959247"/>
                <a:gd name="connsiteX4" fmla="*/ 1308100 w 1498600"/>
                <a:gd name="connsiteY4" fmla="*/ 886370 h 959247"/>
                <a:gd name="connsiteX5" fmla="*/ 1498600 w 1498600"/>
                <a:gd name="connsiteY5" fmla="*/ 918120 h 959247"/>
                <a:gd name="connsiteX0" fmla="*/ 0 w 1520031"/>
                <a:gd name="connsiteY0" fmla="*/ 956220 h 972888"/>
                <a:gd name="connsiteX1" fmla="*/ 190500 w 1520031"/>
                <a:gd name="connsiteY1" fmla="*/ 835570 h 972888"/>
                <a:gd name="connsiteX2" fmla="*/ 450850 w 1520031"/>
                <a:gd name="connsiteY2" fmla="*/ 98970 h 972888"/>
                <a:gd name="connsiteX3" fmla="*/ 1098550 w 1520031"/>
                <a:gd name="connsiteY3" fmla="*/ 92620 h 972888"/>
                <a:gd name="connsiteX4" fmla="*/ 1308100 w 1520031"/>
                <a:gd name="connsiteY4" fmla="*/ 886370 h 972888"/>
                <a:gd name="connsiteX5" fmla="*/ 1520031 w 1520031"/>
                <a:gd name="connsiteY5" fmla="*/ 953839 h 972888"/>
                <a:gd name="connsiteX0" fmla="*/ 0 w 1558131"/>
                <a:gd name="connsiteY0" fmla="*/ 956220 h 986516"/>
                <a:gd name="connsiteX1" fmla="*/ 190500 w 1558131"/>
                <a:gd name="connsiteY1" fmla="*/ 835570 h 986516"/>
                <a:gd name="connsiteX2" fmla="*/ 450850 w 1558131"/>
                <a:gd name="connsiteY2" fmla="*/ 98970 h 986516"/>
                <a:gd name="connsiteX3" fmla="*/ 1098550 w 1558131"/>
                <a:gd name="connsiteY3" fmla="*/ 92620 h 986516"/>
                <a:gd name="connsiteX4" fmla="*/ 1308100 w 1558131"/>
                <a:gd name="connsiteY4" fmla="*/ 886370 h 986516"/>
                <a:gd name="connsiteX5" fmla="*/ 1558131 w 1558131"/>
                <a:gd name="connsiteY5" fmla="*/ 977651 h 986516"/>
                <a:gd name="connsiteX0" fmla="*/ 0 w 1598612"/>
                <a:gd name="connsiteY0" fmla="*/ 975270 h 986516"/>
                <a:gd name="connsiteX1" fmla="*/ 230981 w 1598612"/>
                <a:gd name="connsiteY1" fmla="*/ 835570 h 986516"/>
                <a:gd name="connsiteX2" fmla="*/ 491331 w 1598612"/>
                <a:gd name="connsiteY2" fmla="*/ 98970 h 986516"/>
                <a:gd name="connsiteX3" fmla="*/ 1139031 w 1598612"/>
                <a:gd name="connsiteY3" fmla="*/ 92620 h 986516"/>
                <a:gd name="connsiteX4" fmla="*/ 1348581 w 1598612"/>
                <a:gd name="connsiteY4" fmla="*/ 886370 h 986516"/>
                <a:gd name="connsiteX5" fmla="*/ 1598612 w 1598612"/>
                <a:gd name="connsiteY5" fmla="*/ 977651 h 986516"/>
                <a:gd name="connsiteX0" fmla="*/ 0 w 1655762"/>
                <a:gd name="connsiteY0" fmla="*/ 975270 h 991351"/>
                <a:gd name="connsiteX1" fmla="*/ 230981 w 1655762"/>
                <a:gd name="connsiteY1" fmla="*/ 835570 h 991351"/>
                <a:gd name="connsiteX2" fmla="*/ 491331 w 1655762"/>
                <a:gd name="connsiteY2" fmla="*/ 98970 h 991351"/>
                <a:gd name="connsiteX3" fmla="*/ 1139031 w 1655762"/>
                <a:gd name="connsiteY3" fmla="*/ 92620 h 991351"/>
                <a:gd name="connsiteX4" fmla="*/ 1348581 w 1655762"/>
                <a:gd name="connsiteY4" fmla="*/ 886370 h 991351"/>
                <a:gd name="connsiteX5" fmla="*/ 1655762 w 1655762"/>
                <a:gd name="connsiteY5" fmla="*/ 984795 h 991351"/>
                <a:gd name="connsiteX0" fmla="*/ 0 w 1655762"/>
                <a:gd name="connsiteY0" fmla="*/ 981820 h 997901"/>
                <a:gd name="connsiteX1" fmla="*/ 230981 w 1655762"/>
                <a:gd name="connsiteY1" fmla="*/ 842120 h 997901"/>
                <a:gd name="connsiteX2" fmla="*/ 486569 w 1655762"/>
                <a:gd name="connsiteY2" fmla="*/ 93614 h 997901"/>
                <a:gd name="connsiteX3" fmla="*/ 1139031 w 1655762"/>
                <a:gd name="connsiteY3" fmla="*/ 99170 h 997901"/>
                <a:gd name="connsiteX4" fmla="*/ 1348581 w 1655762"/>
                <a:gd name="connsiteY4" fmla="*/ 892920 h 997901"/>
                <a:gd name="connsiteX5" fmla="*/ 1655762 w 1655762"/>
                <a:gd name="connsiteY5" fmla="*/ 991345 h 997901"/>
                <a:gd name="connsiteX0" fmla="*/ 0 w 1655762"/>
                <a:gd name="connsiteY0" fmla="*/ 987266 h 1003347"/>
                <a:gd name="connsiteX1" fmla="*/ 230981 w 1655762"/>
                <a:gd name="connsiteY1" fmla="*/ 847566 h 1003347"/>
                <a:gd name="connsiteX2" fmla="*/ 486569 w 1655762"/>
                <a:gd name="connsiteY2" fmla="*/ 99060 h 1003347"/>
                <a:gd name="connsiteX3" fmla="*/ 1167606 w 1655762"/>
                <a:gd name="connsiteY3" fmla="*/ 95091 h 1003347"/>
                <a:gd name="connsiteX4" fmla="*/ 1348581 w 1655762"/>
                <a:gd name="connsiteY4" fmla="*/ 898366 h 1003347"/>
                <a:gd name="connsiteX5" fmla="*/ 1655762 w 1655762"/>
                <a:gd name="connsiteY5" fmla="*/ 996791 h 1003347"/>
                <a:gd name="connsiteX0" fmla="*/ 0 w 1655762"/>
                <a:gd name="connsiteY0" fmla="*/ 988562 h 1004643"/>
                <a:gd name="connsiteX1" fmla="*/ 230981 w 1655762"/>
                <a:gd name="connsiteY1" fmla="*/ 848862 h 1004643"/>
                <a:gd name="connsiteX2" fmla="*/ 446088 w 1655762"/>
                <a:gd name="connsiteY2" fmla="*/ 97975 h 1004643"/>
                <a:gd name="connsiteX3" fmla="*/ 1167606 w 1655762"/>
                <a:gd name="connsiteY3" fmla="*/ 96387 h 1004643"/>
                <a:gd name="connsiteX4" fmla="*/ 1348581 w 1655762"/>
                <a:gd name="connsiteY4" fmla="*/ 899662 h 1004643"/>
                <a:gd name="connsiteX5" fmla="*/ 1655762 w 1655762"/>
                <a:gd name="connsiteY5" fmla="*/ 998087 h 1004643"/>
                <a:gd name="connsiteX0" fmla="*/ 0 w 1655762"/>
                <a:gd name="connsiteY0" fmla="*/ 989872 h 1005953"/>
                <a:gd name="connsiteX1" fmla="*/ 230981 w 1655762"/>
                <a:gd name="connsiteY1" fmla="*/ 850172 h 1005953"/>
                <a:gd name="connsiteX2" fmla="*/ 415131 w 1655762"/>
                <a:gd name="connsiteY2" fmla="*/ 96904 h 1005953"/>
                <a:gd name="connsiteX3" fmla="*/ 1167606 w 1655762"/>
                <a:gd name="connsiteY3" fmla="*/ 97697 h 1005953"/>
                <a:gd name="connsiteX4" fmla="*/ 1348581 w 1655762"/>
                <a:gd name="connsiteY4" fmla="*/ 900972 h 1005953"/>
                <a:gd name="connsiteX5" fmla="*/ 1655762 w 1655762"/>
                <a:gd name="connsiteY5" fmla="*/ 999397 h 1005953"/>
                <a:gd name="connsiteX0" fmla="*/ 0 w 1655762"/>
                <a:gd name="connsiteY0" fmla="*/ 987624 h 997943"/>
                <a:gd name="connsiteX1" fmla="*/ 230981 w 1655762"/>
                <a:gd name="connsiteY1" fmla="*/ 847924 h 997943"/>
                <a:gd name="connsiteX2" fmla="*/ 415131 w 1655762"/>
                <a:gd name="connsiteY2" fmla="*/ 94656 h 997943"/>
                <a:gd name="connsiteX3" fmla="*/ 1167606 w 1655762"/>
                <a:gd name="connsiteY3" fmla="*/ 95449 h 997943"/>
                <a:gd name="connsiteX4" fmla="*/ 1336674 w 1655762"/>
                <a:gd name="connsiteY4" fmla="*/ 863005 h 997943"/>
                <a:gd name="connsiteX5" fmla="*/ 1655762 w 1655762"/>
                <a:gd name="connsiteY5" fmla="*/ 997149 h 997943"/>
                <a:gd name="connsiteX0" fmla="*/ 0 w 1655762"/>
                <a:gd name="connsiteY0" fmla="*/ 987624 h 989081"/>
                <a:gd name="connsiteX1" fmla="*/ 230981 w 1655762"/>
                <a:gd name="connsiteY1" fmla="*/ 847924 h 989081"/>
                <a:gd name="connsiteX2" fmla="*/ 415131 w 1655762"/>
                <a:gd name="connsiteY2" fmla="*/ 94656 h 989081"/>
                <a:gd name="connsiteX3" fmla="*/ 1167606 w 1655762"/>
                <a:gd name="connsiteY3" fmla="*/ 95449 h 989081"/>
                <a:gd name="connsiteX4" fmla="*/ 1336674 w 1655762"/>
                <a:gd name="connsiteY4" fmla="*/ 863005 h 989081"/>
                <a:gd name="connsiteX5" fmla="*/ 1655762 w 1655762"/>
                <a:gd name="connsiteY5" fmla="*/ 986434 h 989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55762" h="989081">
                  <a:moveTo>
                    <a:pt x="0" y="987624"/>
                  </a:moveTo>
                  <a:cubicBezTo>
                    <a:pt x="57679" y="991857"/>
                    <a:pt x="161793" y="996752"/>
                    <a:pt x="230981" y="847924"/>
                  </a:cubicBezTo>
                  <a:cubicBezTo>
                    <a:pt x="300169" y="699096"/>
                    <a:pt x="259027" y="220068"/>
                    <a:pt x="415131" y="94656"/>
                  </a:cubicBezTo>
                  <a:cubicBezTo>
                    <a:pt x="571235" y="-30756"/>
                    <a:pt x="1014016" y="-32609"/>
                    <a:pt x="1167606" y="95449"/>
                  </a:cubicBezTo>
                  <a:cubicBezTo>
                    <a:pt x="1321196" y="223507"/>
                    <a:pt x="1269999" y="725422"/>
                    <a:pt x="1336674" y="863005"/>
                  </a:cubicBezTo>
                  <a:cubicBezTo>
                    <a:pt x="1403349" y="1000588"/>
                    <a:pt x="1613429" y="989609"/>
                    <a:pt x="1655762" y="986434"/>
                  </a:cubicBezTo>
                </a:path>
              </a:pathLst>
            </a:cu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endParaRPr>
            </a:p>
          </p:txBody>
        </p: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DABDD79E-F582-4A2B-BD81-947E5D31B293}"/>
                </a:ext>
              </a:extLst>
            </p:cNvPr>
            <p:cNvCxnSpPr>
              <a:endCxn id="106" idx="0"/>
            </p:cNvCxnSpPr>
            <p:nvPr/>
          </p:nvCxnSpPr>
          <p:spPr bwMode="auto">
            <a:xfrm>
              <a:off x="342215" y="2809183"/>
              <a:ext cx="0" cy="0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6D2069C0-2597-422F-94FE-BC2978DD1404}"/>
                </a:ext>
              </a:extLst>
            </p:cNvPr>
            <p:cNvCxnSpPr>
              <a:stCxn id="106" idx="0"/>
            </p:cNvCxnSpPr>
            <p:nvPr/>
          </p:nvCxnSpPr>
          <p:spPr bwMode="auto">
            <a:xfrm flipV="1">
              <a:off x="342215" y="1542383"/>
              <a:ext cx="0" cy="126680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44C77495-E777-4223-A0CB-EF27FBEACC40}"/>
                </a:ext>
              </a:extLst>
            </p:cNvPr>
            <p:cNvCxnSpPr/>
            <p:nvPr/>
          </p:nvCxnSpPr>
          <p:spPr bwMode="auto">
            <a:xfrm>
              <a:off x="342215" y="2814144"/>
              <a:ext cx="1896889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AE3CB68F-E23C-427C-B72E-9884D794EBA4}"/>
                </a:ext>
              </a:extLst>
            </p:cNvPr>
            <p:cNvSpPr txBox="1"/>
            <p:nvPr/>
          </p:nvSpPr>
          <p:spPr>
            <a:xfrm>
              <a:off x="2131092" y="2478486"/>
              <a:ext cx="2160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</a:t>
              </a:r>
              <a:endParaRPr lang="zh-CN" altLang="en-US" i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6EE2536B-D8CF-4067-A29D-403968979F32}"/>
                </a:ext>
              </a:extLst>
            </p:cNvPr>
            <p:cNvSpPr txBox="1"/>
            <p:nvPr/>
          </p:nvSpPr>
          <p:spPr>
            <a:xfrm>
              <a:off x="795607" y="2957446"/>
              <a:ext cx="98772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接收方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35822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B3FF09-5124-4C90-B758-32CB395A4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差分信号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10F2A2-9752-4AE0-8C8C-72362B03C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/>
              <a:pPr>
                <a:defRPr/>
              </a:pPr>
              <a:t>43</a:t>
            </a:fld>
            <a:endParaRPr lang="en-US" altLang="zh-CN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92739A-2337-490B-AE01-AF460666228A}"/>
              </a:ext>
            </a:extLst>
          </p:cNvPr>
          <p:cNvSpPr/>
          <p:nvPr/>
        </p:nvSpPr>
        <p:spPr bwMode="auto">
          <a:xfrm>
            <a:off x="1667508" y="2396654"/>
            <a:ext cx="1008112" cy="1008112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1DAA5E-560B-445F-B842-ADF036B7A404}"/>
              </a:ext>
            </a:extLst>
          </p:cNvPr>
          <p:cNvSpPr txBox="1"/>
          <p:nvPr/>
        </p:nvSpPr>
        <p:spPr>
          <a:xfrm>
            <a:off x="1955540" y="2684686"/>
            <a:ext cx="50405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源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FD5AAA9-8DBE-418B-9A54-F819183DB33A}"/>
              </a:ext>
            </a:extLst>
          </p:cNvPr>
          <p:cNvCxnSpPr/>
          <p:nvPr/>
        </p:nvCxnSpPr>
        <p:spPr bwMode="auto">
          <a:xfrm>
            <a:off x="2675620" y="2684686"/>
            <a:ext cx="432048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AF57B57-562C-4255-AEAC-9F7814F08C2B}"/>
              </a:ext>
            </a:extLst>
          </p:cNvPr>
          <p:cNvCxnSpPr/>
          <p:nvPr/>
        </p:nvCxnSpPr>
        <p:spPr bwMode="auto">
          <a:xfrm>
            <a:off x="2675620" y="3084796"/>
            <a:ext cx="432048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6E0E84CF-5A77-40C3-AA2B-0079EDCDD555}"/>
              </a:ext>
            </a:extLst>
          </p:cNvPr>
          <p:cNvSpPr/>
          <p:nvPr/>
        </p:nvSpPr>
        <p:spPr bwMode="auto">
          <a:xfrm>
            <a:off x="1666417" y="4283844"/>
            <a:ext cx="1008112" cy="1008112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A6D9D1F-0DC0-415C-A7EF-6788052E7505}"/>
              </a:ext>
            </a:extLst>
          </p:cNvPr>
          <p:cNvSpPr txBox="1"/>
          <p:nvPr/>
        </p:nvSpPr>
        <p:spPr>
          <a:xfrm>
            <a:off x="1954449" y="4571876"/>
            <a:ext cx="50405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源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039D5AD-D765-4BFE-BC7C-38F24D94D1C0}"/>
              </a:ext>
            </a:extLst>
          </p:cNvPr>
          <p:cNvCxnSpPr/>
          <p:nvPr/>
        </p:nvCxnSpPr>
        <p:spPr bwMode="auto">
          <a:xfrm>
            <a:off x="2674529" y="4571876"/>
            <a:ext cx="432048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15BE8DF-7808-4CD9-ACE2-03E8863DD190}"/>
              </a:ext>
            </a:extLst>
          </p:cNvPr>
          <p:cNvCxnSpPr/>
          <p:nvPr/>
        </p:nvCxnSpPr>
        <p:spPr bwMode="auto">
          <a:xfrm>
            <a:off x="2674529" y="4971986"/>
            <a:ext cx="432048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AAE05A89-42E7-4AE4-AE69-D7FE4707FA0D}"/>
              </a:ext>
            </a:extLst>
          </p:cNvPr>
          <p:cNvGrpSpPr/>
          <p:nvPr/>
        </p:nvGrpSpPr>
        <p:grpSpPr>
          <a:xfrm>
            <a:off x="3605534" y="4394304"/>
            <a:ext cx="1296144" cy="413588"/>
            <a:chOff x="4943872" y="2660923"/>
            <a:chExt cx="1296144" cy="772140"/>
          </a:xfrm>
        </p:grpSpPr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C5AE4BDC-D869-4584-876E-21976EA3C1DA}"/>
                </a:ext>
              </a:extLst>
            </p:cNvPr>
            <p:cNvSpPr/>
            <p:nvPr/>
          </p:nvSpPr>
          <p:spPr bwMode="auto">
            <a:xfrm>
              <a:off x="5303912" y="2660923"/>
              <a:ext cx="566738" cy="772140"/>
            </a:xfrm>
            <a:custGeom>
              <a:avLst/>
              <a:gdLst>
                <a:gd name="connsiteX0" fmla="*/ 0 w 566738"/>
                <a:gd name="connsiteY0" fmla="*/ 409798 h 772140"/>
                <a:gd name="connsiteX1" fmla="*/ 95250 w 566738"/>
                <a:gd name="connsiteY1" fmla="*/ 9748 h 772140"/>
                <a:gd name="connsiteX2" fmla="*/ 242888 w 566738"/>
                <a:gd name="connsiteY2" fmla="*/ 771748 h 772140"/>
                <a:gd name="connsiteX3" fmla="*/ 352425 w 566738"/>
                <a:gd name="connsiteY3" fmla="*/ 9748 h 772140"/>
                <a:gd name="connsiteX4" fmla="*/ 457200 w 566738"/>
                <a:gd name="connsiteY4" fmla="*/ 762223 h 772140"/>
                <a:gd name="connsiteX5" fmla="*/ 566738 w 566738"/>
                <a:gd name="connsiteY5" fmla="*/ 371698 h 772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6738" h="772140">
                  <a:moveTo>
                    <a:pt x="0" y="409798"/>
                  </a:moveTo>
                  <a:cubicBezTo>
                    <a:pt x="27384" y="179610"/>
                    <a:pt x="54769" y="-50577"/>
                    <a:pt x="95250" y="9748"/>
                  </a:cubicBezTo>
                  <a:cubicBezTo>
                    <a:pt x="135731" y="70073"/>
                    <a:pt x="200026" y="771748"/>
                    <a:pt x="242888" y="771748"/>
                  </a:cubicBezTo>
                  <a:cubicBezTo>
                    <a:pt x="285750" y="771748"/>
                    <a:pt x="316706" y="11335"/>
                    <a:pt x="352425" y="9748"/>
                  </a:cubicBezTo>
                  <a:cubicBezTo>
                    <a:pt x="388144" y="8161"/>
                    <a:pt x="421481" y="701898"/>
                    <a:pt x="457200" y="762223"/>
                  </a:cubicBezTo>
                  <a:cubicBezTo>
                    <a:pt x="492919" y="822548"/>
                    <a:pt x="529828" y="597123"/>
                    <a:pt x="566738" y="371698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endParaRPr>
            </a:p>
          </p:txBody>
        </p: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DE3E9BA4-7096-466D-AFC4-1E3B7D8EF117}"/>
                </a:ext>
              </a:extLst>
            </p:cNvPr>
            <p:cNvCxnSpPr>
              <a:endCxn id="42" idx="0"/>
            </p:cNvCxnSpPr>
            <p:nvPr/>
          </p:nvCxnSpPr>
          <p:spPr bwMode="auto">
            <a:xfrm>
              <a:off x="4943872" y="3068960"/>
              <a:ext cx="360040" cy="1761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89CF7124-C1CA-46CB-A248-F5C6D1FF01A7}"/>
                </a:ext>
              </a:extLst>
            </p:cNvPr>
            <p:cNvCxnSpPr>
              <a:stCxn id="42" idx="5"/>
            </p:cNvCxnSpPr>
            <p:nvPr/>
          </p:nvCxnSpPr>
          <p:spPr bwMode="auto">
            <a:xfrm>
              <a:off x="5870650" y="3032621"/>
              <a:ext cx="369366" cy="1437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78282D31-E547-455D-822E-36F75E798B9F}"/>
              </a:ext>
            </a:extLst>
          </p:cNvPr>
          <p:cNvGrpSpPr/>
          <p:nvPr/>
        </p:nvGrpSpPr>
        <p:grpSpPr>
          <a:xfrm>
            <a:off x="3539716" y="2252638"/>
            <a:ext cx="1296144" cy="432048"/>
            <a:chOff x="3503712" y="1556792"/>
            <a:chExt cx="1296144" cy="432048"/>
          </a:xfrm>
        </p:grpSpPr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1D4B96D1-EA6C-4438-AE7A-793BF1C408E7}"/>
                </a:ext>
              </a:extLst>
            </p:cNvPr>
            <p:cNvCxnSpPr/>
            <p:nvPr/>
          </p:nvCxnSpPr>
          <p:spPr bwMode="auto">
            <a:xfrm>
              <a:off x="3503712" y="1988840"/>
              <a:ext cx="432048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29881429-5DD8-4BB3-BC85-601822FD70F4}"/>
                </a:ext>
              </a:extLst>
            </p:cNvPr>
            <p:cNvCxnSpPr/>
            <p:nvPr/>
          </p:nvCxnSpPr>
          <p:spPr bwMode="auto">
            <a:xfrm>
              <a:off x="3935760" y="1556792"/>
              <a:ext cx="432048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DA5E868D-BFBC-4747-907A-30AF66C0EA40}"/>
                </a:ext>
              </a:extLst>
            </p:cNvPr>
            <p:cNvCxnSpPr/>
            <p:nvPr/>
          </p:nvCxnSpPr>
          <p:spPr bwMode="auto">
            <a:xfrm>
              <a:off x="4367808" y="1988840"/>
              <a:ext cx="432048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D9FDD7D7-8CB4-4A59-9BAD-06F46618C4F4}"/>
                </a:ext>
              </a:extLst>
            </p:cNvPr>
            <p:cNvCxnSpPr/>
            <p:nvPr/>
          </p:nvCxnSpPr>
          <p:spPr bwMode="auto">
            <a:xfrm>
              <a:off x="3935760" y="1556792"/>
              <a:ext cx="0" cy="43204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BE3DD69A-7C0E-49E6-8859-D8C0F9D324B6}"/>
                </a:ext>
              </a:extLst>
            </p:cNvPr>
            <p:cNvCxnSpPr/>
            <p:nvPr/>
          </p:nvCxnSpPr>
          <p:spPr bwMode="auto">
            <a:xfrm>
              <a:off x="4367808" y="1556792"/>
              <a:ext cx="0" cy="43204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F752B02F-1197-4BF4-A1E8-969743AE676F}"/>
              </a:ext>
            </a:extLst>
          </p:cNvPr>
          <p:cNvGrpSpPr/>
          <p:nvPr/>
        </p:nvGrpSpPr>
        <p:grpSpPr>
          <a:xfrm rot="10800000">
            <a:off x="3539716" y="2942704"/>
            <a:ext cx="1296144" cy="432048"/>
            <a:chOff x="3503712" y="1556792"/>
            <a:chExt cx="1296144" cy="432048"/>
          </a:xfrm>
        </p:grpSpPr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7A24B43-B563-4762-8A31-94EDD9EBEA47}"/>
                </a:ext>
              </a:extLst>
            </p:cNvPr>
            <p:cNvCxnSpPr/>
            <p:nvPr/>
          </p:nvCxnSpPr>
          <p:spPr bwMode="auto">
            <a:xfrm>
              <a:off x="3503712" y="1988840"/>
              <a:ext cx="432048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7CAC65C7-C8A5-410F-9DB7-3C007B3302A3}"/>
                </a:ext>
              </a:extLst>
            </p:cNvPr>
            <p:cNvCxnSpPr/>
            <p:nvPr/>
          </p:nvCxnSpPr>
          <p:spPr bwMode="auto">
            <a:xfrm>
              <a:off x="3935760" y="1556792"/>
              <a:ext cx="432048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27FA9676-6A1A-4592-85F5-F90E91261263}"/>
                </a:ext>
              </a:extLst>
            </p:cNvPr>
            <p:cNvCxnSpPr/>
            <p:nvPr/>
          </p:nvCxnSpPr>
          <p:spPr bwMode="auto">
            <a:xfrm>
              <a:off x="4367808" y="1988840"/>
              <a:ext cx="432048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4C80B42-D3CD-468F-8B3C-963AE9902B0D}"/>
                </a:ext>
              </a:extLst>
            </p:cNvPr>
            <p:cNvCxnSpPr/>
            <p:nvPr/>
          </p:nvCxnSpPr>
          <p:spPr bwMode="auto">
            <a:xfrm>
              <a:off x="3935760" y="1556792"/>
              <a:ext cx="0" cy="43204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385311D4-7D8E-4938-BD8F-15355351E586}"/>
                </a:ext>
              </a:extLst>
            </p:cNvPr>
            <p:cNvCxnSpPr/>
            <p:nvPr/>
          </p:nvCxnSpPr>
          <p:spPr bwMode="auto">
            <a:xfrm>
              <a:off x="4367808" y="1556792"/>
              <a:ext cx="0" cy="43204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1" name="文本框 60">
            <a:extLst>
              <a:ext uri="{FF2B5EF4-FFF2-40B4-BE49-F238E27FC236}">
                <a16:creationId xmlns:a16="http://schemas.microsoft.com/office/drawing/2014/main" id="{B23C4531-2FE8-4E04-BBAD-BA82CDCA1EDF}"/>
              </a:ext>
            </a:extLst>
          </p:cNvPr>
          <p:cNvSpPr txBox="1"/>
          <p:nvPr/>
        </p:nvSpPr>
        <p:spPr>
          <a:xfrm>
            <a:off x="3611724" y="1628800"/>
            <a:ext cx="129614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输入脉冲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B4FF69D-7255-432C-AE34-ABBC37A972A2}"/>
              </a:ext>
            </a:extLst>
          </p:cNvPr>
          <p:cNvSpPr txBox="1"/>
          <p:nvPr/>
        </p:nvSpPr>
        <p:spPr>
          <a:xfrm>
            <a:off x="3935760" y="3861048"/>
            <a:ext cx="79208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噪声</a:t>
            </a: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608C5B02-5EFE-45BD-8144-59F45E26215F}"/>
              </a:ext>
            </a:extLst>
          </p:cNvPr>
          <p:cNvGrpSpPr/>
          <p:nvPr/>
        </p:nvGrpSpPr>
        <p:grpSpPr>
          <a:xfrm>
            <a:off x="3611724" y="4863997"/>
            <a:ext cx="1296144" cy="413588"/>
            <a:chOff x="4943872" y="2660923"/>
            <a:chExt cx="1296144" cy="772140"/>
          </a:xfrm>
        </p:grpSpPr>
        <p:sp>
          <p:nvSpPr>
            <p:cNvPr id="65" name="任意多边形: 形状 64">
              <a:extLst>
                <a:ext uri="{FF2B5EF4-FFF2-40B4-BE49-F238E27FC236}">
                  <a16:creationId xmlns:a16="http://schemas.microsoft.com/office/drawing/2014/main" id="{86B16A9B-A031-4B3A-97A4-A77BBF0BFB04}"/>
                </a:ext>
              </a:extLst>
            </p:cNvPr>
            <p:cNvSpPr/>
            <p:nvPr/>
          </p:nvSpPr>
          <p:spPr bwMode="auto">
            <a:xfrm>
              <a:off x="5303912" y="2660923"/>
              <a:ext cx="566738" cy="772140"/>
            </a:xfrm>
            <a:custGeom>
              <a:avLst/>
              <a:gdLst>
                <a:gd name="connsiteX0" fmla="*/ 0 w 566738"/>
                <a:gd name="connsiteY0" fmla="*/ 409798 h 772140"/>
                <a:gd name="connsiteX1" fmla="*/ 95250 w 566738"/>
                <a:gd name="connsiteY1" fmla="*/ 9748 h 772140"/>
                <a:gd name="connsiteX2" fmla="*/ 242888 w 566738"/>
                <a:gd name="connsiteY2" fmla="*/ 771748 h 772140"/>
                <a:gd name="connsiteX3" fmla="*/ 352425 w 566738"/>
                <a:gd name="connsiteY3" fmla="*/ 9748 h 772140"/>
                <a:gd name="connsiteX4" fmla="*/ 457200 w 566738"/>
                <a:gd name="connsiteY4" fmla="*/ 762223 h 772140"/>
                <a:gd name="connsiteX5" fmla="*/ 566738 w 566738"/>
                <a:gd name="connsiteY5" fmla="*/ 371698 h 772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6738" h="772140">
                  <a:moveTo>
                    <a:pt x="0" y="409798"/>
                  </a:moveTo>
                  <a:cubicBezTo>
                    <a:pt x="27384" y="179610"/>
                    <a:pt x="54769" y="-50577"/>
                    <a:pt x="95250" y="9748"/>
                  </a:cubicBezTo>
                  <a:cubicBezTo>
                    <a:pt x="135731" y="70073"/>
                    <a:pt x="200026" y="771748"/>
                    <a:pt x="242888" y="771748"/>
                  </a:cubicBezTo>
                  <a:cubicBezTo>
                    <a:pt x="285750" y="771748"/>
                    <a:pt x="316706" y="11335"/>
                    <a:pt x="352425" y="9748"/>
                  </a:cubicBezTo>
                  <a:cubicBezTo>
                    <a:pt x="388144" y="8161"/>
                    <a:pt x="421481" y="701898"/>
                    <a:pt x="457200" y="762223"/>
                  </a:cubicBezTo>
                  <a:cubicBezTo>
                    <a:pt x="492919" y="822548"/>
                    <a:pt x="529828" y="597123"/>
                    <a:pt x="566738" y="371698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endParaRPr>
            </a:p>
          </p:txBody>
        </p: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E05D962-17B0-4F24-B59E-02E4C78EF3E5}"/>
                </a:ext>
              </a:extLst>
            </p:cNvPr>
            <p:cNvCxnSpPr>
              <a:endCxn id="65" idx="0"/>
            </p:cNvCxnSpPr>
            <p:nvPr/>
          </p:nvCxnSpPr>
          <p:spPr bwMode="auto">
            <a:xfrm>
              <a:off x="4943872" y="3068960"/>
              <a:ext cx="360040" cy="1761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48BA6A60-561F-4D37-972C-37D8527FD051}"/>
                </a:ext>
              </a:extLst>
            </p:cNvPr>
            <p:cNvCxnSpPr>
              <a:stCxn id="65" idx="5"/>
            </p:cNvCxnSpPr>
            <p:nvPr/>
          </p:nvCxnSpPr>
          <p:spPr bwMode="auto">
            <a:xfrm>
              <a:off x="5870650" y="3032621"/>
              <a:ext cx="369366" cy="1437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B6A05F7F-13FC-4826-85EE-F414D6E2F77F}"/>
              </a:ext>
            </a:extLst>
          </p:cNvPr>
          <p:cNvGrpSpPr/>
          <p:nvPr/>
        </p:nvGrpSpPr>
        <p:grpSpPr>
          <a:xfrm>
            <a:off x="5347538" y="2252638"/>
            <a:ext cx="2187790" cy="1089372"/>
            <a:chOff x="5591944" y="1420493"/>
            <a:chExt cx="2187790" cy="1089372"/>
          </a:xfrm>
        </p:grpSpPr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836B6EE1-0B84-4BB2-8964-0734DD5897A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419694" y="1965179"/>
              <a:ext cx="36004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6B27C1AF-6DF1-4083-9B57-B253ECF425B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0136" y="1472733"/>
              <a:ext cx="0" cy="103713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7794BE23-D69C-4018-AAF3-3F902BA7A0C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91944" y="1916832"/>
              <a:ext cx="792088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6C686614-F46C-4344-8B3B-32FF135DBBE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84032" y="1700808"/>
              <a:ext cx="0" cy="216024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DBC62D9C-4A1F-45F7-8D62-B6AFDD6A95A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84032" y="1700808"/>
              <a:ext cx="36004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6" name="等腰三角形 75">
              <a:extLst>
                <a:ext uri="{FF2B5EF4-FFF2-40B4-BE49-F238E27FC236}">
                  <a16:creationId xmlns:a16="http://schemas.microsoft.com/office/drawing/2014/main" id="{7E202D95-CFA7-4510-A8DA-B28839DCD52E}"/>
                </a:ext>
              </a:extLst>
            </p:cNvPr>
            <p:cNvSpPr/>
            <p:nvPr/>
          </p:nvSpPr>
          <p:spPr bwMode="auto">
            <a:xfrm rot="5400000">
              <a:off x="6673463" y="1491102"/>
              <a:ext cx="1089372" cy="948154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513126B1-A7A2-4E75-82C5-71AC48B749A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84032" y="2278038"/>
              <a:ext cx="36004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90B8A11E-A46F-4A55-A136-FA38414179B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86314" y="2060848"/>
              <a:ext cx="0" cy="216024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6CD4890C-3422-4E86-A5EC-3876E4B92D1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91944" y="2060848"/>
              <a:ext cx="792088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51AD4051-A8DC-457B-B449-69203D425B72}"/>
                </a:ext>
              </a:extLst>
            </p:cNvPr>
            <p:cNvSpPr txBox="1"/>
            <p:nvPr/>
          </p:nvSpPr>
          <p:spPr>
            <a:xfrm>
              <a:off x="6672064" y="1588730"/>
              <a:ext cx="50405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+</a:t>
              </a:r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F96C4382-8FAE-4478-BCC8-257FC950692E}"/>
                </a:ext>
              </a:extLst>
            </p:cNvPr>
            <p:cNvSpPr txBox="1"/>
            <p:nvPr/>
          </p:nvSpPr>
          <p:spPr>
            <a:xfrm>
              <a:off x="6714097" y="1977051"/>
              <a:ext cx="28802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-</a:t>
              </a:r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84" name="文本框 83">
            <a:extLst>
              <a:ext uri="{FF2B5EF4-FFF2-40B4-BE49-F238E27FC236}">
                <a16:creationId xmlns:a16="http://schemas.microsoft.com/office/drawing/2014/main" id="{55CD2BF7-873F-48AD-AB97-0512BCB070E4}"/>
              </a:ext>
            </a:extLst>
          </p:cNvPr>
          <p:cNvSpPr txBox="1"/>
          <p:nvPr/>
        </p:nvSpPr>
        <p:spPr>
          <a:xfrm>
            <a:off x="6151676" y="1628800"/>
            <a:ext cx="129614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减法器</a:t>
            </a:r>
          </a:p>
        </p:txBody>
      </p: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5BC99316-9C1E-4994-A911-198E94687068}"/>
              </a:ext>
            </a:extLst>
          </p:cNvPr>
          <p:cNvGrpSpPr/>
          <p:nvPr/>
        </p:nvGrpSpPr>
        <p:grpSpPr>
          <a:xfrm>
            <a:off x="5403689" y="4283844"/>
            <a:ext cx="2182122" cy="1089372"/>
            <a:chOff x="5591944" y="1420493"/>
            <a:chExt cx="2182122" cy="1089372"/>
          </a:xfrm>
        </p:grpSpPr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A19C21CF-16CB-42F5-A3F6-6DF790503D6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414026" y="1965179"/>
              <a:ext cx="36004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078487E1-45B1-4465-BA5B-B8DFA524B3C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0136" y="1472733"/>
              <a:ext cx="0" cy="103713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82ED5D68-004B-4B87-B23E-16DFB389E9E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91944" y="1916832"/>
              <a:ext cx="792088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8FE543BC-EE84-4145-9B68-AFA9FA7F2CC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84032" y="1700808"/>
              <a:ext cx="0" cy="216024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7C7911CB-2C9F-4729-8FAE-14B3FA4FAFA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84032" y="1700808"/>
              <a:ext cx="36004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8" name="等腰三角形 97">
              <a:extLst>
                <a:ext uri="{FF2B5EF4-FFF2-40B4-BE49-F238E27FC236}">
                  <a16:creationId xmlns:a16="http://schemas.microsoft.com/office/drawing/2014/main" id="{7C3E5B04-26FA-43E5-96CA-2955902CDB58}"/>
                </a:ext>
              </a:extLst>
            </p:cNvPr>
            <p:cNvSpPr/>
            <p:nvPr/>
          </p:nvSpPr>
          <p:spPr bwMode="auto">
            <a:xfrm rot="5400000">
              <a:off x="6673463" y="1491102"/>
              <a:ext cx="1089372" cy="948154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3447E7F0-23DB-4F90-9A4F-03D9EC0491F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84032" y="2278038"/>
              <a:ext cx="36004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E3CA76CB-8CA9-4E1C-8961-2619A378B9B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86314" y="2060848"/>
              <a:ext cx="0" cy="216024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11A47476-E785-4537-A65F-18DB82971C2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91944" y="2060848"/>
              <a:ext cx="792088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A2D8E7DF-069E-4732-AD12-B3F6320BBF61}"/>
                </a:ext>
              </a:extLst>
            </p:cNvPr>
            <p:cNvSpPr txBox="1"/>
            <p:nvPr/>
          </p:nvSpPr>
          <p:spPr>
            <a:xfrm>
              <a:off x="6672064" y="1588730"/>
              <a:ext cx="50405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+</a:t>
              </a:r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A41BB97E-002D-4F63-B5EB-D98D6AFF446C}"/>
                </a:ext>
              </a:extLst>
            </p:cNvPr>
            <p:cNvSpPr txBox="1"/>
            <p:nvPr/>
          </p:nvSpPr>
          <p:spPr>
            <a:xfrm>
              <a:off x="6714097" y="1977051"/>
              <a:ext cx="28802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-</a:t>
              </a:r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104" name="文本框 103">
            <a:extLst>
              <a:ext uri="{FF2B5EF4-FFF2-40B4-BE49-F238E27FC236}">
                <a16:creationId xmlns:a16="http://schemas.microsoft.com/office/drawing/2014/main" id="{09422C4B-DA91-445D-93FB-8EC8DC054E97}"/>
              </a:ext>
            </a:extLst>
          </p:cNvPr>
          <p:cNvSpPr txBox="1"/>
          <p:nvPr/>
        </p:nvSpPr>
        <p:spPr>
          <a:xfrm>
            <a:off x="6109647" y="3821479"/>
            <a:ext cx="129614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减法器</a:t>
            </a:r>
          </a:p>
        </p:txBody>
      </p: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72BEC9D4-03AD-4BEA-9C36-17F2C84416C1}"/>
              </a:ext>
            </a:extLst>
          </p:cNvPr>
          <p:cNvCxnSpPr/>
          <p:nvPr/>
        </p:nvCxnSpPr>
        <p:spPr bwMode="auto">
          <a:xfrm>
            <a:off x="7788188" y="2809196"/>
            <a:ext cx="36004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D029C6AA-F1BF-49B9-93D6-24413F6F0266}"/>
              </a:ext>
            </a:extLst>
          </p:cNvPr>
          <p:cNvCxnSpPr/>
          <p:nvPr/>
        </p:nvCxnSpPr>
        <p:spPr bwMode="auto">
          <a:xfrm flipV="1">
            <a:off x="8152296" y="2156790"/>
            <a:ext cx="0" cy="65240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2BACC0CE-F942-48A3-A859-F03D021DB3A4}"/>
              </a:ext>
            </a:extLst>
          </p:cNvPr>
          <p:cNvCxnSpPr/>
          <p:nvPr/>
        </p:nvCxnSpPr>
        <p:spPr bwMode="auto">
          <a:xfrm>
            <a:off x="8148228" y="2161365"/>
            <a:ext cx="36004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9D281675-A29F-45A2-8AB8-A19253EABECC}"/>
              </a:ext>
            </a:extLst>
          </p:cNvPr>
          <p:cNvCxnSpPr/>
          <p:nvPr/>
        </p:nvCxnSpPr>
        <p:spPr bwMode="auto">
          <a:xfrm flipV="1">
            <a:off x="8508268" y="2156790"/>
            <a:ext cx="0" cy="65240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943061FB-AC0F-41A8-9375-66E3D59E46FF}"/>
              </a:ext>
            </a:extLst>
          </p:cNvPr>
          <p:cNvCxnSpPr/>
          <p:nvPr/>
        </p:nvCxnSpPr>
        <p:spPr bwMode="auto">
          <a:xfrm>
            <a:off x="8508268" y="2809196"/>
            <a:ext cx="36004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2B823200-F504-4552-84C1-7CC73430E455}"/>
              </a:ext>
            </a:extLst>
          </p:cNvPr>
          <p:cNvSpPr txBox="1"/>
          <p:nvPr/>
        </p:nvSpPr>
        <p:spPr>
          <a:xfrm>
            <a:off x="7788188" y="1628800"/>
            <a:ext cx="129614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输出脉冲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0C1E2ED4-6A16-44C0-9332-1ED506098DB9}"/>
              </a:ext>
            </a:extLst>
          </p:cNvPr>
          <p:cNvSpPr txBox="1"/>
          <p:nvPr/>
        </p:nvSpPr>
        <p:spPr>
          <a:xfrm>
            <a:off x="7968208" y="3821479"/>
            <a:ext cx="129614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输出脉冲</a:t>
            </a:r>
          </a:p>
        </p:txBody>
      </p: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78787E37-DB78-4362-A770-658C57597E37}"/>
              </a:ext>
            </a:extLst>
          </p:cNvPr>
          <p:cNvCxnSpPr/>
          <p:nvPr/>
        </p:nvCxnSpPr>
        <p:spPr bwMode="auto">
          <a:xfrm>
            <a:off x="7860196" y="4825252"/>
            <a:ext cx="129614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9553171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F1F939-E378-490D-AA71-A0871B1A8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数字用户线路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0CCA10-2490-40AC-B5F6-E03B09F9E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/>
              <a:t>DSL: Digital Subscriber Line</a:t>
            </a:r>
          </a:p>
          <a:p>
            <a:pPr>
              <a:lnSpc>
                <a:spcPct val="90000"/>
              </a:lnSpc>
            </a:pPr>
            <a:r>
              <a:rPr lang="zh-CN" altLang="en-US" dirty="0"/>
              <a:t>常规电话线路本地局端的滤波器将带宽限制为</a:t>
            </a:r>
            <a:r>
              <a:rPr lang="en-US" altLang="zh-CN" dirty="0"/>
              <a:t>4kHz</a:t>
            </a:r>
            <a:r>
              <a:rPr lang="zh-CN" altLang="en-US" dirty="0"/>
              <a:t>。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3</a:t>
            </a:r>
            <a:r>
              <a:rPr lang="zh-CN" altLang="en-US" dirty="0"/>
              <a:t>类</a:t>
            </a:r>
            <a:r>
              <a:rPr lang="en-US" altLang="zh-CN" dirty="0"/>
              <a:t>UTP</a:t>
            </a:r>
            <a:r>
              <a:rPr lang="zh-CN" altLang="en-US" dirty="0"/>
              <a:t>的带宽远远大于</a:t>
            </a:r>
            <a:r>
              <a:rPr lang="en-US" altLang="zh-CN" dirty="0"/>
              <a:t>4kHz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如果局端滤波器的限制策略为按需可调，则增加的带宽可用于宽带服务</a:t>
            </a:r>
          </a:p>
          <a:p>
            <a:pPr>
              <a:lnSpc>
                <a:spcPct val="90000"/>
              </a:lnSpc>
            </a:pPr>
            <a:r>
              <a:rPr lang="zh-CN" altLang="en-US" dirty="0"/>
              <a:t>不同类型</a:t>
            </a:r>
            <a:r>
              <a:rPr lang="en-US" altLang="zh-CN" dirty="0" err="1"/>
              <a:t>xDSL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ASDL:</a:t>
            </a:r>
            <a:r>
              <a:rPr lang="zh-CN" altLang="en-US" dirty="0"/>
              <a:t>上行</a:t>
            </a:r>
            <a:r>
              <a:rPr lang="en-US" altLang="zh-CN" dirty="0"/>
              <a:t>64k~1Mbps</a:t>
            </a:r>
            <a:r>
              <a:rPr lang="zh-CN" altLang="en-US" dirty="0"/>
              <a:t>，下行</a:t>
            </a:r>
            <a:r>
              <a:rPr lang="en-US" altLang="zh-CN" dirty="0"/>
              <a:t>1~8Mbps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VDSL: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HDSL: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SDSL: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309044-5681-4AB3-9961-C749CF478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/>
              <a:pPr>
                <a:defRPr/>
              </a:pPr>
              <a:t>44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907524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32A280-979D-4636-8BBB-FDA41A773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ADSL</a:t>
            </a:r>
            <a:r>
              <a:rPr lang="zh-CN" altLang="en-US" dirty="0">
                <a:latin typeface="+mn-ea"/>
                <a:ea typeface="+mn-ea"/>
              </a:rPr>
              <a:t>接入模型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8F007C-495C-4891-8F26-ED37A0CA8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+mn-ea"/>
                <a:ea typeface="+mn-ea"/>
              </a:rPr>
              <a:pPr>
                <a:defRPr/>
              </a:pPr>
              <a:t>45</a:t>
            </a:fld>
            <a:endParaRPr lang="en-US" altLang="zh-CN" dirty="0">
              <a:latin typeface="+mn-ea"/>
              <a:ea typeface="+mn-ea"/>
            </a:endParaRPr>
          </a:p>
        </p:txBody>
      </p:sp>
      <p:grpSp>
        <p:nvGrpSpPr>
          <p:cNvPr id="105" name="Group 4">
            <a:extLst>
              <a:ext uri="{FF2B5EF4-FFF2-40B4-BE49-F238E27FC236}">
                <a16:creationId xmlns:a16="http://schemas.microsoft.com/office/drawing/2014/main" id="{58F063EC-BE4D-45CD-A938-DBEB03BA5C7A}"/>
              </a:ext>
            </a:extLst>
          </p:cNvPr>
          <p:cNvGrpSpPr>
            <a:grpSpLocks/>
          </p:cNvGrpSpPr>
          <p:nvPr/>
        </p:nvGrpSpPr>
        <p:grpSpPr bwMode="auto">
          <a:xfrm>
            <a:off x="7529512" y="1168400"/>
            <a:ext cx="2041525" cy="1246187"/>
            <a:chOff x="2832" y="2832"/>
            <a:chExt cx="1680" cy="917"/>
          </a:xfrm>
        </p:grpSpPr>
        <p:sp>
          <p:nvSpPr>
            <p:cNvPr id="106" name="Oval 5">
              <a:extLst>
                <a:ext uri="{FF2B5EF4-FFF2-40B4-BE49-F238E27FC236}">
                  <a16:creationId xmlns:a16="http://schemas.microsoft.com/office/drawing/2014/main" id="{2F113A8B-0567-4952-918E-FE54E5AB8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976"/>
              <a:ext cx="1680" cy="773"/>
            </a:xfrm>
            <a:prstGeom prst="ellipse">
              <a:avLst/>
            </a:prstGeom>
            <a:gradFill rotWithShape="0">
              <a:gsLst>
                <a:gs pos="0">
                  <a:srgbClr val="336699"/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07" name="Picture 6" descr="图形1">
              <a:extLst>
                <a:ext uri="{FF2B5EF4-FFF2-40B4-BE49-F238E27FC236}">
                  <a16:creationId xmlns:a16="http://schemas.microsoft.com/office/drawing/2014/main" id="{BB59252E-F16F-4470-B3FF-E621C540E4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" y="2832"/>
              <a:ext cx="1367" cy="6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8" name="Text Box 7">
            <a:extLst>
              <a:ext uri="{FF2B5EF4-FFF2-40B4-BE49-F238E27FC236}">
                <a16:creationId xmlns:a16="http://schemas.microsoft.com/office/drawing/2014/main" id="{D61AF703-920B-4C7F-99E7-B74F7EBF0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8437" y="1384300"/>
            <a:ext cx="107837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Internet</a:t>
            </a:r>
          </a:p>
        </p:txBody>
      </p:sp>
      <p:grpSp>
        <p:nvGrpSpPr>
          <p:cNvPr id="109" name="Group 8">
            <a:extLst>
              <a:ext uri="{FF2B5EF4-FFF2-40B4-BE49-F238E27FC236}">
                <a16:creationId xmlns:a16="http://schemas.microsoft.com/office/drawing/2014/main" id="{BD069908-EA0C-4121-B28F-D11158F217B1}"/>
              </a:ext>
            </a:extLst>
          </p:cNvPr>
          <p:cNvGrpSpPr>
            <a:grpSpLocks/>
          </p:cNvGrpSpPr>
          <p:nvPr/>
        </p:nvGrpSpPr>
        <p:grpSpPr bwMode="auto">
          <a:xfrm>
            <a:off x="6089650" y="1312862"/>
            <a:ext cx="1119187" cy="1008063"/>
            <a:chOff x="992" y="247"/>
            <a:chExt cx="418" cy="801"/>
          </a:xfrm>
        </p:grpSpPr>
        <p:sp>
          <p:nvSpPr>
            <p:cNvPr id="110" name="Rectangle 9">
              <a:extLst>
                <a:ext uri="{FF2B5EF4-FFF2-40B4-BE49-F238E27FC236}">
                  <a16:creationId xmlns:a16="http://schemas.microsoft.com/office/drawing/2014/main" id="{D8F83795-4229-40CE-8B7E-5999F42D6E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" y="295"/>
              <a:ext cx="332" cy="752"/>
            </a:xfrm>
            <a:prstGeom prst="rect">
              <a:avLst/>
            </a:prstGeom>
            <a:solidFill>
              <a:srgbClr val="A3A6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Freeform 10">
              <a:extLst>
                <a:ext uri="{FF2B5EF4-FFF2-40B4-BE49-F238E27FC236}">
                  <a16:creationId xmlns:a16="http://schemas.microsoft.com/office/drawing/2014/main" id="{0096872E-33A5-48E8-B3EA-C9CBB0A09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4" y="247"/>
              <a:ext cx="86" cy="801"/>
            </a:xfrm>
            <a:custGeom>
              <a:avLst/>
              <a:gdLst>
                <a:gd name="T0" fmla="*/ 257 w 257"/>
                <a:gd name="T1" fmla="*/ 0 h 2401"/>
                <a:gd name="T2" fmla="*/ 0 w 257"/>
                <a:gd name="T3" fmla="*/ 143 h 2401"/>
                <a:gd name="T4" fmla="*/ 0 w 257"/>
                <a:gd name="T5" fmla="*/ 2401 h 2401"/>
                <a:gd name="T6" fmla="*/ 257 w 257"/>
                <a:gd name="T7" fmla="*/ 2257 h 2401"/>
                <a:gd name="T8" fmla="*/ 257 w 257"/>
                <a:gd name="T9" fmla="*/ 0 h 2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401">
                  <a:moveTo>
                    <a:pt x="257" y="0"/>
                  </a:moveTo>
                  <a:lnTo>
                    <a:pt x="0" y="143"/>
                  </a:lnTo>
                  <a:lnTo>
                    <a:pt x="0" y="2401"/>
                  </a:lnTo>
                  <a:lnTo>
                    <a:pt x="257" y="2257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rgbClr val="A3A6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Freeform 11">
              <a:extLst>
                <a:ext uri="{FF2B5EF4-FFF2-40B4-BE49-F238E27FC236}">
                  <a16:creationId xmlns:a16="http://schemas.microsoft.com/office/drawing/2014/main" id="{DF177B1B-6FD4-46BF-B8F3-6D1664CA7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992" y="247"/>
              <a:ext cx="418" cy="48"/>
            </a:xfrm>
            <a:custGeom>
              <a:avLst/>
              <a:gdLst>
                <a:gd name="T0" fmla="*/ 0 w 1252"/>
                <a:gd name="T1" fmla="*/ 144 h 144"/>
                <a:gd name="T2" fmla="*/ 995 w 1252"/>
                <a:gd name="T3" fmla="*/ 144 h 144"/>
                <a:gd name="T4" fmla="*/ 1252 w 1252"/>
                <a:gd name="T5" fmla="*/ 1 h 144"/>
                <a:gd name="T6" fmla="*/ 259 w 1252"/>
                <a:gd name="T7" fmla="*/ 0 h 144"/>
                <a:gd name="T8" fmla="*/ 0 w 1252"/>
                <a:gd name="T9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2" h="144">
                  <a:moveTo>
                    <a:pt x="0" y="144"/>
                  </a:moveTo>
                  <a:lnTo>
                    <a:pt x="995" y="144"/>
                  </a:lnTo>
                  <a:lnTo>
                    <a:pt x="1252" y="1"/>
                  </a:lnTo>
                  <a:lnTo>
                    <a:pt x="259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A3A6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Rectangle 12">
              <a:extLst>
                <a:ext uri="{FF2B5EF4-FFF2-40B4-BE49-F238E27FC236}">
                  <a16:creationId xmlns:a16="http://schemas.microsoft.com/office/drawing/2014/main" id="{2281DD4F-87F6-449C-AECB-D5E272587B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" y="295"/>
              <a:ext cx="332" cy="752"/>
            </a:xfrm>
            <a:prstGeom prst="rect">
              <a:avLst/>
            </a:prstGeom>
            <a:solidFill>
              <a:srgbClr val="D7D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Freeform 13">
              <a:extLst>
                <a:ext uri="{FF2B5EF4-FFF2-40B4-BE49-F238E27FC236}">
                  <a16:creationId xmlns:a16="http://schemas.microsoft.com/office/drawing/2014/main" id="{7BCFEAE4-CB8B-4B04-9452-CE50EAFB0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4" y="247"/>
              <a:ext cx="86" cy="801"/>
            </a:xfrm>
            <a:custGeom>
              <a:avLst/>
              <a:gdLst>
                <a:gd name="T0" fmla="*/ 257 w 257"/>
                <a:gd name="T1" fmla="*/ 0 h 2401"/>
                <a:gd name="T2" fmla="*/ 0 w 257"/>
                <a:gd name="T3" fmla="*/ 143 h 2401"/>
                <a:gd name="T4" fmla="*/ 0 w 257"/>
                <a:gd name="T5" fmla="*/ 2401 h 2401"/>
                <a:gd name="T6" fmla="*/ 257 w 257"/>
                <a:gd name="T7" fmla="*/ 2257 h 2401"/>
                <a:gd name="T8" fmla="*/ 257 w 257"/>
                <a:gd name="T9" fmla="*/ 0 h 2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401">
                  <a:moveTo>
                    <a:pt x="257" y="0"/>
                  </a:moveTo>
                  <a:lnTo>
                    <a:pt x="0" y="143"/>
                  </a:lnTo>
                  <a:lnTo>
                    <a:pt x="0" y="2401"/>
                  </a:lnTo>
                  <a:lnTo>
                    <a:pt x="257" y="2257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rgbClr val="474E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Freeform 14">
              <a:extLst>
                <a:ext uri="{FF2B5EF4-FFF2-40B4-BE49-F238E27FC236}">
                  <a16:creationId xmlns:a16="http://schemas.microsoft.com/office/drawing/2014/main" id="{768B8DDA-5937-4C3C-AE03-5AEF47550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992" y="247"/>
              <a:ext cx="418" cy="48"/>
            </a:xfrm>
            <a:custGeom>
              <a:avLst/>
              <a:gdLst>
                <a:gd name="T0" fmla="*/ 0 w 1252"/>
                <a:gd name="T1" fmla="*/ 144 h 144"/>
                <a:gd name="T2" fmla="*/ 995 w 1252"/>
                <a:gd name="T3" fmla="*/ 144 h 144"/>
                <a:gd name="T4" fmla="*/ 1252 w 1252"/>
                <a:gd name="T5" fmla="*/ 1 h 144"/>
                <a:gd name="T6" fmla="*/ 259 w 1252"/>
                <a:gd name="T7" fmla="*/ 0 h 144"/>
                <a:gd name="T8" fmla="*/ 0 w 1252"/>
                <a:gd name="T9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2" h="144">
                  <a:moveTo>
                    <a:pt x="0" y="144"/>
                  </a:moveTo>
                  <a:lnTo>
                    <a:pt x="995" y="144"/>
                  </a:lnTo>
                  <a:lnTo>
                    <a:pt x="1252" y="1"/>
                  </a:lnTo>
                  <a:lnTo>
                    <a:pt x="259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999C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Rectangle 15">
              <a:extLst>
                <a:ext uri="{FF2B5EF4-FFF2-40B4-BE49-F238E27FC236}">
                  <a16:creationId xmlns:a16="http://schemas.microsoft.com/office/drawing/2014/main" id="{7414DA2C-0BCF-4EAF-A9FD-B38F5A443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" y="379"/>
              <a:ext cx="50" cy="633"/>
            </a:xfrm>
            <a:prstGeom prst="rect">
              <a:avLst/>
            </a:prstGeom>
            <a:solidFill>
              <a:srgbClr val="0085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Rectangle 16">
              <a:extLst>
                <a:ext uri="{FF2B5EF4-FFF2-40B4-BE49-F238E27FC236}">
                  <a16:creationId xmlns:a16="http://schemas.microsoft.com/office/drawing/2014/main" id="{AC0B9444-5978-43E8-997B-1A7FDE3F1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5" y="383"/>
              <a:ext cx="8" cy="627"/>
            </a:xfrm>
            <a:prstGeom prst="rect">
              <a:avLst/>
            </a:prstGeom>
            <a:solidFill>
              <a:srgbClr val="7B8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Rectangle 17">
              <a:extLst>
                <a:ext uri="{FF2B5EF4-FFF2-40B4-BE49-F238E27FC236}">
                  <a16:creationId xmlns:a16="http://schemas.microsoft.com/office/drawing/2014/main" id="{6F6C855D-A490-44FA-928C-B13F4F44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3" y="384"/>
              <a:ext cx="5" cy="626"/>
            </a:xfrm>
            <a:prstGeom prst="rect">
              <a:avLst/>
            </a:prstGeom>
            <a:solidFill>
              <a:srgbClr val="BCBF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Rectangle 18">
              <a:extLst>
                <a:ext uri="{FF2B5EF4-FFF2-40B4-BE49-F238E27FC236}">
                  <a16:creationId xmlns:a16="http://schemas.microsoft.com/office/drawing/2014/main" id="{C1424CE0-D38D-4823-ABC1-A5BA9BCB0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83"/>
              <a:ext cx="8" cy="627"/>
            </a:xfrm>
            <a:prstGeom prst="rect">
              <a:avLst/>
            </a:prstGeom>
            <a:solidFill>
              <a:srgbClr val="7B8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Rectangle 19">
              <a:extLst>
                <a:ext uri="{FF2B5EF4-FFF2-40B4-BE49-F238E27FC236}">
                  <a16:creationId xmlns:a16="http://schemas.microsoft.com/office/drawing/2014/main" id="{3050E7CE-393C-4612-A20B-17F5FDAF6C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" y="384"/>
              <a:ext cx="5" cy="626"/>
            </a:xfrm>
            <a:prstGeom prst="rect">
              <a:avLst/>
            </a:prstGeom>
            <a:solidFill>
              <a:srgbClr val="BCBF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Rectangle 20">
              <a:extLst>
                <a:ext uri="{FF2B5EF4-FFF2-40B4-BE49-F238E27FC236}">
                  <a16:creationId xmlns:a16="http://schemas.microsoft.com/office/drawing/2014/main" id="{66C1A050-FA88-45BF-A3E0-AFD828FB8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" y="383"/>
              <a:ext cx="8" cy="627"/>
            </a:xfrm>
            <a:prstGeom prst="rect">
              <a:avLst/>
            </a:prstGeom>
            <a:solidFill>
              <a:srgbClr val="7B8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Rectangle 21">
              <a:extLst>
                <a:ext uri="{FF2B5EF4-FFF2-40B4-BE49-F238E27FC236}">
                  <a16:creationId xmlns:a16="http://schemas.microsoft.com/office/drawing/2014/main" id="{FA6F3563-E738-4FA8-9B58-29928019C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" y="384"/>
              <a:ext cx="5" cy="626"/>
            </a:xfrm>
            <a:prstGeom prst="rect">
              <a:avLst/>
            </a:prstGeom>
            <a:solidFill>
              <a:srgbClr val="BCBF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Rectangle 22">
              <a:extLst>
                <a:ext uri="{FF2B5EF4-FFF2-40B4-BE49-F238E27FC236}">
                  <a16:creationId xmlns:a16="http://schemas.microsoft.com/office/drawing/2014/main" id="{21F608D2-EE3D-4EB8-A53F-7AA155227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6" y="383"/>
              <a:ext cx="8" cy="627"/>
            </a:xfrm>
            <a:prstGeom prst="rect">
              <a:avLst/>
            </a:prstGeom>
            <a:solidFill>
              <a:srgbClr val="7B8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Rectangle 23">
              <a:extLst>
                <a:ext uri="{FF2B5EF4-FFF2-40B4-BE49-F238E27FC236}">
                  <a16:creationId xmlns:a16="http://schemas.microsoft.com/office/drawing/2014/main" id="{BD4A9AE9-B1F5-481C-AE3C-12BE03EEC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4" y="384"/>
              <a:ext cx="5" cy="626"/>
            </a:xfrm>
            <a:prstGeom prst="rect">
              <a:avLst/>
            </a:prstGeom>
            <a:solidFill>
              <a:srgbClr val="BCBF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Rectangle 24">
              <a:extLst>
                <a:ext uri="{FF2B5EF4-FFF2-40B4-BE49-F238E27FC236}">
                  <a16:creationId xmlns:a16="http://schemas.microsoft.com/office/drawing/2014/main" id="{CF4A93FE-3C3B-489D-8FD8-75C12869D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83"/>
              <a:ext cx="8" cy="627"/>
            </a:xfrm>
            <a:prstGeom prst="rect">
              <a:avLst/>
            </a:prstGeom>
            <a:solidFill>
              <a:srgbClr val="7B8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Rectangle 25">
              <a:extLst>
                <a:ext uri="{FF2B5EF4-FFF2-40B4-BE49-F238E27FC236}">
                  <a16:creationId xmlns:a16="http://schemas.microsoft.com/office/drawing/2014/main" id="{B32AFB18-A9A5-46D2-9D84-6C7D925B5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6" y="384"/>
              <a:ext cx="5" cy="626"/>
            </a:xfrm>
            <a:prstGeom prst="rect">
              <a:avLst/>
            </a:prstGeom>
            <a:solidFill>
              <a:srgbClr val="BCBF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Rectangle 26">
              <a:extLst>
                <a:ext uri="{FF2B5EF4-FFF2-40B4-BE49-F238E27FC236}">
                  <a16:creationId xmlns:a16="http://schemas.microsoft.com/office/drawing/2014/main" id="{374C4B01-2B44-4B52-9408-69D93E283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0" y="383"/>
              <a:ext cx="8" cy="627"/>
            </a:xfrm>
            <a:prstGeom prst="rect">
              <a:avLst/>
            </a:prstGeom>
            <a:solidFill>
              <a:srgbClr val="7B8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Rectangle 27">
              <a:extLst>
                <a:ext uri="{FF2B5EF4-FFF2-40B4-BE49-F238E27FC236}">
                  <a16:creationId xmlns:a16="http://schemas.microsoft.com/office/drawing/2014/main" id="{BD88B7D4-ED4F-465E-8461-DD339A939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384"/>
              <a:ext cx="5" cy="626"/>
            </a:xfrm>
            <a:prstGeom prst="rect">
              <a:avLst/>
            </a:prstGeom>
            <a:solidFill>
              <a:srgbClr val="BCBF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Rectangle 28">
              <a:extLst>
                <a:ext uri="{FF2B5EF4-FFF2-40B4-BE49-F238E27FC236}">
                  <a16:creationId xmlns:a16="http://schemas.microsoft.com/office/drawing/2014/main" id="{19DF1549-BE36-43B6-A495-620C68D13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" y="1017"/>
              <a:ext cx="332" cy="4"/>
            </a:xfrm>
            <a:prstGeom prst="rect">
              <a:avLst/>
            </a:prstGeom>
            <a:solidFill>
              <a:srgbClr val="A3A6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Rectangle 29">
              <a:extLst>
                <a:ext uri="{FF2B5EF4-FFF2-40B4-BE49-F238E27FC236}">
                  <a16:creationId xmlns:a16="http://schemas.microsoft.com/office/drawing/2014/main" id="{70743810-2A6B-4EDD-B025-5B439A3D96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" y="374"/>
              <a:ext cx="332" cy="5"/>
            </a:xfrm>
            <a:prstGeom prst="rect">
              <a:avLst/>
            </a:prstGeom>
            <a:solidFill>
              <a:srgbClr val="7B8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Rectangle 30">
              <a:extLst>
                <a:ext uri="{FF2B5EF4-FFF2-40B4-BE49-F238E27FC236}">
                  <a16:creationId xmlns:a16="http://schemas.microsoft.com/office/drawing/2014/main" id="{1DDF6209-5F9D-4F5D-99B4-D1CE34587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" y="1003"/>
              <a:ext cx="332" cy="14"/>
            </a:xfrm>
            <a:prstGeom prst="rect">
              <a:avLst/>
            </a:prstGeom>
            <a:solidFill>
              <a:srgbClr val="7B8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Rectangle 31">
              <a:extLst>
                <a:ext uri="{FF2B5EF4-FFF2-40B4-BE49-F238E27FC236}">
                  <a16:creationId xmlns:a16="http://schemas.microsoft.com/office/drawing/2014/main" id="{9117A5A2-744C-4221-B28E-EF72F4FB64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" y="379"/>
              <a:ext cx="332" cy="14"/>
            </a:xfrm>
            <a:prstGeom prst="rect">
              <a:avLst/>
            </a:prstGeom>
            <a:solidFill>
              <a:srgbClr val="0085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Freeform 32">
              <a:extLst>
                <a:ext uri="{FF2B5EF4-FFF2-40B4-BE49-F238E27FC236}">
                  <a16:creationId xmlns:a16="http://schemas.microsoft.com/office/drawing/2014/main" id="{FE8FABC8-07DD-4153-9AAE-34A3B2BB8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4" y="665"/>
              <a:ext cx="48" cy="49"/>
            </a:xfrm>
            <a:custGeom>
              <a:avLst/>
              <a:gdLst>
                <a:gd name="T0" fmla="*/ 80 w 145"/>
                <a:gd name="T1" fmla="*/ 145 h 146"/>
                <a:gd name="T2" fmla="*/ 94 w 145"/>
                <a:gd name="T3" fmla="*/ 142 h 146"/>
                <a:gd name="T4" fmla="*/ 107 w 145"/>
                <a:gd name="T5" fmla="*/ 136 h 146"/>
                <a:gd name="T6" fmla="*/ 119 w 145"/>
                <a:gd name="T7" fmla="*/ 128 h 146"/>
                <a:gd name="T8" fmla="*/ 129 w 145"/>
                <a:gd name="T9" fmla="*/ 118 h 146"/>
                <a:gd name="T10" fmla="*/ 136 w 145"/>
                <a:gd name="T11" fmla="*/ 108 h 146"/>
                <a:gd name="T12" fmla="*/ 142 w 145"/>
                <a:gd name="T13" fmla="*/ 95 h 146"/>
                <a:gd name="T14" fmla="*/ 145 w 145"/>
                <a:gd name="T15" fmla="*/ 80 h 146"/>
                <a:gd name="T16" fmla="*/ 145 w 145"/>
                <a:gd name="T17" fmla="*/ 65 h 146"/>
                <a:gd name="T18" fmla="*/ 142 w 145"/>
                <a:gd name="T19" fmla="*/ 51 h 146"/>
                <a:gd name="T20" fmla="*/ 136 w 145"/>
                <a:gd name="T21" fmla="*/ 38 h 146"/>
                <a:gd name="T22" fmla="*/ 129 w 145"/>
                <a:gd name="T23" fmla="*/ 26 h 146"/>
                <a:gd name="T24" fmla="*/ 119 w 145"/>
                <a:gd name="T25" fmla="*/ 16 h 146"/>
                <a:gd name="T26" fmla="*/ 107 w 145"/>
                <a:gd name="T27" fmla="*/ 9 h 146"/>
                <a:gd name="T28" fmla="*/ 94 w 145"/>
                <a:gd name="T29" fmla="*/ 3 h 146"/>
                <a:gd name="T30" fmla="*/ 80 w 145"/>
                <a:gd name="T31" fmla="*/ 0 h 146"/>
                <a:gd name="T32" fmla="*/ 65 w 145"/>
                <a:gd name="T33" fmla="*/ 0 h 146"/>
                <a:gd name="T34" fmla="*/ 50 w 145"/>
                <a:gd name="T35" fmla="*/ 3 h 146"/>
                <a:gd name="T36" fmla="*/ 38 w 145"/>
                <a:gd name="T37" fmla="*/ 9 h 146"/>
                <a:gd name="T38" fmla="*/ 26 w 145"/>
                <a:gd name="T39" fmla="*/ 16 h 146"/>
                <a:gd name="T40" fmla="*/ 16 w 145"/>
                <a:gd name="T41" fmla="*/ 26 h 146"/>
                <a:gd name="T42" fmla="*/ 9 w 145"/>
                <a:gd name="T43" fmla="*/ 38 h 146"/>
                <a:gd name="T44" fmla="*/ 3 w 145"/>
                <a:gd name="T45" fmla="*/ 51 h 146"/>
                <a:gd name="T46" fmla="*/ 0 w 145"/>
                <a:gd name="T47" fmla="*/ 65 h 146"/>
                <a:gd name="T48" fmla="*/ 0 w 145"/>
                <a:gd name="T49" fmla="*/ 80 h 146"/>
                <a:gd name="T50" fmla="*/ 3 w 145"/>
                <a:gd name="T51" fmla="*/ 95 h 146"/>
                <a:gd name="T52" fmla="*/ 9 w 145"/>
                <a:gd name="T53" fmla="*/ 108 h 146"/>
                <a:gd name="T54" fmla="*/ 16 w 145"/>
                <a:gd name="T55" fmla="*/ 118 h 146"/>
                <a:gd name="T56" fmla="*/ 26 w 145"/>
                <a:gd name="T57" fmla="*/ 128 h 146"/>
                <a:gd name="T58" fmla="*/ 38 w 145"/>
                <a:gd name="T59" fmla="*/ 136 h 146"/>
                <a:gd name="T60" fmla="*/ 50 w 145"/>
                <a:gd name="T61" fmla="*/ 142 h 146"/>
                <a:gd name="T62" fmla="*/ 65 w 145"/>
                <a:gd name="T63" fmla="*/ 145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5" h="146">
                  <a:moveTo>
                    <a:pt x="72" y="146"/>
                  </a:moveTo>
                  <a:lnTo>
                    <a:pt x="80" y="145"/>
                  </a:lnTo>
                  <a:lnTo>
                    <a:pt x="87" y="143"/>
                  </a:lnTo>
                  <a:lnTo>
                    <a:pt x="94" y="142"/>
                  </a:lnTo>
                  <a:lnTo>
                    <a:pt x="100" y="139"/>
                  </a:lnTo>
                  <a:lnTo>
                    <a:pt x="107" y="136"/>
                  </a:lnTo>
                  <a:lnTo>
                    <a:pt x="113" y="133"/>
                  </a:lnTo>
                  <a:lnTo>
                    <a:pt x="119" y="128"/>
                  </a:lnTo>
                  <a:lnTo>
                    <a:pt x="124" y="124"/>
                  </a:lnTo>
                  <a:lnTo>
                    <a:pt x="129" y="118"/>
                  </a:lnTo>
                  <a:lnTo>
                    <a:pt x="133" y="113"/>
                  </a:lnTo>
                  <a:lnTo>
                    <a:pt x="136" y="108"/>
                  </a:lnTo>
                  <a:lnTo>
                    <a:pt x="139" y="101"/>
                  </a:lnTo>
                  <a:lnTo>
                    <a:pt x="142" y="95"/>
                  </a:lnTo>
                  <a:lnTo>
                    <a:pt x="144" y="87"/>
                  </a:lnTo>
                  <a:lnTo>
                    <a:pt x="145" y="80"/>
                  </a:lnTo>
                  <a:lnTo>
                    <a:pt x="145" y="73"/>
                  </a:lnTo>
                  <a:lnTo>
                    <a:pt x="145" y="65"/>
                  </a:lnTo>
                  <a:lnTo>
                    <a:pt x="144" y="58"/>
                  </a:lnTo>
                  <a:lnTo>
                    <a:pt x="142" y="51"/>
                  </a:lnTo>
                  <a:lnTo>
                    <a:pt x="139" y="44"/>
                  </a:lnTo>
                  <a:lnTo>
                    <a:pt x="136" y="38"/>
                  </a:lnTo>
                  <a:lnTo>
                    <a:pt x="133" y="31"/>
                  </a:lnTo>
                  <a:lnTo>
                    <a:pt x="129" y="26"/>
                  </a:lnTo>
                  <a:lnTo>
                    <a:pt x="124" y="21"/>
                  </a:lnTo>
                  <a:lnTo>
                    <a:pt x="119" y="16"/>
                  </a:lnTo>
                  <a:lnTo>
                    <a:pt x="113" y="12"/>
                  </a:lnTo>
                  <a:lnTo>
                    <a:pt x="107" y="9"/>
                  </a:lnTo>
                  <a:lnTo>
                    <a:pt x="100" y="5"/>
                  </a:lnTo>
                  <a:lnTo>
                    <a:pt x="94" y="3"/>
                  </a:lnTo>
                  <a:lnTo>
                    <a:pt x="87" y="1"/>
                  </a:lnTo>
                  <a:lnTo>
                    <a:pt x="80" y="0"/>
                  </a:lnTo>
                  <a:lnTo>
                    <a:pt x="72" y="0"/>
                  </a:lnTo>
                  <a:lnTo>
                    <a:pt x="65" y="0"/>
                  </a:lnTo>
                  <a:lnTo>
                    <a:pt x="58" y="1"/>
                  </a:lnTo>
                  <a:lnTo>
                    <a:pt x="50" y="3"/>
                  </a:lnTo>
                  <a:lnTo>
                    <a:pt x="44" y="5"/>
                  </a:lnTo>
                  <a:lnTo>
                    <a:pt x="38" y="9"/>
                  </a:lnTo>
                  <a:lnTo>
                    <a:pt x="32" y="12"/>
                  </a:lnTo>
                  <a:lnTo>
                    <a:pt x="26" y="16"/>
                  </a:lnTo>
                  <a:lnTo>
                    <a:pt x="21" y="21"/>
                  </a:lnTo>
                  <a:lnTo>
                    <a:pt x="16" y="26"/>
                  </a:lnTo>
                  <a:lnTo>
                    <a:pt x="12" y="31"/>
                  </a:lnTo>
                  <a:lnTo>
                    <a:pt x="9" y="38"/>
                  </a:lnTo>
                  <a:lnTo>
                    <a:pt x="6" y="44"/>
                  </a:lnTo>
                  <a:lnTo>
                    <a:pt x="3" y="51"/>
                  </a:lnTo>
                  <a:lnTo>
                    <a:pt x="1" y="58"/>
                  </a:lnTo>
                  <a:lnTo>
                    <a:pt x="0" y="65"/>
                  </a:lnTo>
                  <a:lnTo>
                    <a:pt x="0" y="73"/>
                  </a:lnTo>
                  <a:lnTo>
                    <a:pt x="0" y="80"/>
                  </a:lnTo>
                  <a:lnTo>
                    <a:pt x="1" y="87"/>
                  </a:lnTo>
                  <a:lnTo>
                    <a:pt x="3" y="95"/>
                  </a:lnTo>
                  <a:lnTo>
                    <a:pt x="6" y="101"/>
                  </a:lnTo>
                  <a:lnTo>
                    <a:pt x="9" y="108"/>
                  </a:lnTo>
                  <a:lnTo>
                    <a:pt x="12" y="113"/>
                  </a:lnTo>
                  <a:lnTo>
                    <a:pt x="16" y="118"/>
                  </a:lnTo>
                  <a:lnTo>
                    <a:pt x="21" y="124"/>
                  </a:lnTo>
                  <a:lnTo>
                    <a:pt x="26" y="128"/>
                  </a:lnTo>
                  <a:lnTo>
                    <a:pt x="32" y="133"/>
                  </a:lnTo>
                  <a:lnTo>
                    <a:pt x="38" y="136"/>
                  </a:lnTo>
                  <a:lnTo>
                    <a:pt x="44" y="139"/>
                  </a:lnTo>
                  <a:lnTo>
                    <a:pt x="50" y="142"/>
                  </a:lnTo>
                  <a:lnTo>
                    <a:pt x="58" y="143"/>
                  </a:lnTo>
                  <a:lnTo>
                    <a:pt x="65" y="145"/>
                  </a:lnTo>
                  <a:lnTo>
                    <a:pt x="72" y="146"/>
                  </a:lnTo>
                  <a:close/>
                </a:path>
              </a:pathLst>
            </a:custGeom>
            <a:solidFill>
              <a:srgbClr val="AEB4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Freeform 33">
              <a:extLst>
                <a:ext uri="{FF2B5EF4-FFF2-40B4-BE49-F238E27FC236}">
                  <a16:creationId xmlns:a16="http://schemas.microsoft.com/office/drawing/2014/main" id="{E9AFAE82-F324-49CD-9482-9BA4A3D1CD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4" y="665"/>
              <a:ext cx="48" cy="49"/>
            </a:xfrm>
            <a:custGeom>
              <a:avLst/>
              <a:gdLst>
                <a:gd name="T0" fmla="*/ 73 w 146"/>
                <a:gd name="T1" fmla="*/ 0 h 146"/>
                <a:gd name="T2" fmla="*/ 81 w 146"/>
                <a:gd name="T3" fmla="*/ 0 h 146"/>
                <a:gd name="T4" fmla="*/ 88 w 146"/>
                <a:gd name="T5" fmla="*/ 1 h 146"/>
                <a:gd name="T6" fmla="*/ 95 w 146"/>
                <a:gd name="T7" fmla="*/ 3 h 146"/>
                <a:gd name="T8" fmla="*/ 101 w 146"/>
                <a:gd name="T9" fmla="*/ 5 h 146"/>
                <a:gd name="T10" fmla="*/ 108 w 146"/>
                <a:gd name="T11" fmla="*/ 9 h 146"/>
                <a:gd name="T12" fmla="*/ 114 w 146"/>
                <a:gd name="T13" fmla="*/ 12 h 146"/>
                <a:gd name="T14" fmla="*/ 120 w 146"/>
                <a:gd name="T15" fmla="*/ 16 h 146"/>
                <a:gd name="T16" fmla="*/ 125 w 146"/>
                <a:gd name="T17" fmla="*/ 21 h 146"/>
                <a:gd name="T18" fmla="*/ 130 w 146"/>
                <a:gd name="T19" fmla="*/ 26 h 146"/>
                <a:gd name="T20" fmla="*/ 134 w 146"/>
                <a:gd name="T21" fmla="*/ 31 h 146"/>
                <a:gd name="T22" fmla="*/ 137 w 146"/>
                <a:gd name="T23" fmla="*/ 38 h 146"/>
                <a:gd name="T24" fmla="*/ 140 w 146"/>
                <a:gd name="T25" fmla="*/ 44 h 146"/>
                <a:gd name="T26" fmla="*/ 143 w 146"/>
                <a:gd name="T27" fmla="*/ 51 h 146"/>
                <a:gd name="T28" fmla="*/ 145 w 146"/>
                <a:gd name="T29" fmla="*/ 58 h 146"/>
                <a:gd name="T30" fmla="*/ 146 w 146"/>
                <a:gd name="T31" fmla="*/ 65 h 146"/>
                <a:gd name="T32" fmla="*/ 146 w 146"/>
                <a:gd name="T33" fmla="*/ 73 h 146"/>
                <a:gd name="T34" fmla="*/ 146 w 146"/>
                <a:gd name="T35" fmla="*/ 80 h 146"/>
                <a:gd name="T36" fmla="*/ 145 w 146"/>
                <a:gd name="T37" fmla="*/ 87 h 146"/>
                <a:gd name="T38" fmla="*/ 143 w 146"/>
                <a:gd name="T39" fmla="*/ 95 h 146"/>
                <a:gd name="T40" fmla="*/ 140 w 146"/>
                <a:gd name="T41" fmla="*/ 101 h 146"/>
                <a:gd name="T42" fmla="*/ 137 w 146"/>
                <a:gd name="T43" fmla="*/ 108 h 146"/>
                <a:gd name="T44" fmla="*/ 134 w 146"/>
                <a:gd name="T45" fmla="*/ 113 h 146"/>
                <a:gd name="T46" fmla="*/ 130 w 146"/>
                <a:gd name="T47" fmla="*/ 118 h 146"/>
                <a:gd name="T48" fmla="*/ 125 w 146"/>
                <a:gd name="T49" fmla="*/ 124 h 146"/>
                <a:gd name="T50" fmla="*/ 120 w 146"/>
                <a:gd name="T51" fmla="*/ 128 h 146"/>
                <a:gd name="T52" fmla="*/ 114 w 146"/>
                <a:gd name="T53" fmla="*/ 133 h 146"/>
                <a:gd name="T54" fmla="*/ 108 w 146"/>
                <a:gd name="T55" fmla="*/ 136 h 146"/>
                <a:gd name="T56" fmla="*/ 101 w 146"/>
                <a:gd name="T57" fmla="*/ 139 h 146"/>
                <a:gd name="T58" fmla="*/ 95 w 146"/>
                <a:gd name="T59" fmla="*/ 142 h 146"/>
                <a:gd name="T60" fmla="*/ 88 w 146"/>
                <a:gd name="T61" fmla="*/ 143 h 146"/>
                <a:gd name="T62" fmla="*/ 81 w 146"/>
                <a:gd name="T63" fmla="*/ 145 h 146"/>
                <a:gd name="T64" fmla="*/ 73 w 146"/>
                <a:gd name="T65" fmla="*/ 146 h 146"/>
                <a:gd name="T66" fmla="*/ 72 w 146"/>
                <a:gd name="T67" fmla="*/ 145 h 146"/>
                <a:gd name="T68" fmla="*/ 70 w 146"/>
                <a:gd name="T69" fmla="*/ 145 h 146"/>
                <a:gd name="T70" fmla="*/ 70 w 146"/>
                <a:gd name="T71" fmla="*/ 0 h 146"/>
                <a:gd name="T72" fmla="*/ 72 w 146"/>
                <a:gd name="T73" fmla="*/ 0 h 146"/>
                <a:gd name="T74" fmla="*/ 73 w 146"/>
                <a:gd name="T75" fmla="*/ 0 h 146"/>
                <a:gd name="T76" fmla="*/ 1 w 146"/>
                <a:gd name="T77" fmla="*/ 77 h 146"/>
                <a:gd name="T78" fmla="*/ 1 w 146"/>
                <a:gd name="T79" fmla="*/ 75 h 146"/>
                <a:gd name="T80" fmla="*/ 0 w 146"/>
                <a:gd name="T81" fmla="*/ 73 h 146"/>
                <a:gd name="T82" fmla="*/ 1 w 146"/>
                <a:gd name="T83" fmla="*/ 69 h 146"/>
                <a:gd name="T84" fmla="*/ 1 w 146"/>
                <a:gd name="T85" fmla="*/ 67 h 146"/>
                <a:gd name="T86" fmla="*/ 1 w 146"/>
                <a:gd name="T87" fmla="*/ 77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6" h="146">
                  <a:moveTo>
                    <a:pt x="73" y="0"/>
                  </a:moveTo>
                  <a:lnTo>
                    <a:pt x="81" y="0"/>
                  </a:lnTo>
                  <a:lnTo>
                    <a:pt x="88" y="1"/>
                  </a:lnTo>
                  <a:lnTo>
                    <a:pt x="95" y="3"/>
                  </a:lnTo>
                  <a:lnTo>
                    <a:pt x="101" y="5"/>
                  </a:lnTo>
                  <a:lnTo>
                    <a:pt x="108" y="9"/>
                  </a:lnTo>
                  <a:lnTo>
                    <a:pt x="114" y="12"/>
                  </a:lnTo>
                  <a:lnTo>
                    <a:pt x="120" y="16"/>
                  </a:lnTo>
                  <a:lnTo>
                    <a:pt x="125" y="21"/>
                  </a:lnTo>
                  <a:lnTo>
                    <a:pt x="130" y="26"/>
                  </a:lnTo>
                  <a:lnTo>
                    <a:pt x="134" y="31"/>
                  </a:lnTo>
                  <a:lnTo>
                    <a:pt x="137" y="38"/>
                  </a:lnTo>
                  <a:lnTo>
                    <a:pt x="140" y="44"/>
                  </a:lnTo>
                  <a:lnTo>
                    <a:pt x="143" y="51"/>
                  </a:lnTo>
                  <a:lnTo>
                    <a:pt x="145" y="58"/>
                  </a:lnTo>
                  <a:lnTo>
                    <a:pt x="146" y="65"/>
                  </a:lnTo>
                  <a:lnTo>
                    <a:pt x="146" y="73"/>
                  </a:lnTo>
                  <a:lnTo>
                    <a:pt x="146" y="80"/>
                  </a:lnTo>
                  <a:lnTo>
                    <a:pt x="145" y="87"/>
                  </a:lnTo>
                  <a:lnTo>
                    <a:pt x="143" y="95"/>
                  </a:lnTo>
                  <a:lnTo>
                    <a:pt x="140" y="101"/>
                  </a:lnTo>
                  <a:lnTo>
                    <a:pt x="137" y="108"/>
                  </a:lnTo>
                  <a:lnTo>
                    <a:pt x="134" y="113"/>
                  </a:lnTo>
                  <a:lnTo>
                    <a:pt x="130" y="118"/>
                  </a:lnTo>
                  <a:lnTo>
                    <a:pt x="125" y="124"/>
                  </a:lnTo>
                  <a:lnTo>
                    <a:pt x="120" y="128"/>
                  </a:lnTo>
                  <a:lnTo>
                    <a:pt x="114" y="133"/>
                  </a:lnTo>
                  <a:lnTo>
                    <a:pt x="108" y="136"/>
                  </a:lnTo>
                  <a:lnTo>
                    <a:pt x="101" y="139"/>
                  </a:lnTo>
                  <a:lnTo>
                    <a:pt x="95" y="142"/>
                  </a:lnTo>
                  <a:lnTo>
                    <a:pt x="88" y="143"/>
                  </a:lnTo>
                  <a:lnTo>
                    <a:pt x="81" y="145"/>
                  </a:lnTo>
                  <a:lnTo>
                    <a:pt x="73" y="146"/>
                  </a:lnTo>
                  <a:lnTo>
                    <a:pt x="72" y="145"/>
                  </a:lnTo>
                  <a:lnTo>
                    <a:pt x="70" y="145"/>
                  </a:lnTo>
                  <a:lnTo>
                    <a:pt x="70" y="0"/>
                  </a:lnTo>
                  <a:lnTo>
                    <a:pt x="72" y="0"/>
                  </a:lnTo>
                  <a:lnTo>
                    <a:pt x="73" y="0"/>
                  </a:lnTo>
                  <a:close/>
                  <a:moveTo>
                    <a:pt x="1" y="77"/>
                  </a:moveTo>
                  <a:lnTo>
                    <a:pt x="1" y="75"/>
                  </a:lnTo>
                  <a:lnTo>
                    <a:pt x="0" y="73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77"/>
                  </a:lnTo>
                  <a:close/>
                </a:path>
              </a:pathLst>
            </a:custGeom>
            <a:solidFill>
              <a:srgbClr val="AEB4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Freeform 34">
              <a:extLst>
                <a:ext uri="{FF2B5EF4-FFF2-40B4-BE49-F238E27FC236}">
                  <a16:creationId xmlns:a16="http://schemas.microsoft.com/office/drawing/2014/main" id="{96AE8FF5-F8AD-4B81-BABB-6B73E3DF9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4" y="665"/>
              <a:ext cx="46" cy="47"/>
            </a:xfrm>
            <a:custGeom>
              <a:avLst/>
              <a:gdLst>
                <a:gd name="T0" fmla="*/ 77 w 140"/>
                <a:gd name="T1" fmla="*/ 139 h 139"/>
                <a:gd name="T2" fmla="*/ 91 w 140"/>
                <a:gd name="T3" fmla="*/ 136 h 139"/>
                <a:gd name="T4" fmla="*/ 103 w 140"/>
                <a:gd name="T5" fmla="*/ 130 h 139"/>
                <a:gd name="T6" fmla="*/ 114 w 140"/>
                <a:gd name="T7" fmla="*/ 124 h 139"/>
                <a:gd name="T8" fmla="*/ 124 w 140"/>
                <a:gd name="T9" fmla="*/ 114 h 139"/>
                <a:gd name="T10" fmla="*/ 132 w 140"/>
                <a:gd name="T11" fmla="*/ 103 h 139"/>
                <a:gd name="T12" fmla="*/ 137 w 140"/>
                <a:gd name="T13" fmla="*/ 90 h 139"/>
                <a:gd name="T14" fmla="*/ 140 w 140"/>
                <a:gd name="T15" fmla="*/ 77 h 139"/>
                <a:gd name="T16" fmla="*/ 140 w 140"/>
                <a:gd name="T17" fmla="*/ 63 h 139"/>
                <a:gd name="T18" fmla="*/ 137 w 140"/>
                <a:gd name="T19" fmla="*/ 49 h 139"/>
                <a:gd name="T20" fmla="*/ 132 w 140"/>
                <a:gd name="T21" fmla="*/ 37 h 139"/>
                <a:gd name="T22" fmla="*/ 124 w 140"/>
                <a:gd name="T23" fmla="*/ 25 h 139"/>
                <a:gd name="T24" fmla="*/ 114 w 140"/>
                <a:gd name="T25" fmla="*/ 16 h 139"/>
                <a:gd name="T26" fmla="*/ 103 w 140"/>
                <a:gd name="T27" fmla="*/ 9 h 139"/>
                <a:gd name="T28" fmla="*/ 91 w 140"/>
                <a:gd name="T29" fmla="*/ 3 h 139"/>
                <a:gd name="T30" fmla="*/ 77 w 140"/>
                <a:gd name="T31" fmla="*/ 0 h 139"/>
                <a:gd name="T32" fmla="*/ 63 w 140"/>
                <a:gd name="T33" fmla="*/ 0 h 139"/>
                <a:gd name="T34" fmla="*/ 50 w 140"/>
                <a:gd name="T35" fmla="*/ 3 h 139"/>
                <a:gd name="T36" fmla="*/ 37 w 140"/>
                <a:gd name="T37" fmla="*/ 9 h 139"/>
                <a:gd name="T38" fmla="*/ 26 w 140"/>
                <a:gd name="T39" fmla="*/ 16 h 139"/>
                <a:gd name="T40" fmla="*/ 16 w 140"/>
                <a:gd name="T41" fmla="*/ 25 h 139"/>
                <a:gd name="T42" fmla="*/ 9 w 140"/>
                <a:gd name="T43" fmla="*/ 37 h 139"/>
                <a:gd name="T44" fmla="*/ 3 w 140"/>
                <a:gd name="T45" fmla="*/ 49 h 139"/>
                <a:gd name="T46" fmla="*/ 1 w 140"/>
                <a:gd name="T47" fmla="*/ 63 h 139"/>
                <a:gd name="T48" fmla="*/ 1 w 140"/>
                <a:gd name="T49" fmla="*/ 77 h 139"/>
                <a:gd name="T50" fmla="*/ 3 w 140"/>
                <a:gd name="T51" fmla="*/ 90 h 139"/>
                <a:gd name="T52" fmla="*/ 9 w 140"/>
                <a:gd name="T53" fmla="*/ 103 h 139"/>
                <a:gd name="T54" fmla="*/ 16 w 140"/>
                <a:gd name="T55" fmla="*/ 114 h 139"/>
                <a:gd name="T56" fmla="*/ 26 w 140"/>
                <a:gd name="T57" fmla="*/ 124 h 139"/>
                <a:gd name="T58" fmla="*/ 37 w 140"/>
                <a:gd name="T59" fmla="*/ 130 h 139"/>
                <a:gd name="T60" fmla="*/ 50 w 140"/>
                <a:gd name="T61" fmla="*/ 136 h 139"/>
                <a:gd name="T62" fmla="*/ 63 w 140"/>
                <a:gd name="T63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0" h="139">
                  <a:moveTo>
                    <a:pt x="71" y="139"/>
                  </a:moveTo>
                  <a:lnTo>
                    <a:pt x="77" y="139"/>
                  </a:lnTo>
                  <a:lnTo>
                    <a:pt x="85" y="138"/>
                  </a:lnTo>
                  <a:lnTo>
                    <a:pt x="91" y="136"/>
                  </a:lnTo>
                  <a:lnTo>
                    <a:pt x="98" y="134"/>
                  </a:lnTo>
                  <a:lnTo>
                    <a:pt x="103" y="130"/>
                  </a:lnTo>
                  <a:lnTo>
                    <a:pt x="110" y="127"/>
                  </a:lnTo>
                  <a:lnTo>
                    <a:pt x="114" y="124"/>
                  </a:lnTo>
                  <a:lnTo>
                    <a:pt x="120" y="118"/>
                  </a:lnTo>
                  <a:lnTo>
                    <a:pt x="124" y="114"/>
                  </a:lnTo>
                  <a:lnTo>
                    <a:pt x="128" y="109"/>
                  </a:lnTo>
                  <a:lnTo>
                    <a:pt x="132" y="103"/>
                  </a:lnTo>
                  <a:lnTo>
                    <a:pt x="135" y="97"/>
                  </a:lnTo>
                  <a:lnTo>
                    <a:pt x="137" y="90"/>
                  </a:lnTo>
                  <a:lnTo>
                    <a:pt x="139" y="84"/>
                  </a:lnTo>
                  <a:lnTo>
                    <a:pt x="140" y="77"/>
                  </a:lnTo>
                  <a:lnTo>
                    <a:pt x="140" y="69"/>
                  </a:lnTo>
                  <a:lnTo>
                    <a:pt x="140" y="63"/>
                  </a:lnTo>
                  <a:lnTo>
                    <a:pt x="139" y="55"/>
                  </a:lnTo>
                  <a:lnTo>
                    <a:pt x="137" y="49"/>
                  </a:lnTo>
                  <a:lnTo>
                    <a:pt x="135" y="42"/>
                  </a:lnTo>
                  <a:lnTo>
                    <a:pt x="132" y="37"/>
                  </a:lnTo>
                  <a:lnTo>
                    <a:pt x="128" y="30"/>
                  </a:lnTo>
                  <a:lnTo>
                    <a:pt x="124" y="25"/>
                  </a:lnTo>
                  <a:lnTo>
                    <a:pt x="120" y="21"/>
                  </a:lnTo>
                  <a:lnTo>
                    <a:pt x="114" y="16"/>
                  </a:lnTo>
                  <a:lnTo>
                    <a:pt x="110" y="12"/>
                  </a:lnTo>
                  <a:lnTo>
                    <a:pt x="103" y="9"/>
                  </a:lnTo>
                  <a:lnTo>
                    <a:pt x="98" y="5"/>
                  </a:lnTo>
                  <a:lnTo>
                    <a:pt x="91" y="3"/>
                  </a:lnTo>
                  <a:lnTo>
                    <a:pt x="85" y="1"/>
                  </a:lnTo>
                  <a:lnTo>
                    <a:pt x="77" y="0"/>
                  </a:lnTo>
                  <a:lnTo>
                    <a:pt x="71" y="0"/>
                  </a:lnTo>
                  <a:lnTo>
                    <a:pt x="63" y="0"/>
                  </a:lnTo>
                  <a:lnTo>
                    <a:pt x="57" y="1"/>
                  </a:lnTo>
                  <a:lnTo>
                    <a:pt x="50" y="3"/>
                  </a:lnTo>
                  <a:lnTo>
                    <a:pt x="44" y="5"/>
                  </a:lnTo>
                  <a:lnTo>
                    <a:pt x="37" y="9"/>
                  </a:lnTo>
                  <a:lnTo>
                    <a:pt x="32" y="12"/>
                  </a:lnTo>
                  <a:lnTo>
                    <a:pt x="26" y="16"/>
                  </a:lnTo>
                  <a:lnTo>
                    <a:pt x="21" y="21"/>
                  </a:lnTo>
                  <a:lnTo>
                    <a:pt x="16" y="25"/>
                  </a:lnTo>
                  <a:lnTo>
                    <a:pt x="12" y="30"/>
                  </a:lnTo>
                  <a:lnTo>
                    <a:pt x="9" y="37"/>
                  </a:lnTo>
                  <a:lnTo>
                    <a:pt x="7" y="42"/>
                  </a:lnTo>
                  <a:lnTo>
                    <a:pt x="3" y="49"/>
                  </a:lnTo>
                  <a:lnTo>
                    <a:pt x="2" y="55"/>
                  </a:lnTo>
                  <a:lnTo>
                    <a:pt x="1" y="63"/>
                  </a:lnTo>
                  <a:lnTo>
                    <a:pt x="0" y="69"/>
                  </a:lnTo>
                  <a:lnTo>
                    <a:pt x="1" y="77"/>
                  </a:lnTo>
                  <a:lnTo>
                    <a:pt x="2" y="84"/>
                  </a:lnTo>
                  <a:lnTo>
                    <a:pt x="3" y="90"/>
                  </a:lnTo>
                  <a:lnTo>
                    <a:pt x="7" y="97"/>
                  </a:lnTo>
                  <a:lnTo>
                    <a:pt x="9" y="103"/>
                  </a:lnTo>
                  <a:lnTo>
                    <a:pt x="12" y="109"/>
                  </a:lnTo>
                  <a:lnTo>
                    <a:pt x="16" y="114"/>
                  </a:lnTo>
                  <a:lnTo>
                    <a:pt x="21" y="118"/>
                  </a:lnTo>
                  <a:lnTo>
                    <a:pt x="26" y="124"/>
                  </a:lnTo>
                  <a:lnTo>
                    <a:pt x="32" y="127"/>
                  </a:lnTo>
                  <a:lnTo>
                    <a:pt x="37" y="130"/>
                  </a:lnTo>
                  <a:lnTo>
                    <a:pt x="44" y="134"/>
                  </a:lnTo>
                  <a:lnTo>
                    <a:pt x="50" y="136"/>
                  </a:lnTo>
                  <a:lnTo>
                    <a:pt x="57" y="138"/>
                  </a:lnTo>
                  <a:lnTo>
                    <a:pt x="63" y="139"/>
                  </a:lnTo>
                  <a:lnTo>
                    <a:pt x="71" y="139"/>
                  </a:lnTo>
                  <a:close/>
                </a:path>
              </a:pathLst>
            </a:custGeom>
            <a:solidFill>
              <a:srgbClr val="9395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Freeform 35">
              <a:extLst>
                <a:ext uri="{FF2B5EF4-FFF2-40B4-BE49-F238E27FC236}">
                  <a16:creationId xmlns:a16="http://schemas.microsoft.com/office/drawing/2014/main" id="{710B16B2-6122-46CB-8FEF-FEF33A76E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" y="665"/>
              <a:ext cx="24" cy="47"/>
            </a:xfrm>
            <a:custGeom>
              <a:avLst/>
              <a:gdLst>
                <a:gd name="T0" fmla="*/ 3 w 72"/>
                <a:gd name="T1" fmla="*/ 0 h 139"/>
                <a:gd name="T2" fmla="*/ 9 w 72"/>
                <a:gd name="T3" fmla="*/ 0 h 139"/>
                <a:gd name="T4" fmla="*/ 17 w 72"/>
                <a:gd name="T5" fmla="*/ 1 h 139"/>
                <a:gd name="T6" fmla="*/ 23 w 72"/>
                <a:gd name="T7" fmla="*/ 3 h 139"/>
                <a:gd name="T8" fmla="*/ 30 w 72"/>
                <a:gd name="T9" fmla="*/ 5 h 139"/>
                <a:gd name="T10" fmla="*/ 35 w 72"/>
                <a:gd name="T11" fmla="*/ 9 h 139"/>
                <a:gd name="T12" fmla="*/ 41 w 72"/>
                <a:gd name="T13" fmla="*/ 12 h 139"/>
                <a:gd name="T14" fmla="*/ 46 w 72"/>
                <a:gd name="T15" fmla="*/ 16 h 139"/>
                <a:gd name="T16" fmla="*/ 52 w 72"/>
                <a:gd name="T17" fmla="*/ 21 h 139"/>
                <a:gd name="T18" fmla="*/ 56 w 72"/>
                <a:gd name="T19" fmla="*/ 25 h 139"/>
                <a:gd name="T20" fmla="*/ 60 w 72"/>
                <a:gd name="T21" fmla="*/ 30 h 139"/>
                <a:gd name="T22" fmla="*/ 64 w 72"/>
                <a:gd name="T23" fmla="*/ 37 h 139"/>
                <a:gd name="T24" fmla="*/ 67 w 72"/>
                <a:gd name="T25" fmla="*/ 42 h 139"/>
                <a:gd name="T26" fmla="*/ 69 w 72"/>
                <a:gd name="T27" fmla="*/ 49 h 139"/>
                <a:gd name="T28" fmla="*/ 71 w 72"/>
                <a:gd name="T29" fmla="*/ 55 h 139"/>
                <a:gd name="T30" fmla="*/ 72 w 72"/>
                <a:gd name="T31" fmla="*/ 63 h 139"/>
                <a:gd name="T32" fmla="*/ 72 w 72"/>
                <a:gd name="T33" fmla="*/ 69 h 139"/>
                <a:gd name="T34" fmla="*/ 72 w 72"/>
                <a:gd name="T35" fmla="*/ 77 h 139"/>
                <a:gd name="T36" fmla="*/ 71 w 72"/>
                <a:gd name="T37" fmla="*/ 84 h 139"/>
                <a:gd name="T38" fmla="*/ 69 w 72"/>
                <a:gd name="T39" fmla="*/ 90 h 139"/>
                <a:gd name="T40" fmla="*/ 67 w 72"/>
                <a:gd name="T41" fmla="*/ 97 h 139"/>
                <a:gd name="T42" fmla="*/ 64 w 72"/>
                <a:gd name="T43" fmla="*/ 103 h 139"/>
                <a:gd name="T44" fmla="*/ 60 w 72"/>
                <a:gd name="T45" fmla="*/ 109 h 139"/>
                <a:gd name="T46" fmla="*/ 56 w 72"/>
                <a:gd name="T47" fmla="*/ 114 h 139"/>
                <a:gd name="T48" fmla="*/ 52 w 72"/>
                <a:gd name="T49" fmla="*/ 118 h 139"/>
                <a:gd name="T50" fmla="*/ 46 w 72"/>
                <a:gd name="T51" fmla="*/ 124 h 139"/>
                <a:gd name="T52" fmla="*/ 41 w 72"/>
                <a:gd name="T53" fmla="*/ 127 h 139"/>
                <a:gd name="T54" fmla="*/ 35 w 72"/>
                <a:gd name="T55" fmla="*/ 130 h 139"/>
                <a:gd name="T56" fmla="*/ 30 w 72"/>
                <a:gd name="T57" fmla="*/ 134 h 139"/>
                <a:gd name="T58" fmla="*/ 23 w 72"/>
                <a:gd name="T59" fmla="*/ 136 h 139"/>
                <a:gd name="T60" fmla="*/ 17 w 72"/>
                <a:gd name="T61" fmla="*/ 138 h 139"/>
                <a:gd name="T62" fmla="*/ 9 w 72"/>
                <a:gd name="T63" fmla="*/ 139 h 139"/>
                <a:gd name="T64" fmla="*/ 3 w 72"/>
                <a:gd name="T65" fmla="*/ 139 h 139"/>
                <a:gd name="T66" fmla="*/ 1 w 72"/>
                <a:gd name="T67" fmla="*/ 139 h 139"/>
                <a:gd name="T68" fmla="*/ 0 w 72"/>
                <a:gd name="T69" fmla="*/ 139 h 139"/>
                <a:gd name="T70" fmla="*/ 0 w 72"/>
                <a:gd name="T71" fmla="*/ 0 h 139"/>
                <a:gd name="T72" fmla="*/ 1 w 72"/>
                <a:gd name="T73" fmla="*/ 0 h 139"/>
                <a:gd name="T74" fmla="*/ 3 w 72"/>
                <a:gd name="T75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2" h="139">
                  <a:moveTo>
                    <a:pt x="3" y="0"/>
                  </a:moveTo>
                  <a:lnTo>
                    <a:pt x="9" y="0"/>
                  </a:lnTo>
                  <a:lnTo>
                    <a:pt x="17" y="1"/>
                  </a:lnTo>
                  <a:lnTo>
                    <a:pt x="23" y="3"/>
                  </a:lnTo>
                  <a:lnTo>
                    <a:pt x="30" y="5"/>
                  </a:lnTo>
                  <a:lnTo>
                    <a:pt x="35" y="9"/>
                  </a:lnTo>
                  <a:lnTo>
                    <a:pt x="41" y="12"/>
                  </a:lnTo>
                  <a:lnTo>
                    <a:pt x="46" y="16"/>
                  </a:lnTo>
                  <a:lnTo>
                    <a:pt x="52" y="21"/>
                  </a:lnTo>
                  <a:lnTo>
                    <a:pt x="56" y="25"/>
                  </a:lnTo>
                  <a:lnTo>
                    <a:pt x="60" y="30"/>
                  </a:lnTo>
                  <a:lnTo>
                    <a:pt x="64" y="37"/>
                  </a:lnTo>
                  <a:lnTo>
                    <a:pt x="67" y="42"/>
                  </a:lnTo>
                  <a:lnTo>
                    <a:pt x="69" y="49"/>
                  </a:lnTo>
                  <a:lnTo>
                    <a:pt x="71" y="55"/>
                  </a:lnTo>
                  <a:lnTo>
                    <a:pt x="72" y="63"/>
                  </a:lnTo>
                  <a:lnTo>
                    <a:pt x="72" y="69"/>
                  </a:lnTo>
                  <a:lnTo>
                    <a:pt x="72" y="77"/>
                  </a:lnTo>
                  <a:lnTo>
                    <a:pt x="71" y="84"/>
                  </a:lnTo>
                  <a:lnTo>
                    <a:pt x="69" y="90"/>
                  </a:lnTo>
                  <a:lnTo>
                    <a:pt x="67" y="97"/>
                  </a:lnTo>
                  <a:lnTo>
                    <a:pt x="64" y="103"/>
                  </a:lnTo>
                  <a:lnTo>
                    <a:pt x="60" y="109"/>
                  </a:lnTo>
                  <a:lnTo>
                    <a:pt x="56" y="114"/>
                  </a:lnTo>
                  <a:lnTo>
                    <a:pt x="52" y="118"/>
                  </a:lnTo>
                  <a:lnTo>
                    <a:pt x="46" y="124"/>
                  </a:lnTo>
                  <a:lnTo>
                    <a:pt x="41" y="127"/>
                  </a:lnTo>
                  <a:lnTo>
                    <a:pt x="35" y="130"/>
                  </a:lnTo>
                  <a:lnTo>
                    <a:pt x="30" y="134"/>
                  </a:lnTo>
                  <a:lnTo>
                    <a:pt x="23" y="136"/>
                  </a:lnTo>
                  <a:lnTo>
                    <a:pt x="17" y="138"/>
                  </a:lnTo>
                  <a:lnTo>
                    <a:pt x="9" y="139"/>
                  </a:lnTo>
                  <a:lnTo>
                    <a:pt x="3" y="139"/>
                  </a:lnTo>
                  <a:lnTo>
                    <a:pt x="1" y="139"/>
                  </a:lnTo>
                  <a:lnTo>
                    <a:pt x="0" y="139"/>
                  </a:lnTo>
                  <a:lnTo>
                    <a:pt x="0" y="0"/>
                  </a:lnTo>
                  <a:lnTo>
                    <a:pt x="1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AEC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7" name="Rectangle 39">
            <a:extLst>
              <a:ext uri="{FF2B5EF4-FFF2-40B4-BE49-F238E27FC236}">
                <a16:creationId xmlns:a16="http://schemas.microsoft.com/office/drawing/2014/main" id="{750F0876-E7B2-4C3A-B19F-8557B458E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3300" y="2536825"/>
            <a:ext cx="2376487" cy="1439862"/>
          </a:xfrm>
          <a:prstGeom prst="rect">
            <a:avLst/>
          </a:prstGeom>
          <a:noFill/>
          <a:ln w="12700" algn="ctr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zh-CN"/>
          </a:p>
        </p:txBody>
      </p:sp>
      <p:sp>
        <p:nvSpPr>
          <p:cNvPr id="138" name="Text Box 40">
            <a:extLst>
              <a:ext uri="{FF2B5EF4-FFF2-40B4-BE49-F238E27FC236}">
                <a16:creationId xmlns:a16="http://schemas.microsoft.com/office/drawing/2014/main" id="{EBD58B59-EFC7-4938-9D60-5E00CFF77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9200" y="2608262"/>
            <a:ext cx="954107" cy="646331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ADSL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Modem</a:t>
            </a:r>
          </a:p>
        </p:txBody>
      </p:sp>
      <p:sp>
        <p:nvSpPr>
          <p:cNvPr id="139" name="Rectangle 41">
            <a:extLst>
              <a:ext uri="{FF2B5EF4-FFF2-40B4-BE49-F238E27FC236}">
                <a16:creationId xmlns:a16="http://schemas.microsoft.com/office/drawing/2014/main" id="{1419B47D-B2A4-4044-8BCE-C49ADE199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4387" y="3328987"/>
            <a:ext cx="1108075" cy="469900"/>
          </a:xfrm>
          <a:prstGeom prst="rect">
            <a:avLst/>
          </a:prstGeom>
          <a:solidFill>
            <a:srgbClr val="DDDDDD"/>
          </a:solidFill>
          <a:ln w="12700" algn="ctr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277800" prstMaterial="legacyMatte">
            <a:bevelT w="13500" h="13500" prst="angle"/>
            <a:bevelB w="13500" h="13500" prst="angle"/>
            <a:extrusionClr>
              <a:srgbClr val="DDDDDD"/>
            </a:extrusionClr>
            <a:contourClr>
              <a:srgbClr val="DDDDDD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  <a:flatTx/>
          </a:bodyPr>
          <a:lstStyle/>
          <a:p>
            <a:endParaRPr lang="zh-CN" altLang="zh-CN"/>
          </a:p>
        </p:txBody>
      </p:sp>
      <p:sp>
        <p:nvSpPr>
          <p:cNvPr id="140" name="Freeform 43">
            <a:extLst>
              <a:ext uri="{FF2B5EF4-FFF2-40B4-BE49-F238E27FC236}">
                <a16:creationId xmlns:a16="http://schemas.microsoft.com/office/drawing/2014/main" id="{006E100A-110A-4BA7-9F21-7B3EB17804AB}"/>
              </a:ext>
            </a:extLst>
          </p:cNvPr>
          <p:cNvSpPr>
            <a:spLocks/>
          </p:cNvSpPr>
          <p:nvPr/>
        </p:nvSpPr>
        <p:spPr bwMode="auto">
          <a:xfrm>
            <a:off x="3570287" y="3328987"/>
            <a:ext cx="790575" cy="474663"/>
          </a:xfrm>
          <a:custGeom>
            <a:avLst/>
            <a:gdLst>
              <a:gd name="T0" fmla="*/ 0 w 140"/>
              <a:gd name="T1" fmla="*/ 37 h 74"/>
              <a:gd name="T2" fmla="*/ 12 w 140"/>
              <a:gd name="T3" fmla="*/ 5 h 74"/>
              <a:gd name="T4" fmla="*/ 34 w 140"/>
              <a:gd name="T5" fmla="*/ 68 h 74"/>
              <a:gd name="T6" fmla="*/ 59 w 140"/>
              <a:gd name="T7" fmla="*/ 5 h 74"/>
              <a:gd name="T8" fmla="*/ 81 w 140"/>
              <a:gd name="T9" fmla="*/ 68 h 74"/>
              <a:gd name="T10" fmla="*/ 106 w 140"/>
              <a:gd name="T11" fmla="*/ 5 h 74"/>
              <a:gd name="T12" fmla="*/ 128 w 140"/>
              <a:gd name="T13" fmla="*/ 68 h 74"/>
              <a:gd name="T14" fmla="*/ 140 w 140"/>
              <a:gd name="T15" fmla="*/ 37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0" h="74">
                <a:moveTo>
                  <a:pt x="0" y="37"/>
                </a:moveTo>
                <a:cubicBezTo>
                  <a:pt x="3" y="19"/>
                  <a:pt x="6" y="0"/>
                  <a:pt x="12" y="5"/>
                </a:cubicBezTo>
                <a:cubicBezTo>
                  <a:pt x="18" y="11"/>
                  <a:pt x="27" y="68"/>
                  <a:pt x="34" y="68"/>
                </a:cubicBezTo>
                <a:cubicBezTo>
                  <a:pt x="42" y="68"/>
                  <a:pt x="51" y="5"/>
                  <a:pt x="59" y="5"/>
                </a:cubicBezTo>
                <a:cubicBezTo>
                  <a:pt x="67" y="5"/>
                  <a:pt x="73" y="68"/>
                  <a:pt x="81" y="68"/>
                </a:cubicBezTo>
                <a:cubicBezTo>
                  <a:pt x="89" y="68"/>
                  <a:pt x="98" y="5"/>
                  <a:pt x="106" y="5"/>
                </a:cubicBezTo>
                <a:cubicBezTo>
                  <a:pt x="113" y="5"/>
                  <a:pt x="122" y="63"/>
                  <a:pt x="128" y="68"/>
                </a:cubicBezTo>
                <a:cubicBezTo>
                  <a:pt x="134" y="74"/>
                  <a:pt x="137" y="55"/>
                  <a:pt x="140" y="37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" name="Rectangle 44">
            <a:extLst>
              <a:ext uri="{FF2B5EF4-FFF2-40B4-BE49-F238E27FC236}">
                <a16:creationId xmlns:a16="http://schemas.microsoft.com/office/drawing/2014/main" id="{7973C3F5-37A4-4159-99A7-C4A73EFAB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9650" y="3184525"/>
            <a:ext cx="1108075" cy="719137"/>
          </a:xfrm>
          <a:prstGeom prst="rect">
            <a:avLst/>
          </a:prstGeom>
          <a:solidFill>
            <a:srgbClr val="DDDDDD"/>
          </a:solidFill>
          <a:ln w="12700" algn="ctr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277800" prstMaterial="legacyMatte">
            <a:bevelT w="13500" h="13500" prst="angle"/>
            <a:bevelB w="13500" h="13500" prst="angle"/>
            <a:extrusionClr>
              <a:srgbClr val="DDDDDD"/>
            </a:extrusionClr>
            <a:contourClr>
              <a:srgbClr val="DDDDDD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flatTx/>
          </a:bodyPr>
          <a:lstStyle/>
          <a:p>
            <a:endParaRPr lang="zh-CN" altLang="zh-CN"/>
          </a:p>
        </p:txBody>
      </p:sp>
      <p:sp>
        <p:nvSpPr>
          <p:cNvPr id="142" name="Freeform 45">
            <a:extLst>
              <a:ext uri="{FF2B5EF4-FFF2-40B4-BE49-F238E27FC236}">
                <a16:creationId xmlns:a16="http://schemas.microsoft.com/office/drawing/2014/main" id="{EC960DC8-A08B-4D6D-9662-90BD54428CB8}"/>
              </a:ext>
            </a:extLst>
          </p:cNvPr>
          <p:cNvSpPr>
            <a:spLocks/>
          </p:cNvSpPr>
          <p:nvPr/>
        </p:nvSpPr>
        <p:spPr bwMode="auto">
          <a:xfrm>
            <a:off x="6305550" y="3184525"/>
            <a:ext cx="790575" cy="690562"/>
          </a:xfrm>
          <a:custGeom>
            <a:avLst/>
            <a:gdLst>
              <a:gd name="T0" fmla="*/ 0 w 140"/>
              <a:gd name="T1" fmla="*/ 37 h 74"/>
              <a:gd name="T2" fmla="*/ 12 w 140"/>
              <a:gd name="T3" fmla="*/ 5 h 74"/>
              <a:gd name="T4" fmla="*/ 34 w 140"/>
              <a:gd name="T5" fmla="*/ 68 h 74"/>
              <a:gd name="T6" fmla="*/ 59 w 140"/>
              <a:gd name="T7" fmla="*/ 5 h 74"/>
              <a:gd name="T8" fmla="*/ 81 w 140"/>
              <a:gd name="T9" fmla="*/ 68 h 74"/>
              <a:gd name="T10" fmla="*/ 106 w 140"/>
              <a:gd name="T11" fmla="*/ 5 h 74"/>
              <a:gd name="T12" fmla="*/ 128 w 140"/>
              <a:gd name="T13" fmla="*/ 68 h 74"/>
              <a:gd name="T14" fmla="*/ 140 w 140"/>
              <a:gd name="T15" fmla="*/ 37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0" h="74">
                <a:moveTo>
                  <a:pt x="0" y="37"/>
                </a:moveTo>
                <a:cubicBezTo>
                  <a:pt x="3" y="19"/>
                  <a:pt x="6" y="0"/>
                  <a:pt x="12" y="5"/>
                </a:cubicBezTo>
                <a:cubicBezTo>
                  <a:pt x="18" y="11"/>
                  <a:pt x="27" y="68"/>
                  <a:pt x="34" y="68"/>
                </a:cubicBezTo>
                <a:cubicBezTo>
                  <a:pt x="42" y="68"/>
                  <a:pt x="51" y="5"/>
                  <a:pt x="59" y="5"/>
                </a:cubicBezTo>
                <a:cubicBezTo>
                  <a:pt x="67" y="5"/>
                  <a:pt x="73" y="68"/>
                  <a:pt x="81" y="68"/>
                </a:cubicBezTo>
                <a:cubicBezTo>
                  <a:pt x="89" y="68"/>
                  <a:pt x="98" y="5"/>
                  <a:pt x="106" y="5"/>
                </a:cubicBezTo>
                <a:cubicBezTo>
                  <a:pt x="113" y="5"/>
                  <a:pt x="122" y="63"/>
                  <a:pt x="128" y="68"/>
                </a:cubicBezTo>
                <a:cubicBezTo>
                  <a:pt x="134" y="74"/>
                  <a:pt x="137" y="55"/>
                  <a:pt x="140" y="37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" name="Freeform 46">
            <a:extLst>
              <a:ext uri="{FF2B5EF4-FFF2-40B4-BE49-F238E27FC236}">
                <a16:creationId xmlns:a16="http://schemas.microsoft.com/office/drawing/2014/main" id="{204072AD-5B6A-4E4A-B245-57E86376EC38}"/>
              </a:ext>
            </a:extLst>
          </p:cNvPr>
          <p:cNvSpPr>
            <a:spLocks/>
          </p:cNvSpPr>
          <p:nvPr/>
        </p:nvSpPr>
        <p:spPr bwMode="auto">
          <a:xfrm>
            <a:off x="2925762" y="2035175"/>
            <a:ext cx="3595688" cy="1438275"/>
          </a:xfrm>
          <a:custGeom>
            <a:avLst/>
            <a:gdLst>
              <a:gd name="T0" fmla="*/ 2 w 2265"/>
              <a:gd name="T1" fmla="*/ 5 h 906"/>
              <a:gd name="T2" fmla="*/ 0 w 2265"/>
              <a:gd name="T3" fmla="*/ 758 h 906"/>
              <a:gd name="T4" fmla="*/ 137 w 2265"/>
              <a:gd name="T5" fmla="*/ 905 h 906"/>
              <a:gd name="T6" fmla="*/ 2162 w 2265"/>
              <a:gd name="T7" fmla="*/ 906 h 906"/>
              <a:gd name="T8" fmla="*/ 2264 w 2265"/>
              <a:gd name="T9" fmla="*/ 775 h 906"/>
              <a:gd name="T10" fmla="*/ 2265 w 2265"/>
              <a:gd name="T11" fmla="*/ 0 h 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65" h="906">
                <a:moveTo>
                  <a:pt x="2" y="5"/>
                </a:moveTo>
                <a:lnTo>
                  <a:pt x="0" y="758"/>
                </a:lnTo>
                <a:lnTo>
                  <a:pt x="137" y="905"/>
                </a:lnTo>
                <a:lnTo>
                  <a:pt x="2162" y="906"/>
                </a:lnTo>
                <a:lnTo>
                  <a:pt x="2264" y="775"/>
                </a:lnTo>
                <a:lnTo>
                  <a:pt x="2265" y="0"/>
                </a:lnTo>
              </a:path>
            </a:pathLst>
          </a:custGeom>
          <a:noFill/>
          <a:ln w="28575" cap="flat" cmpd="sng">
            <a:solidFill>
              <a:srgbClr val="FF330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144" name="Group 47">
            <a:extLst>
              <a:ext uri="{FF2B5EF4-FFF2-40B4-BE49-F238E27FC236}">
                <a16:creationId xmlns:a16="http://schemas.microsoft.com/office/drawing/2014/main" id="{7AC40E83-6CCB-4B09-86B3-3B6EC58A09C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13943" y="4213542"/>
            <a:ext cx="839554" cy="510540"/>
            <a:chOff x="3145" y="1063"/>
            <a:chExt cx="984" cy="598"/>
          </a:xfrm>
        </p:grpSpPr>
        <p:sp>
          <p:nvSpPr>
            <p:cNvPr id="145" name="AutoShape 48">
              <a:extLst>
                <a:ext uri="{FF2B5EF4-FFF2-40B4-BE49-F238E27FC236}">
                  <a16:creationId xmlns:a16="http://schemas.microsoft.com/office/drawing/2014/main" id="{C4181DB3-8B32-4E9D-8F79-89CFD13C534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145" y="1063"/>
              <a:ext cx="984" cy="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Freeform 49">
              <a:extLst>
                <a:ext uri="{FF2B5EF4-FFF2-40B4-BE49-F238E27FC236}">
                  <a16:creationId xmlns:a16="http://schemas.microsoft.com/office/drawing/2014/main" id="{EFF58E86-85D4-4803-9599-DFD580CC6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0" y="1360"/>
              <a:ext cx="267" cy="276"/>
            </a:xfrm>
            <a:custGeom>
              <a:avLst/>
              <a:gdLst>
                <a:gd name="T0" fmla="*/ 3761 w 4537"/>
                <a:gd name="T1" fmla="*/ 548 h 4682"/>
                <a:gd name="T2" fmla="*/ 3118 w 4537"/>
                <a:gd name="T3" fmla="*/ 860 h 4682"/>
                <a:gd name="T4" fmla="*/ 2611 w 4537"/>
                <a:gd name="T5" fmla="*/ 1136 h 4682"/>
                <a:gd name="T6" fmla="*/ 2059 w 4537"/>
                <a:gd name="T7" fmla="*/ 1480 h 4682"/>
                <a:gd name="T8" fmla="*/ 1511 w 4537"/>
                <a:gd name="T9" fmla="*/ 1889 h 4682"/>
                <a:gd name="T10" fmla="*/ 1036 w 4537"/>
                <a:gd name="T11" fmla="*/ 2339 h 4682"/>
                <a:gd name="T12" fmla="*/ 733 w 4537"/>
                <a:gd name="T13" fmla="*/ 2742 h 4682"/>
                <a:gd name="T14" fmla="*/ 546 w 4537"/>
                <a:gd name="T15" fmla="*/ 3143 h 4682"/>
                <a:gd name="T16" fmla="*/ 492 w 4537"/>
                <a:gd name="T17" fmla="*/ 3512 h 4682"/>
                <a:gd name="T18" fmla="*/ 584 w 4537"/>
                <a:gd name="T19" fmla="*/ 3820 h 4682"/>
                <a:gd name="T20" fmla="*/ 837 w 4537"/>
                <a:gd name="T21" fmla="*/ 4041 h 4682"/>
                <a:gd name="T22" fmla="*/ 1265 w 4537"/>
                <a:gd name="T23" fmla="*/ 4144 h 4682"/>
                <a:gd name="T24" fmla="*/ 1855 w 4537"/>
                <a:gd name="T25" fmla="*/ 4114 h 4682"/>
                <a:gd name="T26" fmla="*/ 2373 w 4537"/>
                <a:gd name="T27" fmla="*/ 3966 h 4682"/>
                <a:gd name="T28" fmla="*/ 2792 w 4537"/>
                <a:gd name="T29" fmla="*/ 3725 h 4682"/>
                <a:gd name="T30" fmla="*/ 3108 w 4537"/>
                <a:gd name="T31" fmla="*/ 3412 h 4682"/>
                <a:gd name="T32" fmla="*/ 3317 w 4537"/>
                <a:gd name="T33" fmla="*/ 3053 h 4682"/>
                <a:gd name="T34" fmla="*/ 3414 w 4537"/>
                <a:gd name="T35" fmla="*/ 2668 h 4682"/>
                <a:gd name="T36" fmla="*/ 3192 w 4537"/>
                <a:gd name="T37" fmla="*/ 2317 h 4682"/>
                <a:gd name="T38" fmla="*/ 3389 w 4537"/>
                <a:gd name="T39" fmla="*/ 2151 h 4682"/>
                <a:gd name="T40" fmla="*/ 3700 w 4537"/>
                <a:gd name="T41" fmla="*/ 1866 h 4682"/>
                <a:gd name="T42" fmla="*/ 3886 w 4537"/>
                <a:gd name="T43" fmla="*/ 1669 h 4682"/>
                <a:gd name="T44" fmla="*/ 4021 w 4537"/>
                <a:gd name="T45" fmla="*/ 1489 h 4682"/>
                <a:gd name="T46" fmla="*/ 4077 w 4537"/>
                <a:gd name="T47" fmla="*/ 1373 h 4682"/>
                <a:gd name="T48" fmla="*/ 4204 w 4537"/>
                <a:gd name="T49" fmla="*/ 1407 h 4682"/>
                <a:gd name="T50" fmla="*/ 4266 w 4537"/>
                <a:gd name="T51" fmla="*/ 1444 h 4682"/>
                <a:gd name="T52" fmla="*/ 4316 w 4537"/>
                <a:gd name="T53" fmla="*/ 1499 h 4682"/>
                <a:gd name="T54" fmla="*/ 4339 w 4537"/>
                <a:gd name="T55" fmla="*/ 1577 h 4682"/>
                <a:gd name="T56" fmla="*/ 4228 w 4537"/>
                <a:gd name="T57" fmla="*/ 1775 h 4682"/>
                <a:gd name="T58" fmla="*/ 4061 w 4537"/>
                <a:gd name="T59" fmla="*/ 2009 h 4682"/>
                <a:gd name="T60" fmla="*/ 3969 w 4537"/>
                <a:gd name="T61" fmla="*/ 2114 h 4682"/>
                <a:gd name="T62" fmla="*/ 3891 w 4537"/>
                <a:gd name="T63" fmla="*/ 2168 h 4682"/>
                <a:gd name="T64" fmla="*/ 3918 w 4537"/>
                <a:gd name="T65" fmla="*/ 2272 h 4682"/>
                <a:gd name="T66" fmla="*/ 3967 w 4537"/>
                <a:gd name="T67" fmla="*/ 2491 h 4682"/>
                <a:gd name="T68" fmla="*/ 3975 w 4537"/>
                <a:gd name="T69" fmla="*/ 2808 h 4682"/>
                <a:gd name="T70" fmla="*/ 3885 w 4537"/>
                <a:gd name="T71" fmla="*/ 3196 h 4682"/>
                <a:gd name="T72" fmla="*/ 3643 w 4537"/>
                <a:gd name="T73" fmla="*/ 3632 h 4682"/>
                <a:gd name="T74" fmla="*/ 3196 w 4537"/>
                <a:gd name="T75" fmla="*/ 4090 h 4682"/>
                <a:gd name="T76" fmla="*/ 2559 w 4537"/>
                <a:gd name="T77" fmla="*/ 4478 h 4682"/>
                <a:gd name="T78" fmla="*/ 1866 w 4537"/>
                <a:gd name="T79" fmla="*/ 4664 h 4682"/>
                <a:gd name="T80" fmla="*/ 1192 w 4537"/>
                <a:gd name="T81" fmla="*/ 4654 h 4682"/>
                <a:gd name="T82" fmla="*/ 607 w 4537"/>
                <a:gd name="T83" fmla="*/ 4460 h 4682"/>
                <a:gd name="T84" fmla="*/ 187 w 4537"/>
                <a:gd name="T85" fmla="*/ 4091 h 4682"/>
                <a:gd name="T86" fmla="*/ 2 w 4537"/>
                <a:gd name="T87" fmla="*/ 3557 h 4682"/>
                <a:gd name="T88" fmla="*/ 112 w 4537"/>
                <a:gd name="T89" fmla="*/ 2911 h 4682"/>
                <a:gd name="T90" fmla="*/ 471 w 4537"/>
                <a:gd name="T91" fmla="*/ 2292 h 4682"/>
                <a:gd name="T92" fmla="*/ 1038 w 4537"/>
                <a:gd name="T93" fmla="*/ 1694 h 4682"/>
                <a:gd name="T94" fmla="*/ 1770 w 4537"/>
                <a:gd name="T95" fmla="*/ 1143 h 4682"/>
                <a:gd name="T96" fmla="*/ 2625 w 4537"/>
                <a:gd name="T97" fmla="*/ 662 h 4682"/>
                <a:gd name="T98" fmla="*/ 3562 w 4537"/>
                <a:gd name="T99" fmla="*/ 273 h 4682"/>
                <a:gd name="T100" fmla="*/ 4537 w 4537"/>
                <a:gd name="T101" fmla="*/ 0 h 4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537" h="4682">
                  <a:moveTo>
                    <a:pt x="3873" y="489"/>
                  </a:moveTo>
                  <a:lnTo>
                    <a:pt x="3858" y="500"/>
                  </a:lnTo>
                  <a:lnTo>
                    <a:pt x="3834" y="512"/>
                  </a:lnTo>
                  <a:lnTo>
                    <a:pt x="3801" y="529"/>
                  </a:lnTo>
                  <a:lnTo>
                    <a:pt x="3761" y="548"/>
                  </a:lnTo>
                  <a:lnTo>
                    <a:pt x="3660" y="597"/>
                  </a:lnTo>
                  <a:lnTo>
                    <a:pt x="3531" y="656"/>
                  </a:lnTo>
                  <a:lnTo>
                    <a:pt x="3381" y="730"/>
                  </a:lnTo>
                  <a:lnTo>
                    <a:pt x="3210" y="814"/>
                  </a:lnTo>
                  <a:lnTo>
                    <a:pt x="3118" y="860"/>
                  </a:lnTo>
                  <a:lnTo>
                    <a:pt x="3023" y="910"/>
                  </a:lnTo>
                  <a:lnTo>
                    <a:pt x="2925" y="963"/>
                  </a:lnTo>
                  <a:lnTo>
                    <a:pt x="2823" y="1018"/>
                  </a:lnTo>
                  <a:lnTo>
                    <a:pt x="2718" y="1076"/>
                  </a:lnTo>
                  <a:lnTo>
                    <a:pt x="2611" y="1136"/>
                  </a:lnTo>
                  <a:lnTo>
                    <a:pt x="2503" y="1200"/>
                  </a:lnTo>
                  <a:lnTo>
                    <a:pt x="2393" y="1266"/>
                  </a:lnTo>
                  <a:lnTo>
                    <a:pt x="2282" y="1335"/>
                  </a:lnTo>
                  <a:lnTo>
                    <a:pt x="2171" y="1406"/>
                  </a:lnTo>
                  <a:lnTo>
                    <a:pt x="2059" y="1480"/>
                  </a:lnTo>
                  <a:lnTo>
                    <a:pt x="1947" y="1557"/>
                  </a:lnTo>
                  <a:lnTo>
                    <a:pt x="1837" y="1636"/>
                  </a:lnTo>
                  <a:lnTo>
                    <a:pt x="1727" y="1718"/>
                  </a:lnTo>
                  <a:lnTo>
                    <a:pt x="1618" y="1802"/>
                  </a:lnTo>
                  <a:lnTo>
                    <a:pt x="1511" y="1889"/>
                  </a:lnTo>
                  <a:lnTo>
                    <a:pt x="1407" y="1978"/>
                  </a:lnTo>
                  <a:lnTo>
                    <a:pt x="1304" y="2070"/>
                  </a:lnTo>
                  <a:lnTo>
                    <a:pt x="1205" y="2163"/>
                  </a:lnTo>
                  <a:lnTo>
                    <a:pt x="1109" y="2259"/>
                  </a:lnTo>
                  <a:lnTo>
                    <a:pt x="1036" y="2339"/>
                  </a:lnTo>
                  <a:lnTo>
                    <a:pt x="967" y="2418"/>
                  </a:lnTo>
                  <a:lnTo>
                    <a:pt x="901" y="2499"/>
                  </a:lnTo>
                  <a:lnTo>
                    <a:pt x="840" y="2580"/>
                  </a:lnTo>
                  <a:lnTo>
                    <a:pt x="784" y="2661"/>
                  </a:lnTo>
                  <a:lnTo>
                    <a:pt x="733" y="2742"/>
                  </a:lnTo>
                  <a:lnTo>
                    <a:pt x="686" y="2824"/>
                  </a:lnTo>
                  <a:lnTo>
                    <a:pt x="644" y="2904"/>
                  </a:lnTo>
                  <a:lnTo>
                    <a:pt x="606" y="2985"/>
                  </a:lnTo>
                  <a:lnTo>
                    <a:pt x="574" y="3064"/>
                  </a:lnTo>
                  <a:lnTo>
                    <a:pt x="546" y="3143"/>
                  </a:lnTo>
                  <a:lnTo>
                    <a:pt x="525" y="3220"/>
                  </a:lnTo>
                  <a:lnTo>
                    <a:pt x="508" y="3296"/>
                  </a:lnTo>
                  <a:lnTo>
                    <a:pt x="497" y="3369"/>
                  </a:lnTo>
                  <a:lnTo>
                    <a:pt x="492" y="3442"/>
                  </a:lnTo>
                  <a:lnTo>
                    <a:pt x="492" y="3512"/>
                  </a:lnTo>
                  <a:lnTo>
                    <a:pt x="498" y="3578"/>
                  </a:lnTo>
                  <a:lnTo>
                    <a:pt x="511" y="3643"/>
                  </a:lnTo>
                  <a:lnTo>
                    <a:pt x="529" y="3706"/>
                  </a:lnTo>
                  <a:lnTo>
                    <a:pt x="554" y="3765"/>
                  </a:lnTo>
                  <a:lnTo>
                    <a:pt x="584" y="3820"/>
                  </a:lnTo>
                  <a:lnTo>
                    <a:pt x="622" y="3872"/>
                  </a:lnTo>
                  <a:lnTo>
                    <a:pt x="665" y="3920"/>
                  </a:lnTo>
                  <a:lnTo>
                    <a:pt x="716" y="3964"/>
                  </a:lnTo>
                  <a:lnTo>
                    <a:pt x="772" y="4005"/>
                  </a:lnTo>
                  <a:lnTo>
                    <a:pt x="837" y="4041"/>
                  </a:lnTo>
                  <a:lnTo>
                    <a:pt x="908" y="4072"/>
                  </a:lnTo>
                  <a:lnTo>
                    <a:pt x="987" y="4098"/>
                  </a:lnTo>
                  <a:lnTo>
                    <a:pt x="1071" y="4119"/>
                  </a:lnTo>
                  <a:lnTo>
                    <a:pt x="1164" y="4135"/>
                  </a:lnTo>
                  <a:lnTo>
                    <a:pt x="1265" y="4144"/>
                  </a:lnTo>
                  <a:lnTo>
                    <a:pt x="1372" y="4149"/>
                  </a:lnTo>
                  <a:lnTo>
                    <a:pt x="1499" y="4148"/>
                  </a:lnTo>
                  <a:lnTo>
                    <a:pt x="1621" y="4142"/>
                  </a:lnTo>
                  <a:lnTo>
                    <a:pt x="1740" y="4130"/>
                  </a:lnTo>
                  <a:lnTo>
                    <a:pt x="1855" y="4114"/>
                  </a:lnTo>
                  <a:lnTo>
                    <a:pt x="1966" y="4093"/>
                  </a:lnTo>
                  <a:lnTo>
                    <a:pt x="2074" y="4068"/>
                  </a:lnTo>
                  <a:lnTo>
                    <a:pt x="2177" y="4038"/>
                  </a:lnTo>
                  <a:lnTo>
                    <a:pt x="2277" y="4004"/>
                  </a:lnTo>
                  <a:lnTo>
                    <a:pt x="2373" y="3966"/>
                  </a:lnTo>
                  <a:lnTo>
                    <a:pt x="2465" y="3925"/>
                  </a:lnTo>
                  <a:lnTo>
                    <a:pt x="2553" y="3880"/>
                  </a:lnTo>
                  <a:lnTo>
                    <a:pt x="2636" y="3831"/>
                  </a:lnTo>
                  <a:lnTo>
                    <a:pt x="2716" y="3779"/>
                  </a:lnTo>
                  <a:lnTo>
                    <a:pt x="2792" y="3725"/>
                  </a:lnTo>
                  <a:lnTo>
                    <a:pt x="2863" y="3667"/>
                  </a:lnTo>
                  <a:lnTo>
                    <a:pt x="2931" y="3607"/>
                  </a:lnTo>
                  <a:lnTo>
                    <a:pt x="2994" y="3545"/>
                  </a:lnTo>
                  <a:lnTo>
                    <a:pt x="3054" y="3480"/>
                  </a:lnTo>
                  <a:lnTo>
                    <a:pt x="3108" y="3412"/>
                  </a:lnTo>
                  <a:lnTo>
                    <a:pt x="3158" y="3344"/>
                  </a:lnTo>
                  <a:lnTo>
                    <a:pt x="3204" y="3273"/>
                  </a:lnTo>
                  <a:lnTo>
                    <a:pt x="3246" y="3201"/>
                  </a:lnTo>
                  <a:lnTo>
                    <a:pt x="3284" y="3128"/>
                  </a:lnTo>
                  <a:lnTo>
                    <a:pt x="3317" y="3053"/>
                  </a:lnTo>
                  <a:lnTo>
                    <a:pt x="3345" y="2977"/>
                  </a:lnTo>
                  <a:lnTo>
                    <a:pt x="3369" y="2901"/>
                  </a:lnTo>
                  <a:lnTo>
                    <a:pt x="3389" y="2824"/>
                  </a:lnTo>
                  <a:lnTo>
                    <a:pt x="3404" y="2746"/>
                  </a:lnTo>
                  <a:lnTo>
                    <a:pt x="3414" y="2668"/>
                  </a:lnTo>
                  <a:lnTo>
                    <a:pt x="3420" y="2591"/>
                  </a:lnTo>
                  <a:lnTo>
                    <a:pt x="3421" y="2513"/>
                  </a:lnTo>
                  <a:lnTo>
                    <a:pt x="3417" y="2435"/>
                  </a:lnTo>
                  <a:lnTo>
                    <a:pt x="3215" y="2443"/>
                  </a:lnTo>
                  <a:lnTo>
                    <a:pt x="3192" y="2317"/>
                  </a:lnTo>
                  <a:lnTo>
                    <a:pt x="3201" y="2309"/>
                  </a:lnTo>
                  <a:lnTo>
                    <a:pt x="3228" y="2287"/>
                  </a:lnTo>
                  <a:lnTo>
                    <a:pt x="3270" y="2253"/>
                  </a:lnTo>
                  <a:lnTo>
                    <a:pt x="3324" y="2207"/>
                  </a:lnTo>
                  <a:lnTo>
                    <a:pt x="3389" y="2151"/>
                  </a:lnTo>
                  <a:lnTo>
                    <a:pt x="3461" y="2088"/>
                  </a:lnTo>
                  <a:lnTo>
                    <a:pt x="3539" y="2019"/>
                  </a:lnTo>
                  <a:lnTo>
                    <a:pt x="3619" y="1943"/>
                  </a:lnTo>
                  <a:lnTo>
                    <a:pt x="3660" y="1906"/>
                  </a:lnTo>
                  <a:lnTo>
                    <a:pt x="3700" y="1866"/>
                  </a:lnTo>
                  <a:lnTo>
                    <a:pt x="3739" y="1827"/>
                  </a:lnTo>
                  <a:lnTo>
                    <a:pt x="3778" y="1788"/>
                  </a:lnTo>
                  <a:lnTo>
                    <a:pt x="3816" y="1748"/>
                  </a:lnTo>
                  <a:lnTo>
                    <a:pt x="3852" y="1708"/>
                  </a:lnTo>
                  <a:lnTo>
                    <a:pt x="3886" y="1669"/>
                  </a:lnTo>
                  <a:lnTo>
                    <a:pt x="3918" y="1631"/>
                  </a:lnTo>
                  <a:lnTo>
                    <a:pt x="3949" y="1594"/>
                  </a:lnTo>
                  <a:lnTo>
                    <a:pt x="3976" y="1558"/>
                  </a:lnTo>
                  <a:lnTo>
                    <a:pt x="4000" y="1522"/>
                  </a:lnTo>
                  <a:lnTo>
                    <a:pt x="4021" y="1489"/>
                  </a:lnTo>
                  <a:lnTo>
                    <a:pt x="4038" y="1456"/>
                  </a:lnTo>
                  <a:lnTo>
                    <a:pt x="4051" y="1426"/>
                  </a:lnTo>
                  <a:lnTo>
                    <a:pt x="4060" y="1398"/>
                  </a:lnTo>
                  <a:lnTo>
                    <a:pt x="4066" y="1372"/>
                  </a:lnTo>
                  <a:lnTo>
                    <a:pt x="4077" y="1373"/>
                  </a:lnTo>
                  <a:lnTo>
                    <a:pt x="4109" y="1378"/>
                  </a:lnTo>
                  <a:lnTo>
                    <a:pt x="4129" y="1382"/>
                  </a:lnTo>
                  <a:lnTo>
                    <a:pt x="4153" y="1388"/>
                  </a:lnTo>
                  <a:lnTo>
                    <a:pt x="4179" y="1397"/>
                  </a:lnTo>
                  <a:lnTo>
                    <a:pt x="4204" y="1407"/>
                  </a:lnTo>
                  <a:lnTo>
                    <a:pt x="4217" y="1413"/>
                  </a:lnTo>
                  <a:lnTo>
                    <a:pt x="4230" y="1420"/>
                  </a:lnTo>
                  <a:lnTo>
                    <a:pt x="4242" y="1427"/>
                  </a:lnTo>
                  <a:lnTo>
                    <a:pt x="4255" y="1435"/>
                  </a:lnTo>
                  <a:lnTo>
                    <a:pt x="4266" y="1444"/>
                  </a:lnTo>
                  <a:lnTo>
                    <a:pt x="4278" y="1453"/>
                  </a:lnTo>
                  <a:lnTo>
                    <a:pt x="4288" y="1464"/>
                  </a:lnTo>
                  <a:lnTo>
                    <a:pt x="4299" y="1475"/>
                  </a:lnTo>
                  <a:lnTo>
                    <a:pt x="4307" y="1487"/>
                  </a:lnTo>
                  <a:lnTo>
                    <a:pt x="4316" y="1499"/>
                  </a:lnTo>
                  <a:lnTo>
                    <a:pt x="4323" y="1513"/>
                  </a:lnTo>
                  <a:lnTo>
                    <a:pt x="4329" y="1527"/>
                  </a:lnTo>
                  <a:lnTo>
                    <a:pt x="4333" y="1543"/>
                  </a:lnTo>
                  <a:lnTo>
                    <a:pt x="4336" y="1560"/>
                  </a:lnTo>
                  <a:lnTo>
                    <a:pt x="4339" y="1577"/>
                  </a:lnTo>
                  <a:lnTo>
                    <a:pt x="4339" y="1596"/>
                  </a:lnTo>
                  <a:lnTo>
                    <a:pt x="4324" y="1620"/>
                  </a:lnTo>
                  <a:lnTo>
                    <a:pt x="4285" y="1684"/>
                  </a:lnTo>
                  <a:lnTo>
                    <a:pt x="4258" y="1727"/>
                  </a:lnTo>
                  <a:lnTo>
                    <a:pt x="4228" y="1775"/>
                  </a:lnTo>
                  <a:lnTo>
                    <a:pt x="4193" y="1826"/>
                  </a:lnTo>
                  <a:lnTo>
                    <a:pt x="4158" y="1880"/>
                  </a:lnTo>
                  <a:lnTo>
                    <a:pt x="4120" y="1933"/>
                  </a:lnTo>
                  <a:lnTo>
                    <a:pt x="4081" y="1984"/>
                  </a:lnTo>
                  <a:lnTo>
                    <a:pt x="4061" y="2009"/>
                  </a:lnTo>
                  <a:lnTo>
                    <a:pt x="4043" y="2033"/>
                  </a:lnTo>
                  <a:lnTo>
                    <a:pt x="4024" y="2055"/>
                  </a:lnTo>
                  <a:lnTo>
                    <a:pt x="4005" y="2076"/>
                  </a:lnTo>
                  <a:lnTo>
                    <a:pt x="3987" y="2096"/>
                  </a:lnTo>
                  <a:lnTo>
                    <a:pt x="3969" y="2114"/>
                  </a:lnTo>
                  <a:lnTo>
                    <a:pt x="3952" y="2129"/>
                  </a:lnTo>
                  <a:lnTo>
                    <a:pt x="3936" y="2143"/>
                  </a:lnTo>
                  <a:lnTo>
                    <a:pt x="3920" y="2154"/>
                  </a:lnTo>
                  <a:lnTo>
                    <a:pt x="3906" y="2162"/>
                  </a:lnTo>
                  <a:lnTo>
                    <a:pt x="3891" y="2168"/>
                  </a:lnTo>
                  <a:lnTo>
                    <a:pt x="3878" y="2170"/>
                  </a:lnTo>
                  <a:lnTo>
                    <a:pt x="3885" y="2182"/>
                  </a:lnTo>
                  <a:lnTo>
                    <a:pt x="3898" y="2216"/>
                  </a:lnTo>
                  <a:lnTo>
                    <a:pt x="3908" y="2241"/>
                  </a:lnTo>
                  <a:lnTo>
                    <a:pt x="3918" y="2272"/>
                  </a:lnTo>
                  <a:lnTo>
                    <a:pt x="3929" y="2306"/>
                  </a:lnTo>
                  <a:lnTo>
                    <a:pt x="3940" y="2346"/>
                  </a:lnTo>
                  <a:lnTo>
                    <a:pt x="3950" y="2391"/>
                  </a:lnTo>
                  <a:lnTo>
                    <a:pt x="3960" y="2439"/>
                  </a:lnTo>
                  <a:lnTo>
                    <a:pt x="3967" y="2491"/>
                  </a:lnTo>
                  <a:lnTo>
                    <a:pt x="3975" y="2548"/>
                  </a:lnTo>
                  <a:lnTo>
                    <a:pt x="3979" y="2607"/>
                  </a:lnTo>
                  <a:lnTo>
                    <a:pt x="3980" y="2671"/>
                  </a:lnTo>
                  <a:lnTo>
                    <a:pt x="3979" y="2738"/>
                  </a:lnTo>
                  <a:lnTo>
                    <a:pt x="3975" y="2808"/>
                  </a:lnTo>
                  <a:lnTo>
                    <a:pt x="3966" y="2880"/>
                  </a:lnTo>
                  <a:lnTo>
                    <a:pt x="3953" y="2955"/>
                  </a:lnTo>
                  <a:lnTo>
                    <a:pt x="3935" y="3034"/>
                  </a:lnTo>
                  <a:lnTo>
                    <a:pt x="3913" y="3113"/>
                  </a:lnTo>
                  <a:lnTo>
                    <a:pt x="3885" y="3196"/>
                  </a:lnTo>
                  <a:lnTo>
                    <a:pt x="3850" y="3281"/>
                  </a:lnTo>
                  <a:lnTo>
                    <a:pt x="3808" y="3366"/>
                  </a:lnTo>
                  <a:lnTo>
                    <a:pt x="3761" y="3453"/>
                  </a:lnTo>
                  <a:lnTo>
                    <a:pt x="3706" y="3542"/>
                  </a:lnTo>
                  <a:lnTo>
                    <a:pt x="3643" y="3632"/>
                  </a:lnTo>
                  <a:lnTo>
                    <a:pt x="3572" y="3723"/>
                  </a:lnTo>
                  <a:lnTo>
                    <a:pt x="3492" y="3814"/>
                  </a:lnTo>
                  <a:lnTo>
                    <a:pt x="3403" y="3906"/>
                  </a:lnTo>
                  <a:lnTo>
                    <a:pt x="3305" y="3998"/>
                  </a:lnTo>
                  <a:lnTo>
                    <a:pt x="3196" y="4090"/>
                  </a:lnTo>
                  <a:lnTo>
                    <a:pt x="3078" y="4183"/>
                  </a:lnTo>
                  <a:lnTo>
                    <a:pt x="2953" y="4268"/>
                  </a:lnTo>
                  <a:lnTo>
                    <a:pt x="2825" y="4347"/>
                  </a:lnTo>
                  <a:lnTo>
                    <a:pt x="2693" y="4416"/>
                  </a:lnTo>
                  <a:lnTo>
                    <a:pt x="2559" y="4478"/>
                  </a:lnTo>
                  <a:lnTo>
                    <a:pt x="2422" y="4531"/>
                  </a:lnTo>
                  <a:lnTo>
                    <a:pt x="2284" y="4576"/>
                  </a:lnTo>
                  <a:lnTo>
                    <a:pt x="2145" y="4612"/>
                  </a:lnTo>
                  <a:lnTo>
                    <a:pt x="2006" y="4642"/>
                  </a:lnTo>
                  <a:lnTo>
                    <a:pt x="1866" y="4664"/>
                  </a:lnTo>
                  <a:lnTo>
                    <a:pt x="1728" y="4676"/>
                  </a:lnTo>
                  <a:lnTo>
                    <a:pt x="1590" y="4682"/>
                  </a:lnTo>
                  <a:lnTo>
                    <a:pt x="1455" y="4680"/>
                  </a:lnTo>
                  <a:lnTo>
                    <a:pt x="1321" y="4671"/>
                  </a:lnTo>
                  <a:lnTo>
                    <a:pt x="1192" y="4654"/>
                  </a:lnTo>
                  <a:lnTo>
                    <a:pt x="1065" y="4629"/>
                  </a:lnTo>
                  <a:lnTo>
                    <a:pt x="943" y="4598"/>
                  </a:lnTo>
                  <a:lnTo>
                    <a:pt x="826" y="4559"/>
                  </a:lnTo>
                  <a:lnTo>
                    <a:pt x="713" y="4513"/>
                  </a:lnTo>
                  <a:lnTo>
                    <a:pt x="607" y="4460"/>
                  </a:lnTo>
                  <a:lnTo>
                    <a:pt x="508" y="4399"/>
                  </a:lnTo>
                  <a:lnTo>
                    <a:pt x="415" y="4332"/>
                  </a:lnTo>
                  <a:lnTo>
                    <a:pt x="330" y="4259"/>
                  </a:lnTo>
                  <a:lnTo>
                    <a:pt x="254" y="4178"/>
                  </a:lnTo>
                  <a:lnTo>
                    <a:pt x="187" y="4091"/>
                  </a:lnTo>
                  <a:lnTo>
                    <a:pt x="128" y="3997"/>
                  </a:lnTo>
                  <a:lnTo>
                    <a:pt x="80" y="3896"/>
                  </a:lnTo>
                  <a:lnTo>
                    <a:pt x="43" y="3790"/>
                  </a:lnTo>
                  <a:lnTo>
                    <a:pt x="16" y="3676"/>
                  </a:lnTo>
                  <a:lnTo>
                    <a:pt x="2" y="3557"/>
                  </a:lnTo>
                  <a:lnTo>
                    <a:pt x="0" y="3431"/>
                  </a:lnTo>
                  <a:lnTo>
                    <a:pt x="11" y="3298"/>
                  </a:lnTo>
                  <a:lnTo>
                    <a:pt x="35" y="3160"/>
                  </a:lnTo>
                  <a:lnTo>
                    <a:pt x="69" y="3036"/>
                  </a:lnTo>
                  <a:lnTo>
                    <a:pt x="112" y="2911"/>
                  </a:lnTo>
                  <a:lnTo>
                    <a:pt x="165" y="2787"/>
                  </a:lnTo>
                  <a:lnTo>
                    <a:pt x="228" y="2662"/>
                  </a:lnTo>
                  <a:lnTo>
                    <a:pt x="300" y="2538"/>
                  </a:lnTo>
                  <a:lnTo>
                    <a:pt x="381" y="2414"/>
                  </a:lnTo>
                  <a:lnTo>
                    <a:pt x="471" y="2292"/>
                  </a:lnTo>
                  <a:lnTo>
                    <a:pt x="568" y="2169"/>
                  </a:lnTo>
                  <a:lnTo>
                    <a:pt x="675" y="2048"/>
                  </a:lnTo>
                  <a:lnTo>
                    <a:pt x="789" y="1929"/>
                  </a:lnTo>
                  <a:lnTo>
                    <a:pt x="909" y="1811"/>
                  </a:lnTo>
                  <a:lnTo>
                    <a:pt x="1038" y="1694"/>
                  </a:lnTo>
                  <a:lnTo>
                    <a:pt x="1172" y="1580"/>
                  </a:lnTo>
                  <a:lnTo>
                    <a:pt x="1313" y="1467"/>
                  </a:lnTo>
                  <a:lnTo>
                    <a:pt x="1459" y="1356"/>
                  </a:lnTo>
                  <a:lnTo>
                    <a:pt x="1612" y="1248"/>
                  </a:lnTo>
                  <a:lnTo>
                    <a:pt x="1770" y="1143"/>
                  </a:lnTo>
                  <a:lnTo>
                    <a:pt x="1932" y="1040"/>
                  </a:lnTo>
                  <a:lnTo>
                    <a:pt x="2099" y="941"/>
                  </a:lnTo>
                  <a:lnTo>
                    <a:pt x="2271" y="844"/>
                  </a:lnTo>
                  <a:lnTo>
                    <a:pt x="2446" y="751"/>
                  </a:lnTo>
                  <a:lnTo>
                    <a:pt x="2625" y="662"/>
                  </a:lnTo>
                  <a:lnTo>
                    <a:pt x="2807" y="575"/>
                  </a:lnTo>
                  <a:lnTo>
                    <a:pt x="2992" y="493"/>
                  </a:lnTo>
                  <a:lnTo>
                    <a:pt x="3180" y="415"/>
                  </a:lnTo>
                  <a:lnTo>
                    <a:pt x="3370" y="342"/>
                  </a:lnTo>
                  <a:lnTo>
                    <a:pt x="3562" y="273"/>
                  </a:lnTo>
                  <a:lnTo>
                    <a:pt x="3755" y="208"/>
                  </a:lnTo>
                  <a:lnTo>
                    <a:pt x="3950" y="148"/>
                  </a:lnTo>
                  <a:lnTo>
                    <a:pt x="4145" y="93"/>
                  </a:lnTo>
                  <a:lnTo>
                    <a:pt x="4342" y="44"/>
                  </a:lnTo>
                  <a:lnTo>
                    <a:pt x="4537" y="0"/>
                  </a:lnTo>
                  <a:lnTo>
                    <a:pt x="3873" y="489"/>
                  </a:lnTo>
                  <a:close/>
                </a:path>
              </a:pathLst>
            </a:custGeom>
            <a:solidFill>
              <a:srgbClr val="315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Freeform 50">
              <a:extLst>
                <a:ext uri="{FF2B5EF4-FFF2-40B4-BE49-F238E27FC236}">
                  <a16:creationId xmlns:a16="http://schemas.microsoft.com/office/drawing/2014/main" id="{391B15E6-F93F-4710-9AEE-BFEE3BBCD6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5" y="1361"/>
              <a:ext cx="267" cy="276"/>
            </a:xfrm>
            <a:custGeom>
              <a:avLst/>
              <a:gdLst>
                <a:gd name="T0" fmla="*/ 3761 w 4537"/>
                <a:gd name="T1" fmla="*/ 547 h 4682"/>
                <a:gd name="T2" fmla="*/ 3119 w 4537"/>
                <a:gd name="T3" fmla="*/ 860 h 4682"/>
                <a:gd name="T4" fmla="*/ 2612 w 4537"/>
                <a:gd name="T5" fmla="*/ 1136 h 4682"/>
                <a:gd name="T6" fmla="*/ 2059 w 4537"/>
                <a:gd name="T7" fmla="*/ 1480 h 4682"/>
                <a:gd name="T8" fmla="*/ 1511 w 4537"/>
                <a:gd name="T9" fmla="*/ 1889 h 4682"/>
                <a:gd name="T10" fmla="*/ 1036 w 4537"/>
                <a:gd name="T11" fmla="*/ 2338 h 4682"/>
                <a:gd name="T12" fmla="*/ 733 w 4537"/>
                <a:gd name="T13" fmla="*/ 2742 h 4682"/>
                <a:gd name="T14" fmla="*/ 547 w 4537"/>
                <a:gd name="T15" fmla="*/ 3142 h 4682"/>
                <a:gd name="T16" fmla="*/ 492 w 4537"/>
                <a:gd name="T17" fmla="*/ 3511 h 4682"/>
                <a:gd name="T18" fmla="*/ 584 w 4537"/>
                <a:gd name="T19" fmla="*/ 3820 h 4682"/>
                <a:gd name="T20" fmla="*/ 836 w 4537"/>
                <a:gd name="T21" fmla="*/ 4040 h 4682"/>
                <a:gd name="T22" fmla="*/ 1265 w 4537"/>
                <a:gd name="T23" fmla="*/ 4144 h 4682"/>
                <a:gd name="T24" fmla="*/ 1855 w 4537"/>
                <a:gd name="T25" fmla="*/ 4113 h 4682"/>
                <a:gd name="T26" fmla="*/ 2373 w 4537"/>
                <a:gd name="T27" fmla="*/ 3966 h 4682"/>
                <a:gd name="T28" fmla="*/ 2791 w 4537"/>
                <a:gd name="T29" fmla="*/ 3725 h 4682"/>
                <a:gd name="T30" fmla="*/ 3108 w 4537"/>
                <a:gd name="T31" fmla="*/ 3412 h 4682"/>
                <a:gd name="T32" fmla="*/ 3316 w 4537"/>
                <a:gd name="T33" fmla="*/ 3052 h 4682"/>
                <a:gd name="T34" fmla="*/ 3414 w 4537"/>
                <a:gd name="T35" fmla="*/ 2668 h 4682"/>
                <a:gd name="T36" fmla="*/ 3192 w 4537"/>
                <a:gd name="T37" fmla="*/ 2316 h 4682"/>
                <a:gd name="T38" fmla="*/ 3390 w 4537"/>
                <a:gd name="T39" fmla="*/ 2151 h 4682"/>
                <a:gd name="T40" fmla="*/ 3700 w 4537"/>
                <a:gd name="T41" fmla="*/ 1866 h 4682"/>
                <a:gd name="T42" fmla="*/ 3886 w 4537"/>
                <a:gd name="T43" fmla="*/ 1669 h 4682"/>
                <a:gd name="T44" fmla="*/ 4021 w 4537"/>
                <a:gd name="T45" fmla="*/ 1488 h 4682"/>
                <a:gd name="T46" fmla="*/ 4077 w 4537"/>
                <a:gd name="T47" fmla="*/ 1372 h 4682"/>
                <a:gd name="T48" fmla="*/ 4204 w 4537"/>
                <a:gd name="T49" fmla="*/ 1407 h 4682"/>
                <a:gd name="T50" fmla="*/ 4267 w 4537"/>
                <a:gd name="T51" fmla="*/ 1443 h 4682"/>
                <a:gd name="T52" fmla="*/ 4316 w 4537"/>
                <a:gd name="T53" fmla="*/ 1499 h 4682"/>
                <a:gd name="T54" fmla="*/ 4339 w 4537"/>
                <a:gd name="T55" fmla="*/ 1577 h 4682"/>
                <a:gd name="T56" fmla="*/ 4227 w 4537"/>
                <a:gd name="T57" fmla="*/ 1775 h 4682"/>
                <a:gd name="T58" fmla="*/ 4062 w 4537"/>
                <a:gd name="T59" fmla="*/ 2009 h 4682"/>
                <a:gd name="T60" fmla="*/ 3969 w 4537"/>
                <a:gd name="T61" fmla="*/ 2113 h 4682"/>
                <a:gd name="T62" fmla="*/ 3891 w 4537"/>
                <a:gd name="T63" fmla="*/ 2168 h 4682"/>
                <a:gd name="T64" fmla="*/ 3919 w 4537"/>
                <a:gd name="T65" fmla="*/ 2271 h 4682"/>
                <a:gd name="T66" fmla="*/ 3968 w 4537"/>
                <a:gd name="T67" fmla="*/ 2491 h 4682"/>
                <a:gd name="T68" fmla="*/ 3975 w 4537"/>
                <a:gd name="T69" fmla="*/ 2808 h 4682"/>
                <a:gd name="T70" fmla="*/ 3884 w 4537"/>
                <a:gd name="T71" fmla="*/ 3196 h 4682"/>
                <a:gd name="T72" fmla="*/ 3643 w 4537"/>
                <a:gd name="T73" fmla="*/ 3631 h 4682"/>
                <a:gd name="T74" fmla="*/ 3196 w 4537"/>
                <a:gd name="T75" fmla="*/ 4089 h 4682"/>
                <a:gd name="T76" fmla="*/ 2559 w 4537"/>
                <a:gd name="T77" fmla="*/ 4477 h 4682"/>
                <a:gd name="T78" fmla="*/ 1866 w 4537"/>
                <a:gd name="T79" fmla="*/ 4663 h 4682"/>
                <a:gd name="T80" fmla="*/ 1191 w 4537"/>
                <a:gd name="T81" fmla="*/ 4654 h 4682"/>
                <a:gd name="T82" fmla="*/ 607 w 4537"/>
                <a:gd name="T83" fmla="*/ 4459 h 4682"/>
                <a:gd name="T84" fmla="*/ 186 w 4537"/>
                <a:gd name="T85" fmla="*/ 4090 h 4682"/>
                <a:gd name="T86" fmla="*/ 2 w 4537"/>
                <a:gd name="T87" fmla="*/ 3556 h 4682"/>
                <a:gd name="T88" fmla="*/ 112 w 4537"/>
                <a:gd name="T89" fmla="*/ 2911 h 4682"/>
                <a:gd name="T90" fmla="*/ 470 w 4537"/>
                <a:gd name="T91" fmla="*/ 2291 h 4682"/>
                <a:gd name="T92" fmla="*/ 1037 w 4537"/>
                <a:gd name="T93" fmla="*/ 1693 h 4682"/>
                <a:gd name="T94" fmla="*/ 1770 w 4537"/>
                <a:gd name="T95" fmla="*/ 1142 h 4682"/>
                <a:gd name="T96" fmla="*/ 2625 w 4537"/>
                <a:gd name="T97" fmla="*/ 661 h 4682"/>
                <a:gd name="T98" fmla="*/ 3562 w 4537"/>
                <a:gd name="T99" fmla="*/ 272 h 4682"/>
                <a:gd name="T100" fmla="*/ 4537 w 4537"/>
                <a:gd name="T101" fmla="*/ 0 h 4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537" h="4682">
                  <a:moveTo>
                    <a:pt x="3873" y="489"/>
                  </a:moveTo>
                  <a:lnTo>
                    <a:pt x="3857" y="499"/>
                  </a:lnTo>
                  <a:lnTo>
                    <a:pt x="3833" y="512"/>
                  </a:lnTo>
                  <a:lnTo>
                    <a:pt x="3800" y="529"/>
                  </a:lnTo>
                  <a:lnTo>
                    <a:pt x="3761" y="547"/>
                  </a:lnTo>
                  <a:lnTo>
                    <a:pt x="3659" y="597"/>
                  </a:lnTo>
                  <a:lnTo>
                    <a:pt x="3532" y="656"/>
                  </a:lnTo>
                  <a:lnTo>
                    <a:pt x="3381" y="729"/>
                  </a:lnTo>
                  <a:lnTo>
                    <a:pt x="3211" y="814"/>
                  </a:lnTo>
                  <a:lnTo>
                    <a:pt x="3119" y="860"/>
                  </a:lnTo>
                  <a:lnTo>
                    <a:pt x="3024" y="910"/>
                  </a:lnTo>
                  <a:lnTo>
                    <a:pt x="2924" y="962"/>
                  </a:lnTo>
                  <a:lnTo>
                    <a:pt x="2823" y="1018"/>
                  </a:lnTo>
                  <a:lnTo>
                    <a:pt x="2718" y="1075"/>
                  </a:lnTo>
                  <a:lnTo>
                    <a:pt x="2612" y="1136"/>
                  </a:lnTo>
                  <a:lnTo>
                    <a:pt x="2503" y="1200"/>
                  </a:lnTo>
                  <a:lnTo>
                    <a:pt x="2393" y="1266"/>
                  </a:lnTo>
                  <a:lnTo>
                    <a:pt x="2282" y="1335"/>
                  </a:lnTo>
                  <a:lnTo>
                    <a:pt x="2170" y="1406"/>
                  </a:lnTo>
                  <a:lnTo>
                    <a:pt x="2059" y="1480"/>
                  </a:lnTo>
                  <a:lnTo>
                    <a:pt x="1948" y="1556"/>
                  </a:lnTo>
                  <a:lnTo>
                    <a:pt x="1837" y="1636"/>
                  </a:lnTo>
                  <a:lnTo>
                    <a:pt x="1726" y="1717"/>
                  </a:lnTo>
                  <a:lnTo>
                    <a:pt x="1618" y="1802"/>
                  </a:lnTo>
                  <a:lnTo>
                    <a:pt x="1511" y="1889"/>
                  </a:lnTo>
                  <a:lnTo>
                    <a:pt x="1406" y="1978"/>
                  </a:lnTo>
                  <a:lnTo>
                    <a:pt x="1305" y="2070"/>
                  </a:lnTo>
                  <a:lnTo>
                    <a:pt x="1205" y="2163"/>
                  </a:lnTo>
                  <a:lnTo>
                    <a:pt x="1109" y="2259"/>
                  </a:lnTo>
                  <a:lnTo>
                    <a:pt x="1036" y="2338"/>
                  </a:lnTo>
                  <a:lnTo>
                    <a:pt x="966" y="2418"/>
                  </a:lnTo>
                  <a:lnTo>
                    <a:pt x="901" y="2498"/>
                  </a:lnTo>
                  <a:lnTo>
                    <a:pt x="841" y="2580"/>
                  </a:lnTo>
                  <a:lnTo>
                    <a:pt x="784" y="2661"/>
                  </a:lnTo>
                  <a:lnTo>
                    <a:pt x="733" y="2742"/>
                  </a:lnTo>
                  <a:lnTo>
                    <a:pt x="686" y="2823"/>
                  </a:lnTo>
                  <a:lnTo>
                    <a:pt x="643" y="2905"/>
                  </a:lnTo>
                  <a:lnTo>
                    <a:pt x="605" y="2984"/>
                  </a:lnTo>
                  <a:lnTo>
                    <a:pt x="574" y="3064"/>
                  </a:lnTo>
                  <a:lnTo>
                    <a:pt x="547" y="3142"/>
                  </a:lnTo>
                  <a:lnTo>
                    <a:pt x="525" y="3220"/>
                  </a:lnTo>
                  <a:lnTo>
                    <a:pt x="508" y="3296"/>
                  </a:lnTo>
                  <a:lnTo>
                    <a:pt x="497" y="3369"/>
                  </a:lnTo>
                  <a:lnTo>
                    <a:pt x="491" y="3441"/>
                  </a:lnTo>
                  <a:lnTo>
                    <a:pt x="492" y="3511"/>
                  </a:lnTo>
                  <a:lnTo>
                    <a:pt x="499" y="3578"/>
                  </a:lnTo>
                  <a:lnTo>
                    <a:pt x="510" y="3643"/>
                  </a:lnTo>
                  <a:lnTo>
                    <a:pt x="529" y="3706"/>
                  </a:lnTo>
                  <a:lnTo>
                    <a:pt x="553" y="3764"/>
                  </a:lnTo>
                  <a:lnTo>
                    <a:pt x="584" y="3820"/>
                  </a:lnTo>
                  <a:lnTo>
                    <a:pt x="621" y="3872"/>
                  </a:lnTo>
                  <a:lnTo>
                    <a:pt x="665" y="3920"/>
                  </a:lnTo>
                  <a:lnTo>
                    <a:pt x="715" y="3964"/>
                  </a:lnTo>
                  <a:lnTo>
                    <a:pt x="773" y="4005"/>
                  </a:lnTo>
                  <a:lnTo>
                    <a:pt x="836" y="4040"/>
                  </a:lnTo>
                  <a:lnTo>
                    <a:pt x="907" y="4072"/>
                  </a:lnTo>
                  <a:lnTo>
                    <a:pt x="986" y="4098"/>
                  </a:lnTo>
                  <a:lnTo>
                    <a:pt x="1072" y="4119"/>
                  </a:lnTo>
                  <a:lnTo>
                    <a:pt x="1165" y="4134"/>
                  </a:lnTo>
                  <a:lnTo>
                    <a:pt x="1265" y="4144"/>
                  </a:lnTo>
                  <a:lnTo>
                    <a:pt x="1373" y="4149"/>
                  </a:lnTo>
                  <a:lnTo>
                    <a:pt x="1499" y="4148"/>
                  </a:lnTo>
                  <a:lnTo>
                    <a:pt x="1622" y="4142"/>
                  </a:lnTo>
                  <a:lnTo>
                    <a:pt x="1740" y="4130"/>
                  </a:lnTo>
                  <a:lnTo>
                    <a:pt x="1855" y="4113"/>
                  </a:lnTo>
                  <a:lnTo>
                    <a:pt x="1967" y="4093"/>
                  </a:lnTo>
                  <a:lnTo>
                    <a:pt x="2074" y="4067"/>
                  </a:lnTo>
                  <a:lnTo>
                    <a:pt x="2178" y="4038"/>
                  </a:lnTo>
                  <a:lnTo>
                    <a:pt x="2277" y="4004"/>
                  </a:lnTo>
                  <a:lnTo>
                    <a:pt x="2373" y="3966"/>
                  </a:lnTo>
                  <a:lnTo>
                    <a:pt x="2464" y="3924"/>
                  </a:lnTo>
                  <a:lnTo>
                    <a:pt x="2552" y="3879"/>
                  </a:lnTo>
                  <a:lnTo>
                    <a:pt x="2637" y="3831"/>
                  </a:lnTo>
                  <a:lnTo>
                    <a:pt x="2716" y="3779"/>
                  </a:lnTo>
                  <a:lnTo>
                    <a:pt x="2791" y="3725"/>
                  </a:lnTo>
                  <a:lnTo>
                    <a:pt x="2864" y="3667"/>
                  </a:lnTo>
                  <a:lnTo>
                    <a:pt x="2931" y="3606"/>
                  </a:lnTo>
                  <a:lnTo>
                    <a:pt x="2994" y="3545"/>
                  </a:lnTo>
                  <a:lnTo>
                    <a:pt x="3053" y="3480"/>
                  </a:lnTo>
                  <a:lnTo>
                    <a:pt x="3108" y="3412"/>
                  </a:lnTo>
                  <a:lnTo>
                    <a:pt x="3158" y="3344"/>
                  </a:lnTo>
                  <a:lnTo>
                    <a:pt x="3204" y="3273"/>
                  </a:lnTo>
                  <a:lnTo>
                    <a:pt x="3246" y="3201"/>
                  </a:lnTo>
                  <a:lnTo>
                    <a:pt x="3284" y="3128"/>
                  </a:lnTo>
                  <a:lnTo>
                    <a:pt x="3316" y="3052"/>
                  </a:lnTo>
                  <a:lnTo>
                    <a:pt x="3346" y="2977"/>
                  </a:lnTo>
                  <a:lnTo>
                    <a:pt x="3370" y="2901"/>
                  </a:lnTo>
                  <a:lnTo>
                    <a:pt x="3388" y="2823"/>
                  </a:lnTo>
                  <a:lnTo>
                    <a:pt x="3403" y="2746"/>
                  </a:lnTo>
                  <a:lnTo>
                    <a:pt x="3414" y="2668"/>
                  </a:lnTo>
                  <a:lnTo>
                    <a:pt x="3420" y="2590"/>
                  </a:lnTo>
                  <a:lnTo>
                    <a:pt x="3421" y="2513"/>
                  </a:lnTo>
                  <a:lnTo>
                    <a:pt x="3417" y="2434"/>
                  </a:lnTo>
                  <a:lnTo>
                    <a:pt x="3215" y="2443"/>
                  </a:lnTo>
                  <a:lnTo>
                    <a:pt x="3192" y="2316"/>
                  </a:lnTo>
                  <a:lnTo>
                    <a:pt x="3201" y="2309"/>
                  </a:lnTo>
                  <a:lnTo>
                    <a:pt x="3229" y="2287"/>
                  </a:lnTo>
                  <a:lnTo>
                    <a:pt x="3270" y="2253"/>
                  </a:lnTo>
                  <a:lnTo>
                    <a:pt x="3325" y="2207"/>
                  </a:lnTo>
                  <a:lnTo>
                    <a:pt x="3390" y="2151"/>
                  </a:lnTo>
                  <a:lnTo>
                    <a:pt x="3462" y="2087"/>
                  </a:lnTo>
                  <a:lnTo>
                    <a:pt x="3539" y="2018"/>
                  </a:lnTo>
                  <a:lnTo>
                    <a:pt x="3620" y="1943"/>
                  </a:lnTo>
                  <a:lnTo>
                    <a:pt x="3659" y="1905"/>
                  </a:lnTo>
                  <a:lnTo>
                    <a:pt x="3700" y="1866"/>
                  </a:lnTo>
                  <a:lnTo>
                    <a:pt x="3740" y="1827"/>
                  </a:lnTo>
                  <a:lnTo>
                    <a:pt x="3778" y="1787"/>
                  </a:lnTo>
                  <a:lnTo>
                    <a:pt x="3816" y="1748"/>
                  </a:lnTo>
                  <a:lnTo>
                    <a:pt x="3852" y="1708"/>
                  </a:lnTo>
                  <a:lnTo>
                    <a:pt x="3886" y="1669"/>
                  </a:lnTo>
                  <a:lnTo>
                    <a:pt x="3919" y="1630"/>
                  </a:lnTo>
                  <a:lnTo>
                    <a:pt x="3949" y="1594"/>
                  </a:lnTo>
                  <a:lnTo>
                    <a:pt x="3976" y="1557"/>
                  </a:lnTo>
                  <a:lnTo>
                    <a:pt x="4000" y="1522"/>
                  </a:lnTo>
                  <a:lnTo>
                    <a:pt x="4021" y="1488"/>
                  </a:lnTo>
                  <a:lnTo>
                    <a:pt x="4038" y="1456"/>
                  </a:lnTo>
                  <a:lnTo>
                    <a:pt x="4051" y="1426"/>
                  </a:lnTo>
                  <a:lnTo>
                    <a:pt x="4061" y="1397"/>
                  </a:lnTo>
                  <a:lnTo>
                    <a:pt x="4065" y="1371"/>
                  </a:lnTo>
                  <a:lnTo>
                    <a:pt x="4077" y="1372"/>
                  </a:lnTo>
                  <a:lnTo>
                    <a:pt x="4109" y="1377"/>
                  </a:lnTo>
                  <a:lnTo>
                    <a:pt x="4130" y="1382"/>
                  </a:lnTo>
                  <a:lnTo>
                    <a:pt x="4153" y="1388"/>
                  </a:lnTo>
                  <a:lnTo>
                    <a:pt x="4178" y="1396"/>
                  </a:lnTo>
                  <a:lnTo>
                    <a:pt x="4204" y="1407"/>
                  </a:lnTo>
                  <a:lnTo>
                    <a:pt x="4217" y="1413"/>
                  </a:lnTo>
                  <a:lnTo>
                    <a:pt x="4230" y="1419"/>
                  </a:lnTo>
                  <a:lnTo>
                    <a:pt x="4243" y="1427"/>
                  </a:lnTo>
                  <a:lnTo>
                    <a:pt x="4254" y="1435"/>
                  </a:lnTo>
                  <a:lnTo>
                    <a:pt x="4267" y="1443"/>
                  </a:lnTo>
                  <a:lnTo>
                    <a:pt x="4278" y="1453"/>
                  </a:lnTo>
                  <a:lnTo>
                    <a:pt x="4289" y="1463"/>
                  </a:lnTo>
                  <a:lnTo>
                    <a:pt x="4298" y="1475"/>
                  </a:lnTo>
                  <a:lnTo>
                    <a:pt x="4307" y="1486"/>
                  </a:lnTo>
                  <a:lnTo>
                    <a:pt x="4316" y="1499"/>
                  </a:lnTo>
                  <a:lnTo>
                    <a:pt x="4322" y="1512"/>
                  </a:lnTo>
                  <a:lnTo>
                    <a:pt x="4328" y="1527"/>
                  </a:lnTo>
                  <a:lnTo>
                    <a:pt x="4334" y="1543"/>
                  </a:lnTo>
                  <a:lnTo>
                    <a:pt x="4337" y="1559"/>
                  </a:lnTo>
                  <a:lnTo>
                    <a:pt x="4339" y="1577"/>
                  </a:lnTo>
                  <a:lnTo>
                    <a:pt x="4339" y="1596"/>
                  </a:lnTo>
                  <a:lnTo>
                    <a:pt x="4324" y="1620"/>
                  </a:lnTo>
                  <a:lnTo>
                    <a:pt x="4284" y="1684"/>
                  </a:lnTo>
                  <a:lnTo>
                    <a:pt x="4258" y="1727"/>
                  </a:lnTo>
                  <a:lnTo>
                    <a:pt x="4227" y="1775"/>
                  </a:lnTo>
                  <a:lnTo>
                    <a:pt x="4194" y="1826"/>
                  </a:lnTo>
                  <a:lnTo>
                    <a:pt x="4157" y="1879"/>
                  </a:lnTo>
                  <a:lnTo>
                    <a:pt x="4119" y="1933"/>
                  </a:lnTo>
                  <a:lnTo>
                    <a:pt x="4081" y="1984"/>
                  </a:lnTo>
                  <a:lnTo>
                    <a:pt x="4062" y="2009"/>
                  </a:lnTo>
                  <a:lnTo>
                    <a:pt x="4043" y="2033"/>
                  </a:lnTo>
                  <a:lnTo>
                    <a:pt x="4023" y="2055"/>
                  </a:lnTo>
                  <a:lnTo>
                    <a:pt x="4005" y="2076"/>
                  </a:lnTo>
                  <a:lnTo>
                    <a:pt x="3986" y="2096"/>
                  </a:lnTo>
                  <a:lnTo>
                    <a:pt x="3969" y="2113"/>
                  </a:lnTo>
                  <a:lnTo>
                    <a:pt x="3952" y="2129"/>
                  </a:lnTo>
                  <a:lnTo>
                    <a:pt x="3935" y="2143"/>
                  </a:lnTo>
                  <a:lnTo>
                    <a:pt x="3920" y="2153"/>
                  </a:lnTo>
                  <a:lnTo>
                    <a:pt x="3905" y="2162"/>
                  </a:lnTo>
                  <a:lnTo>
                    <a:pt x="3891" y="2168"/>
                  </a:lnTo>
                  <a:lnTo>
                    <a:pt x="3879" y="2170"/>
                  </a:lnTo>
                  <a:lnTo>
                    <a:pt x="3884" y="2181"/>
                  </a:lnTo>
                  <a:lnTo>
                    <a:pt x="3899" y="2216"/>
                  </a:lnTo>
                  <a:lnTo>
                    <a:pt x="3908" y="2241"/>
                  </a:lnTo>
                  <a:lnTo>
                    <a:pt x="3919" y="2271"/>
                  </a:lnTo>
                  <a:lnTo>
                    <a:pt x="3929" y="2306"/>
                  </a:lnTo>
                  <a:lnTo>
                    <a:pt x="3939" y="2346"/>
                  </a:lnTo>
                  <a:lnTo>
                    <a:pt x="3950" y="2391"/>
                  </a:lnTo>
                  <a:lnTo>
                    <a:pt x="3959" y="2439"/>
                  </a:lnTo>
                  <a:lnTo>
                    <a:pt x="3968" y="2491"/>
                  </a:lnTo>
                  <a:lnTo>
                    <a:pt x="3974" y="2547"/>
                  </a:lnTo>
                  <a:lnTo>
                    <a:pt x="3978" y="2607"/>
                  </a:lnTo>
                  <a:lnTo>
                    <a:pt x="3980" y="2671"/>
                  </a:lnTo>
                  <a:lnTo>
                    <a:pt x="3979" y="2738"/>
                  </a:lnTo>
                  <a:lnTo>
                    <a:pt x="3975" y="2808"/>
                  </a:lnTo>
                  <a:lnTo>
                    <a:pt x="3966" y="2880"/>
                  </a:lnTo>
                  <a:lnTo>
                    <a:pt x="3953" y="2955"/>
                  </a:lnTo>
                  <a:lnTo>
                    <a:pt x="3935" y="3033"/>
                  </a:lnTo>
                  <a:lnTo>
                    <a:pt x="3912" y="3113"/>
                  </a:lnTo>
                  <a:lnTo>
                    <a:pt x="3884" y="3196"/>
                  </a:lnTo>
                  <a:lnTo>
                    <a:pt x="3850" y="3280"/>
                  </a:lnTo>
                  <a:lnTo>
                    <a:pt x="3809" y="3366"/>
                  </a:lnTo>
                  <a:lnTo>
                    <a:pt x="3761" y="3453"/>
                  </a:lnTo>
                  <a:lnTo>
                    <a:pt x="3705" y="3542"/>
                  </a:lnTo>
                  <a:lnTo>
                    <a:pt x="3643" y="3631"/>
                  </a:lnTo>
                  <a:lnTo>
                    <a:pt x="3571" y="3722"/>
                  </a:lnTo>
                  <a:lnTo>
                    <a:pt x="3492" y="3813"/>
                  </a:lnTo>
                  <a:lnTo>
                    <a:pt x="3403" y="3905"/>
                  </a:lnTo>
                  <a:lnTo>
                    <a:pt x="3305" y="3997"/>
                  </a:lnTo>
                  <a:lnTo>
                    <a:pt x="3196" y="4089"/>
                  </a:lnTo>
                  <a:lnTo>
                    <a:pt x="3077" y="4182"/>
                  </a:lnTo>
                  <a:lnTo>
                    <a:pt x="2952" y="4268"/>
                  </a:lnTo>
                  <a:lnTo>
                    <a:pt x="2825" y="4347"/>
                  </a:lnTo>
                  <a:lnTo>
                    <a:pt x="2693" y="4416"/>
                  </a:lnTo>
                  <a:lnTo>
                    <a:pt x="2559" y="4477"/>
                  </a:lnTo>
                  <a:lnTo>
                    <a:pt x="2422" y="4531"/>
                  </a:lnTo>
                  <a:lnTo>
                    <a:pt x="2284" y="4576"/>
                  </a:lnTo>
                  <a:lnTo>
                    <a:pt x="2145" y="4612"/>
                  </a:lnTo>
                  <a:lnTo>
                    <a:pt x="2005" y="4641"/>
                  </a:lnTo>
                  <a:lnTo>
                    <a:pt x="1866" y="4663"/>
                  </a:lnTo>
                  <a:lnTo>
                    <a:pt x="1727" y="4676"/>
                  </a:lnTo>
                  <a:lnTo>
                    <a:pt x="1590" y="4682"/>
                  </a:lnTo>
                  <a:lnTo>
                    <a:pt x="1454" y="4680"/>
                  </a:lnTo>
                  <a:lnTo>
                    <a:pt x="1322" y="4671"/>
                  </a:lnTo>
                  <a:lnTo>
                    <a:pt x="1191" y="4654"/>
                  </a:lnTo>
                  <a:lnTo>
                    <a:pt x="1065" y="4629"/>
                  </a:lnTo>
                  <a:lnTo>
                    <a:pt x="943" y="4597"/>
                  </a:lnTo>
                  <a:lnTo>
                    <a:pt x="825" y="4559"/>
                  </a:lnTo>
                  <a:lnTo>
                    <a:pt x="713" y="4513"/>
                  </a:lnTo>
                  <a:lnTo>
                    <a:pt x="607" y="4459"/>
                  </a:lnTo>
                  <a:lnTo>
                    <a:pt x="507" y="4399"/>
                  </a:lnTo>
                  <a:lnTo>
                    <a:pt x="415" y="4332"/>
                  </a:lnTo>
                  <a:lnTo>
                    <a:pt x="330" y="4259"/>
                  </a:lnTo>
                  <a:lnTo>
                    <a:pt x="254" y="4177"/>
                  </a:lnTo>
                  <a:lnTo>
                    <a:pt x="186" y="4090"/>
                  </a:lnTo>
                  <a:lnTo>
                    <a:pt x="129" y="3996"/>
                  </a:lnTo>
                  <a:lnTo>
                    <a:pt x="81" y="3896"/>
                  </a:lnTo>
                  <a:lnTo>
                    <a:pt x="43" y="3789"/>
                  </a:lnTo>
                  <a:lnTo>
                    <a:pt x="17" y="3675"/>
                  </a:lnTo>
                  <a:lnTo>
                    <a:pt x="2" y="3556"/>
                  </a:lnTo>
                  <a:lnTo>
                    <a:pt x="0" y="3431"/>
                  </a:lnTo>
                  <a:lnTo>
                    <a:pt x="10" y="3298"/>
                  </a:lnTo>
                  <a:lnTo>
                    <a:pt x="36" y="3160"/>
                  </a:lnTo>
                  <a:lnTo>
                    <a:pt x="68" y="3036"/>
                  </a:lnTo>
                  <a:lnTo>
                    <a:pt x="112" y="2911"/>
                  </a:lnTo>
                  <a:lnTo>
                    <a:pt x="165" y="2787"/>
                  </a:lnTo>
                  <a:lnTo>
                    <a:pt x="228" y="2661"/>
                  </a:lnTo>
                  <a:lnTo>
                    <a:pt x="300" y="2538"/>
                  </a:lnTo>
                  <a:lnTo>
                    <a:pt x="381" y="2414"/>
                  </a:lnTo>
                  <a:lnTo>
                    <a:pt x="470" y="2291"/>
                  </a:lnTo>
                  <a:lnTo>
                    <a:pt x="569" y="2169"/>
                  </a:lnTo>
                  <a:lnTo>
                    <a:pt x="675" y="2048"/>
                  </a:lnTo>
                  <a:lnTo>
                    <a:pt x="788" y="1928"/>
                  </a:lnTo>
                  <a:lnTo>
                    <a:pt x="910" y="1810"/>
                  </a:lnTo>
                  <a:lnTo>
                    <a:pt x="1037" y="1693"/>
                  </a:lnTo>
                  <a:lnTo>
                    <a:pt x="1172" y="1579"/>
                  </a:lnTo>
                  <a:lnTo>
                    <a:pt x="1313" y="1466"/>
                  </a:lnTo>
                  <a:lnTo>
                    <a:pt x="1460" y="1356"/>
                  </a:lnTo>
                  <a:lnTo>
                    <a:pt x="1612" y="1248"/>
                  </a:lnTo>
                  <a:lnTo>
                    <a:pt x="1770" y="1142"/>
                  </a:lnTo>
                  <a:lnTo>
                    <a:pt x="1932" y="1040"/>
                  </a:lnTo>
                  <a:lnTo>
                    <a:pt x="2099" y="940"/>
                  </a:lnTo>
                  <a:lnTo>
                    <a:pt x="2271" y="843"/>
                  </a:lnTo>
                  <a:lnTo>
                    <a:pt x="2446" y="750"/>
                  </a:lnTo>
                  <a:lnTo>
                    <a:pt x="2625" y="661"/>
                  </a:lnTo>
                  <a:lnTo>
                    <a:pt x="2807" y="575"/>
                  </a:lnTo>
                  <a:lnTo>
                    <a:pt x="2992" y="493"/>
                  </a:lnTo>
                  <a:lnTo>
                    <a:pt x="3180" y="415"/>
                  </a:lnTo>
                  <a:lnTo>
                    <a:pt x="3370" y="341"/>
                  </a:lnTo>
                  <a:lnTo>
                    <a:pt x="3562" y="272"/>
                  </a:lnTo>
                  <a:lnTo>
                    <a:pt x="3755" y="208"/>
                  </a:lnTo>
                  <a:lnTo>
                    <a:pt x="3950" y="148"/>
                  </a:lnTo>
                  <a:lnTo>
                    <a:pt x="4145" y="93"/>
                  </a:lnTo>
                  <a:lnTo>
                    <a:pt x="4341" y="43"/>
                  </a:lnTo>
                  <a:lnTo>
                    <a:pt x="4537" y="0"/>
                  </a:lnTo>
                  <a:lnTo>
                    <a:pt x="3873" y="489"/>
                  </a:lnTo>
                  <a:close/>
                </a:path>
              </a:pathLst>
            </a:custGeom>
            <a:solidFill>
              <a:srgbClr val="709C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Freeform 51">
              <a:extLst>
                <a:ext uri="{FF2B5EF4-FFF2-40B4-BE49-F238E27FC236}">
                  <a16:creationId xmlns:a16="http://schemas.microsoft.com/office/drawing/2014/main" id="{E4812871-65D8-4674-A964-745D047A0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1072"/>
              <a:ext cx="470" cy="386"/>
            </a:xfrm>
            <a:custGeom>
              <a:avLst/>
              <a:gdLst>
                <a:gd name="T0" fmla="*/ 7877 w 7987"/>
                <a:gd name="T1" fmla="*/ 782 h 6568"/>
                <a:gd name="T2" fmla="*/ 7735 w 7987"/>
                <a:gd name="T3" fmla="*/ 997 h 6568"/>
                <a:gd name="T4" fmla="*/ 7642 w 7987"/>
                <a:gd name="T5" fmla="*/ 1122 h 6568"/>
                <a:gd name="T6" fmla="*/ 7537 w 7987"/>
                <a:gd name="T7" fmla="*/ 1239 h 6568"/>
                <a:gd name="T8" fmla="*/ 7264 w 7987"/>
                <a:gd name="T9" fmla="*/ 1502 h 6568"/>
                <a:gd name="T10" fmla="*/ 6909 w 7987"/>
                <a:gd name="T11" fmla="*/ 1863 h 6568"/>
                <a:gd name="T12" fmla="*/ 6552 w 7987"/>
                <a:gd name="T13" fmla="*/ 2237 h 6568"/>
                <a:gd name="T14" fmla="*/ 6200 w 7987"/>
                <a:gd name="T15" fmla="*/ 2612 h 6568"/>
                <a:gd name="T16" fmla="*/ 5856 w 7987"/>
                <a:gd name="T17" fmla="*/ 2973 h 6568"/>
                <a:gd name="T18" fmla="*/ 5536 w 7987"/>
                <a:gd name="T19" fmla="*/ 3298 h 6568"/>
                <a:gd name="T20" fmla="*/ 5258 w 7987"/>
                <a:gd name="T21" fmla="*/ 3590 h 6568"/>
                <a:gd name="T22" fmla="*/ 4992 w 7987"/>
                <a:gd name="T23" fmla="*/ 3871 h 6568"/>
                <a:gd name="T24" fmla="*/ 4728 w 7987"/>
                <a:gd name="T25" fmla="*/ 4136 h 6568"/>
                <a:gd name="T26" fmla="*/ 4592 w 7987"/>
                <a:gd name="T27" fmla="*/ 4263 h 6568"/>
                <a:gd name="T28" fmla="*/ 4451 w 7987"/>
                <a:gd name="T29" fmla="*/ 4384 h 6568"/>
                <a:gd name="T30" fmla="*/ 4303 w 7987"/>
                <a:gd name="T31" fmla="*/ 4499 h 6568"/>
                <a:gd name="T32" fmla="*/ 4148 w 7987"/>
                <a:gd name="T33" fmla="*/ 4609 h 6568"/>
                <a:gd name="T34" fmla="*/ 4076 w 7987"/>
                <a:gd name="T35" fmla="*/ 4651 h 6568"/>
                <a:gd name="T36" fmla="*/ 3995 w 7987"/>
                <a:gd name="T37" fmla="*/ 4686 h 6568"/>
                <a:gd name="T38" fmla="*/ 3879 w 7987"/>
                <a:gd name="T39" fmla="*/ 4727 h 6568"/>
                <a:gd name="T40" fmla="*/ 3694 w 7987"/>
                <a:gd name="T41" fmla="*/ 4783 h 6568"/>
                <a:gd name="T42" fmla="*/ 3510 w 7987"/>
                <a:gd name="T43" fmla="*/ 4840 h 6568"/>
                <a:gd name="T44" fmla="*/ 3394 w 7987"/>
                <a:gd name="T45" fmla="*/ 4885 h 6568"/>
                <a:gd name="T46" fmla="*/ 3314 w 7987"/>
                <a:gd name="T47" fmla="*/ 4926 h 6568"/>
                <a:gd name="T48" fmla="*/ 3243 w 7987"/>
                <a:gd name="T49" fmla="*/ 4973 h 6568"/>
                <a:gd name="T50" fmla="*/ 3084 w 7987"/>
                <a:gd name="T51" fmla="*/ 5100 h 6568"/>
                <a:gd name="T52" fmla="*/ 2927 w 7987"/>
                <a:gd name="T53" fmla="*/ 5236 h 6568"/>
                <a:gd name="T54" fmla="*/ 2718 w 7987"/>
                <a:gd name="T55" fmla="*/ 5430 h 6568"/>
                <a:gd name="T56" fmla="*/ 2409 w 7987"/>
                <a:gd name="T57" fmla="*/ 5736 h 6568"/>
                <a:gd name="T58" fmla="*/ 2100 w 7987"/>
                <a:gd name="T59" fmla="*/ 6053 h 6568"/>
                <a:gd name="T60" fmla="*/ 1788 w 7987"/>
                <a:gd name="T61" fmla="*/ 6366 h 6568"/>
                <a:gd name="T62" fmla="*/ 0 w 7987"/>
                <a:gd name="T63" fmla="*/ 5750 h 6568"/>
                <a:gd name="T64" fmla="*/ 2360 w 7987"/>
                <a:gd name="T65" fmla="*/ 3406 h 6568"/>
                <a:gd name="T66" fmla="*/ 2750 w 7987"/>
                <a:gd name="T67" fmla="*/ 2963 h 6568"/>
                <a:gd name="T68" fmla="*/ 3151 w 7987"/>
                <a:gd name="T69" fmla="*/ 2527 h 6568"/>
                <a:gd name="T70" fmla="*/ 3559 w 7987"/>
                <a:gd name="T71" fmla="*/ 2099 h 6568"/>
                <a:gd name="T72" fmla="*/ 3967 w 7987"/>
                <a:gd name="T73" fmla="*/ 1675 h 6568"/>
                <a:gd name="T74" fmla="*/ 4274 w 7987"/>
                <a:gd name="T75" fmla="*/ 1359 h 6568"/>
                <a:gd name="T76" fmla="*/ 4391 w 7987"/>
                <a:gd name="T77" fmla="*/ 1247 h 6568"/>
                <a:gd name="T78" fmla="*/ 4514 w 7987"/>
                <a:gd name="T79" fmla="*/ 1139 h 6568"/>
                <a:gd name="T80" fmla="*/ 4726 w 7987"/>
                <a:gd name="T81" fmla="*/ 966 h 6568"/>
                <a:gd name="T82" fmla="*/ 4988 w 7987"/>
                <a:gd name="T83" fmla="*/ 769 h 6568"/>
                <a:gd name="T84" fmla="*/ 5248 w 7987"/>
                <a:gd name="T85" fmla="*/ 587 h 6568"/>
                <a:gd name="T86" fmla="*/ 5494 w 7987"/>
                <a:gd name="T87" fmla="*/ 419 h 6568"/>
                <a:gd name="T88" fmla="*/ 5672 w 7987"/>
                <a:gd name="T89" fmla="*/ 296 h 6568"/>
                <a:gd name="T90" fmla="*/ 5807 w 7987"/>
                <a:gd name="T91" fmla="*/ 198 h 6568"/>
                <a:gd name="T92" fmla="*/ 5934 w 7987"/>
                <a:gd name="T93" fmla="*/ 114 h 6568"/>
                <a:gd name="T94" fmla="*/ 5998 w 7987"/>
                <a:gd name="T95" fmla="*/ 78 h 6568"/>
                <a:gd name="T96" fmla="*/ 6063 w 7987"/>
                <a:gd name="T97" fmla="*/ 49 h 6568"/>
                <a:gd name="T98" fmla="*/ 6131 w 7987"/>
                <a:gd name="T99" fmla="*/ 26 h 6568"/>
                <a:gd name="T100" fmla="*/ 6203 w 7987"/>
                <a:gd name="T101" fmla="*/ 9 h 6568"/>
                <a:gd name="T102" fmla="*/ 6280 w 7987"/>
                <a:gd name="T103" fmla="*/ 1 h 6568"/>
                <a:gd name="T104" fmla="*/ 6379 w 7987"/>
                <a:gd name="T105" fmla="*/ 2 h 6568"/>
                <a:gd name="T106" fmla="*/ 6489 w 7987"/>
                <a:gd name="T107" fmla="*/ 16 h 6568"/>
                <a:gd name="T108" fmla="*/ 6604 w 7987"/>
                <a:gd name="T109" fmla="*/ 42 h 6568"/>
                <a:gd name="T110" fmla="*/ 6726 w 7987"/>
                <a:gd name="T111" fmla="*/ 80 h 6568"/>
                <a:gd name="T112" fmla="*/ 6857 w 7987"/>
                <a:gd name="T113" fmla="*/ 128 h 6568"/>
                <a:gd name="T114" fmla="*/ 7052 w 7987"/>
                <a:gd name="T115" fmla="*/ 209 h 6568"/>
                <a:gd name="T116" fmla="*/ 7397 w 7987"/>
                <a:gd name="T117" fmla="*/ 360 h 6568"/>
                <a:gd name="T118" fmla="*/ 7824 w 7987"/>
                <a:gd name="T119" fmla="*/ 544 h 6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987" h="6568">
                  <a:moveTo>
                    <a:pt x="7987" y="611"/>
                  </a:moveTo>
                  <a:lnTo>
                    <a:pt x="7931" y="695"/>
                  </a:lnTo>
                  <a:lnTo>
                    <a:pt x="7877" y="782"/>
                  </a:lnTo>
                  <a:lnTo>
                    <a:pt x="7822" y="867"/>
                  </a:lnTo>
                  <a:lnTo>
                    <a:pt x="7764" y="954"/>
                  </a:lnTo>
                  <a:lnTo>
                    <a:pt x="7735" y="997"/>
                  </a:lnTo>
                  <a:lnTo>
                    <a:pt x="7704" y="1039"/>
                  </a:lnTo>
                  <a:lnTo>
                    <a:pt x="7673" y="1081"/>
                  </a:lnTo>
                  <a:lnTo>
                    <a:pt x="7642" y="1122"/>
                  </a:lnTo>
                  <a:lnTo>
                    <a:pt x="7608" y="1162"/>
                  </a:lnTo>
                  <a:lnTo>
                    <a:pt x="7573" y="1202"/>
                  </a:lnTo>
                  <a:lnTo>
                    <a:pt x="7537" y="1239"/>
                  </a:lnTo>
                  <a:lnTo>
                    <a:pt x="7498" y="1277"/>
                  </a:lnTo>
                  <a:lnTo>
                    <a:pt x="7382" y="1388"/>
                  </a:lnTo>
                  <a:lnTo>
                    <a:pt x="7264" y="1502"/>
                  </a:lnTo>
                  <a:lnTo>
                    <a:pt x="7147" y="1620"/>
                  </a:lnTo>
                  <a:lnTo>
                    <a:pt x="7028" y="1740"/>
                  </a:lnTo>
                  <a:lnTo>
                    <a:pt x="6909" y="1863"/>
                  </a:lnTo>
                  <a:lnTo>
                    <a:pt x="6791" y="1987"/>
                  </a:lnTo>
                  <a:lnTo>
                    <a:pt x="6671" y="2111"/>
                  </a:lnTo>
                  <a:lnTo>
                    <a:pt x="6552" y="2237"/>
                  </a:lnTo>
                  <a:lnTo>
                    <a:pt x="6434" y="2362"/>
                  </a:lnTo>
                  <a:lnTo>
                    <a:pt x="6317" y="2488"/>
                  </a:lnTo>
                  <a:lnTo>
                    <a:pt x="6200" y="2612"/>
                  </a:lnTo>
                  <a:lnTo>
                    <a:pt x="6084" y="2734"/>
                  </a:lnTo>
                  <a:lnTo>
                    <a:pt x="5970" y="2855"/>
                  </a:lnTo>
                  <a:lnTo>
                    <a:pt x="5856" y="2973"/>
                  </a:lnTo>
                  <a:lnTo>
                    <a:pt x="5744" y="3087"/>
                  </a:lnTo>
                  <a:lnTo>
                    <a:pt x="5634" y="3199"/>
                  </a:lnTo>
                  <a:lnTo>
                    <a:pt x="5536" y="3298"/>
                  </a:lnTo>
                  <a:lnTo>
                    <a:pt x="5441" y="3396"/>
                  </a:lnTo>
                  <a:lnTo>
                    <a:pt x="5348" y="3493"/>
                  </a:lnTo>
                  <a:lnTo>
                    <a:pt x="5258" y="3590"/>
                  </a:lnTo>
                  <a:lnTo>
                    <a:pt x="5168" y="3685"/>
                  </a:lnTo>
                  <a:lnTo>
                    <a:pt x="5080" y="3779"/>
                  </a:lnTo>
                  <a:lnTo>
                    <a:pt x="4992" y="3871"/>
                  </a:lnTo>
                  <a:lnTo>
                    <a:pt x="4905" y="3961"/>
                  </a:lnTo>
                  <a:lnTo>
                    <a:pt x="4817" y="4050"/>
                  </a:lnTo>
                  <a:lnTo>
                    <a:pt x="4728" y="4136"/>
                  </a:lnTo>
                  <a:lnTo>
                    <a:pt x="4683" y="4179"/>
                  </a:lnTo>
                  <a:lnTo>
                    <a:pt x="4638" y="4221"/>
                  </a:lnTo>
                  <a:lnTo>
                    <a:pt x="4592" y="4263"/>
                  </a:lnTo>
                  <a:lnTo>
                    <a:pt x="4545" y="4304"/>
                  </a:lnTo>
                  <a:lnTo>
                    <a:pt x="4498" y="4344"/>
                  </a:lnTo>
                  <a:lnTo>
                    <a:pt x="4451" y="4384"/>
                  </a:lnTo>
                  <a:lnTo>
                    <a:pt x="4403" y="4423"/>
                  </a:lnTo>
                  <a:lnTo>
                    <a:pt x="4354" y="4462"/>
                  </a:lnTo>
                  <a:lnTo>
                    <a:pt x="4303" y="4499"/>
                  </a:lnTo>
                  <a:lnTo>
                    <a:pt x="4252" y="4537"/>
                  </a:lnTo>
                  <a:lnTo>
                    <a:pt x="4200" y="4573"/>
                  </a:lnTo>
                  <a:lnTo>
                    <a:pt x="4148" y="4609"/>
                  </a:lnTo>
                  <a:lnTo>
                    <a:pt x="4125" y="4624"/>
                  </a:lnTo>
                  <a:lnTo>
                    <a:pt x="4101" y="4637"/>
                  </a:lnTo>
                  <a:lnTo>
                    <a:pt x="4076" y="4651"/>
                  </a:lnTo>
                  <a:lnTo>
                    <a:pt x="4049" y="4663"/>
                  </a:lnTo>
                  <a:lnTo>
                    <a:pt x="4022" y="4675"/>
                  </a:lnTo>
                  <a:lnTo>
                    <a:pt x="3995" y="4686"/>
                  </a:lnTo>
                  <a:lnTo>
                    <a:pt x="3967" y="4697"/>
                  </a:lnTo>
                  <a:lnTo>
                    <a:pt x="3939" y="4707"/>
                  </a:lnTo>
                  <a:lnTo>
                    <a:pt x="3879" y="4727"/>
                  </a:lnTo>
                  <a:lnTo>
                    <a:pt x="3818" y="4746"/>
                  </a:lnTo>
                  <a:lnTo>
                    <a:pt x="3757" y="4765"/>
                  </a:lnTo>
                  <a:lnTo>
                    <a:pt x="3694" y="4783"/>
                  </a:lnTo>
                  <a:lnTo>
                    <a:pt x="3632" y="4801"/>
                  </a:lnTo>
                  <a:lnTo>
                    <a:pt x="3571" y="4820"/>
                  </a:lnTo>
                  <a:lnTo>
                    <a:pt x="3510" y="4840"/>
                  </a:lnTo>
                  <a:lnTo>
                    <a:pt x="3450" y="4862"/>
                  </a:lnTo>
                  <a:lnTo>
                    <a:pt x="3422" y="4873"/>
                  </a:lnTo>
                  <a:lnTo>
                    <a:pt x="3394" y="4885"/>
                  </a:lnTo>
                  <a:lnTo>
                    <a:pt x="3367" y="4899"/>
                  </a:lnTo>
                  <a:lnTo>
                    <a:pt x="3341" y="4912"/>
                  </a:lnTo>
                  <a:lnTo>
                    <a:pt x="3314" y="4926"/>
                  </a:lnTo>
                  <a:lnTo>
                    <a:pt x="3289" y="4940"/>
                  </a:lnTo>
                  <a:lnTo>
                    <a:pt x="3265" y="4956"/>
                  </a:lnTo>
                  <a:lnTo>
                    <a:pt x="3243" y="4973"/>
                  </a:lnTo>
                  <a:lnTo>
                    <a:pt x="3190" y="5015"/>
                  </a:lnTo>
                  <a:lnTo>
                    <a:pt x="3137" y="5056"/>
                  </a:lnTo>
                  <a:lnTo>
                    <a:pt x="3084" y="5100"/>
                  </a:lnTo>
                  <a:lnTo>
                    <a:pt x="3031" y="5145"/>
                  </a:lnTo>
                  <a:lnTo>
                    <a:pt x="2979" y="5190"/>
                  </a:lnTo>
                  <a:lnTo>
                    <a:pt x="2927" y="5236"/>
                  </a:lnTo>
                  <a:lnTo>
                    <a:pt x="2874" y="5283"/>
                  </a:lnTo>
                  <a:lnTo>
                    <a:pt x="2822" y="5331"/>
                  </a:lnTo>
                  <a:lnTo>
                    <a:pt x="2718" y="5430"/>
                  </a:lnTo>
                  <a:lnTo>
                    <a:pt x="2615" y="5530"/>
                  </a:lnTo>
                  <a:lnTo>
                    <a:pt x="2511" y="5632"/>
                  </a:lnTo>
                  <a:lnTo>
                    <a:pt x="2409" y="5736"/>
                  </a:lnTo>
                  <a:lnTo>
                    <a:pt x="2305" y="5842"/>
                  </a:lnTo>
                  <a:lnTo>
                    <a:pt x="2202" y="5947"/>
                  </a:lnTo>
                  <a:lnTo>
                    <a:pt x="2100" y="6053"/>
                  </a:lnTo>
                  <a:lnTo>
                    <a:pt x="1996" y="6158"/>
                  </a:lnTo>
                  <a:lnTo>
                    <a:pt x="1893" y="6263"/>
                  </a:lnTo>
                  <a:lnTo>
                    <a:pt x="1788" y="6366"/>
                  </a:lnTo>
                  <a:lnTo>
                    <a:pt x="1683" y="6469"/>
                  </a:lnTo>
                  <a:lnTo>
                    <a:pt x="1579" y="6568"/>
                  </a:lnTo>
                  <a:lnTo>
                    <a:pt x="0" y="5750"/>
                  </a:lnTo>
                  <a:lnTo>
                    <a:pt x="2108" y="3705"/>
                  </a:lnTo>
                  <a:lnTo>
                    <a:pt x="2233" y="3554"/>
                  </a:lnTo>
                  <a:lnTo>
                    <a:pt x="2360" y="3406"/>
                  </a:lnTo>
                  <a:lnTo>
                    <a:pt x="2488" y="3257"/>
                  </a:lnTo>
                  <a:lnTo>
                    <a:pt x="2618" y="3110"/>
                  </a:lnTo>
                  <a:lnTo>
                    <a:pt x="2750" y="2963"/>
                  </a:lnTo>
                  <a:lnTo>
                    <a:pt x="2883" y="2817"/>
                  </a:lnTo>
                  <a:lnTo>
                    <a:pt x="3016" y="2672"/>
                  </a:lnTo>
                  <a:lnTo>
                    <a:pt x="3151" y="2527"/>
                  </a:lnTo>
                  <a:lnTo>
                    <a:pt x="3286" y="2384"/>
                  </a:lnTo>
                  <a:lnTo>
                    <a:pt x="3422" y="2241"/>
                  </a:lnTo>
                  <a:lnTo>
                    <a:pt x="3559" y="2099"/>
                  </a:lnTo>
                  <a:lnTo>
                    <a:pt x="3695" y="1957"/>
                  </a:lnTo>
                  <a:lnTo>
                    <a:pt x="3831" y="1816"/>
                  </a:lnTo>
                  <a:lnTo>
                    <a:pt x="3967" y="1675"/>
                  </a:lnTo>
                  <a:lnTo>
                    <a:pt x="4103" y="1536"/>
                  </a:lnTo>
                  <a:lnTo>
                    <a:pt x="4238" y="1397"/>
                  </a:lnTo>
                  <a:lnTo>
                    <a:pt x="4274" y="1359"/>
                  </a:lnTo>
                  <a:lnTo>
                    <a:pt x="4313" y="1321"/>
                  </a:lnTo>
                  <a:lnTo>
                    <a:pt x="4352" y="1284"/>
                  </a:lnTo>
                  <a:lnTo>
                    <a:pt x="4391" y="1247"/>
                  </a:lnTo>
                  <a:lnTo>
                    <a:pt x="4431" y="1210"/>
                  </a:lnTo>
                  <a:lnTo>
                    <a:pt x="4472" y="1175"/>
                  </a:lnTo>
                  <a:lnTo>
                    <a:pt x="4514" y="1139"/>
                  </a:lnTo>
                  <a:lnTo>
                    <a:pt x="4555" y="1104"/>
                  </a:lnTo>
                  <a:lnTo>
                    <a:pt x="4640" y="1034"/>
                  </a:lnTo>
                  <a:lnTo>
                    <a:pt x="4726" y="966"/>
                  </a:lnTo>
                  <a:lnTo>
                    <a:pt x="4813" y="899"/>
                  </a:lnTo>
                  <a:lnTo>
                    <a:pt x="4900" y="833"/>
                  </a:lnTo>
                  <a:lnTo>
                    <a:pt x="4988" y="769"/>
                  </a:lnTo>
                  <a:lnTo>
                    <a:pt x="5075" y="707"/>
                  </a:lnTo>
                  <a:lnTo>
                    <a:pt x="5162" y="647"/>
                  </a:lnTo>
                  <a:lnTo>
                    <a:pt x="5248" y="587"/>
                  </a:lnTo>
                  <a:lnTo>
                    <a:pt x="5332" y="530"/>
                  </a:lnTo>
                  <a:lnTo>
                    <a:pt x="5415" y="473"/>
                  </a:lnTo>
                  <a:lnTo>
                    <a:pt x="5494" y="419"/>
                  </a:lnTo>
                  <a:lnTo>
                    <a:pt x="5573" y="367"/>
                  </a:lnTo>
                  <a:lnTo>
                    <a:pt x="5623" y="331"/>
                  </a:lnTo>
                  <a:lnTo>
                    <a:pt x="5672" y="296"/>
                  </a:lnTo>
                  <a:lnTo>
                    <a:pt x="5718" y="263"/>
                  </a:lnTo>
                  <a:lnTo>
                    <a:pt x="5763" y="230"/>
                  </a:lnTo>
                  <a:lnTo>
                    <a:pt x="5807" y="198"/>
                  </a:lnTo>
                  <a:lnTo>
                    <a:pt x="5850" y="168"/>
                  </a:lnTo>
                  <a:lnTo>
                    <a:pt x="5893" y="140"/>
                  </a:lnTo>
                  <a:lnTo>
                    <a:pt x="5934" y="114"/>
                  </a:lnTo>
                  <a:lnTo>
                    <a:pt x="5955" y="101"/>
                  </a:lnTo>
                  <a:lnTo>
                    <a:pt x="5977" y="89"/>
                  </a:lnTo>
                  <a:lnTo>
                    <a:pt x="5998" y="78"/>
                  </a:lnTo>
                  <a:lnTo>
                    <a:pt x="6020" y="68"/>
                  </a:lnTo>
                  <a:lnTo>
                    <a:pt x="6041" y="58"/>
                  </a:lnTo>
                  <a:lnTo>
                    <a:pt x="6063" y="49"/>
                  </a:lnTo>
                  <a:lnTo>
                    <a:pt x="6086" y="40"/>
                  </a:lnTo>
                  <a:lnTo>
                    <a:pt x="6108" y="32"/>
                  </a:lnTo>
                  <a:lnTo>
                    <a:pt x="6131" y="26"/>
                  </a:lnTo>
                  <a:lnTo>
                    <a:pt x="6155" y="19"/>
                  </a:lnTo>
                  <a:lnTo>
                    <a:pt x="6179" y="13"/>
                  </a:lnTo>
                  <a:lnTo>
                    <a:pt x="6203" y="9"/>
                  </a:lnTo>
                  <a:lnTo>
                    <a:pt x="6228" y="6"/>
                  </a:lnTo>
                  <a:lnTo>
                    <a:pt x="6253" y="3"/>
                  </a:lnTo>
                  <a:lnTo>
                    <a:pt x="6280" y="1"/>
                  </a:lnTo>
                  <a:lnTo>
                    <a:pt x="6307" y="0"/>
                  </a:lnTo>
                  <a:lnTo>
                    <a:pt x="6343" y="1"/>
                  </a:lnTo>
                  <a:lnTo>
                    <a:pt x="6379" y="2"/>
                  </a:lnTo>
                  <a:lnTo>
                    <a:pt x="6415" y="6"/>
                  </a:lnTo>
                  <a:lnTo>
                    <a:pt x="6452" y="10"/>
                  </a:lnTo>
                  <a:lnTo>
                    <a:pt x="6489" y="16"/>
                  </a:lnTo>
                  <a:lnTo>
                    <a:pt x="6526" y="24"/>
                  </a:lnTo>
                  <a:lnTo>
                    <a:pt x="6565" y="32"/>
                  </a:lnTo>
                  <a:lnTo>
                    <a:pt x="6604" y="42"/>
                  </a:lnTo>
                  <a:lnTo>
                    <a:pt x="6643" y="54"/>
                  </a:lnTo>
                  <a:lnTo>
                    <a:pt x="6684" y="66"/>
                  </a:lnTo>
                  <a:lnTo>
                    <a:pt x="6726" y="80"/>
                  </a:lnTo>
                  <a:lnTo>
                    <a:pt x="6768" y="95"/>
                  </a:lnTo>
                  <a:lnTo>
                    <a:pt x="6812" y="111"/>
                  </a:lnTo>
                  <a:lnTo>
                    <a:pt x="6857" y="128"/>
                  </a:lnTo>
                  <a:lnTo>
                    <a:pt x="6904" y="147"/>
                  </a:lnTo>
                  <a:lnTo>
                    <a:pt x="6952" y="167"/>
                  </a:lnTo>
                  <a:lnTo>
                    <a:pt x="7052" y="209"/>
                  </a:lnTo>
                  <a:lnTo>
                    <a:pt x="7159" y="256"/>
                  </a:lnTo>
                  <a:lnTo>
                    <a:pt x="7274" y="306"/>
                  </a:lnTo>
                  <a:lnTo>
                    <a:pt x="7397" y="360"/>
                  </a:lnTo>
                  <a:lnTo>
                    <a:pt x="7529" y="419"/>
                  </a:lnTo>
                  <a:lnTo>
                    <a:pt x="7671" y="479"/>
                  </a:lnTo>
                  <a:lnTo>
                    <a:pt x="7824" y="544"/>
                  </a:lnTo>
                  <a:lnTo>
                    <a:pt x="7987" y="611"/>
                  </a:lnTo>
                  <a:close/>
                </a:path>
              </a:pathLst>
            </a:custGeom>
            <a:solidFill>
              <a:srgbClr val="215A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Freeform 52">
              <a:extLst>
                <a:ext uri="{FF2B5EF4-FFF2-40B4-BE49-F238E27FC236}">
                  <a16:creationId xmlns:a16="http://schemas.microsoft.com/office/drawing/2014/main" id="{57042784-6E4F-4791-A1FD-B9DCC6EE0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9" y="1068"/>
              <a:ext cx="775" cy="592"/>
            </a:xfrm>
            <a:custGeom>
              <a:avLst/>
              <a:gdLst>
                <a:gd name="T0" fmla="*/ 13007 w 13165"/>
                <a:gd name="T1" fmla="*/ 2688 h 10073"/>
                <a:gd name="T2" fmla="*/ 12754 w 13165"/>
                <a:gd name="T3" fmla="*/ 4828 h 10073"/>
                <a:gd name="T4" fmla="*/ 8179 w 13165"/>
                <a:gd name="T5" fmla="*/ 8685 h 10073"/>
                <a:gd name="T6" fmla="*/ 8128 w 13165"/>
                <a:gd name="T7" fmla="*/ 8809 h 10073"/>
                <a:gd name="T8" fmla="*/ 8068 w 13165"/>
                <a:gd name="T9" fmla="*/ 8935 h 10073"/>
                <a:gd name="T10" fmla="*/ 7988 w 13165"/>
                <a:gd name="T11" fmla="*/ 9085 h 10073"/>
                <a:gd name="T12" fmla="*/ 7885 w 13165"/>
                <a:gd name="T13" fmla="*/ 9251 h 10073"/>
                <a:gd name="T14" fmla="*/ 7759 w 13165"/>
                <a:gd name="T15" fmla="*/ 9422 h 10073"/>
                <a:gd name="T16" fmla="*/ 7609 w 13165"/>
                <a:gd name="T17" fmla="*/ 9590 h 10073"/>
                <a:gd name="T18" fmla="*/ 7436 w 13165"/>
                <a:gd name="T19" fmla="*/ 9747 h 10073"/>
                <a:gd name="T20" fmla="*/ 7237 w 13165"/>
                <a:gd name="T21" fmla="*/ 9883 h 10073"/>
                <a:gd name="T22" fmla="*/ 7013 w 13165"/>
                <a:gd name="T23" fmla="*/ 9989 h 10073"/>
                <a:gd name="T24" fmla="*/ 6762 w 13165"/>
                <a:gd name="T25" fmla="*/ 10055 h 10073"/>
                <a:gd name="T26" fmla="*/ 6484 w 13165"/>
                <a:gd name="T27" fmla="*/ 10073 h 10073"/>
                <a:gd name="T28" fmla="*/ 6178 w 13165"/>
                <a:gd name="T29" fmla="*/ 10036 h 10073"/>
                <a:gd name="T30" fmla="*/ 5842 w 13165"/>
                <a:gd name="T31" fmla="*/ 9931 h 10073"/>
                <a:gd name="T32" fmla="*/ 5478 w 13165"/>
                <a:gd name="T33" fmla="*/ 9752 h 10073"/>
                <a:gd name="T34" fmla="*/ 5141 w 13165"/>
                <a:gd name="T35" fmla="*/ 9467 h 10073"/>
                <a:gd name="T36" fmla="*/ 4846 w 13165"/>
                <a:gd name="T37" fmla="*/ 9160 h 10073"/>
                <a:gd name="T38" fmla="*/ 4544 w 13165"/>
                <a:gd name="T39" fmla="*/ 8880 h 10073"/>
                <a:gd name="T40" fmla="*/ 4234 w 13165"/>
                <a:gd name="T41" fmla="*/ 8623 h 10073"/>
                <a:gd name="T42" fmla="*/ 3919 w 13165"/>
                <a:gd name="T43" fmla="*/ 8389 h 10073"/>
                <a:gd name="T44" fmla="*/ 3597 w 13165"/>
                <a:gd name="T45" fmla="*/ 8173 h 10073"/>
                <a:gd name="T46" fmla="*/ 3271 w 13165"/>
                <a:gd name="T47" fmla="*/ 7972 h 10073"/>
                <a:gd name="T48" fmla="*/ 2942 w 13165"/>
                <a:gd name="T49" fmla="*/ 7785 h 10073"/>
                <a:gd name="T50" fmla="*/ 2610 w 13165"/>
                <a:gd name="T51" fmla="*/ 7606 h 10073"/>
                <a:gd name="T52" fmla="*/ 2275 w 13165"/>
                <a:gd name="T53" fmla="*/ 7435 h 10073"/>
                <a:gd name="T54" fmla="*/ 1771 w 13165"/>
                <a:gd name="T55" fmla="*/ 7184 h 10073"/>
                <a:gd name="T56" fmla="*/ 1267 w 13165"/>
                <a:gd name="T57" fmla="*/ 6933 h 10073"/>
                <a:gd name="T58" fmla="*/ 933 w 13165"/>
                <a:gd name="T59" fmla="*/ 6759 h 10073"/>
                <a:gd name="T60" fmla="*/ 600 w 13165"/>
                <a:gd name="T61" fmla="*/ 6578 h 10073"/>
                <a:gd name="T62" fmla="*/ 271 w 13165"/>
                <a:gd name="T63" fmla="*/ 6386 h 10073"/>
                <a:gd name="T64" fmla="*/ 0 w 13165"/>
                <a:gd name="T65" fmla="*/ 5770 h 10073"/>
                <a:gd name="T66" fmla="*/ 37 w 13165"/>
                <a:gd name="T67" fmla="*/ 5741 h 10073"/>
                <a:gd name="T68" fmla="*/ 143 w 13165"/>
                <a:gd name="T69" fmla="*/ 5656 h 10073"/>
                <a:gd name="T70" fmla="*/ 314 w 13165"/>
                <a:gd name="T71" fmla="*/ 5518 h 10073"/>
                <a:gd name="T72" fmla="*/ 538 w 13165"/>
                <a:gd name="T73" fmla="*/ 5328 h 10073"/>
                <a:gd name="T74" fmla="*/ 810 w 13165"/>
                <a:gd name="T75" fmla="*/ 5090 h 10073"/>
                <a:gd name="T76" fmla="*/ 963 w 13165"/>
                <a:gd name="T77" fmla="*/ 4952 h 10073"/>
                <a:gd name="T78" fmla="*/ 1124 w 13165"/>
                <a:gd name="T79" fmla="*/ 4802 h 10073"/>
                <a:gd name="T80" fmla="*/ 1294 w 13165"/>
                <a:gd name="T81" fmla="*/ 4642 h 10073"/>
                <a:gd name="T82" fmla="*/ 1471 w 13165"/>
                <a:gd name="T83" fmla="*/ 4471 h 10073"/>
                <a:gd name="T84" fmla="*/ 1655 w 13165"/>
                <a:gd name="T85" fmla="*/ 4289 h 10073"/>
                <a:gd name="T86" fmla="*/ 1845 w 13165"/>
                <a:gd name="T87" fmla="*/ 4097 h 10073"/>
                <a:gd name="T88" fmla="*/ 2117 w 13165"/>
                <a:gd name="T89" fmla="*/ 3812 h 10073"/>
                <a:gd name="T90" fmla="*/ 2390 w 13165"/>
                <a:gd name="T91" fmla="*/ 3521 h 10073"/>
                <a:gd name="T92" fmla="*/ 2937 w 13165"/>
                <a:gd name="T93" fmla="*/ 2927 h 10073"/>
                <a:gd name="T94" fmla="*/ 3484 w 13165"/>
                <a:gd name="T95" fmla="*/ 2334 h 10073"/>
                <a:gd name="T96" fmla="*/ 3756 w 13165"/>
                <a:gd name="T97" fmla="*/ 2045 h 10073"/>
                <a:gd name="T98" fmla="*/ 4028 w 13165"/>
                <a:gd name="T99" fmla="*/ 1765 h 10073"/>
                <a:gd name="T100" fmla="*/ 4300 w 13165"/>
                <a:gd name="T101" fmla="*/ 1495 h 10073"/>
                <a:gd name="T102" fmla="*/ 4572 w 13165"/>
                <a:gd name="T103" fmla="*/ 1238 h 10073"/>
                <a:gd name="T104" fmla="*/ 4843 w 13165"/>
                <a:gd name="T105" fmla="*/ 998 h 10073"/>
                <a:gd name="T106" fmla="*/ 5111 w 13165"/>
                <a:gd name="T107" fmla="*/ 775 h 10073"/>
                <a:gd name="T108" fmla="*/ 5380 w 13165"/>
                <a:gd name="T109" fmla="*/ 574 h 10073"/>
                <a:gd name="T110" fmla="*/ 5647 w 13165"/>
                <a:gd name="T111" fmla="*/ 397 h 10073"/>
                <a:gd name="T112" fmla="*/ 5912 w 13165"/>
                <a:gd name="T113" fmla="*/ 245 h 10073"/>
                <a:gd name="T114" fmla="*/ 6177 w 13165"/>
                <a:gd name="T115" fmla="*/ 123 h 100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3165" h="10073">
                  <a:moveTo>
                    <a:pt x="6325" y="0"/>
                  </a:moveTo>
                  <a:lnTo>
                    <a:pt x="13007" y="2688"/>
                  </a:lnTo>
                  <a:lnTo>
                    <a:pt x="13165" y="3440"/>
                  </a:lnTo>
                  <a:lnTo>
                    <a:pt x="12754" y="4828"/>
                  </a:lnTo>
                  <a:lnTo>
                    <a:pt x="8188" y="8659"/>
                  </a:lnTo>
                  <a:lnTo>
                    <a:pt x="8179" y="8685"/>
                  </a:lnTo>
                  <a:lnTo>
                    <a:pt x="8150" y="8758"/>
                  </a:lnTo>
                  <a:lnTo>
                    <a:pt x="8128" y="8809"/>
                  </a:lnTo>
                  <a:lnTo>
                    <a:pt x="8101" y="8869"/>
                  </a:lnTo>
                  <a:lnTo>
                    <a:pt x="8068" y="8935"/>
                  </a:lnTo>
                  <a:lnTo>
                    <a:pt x="8031" y="9008"/>
                  </a:lnTo>
                  <a:lnTo>
                    <a:pt x="7988" y="9085"/>
                  </a:lnTo>
                  <a:lnTo>
                    <a:pt x="7938" y="9167"/>
                  </a:lnTo>
                  <a:lnTo>
                    <a:pt x="7885" y="9251"/>
                  </a:lnTo>
                  <a:lnTo>
                    <a:pt x="7825" y="9336"/>
                  </a:lnTo>
                  <a:lnTo>
                    <a:pt x="7759" y="9422"/>
                  </a:lnTo>
                  <a:lnTo>
                    <a:pt x="7688" y="9507"/>
                  </a:lnTo>
                  <a:lnTo>
                    <a:pt x="7609" y="9590"/>
                  </a:lnTo>
                  <a:lnTo>
                    <a:pt x="7526" y="9671"/>
                  </a:lnTo>
                  <a:lnTo>
                    <a:pt x="7436" y="9747"/>
                  </a:lnTo>
                  <a:lnTo>
                    <a:pt x="7339" y="9818"/>
                  </a:lnTo>
                  <a:lnTo>
                    <a:pt x="7237" y="9883"/>
                  </a:lnTo>
                  <a:lnTo>
                    <a:pt x="7128" y="9940"/>
                  </a:lnTo>
                  <a:lnTo>
                    <a:pt x="7013" y="9989"/>
                  </a:lnTo>
                  <a:lnTo>
                    <a:pt x="6891" y="10027"/>
                  </a:lnTo>
                  <a:lnTo>
                    <a:pt x="6762" y="10055"/>
                  </a:lnTo>
                  <a:lnTo>
                    <a:pt x="6626" y="10071"/>
                  </a:lnTo>
                  <a:lnTo>
                    <a:pt x="6484" y="10073"/>
                  </a:lnTo>
                  <a:lnTo>
                    <a:pt x="6335" y="10063"/>
                  </a:lnTo>
                  <a:lnTo>
                    <a:pt x="6178" y="10036"/>
                  </a:lnTo>
                  <a:lnTo>
                    <a:pt x="6014" y="9993"/>
                  </a:lnTo>
                  <a:lnTo>
                    <a:pt x="5842" y="9931"/>
                  </a:lnTo>
                  <a:lnTo>
                    <a:pt x="5665" y="9852"/>
                  </a:lnTo>
                  <a:lnTo>
                    <a:pt x="5478" y="9752"/>
                  </a:lnTo>
                  <a:lnTo>
                    <a:pt x="5285" y="9632"/>
                  </a:lnTo>
                  <a:lnTo>
                    <a:pt x="5141" y="9467"/>
                  </a:lnTo>
                  <a:lnTo>
                    <a:pt x="4994" y="9310"/>
                  </a:lnTo>
                  <a:lnTo>
                    <a:pt x="4846" y="9160"/>
                  </a:lnTo>
                  <a:lnTo>
                    <a:pt x="4695" y="9016"/>
                  </a:lnTo>
                  <a:lnTo>
                    <a:pt x="4544" y="8880"/>
                  </a:lnTo>
                  <a:lnTo>
                    <a:pt x="4390" y="8749"/>
                  </a:lnTo>
                  <a:lnTo>
                    <a:pt x="4234" y="8623"/>
                  </a:lnTo>
                  <a:lnTo>
                    <a:pt x="4076" y="8504"/>
                  </a:lnTo>
                  <a:lnTo>
                    <a:pt x="3919" y="8389"/>
                  </a:lnTo>
                  <a:lnTo>
                    <a:pt x="3759" y="8278"/>
                  </a:lnTo>
                  <a:lnTo>
                    <a:pt x="3597" y="8173"/>
                  </a:lnTo>
                  <a:lnTo>
                    <a:pt x="3434" y="8071"/>
                  </a:lnTo>
                  <a:lnTo>
                    <a:pt x="3271" y="7972"/>
                  </a:lnTo>
                  <a:lnTo>
                    <a:pt x="3107" y="7877"/>
                  </a:lnTo>
                  <a:lnTo>
                    <a:pt x="2942" y="7785"/>
                  </a:lnTo>
                  <a:lnTo>
                    <a:pt x="2776" y="7694"/>
                  </a:lnTo>
                  <a:lnTo>
                    <a:pt x="2610" y="7606"/>
                  </a:lnTo>
                  <a:lnTo>
                    <a:pt x="2442" y="7520"/>
                  </a:lnTo>
                  <a:lnTo>
                    <a:pt x="2275" y="7435"/>
                  </a:lnTo>
                  <a:lnTo>
                    <a:pt x="2107" y="7351"/>
                  </a:lnTo>
                  <a:lnTo>
                    <a:pt x="1771" y="7184"/>
                  </a:lnTo>
                  <a:lnTo>
                    <a:pt x="1434" y="7017"/>
                  </a:lnTo>
                  <a:lnTo>
                    <a:pt x="1267" y="6933"/>
                  </a:lnTo>
                  <a:lnTo>
                    <a:pt x="1100" y="6846"/>
                  </a:lnTo>
                  <a:lnTo>
                    <a:pt x="933" y="6759"/>
                  </a:lnTo>
                  <a:lnTo>
                    <a:pt x="766" y="6669"/>
                  </a:lnTo>
                  <a:lnTo>
                    <a:pt x="600" y="6578"/>
                  </a:lnTo>
                  <a:lnTo>
                    <a:pt x="435" y="6483"/>
                  </a:lnTo>
                  <a:lnTo>
                    <a:pt x="271" y="6386"/>
                  </a:lnTo>
                  <a:lnTo>
                    <a:pt x="108" y="6286"/>
                  </a:lnTo>
                  <a:lnTo>
                    <a:pt x="0" y="5770"/>
                  </a:lnTo>
                  <a:lnTo>
                    <a:pt x="9" y="5763"/>
                  </a:lnTo>
                  <a:lnTo>
                    <a:pt x="37" y="5741"/>
                  </a:lnTo>
                  <a:lnTo>
                    <a:pt x="82" y="5706"/>
                  </a:lnTo>
                  <a:lnTo>
                    <a:pt x="143" y="5656"/>
                  </a:lnTo>
                  <a:lnTo>
                    <a:pt x="221" y="5595"/>
                  </a:lnTo>
                  <a:lnTo>
                    <a:pt x="314" y="5518"/>
                  </a:lnTo>
                  <a:lnTo>
                    <a:pt x="419" y="5430"/>
                  </a:lnTo>
                  <a:lnTo>
                    <a:pt x="538" y="5328"/>
                  </a:lnTo>
                  <a:lnTo>
                    <a:pt x="669" y="5215"/>
                  </a:lnTo>
                  <a:lnTo>
                    <a:pt x="810" y="5090"/>
                  </a:lnTo>
                  <a:lnTo>
                    <a:pt x="886" y="5022"/>
                  </a:lnTo>
                  <a:lnTo>
                    <a:pt x="963" y="4952"/>
                  </a:lnTo>
                  <a:lnTo>
                    <a:pt x="1042" y="4879"/>
                  </a:lnTo>
                  <a:lnTo>
                    <a:pt x="1124" y="4802"/>
                  </a:lnTo>
                  <a:lnTo>
                    <a:pt x="1209" y="4724"/>
                  </a:lnTo>
                  <a:lnTo>
                    <a:pt x="1294" y="4642"/>
                  </a:lnTo>
                  <a:lnTo>
                    <a:pt x="1382" y="4558"/>
                  </a:lnTo>
                  <a:lnTo>
                    <a:pt x="1471" y="4471"/>
                  </a:lnTo>
                  <a:lnTo>
                    <a:pt x="1563" y="4381"/>
                  </a:lnTo>
                  <a:lnTo>
                    <a:pt x="1655" y="4289"/>
                  </a:lnTo>
                  <a:lnTo>
                    <a:pt x="1749" y="4194"/>
                  </a:lnTo>
                  <a:lnTo>
                    <a:pt x="1845" y="4097"/>
                  </a:lnTo>
                  <a:lnTo>
                    <a:pt x="1981" y="3955"/>
                  </a:lnTo>
                  <a:lnTo>
                    <a:pt x="2117" y="3812"/>
                  </a:lnTo>
                  <a:lnTo>
                    <a:pt x="2254" y="3667"/>
                  </a:lnTo>
                  <a:lnTo>
                    <a:pt x="2390" y="3521"/>
                  </a:lnTo>
                  <a:lnTo>
                    <a:pt x="2663" y="3225"/>
                  </a:lnTo>
                  <a:lnTo>
                    <a:pt x="2937" y="2927"/>
                  </a:lnTo>
                  <a:lnTo>
                    <a:pt x="3210" y="2629"/>
                  </a:lnTo>
                  <a:lnTo>
                    <a:pt x="3484" y="2334"/>
                  </a:lnTo>
                  <a:lnTo>
                    <a:pt x="3620" y="2189"/>
                  </a:lnTo>
                  <a:lnTo>
                    <a:pt x="3756" y="2045"/>
                  </a:lnTo>
                  <a:lnTo>
                    <a:pt x="3892" y="1904"/>
                  </a:lnTo>
                  <a:lnTo>
                    <a:pt x="4028" y="1765"/>
                  </a:lnTo>
                  <a:lnTo>
                    <a:pt x="4164" y="1628"/>
                  </a:lnTo>
                  <a:lnTo>
                    <a:pt x="4300" y="1495"/>
                  </a:lnTo>
                  <a:lnTo>
                    <a:pt x="4436" y="1365"/>
                  </a:lnTo>
                  <a:lnTo>
                    <a:pt x="4572" y="1238"/>
                  </a:lnTo>
                  <a:lnTo>
                    <a:pt x="4707" y="1116"/>
                  </a:lnTo>
                  <a:lnTo>
                    <a:pt x="4843" y="998"/>
                  </a:lnTo>
                  <a:lnTo>
                    <a:pt x="4978" y="884"/>
                  </a:lnTo>
                  <a:lnTo>
                    <a:pt x="5111" y="775"/>
                  </a:lnTo>
                  <a:lnTo>
                    <a:pt x="5246" y="673"/>
                  </a:lnTo>
                  <a:lnTo>
                    <a:pt x="5380" y="574"/>
                  </a:lnTo>
                  <a:lnTo>
                    <a:pt x="5514" y="482"/>
                  </a:lnTo>
                  <a:lnTo>
                    <a:pt x="5647" y="397"/>
                  </a:lnTo>
                  <a:lnTo>
                    <a:pt x="5780" y="317"/>
                  </a:lnTo>
                  <a:lnTo>
                    <a:pt x="5912" y="245"/>
                  </a:lnTo>
                  <a:lnTo>
                    <a:pt x="6045" y="180"/>
                  </a:lnTo>
                  <a:lnTo>
                    <a:pt x="6177" y="123"/>
                  </a:lnTo>
                  <a:lnTo>
                    <a:pt x="6325" y="0"/>
                  </a:lnTo>
                  <a:close/>
                </a:path>
              </a:pathLst>
            </a:custGeom>
            <a:solidFill>
              <a:srgbClr val="2D5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Freeform 53">
              <a:extLst>
                <a:ext uri="{FF2B5EF4-FFF2-40B4-BE49-F238E27FC236}">
                  <a16:creationId xmlns:a16="http://schemas.microsoft.com/office/drawing/2014/main" id="{0F516B1E-99E7-4853-90BC-4D5ED32A9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9" y="1063"/>
              <a:ext cx="780" cy="593"/>
            </a:xfrm>
            <a:custGeom>
              <a:avLst/>
              <a:gdLst>
                <a:gd name="T0" fmla="*/ 13258 w 13258"/>
                <a:gd name="T1" fmla="*/ 3440 h 10074"/>
                <a:gd name="T2" fmla="*/ 8273 w 13258"/>
                <a:gd name="T3" fmla="*/ 8685 h 10074"/>
                <a:gd name="T4" fmla="*/ 8195 w 13258"/>
                <a:gd name="T5" fmla="*/ 8869 h 10074"/>
                <a:gd name="T6" fmla="*/ 8082 w 13258"/>
                <a:gd name="T7" fmla="*/ 9085 h 10074"/>
                <a:gd name="T8" fmla="*/ 7919 w 13258"/>
                <a:gd name="T9" fmla="*/ 9336 h 10074"/>
                <a:gd name="T10" fmla="*/ 7703 w 13258"/>
                <a:gd name="T11" fmla="*/ 9590 h 10074"/>
                <a:gd name="T12" fmla="*/ 7433 w 13258"/>
                <a:gd name="T13" fmla="*/ 9818 h 10074"/>
                <a:gd name="T14" fmla="*/ 7106 w 13258"/>
                <a:gd name="T15" fmla="*/ 9988 h 10074"/>
                <a:gd name="T16" fmla="*/ 6720 w 13258"/>
                <a:gd name="T17" fmla="*/ 10071 h 10074"/>
                <a:gd name="T18" fmla="*/ 6271 w 13258"/>
                <a:gd name="T19" fmla="*/ 10035 h 10074"/>
                <a:gd name="T20" fmla="*/ 5757 w 13258"/>
                <a:gd name="T21" fmla="*/ 9852 h 10074"/>
                <a:gd name="T22" fmla="*/ 5235 w 13258"/>
                <a:gd name="T23" fmla="*/ 9467 h 10074"/>
                <a:gd name="T24" fmla="*/ 4788 w 13258"/>
                <a:gd name="T25" fmla="*/ 9016 h 10074"/>
                <a:gd name="T26" fmla="*/ 4324 w 13258"/>
                <a:gd name="T27" fmla="*/ 8624 h 10074"/>
                <a:gd name="T28" fmla="*/ 3845 w 13258"/>
                <a:gd name="T29" fmla="*/ 8280 h 10074"/>
                <a:gd name="T30" fmla="*/ 3355 w 13258"/>
                <a:gd name="T31" fmla="*/ 7974 h 10074"/>
                <a:gd name="T32" fmla="*/ 2856 w 13258"/>
                <a:gd name="T33" fmla="*/ 7697 h 10074"/>
                <a:gd name="T34" fmla="*/ 2351 w 13258"/>
                <a:gd name="T35" fmla="*/ 7437 h 10074"/>
                <a:gd name="T36" fmla="*/ 1506 w 13258"/>
                <a:gd name="T37" fmla="*/ 7021 h 10074"/>
                <a:gd name="T38" fmla="*/ 1002 w 13258"/>
                <a:gd name="T39" fmla="*/ 6763 h 10074"/>
                <a:gd name="T40" fmla="*/ 503 w 13258"/>
                <a:gd name="T41" fmla="*/ 6488 h 10074"/>
                <a:gd name="T42" fmla="*/ 86 w 13258"/>
                <a:gd name="T43" fmla="*/ 5891 h 10074"/>
                <a:gd name="T44" fmla="*/ 15 w 13258"/>
                <a:gd name="T45" fmla="*/ 5837 h 10074"/>
                <a:gd name="T46" fmla="*/ 88 w 13258"/>
                <a:gd name="T47" fmla="*/ 5778 h 10074"/>
                <a:gd name="T48" fmla="*/ 218 w 13258"/>
                <a:gd name="T49" fmla="*/ 5672 h 10074"/>
                <a:gd name="T50" fmla="*/ 397 w 13258"/>
                <a:gd name="T51" fmla="*/ 5522 h 10074"/>
                <a:gd name="T52" fmla="*/ 621 w 13258"/>
                <a:gd name="T53" fmla="*/ 5331 h 10074"/>
                <a:gd name="T54" fmla="*/ 852 w 13258"/>
                <a:gd name="T55" fmla="*/ 5128 h 10074"/>
                <a:gd name="T56" fmla="*/ 1049 w 13258"/>
                <a:gd name="T57" fmla="*/ 4951 h 10074"/>
                <a:gd name="T58" fmla="*/ 1258 w 13258"/>
                <a:gd name="T59" fmla="*/ 4760 h 10074"/>
                <a:gd name="T60" fmla="*/ 1477 w 13258"/>
                <a:gd name="T61" fmla="*/ 4553 h 10074"/>
                <a:gd name="T62" fmla="*/ 1705 w 13258"/>
                <a:gd name="T63" fmla="*/ 4331 h 10074"/>
                <a:gd name="T64" fmla="*/ 1939 w 13258"/>
                <a:gd name="T65" fmla="*/ 4096 h 10074"/>
                <a:gd name="T66" fmla="*/ 2347 w 13258"/>
                <a:gd name="T67" fmla="*/ 3666 h 10074"/>
                <a:gd name="T68" fmla="*/ 3031 w 13258"/>
                <a:gd name="T69" fmla="*/ 2926 h 10074"/>
                <a:gd name="T70" fmla="*/ 3714 w 13258"/>
                <a:gd name="T71" fmla="*/ 2189 h 10074"/>
                <a:gd name="T72" fmla="*/ 4122 w 13258"/>
                <a:gd name="T73" fmla="*/ 1765 h 10074"/>
                <a:gd name="T74" fmla="*/ 4530 w 13258"/>
                <a:gd name="T75" fmla="*/ 1364 h 10074"/>
                <a:gd name="T76" fmla="*/ 4936 w 13258"/>
                <a:gd name="T77" fmla="*/ 997 h 10074"/>
                <a:gd name="T78" fmla="*/ 5339 w 13258"/>
                <a:gd name="T79" fmla="*/ 672 h 10074"/>
                <a:gd name="T80" fmla="*/ 5741 w 13258"/>
                <a:gd name="T81" fmla="*/ 396 h 10074"/>
                <a:gd name="T82" fmla="*/ 6138 w 13258"/>
                <a:gd name="T83" fmla="*/ 180 h 10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3258" h="10074">
                  <a:moveTo>
                    <a:pt x="6418" y="0"/>
                  </a:moveTo>
                  <a:lnTo>
                    <a:pt x="13100" y="2688"/>
                  </a:lnTo>
                  <a:lnTo>
                    <a:pt x="13258" y="3440"/>
                  </a:lnTo>
                  <a:lnTo>
                    <a:pt x="12848" y="4828"/>
                  </a:lnTo>
                  <a:lnTo>
                    <a:pt x="8282" y="8659"/>
                  </a:lnTo>
                  <a:lnTo>
                    <a:pt x="8273" y="8685"/>
                  </a:lnTo>
                  <a:lnTo>
                    <a:pt x="8244" y="8758"/>
                  </a:lnTo>
                  <a:lnTo>
                    <a:pt x="8222" y="8809"/>
                  </a:lnTo>
                  <a:lnTo>
                    <a:pt x="8195" y="8869"/>
                  </a:lnTo>
                  <a:lnTo>
                    <a:pt x="8162" y="8936"/>
                  </a:lnTo>
                  <a:lnTo>
                    <a:pt x="8125" y="9008"/>
                  </a:lnTo>
                  <a:lnTo>
                    <a:pt x="8082" y="9085"/>
                  </a:lnTo>
                  <a:lnTo>
                    <a:pt x="8033" y="9167"/>
                  </a:lnTo>
                  <a:lnTo>
                    <a:pt x="7978" y="9250"/>
                  </a:lnTo>
                  <a:lnTo>
                    <a:pt x="7919" y="9336"/>
                  </a:lnTo>
                  <a:lnTo>
                    <a:pt x="7853" y="9422"/>
                  </a:lnTo>
                  <a:lnTo>
                    <a:pt x="7781" y="9507"/>
                  </a:lnTo>
                  <a:lnTo>
                    <a:pt x="7703" y="9590"/>
                  </a:lnTo>
                  <a:lnTo>
                    <a:pt x="7620" y="9671"/>
                  </a:lnTo>
                  <a:lnTo>
                    <a:pt x="7530" y="9747"/>
                  </a:lnTo>
                  <a:lnTo>
                    <a:pt x="7433" y="9818"/>
                  </a:lnTo>
                  <a:lnTo>
                    <a:pt x="7331" y="9883"/>
                  </a:lnTo>
                  <a:lnTo>
                    <a:pt x="7222" y="9939"/>
                  </a:lnTo>
                  <a:lnTo>
                    <a:pt x="7106" y="9988"/>
                  </a:lnTo>
                  <a:lnTo>
                    <a:pt x="6985" y="10027"/>
                  </a:lnTo>
                  <a:lnTo>
                    <a:pt x="6855" y="10055"/>
                  </a:lnTo>
                  <a:lnTo>
                    <a:pt x="6720" y="10071"/>
                  </a:lnTo>
                  <a:lnTo>
                    <a:pt x="6577" y="10074"/>
                  </a:lnTo>
                  <a:lnTo>
                    <a:pt x="6428" y="10063"/>
                  </a:lnTo>
                  <a:lnTo>
                    <a:pt x="6271" y="10035"/>
                  </a:lnTo>
                  <a:lnTo>
                    <a:pt x="6108" y="9993"/>
                  </a:lnTo>
                  <a:lnTo>
                    <a:pt x="5936" y="9932"/>
                  </a:lnTo>
                  <a:lnTo>
                    <a:pt x="5757" y="9852"/>
                  </a:lnTo>
                  <a:lnTo>
                    <a:pt x="5571" y="9752"/>
                  </a:lnTo>
                  <a:lnTo>
                    <a:pt x="5378" y="9632"/>
                  </a:lnTo>
                  <a:lnTo>
                    <a:pt x="5235" y="9467"/>
                  </a:lnTo>
                  <a:lnTo>
                    <a:pt x="5087" y="9310"/>
                  </a:lnTo>
                  <a:lnTo>
                    <a:pt x="4939" y="9160"/>
                  </a:lnTo>
                  <a:lnTo>
                    <a:pt x="4788" y="9016"/>
                  </a:lnTo>
                  <a:lnTo>
                    <a:pt x="4636" y="8880"/>
                  </a:lnTo>
                  <a:lnTo>
                    <a:pt x="4481" y="8749"/>
                  </a:lnTo>
                  <a:lnTo>
                    <a:pt x="4324" y="8624"/>
                  </a:lnTo>
                  <a:lnTo>
                    <a:pt x="4166" y="8505"/>
                  </a:lnTo>
                  <a:lnTo>
                    <a:pt x="4006" y="8390"/>
                  </a:lnTo>
                  <a:lnTo>
                    <a:pt x="3845" y="8280"/>
                  </a:lnTo>
                  <a:lnTo>
                    <a:pt x="3683" y="8174"/>
                  </a:lnTo>
                  <a:lnTo>
                    <a:pt x="3520" y="8072"/>
                  </a:lnTo>
                  <a:lnTo>
                    <a:pt x="3355" y="7974"/>
                  </a:lnTo>
                  <a:lnTo>
                    <a:pt x="3190" y="7879"/>
                  </a:lnTo>
                  <a:lnTo>
                    <a:pt x="3024" y="7787"/>
                  </a:lnTo>
                  <a:lnTo>
                    <a:pt x="2856" y="7697"/>
                  </a:lnTo>
                  <a:lnTo>
                    <a:pt x="2689" y="7609"/>
                  </a:lnTo>
                  <a:lnTo>
                    <a:pt x="2521" y="7523"/>
                  </a:lnTo>
                  <a:lnTo>
                    <a:pt x="2351" y="7437"/>
                  </a:lnTo>
                  <a:lnTo>
                    <a:pt x="2183" y="7354"/>
                  </a:lnTo>
                  <a:lnTo>
                    <a:pt x="1844" y="7188"/>
                  </a:lnTo>
                  <a:lnTo>
                    <a:pt x="1506" y="7021"/>
                  </a:lnTo>
                  <a:lnTo>
                    <a:pt x="1338" y="6937"/>
                  </a:lnTo>
                  <a:lnTo>
                    <a:pt x="1170" y="6851"/>
                  </a:lnTo>
                  <a:lnTo>
                    <a:pt x="1002" y="6763"/>
                  </a:lnTo>
                  <a:lnTo>
                    <a:pt x="834" y="6674"/>
                  </a:lnTo>
                  <a:lnTo>
                    <a:pt x="668" y="6582"/>
                  </a:lnTo>
                  <a:lnTo>
                    <a:pt x="503" y="6488"/>
                  </a:lnTo>
                  <a:lnTo>
                    <a:pt x="339" y="6391"/>
                  </a:lnTo>
                  <a:lnTo>
                    <a:pt x="175" y="6291"/>
                  </a:lnTo>
                  <a:lnTo>
                    <a:pt x="86" y="5891"/>
                  </a:lnTo>
                  <a:lnTo>
                    <a:pt x="0" y="5848"/>
                  </a:lnTo>
                  <a:lnTo>
                    <a:pt x="4" y="5845"/>
                  </a:lnTo>
                  <a:lnTo>
                    <a:pt x="15" y="5837"/>
                  </a:lnTo>
                  <a:lnTo>
                    <a:pt x="32" y="5822"/>
                  </a:lnTo>
                  <a:lnTo>
                    <a:pt x="57" y="5803"/>
                  </a:lnTo>
                  <a:lnTo>
                    <a:pt x="88" y="5778"/>
                  </a:lnTo>
                  <a:lnTo>
                    <a:pt x="125" y="5748"/>
                  </a:lnTo>
                  <a:lnTo>
                    <a:pt x="169" y="5712"/>
                  </a:lnTo>
                  <a:lnTo>
                    <a:pt x="218" y="5672"/>
                  </a:lnTo>
                  <a:lnTo>
                    <a:pt x="273" y="5627"/>
                  </a:lnTo>
                  <a:lnTo>
                    <a:pt x="332" y="5577"/>
                  </a:lnTo>
                  <a:lnTo>
                    <a:pt x="397" y="5522"/>
                  </a:lnTo>
                  <a:lnTo>
                    <a:pt x="467" y="5463"/>
                  </a:lnTo>
                  <a:lnTo>
                    <a:pt x="541" y="5399"/>
                  </a:lnTo>
                  <a:lnTo>
                    <a:pt x="621" y="5331"/>
                  </a:lnTo>
                  <a:lnTo>
                    <a:pt x="704" y="5259"/>
                  </a:lnTo>
                  <a:lnTo>
                    <a:pt x="790" y="5182"/>
                  </a:lnTo>
                  <a:lnTo>
                    <a:pt x="852" y="5128"/>
                  </a:lnTo>
                  <a:lnTo>
                    <a:pt x="916" y="5071"/>
                  </a:lnTo>
                  <a:lnTo>
                    <a:pt x="982" y="5012"/>
                  </a:lnTo>
                  <a:lnTo>
                    <a:pt x="1049" y="4951"/>
                  </a:lnTo>
                  <a:lnTo>
                    <a:pt x="1117" y="4890"/>
                  </a:lnTo>
                  <a:lnTo>
                    <a:pt x="1187" y="4826"/>
                  </a:lnTo>
                  <a:lnTo>
                    <a:pt x="1258" y="4760"/>
                  </a:lnTo>
                  <a:lnTo>
                    <a:pt x="1330" y="4693"/>
                  </a:lnTo>
                  <a:lnTo>
                    <a:pt x="1403" y="4624"/>
                  </a:lnTo>
                  <a:lnTo>
                    <a:pt x="1477" y="4553"/>
                  </a:lnTo>
                  <a:lnTo>
                    <a:pt x="1552" y="4481"/>
                  </a:lnTo>
                  <a:lnTo>
                    <a:pt x="1629" y="4408"/>
                  </a:lnTo>
                  <a:lnTo>
                    <a:pt x="1705" y="4331"/>
                  </a:lnTo>
                  <a:lnTo>
                    <a:pt x="1783" y="4255"/>
                  </a:lnTo>
                  <a:lnTo>
                    <a:pt x="1861" y="4177"/>
                  </a:lnTo>
                  <a:lnTo>
                    <a:pt x="1939" y="4096"/>
                  </a:lnTo>
                  <a:lnTo>
                    <a:pt x="2075" y="3955"/>
                  </a:lnTo>
                  <a:lnTo>
                    <a:pt x="2211" y="3812"/>
                  </a:lnTo>
                  <a:lnTo>
                    <a:pt x="2347" y="3666"/>
                  </a:lnTo>
                  <a:lnTo>
                    <a:pt x="2484" y="3520"/>
                  </a:lnTo>
                  <a:lnTo>
                    <a:pt x="2757" y="3224"/>
                  </a:lnTo>
                  <a:lnTo>
                    <a:pt x="3031" y="2926"/>
                  </a:lnTo>
                  <a:lnTo>
                    <a:pt x="3304" y="2628"/>
                  </a:lnTo>
                  <a:lnTo>
                    <a:pt x="3577" y="2335"/>
                  </a:lnTo>
                  <a:lnTo>
                    <a:pt x="3714" y="2189"/>
                  </a:lnTo>
                  <a:lnTo>
                    <a:pt x="3849" y="2045"/>
                  </a:lnTo>
                  <a:lnTo>
                    <a:pt x="3986" y="1904"/>
                  </a:lnTo>
                  <a:lnTo>
                    <a:pt x="4122" y="1765"/>
                  </a:lnTo>
                  <a:lnTo>
                    <a:pt x="4258" y="1628"/>
                  </a:lnTo>
                  <a:lnTo>
                    <a:pt x="4394" y="1495"/>
                  </a:lnTo>
                  <a:lnTo>
                    <a:pt x="4530" y="1364"/>
                  </a:lnTo>
                  <a:lnTo>
                    <a:pt x="4666" y="1238"/>
                  </a:lnTo>
                  <a:lnTo>
                    <a:pt x="4801" y="1116"/>
                  </a:lnTo>
                  <a:lnTo>
                    <a:pt x="4936" y="997"/>
                  </a:lnTo>
                  <a:lnTo>
                    <a:pt x="5071" y="885"/>
                  </a:lnTo>
                  <a:lnTo>
                    <a:pt x="5205" y="776"/>
                  </a:lnTo>
                  <a:lnTo>
                    <a:pt x="5339" y="672"/>
                  </a:lnTo>
                  <a:lnTo>
                    <a:pt x="5474" y="574"/>
                  </a:lnTo>
                  <a:lnTo>
                    <a:pt x="5607" y="482"/>
                  </a:lnTo>
                  <a:lnTo>
                    <a:pt x="5741" y="396"/>
                  </a:lnTo>
                  <a:lnTo>
                    <a:pt x="5874" y="318"/>
                  </a:lnTo>
                  <a:lnTo>
                    <a:pt x="6006" y="246"/>
                  </a:lnTo>
                  <a:lnTo>
                    <a:pt x="6138" y="180"/>
                  </a:lnTo>
                  <a:lnTo>
                    <a:pt x="6270" y="122"/>
                  </a:lnTo>
                  <a:lnTo>
                    <a:pt x="6418" y="0"/>
                  </a:lnTo>
                  <a:close/>
                </a:path>
              </a:pathLst>
            </a:custGeom>
            <a:solidFill>
              <a:srgbClr val="709C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Freeform 54">
              <a:extLst>
                <a:ext uri="{FF2B5EF4-FFF2-40B4-BE49-F238E27FC236}">
                  <a16:creationId xmlns:a16="http://schemas.microsoft.com/office/drawing/2014/main" id="{7213F5D2-E4E6-46D6-92F7-6AFACE760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1094"/>
              <a:ext cx="337" cy="329"/>
            </a:xfrm>
            <a:custGeom>
              <a:avLst/>
              <a:gdLst>
                <a:gd name="T0" fmla="*/ 838 w 5731"/>
                <a:gd name="T1" fmla="*/ 4833 h 5595"/>
                <a:gd name="T2" fmla="*/ 765 w 5731"/>
                <a:gd name="T3" fmla="*/ 4921 h 5595"/>
                <a:gd name="T4" fmla="*/ 685 w 5731"/>
                <a:gd name="T5" fmla="*/ 5015 h 5595"/>
                <a:gd name="T6" fmla="*/ 599 w 5731"/>
                <a:gd name="T7" fmla="*/ 5115 h 5595"/>
                <a:gd name="T8" fmla="*/ 509 w 5731"/>
                <a:gd name="T9" fmla="*/ 5220 h 5595"/>
                <a:gd name="T10" fmla="*/ 416 w 5731"/>
                <a:gd name="T11" fmla="*/ 5328 h 5595"/>
                <a:gd name="T12" fmla="*/ 322 w 5731"/>
                <a:gd name="T13" fmla="*/ 5435 h 5595"/>
                <a:gd name="T14" fmla="*/ 228 w 5731"/>
                <a:gd name="T15" fmla="*/ 5542 h 5595"/>
                <a:gd name="T16" fmla="*/ 159 w 5731"/>
                <a:gd name="T17" fmla="*/ 5586 h 5595"/>
                <a:gd name="T18" fmla="*/ 114 w 5731"/>
                <a:gd name="T19" fmla="*/ 5567 h 5595"/>
                <a:gd name="T20" fmla="*/ 69 w 5731"/>
                <a:gd name="T21" fmla="*/ 5548 h 5595"/>
                <a:gd name="T22" fmla="*/ 23 w 5731"/>
                <a:gd name="T23" fmla="*/ 5529 h 5595"/>
                <a:gd name="T24" fmla="*/ 2663 w 5731"/>
                <a:gd name="T25" fmla="*/ 2150 h 5595"/>
                <a:gd name="T26" fmla="*/ 5724 w 5731"/>
                <a:gd name="T27" fmla="*/ 0 h 5595"/>
                <a:gd name="T28" fmla="*/ 5730 w 5731"/>
                <a:gd name="T29" fmla="*/ 62 h 5595"/>
                <a:gd name="T30" fmla="*/ 5708 w 5731"/>
                <a:gd name="T31" fmla="*/ 136 h 5595"/>
                <a:gd name="T32" fmla="*/ 5660 w 5731"/>
                <a:gd name="T33" fmla="*/ 225 h 5595"/>
                <a:gd name="T34" fmla="*/ 5590 w 5731"/>
                <a:gd name="T35" fmla="*/ 324 h 5595"/>
                <a:gd name="T36" fmla="*/ 5499 w 5731"/>
                <a:gd name="T37" fmla="*/ 436 h 5595"/>
                <a:gd name="T38" fmla="*/ 5392 w 5731"/>
                <a:gd name="T39" fmla="*/ 556 h 5595"/>
                <a:gd name="T40" fmla="*/ 5269 w 5731"/>
                <a:gd name="T41" fmla="*/ 686 h 5595"/>
                <a:gd name="T42" fmla="*/ 5136 w 5731"/>
                <a:gd name="T43" fmla="*/ 823 h 5595"/>
                <a:gd name="T44" fmla="*/ 4849 w 5731"/>
                <a:gd name="T45" fmla="*/ 1115 h 5595"/>
                <a:gd name="T46" fmla="*/ 4700 w 5731"/>
                <a:gd name="T47" fmla="*/ 1269 h 5595"/>
                <a:gd name="T48" fmla="*/ 4552 w 5731"/>
                <a:gd name="T49" fmla="*/ 1425 h 5595"/>
                <a:gd name="T50" fmla="*/ 4407 w 5731"/>
                <a:gd name="T51" fmla="*/ 1584 h 5595"/>
                <a:gd name="T52" fmla="*/ 4269 w 5731"/>
                <a:gd name="T53" fmla="*/ 1744 h 5595"/>
                <a:gd name="T54" fmla="*/ 4139 w 5731"/>
                <a:gd name="T55" fmla="*/ 1904 h 5595"/>
                <a:gd name="T56" fmla="*/ 4022 w 5731"/>
                <a:gd name="T57" fmla="*/ 2062 h 5595"/>
                <a:gd name="T58" fmla="*/ 3814 w 5731"/>
                <a:gd name="T59" fmla="*/ 2352 h 5595"/>
                <a:gd name="T60" fmla="*/ 3605 w 5731"/>
                <a:gd name="T61" fmla="*/ 2627 h 5595"/>
                <a:gd name="T62" fmla="*/ 3395 w 5731"/>
                <a:gd name="T63" fmla="*/ 2888 h 5595"/>
                <a:gd name="T64" fmla="*/ 3186 w 5731"/>
                <a:gd name="T65" fmla="*/ 3135 h 5595"/>
                <a:gd name="T66" fmla="*/ 2977 w 5731"/>
                <a:gd name="T67" fmla="*/ 3364 h 5595"/>
                <a:gd name="T68" fmla="*/ 2773 w 5731"/>
                <a:gd name="T69" fmla="*/ 3576 h 5595"/>
                <a:gd name="T70" fmla="*/ 2571 w 5731"/>
                <a:gd name="T71" fmla="*/ 3771 h 5595"/>
                <a:gd name="T72" fmla="*/ 2373 w 5731"/>
                <a:gd name="T73" fmla="*/ 3946 h 5595"/>
                <a:gd name="T74" fmla="*/ 2182 w 5731"/>
                <a:gd name="T75" fmla="*/ 4101 h 5595"/>
                <a:gd name="T76" fmla="*/ 1997 w 5731"/>
                <a:gd name="T77" fmla="*/ 4236 h 5595"/>
                <a:gd name="T78" fmla="*/ 1819 w 5731"/>
                <a:gd name="T79" fmla="*/ 4350 h 5595"/>
                <a:gd name="T80" fmla="*/ 1651 w 5731"/>
                <a:gd name="T81" fmla="*/ 4441 h 5595"/>
                <a:gd name="T82" fmla="*/ 1491 w 5731"/>
                <a:gd name="T83" fmla="*/ 4509 h 5595"/>
                <a:gd name="T84" fmla="*/ 1341 w 5731"/>
                <a:gd name="T85" fmla="*/ 4553 h 5595"/>
                <a:gd name="T86" fmla="*/ 1204 w 5731"/>
                <a:gd name="T87" fmla="*/ 4572 h 5595"/>
                <a:gd name="T88" fmla="*/ 1079 w 5731"/>
                <a:gd name="T89" fmla="*/ 4564 h 5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731" h="5595">
                  <a:moveTo>
                    <a:pt x="873" y="4793"/>
                  </a:moveTo>
                  <a:lnTo>
                    <a:pt x="838" y="4833"/>
                  </a:lnTo>
                  <a:lnTo>
                    <a:pt x="803" y="4876"/>
                  </a:lnTo>
                  <a:lnTo>
                    <a:pt x="765" y="4921"/>
                  </a:lnTo>
                  <a:lnTo>
                    <a:pt x="725" y="4967"/>
                  </a:lnTo>
                  <a:lnTo>
                    <a:pt x="685" y="5015"/>
                  </a:lnTo>
                  <a:lnTo>
                    <a:pt x="642" y="5065"/>
                  </a:lnTo>
                  <a:lnTo>
                    <a:pt x="599" y="5115"/>
                  </a:lnTo>
                  <a:lnTo>
                    <a:pt x="554" y="5168"/>
                  </a:lnTo>
                  <a:lnTo>
                    <a:pt x="509" y="5220"/>
                  </a:lnTo>
                  <a:lnTo>
                    <a:pt x="463" y="5273"/>
                  </a:lnTo>
                  <a:lnTo>
                    <a:pt x="416" y="5328"/>
                  </a:lnTo>
                  <a:lnTo>
                    <a:pt x="369" y="5381"/>
                  </a:lnTo>
                  <a:lnTo>
                    <a:pt x="322" y="5435"/>
                  </a:lnTo>
                  <a:lnTo>
                    <a:pt x="275" y="5489"/>
                  </a:lnTo>
                  <a:lnTo>
                    <a:pt x="228" y="5542"/>
                  </a:lnTo>
                  <a:lnTo>
                    <a:pt x="181" y="5595"/>
                  </a:lnTo>
                  <a:lnTo>
                    <a:pt x="159" y="5586"/>
                  </a:lnTo>
                  <a:lnTo>
                    <a:pt x="137" y="5576"/>
                  </a:lnTo>
                  <a:lnTo>
                    <a:pt x="114" y="5567"/>
                  </a:lnTo>
                  <a:lnTo>
                    <a:pt x="92" y="5558"/>
                  </a:lnTo>
                  <a:lnTo>
                    <a:pt x="69" y="5548"/>
                  </a:lnTo>
                  <a:lnTo>
                    <a:pt x="46" y="5539"/>
                  </a:lnTo>
                  <a:lnTo>
                    <a:pt x="23" y="5529"/>
                  </a:lnTo>
                  <a:lnTo>
                    <a:pt x="0" y="5520"/>
                  </a:lnTo>
                  <a:lnTo>
                    <a:pt x="2663" y="2150"/>
                  </a:lnTo>
                  <a:lnTo>
                    <a:pt x="4195" y="1179"/>
                  </a:lnTo>
                  <a:lnTo>
                    <a:pt x="5724" y="0"/>
                  </a:lnTo>
                  <a:lnTo>
                    <a:pt x="5731" y="29"/>
                  </a:lnTo>
                  <a:lnTo>
                    <a:pt x="5730" y="62"/>
                  </a:lnTo>
                  <a:lnTo>
                    <a:pt x="5723" y="97"/>
                  </a:lnTo>
                  <a:lnTo>
                    <a:pt x="5708" y="136"/>
                  </a:lnTo>
                  <a:lnTo>
                    <a:pt x="5687" y="179"/>
                  </a:lnTo>
                  <a:lnTo>
                    <a:pt x="5660" y="225"/>
                  </a:lnTo>
                  <a:lnTo>
                    <a:pt x="5628" y="273"/>
                  </a:lnTo>
                  <a:lnTo>
                    <a:pt x="5590" y="324"/>
                  </a:lnTo>
                  <a:lnTo>
                    <a:pt x="5546" y="378"/>
                  </a:lnTo>
                  <a:lnTo>
                    <a:pt x="5499" y="436"/>
                  </a:lnTo>
                  <a:lnTo>
                    <a:pt x="5447" y="494"/>
                  </a:lnTo>
                  <a:lnTo>
                    <a:pt x="5392" y="556"/>
                  </a:lnTo>
                  <a:lnTo>
                    <a:pt x="5332" y="620"/>
                  </a:lnTo>
                  <a:lnTo>
                    <a:pt x="5269" y="686"/>
                  </a:lnTo>
                  <a:lnTo>
                    <a:pt x="5204" y="754"/>
                  </a:lnTo>
                  <a:lnTo>
                    <a:pt x="5136" y="823"/>
                  </a:lnTo>
                  <a:lnTo>
                    <a:pt x="4995" y="967"/>
                  </a:lnTo>
                  <a:lnTo>
                    <a:pt x="4849" y="1115"/>
                  </a:lnTo>
                  <a:lnTo>
                    <a:pt x="4775" y="1192"/>
                  </a:lnTo>
                  <a:lnTo>
                    <a:pt x="4700" y="1269"/>
                  </a:lnTo>
                  <a:lnTo>
                    <a:pt x="4626" y="1346"/>
                  </a:lnTo>
                  <a:lnTo>
                    <a:pt x="4552" y="1425"/>
                  </a:lnTo>
                  <a:lnTo>
                    <a:pt x="4479" y="1504"/>
                  </a:lnTo>
                  <a:lnTo>
                    <a:pt x="4407" y="1584"/>
                  </a:lnTo>
                  <a:lnTo>
                    <a:pt x="4337" y="1664"/>
                  </a:lnTo>
                  <a:lnTo>
                    <a:pt x="4269" y="1744"/>
                  </a:lnTo>
                  <a:lnTo>
                    <a:pt x="4203" y="1823"/>
                  </a:lnTo>
                  <a:lnTo>
                    <a:pt x="4139" y="1904"/>
                  </a:lnTo>
                  <a:lnTo>
                    <a:pt x="4078" y="1983"/>
                  </a:lnTo>
                  <a:lnTo>
                    <a:pt x="4022" y="2062"/>
                  </a:lnTo>
                  <a:lnTo>
                    <a:pt x="3918" y="2209"/>
                  </a:lnTo>
                  <a:lnTo>
                    <a:pt x="3814" y="2352"/>
                  </a:lnTo>
                  <a:lnTo>
                    <a:pt x="3709" y="2491"/>
                  </a:lnTo>
                  <a:lnTo>
                    <a:pt x="3605" y="2627"/>
                  </a:lnTo>
                  <a:lnTo>
                    <a:pt x="3499" y="2760"/>
                  </a:lnTo>
                  <a:lnTo>
                    <a:pt x="3395" y="2888"/>
                  </a:lnTo>
                  <a:lnTo>
                    <a:pt x="3290" y="3014"/>
                  </a:lnTo>
                  <a:lnTo>
                    <a:pt x="3186" y="3135"/>
                  </a:lnTo>
                  <a:lnTo>
                    <a:pt x="3081" y="3251"/>
                  </a:lnTo>
                  <a:lnTo>
                    <a:pt x="2977" y="3364"/>
                  </a:lnTo>
                  <a:lnTo>
                    <a:pt x="2875" y="3473"/>
                  </a:lnTo>
                  <a:lnTo>
                    <a:pt x="2773" y="3576"/>
                  </a:lnTo>
                  <a:lnTo>
                    <a:pt x="2671" y="3676"/>
                  </a:lnTo>
                  <a:lnTo>
                    <a:pt x="2571" y="3771"/>
                  </a:lnTo>
                  <a:lnTo>
                    <a:pt x="2471" y="3861"/>
                  </a:lnTo>
                  <a:lnTo>
                    <a:pt x="2373" y="3946"/>
                  </a:lnTo>
                  <a:lnTo>
                    <a:pt x="2277" y="4026"/>
                  </a:lnTo>
                  <a:lnTo>
                    <a:pt x="2182" y="4101"/>
                  </a:lnTo>
                  <a:lnTo>
                    <a:pt x="2089" y="4171"/>
                  </a:lnTo>
                  <a:lnTo>
                    <a:pt x="1997" y="4236"/>
                  </a:lnTo>
                  <a:lnTo>
                    <a:pt x="1907" y="4296"/>
                  </a:lnTo>
                  <a:lnTo>
                    <a:pt x="1819" y="4350"/>
                  </a:lnTo>
                  <a:lnTo>
                    <a:pt x="1733" y="4398"/>
                  </a:lnTo>
                  <a:lnTo>
                    <a:pt x="1651" y="4441"/>
                  </a:lnTo>
                  <a:lnTo>
                    <a:pt x="1569" y="4478"/>
                  </a:lnTo>
                  <a:lnTo>
                    <a:pt x="1491" y="4509"/>
                  </a:lnTo>
                  <a:lnTo>
                    <a:pt x="1414" y="4534"/>
                  </a:lnTo>
                  <a:lnTo>
                    <a:pt x="1341" y="4553"/>
                  </a:lnTo>
                  <a:lnTo>
                    <a:pt x="1271" y="4565"/>
                  </a:lnTo>
                  <a:lnTo>
                    <a:pt x="1204" y="4572"/>
                  </a:lnTo>
                  <a:lnTo>
                    <a:pt x="1139" y="4571"/>
                  </a:lnTo>
                  <a:lnTo>
                    <a:pt x="1079" y="4564"/>
                  </a:lnTo>
                  <a:lnTo>
                    <a:pt x="873" y="4793"/>
                  </a:lnTo>
                  <a:close/>
                </a:path>
              </a:pathLst>
            </a:custGeom>
            <a:solidFill>
              <a:srgbClr val="315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Freeform 55">
              <a:extLst>
                <a:ext uri="{FF2B5EF4-FFF2-40B4-BE49-F238E27FC236}">
                  <a16:creationId xmlns:a16="http://schemas.microsoft.com/office/drawing/2014/main" id="{0CD9C003-CE77-40A8-9265-C3DA59ECED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" y="1334"/>
              <a:ext cx="145" cy="105"/>
            </a:xfrm>
            <a:custGeom>
              <a:avLst/>
              <a:gdLst>
                <a:gd name="T0" fmla="*/ 2469 w 2469"/>
                <a:gd name="T1" fmla="*/ 422 h 1790"/>
                <a:gd name="T2" fmla="*/ 2462 w 2469"/>
                <a:gd name="T3" fmla="*/ 431 h 1790"/>
                <a:gd name="T4" fmla="*/ 2441 w 2469"/>
                <a:gd name="T5" fmla="*/ 457 h 1790"/>
                <a:gd name="T6" fmla="*/ 2407 w 2469"/>
                <a:gd name="T7" fmla="*/ 498 h 1790"/>
                <a:gd name="T8" fmla="*/ 2361 w 2469"/>
                <a:gd name="T9" fmla="*/ 554 h 1790"/>
                <a:gd name="T10" fmla="*/ 2304 w 2469"/>
                <a:gd name="T11" fmla="*/ 622 h 1790"/>
                <a:gd name="T12" fmla="*/ 2238 w 2469"/>
                <a:gd name="T13" fmla="*/ 702 h 1790"/>
                <a:gd name="T14" fmla="*/ 2164 w 2469"/>
                <a:gd name="T15" fmla="*/ 791 h 1790"/>
                <a:gd name="T16" fmla="*/ 2083 w 2469"/>
                <a:gd name="T17" fmla="*/ 888 h 1790"/>
                <a:gd name="T18" fmla="*/ 1996 w 2469"/>
                <a:gd name="T19" fmla="*/ 992 h 1790"/>
                <a:gd name="T20" fmla="*/ 1903 w 2469"/>
                <a:gd name="T21" fmla="*/ 1101 h 1790"/>
                <a:gd name="T22" fmla="*/ 1807 w 2469"/>
                <a:gd name="T23" fmla="*/ 1215 h 1790"/>
                <a:gd name="T24" fmla="*/ 1707 w 2469"/>
                <a:gd name="T25" fmla="*/ 1331 h 1790"/>
                <a:gd name="T26" fmla="*/ 1606 w 2469"/>
                <a:gd name="T27" fmla="*/ 1447 h 1790"/>
                <a:gd name="T28" fmla="*/ 1504 w 2469"/>
                <a:gd name="T29" fmla="*/ 1564 h 1790"/>
                <a:gd name="T30" fmla="*/ 1403 w 2469"/>
                <a:gd name="T31" fmla="*/ 1678 h 1790"/>
                <a:gd name="T32" fmla="*/ 1305 w 2469"/>
                <a:gd name="T33" fmla="*/ 1790 h 1790"/>
                <a:gd name="T34" fmla="*/ 1280 w 2469"/>
                <a:gd name="T35" fmla="*/ 1779 h 1790"/>
                <a:gd name="T36" fmla="*/ 1252 w 2469"/>
                <a:gd name="T37" fmla="*/ 1766 h 1790"/>
                <a:gd name="T38" fmla="*/ 1223 w 2469"/>
                <a:gd name="T39" fmla="*/ 1752 h 1790"/>
                <a:gd name="T40" fmla="*/ 1192 w 2469"/>
                <a:gd name="T41" fmla="*/ 1736 h 1790"/>
                <a:gd name="T42" fmla="*/ 1123 w 2469"/>
                <a:gd name="T43" fmla="*/ 1699 h 1790"/>
                <a:gd name="T44" fmla="*/ 1047 w 2469"/>
                <a:gd name="T45" fmla="*/ 1657 h 1790"/>
                <a:gd name="T46" fmla="*/ 966 w 2469"/>
                <a:gd name="T47" fmla="*/ 1611 h 1790"/>
                <a:gd name="T48" fmla="*/ 879 w 2469"/>
                <a:gd name="T49" fmla="*/ 1562 h 1790"/>
                <a:gd name="T50" fmla="*/ 789 w 2469"/>
                <a:gd name="T51" fmla="*/ 1510 h 1790"/>
                <a:gd name="T52" fmla="*/ 697 w 2469"/>
                <a:gd name="T53" fmla="*/ 1457 h 1790"/>
                <a:gd name="T54" fmla="*/ 603 w 2469"/>
                <a:gd name="T55" fmla="*/ 1403 h 1790"/>
                <a:gd name="T56" fmla="*/ 509 w 2469"/>
                <a:gd name="T57" fmla="*/ 1350 h 1790"/>
                <a:gd name="T58" fmla="*/ 415 w 2469"/>
                <a:gd name="T59" fmla="*/ 1298 h 1790"/>
                <a:gd name="T60" fmla="*/ 324 w 2469"/>
                <a:gd name="T61" fmla="*/ 1247 h 1790"/>
                <a:gd name="T62" fmla="*/ 235 w 2469"/>
                <a:gd name="T63" fmla="*/ 1200 h 1790"/>
                <a:gd name="T64" fmla="*/ 151 w 2469"/>
                <a:gd name="T65" fmla="*/ 1159 h 1790"/>
                <a:gd name="T66" fmla="*/ 111 w 2469"/>
                <a:gd name="T67" fmla="*/ 1139 h 1790"/>
                <a:gd name="T68" fmla="*/ 72 w 2469"/>
                <a:gd name="T69" fmla="*/ 1120 h 1790"/>
                <a:gd name="T70" fmla="*/ 35 w 2469"/>
                <a:gd name="T71" fmla="*/ 1104 h 1790"/>
                <a:gd name="T72" fmla="*/ 0 w 2469"/>
                <a:gd name="T73" fmla="*/ 1089 h 1790"/>
                <a:gd name="T74" fmla="*/ 1 w 2469"/>
                <a:gd name="T75" fmla="*/ 614 h 1790"/>
                <a:gd name="T76" fmla="*/ 1897 w 2469"/>
                <a:gd name="T77" fmla="*/ 0 h 1790"/>
                <a:gd name="T78" fmla="*/ 2469 w 2469"/>
                <a:gd name="T79" fmla="*/ 422 h 1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469" h="1790">
                  <a:moveTo>
                    <a:pt x="2469" y="422"/>
                  </a:moveTo>
                  <a:lnTo>
                    <a:pt x="2462" y="431"/>
                  </a:lnTo>
                  <a:lnTo>
                    <a:pt x="2441" y="457"/>
                  </a:lnTo>
                  <a:lnTo>
                    <a:pt x="2407" y="498"/>
                  </a:lnTo>
                  <a:lnTo>
                    <a:pt x="2361" y="554"/>
                  </a:lnTo>
                  <a:lnTo>
                    <a:pt x="2304" y="622"/>
                  </a:lnTo>
                  <a:lnTo>
                    <a:pt x="2238" y="702"/>
                  </a:lnTo>
                  <a:lnTo>
                    <a:pt x="2164" y="791"/>
                  </a:lnTo>
                  <a:lnTo>
                    <a:pt x="2083" y="888"/>
                  </a:lnTo>
                  <a:lnTo>
                    <a:pt x="1996" y="992"/>
                  </a:lnTo>
                  <a:lnTo>
                    <a:pt x="1903" y="1101"/>
                  </a:lnTo>
                  <a:lnTo>
                    <a:pt x="1807" y="1215"/>
                  </a:lnTo>
                  <a:lnTo>
                    <a:pt x="1707" y="1331"/>
                  </a:lnTo>
                  <a:lnTo>
                    <a:pt x="1606" y="1447"/>
                  </a:lnTo>
                  <a:lnTo>
                    <a:pt x="1504" y="1564"/>
                  </a:lnTo>
                  <a:lnTo>
                    <a:pt x="1403" y="1678"/>
                  </a:lnTo>
                  <a:lnTo>
                    <a:pt x="1305" y="1790"/>
                  </a:lnTo>
                  <a:lnTo>
                    <a:pt x="1280" y="1779"/>
                  </a:lnTo>
                  <a:lnTo>
                    <a:pt x="1252" y="1766"/>
                  </a:lnTo>
                  <a:lnTo>
                    <a:pt x="1223" y="1752"/>
                  </a:lnTo>
                  <a:lnTo>
                    <a:pt x="1192" y="1736"/>
                  </a:lnTo>
                  <a:lnTo>
                    <a:pt x="1123" y="1699"/>
                  </a:lnTo>
                  <a:lnTo>
                    <a:pt x="1047" y="1657"/>
                  </a:lnTo>
                  <a:lnTo>
                    <a:pt x="966" y="1611"/>
                  </a:lnTo>
                  <a:lnTo>
                    <a:pt x="879" y="1562"/>
                  </a:lnTo>
                  <a:lnTo>
                    <a:pt x="789" y="1510"/>
                  </a:lnTo>
                  <a:lnTo>
                    <a:pt x="697" y="1457"/>
                  </a:lnTo>
                  <a:lnTo>
                    <a:pt x="603" y="1403"/>
                  </a:lnTo>
                  <a:lnTo>
                    <a:pt x="509" y="1350"/>
                  </a:lnTo>
                  <a:lnTo>
                    <a:pt x="415" y="1298"/>
                  </a:lnTo>
                  <a:lnTo>
                    <a:pt x="324" y="1247"/>
                  </a:lnTo>
                  <a:lnTo>
                    <a:pt x="235" y="1200"/>
                  </a:lnTo>
                  <a:lnTo>
                    <a:pt x="151" y="1159"/>
                  </a:lnTo>
                  <a:lnTo>
                    <a:pt x="111" y="1139"/>
                  </a:lnTo>
                  <a:lnTo>
                    <a:pt x="72" y="1120"/>
                  </a:lnTo>
                  <a:lnTo>
                    <a:pt x="35" y="1104"/>
                  </a:lnTo>
                  <a:lnTo>
                    <a:pt x="0" y="1089"/>
                  </a:lnTo>
                  <a:lnTo>
                    <a:pt x="1" y="614"/>
                  </a:lnTo>
                  <a:lnTo>
                    <a:pt x="1897" y="0"/>
                  </a:lnTo>
                  <a:lnTo>
                    <a:pt x="2469" y="422"/>
                  </a:lnTo>
                  <a:close/>
                </a:path>
              </a:pathLst>
            </a:custGeom>
            <a:solidFill>
              <a:srgbClr val="315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Freeform 56">
              <a:extLst>
                <a:ext uri="{FF2B5EF4-FFF2-40B4-BE49-F238E27FC236}">
                  <a16:creationId xmlns:a16="http://schemas.microsoft.com/office/drawing/2014/main" id="{02640BFB-B634-40C7-B931-5925713F3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6" y="1135"/>
              <a:ext cx="276" cy="156"/>
            </a:xfrm>
            <a:custGeom>
              <a:avLst/>
              <a:gdLst>
                <a:gd name="T0" fmla="*/ 1136 w 4677"/>
                <a:gd name="T1" fmla="*/ 0 h 2666"/>
                <a:gd name="T2" fmla="*/ 4677 w 4677"/>
                <a:gd name="T3" fmla="*/ 1445 h 2666"/>
                <a:gd name="T4" fmla="*/ 3598 w 4677"/>
                <a:gd name="T5" fmla="*/ 2666 h 2666"/>
                <a:gd name="T6" fmla="*/ 0 w 4677"/>
                <a:gd name="T7" fmla="*/ 1215 h 2666"/>
                <a:gd name="T8" fmla="*/ 1136 w 4677"/>
                <a:gd name="T9" fmla="*/ 0 h 2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77" h="2666">
                  <a:moveTo>
                    <a:pt x="1136" y="0"/>
                  </a:moveTo>
                  <a:lnTo>
                    <a:pt x="4677" y="1445"/>
                  </a:lnTo>
                  <a:lnTo>
                    <a:pt x="3598" y="2666"/>
                  </a:lnTo>
                  <a:lnTo>
                    <a:pt x="0" y="1215"/>
                  </a:lnTo>
                  <a:lnTo>
                    <a:pt x="1136" y="0"/>
                  </a:lnTo>
                  <a:close/>
                </a:path>
              </a:pathLst>
            </a:custGeom>
            <a:solidFill>
              <a:srgbClr val="315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Freeform 57">
              <a:extLst>
                <a:ext uri="{FF2B5EF4-FFF2-40B4-BE49-F238E27FC236}">
                  <a16:creationId xmlns:a16="http://schemas.microsoft.com/office/drawing/2014/main" id="{43D8B424-DA10-4A21-8DCD-16FE2E489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9" y="1221"/>
              <a:ext cx="780" cy="440"/>
            </a:xfrm>
            <a:custGeom>
              <a:avLst/>
              <a:gdLst>
                <a:gd name="T0" fmla="*/ 8430 w 13259"/>
                <a:gd name="T1" fmla="*/ 4789 h 7476"/>
                <a:gd name="T2" fmla="*/ 8395 w 13259"/>
                <a:gd name="T3" fmla="*/ 4854 h 7476"/>
                <a:gd name="T4" fmla="*/ 8323 w 13259"/>
                <a:gd name="T5" fmla="*/ 4989 h 7476"/>
                <a:gd name="T6" fmla="*/ 8218 w 13259"/>
                <a:gd name="T7" fmla="*/ 5182 h 7476"/>
                <a:gd name="T8" fmla="*/ 8085 w 13259"/>
                <a:gd name="T9" fmla="*/ 5425 h 7476"/>
                <a:gd name="T10" fmla="*/ 7927 w 13259"/>
                <a:gd name="T11" fmla="*/ 5707 h 7476"/>
                <a:gd name="T12" fmla="*/ 7752 w 13259"/>
                <a:gd name="T13" fmla="*/ 5950 h 7476"/>
                <a:gd name="T14" fmla="*/ 7524 w 13259"/>
                <a:gd name="T15" fmla="*/ 6159 h 7476"/>
                <a:gd name="T16" fmla="*/ 7256 w 13259"/>
                <a:gd name="T17" fmla="*/ 6329 h 7476"/>
                <a:gd name="T18" fmla="*/ 6957 w 13259"/>
                <a:gd name="T19" fmla="*/ 6458 h 7476"/>
                <a:gd name="T20" fmla="*/ 6638 w 13259"/>
                <a:gd name="T21" fmla="*/ 6539 h 7476"/>
                <a:gd name="T22" fmla="*/ 6312 w 13259"/>
                <a:gd name="T23" fmla="*/ 6570 h 7476"/>
                <a:gd name="T24" fmla="*/ 5990 w 13259"/>
                <a:gd name="T25" fmla="*/ 6543 h 7476"/>
                <a:gd name="T26" fmla="*/ 5682 w 13259"/>
                <a:gd name="T27" fmla="*/ 6456 h 7476"/>
                <a:gd name="T28" fmla="*/ 5400 w 13259"/>
                <a:gd name="T29" fmla="*/ 6303 h 7476"/>
                <a:gd name="T30" fmla="*/ 5156 w 13259"/>
                <a:gd name="T31" fmla="*/ 6080 h 7476"/>
                <a:gd name="T32" fmla="*/ 4639 w 13259"/>
                <a:gd name="T33" fmla="*/ 5546 h 7476"/>
                <a:gd name="T34" fmla="*/ 155 w 13259"/>
                <a:gd name="T35" fmla="*/ 3699 h 7476"/>
                <a:gd name="T36" fmla="*/ 785 w 13259"/>
                <a:gd name="T37" fmla="*/ 4045 h 7476"/>
                <a:gd name="T38" fmla="*/ 1884 w 13259"/>
                <a:gd name="T39" fmla="*/ 4656 h 7476"/>
                <a:gd name="T40" fmla="*/ 2711 w 13259"/>
                <a:gd name="T41" fmla="*/ 5128 h 7476"/>
                <a:gd name="T42" fmla="*/ 3311 w 13259"/>
                <a:gd name="T43" fmla="*/ 5478 h 7476"/>
                <a:gd name="T44" fmla="*/ 3847 w 13259"/>
                <a:gd name="T45" fmla="*/ 5802 h 7476"/>
                <a:gd name="T46" fmla="*/ 4278 w 13259"/>
                <a:gd name="T47" fmla="*/ 6079 h 7476"/>
                <a:gd name="T48" fmla="*/ 4563 w 13259"/>
                <a:gd name="T49" fmla="*/ 6287 h 7476"/>
                <a:gd name="T50" fmla="*/ 4666 w 13259"/>
                <a:gd name="T51" fmla="*/ 6399 h 7476"/>
                <a:gd name="T52" fmla="*/ 4798 w 13259"/>
                <a:gd name="T53" fmla="*/ 6555 h 7476"/>
                <a:gd name="T54" fmla="*/ 4972 w 13259"/>
                <a:gd name="T55" fmla="*/ 6738 h 7476"/>
                <a:gd name="T56" fmla="*/ 5203 w 13259"/>
                <a:gd name="T57" fmla="*/ 6945 h 7476"/>
                <a:gd name="T58" fmla="*/ 5486 w 13259"/>
                <a:gd name="T59" fmla="*/ 7150 h 7476"/>
                <a:gd name="T60" fmla="*/ 5811 w 13259"/>
                <a:gd name="T61" fmla="*/ 7325 h 7476"/>
                <a:gd name="T62" fmla="*/ 6171 w 13259"/>
                <a:gd name="T63" fmla="*/ 7443 h 7476"/>
                <a:gd name="T64" fmla="*/ 6559 w 13259"/>
                <a:gd name="T65" fmla="*/ 7476 h 7476"/>
                <a:gd name="T66" fmla="*/ 6970 w 13259"/>
                <a:gd name="T67" fmla="*/ 7397 h 7476"/>
                <a:gd name="T68" fmla="*/ 7394 w 13259"/>
                <a:gd name="T69" fmla="*/ 7178 h 7476"/>
                <a:gd name="T70" fmla="*/ 7702 w 13259"/>
                <a:gd name="T71" fmla="*/ 6919 h 7476"/>
                <a:gd name="T72" fmla="*/ 7767 w 13259"/>
                <a:gd name="T73" fmla="*/ 6851 h 7476"/>
                <a:gd name="T74" fmla="*/ 7830 w 13259"/>
                <a:gd name="T75" fmla="*/ 6777 h 7476"/>
                <a:gd name="T76" fmla="*/ 7933 w 13259"/>
                <a:gd name="T77" fmla="*/ 6639 h 7476"/>
                <a:gd name="T78" fmla="*/ 8052 w 13259"/>
                <a:gd name="T79" fmla="*/ 6451 h 7476"/>
                <a:gd name="T80" fmla="*/ 8165 w 13259"/>
                <a:gd name="T81" fmla="*/ 6243 h 7476"/>
                <a:gd name="T82" fmla="*/ 8270 w 13259"/>
                <a:gd name="T83" fmla="*/ 6018 h 7476"/>
                <a:gd name="T84" fmla="*/ 13259 w 13259"/>
                <a:gd name="T85" fmla="*/ 755 h 7476"/>
                <a:gd name="T86" fmla="*/ 13246 w 13259"/>
                <a:gd name="T87" fmla="*/ 693 h 7476"/>
                <a:gd name="T88" fmla="*/ 13217 w 13259"/>
                <a:gd name="T89" fmla="*/ 540 h 7476"/>
                <a:gd name="T90" fmla="*/ 13177 w 13259"/>
                <a:gd name="T91" fmla="*/ 347 h 7476"/>
                <a:gd name="T92" fmla="*/ 13139 w 13259"/>
                <a:gd name="T93" fmla="*/ 160 h 7476"/>
                <a:gd name="T94" fmla="*/ 13108 w 13259"/>
                <a:gd name="T95" fmla="*/ 30 h 7476"/>
                <a:gd name="T96" fmla="*/ 13099 w 13259"/>
                <a:gd name="T97" fmla="*/ 0 h 7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3259" h="7476">
                  <a:moveTo>
                    <a:pt x="13099" y="0"/>
                  </a:moveTo>
                  <a:lnTo>
                    <a:pt x="8433" y="4785"/>
                  </a:lnTo>
                  <a:lnTo>
                    <a:pt x="8430" y="4789"/>
                  </a:lnTo>
                  <a:lnTo>
                    <a:pt x="8424" y="4803"/>
                  </a:lnTo>
                  <a:lnTo>
                    <a:pt x="8411" y="4825"/>
                  </a:lnTo>
                  <a:lnTo>
                    <a:pt x="8395" y="4854"/>
                  </a:lnTo>
                  <a:lnTo>
                    <a:pt x="8375" y="4892"/>
                  </a:lnTo>
                  <a:lnTo>
                    <a:pt x="8351" y="4937"/>
                  </a:lnTo>
                  <a:lnTo>
                    <a:pt x="8323" y="4989"/>
                  </a:lnTo>
                  <a:lnTo>
                    <a:pt x="8292" y="5046"/>
                  </a:lnTo>
                  <a:lnTo>
                    <a:pt x="8256" y="5111"/>
                  </a:lnTo>
                  <a:lnTo>
                    <a:pt x="8218" y="5182"/>
                  </a:lnTo>
                  <a:lnTo>
                    <a:pt x="8177" y="5258"/>
                  </a:lnTo>
                  <a:lnTo>
                    <a:pt x="8132" y="5339"/>
                  </a:lnTo>
                  <a:lnTo>
                    <a:pt x="8085" y="5425"/>
                  </a:lnTo>
                  <a:lnTo>
                    <a:pt x="8035" y="5516"/>
                  </a:lnTo>
                  <a:lnTo>
                    <a:pt x="7981" y="5610"/>
                  </a:lnTo>
                  <a:lnTo>
                    <a:pt x="7927" y="5707"/>
                  </a:lnTo>
                  <a:lnTo>
                    <a:pt x="7875" y="5792"/>
                  </a:lnTo>
                  <a:lnTo>
                    <a:pt x="7817" y="5872"/>
                  </a:lnTo>
                  <a:lnTo>
                    <a:pt x="7752" y="5950"/>
                  </a:lnTo>
                  <a:lnTo>
                    <a:pt x="7681" y="6023"/>
                  </a:lnTo>
                  <a:lnTo>
                    <a:pt x="7606" y="6093"/>
                  </a:lnTo>
                  <a:lnTo>
                    <a:pt x="7524" y="6159"/>
                  </a:lnTo>
                  <a:lnTo>
                    <a:pt x="7439" y="6219"/>
                  </a:lnTo>
                  <a:lnTo>
                    <a:pt x="7349" y="6277"/>
                  </a:lnTo>
                  <a:lnTo>
                    <a:pt x="7256" y="6329"/>
                  </a:lnTo>
                  <a:lnTo>
                    <a:pt x="7159" y="6377"/>
                  </a:lnTo>
                  <a:lnTo>
                    <a:pt x="7059" y="6420"/>
                  </a:lnTo>
                  <a:lnTo>
                    <a:pt x="6957" y="6458"/>
                  </a:lnTo>
                  <a:lnTo>
                    <a:pt x="6852" y="6490"/>
                  </a:lnTo>
                  <a:lnTo>
                    <a:pt x="6746" y="6518"/>
                  </a:lnTo>
                  <a:lnTo>
                    <a:pt x="6638" y="6539"/>
                  </a:lnTo>
                  <a:lnTo>
                    <a:pt x="6530" y="6556"/>
                  </a:lnTo>
                  <a:lnTo>
                    <a:pt x="6420" y="6565"/>
                  </a:lnTo>
                  <a:lnTo>
                    <a:pt x="6312" y="6570"/>
                  </a:lnTo>
                  <a:lnTo>
                    <a:pt x="6204" y="6568"/>
                  </a:lnTo>
                  <a:lnTo>
                    <a:pt x="6096" y="6558"/>
                  </a:lnTo>
                  <a:lnTo>
                    <a:pt x="5990" y="6543"/>
                  </a:lnTo>
                  <a:lnTo>
                    <a:pt x="5885" y="6522"/>
                  </a:lnTo>
                  <a:lnTo>
                    <a:pt x="5782" y="6492"/>
                  </a:lnTo>
                  <a:lnTo>
                    <a:pt x="5682" y="6456"/>
                  </a:lnTo>
                  <a:lnTo>
                    <a:pt x="5585" y="6413"/>
                  </a:lnTo>
                  <a:lnTo>
                    <a:pt x="5491" y="6362"/>
                  </a:lnTo>
                  <a:lnTo>
                    <a:pt x="5400" y="6303"/>
                  </a:lnTo>
                  <a:lnTo>
                    <a:pt x="5314" y="6237"/>
                  </a:lnTo>
                  <a:lnTo>
                    <a:pt x="5233" y="6163"/>
                  </a:lnTo>
                  <a:lnTo>
                    <a:pt x="5156" y="6080"/>
                  </a:lnTo>
                  <a:lnTo>
                    <a:pt x="5085" y="5989"/>
                  </a:lnTo>
                  <a:lnTo>
                    <a:pt x="5020" y="5890"/>
                  </a:lnTo>
                  <a:lnTo>
                    <a:pt x="4639" y="5546"/>
                  </a:lnTo>
                  <a:lnTo>
                    <a:pt x="0" y="3159"/>
                  </a:lnTo>
                  <a:lnTo>
                    <a:pt x="107" y="3673"/>
                  </a:lnTo>
                  <a:lnTo>
                    <a:pt x="155" y="3699"/>
                  </a:lnTo>
                  <a:lnTo>
                    <a:pt x="293" y="3774"/>
                  </a:lnTo>
                  <a:lnTo>
                    <a:pt x="507" y="3891"/>
                  </a:lnTo>
                  <a:lnTo>
                    <a:pt x="785" y="4045"/>
                  </a:lnTo>
                  <a:lnTo>
                    <a:pt x="1116" y="4228"/>
                  </a:lnTo>
                  <a:lnTo>
                    <a:pt x="1486" y="4434"/>
                  </a:lnTo>
                  <a:lnTo>
                    <a:pt x="1884" y="4656"/>
                  </a:lnTo>
                  <a:lnTo>
                    <a:pt x="2296" y="4890"/>
                  </a:lnTo>
                  <a:lnTo>
                    <a:pt x="2504" y="5009"/>
                  </a:lnTo>
                  <a:lnTo>
                    <a:pt x="2711" y="5128"/>
                  </a:lnTo>
                  <a:lnTo>
                    <a:pt x="2915" y="5246"/>
                  </a:lnTo>
                  <a:lnTo>
                    <a:pt x="3116" y="5363"/>
                  </a:lnTo>
                  <a:lnTo>
                    <a:pt x="3311" y="5478"/>
                  </a:lnTo>
                  <a:lnTo>
                    <a:pt x="3499" y="5590"/>
                  </a:lnTo>
                  <a:lnTo>
                    <a:pt x="3678" y="5699"/>
                  </a:lnTo>
                  <a:lnTo>
                    <a:pt x="3847" y="5802"/>
                  </a:lnTo>
                  <a:lnTo>
                    <a:pt x="4004" y="5902"/>
                  </a:lnTo>
                  <a:lnTo>
                    <a:pt x="4149" y="5994"/>
                  </a:lnTo>
                  <a:lnTo>
                    <a:pt x="4278" y="6079"/>
                  </a:lnTo>
                  <a:lnTo>
                    <a:pt x="4391" y="6158"/>
                  </a:lnTo>
                  <a:lnTo>
                    <a:pt x="4486" y="6227"/>
                  </a:lnTo>
                  <a:lnTo>
                    <a:pt x="4563" y="6287"/>
                  </a:lnTo>
                  <a:lnTo>
                    <a:pt x="4617" y="6338"/>
                  </a:lnTo>
                  <a:lnTo>
                    <a:pt x="4649" y="6376"/>
                  </a:lnTo>
                  <a:lnTo>
                    <a:pt x="4666" y="6399"/>
                  </a:lnTo>
                  <a:lnTo>
                    <a:pt x="4716" y="6462"/>
                  </a:lnTo>
                  <a:lnTo>
                    <a:pt x="4754" y="6505"/>
                  </a:lnTo>
                  <a:lnTo>
                    <a:pt x="4798" y="6555"/>
                  </a:lnTo>
                  <a:lnTo>
                    <a:pt x="4849" y="6611"/>
                  </a:lnTo>
                  <a:lnTo>
                    <a:pt x="4908" y="6673"/>
                  </a:lnTo>
                  <a:lnTo>
                    <a:pt x="4972" y="6738"/>
                  </a:lnTo>
                  <a:lnTo>
                    <a:pt x="5043" y="6805"/>
                  </a:lnTo>
                  <a:lnTo>
                    <a:pt x="5121" y="6875"/>
                  </a:lnTo>
                  <a:lnTo>
                    <a:pt x="5203" y="6945"/>
                  </a:lnTo>
                  <a:lnTo>
                    <a:pt x="5292" y="7015"/>
                  </a:lnTo>
                  <a:lnTo>
                    <a:pt x="5386" y="7084"/>
                  </a:lnTo>
                  <a:lnTo>
                    <a:pt x="5486" y="7150"/>
                  </a:lnTo>
                  <a:lnTo>
                    <a:pt x="5589" y="7213"/>
                  </a:lnTo>
                  <a:lnTo>
                    <a:pt x="5698" y="7272"/>
                  </a:lnTo>
                  <a:lnTo>
                    <a:pt x="5811" y="7325"/>
                  </a:lnTo>
                  <a:lnTo>
                    <a:pt x="5927" y="7373"/>
                  </a:lnTo>
                  <a:lnTo>
                    <a:pt x="6047" y="7411"/>
                  </a:lnTo>
                  <a:lnTo>
                    <a:pt x="6171" y="7443"/>
                  </a:lnTo>
                  <a:lnTo>
                    <a:pt x="6298" y="7465"/>
                  </a:lnTo>
                  <a:lnTo>
                    <a:pt x="6428" y="7476"/>
                  </a:lnTo>
                  <a:lnTo>
                    <a:pt x="6559" y="7476"/>
                  </a:lnTo>
                  <a:lnTo>
                    <a:pt x="6694" y="7463"/>
                  </a:lnTo>
                  <a:lnTo>
                    <a:pt x="6831" y="7437"/>
                  </a:lnTo>
                  <a:lnTo>
                    <a:pt x="6970" y="7397"/>
                  </a:lnTo>
                  <a:lnTo>
                    <a:pt x="7110" y="7340"/>
                  </a:lnTo>
                  <a:lnTo>
                    <a:pt x="7252" y="7268"/>
                  </a:lnTo>
                  <a:lnTo>
                    <a:pt x="7394" y="7178"/>
                  </a:lnTo>
                  <a:lnTo>
                    <a:pt x="7537" y="7068"/>
                  </a:lnTo>
                  <a:lnTo>
                    <a:pt x="7681" y="6940"/>
                  </a:lnTo>
                  <a:lnTo>
                    <a:pt x="7702" y="6919"/>
                  </a:lnTo>
                  <a:lnTo>
                    <a:pt x="7724" y="6897"/>
                  </a:lnTo>
                  <a:lnTo>
                    <a:pt x="7745" y="6875"/>
                  </a:lnTo>
                  <a:lnTo>
                    <a:pt x="7767" y="6851"/>
                  </a:lnTo>
                  <a:lnTo>
                    <a:pt x="7788" y="6827"/>
                  </a:lnTo>
                  <a:lnTo>
                    <a:pt x="7809" y="6803"/>
                  </a:lnTo>
                  <a:lnTo>
                    <a:pt x="7830" y="6777"/>
                  </a:lnTo>
                  <a:lnTo>
                    <a:pt x="7851" y="6750"/>
                  </a:lnTo>
                  <a:lnTo>
                    <a:pt x="7891" y="6696"/>
                  </a:lnTo>
                  <a:lnTo>
                    <a:pt x="7933" y="6639"/>
                  </a:lnTo>
                  <a:lnTo>
                    <a:pt x="7973" y="6578"/>
                  </a:lnTo>
                  <a:lnTo>
                    <a:pt x="8013" y="6516"/>
                  </a:lnTo>
                  <a:lnTo>
                    <a:pt x="8052" y="6451"/>
                  </a:lnTo>
                  <a:lnTo>
                    <a:pt x="8090" y="6385"/>
                  </a:lnTo>
                  <a:lnTo>
                    <a:pt x="8128" y="6315"/>
                  </a:lnTo>
                  <a:lnTo>
                    <a:pt x="8165" y="6243"/>
                  </a:lnTo>
                  <a:lnTo>
                    <a:pt x="8201" y="6170"/>
                  </a:lnTo>
                  <a:lnTo>
                    <a:pt x="8235" y="6095"/>
                  </a:lnTo>
                  <a:lnTo>
                    <a:pt x="8270" y="6018"/>
                  </a:lnTo>
                  <a:lnTo>
                    <a:pt x="8303" y="5939"/>
                  </a:lnTo>
                  <a:lnTo>
                    <a:pt x="12849" y="2137"/>
                  </a:lnTo>
                  <a:lnTo>
                    <a:pt x="13259" y="755"/>
                  </a:lnTo>
                  <a:lnTo>
                    <a:pt x="13258" y="747"/>
                  </a:lnTo>
                  <a:lnTo>
                    <a:pt x="13254" y="727"/>
                  </a:lnTo>
                  <a:lnTo>
                    <a:pt x="13246" y="693"/>
                  </a:lnTo>
                  <a:lnTo>
                    <a:pt x="13238" y="650"/>
                  </a:lnTo>
                  <a:lnTo>
                    <a:pt x="13229" y="599"/>
                  </a:lnTo>
                  <a:lnTo>
                    <a:pt x="13217" y="540"/>
                  </a:lnTo>
                  <a:lnTo>
                    <a:pt x="13205" y="479"/>
                  </a:lnTo>
                  <a:lnTo>
                    <a:pt x="13191" y="413"/>
                  </a:lnTo>
                  <a:lnTo>
                    <a:pt x="13177" y="347"/>
                  </a:lnTo>
                  <a:lnTo>
                    <a:pt x="13164" y="281"/>
                  </a:lnTo>
                  <a:lnTo>
                    <a:pt x="13151" y="218"/>
                  </a:lnTo>
                  <a:lnTo>
                    <a:pt x="13139" y="160"/>
                  </a:lnTo>
                  <a:lnTo>
                    <a:pt x="13127" y="109"/>
                  </a:lnTo>
                  <a:lnTo>
                    <a:pt x="13117" y="65"/>
                  </a:lnTo>
                  <a:lnTo>
                    <a:pt x="13108" y="30"/>
                  </a:lnTo>
                  <a:lnTo>
                    <a:pt x="13102" y="8"/>
                  </a:lnTo>
                  <a:lnTo>
                    <a:pt x="13100" y="1"/>
                  </a:lnTo>
                  <a:lnTo>
                    <a:pt x="13099" y="0"/>
                  </a:lnTo>
                  <a:close/>
                </a:path>
              </a:pathLst>
            </a:custGeom>
            <a:solidFill>
              <a:srgbClr val="315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Freeform 58">
              <a:extLst>
                <a:ext uri="{FF2B5EF4-FFF2-40B4-BE49-F238E27FC236}">
                  <a16:creationId xmlns:a16="http://schemas.microsoft.com/office/drawing/2014/main" id="{AA1D1A36-411C-43A3-A437-CA7130399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4" y="1063"/>
              <a:ext cx="409" cy="348"/>
            </a:xfrm>
            <a:custGeom>
              <a:avLst/>
              <a:gdLst>
                <a:gd name="T0" fmla="*/ 3918 w 6961"/>
                <a:gd name="T1" fmla="*/ 3125 h 5908"/>
                <a:gd name="T2" fmla="*/ 3707 w 6961"/>
                <a:gd name="T3" fmla="*/ 3347 h 5908"/>
                <a:gd name="T4" fmla="*/ 3527 w 6961"/>
                <a:gd name="T5" fmla="*/ 3549 h 5908"/>
                <a:gd name="T6" fmla="*/ 3369 w 6961"/>
                <a:gd name="T7" fmla="*/ 3738 h 5908"/>
                <a:gd name="T8" fmla="*/ 3230 w 6961"/>
                <a:gd name="T9" fmla="*/ 3912 h 5908"/>
                <a:gd name="T10" fmla="*/ 3106 w 6961"/>
                <a:gd name="T11" fmla="*/ 4077 h 5908"/>
                <a:gd name="T12" fmla="*/ 2938 w 6961"/>
                <a:gd name="T13" fmla="*/ 4313 h 5908"/>
                <a:gd name="T14" fmla="*/ 2779 w 6961"/>
                <a:gd name="T15" fmla="*/ 4540 h 5908"/>
                <a:gd name="T16" fmla="*/ 2670 w 6961"/>
                <a:gd name="T17" fmla="*/ 4694 h 5908"/>
                <a:gd name="T18" fmla="*/ 2554 w 6961"/>
                <a:gd name="T19" fmla="*/ 4851 h 5908"/>
                <a:gd name="T20" fmla="*/ 2426 w 6961"/>
                <a:gd name="T21" fmla="*/ 5014 h 5908"/>
                <a:gd name="T22" fmla="*/ 2281 w 6961"/>
                <a:gd name="T23" fmla="*/ 5188 h 5908"/>
                <a:gd name="T24" fmla="*/ 2116 w 6961"/>
                <a:gd name="T25" fmla="*/ 5373 h 5908"/>
                <a:gd name="T26" fmla="*/ 1926 w 6961"/>
                <a:gd name="T27" fmla="*/ 5573 h 5908"/>
                <a:gd name="T28" fmla="*/ 1705 w 6961"/>
                <a:gd name="T29" fmla="*/ 5791 h 5908"/>
                <a:gd name="T30" fmla="*/ 0 w 6961"/>
                <a:gd name="T31" fmla="*/ 5092 h 5908"/>
                <a:gd name="T32" fmla="*/ 1473 w 6961"/>
                <a:gd name="T33" fmla="*/ 3654 h 5908"/>
                <a:gd name="T34" fmla="*/ 1728 w 6961"/>
                <a:gd name="T35" fmla="*/ 3357 h 5908"/>
                <a:gd name="T36" fmla="*/ 1990 w 6961"/>
                <a:gd name="T37" fmla="*/ 3063 h 5908"/>
                <a:gd name="T38" fmla="*/ 2256 w 6961"/>
                <a:gd name="T39" fmla="*/ 2772 h 5908"/>
                <a:gd name="T40" fmla="*/ 2527 w 6961"/>
                <a:gd name="T41" fmla="*/ 2484 h 5908"/>
                <a:gd name="T42" fmla="*/ 2799 w 6961"/>
                <a:gd name="T43" fmla="*/ 2199 h 5908"/>
                <a:gd name="T44" fmla="*/ 3071 w 6961"/>
                <a:gd name="T45" fmla="*/ 1915 h 5908"/>
                <a:gd name="T46" fmla="*/ 3343 w 6961"/>
                <a:gd name="T47" fmla="*/ 1636 h 5908"/>
                <a:gd name="T48" fmla="*/ 3515 w 6961"/>
                <a:gd name="T49" fmla="*/ 1458 h 5908"/>
                <a:gd name="T50" fmla="*/ 3591 w 6961"/>
                <a:gd name="T51" fmla="*/ 1384 h 5908"/>
                <a:gd name="T52" fmla="*/ 3671 w 6961"/>
                <a:gd name="T53" fmla="*/ 1311 h 5908"/>
                <a:gd name="T54" fmla="*/ 3753 w 6961"/>
                <a:gd name="T55" fmla="*/ 1239 h 5908"/>
                <a:gd name="T56" fmla="*/ 3880 w 6961"/>
                <a:gd name="T57" fmla="*/ 1133 h 5908"/>
                <a:gd name="T58" fmla="*/ 4052 w 6961"/>
                <a:gd name="T59" fmla="*/ 998 h 5908"/>
                <a:gd name="T60" fmla="*/ 4228 w 6961"/>
                <a:gd name="T61" fmla="*/ 869 h 5908"/>
                <a:gd name="T62" fmla="*/ 4403 w 6961"/>
                <a:gd name="T63" fmla="*/ 746 h 5908"/>
                <a:gd name="T64" fmla="*/ 4572 w 6961"/>
                <a:gd name="T65" fmla="*/ 629 h 5908"/>
                <a:gd name="T66" fmla="*/ 4734 w 6961"/>
                <a:gd name="T67" fmla="*/ 519 h 5908"/>
                <a:gd name="T68" fmla="*/ 4860 w 6961"/>
                <a:gd name="T69" fmla="*/ 433 h 5908"/>
                <a:gd name="T70" fmla="*/ 4955 w 6961"/>
                <a:gd name="T71" fmla="*/ 360 h 5908"/>
                <a:gd name="T72" fmla="*/ 5052 w 6961"/>
                <a:gd name="T73" fmla="*/ 281 h 5908"/>
                <a:gd name="T74" fmla="*/ 5153 w 6961"/>
                <a:gd name="T75" fmla="*/ 204 h 5908"/>
                <a:gd name="T76" fmla="*/ 5231 w 6961"/>
                <a:gd name="T77" fmla="*/ 150 h 5908"/>
                <a:gd name="T78" fmla="*/ 5284 w 6961"/>
                <a:gd name="T79" fmla="*/ 116 h 5908"/>
                <a:gd name="T80" fmla="*/ 5337 w 6961"/>
                <a:gd name="T81" fmla="*/ 86 h 5908"/>
                <a:gd name="T82" fmla="*/ 5393 w 6961"/>
                <a:gd name="T83" fmla="*/ 59 h 5908"/>
                <a:gd name="T84" fmla="*/ 5449 w 6961"/>
                <a:gd name="T85" fmla="*/ 36 h 5908"/>
                <a:gd name="T86" fmla="*/ 5507 w 6961"/>
                <a:gd name="T87" fmla="*/ 18 h 5908"/>
                <a:gd name="T88" fmla="*/ 5565 w 6961"/>
                <a:gd name="T89" fmla="*/ 6 h 5908"/>
                <a:gd name="T90" fmla="*/ 5625 w 6961"/>
                <a:gd name="T91" fmla="*/ 0 h 5908"/>
                <a:gd name="T92" fmla="*/ 6961 w 6961"/>
                <a:gd name="T93" fmla="*/ 524 h 5908"/>
                <a:gd name="T94" fmla="*/ 6948 w 6961"/>
                <a:gd name="T95" fmla="*/ 553 h 5908"/>
                <a:gd name="T96" fmla="*/ 6880 w 6961"/>
                <a:gd name="T97" fmla="*/ 623 h 5908"/>
                <a:gd name="T98" fmla="*/ 6765 w 6961"/>
                <a:gd name="T99" fmla="*/ 727 h 5908"/>
                <a:gd name="T100" fmla="*/ 6610 w 6961"/>
                <a:gd name="T101" fmla="*/ 861 h 5908"/>
                <a:gd name="T102" fmla="*/ 6202 w 6961"/>
                <a:gd name="T103" fmla="*/ 1200 h 5908"/>
                <a:gd name="T104" fmla="*/ 5713 w 6961"/>
                <a:gd name="T105" fmla="*/ 1600 h 5908"/>
                <a:gd name="T106" fmla="*/ 5196 w 6961"/>
                <a:gd name="T107" fmla="*/ 2020 h 5908"/>
                <a:gd name="T108" fmla="*/ 4708 w 6961"/>
                <a:gd name="T109" fmla="*/ 2421 h 5908"/>
                <a:gd name="T110" fmla="*/ 4492 w 6961"/>
                <a:gd name="T111" fmla="*/ 2602 h 5908"/>
                <a:gd name="T112" fmla="*/ 4302 w 6961"/>
                <a:gd name="T113" fmla="*/ 2763 h 5908"/>
                <a:gd name="T114" fmla="*/ 4148 w 6961"/>
                <a:gd name="T115" fmla="*/ 2900 h 5908"/>
                <a:gd name="T116" fmla="*/ 4035 w 6961"/>
                <a:gd name="T117" fmla="*/ 3007 h 59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961" h="5908">
                  <a:moveTo>
                    <a:pt x="4035" y="3007"/>
                  </a:moveTo>
                  <a:lnTo>
                    <a:pt x="3918" y="3125"/>
                  </a:lnTo>
                  <a:lnTo>
                    <a:pt x="3809" y="3238"/>
                  </a:lnTo>
                  <a:lnTo>
                    <a:pt x="3707" y="3347"/>
                  </a:lnTo>
                  <a:lnTo>
                    <a:pt x="3614" y="3450"/>
                  </a:lnTo>
                  <a:lnTo>
                    <a:pt x="3527" y="3549"/>
                  </a:lnTo>
                  <a:lnTo>
                    <a:pt x="3445" y="3646"/>
                  </a:lnTo>
                  <a:lnTo>
                    <a:pt x="3369" y="3738"/>
                  </a:lnTo>
                  <a:lnTo>
                    <a:pt x="3297" y="3826"/>
                  </a:lnTo>
                  <a:lnTo>
                    <a:pt x="3230" y="3912"/>
                  </a:lnTo>
                  <a:lnTo>
                    <a:pt x="3166" y="3996"/>
                  </a:lnTo>
                  <a:lnTo>
                    <a:pt x="3106" y="4077"/>
                  </a:lnTo>
                  <a:lnTo>
                    <a:pt x="3049" y="4157"/>
                  </a:lnTo>
                  <a:lnTo>
                    <a:pt x="2938" y="4313"/>
                  </a:lnTo>
                  <a:lnTo>
                    <a:pt x="2832" y="4465"/>
                  </a:lnTo>
                  <a:lnTo>
                    <a:pt x="2779" y="4540"/>
                  </a:lnTo>
                  <a:lnTo>
                    <a:pt x="2726" y="4617"/>
                  </a:lnTo>
                  <a:lnTo>
                    <a:pt x="2670" y="4694"/>
                  </a:lnTo>
                  <a:lnTo>
                    <a:pt x="2614" y="4771"/>
                  </a:lnTo>
                  <a:lnTo>
                    <a:pt x="2554" y="4851"/>
                  </a:lnTo>
                  <a:lnTo>
                    <a:pt x="2491" y="4931"/>
                  </a:lnTo>
                  <a:lnTo>
                    <a:pt x="2426" y="5014"/>
                  </a:lnTo>
                  <a:lnTo>
                    <a:pt x="2356" y="5100"/>
                  </a:lnTo>
                  <a:lnTo>
                    <a:pt x="2281" y="5188"/>
                  </a:lnTo>
                  <a:lnTo>
                    <a:pt x="2202" y="5279"/>
                  </a:lnTo>
                  <a:lnTo>
                    <a:pt x="2116" y="5373"/>
                  </a:lnTo>
                  <a:lnTo>
                    <a:pt x="2024" y="5471"/>
                  </a:lnTo>
                  <a:lnTo>
                    <a:pt x="1926" y="5573"/>
                  </a:lnTo>
                  <a:lnTo>
                    <a:pt x="1819" y="5680"/>
                  </a:lnTo>
                  <a:lnTo>
                    <a:pt x="1705" y="5791"/>
                  </a:lnTo>
                  <a:lnTo>
                    <a:pt x="1583" y="5908"/>
                  </a:lnTo>
                  <a:lnTo>
                    <a:pt x="0" y="5092"/>
                  </a:lnTo>
                  <a:lnTo>
                    <a:pt x="1348" y="3804"/>
                  </a:lnTo>
                  <a:lnTo>
                    <a:pt x="1473" y="3654"/>
                  </a:lnTo>
                  <a:lnTo>
                    <a:pt x="1600" y="3505"/>
                  </a:lnTo>
                  <a:lnTo>
                    <a:pt x="1728" y="3357"/>
                  </a:lnTo>
                  <a:lnTo>
                    <a:pt x="1859" y="3210"/>
                  </a:lnTo>
                  <a:lnTo>
                    <a:pt x="1990" y="3063"/>
                  </a:lnTo>
                  <a:lnTo>
                    <a:pt x="2122" y="2917"/>
                  </a:lnTo>
                  <a:lnTo>
                    <a:pt x="2256" y="2772"/>
                  </a:lnTo>
                  <a:lnTo>
                    <a:pt x="2391" y="2627"/>
                  </a:lnTo>
                  <a:lnTo>
                    <a:pt x="2527" y="2484"/>
                  </a:lnTo>
                  <a:lnTo>
                    <a:pt x="2662" y="2341"/>
                  </a:lnTo>
                  <a:lnTo>
                    <a:pt x="2799" y="2199"/>
                  </a:lnTo>
                  <a:lnTo>
                    <a:pt x="2935" y="2056"/>
                  </a:lnTo>
                  <a:lnTo>
                    <a:pt x="3071" y="1915"/>
                  </a:lnTo>
                  <a:lnTo>
                    <a:pt x="3207" y="1775"/>
                  </a:lnTo>
                  <a:lnTo>
                    <a:pt x="3343" y="1636"/>
                  </a:lnTo>
                  <a:lnTo>
                    <a:pt x="3477" y="1497"/>
                  </a:lnTo>
                  <a:lnTo>
                    <a:pt x="3515" y="1458"/>
                  </a:lnTo>
                  <a:lnTo>
                    <a:pt x="3553" y="1421"/>
                  </a:lnTo>
                  <a:lnTo>
                    <a:pt x="3591" y="1384"/>
                  </a:lnTo>
                  <a:lnTo>
                    <a:pt x="3631" y="1347"/>
                  </a:lnTo>
                  <a:lnTo>
                    <a:pt x="3671" y="1311"/>
                  </a:lnTo>
                  <a:lnTo>
                    <a:pt x="3712" y="1274"/>
                  </a:lnTo>
                  <a:lnTo>
                    <a:pt x="3753" y="1239"/>
                  </a:lnTo>
                  <a:lnTo>
                    <a:pt x="3795" y="1203"/>
                  </a:lnTo>
                  <a:lnTo>
                    <a:pt x="3880" y="1133"/>
                  </a:lnTo>
                  <a:lnTo>
                    <a:pt x="3966" y="1065"/>
                  </a:lnTo>
                  <a:lnTo>
                    <a:pt x="4052" y="998"/>
                  </a:lnTo>
                  <a:lnTo>
                    <a:pt x="4140" y="933"/>
                  </a:lnTo>
                  <a:lnTo>
                    <a:pt x="4228" y="869"/>
                  </a:lnTo>
                  <a:lnTo>
                    <a:pt x="4316" y="807"/>
                  </a:lnTo>
                  <a:lnTo>
                    <a:pt x="4403" y="746"/>
                  </a:lnTo>
                  <a:lnTo>
                    <a:pt x="4487" y="687"/>
                  </a:lnTo>
                  <a:lnTo>
                    <a:pt x="4572" y="629"/>
                  </a:lnTo>
                  <a:lnTo>
                    <a:pt x="4655" y="573"/>
                  </a:lnTo>
                  <a:lnTo>
                    <a:pt x="4734" y="519"/>
                  </a:lnTo>
                  <a:lnTo>
                    <a:pt x="4812" y="466"/>
                  </a:lnTo>
                  <a:lnTo>
                    <a:pt x="4860" y="433"/>
                  </a:lnTo>
                  <a:lnTo>
                    <a:pt x="4907" y="397"/>
                  </a:lnTo>
                  <a:lnTo>
                    <a:pt x="4955" y="360"/>
                  </a:lnTo>
                  <a:lnTo>
                    <a:pt x="5003" y="321"/>
                  </a:lnTo>
                  <a:lnTo>
                    <a:pt x="5052" y="281"/>
                  </a:lnTo>
                  <a:lnTo>
                    <a:pt x="5102" y="243"/>
                  </a:lnTo>
                  <a:lnTo>
                    <a:pt x="5153" y="204"/>
                  </a:lnTo>
                  <a:lnTo>
                    <a:pt x="5205" y="167"/>
                  </a:lnTo>
                  <a:lnTo>
                    <a:pt x="5231" y="150"/>
                  </a:lnTo>
                  <a:lnTo>
                    <a:pt x="5257" y="133"/>
                  </a:lnTo>
                  <a:lnTo>
                    <a:pt x="5284" y="116"/>
                  </a:lnTo>
                  <a:lnTo>
                    <a:pt x="5310" y="100"/>
                  </a:lnTo>
                  <a:lnTo>
                    <a:pt x="5337" y="86"/>
                  </a:lnTo>
                  <a:lnTo>
                    <a:pt x="5366" y="71"/>
                  </a:lnTo>
                  <a:lnTo>
                    <a:pt x="5393" y="59"/>
                  </a:lnTo>
                  <a:lnTo>
                    <a:pt x="5421" y="46"/>
                  </a:lnTo>
                  <a:lnTo>
                    <a:pt x="5449" y="36"/>
                  </a:lnTo>
                  <a:lnTo>
                    <a:pt x="5477" y="26"/>
                  </a:lnTo>
                  <a:lnTo>
                    <a:pt x="5507" y="18"/>
                  </a:lnTo>
                  <a:lnTo>
                    <a:pt x="5536" y="12"/>
                  </a:lnTo>
                  <a:lnTo>
                    <a:pt x="5565" y="6"/>
                  </a:lnTo>
                  <a:lnTo>
                    <a:pt x="5595" y="2"/>
                  </a:lnTo>
                  <a:lnTo>
                    <a:pt x="5625" y="0"/>
                  </a:lnTo>
                  <a:lnTo>
                    <a:pt x="5656" y="0"/>
                  </a:lnTo>
                  <a:lnTo>
                    <a:pt x="6961" y="524"/>
                  </a:lnTo>
                  <a:lnTo>
                    <a:pt x="6961" y="533"/>
                  </a:lnTo>
                  <a:lnTo>
                    <a:pt x="6948" y="553"/>
                  </a:lnTo>
                  <a:lnTo>
                    <a:pt x="6920" y="583"/>
                  </a:lnTo>
                  <a:lnTo>
                    <a:pt x="6880" y="623"/>
                  </a:lnTo>
                  <a:lnTo>
                    <a:pt x="6828" y="671"/>
                  </a:lnTo>
                  <a:lnTo>
                    <a:pt x="6765" y="727"/>
                  </a:lnTo>
                  <a:lnTo>
                    <a:pt x="6692" y="790"/>
                  </a:lnTo>
                  <a:lnTo>
                    <a:pt x="6610" y="861"/>
                  </a:lnTo>
                  <a:lnTo>
                    <a:pt x="6419" y="1020"/>
                  </a:lnTo>
                  <a:lnTo>
                    <a:pt x="6202" y="1200"/>
                  </a:lnTo>
                  <a:lnTo>
                    <a:pt x="5964" y="1395"/>
                  </a:lnTo>
                  <a:lnTo>
                    <a:pt x="5713" y="1600"/>
                  </a:lnTo>
                  <a:lnTo>
                    <a:pt x="5454" y="1810"/>
                  </a:lnTo>
                  <a:lnTo>
                    <a:pt x="5196" y="2020"/>
                  </a:lnTo>
                  <a:lnTo>
                    <a:pt x="4945" y="2225"/>
                  </a:lnTo>
                  <a:lnTo>
                    <a:pt x="4708" y="2421"/>
                  </a:lnTo>
                  <a:lnTo>
                    <a:pt x="4597" y="2513"/>
                  </a:lnTo>
                  <a:lnTo>
                    <a:pt x="4492" y="2602"/>
                  </a:lnTo>
                  <a:lnTo>
                    <a:pt x="4393" y="2686"/>
                  </a:lnTo>
                  <a:lnTo>
                    <a:pt x="4302" y="2763"/>
                  </a:lnTo>
                  <a:lnTo>
                    <a:pt x="4221" y="2834"/>
                  </a:lnTo>
                  <a:lnTo>
                    <a:pt x="4148" y="2900"/>
                  </a:lnTo>
                  <a:lnTo>
                    <a:pt x="4086" y="2957"/>
                  </a:lnTo>
                  <a:lnTo>
                    <a:pt x="4035" y="3007"/>
                  </a:lnTo>
                  <a:close/>
                </a:path>
              </a:pathLst>
            </a:custGeom>
            <a:solidFill>
              <a:srgbClr val="9AB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Freeform 59">
              <a:extLst>
                <a:ext uri="{FF2B5EF4-FFF2-40B4-BE49-F238E27FC236}">
                  <a16:creationId xmlns:a16="http://schemas.microsoft.com/office/drawing/2014/main" id="{83195A52-3ACA-4205-9E44-87DB23B5B4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0" y="1148"/>
              <a:ext cx="241" cy="127"/>
            </a:xfrm>
            <a:custGeom>
              <a:avLst/>
              <a:gdLst>
                <a:gd name="T0" fmla="*/ 619 w 4091"/>
                <a:gd name="T1" fmla="*/ 0 h 2166"/>
                <a:gd name="T2" fmla="*/ 0 w 4091"/>
                <a:gd name="T3" fmla="*/ 744 h 2166"/>
                <a:gd name="T4" fmla="*/ 3381 w 4091"/>
                <a:gd name="T5" fmla="*/ 2166 h 2166"/>
                <a:gd name="T6" fmla="*/ 4091 w 4091"/>
                <a:gd name="T7" fmla="*/ 1372 h 2166"/>
                <a:gd name="T8" fmla="*/ 619 w 4091"/>
                <a:gd name="T9" fmla="*/ 0 h 2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1" h="2166">
                  <a:moveTo>
                    <a:pt x="619" y="0"/>
                  </a:moveTo>
                  <a:lnTo>
                    <a:pt x="0" y="744"/>
                  </a:lnTo>
                  <a:lnTo>
                    <a:pt x="3381" y="2166"/>
                  </a:lnTo>
                  <a:lnTo>
                    <a:pt x="4091" y="1372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709C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Freeform 60">
              <a:extLst>
                <a:ext uri="{FF2B5EF4-FFF2-40B4-BE49-F238E27FC236}">
                  <a16:creationId xmlns:a16="http://schemas.microsoft.com/office/drawing/2014/main" id="{F37E7731-F9C2-43DF-BB80-487048D83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9" y="1094"/>
              <a:ext cx="315" cy="273"/>
            </a:xfrm>
            <a:custGeom>
              <a:avLst/>
              <a:gdLst>
                <a:gd name="T0" fmla="*/ 3862 w 5347"/>
                <a:gd name="T1" fmla="*/ 1909 h 4637"/>
                <a:gd name="T2" fmla="*/ 5241 w 5347"/>
                <a:gd name="T3" fmla="*/ 308 h 4637"/>
                <a:gd name="T4" fmla="*/ 5080 w 5347"/>
                <a:gd name="T5" fmla="*/ 242 h 4637"/>
                <a:gd name="T6" fmla="*/ 4918 w 5347"/>
                <a:gd name="T7" fmla="*/ 175 h 4637"/>
                <a:gd name="T8" fmla="*/ 4757 w 5347"/>
                <a:gd name="T9" fmla="*/ 110 h 4637"/>
                <a:gd name="T10" fmla="*/ 4596 w 5347"/>
                <a:gd name="T11" fmla="*/ 44 h 4637"/>
                <a:gd name="T12" fmla="*/ 4463 w 5347"/>
                <a:gd name="T13" fmla="*/ 42 h 4637"/>
                <a:gd name="T14" fmla="*/ 4368 w 5347"/>
                <a:gd name="T15" fmla="*/ 175 h 4637"/>
                <a:gd name="T16" fmla="*/ 4249 w 5347"/>
                <a:gd name="T17" fmla="*/ 321 h 4637"/>
                <a:gd name="T18" fmla="*/ 4112 w 5347"/>
                <a:gd name="T19" fmla="*/ 477 h 4637"/>
                <a:gd name="T20" fmla="*/ 3905 w 5347"/>
                <a:gd name="T21" fmla="*/ 698 h 4637"/>
                <a:gd name="T22" fmla="*/ 3567 w 5347"/>
                <a:gd name="T23" fmla="*/ 1047 h 4637"/>
                <a:gd name="T24" fmla="*/ 3224 w 5347"/>
                <a:gd name="T25" fmla="*/ 1407 h 4637"/>
                <a:gd name="T26" fmla="*/ 3009 w 5347"/>
                <a:gd name="T27" fmla="*/ 1645 h 4637"/>
                <a:gd name="T28" fmla="*/ 2840 w 5347"/>
                <a:gd name="T29" fmla="*/ 1844 h 4637"/>
                <a:gd name="T30" fmla="*/ 2641 w 5347"/>
                <a:gd name="T31" fmla="*/ 2091 h 4637"/>
                <a:gd name="T32" fmla="*/ 2256 w 5347"/>
                <a:gd name="T33" fmla="*/ 2580 h 4637"/>
                <a:gd name="T34" fmla="*/ 2003 w 5347"/>
                <a:gd name="T35" fmla="*/ 2897 h 4637"/>
                <a:gd name="T36" fmla="*/ 1813 w 5347"/>
                <a:gd name="T37" fmla="*/ 3127 h 4637"/>
                <a:gd name="T38" fmla="*/ 1618 w 5347"/>
                <a:gd name="T39" fmla="*/ 3348 h 4637"/>
                <a:gd name="T40" fmla="*/ 1419 w 5347"/>
                <a:gd name="T41" fmla="*/ 3560 h 4637"/>
                <a:gd name="T42" fmla="*/ 1212 w 5347"/>
                <a:gd name="T43" fmla="*/ 3759 h 4637"/>
                <a:gd name="T44" fmla="*/ 996 w 5347"/>
                <a:gd name="T45" fmla="*/ 3944 h 4637"/>
                <a:gd name="T46" fmla="*/ 769 w 5347"/>
                <a:gd name="T47" fmla="*/ 4114 h 4637"/>
                <a:gd name="T48" fmla="*/ 602 w 5347"/>
                <a:gd name="T49" fmla="*/ 4237 h 4637"/>
                <a:gd name="T50" fmla="*/ 462 w 5347"/>
                <a:gd name="T51" fmla="*/ 4352 h 4637"/>
                <a:gd name="T52" fmla="*/ 336 w 5347"/>
                <a:gd name="T53" fmla="*/ 4456 h 4637"/>
                <a:gd name="T54" fmla="*/ 211 w 5347"/>
                <a:gd name="T55" fmla="*/ 4544 h 4637"/>
                <a:gd name="T56" fmla="*/ 144 w 5347"/>
                <a:gd name="T57" fmla="*/ 4583 h 4637"/>
                <a:gd name="T58" fmla="*/ 74 w 5347"/>
                <a:gd name="T59" fmla="*/ 4618 h 4637"/>
                <a:gd name="T60" fmla="*/ 35 w 5347"/>
                <a:gd name="T61" fmla="*/ 4637 h 4637"/>
                <a:gd name="T62" fmla="*/ 46 w 5347"/>
                <a:gd name="T63" fmla="*/ 4634 h 4637"/>
                <a:gd name="T64" fmla="*/ 41 w 5347"/>
                <a:gd name="T65" fmla="*/ 4627 h 4637"/>
                <a:gd name="T66" fmla="*/ 22 w 5347"/>
                <a:gd name="T67" fmla="*/ 4612 h 4637"/>
                <a:gd name="T68" fmla="*/ 3 w 5347"/>
                <a:gd name="T69" fmla="*/ 4598 h 4637"/>
                <a:gd name="T70" fmla="*/ 0 w 5347"/>
                <a:gd name="T71" fmla="*/ 4593 h 4637"/>
                <a:gd name="T72" fmla="*/ 12 w 5347"/>
                <a:gd name="T73" fmla="*/ 4590 h 4637"/>
                <a:gd name="T74" fmla="*/ 829 w 5347"/>
                <a:gd name="T75" fmla="*/ 4626 h 4637"/>
                <a:gd name="T76" fmla="*/ 882 w 5347"/>
                <a:gd name="T77" fmla="*/ 4608 h 4637"/>
                <a:gd name="T78" fmla="*/ 932 w 5347"/>
                <a:gd name="T79" fmla="*/ 4586 h 4637"/>
                <a:gd name="T80" fmla="*/ 981 w 5347"/>
                <a:gd name="T81" fmla="*/ 4559 h 4637"/>
                <a:gd name="T82" fmla="*/ 1027 w 5347"/>
                <a:gd name="T83" fmla="*/ 4527 h 4637"/>
                <a:gd name="T84" fmla="*/ 1070 w 5347"/>
                <a:gd name="T85" fmla="*/ 4489 h 46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347" h="4637">
                  <a:moveTo>
                    <a:pt x="1084" y="4474"/>
                  </a:moveTo>
                  <a:lnTo>
                    <a:pt x="3527" y="1768"/>
                  </a:lnTo>
                  <a:lnTo>
                    <a:pt x="3862" y="1909"/>
                  </a:lnTo>
                  <a:lnTo>
                    <a:pt x="5347" y="352"/>
                  </a:lnTo>
                  <a:lnTo>
                    <a:pt x="5294" y="330"/>
                  </a:lnTo>
                  <a:lnTo>
                    <a:pt x="5241" y="308"/>
                  </a:lnTo>
                  <a:lnTo>
                    <a:pt x="5187" y="286"/>
                  </a:lnTo>
                  <a:lnTo>
                    <a:pt x="5134" y="264"/>
                  </a:lnTo>
                  <a:lnTo>
                    <a:pt x="5080" y="242"/>
                  </a:lnTo>
                  <a:lnTo>
                    <a:pt x="5026" y="220"/>
                  </a:lnTo>
                  <a:lnTo>
                    <a:pt x="4972" y="198"/>
                  </a:lnTo>
                  <a:lnTo>
                    <a:pt x="4918" y="175"/>
                  </a:lnTo>
                  <a:lnTo>
                    <a:pt x="4864" y="154"/>
                  </a:lnTo>
                  <a:lnTo>
                    <a:pt x="4810" y="132"/>
                  </a:lnTo>
                  <a:lnTo>
                    <a:pt x="4757" y="110"/>
                  </a:lnTo>
                  <a:lnTo>
                    <a:pt x="4702" y="88"/>
                  </a:lnTo>
                  <a:lnTo>
                    <a:pt x="4649" y="66"/>
                  </a:lnTo>
                  <a:lnTo>
                    <a:pt x="4596" y="44"/>
                  </a:lnTo>
                  <a:lnTo>
                    <a:pt x="4542" y="22"/>
                  </a:lnTo>
                  <a:lnTo>
                    <a:pt x="4489" y="0"/>
                  </a:lnTo>
                  <a:lnTo>
                    <a:pt x="4463" y="42"/>
                  </a:lnTo>
                  <a:lnTo>
                    <a:pt x="4435" y="85"/>
                  </a:lnTo>
                  <a:lnTo>
                    <a:pt x="4402" y="129"/>
                  </a:lnTo>
                  <a:lnTo>
                    <a:pt x="4368" y="175"/>
                  </a:lnTo>
                  <a:lnTo>
                    <a:pt x="4330" y="223"/>
                  </a:lnTo>
                  <a:lnTo>
                    <a:pt x="4291" y="272"/>
                  </a:lnTo>
                  <a:lnTo>
                    <a:pt x="4249" y="321"/>
                  </a:lnTo>
                  <a:lnTo>
                    <a:pt x="4205" y="372"/>
                  </a:lnTo>
                  <a:lnTo>
                    <a:pt x="4159" y="424"/>
                  </a:lnTo>
                  <a:lnTo>
                    <a:pt x="4112" y="477"/>
                  </a:lnTo>
                  <a:lnTo>
                    <a:pt x="4061" y="531"/>
                  </a:lnTo>
                  <a:lnTo>
                    <a:pt x="4011" y="585"/>
                  </a:lnTo>
                  <a:lnTo>
                    <a:pt x="3905" y="698"/>
                  </a:lnTo>
                  <a:lnTo>
                    <a:pt x="3795" y="812"/>
                  </a:lnTo>
                  <a:lnTo>
                    <a:pt x="3682" y="929"/>
                  </a:lnTo>
                  <a:lnTo>
                    <a:pt x="3567" y="1047"/>
                  </a:lnTo>
                  <a:lnTo>
                    <a:pt x="3451" y="1167"/>
                  </a:lnTo>
                  <a:lnTo>
                    <a:pt x="3337" y="1287"/>
                  </a:lnTo>
                  <a:lnTo>
                    <a:pt x="3224" y="1407"/>
                  </a:lnTo>
                  <a:lnTo>
                    <a:pt x="3114" y="1526"/>
                  </a:lnTo>
                  <a:lnTo>
                    <a:pt x="3060" y="1586"/>
                  </a:lnTo>
                  <a:lnTo>
                    <a:pt x="3009" y="1645"/>
                  </a:lnTo>
                  <a:lnTo>
                    <a:pt x="2957" y="1704"/>
                  </a:lnTo>
                  <a:lnTo>
                    <a:pt x="2908" y="1761"/>
                  </a:lnTo>
                  <a:lnTo>
                    <a:pt x="2840" y="1844"/>
                  </a:lnTo>
                  <a:lnTo>
                    <a:pt x="2773" y="1927"/>
                  </a:lnTo>
                  <a:lnTo>
                    <a:pt x="2706" y="2008"/>
                  </a:lnTo>
                  <a:lnTo>
                    <a:pt x="2641" y="2091"/>
                  </a:lnTo>
                  <a:lnTo>
                    <a:pt x="2511" y="2255"/>
                  </a:lnTo>
                  <a:lnTo>
                    <a:pt x="2382" y="2418"/>
                  </a:lnTo>
                  <a:lnTo>
                    <a:pt x="2256" y="2580"/>
                  </a:lnTo>
                  <a:lnTo>
                    <a:pt x="2129" y="2740"/>
                  </a:lnTo>
                  <a:lnTo>
                    <a:pt x="2067" y="2818"/>
                  </a:lnTo>
                  <a:lnTo>
                    <a:pt x="2003" y="2897"/>
                  </a:lnTo>
                  <a:lnTo>
                    <a:pt x="1940" y="2974"/>
                  </a:lnTo>
                  <a:lnTo>
                    <a:pt x="1876" y="3052"/>
                  </a:lnTo>
                  <a:lnTo>
                    <a:pt x="1813" y="3127"/>
                  </a:lnTo>
                  <a:lnTo>
                    <a:pt x="1749" y="3202"/>
                  </a:lnTo>
                  <a:lnTo>
                    <a:pt x="1684" y="3275"/>
                  </a:lnTo>
                  <a:lnTo>
                    <a:pt x="1618" y="3348"/>
                  </a:lnTo>
                  <a:lnTo>
                    <a:pt x="1552" y="3421"/>
                  </a:lnTo>
                  <a:lnTo>
                    <a:pt x="1486" y="3491"/>
                  </a:lnTo>
                  <a:lnTo>
                    <a:pt x="1419" y="3560"/>
                  </a:lnTo>
                  <a:lnTo>
                    <a:pt x="1351" y="3628"/>
                  </a:lnTo>
                  <a:lnTo>
                    <a:pt x="1282" y="3693"/>
                  </a:lnTo>
                  <a:lnTo>
                    <a:pt x="1212" y="3759"/>
                  </a:lnTo>
                  <a:lnTo>
                    <a:pt x="1141" y="3822"/>
                  </a:lnTo>
                  <a:lnTo>
                    <a:pt x="1069" y="3884"/>
                  </a:lnTo>
                  <a:lnTo>
                    <a:pt x="996" y="3944"/>
                  </a:lnTo>
                  <a:lnTo>
                    <a:pt x="922" y="4002"/>
                  </a:lnTo>
                  <a:lnTo>
                    <a:pt x="846" y="4059"/>
                  </a:lnTo>
                  <a:lnTo>
                    <a:pt x="769" y="4114"/>
                  </a:lnTo>
                  <a:lnTo>
                    <a:pt x="710" y="4156"/>
                  </a:lnTo>
                  <a:lnTo>
                    <a:pt x="654" y="4196"/>
                  </a:lnTo>
                  <a:lnTo>
                    <a:pt x="602" y="4237"/>
                  </a:lnTo>
                  <a:lnTo>
                    <a:pt x="554" y="4277"/>
                  </a:lnTo>
                  <a:lnTo>
                    <a:pt x="507" y="4314"/>
                  </a:lnTo>
                  <a:lnTo>
                    <a:pt x="462" y="4352"/>
                  </a:lnTo>
                  <a:lnTo>
                    <a:pt x="419" y="4388"/>
                  </a:lnTo>
                  <a:lnTo>
                    <a:pt x="377" y="4422"/>
                  </a:lnTo>
                  <a:lnTo>
                    <a:pt x="336" y="4456"/>
                  </a:lnTo>
                  <a:lnTo>
                    <a:pt x="294" y="4487"/>
                  </a:lnTo>
                  <a:lnTo>
                    <a:pt x="253" y="4517"/>
                  </a:lnTo>
                  <a:lnTo>
                    <a:pt x="211" y="4544"/>
                  </a:lnTo>
                  <a:lnTo>
                    <a:pt x="189" y="4558"/>
                  </a:lnTo>
                  <a:lnTo>
                    <a:pt x="167" y="4571"/>
                  </a:lnTo>
                  <a:lnTo>
                    <a:pt x="144" y="4583"/>
                  </a:lnTo>
                  <a:lnTo>
                    <a:pt x="121" y="4596"/>
                  </a:lnTo>
                  <a:lnTo>
                    <a:pt x="98" y="4606"/>
                  </a:lnTo>
                  <a:lnTo>
                    <a:pt x="74" y="4618"/>
                  </a:lnTo>
                  <a:lnTo>
                    <a:pt x="49" y="4628"/>
                  </a:lnTo>
                  <a:lnTo>
                    <a:pt x="23" y="4637"/>
                  </a:lnTo>
                  <a:lnTo>
                    <a:pt x="35" y="4637"/>
                  </a:lnTo>
                  <a:lnTo>
                    <a:pt x="42" y="4636"/>
                  </a:lnTo>
                  <a:lnTo>
                    <a:pt x="45" y="4635"/>
                  </a:lnTo>
                  <a:lnTo>
                    <a:pt x="46" y="4634"/>
                  </a:lnTo>
                  <a:lnTo>
                    <a:pt x="46" y="4633"/>
                  </a:lnTo>
                  <a:lnTo>
                    <a:pt x="45" y="4631"/>
                  </a:lnTo>
                  <a:lnTo>
                    <a:pt x="41" y="4627"/>
                  </a:lnTo>
                  <a:lnTo>
                    <a:pt x="36" y="4623"/>
                  </a:lnTo>
                  <a:lnTo>
                    <a:pt x="29" y="4618"/>
                  </a:lnTo>
                  <a:lnTo>
                    <a:pt x="22" y="4612"/>
                  </a:lnTo>
                  <a:lnTo>
                    <a:pt x="14" y="4607"/>
                  </a:lnTo>
                  <a:lnTo>
                    <a:pt x="8" y="4602"/>
                  </a:lnTo>
                  <a:lnTo>
                    <a:pt x="3" y="4598"/>
                  </a:lnTo>
                  <a:lnTo>
                    <a:pt x="0" y="4595"/>
                  </a:lnTo>
                  <a:lnTo>
                    <a:pt x="0" y="4594"/>
                  </a:lnTo>
                  <a:lnTo>
                    <a:pt x="0" y="4593"/>
                  </a:lnTo>
                  <a:lnTo>
                    <a:pt x="1" y="4591"/>
                  </a:lnTo>
                  <a:lnTo>
                    <a:pt x="4" y="4590"/>
                  </a:lnTo>
                  <a:lnTo>
                    <a:pt x="12" y="4590"/>
                  </a:lnTo>
                  <a:lnTo>
                    <a:pt x="25" y="4593"/>
                  </a:lnTo>
                  <a:lnTo>
                    <a:pt x="96" y="4483"/>
                  </a:lnTo>
                  <a:lnTo>
                    <a:pt x="829" y="4626"/>
                  </a:lnTo>
                  <a:lnTo>
                    <a:pt x="846" y="4621"/>
                  </a:lnTo>
                  <a:lnTo>
                    <a:pt x="864" y="4614"/>
                  </a:lnTo>
                  <a:lnTo>
                    <a:pt x="882" y="4608"/>
                  </a:lnTo>
                  <a:lnTo>
                    <a:pt x="899" y="4602"/>
                  </a:lnTo>
                  <a:lnTo>
                    <a:pt x="915" y="4595"/>
                  </a:lnTo>
                  <a:lnTo>
                    <a:pt x="932" y="4586"/>
                  </a:lnTo>
                  <a:lnTo>
                    <a:pt x="949" y="4578"/>
                  </a:lnTo>
                  <a:lnTo>
                    <a:pt x="966" y="4568"/>
                  </a:lnTo>
                  <a:lnTo>
                    <a:pt x="981" y="4559"/>
                  </a:lnTo>
                  <a:lnTo>
                    <a:pt x="997" y="4550"/>
                  </a:lnTo>
                  <a:lnTo>
                    <a:pt x="1012" y="4538"/>
                  </a:lnTo>
                  <a:lnTo>
                    <a:pt x="1027" y="4527"/>
                  </a:lnTo>
                  <a:lnTo>
                    <a:pt x="1042" y="4515"/>
                  </a:lnTo>
                  <a:lnTo>
                    <a:pt x="1056" y="4502"/>
                  </a:lnTo>
                  <a:lnTo>
                    <a:pt x="1070" y="4489"/>
                  </a:lnTo>
                  <a:lnTo>
                    <a:pt x="1084" y="4474"/>
                  </a:lnTo>
                  <a:close/>
                </a:path>
              </a:pathLst>
            </a:custGeom>
            <a:solidFill>
              <a:srgbClr val="315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Freeform 61">
              <a:extLst>
                <a:ext uri="{FF2B5EF4-FFF2-40B4-BE49-F238E27FC236}">
                  <a16:creationId xmlns:a16="http://schemas.microsoft.com/office/drawing/2014/main" id="{510CD4F3-E3F9-4BEC-A567-D0D2BC896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4" y="1363"/>
              <a:ext cx="99" cy="76"/>
            </a:xfrm>
            <a:custGeom>
              <a:avLst/>
              <a:gdLst>
                <a:gd name="T0" fmla="*/ 1594 w 1680"/>
                <a:gd name="T1" fmla="*/ 820 h 1297"/>
                <a:gd name="T2" fmla="*/ 0 w 1680"/>
                <a:gd name="T3" fmla="*/ 0 h 1297"/>
                <a:gd name="T4" fmla="*/ 147 w 1680"/>
                <a:gd name="T5" fmla="*/ 518 h 1297"/>
                <a:gd name="T6" fmla="*/ 1680 w 1680"/>
                <a:gd name="T7" fmla="*/ 1297 h 1297"/>
                <a:gd name="T8" fmla="*/ 1680 w 1680"/>
                <a:gd name="T9" fmla="*/ 1287 h 1297"/>
                <a:gd name="T10" fmla="*/ 1594 w 1680"/>
                <a:gd name="T11" fmla="*/ 820 h 1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80" h="1297">
                  <a:moveTo>
                    <a:pt x="1594" y="820"/>
                  </a:moveTo>
                  <a:lnTo>
                    <a:pt x="0" y="0"/>
                  </a:lnTo>
                  <a:lnTo>
                    <a:pt x="147" y="518"/>
                  </a:lnTo>
                  <a:lnTo>
                    <a:pt x="1680" y="1297"/>
                  </a:lnTo>
                  <a:lnTo>
                    <a:pt x="1680" y="1287"/>
                  </a:lnTo>
                  <a:lnTo>
                    <a:pt x="1594" y="820"/>
                  </a:lnTo>
                  <a:close/>
                </a:path>
              </a:pathLst>
            </a:custGeom>
            <a:solidFill>
              <a:srgbClr val="315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Freeform 62">
              <a:extLst>
                <a:ext uri="{FF2B5EF4-FFF2-40B4-BE49-F238E27FC236}">
                  <a16:creationId xmlns:a16="http://schemas.microsoft.com/office/drawing/2014/main" id="{692B25FA-D1FA-4146-AC02-285CE2C45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1" y="1221"/>
              <a:ext cx="687" cy="407"/>
            </a:xfrm>
            <a:custGeom>
              <a:avLst/>
              <a:gdLst>
                <a:gd name="T0" fmla="*/ 7046 w 11674"/>
                <a:gd name="T1" fmla="*/ 5029 h 6922"/>
                <a:gd name="T2" fmla="*/ 6978 w 11674"/>
                <a:gd name="T3" fmla="*/ 5122 h 6922"/>
                <a:gd name="T4" fmla="*/ 6857 w 11674"/>
                <a:gd name="T5" fmla="*/ 5305 h 6922"/>
                <a:gd name="T6" fmla="*/ 6710 w 11674"/>
                <a:gd name="T7" fmla="*/ 5548 h 6922"/>
                <a:gd name="T8" fmla="*/ 6637 w 11674"/>
                <a:gd name="T9" fmla="*/ 5683 h 6922"/>
                <a:gd name="T10" fmla="*/ 6570 w 11674"/>
                <a:gd name="T11" fmla="*/ 5824 h 6922"/>
                <a:gd name="T12" fmla="*/ 6512 w 11674"/>
                <a:gd name="T13" fmla="*/ 5965 h 6922"/>
                <a:gd name="T14" fmla="*/ 6467 w 11674"/>
                <a:gd name="T15" fmla="*/ 6105 h 6922"/>
                <a:gd name="T16" fmla="*/ 6325 w 11674"/>
                <a:gd name="T17" fmla="*/ 6216 h 6922"/>
                <a:gd name="T18" fmla="*/ 6125 w 11674"/>
                <a:gd name="T19" fmla="*/ 6357 h 6922"/>
                <a:gd name="T20" fmla="*/ 5855 w 11674"/>
                <a:gd name="T21" fmla="*/ 6523 h 6922"/>
                <a:gd name="T22" fmla="*/ 5534 w 11674"/>
                <a:gd name="T23" fmla="*/ 6687 h 6922"/>
                <a:gd name="T24" fmla="*/ 5176 w 11674"/>
                <a:gd name="T25" fmla="*/ 6824 h 6922"/>
                <a:gd name="T26" fmla="*/ 4798 w 11674"/>
                <a:gd name="T27" fmla="*/ 6908 h 6922"/>
                <a:gd name="T28" fmla="*/ 4414 w 11674"/>
                <a:gd name="T29" fmla="*/ 6912 h 6922"/>
                <a:gd name="T30" fmla="*/ 4042 w 11674"/>
                <a:gd name="T31" fmla="*/ 6812 h 6922"/>
                <a:gd name="T32" fmla="*/ 3696 w 11674"/>
                <a:gd name="T33" fmla="*/ 6581 h 6922"/>
                <a:gd name="T34" fmla="*/ 3393 w 11674"/>
                <a:gd name="T35" fmla="*/ 6192 h 6922"/>
                <a:gd name="T36" fmla="*/ 3064 w 11674"/>
                <a:gd name="T37" fmla="*/ 5532 h 6922"/>
                <a:gd name="T38" fmla="*/ 3130 w 11674"/>
                <a:gd name="T39" fmla="*/ 5564 h 6922"/>
                <a:gd name="T40" fmla="*/ 3216 w 11674"/>
                <a:gd name="T41" fmla="*/ 5616 h 6922"/>
                <a:gd name="T42" fmla="*/ 3300 w 11674"/>
                <a:gd name="T43" fmla="*/ 5681 h 6922"/>
                <a:gd name="T44" fmla="*/ 3351 w 11674"/>
                <a:gd name="T45" fmla="*/ 5731 h 6922"/>
                <a:gd name="T46" fmla="*/ 3401 w 11674"/>
                <a:gd name="T47" fmla="*/ 5790 h 6922"/>
                <a:gd name="T48" fmla="*/ 3449 w 11674"/>
                <a:gd name="T49" fmla="*/ 5857 h 6922"/>
                <a:gd name="T50" fmla="*/ 3488 w 11674"/>
                <a:gd name="T51" fmla="*/ 5923 h 6922"/>
                <a:gd name="T52" fmla="*/ 3564 w 11674"/>
                <a:gd name="T53" fmla="*/ 6041 h 6922"/>
                <a:gd name="T54" fmla="*/ 3613 w 11674"/>
                <a:gd name="T55" fmla="*/ 6102 h 6922"/>
                <a:gd name="T56" fmla="*/ 3673 w 11674"/>
                <a:gd name="T57" fmla="*/ 6168 h 6922"/>
                <a:gd name="T58" fmla="*/ 3743 w 11674"/>
                <a:gd name="T59" fmla="*/ 6235 h 6922"/>
                <a:gd name="T60" fmla="*/ 3825 w 11674"/>
                <a:gd name="T61" fmla="*/ 6301 h 6922"/>
                <a:gd name="T62" fmla="*/ 3918 w 11674"/>
                <a:gd name="T63" fmla="*/ 6360 h 6922"/>
                <a:gd name="T64" fmla="*/ 4022 w 11674"/>
                <a:gd name="T65" fmla="*/ 6412 h 6922"/>
                <a:gd name="T66" fmla="*/ 4159 w 11674"/>
                <a:gd name="T67" fmla="*/ 6458 h 6922"/>
                <a:gd name="T68" fmla="*/ 4357 w 11674"/>
                <a:gd name="T69" fmla="*/ 6501 h 6922"/>
                <a:gd name="T70" fmla="*/ 4569 w 11674"/>
                <a:gd name="T71" fmla="*/ 6520 h 6922"/>
                <a:gd name="T72" fmla="*/ 4793 w 11674"/>
                <a:gd name="T73" fmla="*/ 6515 h 6922"/>
                <a:gd name="T74" fmla="*/ 5025 w 11674"/>
                <a:gd name="T75" fmla="*/ 6481 h 6922"/>
                <a:gd name="T76" fmla="*/ 5263 w 11674"/>
                <a:gd name="T77" fmla="*/ 6413 h 6922"/>
                <a:gd name="T78" fmla="*/ 5504 w 11674"/>
                <a:gd name="T79" fmla="*/ 6307 h 6922"/>
                <a:gd name="T80" fmla="*/ 5743 w 11674"/>
                <a:gd name="T81" fmla="*/ 6162 h 6922"/>
                <a:gd name="T82" fmla="*/ 5979 w 11674"/>
                <a:gd name="T83" fmla="*/ 5971 h 6922"/>
                <a:gd name="T84" fmla="*/ 6209 w 11674"/>
                <a:gd name="T85" fmla="*/ 5732 h 6922"/>
                <a:gd name="T86" fmla="*/ 6429 w 11674"/>
                <a:gd name="T87" fmla="*/ 5440 h 6922"/>
                <a:gd name="T88" fmla="*/ 6610 w 11674"/>
                <a:gd name="T89" fmla="*/ 5063 h 6922"/>
                <a:gd name="T90" fmla="*/ 6896 w 11674"/>
                <a:gd name="T91" fmla="*/ 4604 h 6922"/>
                <a:gd name="T92" fmla="*/ 7301 w 11674"/>
                <a:gd name="T93" fmla="*/ 4092 h 6922"/>
                <a:gd name="T94" fmla="*/ 7798 w 11674"/>
                <a:gd name="T95" fmla="*/ 3540 h 6922"/>
                <a:gd name="T96" fmla="*/ 8358 w 11674"/>
                <a:gd name="T97" fmla="*/ 2968 h 6922"/>
                <a:gd name="T98" fmla="*/ 8955 w 11674"/>
                <a:gd name="T99" fmla="*/ 2390 h 6922"/>
                <a:gd name="T100" fmla="*/ 9562 w 11674"/>
                <a:gd name="T101" fmla="*/ 1823 h 6922"/>
                <a:gd name="T102" fmla="*/ 10519 w 11674"/>
                <a:gd name="T103" fmla="*/ 949 h 6922"/>
                <a:gd name="T104" fmla="*/ 11016 w 11674"/>
                <a:gd name="T105" fmla="*/ 493 h 6922"/>
                <a:gd name="T106" fmla="*/ 11421 w 11674"/>
                <a:gd name="T107" fmla="*/ 110 h 6922"/>
                <a:gd name="T108" fmla="*/ 11537 w 11674"/>
                <a:gd name="T109" fmla="*/ 18 h 6922"/>
                <a:gd name="T110" fmla="*/ 11568 w 11674"/>
                <a:gd name="T111" fmla="*/ 135 h 6922"/>
                <a:gd name="T112" fmla="*/ 11633 w 11674"/>
                <a:gd name="T113" fmla="*/ 414 h 6922"/>
                <a:gd name="T114" fmla="*/ 11671 w 11674"/>
                <a:gd name="T115" fmla="*/ 609 h 6922"/>
                <a:gd name="T116" fmla="*/ 11673 w 11674"/>
                <a:gd name="T117" fmla="*/ 649 h 6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1674" h="6922">
                  <a:moveTo>
                    <a:pt x="11671" y="658"/>
                  </a:moveTo>
                  <a:lnTo>
                    <a:pt x="7051" y="5021"/>
                  </a:lnTo>
                  <a:lnTo>
                    <a:pt x="7046" y="5029"/>
                  </a:lnTo>
                  <a:lnTo>
                    <a:pt x="7031" y="5048"/>
                  </a:lnTo>
                  <a:lnTo>
                    <a:pt x="7008" y="5080"/>
                  </a:lnTo>
                  <a:lnTo>
                    <a:pt x="6978" y="5122"/>
                  </a:lnTo>
                  <a:lnTo>
                    <a:pt x="6942" y="5175"/>
                  </a:lnTo>
                  <a:lnTo>
                    <a:pt x="6902" y="5236"/>
                  </a:lnTo>
                  <a:lnTo>
                    <a:pt x="6857" y="5305"/>
                  </a:lnTo>
                  <a:lnTo>
                    <a:pt x="6809" y="5380"/>
                  </a:lnTo>
                  <a:lnTo>
                    <a:pt x="6759" y="5461"/>
                  </a:lnTo>
                  <a:lnTo>
                    <a:pt x="6710" y="5548"/>
                  </a:lnTo>
                  <a:lnTo>
                    <a:pt x="6685" y="5592"/>
                  </a:lnTo>
                  <a:lnTo>
                    <a:pt x="6661" y="5637"/>
                  </a:lnTo>
                  <a:lnTo>
                    <a:pt x="6637" y="5683"/>
                  </a:lnTo>
                  <a:lnTo>
                    <a:pt x="6614" y="5730"/>
                  </a:lnTo>
                  <a:lnTo>
                    <a:pt x="6591" y="5777"/>
                  </a:lnTo>
                  <a:lnTo>
                    <a:pt x="6570" y="5824"/>
                  </a:lnTo>
                  <a:lnTo>
                    <a:pt x="6549" y="5871"/>
                  </a:lnTo>
                  <a:lnTo>
                    <a:pt x="6529" y="5918"/>
                  </a:lnTo>
                  <a:lnTo>
                    <a:pt x="6512" y="5965"/>
                  </a:lnTo>
                  <a:lnTo>
                    <a:pt x="6495" y="6012"/>
                  </a:lnTo>
                  <a:lnTo>
                    <a:pt x="6480" y="6059"/>
                  </a:lnTo>
                  <a:lnTo>
                    <a:pt x="6467" y="6105"/>
                  </a:lnTo>
                  <a:lnTo>
                    <a:pt x="6443" y="6125"/>
                  </a:lnTo>
                  <a:lnTo>
                    <a:pt x="6375" y="6179"/>
                  </a:lnTo>
                  <a:lnTo>
                    <a:pt x="6325" y="6216"/>
                  </a:lnTo>
                  <a:lnTo>
                    <a:pt x="6267" y="6258"/>
                  </a:lnTo>
                  <a:lnTo>
                    <a:pt x="6200" y="6306"/>
                  </a:lnTo>
                  <a:lnTo>
                    <a:pt x="6125" y="6357"/>
                  </a:lnTo>
                  <a:lnTo>
                    <a:pt x="6041" y="6411"/>
                  </a:lnTo>
                  <a:lnTo>
                    <a:pt x="5952" y="6466"/>
                  </a:lnTo>
                  <a:lnTo>
                    <a:pt x="5855" y="6523"/>
                  </a:lnTo>
                  <a:lnTo>
                    <a:pt x="5754" y="6579"/>
                  </a:lnTo>
                  <a:lnTo>
                    <a:pt x="5646" y="6634"/>
                  </a:lnTo>
                  <a:lnTo>
                    <a:pt x="5534" y="6687"/>
                  </a:lnTo>
                  <a:lnTo>
                    <a:pt x="5418" y="6737"/>
                  </a:lnTo>
                  <a:lnTo>
                    <a:pt x="5299" y="6783"/>
                  </a:lnTo>
                  <a:lnTo>
                    <a:pt x="5176" y="6824"/>
                  </a:lnTo>
                  <a:lnTo>
                    <a:pt x="5052" y="6859"/>
                  </a:lnTo>
                  <a:lnTo>
                    <a:pt x="4926" y="6887"/>
                  </a:lnTo>
                  <a:lnTo>
                    <a:pt x="4798" y="6908"/>
                  </a:lnTo>
                  <a:lnTo>
                    <a:pt x="4670" y="6920"/>
                  </a:lnTo>
                  <a:lnTo>
                    <a:pt x="4542" y="6922"/>
                  </a:lnTo>
                  <a:lnTo>
                    <a:pt x="4414" y="6912"/>
                  </a:lnTo>
                  <a:lnTo>
                    <a:pt x="4289" y="6892"/>
                  </a:lnTo>
                  <a:lnTo>
                    <a:pt x="4164" y="6859"/>
                  </a:lnTo>
                  <a:lnTo>
                    <a:pt x="4042" y="6812"/>
                  </a:lnTo>
                  <a:lnTo>
                    <a:pt x="3923" y="6750"/>
                  </a:lnTo>
                  <a:lnTo>
                    <a:pt x="3808" y="6674"/>
                  </a:lnTo>
                  <a:lnTo>
                    <a:pt x="3696" y="6581"/>
                  </a:lnTo>
                  <a:lnTo>
                    <a:pt x="3590" y="6470"/>
                  </a:lnTo>
                  <a:lnTo>
                    <a:pt x="3489" y="6341"/>
                  </a:lnTo>
                  <a:lnTo>
                    <a:pt x="3393" y="6192"/>
                  </a:lnTo>
                  <a:lnTo>
                    <a:pt x="0" y="4298"/>
                  </a:lnTo>
                  <a:lnTo>
                    <a:pt x="15" y="3975"/>
                  </a:lnTo>
                  <a:lnTo>
                    <a:pt x="3064" y="5532"/>
                  </a:lnTo>
                  <a:lnTo>
                    <a:pt x="3075" y="5538"/>
                  </a:lnTo>
                  <a:lnTo>
                    <a:pt x="3107" y="5552"/>
                  </a:lnTo>
                  <a:lnTo>
                    <a:pt x="3130" y="5564"/>
                  </a:lnTo>
                  <a:lnTo>
                    <a:pt x="3156" y="5578"/>
                  </a:lnTo>
                  <a:lnTo>
                    <a:pt x="3185" y="5595"/>
                  </a:lnTo>
                  <a:lnTo>
                    <a:pt x="3216" y="5616"/>
                  </a:lnTo>
                  <a:lnTo>
                    <a:pt x="3249" y="5639"/>
                  </a:lnTo>
                  <a:lnTo>
                    <a:pt x="3282" y="5666"/>
                  </a:lnTo>
                  <a:lnTo>
                    <a:pt x="3300" y="5681"/>
                  </a:lnTo>
                  <a:lnTo>
                    <a:pt x="3317" y="5697"/>
                  </a:lnTo>
                  <a:lnTo>
                    <a:pt x="3334" y="5713"/>
                  </a:lnTo>
                  <a:lnTo>
                    <a:pt x="3351" y="5731"/>
                  </a:lnTo>
                  <a:lnTo>
                    <a:pt x="3368" y="5750"/>
                  </a:lnTo>
                  <a:lnTo>
                    <a:pt x="3386" y="5769"/>
                  </a:lnTo>
                  <a:lnTo>
                    <a:pt x="3401" y="5790"/>
                  </a:lnTo>
                  <a:lnTo>
                    <a:pt x="3418" y="5811"/>
                  </a:lnTo>
                  <a:lnTo>
                    <a:pt x="3434" y="5834"/>
                  </a:lnTo>
                  <a:lnTo>
                    <a:pt x="3449" y="5857"/>
                  </a:lnTo>
                  <a:lnTo>
                    <a:pt x="3464" y="5881"/>
                  </a:lnTo>
                  <a:lnTo>
                    <a:pt x="3479" y="5907"/>
                  </a:lnTo>
                  <a:lnTo>
                    <a:pt x="3488" y="5923"/>
                  </a:lnTo>
                  <a:lnTo>
                    <a:pt x="3516" y="5972"/>
                  </a:lnTo>
                  <a:lnTo>
                    <a:pt x="3538" y="6004"/>
                  </a:lnTo>
                  <a:lnTo>
                    <a:pt x="3564" y="6041"/>
                  </a:lnTo>
                  <a:lnTo>
                    <a:pt x="3579" y="6060"/>
                  </a:lnTo>
                  <a:lnTo>
                    <a:pt x="3596" y="6080"/>
                  </a:lnTo>
                  <a:lnTo>
                    <a:pt x="3613" y="6102"/>
                  </a:lnTo>
                  <a:lnTo>
                    <a:pt x="3631" y="6123"/>
                  </a:lnTo>
                  <a:lnTo>
                    <a:pt x="3651" y="6146"/>
                  </a:lnTo>
                  <a:lnTo>
                    <a:pt x="3673" y="6168"/>
                  </a:lnTo>
                  <a:lnTo>
                    <a:pt x="3695" y="6190"/>
                  </a:lnTo>
                  <a:lnTo>
                    <a:pt x="3718" y="6213"/>
                  </a:lnTo>
                  <a:lnTo>
                    <a:pt x="3743" y="6235"/>
                  </a:lnTo>
                  <a:lnTo>
                    <a:pt x="3769" y="6258"/>
                  </a:lnTo>
                  <a:lnTo>
                    <a:pt x="3796" y="6279"/>
                  </a:lnTo>
                  <a:lnTo>
                    <a:pt x="3825" y="6301"/>
                  </a:lnTo>
                  <a:lnTo>
                    <a:pt x="3855" y="6322"/>
                  </a:lnTo>
                  <a:lnTo>
                    <a:pt x="3885" y="6342"/>
                  </a:lnTo>
                  <a:lnTo>
                    <a:pt x="3918" y="6360"/>
                  </a:lnTo>
                  <a:lnTo>
                    <a:pt x="3951" y="6379"/>
                  </a:lnTo>
                  <a:lnTo>
                    <a:pt x="3986" y="6396"/>
                  </a:lnTo>
                  <a:lnTo>
                    <a:pt x="4022" y="6412"/>
                  </a:lnTo>
                  <a:lnTo>
                    <a:pt x="4059" y="6426"/>
                  </a:lnTo>
                  <a:lnTo>
                    <a:pt x="4098" y="6440"/>
                  </a:lnTo>
                  <a:lnTo>
                    <a:pt x="4159" y="6458"/>
                  </a:lnTo>
                  <a:lnTo>
                    <a:pt x="4223" y="6474"/>
                  </a:lnTo>
                  <a:lnTo>
                    <a:pt x="4289" y="6488"/>
                  </a:lnTo>
                  <a:lnTo>
                    <a:pt x="4357" y="6501"/>
                  </a:lnTo>
                  <a:lnTo>
                    <a:pt x="4426" y="6510"/>
                  </a:lnTo>
                  <a:lnTo>
                    <a:pt x="4497" y="6516"/>
                  </a:lnTo>
                  <a:lnTo>
                    <a:pt x="4569" y="6520"/>
                  </a:lnTo>
                  <a:lnTo>
                    <a:pt x="4642" y="6521"/>
                  </a:lnTo>
                  <a:lnTo>
                    <a:pt x="4716" y="6520"/>
                  </a:lnTo>
                  <a:lnTo>
                    <a:pt x="4793" y="6515"/>
                  </a:lnTo>
                  <a:lnTo>
                    <a:pt x="4869" y="6507"/>
                  </a:lnTo>
                  <a:lnTo>
                    <a:pt x="4946" y="6495"/>
                  </a:lnTo>
                  <a:lnTo>
                    <a:pt x="5025" y="6481"/>
                  </a:lnTo>
                  <a:lnTo>
                    <a:pt x="5103" y="6462"/>
                  </a:lnTo>
                  <a:lnTo>
                    <a:pt x="5183" y="6439"/>
                  </a:lnTo>
                  <a:lnTo>
                    <a:pt x="5263" y="6413"/>
                  </a:lnTo>
                  <a:lnTo>
                    <a:pt x="5343" y="6381"/>
                  </a:lnTo>
                  <a:lnTo>
                    <a:pt x="5423" y="6347"/>
                  </a:lnTo>
                  <a:lnTo>
                    <a:pt x="5504" y="6307"/>
                  </a:lnTo>
                  <a:lnTo>
                    <a:pt x="5583" y="6263"/>
                  </a:lnTo>
                  <a:lnTo>
                    <a:pt x="5664" y="6215"/>
                  </a:lnTo>
                  <a:lnTo>
                    <a:pt x="5743" y="6162"/>
                  </a:lnTo>
                  <a:lnTo>
                    <a:pt x="5823" y="6103"/>
                  </a:lnTo>
                  <a:lnTo>
                    <a:pt x="5902" y="6040"/>
                  </a:lnTo>
                  <a:lnTo>
                    <a:pt x="5979" y="5971"/>
                  </a:lnTo>
                  <a:lnTo>
                    <a:pt x="6057" y="5896"/>
                  </a:lnTo>
                  <a:lnTo>
                    <a:pt x="6133" y="5817"/>
                  </a:lnTo>
                  <a:lnTo>
                    <a:pt x="6209" y="5732"/>
                  </a:lnTo>
                  <a:lnTo>
                    <a:pt x="6284" y="5641"/>
                  </a:lnTo>
                  <a:lnTo>
                    <a:pt x="6357" y="5544"/>
                  </a:lnTo>
                  <a:lnTo>
                    <a:pt x="6429" y="5440"/>
                  </a:lnTo>
                  <a:lnTo>
                    <a:pt x="6499" y="5331"/>
                  </a:lnTo>
                  <a:lnTo>
                    <a:pt x="6546" y="5202"/>
                  </a:lnTo>
                  <a:lnTo>
                    <a:pt x="6610" y="5063"/>
                  </a:lnTo>
                  <a:lnTo>
                    <a:pt x="6690" y="4918"/>
                  </a:lnTo>
                  <a:lnTo>
                    <a:pt x="6787" y="4764"/>
                  </a:lnTo>
                  <a:lnTo>
                    <a:pt x="6896" y="4604"/>
                  </a:lnTo>
                  <a:lnTo>
                    <a:pt x="7019" y="4439"/>
                  </a:lnTo>
                  <a:lnTo>
                    <a:pt x="7155" y="4267"/>
                  </a:lnTo>
                  <a:lnTo>
                    <a:pt x="7301" y="4092"/>
                  </a:lnTo>
                  <a:lnTo>
                    <a:pt x="7458" y="3911"/>
                  </a:lnTo>
                  <a:lnTo>
                    <a:pt x="7623" y="3727"/>
                  </a:lnTo>
                  <a:lnTo>
                    <a:pt x="7798" y="3540"/>
                  </a:lnTo>
                  <a:lnTo>
                    <a:pt x="7978" y="3351"/>
                  </a:lnTo>
                  <a:lnTo>
                    <a:pt x="8166" y="3160"/>
                  </a:lnTo>
                  <a:lnTo>
                    <a:pt x="8358" y="2968"/>
                  </a:lnTo>
                  <a:lnTo>
                    <a:pt x="8555" y="2775"/>
                  </a:lnTo>
                  <a:lnTo>
                    <a:pt x="8754" y="2582"/>
                  </a:lnTo>
                  <a:lnTo>
                    <a:pt x="8955" y="2390"/>
                  </a:lnTo>
                  <a:lnTo>
                    <a:pt x="9158" y="2200"/>
                  </a:lnTo>
                  <a:lnTo>
                    <a:pt x="9361" y="2010"/>
                  </a:lnTo>
                  <a:lnTo>
                    <a:pt x="9562" y="1823"/>
                  </a:lnTo>
                  <a:lnTo>
                    <a:pt x="9958" y="1460"/>
                  </a:lnTo>
                  <a:lnTo>
                    <a:pt x="10338" y="1114"/>
                  </a:lnTo>
                  <a:lnTo>
                    <a:pt x="10519" y="949"/>
                  </a:lnTo>
                  <a:lnTo>
                    <a:pt x="10693" y="790"/>
                  </a:lnTo>
                  <a:lnTo>
                    <a:pt x="10859" y="639"/>
                  </a:lnTo>
                  <a:lnTo>
                    <a:pt x="11016" y="493"/>
                  </a:lnTo>
                  <a:lnTo>
                    <a:pt x="11163" y="357"/>
                  </a:lnTo>
                  <a:lnTo>
                    <a:pt x="11298" y="229"/>
                  </a:lnTo>
                  <a:lnTo>
                    <a:pt x="11421" y="110"/>
                  </a:lnTo>
                  <a:lnTo>
                    <a:pt x="11531" y="0"/>
                  </a:lnTo>
                  <a:lnTo>
                    <a:pt x="11533" y="5"/>
                  </a:lnTo>
                  <a:lnTo>
                    <a:pt x="11537" y="18"/>
                  </a:lnTo>
                  <a:lnTo>
                    <a:pt x="11544" y="39"/>
                  </a:lnTo>
                  <a:lnTo>
                    <a:pt x="11551" y="65"/>
                  </a:lnTo>
                  <a:lnTo>
                    <a:pt x="11568" y="135"/>
                  </a:lnTo>
                  <a:lnTo>
                    <a:pt x="11589" y="222"/>
                  </a:lnTo>
                  <a:lnTo>
                    <a:pt x="11612" y="317"/>
                  </a:lnTo>
                  <a:lnTo>
                    <a:pt x="11633" y="414"/>
                  </a:lnTo>
                  <a:lnTo>
                    <a:pt x="11652" y="504"/>
                  </a:lnTo>
                  <a:lnTo>
                    <a:pt x="11667" y="579"/>
                  </a:lnTo>
                  <a:lnTo>
                    <a:pt x="11671" y="609"/>
                  </a:lnTo>
                  <a:lnTo>
                    <a:pt x="11673" y="633"/>
                  </a:lnTo>
                  <a:lnTo>
                    <a:pt x="11674" y="643"/>
                  </a:lnTo>
                  <a:lnTo>
                    <a:pt x="11673" y="649"/>
                  </a:lnTo>
                  <a:lnTo>
                    <a:pt x="11672" y="654"/>
                  </a:lnTo>
                  <a:lnTo>
                    <a:pt x="11671" y="658"/>
                  </a:lnTo>
                  <a:close/>
                </a:path>
              </a:pathLst>
            </a:custGeom>
            <a:solidFill>
              <a:srgbClr val="315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0" name="Freeform 63">
            <a:extLst>
              <a:ext uri="{FF2B5EF4-FFF2-40B4-BE49-F238E27FC236}">
                <a16:creationId xmlns:a16="http://schemas.microsoft.com/office/drawing/2014/main" id="{D2E8487B-AAEF-458D-A5C3-D69EEFC0417D}"/>
              </a:ext>
            </a:extLst>
          </p:cNvPr>
          <p:cNvSpPr>
            <a:spLocks/>
          </p:cNvSpPr>
          <p:nvPr/>
        </p:nvSpPr>
        <p:spPr bwMode="auto">
          <a:xfrm>
            <a:off x="3929062" y="3621087"/>
            <a:ext cx="4897438" cy="642938"/>
          </a:xfrm>
          <a:custGeom>
            <a:avLst/>
            <a:gdLst>
              <a:gd name="T0" fmla="*/ 0 w 2605"/>
              <a:gd name="T1" fmla="*/ 719 h 719"/>
              <a:gd name="T2" fmla="*/ 3 w 2605"/>
              <a:gd name="T3" fmla="*/ 117 h 719"/>
              <a:gd name="T4" fmla="*/ 140 w 2605"/>
              <a:gd name="T5" fmla="*/ 0 h 719"/>
              <a:gd name="T6" fmla="*/ 2605 w 2605"/>
              <a:gd name="T7" fmla="*/ 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05" h="719">
                <a:moveTo>
                  <a:pt x="0" y="719"/>
                </a:moveTo>
                <a:lnTo>
                  <a:pt x="3" y="117"/>
                </a:lnTo>
                <a:lnTo>
                  <a:pt x="140" y="0"/>
                </a:lnTo>
                <a:lnTo>
                  <a:pt x="2605" y="0"/>
                </a:lnTo>
              </a:path>
            </a:pathLst>
          </a:custGeom>
          <a:noFill/>
          <a:ln w="28575" cap="flat" cmpd="sng">
            <a:solidFill>
              <a:srgbClr val="0066FF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161" name="Group 64">
            <a:extLst>
              <a:ext uri="{FF2B5EF4-FFF2-40B4-BE49-F238E27FC236}">
                <a16:creationId xmlns:a16="http://schemas.microsoft.com/office/drawing/2014/main" id="{F44AE6CF-79BF-43F9-A5DB-D38D20FCECA4}"/>
              </a:ext>
            </a:extLst>
          </p:cNvPr>
          <p:cNvGrpSpPr>
            <a:grpSpLocks/>
          </p:cNvGrpSpPr>
          <p:nvPr/>
        </p:nvGrpSpPr>
        <p:grpSpPr bwMode="auto">
          <a:xfrm>
            <a:off x="8794750" y="2897187"/>
            <a:ext cx="865187" cy="1295400"/>
            <a:chOff x="3514" y="124"/>
            <a:chExt cx="774" cy="832"/>
          </a:xfrm>
        </p:grpSpPr>
        <p:sp>
          <p:nvSpPr>
            <p:cNvPr id="162" name="Rectangle 65">
              <a:extLst>
                <a:ext uri="{FF2B5EF4-FFF2-40B4-BE49-F238E27FC236}">
                  <a16:creationId xmlns:a16="http://schemas.microsoft.com/office/drawing/2014/main" id="{FC8C7D8D-AEAD-46AB-BED9-A66AA8E27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4" y="124"/>
              <a:ext cx="774" cy="832"/>
            </a:xfrm>
            <a:prstGeom prst="rect">
              <a:avLst/>
            </a:prstGeom>
            <a:solidFill>
              <a:srgbClr val="0042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Freeform 66">
              <a:extLst>
                <a:ext uri="{FF2B5EF4-FFF2-40B4-BE49-F238E27FC236}">
                  <a16:creationId xmlns:a16="http://schemas.microsoft.com/office/drawing/2014/main" id="{F44DD1C8-256D-475D-80DB-1DE2918F6C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4" y="124"/>
              <a:ext cx="774" cy="832"/>
            </a:xfrm>
            <a:custGeom>
              <a:avLst/>
              <a:gdLst>
                <a:gd name="T0" fmla="*/ 12390 w 12390"/>
                <a:gd name="T1" fmla="*/ 0 h 13318"/>
                <a:gd name="T2" fmla="*/ 12390 w 12390"/>
                <a:gd name="T3" fmla="*/ 13318 h 13318"/>
                <a:gd name="T4" fmla="*/ 0 w 12390"/>
                <a:gd name="T5" fmla="*/ 13318 h 13318"/>
                <a:gd name="T6" fmla="*/ 12390 w 12390"/>
                <a:gd name="T7" fmla="*/ 0 h 13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90" h="13318">
                  <a:moveTo>
                    <a:pt x="12390" y="0"/>
                  </a:moveTo>
                  <a:lnTo>
                    <a:pt x="12390" y="13318"/>
                  </a:lnTo>
                  <a:lnTo>
                    <a:pt x="0" y="13318"/>
                  </a:lnTo>
                  <a:lnTo>
                    <a:pt x="12390" y="0"/>
                  </a:lnTo>
                  <a:close/>
                </a:path>
              </a:pathLst>
            </a:custGeom>
            <a:solidFill>
              <a:srgbClr val="C5D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Rectangle 67">
              <a:extLst>
                <a:ext uri="{FF2B5EF4-FFF2-40B4-BE49-F238E27FC236}">
                  <a16:creationId xmlns:a16="http://schemas.microsoft.com/office/drawing/2014/main" id="{4184D9A8-F8A4-4982-8A3A-41A5882A0C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2" y="175"/>
              <a:ext cx="678" cy="729"/>
            </a:xfrm>
            <a:prstGeom prst="rect">
              <a:avLst/>
            </a:prstGeom>
            <a:solidFill>
              <a:srgbClr val="1F1A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Rectangle 68">
              <a:extLst>
                <a:ext uri="{FF2B5EF4-FFF2-40B4-BE49-F238E27FC236}">
                  <a16:creationId xmlns:a16="http://schemas.microsoft.com/office/drawing/2014/main" id="{4199FEF5-1F0A-4C55-B4B9-A7E4F79C5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9" y="215"/>
              <a:ext cx="604" cy="649"/>
            </a:xfrm>
            <a:prstGeom prst="rect">
              <a:avLst/>
            </a:prstGeom>
            <a:solidFill>
              <a:srgbClr val="7FA6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Rectangle 69">
              <a:extLst>
                <a:ext uri="{FF2B5EF4-FFF2-40B4-BE49-F238E27FC236}">
                  <a16:creationId xmlns:a16="http://schemas.microsoft.com/office/drawing/2014/main" id="{7D4FDDB4-16CD-43C9-9C0D-45429F8DD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9" y="254"/>
              <a:ext cx="378" cy="80"/>
            </a:xfrm>
            <a:prstGeom prst="rect">
              <a:avLst/>
            </a:prstGeom>
            <a:solidFill>
              <a:srgbClr val="0042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Rectangle 70">
              <a:extLst>
                <a:ext uri="{FF2B5EF4-FFF2-40B4-BE49-F238E27FC236}">
                  <a16:creationId xmlns:a16="http://schemas.microsoft.com/office/drawing/2014/main" id="{32DB3A26-0FA3-4905-A570-683B1A372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" y="285"/>
              <a:ext cx="232" cy="19"/>
            </a:xfrm>
            <a:prstGeom prst="rect">
              <a:avLst/>
            </a:prstGeom>
            <a:solidFill>
              <a:srgbClr val="0042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Rectangle 71">
              <a:extLst>
                <a:ext uri="{FF2B5EF4-FFF2-40B4-BE49-F238E27FC236}">
                  <a16:creationId xmlns:a16="http://schemas.microsoft.com/office/drawing/2014/main" id="{0BB7D231-C3CA-4E06-A2B1-FC683CE95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9" y="400"/>
              <a:ext cx="378" cy="81"/>
            </a:xfrm>
            <a:prstGeom prst="rect">
              <a:avLst/>
            </a:prstGeom>
            <a:solidFill>
              <a:srgbClr val="0042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Rectangle 72">
              <a:extLst>
                <a:ext uri="{FF2B5EF4-FFF2-40B4-BE49-F238E27FC236}">
                  <a16:creationId xmlns:a16="http://schemas.microsoft.com/office/drawing/2014/main" id="{7C2C440F-50B1-42BA-BB60-E2DBDAF6D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" y="431"/>
              <a:ext cx="232" cy="19"/>
            </a:xfrm>
            <a:prstGeom prst="rect">
              <a:avLst/>
            </a:prstGeom>
            <a:solidFill>
              <a:srgbClr val="0042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Rectangle 73">
              <a:extLst>
                <a:ext uri="{FF2B5EF4-FFF2-40B4-BE49-F238E27FC236}">
                  <a16:creationId xmlns:a16="http://schemas.microsoft.com/office/drawing/2014/main" id="{42DDB797-4338-4FEA-A4F5-4B57A2EC2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9" y="669"/>
              <a:ext cx="378" cy="35"/>
            </a:xfrm>
            <a:prstGeom prst="rect">
              <a:avLst/>
            </a:prstGeom>
            <a:solidFill>
              <a:srgbClr val="1F1A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Rectangle 74">
              <a:extLst>
                <a:ext uri="{FF2B5EF4-FFF2-40B4-BE49-F238E27FC236}">
                  <a16:creationId xmlns:a16="http://schemas.microsoft.com/office/drawing/2014/main" id="{9E6E1B43-2AC0-4F9E-BDD9-CD7038247C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9" y="757"/>
              <a:ext cx="378" cy="35"/>
            </a:xfrm>
            <a:prstGeom prst="rect">
              <a:avLst/>
            </a:prstGeom>
            <a:solidFill>
              <a:srgbClr val="1F1A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2" name="Line 75">
            <a:extLst>
              <a:ext uri="{FF2B5EF4-FFF2-40B4-BE49-F238E27FC236}">
                <a16:creationId xmlns:a16="http://schemas.microsoft.com/office/drawing/2014/main" id="{2208E6CA-C439-4AFA-B59C-6FD883559A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5325" y="3544887"/>
            <a:ext cx="12239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73" name="Line 76">
            <a:extLst>
              <a:ext uri="{FF2B5EF4-FFF2-40B4-BE49-F238E27FC236}">
                <a16:creationId xmlns:a16="http://schemas.microsoft.com/office/drawing/2014/main" id="{D61D64FF-A2DD-40A7-AD27-C6B730C0D4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9787" y="1384300"/>
            <a:ext cx="0" cy="374491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74" name="Line 77">
            <a:extLst>
              <a:ext uri="{FF2B5EF4-FFF2-40B4-BE49-F238E27FC236}">
                <a16:creationId xmlns:a16="http://schemas.microsoft.com/office/drawing/2014/main" id="{89ACFC7D-3DAF-40CF-A2FF-B555A03D96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9287" y="1384300"/>
            <a:ext cx="0" cy="374491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grpSp>
        <p:nvGrpSpPr>
          <p:cNvPr id="175" name="Group 90">
            <a:extLst>
              <a:ext uri="{FF2B5EF4-FFF2-40B4-BE49-F238E27FC236}">
                <a16:creationId xmlns:a16="http://schemas.microsoft.com/office/drawing/2014/main" id="{E0FD5D34-B8CE-4EEB-8108-87D7B9ACB54F}"/>
              </a:ext>
            </a:extLst>
          </p:cNvPr>
          <p:cNvGrpSpPr>
            <a:grpSpLocks/>
          </p:cNvGrpSpPr>
          <p:nvPr/>
        </p:nvGrpSpPr>
        <p:grpSpPr bwMode="auto">
          <a:xfrm>
            <a:off x="5729287" y="3257550"/>
            <a:ext cx="287338" cy="581025"/>
            <a:chOff x="476" y="3158"/>
            <a:chExt cx="499" cy="820"/>
          </a:xfrm>
        </p:grpSpPr>
        <p:sp>
          <p:nvSpPr>
            <p:cNvPr id="176" name="Rectangle 78">
              <a:extLst>
                <a:ext uri="{FF2B5EF4-FFF2-40B4-BE49-F238E27FC236}">
                  <a16:creationId xmlns:a16="http://schemas.microsoft.com/office/drawing/2014/main" id="{1FA2B8E7-B958-45BA-86D3-4CB6ECDDE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3158"/>
              <a:ext cx="499" cy="82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zh-CN"/>
            </a:p>
          </p:txBody>
        </p:sp>
        <p:sp>
          <p:nvSpPr>
            <p:cNvPr id="177" name="Rectangle 80">
              <a:extLst>
                <a:ext uri="{FF2B5EF4-FFF2-40B4-BE49-F238E27FC236}">
                  <a16:creationId xmlns:a16="http://schemas.microsoft.com/office/drawing/2014/main" id="{5EEE0AEC-1B92-4ACC-9E02-EC40120C7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3158"/>
              <a:ext cx="499" cy="82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zh-CN"/>
            </a:p>
          </p:txBody>
        </p:sp>
        <p:sp>
          <p:nvSpPr>
            <p:cNvPr id="178" name="Freeform 81">
              <a:extLst>
                <a:ext uri="{FF2B5EF4-FFF2-40B4-BE49-F238E27FC236}">
                  <a16:creationId xmlns:a16="http://schemas.microsoft.com/office/drawing/2014/main" id="{CEE6469B-90AA-4859-9720-8848A94580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" y="3249"/>
              <a:ext cx="499" cy="228"/>
            </a:xfrm>
            <a:custGeom>
              <a:avLst/>
              <a:gdLst>
                <a:gd name="T0" fmla="*/ 0 w 499"/>
                <a:gd name="T1" fmla="*/ 0 h 228"/>
                <a:gd name="T2" fmla="*/ 136 w 499"/>
                <a:gd name="T3" fmla="*/ 0 h 228"/>
                <a:gd name="T4" fmla="*/ 373 w 499"/>
                <a:gd name="T5" fmla="*/ 228 h 228"/>
                <a:gd name="T6" fmla="*/ 499 w 499"/>
                <a:gd name="T7" fmla="*/ 227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9" h="228">
                  <a:moveTo>
                    <a:pt x="0" y="0"/>
                  </a:moveTo>
                  <a:lnTo>
                    <a:pt x="136" y="0"/>
                  </a:lnTo>
                  <a:lnTo>
                    <a:pt x="373" y="228"/>
                  </a:lnTo>
                  <a:lnTo>
                    <a:pt x="499" y="227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79" name="Freeform 83">
              <a:extLst>
                <a:ext uri="{FF2B5EF4-FFF2-40B4-BE49-F238E27FC236}">
                  <a16:creationId xmlns:a16="http://schemas.microsoft.com/office/drawing/2014/main" id="{96D51FB4-35A8-4FC6-BB5D-80E2352976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" y="3384"/>
              <a:ext cx="499" cy="228"/>
            </a:xfrm>
            <a:custGeom>
              <a:avLst/>
              <a:gdLst>
                <a:gd name="T0" fmla="*/ 0 w 499"/>
                <a:gd name="T1" fmla="*/ 0 h 228"/>
                <a:gd name="T2" fmla="*/ 136 w 499"/>
                <a:gd name="T3" fmla="*/ 0 h 228"/>
                <a:gd name="T4" fmla="*/ 373 w 499"/>
                <a:gd name="T5" fmla="*/ 228 h 228"/>
                <a:gd name="T6" fmla="*/ 499 w 499"/>
                <a:gd name="T7" fmla="*/ 227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9" h="228">
                  <a:moveTo>
                    <a:pt x="0" y="0"/>
                  </a:moveTo>
                  <a:lnTo>
                    <a:pt x="136" y="0"/>
                  </a:lnTo>
                  <a:lnTo>
                    <a:pt x="373" y="228"/>
                  </a:lnTo>
                  <a:lnTo>
                    <a:pt x="499" y="227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80" name="Freeform 84">
              <a:extLst>
                <a:ext uri="{FF2B5EF4-FFF2-40B4-BE49-F238E27FC236}">
                  <a16:creationId xmlns:a16="http://schemas.microsoft.com/office/drawing/2014/main" id="{417DA2CF-1159-4C28-8B05-6C1DFA4D1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" y="3521"/>
              <a:ext cx="499" cy="228"/>
            </a:xfrm>
            <a:custGeom>
              <a:avLst/>
              <a:gdLst>
                <a:gd name="T0" fmla="*/ 0 w 499"/>
                <a:gd name="T1" fmla="*/ 0 h 228"/>
                <a:gd name="T2" fmla="*/ 136 w 499"/>
                <a:gd name="T3" fmla="*/ 0 h 228"/>
                <a:gd name="T4" fmla="*/ 373 w 499"/>
                <a:gd name="T5" fmla="*/ 228 h 228"/>
                <a:gd name="T6" fmla="*/ 499 w 499"/>
                <a:gd name="T7" fmla="*/ 227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9" h="228">
                  <a:moveTo>
                    <a:pt x="0" y="0"/>
                  </a:moveTo>
                  <a:lnTo>
                    <a:pt x="136" y="0"/>
                  </a:lnTo>
                  <a:lnTo>
                    <a:pt x="373" y="228"/>
                  </a:lnTo>
                  <a:lnTo>
                    <a:pt x="499" y="227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81" name="Freeform 85">
              <a:extLst>
                <a:ext uri="{FF2B5EF4-FFF2-40B4-BE49-F238E27FC236}">
                  <a16:creationId xmlns:a16="http://schemas.microsoft.com/office/drawing/2014/main" id="{11E71E63-1468-4A2C-A3A7-1F622F6628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" y="3657"/>
              <a:ext cx="499" cy="228"/>
            </a:xfrm>
            <a:custGeom>
              <a:avLst/>
              <a:gdLst>
                <a:gd name="T0" fmla="*/ 0 w 499"/>
                <a:gd name="T1" fmla="*/ 0 h 228"/>
                <a:gd name="T2" fmla="*/ 136 w 499"/>
                <a:gd name="T3" fmla="*/ 0 h 228"/>
                <a:gd name="T4" fmla="*/ 373 w 499"/>
                <a:gd name="T5" fmla="*/ 228 h 228"/>
                <a:gd name="T6" fmla="*/ 499 w 499"/>
                <a:gd name="T7" fmla="*/ 227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9" h="228">
                  <a:moveTo>
                    <a:pt x="0" y="0"/>
                  </a:moveTo>
                  <a:lnTo>
                    <a:pt x="136" y="0"/>
                  </a:lnTo>
                  <a:lnTo>
                    <a:pt x="373" y="228"/>
                  </a:lnTo>
                  <a:lnTo>
                    <a:pt x="499" y="227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82" name="Freeform 86">
              <a:extLst>
                <a:ext uri="{FF2B5EF4-FFF2-40B4-BE49-F238E27FC236}">
                  <a16:creationId xmlns:a16="http://schemas.microsoft.com/office/drawing/2014/main" id="{1F9E88BE-03F1-4128-97F1-E83699848F9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6" y="3249"/>
              <a:ext cx="499" cy="228"/>
            </a:xfrm>
            <a:custGeom>
              <a:avLst/>
              <a:gdLst>
                <a:gd name="T0" fmla="*/ 0 w 499"/>
                <a:gd name="T1" fmla="*/ 0 h 228"/>
                <a:gd name="T2" fmla="*/ 136 w 499"/>
                <a:gd name="T3" fmla="*/ 0 h 228"/>
                <a:gd name="T4" fmla="*/ 373 w 499"/>
                <a:gd name="T5" fmla="*/ 228 h 228"/>
                <a:gd name="T6" fmla="*/ 499 w 499"/>
                <a:gd name="T7" fmla="*/ 227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9" h="228">
                  <a:moveTo>
                    <a:pt x="0" y="0"/>
                  </a:moveTo>
                  <a:lnTo>
                    <a:pt x="136" y="0"/>
                  </a:lnTo>
                  <a:lnTo>
                    <a:pt x="373" y="228"/>
                  </a:lnTo>
                  <a:lnTo>
                    <a:pt x="499" y="227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83" name="Freeform 87">
              <a:extLst>
                <a:ext uri="{FF2B5EF4-FFF2-40B4-BE49-F238E27FC236}">
                  <a16:creationId xmlns:a16="http://schemas.microsoft.com/office/drawing/2014/main" id="{4D358E11-DC4D-46CB-81AB-5042BDFACD3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6" y="3384"/>
              <a:ext cx="499" cy="228"/>
            </a:xfrm>
            <a:custGeom>
              <a:avLst/>
              <a:gdLst>
                <a:gd name="T0" fmla="*/ 0 w 499"/>
                <a:gd name="T1" fmla="*/ 0 h 228"/>
                <a:gd name="T2" fmla="*/ 136 w 499"/>
                <a:gd name="T3" fmla="*/ 0 h 228"/>
                <a:gd name="T4" fmla="*/ 373 w 499"/>
                <a:gd name="T5" fmla="*/ 228 h 228"/>
                <a:gd name="T6" fmla="*/ 499 w 499"/>
                <a:gd name="T7" fmla="*/ 227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9" h="228">
                  <a:moveTo>
                    <a:pt x="0" y="0"/>
                  </a:moveTo>
                  <a:lnTo>
                    <a:pt x="136" y="0"/>
                  </a:lnTo>
                  <a:lnTo>
                    <a:pt x="373" y="228"/>
                  </a:lnTo>
                  <a:lnTo>
                    <a:pt x="499" y="227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" name="Freeform 88">
              <a:extLst>
                <a:ext uri="{FF2B5EF4-FFF2-40B4-BE49-F238E27FC236}">
                  <a16:creationId xmlns:a16="http://schemas.microsoft.com/office/drawing/2014/main" id="{74DF2A44-B11C-4CFD-A87E-CA20F93DBAF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6" y="3657"/>
              <a:ext cx="499" cy="228"/>
            </a:xfrm>
            <a:custGeom>
              <a:avLst/>
              <a:gdLst>
                <a:gd name="T0" fmla="*/ 0 w 499"/>
                <a:gd name="T1" fmla="*/ 0 h 228"/>
                <a:gd name="T2" fmla="*/ 136 w 499"/>
                <a:gd name="T3" fmla="*/ 0 h 228"/>
                <a:gd name="T4" fmla="*/ 373 w 499"/>
                <a:gd name="T5" fmla="*/ 228 h 228"/>
                <a:gd name="T6" fmla="*/ 499 w 499"/>
                <a:gd name="T7" fmla="*/ 227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9" h="228">
                  <a:moveTo>
                    <a:pt x="0" y="0"/>
                  </a:moveTo>
                  <a:lnTo>
                    <a:pt x="136" y="0"/>
                  </a:lnTo>
                  <a:lnTo>
                    <a:pt x="373" y="228"/>
                  </a:lnTo>
                  <a:lnTo>
                    <a:pt x="499" y="227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85" name="Freeform 89">
              <a:extLst>
                <a:ext uri="{FF2B5EF4-FFF2-40B4-BE49-F238E27FC236}">
                  <a16:creationId xmlns:a16="http://schemas.microsoft.com/office/drawing/2014/main" id="{957F13A8-FB4F-453A-BE31-D56178E0C99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6" y="3521"/>
              <a:ext cx="499" cy="228"/>
            </a:xfrm>
            <a:custGeom>
              <a:avLst/>
              <a:gdLst>
                <a:gd name="T0" fmla="*/ 0 w 499"/>
                <a:gd name="T1" fmla="*/ 0 h 228"/>
                <a:gd name="T2" fmla="*/ 136 w 499"/>
                <a:gd name="T3" fmla="*/ 0 h 228"/>
                <a:gd name="T4" fmla="*/ 373 w 499"/>
                <a:gd name="T5" fmla="*/ 228 h 228"/>
                <a:gd name="T6" fmla="*/ 499 w 499"/>
                <a:gd name="T7" fmla="*/ 227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9" h="228">
                  <a:moveTo>
                    <a:pt x="0" y="0"/>
                  </a:moveTo>
                  <a:lnTo>
                    <a:pt x="136" y="0"/>
                  </a:lnTo>
                  <a:lnTo>
                    <a:pt x="373" y="228"/>
                  </a:lnTo>
                  <a:lnTo>
                    <a:pt x="499" y="227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6" name="Group 91">
            <a:extLst>
              <a:ext uri="{FF2B5EF4-FFF2-40B4-BE49-F238E27FC236}">
                <a16:creationId xmlns:a16="http://schemas.microsoft.com/office/drawing/2014/main" id="{6D77465A-E6BD-407B-8DC6-758F232B7485}"/>
              </a:ext>
            </a:extLst>
          </p:cNvPr>
          <p:cNvGrpSpPr>
            <a:grpSpLocks/>
          </p:cNvGrpSpPr>
          <p:nvPr/>
        </p:nvGrpSpPr>
        <p:grpSpPr bwMode="auto">
          <a:xfrm>
            <a:off x="7602537" y="2897187"/>
            <a:ext cx="576263" cy="1301750"/>
            <a:chOff x="476" y="3158"/>
            <a:chExt cx="499" cy="820"/>
          </a:xfrm>
        </p:grpSpPr>
        <p:sp>
          <p:nvSpPr>
            <p:cNvPr id="187" name="Rectangle 92">
              <a:extLst>
                <a:ext uri="{FF2B5EF4-FFF2-40B4-BE49-F238E27FC236}">
                  <a16:creationId xmlns:a16="http://schemas.microsoft.com/office/drawing/2014/main" id="{19BF0DF1-0CD6-4E06-AF1B-C3105EE75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3158"/>
              <a:ext cx="499" cy="82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zh-CN"/>
            </a:p>
          </p:txBody>
        </p:sp>
        <p:sp>
          <p:nvSpPr>
            <p:cNvPr id="188" name="Rectangle 93">
              <a:extLst>
                <a:ext uri="{FF2B5EF4-FFF2-40B4-BE49-F238E27FC236}">
                  <a16:creationId xmlns:a16="http://schemas.microsoft.com/office/drawing/2014/main" id="{EB63805B-D071-45E3-A898-CD4EE2113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3158"/>
              <a:ext cx="499" cy="82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zh-CN"/>
            </a:p>
          </p:txBody>
        </p:sp>
        <p:sp>
          <p:nvSpPr>
            <p:cNvPr id="189" name="Freeform 94">
              <a:extLst>
                <a:ext uri="{FF2B5EF4-FFF2-40B4-BE49-F238E27FC236}">
                  <a16:creationId xmlns:a16="http://schemas.microsoft.com/office/drawing/2014/main" id="{2E5489C7-76D4-4FEF-A8EC-ACB363A2A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" y="3249"/>
              <a:ext cx="499" cy="228"/>
            </a:xfrm>
            <a:custGeom>
              <a:avLst/>
              <a:gdLst>
                <a:gd name="T0" fmla="*/ 0 w 499"/>
                <a:gd name="T1" fmla="*/ 0 h 228"/>
                <a:gd name="T2" fmla="*/ 136 w 499"/>
                <a:gd name="T3" fmla="*/ 0 h 228"/>
                <a:gd name="T4" fmla="*/ 373 w 499"/>
                <a:gd name="T5" fmla="*/ 228 h 228"/>
                <a:gd name="T6" fmla="*/ 499 w 499"/>
                <a:gd name="T7" fmla="*/ 227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9" h="228">
                  <a:moveTo>
                    <a:pt x="0" y="0"/>
                  </a:moveTo>
                  <a:lnTo>
                    <a:pt x="136" y="0"/>
                  </a:lnTo>
                  <a:lnTo>
                    <a:pt x="373" y="228"/>
                  </a:lnTo>
                  <a:lnTo>
                    <a:pt x="499" y="227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90" name="Freeform 95">
              <a:extLst>
                <a:ext uri="{FF2B5EF4-FFF2-40B4-BE49-F238E27FC236}">
                  <a16:creationId xmlns:a16="http://schemas.microsoft.com/office/drawing/2014/main" id="{535275A8-C0CE-460D-B5FC-7F6B228AE6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" y="3384"/>
              <a:ext cx="499" cy="228"/>
            </a:xfrm>
            <a:custGeom>
              <a:avLst/>
              <a:gdLst>
                <a:gd name="T0" fmla="*/ 0 w 499"/>
                <a:gd name="T1" fmla="*/ 0 h 228"/>
                <a:gd name="T2" fmla="*/ 136 w 499"/>
                <a:gd name="T3" fmla="*/ 0 h 228"/>
                <a:gd name="T4" fmla="*/ 373 w 499"/>
                <a:gd name="T5" fmla="*/ 228 h 228"/>
                <a:gd name="T6" fmla="*/ 499 w 499"/>
                <a:gd name="T7" fmla="*/ 227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9" h="228">
                  <a:moveTo>
                    <a:pt x="0" y="0"/>
                  </a:moveTo>
                  <a:lnTo>
                    <a:pt x="136" y="0"/>
                  </a:lnTo>
                  <a:lnTo>
                    <a:pt x="373" y="228"/>
                  </a:lnTo>
                  <a:lnTo>
                    <a:pt x="499" y="227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91" name="Freeform 96">
              <a:extLst>
                <a:ext uri="{FF2B5EF4-FFF2-40B4-BE49-F238E27FC236}">
                  <a16:creationId xmlns:a16="http://schemas.microsoft.com/office/drawing/2014/main" id="{61964DD2-DDBB-4F71-A87C-95AA856AD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" y="3521"/>
              <a:ext cx="499" cy="228"/>
            </a:xfrm>
            <a:custGeom>
              <a:avLst/>
              <a:gdLst>
                <a:gd name="T0" fmla="*/ 0 w 499"/>
                <a:gd name="T1" fmla="*/ 0 h 228"/>
                <a:gd name="T2" fmla="*/ 136 w 499"/>
                <a:gd name="T3" fmla="*/ 0 h 228"/>
                <a:gd name="T4" fmla="*/ 373 w 499"/>
                <a:gd name="T5" fmla="*/ 228 h 228"/>
                <a:gd name="T6" fmla="*/ 499 w 499"/>
                <a:gd name="T7" fmla="*/ 227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9" h="228">
                  <a:moveTo>
                    <a:pt x="0" y="0"/>
                  </a:moveTo>
                  <a:lnTo>
                    <a:pt x="136" y="0"/>
                  </a:lnTo>
                  <a:lnTo>
                    <a:pt x="373" y="228"/>
                  </a:lnTo>
                  <a:lnTo>
                    <a:pt x="499" y="227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92" name="Freeform 97">
              <a:extLst>
                <a:ext uri="{FF2B5EF4-FFF2-40B4-BE49-F238E27FC236}">
                  <a16:creationId xmlns:a16="http://schemas.microsoft.com/office/drawing/2014/main" id="{3AACBE87-5E94-4D2E-92D1-ACFDCE71C9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" y="3657"/>
              <a:ext cx="499" cy="228"/>
            </a:xfrm>
            <a:custGeom>
              <a:avLst/>
              <a:gdLst>
                <a:gd name="T0" fmla="*/ 0 w 499"/>
                <a:gd name="T1" fmla="*/ 0 h 228"/>
                <a:gd name="T2" fmla="*/ 136 w 499"/>
                <a:gd name="T3" fmla="*/ 0 h 228"/>
                <a:gd name="T4" fmla="*/ 373 w 499"/>
                <a:gd name="T5" fmla="*/ 228 h 228"/>
                <a:gd name="T6" fmla="*/ 499 w 499"/>
                <a:gd name="T7" fmla="*/ 227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9" h="228">
                  <a:moveTo>
                    <a:pt x="0" y="0"/>
                  </a:moveTo>
                  <a:lnTo>
                    <a:pt x="136" y="0"/>
                  </a:lnTo>
                  <a:lnTo>
                    <a:pt x="373" y="228"/>
                  </a:lnTo>
                  <a:lnTo>
                    <a:pt x="499" y="227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93" name="Freeform 98">
              <a:extLst>
                <a:ext uri="{FF2B5EF4-FFF2-40B4-BE49-F238E27FC236}">
                  <a16:creationId xmlns:a16="http://schemas.microsoft.com/office/drawing/2014/main" id="{238AC294-2079-4287-A86B-697F395833E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6" y="3249"/>
              <a:ext cx="499" cy="228"/>
            </a:xfrm>
            <a:custGeom>
              <a:avLst/>
              <a:gdLst>
                <a:gd name="T0" fmla="*/ 0 w 499"/>
                <a:gd name="T1" fmla="*/ 0 h 228"/>
                <a:gd name="T2" fmla="*/ 136 w 499"/>
                <a:gd name="T3" fmla="*/ 0 h 228"/>
                <a:gd name="T4" fmla="*/ 373 w 499"/>
                <a:gd name="T5" fmla="*/ 228 h 228"/>
                <a:gd name="T6" fmla="*/ 499 w 499"/>
                <a:gd name="T7" fmla="*/ 227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9" h="228">
                  <a:moveTo>
                    <a:pt x="0" y="0"/>
                  </a:moveTo>
                  <a:lnTo>
                    <a:pt x="136" y="0"/>
                  </a:lnTo>
                  <a:lnTo>
                    <a:pt x="373" y="228"/>
                  </a:lnTo>
                  <a:lnTo>
                    <a:pt x="499" y="227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" name="Freeform 99">
              <a:extLst>
                <a:ext uri="{FF2B5EF4-FFF2-40B4-BE49-F238E27FC236}">
                  <a16:creationId xmlns:a16="http://schemas.microsoft.com/office/drawing/2014/main" id="{ED6DCBC2-5EEB-456A-9D74-AB07BDBF8AC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6" y="3384"/>
              <a:ext cx="499" cy="228"/>
            </a:xfrm>
            <a:custGeom>
              <a:avLst/>
              <a:gdLst>
                <a:gd name="T0" fmla="*/ 0 w 499"/>
                <a:gd name="T1" fmla="*/ 0 h 228"/>
                <a:gd name="T2" fmla="*/ 136 w 499"/>
                <a:gd name="T3" fmla="*/ 0 h 228"/>
                <a:gd name="T4" fmla="*/ 373 w 499"/>
                <a:gd name="T5" fmla="*/ 228 h 228"/>
                <a:gd name="T6" fmla="*/ 499 w 499"/>
                <a:gd name="T7" fmla="*/ 227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9" h="228">
                  <a:moveTo>
                    <a:pt x="0" y="0"/>
                  </a:moveTo>
                  <a:lnTo>
                    <a:pt x="136" y="0"/>
                  </a:lnTo>
                  <a:lnTo>
                    <a:pt x="373" y="228"/>
                  </a:lnTo>
                  <a:lnTo>
                    <a:pt x="499" y="227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" name="Freeform 100">
              <a:extLst>
                <a:ext uri="{FF2B5EF4-FFF2-40B4-BE49-F238E27FC236}">
                  <a16:creationId xmlns:a16="http://schemas.microsoft.com/office/drawing/2014/main" id="{A31A901D-ADF8-4059-BD42-EE5A36FA667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6" y="3657"/>
              <a:ext cx="499" cy="228"/>
            </a:xfrm>
            <a:custGeom>
              <a:avLst/>
              <a:gdLst>
                <a:gd name="T0" fmla="*/ 0 w 499"/>
                <a:gd name="T1" fmla="*/ 0 h 228"/>
                <a:gd name="T2" fmla="*/ 136 w 499"/>
                <a:gd name="T3" fmla="*/ 0 h 228"/>
                <a:gd name="T4" fmla="*/ 373 w 499"/>
                <a:gd name="T5" fmla="*/ 228 h 228"/>
                <a:gd name="T6" fmla="*/ 499 w 499"/>
                <a:gd name="T7" fmla="*/ 227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9" h="228">
                  <a:moveTo>
                    <a:pt x="0" y="0"/>
                  </a:moveTo>
                  <a:lnTo>
                    <a:pt x="136" y="0"/>
                  </a:lnTo>
                  <a:lnTo>
                    <a:pt x="373" y="228"/>
                  </a:lnTo>
                  <a:lnTo>
                    <a:pt x="499" y="227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96" name="Freeform 101">
              <a:extLst>
                <a:ext uri="{FF2B5EF4-FFF2-40B4-BE49-F238E27FC236}">
                  <a16:creationId xmlns:a16="http://schemas.microsoft.com/office/drawing/2014/main" id="{B6268CE6-2C1E-4753-A925-1BDE3B06894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6" y="3521"/>
              <a:ext cx="499" cy="228"/>
            </a:xfrm>
            <a:custGeom>
              <a:avLst/>
              <a:gdLst>
                <a:gd name="T0" fmla="*/ 0 w 499"/>
                <a:gd name="T1" fmla="*/ 0 h 228"/>
                <a:gd name="T2" fmla="*/ 136 w 499"/>
                <a:gd name="T3" fmla="*/ 0 h 228"/>
                <a:gd name="T4" fmla="*/ 373 w 499"/>
                <a:gd name="T5" fmla="*/ 228 h 228"/>
                <a:gd name="T6" fmla="*/ 499 w 499"/>
                <a:gd name="T7" fmla="*/ 227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9" h="228">
                  <a:moveTo>
                    <a:pt x="0" y="0"/>
                  </a:moveTo>
                  <a:lnTo>
                    <a:pt x="136" y="0"/>
                  </a:lnTo>
                  <a:lnTo>
                    <a:pt x="373" y="228"/>
                  </a:lnTo>
                  <a:lnTo>
                    <a:pt x="499" y="227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97" name="Text Box 102">
            <a:extLst>
              <a:ext uri="{FF2B5EF4-FFF2-40B4-BE49-F238E27FC236}">
                <a16:creationId xmlns:a16="http://schemas.microsoft.com/office/drawing/2014/main" id="{1A805772-9C87-4AFB-8801-604B62083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9512" y="5318131"/>
            <a:ext cx="422635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ATU-C: ADSL Transmission Unit - Central</a:t>
            </a:r>
          </a:p>
          <a:p>
            <a:pPr algn="l"/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ATU-R: ADSL Transmission Unit – Remote</a:t>
            </a:r>
          </a:p>
          <a:p>
            <a:pPr algn="l"/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DSLAM: Digital Subscriber Line Access Multiplexer</a:t>
            </a:r>
          </a:p>
        </p:txBody>
      </p:sp>
      <p:sp>
        <p:nvSpPr>
          <p:cNvPr id="198" name="Text Box 103">
            <a:extLst>
              <a:ext uri="{FF2B5EF4-FFF2-40B4-BE49-F238E27FC236}">
                <a16:creationId xmlns:a16="http://schemas.microsoft.com/office/drawing/2014/main" id="{A2DBD16F-5A40-4416-A51C-9CFBEA08A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6189" y="4805332"/>
            <a:ext cx="171556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用户侧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ATU-R</a:t>
            </a:r>
          </a:p>
        </p:txBody>
      </p:sp>
      <p:sp>
        <p:nvSpPr>
          <p:cNvPr id="199" name="Text Box 104">
            <a:extLst>
              <a:ext uri="{FF2B5EF4-FFF2-40B4-BE49-F238E27FC236}">
                <a16:creationId xmlns:a16="http://schemas.microsoft.com/office/drawing/2014/main" id="{D8B670A4-B946-40C0-B0FC-E6D738BA9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1176" y="4825842"/>
            <a:ext cx="171556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本地局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ATU-C</a:t>
            </a:r>
          </a:p>
        </p:txBody>
      </p:sp>
      <p:sp>
        <p:nvSpPr>
          <p:cNvPr id="200" name="Text Box 105">
            <a:extLst>
              <a:ext uri="{FF2B5EF4-FFF2-40B4-BE49-F238E27FC236}">
                <a16:creationId xmlns:a16="http://schemas.microsoft.com/office/drawing/2014/main" id="{E8FEDE73-E6C6-412F-A641-2412C6BA89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8300" y="2176462"/>
            <a:ext cx="137191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Ethernet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端口</a:t>
            </a:r>
          </a:p>
        </p:txBody>
      </p:sp>
      <p:sp>
        <p:nvSpPr>
          <p:cNvPr id="201" name="Text Box 106">
            <a:extLst>
              <a:ext uri="{FF2B5EF4-FFF2-40B4-BE49-F238E27FC236}">
                <a16:creationId xmlns:a16="http://schemas.microsoft.com/office/drawing/2014/main" id="{C2A60A5E-0B82-46B8-88EC-1F3D3B175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6381" y="2871756"/>
            <a:ext cx="121058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用户配线架</a:t>
            </a:r>
          </a:p>
        </p:txBody>
      </p:sp>
      <p:sp>
        <p:nvSpPr>
          <p:cNvPr id="202" name="Text Box 108">
            <a:extLst>
              <a:ext uri="{FF2B5EF4-FFF2-40B4-BE49-F238E27FC236}">
                <a16:creationId xmlns:a16="http://schemas.microsoft.com/office/drawing/2014/main" id="{5540468B-72E8-484C-B2C9-7EFD40C3A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3162" y="2895600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滤波器</a:t>
            </a:r>
          </a:p>
        </p:txBody>
      </p:sp>
      <p:sp>
        <p:nvSpPr>
          <p:cNvPr id="203" name="Text Box 109">
            <a:extLst>
              <a:ext uri="{FF2B5EF4-FFF2-40B4-BE49-F238E27FC236}">
                <a16:creationId xmlns:a16="http://schemas.microsoft.com/office/drawing/2014/main" id="{83F905CF-4E9C-44EA-A4AD-DAC846F73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5512" y="3976687"/>
            <a:ext cx="121058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局端滤波器</a:t>
            </a:r>
          </a:p>
        </p:txBody>
      </p:sp>
      <p:sp>
        <p:nvSpPr>
          <p:cNvPr id="204" name="Text Box 110">
            <a:extLst>
              <a:ext uri="{FF2B5EF4-FFF2-40B4-BE49-F238E27FC236}">
                <a16:creationId xmlns:a16="http://schemas.microsoft.com/office/drawing/2014/main" id="{BE2971B3-6862-4503-9531-1EF3C9546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3705" y="4301575"/>
            <a:ext cx="141577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交换机配线架</a:t>
            </a:r>
          </a:p>
        </p:txBody>
      </p:sp>
      <p:sp>
        <p:nvSpPr>
          <p:cNvPr id="205" name="Text Box 111">
            <a:extLst>
              <a:ext uri="{FF2B5EF4-FFF2-40B4-BE49-F238E27FC236}">
                <a16:creationId xmlns:a16="http://schemas.microsoft.com/office/drawing/2014/main" id="{9E0DBCF2-E915-4108-BCB3-DA3B20F04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8224" y="4301575"/>
            <a:ext cx="121058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程控交换机</a:t>
            </a:r>
          </a:p>
        </p:txBody>
      </p:sp>
      <p:sp>
        <p:nvSpPr>
          <p:cNvPr id="206" name="Line 112">
            <a:extLst>
              <a:ext uri="{FF2B5EF4-FFF2-40B4-BE49-F238E27FC236}">
                <a16:creationId xmlns:a16="http://schemas.microsoft.com/office/drawing/2014/main" id="{3A862515-D918-470E-A62A-DE09E8E91DE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0737" y="1671637"/>
            <a:ext cx="5032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pic>
        <p:nvPicPr>
          <p:cNvPr id="207" name="图形 206">
            <a:extLst>
              <a:ext uri="{FF2B5EF4-FFF2-40B4-BE49-F238E27FC236}">
                <a16:creationId xmlns:a16="http://schemas.microsoft.com/office/drawing/2014/main" id="{D02D5723-1561-48B6-B646-6ACEA4D7A5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25401" y="1511175"/>
            <a:ext cx="713207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3714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46C2DC-C98A-4E64-AF5A-CF07945FE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离散多音调调制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0B2968-11F3-4E73-A5EE-F26CB5564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DMT</a:t>
            </a:r>
            <a:r>
              <a:rPr lang="zh-CN" altLang="en-US" dirty="0"/>
              <a:t>：</a:t>
            </a:r>
            <a:r>
              <a:rPr lang="en-US" altLang="zh-CN" dirty="0"/>
              <a:t>Discrete </a:t>
            </a:r>
            <a:r>
              <a:rPr lang="en-US" altLang="zh-CN" dirty="0" err="1"/>
              <a:t>MultiTone</a:t>
            </a:r>
            <a:r>
              <a:rPr lang="en-US" altLang="zh-CN" dirty="0"/>
              <a:t> modulation</a:t>
            </a:r>
          </a:p>
          <a:p>
            <a:r>
              <a:rPr lang="zh-CN" altLang="en-US" dirty="0"/>
              <a:t>将本地可用带宽（约</a:t>
            </a:r>
            <a:r>
              <a:rPr lang="en-US" altLang="zh-CN" dirty="0"/>
              <a:t>1.1MHz</a:t>
            </a:r>
            <a:r>
              <a:rPr lang="zh-CN" altLang="en-US" dirty="0"/>
              <a:t>）分成</a:t>
            </a:r>
            <a:r>
              <a:rPr lang="en-US" altLang="zh-CN" dirty="0"/>
              <a:t>256</a:t>
            </a:r>
            <a:r>
              <a:rPr lang="zh-CN" altLang="en-US" dirty="0"/>
              <a:t>个</a:t>
            </a:r>
            <a:r>
              <a:rPr lang="en-US" altLang="zh-CN" dirty="0"/>
              <a:t>4312.5Hz</a:t>
            </a:r>
            <a:r>
              <a:rPr lang="zh-CN" altLang="en-US" dirty="0"/>
              <a:t>的独立信道</a:t>
            </a:r>
          </a:p>
          <a:p>
            <a:pPr lvl="1"/>
            <a:r>
              <a:rPr lang="zh-CN" altLang="en-US" dirty="0"/>
              <a:t>信道</a:t>
            </a:r>
            <a:r>
              <a:rPr lang="en-US" altLang="zh-CN" dirty="0"/>
              <a:t>0</a:t>
            </a:r>
            <a:r>
              <a:rPr lang="zh-CN" altLang="en-US" dirty="0"/>
              <a:t>：传统电话</a:t>
            </a:r>
          </a:p>
          <a:p>
            <a:pPr lvl="1"/>
            <a:r>
              <a:rPr lang="zh-CN" altLang="en-US" dirty="0"/>
              <a:t>信道</a:t>
            </a:r>
            <a:r>
              <a:rPr lang="en-US" altLang="zh-CN" dirty="0"/>
              <a:t>1~5</a:t>
            </a:r>
            <a:r>
              <a:rPr lang="zh-CN" altLang="en-US" dirty="0"/>
              <a:t>：保留</a:t>
            </a:r>
          </a:p>
          <a:p>
            <a:pPr lvl="1"/>
            <a:r>
              <a:rPr lang="zh-CN" altLang="en-US" dirty="0"/>
              <a:t>信道</a:t>
            </a:r>
            <a:r>
              <a:rPr lang="en-US" altLang="zh-CN" dirty="0"/>
              <a:t>6~256</a:t>
            </a:r>
            <a:r>
              <a:rPr lang="zh-CN" altLang="en-US" dirty="0"/>
              <a:t>：</a:t>
            </a:r>
            <a:r>
              <a:rPr lang="en-US" altLang="zh-CN" dirty="0"/>
              <a:t>1</a:t>
            </a:r>
            <a:r>
              <a:rPr lang="zh-CN" altLang="en-US" dirty="0"/>
              <a:t>个上行控制，</a:t>
            </a:r>
            <a:r>
              <a:rPr lang="en-US" altLang="zh-CN" dirty="0"/>
              <a:t>1</a:t>
            </a:r>
            <a:r>
              <a:rPr lang="zh-CN" altLang="en-US" dirty="0"/>
              <a:t>个下行控制，其它用于数据传输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3B73E4-D629-4887-9ED2-4E8C73838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/>
              <a:pPr>
                <a:defRPr/>
              </a:pPr>
              <a:t>46</a:t>
            </a:fld>
            <a:endParaRPr lang="en-US" altLang="zh-CN" dirty="0"/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2DB9028C-DF8F-47D2-9E8D-4EA4B44177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6469" y="3886325"/>
            <a:ext cx="0" cy="1223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0E6695D6-305A-4C2D-B44C-F149DDFD66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6469" y="5110287"/>
            <a:ext cx="79914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4C15571-BF64-4EF6-8EFE-22D506E48CDC}"/>
              </a:ext>
            </a:extLst>
          </p:cNvPr>
          <p:cNvSpPr>
            <a:spLocks/>
          </p:cNvSpPr>
          <p:nvPr/>
        </p:nvSpPr>
        <p:spPr bwMode="auto">
          <a:xfrm>
            <a:off x="1536469" y="4175250"/>
            <a:ext cx="358775" cy="935037"/>
          </a:xfrm>
          <a:custGeom>
            <a:avLst/>
            <a:gdLst>
              <a:gd name="T0" fmla="*/ 0 w 226"/>
              <a:gd name="T1" fmla="*/ 588 h 589"/>
              <a:gd name="T2" fmla="*/ 111 w 226"/>
              <a:gd name="T3" fmla="*/ 0 h 589"/>
              <a:gd name="T4" fmla="*/ 226 w 226"/>
              <a:gd name="T5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" h="589">
                <a:moveTo>
                  <a:pt x="0" y="588"/>
                </a:moveTo>
                <a:cubicBezTo>
                  <a:pt x="19" y="490"/>
                  <a:pt x="73" y="0"/>
                  <a:pt x="111" y="0"/>
                </a:cubicBezTo>
                <a:cubicBezTo>
                  <a:pt x="149" y="0"/>
                  <a:pt x="202" y="466"/>
                  <a:pt x="226" y="589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9081CFF-57AD-4FA8-AB4D-DF3E9B235013}"/>
              </a:ext>
            </a:extLst>
          </p:cNvPr>
          <p:cNvSpPr>
            <a:spLocks/>
          </p:cNvSpPr>
          <p:nvPr/>
        </p:nvSpPr>
        <p:spPr bwMode="auto">
          <a:xfrm>
            <a:off x="1895244" y="4175250"/>
            <a:ext cx="358775" cy="935037"/>
          </a:xfrm>
          <a:custGeom>
            <a:avLst/>
            <a:gdLst>
              <a:gd name="T0" fmla="*/ 0 w 226"/>
              <a:gd name="T1" fmla="*/ 588 h 589"/>
              <a:gd name="T2" fmla="*/ 111 w 226"/>
              <a:gd name="T3" fmla="*/ 0 h 589"/>
              <a:gd name="T4" fmla="*/ 226 w 226"/>
              <a:gd name="T5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" h="589">
                <a:moveTo>
                  <a:pt x="0" y="588"/>
                </a:moveTo>
                <a:cubicBezTo>
                  <a:pt x="19" y="490"/>
                  <a:pt x="73" y="0"/>
                  <a:pt x="111" y="0"/>
                </a:cubicBezTo>
                <a:cubicBezTo>
                  <a:pt x="149" y="0"/>
                  <a:pt x="202" y="466"/>
                  <a:pt x="226" y="589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AD267EE-D3E0-4672-8EEA-69FE5B3EB267}"/>
              </a:ext>
            </a:extLst>
          </p:cNvPr>
          <p:cNvSpPr>
            <a:spLocks/>
          </p:cNvSpPr>
          <p:nvPr/>
        </p:nvSpPr>
        <p:spPr bwMode="auto">
          <a:xfrm>
            <a:off x="2257194" y="4175250"/>
            <a:ext cx="358775" cy="935037"/>
          </a:xfrm>
          <a:custGeom>
            <a:avLst/>
            <a:gdLst>
              <a:gd name="T0" fmla="*/ 0 w 226"/>
              <a:gd name="T1" fmla="*/ 588 h 589"/>
              <a:gd name="T2" fmla="*/ 111 w 226"/>
              <a:gd name="T3" fmla="*/ 0 h 589"/>
              <a:gd name="T4" fmla="*/ 226 w 226"/>
              <a:gd name="T5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" h="589">
                <a:moveTo>
                  <a:pt x="0" y="588"/>
                </a:moveTo>
                <a:cubicBezTo>
                  <a:pt x="19" y="490"/>
                  <a:pt x="73" y="0"/>
                  <a:pt x="111" y="0"/>
                </a:cubicBezTo>
                <a:cubicBezTo>
                  <a:pt x="149" y="0"/>
                  <a:pt x="202" y="466"/>
                  <a:pt x="226" y="589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F3CA5F7-DC9D-4285-8C57-1488E4502AD7}"/>
              </a:ext>
            </a:extLst>
          </p:cNvPr>
          <p:cNvSpPr>
            <a:spLocks/>
          </p:cNvSpPr>
          <p:nvPr/>
        </p:nvSpPr>
        <p:spPr bwMode="auto">
          <a:xfrm>
            <a:off x="2615969" y="4175250"/>
            <a:ext cx="358775" cy="935037"/>
          </a:xfrm>
          <a:custGeom>
            <a:avLst/>
            <a:gdLst>
              <a:gd name="T0" fmla="*/ 0 w 226"/>
              <a:gd name="T1" fmla="*/ 588 h 589"/>
              <a:gd name="T2" fmla="*/ 111 w 226"/>
              <a:gd name="T3" fmla="*/ 0 h 589"/>
              <a:gd name="T4" fmla="*/ 226 w 226"/>
              <a:gd name="T5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" h="589">
                <a:moveTo>
                  <a:pt x="0" y="588"/>
                </a:moveTo>
                <a:cubicBezTo>
                  <a:pt x="19" y="490"/>
                  <a:pt x="73" y="0"/>
                  <a:pt x="111" y="0"/>
                </a:cubicBezTo>
                <a:cubicBezTo>
                  <a:pt x="149" y="0"/>
                  <a:pt x="202" y="466"/>
                  <a:pt x="226" y="589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DF0D76F7-84B7-429C-AE80-EBFC209A7CDF}"/>
              </a:ext>
            </a:extLst>
          </p:cNvPr>
          <p:cNvSpPr>
            <a:spLocks/>
          </p:cNvSpPr>
          <p:nvPr/>
        </p:nvSpPr>
        <p:spPr bwMode="auto">
          <a:xfrm>
            <a:off x="2977919" y="4175250"/>
            <a:ext cx="358775" cy="935037"/>
          </a:xfrm>
          <a:custGeom>
            <a:avLst/>
            <a:gdLst>
              <a:gd name="T0" fmla="*/ 0 w 226"/>
              <a:gd name="T1" fmla="*/ 588 h 589"/>
              <a:gd name="T2" fmla="*/ 111 w 226"/>
              <a:gd name="T3" fmla="*/ 0 h 589"/>
              <a:gd name="T4" fmla="*/ 226 w 226"/>
              <a:gd name="T5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" h="589">
                <a:moveTo>
                  <a:pt x="0" y="588"/>
                </a:moveTo>
                <a:cubicBezTo>
                  <a:pt x="19" y="490"/>
                  <a:pt x="73" y="0"/>
                  <a:pt x="111" y="0"/>
                </a:cubicBezTo>
                <a:cubicBezTo>
                  <a:pt x="149" y="0"/>
                  <a:pt x="202" y="466"/>
                  <a:pt x="226" y="589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84675BC3-A9E9-420A-9B40-0E1746C232ED}"/>
              </a:ext>
            </a:extLst>
          </p:cNvPr>
          <p:cNvSpPr>
            <a:spLocks/>
          </p:cNvSpPr>
          <p:nvPr/>
        </p:nvSpPr>
        <p:spPr bwMode="auto">
          <a:xfrm>
            <a:off x="3336694" y="4175250"/>
            <a:ext cx="358775" cy="935037"/>
          </a:xfrm>
          <a:custGeom>
            <a:avLst/>
            <a:gdLst>
              <a:gd name="T0" fmla="*/ 0 w 226"/>
              <a:gd name="T1" fmla="*/ 588 h 589"/>
              <a:gd name="T2" fmla="*/ 111 w 226"/>
              <a:gd name="T3" fmla="*/ 0 h 589"/>
              <a:gd name="T4" fmla="*/ 226 w 226"/>
              <a:gd name="T5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" h="589">
                <a:moveTo>
                  <a:pt x="0" y="588"/>
                </a:moveTo>
                <a:cubicBezTo>
                  <a:pt x="19" y="490"/>
                  <a:pt x="73" y="0"/>
                  <a:pt x="111" y="0"/>
                </a:cubicBezTo>
                <a:cubicBezTo>
                  <a:pt x="149" y="0"/>
                  <a:pt x="202" y="466"/>
                  <a:pt x="226" y="589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2FF7665-4749-4B76-80F7-CA6931743D97}"/>
              </a:ext>
            </a:extLst>
          </p:cNvPr>
          <p:cNvSpPr>
            <a:spLocks/>
          </p:cNvSpPr>
          <p:nvPr/>
        </p:nvSpPr>
        <p:spPr bwMode="auto">
          <a:xfrm>
            <a:off x="3695469" y="4175250"/>
            <a:ext cx="358775" cy="935037"/>
          </a:xfrm>
          <a:custGeom>
            <a:avLst/>
            <a:gdLst>
              <a:gd name="T0" fmla="*/ 0 w 226"/>
              <a:gd name="T1" fmla="*/ 588 h 589"/>
              <a:gd name="T2" fmla="*/ 111 w 226"/>
              <a:gd name="T3" fmla="*/ 0 h 589"/>
              <a:gd name="T4" fmla="*/ 226 w 226"/>
              <a:gd name="T5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" h="589">
                <a:moveTo>
                  <a:pt x="0" y="588"/>
                </a:moveTo>
                <a:cubicBezTo>
                  <a:pt x="19" y="490"/>
                  <a:pt x="73" y="0"/>
                  <a:pt x="111" y="0"/>
                </a:cubicBezTo>
                <a:cubicBezTo>
                  <a:pt x="149" y="0"/>
                  <a:pt x="202" y="466"/>
                  <a:pt x="226" y="589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A4D9B913-115C-44FF-9789-037D4D6FA043}"/>
              </a:ext>
            </a:extLst>
          </p:cNvPr>
          <p:cNvSpPr>
            <a:spLocks/>
          </p:cNvSpPr>
          <p:nvPr/>
        </p:nvSpPr>
        <p:spPr bwMode="auto">
          <a:xfrm>
            <a:off x="4055831" y="4175250"/>
            <a:ext cx="358775" cy="935037"/>
          </a:xfrm>
          <a:custGeom>
            <a:avLst/>
            <a:gdLst>
              <a:gd name="T0" fmla="*/ 0 w 226"/>
              <a:gd name="T1" fmla="*/ 588 h 589"/>
              <a:gd name="T2" fmla="*/ 111 w 226"/>
              <a:gd name="T3" fmla="*/ 0 h 589"/>
              <a:gd name="T4" fmla="*/ 226 w 226"/>
              <a:gd name="T5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" h="589">
                <a:moveTo>
                  <a:pt x="0" y="588"/>
                </a:moveTo>
                <a:cubicBezTo>
                  <a:pt x="19" y="490"/>
                  <a:pt x="73" y="0"/>
                  <a:pt x="111" y="0"/>
                </a:cubicBezTo>
                <a:cubicBezTo>
                  <a:pt x="149" y="0"/>
                  <a:pt x="202" y="466"/>
                  <a:pt x="226" y="589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D658E9BD-BA3B-4231-9BA7-F3AF990288CE}"/>
              </a:ext>
            </a:extLst>
          </p:cNvPr>
          <p:cNvSpPr>
            <a:spLocks/>
          </p:cNvSpPr>
          <p:nvPr/>
        </p:nvSpPr>
        <p:spPr bwMode="auto">
          <a:xfrm>
            <a:off x="4416194" y="4175250"/>
            <a:ext cx="358775" cy="935037"/>
          </a:xfrm>
          <a:custGeom>
            <a:avLst/>
            <a:gdLst>
              <a:gd name="T0" fmla="*/ 0 w 226"/>
              <a:gd name="T1" fmla="*/ 588 h 589"/>
              <a:gd name="T2" fmla="*/ 111 w 226"/>
              <a:gd name="T3" fmla="*/ 0 h 589"/>
              <a:gd name="T4" fmla="*/ 226 w 226"/>
              <a:gd name="T5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" h="589">
                <a:moveTo>
                  <a:pt x="0" y="588"/>
                </a:moveTo>
                <a:cubicBezTo>
                  <a:pt x="19" y="490"/>
                  <a:pt x="73" y="0"/>
                  <a:pt x="111" y="0"/>
                </a:cubicBezTo>
                <a:cubicBezTo>
                  <a:pt x="149" y="0"/>
                  <a:pt x="202" y="466"/>
                  <a:pt x="226" y="589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BB3DAC0-B7C8-43F8-8C6B-649FBD31EABA}"/>
              </a:ext>
            </a:extLst>
          </p:cNvPr>
          <p:cNvSpPr>
            <a:spLocks/>
          </p:cNvSpPr>
          <p:nvPr/>
        </p:nvSpPr>
        <p:spPr bwMode="auto">
          <a:xfrm>
            <a:off x="4776556" y="4175250"/>
            <a:ext cx="358775" cy="935037"/>
          </a:xfrm>
          <a:custGeom>
            <a:avLst/>
            <a:gdLst>
              <a:gd name="T0" fmla="*/ 0 w 226"/>
              <a:gd name="T1" fmla="*/ 588 h 589"/>
              <a:gd name="T2" fmla="*/ 111 w 226"/>
              <a:gd name="T3" fmla="*/ 0 h 589"/>
              <a:gd name="T4" fmla="*/ 226 w 226"/>
              <a:gd name="T5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" h="589">
                <a:moveTo>
                  <a:pt x="0" y="588"/>
                </a:moveTo>
                <a:cubicBezTo>
                  <a:pt x="19" y="490"/>
                  <a:pt x="73" y="0"/>
                  <a:pt x="111" y="0"/>
                </a:cubicBezTo>
                <a:cubicBezTo>
                  <a:pt x="149" y="0"/>
                  <a:pt x="202" y="466"/>
                  <a:pt x="226" y="589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8D1AB320-48C0-4D23-814F-4208E10143DA}"/>
              </a:ext>
            </a:extLst>
          </p:cNvPr>
          <p:cNvSpPr>
            <a:spLocks/>
          </p:cNvSpPr>
          <p:nvPr/>
        </p:nvSpPr>
        <p:spPr bwMode="auto">
          <a:xfrm>
            <a:off x="5135331" y="4175250"/>
            <a:ext cx="358775" cy="935037"/>
          </a:xfrm>
          <a:custGeom>
            <a:avLst/>
            <a:gdLst>
              <a:gd name="T0" fmla="*/ 0 w 226"/>
              <a:gd name="T1" fmla="*/ 588 h 589"/>
              <a:gd name="T2" fmla="*/ 111 w 226"/>
              <a:gd name="T3" fmla="*/ 0 h 589"/>
              <a:gd name="T4" fmla="*/ 226 w 226"/>
              <a:gd name="T5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" h="589">
                <a:moveTo>
                  <a:pt x="0" y="588"/>
                </a:moveTo>
                <a:cubicBezTo>
                  <a:pt x="19" y="490"/>
                  <a:pt x="73" y="0"/>
                  <a:pt x="111" y="0"/>
                </a:cubicBezTo>
                <a:cubicBezTo>
                  <a:pt x="149" y="0"/>
                  <a:pt x="202" y="466"/>
                  <a:pt x="226" y="589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DE544137-31A2-4BDA-B5EA-144A71EE968B}"/>
              </a:ext>
            </a:extLst>
          </p:cNvPr>
          <p:cNvSpPr>
            <a:spLocks/>
          </p:cNvSpPr>
          <p:nvPr/>
        </p:nvSpPr>
        <p:spPr bwMode="auto">
          <a:xfrm>
            <a:off x="5495694" y="4175250"/>
            <a:ext cx="358775" cy="935037"/>
          </a:xfrm>
          <a:custGeom>
            <a:avLst/>
            <a:gdLst>
              <a:gd name="T0" fmla="*/ 0 w 226"/>
              <a:gd name="T1" fmla="*/ 588 h 589"/>
              <a:gd name="T2" fmla="*/ 111 w 226"/>
              <a:gd name="T3" fmla="*/ 0 h 589"/>
              <a:gd name="T4" fmla="*/ 226 w 226"/>
              <a:gd name="T5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" h="589">
                <a:moveTo>
                  <a:pt x="0" y="588"/>
                </a:moveTo>
                <a:cubicBezTo>
                  <a:pt x="19" y="490"/>
                  <a:pt x="73" y="0"/>
                  <a:pt x="111" y="0"/>
                </a:cubicBezTo>
                <a:cubicBezTo>
                  <a:pt x="149" y="0"/>
                  <a:pt x="202" y="466"/>
                  <a:pt x="226" y="589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B1CB36D7-05A9-4E42-BF3D-8AFB615EE149}"/>
              </a:ext>
            </a:extLst>
          </p:cNvPr>
          <p:cNvSpPr>
            <a:spLocks/>
          </p:cNvSpPr>
          <p:nvPr/>
        </p:nvSpPr>
        <p:spPr bwMode="auto">
          <a:xfrm>
            <a:off x="5856056" y="4175250"/>
            <a:ext cx="358775" cy="935037"/>
          </a:xfrm>
          <a:custGeom>
            <a:avLst/>
            <a:gdLst>
              <a:gd name="T0" fmla="*/ 0 w 226"/>
              <a:gd name="T1" fmla="*/ 588 h 589"/>
              <a:gd name="T2" fmla="*/ 111 w 226"/>
              <a:gd name="T3" fmla="*/ 0 h 589"/>
              <a:gd name="T4" fmla="*/ 226 w 226"/>
              <a:gd name="T5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" h="589">
                <a:moveTo>
                  <a:pt x="0" y="588"/>
                </a:moveTo>
                <a:cubicBezTo>
                  <a:pt x="19" y="490"/>
                  <a:pt x="73" y="0"/>
                  <a:pt x="111" y="0"/>
                </a:cubicBezTo>
                <a:cubicBezTo>
                  <a:pt x="149" y="0"/>
                  <a:pt x="202" y="466"/>
                  <a:pt x="226" y="589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FCD26FD2-3A02-42EF-BFB8-49E951D1DB3C}"/>
              </a:ext>
            </a:extLst>
          </p:cNvPr>
          <p:cNvSpPr>
            <a:spLocks/>
          </p:cNvSpPr>
          <p:nvPr/>
        </p:nvSpPr>
        <p:spPr bwMode="auto">
          <a:xfrm>
            <a:off x="8303981" y="4175250"/>
            <a:ext cx="358775" cy="935037"/>
          </a:xfrm>
          <a:custGeom>
            <a:avLst/>
            <a:gdLst>
              <a:gd name="T0" fmla="*/ 0 w 226"/>
              <a:gd name="T1" fmla="*/ 588 h 589"/>
              <a:gd name="T2" fmla="*/ 111 w 226"/>
              <a:gd name="T3" fmla="*/ 0 h 589"/>
              <a:gd name="T4" fmla="*/ 226 w 226"/>
              <a:gd name="T5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" h="589">
                <a:moveTo>
                  <a:pt x="0" y="588"/>
                </a:moveTo>
                <a:cubicBezTo>
                  <a:pt x="19" y="490"/>
                  <a:pt x="73" y="0"/>
                  <a:pt x="111" y="0"/>
                </a:cubicBezTo>
                <a:cubicBezTo>
                  <a:pt x="149" y="0"/>
                  <a:pt x="202" y="466"/>
                  <a:pt x="226" y="589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3D37DE9F-E354-4580-AD0B-5FB6268807CA}"/>
              </a:ext>
            </a:extLst>
          </p:cNvPr>
          <p:cNvSpPr>
            <a:spLocks/>
          </p:cNvSpPr>
          <p:nvPr/>
        </p:nvSpPr>
        <p:spPr bwMode="auto">
          <a:xfrm>
            <a:off x="8664344" y="4175250"/>
            <a:ext cx="358775" cy="935037"/>
          </a:xfrm>
          <a:custGeom>
            <a:avLst/>
            <a:gdLst>
              <a:gd name="T0" fmla="*/ 0 w 226"/>
              <a:gd name="T1" fmla="*/ 588 h 589"/>
              <a:gd name="T2" fmla="*/ 111 w 226"/>
              <a:gd name="T3" fmla="*/ 0 h 589"/>
              <a:gd name="T4" fmla="*/ 226 w 226"/>
              <a:gd name="T5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" h="589">
                <a:moveTo>
                  <a:pt x="0" y="588"/>
                </a:moveTo>
                <a:cubicBezTo>
                  <a:pt x="19" y="490"/>
                  <a:pt x="73" y="0"/>
                  <a:pt x="111" y="0"/>
                </a:cubicBezTo>
                <a:cubicBezTo>
                  <a:pt x="149" y="0"/>
                  <a:pt x="202" y="466"/>
                  <a:pt x="226" y="589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20EC611F-4D92-4B8B-AE90-74BD7AF8A3F4}"/>
              </a:ext>
            </a:extLst>
          </p:cNvPr>
          <p:cNvSpPr>
            <a:spLocks/>
          </p:cNvSpPr>
          <p:nvPr/>
        </p:nvSpPr>
        <p:spPr bwMode="auto">
          <a:xfrm>
            <a:off x="9024706" y="4175250"/>
            <a:ext cx="358775" cy="935037"/>
          </a:xfrm>
          <a:custGeom>
            <a:avLst/>
            <a:gdLst>
              <a:gd name="T0" fmla="*/ 0 w 226"/>
              <a:gd name="T1" fmla="*/ 588 h 589"/>
              <a:gd name="T2" fmla="*/ 111 w 226"/>
              <a:gd name="T3" fmla="*/ 0 h 589"/>
              <a:gd name="T4" fmla="*/ 226 w 226"/>
              <a:gd name="T5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" h="589">
                <a:moveTo>
                  <a:pt x="0" y="588"/>
                </a:moveTo>
                <a:cubicBezTo>
                  <a:pt x="19" y="490"/>
                  <a:pt x="73" y="0"/>
                  <a:pt x="111" y="0"/>
                </a:cubicBezTo>
                <a:cubicBezTo>
                  <a:pt x="149" y="0"/>
                  <a:pt x="202" y="466"/>
                  <a:pt x="226" y="589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14C32AC5-87B7-4E39-A938-73C09F80F033}"/>
              </a:ext>
            </a:extLst>
          </p:cNvPr>
          <p:cNvSpPr>
            <a:spLocks/>
          </p:cNvSpPr>
          <p:nvPr/>
        </p:nvSpPr>
        <p:spPr bwMode="auto">
          <a:xfrm>
            <a:off x="6935556" y="4175250"/>
            <a:ext cx="358775" cy="935037"/>
          </a:xfrm>
          <a:custGeom>
            <a:avLst/>
            <a:gdLst>
              <a:gd name="T0" fmla="*/ 0 w 226"/>
              <a:gd name="T1" fmla="*/ 588 h 589"/>
              <a:gd name="T2" fmla="*/ 111 w 226"/>
              <a:gd name="T3" fmla="*/ 0 h 589"/>
              <a:gd name="T4" fmla="*/ 226 w 226"/>
              <a:gd name="T5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" h="589">
                <a:moveTo>
                  <a:pt x="0" y="588"/>
                </a:moveTo>
                <a:cubicBezTo>
                  <a:pt x="19" y="490"/>
                  <a:pt x="73" y="0"/>
                  <a:pt x="111" y="0"/>
                </a:cubicBezTo>
                <a:cubicBezTo>
                  <a:pt x="149" y="0"/>
                  <a:pt x="202" y="466"/>
                  <a:pt x="226" y="589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AA74314E-C2A7-46EE-92AC-E20D392468CF}"/>
              </a:ext>
            </a:extLst>
          </p:cNvPr>
          <p:cNvSpPr>
            <a:spLocks/>
          </p:cNvSpPr>
          <p:nvPr/>
        </p:nvSpPr>
        <p:spPr bwMode="auto">
          <a:xfrm>
            <a:off x="7295919" y="4175250"/>
            <a:ext cx="358775" cy="935037"/>
          </a:xfrm>
          <a:custGeom>
            <a:avLst/>
            <a:gdLst>
              <a:gd name="T0" fmla="*/ 0 w 226"/>
              <a:gd name="T1" fmla="*/ 588 h 589"/>
              <a:gd name="T2" fmla="*/ 111 w 226"/>
              <a:gd name="T3" fmla="*/ 0 h 589"/>
              <a:gd name="T4" fmla="*/ 226 w 226"/>
              <a:gd name="T5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" h="589">
                <a:moveTo>
                  <a:pt x="0" y="588"/>
                </a:moveTo>
                <a:cubicBezTo>
                  <a:pt x="19" y="490"/>
                  <a:pt x="73" y="0"/>
                  <a:pt x="111" y="0"/>
                </a:cubicBezTo>
                <a:cubicBezTo>
                  <a:pt x="149" y="0"/>
                  <a:pt x="202" y="466"/>
                  <a:pt x="226" y="589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graphicFrame>
        <p:nvGraphicFramePr>
          <p:cNvPr id="25" name="Group 102">
            <a:extLst>
              <a:ext uri="{FF2B5EF4-FFF2-40B4-BE49-F238E27FC236}">
                <a16:creationId xmlns:a16="http://schemas.microsoft.com/office/drawing/2014/main" id="{F9CCAC65-9D87-4599-A03F-E13A75784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761635"/>
              </p:ext>
            </p:extLst>
          </p:nvPr>
        </p:nvGraphicFramePr>
        <p:xfrm>
          <a:off x="1536469" y="5183312"/>
          <a:ext cx="2519362" cy="365760"/>
        </p:xfrm>
        <a:graphic>
          <a:graphicData uri="http://schemas.openxmlformats.org/drawingml/2006/table">
            <a:tbl>
              <a:tblPr/>
              <a:tblGrid>
                <a:gridCol w="360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3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3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87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Line 103">
            <a:extLst>
              <a:ext uri="{FF2B5EF4-FFF2-40B4-BE49-F238E27FC236}">
                <a16:creationId xmlns:a16="http://schemas.microsoft.com/office/drawing/2014/main" id="{37A17B11-FB3B-4E72-8879-E110EE771B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5469" y="4030787"/>
            <a:ext cx="0" cy="13684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7" name="Text Box 104">
            <a:extLst>
              <a:ext uri="{FF2B5EF4-FFF2-40B4-BE49-F238E27FC236}">
                <a16:creationId xmlns:a16="http://schemas.microsoft.com/office/drawing/2014/main" id="{9847DDF4-69F9-46B7-8D99-FC33BB1BA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6419" y="4391150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宋体" panose="02010600030101010101" pitchFamily="2" charset="-122"/>
              </a:rPr>
              <a:t>……</a:t>
            </a:r>
            <a:endParaRPr lang="en-US" altLang="zh-CN"/>
          </a:p>
        </p:txBody>
      </p:sp>
      <p:sp>
        <p:nvSpPr>
          <p:cNvPr id="28" name="Text Box 105">
            <a:extLst>
              <a:ext uri="{FF2B5EF4-FFF2-40B4-BE49-F238E27FC236}">
                <a16:creationId xmlns:a16="http://schemas.microsoft.com/office/drawing/2014/main" id="{B668FE61-F524-408D-BDE7-0F9E45833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4844" y="4391150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宋体" panose="02010600030101010101" pitchFamily="2" charset="-122"/>
              </a:rPr>
              <a:t>……</a:t>
            </a:r>
            <a:endParaRPr lang="en-US" altLang="zh-CN"/>
          </a:p>
        </p:txBody>
      </p:sp>
      <p:sp>
        <p:nvSpPr>
          <p:cNvPr id="29" name="AutoShape 106">
            <a:extLst>
              <a:ext uri="{FF2B5EF4-FFF2-40B4-BE49-F238E27FC236}">
                <a16:creationId xmlns:a16="http://schemas.microsoft.com/office/drawing/2014/main" id="{130798A9-F084-434E-9F30-AFFA0313B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4981" y="3670425"/>
            <a:ext cx="1293813" cy="431800"/>
          </a:xfrm>
          <a:prstGeom prst="wedgeRoundRectCallout">
            <a:avLst>
              <a:gd name="adj1" fmla="val -54051"/>
              <a:gd name="adj2" fmla="val 118014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</a:rPr>
              <a:t>4312.5Hz</a:t>
            </a:r>
          </a:p>
        </p:txBody>
      </p:sp>
    </p:spTree>
    <p:extLst>
      <p:ext uri="{BB962C8B-B14F-4D97-AF65-F5344CB8AC3E}">
        <p14:creationId xmlns:p14="http://schemas.microsoft.com/office/powerpoint/2010/main" val="1415849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307D2A-DCF3-4F1C-852F-560E65301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常用的</a:t>
            </a:r>
            <a:r>
              <a:rPr lang="en-US" altLang="zh-CN" dirty="0"/>
              <a:t>ADSL</a:t>
            </a:r>
            <a:r>
              <a:rPr lang="zh-CN" altLang="en-US" dirty="0"/>
              <a:t>带宽分配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487C7C-3C14-43CB-ADE9-4966DB40C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一般情况：</a:t>
            </a:r>
            <a:r>
              <a:rPr lang="en-US" altLang="zh-CN" dirty="0"/>
              <a:t>80~90%</a:t>
            </a:r>
            <a:r>
              <a:rPr lang="zh-CN" altLang="en-US" dirty="0"/>
              <a:t>的信道分配给下行，</a:t>
            </a:r>
            <a:r>
              <a:rPr lang="en-US" altLang="zh-CN" dirty="0"/>
              <a:t>10~20%</a:t>
            </a:r>
            <a:r>
              <a:rPr lang="zh-CN" altLang="en-US" dirty="0"/>
              <a:t>分配给上行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4C610A-8891-4F03-83AF-53F513655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/>
              <a:pPr>
                <a:defRPr/>
              </a:pPr>
              <a:t>47</a:t>
            </a:fld>
            <a:endParaRPr lang="en-US" altLang="zh-CN" dirty="0"/>
          </a:p>
        </p:txBody>
      </p:sp>
      <p:graphicFrame>
        <p:nvGraphicFramePr>
          <p:cNvPr id="5" name="Group 53">
            <a:extLst>
              <a:ext uri="{FF2B5EF4-FFF2-40B4-BE49-F238E27FC236}">
                <a16:creationId xmlns:a16="http://schemas.microsoft.com/office/drawing/2014/main" id="{87B55300-3E8B-4153-84CA-9EB5FF7884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856078"/>
              </p:ext>
            </p:extLst>
          </p:nvPr>
        </p:nvGraphicFramePr>
        <p:xfrm>
          <a:off x="2370326" y="2128371"/>
          <a:ext cx="6816725" cy="1671639"/>
        </p:xfrm>
        <a:graphic>
          <a:graphicData uri="http://schemas.openxmlformats.org/drawingml/2006/table">
            <a:tbl>
              <a:tblPr/>
              <a:tblGrid>
                <a:gridCol w="180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6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5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72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语音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……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2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上行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64k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256k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512k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……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下行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512k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……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47274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35DCB3-7713-4098-B16E-2DD3BBF28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 </a:t>
            </a:r>
            <a:r>
              <a:rPr lang="zh-CN" altLang="en-US" dirty="0"/>
              <a:t>物理层互联设备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54E9FD-C31B-4CBC-86C4-EBAD761F5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物理层的网络设备：中继器、集线器</a:t>
            </a:r>
          </a:p>
          <a:p>
            <a:r>
              <a:rPr lang="zh-CN" altLang="en-US" dirty="0"/>
              <a:t>中继器作用于信号的电气部分</a:t>
            </a:r>
            <a:endParaRPr lang="en-US" altLang="zh-CN" dirty="0"/>
          </a:p>
          <a:p>
            <a:pPr lvl="1"/>
            <a:r>
              <a:rPr lang="zh-CN" altLang="en-US" dirty="0"/>
              <a:t>重新产生信号，可以扩展局域网所覆盖的地理范围</a:t>
            </a:r>
          </a:p>
          <a:p>
            <a:r>
              <a:rPr lang="zh-CN" altLang="en-US" dirty="0"/>
              <a:t>对网络的要求：</a:t>
            </a:r>
          </a:p>
          <a:p>
            <a:pPr lvl="1"/>
            <a:r>
              <a:rPr lang="zh-CN" altLang="en-US" dirty="0"/>
              <a:t>所连接的局域网具有相同的物理层和媒体访问控制协议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1702FC-8EA4-483B-BDAC-948E2853C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/>
              <a:pPr>
                <a:defRPr/>
              </a:pPr>
              <a:t>48</a:t>
            </a:fld>
            <a:endParaRPr lang="en-US" altLang="zh-CN" dirty="0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9FE2EF1C-7398-4CBE-B796-182A6033EBC8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991544" y="4005064"/>
            <a:ext cx="7921625" cy="102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71040E9A-4CC7-4259-8581-DC099F16BBA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07431" y="4717851"/>
            <a:ext cx="326866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10">
            <a:extLst>
              <a:ext uri="{FF2B5EF4-FFF2-40B4-BE49-F238E27FC236}">
                <a16:creationId xmlns:a16="http://schemas.microsoft.com/office/drawing/2014/main" id="{88A85606-B893-4E84-87C7-049F2737184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4636" y="4717851"/>
            <a:ext cx="3388034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11">
            <a:extLst>
              <a:ext uri="{FF2B5EF4-FFF2-40B4-BE49-F238E27FC236}">
                <a16:creationId xmlns:a16="http://schemas.microsoft.com/office/drawing/2014/main" id="{66AF2132-A2EE-4720-8B7B-B4448B9EA6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5806" y="4484489"/>
            <a:ext cx="0" cy="2333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BC10C14C-72A8-4FC1-AB08-3A69EBD973D7}"/>
              </a:ext>
            </a:extLst>
          </p:cNvPr>
          <p:cNvSpPr>
            <a:spLocks/>
          </p:cNvSpPr>
          <p:nvPr/>
        </p:nvSpPr>
        <p:spPr bwMode="auto">
          <a:xfrm>
            <a:off x="4345806" y="4484490"/>
            <a:ext cx="234950" cy="117475"/>
          </a:xfrm>
          <a:custGeom>
            <a:avLst/>
            <a:gdLst>
              <a:gd name="T0" fmla="*/ 0 w 20"/>
              <a:gd name="T1" fmla="*/ 0 h 10"/>
              <a:gd name="T2" fmla="*/ 20 w 20"/>
              <a:gd name="T3" fmla="*/ 10 h 1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0" h="10">
                <a:moveTo>
                  <a:pt x="0" y="0"/>
                </a:moveTo>
                <a:cubicBezTo>
                  <a:pt x="7" y="4"/>
                  <a:pt x="15" y="8"/>
                  <a:pt x="20" y="10"/>
                </a:cubicBez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3">
            <a:extLst>
              <a:ext uri="{FF2B5EF4-FFF2-40B4-BE49-F238E27FC236}">
                <a16:creationId xmlns:a16="http://schemas.microsoft.com/office/drawing/2014/main" id="{3D6C85D9-7782-468B-802D-1AD8B0C98B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4118" y="4601965"/>
            <a:ext cx="0" cy="1158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4">
            <a:extLst>
              <a:ext uri="{FF2B5EF4-FFF2-40B4-BE49-F238E27FC236}">
                <a16:creationId xmlns:a16="http://schemas.microsoft.com/office/drawing/2014/main" id="{08354B25-7D1C-4720-BFB8-83F5BA430F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0756" y="4601964"/>
            <a:ext cx="23336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15">
            <a:extLst>
              <a:ext uri="{FF2B5EF4-FFF2-40B4-BE49-F238E27FC236}">
                <a16:creationId xmlns:a16="http://schemas.microsoft.com/office/drawing/2014/main" id="{1C8252D2-5163-4A4D-ADFB-FCD12DB1EB3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9793" y="4251127"/>
            <a:ext cx="0" cy="4667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DB7D90EC-9795-4205-889B-09AEA19E3A7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8106" y="4251127"/>
            <a:ext cx="0" cy="4667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7">
            <a:extLst>
              <a:ext uri="{FF2B5EF4-FFF2-40B4-BE49-F238E27FC236}">
                <a16:creationId xmlns:a16="http://schemas.microsoft.com/office/drawing/2014/main" id="{65BF2702-8437-454F-9DF2-FE18E7A6B22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76418" y="4251127"/>
            <a:ext cx="0" cy="4667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8">
            <a:extLst>
              <a:ext uri="{FF2B5EF4-FFF2-40B4-BE49-F238E27FC236}">
                <a16:creationId xmlns:a16="http://schemas.microsoft.com/office/drawing/2014/main" id="{6812E6E4-6CBE-4922-B553-DDE240A1DDE0}"/>
              </a:ext>
            </a:extLst>
          </p:cNvPr>
          <p:cNvSpPr>
            <a:spLocks noChangeShapeType="1"/>
          </p:cNvSpPr>
          <p:nvPr/>
        </p:nvSpPr>
        <p:spPr bwMode="auto">
          <a:xfrm>
            <a:off x="8444731" y="4251127"/>
            <a:ext cx="0" cy="4667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9">
            <a:extLst>
              <a:ext uri="{FF2B5EF4-FFF2-40B4-BE49-F238E27FC236}">
                <a16:creationId xmlns:a16="http://schemas.microsoft.com/office/drawing/2014/main" id="{C873560B-5CC5-4D47-A429-BF8E62694BD6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4631" y="4251127"/>
            <a:ext cx="0" cy="4667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20">
            <a:extLst>
              <a:ext uri="{FF2B5EF4-FFF2-40B4-BE49-F238E27FC236}">
                <a16:creationId xmlns:a16="http://schemas.microsoft.com/office/drawing/2014/main" id="{35481BCC-7B89-4929-A40C-3AEF2E200A13}"/>
              </a:ext>
            </a:extLst>
          </p:cNvPr>
          <p:cNvSpPr>
            <a:spLocks noChangeShapeType="1"/>
          </p:cNvSpPr>
          <p:nvPr/>
        </p:nvSpPr>
        <p:spPr bwMode="auto">
          <a:xfrm>
            <a:off x="9382943" y="4251127"/>
            <a:ext cx="0" cy="4667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21">
            <a:extLst>
              <a:ext uri="{FF2B5EF4-FFF2-40B4-BE49-F238E27FC236}">
                <a16:creationId xmlns:a16="http://schemas.microsoft.com/office/drawing/2014/main" id="{1D6B0A06-2B4A-47AF-A887-66247991039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9794" y="4251126"/>
            <a:ext cx="468313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22">
            <a:extLst>
              <a:ext uri="{FF2B5EF4-FFF2-40B4-BE49-F238E27FC236}">
                <a16:creationId xmlns:a16="http://schemas.microsoft.com/office/drawing/2014/main" id="{2E5129E8-3DEA-4B6E-90E0-657555D05A4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76419" y="4251126"/>
            <a:ext cx="468313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23">
            <a:extLst>
              <a:ext uri="{FF2B5EF4-FFF2-40B4-BE49-F238E27FC236}">
                <a16:creationId xmlns:a16="http://schemas.microsoft.com/office/drawing/2014/main" id="{F5ABFFA2-EE33-48B0-B3AA-B4E78412EEDB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4631" y="4251126"/>
            <a:ext cx="4683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1" name="Group 25">
            <a:extLst>
              <a:ext uri="{FF2B5EF4-FFF2-40B4-BE49-F238E27FC236}">
                <a16:creationId xmlns:a16="http://schemas.microsoft.com/office/drawing/2014/main" id="{BE23A31C-1134-46BE-89B8-7722748C8A26}"/>
              </a:ext>
            </a:extLst>
          </p:cNvPr>
          <p:cNvGrpSpPr>
            <a:grpSpLocks/>
          </p:cNvGrpSpPr>
          <p:nvPr/>
        </p:nvGrpSpPr>
        <p:grpSpPr bwMode="auto">
          <a:xfrm>
            <a:off x="2470968" y="4344789"/>
            <a:ext cx="469900" cy="373062"/>
            <a:chOff x="778" y="3236"/>
            <a:chExt cx="296" cy="235"/>
          </a:xfrm>
        </p:grpSpPr>
        <p:sp>
          <p:nvSpPr>
            <p:cNvPr id="22" name="Line 26">
              <a:extLst>
                <a:ext uri="{FF2B5EF4-FFF2-40B4-BE49-F238E27FC236}">
                  <a16:creationId xmlns:a16="http://schemas.microsoft.com/office/drawing/2014/main" id="{68FB2E22-2445-46D3-B20A-71272A8B96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8" y="3250"/>
              <a:ext cx="0" cy="22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" name="Group 27">
              <a:extLst>
                <a:ext uri="{FF2B5EF4-FFF2-40B4-BE49-F238E27FC236}">
                  <a16:creationId xmlns:a16="http://schemas.microsoft.com/office/drawing/2014/main" id="{0E0C935E-1E1A-40AC-879A-712203B471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8" y="3236"/>
              <a:ext cx="296" cy="162"/>
              <a:chOff x="778" y="3236"/>
              <a:chExt cx="296" cy="162"/>
            </a:xfrm>
          </p:grpSpPr>
          <p:sp>
            <p:nvSpPr>
              <p:cNvPr id="25" name="Freeform 28">
                <a:extLst>
                  <a:ext uri="{FF2B5EF4-FFF2-40B4-BE49-F238E27FC236}">
                    <a16:creationId xmlns:a16="http://schemas.microsoft.com/office/drawing/2014/main" id="{8046CCBA-D5E5-498D-ABB5-85C09F6C5B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" y="3236"/>
                <a:ext cx="296" cy="162"/>
              </a:xfrm>
              <a:custGeom>
                <a:avLst/>
                <a:gdLst>
                  <a:gd name="T0" fmla="*/ 0 w 40"/>
                  <a:gd name="T1" fmla="*/ 2 h 22"/>
                  <a:gd name="T2" fmla="*/ 20 w 40"/>
                  <a:gd name="T3" fmla="*/ 2 h 22"/>
                  <a:gd name="T4" fmla="*/ 30 w 40"/>
                  <a:gd name="T5" fmla="*/ 12 h 22"/>
                  <a:gd name="T6" fmla="*/ 40 w 40"/>
                  <a:gd name="T7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0" h="22">
                    <a:moveTo>
                      <a:pt x="0" y="2"/>
                    </a:moveTo>
                    <a:cubicBezTo>
                      <a:pt x="7" y="1"/>
                      <a:pt x="15" y="0"/>
                      <a:pt x="20" y="2"/>
                    </a:cubicBezTo>
                    <a:cubicBezTo>
                      <a:pt x="25" y="4"/>
                      <a:pt x="27" y="9"/>
                      <a:pt x="30" y="12"/>
                    </a:cubicBezTo>
                    <a:cubicBezTo>
                      <a:pt x="33" y="15"/>
                      <a:pt x="38" y="20"/>
                      <a:pt x="40" y="22"/>
                    </a:cubicBez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B2B2B2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Freeform 29">
                <a:extLst>
                  <a:ext uri="{FF2B5EF4-FFF2-40B4-BE49-F238E27FC236}">
                    <a16:creationId xmlns:a16="http://schemas.microsoft.com/office/drawing/2014/main" id="{69C08CD0-8027-46CE-ADF9-6A8D332AFE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" y="3236"/>
                <a:ext cx="296" cy="162"/>
              </a:xfrm>
              <a:custGeom>
                <a:avLst/>
                <a:gdLst>
                  <a:gd name="T0" fmla="*/ 0 w 40"/>
                  <a:gd name="T1" fmla="*/ 2 h 22"/>
                  <a:gd name="T2" fmla="*/ 20 w 40"/>
                  <a:gd name="T3" fmla="*/ 2 h 22"/>
                  <a:gd name="T4" fmla="*/ 30 w 40"/>
                  <a:gd name="T5" fmla="*/ 12 h 22"/>
                  <a:gd name="T6" fmla="*/ 40 w 40"/>
                  <a:gd name="T7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0" h="22">
                    <a:moveTo>
                      <a:pt x="0" y="2"/>
                    </a:moveTo>
                    <a:cubicBezTo>
                      <a:pt x="7" y="1"/>
                      <a:pt x="15" y="0"/>
                      <a:pt x="20" y="2"/>
                    </a:cubicBezTo>
                    <a:cubicBezTo>
                      <a:pt x="25" y="4"/>
                      <a:pt x="27" y="9"/>
                      <a:pt x="30" y="12"/>
                    </a:cubicBezTo>
                    <a:cubicBezTo>
                      <a:pt x="33" y="15"/>
                      <a:pt x="38" y="20"/>
                      <a:pt x="40" y="22"/>
                    </a:cubicBez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" name="Line 30">
              <a:extLst>
                <a:ext uri="{FF2B5EF4-FFF2-40B4-BE49-F238E27FC236}">
                  <a16:creationId xmlns:a16="http://schemas.microsoft.com/office/drawing/2014/main" id="{6A278169-46F2-4799-B3A3-8E51E51FF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4" y="3398"/>
              <a:ext cx="0" cy="7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" name="Line 31">
            <a:extLst>
              <a:ext uri="{FF2B5EF4-FFF2-40B4-BE49-F238E27FC236}">
                <a16:creationId xmlns:a16="http://schemas.microsoft.com/office/drawing/2014/main" id="{92651138-A13B-4804-B349-DCE2E9C58D76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0968" y="4717851"/>
            <a:ext cx="4699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32">
            <a:extLst>
              <a:ext uri="{FF2B5EF4-FFF2-40B4-BE49-F238E27FC236}">
                <a16:creationId xmlns:a16="http://schemas.microsoft.com/office/drawing/2014/main" id="{36A48B68-1F8A-453B-B22D-C1429C26C6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0968" y="4367015"/>
            <a:ext cx="0" cy="35083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9" name="Group 33">
            <a:extLst>
              <a:ext uri="{FF2B5EF4-FFF2-40B4-BE49-F238E27FC236}">
                <a16:creationId xmlns:a16="http://schemas.microsoft.com/office/drawing/2014/main" id="{DE8031BB-A1E3-428C-AB1E-B31E273C6D58}"/>
              </a:ext>
            </a:extLst>
          </p:cNvPr>
          <p:cNvGrpSpPr>
            <a:grpSpLocks/>
          </p:cNvGrpSpPr>
          <p:nvPr/>
        </p:nvGrpSpPr>
        <p:grpSpPr bwMode="auto">
          <a:xfrm>
            <a:off x="2470968" y="4344790"/>
            <a:ext cx="469900" cy="257175"/>
            <a:chOff x="778" y="3236"/>
            <a:chExt cx="296" cy="162"/>
          </a:xfrm>
        </p:grpSpPr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5D56DD1E-55AE-42ED-A62B-3527A8638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" y="3236"/>
              <a:ext cx="296" cy="162"/>
            </a:xfrm>
            <a:custGeom>
              <a:avLst/>
              <a:gdLst>
                <a:gd name="T0" fmla="*/ 0 w 40"/>
                <a:gd name="T1" fmla="*/ 2 h 22"/>
                <a:gd name="T2" fmla="*/ 20 w 40"/>
                <a:gd name="T3" fmla="*/ 2 h 22"/>
                <a:gd name="T4" fmla="*/ 30 w 40"/>
                <a:gd name="T5" fmla="*/ 12 h 22"/>
                <a:gd name="T6" fmla="*/ 40 w 40"/>
                <a:gd name="T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2">
                  <a:moveTo>
                    <a:pt x="0" y="2"/>
                  </a:moveTo>
                  <a:cubicBezTo>
                    <a:pt x="7" y="1"/>
                    <a:pt x="15" y="0"/>
                    <a:pt x="20" y="2"/>
                  </a:cubicBezTo>
                  <a:cubicBezTo>
                    <a:pt x="25" y="4"/>
                    <a:pt x="27" y="9"/>
                    <a:pt x="30" y="12"/>
                  </a:cubicBezTo>
                  <a:cubicBezTo>
                    <a:pt x="33" y="15"/>
                    <a:pt x="38" y="20"/>
                    <a:pt x="40" y="22"/>
                  </a:cubicBezTo>
                </a:path>
              </a:pathLst>
            </a:custGeom>
            <a:noFill/>
            <a:ln w="12700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B2B2B2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8BDA5091-9B9C-49A4-8C9C-B89A4E7F2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" y="3236"/>
              <a:ext cx="296" cy="162"/>
            </a:xfrm>
            <a:custGeom>
              <a:avLst/>
              <a:gdLst>
                <a:gd name="T0" fmla="*/ 0 w 40"/>
                <a:gd name="T1" fmla="*/ 2 h 22"/>
                <a:gd name="T2" fmla="*/ 20 w 40"/>
                <a:gd name="T3" fmla="*/ 2 h 22"/>
                <a:gd name="T4" fmla="*/ 30 w 40"/>
                <a:gd name="T5" fmla="*/ 12 h 22"/>
                <a:gd name="T6" fmla="*/ 40 w 40"/>
                <a:gd name="T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2">
                  <a:moveTo>
                    <a:pt x="0" y="2"/>
                  </a:moveTo>
                  <a:cubicBezTo>
                    <a:pt x="7" y="1"/>
                    <a:pt x="15" y="0"/>
                    <a:pt x="20" y="2"/>
                  </a:cubicBezTo>
                  <a:cubicBezTo>
                    <a:pt x="25" y="4"/>
                    <a:pt x="27" y="9"/>
                    <a:pt x="30" y="12"/>
                  </a:cubicBezTo>
                  <a:cubicBezTo>
                    <a:pt x="33" y="15"/>
                    <a:pt x="38" y="20"/>
                    <a:pt x="40" y="22"/>
                  </a:cubicBezTo>
                </a:path>
              </a:pathLst>
            </a:custGeom>
            <a:noFill/>
            <a:ln w="1270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" name="Line 36">
            <a:extLst>
              <a:ext uri="{FF2B5EF4-FFF2-40B4-BE49-F238E27FC236}">
                <a16:creationId xmlns:a16="http://schemas.microsoft.com/office/drawing/2014/main" id="{81EDF09A-A43D-4ABE-872A-BD89FE9A41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0868" y="4601965"/>
            <a:ext cx="0" cy="1158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37">
            <a:extLst>
              <a:ext uri="{FF2B5EF4-FFF2-40B4-BE49-F238E27FC236}">
                <a16:creationId xmlns:a16="http://schemas.microsoft.com/office/drawing/2014/main" id="{8E5B423D-55D9-4D29-99E0-FCFA0C7108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0968" y="4367015"/>
            <a:ext cx="0" cy="35083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39">
            <a:extLst>
              <a:ext uri="{FF2B5EF4-FFF2-40B4-BE49-F238E27FC236}">
                <a16:creationId xmlns:a16="http://schemas.microsoft.com/office/drawing/2014/main" id="{8A795FE7-9886-4340-BC9B-C180E2E67E83}"/>
              </a:ext>
            </a:extLst>
          </p:cNvPr>
          <p:cNvSpPr>
            <a:spLocks/>
          </p:cNvSpPr>
          <p:nvPr/>
        </p:nvSpPr>
        <p:spPr bwMode="auto">
          <a:xfrm>
            <a:off x="2470968" y="4344790"/>
            <a:ext cx="469900" cy="257175"/>
          </a:xfrm>
          <a:custGeom>
            <a:avLst/>
            <a:gdLst>
              <a:gd name="T0" fmla="*/ 0 w 40"/>
              <a:gd name="T1" fmla="*/ 2 h 22"/>
              <a:gd name="T2" fmla="*/ 20 w 40"/>
              <a:gd name="T3" fmla="*/ 2 h 22"/>
              <a:gd name="T4" fmla="*/ 30 w 40"/>
              <a:gd name="T5" fmla="*/ 12 h 22"/>
              <a:gd name="T6" fmla="*/ 40 w 40"/>
              <a:gd name="T7" fmla="*/ 22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0" h="22">
                <a:moveTo>
                  <a:pt x="0" y="2"/>
                </a:moveTo>
                <a:cubicBezTo>
                  <a:pt x="7" y="1"/>
                  <a:pt x="15" y="0"/>
                  <a:pt x="20" y="2"/>
                </a:cubicBezTo>
                <a:cubicBezTo>
                  <a:pt x="25" y="4"/>
                  <a:pt x="27" y="9"/>
                  <a:pt x="30" y="12"/>
                </a:cubicBezTo>
                <a:cubicBezTo>
                  <a:pt x="33" y="15"/>
                  <a:pt x="38" y="20"/>
                  <a:pt x="40" y="22"/>
                </a:cubicBezTo>
              </a:path>
            </a:pathLst>
          </a:custGeom>
          <a:noFill/>
          <a:ln w="12700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B2B2B2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40">
            <a:extLst>
              <a:ext uri="{FF2B5EF4-FFF2-40B4-BE49-F238E27FC236}">
                <a16:creationId xmlns:a16="http://schemas.microsoft.com/office/drawing/2014/main" id="{7DF4F738-AB9D-4A69-857F-C876AF78ED86}"/>
              </a:ext>
            </a:extLst>
          </p:cNvPr>
          <p:cNvSpPr>
            <a:spLocks/>
          </p:cNvSpPr>
          <p:nvPr/>
        </p:nvSpPr>
        <p:spPr bwMode="auto">
          <a:xfrm>
            <a:off x="2470968" y="4344790"/>
            <a:ext cx="469900" cy="257175"/>
          </a:xfrm>
          <a:custGeom>
            <a:avLst/>
            <a:gdLst>
              <a:gd name="T0" fmla="*/ 0 w 40"/>
              <a:gd name="T1" fmla="*/ 2 h 22"/>
              <a:gd name="T2" fmla="*/ 20 w 40"/>
              <a:gd name="T3" fmla="*/ 2 h 22"/>
              <a:gd name="T4" fmla="*/ 30 w 40"/>
              <a:gd name="T5" fmla="*/ 12 h 22"/>
              <a:gd name="T6" fmla="*/ 40 w 40"/>
              <a:gd name="T7" fmla="*/ 22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0" h="22">
                <a:moveTo>
                  <a:pt x="0" y="2"/>
                </a:moveTo>
                <a:cubicBezTo>
                  <a:pt x="7" y="1"/>
                  <a:pt x="15" y="0"/>
                  <a:pt x="20" y="2"/>
                </a:cubicBezTo>
                <a:cubicBezTo>
                  <a:pt x="25" y="4"/>
                  <a:pt x="27" y="9"/>
                  <a:pt x="30" y="12"/>
                </a:cubicBezTo>
                <a:cubicBezTo>
                  <a:pt x="33" y="15"/>
                  <a:pt x="38" y="20"/>
                  <a:pt x="40" y="22"/>
                </a:cubicBez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Line 41">
            <a:extLst>
              <a:ext uri="{FF2B5EF4-FFF2-40B4-BE49-F238E27FC236}">
                <a16:creationId xmlns:a16="http://schemas.microsoft.com/office/drawing/2014/main" id="{9A1E2497-A260-4631-8B3C-F9710589F6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0868" y="4601965"/>
            <a:ext cx="0" cy="1158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Line 42">
            <a:extLst>
              <a:ext uri="{FF2B5EF4-FFF2-40B4-BE49-F238E27FC236}">
                <a16:creationId xmlns:a16="http://schemas.microsoft.com/office/drawing/2014/main" id="{CA168BA7-840D-46D2-A70F-E9D859D6B4C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0968" y="4717851"/>
            <a:ext cx="4699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Line 43">
            <a:extLst>
              <a:ext uri="{FF2B5EF4-FFF2-40B4-BE49-F238E27FC236}">
                <a16:creationId xmlns:a16="http://schemas.microsoft.com/office/drawing/2014/main" id="{A0ACEB52-F885-42B8-AEBC-39BFA23F67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9181" y="4016177"/>
            <a:ext cx="0" cy="7016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9" name="Group 44">
            <a:extLst>
              <a:ext uri="{FF2B5EF4-FFF2-40B4-BE49-F238E27FC236}">
                <a16:creationId xmlns:a16="http://schemas.microsoft.com/office/drawing/2014/main" id="{3365F664-0DAA-46FD-8BDA-FE0D7A40283A}"/>
              </a:ext>
            </a:extLst>
          </p:cNvPr>
          <p:cNvGrpSpPr>
            <a:grpSpLocks/>
          </p:cNvGrpSpPr>
          <p:nvPr/>
        </p:nvGrpSpPr>
        <p:grpSpPr bwMode="auto">
          <a:xfrm>
            <a:off x="3409182" y="4133651"/>
            <a:ext cx="350837" cy="350838"/>
            <a:chOff x="1369" y="3103"/>
            <a:chExt cx="221" cy="221"/>
          </a:xfrm>
        </p:grpSpPr>
        <p:sp>
          <p:nvSpPr>
            <p:cNvPr id="40" name="Freeform 45">
              <a:extLst>
                <a:ext uri="{FF2B5EF4-FFF2-40B4-BE49-F238E27FC236}">
                  <a16:creationId xmlns:a16="http://schemas.microsoft.com/office/drawing/2014/main" id="{10CCC200-C081-4364-A19C-F8611E991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" y="3103"/>
              <a:ext cx="221" cy="221"/>
            </a:xfrm>
            <a:custGeom>
              <a:avLst/>
              <a:gdLst>
                <a:gd name="T0" fmla="*/ 0 w 30"/>
                <a:gd name="T1" fmla="*/ 0 h 30"/>
                <a:gd name="T2" fmla="*/ 20 w 30"/>
                <a:gd name="T3" fmla="*/ 20 h 30"/>
                <a:gd name="T4" fmla="*/ 30 w 30"/>
                <a:gd name="T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" h="30">
                  <a:moveTo>
                    <a:pt x="0" y="0"/>
                  </a:moveTo>
                  <a:cubicBezTo>
                    <a:pt x="7" y="7"/>
                    <a:pt x="15" y="15"/>
                    <a:pt x="20" y="20"/>
                  </a:cubicBezTo>
                  <a:cubicBezTo>
                    <a:pt x="25" y="25"/>
                    <a:pt x="27" y="28"/>
                    <a:pt x="30" y="30"/>
                  </a:cubicBezTo>
                </a:path>
              </a:pathLst>
            </a:custGeom>
            <a:solidFill>
              <a:srgbClr val="B2B2B2"/>
            </a:solidFill>
            <a:ln w="1270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46">
              <a:extLst>
                <a:ext uri="{FF2B5EF4-FFF2-40B4-BE49-F238E27FC236}">
                  <a16:creationId xmlns:a16="http://schemas.microsoft.com/office/drawing/2014/main" id="{13BEB05A-26E3-4531-A5E8-1AFF97F71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" y="3103"/>
              <a:ext cx="221" cy="221"/>
            </a:xfrm>
            <a:custGeom>
              <a:avLst/>
              <a:gdLst>
                <a:gd name="T0" fmla="*/ 0 w 30"/>
                <a:gd name="T1" fmla="*/ 0 h 30"/>
                <a:gd name="T2" fmla="*/ 20 w 30"/>
                <a:gd name="T3" fmla="*/ 20 h 30"/>
                <a:gd name="T4" fmla="*/ 30 w 30"/>
                <a:gd name="T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" h="30">
                  <a:moveTo>
                    <a:pt x="0" y="0"/>
                  </a:moveTo>
                  <a:cubicBezTo>
                    <a:pt x="7" y="7"/>
                    <a:pt x="15" y="15"/>
                    <a:pt x="20" y="20"/>
                  </a:cubicBezTo>
                  <a:cubicBezTo>
                    <a:pt x="25" y="25"/>
                    <a:pt x="27" y="28"/>
                    <a:pt x="30" y="30"/>
                  </a:cubicBezTo>
                </a:path>
              </a:pathLst>
            </a:custGeom>
            <a:noFill/>
            <a:ln w="1270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2" name="Line 47">
            <a:extLst>
              <a:ext uri="{FF2B5EF4-FFF2-40B4-BE49-F238E27FC236}">
                <a16:creationId xmlns:a16="http://schemas.microsoft.com/office/drawing/2014/main" id="{D9B58AEE-116F-4F6C-9EEA-7A9C295A0A7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7493" y="4484489"/>
            <a:ext cx="0" cy="2333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Line 48">
            <a:extLst>
              <a:ext uri="{FF2B5EF4-FFF2-40B4-BE49-F238E27FC236}">
                <a16:creationId xmlns:a16="http://schemas.microsoft.com/office/drawing/2014/main" id="{20FC3F27-5F0F-4912-8D0E-03C2E06E05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0019" y="4484489"/>
            <a:ext cx="11747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Line 49">
            <a:extLst>
              <a:ext uri="{FF2B5EF4-FFF2-40B4-BE49-F238E27FC236}">
                <a16:creationId xmlns:a16="http://schemas.microsoft.com/office/drawing/2014/main" id="{CECA20D9-AECC-4AE7-B305-34CB10D97E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9181" y="4016177"/>
            <a:ext cx="0" cy="7016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5" name="Group 50">
            <a:extLst>
              <a:ext uri="{FF2B5EF4-FFF2-40B4-BE49-F238E27FC236}">
                <a16:creationId xmlns:a16="http://schemas.microsoft.com/office/drawing/2014/main" id="{203B2988-8593-4967-993D-015CB62A8796}"/>
              </a:ext>
            </a:extLst>
          </p:cNvPr>
          <p:cNvGrpSpPr>
            <a:grpSpLocks/>
          </p:cNvGrpSpPr>
          <p:nvPr/>
        </p:nvGrpSpPr>
        <p:grpSpPr bwMode="auto">
          <a:xfrm>
            <a:off x="3409182" y="4133651"/>
            <a:ext cx="350837" cy="350838"/>
            <a:chOff x="1369" y="3103"/>
            <a:chExt cx="221" cy="221"/>
          </a:xfrm>
        </p:grpSpPr>
        <p:sp>
          <p:nvSpPr>
            <p:cNvPr id="46" name="Freeform 51">
              <a:extLst>
                <a:ext uri="{FF2B5EF4-FFF2-40B4-BE49-F238E27FC236}">
                  <a16:creationId xmlns:a16="http://schemas.microsoft.com/office/drawing/2014/main" id="{C1EE7740-E841-443E-B9C7-61D8201FC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" y="3103"/>
              <a:ext cx="221" cy="221"/>
            </a:xfrm>
            <a:custGeom>
              <a:avLst/>
              <a:gdLst>
                <a:gd name="T0" fmla="*/ 0 w 30"/>
                <a:gd name="T1" fmla="*/ 0 h 30"/>
                <a:gd name="T2" fmla="*/ 20 w 30"/>
                <a:gd name="T3" fmla="*/ 20 h 30"/>
                <a:gd name="T4" fmla="*/ 30 w 30"/>
                <a:gd name="T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" h="30">
                  <a:moveTo>
                    <a:pt x="0" y="0"/>
                  </a:moveTo>
                  <a:cubicBezTo>
                    <a:pt x="7" y="7"/>
                    <a:pt x="15" y="15"/>
                    <a:pt x="20" y="20"/>
                  </a:cubicBezTo>
                  <a:cubicBezTo>
                    <a:pt x="25" y="25"/>
                    <a:pt x="27" y="28"/>
                    <a:pt x="30" y="30"/>
                  </a:cubicBezTo>
                </a:path>
              </a:pathLst>
            </a:custGeom>
            <a:solidFill>
              <a:srgbClr val="B2B2B2"/>
            </a:solidFill>
            <a:ln w="1270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52">
              <a:extLst>
                <a:ext uri="{FF2B5EF4-FFF2-40B4-BE49-F238E27FC236}">
                  <a16:creationId xmlns:a16="http://schemas.microsoft.com/office/drawing/2014/main" id="{03B759CA-1B09-4D49-A26F-E3F5021132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" y="3103"/>
              <a:ext cx="221" cy="221"/>
            </a:xfrm>
            <a:custGeom>
              <a:avLst/>
              <a:gdLst>
                <a:gd name="T0" fmla="*/ 0 w 30"/>
                <a:gd name="T1" fmla="*/ 0 h 30"/>
                <a:gd name="T2" fmla="*/ 20 w 30"/>
                <a:gd name="T3" fmla="*/ 20 h 30"/>
                <a:gd name="T4" fmla="*/ 30 w 30"/>
                <a:gd name="T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" h="30">
                  <a:moveTo>
                    <a:pt x="0" y="0"/>
                  </a:moveTo>
                  <a:cubicBezTo>
                    <a:pt x="7" y="7"/>
                    <a:pt x="15" y="15"/>
                    <a:pt x="20" y="20"/>
                  </a:cubicBezTo>
                  <a:cubicBezTo>
                    <a:pt x="25" y="25"/>
                    <a:pt x="27" y="28"/>
                    <a:pt x="30" y="30"/>
                  </a:cubicBezTo>
                </a:path>
              </a:pathLst>
            </a:custGeom>
            <a:noFill/>
            <a:ln w="1270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8" name="Line 53">
            <a:extLst>
              <a:ext uri="{FF2B5EF4-FFF2-40B4-BE49-F238E27FC236}">
                <a16:creationId xmlns:a16="http://schemas.microsoft.com/office/drawing/2014/main" id="{E39EB953-6B30-4467-B33D-59065DF94F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7493" y="4484489"/>
            <a:ext cx="0" cy="2333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Line 54">
            <a:extLst>
              <a:ext uri="{FF2B5EF4-FFF2-40B4-BE49-F238E27FC236}">
                <a16:creationId xmlns:a16="http://schemas.microsoft.com/office/drawing/2014/main" id="{F82A4858-D4B6-496A-BC76-E3B2148F5BF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0019" y="4484489"/>
            <a:ext cx="11747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Rectangle 55">
            <a:extLst>
              <a:ext uri="{FF2B5EF4-FFF2-40B4-BE49-F238E27FC236}">
                <a16:creationId xmlns:a16="http://schemas.microsoft.com/office/drawing/2014/main" id="{86410B6E-F969-4EEC-8274-77466AF30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6094" y="4487148"/>
            <a:ext cx="877163" cy="369332"/>
          </a:xfrm>
          <a:prstGeom prst="rect">
            <a:avLst/>
          </a:prstGeom>
          <a:solidFill>
            <a:srgbClr val="0066FF"/>
          </a:solidFill>
          <a:ln w="12700" algn="ctr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201600" prstMaterial="legacyMatte">
            <a:bevelT w="13500" h="13500" prst="angle"/>
            <a:bevelB w="13500" h="13500" prst="angle"/>
            <a:extrusionClr>
              <a:srgbClr val="0066FF"/>
            </a:extrusionClr>
            <a:contourClr>
              <a:srgbClr val="0066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flatTx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中继器</a:t>
            </a:r>
          </a:p>
        </p:txBody>
      </p:sp>
    </p:spTree>
    <p:extLst>
      <p:ext uri="{BB962C8B-B14F-4D97-AF65-F5344CB8AC3E}">
        <p14:creationId xmlns:p14="http://schemas.microsoft.com/office/powerpoint/2010/main" val="3959489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E67A0-CA3C-4AFB-9D8A-99BF1BBF5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用中继器连接局域网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C10455-428A-4CF6-9E85-EAB3282E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>
                <a:latin typeface="+mn-ea"/>
                <a:ea typeface="+mn-ea"/>
              </a:rPr>
              <a:pPr>
                <a:defRPr/>
              </a:pPr>
              <a:t>49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1180C33-766D-4B43-9227-1C0EB5CB2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9" y="1279526"/>
            <a:ext cx="111125" cy="4219575"/>
          </a:xfrm>
          <a:prstGeom prst="rect">
            <a:avLst/>
          </a:prstGeom>
          <a:solidFill>
            <a:srgbClr val="000000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zh-CN">
              <a:latin typeface="+mn-ea"/>
              <a:ea typeface="+mn-ea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1C0F55C-EBA1-4CC5-A3ED-E5405539E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9389" y="1279526"/>
            <a:ext cx="111125" cy="4219575"/>
          </a:xfrm>
          <a:prstGeom prst="rect">
            <a:avLst/>
          </a:prstGeom>
          <a:solidFill>
            <a:srgbClr val="000000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zh-CN">
              <a:latin typeface="+mn-ea"/>
              <a:ea typeface="+mn-ea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3EF71722-6568-46D3-BA54-72305875D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2551" y="1279526"/>
            <a:ext cx="111125" cy="4219575"/>
          </a:xfrm>
          <a:prstGeom prst="rect">
            <a:avLst/>
          </a:prstGeom>
          <a:solidFill>
            <a:srgbClr val="000000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zh-CN">
              <a:latin typeface="+mn-ea"/>
              <a:ea typeface="+mn-ea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9ACC17F0-7CCA-46D1-A01A-C110F110F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26" y="1279526"/>
            <a:ext cx="111125" cy="4219575"/>
          </a:xfrm>
          <a:prstGeom prst="rect">
            <a:avLst/>
          </a:prstGeom>
          <a:solidFill>
            <a:srgbClr val="000000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zh-CN">
              <a:latin typeface="+mn-ea"/>
              <a:ea typeface="+mn-ea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2C220A85-88A8-4A9F-925A-79932C1E3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9" y="1784320"/>
            <a:ext cx="954107" cy="400110"/>
          </a:xfrm>
          <a:prstGeom prst="rect">
            <a:avLst/>
          </a:prstGeom>
          <a:solidFill>
            <a:srgbClr val="0066FF"/>
          </a:solidFill>
          <a:ln w="12700" algn="ctr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201600" prstMaterial="legacyMatte">
            <a:bevelT w="13500" h="13500" prst="angle"/>
            <a:bevelB w="13500" h="13500" prst="angle"/>
            <a:extrusionClr>
              <a:srgbClr val="0066FF"/>
            </a:extrusionClr>
            <a:contourClr>
              <a:srgbClr val="0066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flatTx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中继器</a:t>
            </a:r>
          </a:p>
        </p:txBody>
      </p:sp>
      <p:sp>
        <p:nvSpPr>
          <p:cNvPr id="10" name="Line 13">
            <a:extLst>
              <a:ext uri="{FF2B5EF4-FFF2-40B4-BE49-F238E27FC236}">
                <a16:creationId xmlns:a16="http://schemas.microsoft.com/office/drawing/2014/main" id="{7108C52B-A2AE-4A0E-A4C2-9EED45B2C2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0063" y="1946275"/>
            <a:ext cx="498476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1" name="Line 14">
            <a:extLst>
              <a:ext uri="{FF2B5EF4-FFF2-40B4-BE49-F238E27FC236}">
                <a16:creationId xmlns:a16="http://schemas.microsoft.com/office/drawing/2014/main" id="{0D994C31-B09C-4163-9750-0C613A58403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9028" y="1946275"/>
            <a:ext cx="79036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A1597D84-FE8F-4816-B6BD-8242EAFA1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1239" y="2449483"/>
            <a:ext cx="954107" cy="400110"/>
          </a:xfrm>
          <a:prstGeom prst="rect">
            <a:avLst/>
          </a:prstGeom>
          <a:solidFill>
            <a:srgbClr val="0066FF"/>
          </a:solidFill>
          <a:ln w="12700" algn="ctr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201600" prstMaterial="legacyMatte">
            <a:bevelT w="13500" h="13500" prst="angle"/>
            <a:bevelB w="13500" h="13500" prst="angle"/>
            <a:extrusionClr>
              <a:srgbClr val="0066FF"/>
            </a:extrusionClr>
            <a:contourClr>
              <a:srgbClr val="0066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flatTx/>
          </a:bodyPr>
          <a:lstStyle/>
          <a:p>
            <a:r>
              <a:rPr lang="zh-CN" altLang="en-US">
                <a:solidFill>
                  <a:schemeClr val="bg1"/>
                </a:solidFill>
                <a:latin typeface="+mn-ea"/>
                <a:ea typeface="+mn-ea"/>
              </a:rPr>
              <a:t>中继器</a:t>
            </a:r>
          </a:p>
        </p:txBody>
      </p:sp>
      <p:sp>
        <p:nvSpPr>
          <p:cNvPr id="13" name="Line 17">
            <a:extLst>
              <a:ext uri="{FF2B5EF4-FFF2-40B4-BE49-F238E27FC236}">
                <a16:creationId xmlns:a16="http://schemas.microsoft.com/office/drawing/2014/main" id="{B64C80D5-2905-4D9D-8909-E0301B72909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70513" y="2611438"/>
            <a:ext cx="6667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4" name="Line 18">
            <a:extLst>
              <a:ext uri="{FF2B5EF4-FFF2-40B4-BE49-F238E27FC236}">
                <a16:creationId xmlns:a16="http://schemas.microsoft.com/office/drawing/2014/main" id="{1908D6ED-F161-4260-B9F3-430D9BF7367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6625" y="2611438"/>
            <a:ext cx="6359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34C5B46D-0095-4463-BF8E-A7120D973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9439" y="1784320"/>
            <a:ext cx="954107" cy="400110"/>
          </a:xfrm>
          <a:prstGeom prst="rect">
            <a:avLst/>
          </a:prstGeom>
          <a:solidFill>
            <a:srgbClr val="0066FF"/>
          </a:solidFill>
          <a:ln w="12700" algn="ctr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201600" prstMaterial="legacyMatte">
            <a:bevelT w="13500" h="13500" prst="angle"/>
            <a:bevelB w="13500" h="13500" prst="angle"/>
            <a:extrusionClr>
              <a:srgbClr val="0066FF"/>
            </a:extrusionClr>
            <a:contourClr>
              <a:srgbClr val="0066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flatTx/>
          </a:bodyPr>
          <a:lstStyle/>
          <a:p>
            <a:r>
              <a:rPr lang="zh-CN" altLang="en-US">
                <a:solidFill>
                  <a:schemeClr val="bg1"/>
                </a:solidFill>
                <a:latin typeface="+mn-ea"/>
                <a:ea typeface="+mn-ea"/>
              </a:rPr>
              <a:t>中继器</a:t>
            </a:r>
          </a:p>
        </p:txBody>
      </p:sp>
      <p:sp>
        <p:nvSpPr>
          <p:cNvPr id="16" name="Line 21">
            <a:extLst>
              <a:ext uri="{FF2B5EF4-FFF2-40B4-BE49-F238E27FC236}">
                <a16:creationId xmlns:a16="http://schemas.microsoft.com/office/drawing/2014/main" id="{668C0698-ED6A-48AD-8F7F-367199828A7C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3675" y="1946275"/>
            <a:ext cx="33178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7" name="Line 22">
            <a:extLst>
              <a:ext uri="{FF2B5EF4-FFF2-40B4-BE49-F238E27FC236}">
                <a16:creationId xmlns:a16="http://schemas.microsoft.com/office/drawing/2014/main" id="{06D94461-8C72-44AD-9F8D-2750625DE7D8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1" y="1946275"/>
            <a:ext cx="555626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8" name="Line 25">
            <a:extLst>
              <a:ext uri="{FF2B5EF4-FFF2-40B4-BE49-F238E27FC236}">
                <a16:creationId xmlns:a16="http://schemas.microsoft.com/office/drawing/2014/main" id="{B2A94B91-69B6-4AD8-B0F7-038C1EDCEB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6025" y="2833688"/>
            <a:ext cx="55403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9" name="Rectangle 26">
            <a:extLst>
              <a:ext uri="{FF2B5EF4-FFF2-40B4-BE49-F238E27FC236}">
                <a16:creationId xmlns:a16="http://schemas.microsoft.com/office/drawing/2014/main" id="{A4B4B46C-CE71-4807-9632-C18358110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8814" y="4700605"/>
            <a:ext cx="55562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000" dirty="0">
                <a:latin typeface="+mn-ea"/>
                <a:ea typeface="+mn-ea"/>
              </a:rPr>
              <a:t>E</a:t>
            </a:r>
          </a:p>
        </p:txBody>
      </p:sp>
      <p:sp>
        <p:nvSpPr>
          <p:cNvPr id="20" name="Line 28">
            <a:extLst>
              <a:ext uri="{FF2B5EF4-FFF2-40B4-BE49-F238E27FC236}">
                <a16:creationId xmlns:a16="http://schemas.microsoft.com/office/drawing/2014/main" id="{327AC0DA-C658-41F1-867E-B1A59FFACFA5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6026" y="4387850"/>
            <a:ext cx="44291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1" name="Rectangle 29">
            <a:extLst>
              <a:ext uri="{FF2B5EF4-FFF2-40B4-BE49-F238E27FC236}">
                <a16:creationId xmlns:a16="http://schemas.microsoft.com/office/drawing/2014/main" id="{FA758F88-7D57-4BAD-8FBE-0CAC82EED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007" y="4343508"/>
            <a:ext cx="5556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000" dirty="0">
                <a:latin typeface="+mn-ea"/>
                <a:ea typeface="+mn-ea"/>
              </a:rPr>
              <a:t>D</a:t>
            </a:r>
          </a:p>
        </p:txBody>
      </p:sp>
      <p:sp>
        <p:nvSpPr>
          <p:cNvPr id="22" name="Line 31">
            <a:extLst>
              <a:ext uri="{FF2B5EF4-FFF2-40B4-BE49-F238E27FC236}">
                <a16:creationId xmlns:a16="http://schemas.microsoft.com/office/drawing/2014/main" id="{45D090FF-D664-492F-9435-3B35FB7CA3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6475" y="4054475"/>
            <a:ext cx="55403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3" name="Rectangle 32">
            <a:extLst>
              <a:ext uri="{FF2B5EF4-FFF2-40B4-BE49-F238E27FC236}">
                <a16:creationId xmlns:a16="http://schemas.microsoft.com/office/drawing/2014/main" id="{BC07C455-72FF-46C0-AEB1-1497680E0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4388" y="5053066"/>
            <a:ext cx="55562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000" dirty="0">
                <a:latin typeface="+mn-ea"/>
                <a:ea typeface="+mn-ea"/>
              </a:rPr>
              <a:t>C</a:t>
            </a:r>
          </a:p>
        </p:txBody>
      </p:sp>
      <p:sp>
        <p:nvSpPr>
          <p:cNvPr id="24" name="Line 34">
            <a:extLst>
              <a:ext uri="{FF2B5EF4-FFF2-40B4-BE49-F238E27FC236}">
                <a16:creationId xmlns:a16="http://schemas.microsoft.com/office/drawing/2014/main" id="{80C1AB21-3345-40A7-9E83-417A1F92BCE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8051" y="4832350"/>
            <a:ext cx="5556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5" name="Rectangle 35">
            <a:extLst>
              <a:ext uri="{FF2B5EF4-FFF2-40B4-BE49-F238E27FC236}">
                <a16:creationId xmlns:a16="http://schemas.microsoft.com/office/drawing/2014/main" id="{FE710019-8E7D-47C8-8732-ADC5E7CA7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1088" y="3886321"/>
            <a:ext cx="554037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000" dirty="0">
                <a:latin typeface="+mn-ea"/>
                <a:ea typeface="+mn-ea"/>
              </a:rPr>
              <a:t>B</a:t>
            </a:r>
          </a:p>
        </p:txBody>
      </p:sp>
      <p:sp>
        <p:nvSpPr>
          <p:cNvPr id="26" name="Line 37">
            <a:extLst>
              <a:ext uri="{FF2B5EF4-FFF2-40B4-BE49-F238E27FC236}">
                <a16:creationId xmlns:a16="http://schemas.microsoft.com/office/drawing/2014/main" id="{BE78E384-FD0D-4F2C-97A2-5C2A96E2D3F1}"/>
              </a:ext>
            </a:extLst>
          </p:cNvPr>
          <p:cNvSpPr>
            <a:spLocks noChangeShapeType="1"/>
          </p:cNvSpPr>
          <p:nvPr/>
        </p:nvSpPr>
        <p:spPr bwMode="auto">
          <a:xfrm>
            <a:off x="9255125" y="3611563"/>
            <a:ext cx="4445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7" name="Rectangle 39">
            <a:extLst>
              <a:ext uri="{FF2B5EF4-FFF2-40B4-BE49-F238E27FC236}">
                <a16:creationId xmlns:a16="http://schemas.microsoft.com/office/drawing/2014/main" id="{423F842B-9F1F-41AC-AD6C-FDEAEFB1F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5088" y="5608638"/>
            <a:ext cx="121230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局域网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</a:rPr>
              <a:t>L1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8" name="Rectangle 42">
            <a:extLst>
              <a:ext uri="{FF2B5EF4-FFF2-40B4-BE49-F238E27FC236}">
                <a16:creationId xmlns:a16="http://schemas.microsoft.com/office/drawing/2014/main" id="{7B10DD16-1109-4EB1-AF9F-88D8E5065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5539" y="5608638"/>
            <a:ext cx="121230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局域网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</a:rPr>
              <a:t>L2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9" name="Rectangle 45">
            <a:extLst>
              <a:ext uri="{FF2B5EF4-FFF2-40B4-BE49-F238E27FC236}">
                <a16:creationId xmlns:a16="http://schemas.microsoft.com/office/drawing/2014/main" id="{56D28E70-4AEF-4BA5-8AC5-1C1838D0B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7114" y="5608638"/>
            <a:ext cx="132397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局域网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</a:rPr>
              <a:t>L3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30" name="Rectangle 48">
            <a:extLst>
              <a:ext uri="{FF2B5EF4-FFF2-40B4-BE49-F238E27FC236}">
                <a16:creationId xmlns:a16="http://schemas.microsoft.com/office/drawing/2014/main" id="{C087041B-CDC5-4DD7-A3E5-383A577FC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4189" y="5608638"/>
            <a:ext cx="132397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局域网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</a:rPr>
              <a:t>L4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31" name="Rectangle 51">
            <a:extLst>
              <a:ext uri="{FF2B5EF4-FFF2-40B4-BE49-F238E27FC236}">
                <a16:creationId xmlns:a16="http://schemas.microsoft.com/office/drawing/2014/main" id="{02851BBC-C300-4230-BA49-41E827322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7611" y="3083589"/>
            <a:ext cx="55562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000" dirty="0">
                <a:latin typeface="+mn-ea"/>
                <a:ea typeface="+mn-ea"/>
              </a:rPr>
              <a:t>A</a:t>
            </a:r>
          </a:p>
        </p:txBody>
      </p:sp>
      <p:pic>
        <p:nvPicPr>
          <p:cNvPr id="32" name="图形 31">
            <a:extLst>
              <a:ext uri="{FF2B5EF4-FFF2-40B4-BE49-F238E27FC236}">
                <a16:creationId xmlns:a16="http://schemas.microsoft.com/office/drawing/2014/main" id="{25021DA5-38D5-4D1D-BECD-1D9A089CD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0388" y="2582860"/>
            <a:ext cx="713207" cy="540000"/>
          </a:xfrm>
          <a:prstGeom prst="rect">
            <a:avLst/>
          </a:prstGeom>
        </p:spPr>
      </p:pic>
      <p:pic>
        <p:nvPicPr>
          <p:cNvPr id="33" name="图形 32">
            <a:extLst>
              <a:ext uri="{FF2B5EF4-FFF2-40B4-BE49-F238E27FC236}">
                <a16:creationId xmlns:a16="http://schemas.microsoft.com/office/drawing/2014/main" id="{26D7F59D-2793-46E1-B3A0-87060E3F4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0388" y="4137021"/>
            <a:ext cx="713207" cy="540000"/>
          </a:xfrm>
          <a:prstGeom prst="rect">
            <a:avLst/>
          </a:prstGeom>
        </p:spPr>
      </p:pic>
      <p:pic>
        <p:nvPicPr>
          <p:cNvPr id="34" name="图形 33">
            <a:extLst>
              <a:ext uri="{FF2B5EF4-FFF2-40B4-BE49-F238E27FC236}">
                <a16:creationId xmlns:a16="http://schemas.microsoft.com/office/drawing/2014/main" id="{96E5B4BF-C396-4A78-A68B-F11A2EFB4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2425" y="3798977"/>
            <a:ext cx="713207" cy="540000"/>
          </a:xfrm>
          <a:prstGeom prst="rect">
            <a:avLst/>
          </a:prstGeom>
        </p:spPr>
      </p:pic>
      <p:pic>
        <p:nvPicPr>
          <p:cNvPr id="35" name="图形 34">
            <a:extLst>
              <a:ext uri="{FF2B5EF4-FFF2-40B4-BE49-F238E27FC236}">
                <a16:creationId xmlns:a16="http://schemas.microsoft.com/office/drawing/2014/main" id="{D7FDF5ED-A6B5-4561-B2CC-E4C064D2D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9936" y="4555093"/>
            <a:ext cx="713207" cy="540000"/>
          </a:xfrm>
          <a:prstGeom prst="rect">
            <a:avLst/>
          </a:prstGeom>
        </p:spPr>
      </p:pic>
      <p:pic>
        <p:nvPicPr>
          <p:cNvPr id="36" name="图形 35">
            <a:extLst>
              <a:ext uri="{FF2B5EF4-FFF2-40B4-BE49-F238E27FC236}">
                <a16:creationId xmlns:a16="http://schemas.microsoft.com/office/drawing/2014/main" id="{3597F76D-3307-4C03-9ECE-21353A1B2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4026" y="3367983"/>
            <a:ext cx="713207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2585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610D1-8D02-4880-9F55-DCCEBEC8A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使用中继器的问题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F683A6-3189-4283-A4FA-8D9B3D47A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性能</a:t>
            </a:r>
          </a:p>
          <a:p>
            <a:pPr lvl="1"/>
            <a:r>
              <a:rPr lang="zh-CN" altLang="en-US" dirty="0"/>
              <a:t>有更多的站点访问媒体，会导致更多的流量，从而导致局域网性能的下降。</a:t>
            </a:r>
          </a:p>
          <a:p>
            <a:r>
              <a:rPr lang="zh-CN" altLang="en-US" dirty="0"/>
              <a:t>安全性</a:t>
            </a:r>
          </a:p>
          <a:p>
            <a:pPr lvl="1"/>
            <a:r>
              <a:rPr lang="zh-CN" altLang="en-US" dirty="0"/>
              <a:t>更多的站点访问同一媒体，安全保障更加困难。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68FECA-7A48-4C35-88E2-3194A3E0B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/>
              <a:pPr>
                <a:defRPr/>
              </a:pPr>
              <a:t>50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330465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70ACCD-3C62-430C-B215-9AF05D410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 </a:t>
            </a:r>
            <a:r>
              <a:rPr lang="zh-CN" altLang="en-US" dirty="0"/>
              <a:t>本章总结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36D7E0-6595-4194-8F35-A1B74B4B2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物理层是分层体系结构中的最底层</a:t>
            </a:r>
            <a:endParaRPr lang="en-US" altLang="zh-CN" dirty="0"/>
          </a:p>
          <a:p>
            <a:r>
              <a:rPr lang="zh-CN" altLang="en-US" dirty="0"/>
              <a:t>为设备之间的数据通信提供一下服务</a:t>
            </a:r>
            <a:endParaRPr lang="en-US" altLang="zh-CN" dirty="0"/>
          </a:p>
          <a:p>
            <a:pPr lvl="1"/>
            <a:r>
              <a:rPr lang="zh-CN" altLang="en-US" dirty="0"/>
              <a:t>传输介质及互连设备，</a:t>
            </a:r>
            <a:endParaRPr lang="en-US" altLang="zh-CN" dirty="0"/>
          </a:p>
          <a:p>
            <a:pPr lvl="1"/>
            <a:r>
              <a:rPr lang="zh-CN" altLang="en-US" dirty="0"/>
              <a:t>尽可能地为上层提供透明服务</a:t>
            </a:r>
            <a:endParaRPr lang="en-US" altLang="zh-CN" dirty="0"/>
          </a:p>
          <a:p>
            <a:pPr lvl="1"/>
            <a:r>
              <a:rPr lang="zh-CN" altLang="en-US" dirty="0"/>
              <a:t>为数据传输提供可靠的环境</a:t>
            </a:r>
            <a:endParaRPr lang="en-US" altLang="zh-CN" dirty="0"/>
          </a:p>
          <a:p>
            <a:r>
              <a:rPr lang="zh-CN" altLang="zh-CN" dirty="0"/>
              <a:t>规定了</a:t>
            </a:r>
            <a:r>
              <a:rPr lang="zh-CN" altLang="en-US" dirty="0"/>
              <a:t>机械、</a:t>
            </a:r>
            <a:r>
              <a:rPr lang="zh-CN" altLang="zh-CN" dirty="0"/>
              <a:t>电气、</a:t>
            </a:r>
            <a:r>
              <a:rPr lang="zh-CN" altLang="en-US" dirty="0"/>
              <a:t>功能、规程</a:t>
            </a:r>
            <a:r>
              <a:rPr lang="en-US" altLang="zh-CN" dirty="0"/>
              <a:t>4</a:t>
            </a:r>
            <a:r>
              <a:rPr lang="zh-CN" altLang="en-US" dirty="0"/>
              <a:t>个</a:t>
            </a:r>
            <a:r>
              <a:rPr lang="zh-CN" altLang="zh-CN" dirty="0"/>
              <a:t>特性</a:t>
            </a:r>
            <a:endParaRPr lang="en-US" altLang="zh-CN" dirty="0"/>
          </a:p>
          <a:p>
            <a:r>
              <a:rPr lang="zh-CN" altLang="en-US" dirty="0"/>
              <a:t>常用的传输介质</a:t>
            </a:r>
            <a:endParaRPr lang="en-US" altLang="zh-CN" dirty="0"/>
          </a:p>
          <a:p>
            <a:pPr lvl="1"/>
            <a:r>
              <a:rPr lang="zh-CN" altLang="en-US" dirty="0"/>
              <a:t>两大类：导向性传输介质、非导向性传输介质</a:t>
            </a:r>
            <a:endParaRPr lang="en-US" altLang="zh-CN" dirty="0"/>
          </a:p>
          <a:p>
            <a:pPr lvl="1"/>
            <a:r>
              <a:rPr lang="zh-CN" altLang="en-US" dirty="0"/>
              <a:t>双绞线、同轴电缆、光缆、短波、微波、可见光等</a:t>
            </a:r>
            <a:endParaRPr lang="en-US" altLang="zh-CN" dirty="0"/>
          </a:p>
          <a:p>
            <a:r>
              <a:rPr lang="zh-CN" altLang="en-US" dirty="0"/>
              <a:t>常用的互连设备</a:t>
            </a:r>
            <a:endParaRPr lang="en-US" altLang="zh-CN" dirty="0"/>
          </a:p>
          <a:p>
            <a:pPr lvl="1"/>
            <a:r>
              <a:rPr lang="zh-CN" altLang="en-US" dirty="0"/>
              <a:t>中继器、集线器</a:t>
            </a:r>
            <a:endParaRPr lang="en-US" altLang="zh-CN" dirty="0"/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933069-8BDC-4592-A72E-06188B413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6960B2-2B11-492C-B588-5290E1274F96}" type="slidenum">
              <a:rPr lang="en-US" altLang="zh-CN" smtClean="0"/>
              <a:pPr>
                <a:defRPr/>
              </a:pPr>
              <a:t>51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01784696"/>
      </p:ext>
    </p:extLst>
  </p:cSld>
  <p:clrMapOvr>
    <a:masterClrMapping/>
  </p:clrMapOvr>
</p:sld>
</file>

<file path=ppt/theme/theme1.xml><?xml version="1.0" encoding="utf-8"?>
<a:theme xmlns:a="http://schemas.openxmlformats.org/drawingml/2006/main" name="my-network">
  <a:themeElements>
    <a:clrScheme name="my-netwo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微软雅黑 Light" panose="020B0502040204020203" pitchFamily="34" charset="-122"/>
            <a:ea typeface="微软雅黑 Light" panose="020B0502040204020203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黑体" pitchFamily="2" charset="-122"/>
          </a:defRPr>
        </a:defPPr>
      </a:lstStyle>
    </a:lnDef>
    <a:txDef>
      <a:spPr>
        <a:noFill/>
      </a:spPr>
      <a:bodyPr wrap="none" rtlCol="0">
        <a:spAutoFit/>
      </a:bodyPr>
      <a:lstStyle>
        <a:defPPr algn="l">
          <a:defRPr dirty="0" smtClean="0">
            <a:latin typeface="微软雅黑 Light" panose="020B0502040204020203" pitchFamily="34" charset="-122"/>
            <a:ea typeface="微软雅黑 Light" panose="020B0502040204020203" pitchFamily="34" charset="-122"/>
          </a:defRPr>
        </a:defPPr>
      </a:lstStyle>
    </a:txDef>
  </a:objectDefaults>
  <a:extraClrSchemeLst>
    <a:extraClrScheme>
      <a:clrScheme name="my-netwo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-networ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-networ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-networ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-networ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-networ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-networ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-networ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-networ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-networ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-networ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-networ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35613</TotalTime>
  <Words>2826</Words>
  <Application>Microsoft Office PowerPoint</Application>
  <PresentationFormat>宽屏</PresentationFormat>
  <Paragraphs>864</Paragraphs>
  <Slides>51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51</vt:i4>
      </vt:variant>
    </vt:vector>
  </HeadingPairs>
  <TitlesOfParts>
    <vt:vector size="62" baseType="lpstr">
      <vt:lpstr>宋体</vt:lpstr>
      <vt:lpstr>微软雅黑</vt:lpstr>
      <vt:lpstr>微软雅黑 Light</vt:lpstr>
      <vt:lpstr>Arial</vt:lpstr>
      <vt:lpstr>Calibri</vt:lpstr>
      <vt:lpstr>Times New Roman</vt:lpstr>
      <vt:lpstr>Wingdings</vt:lpstr>
      <vt:lpstr>my-network</vt:lpstr>
      <vt:lpstr>自定义设计方案</vt:lpstr>
      <vt:lpstr>Bitmap Image</vt:lpstr>
      <vt:lpstr>BMP 图象</vt:lpstr>
      <vt:lpstr>计算机网络</vt:lpstr>
      <vt:lpstr>第3章 物理层</vt:lpstr>
      <vt:lpstr>3.1 物理层功能</vt:lpstr>
      <vt:lpstr>要解决的问题</vt:lpstr>
      <vt:lpstr>特性</vt:lpstr>
      <vt:lpstr>3.2 传输介质</vt:lpstr>
      <vt:lpstr>传输介质频谱</vt:lpstr>
      <vt:lpstr>双绞线</vt:lpstr>
      <vt:lpstr>双绞线类型</vt:lpstr>
      <vt:lpstr>连线标准</vt:lpstr>
      <vt:lpstr>UTP插座</vt:lpstr>
      <vt:lpstr>双绞线连接器</vt:lpstr>
      <vt:lpstr>直连线与交叉线</vt:lpstr>
      <vt:lpstr>双绞线参数</vt:lpstr>
      <vt:lpstr>同轴电缆</vt:lpstr>
      <vt:lpstr>光纤</vt:lpstr>
      <vt:lpstr>光纤工作原理</vt:lpstr>
      <vt:lpstr>光纤的特点</vt:lpstr>
      <vt:lpstr>光的模式</vt:lpstr>
      <vt:lpstr>多模光纤与单模光纤</vt:lpstr>
      <vt:lpstr>光缆组件</vt:lpstr>
      <vt:lpstr>光电转换设备</vt:lpstr>
      <vt:lpstr>无线传输介质</vt:lpstr>
      <vt:lpstr>微波通信</vt:lpstr>
      <vt:lpstr>卫星通信</vt:lpstr>
      <vt:lpstr>WLan组件</vt:lpstr>
      <vt:lpstr>3.3 物理层接口</vt:lpstr>
      <vt:lpstr>DTE与DCE</vt:lpstr>
      <vt:lpstr>EIA-232接口标准</vt:lpstr>
      <vt:lpstr>机械特性</vt:lpstr>
      <vt:lpstr>电气特性(1)</vt:lpstr>
      <vt:lpstr>电气特性(2)</vt:lpstr>
      <vt:lpstr>RS-232异步串行传输</vt:lpstr>
      <vt:lpstr>功能特性</vt:lpstr>
      <vt:lpstr>EIA-232引脚功能(1)</vt:lpstr>
      <vt:lpstr>EIA-232引脚功能(2)</vt:lpstr>
      <vt:lpstr>规程特性</vt:lpstr>
      <vt:lpstr>EIA-232子集</vt:lpstr>
      <vt:lpstr>USB（Universal Serial Bus）</vt:lpstr>
      <vt:lpstr>USB 2.0/3.0</vt:lpstr>
      <vt:lpstr>USB 2.0 引脚</vt:lpstr>
      <vt:lpstr>差分信号(Differential signaling)</vt:lpstr>
      <vt:lpstr>差分信号</vt:lpstr>
      <vt:lpstr>数字用户线路</vt:lpstr>
      <vt:lpstr>ADSL接入模型</vt:lpstr>
      <vt:lpstr>离散多音调调制</vt:lpstr>
      <vt:lpstr>常用的ADSL带宽分配</vt:lpstr>
      <vt:lpstr>3.4 物理层互联设备</vt:lpstr>
      <vt:lpstr>用中继器连接局域网</vt:lpstr>
      <vt:lpstr>使用中继器的问题</vt:lpstr>
      <vt:lpstr>3.5 本章总结</vt:lpstr>
    </vt:vector>
  </TitlesOfParts>
  <Company>Jilin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网络层</dc:title>
  <dc:creator>Zhang Zongsheng</dc:creator>
  <cp:lastModifiedBy>王峰</cp:lastModifiedBy>
  <cp:revision>20221041</cp:revision>
  <cp:lastPrinted>1601-01-01T00:00:00Z</cp:lastPrinted>
  <dcterms:created xsi:type="dcterms:W3CDTF">2003-06-07T12:50:50Z</dcterms:created>
  <dcterms:modified xsi:type="dcterms:W3CDTF">2024-02-29T00:59:20Z</dcterms:modified>
</cp:coreProperties>
</file>