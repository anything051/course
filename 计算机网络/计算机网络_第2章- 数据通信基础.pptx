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14.svg" ContentType="image/svg+xml"/>
  <Override PartName="/ppt/media/image16.svg" ContentType="image/svg+xml"/>
  <Override PartName="/ppt/media/image17.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16768642" r:id="rId3"/>
    <p:sldId id="515" r:id="rId4"/>
    <p:sldId id="516" r:id="rId6"/>
    <p:sldId id="613" r:id="rId7"/>
    <p:sldId id="517" r:id="rId8"/>
    <p:sldId id="504" r:id="rId9"/>
    <p:sldId id="518" r:id="rId10"/>
    <p:sldId id="519" r:id="rId11"/>
    <p:sldId id="520" r:id="rId12"/>
    <p:sldId id="16768561" r:id="rId13"/>
    <p:sldId id="524" r:id="rId14"/>
    <p:sldId id="530" r:id="rId15"/>
    <p:sldId id="531" r:id="rId16"/>
    <p:sldId id="532" r:id="rId17"/>
    <p:sldId id="533" r:id="rId18"/>
    <p:sldId id="534" r:id="rId19"/>
    <p:sldId id="631" r:id="rId20"/>
    <p:sldId id="619" r:id="rId21"/>
    <p:sldId id="535" r:id="rId22"/>
    <p:sldId id="450" r:id="rId23"/>
    <p:sldId id="626" r:id="rId24"/>
    <p:sldId id="538" r:id="rId25"/>
    <p:sldId id="539" r:id="rId26"/>
    <p:sldId id="537" r:id="rId27"/>
    <p:sldId id="541" r:id="rId28"/>
    <p:sldId id="542" r:id="rId29"/>
    <p:sldId id="543" r:id="rId30"/>
    <p:sldId id="544" r:id="rId31"/>
    <p:sldId id="545" r:id="rId32"/>
    <p:sldId id="546" r:id="rId33"/>
    <p:sldId id="547" r:id="rId34"/>
    <p:sldId id="548" r:id="rId35"/>
    <p:sldId id="608" r:id="rId36"/>
    <p:sldId id="609" r:id="rId37"/>
    <p:sldId id="16768563" r:id="rId38"/>
    <p:sldId id="529" r:id="rId39"/>
    <p:sldId id="525" r:id="rId40"/>
    <p:sldId id="605" r:id="rId41"/>
    <p:sldId id="527" r:id="rId42"/>
    <p:sldId id="16768562" r:id="rId43"/>
    <p:sldId id="528" r:id="rId44"/>
    <p:sldId id="621" r:id="rId45"/>
    <p:sldId id="555" r:id="rId46"/>
    <p:sldId id="557" r:id="rId47"/>
    <p:sldId id="558" r:id="rId48"/>
    <p:sldId id="563" r:id="rId49"/>
    <p:sldId id="566" r:id="rId50"/>
    <p:sldId id="565" r:id="rId51"/>
    <p:sldId id="567" r:id="rId52"/>
    <p:sldId id="568" r:id="rId53"/>
    <p:sldId id="569" r:id="rId54"/>
    <p:sldId id="570" r:id="rId55"/>
    <p:sldId id="571" r:id="rId56"/>
    <p:sldId id="573" r:id="rId57"/>
    <p:sldId id="623" r:id="rId58"/>
    <p:sldId id="624" r:id="rId59"/>
    <p:sldId id="625" r:id="rId60"/>
    <p:sldId id="622" r:id="rId61"/>
    <p:sldId id="761" r:id="rId62"/>
    <p:sldId id="575" r:id="rId63"/>
    <p:sldId id="577" r:id="rId64"/>
    <p:sldId id="581" r:id="rId65"/>
    <p:sldId id="582" r:id="rId66"/>
    <p:sldId id="583" r:id="rId67"/>
    <p:sldId id="584" r:id="rId68"/>
    <p:sldId id="589" r:id="rId69"/>
    <p:sldId id="590" r:id="rId70"/>
    <p:sldId id="586" r:id="rId71"/>
    <p:sldId id="587" r:id="rId72"/>
    <p:sldId id="513" r:id="rId73"/>
    <p:sldId id="591" r:id="rId74"/>
    <p:sldId id="592" r:id="rId75"/>
    <p:sldId id="593" r:id="rId76"/>
    <p:sldId id="618" r:id="rId77"/>
    <p:sldId id="630" r:id="rId78"/>
    <p:sldId id="594" r:id="rId79"/>
    <p:sldId id="598" r:id="rId80"/>
    <p:sldId id="629" r:id="rId81"/>
    <p:sldId id="596" r:id="rId82"/>
    <p:sldId id="495" r:id="rId83"/>
    <p:sldId id="16768564" r:id="rId84"/>
    <p:sldId id="16768565" r:id="rId85"/>
  </p:sldIdLst>
  <p:sldSz cx="12192000" cy="6858000"/>
  <p:notesSz cx="6858000" cy="9144000"/>
  <p:custDataLst>
    <p:tags r:id="rId9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 initial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0228" autoAdjust="0"/>
    <p:restoredTop sz="94660"/>
  </p:normalViewPr>
  <p:slideViewPr>
    <p:cSldViewPr snapToGrid="0" showGuides="1">
      <p:cViewPr varScale="1">
        <p:scale>
          <a:sx n="57" d="100"/>
          <a:sy n="57" d="100"/>
        </p:scale>
        <p:origin x="54" y="630"/>
      </p:cViewPr>
      <p:guideLst>
        <p:guide orient="horz" pos="2137"/>
        <p:guide pos="3840"/>
      </p:guideLst>
    </p:cSldViewPr>
  </p:slideViewPr>
  <p:notesTextViewPr>
    <p:cViewPr>
      <p:scale>
        <a:sx n="1" d="1"/>
        <a:sy n="1" d="1"/>
      </p:scale>
      <p:origin x="0" y="0"/>
    </p:cViewPr>
  </p:notesTextViewPr>
  <p:sorterViewPr>
    <p:cViewPr>
      <p:scale>
        <a:sx n="100" d="100"/>
        <a:sy n="100" d="100"/>
      </p:scale>
      <p:origin x="0" y="-365"/>
    </p:cViewPr>
  </p:sorter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1.xml"/><Relationship Id="rId9" Type="http://schemas.openxmlformats.org/officeDocument/2006/relationships/slide" Target="slides/slide6.xml"/><Relationship Id="rId89" Type="http://schemas.openxmlformats.org/officeDocument/2006/relationships/commentAuthors" Target="commentAuthors.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0C7DE-8F20-4DA7-AE98-3A55A1F2027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F91FF3-3038-4305-9A71-9E0EC30A3CD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719B737-2540-4912-931E-138AD3CFA1CE}" type="slidenum">
              <a:rPr lang="en-US" altLang="zh-CN"/>
            </a:fld>
            <a:endParaRPr lang="en-US" altLang="zh-CN"/>
          </a:p>
        </p:txBody>
      </p:sp>
      <p:sp>
        <p:nvSpPr>
          <p:cNvPr id="507906" name="Rectangle 2"/>
          <p:cNvSpPr>
            <a:spLocks noGrp="1" noRot="1" noChangeAspect="1" noChangeArrowheads="1" noTextEdit="1"/>
          </p:cNvSpPr>
          <p:nvPr>
            <p:ph type="sldImg"/>
          </p:nvPr>
        </p:nvSpPr>
        <p:spPr>
          <a:xfrm>
            <a:off x="304800" y="650875"/>
            <a:ext cx="5791200" cy="3257550"/>
          </a:xfrm>
        </p:spPr>
      </p:sp>
      <p:sp>
        <p:nvSpPr>
          <p:cNvPr id="50790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0BF0B14-AA45-445B-B0FA-054975AA7748}" type="slidenum">
              <a:rPr lang="en-US" altLang="zh-CN"/>
            </a:fld>
            <a:endParaRPr lang="en-US" altLang="zh-CN"/>
          </a:p>
        </p:txBody>
      </p:sp>
      <p:sp>
        <p:nvSpPr>
          <p:cNvPr id="508930" name="Rectangle 2"/>
          <p:cNvSpPr>
            <a:spLocks noGrp="1" noRot="1" noChangeAspect="1" noChangeArrowheads="1" noTextEdit="1"/>
          </p:cNvSpPr>
          <p:nvPr>
            <p:ph type="sldImg"/>
          </p:nvPr>
        </p:nvSpPr>
        <p:spPr>
          <a:xfrm>
            <a:off x="304800" y="650875"/>
            <a:ext cx="5791200" cy="3257550"/>
          </a:xfrm>
        </p:spPr>
      </p:sp>
      <p:sp>
        <p:nvSpPr>
          <p:cNvPr id="50893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4A23F0B-820C-46E5-8E35-FA4D66170B95}" type="slidenum">
              <a:rPr lang="en-US" altLang="zh-CN"/>
            </a:fld>
            <a:endParaRPr lang="en-US" altLang="zh-CN"/>
          </a:p>
        </p:txBody>
      </p:sp>
      <p:sp>
        <p:nvSpPr>
          <p:cNvPr id="536578" name="Rectangle 2"/>
          <p:cNvSpPr>
            <a:spLocks noGrp="1" noRot="1" noChangeAspect="1" noChangeArrowheads="1" noTextEdit="1"/>
          </p:cNvSpPr>
          <p:nvPr>
            <p:ph type="sldImg"/>
          </p:nvPr>
        </p:nvSpPr>
        <p:spPr>
          <a:xfrm>
            <a:off x="304800" y="650875"/>
            <a:ext cx="5791200" cy="3257550"/>
          </a:xfrm>
        </p:spPr>
      </p:sp>
      <p:sp>
        <p:nvSpPr>
          <p:cNvPr id="536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7BA3A0E-81F5-4BE8-AB1A-C927D88DF363}" type="slidenum">
              <a:rPr lang="en-US" altLang="zh-CN"/>
            </a:fld>
            <a:endParaRPr lang="en-US" altLang="zh-CN"/>
          </a:p>
        </p:txBody>
      </p:sp>
      <p:sp>
        <p:nvSpPr>
          <p:cNvPr id="388098" name="Rectangle 2"/>
          <p:cNvSpPr>
            <a:spLocks noGrp="1" noRot="1" noChangeAspect="1" noChangeArrowheads="1" noTextEdit="1"/>
          </p:cNvSpPr>
          <p:nvPr>
            <p:ph type="sldImg"/>
          </p:nvPr>
        </p:nvSpPr>
        <p:spPr>
          <a:xfrm>
            <a:off x="304800" y="650875"/>
            <a:ext cx="5791200" cy="3257550"/>
          </a:xfrm>
        </p:spPr>
      </p:sp>
      <p:sp>
        <p:nvSpPr>
          <p:cNvPr id="388099"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5FAC686-CACC-4F27-AFD4-9FCEF0A407F9}" type="slidenum">
              <a:rPr lang="en-US" altLang="zh-CN"/>
            </a:fld>
            <a:endParaRPr lang="en-US" altLang="zh-CN"/>
          </a:p>
        </p:txBody>
      </p:sp>
      <p:sp>
        <p:nvSpPr>
          <p:cNvPr id="525314" name="Rectangle 2"/>
          <p:cNvSpPr>
            <a:spLocks noGrp="1" noRot="1" noChangeAspect="1" noChangeArrowheads="1" noTextEdit="1"/>
          </p:cNvSpPr>
          <p:nvPr>
            <p:ph type="sldImg"/>
          </p:nvPr>
        </p:nvSpPr>
        <p:spPr>
          <a:xfrm>
            <a:off x="304800" y="650875"/>
            <a:ext cx="5791200" cy="3257550"/>
          </a:xfrm>
        </p:spPr>
      </p:sp>
      <p:sp>
        <p:nvSpPr>
          <p:cNvPr id="5253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DCD03A8-F761-496C-9D6A-6FC9DA05175B}" type="slidenum">
              <a:rPr lang="en-US" altLang="zh-CN"/>
            </a:fld>
            <a:endParaRPr lang="en-US" altLang="zh-CN"/>
          </a:p>
        </p:txBody>
      </p:sp>
      <p:sp>
        <p:nvSpPr>
          <p:cNvPr id="527362" name="Rectangle 2"/>
          <p:cNvSpPr>
            <a:spLocks noGrp="1" noRot="1" noChangeAspect="1" noChangeArrowheads="1" noTextEdit="1"/>
          </p:cNvSpPr>
          <p:nvPr>
            <p:ph type="sldImg"/>
          </p:nvPr>
        </p:nvSpPr>
        <p:spPr>
          <a:xfrm>
            <a:off x="304800" y="650875"/>
            <a:ext cx="5791200" cy="3257550"/>
          </a:xfrm>
        </p:spPr>
      </p:sp>
      <p:sp>
        <p:nvSpPr>
          <p:cNvPr id="52736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5223501-627E-4CA4-B729-B97C8CA6B26B}" type="slidenum">
              <a:rPr lang="en-US" altLang="zh-CN"/>
            </a:fld>
            <a:endParaRPr lang="en-US" altLang="zh-CN"/>
          </a:p>
        </p:txBody>
      </p:sp>
      <p:sp>
        <p:nvSpPr>
          <p:cNvPr id="526338" name="Rectangle 2"/>
          <p:cNvSpPr>
            <a:spLocks noGrp="1" noRot="1" noChangeAspect="1" noChangeArrowheads="1" noTextEdit="1"/>
          </p:cNvSpPr>
          <p:nvPr>
            <p:ph type="sldImg"/>
          </p:nvPr>
        </p:nvSpPr>
        <p:spPr>
          <a:xfrm>
            <a:off x="304800" y="650875"/>
            <a:ext cx="5791200" cy="3257550"/>
          </a:xfrm>
        </p:spPr>
      </p:sp>
      <p:sp>
        <p:nvSpPr>
          <p:cNvPr id="52633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4BC0E68-6276-46DA-A311-B5835323B747}" type="slidenum">
              <a:rPr lang="en-US" altLang="zh-CN"/>
            </a:fld>
            <a:endParaRPr lang="en-US" altLang="zh-CN"/>
          </a:p>
        </p:txBody>
      </p:sp>
      <p:sp>
        <p:nvSpPr>
          <p:cNvPr id="564226" name="Rectangle 2"/>
          <p:cNvSpPr>
            <a:spLocks noGrp="1" noRot="1" noChangeAspect="1" noChangeArrowheads="1" noTextEdit="1"/>
          </p:cNvSpPr>
          <p:nvPr>
            <p:ph type="sldImg"/>
          </p:nvPr>
        </p:nvSpPr>
        <p:spPr>
          <a:xfrm>
            <a:off x="304800" y="650875"/>
            <a:ext cx="5791200" cy="3257550"/>
          </a:xfrm>
        </p:spPr>
      </p:sp>
      <p:sp>
        <p:nvSpPr>
          <p:cNvPr id="564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4BC0E68-6276-46DA-A311-B5835323B747}" type="slidenum">
              <a:rPr lang="en-US" altLang="zh-CN"/>
            </a:fld>
            <a:endParaRPr lang="en-US" altLang="zh-CN"/>
          </a:p>
        </p:txBody>
      </p:sp>
      <p:sp>
        <p:nvSpPr>
          <p:cNvPr id="564226" name="Rectangle 2"/>
          <p:cNvSpPr>
            <a:spLocks noGrp="1" noRot="1" noChangeAspect="1" noChangeArrowheads="1" noTextEdit="1"/>
          </p:cNvSpPr>
          <p:nvPr>
            <p:ph type="sldImg"/>
          </p:nvPr>
        </p:nvSpPr>
        <p:spPr>
          <a:xfrm>
            <a:off x="304800" y="650875"/>
            <a:ext cx="5791200" cy="3257550"/>
          </a:xfrm>
        </p:spPr>
      </p:sp>
      <p:sp>
        <p:nvSpPr>
          <p:cNvPr id="564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1B30A01-9DD5-4A94-934E-5134BBFEE165}" type="slidenum">
              <a:rPr lang="en-US" altLang="zh-CN"/>
            </a:fld>
            <a:endParaRPr lang="en-US" altLang="zh-CN"/>
          </a:p>
        </p:txBody>
      </p:sp>
      <p:sp>
        <p:nvSpPr>
          <p:cNvPr id="586754" name="Rectangle 2"/>
          <p:cNvSpPr>
            <a:spLocks noGrp="1" noRot="1" noChangeAspect="1" noChangeArrowheads="1" noTextEdit="1"/>
          </p:cNvSpPr>
          <p:nvPr>
            <p:ph type="sldImg"/>
          </p:nvPr>
        </p:nvSpPr>
        <p:spPr>
          <a:xfrm>
            <a:off x="304800" y="650875"/>
            <a:ext cx="5791200" cy="3257550"/>
          </a:xfrm>
        </p:spPr>
      </p:sp>
      <p:sp>
        <p:nvSpPr>
          <p:cNvPr id="586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B78FDE0-8B89-4661-8397-B97B16A5EB70}" type="slidenum">
              <a:rPr lang="en-US" altLang="zh-CN"/>
            </a:fld>
            <a:endParaRPr lang="en-US" altLang="zh-CN"/>
          </a:p>
        </p:txBody>
      </p:sp>
      <p:sp>
        <p:nvSpPr>
          <p:cNvPr id="592898" name="Rectangle 2"/>
          <p:cNvSpPr>
            <a:spLocks noGrp="1" noRot="1" noChangeAspect="1" noChangeArrowheads="1" noTextEdit="1"/>
          </p:cNvSpPr>
          <p:nvPr>
            <p:ph type="sldImg"/>
          </p:nvPr>
        </p:nvSpPr>
        <p:spPr>
          <a:xfrm>
            <a:off x="304800" y="650875"/>
            <a:ext cx="5791200" cy="3257550"/>
          </a:xfrm>
        </p:spPr>
      </p:sp>
      <p:sp>
        <p:nvSpPr>
          <p:cNvPr id="592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042C0AF-DFAB-4FC9-91B8-0E16F07AF626}" type="slidenum">
              <a:rPr lang="en-US" altLang="zh-CN"/>
            </a:fld>
            <a:endParaRPr lang="en-US" altLang="zh-CN"/>
          </a:p>
        </p:txBody>
      </p:sp>
      <p:sp>
        <p:nvSpPr>
          <p:cNvPr id="539650" name="Rectangle 2"/>
          <p:cNvSpPr>
            <a:spLocks noGrp="1" noRot="1" noChangeAspect="1" noChangeArrowheads="1" noTextEdit="1"/>
          </p:cNvSpPr>
          <p:nvPr>
            <p:ph type="sldImg"/>
          </p:nvPr>
        </p:nvSpPr>
        <p:spPr>
          <a:xfrm>
            <a:off x="304800" y="650875"/>
            <a:ext cx="5791200" cy="3257550"/>
          </a:xfrm>
        </p:spPr>
      </p:sp>
      <p:sp>
        <p:nvSpPr>
          <p:cNvPr id="53965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A90E7BB-A343-46E5-A993-AAFF5294C3D9}" type="slidenum">
              <a:rPr lang="en-US" altLang="zh-CN"/>
            </a:fld>
            <a:endParaRPr lang="en-US" altLang="zh-CN"/>
          </a:p>
        </p:txBody>
      </p:sp>
      <p:sp>
        <p:nvSpPr>
          <p:cNvPr id="593922" name="Rectangle 2"/>
          <p:cNvSpPr>
            <a:spLocks noGrp="1" noRot="1" noChangeAspect="1" noChangeArrowheads="1" noTextEdit="1"/>
          </p:cNvSpPr>
          <p:nvPr>
            <p:ph type="sldImg"/>
          </p:nvPr>
        </p:nvSpPr>
        <p:spPr>
          <a:xfrm>
            <a:off x="304800" y="650875"/>
            <a:ext cx="5791200" cy="3257550"/>
          </a:xfrm>
        </p:spPr>
      </p:sp>
      <p:sp>
        <p:nvSpPr>
          <p:cNvPr id="593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86E3074-4AD2-4732-BAF2-65552CCCDC2B}" type="slidenum">
              <a:rPr lang="en-US" altLang="zh-CN"/>
            </a:fld>
            <a:endParaRPr lang="en-US" altLang="zh-CN"/>
          </a:p>
        </p:txBody>
      </p:sp>
      <p:sp>
        <p:nvSpPr>
          <p:cNvPr id="540674" name="Rectangle 2"/>
          <p:cNvSpPr>
            <a:spLocks noGrp="1" noRot="1" noChangeAspect="1" noChangeArrowheads="1" noTextEdit="1"/>
          </p:cNvSpPr>
          <p:nvPr>
            <p:ph type="sldImg"/>
          </p:nvPr>
        </p:nvSpPr>
        <p:spPr>
          <a:xfrm>
            <a:off x="304800" y="650875"/>
            <a:ext cx="5791200" cy="3257550"/>
          </a:xfrm>
        </p:spPr>
      </p:sp>
      <p:sp>
        <p:nvSpPr>
          <p:cNvPr id="540675"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D9D6067-2CAD-4E0B-8E8C-8D7A80195AF9}" type="slidenum">
              <a:rPr lang="en-US" altLang="zh-CN"/>
            </a:fld>
            <a:endParaRPr lang="en-US" altLang="zh-CN"/>
          </a:p>
        </p:txBody>
      </p:sp>
      <p:sp>
        <p:nvSpPr>
          <p:cNvPr id="541698" name="Rectangle 2"/>
          <p:cNvSpPr>
            <a:spLocks noGrp="1" noRot="1" noChangeAspect="1" noChangeArrowheads="1" noTextEdit="1"/>
          </p:cNvSpPr>
          <p:nvPr>
            <p:ph type="sldImg"/>
          </p:nvPr>
        </p:nvSpPr>
        <p:spPr>
          <a:xfrm>
            <a:off x="304800" y="650875"/>
            <a:ext cx="5791200" cy="3257550"/>
          </a:xfrm>
        </p:spPr>
      </p:sp>
      <p:sp>
        <p:nvSpPr>
          <p:cNvPr id="541699"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5917D50-9C63-402E-945A-CB97B269E200}" type="slidenum">
              <a:rPr lang="en-US" altLang="zh-CN"/>
            </a:fld>
            <a:endParaRPr lang="en-US" altLang="zh-CN"/>
          </a:p>
        </p:txBody>
      </p:sp>
      <p:sp>
        <p:nvSpPr>
          <p:cNvPr id="457730" name="Rectangle 2"/>
          <p:cNvSpPr>
            <a:spLocks noGrp="1" noRot="1" noChangeAspect="1" noChangeArrowheads="1" noTextEdit="1"/>
          </p:cNvSpPr>
          <p:nvPr>
            <p:ph type="sldImg"/>
          </p:nvPr>
        </p:nvSpPr>
        <p:spPr>
          <a:xfrm>
            <a:off x="304800" y="650875"/>
            <a:ext cx="5791200" cy="3257550"/>
          </a:xfrm>
        </p:spPr>
      </p:sp>
      <p:sp>
        <p:nvSpPr>
          <p:cNvPr id="457731" name="Rectangle 3"/>
          <p:cNvSpPr>
            <a:spLocks noGrp="1" noChangeArrowheads="1"/>
          </p:cNvSpPr>
          <p:nvPr>
            <p:ph type="body" idx="1"/>
          </p:nvPr>
        </p:nvSpPr>
        <p:spPr/>
        <p:txBody>
          <a:bodyPr/>
          <a:lstStyle/>
          <a:p>
            <a:pPr>
              <a:lnSpc>
                <a:spcPct val="90000"/>
              </a:lnSpc>
            </a:pP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E3C845F-6D14-483C-B01D-E0CC4123107B}" type="slidenum">
              <a:rPr lang="en-US" altLang="zh-CN"/>
            </a:fld>
            <a:endParaRPr lang="en-US" altLang="zh-CN"/>
          </a:p>
        </p:txBody>
      </p:sp>
      <p:sp>
        <p:nvSpPr>
          <p:cNvPr id="563202" name="Rectangle 2"/>
          <p:cNvSpPr>
            <a:spLocks noGrp="1" noRot="1" noChangeAspect="1" noChangeArrowheads="1" noTextEdit="1"/>
          </p:cNvSpPr>
          <p:nvPr>
            <p:ph type="sldImg"/>
          </p:nvPr>
        </p:nvSpPr>
        <p:spPr>
          <a:xfrm>
            <a:off x="304800" y="650875"/>
            <a:ext cx="5791200" cy="3257550"/>
          </a:xfrm>
        </p:spPr>
      </p:sp>
      <p:sp>
        <p:nvSpPr>
          <p:cNvPr id="563203"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058E8F8-4C02-4C9E-9B8A-1070CFED8A60}" type="slidenum">
              <a:rPr lang="en-US" altLang="zh-CN"/>
            </a:fld>
            <a:endParaRPr lang="en-US" altLang="zh-CN"/>
          </a:p>
        </p:txBody>
      </p:sp>
      <p:sp>
        <p:nvSpPr>
          <p:cNvPr id="594946" name="Rectangle 2"/>
          <p:cNvSpPr>
            <a:spLocks noGrp="1" noRot="1" noChangeAspect="1" noChangeArrowheads="1" noTextEdit="1"/>
          </p:cNvSpPr>
          <p:nvPr>
            <p:ph type="sldImg"/>
          </p:nvPr>
        </p:nvSpPr>
        <p:spPr>
          <a:xfrm>
            <a:off x="304800" y="650875"/>
            <a:ext cx="5791200" cy="3257550"/>
          </a:xfrm>
        </p:spPr>
      </p:sp>
      <p:sp>
        <p:nvSpPr>
          <p:cNvPr id="5949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4666BD4-9AA3-47C2-AA17-072C44939FE4}" type="slidenum">
              <a:rPr lang="en-US" altLang="zh-CN"/>
            </a:fld>
            <a:endParaRPr lang="en-US" altLang="zh-CN"/>
          </a:p>
        </p:txBody>
      </p:sp>
      <p:sp>
        <p:nvSpPr>
          <p:cNvPr id="542722" name="Rectangle 2"/>
          <p:cNvSpPr>
            <a:spLocks noGrp="1" noRot="1" noChangeAspect="1" noChangeArrowheads="1" noTextEdit="1"/>
          </p:cNvSpPr>
          <p:nvPr>
            <p:ph type="sldImg"/>
          </p:nvPr>
        </p:nvSpPr>
        <p:spPr>
          <a:xfrm>
            <a:off x="304800" y="650875"/>
            <a:ext cx="5791200" cy="3257550"/>
          </a:xfrm>
        </p:spPr>
      </p:sp>
      <p:sp>
        <p:nvSpPr>
          <p:cNvPr id="54272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1C347D-77D8-4F3A-9268-0DDFC25411FD}" type="slidenum">
              <a:rPr lang="en-US" altLang="zh-CN"/>
            </a:fld>
            <a:endParaRPr lang="en-US" altLang="zh-CN"/>
          </a:p>
        </p:txBody>
      </p:sp>
      <p:sp>
        <p:nvSpPr>
          <p:cNvPr id="606210" name="Rectangle 2"/>
          <p:cNvSpPr>
            <a:spLocks noGrp="1" noRot="1" noChangeAspect="1" noChangeArrowheads="1" noTextEdit="1"/>
          </p:cNvSpPr>
          <p:nvPr>
            <p:ph type="sldImg"/>
          </p:nvPr>
        </p:nvSpPr>
        <p:spPr>
          <a:xfrm>
            <a:off x="304800" y="650875"/>
            <a:ext cx="5791200" cy="3257550"/>
          </a:xfrm>
        </p:spPr>
      </p:sp>
      <p:sp>
        <p:nvSpPr>
          <p:cNvPr id="606211"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5C3C662-0268-4149-BD91-28DD14340C53}" type="slidenum">
              <a:rPr lang="en-US" altLang="zh-CN"/>
            </a:fld>
            <a:endParaRPr lang="en-US" altLang="zh-CN"/>
          </a:p>
        </p:txBody>
      </p:sp>
      <p:sp>
        <p:nvSpPr>
          <p:cNvPr id="543746" name="Rectangle 2"/>
          <p:cNvSpPr>
            <a:spLocks noGrp="1" noRot="1" noChangeAspect="1" noChangeArrowheads="1" noTextEdit="1"/>
          </p:cNvSpPr>
          <p:nvPr>
            <p:ph type="sldImg"/>
          </p:nvPr>
        </p:nvSpPr>
        <p:spPr>
          <a:xfrm>
            <a:off x="304800" y="650875"/>
            <a:ext cx="5791200" cy="3257550"/>
          </a:xfrm>
        </p:spPr>
      </p:sp>
      <p:sp>
        <p:nvSpPr>
          <p:cNvPr id="54374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95BD0E6-AA62-44F0-A846-E3C99871384E}" type="slidenum">
              <a:rPr lang="en-US" altLang="zh-CN"/>
            </a:fld>
            <a:endParaRPr lang="en-US" altLang="zh-CN"/>
          </a:p>
        </p:txBody>
      </p:sp>
      <p:sp>
        <p:nvSpPr>
          <p:cNvPr id="544770" name="Rectangle 2"/>
          <p:cNvSpPr>
            <a:spLocks noGrp="1" noRot="1" noChangeAspect="1" noChangeArrowheads="1" noTextEdit="1"/>
          </p:cNvSpPr>
          <p:nvPr>
            <p:ph type="sldImg"/>
          </p:nvPr>
        </p:nvSpPr>
        <p:spPr>
          <a:xfrm>
            <a:off x="304800" y="650875"/>
            <a:ext cx="5791200" cy="3257550"/>
          </a:xfrm>
        </p:spPr>
      </p:sp>
      <p:sp>
        <p:nvSpPr>
          <p:cNvPr id="54477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A7FB553-ADE3-481F-B314-13E3D5687010}" type="slidenum">
              <a:rPr lang="en-US" altLang="zh-CN"/>
            </a:fld>
            <a:endParaRPr lang="en-US" altLang="zh-CN"/>
          </a:p>
        </p:txBody>
      </p:sp>
      <p:sp>
        <p:nvSpPr>
          <p:cNvPr id="529410" name="Rectangle 2"/>
          <p:cNvSpPr>
            <a:spLocks noGrp="1" noRot="1" noChangeAspect="1" noChangeArrowheads="1" noTextEdit="1"/>
          </p:cNvSpPr>
          <p:nvPr>
            <p:ph type="sldImg"/>
          </p:nvPr>
        </p:nvSpPr>
        <p:spPr>
          <a:xfrm>
            <a:off x="304800" y="650875"/>
            <a:ext cx="5791200" cy="3257550"/>
          </a:xfrm>
        </p:spPr>
      </p:sp>
      <p:sp>
        <p:nvSpPr>
          <p:cNvPr id="529411"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C39EFC6-266E-49C0-BF1C-0DE27146801C}" type="slidenum">
              <a:rPr lang="en-US" altLang="zh-CN"/>
            </a:fld>
            <a:endParaRPr lang="en-US" altLang="zh-CN"/>
          </a:p>
        </p:txBody>
      </p:sp>
      <p:sp>
        <p:nvSpPr>
          <p:cNvPr id="595970" name="Rectangle 2"/>
          <p:cNvSpPr>
            <a:spLocks noGrp="1" noRot="1" noChangeAspect="1" noChangeArrowheads="1" noTextEdit="1"/>
          </p:cNvSpPr>
          <p:nvPr>
            <p:ph type="sldImg"/>
          </p:nvPr>
        </p:nvSpPr>
        <p:spPr>
          <a:xfrm>
            <a:off x="304800" y="650875"/>
            <a:ext cx="5791200" cy="3257550"/>
          </a:xfrm>
        </p:spPr>
      </p:sp>
      <p:sp>
        <p:nvSpPr>
          <p:cNvPr id="595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6F10B2F-A12A-45D4-82F2-76E782F9EA14}" type="slidenum">
              <a:rPr lang="en-US" altLang="zh-CN"/>
            </a:fld>
            <a:endParaRPr lang="en-US" altLang="zh-CN"/>
          </a:p>
        </p:txBody>
      </p:sp>
      <p:sp>
        <p:nvSpPr>
          <p:cNvPr id="596994" name="Rectangle 2"/>
          <p:cNvSpPr>
            <a:spLocks noGrp="1" noRot="1" noChangeAspect="1" noChangeArrowheads="1" noTextEdit="1"/>
          </p:cNvSpPr>
          <p:nvPr>
            <p:ph type="sldImg"/>
          </p:nvPr>
        </p:nvSpPr>
        <p:spPr>
          <a:xfrm>
            <a:off x="304800" y="650875"/>
            <a:ext cx="5791200" cy="3257550"/>
          </a:xfrm>
        </p:spPr>
      </p:sp>
      <p:sp>
        <p:nvSpPr>
          <p:cNvPr id="5969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693D2A8-41C6-457D-A4D9-EFDC79874376}" type="slidenum">
              <a:rPr lang="en-US" altLang="zh-CN"/>
            </a:fld>
            <a:endParaRPr lang="en-US" altLang="zh-CN"/>
          </a:p>
        </p:txBody>
      </p:sp>
      <p:sp>
        <p:nvSpPr>
          <p:cNvPr id="598018" name="Rectangle 2"/>
          <p:cNvSpPr>
            <a:spLocks noGrp="1" noRot="1" noChangeAspect="1" noChangeArrowheads="1" noTextEdit="1"/>
          </p:cNvSpPr>
          <p:nvPr>
            <p:ph type="sldImg"/>
          </p:nvPr>
        </p:nvSpPr>
        <p:spPr>
          <a:xfrm>
            <a:off x="304800" y="650875"/>
            <a:ext cx="5791200" cy="3257550"/>
          </a:xfrm>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4B48AA7-331C-4F46-9DDD-F4F848D8191D}" type="slidenum">
              <a:rPr lang="en-US" altLang="zh-CN"/>
            </a:fld>
            <a:endParaRPr lang="en-US" altLang="zh-CN"/>
          </a:p>
        </p:txBody>
      </p:sp>
      <p:sp>
        <p:nvSpPr>
          <p:cNvPr id="599042" name="Rectangle 2"/>
          <p:cNvSpPr>
            <a:spLocks noGrp="1" noRot="1" noChangeAspect="1" noChangeArrowheads="1" noTextEdit="1"/>
          </p:cNvSpPr>
          <p:nvPr>
            <p:ph type="sldImg"/>
          </p:nvPr>
        </p:nvSpPr>
        <p:spPr>
          <a:xfrm>
            <a:off x="304800" y="650875"/>
            <a:ext cx="5791200" cy="3257550"/>
          </a:xfrm>
        </p:spPr>
      </p:sp>
      <p:sp>
        <p:nvSpPr>
          <p:cNvPr id="5990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C1C94EC-12DB-422C-A592-369B009F1008}" type="slidenum">
              <a:rPr lang="en-US" altLang="zh-CN"/>
            </a:fld>
            <a:endParaRPr lang="en-US" altLang="zh-CN"/>
          </a:p>
        </p:txBody>
      </p:sp>
      <p:sp>
        <p:nvSpPr>
          <p:cNvPr id="600066" name="Rectangle 2"/>
          <p:cNvSpPr>
            <a:spLocks noGrp="1" noRot="1" noChangeAspect="1" noChangeArrowheads="1" noTextEdit="1"/>
          </p:cNvSpPr>
          <p:nvPr>
            <p:ph type="sldImg"/>
          </p:nvPr>
        </p:nvSpPr>
        <p:spPr>
          <a:xfrm>
            <a:off x="304800" y="650875"/>
            <a:ext cx="5791200" cy="3257550"/>
          </a:xfrm>
        </p:spPr>
      </p:sp>
      <p:sp>
        <p:nvSpPr>
          <p:cNvPr id="600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B8733B5-9834-45BD-8DAB-E7EEB9E448BC}" type="slidenum">
              <a:rPr lang="en-US" altLang="zh-CN"/>
            </a:fld>
            <a:endParaRPr lang="en-US" altLang="zh-CN"/>
          </a:p>
        </p:txBody>
      </p:sp>
      <p:sp>
        <p:nvSpPr>
          <p:cNvPr id="601090" name="Rectangle 2"/>
          <p:cNvSpPr>
            <a:spLocks noGrp="1" noRot="1" noChangeAspect="1" noChangeArrowheads="1" noTextEdit="1"/>
          </p:cNvSpPr>
          <p:nvPr>
            <p:ph type="sldImg"/>
          </p:nvPr>
        </p:nvSpPr>
        <p:spPr>
          <a:xfrm>
            <a:off x="304800" y="650875"/>
            <a:ext cx="5791200" cy="3257550"/>
          </a:xfrm>
        </p:spPr>
      </p:sp>
      <p:sp>
        <p:nvSpPr>
          <p:cNvPr id="6010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C28B380-1E43-45E7-9890-A6B65F6E726D}" type="slidenum">
              <a:rPr lang="en-US" altLang="zh-CN"/>
            </a:fld>
            <a:endParaRPr lang="en-US" altLang="zh-CN"/>
          </a:p>
        </p:txBody>
      </p:sp>
      <p:sp>
        <p:nvSpPr>
          <p:cNvPr id="602114" name="Rectangle 2"/>
          <p:cNvSpPr>
            <a:spLocks noGrp="1" noRot="1" noChangeAspect="1" noChangeArrowheads="1" noTextEdit="1"/>
          </p:cNvSpPr>
          <p:nvPr>
            <p:ph type="sldImg"/>
          </p:nvPr>
        </p:nvSpPr>
        <p:spPr>
          <a:xfrm>
            <a:off x="304800" y="650875"/>
            <a:ext cx="5791200" cy="3257550"/>
          </a:xfrm>
        </p:spPr>
      </p:sp>
      <p:sp>
        <p:nvSpPr>
          <p:cNvPr id="602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BB7D191-C06E-4070-8FEB-D5D31DEBD715}" type="slidenum">
              <a:rPr lang="en-US" altLang="zh-CN"/>
            </a:fld>
            <a:endParaRPr lang="en-US" altLang="zh-CN"/>
          </a:p>
        </p:txBody>
      </p:sp>
      <p:sp>
        <p:nvSpPr>
          <p:cNvPr id="603138" name="Rectangle 2"/>
          <p:cNvSpPr>
            <a:spLocks noGrp="1" noRot="1" noChangeAspect="1" noChangeArrowheads="1" noTextEdit="1"/>
          </p:cNvSpPr>
          <p:nvPr>
            <p:ph type="sldImg"/>
          </p:nvPr>
        </p:nvSpPr>
        <p:spPr>
          <a:xfrm>
            <a:off x="304800" y="650875"/>
            <a:ext cx="5791200" cy="3257550"/>
          </a:xfrm>
        </p:spPr>
      </p:sp>
      <p:sp>
        <p:nvSpPr>
          <p:cNvPr id="603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E48C30C-8566-4C06-847D-6804E75541B0}" type="slidenum">
              <a:rPr lang="en-US" altLang="zh-CN"/>
            </a:fld>
            <a:endParaRPr lang="en-US" altLang="zh-CN"/>
          </a:p>
        </p:txBody>
      </p:sp>
      <p:sp>
        <p:nvSpPr>
          <p:cNvPr id="604162" name="Rectangle 2"/>
          <p:cNvSpPr>
            <a:spLocks noGrp="1" noRot="1" noChangeAspect="1" noChangeArrowheads="1" noTextEdit="1"/>
          </p:cNvSpPr>
          <p:nvPr>
            <p:ph type="sldImg"/>
          </p:nvPr>
        </p:nvSpPr>
        <p:spPr>
          <a:xfrm>
            <a:off x="304800" y="650875"/>
            <a:ext cx="5791200" cy="3257550"/>
          </a:xfrm>
        </p:spPr>
      </p:sp>
      <p:sp>
        <p:nvSpPr>
          <p:cNvPr id="60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4BC0E68-6276-46DA-A311-B5835323B747}" type="slidenum">
              <a:rPr lang="en-US" altLang="zh-CN"/>
            </a:fld>
            <a:endParaRPr lang="en-US" altLang="zh-CN"/>
          </a:p>
        </p:txBody>
      </p:sp>
      <p:sp>
        <p:nvSpPr>
          <p:cNvPr id="564226" name="Rectangle 2"/>
          <p:cNvSpPr>
            <a:spLocks noGrp="1" noRot="1" noChangeAspect="1" noChangeArrowheads="1" noTextEdit="1"/>
          </p:cNvSpPr>
          <p:nvPr>
            <p:ph type="sldImg"/>
          </p:nvPr>
        </p:nvSpPr>
        <p:spPr>
          <a:xfrm>
            <a:off x="304800" y="650875"/>
            <a:ext cx="5791200" cy="3257550"/>
          </a:xfrm>
        </p:spPr>
      </p:sp>
      <p:sp>
        <p:nvSpPr>
          <p:cNvPr id="564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51ED7CD-99EC-47F0-AD20-FFC7B66E15D4}" type="slidenum">
              <a:rPr lang="en-US" altLang="zh-CN"/>
            </a:fld>
            <a:endParaRPr lang="en-US" altLang="zh-CN"/>
          </a:p>
        </p:txBody>
      </p:sp>
      <p:sp>
        <p:nvSpPr>
          <p:cNvPr id="512002" name="Rectangle 2"/>
          <p:cNvSpPr>
            <a:spLocks noGrp="1" noRot="1" noChangeAspect="1" noChangeArrowheads="1" noTextEdit="1"/>
          </p:cNvSpPr>
          <p:nvPr>
            <p:ph type="sldImg"/>
          </p:nvPr>
        </p:nvSpPr>
        <p:spPr>
          <a:xfrm>
            <a:off x="304800" y="650875"/>
            <a:ext cx="5791200" cy="3257550"/>
          </a:xfrm>
        </p:spPr>
      </p:sp>
      <p:sp>
        <p:nvSpPr>
          <p:cNvPr id="512003"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A3D043B-C0E8-49ED-A048-6386D89438AE}" type="slidenum">
              <a:rPr lang="en-US" altLang="zh-CN"/>
            </a:fld>
            <a:endParaRPr lang="en-US" altLang="zh-CN"/>
          </a:p>
        </p:txBody>
      </p:sp>
      <p:sp>
        <p:nvSpPr>
          <p:cNvPr id="565250" name="Rectangle 2"/>
          <p:cNvSpPr>
            <a:spLocks noGrp="1" noRot="1" noChangeAspect="1" noChangeArrowheads="1" noTextEdit="1"/>
          </p:cNvSpPr>
          <p:nvPr>
            <p:ph type="sldImg"/>
          </p:nvPr>
        </p:nvSpPr>
        <p:spPr>
          <a:xfrm>
            <a:off x="304800" y="650875"/>
            <a:ext cx="5791200" cy="3257550"/>
          </a:xfrm>
        </p:spPr>
      </p:sp>
      <p:sp>
        <p:nvSpPr>
          <p:cNvPr id="565251"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5EF3BBB-DAB5-4645-AA5A-BF087E003709}" type="slidenum">
              <a:rPr lang="en-US" altLang="zh-CN"/>
            </a:fld>
            <a:endParaRPr lang="en-US" altLang="zh-CN"/>
          </a:p>
        </p:txBody>
      </p:sp>
      <p:sp>
        <p:nvSpPr>
          <p:cNvPr id="566274" name="Rectangle 2"/>
          <p:cNvSpPr>
            <a:spLocks noGrp="1" noRot="1" noChangeAspect="1" noChangeArrowheads="1" noTextEdit="1"/>
          </p:cNvSpPr>
          <p:nvPr>
            <p:ph type="sldImg"/>
          </p:nvPr>
        </p:nvSpPr>
        <p:spPr>
          <a:xfrm>
            <a:off x="304800" y="650875"/>
            <a:ext cx="5791200" cy="3257550"/>
          </a:xfrm>
        </p:spPr>
      </p:sp>
      <p:sp>
        <p:nvSpPr>
          <p:cNvPr id="56627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908700-F93C-4B8A-A90B-F94C7953F9C3}" type="slidenum">
              <a:rPr lang="en-US" altLang="zh-CN"/>
            </a:fld>
            <a:endParaRPr lang="en-US" altLang="zh-CN"/>
          </a:p>
        </p:txBody>
      </p:sp>
      <p:sp>
        <p:nvSpPr>
          <p:cNvPr id="400386" name="Rectangle 2"/>
          <p:cNvSpPr>
            <a:spLocks noGrp="1" noRot="1" noChangeAspect="1" noChangeArrowheads="1" noTextEdit="1"/>
          </p:cNvSpPr>
          <p:nvPr>
            <p:ph type="sldImg"/>
          </p:nvPr>
        </p:nvSpPr>
        <p:spPr>
          <a:xfrm>
            <a:off x="304800" y="650875"/>
            <a:ext cx="5791200" cy="3257550"/>
          </a:xfrm>
        </p:spPr>
      </p:sp>
      <p:sp>
        <p:nvSpPr>
          <p:cNvPr id="400387"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9777C25-A5A1-4DD6-A5E7-B27DE1CAF12F}" type="slidenum">
              <a:rPr lang="en-US" altLang="zh-CN"/>
            </a:fld>
            <a:endParaRPr lang="en-US" altLang="zh-CN"/>
          </a:p>
        </p:txBody>
      </p:sp>
      <p:sp>
        <p:nvSpPr>
          <p:cNvPr id="480258" name="Rectangle 2"/>
          <p:cNvSpPr>
            <a:spLocks noGrp="1" noRot="1" noChangeAspect="1" noChangeArrowheads="1" noTextEdit="1"/>
          </p:cNvSpPr>
          <p:nvPr>
            <p:ph type="sldImg"/>
          </p:nvPr>
        </p:nvSpPr>
        <p:spPr>
          <a:xfrm>
            <a:off x="304800" y="650875"/>
            <a:ext cx="5791200" cy="3257550"/>
          </a:xfrm>
        </p:spPr>
      </p:sp>
      <p:sp>
        <p:nvSpPr>
          <p:cNvPr id="480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706FC25-9582-46D1-AC97-86D1E1CDA88C}" type="slidenum">
              <a:rPr lang="en-US" altLang="zh-CN"/>
            </a:fld>
            <a:endParaRPr lang="en-US" altLang="zh-CN"/>
          </a:p>
        </p:txBody>
      </p:sp>
      <p:sp>
        <p:nvSpPr>
          <p:cNvPr id="589826" name="Rectangle 2"/>
          <p:cNvSpPr>
            <a:spLocks noGrp="1" noRot="1" noChangeAspect="1" noChangeArrowheads="1" noTextEdit="1"/>
          </p:cNvSpPr>
          <p:nvPr>
            <p:ph type="sldImg"/>
          </p:nvPr>
        </p:nvSpPr>
        <p:spPr>
          <a:xfrm>
            <a:off x="304800" y="650875"/>
            <a:ext cx="5791200" cy="3257550"/>
          </a:xfrm>
        </p:spPr>
      </p:sp>
      <p:sp>
        <p:nvSpPr>
          <p:cNvPr id="5898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97A61ED-EDB4-47A8-8955-94ACF9237EE5}" type="slidenum">
              <a:rPr lang="en-US" altLang="zh-CN"/>
            </a:fld>
            <a:endParaRPr lang="en-US" altLang="zh-CN"/>
          </a:p>
        </p:txBody>
      </p:sp>
      <p:sp>
        <p:nvSpPr>
          <p:cNvPr id="571394" name="Rectangle 2"/>
          <p:cNvSpPr>
            <a:spLocks noGrp="1" noRot="1" noChangeAspect="1" noChangeArrowheads="1" noTextEdit="1"/>
          </p:cNvSpPr>
          <p:nvPr>
            <p:ph type="sldImg"/>
          </p:nvPr>
        </p:nvSpPr>
        <p:spPr>
          <a:xfrm>
            <a:off x="304800" y="650875"/>
            <a:ext cx="5791200" cy="3257550"/>
          </a:xfrm>
        </p:spPr>
      </p:sp>
      <p:sp>
        <p:nvSpPr>
          <p:cNvPr id="5713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AAF773D-0447-436C-9EE2-84375CB87763}" type="slidenum">
              <a:rPr lang="en-US" altLang="zh-CN"/>
            </a:fld>
            <a:endParaRPr lang="en-US" altLang="zh-CN"/>
          </a:p>
        </p:txBody>
      </p:sp>
      <p:sp>
        <p:nvSpPr>
          <p:cNvPr id="572418" name="Rectangle 2"/>
          <p:cNvSpPr>
            <a:spLocks noGrp="1" noRot="1" noChangeAspect="1" noChangeArrowheads="1" noTextEdit="1"/>
          </p:cNvSpPr>
          <p:nvPr>
            <p:ph type="sldImg"/>
          </p:nvPr>
        </p:nvSpPr>
        <p:spPr>
          <a:xfrm>
            <a:off x="304800" y="650875"/>
            <a:ext cx="5791200" cy="3257550"/>
          </a:xfrm>
        </p:spPr>
      </p:sp>
      <p:sp>
        <p:nvSpPr>
          <p:cNvPr id="5724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D3B8292-96BD-429D-B65F-CA0282A72F16}" type="slidenum">
              <a:rPr lang="en-US" altLang="zh-CN"/>
            </a:fld>
            <a:endParaRPr lang="en-US" altLang="zh-CN"/>
          </a:p>
        </p:txBody>
      </p:sp>
      <p:sp>
        <p:nvSpPr>
          <p:cNvPr id="573442" name="Rectangle 2"/>
          <p:cNvSpPr>
            <a:spLocks noGrp="1" noRot="1" noChangeAspect="1" noChangeArrowheads="1" noTextEdit="1"/>
          </p:cNvSpPr>
          <p:nvPr>
            <p:ph type="sldImg"/>
          </p:nvPr>
        </p:nvSpPr>
        <p:spPr>
          <a:xfrm>
            <a:off x="304800" y="650875"/>
            <a:ext cx="5791200" cy="3257550"/>
          </a:xfrm>
        </p:spPr>
      </p:sp>
      <p:sp>
        <p:nvSpPr>
          <p:cNvPr id="573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99D5AD6-7A53-4A75-80F2-2ED10ED4928E}" type="slidenum">
              <a:rPr lang="en-US" altLang="zh-CN"/>
            </a:fld>
            <a:endParaRPr lang="en-US" altLang="zh-CN"/>
          </a:p>
        </p:txBody>
      </p:sp>
      <p:sp>
        <p:nvSpPr>
          <p:cNvPr id="574466" name="Rectangle 2"/>
          <p:cNvSpPr>
            <a:spLocks noGrp="1" noRot="1" noChangeAspect="1" noChangeArrowheads="1" noTextEdit="1"/>
          </p:cNvSpPr>
          <p:nvPr>
            <p:ph type="sldImg"/>
          </p:nvPr>
        </p:nvSpPr>
        <p:spPr>
          <a:xfrm>
            <a:off x="304800" y="650875"/>
            <a:ext cx="5791200" cy="3257550"/>
          </a:xfrm>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2F71262-0274-4607-B92C-152CD55F9DC2}" type="slidenum">
              <a:rPr lang="en-US" altLang="zh-CN"/>
            </a:fld>
            <a:endParaRPr lang="en-US" altLang="zh-CN"/>
          </a:p>
        </p:txBody>
      </p:sp>
      <p:sp>
        <p:nvSpPr>
          <p:cNvPr id="575490" name="Rectangle 2"/>
          <p:cNvSpPr>
            <a:spLocks noGrp="1" noRot="1" noChangeAspect="1" noChangeArrowheads="1" noTextEdit="1"/>
          </p:cNvSpPr>
          <p:nvPr>
            <p:ph type="sldImg"/>
          </p:nvPr>
        </p:nvSpPr>
        <p:spPr>
          <a:xfrm>
            <a:off x="304800" y="650875"/>
            <a:ext cx="5791200" cy="3257550"/>
          </a:xfrm>
        </p:spPr>
      </p:sp>
      <p:sp>
        <p:nvSpPr>
          <p:cNvPr id="575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151BDFE-692C-48D9-9D0C-E2C7C350AA52}" type="slidenum">
              <a:rPr lang="en-US" altLang="zh-CN"/>
            </a:fld>
            <a:endParaRPr lang="en-US" altLang="zh-CN"/>
          </a:p>
        </p:txBody>
      </p:sp>
      <p:sp>
        <p:nvSpPr>
          <p:cNvPr id="549890" name="Rectangle 2"/>
          <p:cNvSpPr>
            <a:spLocks noGrp="1" noRot="1" noChangeAspect="1" noChangeArrowheads="1" noTextEdit="1"/>
          </p:cNvSpPr>
          <p:nvPr>
            <p:ph type="sldImg"/>
          </p:nvPr>
        </p:nvSpPr>
        <p:spPr>
          <a:xfrm>
            <a:off x="304800" y="650875"/>
            <a:ext cx="5791200" cy="3257550"/>
          </a:xfrm>
        </p:spPr>
      </p:sp>
      <p:sp>
        <p:nvSpPr>
          <p:cNvPr id="54989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8BACAE0-A52C-4F4C-BB9A-AF7C20139F5B}" type="slidenum">
              <a:rPr lang="en-US" altLang="zh-CN"/>
            </a:fld>
            <a:endParaRPr lang="en-US" altLang="zh-CN"/>
          </a:p>
        </p:txBody>
      </p:sp>
      <p:sp>
        <p:nvSpPr>
          <p:cNvPr id="461826" name="Rectangle 2"/>
          <p:cNvSpPr>
            <a:spLocks noGrp="1" noRot="1" noChangeAspect="1" noChangeArrowheads="1" noTextEdit="1"/>
          </p:cNvSpPr>
          <p:nvPr>
            <p:ph type="sldImg"/>
          </p:nvPr>
        </p:nvSpPr>
        <p:spPr>
          <a:xfrm>
            <a:off x="304800" y="650875"/>
            <a:ext cx="5791200" cy="3257550"/>
          </a:xfrm>
        </p:spPr>
      </p:sp>
      <p:sp>
        <p:nvSpPr>
          <p:cNvPr id="46182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5F45DA2-4183-4937-934B-36388E22572A}" type="slidenum">
              <a:rPr lang="en-US" altLang="zh-CN"/>
            </a:fld>
            <a:endParaRPr lang="en-US" altLang="zh-CN"/>
          </a:p>
        </p:txBody>
      </p:sp>
      <p:sp>
        <p:nvSpPr>
          <p:cNvPr id="584706" name="Rectangle 2"/>
          <p:cNvSpPr>
            <a:spLocks noGrp="1" noRot="1" noChangeAspect="1" noChangeArrowheads="1" noTextEdit="1"/>
          </p:cNvSpPr>
          <p:nvPr>
            <p:ph type="sldImg"/>
          </p:nvPr>
        </p:nvSpPr>
        <p:spPr>
          <a:xfrm>
            <a:off x="304800" y="650875"/>
            <a:ext cx="5791200" cy="3257550"/>
          </a:xfrm>
        </p:spPr>
      </p:sp>
      <p:sp>
        <p:nvSpPr>
          <p:cNvPr id="584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FACE703-6007-41A5-A622-0FFB7905E15D}" type="slidenum">
              <a:rPr lang="en-US" altLang="zh-CN"/>
            </a:fld>
            <a:endParaRPr lang="en-US" altLang="zh-CN"/>
          </a:p>
        </p:txBody>
      </p:sp>
      <p:sp>
        <p:nvSpPr>
          <p:cNvPr id="576514" name="Rectangle 2"/>
          <p:cNvSpPr>
            <a:spLocks noGrp="1" noRot="1" noChangeAspect="1" noChangeArrowheads="1" noTextEdit="1"/>
          </p:cNvSpPr>
          <p:nvPr>
            <p:ph type="sldImg"/>
          </p:nvPr>
        </p:nvSpPr>
        <p:spPr>
          <a:xfrm>
            <a:off x="304800" y="650875"/>
            <a:ext cx="5791200" cy="3257550"/>
          </a:xfrm>
        </p:spPr>
      </p:sp>
      <p:sp>
        <p:nvSpPr>
          <p:cNvPr id="5765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363923C-049E-4099-B3A2-D4E060B96904}" type="slidenum">
              <a:rPr lang="en-US" altLang="zh-CN"/>
            </a:fld>
            <a:endParaRPr lang="en-US" altLang="zh-CN"/>
          </a:p>
        </p:txBody>
      </p:sp>
      <p:sp>
        <p:nvSpPr>
          <p:cNvPr id="553986" name="Rectangle 2"/>
          <p:cNvSpPr>
            <a:spLocks noGrp="1" noRot="1" noChangeAspect="1" noChangeArrowheads="1" noTextEdit="1"/>
          </p:cNvSpPr>
          <p:nvPr>
            <p:ph type="sldImg"/>
          </p:nvPr>
        </p:nvSpPr>
        <p:spPr>
          <a:xfrm>
            <a:off x="304800" y="650875"/>
            <a:ext cx="5791200" cy="3257550"/>
          </a:xfrm>
        </p:spPr>
      </p:sp>
      <p:sp>
        <p:nvSpPr>
          <p:cNvPr id="553987"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4ED920B-9233-4E92-BC24-4C31C27E47F2}" type="slidenum">
              <a:rPr lang="en-US" altLang="zh-CN"/>
            </a:fld>
            <a:endParaRPr lang="en-US" altLang="zh-CN"/>
          </a:p>
        </p:txBody>
      </p:sp>
      <p:sp>
        <p:nvSpPr>
          <p:cNvPr id="483330" name="Rectangle 2"/>
          <p:cNvSpPr>
            <a:spLocks noGrp="1" noRot="1" noChangeAspect="1" noChangeArrowheads="1" noTextEdit="1"/>
          </p:cNvSpPr>
          <p:nvPr>
            <p:ph type="sldImg"/>
          </p:nvPr>
        </p:nvSpPr>
        <p:spPr>
          <a:xfrm>
            <a:off x="304800" y="650875"/>
            <a:ext cx="5791200" cy="3257550"/>
          </a:xfrm>
        </p:spPr>
      </p:sp>
      <p:sp>
        <p:nvSpPr>
          <p:cNvPr id="48333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171E75E-FFBA-48C9-8D70-B50243C7BE81}" type="slidenum">
              <a:rPr lang="en-US" altLang="zh-CN"/>
            </a:fld>
            <a:endParaRPr lang="en-US" altLang="zh-CN"/>
          </a:p>
        </p:txBody>
      </p:sp>
      <p:sp>
        <p:nvSpPr>
          <p:cNvPr id="494594" name="Rectangle 2"/>
          <p:cNvSpPr>
            <a:spLocks noGrp="1" noRot="1" noChangeAspect="1" noChangeArrowheads="1" noTextEdit="1"/>
          </p:cNvSpPr>
          <p:nvPr>
            <p:ph type="sldImg"/>
          </p:nvPr>
        </p:nvSpPr>
        <p:spPr>
          <a:xfrm>
            <a:off x="304800" y="650875"/>
            <a:ext cx="5791200" cy="3257550"/>
          </a:xfrm>
        </p:spPr>
      </p:sp>
      <p:sp>
        <p:nvSpPr>
          <p:cNvPr id="494595"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54EF1B1-D8FF-450C-AC99-33681D1F4E45}" type="slidenum">
              <a:rPr lang="en-US" altLang="zh-CN"/>
            </a:fld>
            <a:endParaRPr lang="en-US" altLang="zh-CN"/>
          </a:p>
        </p:txBody>
      </p:sp>
      <p:sp>
        <p:nvSpPr>
          <p:cNvPr id="550914" name="Rectangle 2"/>
          <p:cNvSpPr>
            <a:spLocks noGrp="1" noRot="1" noChangeAspect="1" noChangeArrowheads="1" noTextEdit="1"/>
          </p:cNvSpPr>
          <p:nvPr>
            <p:ph type="sldImg"/>
          </p:nvPr>
        </p:nvSpPr>
        <p:spPr>
          <a:xfrm>
            <a:off x="304800" y="650875"/>
            <a:ext cx="5791200" cy="3257550"/>
          </a:xfrm>
        </p:spPr>
      </p:sp>
      <p:sp>
        <p:nvSpPr>
          <p:cNvPr id="55091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8FCF0A6-B736-4EBA-9599-63732605CAF1}" type="slidenum">
              <a:rPr lang="en-US" altLang="zh-CN"/>
            </a:fld>
            <a:endParaRPr lang="en-US" altLang="zh-CN"/>
          </a:p>
        </p:txBody>
      </p:sp>
      <p:sp>
        <p:nvSpPr>
          <p:cNvPr id="556034" name="Rectangle 2"/>
          <p:cNvSpPr>
            <a:spLocks noGrp="1" noRot="1" noChangeAspect="1" noChangeArrowheads="1" noTextEdit="1"/>
          </p:cNvSpPr>
          <p:nvPr>
            <p:ph type="sldImg"/>
          </p:nvPr>
        </p:nvSpPr>
        <p:spPr>
          <a:xfrm>
            <a:off x="304800" y="650875"/>
            <a:ext cx="5791200" cy="3257550"/>
          </a:xfrm>
        </p:spPr>
      </p:sp>
      <p:sp>
        <p:nvSpPr>
          <p:cNvPr id="556035"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7"/>
          <p:cNvSpPr>
            <a:spLocks noChangeArrowheads="1"/>
          </p:cNvSpPr>
          <p:nvPr/>
        </p:nvSpPr>
        <p:spPr bwMode="auto">
          <a:xfrm>
            <a:off x="8015818" y="3248026"/>
            <a:ext cx="4176183" cy="360363"/>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微软雅黑 Light" panose="020B0502040204020203" pitchFamily="34" charset="-122"/>
              <a:ea typeface="微软雅黑" panose="020B0503020204020204" pitchFamily="34" charset="-122"/>
            </a:endParaRPr>
          </a:p>
        </p:txBody>
      </p:sp>
      <p:sp>
        <p:nvSpPr>
          <p:cNvPr id="5" name="Rectangle 8"/>
          <p:cNvSpPr>
            <a:spLocks noChangeArrowheads="1"/>
          </p:cNvSpPr>
          <p:nvPr/>
        </p:nvSpPr>
        <p:spPr bwMode="auto">
          <a:xfrm>
            <a:off x="0" y="3248026"/>
            <a:ext cx="4176184" cy="360363"/>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微软雅黑 Light" panose="020B0502040204020203" pitchFamily="34" charset="-122"/>
              <a:ea typeface="微软雅黑" panose="020B0503020204020204" pitchFamily="34" charset="-122"/>
            </a:endParaRPr>
          </a:p>
        </p:txBody>
      </p:sp>
      <p:sp>
        <p:nvSpPr>
          <p:cNvPr id="6" name="Rectangle 9"/>
          <p:cNvSpPr>
            <a:spLocks noChangeArrowheads="1"/>
          </p:cNvSpPr>
          <p:nvPr/>
        </p:nvSpPr>
        <p:spPr bwMode="auto">
          <a:xfrm>
            <a:off x="4176185" y="3248026"/>
            <a:ext cx="3839633" cy="360363"/>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a:latin typeface="微软雅黑" panose="020B0503020204020204" pitchFamily="34" charset="-122"/>
              <a:ea typeface="微软雅黑" panose="020B0503020204020204" pitchFamily="34" charset="-122"/>
            </a:endParaRPr>
          </a:p>
        </p:txBody>
      </p:sp>
      <p:sp>
        <p:nvSpPr>
          <p:cNvPr id="602114" name="Rectangle 2"/>
          <p:cNvSpPr>
            <a:spLocks noGrp="1" noChangeArrowheads="1"/>
          </p:cNvSpPr>
          <p:nvPr>
            <p:ph type="ctrTitle"/>
          </p:nvPr>
        </p:nvSpPr>
        <p:spPr>
          <a:xfrm>
            <a:off x="914400" y="1638301"/>
            <a:ext cx="10363200" cy="1476375"/>
          </a:xfrm>
        </p:spPr>
        <p:txBody>
          <a:bodyPr/>
          <a:lstStyle>
            <a:lvl1pPr algn="ctr">
              <a:defRPr sz="4400"/>
            </a:lvl1pPr>
          </a:lstStyle>
          <a:p>
            <a:pPr lvl="0"/>
            <a:r>
              <a:rPr lang="en-US" altLang="zh-CN" noProof="0" dirty="0"/>
              <a:t>Click to edit Master title style</a:t>
            </a:r>
            <a:endParaRPr lang="en-US" altLang="zh-CN" noProof="0" dirty="0"/>
          </a:p>
        </p:txBody>
      </p:sp>
      <p:sp>
        <p:nvSpPr>
          <p:cNvPr id="602115" name="Rectangle 3"/>
          <p:cNvSpPr>
            <a:spLocks noGrp="1" noChangeArrowheads="1"/>
          </p:cNvSpPr>
          <p:nvPr>
            <p:ph type="subTitle" idx="1"/>
          </p:nvPr>
        </p:nvSpPr>
        <p:spPr>
          <a:xfrm>
            <a:off x="1828800" y="3946525"/>
            <a:ext cx="8534400" cy="1417638"/>
          </a:xfrm>
        </p:spPr>
        <p:txBody>
          <a:bodyPr/>
          <a:lstStyle>
            <a:lvl1pPr marL="0" indent="0" algn="ctr">
              <a:buFont typeface="Wingdings" panose="05000000000000000000" pitchFamily="2" charset="2"/>
              <a:buNone/>
              <a:defRPr>
                <a:latin typeface="微软雅黑" panose="020B0503020204020204" pitchFamily="34" charset="-122"/>
                <a:ea typeface="微软雅黑" panose="020B0503020204020204" pitchFamily="34" charset="-122"/>
              </a:defRPr>
            </a:lvl1pPr>
          </a:lstStyle>
          <a:p>
            <a:pPr lvl="0"/>
            <a:r>
              <a:rPr lang="en-US" altLang="zh-CN" noProof="0" dirty="0"/>
              <a:t>Click to edit Master subtitle style</a:t>
            </a:r>
            <a:endParaRPr lang="en-US" altLang="zh-CN" noProof="0" dirty="0"/>
          </a:p>
        </p:txBody>
      </p:sp>
      <p:sp>
        <p:nvSpPr>
          <p:cNvPr id="7" name="Rectangle 4"/>
          <p:cNvSpPr>
            <a:spLocks noGrp="1" noChangeArrowheads="1"/>
          </p:cNvSpPr>
          <p:nvPr>
            <p:ph type="dt" sz="half" idx="10"/>
          </p:nvPr>
        </p:nvSpPr>
        <p:spPr>
          <a:xfrm>
            <a:off x="609600" y="6245225"/>
            <a:ext cx="2844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fld id="{C558A38C-9563-49DB-962B-8E2D0E47AF89}" type="datetime1">
              <a:rPr lang="zh-CN" altLang="en-US" smtClean="0"/>
            </a:fld>
            <a:endParaRPr lang="en-US" altLang="zh-CN" dirty="0"/>
          </a:p>
        </p:txBody>
      </p:sp>
      <p:sp>
        <p:nvSpPr>
          <p:cNvPr id="8" name="Rectangle 5"/>
          <p:cNvSpPr>
            <a:spLocks noGrp="1" noChangeArrowheads="1"/>
          </p:cNvSpPr>
          <p:nvPr>
            <p:ph type="ftr" sz="quarter" idx="11"/>
          </p:nvPr>
        </p:nvSpPr>
        <p:spPr>
          <a:xfrm>
            <a:off x="4165600" y="6245225"/>
            <a:ext cx="3860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dirty="0"/>
          </a:p>
        </p:txBody>
      </p:sp>
      <p:sp>
        <p:nvSpPr>
          <p:cNvPr id="9" name="Rectangle 6"/>
          <p:cNvSpPr>
            <a:spLocks noGrp="1" noChangeArrowheads="1"/>
          </p:cNvSpPr>
          <p:nvPr>
            <p:ph type="sldNum" sz="quarter" idx="12"/>
          </p:nvPr>
        </p:nvSpPr>
        <p:spPr>
          <a:xfrm>
            <a:off x="8737600" y="6245225"/>
            <a:ext cx="2844800" cy="476250"/>
          </a:xfrm>
        </p:spPr>
        <p:txBody>
          <a:bodyPr/>
          <a:lstStyle>
            <a:lvl1pPr>
              <a:defRPr>
                <a:solidFill>
                  <a:schemeClr val="tx1"/>
                </a:solidFill>
                <a:latin typeface="微软雅黑 Light" panose="020B0502040204020203" pitchFamily="34" charset="-122"/>
                <a:ea typeface="微软雅黑 Light" panose="020B0502040204020203" pitchFamily="34" charset="-122"/>
              </a:defRPr>
            </a:lvl1pPr>
          </a:lstStyle>
          <a:p>
            <a:pPr>
              <a:defRPr/>
            </a:pPr>
            <a:fld id="{5D3F4DF0-0E70-4480-8313-566D8EB0767C}" type="slidenum">
              <a:rPr lang="en-US" altLang="zh-CN" smtClean="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aseline="0">
                <a:latin typeface="微软雅黑" panose="020B0503020204020204" pitchFamily="34" charset="-122"/>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4"/>
          <p:cNvSpPr>
            <a:spLocks noGrp="1" noChangeArrowheads="1"/>
          </p:cNvSpPr>
          <p:nvPr>
            <p:ph type="dt" sz="half" idx="10"/>
          </p:nvPr>
        </p:nvSpPr>
        <p:spPr>
          <a:xfrm>
            <a:off x="154517" y="6453336"/>
            <a:ext cx="2844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2F05A8FC-FE35-4522-A3F1-FDC30BC87663}" type="datetime1">
              <a:rPr lang="zh-CN" altLang="en-US" smtClean="0"/>
            </a:fld>
            <a:endParaRPr lang="en-US" altLang="zh-CN" dirty="0"/>
          </a:p>
        </p:txBody>
      </p:sp>
      <p:sp>
        <p:nvSpPr>
          <p:cNvPr id="5"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dirty="0"/>
          </a:p>
        </p:txBody>
      </p:sp>
      <p:sp>
        <p:nvSpPr>
          <p:cNvPr id="6" name="Rectangle 6"/>
          <p:cNvSpPr>
            <a:spLocks noGrp="1" noChangeArrowheads="1"/>
          </p:cNvSpPr>
          <p:nvPr>
            <p:ph type="sldNum" sz="quarter" idx="12"/>
          </p:nvPr>
        </p:nvSpPr>
        <p:spPr>
          <a:xfrm>
            <a:off x="10848528" y="6453336"/>
            <a:ext cx="1188956" cy="252266"/>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816960B2-2B11-492C-B588-5290E1274F96}" type="slidenum">
              <a:rPr lang="en-US" altLang="zh-CN" smtClean="0"/>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dirty="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内容占位符 2"/>
          <p:cNvSpPr>
            <a:spLocks noGrp="1"/>
          </p:cNvSpPr>
          <p:nvPr>
            <p:ph sz="half" idx="1"/>
          </p:nvPr>
        </p:nvSpPr>
        <p:spPr>
          <a:xfrm>
            <a:off x="334434"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97601"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Rectangle 4"/>
          <p:cNvSpPr>
            <a:spLocks noGrp="1" noChangeArrowheads="1"/>
          </p:cNvSpPr>
          <p:nvPr>
            <p:ph type="dt" sz="half" idx="10"/>
          </p:nvPr>
        </p:nvSpPr>
        <p:spPr>
          <a:xfrm>
            <a:off x="154517" y="6453336"/>
            <a:ext cx="1116947"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74A4702B-75A0-4351-8445-3AAC53651245}" type="datetime1">
              <a:rPr lang="zh-CN" altLang="en-US" smtClean="0"/>
            </a:fld>
            <a:endParaRPr lang="en-US" altLang="zh-CN" dirty="0"/>
          </a:p>
        </p:txBody>
      </p:sp>
      <p:sp>
        <p:nvSpPr>
          <p:cNvPr id="6"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dirty="0"/>
          </a:p>
        </p:txBody>
      </p:sp>
      <p:sp>
        <p:nvSpPr>
          <p:cNvPr id="7" name="Rectangle 6"/>
          <p:cNvSpPr>
            <a:spLocks noGrp="1" noChangeArrowheads="1"/>
          </p:cNvSpPr>
          <p:nvPr>
            <p:ph type="sldNum" sz="quarter" idx="12"/>
          </p:nvPr>
        </p:nvSpPr>
        <p:spPr>
          <a:xfrm>
            <a:off x="10992544" y="6453336"/>
            <a:ext cx="1044940" cy="206375"/>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5ACAED0A-32C0-459D-9CE5-9FDF4154FCB4}" type="slidenum">
              <a:rPr lang="en-US" altLang="zh-CN" smtClean="0"/>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7CCD3FF8-DB94-40AD-8DCD-802D0CF6FBF3}" type="datetime1">
              <a:rPr lang="zh-CN" altLang="en-US" smtClean="0"/>
            </a:fld>
            <a:endParaRPr lang="en-US" altLang="zh-CN" dirty="0"/>
          </a:p>
        </p:txBody>
      </p:sp>
      <p:sp>
        <p:nvSpPr>
          <p:cNvPr id="4"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dirty="0"/>
          </a:p>
        </p:txBody>
      </p:sp>
      <p:sp>
        <p:nvSpPr>
          <p:cNvPr id="5" name="Rectangle 6"/>
          <p:cNvSpPr>
            <a:spLocks noGrp="1" noChangeArrowheads="1"/>
          </p:cNvSpPr>
          <p:nvPr>
            <p:ph type="sldNum" sz="quarter" idx="12"/>
          </p:nvPr>
        </p:nvSpPr>
        <p:spPr>
          <a:xfrm>
            <a:off x="10848528" y="6453336"/>
            <a:ext cx="1188956"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A48A0D3F-54C8-4397-8424-A82B96940146}" type="slidenum">
              <a:rPr lang="en-US" altLang="zh-CN" smtClean="0"/>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C023B7D7-C4B8-414A-AB8D-8E8B0D471E32}" type="datetime1">
              <a:rPr lang="zh-CN" altLang="en-US" smtClean="0"/>
            </a:fld>
            <a:endParaRPr lang="en-US" altLang="zh-CN" dirty="0"/>
          </a:p>
        </p:txBody>
      </p:sp>
      <p:sp>
        <p:nvSpPr>
          <p:cNvPr id="3"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dirty="0"/>
          </a:p>
        </p:txBody>
      </p:sp>
      <p:sp>
        <p:nvSpPr>
          <p:cNvPr id="4" name="Rectangle 6"/>
          <p:cNvSpPr>
            <a:spLocks noGrp="1" noChangeArrowheads="1"/>
          </p:cNvSpPr>
          <p:nvPr>
            <p:ph type="sldNum" sz="quarter" idx="12"/>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4D270BE4-B6C0-4BD9-A22C-75B345F819BC}" type="slidenum">
              <a:rPr lang="en-US" altLang="zh-CN" smtClean="0"/>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31800" y="71438"/>
            <a:ext cx="11328400" cy="7651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表格占位符 2"/>
          <p:cNvSpPr>
            <a:spLocks noGrp="1"/>
          </p:cNvSpPr>
          <p:nvPr>
            <p:ph type="tbl" idx="1"/>
          </p:nvPr>
        </p:nvSpPr>
        <p:spPr>
          <a:xfrm>
            <a:off x="334434" y="1052514"/>
            <a:ext cx="11523133" cy="5437187"/>
          </a:xfrm>
        </p:spPr>
        <p:txBody>
          <a:bodyPr>
            <a:normAutofit/>
          </a:bodyPr>
          <a:lstStyle>
            <a:lvl1pPr>
              <a:defRPr baseline="0">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lvl="0"/>
            <a:endParaRPr lang="zh-CN" altLang="en-US" noProof="0" dirty="0"/>
          </a:p>
        </p:txBody>
      </p:sp>
      <p:sp>
        <p:nvSpPr>
          <p:cNvPr id="4" name="Rectangle 4"/>
          <p:cNvSpPr>
            <a:spLocks noGrp="1" noChangeArrowheads="1"/>
          </p:cNvSpPr>
          <p:nvPr>
            <p:ph type="dt" sz="half" idx="10"/>
          </p:nvPr>
        </p:nvSpPr>
        <p:spPr/>
        <p:txBody>
          <a:bodyPr/>
          <a:lstStyle>
            <a:lvl1pPr>
              <a:defRPr>
                <a:latin typeface="微软雅黑 Light" panose="020B0502040204020203" pitchFamily="34" charset="-122"/>
                <a:cs typeface="Times New Roman" panose="02020603050405020304" pitchFamily="18" charset="0"/>
              </a:defRPr>
            </a:lvl1pPr>
          </a:lstStyle>
          <a:p>
            <a:pPr>
              <a:defRPr/>
            </a:pPr>
            <a:fld id="{BA58DBD2-DAF7-4686-908D-FBE4A4C7898C}" type="datetime1">
              <a:rPr lang="zh-CN" altLang="en-US" smtClean="0"/>
            </a:fld>
            <a:endParaRPr lang="en-US" altLang="zh-CN" dirty="0"/>
          </a:p>
        </p:txBody>
      </p:sp>
      <p:sp>
        <p:nvSpPr>
          <p:cNvPr id="5" name="Rectangle 5"/>
          <p:cNvSpPr>
            <a:spLocks noGrp="1" noChangeArrowheads="1"/>
          </p:cNvSpPr>
          <p:nvPr>
            <p:ph type="ftr" sz="quarter" idx="11"/>
          </p:nvPr>
        </p:nvSpPr>
        <p:spPr/>
        <p:txBody>
          <a:bodyPr/>
          <a:lstStyle>
            <a:lvl1pPr>
              <a:defRPr>
                <a:latin typeface="微软雅黑 Light" panose="020B0502040204020203" pitchFamily="34" charset="-122"/>
                <a:cs typeface="Times New Roman" panose="02020603050405020304" pitchFamily="18" charset="0"/>
              </a:defRPr>
            </a:lvl1pPr>
          </a:lstStyle>
          <a:p>
            <a:pPr>
              <a:defRPr/>
            </a:pPr>
            <a:endParaRPr lang="en-US" altLang="zh-CN" dirty="0"/>
          </a:p>
        </p:txBody>
      </p:sp>
      <p:sp>
        <p:nvSpPr>
          <p:cNvPr id="6" name="Rectangle 6"/>
          <p:cNvSpPr>
            <a:spLocks noGrp="1" noChangeArrowheads="1"/>
          </p:cNvSpPr>
          <p:nvPr>
            <p:ph type="sldNum" sz="quarter" idx="12"/>
          </p:nvPr>
        </p:nvSpPr>
        <p:spPr/>
        <p:txBody>
          <a:bodyPr/>
          <a:lstStyle>
            <a:lvl1pPr>
              <a:defRPr>
                <a:latin typeface="微软雅黑 Light" panose="020B0502040204020203" pitchFamily="34" charset="-122"/>
                <a:cs typeface="Times New Roman" panose="02020603050405020304" pitchFamily="18" charset="0"/>
              </a:defRPr>
            </a:lvl1pPr>
          </a:lstStyle>
          <a:p>
            <a:pPr>
              <a:defRPr/>
            </a:pPr>
            <a:fld id="{6E6425F8-8564-4543-A15C-E4EDED80C1B6}" type="slidenum">
              <a:rPr lang="en-US" altLang="zh-CN" smtClean="0"/>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31800" y="71438"/>
            <a:ext cx="11328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endParaRPr lang="en-US" altLang="zh-CN" dirty="0"/>
          </a:p>
        </p:txBody>
      </p:sp>
      <p:sp>
        <p:nvSpPr>
          <p:cNvPr id="1027" name="Rectangle 3"/>
          <p:cNvSpPr>
            <a:spLocks noGrp="1" noChangeArrowheads="1"/>
          </p:cNvSpPr>
          <p:nvPr>
            <p:ph type="body" idx="1"/>
          </p:nvPr>
        </p:nvSpPr>
        <p:spPr bwMode="auto">
          <a:xfrm>
            <a:off x="334434" y="1052514"/>
            <a:ext cx="11523133" cy="543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p:txBody>
      </p:sp>
      <p:sp>
        <p:nvSpPr>
          <p:cNvPr id="601092" name="Rectangle 4"/>
          <p:cNvSpPr>
            <a:spLocks noGrp="1" noChangeArrowheads="1"/>
          </p:cNvSpPr>
          <p:nvPr>
            <p:ph type="dt" sz="half" idx="2"/>
          </p:nvPr>
        </p:nvSpPr>
        <p:spPr bwMode="auto">
          <a:xfrm>
            <a:off x="154517"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2D1F4785-08EB-4209-AF19-1B7710BBBAF1}" type="datetime1">
              <a:rPr lang="zh-CN" altLang="en-US" smtClean="0"/>
            </a:fld>
            <a:endParaRPr lang="en-US" altLang="zh-CN" dirty="0"/>
          </a:p>
        </p:txBody>
      </p:sp>
      <p:sp>
        <p:nvSpPr>
          <p:cNvPr id="601093" name="Rectangle 5"/>
          <p:cNvSpPr>
            <a:spLocks noGrp="1" noChangeArrowheads="1"/>
          </p:cNvSpPr>
          <p:nvPr>
            <p:ph type="ftr" sz="quarter" idx="3"/>
          </p:nvPr>
        </p:nvSpPr>
        <p:spPr bwMode="auto">
          <a:xfrm>
            <a:off x="4165600" y="6453336"/>
            <a:ext cx="3860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endParaRPr lang="en-US" altLang="zh-CN" dirty="0"/>
          </a:p>
        </p:txBody>
      </p:sp>
      <p:sp>
        <p:nvSpPr>
          <p:cNvPr id="601094" name="Rectangle 6"/>
          <p:cNvSpPr>
            <a:spLocks noGrp="1" noChangeArrowheads="1"/>
          </p:cNvSpPr>
          <p:nvPr>
            <p:ph type="sldNum" sz="quarter" idx="4"/>
          </p:nvPr>
        </p:nvSpPr>
        <p:spPr bwMode="auto">
          <a:xfrm>
            <a:off x="9192684"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aseline="0">
                <a:solidFill>
                  <a:schemeClr val="accent1">
                    <a:lumMod val="25000"/>
                  </a:schemeClr>
                </a:solidFill>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E3FAE0D9-500F-4F53-BD2E-C1D74A0BC936}" type="slidenum">
              <a:rPr lang="en-US" altLang="zh-CN" smtClean="0"/>
            </a:fld>
            <a:endParaRPr lang="en-US" altLang="zh-CN" dirty="0"/>
          </a:p>
        </p:txBody>
      </p:sp>
      <p:sp>
        <p:nvSpPr>
          <p:cNvPr id="1031" name="Rectangle 7"/>
          <p:cNvSpPr>
            <a:spLocks noChangeArrowheads="1"/>
          </p:cNvSpPr>
          <p:nvPr/>
        </p:nvSpPr>
        <p:spPr bwMode="auto">
          <a:xfrm>
            <a:off x="2554818" y="863600"/>
            <a:ext cx="9637183" cy="71438"/>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2" name="Rectangle 8"/>
          <p:cNvSpPr>
            <a:spLocks noChangeArrowheads="1"/>
          </p:cNvSpPr>
          <p:nvPr/>
        </p:nvSpPr>
        <p:spPr bwMode="auto">
          <a:xfrm>
            <a:off x="0" y="863600"/>
            <a:ext cx="1295400" cy="71438"/>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3" name="Rectangle 9"/>
          <p:cNvSpPr>
            <a:spLocks noChangeArrowheads="1"/>
          </p:cNvSpPr>
          <p:nvPr/>
        </p:nvSpPr>
        <p:spPr bwMode="auto">
          <a:xfrm>
            <a:off x="1295400" y="863600"/>
            <a:ext cx="1295400" cy="71438"/>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0" fontAlgn="base" hangingPunct="0">
        <a:spcBef>
          <a:spcPct val="0"/>
        </a:spcBef>
        <a:spcAft>
          <a:spcPct val="0"/>
        </a:spcAft>
        <a:defRPr lang="en-US" altLang="zh-CN" sz="3200" baseline="0" dirty="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marL="742950" indent="-285750" algn="l" rtl="0" eaLnBrk="0" fontAlgn="base" hangingPunct="0">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2pPr>
      <a:lvl3pPr marL="1143000" indent="-228600" algn="l" rtl="0" eaLnBrk="0" fontAlgn="base" hangingPunct="0">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3pPr>
      <a:lvl4pPr marL="1600200" indent="-228600" algn="l" rtl="0" eaLnBrk="0" fontAlgn="base" hangingPunct="0">
        <a:spcBef>
          <a:spcPct val="20000"/>
        </a:spcBef>
        <a:spcAft>
          <a:spcPct val="0"/>
        </a:spcAft>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gn="l" rtl="0" eaLnBrk="0" fontAlgn="base" hangingPunct="0">
        <a:spcBef>
          <a:spcPct val="20000"/>
        </a:spcBef>
        <a:spcAft>
          <a:spcPct val="0"/>
        </a:spcAft>
        <a:buSzPct val="8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11.svg"/><Relationship Id="rId1"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12.emf"/></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12.emf"/></Relationships>
</file>

<file path=ppt/slides/_rels/slide6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5400" dirty="0">
                <a:latin typeface="+mn-ea"/>
                <a:ea typeface="+mn-ea"/>
              </a:rPr>
              <a:t>计算机网络</a:t>
            </a:r>
            <a:endParaRPr lang="zh-CN" altLang="en-US" sz="5400" dirty="0">
              <a:latin typeface="+mn-ea"/>
              <a:ea typeface="+mn-ea"/>
            </a:endParaRPr>
          </a:p>
        </p:txBody>
      </p:sp>
      <p:sp>
        <p:nvSpPr>
          <p:cNvPr id="3" name="副标题 2"/>
          <p:cNvSpPr>
            <a:spLocks noGrp="1"/>
          </p:cNvSpPr>
          <p:nvPr>
            <p:ph type="subTitle" idx="1"/>
          </p:nvPr>
        </p:nvSpPr>
        <p:spPr/>
        <p:txBody>
          <a:bodyPr/>
          <a:lstStyle/>
          <a:p>
            <a:r>
              <a:rPr lang="zh-CN" altLang="en-US" dirty="0">
                <a:latin typeface="+mn-ea"/>
                <a:ea typeface="+mn-ea"/>
                <a:cs typeface="华文琥珀" panose="02010800040101010101" charset="-122"/>
              </a:rPr>
              <a:t>胡亮</a:t>
            </a:r>
            <a:r>
              <a:rPr lang="en-US" altLang="zh-CN" dirty="0">
                <a:latin typeface="+mn-ea"/>
                <a:ea typeface="+mn-ea"/>
                <a:cs typeface="华文琥珀" panose="02010800040101010101" charset="-122"/>
              </a:rPr>
              <a:t> </a:t>
            </a:r>
            <a:r>
              <a:rPr lang="zh-CN" altLang="en-US" dirty="0">
                <a:latin typeface="+mn-ea"/>
                <a:ea typeface="+mn-ea"/>
                <a:cs typeface="华文琥珀" panose="02010800040101010101" charset="-122"/>
              </a:rPr>
              <a:t>等编著</a:t>
            </a:r>
            <a:endParaRPr lang="zh-CN" altLang="en-US" dirty="0">
              <a:latin typeface="+mn-ea"/>
              <a:ea typeface="+mn-ea"/>
              <a:cs typeface="华文琥珀" panose="020108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lgn="ctr"/>
            <a:r>
              <a:rPr lang="zh-CN" altLang="en-US" dirty="0"/>
              <a:t>第</a:t>
            </a:r>
            <a:r>
              <a:rPr lang="en-US" altLang="zh-CN" dirty="0"/>
              <a:t>2</a:t>
            </a:r>
            <a:r>
              <a:rPr lang="zh-CN" altLang="en-US" dirty="0"/>
              <a:t>章 数据通信基础</a:t>
            </a:r>
            <a:endParaRPr lang="zh-CN" altLang="en-US" dirty="0"/>
          </a:p>
        </p:txBody>
      </p:sp>
      <p:sp>
        <p:nvSpPr>
          <p:cNvPr id="384003" name="Rectangle 3"/>
          <p:cNvSpPr>
            <a:spLocks noGrp="1" noChangeArrowheads="1"/>
          </p:cNvSpPr>
          <p:nvPr>
            <p:ph idx="1"/>
          </p:nvPr>
        </p:nvSpPr>
        <p:spPr/>
        <p:txBody>
          <a:bodyPr/>
          <a:lstStyle/>
          <a:p>
            <a:pPr>
              <a:buFont typeface="Wingdings" panose="05000000000000000000" pitchFamily="2" charset="2"/>
              <a:buNone/>
            </a:pPr>
            <a:r>
              <a:rPr lang="en-US" altLang="zh-CN" dirty="0"/>
              <a:t>2.1  </a:t>
            </a:r>
            <a:r>
              <a:rPr lang="zh-CN" altLang="en-US" dirty="0"/>
              <a:t>数据通信系统</a:t>
            </a:r>
            <a:endParaRPr lang="zh-CN" altLang="en-US" dirty="0"/>
          </a:p>
          <a:p>
            <a:pPr>
              <a:buFont typeface="Wingdings" panose="05000000000000000000" pitchFamily="2" charset="2"/>
              <a:buNone/>
            </a:pPr>
            <a:r>
              <a:rPr lang="en-US" altLang="zh-CN" dirty="0"/>
              <a:t>2.2 </a:t>
            </a:r>
            <a:r>
              <a:rPr lang="zh-CN" altLang="en-US" dirty="0"/>
              <a:t>信号和数据编码</a:t>
            </a:r>
            <a:endParaRPr lang="zh-CN" altLang="en-US" dirty="0"/>
          </a:p>
          <a:p>
            <a:pPr>
              <a:buFont typeface="Wingdings" panose="05000000000000000000" pitchFamily="2" charset="2"/>
              <a:buNone/>
            </a:pPr>
            <a:r>
              <a:rPr lang="en-US" altLang="zh-CN" dirty="0"/>
              <a:t>2.3 </a:t>
            </a:r>
            <a:r>
              <a:rPr lang="zh-CN" altLang="en-US" dirty="0"/>
              <a:t>多路复用技术</a:t>
            </a:r>
            <a:endParaRPr lang="zh-CN" altLang="en-US" dirty="0"/>
          </a:p>
          <a:p>
            <a:pPr>
              <a:buFont typeface="Wingdings" panose="05000000000000000000" pitchFamily="2" charset="2"/>
              <a:buNone/>
            </a:pPr>
            <a:r>
              <a:rPr lang="en-US" altLang="zh-CN" dirty="0"/>
              <a:t>2.4 </a:t>
            </a:r>
            <a:r>
              <a:rPr lang="zh-CN" altLang="en-US" dirty="0"/>
              <a:t>数据交换技术</a:t>
            </a:r>
            <a:endParaRPr lang="zh-CN" altLang="en-US" dirty="0"/>
          </a:p>
          <a:p>
            <a:pPr>
              <a:buFont typeface="Wingdings" panose="05000000000000000000" pitchFamily="2" charset="2"/>
              <a:buNone/>
            </a:pPr>
            <a:r>
              <a:rPr lang="en-US" altLang="zh-CN" dirty="0"/>
              <a:t>2.5 </a:t>
            </a:r>
            <a:r>
              <a:rPr lang="zh-CN" altLang="en-US" dirty="0"/>
              <a:t>错误检测和控制</a:t>
            </a:r>
            <a:endParaRPr lang="en-US" altLang="zh-CN" dirty="0"/>
          </a:p>
          <a:p>
            <a:pPr>
              <a:buFont typeface="Wingdings" panose="05000000000000000000" pitchFamily="2" charset="2"/>
              <a:buNone/>
            </a:pPr>
            <a:r>
              <a:rPr lang="en-US" altLang="zh-CN" dirty="0"/>
              <a:t>2.6 </a:t>
            </a:r>
            <a:r>
              <a:rPr lang="zh-CN" altLang="en-US" dirty="0"/>
              <a:t>本章小结</a:t>
            </a:r>
            <a:endParaRPr lang="zh-CN" altLang="en-US" dirty="0"/>
          </a:p>
        </p:txBody>
      </p:sp>
      <p:sp>
        <p:nvSpPr>
          <p:cNvPr id="6" name="灯片编号占位符 5"/>
          <p:cNvSpPr>
            <a:spLocks noGrp="1"/>
          </p:cNvSpPr>
          <p:nvPr>
            <p:ph type="sldNum" sz="quarter" idx="12"/>
          </p:nvPr>
        </p:nvSpPr>
        <p:spPr/>
        <p:txBody>
          <a:bodyPr/>
          <a:lstStyle/>
          <a:p>
            <a:fld id="{8B252C7E-DFC4-4D6B-821B-832540628CFA}" type="slidenum">
              <a:rPr lang="en-US" altLang="zh-CN"/>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r>
              <a:rPr lang="en-US" altLang="zh-CN" dirty="0"/>
              <a:t>2.1 </a:t>
            </a:r>
            <a:r>
              <a:rPr lang="zh-CN" altLang="en-US" dirty="0"/>
              <a:t>数据通信系统</a:t>
            </a:r>
            <a:endParaRPr lang="zh-CN" altLang="en-US" dirty="0"/>
          </a:p>
        </p:txBody>
      </p:sp>
      <p:sp>
        <p:nvSpPr>
          <p:cNvPr id="385027" name="Rectangle 3"/>
          <p:cNvSpPr>
            <a:spLocks noGrp="1" noChangeArrowheads="1"/>
          </p:cNvSpPr>
          <p:nvPr>
            <p:ph idx="1"/>
          </p:nvPr>
        </p:nvSpPr>
        <p:spPr>
          <a:xfrm>
            <a:off x="334434" y="1052515"/>
            <a:ext cx="11523133" cy="974726"/>
          </a:xfrm>
        </p:spPr>
        <p:txBody>
          <a:bodyPr/>
          <a:lstStyle/>
          <a:p>
            <a:r>
              <a:rPr lang="zh-CN" altLang="en-US" dirty="0"/>
              <a:t>计算机网络技术是计算机技术和数据通信技术相结合的产物</a:t>
            </a:r>
            <a:endParaRPr lang="zh-CN" altLang="en-US" dirty="0"/>
          </a:p>
        </p:txBody>
      </p:sp>
      <p:sp>
        <p:nvSpPr>
          <p:cNvPr id="14" name="灯片编号占位符 5"/>
          <p:cNvSpPr>
            <a:spLocks noGrp="1"/>
          </p:cNvSpPr>
          <p:nvPr>
            <p:ph type="sldNum" sz="quarter" idx="12"/>
          </p:nvPr>
        </p:nvSpPr>
        <p:spPr/>
        <p:txBody>
          <a:bodyPr/>
          <a:lstStyle/>
          <a:p>
            <a:fld id="{FC0D8B17-BCCD-4E9B-8828-7E788278DE86}" type="slidenum">
              <a:rPr lang="en-US" altLang="zh-CN"/>
            </a:fld>
            <a:endParaRPr lang="en-US" altLang="zh-CN" dirty="0"/>
          </a:p>
        </p:txBody>
      </p:sp>
      <p:sp>
        <p:nvSpPr>
          <p:cNvPr id="385031" name="Oval 7"/>
          <p:cNvSpPr>
            <a:spLocks noChangeAspect="1" noChangeArrowheads="1"/>
          </p:cNvSpPr>
          <p:nvPr/>
        </p:nvSpPr>
        <p:spPr bwMode="auto">
          <a:xfrm>
            <a:off x="3606463" y="2027241"/>
            <a:ext cx="2789238" cy="2789237"/>
          </a:xfrm>
          <a:prstGeom prst="ellipse">
            <a:avLst/>
          </a:prstGeom>
          <a:solidFill>
            <a:srgbClr val="008080">
              <a:alpha val="50000"/>
            </a:srgb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4000" dirty="0">
              <a:latin typeface="微软雅黑 Light" panose="020B0502040204020203" pitchFamily="34" charset="-122"/>
              <a:ea typeface="微软雅黑 Light" panose="020B0502040204020203" pitchFamily="34" charset="-122"/>
            </a:endParaRPr>
          </a:p>
        </p:txBody>
      </p:sp>
      <p:sp>
        <p:nvSpPr>
          <p:cNvPr id="385032" name="Oval 8"/>
          <p:cNvSpPr>
            <a:spLocks noChangeAspect="1" noChangeArrowheads="1"/>
          </p:cNvSpPr>
          <p:nvPr/>
        </p:nvSpPr>
        <p:spPr bwMode="auto">
          <a:xfrm>
            <a:off x="5528132" y="2027242"/>
            <a:ext cx="2789238" cy="2789237"/>
          </a:xfrm>
          <a:prstGeom prst="ellipse">
            <a:avLst/>
          </a:prstGeom>
          <a:solidFill>
            <a:schemeClr val="folHlink">
              <a:alpha val="50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4000" dirty="0">
              <a:latin typeface="微软雅黑 Light" panose="020B0502040204020203" pitchFamily="34" charset="-122"/>
              <a:ea typeface="微软雅黑 Light" panose="020B0502040204020203" pitchFamily="34" charset="-122"/>
            </a:endParaRPr>
          </a:p>
        </p:txBody>
      </p:sp>
      <p:sp>
        <p:nvSpPr>
          <p:cNvPr id="385033" name="Oval 9"/>
          <p:cNvSpPr>
            <a:spLocks noChangeAspect="1" noChangeArrowheads="1"/>
          </p:cNvSpPr>
          <p:nvPr/>
        </p:nvSpPr>
        <p:spPr bwMode="auto">
          <a:xfrm>
            <a:off x="4601032" y="3157544"/>
            <a:ext cx="2789238" cy="2789237"/>
          </a:xfrm>
          <a:prstGeom prst="ellipse">
            <a:avLst/>
          </a:prstGeom>
          <a:solidFill>
            <a:schemeClr val="accent2">
              <a:alpha val="50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4000" dirty="0">
              <a:latin typeface="微软雅黑 Light" panose="020B0502040204020203" pitchFamily="34" charset="-122"/>
              <a:ea typeface="微软雅黑 Light" panose="020B0502040204020203" pitchFamily="34" charset="-122"/>
            </a:endParaRPr>
          </a:p>
        </p:txBody>
      </p:sp>
      <p:sp>
        <p:nvSpPr>
          <p:cNvPr id="385034" name="Text Box 10"/>
          <p:cNvSpPr txBox="1">
            <a:spLocks noChangeArrowheads="1"/>
          </p:cNvSpPr>
          <p:nvPr/>
        </p:nvSpPr>
        <p:spPr bwMode="auto">
          <a:xfrm>
            <a:off x="5657751" y="489585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800">
                <a:ea typeface="微软雅黑 Light" panose="020B0502040204020203" pitchFamily="34" charset="-122"/>
              </a:defRPr>
            </a:lvl1pPr>
          </a:lstStyle>
          <a:p>
            <a:r>
              <a:rPr lang="zh-CN" altLang="en-US" dirty="0">
                <a:latin typeface="微软雅黑 Light" panose="020B0502040204020203" pitchFamily="34" charset="-122"/>
              </a:rPr>
              <a:t>数学</a:t>
            </a:r>
            <a:endParaRPr lang="zh-CN" altLang="en-US" dirty="0">
              <a:latin typeface="微软雅黑 Light" panose="020B0502040204020203" pitchFamily="34" charset="-122"/>
            </a:endParaRPr>
          </a:p>
        </p:txBody>
      </p:sp>
      <p:sp>
        <p:nvSpPr>
          <p:cNvPr id="385035" name="Text Box 11"/>
          <p:cNvSpPr txBox="1">
            <a:spLocks noChangeArrowheads="1"/>
          </p:cNvSpPr>
          <p:nvPr/>
        </p:nvSpPr>
        <p:spPr bwMode="auto">
          <a:xfrm>
            <a:off x="3970090" y="2777993"/>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800">
                <a:ea typeface="微软雅黑 Light" panose="020B0502040204020203" pitchFamily="34" charset="-122"/>
              </a:defRPr>
            </a:lvl1pPr>
          </a:lstStyle>
          <a:p>
            <a:r>
              <a:rPr lang="zh-CN" altLang="en-US" dirty="0">
                <a:latin typeface="微软雅黑 Light" panose="020B0502040204020203" pitchFamily="34" charset="-122"/>
              </a:rPr>
              <a:t>物理学</a:t>
            </a:r>
            <a:endParaRPr lang="zh-CN" altLang="en-US" dirty="0">
              <a:latin typeface="微软雅黑 Light" panose="020B0502040204020203" pitchFamily="34" charset="-122"/>
            </a:endParaRPr>
          </a:p>
        </p:txBody>
      </p:sp>
      <p:sp>
        <p:nvSpPr>
          <p:cNvPr id="385036" name="Text Box 12"/>
          <p:cNvSpPr txBox="1">
            <a:spLocks noChangeArrowheads="1"/>
          </p:cNvSpPr>
          <p:nvPr/>
        </p:nvSpPr>
        <p:spPr bwMode="auto">
          <a:xfrm>
            <a:off x="6512322" y="2816558"/>
            <a:ext cx="1620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dirty="0">
                <a:latin typeface="微软雅黑 Light" panose="020B0502040204020203" pitchFamily="34" charset="-122"/>
                <a:ea typeface="微软雅黑 Light" panose="020B0502040204020203" pitchFamily="34" charset="-122"/>
              </a:rPr>
              <a:t>电气工程</a:t>
            </a:r>
            <a:endParaRPr lang="zh-CN" altLang="en-US" sz="2800" dirty="0">
              <a:latin typeface="微软雅黑 Light" panose="020B0502040204020203" pitchFamily="34" charset="-122"/>
              <a:ea typeface="微软雅黑 Light" panose="020B0502040204020203" pitchFamily="34" charset="-122"/>
            </a:endParaRPr>
          </a:p>
        </p:txBody>
      </p:sp>
      <p:sp>
        <p:nvSpPr>
          <p:cNvPr id="385037" name="Line 13"/>
          <p:cNvSpPr>
            <a:spLocks noChangeShapeType="1"/>
          </p:cNvSpPr>
          <p:nvPr/>
        </p:nvSpPr>
        <p:spPr bwMode="auto">
          <a:xfrm flipH="1" flipV="1">
            <a:off x="6040937" y="3867405"/>
            <a:ext cx="2691287" cy="1290059"/>
          </a:xfrm>
          <a:prstGeom prst="line">
            <a:avLst/>
          </a:prstGeom>
          <a:noFill/>
          <a:ln w="38100">
            <a:solidFill>
              <a:schemeClr val="accent1">
                <a:lumMod val="90000"/>
              </a:schemeClr>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ndParaRPr>
          </a:p>
        </p:txBody>
      </p:sp>
      <p:sp>
        <p:nvSpPr>
          <p:cNvPr id="385038" name="Text Box 14"/>
          <p:cNvSpPr txBox="1">
            <a:spLocks noChangeArrowheads="1"/>
          </p:cNvSpPr>
          <p:nvPr/>
        </p:nvSpPr>
        <p:spPr bwMode="auto">
          <a:xfrm>
            <a:off x="8250341" y="5118201"/>
            <a:ext cx="1620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dirty="0">
                <a:latin typeface="微软雅黑 Light" panose="020B0502040204020203" pitchFamily="34" charset="-122"/>
                <a:ea typeface="微软雅黑 Light" panose="020B0502040204020203" pitchFamily="34" charset="-122"/>
              </a:rPr>
              <a:t>数据通信</a:t>
            </a:r>
            <a:endParaRPr lang="zh-CN" altLang="en-US" sz="28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r>
              <a:rPr lang="zh-CN" altLang="en-US" dirty="0"/>
              <a:t>通信系统的传输方式</a:t>
            </a:r>
            <a:endParaRPr lang="zh-CN" altLang="en-US" dirty="0"/>
          </a:p>
        </p:txBody>
      </p:sp>
      <p:sp>
        <p:nvSpPr>
          <p:cNvPr id="533507" name="Rectangle 3"/>
          <p:cNvSpPr>
            <a:spLocks noGrp="1" noChangeArrowheads="1"/>
          </p:cNvSpPr>
          <p:nvPr>
            <p:ph idx="1"/>
          </p:nvPr>
        </p:nvSpPr>
        <p:spPr/>
        <p:txBody>
          <a:bodyPr/>
          <a:lstStyle/>
          <a:p>
            <a:r>
              <a:rPr lang="zh-CN" altLang="en-US" dirty="0"/>
              <a:t>模拟传输：</a:t>
            </a:r>
            <a:endParaRPr lang="zh-CN" altLang="en-US" dirty="0"/>
          </a:p>
          <a:p>
            <a:pPr lvl="1"/>
            <a:r>
              <a:rPr lang="zh-CN" altLang="en-US" dirty="0"/>
              <a:t>模拟数据传输不关注信号的内容，只关心尽量减少信号的衰减和噪声</a:t>
            </a:r>
            <a:endParaRPr lang="zh-CN" altLang="en-US" dirty="0"/>
          </a:p>
          <a:p>
            <a:pPr lvl="1"/>
            <a:r>
              <a:rPr lang="zh-CN" altLang="en-US" dirty="0"/>
              <a:t>长距离传输时采用信号放大器，同时放大了信号中的噪声</a:t>
            </a:r>
            <a:endParaRPr lang="zh-CN" altLang="en-US" dirty="0"/>
          </a:p>
          <a:p>
            <a:r>
              <a:rPr lang="zh-CN" altLang="en-US" dirty="0"/>
              <a:t>数字传输：</a:t>
            </a:r>
            <a:endParaRPr lang="zh-CN" altLang="en-US" dirty="0"/>
          </a:p>
          <a:p>
            <a:pPr lvl="1"/>
            <a:r>
              <a:rPr lang="zh-CN" altLang="en-US" dirty="0"/>
              <a:t>数字数据传输关注信号的内容</a:t>
            </a:r>
            <a:endParaRPr lang="en-US" altLang="zh-CN" dirty="0"/>
          </a:p>
          <a:p>
            <a:pPr lvl="1"/>
            <a:r>
              <a:rPr lang="zh-CN" altLang="en-US" dirty="0"/>
              <a:t>可以传输数字信号和模拟信号</a:t>
            </a:r>
            <a:endParaRPr lang="zh-CN" altLang="en-US" dirty="0"/>
          </a:p>
          <a:p>
            <a:pPr lvl="1"/>
            <a:r>
              <a:rPr lang="zh-CN" altLang="en-US" dirty="0"/>
              <a:t>长距离传输时采用转发器，可以消除噪声的累积</a:t>
            </a:r>
            <a:endParaRPr lang="zh-CN" altLang="en-US" dirty="0"/>
          </a:p>
        </p:txBody>
      </p:sp>
      <p:sp>
        <p:nvSpPr>
          <p:cNvPr id="6" name="灯片编号占位符 5"/>
          <p:cNvSpPr>
            <a:spLocks noGrp="1"/>
          </p:cNvSpPr>
          <p:nvPr>
            <p:ph type="sldNum" sz="quarter" idx="12"/>
          </p:nvPr>
        </p:nvSpPr>
        <p:spPr/>
        <p:txBody>
          <a:bodyPr/>
          <a:lstStyle/>
          <a:p>
            <a:fld id="{A4EE5F8A-34D9-4C3F-A21D-ABF1EDFF57E2}" type="slidenum">
              <a:rPr lang="en-US" altLang="zh-CN"/>
            </a:fld>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zh-CN" altLang="en-US" dirty="0"/>
              <a:t>数据通信系统的组成</a:t>
            </a:r>
            <a:endParaRPr lang="zh-CN" altLang="en-US" dirty="0"/>
          </a:p>
        </p:txBody>
      </p:sp>
      <p:sp>
        <p:nvSpPr>
          <p:cNvPr id="19" name="灯片编号占位符 5"/>
          <p:cNvSpPr>
            <a:spLocks noGrp="1"/>
          </p:cNvSpPr>
          <p:nvPr>
            <p:ph type="sldNum" sz="quarter" idx="12"/>
          </p:nvPr>
        </p:nvSpPr>
        <p:spPr/>
        <p:txBody>
          <a:bodyPr/>
          <a:lstStyle/>
          <a:p>
            <a:fld id="{B4B5BEC2-06F4-453B-8A11-CD5AB6F5A317}" type="slidenum">
              <a:rPr lang="en-US" altLang="zh-CN"/>
            </a:fld>
            <a:endParaRPr lang="en-US" altLang="zh-CN" dirty="0"/>
          </a:p>
        </p:txBody>
      </p:sp>
      <p:sp>
        <p:nvSpPr>
          <p:cNvPr id="386052" name="Rectangle 4"/>
          <p:cNvSpPr>
            <a:spLocks noChangeArrowheads="1"/>
          </p:cNvSpPr>
          <p:nvPr/>
        </p:nvSpPr>
        <p:spPr bwMode="auto">
          <a:xfrm>
            <a:off x="1885155" y="4365629"/>
            <a:ext cx="1223962" cy="1008063"/>
          </a:xfrm>
          <a:prstGeom prst="rect">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chemeClr val="bg1"/>
                </a:solidFill>
                <a:latin typeface="微软雅黑 Light" panose="020B0502040204020203" pitchFamily="34" charset="-122"/>
                <a:ea typeface="微软雅黑 Light" panose="020B0502040204020203" pitchFamily="34" charset="-122"/>
              </a:rPr>
              <a:t>信源</a:t>
            </a:r>
            <a:endParaRPr lang="zh-CN" altLang="en-US" sz="2000" dirty="0">
              <a:solidFill>
                <a:schemeClr val="bg1"/>
              </a:solidFill>
              <a:latin typeface="微软雅黑 Light" panose="020B0502040204020203" pitchFamily="34" charset="-122"/>
              <a:ea typeface="微软雅黑 Light" panose="020B0502040204020203" pitchFamily="34" charset="-122"/>
            </a:endParaRPr>
          </a:p>
        </p:txBody>
      </p:sp>
      <p:sp>
        <p:nvSpPr>
          <p:cNvPr id="386053" name="Rectangle 5"/>
          <p:cNvSpPr>
            <a:spLocks noChangeArrowheads="1"/>
          </p:cNvSpPr>
          <p:nvPr/>
        </p:nvSpPr>
        <p:spPr bwMode="auto">
          <a:xfrm>
            <a:off x="3685380" y="4365629"/>
            <a:ext cx="1223962" cy="1008063"/>
          </a:xfrm>
          <a:prstGeom prst="rect">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chemeClr val="bg1"/>
                </a:solidFill>
                <a:latin typeface="微软雅黑 Light" panose="020B0502040204020203" pitchFamily="34" charset="-122"/>
                <a:ea typeface="微软雅黑 Light" panose="020B0502040204020203" pitchFamily="34" charset="-122"/>
              </a:rPr>
              <a:t>发送</a:t>
            </a:r>
            <a:endParaRPr lang="zh-CN" altLang="en-US" sz="2000" dirty="0">
              <a:solidFill>
                <a:schemeClr val="bg1"/>
              </a:solidFill>
              <a:latin typeface="微软雅黑 Light" panose="020B0502040204020203" pitchFamily="34" charset="-122"/>
              <a:ea typeface="微软雅黑 Light" panose="020B0502040204020203" pitchFamily="34" charset="-122"/>
            </a:endParaRPr>
          </a:p>
          <a:p>
            <a:pPr algn="ctr"/>
            <a:r>
              <a:rPr lang="zh-CN" altLang="en-US" sz="2000" dirty="0">
                <a:solidFill>
                  <a:schemeClr val="bg1"/>
                </a:solidFill>
                <a:latin typeface="微软雅黑 Light" panose="020B0502040204020203" pitchFamily="34" charset="-122"/>
                <a:ea typeface="微软雅黑 Light" panose="020B0502040204020203" pitchFamily="34" charset="-122"/>
              </a:rPr>
              <a:t>设备</a:t>
            </a:r>
            <a:endParaRPr lang="zh-CN" altLang="en-US" sz="2000" dirty="0">
              <a:solidFill>
                <a:schemeClr val="bg1"/>
              </a:solidFill>
              <a:latin typeface="微软雅黑 Light" panose="020B0502040204020203" pitchFamily="34" charset="-122"/>
              <a:ea typeface="微软雅黑 Light" panose="020B0502040204020203" pitchFamily="34" charset="-122"/>
            </a:endParaRPr>
          </a:p>
        </p:txBody>
      </p:sp>
      <p:sp>
        <p:nvSpPr>
          <p:cNvPr id="386054" name="Rectangle 6"/>
          <p:cNvSpPr>
            <a:spLocks noChangeArrowheads="1"/>
          </p:cNvSpPr>
          <p:nvPr/>
        </p:nvSpPr>
        <p:spPr bwMode="auto">
          <a:xfrm>
            <a:off x="5484018" y="4365629"/>
            <a:ext cx="1223963" cy="1008063"/>
          </a:xfrm>
          <a:prstGeom prst="rect">
            <a:avLst/>
          </a:prstGeom>
          <a:solidFill>
            <a:srgbClr val="0070C0"/>
          </a:solidFill>
          <a:ln w="9525">
            <a:solidFill>
              <a:schemeClr val="tx1"/>
            </a:solidFill>
            <a:miter lim="800000"/>
          </a:ln>
          <a:effectLst/>
        </p:spPr>
        <p:txBody>
          <a:bodyPr wrap="none" anchor="ctr"/>
          <a:lstStyle/>
          <a:p>
            <a:pPr algn="ctr" eaLnBrk="0" hangingPunct="0"/>
            <a:r>
              <a:rPr lang="zh-CN" altLang="en-US" sz="2000" dirty="0">
                <a:solidFill>
                  <a:schemeClr val="bg1"/>
                </a:solidFill>
                <a:latin typeface="微软雅黑 Light" panose="020B0502040204020203" pitchFamily="34" charset="-122"/>
                <a:ea typeface="微软雅黑 Light" panose="020B0502040204020203" pitchFamily="34" charset="-122"/>
              </a:rPr>
              <a:t>传输</a:t>
            </a:r>
            <a:endParaRPr lang="zh-CN" altLang="en-US" sz="2000" dirty="0">
              <a:solidFill>
                <a:schemeClr val="bg1"/>
              </a:solidFill>
              <a:latin typeface="微软雅黑 Light" panose="020B0502040204020203" pitchFamily="34" charset="-122"/>
              <a:ea typeface="微软雅黑 Light" panose="020B0502040204020203" pitchFamily="34" charset="-122"/>
            </a:endParaRPr>
          </a:p>
          <a:p>
            <a:pPr algn="ctr" eaLnBrk="0" hangingPunct="0"/>
            <a:r>
              <a:rPr lang="zh-CN" altLang="en-US" sz="2000" dirty="0">
                <a:solidFill>
                  <a:schemeClr val="bg1"/>
                </a:solidFill>
                <a:latin typeface="微软雅黑 Light" panose="020B0502040204020203" pitchFamily="34" charset="-122"/>
                <a:ea typeface="微软雅黑 Light" panose="020B0502040204020203" pitchFamily="34" charset="-122"/>
              </a:rPr>
              <a:t>系统</a:t>
            </a:r>
            <a:endParaRPr lang="zh-CN" altLang="en-US" sz="2000" dirty="0">
              <a:solidFill>
                <a:schemeClr val="bg1"/>
              </a:solidFill>
              <a:latin typeface="微软雅黑 Light" panose="020B0502040204020203" pitchFamily="34" charset="-122"/>
              <a:ea typeface="微软雅黑 Light" panose="020B0502040204020203" pitchFamily="34" charset="-122"/>
            </a:endParaRPr>
          </a:p>
        </p:txBody>
      </p:sp>
      <p:sp>
        <p:nvSpPr>
          <p:cNvPr id="386055" name="Rectangle 7"/>
          <p:cNvSpPr>
            <a:spLocks noChangeArrowheads="1"/>
          </p:cNvSpPr>
          <p:nvPr/>
        </p:nvSpPr>
        <p:spPr bwMode="auto">
          <a:xfrm>
            <a:off x="7284243" y="4365629"/>
            <a:ext cx="1223963" cy="1008063"/>
          </a:xfrm>
          <a:prstGeom prst="rect">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chemeClr val="bg1"/>
                </a:solidFill>
                <a:latin typeface="微软雅黑 Light" panose="020B0502040204020203" pitchFamily="34" charset="-122"/>
                <a:ea typeface="微软雅黑 Light" panose="020B0502040204020203" pitchFamily="34" charset="-122"/>
              </a:rPr>
              <a:t>接收</a:t>
            </a:r>
            <a:endParaRPr lang="zh-CN" altLang="en-US" sz="2000" dirty="0">
              <a:solidFill>
                <a:schemeClr val="bg1"/>
              </a:solidFill>
              <a:latin typeface="微软雅黑 Light" panose="020B0502040204020203" pitchFamily="34" charset="-122"/>
              <a:ea typeface="微软雅黑 Light" panose="020B0502040204020203" pitchFamily="34" charset="-122"/>
            </a:endParaRPr>
          </a:p>
          <a:p>
            <a:pPr algn="ctr"/>
            <a:r>
              <a:rPr lang="zh-CN" altLang="en-US" sz="2000" dirty="0">
                <a:solidFill>
                  <a:schemeClr val="bg1"/>
                </a:solidFill>
                <a:latin typeface="微软雅黑 Light" panose="020B0502040204020203" pitchFamily="34" charset="-122"/>
                <a:ea typeface="微软雅黑 Light" panose="020B0502040204020203" pitchFamily="34" charset="-122"/>
              </a:rPr>
              <a:t>设备</a:t>
            </a:r>
            <a:endParaRPr lang="zh-CN" altLang="en-US" sz="2000" dirty="0">
              <a:solidFill>
                <a:schemeClr val="bg1"/>
              </a:solidFill>
              <a:latin typeface="微软雅黑 Light" panose="020B0502040204020203" pitchFamily="34" charset="-122"/>
              <a:ea typeface="微软雅黑 Light" panose="020B0502040204020203" pitchFamily="34" charset="-122"/>
            </a:endParaRPr>
          </a:p>
        </p:txBody>
      </p:sp>
      <p:sp>
        <p:nvSpPr>
          <p:cNvPr id="386056" name="Rectangle 8"/>
          <p:cNvSpPr>
            <a:spLocks noChangeArrowheads="1"/>
          </p:cNvSpPr>
          <p:nvPr/>
        </p:nvSpPr>
        <p:spPr bwMode="auto">
          <a:xfrm>
            <a:off x="9086055" y="4365629"/>
            <a:ext cx="1223962" cy="1008063"/>
          </a:xfrm>
          <a:prstGeom prst="rect">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dirty="0">
                <a:solidFill>
                  <a:schemeClr val="bg1"/>
                </a:solidFill>
                <a:latin typeface="微软雅黑 Light" panose="020B0502040204020203" pitchFamily="34" charset="-122"/>
                <a:ea typeface="微软雅黑 Light" panose="020B0502040204020203" pitchFamily="34" charset="-122"/>
              </a:rPr>
              <a:t>信宿</a:t>
            </a:r>
            <a:endParaRPr lang="zh-CN" altLang="en-US" sz="2000" dirty="0">
              <a:solidFill>
                <a:schemeClr val="bg1"/>
              </a:solidFill>
              <a:latin typeface="微软雅黑 Light" panose="020B0502040204020203" pitchFamily="34" charset="-122"/>
              <a:ea typeface="微软雅黑 Light" panose="020B0502040204020203" pitchFamily="34" charset="-122"/>
            </a:endParaRPr>
          </a:p>
        </p:txBody>
      </p:sp>
      <p:sp>
        <p:nvSpPr>
          <p:cNvPr id="386057" name="Line 9"/>
          <p:cNvSpPr>
            <a:spLocks noChangeShapeType="1"/>
          </p:cNvSpPr>
          <p:nvPr/>
        </p:nvSpPr>
        <p:spPr bwMode="auto">
          <a:xfrm>
            <a:off x="3156743" y="4868866"/>
            <a:ext cx="504825"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solidFill>
                <a:schemeClr val="bg1"/>
              </a:solidFill>
              <a:latin typeface="微软雅黑 Light" panose="020B0502040204020203" pitchFamily="34" charset="-122"/>
            </a:endParaRPr>
          </a:p>
        </p:txBody>
      </p:sp>
      <p:sp>
        <p:nvSpPr>
          <p:cNvPr id="386058" name="Line 10"/>
          <p:cNvSpPr>
            <a:spLocks noChangeShapeType="1"/>
          </p:cNvSpPr>
          <p:nvPr/>
        </p:nvSpPr>
        <p:spPr bwMode="auto">
          <a:xfrm>
            <a:off x="4952206" y="4868866"/>
            <a:ext cx="504825"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solidFill>
                <a:schemeClr val="bg1"/>
              </a:solidFill>
              <a:latin typeface="微软雅黑 Light" panose="020B0502040204020203" pitchFamily="34" charset="-122"/>
            </a:endParaRPr>
          </a:p>
        </p:txBody>
      </p:sp>
      <p:sp>
        <p:nvSpPr>
          <p:cNvPr id="386059" name="Line 11"/>
          <p:cNvSpPr>
            <a:spLocks noChangeShapeType="1"/>
          </p:cNvSpPr>
          <p:nvPr/>
        </p:nvSpPr>
        <p:spPr bwMode="auto">
          <a:xfrm>
            <a:off x="6746081" y="4868866"/>
            <a:ext cx="504825"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solidFill>
                <a:schemeClr val="bg1"/>
              </a:solidFill>
              <a:latin typeface="微软雅黑 Light" panose="020B0502040204020203" pitchFamily="34" charset="-122"/>
            </a:endParaRPr>
          </a:p>
        </p:txBody>
      </p:sp>
      <p:sp>
        <p:nvSpPr>
          <p:cNvPr id="386060" name="Line 12"/>
          <p:cNvSpPr>
            <a:spLocks noChangeShapeType="1"/>
          </p:cNvSpPr>
          <p:nvPr/>
        </p:nvSpPr>
        <p:spPr bwMode="auto">
          <a:xfrm>
            <a:off x="8560593" y="4868866"/>
            <a:ext cx="504825" cy="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solidFill>
                <a:schemeClr val="bg1"/>
              </a:solidFill>
              <a:latin typeface="微软雅黑 Light" panose="020B0502040204020203" pitchFamily="34" charset="-122"/>
            </a:endParaRPr>
          </a:p>
        </p:txBody>
      </p:sp>
      <p:sp>
        <p:nvSpPr>
          <p:cNvPr id="386061" name="AutoShape 13"/>
          <p:cNvSpPr/>
          <p:nvPr/>
        </p:nvSpPr>
        <p:spPr bwMode="auto">
          <a:xfrm rot="-5400000">
            <a:off x="3288505" y="4473578"/>
            <a:ext cx="215900" cy="2159000"/>
          </a:xfrm>
          <a:prstGeom prst="leftBrace">
            <a:avLst>
              <a:gd name="adj1" fmla="val 83333"/>
              <a:gd name="adj2" fmla="val 5000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zh-CN" dirty="0">
              <a:latin typeface="微软雅黑 Light" panose="020B0502040204020203" pitchFamily="34" charset="-122"/>
            </a:endParaRPr>
          </a:p>
        </p:txBody>
      </p:sp>
      <p:sp>
        <p:nvSpPr>
          <p:cNvPr id="386062" name="AutoShape 14"/>
          <p:cNvSpPr/>
          <p:nvPr/>
        </p:nvSpPr>
        <p:spPr bwMode="auto">
          <a:xfrm rot="-5400000">
            <a:off x="8689180" y="4473578"/>
            <a:ext cx="215900" cy="2159000"/>
          </a:xfrm>
          <a:prstGeom prst="leftBrace">
            <a:avLst>
              <a:gd name="adj1" fmla="val 83333"/>
              <a:gd name="adj2" fmla="val 5000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zh-CN" dirty="0">
              <a:latin typeface="微软雅黑 Light" panose="020B0502040204020203" pitchFamily="34" charset="-122"/>
            </a:endParaRPr>
          </a:p>
        </p:txBody>
      </p:sp>
      <p:sp>
        <p:nvSpPr>
          <p:cNvPr id="386063" name="Text Box 15"/>
          <p:cNvSpPr txBox="1">
            <a:spLocks noChangeArrowheads="1"/>
          </p:cNvSpPr>
          <p:nvPr/>
        </p:nvSpPr>
        <p:spPr bwMode="auto">
          <a:xfrm>
            <a:off x="2919401" y="5688336"/>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solidFill>
                  <a:schemeClr val="tx2"/>
                </a:solidFill>
                <a:latin typeface="微软雅黑 Light" panose="020B0502040204020203" pitchFamily="34" charset="-122"/>
                <a:ea typeface="微软雅黑 Light" panose="020B0502040204020203" pitchFamily="34" charset="-122"/>
              </a:rPr>
              <a:t>源系统</a:t>
            </a:r>
            <a:endParaRPr lang="zh-CN" altLang="en-US" sz="2400" dirty="0">
              <a:solidFill>
                <a:schemeClr val="tx2"/>
              </a:solidFill>
              <a:latin typeface="微软雅黑 Light" panose="020B0502040204020203" pitchFamily="34" charset="-122"/>
              <a:ea typeface="微软雅黑 Light" panose="020B0502040204020203" pitchFamily="34" charset="-122"/>
            </a:endParaRPr>
          </a:p>
        </p:txBody>
      </p:sp>
      <p:sp>
        <p:nvSpPr>
          <p:cNvPr id="386064" name="Text Box 16"/>
          <p:cNvSpPr txBox="1">
            <a:spLocks noChangeArrowheads="1"/>
          </p:cNvSpPr>
          <p:nvPr/>
        </p:nvSpPr>
        <p:spPr bwMode="auto">
          <a:xfrm>
            <a:off x="8105119" y="5622937"/>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400">
                <a:solidFill>
                  <a:schemeClr val="tx2"/>
                </a:solidFill>
                <a:latin typeface="微软雅黑 Light" panose="020B0502040204020203" pitchFamily="34" charset="-122"/>
                <a:ea typeface="微软雅黑 Light" panose="020B0502040204020203" pitchFamily="34" charset="-122"/>
              </a:defRPr>
            </a:lvl1pPr>
          </a:lstStyle>
          <a:p>
            <a:r>
              <a:rPr lang="zh-CN" altLang="en-US" dirty="0"/>
              <a:t>目的系统</a:t>
            </a:r>
            <a:endParaRPr lang="zh-CN" altLang="en-US" dirty="0"/>
          </a:p>
        </p:txBody>
      </p:sp>
      <p:sp>
        <p:nvSpPr>
          <p:cNvPr id="3" name="内容占位符 2"/>
          <p:cNvSpPr>
            <a:spLocks noGrp="1"/>
          </p:cNvSpPr>
          <p:nvPr>
            <p:ph idx="1"/>
          </p:nvPr>
        </p:nvSpPr>
        <p:spPr>
          <a:xfrm>
            <a:off x="334434" y="1052515"/>
            <a:ext cx="11523133" cy="3097212"/>
          </a:xfrm>
        </p:spPr>
        <p:txBody>
          <a:bodyPr/>
          <a:lstStyle/>
          <a:p>
            <a:r>
              <a:rPr lang="zh-CN" altLang="en-US" dirty="0"/>
              <a:t>信源：产生要发送数据的设备</a:t>
            </a:r>
            <a:endParaRPr lang="zh-CN" altLang="en-US" dirty="0"/>
          </a:p>
          <a:p>
            <a:r>
              <a:rPr lang="zh-CN" altLang="en-US" dirty="0"/>
              <a:t>发送设备：对数据进行编码的设备</a:t>
            </a:r>
            <a:endParaRPr lang="zh-CN" altLang="en-US" dirty="0"/>
          </a:p>
          <a:p>
            <a:r>
              <a:rPr lang="zh-CN" altLang="en-US" dirty="0"/>
              <a:t>传输系统：传输线路或网络</a:t>
            </a:r>
            <a:endParaRPr lang="zh-CN" altLang="en-US" dirty="0"/>
          </a:p>
          <a:p>
            <a:r>
              <a:rPr lang="zh-CN" altLang="en-US" dirty="0"/>
              <a:t>接收设备：将接收的信号变成数据</a:t>
            </a:r>
            <a:endParaRPr lang="zh-CN" altLang="en-US" dirty="0"/>
          </a:p>
          <a:p>
            <a:r>
              <a:rPr lang="zh-CN" altLang="en-US" dirty="0"/>
              <a:t>信宿：目的系统</a:t>
            </a:r>
            <a:endParaRPr lang="zh-CN" altLang="en-US"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717" name="Rectangle 101"/>
          <p:cNvSpPr>
            <a:spLocks noGrp="1" noRot="1" noChangeArrowheads="1"/>
          </p:cNvSpPr>
          <p:nvPr>
            <p:ph type="title"/>
          </p:nvPr>
        </p:nvSpPr>
        <p:spPr>
          <a:noFill/>
        </p:spPr>
        <p:txBody>
          <a:bodyPr/>
          <a:lstStyle/>
          <a:p>
            <a:r>
              <a:rPr lang="zh-CN" altLang="en-US" dirty="0"/>
              <a:t>数据通信系统示例</a:t>
            </a:r>
            <a:endParaRPr lang="zh-CN" altLang="en-US" dirty="0"/>
          </a:p>
        </p:txBody>
      </p:sp>
      <p:sp>
        <p:nvSpPr>
          <p:cNvPr id="97" name="灯片编号占位符 5"/>
          <p:cNvSpPr>
            <a:spLocks noGrp="1"/>
          </p:cNvSpPr>
          <p:nvPr>
            <p:ph type="sldNum" sz="quarter" idx="12"/>
          </p:nvPr>
        </p:nvSpPr>
        <p:spPr/>
        <p:txBody>
          <a:bodyPr/>
          <a:lstStyle/>
          <a:p>
            <a:fld id="{746FD31C-71B7-439D-86F2-F13A044FBF2B}" type="slidenum">
              <a:rPr lang="en-US" altLang="zh-CN"/>
            </a:fld>
            <a:endParaRPr lang="en-US" altLang="zh-CN" dirty="0"/>
          </a:p>
        </p:txBody>
      </p:sp>
      <p:sp>
        <p:nvSpPr>
          <p:cNvPr id="367621" name="AutoShape 5"/>
          <p:cNvSpPr>
            <a:spLocks noChangeArrowheads="1"/>
          </p:cNvSpPr>
          <p:nvPr/>
        </p:nvSpPr>
        <p:spPr bwMode="auto">
          <a:xfrm>
            <a:off x="5604790" y="3948188"/>
            <a:ext cx="1025525" cy="727075"/>
          </a:xfrm>
          <a:prstGeom prst="cube">
            <a:avLst>
              <a:gd name="adj" fmla="val 13069"/>
            </a:avLst>
          </a:prstGeom>
          <a:solidFill>
            <a:srgbClr val="0070C0"/>
          </a:solidFill>
          <a:ln w="9525">
            <a:solidFill>
              <a:schemeClr val="tx1"/>
            </a:solidFill>
            <a:miter lim="800000"/>
          </a:ln>
          <a:effectLst/>
        </p:spPr>
        <p:txBody>
          <a:bodyPr wrap="none" anchor="ctr"/>
          <a:lstStyle/>
          <a:p>
            <a:pPr algn="ctr" eaLnBrk="0" hangingPunct="0"/>
            <a:r>
              <a:rPr lang="zh-CN" altLang="en-US" sz="1800" dirty="0">
                <a:solidFill>
                  <a:schemeClr val="bg1"/>
                </a:solidFill>
                <a:latin typeface="微软雅黑 Light" panose="020B0502040204020203" pitchFamily="34" charset="-122"/>
                <a:ea typeface="微软雅黑 Light" panose="020B0502040204020203" pitchFamily="34" charset="-122"/>
              </a:rPr>
              <a:t>传输</a:t>
            </a:r>
            <a:endParaRPr lang="zh-CN" altLang="en-US" sz="1800" dirty="0">
              <a:solidFill>
                <a:schemeClr val="bg1"/>
              </a:solidFill>
              <a:latin typeface="微软雅黑 Light" panose="020B0502040204020203" pitchFamily="34" charset="-122"/>
              <a:ea typeface="微软雅黑 Light" panose="020B0502040204020203" pitchFamily="34" charset="-122"/>
            </a:endParaRPr>
          </a:p>
          <a:p>
            <a:pPr algn="ctr" eaLnBrk="0" hangingPunct="0"/>
            <a:r>
              <a:rPr lang="zh-CN" altLang="en-US" sz="1800" dirty="0">
                <a:solidFill>
                  <a:schemeClr val="bg1"/>
                </a:solidFill>
                <a:latin typeface="微软雅黑 Light" panose="020B0502040204020203" pitchFamily="34" charset="-122"/>
                <a:ea typeface="微软雅黑 Light" panose="020B0502040204020203" pitchFamily="34" charset="-122"/>
              </a:rPr>
              <a:t>系统</a:t>
            </a:r>
            <a:endParaRPr lang="zh-CN" altLang="en-US" sz="1800" dirty="0">
              <a:solidFill>
                <a:schemeClr val="bg1"/>
              </a:solidFill>
              <a:latin typeface="微软雅黑 Light" panose="020B0502040204020203" pitchFamily="34" charset="-122"/>
              <a:ea typeface="微软雅黑 Light" panose="020B0502040204020203" pitchFamily="34" charset="-122"/>
            </a:endParaRPr>
          </a:p>
        </p:txBody>
      </p:sp>
      <p:sp>
        <p:nvSpPr>
          <p:cNvPr id="367624" name="Rectangle 8"/>
          <p:cNvSpPr>
            <a:spLocks noChangeArrowheads="1"/>
          </p:cNvSpPr>
          <p:nvPr/>
        </p:nvSpPr>
        <p:spPr bwMode="auto">
          <a:xfrm>
            <a:off x="1786186" y="4353000"/>
            <a:ext cx="5667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dirty="0">
                <a:latin typeface="Arial" panose="020B0604020202020204" pitchFamily="34" charset="0"/>
                <a:ea typeface="微软雅黑 Light" panose="020B0502040204020203" pitchFamily="34" charset="-122"/>
              </a:rPr>
              <a:t>输入信息</a:t>
            </a:r>
            <a:endParaRPr kumimoji="1" lang="zh-CN" altLang="en-US" dirty="0">
              <a:latin typeface="Arial" panose="020B0604020202020204" pitchFamily="34" charset="0"/>
              <a:ea typeface="微软雅黑 Light" panose="020B0502040204020203" pitchFamily="34" charset="-122"/>
            </a:endParaRPr>
          </a:p>
        </p:txBody>
      </p:sp>
      <p:sp>
        <p:nvSpPr>
          <p:cNvPr id="367625" name="Line 9"/>
          <p:cNvSpPr>
            <a:spLocks noChangeShapeType="1"/>
          </p:cNvSpPr>
          <p:nvPr/>
        </p:nvSpPr>
        <p:spPr bwMode="auto">
          <a:xfrm>
            <a:off x="1844002" y="4311726"/>
            <a:ext cx="496888"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627" name="Rectangle 11"/>
          <p:cNvSpPr>
            <a:spLocks noChangeArrowheads="1"/>
          </p:cNvSpPr>
          <p:nvPr/>
        </p:nvSpPr>
        <p:spPr bwMode="auto">
          <a:xfrm>
            <a:off x="3135555" y="4353000"/>
            <a:ext cx="56673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输入数据</a:t>
            </a:r>
            <a:endParaRPr lang="zh-CN" altLang="en-US" sz="1800" dirty="0">
              <a:solidFill>
                <a:srgbClr val="333399"/>
              </a:solidFill>
              <a:latin typeface="微软雅黑 Light" panose="020B0502040204020203" pitchFamily="34" charset="-122"/>
              <a:ea typeface="微软雅黑 Light" panose="020B0502040204020203" pitchFamily="34" charset="-122"/>
            </a:endParaRPr>
          </a:p>
        </p:txBody>
      </p:sp>
      <p:sp>
        <p:nvSpPr>
          <p:cNvPr id="367628" name="Line 12"/>
          <p:cNvSpPr>
            <a:spLocks noChangeShapeType="1"/>
          </p:cNvSpPr>
          <p:nvPr/>
        </p:nvSpPr>
        <p:spPr bwMode="auto">
          <a:xfrm>
            <a:off x="3139402" y="4311726"/>
            <a:ext cx="549275"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630" name="Rectangle 14"/>
          <p:cNvSpPr>
            <a:spLocks noChangeArrowheads="1"/>
          </p:cNvSpPr>
          <p:nvPr/>
        </p:nvSpPr>
        <p:spPr bwMode="auto">
          <a:xfrm>
            <a:off x="4718564" y="4360521"/>
            <a:ext cx="558007" cy="121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发送</a:t>
            </a:r>
            <a:endParaRPr lang="zh-CN" altLang="en-US" sz="1800" dirty="0">
              <a:solidFill>
                <a:srgbClr val="333399"/>
              </a:solidFill>
              <a:latin typeface="微软雅黑 Light" panose="020B0502040204020203" pitchFamily="34" charset="-122"/>
              <a:ea typeface="微软雅黑 Light" panose="020B0502040204020203" pitchFamily="34" charset="-122"/>
            </a:endParaRPr>
          </a:p>
          <a:p>
            <a:pPr algn="ct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信号</a:t>
            </a:r>
            <a:endParaRPr lang="zh-CN" altLang="en-US" sz="1800" dirty="0">
              <a:solidFill>
                <a:srgbClr val="333399"/>
              </a:solidFill>
              <a:latin typeface="微软雅黑 Light" panose="020B0502040204020203" pitchFamily="34" charset="-122"/>
              <a:ea typeface="微软雅黑 Light" panose="020B0502040204020203" pitchFamily="34" charset="-122"/>
            </a:endParaRPr>
          </a:p>
        </p:txBody>
      </p:sp>
      <p:sp>
        <p:nvSpPr>
          <p:cNvPr id="367631" name="Line 15"/>
          <p:cNvSpPr>
            <a:spLocks noChangeShapeType="1"/>
          </p:cNvSpPr>
          <p:nvPr/>
        </p:nvSpPr>
        <p:spPr bwMode="auto">
          <a:xfrm>
            <a:off x="4518940" y="4305376"/>
            <a:ext cx="1085850" cy="635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633" name="Rectangle 17"/>
          <p:cNvSpPr>
            <a:spLocks noChangeArrowheads="1"/>
          </p:cNvSpPr>
          <p:nvPr/>
        </p:nvSpPr>
        <p:spPr bwMode="auto">
          <a:xfrm>
            <a:off x="6943053" y="4318104"/>
            <a:ext cx="431407" cy="1187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接收</a:t>
            </a:r>
            <a:endParaRPr lang="zh-CN" altLang="en-US" sz="1800" dirty="0">
              <a:solidFill>
                <a:srgbClr val="333399"/>
              </a:solidFill>
              <a:latin typeface="微软雅黑 Light" panose="020B0502040204020203" pitchFamily="34" charset="-122"/>
              <a:ea typeface="微软雅黑 Light" panose="020B0502040204020203" pitchFamily="34" charset="-122"/>
            </a:endParaRPr>
          </a:p>
          <a:p>
            <a:pPr algn="ct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信号</a:t>
            </a:r>
            <a:endParaRPr lang="zh-CN" altLang="en-US" sz="1800" dirty="0">
              <a:solidFill>
                <a:srgbClr val="333399"/>
              </a:solidFill>
              <a:latin typeface="微软雅黑 Light" panose="020B0502040204020203" pitchFamily="34" charset="-122"/>
              <a:ea typeface="微软雅黑 Light" panose="020B0502040204020203" pitchFamily="34" charset="-122"/>
            </a:endParaRPr>
          </a:p>
        </p:txBody>
      </p:sp>
      <p:sp>
        <p:nvSpPr>
          <p:cNvPr id="367634" name="Line 18"/>
          <p:cNvSpPr>
            <a:spLocks noChangeShapeType="1"/>
          </p:cNvSpPr>
          <p:nvPr/>
        </p:nvSpPr>
        <p:spPr bwMode="auto">
          <a:xfrm>
            <a:off x="6601739" y="4311725"/>
            <a:ext cx="1133475"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636" name="Rectangle 20"/>
          <p:cNvSpPr>
            <a:spLocks noChangeArrowheads="1"/>
          </p:cNvSpPr>
          <p:nvPr/>
        </p:nvSpPr>
        <p:spPr bwMode="auto">
          <a:xfrm>
            <a:off x="8575003" y="4386337"/>
            <a:ext cx="56673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输出数据</a:t>
            </a:r>
            <a:endParaRPr lang="zh-CN" altLang="en-US" sz="1800" dirty="0">
              <a:solidFill>
                <a:srgbClr val="333399"/>
              </a:solidFill>
              <a:latin typeface="微软雅黑 Light" panose="020B0502040204020203" pitchFamily="34" charset="-122"/>
              <a:ea typeface="微软雅黑 Light" panose="020B0502040204020203" pitchFamily="34" charset="-122"/>
            </a:endParaRPr>
          </a:p>
        </p:txBody>
      </p:sp>
      <p:sp>
        <p:nvSpPr>
          <p:cNvPr id="367637" name="Line 21"/>
          <p:cNvSpPr>
            <a:spLocks noChangeShapeType="1"/>
          </p:cNvSpPr>
          <p:nvPr/>
        </p:nvSpPr>
        <p:spPr bwMode="auto">
          <a:xfrm>
            <a:off x="8549603" y="4311725"/>
            <a:ext cx="533400"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639" name="AutoShape 23"/>
          <p:cNvSpPr>
            <a:spLocks noChangeArrowheads="1"/>
          </p:cNvSpPr>
          <p:nvPr/>
        </p:nvSpPr>
        <p:spPr bwMode="auto">
          <a:xfrm>
            <a:off x="2282946" y="3954567"/>
            <a:ext cx="850900" cy="727075"/>
          </a:xfrm>
          <a:prstGeom prst="cube">
            <a:avLst>
              <a:gd name="adj" fmla="val 13069"/>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信源</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67642" name="AutoShape 26"/>
          <p:cNvSpPr>
            <a:spLocks noChangeArrowheads="1"/>
          </p:cNvSpPr>
          <p:nvPr/>
        </p:nvSpPr>
        <p:spPr bwMode="auto">
          <a:xfrm>
            <a:off x="9083002" y="3948188"/>
            <a:ext cx="850900" cy="727075"/>
          </a:xfrm>
          <a:prstGeom prst="cube">
            <a:avLst>
              <a:gd name="adj" fmla="val 13069"/>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信宿</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67645" name="AutoShape 29"/>
          <p:cNvSpPr>
            <a:spLocks noChangeArrowheads="1"/>
          </p:cNvSpPr>
          <p:nvPr/>
        </p:nvSpPr>
        <p:spPr bwMode="auto">
          <a:xfrm>
            <a:off x="3688678" y="3948188"/>
            <a:ext cx="852487" cy="727075"/>
          </a:xfrm>
          <a:prstGeom prst="cube">
            <a:avLst>
              <a:gd name="adj" fmla="val 13069"/>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发送</a:t>
            </a:r>
            <a:endParaRPr lang="zh-CN" altLang="en-US" dirty="0">
              <a:solidFill>
                <a:schemeClr val="bg1"/>
              </a:solidFill>
              <a:latin typeface="微软雅黑 Light" panose="020B0502040204020203" pitchFamily="34" charset="-122"/>
              <a:ea typeface="微软雅黑 Light" panose="020B0502040204020203" pitchFamily="34" charset="-122"/>
            </a:endParaRPr>
          </a:p>
          <a:p>
            <a:pPr algn="ctr"/>
            <a:r>
              <a:rPr lang="zh-CN" altLang="en-US" dirty="0">
                <a:solidFill>
                  <a:schemeClr val="bg1"/>
                </a:solidFill>
                <a:latin typeface="微软雅黑 Light" panose="020B0502040204020203" pitchFamily="34" charset="-122"/>
                <a:ea typeface="微软雅黑 Light" panose="020B0502040204020203" pitchFamily="34" charset="-122"/>
              </a:rPr>
              <a:t>设备</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67648" name="AutoShape 32"/>
          <p:cNvSpPr>
            <a:spLocks noChangeArrowheads="1"/>
          </p:cNvSpPr>
          <p:nvPr/>
        </p:nvSpPr>
        <p:spPr bwMode="auto">
          <a:xfrm>
            <a:off x="7735215" y="3948188"/>
            <a:ext cx="849313" cy="727075"/>
          </a:xfrm>
          <a:prstGeom prst="cube">
            <a:avLst>
              <a:gd name="adj" fmla="val 13069"/>
            </a:avLst>
          </a:prstGeom>
          <a:solidFill>
            <a:srgbClr val="00B0F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接收</a:t>
            </a:r>
            <a:endParaRPr lang="zh-CN" altLang="en-US" dirty="0">
              <a:solidFill>
                <a:schemeClr val="bg1"/>
              </a:solidFill>
              <a:latin typeface="微软雅黑 Light" panose="020B0502040204020203" pitchFamily="34" charset="-122"/>
              <a:ea typeface="微软雅黑 Light" panose="020B0502040204020203" pitchFamily="34" charset="-122"/>
            </a:endParaRPr>
          </a:p>
          <a:p>
            <a:pPr algn="ctr"/>
            <a:r>
              <a:rPr lang="zh-CN" altLang="en-US" dirty="0">
                <a:solidFill>
                  <a:schemeClr val="bg1"/>
                </a:solidFill>
                <a:latin typeface="微软雅黑 Light" panose="020B0502040204020203" pitchFamily="34" charset="-122"/>
                <a:ea typeface="微软雅黑 Light" panose="020B0502040204020203" pitchFamily="34" charset="-122"/>
              </a:rPr>
              <a:t>设备</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67650" name="Line 34"/>
          <p:cNvSpPr>
            <a:spLocks noChangeShapeType="1"/>
          </p:cNvSpPr>
          <p:nvPr/>
        </p:nvSpPr>
        <p:spPr bwMode="auto">
          <a:xfrm>
            <a:off x="4476107" y="2503839"/>
            <a:ext cx="3259106" cy="31471"/>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67651" name="Line 35"/>
          <p:cNvSpPr>
            <a:spLocks noChangeShapeType="1"/>
          </p:cNvSpPr>
          <p:nvPr/>
        </p:nvSpPr>
        <p:spPr bwMode="auto">
          <a:xfrm>
            <a:off x="3046905" y="2524489"/>
            <a:ext cx="836012" cy="10821"/>
          </a:xfrm>
          <a:prstGeom prst="line">
            <a:avLst/>
          </a:prstGeom>
          <a:noFill/>
          <a:ln w="76200" cmpd="tri">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67652" name="Rectangle 36"/>
          <p:cNvSpPr>
            <a:spLocks noChangeArrowheads="1"/>
          </p:cNvSpPr>
          <p:nvPr/>
        </p:nvSpPr>
        <p:spPr bwMode="auto">
          <a:xfrm>
            <a:off x="3500930" y="2629532"/>
            <a:ext cx="135413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400" dirty="0">
                <a:latin typeface="Arial" panose="020B0604020202020204" pitchFamily="34" charset="0"/>
                <a:ea typeface="微软雅黑 Light" panose="020B0502040204020203" pitchFamily="34" charset="-122"/>
              </a:rPr>
              <a:t>调制解调器</a:t>
            </a:r>
            <a:endParaRPr kumimoji="1" lang="zh-CN" altLang="en-US" sz="1400" dirty="0">
              <a:latin typeface="Arial" panose="020B0604020202020204" pitchFamily="34" charset="0"/>
              <a:ea typeface="微软雅黑 Light" panose="020B0502040204020203" pitchFamily="34" charset="-122"/>
            </a:endParaRPr>
          </a:p>
        </p:txBody>
      </p:sp>
      <p:sp>
        <p:nvSpPr>
          <p:cNvPr id="367653" name="Line 37"/>
          <p:cNvSpPr>
            <a:spLocks noChangeShapeType="1"/>
          </p:cNvSpPr>
          <p:nvPr/>
        </p:nvSpPr>
        <p:spPr bwMode="auto">
          <a:xfrm>
            <a:off x="8301953" y="2535312"/>
            <a:ext cx="922337" cy="0"/>
          </a:xfrm>
          <a:prstGeom prst="line">
            <a:avLst/>
          </a:prstGeom>
          <a:noFill/>
          <a:ln w="76200" cmpd="tri">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nvGrpSpPr>
          <p:cNvPr id="367654" name="Group 38"/>
          <p:cNvGrpSpPr/>
          <p:nvPr/>
        </p:nvGrpSpPr>
        <p:grpSpPr bwMode="auto">
          <a:xfrm>
            <a:off x="5330153" y="2003500"/>
            <a:ext cx="1582737" cy="1009650"/>
            <a:chOff x="385" y="2795"/>
            <a:chExt cx="1769" cy="816"/>
          </a:xfrm>
        </p:grpSpPr>
        <p:sp>
          <p:nvSpPr>
            <p:cNvPr id="367655" name="Oval 39"/>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56" name="Oval 40"/>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57" name="Oval 41"/>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58" name="Oval 42"/>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59" name="Oval 43"/>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0" name="Oval 44"/>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1" name="Oval 45"/>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2" name="Oval 46"/>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3" name="Oval 47"/>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4" name="Oval 48"/>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5" name="Oval 49"/>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6" name="Oval 50"/>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7" name="Oval 51"/>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8" name="Oval 52"/>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69" name="Oval 53"/>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70" name="Oval 54"/>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14:hiddenLine>
              </a:ext>
            </a:extLst>
          </p:spPr>
          <p:txBody>
            <a:bodyPr/>
            <a:lstStyle/>
            <a:p>
              <a:endParaRPr lang="zh-CN" altLang="en-US" dirty="0">
                <a:latin typeface="微软雅黑 Light" panose="020B0502040204020203" pitchFamily="34" charset="-122"/>
              </a:endParaRPr>
            </a:p>
          </p:txBody>
        </p:sp>
        <p:sp>
          <p:nvSpPr>
            <p:cNvPr id="367671" name="Freeform 55"/>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grpSp>
      <p:sp>
        <p:nvSpPr>
          <p:cNvPr id="367672" name="Rectangle 56"/>
          <p:cNvSpPr>
            <a:spLocks noChangeArrowheads="1"/>
          </p:cNvSpPr>
          <p:nvPr/>
        </p:nvSpPr>
        <p:spPr bwMode="auto">
          <a:xfrm>
            <a:off x="2394046" y="2694628"/>
            <a:ext cx="86995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solidFill>
                  <a:srgbClr val="333399"/>
                </a:solidFill>
                <a:latin typeface="Arial" panose="020B0604020202020204" pitchFamily="34" charset="0"/>
                <a:ea typeface="微软雅黑 Light" panose="020B0502040204020203" pitchFamily="34" charset="-122"/>
              </a:rPr>
              <a:t>PC </a:t>
            </a:r>
            <a:r>
              <a:rPr lang="zh-CN" altLang="en-US" sz="1800" dirty="0">
                <a:solidFill>
                  <a:srgbClr val="333399"/>
                </a:solidFill>
                <a:latin typeface="Arial" panose="020B0604020202020204" pitchFamily="34" charset="0"/>
                <a:ea typeface="微软雅黑 Light" panose="020B0502040204020203" pitchFamily="34" charset="-122"/>
              </a:rPr>
              <a:t>机</a:t>
            </a:r>
            <a:endParaRPr lang="zh-CN" altLang="en-US" sz="1800" dirty="0">
              <a:solidFill>
                <a:srgbClr val="333399"/>
              </a:solidFill>
              <a:latin typeface="Arial" panose="020B0604020202020204" pitchFamily="34" charset="0"/>
              <a:ea typeface="微软雅黑 Light" panose="020B0502040204020203" pitchFamily="34" charset="-122"/>
            </a:endParaRPr>
          </a:p>
        </p:txBody>
      </p:sp>
      <p:sp>
        <p:nvSpPr>
          <p:cNvPr id="367673" name="Rectangle 57"/>
          <p:cNvSpPr>
            <a:spLocks noChangeArrowheads="1"/>
          </p:cNvSpPr>
          <p:nvPr/>
        </p:nvSpPr>
        <p:spPr bwMode="auto">
          <a:xfrm>
            <a:off x="5506365" y="2360688"/>
            <a:ext cx="13369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solidFill>
                  <a:srgbClr val="333399"/>
                </a:solidFill>
                <a:latin typeface="微软雅黑 Light" panose="020B0502040204020203" pitchFamily="34" charset="-122"/>
                <a:ea typeface="微软雅黑 Light" panose="020B0502040204020203" pitchFamily="34" charset="-122"/>
              </a:rPr>
              <a:t>公用电话网</a:t>
            </a:r>
            <a:endParaRPr lang="zh-CN" altLang="en-US" sz="1800" dirty="0">
              <a:solidFill>
                <a:srgbClr val="333399"/>
              </a:solidFill>
              <a:latin typeface="微软雅黑 Light" panose="020B0502040204020203" pitchFamily="34" charset="-122"/>
              <a:ea typeface="微软雅黑 Light" panose="020B0502040204020203" pitchFamily="34" charset="-122"/>
            </a:endParaRPr>
          </a:p>
        </p:txBody>
      </p:sp>
      <p:sp>
        <p:nvSpPr>
          <p:cNvPr id="367676" name="Rectangle 60"/>
          <p:cNvSpPr>
            <a:spLocks noChangeArrowheads="1"/>
          </p:cNvSpPr>
          <p:nvPr/>
        </p:nvSpPr>
        <p:spPr bwMode="auto">
          <a:xfrm>
            <a:off x="7360196" y="2656850"/>
            <a:ext cx="1347788"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400" dirty="0">
                <a:latin typeface="Arial" panose="020B0604020202020204" pitchFamily="34" charset="0"/>
                <a:ea typeface="微软雅黑 Light" panose="020B0502040204020203" pitchFamily="34" charset="-122"/>
              </a:rPr>
              <a:t>调制解调器</a:t>
            </a:r>
            <a:endParaRPr kumimoji="1" lang="zh-CN" altLang="en-US" sz="1400" dirty="0">
              <a:latin typeface="Arial" panose="020B0604020202020204" pitchFamily="34" charset="0"/>
              <a:ea typeface="微软雅黑 Light" panose="020B0502040204020203" pitchFamily="34" charset="-122"/>
            </a:endParaRPr>
          </a:p>
        </p:txBody>
      </p:sp>
      <p:grpSp>
        <p:nvGrpSpPr>
          <p:cNvPr id="367677" name="Group 61"/>
          <p:cNvGrpSpPr/>
          <p:nvPr/>
        </p:nvGrpSpPr>
        <p:grpSpPr bwMode="auto">
          <a:xfrm>
            <a:off x="4469727" y="2101926"/>
            <a:ext cx="652462" cy="339725"/>
            <a:chOff x="2315" y="3965"/>
            <a:chExt cx="496" cy="254"/>
          </a:xfrm>
        </p:grpSpPr>
        <p:sp>
          <p:nvSpPr>
            <p:cNvPr id="367678" name="Freeform 62"/>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67679" name="Freeform 63"/>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67680" name="Freeform 64"/>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67681" name="Freeform 65"/>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sp>
        <p:nvSpPr>
          <p:cNvPr id="367682" name="Freeform 66"/>
          <p:cNvSpPr/>
          <p:nvPr/>
        </p:nvSpPr>
        <p:spPr bwMode="auto">
          <a:xfrm>
            <a:off x="3160040" y="2203525"/>
            <a:ext cx="741363"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683" name="Rectangle 67"/>
          <p:cNvSpPr>
            <a:spLocks noChangeArrowheads="1"/>
          </p:cNvSpPr>
          <p:nvPr/>
        </p:nvSpPr>
        <p:spPr bwMode="auto">
          <a:xfrm>
            <a:off x="2882228" y="1716162"/>
            <a:ext cx="1450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solidFill>
                  <a:srgbClr val="333399"/>
                </a:solidFill>
                <a:latin typeface="Arial" panose="020B0604020202020204" pitchFamily="34" charset="0"/>
                <a:ea typeface="微软雅黑 Light" panose="020B0502040204020203" pitchFamily="34" charset="-122"/>
              </a:rPr>
              <a:t>数字比特流</a:t>
            </a:r>
            <a:endParaRPr lang="zh-CN" altLang="en-US" sz="1800" dirty="0">
              <a:solidFill>
                <a:srgbClr val="333399"/>
              </a:solidFill>
              <a:latin typeface="Arial" panose="020B0604020202020204" pitchFamily="34" charset="0"/>
              <a:ea typeface="微软雅黑 Light" panose="020B0502040204020203" pitchFamily="34" charset="-122"/>
            </a:endParaRPr>
          </a:p>
        </p:txBody>
      </p:sp>
      <p:sp>
        <p:nvSpPr>
          <p:cNvPr id="367684" name="Rectangle 68"/>
          <p:cNvSpPr>
            <a:spLocks noChangeArrowheads="1"/>
          </p:cNvSpPr>
          <p:nvPr/>
        </p:nvSpPr>
        <p:spPr bwMode="auto">
          <a:xfrm>
            <a:off x="8159077" y="1716162"/>
            <a:ext cx="1420812"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solidFill>
                  <a:srgbClr val="333399"/>
                </a:solidFill>
                <a:latin typeface="Arial" panose="020B0604020202020204" pitchFamily="34" charset="0"/>
                <a:ea typeface="微软雅黑 Light" panose="020B0502040204020203" pitchFamily="34" charset="-122"/>
              </a:rPr>
              <a:t>数字比特流</a:t>
            </a:r>
            <a:endParaRPr lang="zh-CN" altLang="en-US" sz="1800" dirty="0">
              <a:solidFill>
                <a:srgbClr val="333399"/>
              </a:solidFill>
              <a:latin typeface="Arial" panose="020B0604020202020204" pitchFamily="34" charset="0"/>
              <a:ea typeface="微软雅黑 Light" panose="020B0502040204020203" pitchFamily="34" charset="-122"/>
            </a:endParaRPr>
          </a:p>
        </p:txBody>
      </p:sp>
      <p:sp>
        <p:nvSpPr>
          <p:cNvPr id="367685" name="Rectangle 69"/>
          <p:cNvSpPr>
            <a:spLocks noChangeArrowheads="1"/>
          </p:cNvSpPr>
          <p:nvPr/>
        </p:nvSpPr>
        <p:spPr bwMode="auto">
          <a:xfrm>
            <a:off x="4322090" y="1716162"/>
            <a:ext cx="120491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solidFill>
                  <a:srgbClr val="333399"/>
                </a:solidFill>
                <a:latin typeface="Arial" panose="020B0604020202020204" pitchFamily="34" charset="0"/>
                <a:ea typeface="微软雅黑 Light" panose="020B0502040204020203" pitchFamily="34" charset="-122"/>
              </a:rPr>
              <a:t>模拟信号</a:t>
            </a:r>
            <a:endParaRPr lang="zh-CN" altLang="en-US" sz="1800" dirty="0">
              <a:solidFill>
                <a:srgbClr val="333399"/>
              </a:solidFill>
              <a:latin typeface="Arial" panose="020B0604020202020204" pitchFamily="34" charset="0"/>
              <a:ea typeface="微软雅黑 Light" panose="020B0502040204020203" pitchFamily="34" charset="-122"/>
            </a:endParaRPr>
          </a:p>
        </p:txBody>
      </p:sp>
      <p:sp>
        <p:nvSpPr>
          <p:cNvPr id="367686" name="Rectangle 70"/>
          <p:cNvSpPr>
            <a:spLocks noChangeArrowheads="1"/>
          </p:cNvSpPr>
          <p:nvPr/>
        </p:nvSpPr>
        <p:spPr bwMode="auto">
          <a:xfrm>
            <a:off x="6919239" y="1716162"/>
            <a:ext cx="1219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solidFill>
                  <a:srgbClr val="333399"/>
                </a:solidFill>
                <a:latin typeface="Arial" panose="020B0604020202020204" pitchFamily="34" charset="0"/>
                <a:ea typeface="微软雅黑 Light" panose="020B0502040204020203" pitchFamily="34" charset="-122"/>
              </a:rPr>
              <a:t>模拟信号 </a:t>
            </a:r>
            <a:endParaRPr lang="zh-CN" altLang="en-US" sz="1800" dirty="0">
              <a:solidFill>
                <a:srgbClr val="333399"/>
              </a:solidFill>
              <a:latin typeface="Arial" panose="020B0604020202020204" pitchFamily="34" charset="0"/>
              <a:ea typeface="微软雅黑 Light" panose="020B0502040204020203" pitchFamily="34" charset="-122"/>
            </a:endParaRPr>
          </a:p>
        </p:txBody>
      </p:sp>
      <p:sp>
        <p:nvSpPr>
          <p:cNvPr id="367687" name="Rectangle 71"/>
          <p:cNvSpPr>
            <a:spLocks noChangeArrowheads="1"/>
          </p:cNvSpPr>
          <p:nvPr/>
        </p:nvSpPr>
        <p:spPr bwMode="auto">
          <a:xfrm>
            <a:off x="1784170" y="2139490"/>
            <a:ext cx="709612"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1800" dirty="0">
                <a:latin typeface="Arial" panose="020B0604020202020204" pitchFamily="34" charset="0"/>
                <a:ea typeface="微软雅黑 Light" panose="020B0502040204020203" pitchFamily="34" charset="-122"/>
              </a:rPr>
              <a:t>输入</a:t>
            </a:r>
            <a:endParaRPr lang="zh-CN" altLang="en-US" sz="1800" dirty="0">
              <a:latin typeface="Arial" panose="020B0604020202020204" pitchFamily="34" charset="0"/>
              <a:ea typeface="微软雅黑 Light" panose="020B0502040204020203" pitchFamily="34" charset="-122"/>
            </a:endParaRPr>
          </a:p>
          <a:p>
            <a:pPr algn="ctr" eaLnBrk="0" hangingPunct="0"/>
            <a:r>
              <a:rPr lang="zh-CN" altLang="en-US" sz="1800" dirty="0">
                <a:latin typeface="Arial" panose="020B0604020202020204" pitchFamily="34" charset="0"/>
                <a:ea typeface="微软雅黑 Light" panose="020B0502040204020203" pitchFamily="34" charset="-122"/>
              </a:rPr>
              <a:t>信息</a:t>
            </a:r>
            <a:endParaRPr lang="zh-CN" altLang="en-US" sz="1800" dirty="0">
              <a:latin typeface="Arial" panose="020B0604020202020204" pitchFamily="34" charset="0"/>
              <a:ea typeface="微软雅黑 Light" panose="020B0502040204020203" pitchFamily="34" charset="-122"/>
            </a:endParaRPr>
          </a:p>
        </p:txBody>
      </p:sp>
      <p:sp>
        <p:nvSpPr>
          <p:cNvPr id="367688" name="Rectangle 72"/>
          <p:cNvSpPr>
            <a:spLocks noChangeArrowheads="1"/>
          </p:cNvSpPr>
          <p:nvPr/>
        </p:nvSpPr>
        <p:spPr bwMode="auto">
          <a:xfrm>
            <a:off x="9957715" y="2069725"/>
            <a:ext cx="709612"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dirty="0">
                <a:latin typeface="Arial" panose="020B0604020202020204" pitchFamily="34" charset="0"/>
                <a:ea typeface="微软雅黑 Light" panose="020B0502040204020203" pitchFamily="34" charset="-122"/>
              </a:rPr>
              <a:t>显示</a:t>
            </a:r>
            <a:endParaRPr kumimoji="1" lang="zh-CN" altLang="en-US" dirty="0">
              <a:latin typeface="Arial" panose="020B0604020202020204" pitchFamily="34" charset="0"/>
              <a:ea typeface="微软雅黑 Light" panose="020B0502040204020203" pitchFamily="34" charset="-122"/>
            </a:endParaRPr>
          </a:p>
          <a:p>
            <a:pPr algn="ctr" defTabSz="762000" eaLnBrk="0" hangingPunct="0"/>
            <a:r>
              <a:rPr kumimoji="1" lang="zh-CN" altLang="en-US" dirty="0">
                <a:latin typeface="Arial" panose="020B0604020202020204" pitchFamily="34" charset="0"/>
                <a:ea typeface="微软雅黑 Light" panose="020B0502040204020203" pitchFamily="34" charset="-122"/>
              </a:rPr>
              <a:t>信息</a:t>
            </a:r>
            <a:endParaRPr kumimoji="1" lang="zh-CN" altLang="en-US" dirty="0">
              <a:latin typeface="Arial" panose="020B0604020202020204" pitchFamily="34" charset="0"/>
              <a:ea typeface="微软雅黑 Light" panose="020B0502040204020203" pitchFamily="34" charset="-122"/>
            </a:endParaRPr>
          </a:p>
        </p:txBody>
      </p:sp>
      <p:sp>
        <p:nvSpPr>
          <p:cNvPr id="367689" name="Freeform 73"/>
          <p:cNvSpPr/>
          <p:nvPr/>
        </p:nvSpPr>
        <p:spPr bwMode="auto">
          <a:xfrm>
            <a:off x="8340052" y="2224162"/>
            <a:ext cx="742950"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grpSp>
        <p:nvGrpSpPr>
          <p:cNvPr id="367690" name="Group 74"/>
          <p:cNvGrpSpPr/>
          <p:nvPr/>
        </p:nvGrpSpPr>
        <p:grpSpPr bwMode="auto">
          <a:xfrm>
            <a:off x="7081164" y="2101926"/>
            <a:ext cx="654050" cy="339725"/>
            <a:chOff x="2315" y="3965"/>
            <a:chExt cx="496" cy="254"/>
          </a:xfrm>
        </p:grpSpPr>
        <p:sp>
          <p:nvSpPr>
            <p:cNvPr id="367691" name="Freeform 75"/>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67692" name="Freeform 76"/>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67693" name="Freeform 77"/>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67694" name="Freeform 78"/>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grpSp>
        <p:nvGrpSpPr>
          <p:cNvPr id="367698" name="Group 82"/>
          <p:cNvGrpSpPr/>
          <p:nvPr/>
        </p:nvGrpSpPr>
        <p:grpSpPr bwMode="auto">
          <a:xfrm>
            <a:off x="2128164" y="2614688"/>
            <a:ext cx="2838450" cy="1660525"/>
            <a:chOff x="273" y="2091"/>
            <a:chExt cx="1788" cy="1046"/>
          </a:xfrm>
        </p:grpSpPr>
        <p:sp>
          <p:nvSpPr>
            <p:cNvPr id="367699" name="Line 83"/>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grpSp>
          <p:nvGrpSpPr>
            <p:cNvPr id="367700" name="Group 84"/>
            <p:cNvGrpSpPr/>
            <p:nvPr/>
          </p:nvGrpSpPr>
          <p:grpSpPr bwMode="auto">
            <a:xfrm>
              <a:off x="273" y="2523"/>
              <a:ext cx="1788" cy="237"/>
              <a:chOff x="273" y="2523"/>
              <a:chExt cx="1788" cy="237"/>
            </a:xfrm>
          </p:grpSpPr>
          <p:sp>
            <p:nvSpPr>
              <p:cNvPr id="367701" name="Line 85"/>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702" name="Rectangle 86"/>
              <p:cNvSpPr>
                <a:spLocks noChangeArrowheads="1"/>
              </p:cNvSpPr>
              <p:nvPr/>
            </p:nvSpPr>
            <p:spPr bwMode="auto">
              <a:xfrm>
                <a:off x="854" y="2523"/>
                <a:ext cx="620" cy="237"/>
              </a:xfrm>
              <a:prstGeom prst="rect">
                <a:avLst/>
              </a:prstGeom>
              <a:solidFill>
                <a:schemeClr val="accent1">
                  <a:lumMod val="75000"/>
                </a:schemeClr>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lang="zh-CN" altLang="en-US" sz="1800" dirty="0">
                    <a:solidFill>
                      <a:schemeClr val="bg1"/>
                    </a:solidFill>
                    <a:latin typeface="微软雅黑 Light" panose="020B0502040204020203" pitchFamily="34" charset="-122"/>
                    <a:ea typeface="微软雅黑 Light" panose="020B0502040204020203" pitchFamily="34" charset="-122"/>
                  </a:rPr>
                  <a:t>源系统</a:t>
                </a:r>
                <a:endParaRPr lang="zh-CN" altLang="en-US" sz="1800" dirty="0">
                  <a:solidFill>
                    <a:schemeClr val="bg1"/>
                  </a:solidFill>
                  <a:latin typeface="微软雅黑 Light" panose="020B0502040204020203" pitchFamily="34" charset="-122"/>
                  <a:ea typeface="微软雅黑 Light" panose="020B0502040204020203" pitchFamily="34" charset="-122"/>
                </a:endParaRPr>
              </a:p>
            </p:txBody>
          </p:sp>
        </p:grpSp>
      </p:grpSp>
      <p:grpSp>
        <p:nvGrpSpPr>
          <p:cNvPr id="367703" name="Group 87"/>
          <p:cNvGrpSpPr/>
          <p:nvPr/>
        </p:nvGrpSpPr>
        <p:grpSpPr bwMode="auto">
          <a:xfrm>
            <a:off x="7236739" y="3316362"/>
            <a:ext cx="2840038" cy="376238"/>
            <a:chOff x="3491" y="2533"/>
            <a:chExt cx="1789" cy="237"/>
          </a:xfrm>
        </p:grpSpPr>
        <p:sp>
          <p:nvSpPr>
            <p:cNvPr id="367704" name="Line 88"/>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705" name="Rectangle 89"/>
            <p:cNvSpPr>
              <a:spLocks noChangeArrowheads="1"/>
            </p:cNvSpPr>
            <p:nvPr/>
          </p:nvSpPr>
          <p:spPr bwMode="auto">
            <a:xfrm>
              <a:off x="4028" y="2533"/>
              <a:ext cx="712" cy="237"/>
            </a:xfrm>
            <a:prstGeom prst="rect">
              <a:avLst/>
            </a:prstGeom>
            <a:solidFill>
              <a:schemeClr val="accent1">
                <a:lumMod val="75000"/>
              </a:schemeClr>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dirty="0">
                  <a:solidFill>
                    <a:schemeClr val="bg1"/>
                  </a:solidFill>
                  <a:latin typeface="微软雅黑 Light" panose="020B0502040204020203" pitchFamily="34" charset="-122"/>
                  <a:ea typeface="微软雅黑 Light" panose="020B0502040204020203" pitchFamily="34" charset="-122"/>
                </a:rPr>
                <a:t>目的系统</a:t>
              </a:r>
              <a:endParaRPr kumimoji="1" lang="zh-CN" altLang="en-US" dirty="0">
                <a:solidFill>
                  <a:schemeClr val="bg1"/>
                </a:solidFill>
                <a:latin typeface="微软雅黑 Light" panose="020B0502040204020203" pitchFamily="34" charset="-122"/>
                <a:ea typeface="微软雅黑 Light" panose="020B0502040204020203" pitchFamily="34" charset="-122"/>
              </a:endParaRPr>
            </a:p>
          </p:txBody>
        </p:sp>
      </p:grpSp>
      <p:grpSp>
        <p:nvGrpSpPr>
          <p:cNvPr id="367706" name="Group 90"/>
          <p:cNvGrpSpPr/>
          <p:nvPr/>
        </p:nvGrpSpPr>
        <p:grpSpPr bwMode="auto">
          <a:xfrm>
            <a:off x="4966615" y="2586113"/>
            <a:ext cx="2270125" cy="1725613"/>
            <a:chOff x="2061" y="2073"/>
            <a:chExt cx="1430" cy="1087"/>
          </a:xfrm>
        </p:grpSpPr>
        <p:sp>
          <p:nvSpPr>
            <p:cNvPr id="367707" name="Line 91"/>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708" name="Rectangle 92"/>
            <p:cNvSpPr>
              <a:spLocks noChangeArrowheads="1"/>
            </p:cNvSpPr>
            <p:nvPr/>
          </p:nvSpPr>
          <p:spPr bwMode="auto">
            <a:xfrm>
              <a:off x="2418" y="2533"/>
              <a:ext cx="734" cy="237"/>
            </a:xfrm>
            <a:prstGeom prst="rect">
              <a:avLst/>
            </a:prstGeom>
            <a:solidFill>
              <a:srgbClr val="0070C0"/>
            </a:solidFill>
            <a:ln w="12700">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1800" dirty="0">
                  <a:solidFill>
                    <a:schemeClr val="bg1"/>
                  </a:solidFill>
                  <a:latin typeface="微软雅黑 Light" panose="020B0502040204020203" pitchFamily="34" charset="-122"/>
                  <a:ea typeface="微软雅黑 Light" panose="020B0502040204020203" pitchFamily="34" charset="-122"/>
                </a:rPr>
                <a:t>传输系统</a:t>
              </a:r>
              <a:endParaRPr lang="zh-CN" altLang="en-US" sz="1800" dirty="0">
                <a:solidFill>
                  <a:schemeClr val="bg1"/>
                </a:solidFill>
                <a:latin typeface="微软雅黑 Light" panose="020B0502040204020203" pitchFamily="34" charset="-122"/>
                <a:ea typeface="微软雅黑 Light" panose="020B0502040204020203" pitchFamily="34" charset="-122"/>
              </a:endParaRPr>
            </a:p>
          </p:txBody>
        </p:sp>
        <p:sp>
          <p:nvSpPr>
            <p:cNvPr id="367709" name="Line 93"/>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grpSp>
      <p:sp>
        <p:nvSpPr>
          <p:cNvPr id="367713" name="Rectangle 97"/>
          <p:cNvSpPr>
            <a:spLocks noChangeArrowheads="1"/>
          </p:cNvSpPr>
          <p:nvPr/>
        </p:nvSpPr>
        <p:spPr bwMode="auto">
          <a:xfrm>
            <a:off x="9898977" y="4373429"/>
            <a:ext cx="5667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dirty="0">
                <a:latin typeface="Arial" panose="020B0604020202020204" pitchFamily="34" charset="0"/>
                <a:ea typeface="微软雅黑 Light" panose="020B0502040204020203" pitchFamily="34" charset="-122"/>
              </a:rPr>
              <a:t>输出信息</a:t>
            </a:r>
            <a:endParaRPr kumimoji="1" lang="zh-CN" altLang="en-US" dirty="0">
              <a:latin typeface="Arial" panose="020B0604020202020204" pitchFamily="34" charset="0"/>
              <a:ea typeface="微软雅黑 Light" panose="020B0502040204020203" pitchFamily="34" charset="-122"/>
            </a:endParaRPr>
          </a:p>
        </p:txBody>
      </p:sp>
      <p:sp>
        <p:nvSpPr>
          <p:cNvPr id="367714" name="Line 98"/>
          <p:cNvSpPr>
            <a:spLocks noChangeShapeType="1"/>
          </p:cNvSpPr>
          <p:nvPr/>
        </p:nvSpPr>
        <p:spPr bwMode="auto">
          <a:xfrm>
            <a:off x="9898977" y="4311725"/>
            <a:ext cx="531813" cy="0"/>
          </a:xfrm>
          <a:prstGeom prst="line">
            <a:avLst/>
          </a:prstGeom>
          <a:noFill/>
          <a:ln w="381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67715" name="Rectangle 99"/>
          <p:cNvSpPr>
            <a:spLocks noChangeArrowheads="1"/>
          </p:cNvSpPr>
          <p:nvPr/>
        </p:nvSpPr>
        <p:spPr bwMode="auto">
          <a:xfrm>
            <a:off x="9141740" y="2713492"/>
            <a:ext cx="8159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dirty="0">
                <a:solidFill>
                  <a:srgbClr val="333399"/>
                </a:solidFill>
                <a:latin typeface="Arial" panose="020B0604020202020204" pitchFamily="34" charset="0"/>
                <a:ea typeface="微软雅黑 Light" panose="020B0502040204020203" pitchFamily="34" charset="-122"/>
              </a:rPr>
              <a:t>PC </a:t>
            </a:r>
            <a:r>
              <a:rPr lang="zh-CN" altLang="en-US" sz="1800" dirty="0">
                <a:solidFill>
                  <a:srgbClr val="333399"/>
                </a:solidFill>
                <a:latin typeface="Arial" panose="020B0604020202020204" pitchFamily="34" charset="0"/>
                <a:ea typeface="微软雅黑 Light" panose="020B0502040204020203" pitchFamily="34" charset="-122"/>
              </a:rPr>
              <a:t>机</a:t>
            </a:r>
            <a:endParaRPr lang="zh-CN" altLang="en-US" sz="1800" dirty="0">
              <a:solidFill>
                <a:srgbClr val="333399"/>
              </a:solidFill>
              <a:latin typeface="Arial" panose="020B0604020202020204" pitchFamily="34" charset="0"/>
              <a:ea typeface="微软雅黑 Light" panose="020B0502040204020203" pitchFamily="34" charset="-122"/>
            </a:endParaRPr>
          </a:p>
        </p:txBody>
      </p:sp>
      <p:pic>
        <p:nvPicPr>
          <p:cNvPr id="96" name="图形 9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64605" y="2211306"/>
            <a:ext cx="582300" cy="440885"/>
          </a:xfrm>
          <a:prstGeom prst="rect">
            <a:avLst/>
          </a:prstGeom>
        </p:spPr>
      </p:pic>
      <p:pic>
        <p:nvPicPr>
          <p:cNvPr id="98" name="图形 9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40718" y="2217156"/>
            <a:ext cx="582300" cy="440885"/>
          </a:xfrm>
          <a:prstGeom prst="rect">
            <a:avLst/>
          </a:prstGeom>
        </p:spPr>
      </p:pic>
      <p:grpSp>
        <p:nvGrpSpPr>
          <p:cNvPr id="108" name="组合 107"/>
          <p:cNvGrpSpPr/>
          <p:nvPr/>
        </p:nvGrpSpPr>
        <p:grpSpPr>
          <a:xfrm>
            <a:off x="3904480" y="2408139"/>
            <a:ext cx="553700" cy="214958"/>
            <a:chOff x="2609296" y="5483956"/>
            <a:chExt cx="843917" cy="213405"/>
          </a:xfrm>
        </p:grpSpPr>
        <p:grpSp>
          <p:nvGrpSpPr>
            <p:cNvPr id="109" name="组合 108"/>
            <p:cNvGrpSpPr/>
            <p:nvPr/>
          </p:nvGrpSpPr>
          <p:grpSpPr>
            <a:xfrm>
              <a:off x="2609296" y="5483956"/>
              <a:ext cx="843917" cy="213405"/>
              <a:chOff x="6596086" y="4965714"/>
              <a:chExt cx="839790" cy="282576"/>
            </a:xfrm>
          </p:grpSpPr>
          <p:sp>
            <p:nvSpPr>
              <p:cNvPr id="113" name="Freeform 5"/>
              <p:cNvSpPr>
                <a:spLocks noEditPoints="1"/>
              </p:cNvSpPr>
              <p:nvPr/>
            </p:nvSpPr>
            <p:spPr bwMode="auto">
              <a:xfrm>
                <a:off x="6596086" y="4965714"/>
                <a:ext cx="839790" cy="282576"/>
              </a:xfrm>
              <a:custGeom>
                <a:avLst/>
                <a:gdLst>
                  <a:gd name="T0" fmla="*/ 2554 w 2800"/>
                  <a:gd name="T1" fmla="*/ 936 h 936"/>
                  <a:gd name="T2" fmla="*/ 247 w 2800"/>
                  <a:gd name="T3" fmla="*/ 936 h 936"/>
                  <a:gd name="T4" fmla="*/ 0 w 2800"/>
                  <a:gd name="T5" fmla="*/ 689 h 936"/>
                  <a:gd name="T6" fmla="*/ 0 w 2800"/>
                  <a:gd name="T7" fmla="*/ 247 h 936"/>
                  <a:gd name="T8" fmla="*/ 247 w 2800"/>
                  <a:gd name="T9" fmla="*/ 0 h 936"/>
                  <a:gd name="T10" fmla="*/ 2554 w 2800"/>
                  <a:gd name="T11" fmla="*/ 0 h 936"/>
                  <a:gd name="T12" fmla="*/ 2800 w 2800"/>
                  <a:gd name="T13" fmla="*/ 247 h 936"/>
                  <a:gd name="T14" fmla="*/ 2800 w 2800"/>
                  <a:gd name="T15" fmla="*/ 689 h 936"/>
                  <a:gd name="T16" fmla="*/ 2554 w 2800"/>
                  <a:gd name="T17" fmla="*/ 936 h 936"/>
                  <a:gd name="T18" fmla="*/ 247 w 2800"/>
                  <a:gd name="T19" fmla="*/ 120 h 936"/>
                  <a:gd name="T20" fmla="*/ 120 w 2800"/>
                  <a:gd name="T21" fmla="*/ 247 h 936"/>
                  <a:gd name="T22" fmla="*/ 120 w 2800"/>
                  <a:gd name="T23" fmla="*/ 689 h 936"/>
                  <a:gd name="T24" fmla="*/ 247 w 2800"/>
                  <a:gd name="T25" fmla="*/ 816 h 936"/>
                  <a:gd name="T26" fmla="*/ 2554 w 2800"/>
                  <a:gd name="T27" fmla="*/ 816 h 936"/>
                  <a:gd name="T28" fmla="*/ 2680 w 2800"/>
                  <a:gd name="T29" fmla="*/ 689 h 936"/>
                  <a:gd name="T30" fmla="*/ 2680 w 2800"/>
                  <a:gd name="T31" fmla="*/ 247 h 936"/>
                  <a:gd name="T32" fmla="*/ 2554 w 2800"/>
                  <a:gd name="T33" fmla="*/ 120 h 936"/>
                  <a:gd name="T34" fmla="*/ 247 w 2800"/>
                  <a:gd name="T35" fmla="*/ 12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00" h="936">
                    <a:moveTo>
                      <a:pt x="2554" y="936"/>
                    </a:moveTo>
                    <a:cubicBezTo>
                      <a:pt x="247" y="936"/>
                      <a:pt x="247" y="936"/>
                      <a:pt x="247" y="936"/>
                    </a:cubicBezTo>
                    <a:cubicBezTo>
                      <a:pt x="111" y="936"/>
                      <a:pt x="0" y="825"/>
                      <a:pt x="0" y="689"/>
                    </a:cubicBezTo>
                    <a:cubicBezTo>
                      <a:pt x="0" y="247"/>
                      <a:pt x="0" y="247"/>
                      <a:pt x="0" y="247"/>
                    </a:cubicBezTo>
                    <a:cubicBezTo>
                      <a:pt x="0" y="111"/>
                      <a:pt x="111" y="0"/>
                      <a:pt x="247" y="0"/>
                    </a:cubicBezTo>
                    <a:cubicBezTo>
                      <a:pt x="2554" y="0"/>
                      <a:pt x="2554" y="0"/>
                      <a:pt x="2554" y="0"/>
                    </a:cubicBezTo>
                    <a:cubicBezTo>
                      <a:pt x="2690" y="0"/>
                      <a:pt x="2800" y="111"/>
                      <a:pt x="2800" y="247"/>
                    </a:cubicBezTo>
                    <a:cubicBezTo>
                      <a:pt x="2800" y="689"/>
                      <a:pt x="2800" y="689"/>
                      <a:pt x="2800" y="689"/>
                    </a:cubicBezTo>
                    <a:cubicBezTo>
                      <a:pt x="2800" y="825"/>
                      <a:pt x="2690" y="936"/>
                      <a:pt x="2554" y="936"/>
                    </a:cubicBezTo>
                    <a:close/>
                    <a:moveTo>
                      <a:pt x="247" y="120"/>
                    </a:moveTo>
                    <a:cubicBezTo>
                      <a:pt x="177" y="120"/>
                      <a:pt x="120" y="177"/>
                      <a:pt x="120" y="247"/>
                    </a:cubicBezTo>
                    <a:cubicBezTo>
                      <a:pt x="120" y="689"/>
                      <a:pt x="120" y="689"/>
                      <a:pt x="120" y="689"/>
                    </a:cubicBezTo>
                    <a:cubicBezTo>
                      <a:pt x="120" y="759"/>
                      <a:pt x="177" y="816"/>
                      <a:pt x="247" y="816"/>
                    </a:cubicBezTo>
                    <a:cubicBezTo>
                      <a:pt x="2554" y="816"/>
                      <a:pt x="2554" y="816"/>
                      <a:pt x="2554" y="816"/>
                    </a:cubicBezTo>
                    <a:cubicBezTo>
                      <a:pt x="2624" y="816"/>
                      <a:pt x="2680" y="759"/>
                      <a:pt x="2680" y="689"/>
                    </a:cubicBezTo>
                    <a:cubicBezTo>
                      <a:pt x="2680" y="247"/>
                      <a:pt x="2680" y="247"/>
                      <a:pt x="2680" y="247"/>
                    </a:cubicBezTo>
                    <a:cubicBezTo>
                      <a:pt x="2680" y="177"/>
                      <a:pt x="2624" y="120"/>
                      <a:pt x="2554" y="120"/>
                    </a:cubicBezTo>
                    <a:lnTo>
                      <a:pt x="247" y="120"/>
                    </a:ln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sp>
            <p:nvSpPr>
              <p:cNvPr id="114" name="Freeform 9"/>
              <p:cNvSpPr/>
              <p:nvPr/>
            </p:nvSpPr>
            <p:spPr bwMode="auto">
              <a:xfrm>
                <a:off x="6681798" y="5033926"/>
                <a:ext cx="33337" cy="31750"/>
              </a:xfrm>
              <a:custGeom>
                <a:avLst/>
                <a:gdLst>
                  <a:gd name="T0" fmla="*/ 83 w 107"/>
                  <a:gd name="T1" fmla="*/ 108 h 108"/>
                  <a:gd name="T2" fmla="*/ 24 w 107"/>
                  <a:gd name="T3" fmla="*/ 108 h 108"/>
                  <a:gd name="T4" fmla="*/ 0 w 107"/>
                  <a:gd name="T5" fmla="*/ 84 h 108"/>
                  <a:gd name="T6" fmla="*/ 0 w 107"/>
                  <a:gd name="T7" fmla="*/ 24 h 108"/>
                  <a:gd name="T8" fmla="*/ 24 w 107"/>
                  <a:gd name="T9" fmla="*/ 0 h 108"/>
                  <a:gd name="T10" fmla="*/ 83 w 107"/>
                  <a:gd name="T11" fmla="*/ 0 h 108"/>
                  <a:gd name="T12" fmla="*/ 107 w 107"/>
                  <a:gd name="T13" fmla="*/ 24 h 108"/>
                  <a:gd name="T14" fmla="*/ 107 w 107"/>
                  <a:gd name="T15" fmla="*/ 84 h 108"/>
                  <a:gd name="T16" fmla="*/ 83 w 107"/>
                  <a:gd name="T1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8">
                    <a:moveTo>
                      <a:pt x="83" y="108"/>
                    </a:moveTo>
                    <a:cubicBezTo>
                      <a:pt x="24" y="108"/>
                      <a:pt x="24" y="108"/>
                      <a:pt x="24" y="108"/>
                    </a:cubicBezTo>
                    <a:cubicBezTo>
                      <a:pt x="10" y="108"/>
                      <a:pt x="0" y="97"/>
                      <a:pt x="0" y="84"/>
                    </a:cubicBezTo>
                    <a:cubicBezTo>
                      <a:pt x="0" y="24"/>
                      <a:pt x="0" y="24"/>
                      <a:pt x="0" y="24"/>
                    </a:cubicBezTo>
                    <a:cubicBezTo>
                      <a:pt x="0" y="11"/>
                      <a:pt x="10" y="0"/>
                      <a:pt x="24" y="0"/>
                    </a:cubicBezTo>
                    <a:cubicBezTo>
                      <a:pt x="83" y="0"/>
                      <a:pt x="83" y="0"/>
                      <a:pt x="83" y="0"/>
                    </a:cubicBezTo>
                    <a:cubicBezTo>
                      <a:pt x="97" y="0"/>
                      <a:pt x="107" y="11"/>
                      <a:pt x="107" y="24"/>
                    </a:cubicBezTo>
                    <a:cubicBezTo>
                      <a:pt x="107" y="84"/>
                      <a:pt x="107" y="84"/>
                      <a:pt x="107" y="84"/>
                    </a:cubicBezTo>
                    <a:cubicBezTo>
                      <a:pt x="107" y="97"/>
                      <a:pt x="97" y="108"/>
                      <a:pt x="83" y="108"/>
                    </a:cubicBez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sp>
            <p:nvSpPr>
              <p:cNvPr id="115" name="Freeform 10"/>
              <p:cNvSpPr/>
              <p:nvPr/>
            </p:nvSpPr>
            <p:spPr bwMode="auto">
              <a:xfrm>
                <a:off x="6681768" y="5091061"/>
                <a:ext cx="33337" cy="31750"/>
              </a:xfrm>
              <a:custGeom>
                <a:avLst/>
                <a:gdLst>
                  <a:gd name="T0" fmla="*/ 83 w 107"/>
                  <a:gd name="T1" fmla="*/ 107 h 107"/>
                  <a:gd name="T2" fmla="*/ 24 w 107"/>
                  <a:gd name="T3" fmla="*/ 107 h 107"/>
                  <a:gd name="T4" fmla="*/ 0 w 107"/>
                  <a:gd name="T5" fmla="*/ 83 h 107"/>
                  <a:gd name="T6" fmla="*/ 0 w 107"/>
                  <a:gd name="T7" fmla="*/ 24 h 107"/>
                  <a:gd name="T8" fmla="*/ 24 w 107"/>
                  <a:gd name="T9" fmla="*/ 0 h 107"/>
                  <a:gd name="T10" fmla="*/ 83 w 107"/>
                  <a:gd name="T11" fmla="*/ 0 h 107"/>
                  <a:gd name="T12" fmla="*/ 107 w 107"/>
                  <a:gd name="T13" fmla="*/ 24 h 107"/>
                  <a:gd name="T14" fmla="*/ 107 w 107"/>
                  <a:gd name="T15" fmla="*/ 83 h 107"/>
                  <a:gd name="T16" fmla="*/ 83 w 107"/>
                  <a:gd name="T17"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7">
                    <a:moveTo>
                      <a:pt x="83" y="107"/>
                    </a:moveTo>
                    <a:cubicBezTo>
                      <a:pt x="24" y="107"/>
                      <a:pt x="24" y="107"/>
                      <a:pt x="24" y="107"/>
                    </a:cubicBezTo>
                    <a:cubicBezTo>
                      <a:pt x="10" y="107"/>
                      <a:pt x="0" y="97"/>
                      <a:pt x="0" y="83"/>
                    </a:cubicBezTo>
                    <a:cubicBezTo>
                      <a:pt x="0" y="24"/>
                      <a:pt x="0" y="24"/>
                      <a:pt x="0" y="24"/>
                    </a:cubicBezTo>
                    <a:cubicBezTo>
                      <a:pt x="0" y="11"/>
                      <a:pt x="10" y="0"/>
                      <a:pt x="24" y="0"/>
                    </a:cubicBezTo>
                    <a:cubicBezTo>
                      <a:pt x="83" y="0"/>
                      <a:pt x="83" y="0"/>
                      <a:pt x="83" y="0"/>
                    </a:cubicBezTo>
                    <a:cubicBezTo>
                      <a:pt x="97" y="0"/>
                      <a:pt x="107" y="11"/>
                      <a:pt x="107" y="24"/>
                    </a:cubicBezTo>
                    <a:cubicBezTo>
                      <a:pt x="107" y="83"/>
                      <a:pt x="107" y="83"/>
                      <a:pt x="107" y="83"/>
                    </a:cubicBezTo>
                    <a:cubicBezTo>
                      <a:pt x="107" y="97"/>
                      <a:pt x="97" y="107"/>
                      <a:pt x="83" y="107"/>
                    </a:cubicBez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sp>
            <p:nvSpPr>
              <p:cNvPr id="116" name="Freeform 11"/>
              <p:cNvSpPr/>
              <p:nvPr/>
            </p:nvSpPr>
            <p:spPr bwMode="auto">
              <a:xfrm>
                <a:off x="6681788" y="5148262"/>
                <a:ext cx="33337" cy="31750"/>
              </a:xfrm>
              <a:custGeom>
                <a:avLst/>
                <a:gdLst>
                  <a:gd name="T0" fmla="*/ 83 w 107"/>
                  <a:gd name="T1" fmla="*/ 108 h 108"/>
                  <a:gd name="T2" fmla="*/ 24 w 107"/>
                  <a:gd name="T3" fmla="*/ 108 h 108"/>
                  <a:gd name="T4" fmla="*/ 0 w 107"/>
                  <a:gd name="T5" fmla="*/ 84 h 108"/>
                  <a:gd name="T6" fmla="*/ 0 w 107"/>
                  <a:gd name="T7" fmla="*/ 24 h 108"/>
                  <a:gd name="T8" fmla="*/ 24 w 107"/>
                  <a:gd name="T9" fmla="*/ 0 h 108"/>
                  <a:gd name="T10" fmla="*/ 83 w 107"/>
                  <a:gd name="T11" fmla="*/ 0 h 108"/>
                  <a:gd name="T12" fmla="*/ 107 w 107"/>
                  <a:gd name="T13" fmla="*/ 24 h 108"/>
                  <a:gd name="T14" fmla="*/ 107 w 107"/>
                  <a:gd name="T15" fmla="*/ 84 h 108"/>
                  <a:gd name="T16" fmla="*/ 83 w 107"/>
                  <a:gd name="T1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8">
                    <a:moveTo>
                      <a:pt x="83" y="108"/>
                    </a:moveTo>
                    <a:cubicBezTo>
                      <a:pt x="24" y="108"/>
                      <a:pt x="24" y="108"/>
                      <a:pt x="24" y="108"/>
                    </a:cubicBezTo>
                    <a:cubicBezTo>
                      <a:pt x="10" y="108"/>
                      <a:pt x="0" y="97"/>
                      <a:pt x="0" y="84"/>
                    </a:cubicBezTo>
                    <a:cubicBezTo>
                      <a:pt x="0" y="24"/>
                      <a:pt x="0" y="24"/>
                      <a:pt x="0" y="24"/>
                    </a:cubicBezTo>
                    <a:cubicBezTo>
                      <a:pt x="0" y="11"/>
                      <a:pt x="10" y="0"/>
                      <a:pt x="24" y="0"/>
                    </a:cubicBezTo>
                    <a:cubicBezTo>
                      <a:pt x="83" y="0"/>
                      <a:pt x="83" y="0"/>
                      <a:pt x="83" y="0"/>
                    </a:cubicBezTo>
                    <a:cubicBezTo>
                      <a:pt x="97" y="0"/>
                      <a:pt x="107" y="11"/>
                      <a:pt x="107" y="24"/>
                    </a:cubicBezTo>
                    <a:cubicBezTo>
                      <a:pt x="107" y="84"/>
                      <a:pt x="107" y="84"/>
                      <a:pt x="107" y="84"/>
                    </a:cubicBezTo>
                    <a:cubicBezTo>
                      <a:pt x="107" y="97"/>
                      <a:pt x="97" y="108"/>
                      <a:pt x="83" y="108"/>
                    </a:cubicBez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grpSp>
        <p:sp>
          <p:nvSpPr>
            <p:cNvPr id="110" name="椭圆 109"/>
            <p:cNvSpPr/>
            <p:nvPr/>
          </p:nvSpPr>
          <p:spPr>
            <a:xfrm>
              <a:off x="2883255" y="5550159"/>
              <a:ext cx="95638" cy="95638"/>
            </a:xfrm>
            <a:prstGeom prst="ellipse">
              <a:avLst/>
            </a:prstGeom>
            <a:solidFill>
              <a:schemeClr val="bg1"/>
            </a:solid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ndParaRPr>
            </a:p>
          </p:txBody>
        </p:sp>
        <p:sp>
          <p:nvSpPr>
            <p:cNvPr id="111" name="椭圆 110"/>
            <p:cNvSpPr/>
            <p:nvPr/>
          </p:nvSpPr>
          <p:spPr>
            <a:xfrm>
              <a:off x="3040408" y="5552907"/>
              <a:ext cx="95638" cy="95638"/>
            </a:xfrm>
            <a:prstGeom prst="ellipse">
              <a:avLst/>
            </a:prstGeom>
            <a:solidFill>
              <a:schemeClr val="bg1"/>
            </a:solid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ndParaRPr>
            </a:p>
          </p:txBody>
        </p:sp>
        <p:sp>
          <p:nvSpPr>
            <p:cNvPr id="112" name="椭圆 111"/>
            <p:cNvSpPr/>
            <p:nvPr/>
          </p:nvSpPr>
          <p:spPr>
            <a:xfrm>
              <a:off x="3189340" y="5552907"/>
              <a:ext cx="95638" cy="95638"/>
            </a:xfrm>
            <a:prstGeom prst="ellipse">
              <a:avLst/>
            </a:prstGeom>
            <a:solidFill>
              <a:schemeClr val="bg1"/>
            </a:solid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ndParaRPr>
            </a:p>
          </p:txBody>
        </p:sp>
      </p:grpSp>
      <p:grpSp>
        <p:nvGrpSpPr>
          <p:cNvPr id="117" name="组合 116"/>
          <p:cNvGrpSpPr/>
          <p:nvPr/>
        </p:nvGrpSpPr>
        <p:grpSpPr>
          <a:xfrm>
            <a:off x="7739642" y="2417838"/>
            <a:ext cx="553700" cy="214958"/>
            <a:chOff x="2609296" y="5483956"/>
            <a:chExt cx="843917" cy="213405"/>
          </a:xfrm>
        </p:grpSpPr>
        <p:grpSp>
          <p:nvGrpSpPr>
            <p:cNvPr id="118" name="组合 117"/>
            <p:cNvGrpSpPr/>
            <p:nvPr/>
          </p:nvGrpSpPr>
          <p:grpSpPr>
            <a:xfrm>
              <a:off x="2609296" y="5483956"/>
              <a:ext cx="843917" cy="213405"/>
              <a:chOff x="6596086" y="4965714"/>
              <a:chExt cx="839790" cy="282576"/>
            </a:xfrm>
          </p:grpSpPr>
          <p:sp>
            <p:nvSpPr>
              <p:cNvPr id="122" name="Freeform 5"/>
              <p:cNvSpPr>
                <a:spLocks noEditPoints="1"/>
              </p:cNvSpPr>
              <p:nvPr/>
            </p:nvSpPr>
            <p:spPr bwMode="auto">
              <a:xfrm>
                <a:off x="6596086" y="4965714"/>
                <a:ext cx="839790" cy="282576"/>
              </a:xfrm>
              <a:custGeom>
                <a:avLst/>
                <a:gdLst>
                  <a:gd name="T0" fmla="*/ 2554 w 2800"/>
                  <a:gd name="T1" fmla="*/ 936 h 936"/>
                  <a:gd name="T2" fmla="*/ 247 w 2800"/>
                  <a:gd name="T3" fmla="*/ 936 h 936"/>
                  <a:gd name="T4" fmla="*/ 0 w 2800"/>
                  <a:gd name="T5" fmla="*/ 689 h 936"/>
                  <a:gd name="T6" fmla="*/ 0 w 2800"/>
                  <a:gd name="T7" fmla="*/ 247 h 936"/>
                  <a:gd name="T8" fmla="*/ 247 w 2800"/>
                  <a:gd name="T9" fmla="*/ 0 h 936"/>
                  <a:gd name="T10" fmla="*/ 2554 w 2800"/>
                  <a:gd name="T11" fmla="*/ 0 h 936"/>
                  <a:gd name="T12" fmla="*/ 2800 w 2800"/>
                  <a:gd name="T13" fmla="*/ 247 h 936"/>
                  <a:gd name="T14" fmla="*/ 2800 w 2800"/>
                  <a:gd name="T15" fmla="*/ 689 h 936"/>
                  <a:gd name="T16" fmla="*/ 2554 w 2800"/>
                  <a:gd name="T17" fmla="*/ 936 h 936"/>
                  <a:gd name="T18" fmla="*/ 247 w 2800"/>
                  <a:gd name="T19" fmla="*/ 120 h 936"/>
                  <a:gd name="T20" fmla="*/ 120 w 2800"/>
                  <a:gd name="T21" fmla="*/ 247 h 936"/>
                  <a:gd name="T22" fmla="*/ 120 w 2800"/>
                  <a:gd name="T23" fmla="*/ 689 h 936"/>
                  <a:gd name="T24" fmla="*/ 247 w 2800"/>
                  <a:gd name="T25" fmla="*/ 816 h 936"/>
                  <a:gd name="T26" fmla="*/ 2554 w 2800"/>
                  <a:gd name="T27" fmla="*/ 816 h 936"/>
                  <a:gd name="T28" fmla="*/ 2680 w 2800"/>
                  <a:gd name="T29" fmla="*/ 689 h 936"/>
                  <a:gd name="T30" fmla="*/ 2680 w 2800"/>
                  <a:gd name="T31" fmla="*/ 247 h 936"/>
                  <a:gd name="T32" fmla="*/ 2554 w 2800"/>
                  <a:gd name="T33" fmla="*/ 120 h 936"/>
                  <a:gd name="T34" fmla="*/ 247 w 2800"/>
                  <a:gd name="T35" fmla="*/ 12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00" h="936">
                    <a:moveTo>
                      <a:pt x="2554" y="936"/>
                    </a:moveTo>
                    <a:cubicBezTo>
                      <a:pt x="247" y="936"/>
                      <a:pt x="247" y="936"/>
                      <a:pt x="247" y="936"/>
                    </a:cubicBezTo>
                    <a:cubicBezTo>
                      <a:pt x="111" y="936"/>
                      <a:pt x="0" y="825"/>
                      <a:pt x="0" y="689"/>
                    </a:cubicBezTo>
                    <a:cubicBezTo>
                      <a:pt x="0" y="247"/>
                      <a:pt x="0" y="247"/>
                      <a:pt x="0" y="247"/>
                    </a:cubicBezTo>
                    <a:cubicBezTo>
                      <a:pt x="0" y="111"/>
                      <a:pt x="111" y="0"/>
                      <a:pt x="247" y="0"/>
                    </a:cubicBezTo>
                    <a:cubicBezTo>
                      <a:pt x="2554" y="0"/>
                      <a:pt x="2554" y="0"/>
                      <a:pt x="2554" y="0"/>
                    </a:cubicBezTo>
                    <a:cubicBezTo>
                      <a:pt x="2690" y="0"/>
                      <a:pt x="2800" y="111"/>
                      <a:pt x="2800" y="247"/>
                    </a:cubicBezTo>
                    <a:cubicBezTo>
                      <a:pt x="2800" y="689"/>
                      <a:pt x="2800" y="689"/>
                      <a:pt x="2800" y="689"/>
                    </a:cubicBezTo>
                    <a:cubicBezTo>
                      <a:pt x="2800" y="825"/>
                      <a:pt x="2690" y="936"/>
                      <a:pt x="2554" y="936"/>
                    </a:cubicBezTo>
                    <a:close/>
                    <a:moveTo>
                      <a:pt x="247" y="120"/>
                    </a:moveTo>
                    <a:cubicBezTo>
                      <a:pt x="177" y="120"/>
                      <a:pt x="120" y="177"/>
                      <a:pt x="120" y="247"/>
                    </a:cubicBezTo>
                    <a:cubicBezTo>
                      <a:pt x="120" y="689"/>
                      <a:pt x="120" y="689"/>
                      <a:pt x="120" y="689"/>
                    </a:cubicBezTo>
                    <a:cubicBezTo>
                      <a:pt x="120" y="759"/>
                      <a:pt x="177" y="816"/>
                      <a:pt x="247" y="816"/>
                    </a:cubicBezTo>
                    <a:cubicBezTo>
                      <a:pt x="2554" y="816"/>
                      <a:pt x="2554" y="816"/>
                      <a:pt x="2554" y="816"/>
                    </a:cubicBezTo>
                    <a:cubicBezTo>
                      <a:pt x="2624" y="816"/>
                      <a:pt x="2680" y="759"/>
                      <a:pt x="2680" y="689"/>
                    </a:cubicBezTo>
                    <a:cubicBezTo>
                      <a:pt x="2680" y="247"/>
                      <a:pt x="2680" y="247"/>
                      <a:pt x="2680" y="247"/>
                    </a:cubicBezTo>
                    <a:cubicBezTo>
                      <a:pt x="2680" y="177"/>
                      <a:pt x="2624" y="120"/>
                      <a:pt x="2554" y="120"/>
                    </a:cubicBezTo>
                    <a:lnTo>
                      <a:pt x="247" y="120"/>
                    </a:ln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sp>
            <p:nvSpPr>
              <p:cNvPr id="123" name="Freeform 9"/>
              <p:cNvSpPr/>
              <p:nvPr/>
            </p:nvSpPr>
            <p:spPr bwMode="auto">
              <a:xfrm>
                <a:off x="6681798" y="5033926"/>
                <a:ext cx="33337" cy="31750"/>
              </a:xfrm>
              <a:custGeom>
                <a:avLst/>
                <a:gdLst>
                  <a:gd name="T0" fmla="*/ 83 w 107"/>
                  <a:gd name="T1" fmla="*/ 108 h 108"/>
                  <a:gd name="T2" fmla="*/ 24 w 107"/>
                  <a:gd name="T3" fmla="*/ 108 h 108"/>
                  <a:gd name="T4" fmla="*/ 0 w 107"/>
                  <a:gd name="T5" fmla="*/ 84 h 108"/>
                  <a:gd name="T6" fmla="*/ 0 w 107"/>
                  <a:gd name="T7" fmla="*/ 24 h 108"/>
                  <a:gd name="T8" fmla="*/ 24 w 107"/>
                  <a:gd name="T9" fmla="*/ 0 h 108"/>
                  <a:gd name="T10" fmla="*/ 83 w 107"/>
                  <a:gd name="T11" fmla="*/ 0 h 108"/>
                  <a:gd name="T12" fmla="*/ 107 w 107"/>
                  <a:gd name="T13" fmla="*/ 24 h 108"/>
                  <a:gd name="T14" fmla="*/ 107 w 107"/>
                  <a:gd name="T15" fmla="*/ 84 h 108"/>
                  <a:gd name="T16" fmla="*/ 83 w 107"/>
                  <a:gd name="T1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8">
                    <a:moveTo>
                      <a:pt x="83" y="108"/>
                    </a:moveTo>
                    <a:cubicBezTo>
                      <a:pt x="24" y="108"/>
                      <a:pt x="24" y="108"/>
                      <a:pt x="24" y="108"/>
                    </a:cubicBezTo>
                    <a:cubicBezTo>
                      <a:pt x="10" y="108"/>
                      <a:pt x="0" y="97"/>
                      <a:pt x="0" y="84"/>
                    </a:cubicBezTo>
                    <a:cubicBezTo>
                      <a:pt x="0" y="24"/>
                      <a:pt x="0" y="24"/>
                      <a:pt x="0" y="24"/>
                    </a:cubicBezTo>
                    <a:cubicBezTo>
                      <a:pt x="0" y="11"/>
                      <a:pt x="10" y="0"/>
                      <a:pt x="24" y="0"/>
                    </a:cubicBezTo>
                    <a:cubicBezTo>
                      <a:pt x="83" y="0"/>
                      <a:pt x="83" y="0"/>
                      <a:pt x="83" y="0"/>
                    </a:cubicBezTo>
                    <a:cubicBezTo>
                      <a:pt x="97" y="0"/>
                      <a:pt x="107" y="11"/>
                      <a:pt x="107" y="24"/>
                    </a:cubicBezTo>
                    <a:cubicBezTo>
                      <a:pt x="107" y="84"/>
                      <a:pt x="107" y="84"/>
                      <a:pt x="107" y="84"/>
                    </a:cubicBezTo>
                    <a:cubicBezTo>
                      <a:pt x="107" y="97"/>
                      <a:pt x="97" y="108"/>
                      <a:pt x="83" y="108"/>
                    </a:cubicBez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sp>
            <p:nvSpPr>
              <p:cNvPr id="124" name="Freeform 10"/>
              <p:cNvSpPr/>
              <p:nvPr/>
            </p:nvSpPr>
            <p:spPr bwMode="auto">
              <a:xfrm>
                <a:off x="6681768" y="5091061"/>
                <a:ext cx="33337" cy="31750"/>
              </a:xfrm>
              <a:custGeom>
                <a:avLst/>
                <a:gdLst>
                  <a:gd name="T0" fmla="*/ 83 w 107"/>
                  <a:gd name="T1" fmla="*/ 107 h 107"/>
                  <a:gd name="T2" fmla="*/ 24 w 107"/>
                  <a:gd name="T3" fmla="*/ 107 h 107"/>
                  <a:gd name="T4" fmla="*/ 0 w 107"/>
                  <a:gd name="T5" fmla="*/ 83 h 107"/>
                  <a:gd name="T6" fmla="*/ 0 w 107"/>
                  <a:gd name="T7" fmla="*/ 24 h 107"/>
                  <a:gd name="T8" fmla="*/ 24 w 107"/>
                  <a:gd name="T9" fmla="*/ 0 h 107"/>
                  <a:gd name="T10" fmla="*/ 83 w 107"/>
                  <a:gd name="T11" fmla="*/ 0 h 107"/>
                  <a:gd name="T12" fmla="*/ 107 w 107"/>
                  <a:gd name="T13" fmla="*/ 24 h 107"/>
                  <a:gd name="T14" fmla="*/ 107 w 107"/>
                  <a:gd name="T15" fmla="*/ 83 h 107"/>
                  <a:gd name="T16" fmla="*/ 83 w 107"/>
                  <a:gd name="T17"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7">
                    <a:moveTo>
                      <a:pt x="83" y="107"/>
                    </a:moveTo>
                    <a:cubicBezTo>
                      <a:pt x="24" y="107"/>
                      <a:pt x="24" y="107"/>
                      <a:pt x="24" y="107"/>
                    </a:cubicBezTo>
                    <a:cubicBezTo>
                      <a:pt x="10" y="107"/>
                      <a:pt x="0" y="97"/>
                      <a:pt x="0" y="83"/>
                    </a:cubicBezTo>
                    <a:cubicBezTo>
                      <a:pt x="0" y="24"/>
                      <a:pt x="0" y="24"/>
                      <a:pt x="0" y="24"/>
                    </a:cubicBezTo>
                    <a:cubicBezTo>
                      <a:pt x="0" y="11"/>
                      <a:pt x="10" y="0"/>
                      <a:pt x="24" y="0"/>
                    </a:cubicBezTo>
                    <a:cubicBezTo>
                      <a:pt x="83" y="0"/>
                      <a:pt x="83" y="0"/>
                      <a:pt x="83" y="0"/>
                    </a:cubicBezTo>
                    <a:cubicBezTo>
                      <a:pt x="97" y="0"/>
                      <a:pt x="107" y="11"/>
                      <a:pt x="107" y="24"/>
                    </a:cubicBezTo>
                    <a:cubicBezTo>
                      <a:pt x="107" y="83"/>
                      <a:pt x="107" y="83"/>
                      <a:pt x="107" y="83"/>
                    </a:cubicBezTo>
                    <a:cubicBezTo>
                      <a:pt x="107" y="97"/>
                      <a:pt x="97" y="107"/>
                      <a:pt x="83" y="107"/>
                    </a:cubicBez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sp>
            <p:nvSpPr>
              <p:cNvPr id="125" name="Freeform 11"/>
              <p:cNvSpPr/>
              <p:nvPr/>
            </p:nvSpPr>
            <p:spPr bwMode="auto">
              <a:xfrm>
                <a:off x="6681788" y="5148262"/>
                <a:ext cx="33337" cy="31750"/>
              </a:xfrm>
              <a:custGeom>
                <a:avLst/>
                <a:gdLst>
                  <a:gd name="T0" fmla="*/ 83 w 107"/>
                  <a:gd name="T1" fmla="*/ 108 h 108"/>
                  <a:gd name="T2" fmla="*/ 24 w 107"/>
                  <a:gd name="T3" fmla="*/ 108 h 108"/>
                  <a:gd name="T4" fmla="*/ 0 w 107"/>
                  <a:gd name="T5" fmla="*/ 84 h 108"/>
                  <a:gd name="T6" fmla="*/ 0 w 107"/>
                  <a:gd name="T7" fmla="*/ 24 h 108"/>
                  <a:gd name="T8" fmla="*/ 24 w 107"/>
                  <a:gd name="T9" fmla="*/ 0 h 108"/>
                  <a:gd name="T10" fmla="*/ 83 w 107"/>
                  <a:gd name="T11" fmla="*/ 0 h 108"/>
                  <a:gd name="T12" fmla="*/ 107 w 107"/>
                  <a:gd name="T13" fmla="*/ 24 h 108"/>
                  <a:gd name="T14" fmla="*/ 107 w 107"/>
                  <a:gd name="T15" fmla="*/ 84 h 108"/>
                  <a:gd name="T16" fmla="*/ 83 w 107"/>
                  <a:gd name="T1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08">
                    <a:moveTo>
                      <a:pt x="83" y="108"/>
                    </a:moveTo>
                    <a:cubicBezTo>
                      <a:pt x="24" y="108"/>
                      <a:pt x="24" y="108"/>
                      <a:pt x="24" y="108"/>
                    </a:cubicBezTo>
                    <a:cubicBezTo>
                      <a:pt x="10" y="108"/>
                      <a:pt x="0" y="97"/>
                      <a:pt x="0" y="84"/>
                    </a:cubicBezTo>
                    <a:cubicBezTo>
                      <a:pt x="0" y="24"/>
                      <a:pt x="0" y="24"/>
                      <a:pt x="0" y="24"/>
                    </a:cubicBezTo>
                    <a:cubicBezTo>
                      <a:pt x="0" y="11"/>
                      <a:pt x="10" y="0"/>
                      <a:pt x="24" y="0"/>
                    </a:cubicBezTo>
                    <a:cubicBezTo>
                      <a:pt x="83" y="0"/>
                      <a:pt x="83" y="0"/>
                      <a:pt x="83" y="0"/>
                    </a:cubicBezTo>
                    <a:cubicBezTo>
                      <a:pt x="97" y="0"/>
                      <a:pt x="107" y="11"/>
                      <a:pt x="107" y="24"/>
                    </a:cubicBezTo>
                    <a:cubicBezTo>
                      <a:pt x="107" y="84"/>
                      <a:pt x="107" y="84"/>
                      <a:pt x="107" y="84"/>
                    </a:cubicBezTo>
                    <a:cubicBezTo>
                      <a:pt x="107" y="97"/>
                      <a:pt x="97" y="108"/>
                      <a:pt x="83" y="108"/>
                    </a:cubicBezTo>
                    <a:close/>
                  </a:path>
                </a:pathLst>
              </a:custGeom>
              <a:solidFill>
                <a:srgbClr val="0836B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20000"/>
                  </a:lnSpc>
                </a:pPr>
                <a:endParaRPr lang="zh-CN" altLang="en-US" sz="1050" dirty="0">
                  <a:latin typeface="微软雅黑 Light" panose="020B0502040204020203" pitchFamily="34" charset="-122"/>
                  <a:cs typeface="+mn-ea"/>
                  <a:sym typeface="+mn-lt"/>
                </a:endParaRPr>
              </a:p>
            </p:txBody>
          </p:sp>
        </p:grpSp>
        <p:sp>
          <p:nvSpPr>
            <p:cNvPr id="119" name="椭圆 118"/>
            <p:cNvSpPr/>
            <p:nvPr/>
          </p:nvSpPr>
          <p:spPr>
            <a:xfrm>
              <a:off x="2883255" y="5550159"/>
              <a:ext cx="95638" cy="95638"/>
            </a:xfrm>
            <a:prstGeom prst="ellipse">
              <a:avLst/>
            </a:prstGeom>
            <a:solidFill>
              <a:schemeClr val="bg1"/>
            </a:solid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ndParaRPr>
            </a:p>
          </p:txBody>
        </p:sp>
        <p:sp>
          <p:nvSpPr>
            <p:cNvPr id="120" name="椭圆 119"/>
            <p:cNvSpPr/>
            <p:nvPr/>
          </p:nvSpPr>
          <p:spPr>
            <a:xfrm>
              <a:off x="3040408" y="5552907"/>
              <a:ext cx="95638" cy="95638"/>
            </a:xfrm>
            <a:prstGeom prst="ellipse">
              <a:avLst/>
            </a:prstGeom>
            <a:solidFill>
              <a:schemeClr val="bg1"/>
            </a:solid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ndParaRPr>
            </a:p>
          </p:txBody>
        </p:sp>
        <p:sp>
          <p:nvSpPr>
            <p:cNvPr id="121" name="椭圆 120"/>
            <p:cNvSpPr/>
            <p:nvPr/>
          </p:nvSpPr>
          <p:spPr>
            <a:xfrm>
              <a:off x="3189340" y="5552907"/>
              <a:ext cx="95638" cy="95638"/>
            </a:xfrm>
            <a:prstGeom prst="ellipse">
              <a:avLst/>
            </a:prstGeom>
            <a:solidFill>
              <a:schemeClr val="bg1"/>
            </a:solidFill>
            <a:ln w="19050">
              <a:solidFill>
                <a:srgbClr val="0836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zh-CN" altLang="en-US" sz="3600" dirty="0"/>
              <a:t>数据通信系统解决的问题与技术指标</a:t>
            </a:r>
            <a:endParaRPr lang="zh-CN" altLang="en-US" sz="3600" dirty="0"/>
          </a:p>
        </p:txBody>
      </p:sp>
      <p:sp>
        <p:nvSpPr>
          <p:cNvPr id="387075" name="Rectangle 3"/>
          <p:cNvSpPr>
            <a:spLocks noGrp="1" noChangeArrowheads="1"/>
          </p:cNvSpPr>
          <p:nvPr>
            <p:ph sz="half" idx="1"/>
          </p:nvPr>
        </p:nvSpPr>
        <p:spPr/>
        <p:txBody>
          <a:bodyPr/>
          <a:lstStyle/>
          <a:p>
            <a:r>
              <a:rPr lang="zh-CN" altLang="en-US" sz="2800" dirty="0"/>
              <a:t>应解决的主要问题</a:t>
            </a:r>
            <a:endParaRPr lang="en-US" altLang="zh-CN" dirty="0"/>
          </a:p>
          <a:p>
            <a:pPr lvl="1"/>
            <a:r>
              <a:rPr lang="zh-CN" altLang="en-US" dirty="0"/>
              <a:t>提高传输系统的利用率</a:t>
            </a:r>
            <a:endParaRPr lang="zh-CN" altLang="en-US" dirty="0"/>
          </a:p>
          <a:p>
            <a:pPr lvl="1"/>
            <a:r>
              <a:rPr lang="zh-CN" altLang="en-US" dirty="0"/>
              <a:t>接口、编码、同步</a:t>
            </a:r>
            <a:endParaRPr lang="zh-CN" altLang="en-US" dirty="0"/>
          </a:p>
          <a:p>
            <a:pPr lvl="1"/>
            <a:r>
              <a:rPr lang="zh-CN" altLang="en-US" dirty="0"/>
              <a:t>交换管理</a:t>
            </a:r>
            <a:endParaRPr lang="zh-CN" altLang="en-US" dirty="0"/>
          </a:p>
          <a:p>
            <a:pPr lvl="1"/>
            <a:r>
              <a:rPr lang="zh-CN" altLang="en-US" dirty="0"/>
              <a:t>差错控制</a:t>
            </a:r>
            <a:endParaRPr lang="zh-CN" altLang="en-US" dirty="0"/>
          </a:p>
          <a:p>
            <a:pPr lvl="1"/>
            <a:r>
              <a:rPr lang="zh-CN" altLang="en-US" dirty="0"/>
              <a:t>流量控制 </a:t>
            </a:r>
            <a:endParaRPr lang="zh-CN" altLang="en-US" dirty="0"/>
          </a:p>
          <a:p>
            <a:pPr lvl="1"/>
            <a:r>
              <a:rPr lang="zh-CN" altLang="en-US" dirty="0"/>
              <a:t>寻址和路由</a:t>
            </a:r>
            <a:endParaRPr lang="en-US" altLang="zh-CN" dirty="0"/>
          </a:p>
          <a:p>
            <a:pPr lvl="1"/>
            <a:r>
              <a:rPr lang="zh-CN" altLang="en-US" dirty="0"/>
              <a:t>恢复</a:t>
            </a:r>
            <a:endParaRPr lang="zh-CN" altLang="en-US" dirty="0"/>
          </a:p>
          <a:p>
            <a:pPr lvl="1"/>
            <a:r>
              <a:rPr lang="zh-CN" altLang="en-US" dirty="0"/>
              <a:t>报文格式</a:t>
            </a:r>
            <a:endParaRPr lang="zh-CN" altLang="en-US" dirty="0"/>
          </a:p>
          <a:p>
            <a:pPr lvl="1"/>
            <a:r>
              <a:rPr lang="zh-CN" altLang="en-US" dirty="0"/>
              <a:t>网络管理</a:t>
            </a:r>
            <a:endParaRPr lang="zh-CN" altLang="en-US" dirty="0"/>
          </a:p>
        </p:txBody>
      </p:sp>
      <p:sp>
        <p:nvSpPr>
          <p:cNvPr id="2" name="内容占位符 1"/>
          <p:cNvSpPr>
            <a:spLocks noGrp="1"/>
          </p:cNvSpPr>
          <p:nvPr>
            <p:ph sz="half" idx="2"/>
          </p:nvPr>
        </p:nvSpPr>
        <p:spPr/>
        <p:txBody>
          <a:bodyPr/>
          <a:lstStyle/>
          <a:p>
            <a:r>
              <a:rPr lang="zh-CN" altLang="en-US" dirty="0"/>
              <a:t>主要技术指标</a:t>
            </a:r>
            <a:endParaRPr lang="en-US" altLang="zh-CN" dirty="0"/>
          </a:p>
          <a:p>
            <a:pPr lvl="1"/>
            <a:r>
              <a:rPr lang="zh-CN" altLang="en-US" dirty="0"/>
              <a:t>码元速率</a:t>
            </a:r>
            <a:endParaRPr lang="en-US" altLang="zh-CN" dirty="0"/>
          </a:p>
          <a:p>
            <a:pPr lvl="1"/>
            <a:r>
              <a:rPr lang="zh-CN" altLang="en-US" dirty="0"/>
              <a:t>数据传输率</a:t>
            </a:r>
            <a:endParaRPr lang="en-US" altLang="zh-CN" dirty="0"/>
          </a:p>
          <a:p>
            <a:pPr lvl="1"/>
            <a:r>
              <a:rPr lang="zh-CN" altLang="en-US" dirty="0"/>
              <a:t>误码率</a:t>
            </a:r>
            <a:endParaRPr lang="en-US" altLang="zh-CN" dirty="0"/>
          </a:p>
          <a:p>
            <a:pPr lvl="1"/>
            <a:r>
              <a:rPr lang="zh-CN" altLang="en-US" dirty="0"/>
              <a:t>误比特率</a:t>
            </a:r>
            <a:endParaRPr lang="zh-CN" altLang="en-US" dirty="0"/>
          </a:p>
        </p:txBody>
      </p:sp>
      <p:sp>
        <p:nvSpPr>
          <p:cNvPr id="6" name="灯片编号占位符 5"/>
          <p:cNvSpPr>
            <a:spLocks noGrp="1"/>
          </p:cNvSpPr>
          <p:nvPr>
            <p:ph type="sldNum" sz="quarter" idx="12"/>
          </p:nvPr>
        </p:nvSpPr>
        <p:spPr/>
        <p:txBody>
          <a:bodyPr/>
          <a:lstStyle/>
          <a:p>
            <a:fld id="{09786179-4B6A-48EB-9ECB-8A56482F9594}" type="slidenum">
              <a:rPr lang="en-US" altLang="zh-CN"/>
            </a:fld>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r>
              <a:rPr lang="en-US" altLang="zh-CN" dirty="0"/>
              <a:t>2.2 </a:t>
            </a:r>
            <a:r>
              <a:rPr lang="zh-CN" altLang="en-US" dirty="0"/>
              <a:t>信号和数据编码</a:t>
            </a:r>
            <a:endParaRPr lang="zh-CN" altLang="en-US" dirty="0"/>
          </a:p>
        </p:txBody>
      </p:sp>
      <p:sp>
        <p:nvSpPr>
          <p:cNvPr id="389123" name="Rectangle 3"/>
          <p:cNvSpPr>
            <a:spLocks noGrp="1" noChangeArrowheads="1"/>
          </p:cNvSpPr>
          <p:nvPr>
            <p:ph idx="1"/>
          </p:nvPr>
        </p:nvSpPr>
        <p:spPr/>
        <p:txBody>
          <a:bodyPr/>
          <a:lstStyle/>
          <a:p>
            <a:r>
              <a:rPr lang="zh-CN" altLang="en-US" dirty="0"/>
              <a:t>计算机网络中传送的信息是</a:t>
            </a:r>
            <a:r>
              <a:rPr lang="en-US" altLang="zh-CN" dirty="0"/>
              <a:t>0</a:t>
            </a:r>
            <a:r>
              <a:rPr lang="zh-CN" altLang="en-US" dirty="0"/>
              <a:t>、</a:t>
            </a:r>
            <a:r>
              <a:rPr lang="en-US" altLang="zh-CN" dirty="0"/>
              <a:t>1</a:t>
            </a:r>
            <a:r>
              <a:rPr lang="zh-CN" altLang="en-US" dirty="0"/>
              <a:t>的数字化信息</a:t>
            </a:r>
            <a:endParaRPr lang="en-US" altLang="zh-CN" dirty="0"/>
          </a:p>
          <a:p>
            <a:r>
              <a:rPr lang="zh-CN" altLang="en-US" dirty="0"/>
              <a:t>通过编码将数字信息变成电磁或光信号在传输媒体上传输</a:t>
            </a:r>
            <a:endParaRPr lang="zh-CN" altLang="en-US" dirty="0"/>
          </a:p>
          <a:p>
            <a:r>
              <a:rPr lang="zh-CN" altLang="en-US" dirty="0"/>
              <a:t>表示数字信息的信号可是模拟信号也可以是数字信号</a:t>
            </a:r>
            <a:endParaRPr lang="zh-CN" altLang="en-US" dirty="0"/>
          </a:p>
        </p:txBody>
      </p:sp>
      <p:sp>
        <p:nvSpPr>
          <p:cNvPr id="6" name="灯片编号占位符 5"/>
          <p:cNvSpPr>
            <a:spLocks noGrp="1"/>
          </p:cNvSpPr>
          <p:nvPr>
            <p:ph type="sldNum" sz="quarter" idx="12"/>
          </p:nvPr>
        </p:nvSpPr>
        <p:spPr/>
        <p:txBody>
          <a:bodyPr/>
          <a:lstStyle/>
          <a:p>
            <a:fld id="{27F1A74B-3F81-4D7F-8416-7FF71CA507E9}" type="slidenum">
              <a:rPr lang="en-US" altLang="zh-CN"/>
            </a:fld>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zh-CN" altLang="en-US" dirty="0"/>
              <a:t>模拟信号</a:t>
            </a:r>
            <a:endParaRPr lang="zh-CN" altLang="en-US" dirty="0"/>
          </a:p>
        </p:txBody>
      </p:sp>
      <p:sp>
        <p:nvSpPr>
          <p:cNvPr id="390147" name="Rectangle 3"/>
          <p:cNvSpPr>
            <a:spLocks noGrp="1" noChangeArrowheads="1"/>
          </p:cNvSpPr>
          <p:nvPr>
            <p:ph idx="1"/>
          </p:nvPr>
        </p:nvSpPr>
        <p:spPr>
          <a:xfrm>
            <a:off x="334434" y="1052514"/>
            <a:ext cx="11523133" cy="3230119"/>
          </a:xfrm>
        </p:spPr>
        <p:txBody>
          <a:bodyPr>
            <a:normAutofit/>
          </a:bodyPr>
          <a:lstStyle/>
          <a:p>
            <a:pPr>
              <a:lnSpc>
                <a:spcPct val="90000"/>
              </a:lnSpc>
            </a:pPr>
            <a:r>
              <a:rPr lang="zh-CN" altLang="en-US" dirty="0"/>
              <a:t>模拟信号：随时间而连续变化的信号，分为简单模拟信号和复杂模拟信号</a:t>
            </a:r>
            <a:endParaRPr lang="en-US" altLang="zh-CN" dirty="0"/>
          </a:p>
          <a:p>
            <a:pPr>
              <a:lnSpc>
                <a:spcPct val="90000"/>
              </a:lnSpc>
            </a:pPr>
            <a:r>
              <a:rPr lang="zh-CN" altLang="en-US" dirty="0"/>
              <a:t>简单模拟信号（正弦波信号 ）</a:t>
            </a:r>
            <a:endParaRPr lang="zh-CN" altLang="en-US" dirty="0"/>
          </a:p>
          <a:p>
            <a:pPr lvl="1">
              <a:lnSpc>
                <a:spcPct val="90000"/>
              </a:lnSpc>
            </a:pPr>
            <a:r>
              <a:rPr lang="zh-CN" altLang="en-US" dirty="0"/>
              <a:t>数学表达式：</a:t>
            </a:r>
            <a:r>
              <a:rPr lang="en-US" altLang="zh-CN" dirty="0"/>
              <a:t>x(t)=Asin(2</a:t>
            </a:r>
            <a:r>
              <a:rPr lang="en-US" altLang="zh-CN" dirty="0">
                <a:sym typeface="Symbol" panose="05050102010706020507" pitchFamily="18" charset="2"/>
              </a:rPr>
              <a:t></a:t>
            </a:r>
            <a:r>
              <a:rPr lang="en-US" altLang="zh-CN" dirty="0"/>
              <a:t>ft+</a:t>
            </a:r>
            <a:r>
              <a:rPr lang="el-GR" altLang="zh-CN" dirty="0"/>
              <a:t>φ</a:t>
            </a:r>
            <a:r>
              <a:rPr lang="en-US" altLang="zh-CN" dirty="0"/>
              <a:t>)</a:t>
            </a:r>
            <a:endParaRPr lang="el-GR" altLang="zh-CN" dirty="0"/>
          </a:p>
          <a:p>
            <a:pPr lvl="1">
              <a:lnSpc>
                <a:spcPct val="90000"/>
              </a:lnSpc>
            </a:pPr>
            <a:r>
              <a:rPr lang="zh-CN" altLang="en-US" dirty="0"/>
              <a:t>三个参数：振幅</a:t>
            </a:r>
            <a:r>
              <a:rPr lang="en-US" altLang="zh-CN" dirty="0"/>
              <a:t>A</a:t>
            </a:r>
            <a:r>
              <a:rPr lang="zh-CN" altLang="en-US" dirty="0"/>
              <a:t>，频率</a:t>
            </a:r>
            <a:r>
              <a:rPr lang="en-US" altLang="zh-CN" dirty="0"/>
              <a:t>f</a:t>
            </a:r>
            <a:r>
              <a:rPr lang="zh-CN" altLang="en-US" dirty="0"/>
              <a:t>，相位</a:t>
            </a:r>
            <a:r>
              <a:rPr lang="el-GR" altLang="zh-CN" dirty="0"/>
              <a:t>φ</a:t>
            </a:r>
            <a:endParaRPr lang="en-US" altLang="zh-CN" dirty="0"/>
          </a:p>
          <a:p>
            <a:pPr>
              <a:lnSpc>
                <a:spcPct val="90000"/>
              </a:lnSpc>
            </a:pPr>
            <a:endParaRPr lang="en-US" altLang="zh-CN" dirty="0"/>
          </a:p>
          <a:p>
            <a:pPr>
              <a:lnSpc>
                <a:spcPct val="90000"/>
              </a:lnSpc>
            </a:pPr>
            <a:endParaRPr lang="zh-CN" altLang="en-US" dirty="0"/>
          </a:p>
          <a:p>
            <a:pPr>
              <a:lnSpc>
                <a:spcPct val="90000"/>
              </a:lnSpc>
            </a:pPr>
            <a:endParaRPr lang="zh-CN" altLang="en-US" dirty="0"/>
          </a:p>
        </p:txBody>
      </p:sp>
      <p:sp>
        <p:nvSpPr>
          <p:cNvPr id="12" name="灯片编号占位符 5"/>
          <p:cNvSpPr>
            <a:spLocks noGrp="1"/>
          </p:cNvSpPr>
          <p:nvPr>
            <p:ph type="sldNum" sz="quarter" idx="12"/>
          </p:nvPr>
        </p:nvSpPr>
        <p:spPr/>
        <p:txBody>
          <a:bodyPr/>
          <a:lstStyle/>
          <a:p>
            <a:fld id="{AB0C3F63-A086-46D1-810A-2C25BA224F77}" type="slidenum">
              <a:rPr lang="en-US" altLang="zh-CN"/>
            </a:fld>
            <a:endParaRPr lang="en-US" altLang="zh-CN" dirty="0"/>
          </a:p>
        </p:txBody>
      </p:sp>
      <p:grpSp>
        <p:nvGrpSpPr>
          <p:cNvPr id="11" name="组合 10"/>
          <p:cNvGrpSpPr/>
          <p:nvPr/>
        </p:nvGrpSpPr>
        <p:grpSpPr>
          <a:xfrm>
            <a:off x="2906231" y="3675466"/>
            <a:ext cx="6792912" cy="2300287"/>
            <a:chOff x="2640013" y="1916114"/>
            <a:chExt cx="6792912" cy="2300287"/>
          </a:xfrm>
        </p:grpSpPr>
        <p:grpSp>
          <p:nvGrpSpPr>
            <p:cNvPr id="13" name="Group 4"/>
            <p:cNvGrpSpPr/>
            <p:nvPr/>
          </p:nvGrpSpPr>
          <p:grpSpPr bwMode="auto">
            <a:xfrm>
              <a:off x="3143251" y="1954214"/>
              <a:ext cx="106363" cy="2047875"/>
              <a:chOff x="884" y="1277"/>
              <a:chExt cx="67" cy="1290"/>
            </a:xfrm>
          </p:grpSpPr>
          <p:sp>
            <p:nvSpPr>
              <p:cNvPr id="38" name="Line 5"/>
              <p:cNvSpPr>
                <a:spLocks noChangeShapeType="1"/>
              </p:cNvSpPr>
              <p:nvPr/>
            </p:nvSpPr>
            <p:spPr bwMode="auto">
              <a:xfrm flipV="1">
                <a:off x="915" y="1334"/>
                <a:ext cx="0" cy="123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 name="Freeform 6"/>
              <p:cNvSpPr/>
              <p:nvPr/>
            </p:nvSpPr>
            <p:spPr bwMode="auto">
              <a:xfrm>
                <a:off x="884" y="1277"/>
                <a:ext cx="67" cy="73"/>
              </a:xfrm>
              <a:custGeom>
                <a:avLst/>
                <a:gdLst>
                  <a:gd name="T0" fmla="*/ 67 w 67"/>
                  <a:gd name="T1" fmla="*/ 73 h 73"/>
                  <a:gd name="T2" fmla="*/ 31 w 67"/>
                  <a:gd name="T3" fmla="*/ 0 h 73"/>
                  <a:gd name="T4" fmla="*/ 0 w 67"/>
                  <a:gd name="T5" fmla="*/ 73 h 73"/>
                  <a:gd name="T6" fmla="*/ 67 w 67"/>
                  <a:gd name="T7" fmla="*/ 73 h 73"/>
                </a:gdLst>
                <a:ahLst/>
                <a:cxnLst>
                  <a:cxn ang="0">
                    <a:pos x="T0" y="T1"/>
                  </a:cxn>
                  <a:cxn ang="0">
                    <a:pos x="T2" y="T3"/>
                  </a:cxn>
                  <a:cxn ang="0">
                    <a:pos x="T4" y="T5"/>
                  </a:cxn>
                  <a:cxn ang="0">
                    <a:pos x="T6" y="T7"/>
                  </a:cxn>
                </a:cxnLst>
                <a:rect l="0" t="0" r="r" b="b"/>
                <a:pathLst>
                  <a:path w="67" h="73">
                    <a:moveTo>
                      <a:pt x="67" y="73"/>
                    </a:moveTo>
                    <a:lnTo>
                      <a:pt x="31" y="0"/>
                    </a:lnTo>
                    <a:lnTo>
                      <a:pt x="0" y="73"/>
                    </a:lnTo>
                    <a:lnTo>
                      <a:pt x="67" y="73"/>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grpSp>
          <p:nvGrpSpPr>
            <p:cNvPr id="14" name="Group 7"/>
            <p:cNvGrpSpPr/>
            <p:nvPr/>
          </p:nvGrpSpPr>
          <p:grpSpPr bwMode="auto">
            <a:xfrm>
              <a:off x="3192463" y="3052763"/>
              <a:ext cx="5981700" cy="106362"/>
              <a:chOff x="915" y="1969"/>
              <a:chExt cx="3768" cy="67"/>
            </a:xfrm>
          </p:grpSpPr>
          <p:sp>
            <p:nvSpPr>
              <p:cNvPr id="36" name="Line 8"/>
              <p:cNvSpPr>
                <a:spLocks noChangeShapeType="1"/>
              </p:cNvSpPr>
              <p:nvPr/>
            </p:nvSpPr>
            <p:spPr bwMode="auto">
              <a:xfrm>
                <a:off x="915" y="2000"/>
                <a:ext cx="3711"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7" name="Freeform 9"/>
              <p:cNvSpPr/>
              <p:nvPr/>
            </p:nvSpPr>
            <p:spPr bwMode="auto">
              <a:xfrm>
                <a:off x="4616" y="1969"/>
                <a:ext cx="67" cy="67"/>
              </a:xfrm>
              <a:custGeom>
                <a:avLst/>
                <a:gdLst>
                  <a:gd name="T0" fmla="*/ 0 w 67"/>
                  <a:gd name="T1" fmla="*/ 67 h 67"/>
                  <a:gd name="T2" fmla="*/ 67 w 67"/>
                  <a:gd name="T3" fmla="*/ 31 h 67"/>
                  <a:gd name="T4" fmla="*/ 0 w 67"/>
                  <a:gd name="T5" fmla="*/ 0 h 67"/>
                  <a:gd name="T6" fmla="*/ 0 w 67"/>
                  <a:gd name="T7" fmla="*/ 67 h 67"/>
                </a:gdLst>
                <a:ahLst/>
                <a:cxnLst>
                  <a:cxn ang="0">
                    <a:pos x="T0" y="T1"/>
                  </a:cxn>
                  <a:cxn ang="0">
                    <a:pos x="T2" y="T3"/>
                  </a:cxn>
                  <a:cxn ang="0">
                    <a:pos x="T4" y="T5"/>
                  </a:cxn>
                  <a:cxn ang="0">
                    <a:pos x="T6" y="T7"/>
                  </a:cxn>
                </a:cxnLst>
                <a:rect l="0" t="0" r="r" b="b"/>
                <a:pathLst>
                  <a:path w="67" h="67">
                    <a:moveTo>
                      <a:pt x="0" y="67"/>
                    </a:moveTo>
                    <a:lnTo>
                      <a:pt x="67" y="31"/>
                    </a:lnTo>
                    <a:lnTo>
                      <a:pt x="0" y="0"/>
                    </a:lnTo>
                    <a:lnTo>
                      <a:pt x="0" y="67"/>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sp>
          <p:nvSpPr>
            <p:cNvPr id="15" name="Line 10"/>
            <p:cNvSpPr>
              <a:spLocks noChangeShapeType="1"/>
            </p:cNvSpPr>
            <p:nvPr/>
          </p:nvSpPr>
          <p:spPr bwMode="auto">
            <a:xfrm>
              <a:off x="5076825" y="3101976"/>
              <a:ext cx="0" cy="9001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16" name="Line 11"/>
            <p:cNvSpPr>
              <a:spLocks noChangeShapeType="1"/>
            </p:cNvSpPr>
            <p:nvPr/>
          </p:nvSpPr>
          <p:spPr bwMode="auto">
            <a:xfrm>
              <a:off x="6961188" y="3101976"/>
              <a:ext cx="0" cy="9001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17" name="Line 12"/>
            <p:cNvSpPr>
              <a:spLocks noChangeShapeType="1"/>
            </p:cNvSpPr>
            <p:nvPr/>
          </p:nvSpPr>
          <p:spPr bwMode="auto">
            <a:xfrm>
              <a:off x="8845550" y="3101976"/>
              <a:ext cx="0" cy="9001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nvGrpSpPr>
            <p:cNvPr id="18" name="Group 13"/>
            <p:cNvGrpSpPr/>
            <p:nvPr/>
          </p:nvGrpSpPr>
          <p:grpSpPr bwMode="auto">
            <a:xfrm>
              <a:off x="3192463" y="3789363"/>
              <a:ext cx="1884362" cy="106362"/>
              <a:chOff x="915" y="2433"/>
              <a:chExt cx="1187" cy="67"/>
            </a:xfrm>
          </p:grpSpPr>
          <p:sp>
            <p:nvSpPr>
              <p:cNvPr id="33" name="Line 14"/>
              <p:cNvSpPr>
                <a:spLocks noChangeShapeType="1"/>
              </p:cNvSpPr>
              <p:nvPr/>
            </p:nvSpPr>
            <p:spPr bwMode="auto">
              <a:xfrm>
                <a:off x="972" y="2464"/>
                <a:ext cx="1073"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4" name="Freeform 15"/>
              <p:cNvSpPr/>
              <p:nvPr/>
            </p:nvSpPr>
            <p:spPr bwMode="auto">
              <a:xfrm>
                <a:off x="915" y="2433"/>
                <a:ext cx="72" cy="67"/>
              </a:xfrm>
              <a:custGeom>
                <a:avLst/>
                <a:gdLst>
                  <a:gd name="T0" fmla="*/ 72 w 72"/>
                  <a:gd name="T1" fmla="*/ 0 h 67"/>
                  <a:gd name="T2" fmla="*/ 0 w 72"/>
                  <a:gd name="T3" fmla="*/ 31 h 67"/>
                  <a:gd name="T4" fmla="*/ 72 w 72"/>
                  <a:gd name="T5" fmla="*/ 67 h 67"/>
                  <a:gd name="T6" fmla="*/ 72 w 72"/>
                  <a:gd name="T7" fmla="*/ 0 h 67"/>
                </a:gdLst>
                <a:ahLst/>
                <a:cxnLst>
                  <a:cxn ang="0">
                    <a:pos x="T0" y="T1"/>
                  </a:cxn>
                  <a:cxn ang="0">
                    <a:pos x="T2" y="T3"/>
                  </a:cxn>
                  <a:cxn ang="0">
                    <a:pos x="T4" y="T5"/>
                  </a:cxn>
                  <a:cxn ang="0">
                    <a:pos x="T6" y="T7"/>
                  </a:cxn>
                </a:cxnLst>
                <a:rect l="0" t="0" r="r" b="b"/>
                <a:pathLst>
                  <a:path w="72" h="67">
                    <a:moveTo>
                      <a:pt x="72" y="0"/>
                    </a:moveTo>
                    <a:lnTo>
                      <a:pt x="0" y="31"/>
                    </a:lnTo>
                    <a:lnTo>
                      <a:pt x="72" y="67"/>
                    </a:lnTo>
                    <a:lnTo>
                      <a:pt x="72" y="0"/>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sp>
            <p:nvSpPr>
              <p:cNvPr id="35" name="Freeform 16"/>
              <p:cNvSpPr/>
              <p:nvPr/>
            </p:nvSpPr>
            <p:spPr bwMode="auto">
              <a:xfrm>
                <a:off x="2035" y="2433"/>
                <a:ext cx="67" cy="67"/>
              </a:xfrm>
              <a:custGeom>
                <a:avLst/>
                <a:gdLst>
                  <a:gd name="T0" fmla="*/ 0 w 67"/>
                  <a:gd name="T1" fmla="*/ 67 h 67"/>
                  <a:gd name="T2" fmla="*/ 67 w 67"/>
                  <a:gd name="T3" fmla="*/ 31 h 67"/>
                  <a:gd name="T4" fmla="*/ 0 w 67"/>
                  <a:gd name="T5" fmla="*/ 0 h 67"/>
                  <a:gd name="T6" fmla="*/ 0 w 67"/>
                  <a:gd name="T7" fmla="*/ 67 h 67"/>
                </a:gdLst>
                <a:ahLst/>
                <a:cxnLst>
                  <a:cxn ang="0">
                    <a:pos x="T0" y="T1"/>
                  </a:cxn>
                  <a:cxn ang="0">
                    <a:pos x="T2" y="T3"/>
                  </a:cxn>
                  <a:cxn ang="0">
                    <a:pos x="T4" y="T5"/>
                  </a:cxn>
                  <a:cxn ang="0">
                    <a:pos x="T6" y="T7"/>
                  </a:cxn>
                </a:cxnLst>
                <a:rect l="0" t="0" r="r" b="b"/>
                <a:pathLst>
                  <a:path w="67" h="67">
                    <a:moveTo>
                      <a:pt x="0" y="67"/>
                    </a:moveTo>
                    <a:lnTo>
                      <a:pt x="67" y="31"/>
                    </a:lnTo>
                    <a:lnTo>
                      <a:pt x="0" y="0"/>
                    </a:lnTo>
                    <a:lnTo>
                      <a:pt x="0" y="67"/>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grpSp>
          <p:nvGrpSpPr>
            <p:cNvPr id="19" name="Group 17"/>
            <p:cNvGrpSpPr/>
            <p:nvPr/>
          </p:nvGrpSpPr>
          <p:grpSpPr bwMode="auto">
            <a:xfrm>
              <a:off x="5076826" y="3789363"/>
              <a:ext cx="1884363" cy="106362"/>
              <a:chOff x="2102" y="2433"/>
              <a:chExt cx="1187" cy="67"/>
            </a:xfrm>
          </p:grpSpPr>
          <p:sp>
            <p:nvSpPr>
              <p:cNvPr id="30" name="Line 18"/>
              <p:cNvSpPr>
                <a:spLocks noChangeShapeType="1"/>
              </p:cNvSpPr>
              <p:nvPr/>
            </p:nvSpPr>
            <p:spPr bwMode="auto">
              <a:xfrm>
                <a:off x="2159" y="2464"/>
                <a:ext cx="1073"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1" name="Freeform 19"/>
              <p:cNvSpPr/>
              <p:nvPr/>
            </p:nvSpPr>
            <p:spPr bwMode="auto">
              <a:xfrm>
                <a:off x="2102" y="2433"/>
                <a:ext cx="72" cy="67"/>
              </a:xfrm>
              <a:custGeom>
                <a:avLst/>
                <a:gdLst>
                  <a:gd name="T0" fmla="*/ 72 w 72"/>
                  <a:gd name="T1" fmla="*/ 0 h 67"/>
                  <a:gd name="T2" fmla="*/ 0 w 72"/>
                  <a:gd name="T3" fmla="*/ 31 h 67"/>
                  <a:gd name="T4" fmla="*/ 72 w 72"/>
                  <a:gd name="T5" fmla="*/ 67 h 67"/>
                  <a:gd name="T6" fmla="*/ 72 w 72"/>
                  <a:gd name="T7" fmla="*/ 0 h 67"/>
                </a:gdLst>
                <a:ahLst/>
                <a:cxnLst>
                  <a:cxn ang="0">
                    <a:pos x="T0" y="T1"/>
                  </a:cxn>
                  <a:cxn ang="0">
                    <a:pos x="T2" y="T3"/>
                  </a:cxn>
                  <a:cxn ang="0">
                    <a:pos x="T4" y="T5"/>
                  </a:cxn>
                  <a:cxn ang="0">
                    <a:pos x="T6" y="T7"/>
                  </a:cxn>
                </a:cxnLst>
                <a:rect l="0" t="0" r="r" b="b"/>
                <a:pathLst>
                  <a:path w="72" h="67">
                    <a:moveTo>
                      <a:pt x="72" y="0"/>
                    </a:moveTo>
                    <a:lnTo>
                      <a:pt x="0" y="31"/>
                    </a:lnTo>
                    <a:lnTo>
                      <a:pt x="72" y="67"/>
                    </a:lnTo>
                    <a:lnTo>
                      <a:pt x="72" y="0"/>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sp>
            <p:nvSpPr>
              <p:cNvPr id="32" name="Freeform 20"/>
              <p:cNvSpPr/>
              <p:nvPr/>
            </p:nvSpPr>
            <p:spPr bwMode="auto">
              <a:xfrm>
                <a:off x="3222" y="2433"/>
                <a:ext cx="67" cy="67"/>
              </a:xfrm>
              <a:custGeom>
                <a:avLst/>
                <a:gdLst>
                  <a:gd name="T0" fmla="*/ 0 w 67"/>
                  <a:gd name="T1" fmla="*/ 67 h 67"/>
                  <a:gd name="T2" fmla="*/ 67 w 67"/>
                  <a:gd name="T3" fmla="*/ 31 h 67"/>
                  <a:gd name="T4" fmla="*/ 0 w 67"/>
                  <a:gd name="T5" fmla="*/ 0 h 67"/>
                  <a:gd name="T6" fmla="*/ 0 w 67"/>
                  <a:gd name="T7" fmla="*/ 67 h 67"/>
                </a:gdLst>
                <a:ahLst/>
                <a:cxnLst>
                  <a:cxn ang="0">
                    <a:pos x="T0" y="T1"/>
                  </a:cxn>
                  <a:cxn ang="0">
                    <a:pos x="T2" y="T3"/>
                  </a:cxn>
                  <a:cxn ang="0">
                    <a:pos x="T4" y="T5"/>
                  </a:cxn>
                  <a:cxn ang="0">
                    <a:pos x="T6" y="T7"/>
                  </a:cxn>
                </a:cxnLst>
                <a:rect l="0" t="0" r="r" b="b"/>
                <a:pathLst>
                  <a:path w="67" h="67">
                    <a:moveTo>
                      <a:pt x="0" y="67"/>
                    </a:moveTo>
                    <a:lnTo>
                      <a:pt x="67" y="31"/>
                    </a:lnTo>
                    <a:lnTo>
                      <a:pt x="0" y="0"/>
                    </a:lnTo>
                    <a:lnTo>
                      <a:pt x="0" y="67"/>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grpSp>
          <p:nvGrpSpPr>
            <p:cNvPr id="20" name="Group 21"/>
            <p:cNvGrpSpPr/>
            <p:nvPr/>
          </p:nvGrpSpPr>
          <p:grpSpPr bwMode="auto">
            <a:xfrm>
              <a:off x="6961188" y="3789363"/>
              <a:ext cx="1884362" cy="106362"/>
              <a:chOff x="3289" y="2433"/>
              <a:chExt cx="1187" cy="67"/>
            </a:xfrm>
          </p:grpSpPr>
          <p:sp>
            <p:nvSpPr>
              <p:cNvPr id="27" name="Line 22"/>
              <p:cNvSpPr>
                <a:spLocks noChangeShapeType="1"/>
              </p:cNvSpPr>
              <p:nvPr/>
            </p:nvSpPr>
            <p:spPr bwMode="auto">
              <a:xfrm>
                <a:off x="3346" y="2464"/>
                <a:ext cx="1073"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28" name="Freeform 23"/>
              <p:cNvSpPr/>
              <p:nvPr/>
            </p:nvSpPr>
            <p:spPr bwMode="auto">
              <a:xfrm>
                <a:off x="3289" y="2433"/>
                <a:ext cx="72" cy="67"/>
              </a:xfrm>
              <a:custGeom>
                <a:avLst/>
                <a:gdLst>
                  <a:gd name="T0" fmla="*/ 72 w 72"/>
                  <a:gd name="T1" fmla="*/ 0 h 67"/>
                  <a:gd name="T2" fmla="*/ 0 w 72"/>
                  <a:gd name="T3" fmla="*/ 31 h 67"/>
                  <a:gd name="T4" fmla="*/ 72 w 72"/>
                  <a:gd name="T5" fmla="*/ 67 h 67"/>
                  <a:gd name="T6" fmla="*/ 72 w 72"/>
                  <a:gd name="T7" fmla="*/ 0 h 67"/>
                </a:gdLst>
                <a:ahLst/>
                <a:cxnLst>
                  <a:cxn ang="0">
                    <a:pos x="T0" y="T1"/>
                  </a:cxn>
                  <a:cxn ang="0">
                    <a:pos x="T2" y="T3"/>
                  </a:cxn>
                  <a:cxn ang="0">
                    <a:pos x="T4" y="T5"/>
                  </a:cxn>
                  <a:cxn ang="0">
                    <a:pos x="T6" y="T7"/>
                  </a:cxn>
                </a:cxnLst>
                <a:rect l="0" t="0" r="r" b="b"/>
                <a:pathLst>
                  <a:path w="72" h="67">
                    <a:moveTo>
                      <a:pt x="72" y="0"/>
                    </a:moveTo>
                    <a:lnTo>
                      <a:pt x="0" y="31"/>
                    </a:lnTo>
                    <a:lnTo>
                      <a:pt x="72" y="67"/>
                    </a:lnTo>
                    <a:lnTo>
                      <a:pt x="72" y="0"/>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sp>
            <p:nvSpPr>
              <p:cNvPr id="29" name="Freeform 24"/>
              <p:cNvSpPr/>
              <p:nvPr/>
            </p:nvSpPr>
            <p:spPr bwMode="auto">
              <a:xfrm>
                <a:off x="4409" y="2433"/>
                <a:ext cx="67" cy="67"/>
              </a:xfrm>
              <a:custGeom>
                <a:avLst/>
                <a:gdLst>
                  <a:gd name="T0" fmla="*/ 0 w 67"/>
                  <a:gd name="T1" fmla="*/ 67 h 67"/>
                  <a:gd name="T2" fmla="*/ 67 w 67"/>
                  <a:gd name="T3" fmla="*/ 31 h 67"/>
                  <a:gd name="T4" fmla="*/ 0 w 67"/>
                  <a:gd name="T5" fmla="*/ 0 h 67"/>
                  <a:gd name="T6" fmla="*/ 0 w 67"/>
                  <a:gd name="T7" fmla="*/ 67 h 67"/>
                </a:gdLst>
                <a:ahLst/>
                <a:cxnLst>
                  <a:cxn ang="0">
                    <a:pos x="T0" y="T1"/>
                  </a:cxn>
                  <a:cxn ang="0">
                    <a:pos x="T2" y="T3"/>
                  </a:cxn>
                  <a:cxn ang="0">
                    <a:pos x="T4" y="T5"/>
                  </a:cxn>
                  <a:cxn ang="0">
                    <a:pos x="T6" y="T7"/>
                  </a:cxn>
                </a:cxnLst>
                <a:rect l="0" t="0" r="r" b="b"/>
                <a:pathLst>
                  <a:path w="67" h="67">
                    <a:moveTo>
                      <a:pt x="0" y="67"/>
                    </a:moveTo>
                    <a:lnTo>
                      <a:pt x="67" y="31"/>
                    </a:lnTo>
                    <a:lnTo>
                      <a:pt x="0" y="0"/>
                    </a:lnTo>
                    <a:lnTo>
                      <a:pt x="0" y="67"/>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sp>
          <p:nvSpPr>
            <p:cNvPr id="21" name="Freeform 25"/>
            <p:cNvSpPr/>
            <p:nvPr/>
          </p:nvSpPr>
          <p:spPr bwMode="auto">
            <a:xfrm>
              <a:off x="3192464" y="2339975"/>
              <a:ext cx="5653087" cy="1524000"/>
            </a:xfrm>
            <a:custGeom>
              <a:avLst/>
              <a:gdLst>
                <a:gd name="T0" fmla="*/ 0 w 690"/>
                <a:gd name="T1" fmla="*/ 93 h 186"/>
                <a:gd name="T2" fmla="*/ 60 w 690"/>
                <a:gd name="T3" fmla="*/ 13 h 186"/>
                <a:gd name="T4" fmla="*/ 170 w 690"/>
                <a:gd name="T5" fmla="*/ 173 h 186"/>
                <a:gd name="T6" fmla="*/ 290 w 690"/>
                <a:gd name="T7" fmla="*/ 13 h 186"/>
                <a:gd name="T8" fmla="*/ 400 w 690"/>
                <a:gd name="T9" fmla="*/ 173 h 186"/>
                <a:gd name="T10" fmla="*/ 520 w 690"/>
                <a:gd name="T11" fmla="*/ 13 h 186"/>
                <a:gd name="T12" fmla="*/ 630 w 690"/>
                <a:gd name="T13" fmla="*/ 173 h 186"/>
                <a:gd name="T14" fmla="*/ 690 w 690"/>
                <a:gd name="T15" fmla="*/ 93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0" h="186">
                  <a:moveTo>
                    <a:pt x="0" y="93"/>
                  </a:moveTo>
                  <a:cubicBezTo>
                    <a:pt x="16" y="46"/>
                    <a:pt x="32" y="0"/>
                    <a:pt x="60" y="13"/>
                  </a:cubicBezTo>
                  <a:cubicBezTo>
                    <a:pt x="88" y="26"/>
                    <a:pt x="132" y="173"/>
                    <a:pt x="170" y="173"/>
                  </a:cubicBezTo>
                  <a:cubicBezTo>
                    <a:pt x="208" y="173"/>
                    <a:pt x="252" y="13"/>
                    <a:pt x="290" y="13"/>
                  </a:cubicBezTo>
                  <a:cubicBezTo>
                    <a:pt x="328" y="13"/>
                    <a:pt x="362" y="173"/>
                    <a:pt x="400" y="173"/>
                  </a:cubicBezTo>
                  <a:cubicBezTo>
                    <a:pt x="438" y="173"/>
                    <a:pt x="482" y="13"/>
                    <a:pt x="520" y="13"/>
                  </a:cubicBezTo>
                  <a:cubicBezTo>
                    <a:pt x="558" y="13"/>
                    <a:pt x="602" y="160"/>
                    <a:pt x="630" y="173"/>
                  </a:cubicBezTo>
                  <a:cubicBezTo>
                    <a:pt x="658" y="186"/>
                    <a:pt x="674" y="140"/>
                    <a:pt x="690" y="93"/>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 name="Rectangle 26"/>
            <p:cNvSpPr>
              <a:spLocks noChangeArrowheads="1"/>
            </p:cNvSpPr>
            <p:nvPr/>
          </p:nvSpPr>
          <p:spPr bwMode="auto">
            <a:xfrm>
              <a:off x="2640013" y="1916114"/>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23" name="Rectangle 27"/>
            <p:cNvSpPr>
              <a:spLocks noChangeArrowheads="1"/>
            </p:cNvSpPr>
            <p:nvPr/>
          </p:nvSpPr>
          <p:spPr bwMode="auto">
            <a:xfrm>
              <a:off x="8975725" y="3211514"/>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24" name="Rectangle 28"/>
            <p:cNvSpPr>
              <a:spLocks noChangeArrowheads="1"/>
            </p:cNvSpPr>
            <p:nvPr/>
          </p:nvSpPr>
          <p:spPr bwMode="auto">
            <a:xfrm>
              <a:off x="3792538" y="3932239"/>
              <a:ext cx="584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周期</a:t>
              </a:r>
              <a:r>
                <a:rPr lang="en-US" altLang="zh-CN" dirty="0">
                  <a:solidFill>
                    <a:schemeClr val="tx2"/>
                  </a:solidFill>
                  <a:latin typeface="微软雅黑 Light" panose="020B0502040204020203" pitchFamily="34" charset="-122"/>
                  <a:ea typeface="微软雅黑 Light" panose="020B0502040204020203" pitchFamily="34" charset="-122"/>
                </a:rPr>
                <a:t>T</a:t>
              </a:r>
              <a:endParaRPr lang="en-US" altLang="zh-CN" dirty="0">
                <a:solidFill>
                  <a:schemeClr val="tx2"/>
                </a:solidFill>
                <a:latin typeface="微软雅黑 Light" panose="020B0502040204020203" pitchFamily="34" charset="-122"/>
                <a:ea typeface="微软雅黑 Light" panose="020B0502040204020203" pitchFamily="34" charset="-122"/>
              </a:endParaRPr>
            </a:p>
          </p:txBody>
        </p:sp>
        <p:sp>
          <p:nvSpPr>
            <p:cNvPr id="25" name="Rectangle 29"/>
            <p:cNvSpPr>
              <a:spLocks noChangeArrowheads="1"/>
            </p:cNvSpPr>
            <p:nvPr/>
          </p:nvSpPr>
          <p:spPr bwMode="auto">
            <a:xfrm>
              <a:off x="5735638" y="3941764"/>
              <a:ext cx="584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dirty="0">
                  <a:solidFill>
                    <a:schemeClr val="tx2"/>
                  </a:solidFill>
                  <a:latin typeface="微软雅黑 Light" panose="020B0502040204020203" pitchFamily="34" charset="-122"/>
                  <a:ea typeface="微软雅黑 Light" panose="020B0502040204020203" pitchFamily="34" charset="-122"/>
                </a:rPr>
                <a:t>周期</a:t>
              </a:r>
              <a:r>
                <a:rPr lang="en-US" altLang="zh-CN" dirty="0">
                  <a:solidFill>
                    <a:schemeClr val="tx2"/>
                  </a:solidFill>
                  <a:latin typeface="微软雅黑 Light" panose="020B0502040204020203" pitchFamily="34" charset="-122"/>
                  <a:ea typeface="微软雅黑 Light" panose="020B0502040204020203" pitchFamily="34" charset="-122"/>
                </a:rPr>
                <a:t>T</a:t>
              </a:r>
              <a:endParaRPr lang="en-US" altLang="zh-CN" dirty="0">
                <a:solidFill>
                  <a:schemeClr val="tx2"/>
                </a:solidFill>
                <a:latin typeface="微软雅黑 Light" panose="020B0502040204020203" pitchFamily="34" charset="-122"/>
                <a:ea typeface="微软雅黑 Light" panose="020B0502040204020203" pitchFamily="34" charset="-122"/>
              </a:endParaRPr>
            </a:p>
          </p:txBody>
        </p:sp>
        <p:sp>
          <p:nvSpPr>
            <p:cNvPr id="26" name="Rectangle 30"/>
            <p:cNvSpPr>
              <a:spLocks noChangeArrowheads="1"/>
            </p:cNvSpPr>
            <p:nvPr/>
          </p:nvSpPr>
          <p:spPr bwMode="auto">
            <a:xfrm>
              <a:off x="7751763" y="3941764"/>
              <a:ext cx="584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dirty="0">
                  <a:solidFill>
                    <a:schemeClr val="tx2"/>
                  </a:solidFill>
                  <a:latin typeface="微软雅黑 Light" panose="020B0502040204020203" pitchFamily="34" charset="-122"/>
                  <a:ea typeface="微软雅黑 Light" panose="020B0502040204020203" pitchFamily="34" charset="-122"/>
                </a:rPr>
                <a:t>周期</a:t>
              </a:r>
              <a:r>
                <a:rPr lang="en-US" altLang="zh-CN" dirty="0">
                  <a:solidFill>
                    <a:schemeClr val="tx2"/>
                  </a:solidFill>
                  <a:latin typeface="微软雅黑 Light" panose="020B0502040204020203" pitchFamily="34" charset="-122"/>
                  <a:ea typeface="微软雅黑 Light" panose="020B0502040204020203" pitchFamily="34" charset="-122"/>
                </a:rPr>
                <a:t>T</a:t>
              </a:r>
              <a:endParaRPr lang="en-US" altLang="zh-CN" dirty="0">
                <a:solidFill>
                  <a:schemeClr val="tx2"/>
                </a:solidFill>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zh-CN" altLang="en-US" dirty="0"/>
              <a:t>模拟信号</a:t>
            </a:r>
            <a:endParaRPr lang="zh-CN" altLang="en-US" dirty="0"/>
          </a:p>
        </p:txBody>
      </p:sp>
      <p:sp>
        <p:nvSpPr>
          <p:cNvPr id="390147" name="Rectangle 3"/>
          <p:cNvSpPr>
            <a:spLocks noGrp="1" noChangeArrowheads="1"/>
          </p:cNvSpPr>
          <p:nvPr>
            <p:ph idx="1"/>
          </p:nvPr>
        </p:nvSpPr>
        <p:spPr>
          <a:xfrm>
            <a:off x="334434" y="1052515"/>
            <a:ext cx="11523133" cy="1108018"/>
          </a:xfrm>
        </p:spPr>
        <p:txBody>
          <a:bodyPr/>
          <a:lstStyle/>
          <a:p>
            <a:pPr>
              <a:lnSpc>
                <a:spcPct val="90000"/>
              </a:lnSpc>
            </a:pPr>
            <a:r>
              <a:rPr lang="zh-CN" altLang="en-US" dirty="0"/>
              <a:t>复杂模拟信号</a:t>
            </a:r>
            <a:endParaRPr lang="en-US" altLang="zh-CN" dirty="0"/>
          </a:p>
          <a:p>
            <a:pPr>
              <a:lnSpc>
                <a:spcPct val="90000"/>
              </a:lnSpc>
            </a:pPr>
            <a:endParaRPr lang="zh-CN" altLang="en-US" dirty="0"/>
          </a:p>
          <a:p>
            <a:pPr>
              <a:lnSpc>
                <a:spcPct val="90000"/>
              </a:lnSpc>
            </a:pPr>
            <a:endParaRPr lang="zh-CN" altLang="en-US" dirty="0"/>
          </a:p>
        </p:txBody>
      </p:sp>
      <p:sp>
        <p:nvSpPr>
          <p:cNvPr id="12" name="灯片编号占位符 5"/>
          <p:cNvSpPr>
            <a:spLocks noGrp="1"/>
          </p:cNvSpPr>
          <p:nvPr>
            <p:ph type="sldNum" sz="quarter" idx="12"/>
          </p:nvPr>
        </p:nvSpPr>
        <p:spPr/>
        <p:txBody>
          <a:bodyPr/>
          <a:lstStyle/>
          <a:p>
            <a:fld id="{AB0C3F63-A086-46D1-810A-2C25BA224F77}" type="slidenum">
              <a:rPr lang="en-US" altLang="zh-CN"/>
            </a:fld>
            <a:endParaRPr lang="en-US" altLang="zh-CN" dirty="0"/>
          </a:p>
        </p:txBody>
      </p:sp>
      <p:sp>
        <p:nvSpPr>
          <p:cNvPr id="390148" name="Line 4"/>
          <p:cNvSpPr>
            <a:spLocks noChangeShapeType="1"/>
          </p:cNvSpPr>
          <p:nvPr/>
        </p:nvSpPr>
        <p:spPr bwMode="auto">
          <a:xfrm>
            <a:off x="3163659" y="3778194"/>
            <a:ext cx="6121400" cy="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90149" name="Line 5"/>
          <p:cNvSpPr>
            <a:spLocks noChangeShapeType="1"/>
          </p:cNvSpPr>
          <p:nvPr/>
        </p:nvSpPr>
        <p:spPr bwMode="auto">
          <a:xfrm flipV="1">
            <a:off x="3163659" y="2481207"/>
            <a:ext cx="0" cy="2449513"/>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90150" name="Text Box 6"/>
          <p:cNvSpPr txBox="1">
            <a:spLocks noChangeArrowheads="1"/>
          </p:cNvSpPr>
          <p:nvPr/>
        </p:nvSpPr>
        <p:spPr bwMode="auto">
          <a:xfrm>
            <a:off x="8877071" y="3757557"/>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时间</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sp>
        <p:nvSpPr>
          <p:cNvPr id="390151" name="Text Box 7"/>
          <p:cNvSpPr txBox="1">
            <a:spLocks noChangeArrowheads="1"/>
          </p:cNvSpPr>
          <p:nvPr/>
        </p:nvSpPr>
        <p:spPr bwMode="auto">
          <a:xfrm>
            <a:off x="2273071" y="2312932"/>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信号值</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sp>
        <p:nvSpPr>
          <p:cNvPr id="390152" name="Freeform 8"/>
          <p:cNvSpPr/>
          <p:nvPr/>
        </p:nvSpPr>
        <p:spPr bwMode="auto">
          <a:xfrm>
            <a:off x="3171596" y="2879669"/>
            <a:ext cx="5291138" cy="1617662"/>
          </a:xfrm>
          <a:custGeom>
            <a:avLst/>
            <a:gdLst>
              <a:gd name="T0" fmla="*/ 0 w 3333"/>
              <a:gd name="T1" fmla="*/ 846 h 1019"/>
              <a:gd name="T2" fmla="*/ 296 w 3333"/>
              <a:gd name="T3" fmla="*/ 21 h 1019"/>
              <a:gd name="T4" fmla="*/ 749 w 3333"/>
              <a:gd name="T5" fmla="*/ 974 h 1019"/>
              <a:gd name="T6" fmla="*/ 1248 w 3333"/>
              <a:gd name="T7" fmla="*/ 294 h 1019"/>
              <a:gd name="T8" fmla="*/ 1793 w 3333"/>
              <a:gd name="T9" fmla="*/ 883 h 1019"/>
              <a:gd name="T10" fmla="*/ 2051 w 3333"/>
              <a:gd name="T11" fmla="*/ 380 h 1019"/>
              <a:gd name="T12" fmla="*/ 2382 w 3333"/>
              <a:gd name="T13" fmla="*/ 793 h 1019"/>
              <a:gd name="T14" fmla="*/ 2564 w 3333"/>
              <a:gd name="T15" fmla="*/ 203 h 1019"/>
              <a:gd name="T16" fmla="*/ 2836 w 3333"/>
              <a:gd name="T17" fmla="*/ 883 h 1019"/>
              <a:gd name="T18" fmla="*/ 3108 w 3333"/>
              <a:gd name="T19" fmla="*/ 67 h 1019"/>
              <a:gd name="T20" fmla="*/ 3333 w 3333"/>
              <a:gd name="T21" fmla="*/ 661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33" h="1019">
                <a:moveTo>
                  <a:pt x="0" y="846"/>
                </a:moveTo>
                <a:cubicBezTo>
                  <a:pt x="50" y="709"/>
                  <a:pt x="171" y="0"/>
                  <a:pt x="296" y="21"/>
                </a:cubicBezTo>
                <a:cubicBezTo>
                  <a:pt x="421" y="42"/>
                  <a:pt x="590" y="929"/>
                  <a:pt x="749" y="974"/>
                </a:cubicBezTo>
                <a:cubicBezTo>
                  <a:pt x="908" y="1019"/>
                  <a:pt x="1074" y="309"/>
                  <a:pt x="1248" y="294"/>
                </a:cubicBezTo>
                <a:cubicBezTo>
                  <a:pt x="1422" y="279"/>
                  <a:pt x="1659" y="869"/>
                  <a:pt x="1793" y="883"/>
                </a:cubicBezTo>
                <a:cubicBezTo>
                  <a:pt x="1927" y="897"/>
                  <a:pt x="1953" y="395"/>
                  <a:pt x="2051" y="380"/>
                </a:cubicBezTo>
                <a:cubicBezTo>
                  <a:pt x="2149" y="365"/>
                  <a:pt x="2296" y="823"/>
                  <a:pt x="2382" y="793"/>
                </a:cubicBezTo>
                <a:cubicBezTo>
                  <a:pt x="2468" y="763"/>
                  <a:pt x="2489" y="188"/>
                  <a:pt x="2564" y="203"/>
                </a:cubicBezTo>
                <a:cubicBezTo>
                  <a:pt x="2639" y="218"/>
                  <a:pt x="2745" y="906"/>
                  <a:pt x="2836" y="883"/>
                </a:cubicBezTo>
                <a:cubicBezTo>
                  <a:pt x="2927" y="860"/>
                  <a:pt x="3025" y="104"/>
                  <a:pt x="3108" y="67"/>
                </a:cubicBezTo>
                <a:cubicBezTo>
                  <a:pt x="3191" y="30"/>
                  <a:pt x="3286" y="537"/>
                  <a:pt x="3333" y="661"/>
                </a:cubicBezTo>
              </a:path>
            </a:pathLst>
          </a:custGeom>
          <a:noFill/>
          <a:ln w="19050" cap="flat" cmpd="sng">
            <a:solidFill>
              <a:srgbClr val="0070C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pic>
        <p:nvPicPr>
          <p:cNvPr id="390153"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6723" y="5002157"/>
            <a:ext cx="71628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99" name="Rectangle 59"/>
          <p:cNvSpPr>
            <a:spLocks noGrp="1" noChangeArrowheads="1"/>
          </p:cNvSpPr>
          <p:nvPr>
            <p:ph type="title"/>
          </p:nvPr>
        </p:nvSpPr>
        <p:spPr>
          <a:noFill/>
        </p:spPr>
        <p:txBody>
          <a:bodyPr/>
          <a:lstStyle/>
          <a:p>
            <a:r>
              <a:rPr lang="zh-CN" altLang="en-US" dirty="0"/>
              <a:t>数字信号</a:t>
            </a:r>
            <a:endParaRPr lang="zh-CN" altLang="en-US" dirty="0"/>
          </a:p>
        </p:txBody>
      </p:sp>
      <p:sp>
        <p:nvSpPr>
          <p:cNvPr id="58" name="灯片编号占位符 5"/>
          <p:cNvSpPr>
            <a:spLocks noGrp="1"/>
          </p:cNvSpPr>
          <p:nvPr>
            <p:ph type="sldNum" sz="quarter" idx="12"/>
          </p:nvPr>
        </p:nvSpPr>
        <p:spPr/>
        <p:txBody>
          <a:bodyPr/>
          <a:lstStyle/>
          <a:p>
            <a:fld id="{BB7BFB82-F746-45B0-BC17-F1A2849B1CA8}" type="slidenum">
              <a:rPr lang="en-US" altLang="zh-CN"/>
            </a:fld>
            <a:endParaRPr lang="en-US" altLang="zh-CN" dirty="0"/>
          </a:p>
        </p:txBody>
      </p:sp>
      <p:sp>
        <p:nvSpPr>
          <p:cNvPr id="394275" name="AutoShape 35"/>
          <p:cNvSpPr>
            <a:spLocks noChangeArrowheads="1"/>
          </p:cNvSpPr>
          <p:nvPr/>
        </p:nvSpPr>
        <p:spPr bwMode="auto">
          <a:xfrm>
            <a:off x="3323593" y="5552495"/>
            <a:ext cx="1174750" cy="516730"/>
          </a:xfrm>
          <a:prstGeom prst="wedgeRoundRectCallout">
            <a:avLst>
              <a:gd name="adj1" fmla="val -31926"/>
              <a:gd name="adj2" fmla="val -119822"/>
              <a:gd name="adj3" fmla="val 16667"/>
            </a:avLst>
          </a:prstGeom>
          <a:solidFill>
            <a:srgbClr val="00B0F0"/>
          </a:solidFill>
          <a:ln w="9525">
            <a:solidFill>
              <a:schemeClr val="tx1"/>
            </a:solidFill>
            <a:miter lim="800000"/>
          </a:ln>
          <a:effec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比特间隙</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grpSp>
        <p:nvGrpSpPr>
          <p:cNvPr id="394295" name="Group 55"/>
          <p:cNvGrpSpPr/>
          <p:nvPr/>
        </p:nvGrpSpPr>
        <p:grpSpPr bwMode="auto">
          <a:xfrm>
            <a:off x="2579053" y="2678324"/>
            <a:ext cx="7226300" cy="2736850"/>
            <a:chOff x="703" y="1751"/>
            <a:chExt cx="4552" cy="1724"/>
          </a:xfrm>
        </p:grpSpPr>
        <p:grpSp>
          <p:nvGrpSpPr>
            <p:cNvPr id="394244" name="Group 4"/>
            <p:cNvGrpSpPr/>
            <p:nvPr/>
          </p:nvGrpSpPr>
          <p:grpSpPr bwMode="auto">
            <a:xfrm>
              <a:off x="1071" y="3272"/>
              <a:ext cx="498" cy="73"/>
              <a:chOff x="708" y="3091"/>
              <a:chExt cx="498" cy="73"/>
            </a:xfrm>
          </p:grpSpPr>
          <p:sp>
            <p:nvSpPr>
              <p:cNvPr id="394245" name="Line 5"/>
              <p:cNvSpPr>
                <a:spLocks noChangeShapeType="1"/>
              </p:cNvSpPr>
              <p:nvPr/>
            </p:nvSpPr>
            <p:spPr bwMode="auto">
              <a:xfrm>
                <a:off x="776" y="3125"/>
                <a:ext cx="362"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46" name="Freeform 6"/>
              <p:cNvSpPr/>
              <p:nvPr/>
            </p:nvSpPr>
            <p:spPr bwMode="auto">
              <a:xfrm>
                <a:off x="708" y="3091"/>
                <a:ext cx="87" cy="73"/>
              </a:xfrm>
              <a:custGeom>
                <a:avLst/>
                <a:gdLst>
                  <a:gd name="T0" fmla="*/ 87 w 87"/>
                  <a:gd name="T1" fmla="*/ 0 h 73"/>
                  <a:gd name="T2" fmla="*/ 0 w 87"/>
                  <a:gd name="T3" fmla="*/ 34 h 73"/>
                  <a:gd name="T4" fmla="*/ 87 w 87"/>
                  <a:gd name="T5" fmla="*/ 73 h 73"/>
                  <a:gd name="T6" fmla="*/ 87 w 87"/>
                  <a:gd name="T7" fmla="*/ 0 h 73"/>
                </a:gdLst>
                <a:ahLst/>
                <a:cxnLst>
                  <a:cxn ang="0">
                    <a:pos x="T0" y="T1"/>
                  </a:cxn>
                  <a:cxn ang="0">
                    <a:pos x="T2" y="T3"/>
                  </a:cxn>
                  <a:cxn ang="0">
                    <a:pos x="T4" y="T5"/>
                  </a:cxn>
                  <a:cxn ang="0">
                    <a:pos x="T6" y="T7"/>
                  </a:cxn>
                </a:cxnLst>
                <a:rect l="0" t="0" r="r" b="b"/>
                <a:pathLst>
                  <a:path w="87" h="73">
                    <a:moveTo>
                      <a:pt x="87" y="0"/>
                    </a:moveTo>
                    <a:lnTo>
                      <a:pt x="0" y="34"/>
                    </a:lnTo>
                    <a:lnTo>
                      <a:pt x="87" y="73"/>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微软雅黑 Light" panose="020B0502040204020203" pitchFamily="34" charset="-122"/>
                </a:endParaRPr>
              </a:p>
            </p:txBody>
          </p:sp>
          <p:sp>
            <p:nvSpPr>
              <p:cNvPr id="394247" name="Freeform 7"/>
              <p:cNvSpPr/>
              <p:nvPr/>
            </p:nvSpPr>
            <p:spPr bwMode="auto">
              <a:xfrm>
                <a:off x="1125" y="3091"/>
                <a:ext cx="81" cy="73"/>
              </a:xfrm>
              <a:custGeom>
                <a:avLst/>
                <a:gdLst>
                  <a:gd name="T0" fmla="*/ 0 w 81"/>
                  <a:gd name="T1" fmla="*/ 73 h 73"/>
                  <a:gd name="T2" fmla="*/ 81 w 81"/>
                  <a:gd name="T3" fmla="*/ 34 h 73"/>
                  <a:gd name="T4" fmla="*/ 0 w 81"/>
                  <a:gd name="T5" fmla="*/ 0 h 73"/>
                  <a:gd name="T6" fmla="*/ 0 w 81"/>
                  <a:gd name="T7" fmla="*/ 73 h 73"/>
                </a:gdLst>
                <a:ahLst/>
                <a:cxnLst>
                  <a:cxn ang="0">
                    <a:pos x="T0" y="T1"/>
                  </a:cxn>
                  <a:cxn ang="0">
                    <a:pos x="T2" y="T3"/>
                  </a:cxn>
                  <a:cxn ang="0">
                    <a:pos x="T4" y="T5"/>
                  </a:cxn>
                  <a:cxn ang="0">
                    <a:pos x="T6" y="T7"/>
                  </a:cxn>
                </a:cxnLst>
                <a:rect l="0" t="0" r="r" b="b"/>
                <a:pathLst>
                  <a:path w="81" h="73">
                    <a:moveTo>
                      <a:pt x="0" y="73"/>
                    </a:moveTo>
                    <a:lnTo>
                      <a:pt x="81" y="34"/>
                    </a:lnTo>
                    <a:lnTo>
                      <a:pt x="0" y="0"/>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微软雅黑 Light" panose="020B0502040204020203" pitchFamily="34" charset="-122"/>
                </a:endParaRPr>
              </a:p>
            </p:txBody>
          </p:sp>
        </p:grpSp>
        <p:grpSp>
          <p:nvGrpSpPr>
            <p:cNvPr id="394248" name="Group 8"/>
            <p:cNvGrpSpPr/>
            <p:nvPr/>
          </p:nvGrpSpPr>
          <p:grpSpPr bwMode="auto">
            <a:xfrm>
              <a:off x="1071" y="2032"/>
              <a:ext cx="3737" cy="73"/>
              <a:chOff x="708" y="1851"/>
              <a:chExt cx="3737" cy="73"/>
            </a:xfrm>
          </p:grpSpPr>
          <p:sp>
            <p:nvSpPr>
              <p:cNvPr id="394249" name="Line 9"/>
              <p:cNvSpPr>
                <a:spLocks noChangeShapeType="1"/>
              </p:cNvSpPr>
              <p:nvPr/>
            </p:nvSpPr>
            <p:spPr bwMode="auto">
              <a:xfrm>
                <a:off x="776" y="1885"/>
                <a:ext cx="360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0" name="Freeform 10"/>
              <p:cNvSpPr/>
              <p:nvPr/>
            </p:nvSpPr>
            <p:spPr bwMode="auto">
              <a:xfrm>
                <a:off x="708" y="1851"/>
                <a:ext cx="87" cy="73"/>
              </a:xfrm>
              <a:custGeom>
                <a:avLst/>
                <a:gdLst>
                  <a:gd name="T0" fmla="*/ 87 w 87"/>
                  <a:gd name="T1" fmla="*/ 0 h 73"/>
                  <a:gd name="T2" fmla="*/ 0 w 87"/>
                  <a:gd name="T3" fmla="*/ 34 h 73"/>
                  <a:gd name="T4" fmla="*/ 87 w 87"/>
                  <a:gd name="T5" fmla="*/ 73 h 73"/>
                  <a:gd name="T6" fmla="*/ 87 w 87"/>
                  <a:gd name="T7" fmla="*/ 0 h 73"/>
                </a:gdLst>
                <a:ahLst/>
                <a:cxnLst>
                  <a:cxn ang="0">
                    <a:pos x="T0" y="T1"/>
                  </a:cxn>
                  <a:cxn ang="0">
                    <a:pos x="T2" y="T3"/>
                  </a:cxn>
                  <a:cxn ang="0">
                    <a:pos x="T4" y="T5"/>
                  </a:cxn>
                  <a:cxn ang="0">
                    <a:pos x="T6" y="T7"/>
                  </a:cxn>
                </a:cxnLst>
                <a:rect l="0" t="0" r="r" b="b"/>
                <a:pathLst>
                  <a:path w="87" h="73">
                    <a:moveTo>
                      <a:pt x="87" y="0"/>
                    </a:moveTo>
                    <a:lnTo>
                      <a:pt x="0" y="34"/>
                    </a:lnTo>
                    <a:lnTo>
                      <a:pt x="87" y="73"/>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微软雅黑 Light" panose="020B0502040204020203" pitchFamily="34" charset="-122"/>
                </a:endParaRPr>
              </a:p>
            </p:txBody>
          </p:sp>
          <p:sp>
            <p:nvSpPr>
              <p:cNvPr id="394251" name="Freeform 11"/>
              <p:cNvSpPr/>
              <p:nvPr/>
            </p:nvSpPr>
            <p:spPr bwMode="auto">
              <a:xfrm>
                <a:off x="4364" y="1851"/>
                <a:ext cx="81" cy="73"/>
              </a:xfrm>
              <a:custGeom>
                <a:avLst/>
                <a:gdLst>
                  <a:gd name="T0" fmla="*/ 0 w 81"/>
                  <a:gd name="T1" fmla="*/ 73 h 73"/>
                  <a:gd name="T2" fmla="*/ 81 w 81"/>
                  <a:gd name="T3" fmla="*/ 34 h 73"/>
                  <a:gd name="T4" fmla="*/ 0 w 81"/>
                  <a:gd name="T5" fmla="*/ 0 h 73"/>
                  <a:gd name="T6" fmla="*/ 0 w 81"/>
                  <a:gd name="T7" fmla="*/ 73 h 73"/>
                </a:gdLst>
                <a:ahLst/>
                <a:cxnLst>
                  <a:cxn ang="0">
                    <a:pos x="T0" y="T1"/>
                  </a:cxn>
                  <a:cxn ang="0">
                    <a:pos x="T2" y="T3"/>
                  </a:cxn>
                  <a:cxn ang="0">
                    <a:pos x="T4" y="T5"/>
                  </a:cxn>
                  <a:cxn ang="0">
                    <a:pos x="T6" y="T7"/>
                  </a:cxn>
                </a:cxnLst>
                <a:rect l="0" t="0" r="r" b="b"/>
                <a:pathLst>
                  <a:path w="81" h="73">
                    <a:moveTo>
                      <a:pt x="0" y="73"/>
                    </a:moveTo>
                    <a:lnTo>
                      <a:pt x="81" y="34"/>
                    </a:lnTo>
                    <a:lnTo>
                      <a:pt x="0" y="0"/>
                    </a:lnTo>
                    <a:lnTo>
                      <a:pt x="0" y="7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dirty="0">
                  <a:latin typeface="微软雅黑 Light" panose="020B0502040204020203" pitchFamily="34" charset="-122"/>
                </a:endParaRPr>
              </a:p>
            </p:txBody>
          </p:sp>
        </p:grpSp>
        <p:grpSp>
          <p:nvGrpSpPr>
            <p:cNvPr id="394252" name="Group 12"/>
            <p:cNvGrpSpPr/>
            <p:nvPr/>
          </p:nvGrpSpPr>
          <p:grpSpPr bwMode="auto">
            <a:xfrm>
              <a:off x="1071" y="2517"/>
              <a:ext cx="3737" cy="563"/>
              <a:chOff x="708" y="2336"/>
              <a:chExt cx="3737" cy="563"/>
            </a:xfrm>
          </p:grpSpPr>
          <p:sp>
            <p:nvSpPr>
              <p:cNvPr id="394253" name="Line 13"/>
              <p:cNvSpPr>
                <a:spLocks noChangeShapeType="1"/>
              </p:cNvSpPr>
              <p:nvPr/>
            </p:nvSpPr>
            <p:spPr bwMode="auto">
              <a:xfrm>
                <a:off x="708" y="2336"/>
                <a:ext cx="498" cy="0"/>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4" name="Line 14"/>
              <p:cNvSpPr>
                <a:spLocks noChangeShapeType="1"/>
              </p:cNvSpPr>
              <p:nvPr/>
            </p:nvSpPr>
            <p:spPr bwMode="auto">
              <a:xfrm>
                <a:off x="1206" y="2336"/>
                <a:ext cx="0" cy="563"/>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5" name="Line 15"/>
              <p:cNvSpPr>
                <a:spLocks noChangeShapeType="1"/>
              </p:cNvSpPr>
              <p:nvPr/>
            </p:nvSpPr>
            <p:spPr bwMode="auto">
              <a:xfrm>
                <a:off x="1206" y="2899"/>
                <a:ext cx="436" cy="0"/>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6" name="Line 16"/>
              <p:cNvSpPr>
                <a:spLocks noChangeShapeType="1"/>
              </p:cNvSpPr>
              <p:nvPr/>
            </p:nvSpPr>
            <p:spPr bwMode="auto">
              <a:xfrm>
                <a:off x="1642" y="2336"/>
                <a:ext cx="0" cy="563"/>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7" name="Line 17"/>
              <p:cNvSpPr>
                <a:spLocks noChangeShapeType="1"/>
              </p:cNvSpPr>
              <p:nvPr/>
            </p:nvSpPr>
            <p:spPr bwMode="auto">
              <a:xfrm>
                <a:off x="1642" y="2336"/>
                <a:ext cx="436" cy="0"/>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8" name="Line 18"/>
              <p:cNvSpPr>
                <a:spLocks noChangeShapeType="1"/>
              </p:cNvSpPr>
              <p:nvPr/>
            </p:nvSpPr>
            <p:spPr bwMode="auto">
              <a:xfrm>
                <a:off x="2078" y="2336"/>
                <a:ext cx="0" cy="563"/>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59" name="Line 19"/>
              <p:cNvSpPr>
                <a:spLocks noChangeShapeType="1"/>
              </p:cNvSpPr>
              <p:nvPr/>
            </p:nvSpPr>
            <p:spPr bwMode="auto">
              <a:xfrm>
                <a:off x="2078" y="2899"/>
                <a:ext cx="1371" cy="0"/>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60" name="Line 20"/>
              <p:cNvSpPr>
                <a:spLocks noChangeShapeType="1"/>
              </p:cNvSpPr>
              <p:nvPr/>
            </p:nvSpPr>
            <p:spPr bwMode="auto">
              <a:xfrm>
                <a:off x="3449" y="2336"/>
                <a:ext cx="0" cy="563"/>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61" name="Line 21"/>
              <p:cNvSpPr>
                <a:spLocks noChangeShapeType="1"/>
              </p:cNvSpPr>
              <p:nvPr/>
            </p:nvSpPr>
            <p:spPr bwMode="auto">
              <a:xfrm>
                <a:off x="3449" y="2336"/>
                <a:ext cx="498" cy="0"/>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62" name="Line 22"/>
              <p:cNvSpPr>
                <a:spLocks noChangeShapeType="1"/>
              </p:cNvSpPr>
              <p:nvPr/>
            </p:nvSpPr>
            <p:spPr bwMode="auto">
              <a:xfrm>
                <a:off x="3947" y="2336"/>
                <a:ext cx="0" cy="563"/>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63" name="Line 23"/>
              <p:cNvSpPr>
                <a:spLocks noChangeShapeType="1"/>
              </p:cNvSpPr>
              <p:nvPr/>
            </p:nvSpPr>
            <p:spPr bwMode="auto">
              <a:xfrm>
                <a:off x="3947" y="2899"/>
                <a:ext cx="498" cy="0"/>
              </a:xfrm>
              <a:prstGeom prst="line">
                <a:avLst/>
              </a:prstGeom>
              <a:noFill/>
              <a:ln w="49213">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394264" name="Rectangle 24"/>
            <p:cNvSpPr>
              <a:spLocks noChangeArrowheads="1"/>
            </p:cNvSpPr>
            <p:nvPr/>
          </p:nvSpPr>
          <p:spPr bwMode="auto">
            <a:xfrm>
              <a:off x="2200" y="1842"/>
              <a:ext cx="18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ea typeface="微软雅黑 Light" panose="020B0502040204020203" pitchFamily="34" charset="-122"/>
                </a:rPr>
                <a:t>1s=8</a:t>
              </a:r>
              <a:r>
                <a:rPr lang="zh-CN" altLang="en-US" dirty="0">
                  <a:solidFill>
                    <a:schemeClr val="tx2"/>
                  </a:solidFill>
                  <a:latin typeface="微软雅黑 Light" panose="020B0502040204020203" pitchFamily="34" charset="-122"/>
                  <a:ea typeface="微软雅黑 Light" panose="020B0502040204020203" pitchFamily="34" charset="-122"/>
                </a:rPr>
                <a:t>比特间隙，比特率</a:t>
              </a:r>
              <a:r>
                <a:rPr lang="en-US" altLang="zh-CN" dirty="0">
                  <a:solidFill>
                    <a:schemeClr val="tx2"/>
                  </a:solidFill>
                  <a:latin typeface="微软雅黑 Light" panose="020B0502040204020203" pitchFamily="34" charset="-122"/>
                  <a:ea typeface="微软雅黑 Light" panose="020B0502040204020203" pitchFamily="34" charset="-122"/>
                </a:rPr>
                <a:t>=8bps</a:t>
              </a:r>
              <a:endParaRPr lang="en-US" altLang="zh-CN" dirty="0">
                <a:solidFill>
                  <a:schemeClr val="tx2"/>
                </a:solidFill>
                <a:latin typeface="微软雅黑 Light" panose="020B0502040204020203" pitchFamily="34" charset="-122"/>
                <a:ea typeface="微软雅黑 Light" panose="020B0502040204020203" pitchFamily="34" charset="-122"/>
              </a:endParaRPr>
            </a:p>
          </p:txBody>
        </p:sp>
        <p:sp>
          <p:nvSpPr>
            <p:cNvPr id="394265" name="Rectangle 25"/>
            <p:cNvSpPr>
              <a:spLocks noChangeArrowheads="1"/>
            </p:cNvSpPr>
            <p:nvPr/>
          </p:nvSpPr>
          <p:spPr bwMode="auto">
            <a:xfrm>
              <a:off x="2927" y="2111"/>
              <a:ext cx="12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chemeClr val="tx2"/>
                  </a:solidFill>
                  <a:latin typeface="微软雅黑 Light" panose="020B0502040204020203" pitchFamily="34" charset="-122"/>
                </a:rPr>
                <a:t>1s</a:t>
              </a:r>
              <a:endParaRPr lang="en-US" altLang="zh-CN" dirty="0">
                <a:solidFill>
                  <a:schemeClr val="tx2"/>
                </a:solidFill>
                <a:latin typeface="微软雅黑 Light" panose="020B0502040204020203" pitchFamily="34" charset="-122"/>
              </a:endParaRPr>
            </a:p>
          </p:txBody>
        </p:sp>
        <p:grpSp>
          <p:nvGrpSpPr>
            <p:cNvPr id="394266" name="Group 26"/>
            <p:cNvGrpSpPr/>
            <p:nvPr/>
          </p:nvGrpSpPr>
          <p:grpSpPr bwMode="auto">
            <a:xfrm>
              <a:off x="703" y="1751"/>
              <a:ext cx="4552" cy="1724"/>
              <a:chOff x="340" y="1570"/>
              <a:chExt cx="4552" cy="1724"/>
            </a:xfrm>
          </p:grpSpPr>
          <p:grpSp>
            <p:nvGrpSpPr>
              <p:cNvPr id="394267" name="Group 27"/>
              <p:cNvGrpSpPr/>
              <p:nvPr/>
            </p:nvGrpSpPr>
            <p:grpSpPr bwMode="auto">
              <a:xfrm>
                <a:off x="671" y="1603"/>
                <a:ext cx="80" cy="1691"/>
                <a:chOff x="671" y="1603"/>
                <a:chExt cx="80" cy="1691"/>
              </a:xfrm>
            </p:grpSpPr>
            <p:sp>
              <p:nvSpPr>
                <p:cNvPr id="394268" name="Line 28"/>
                <p:cNvSpPr>
                  <a:spLocks noChangeShapeType="1"/>
                </p:cNvSpPr>
                <p:nvPr/>
              </p:nvSpPr>
              <p:spPr bwMode="auto">
                <a:xfrm flipV="1">
                  <a:off x="708" y="1665"/>
                  <a:ext cx="0" cy="162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69" name="Freeform 29"/>
                <p:cNvSpPr/>
                <p:nvPr/>
              </p:nvSpPr>
              <p:spPr bwMode="auto">
                <a:xfrm>
                  <a:off x="671" y="1603"/>
                  <a:ext cx="80" cy="79"/>
                </a:xfrm>
                <a:custGeom>
                  <a:avLst/>
                  <a:gdLst>
                    <a:gd name="T0" fmla="*/ 80 w 80"/>
                    <a:gd name="T1" fmla="*/ 79 h 79"/>
                    <a:gd name="T2" fmla="*/ 37 w 80"/>
                    <a:gd name="T3" fmla="*/ 0 h 79"/>
                    <a:gd name="T4" fmla="*/ 0 w 80"/>
                    <a:gd name="T5" fmla="*/ 79 h 79"/>
                    <a:gd name="T6" fmla="*/ 80 w 80"/>
                    <a:gd name="T7" fmla="*/ 79 h 79"/>
                  </a:gdLst>
                  <a:ahLst/>
                  <a:cxnLst>
                    <a:cxn ang="0">
                      <a:pos x="T0" y="T1"/>
                    </a:cxn>
                    <a:cxn ang="0">
                      <a:pos x="T2" y="T3"/>
                    </a:cxn>
                    <a:cxn ang="0">
                      <a:pos x="T4" y="T5"/>
                    </a:cxn>
                    <a:cxn ang="0">
                      <a:pos x="T6" y="T7"/>
                    </a:cxn>
                  </a:cxnLst>
                  <a:rect l="0" t="0" r="r" b="b"/>
                  <a:pathLst>
                    <a:path w="80" h="79">
                      <a:moveTo>
                        <a:pt x="80" y="79"/>
                      </a:moveTo>
                      <a:lnTo>
                        <a:pt x="37" y="0"/>
                      </a:lnTo>
                      <a:lnTo>
                        <a:pt x="0" y="79"/>
                      </a:lnTo>
                      <a:lnTo>
                        <a:pt x="80" y="79"/>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grpSp>
            <p:nvGrpSpPr>
              <p:cNvPr id="394270" name="Group 30"/>
              <p:cNvGrpSpPr/>
              <p:nvPr/>
            </p:nvGrpSpPr>
            <p:grpSpPr bwMode="auto">
              <a:xfrm>
                <a:off x="708" y="2866"/>
                <a:ext cx="4049" cy="73"/>
                <a:chOff x="708" y="2866"/>
                <a:chExt cx="4049" cy="73"/>
              </a:xfrm>
            </p:grpSpPr>
            <p:sp>
              <p:nvSpPr>
                <p:cNvPr id="394271" name="Line 31"/>
                <p:cNvSpPr>
                  <a:spLocks noChangeShapeType="1"/>
                </p:cNvSpPr>
                <p:nvPr/>
              </p:nvSpPr>
              <p:spPr bwMode="auto">
                <a:xfrm>
                  <a:off x="708" y="2899"/>
                  <a:ext cx="398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72" name="Freeform 32"/>
                <p:cNvSpPr/>
                <p:nvPr/>
              </p:nvSpPr>
              <p:spPr bwMode="auto">
                <a:xfrm>
                  <a:off x="4676" y="2866"/>
                  <a:ext cx="81" cy="73"/>
                </a:xfrm>
                <a:custGeom>
                  <a:avLst/>
                  <a:gdLst>
                    <a:gd name="T0" fmla="*/ 0 w 81"/>
                    <a:gd name="T1" fmla="*/ 73 h 73"/>
                    <a:gd name="T2" fmla="*/ 81 w 81"/>
                    <a:gd name="T3" fmla="*/ 33 h 73"/>
                    <a:gd name="T4" fmla="*/ 0 w 81"/>
                    <a:gd name="T5" fmla="*/ 0 h 73"/>
                    <a:gd name="T6" fmla="*/ 0 w 81"/>
                    <a:gd name="T7" fmla="*/ 73 h 73"/>
                  </a:gdLst>
                  <a:ahLst/>
                  <a:cxnLst>
                    <a:cxn ang="0">
                      <a:pos x="T0" y="T1"/>
                    </a:cxn>
                    <a:cxn ang="0">
                      <a:pos x="T2" y="T3"/>
                    </a:cxn>
                    <a:cxn ang="0">
                      <a:pos x="T4" y="T5"/>
                    </a:cxn>
                    <a:cxn ang="0">
                      <a:pos x="T6" y="T7"/>
                    </a:cxn>
                  </a:cxnLst>
                  <a:rect l="0" t="0" r="r" b="b"/>
                  <a:pathLst>
                    <a:path w="81" h="73">
                      <a:moveTo>
                        <a:pt x="0" y="73"/>
                      </a:moveTo>
                      <a:lnTo>
                        <a:pt x="81" y="33"/>
                      </a:lnTo>
                      <a:lnTo>
                        <a:pt x="0" y="0"/>
                      </a:lnTo>
                      <a:lnTo>
                        <a:pt x="0" y="73"/>
                      </a:lnTo>
                      <a:close/>
                    </a:path>
                  </a:pathLst>
                </a:custGeom>
                <a:solidFill>
                  <a:srgbClr val="000000"/>
                </a:solidFill>
                <a:ln w="19050" cmpd="sng">
                  <a:solidFill>
                    <a:srgbClr val="000000"/>
                  </a:solidFill>
                  <a:round/>
                </a:ln>
              </p:spPr>
              <p:txBody>
                <a:bodyPr/>
                <a:lstStyle/>
                <a:p>
                  <a:endParaRPr lang="zh-CN" altLang="en-US" dirty="0">
                    <a:latin typeface="微软雅黑 Light" panose="020B0502040204020203" pitchFamily="34" charset="-122"/>
                  </a:endParaRPr>
                </a:p>
              </p:txBody>
            </p:sp>
          </p:grpSp>
          <p:sp>
            <p:nvSpPr>
              <p:cNvPr id="394273" name="Rectangle 33"/>
              <p:cNvSpPr>
                <a:spLocks noChangeArrowheads="1"/>
              </p:cNvSpPr>
              <p:nvPr/>
            </p:nvSpPr>
            <p:spPr bwMode="auto">
              <a:xfrm>
                <a:off x="340" y="1570"/>
                <a:ext cx="2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394274" name="Rectangle 34"/>
              <p:cNvSpPr>
                <a:spLocks noChangeArrowheads="1"/>
              </p:cNvSpPr>
              <p:nvPr/>
            </p:nvSpPr>
            <p:spPr bwMode="auto">
              <a:xfrm>
                <a:off x="4604" y="2976"/>
                <a:ext cx="2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grpSp>
        <p:grpSp>
          <p:nvGrpSpPr>
            <p:cNvPr id="394276" name="Group 36"/>
            <p:cNvGrpSpPr/>
            <p:nvPr/>
          </p:nvGrpSpPr>
          <p:grpSpPr bwMode="auto">
            <a:xfrm>
              <a:off x="1293" y="2314"/>
              <a:ext cx="3356" cy="184"/>
              <a:chOff x="930" y="2133"/>
              <a:chExt cx="3356" cy="184"/>
            </a:xfrm>
          </p:grpSpPr>
          <p:sp>
            <p:nvSpPr>
              <p:cNvPr id="394277" name="Rectangle 37"/>
              <p:cNvSpPr>
                <a:spLocks noChangeArrowheads="1"/>
              </p:cNvSpPr>
              <p:nvPr/>
            </p:nvSpPr>
            <p:spPr bwMode="auto">
              <a:xfrm>
                <a:off x="930" y="2133"/>
                <a:ext cx="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394278" name="Rectangle 38"/>
              <p:cNvSpPr>
                <a:spLocks noChangeArrowheads="1"/>
              </p:cNvSpPr>
              <p:nvPr/>
            </p:nvSpPr>
            <p:spPr bwMode="auto">
              <a:xfrm>
                <a:off x="1833" y="2133"/>
                <a:ext cx="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394279" name="Rectangle 39"/>
              <p:cNvSpPr>
                <a:spLocks noChangeArrowheads="1"/>
              </p:cNvSpPr>
              <p:nvPr/>
            </p:nvSpPr>
            <p:spPr bwMode="auto">
              <a:xfrm>
                <a:off x="3702" y="2133"/>
                <a:ext cx="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394280" name="Rectangle 40"/>
              <p:cNvSpPr>
                <a:spLocks noChangeArrowheads="1"/>
              </p:cNvSpPr>
              <p:nvPr/>
            </p:nvSpPr>
            <p:spPr bwMode="auto">
              <a:xfrm>
                <a:off x="1397"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394281" name="Rectangle 41"/>
              <p:cNvSpPr>
                <a:spLocks noChangeArrowheads="1"/>
              </p:cNvSpPr>
              <p:nvPr/>
            </p:nvSpPr>
            <p:spPr bwMode="auto">
              <a:xfrm>
                <a:off x="4200"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394282" name="Rectangle 42"/>
              <p:cNvSpPr>
                <a:spLocks noChangeArrowheads="1"/>
              </p:cNvSpPr>
              <p:nvPr/>
            </p:nvSpPr>
            <p:spPr bwMode="auto">
              <a:xfrm>
                <a:off x="2269"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394283" name="Rectangle 43"/>
              <p:cNvSpPr>
                <a:spLocks noChangeArrowheads="1"/>
              </p:cNvSpPr>
              <p:nvPr/>
            </p:nvSpPr>
            <p:spPr bwMode="auto">
              <a:xfrm>
                <a:off x="2705"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394284" name="Rectangle 44"/>
              <p:cNvSpPr>
                <a:spLocks noChangeArrowheads="1"/>
              </p:cNvSpPr>
              <p:nvPr/>
            </p:nvSpPr>
            <p:spPr bwMode="auto">
              <a:xfrm>
                <a:off x="3203"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grpSp>
        <p:grpSp>
          <p:nvGrpSpPr>
            <p:cNvPr id="394285" name="Group 45"/>
            <p:cNvGrpSpPr/>
            <p:nvPr/>
          </p:nvGrpSpPr>
          <p:grpSpPr bwMode="auto">
            <a:xfrm>
              <a:off x="1569" y="1784"/>
              <a:ext cx="3239" cy="1691"/>
              <a:chOff x="1206" y="1603"/>
              <a:chExt cx="3239" cy="1691"/>
            </a:xfrm>
          </p:grpSpPr>
          <p:sp>
            <p:nvSpPr>
              <p:cNvPr id="394286" name="Line 46"/>
              <p:cNvSpPr>
                <a:spLocks noChangeShapeType="1"/>
              </p:cNvSpPr>
              <p:nvPr/>
            </p:nvSpPr>
            <p:spPr bwMode="auto">
              <a:xfrm>
                <a:off x="1206"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87" name="Line 47"/>
              <p:cNvSpPr>
                <a:spLocks noChangeShapeType="1"/>
              </p:cNvSpPr>
              <p:nvPr/>
            </p:nvSpPr>
            <p:spPr bwMode="auto">
              <a:xfrm>
                <a:off x="1642"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88" name="Line 48"/>
              <p:cNvSpPr>
                <a:spLocks noChangeShapeType="1"/>
              </p:cNvSpPr>
              <p:nvPr/>
            </p:nvSpPr>
            <p:spPr bwMode="auto">
              <a:xfrm>
                <a:off x="2078"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89" name="Line 49"/>
              <p:cNvSpPr>
                <a:spLocks noChangeShapeType="1"/>
              </p:cNvSpPr>
              <p:nvPr/>
            </p:nvSpPr>
            <p:spPr bwMode="auto">
              <a:xfrm>
                <a:off x="2514"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90" name="Line 50"/>
              <p:cNvSpPr>
                <a:spLocks noChangeShapeType="1"/>
              </p:cNvSpPr>
              <p:nvPr/>
            </p:nvSpPr>
            <p:spPr bwMode="auto">
              <a:xfrm>
                <a:off x="2950"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91" name="Line 51"/>
              <p:cNvSpPr>
                <a:spLocks noChangeShapeType="1"/>
              </p:cNvSpPr>
              <p:nvPr/>
            </p:nvSpPr>
            <p:spPr bwMode="auto">
              <a:xfrm>
                <a:off x="3947"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92" name="Line 52"/>
              <p:cNvSpPr>
                <a:spLocks noChangeShapeType="1"/>
              </p:cNvSpPr>
              <p:nvPr/>
            </p:nvSpPr>
            <p:spPr bwMode="auto">
              <a:xfrm>
                <a:off x="3449" y="2167"/>
                <a:ext cx="0" cy="1127"/>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4293" name="Line 53"/>
              <p:cNvSpPr>
                <a:spLocks noChangeShapeType="1"/>
              </p:cNvSpPr>
              <p:nvPr/>
            </p:nvSpPr>
            <p:spPr bwMode="auto">
              <a:xfrm>
                <a:off x="4445" y="1603"/>
                <a:ext cx="0" cy="1691"/>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grpSp>
      <p:sp>
        <p:nvSpPr>
          <p:cNvPr id="57" name="内容占位符 2"/>
          <p:cNvSpPr>
            <a:spLocks noGrp="1"/>
          </p:cNvSpPr>
          <p:nvPr>
            <p:ph idx="1"/>
          </p:nvPr>
        </p:nvSpPr>
        <p:spPr>
          <a:xfrm>
            <a:off x="334434" y="1052514"/>
            <a:ext cx="11523133" cy="1595647"/>
          </a:xfrm>
        </p:spPr>
        <p:txBody>
          <a:bodyPr>
            <a:normAutofit/>
          </a:bodyPr>
          <a:lstStyle/>
          <a:p>
            <a:r>
              <a:rPr lang="zh-CN" altLang="en-US" dirty="0"/>
              <a:t>离散的、值的变化是瞬时发生的信号</a:t>
            </a:r>
            <a:endParaRPr lang="en-US" altLang="zh-CN" dirty="0"/>
          </a:p>
          <a:p>
            <a:pPr lvl="1"/>
            <a:r>
              <a:rPr lang="zh-CN" altLang="en-US" dirty="0"/>
              <a:t>比特间隙：发送 </a:t>
            </a:r>
            <a:r>
              <a:rPr lang="en-US" altLang="zh-CN" dirty="0"/>
              <a:t>1 </a:t>
            </a:r>
            <a:r>
              <a:rPr lang="zh-CN" altLang="en-US" dirty="0"/>
              <a:t>比特所用时间</a:t>
            </a:r>
            <a:endParaRPr lang="zh-CN" altLang="en-US" dirty="0"/>
          </a:p>
          <a:p>
            <a:pPr lvl="1"/>
            <a:r>
              <a:rPr lang="zh-CN" altLang="en-US" dirty="0"/>
              <a:t>比特率：每秒钟发送的比特数（</a:t>
            </a:r>
            <a:r>
              <a:rPr lang="en-US" altLang="zh-CN" dirty="0"/>
              <a:t>bps</a:t>
            </a:r>
            <a:r>
              <a:rPr lang="zh-CN" altLang="en-US" dirty="0"/>
              <a:t>或</a:t>
            </a:r>
            <a:r>
              <a:rPr lang="en-US" altLang="zh-CN" dirty="0"/>
              <a:t>b/s</a:t>
            </a:r>
            <a:r>
              <a:rPr lang="zh-CN" altLang="en-US" dirty="0"/>
              <a:t>）</a:t>
            </a:r>
            <a:endParaRPr lang="en-US" altLang="zh-CN" dirty="0"/>
          </a:p>
          <a:p>
            <a:pPr lvl="1"/>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r>
              <a:rPr lang="zh-CN" altLang="en-US" dirty="0"/>
              <a:t>信息编码</a:t>
            </a:r>
            <a:endParaRPr lang="zh-CN" altLang="en-US" dirty="0"/>
          </a:p>
        </p:txBody>
      </p:sp>
      <p:sp>
        <p:nvSpPr>
          <p:cNvPr id="401411" name="Rectangle 3"/>
          <p:cNvSpPr>
            <a:spLocks noGrp="1" noChangeArrowheads="1"/>
          </p:cNvSpPr>
          <p:nvPr>
            <p:ph idx="1"/>
          </p:nvPr>
        </p:nvSpPr>
        <p:spPr/>
        <p:txBody>
          <a:bodyPr/>
          <a:lstStyle/>
          <a:p>
            <a:r>
              <a:rPr lang="zh-CN" altLang="en-US" dirty="0"/>
              <a:t>编码：信息用信号来表示的方法</a:t>
            </a:r>
            <a:endParaRPr lang="zh-CN" altLang="en-US" dirty="0"/>
          </a:p>
          <a:p>
            <a:r>
              <a:rPr lang="zh-CN" altLang="en-US" dirty="0"/>
              <a:t>编码的四种方式：</a:t>
            </a:r>
            <a:endParaRPr lang="zh-CN" altLang="en-US" dirty="0"/>
          </a:p>
          <a:p>
            <a:pPr lvl="1"/>
            <a:r>
              <a:rPr lang="zh-CN" altLang="en-US" dirty="0"/>
              <a:t>数字</a:t>
            </a:r>
            <a:r>
              <a:rPr lang="en-US" altLang="zh-CN" dirty="0">
                <a:sym typeface="Symbol" panose="05050102010706020507" pitchFamily="18" charset="2"/>
              </a:rPr>
              <a:t>—</a:t>
            </a:r>
            <a:r>
              <a:rPr lang="zh-CN" altLang="en-US" dirty="0"/>
              <a:t>数字</a:t>
            </a:r>
            <a:endParaRPr lang="zh-CN" altLang="en-US" dirty="0"/>
          </a:p>
          <a:p>
            <a:pPr lvl="1"/>
            <a:r>
              <a:rPr lang="zh-CN" altLang="en-US" dirty="0"/>
              <a:t>数字</a:t>
            </a:r>
            <a:r>
              <a:rPr lang="en-US" altLang="zh-CN" dirty="0">
                <a:sym typeface="Symbol" panose="05050102010706020507" pitchFamily="18" charset="2"/>
              </a:rPr>
              <a:t>—</a:t>
            </a:r>
            <a:r>
              <a:rPr lang="zh-CN" altLang="en-US" dirty="0"/>
              <a:t>模拟</a:t>
            </a:r>
            <a:endParaRPr lang="zh-CN" altLang="en-US" dirty="0"/>
          </a:p>
          <a:p>
            <a:pPr lvl="1"/>
            <a:r>
              <a:rPr lang="zh-CN" altLang="en-US" dirty="0"/>
              <a:t>模拟</a:t>
            </a:r>
            <a:r>
              <a:rPr lang="en-US" altLang="zh-CN" dirty="0">
                <a:sym typeface="Symbol" panose="05050102010706020507" pitchFamily="18" charset="2"/>
              </a:rPr>
              <a:t>—</a:t>
            </a:r>
            <a:r>
              <a:rPr lang="zh-CN" altLang="en-US" dirty="0"/>
              <a:t>数字</a:t>
            </a:r>
            <a:endParaRPr lang="zh-CN" altLang="en-US" dirty="0"/>
          </a:p>
          <a:p>
            <a:pPr lvl="1"/>
            <a:r>
              <a:rPr lang="zh-CN" altLang="en-US" dirty="0"/>
              <a:t>模拟</a:t>
            </a:r>
            <a:r>
              <a:rPr lang="en-US" altLang="zh-CN" dirty="0">
                <a:sym typeface="Symbol" panose="05050102010706020507" pitchFamily="18" charset="2"/>
              </a:rPr>
              <a:t>—</a:t>
            </a:r>
            <a:r>
              <a:rPr lang="zh-CN" altLang="en-US" dirty="0"/>
              <a:t>模拟</a:t>
            </a:r>
            <a:endParaRPr lang="zh-CN" altLang="en-US" dirty="0"/>
          </a:p>
        </p:txBody>
      </p:sp>
      <p:sp>
        <p:nvSpPr>
          <p:cNvPr id="6" name="灯片编号占位符 5"/>
          <p:cNvSpPr>
            <a:spLocks noGrp="1"/>
          </p:cNvSpPr>
          <p:nvPr>
            <p:ph type="sldNum" sz="quarter" idx="12"/>
          </p:nvPr>
        </p:nvSpPr>
        <p:spPr/>
        <p:txBody>
          <a:bodyPr/>
          <a:lstStyle/>
          <a:p>
            <a:fld id="{26CD9318-CB1B-4667-9971-5A98722F7CE4}" type="slidenum">
              <a:rPr lang="en-US" altLang="zh-CN"/>
            </a:fld>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zh-CN" altLang="en-US" dirty="0"/>
              <a:t>数字</a:t>
            </a:r>
            <a:r>
              <a:rPr lang="en-US" altLang="zh-CN" dirty="0"/>
              <a:t>—</a:t>
            </a:r>
            <a:r>
              <a:rPr lang="zh-CN" altLang="en-US" dirty="0"/>
              <a:t>数字编码</a:t>
            </a:r>
            <a:endParaRPr lang="zh-CN" altLang="en-US" dirty="0"/>
          </a:p>
        </p:txBody>
      </p:sp>
      <p:sp>
        <p:nvSpPr>
          <p:cNvPr id="402435" name="Rectangle 3"/>
          <p:cNvSpPr>
            <a:spLocks noGrp="1" noChangeArrowheads="1"/>
          </p:cNvSpPr>
          <p:nvPr>
            <p:ph idx="1"/>
          </p:nvPr>
        </p:nvSpPr>
        <p:spPr/>
        <p:txBody>
          <a:bodyPr/>
          <a:lstStyle/>
          <a:p>
            <a:r>
              <a:rPr lang="zh-CN" altLang="en-US" dirty="0"/>
              <a:t>数字</a:t>
            </a:r>
            <a:r>
              <a:rPr lang="en-US" altLang="zh-CN" dirty="0"/>
              <a:t>—</a:t>
            </a:r>
            <a:r>
              <a:rPr lang="zh-CN" altLang="en-US" dirty="0"/>
              <a:t>数字编码：用数字信号来表示数字信息。</a:t>
            </a:r>
            <a:endParaRPr lang="zh-CN" altLang="en-US" dirty="0"/>
          </a:p>
          <a:p>
            <a:r>
              <a:rPr lang="zh-CN" altLang="en-US" dirty="0"/>
              <a:t>计算机产生的</a:t>
            </a:r>
            <a:r>
              <a:rPr lang="en-US" altLang="zh-CN" dirty="0"/>
              <a:t>0</a:t>
            </a:r>
            <a:r>
              <a:rPr lang="zh-CN" altLang="en-US" dirty="0"/>
              <a:t>、</a:t>
            </a:r>
            <a:r>
              <a:rPr lang="en-US" altLang="zh-CN" dirty="0"/>
              <a:t>1</a:t>
            </a:r>
            <a:r>
              <a:rPr lang="zh-CN" altLang="en-US" dirty="0"/>
              <a:t>比特序列被转换成一串可以在导线上传输的脉冲电压</a:t>
            </a:r>
            <a:endParaRPr lang="zh-CN" altLang="en-US" dirty="0"/>
          </a:p>
          <a:p>
            <a:r>
              <a:rPr lang="zh-CN" altLang="en-US" dirty="0"/>
              <a:t>数字</a:t>
            </a:r>
            <a:r>
              <a:rPr lang="en-US" altLang="zh-CN" dirty="0"/>
              <a:t>—</a:t>
            </a:r>
            <a:r>
              <a:rPr lang="zh-CN" altLang="en-US" dirty="0"/>
              <a:t>数字编码常见方案：</a:t>
            </a:r>
            <a:endParaRPr lang="zh-CN" altLang="en-US" dirty="0"/>
          </a:p>
          <a:p>
            <a:pPr lvl="1"/>
            <a:r>
              <a:rPr lang="zh-CN" altLang="en-US" dirty="0"/>
              <a:t>单极性编码</a:t>
            </a:r>
            <a:endParaRPr lang="zh-CN" altLang="en-US" dirty="0"/>
          </a:p>
          <a:p>
            <a:pPr lvl="1"/>
            <a:r>
              <a:rPr lang="zh-CN" altLang="en-US" dirty="0"/>
              <a:t>极化编码</a:t>
            </a:r>
            <a:endParaRPr lang="zh-CN" altLang="en-US" dirty="0"/>
          </a:p>
          <a:p>
            <a:pPr lvl="1"/>
            <a:r>
              <a:rPr lang="zh-CN" altLang="en-US" dirty="0"/>
              <a:t>双极性编码</a:t>
            </a:r>
            <a:endParaRPr lang="zh-CN" altLang="en-US" dirty="0"/>
          </a:p>
        </p:txBody>
      </p:sp>
      <p:sp>
        <p:nvSpPr>
          <p:cNvPr id="6" name="灯片编号占位符 5"/>
          <p:cNvSpPr>
            <a:spLocks noGrp="1"/>
          </p:cNvSpPr>
          <p:nvPr>
            <p:ph type="sldNum" sz="quarter" idx="12"/>
          </p:nvPr>
        </p:nvSpPr>
        <p:spPr/>
        <p:txBody>
          <a:bodyPr/>
          <a:lstStyle/>
          <a:p>
            <a:fld id="{EACE89D1-CF33-4E45-903F-7C5E7FF3274A}" type="slidenum">
              <a:rPr lang="en-US" altLang="zh-CN"/>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zh-CN" altLang="en-US" dirty="0"/>
              <a:t>单极性编码</a:t>
            </a:r>
            <a:endParaRPr lang="zh-CN" altLang="en-US" dirty="0"/>
          </a:p>
        </p:txBody>
      </p:sp>
      <p:sp>
        <p:nvSpPr>
          <p:cNvPr id="44" name="灯片编号占位符 5"/>
          <p:cNvSpPr>
            <a:spLocks noGrp="1"/>
          </p:cNvSpPr>
          <p:nvPr>
            <p:ph type="sldNum" sz="quarter" idx="12"/>
          </p:nvPr>
        </p:nvSpPr>
        <p:spPr/>
        <p:txBody>
          <a:bodyPr/>
          <a:lstStyle/>
          <a:p>
            <a:fld id="{64AB2BE7-3357-4BEB-AB75-008B144EB37D}" type="slidenum">
              <a:rPr lang="en-US" altLang="zh-CN"/>
            </a:fld>
            <a:endParaRPr lang="en-US" altLang="zh-CN" dirty="0"/>
          </a:p>
        </p:txBody>
      </p:sp>
      <p:grpSp>
        <p:nvGrpSpPr>
          <p:cNvPr id="403470" name="Group 14"/>
          <p:cNvGrpSpPr/>
          <p:nvPr/>
        </p:nvGrpSpPr>
        <p:grpSpPr bwMode="auto">
          <a:xfrm>
            <a:off x="3000694" y="4015800"/>
            <a:ext cx="5932487" cy="893762"/>
            <a:chOff x="708" y="2336"/>
            <a:chExt cx="3737" cy="563"/>
          </a:xfrm>
        </p:grpSpPr>
        <p:sp>
          <p:nvSpPr>
            <p:cNvPr id="403471" name="Line 15"/>
            <p:cNvSpPr>
              <a:spLocks noChangeShapeType="1"/>
            </p:cNvSpPr>
            <p:nvPr/>
          </p:nvSpPr>
          <p:spPr bwMode="auto">
            <a:xfrm>
              <a:off x="708" y="2336"/>
              <a:ext cx="498" cy="0"/>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2" name="Line 16"/>
            <p:cNvSpPr>
              <a:spLocks noChangeShapeType="1"/>
            </p:cNvSpPr>
            <p:nvPr/>
          </p:nvSpPr>
          <p:spPr bwMode="auto">
            <a:xfrm>
              <a:off x="1206" y="2336"/>
              <a:ext cx="0" cy="563"/>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3" name="Line 17"/>
            <p:cNvSpPr>
              <a:spLocks noChangeShapeType="1"/>
            </p:cNvSpPr>
            <p:nvPr/>
          </p:nvSpPr>
          <p:spPr bwMode="auto">
            <a:xfrm>
              <a:off x="1206" y="2899"/>
              <a:ext cx="436" cy="0"/>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4" name="Line 18"/>
            <p:cNvSpPr>
              <a:spLocks noChangeShapeType="1"/>
            </p:cNvSpPr>
            <p:nvPr/>
          </p:nvSpPr>
          <p:spPr bwMode="auto">
            <a:xfrm>
              <a:off x="1642" y="2336"/>
              <a:ext cx="0" cy="563"/>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5" name="Line 19"/>
            <p:cNvSpPr>
              <a:spLocks noChangeShapeType="1"/>
            </p:cNvSpPr>
            <p:nvPr/>
          </p:nvSpPr>
          <p:spPr bwMode="auto">
            <a:xfrm>
              <a:off x="1642" y="2336"/>
              <a:ext cx="436" cy="0"/>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6" name="Line 20"/>
            <p:cNvSpPr>
              <a:spLocks noChangeShapeType="1"/>
            </p:cNvSpPr>
            <p:nvPr/>
          </p:nvSpPr>
          <p:spPr bwMode="auto">
            <a:xfrm>
              <a:off x="2078" y="2336"/>
              <a:ext cx="0" cy="563"/>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7" name="Line 21"/>
            <p:cNvSpPr>
              <a:spLocks noChangeShapeType="1"/>
            </p:cNvSpPr>
            <p:nvPr/>
          </p:nvSpPr>
          <p:spPr bwMode="auto">
            <a:xfrm>
              <a:off x="2078" y="2899"/>
              <a:ext cx="1371" cy="0"/>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8" name="Line 22"/>
            <p:cNvSpPr>
              <a:spLocks noChangeShapeType="1"/>
            </p:cNvSpPr>
            <p:nvPr/>
          </p:nvSpPr>
          <p:spPr bwMode="auto">
            <a:xfrm>
              <a:off x="3449" y="2336"/>
              <a:ext cx="0" cy="563"/>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79" name="Line 23"/>
            <p:cNvSpPr>
              <a:spLocks noChangeShapeType="1"/>
            </p:cNvSpPr>
            <p:nvPr/>
          </p:nvSpPr>
          <p:spPr bwMode="auto">
            <a:xfrm>
              <a:off x="3449" y="2336"/>
              <a:ext cx="498" cy="0"/>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80" name="Line 24"/>
            <p:cNvSpPr>
              <a:spLocks noChangeShapeType="1"/>
            </p:cNvSpPr>
            <p:nvPr/>
          </p:nvSpPr>
          <p:spPr bwMode="auto">
            <a:xfrm>
              <a:off x="3947" y="2336"/>
              <a:ext cx="0" cy="563"/>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81" name="Line 25"/>
            <p:cNvSpPr>
              <a:spLocks noChangeShapeType="1"/>
            </p:cNvSpPr>
            <p:nvPr/>
          </p:nvSpPr>
          <p:spPr bwMode="auto">
            <a:xfrm>
              <a:off x="3947" y="2899"/>
              <a:ext cx="498" cy="0"/>
            </a:xfrm>
            <a:prstGeom prst="line">
              <a:avLst/>
            </a:prstGeom>
            <a:noFill/>
            <a:ln w="34925">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grpSp>
        <p:nvGrpSpPr>
          <p:cNvPr id="403484" name="Group 28"/>
          <p:cNvGrpSpPr/>
          <p:nvPr/>
        </p:nvGrpSpPr>
        <p:grpSpPr bwMode="auto">
          <a:xfrm>
            <a:off x="2416493" y="3160137"/>
            <a:ext cx="7231063" cy="2305050"/>
            <a:chOff x="340" y="1570"/>
            <a:chExt cx="4555" cy="1724"/>
          </a:xfrm>
        </p:grpSpPr>
        <p:sp>
          <p:nvSpPr>
            <p:cNvPr id="403486" name="Line 30"/>
            <p:cNvSpPr>
              <a:spLocks noChangeShapeType="1"/>
            </p:cNvSpPr>
            <p:nvPr/>
          </p:nvSpPr>
          <p:spPr bwMode="auto">
            <a:xfrm flipV="1">
              <a:off x="708" y="1665"/>
              <a:ext cx="0" cy="1629"/>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89" name="Line 33"/>
            <p:cNvSpPr>
              <a:spLocks noChangeShapeType="1"/>
            </p:cNvSpPr>
            <p:nvPr/>
          </p:nvSpPr>
          <p:spPr bwMode="auto">
            <a:xfrm>
              <a:off x="708" y="2899"/>
              <a:ext cx="3980" cy="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491" name="Rectangle 35"/>
            <p:cNvSpPr>
              <a:spLocks noChangeArrowheads="1"/>
            </p:cNvSpPr>
            <p:nvPr/>
          </p:nvSpPr>
          <p:spPr bwMode="auto">
            <a:xfrm>
              <a:off x="340" y="1570"/>
              <a:ext cx="29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03492" name="Rectangle 36"/>
            <p:cNvSpPr>
              <a:spLocks noChangeArrowheads="1"/>
            </p:cNvSpPr>
            <p:nvPr/>
          </p:nvSpPr>
          <p:spPr bwMode="auto">
            <a:xfrm>
              <a:off x="4604" y="2976"/>
              <a:ext cx="29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grpSp>
      <p:grpSp>
        <p:nvGrpSpPr>
          <p:cNvPr id="403493" name="Group 37"/>
          <p:cNvGrpSpPr/>
          <p:nvPr/>
        </p:nvGrpSpPr>
        <p:grpSpPr bwMode="auto">
          <a:xfrm>
            <a:off x="3353119" y="3693537"/>
            <a:ext cx="5327651" cy="292100"/>
            <a:chOff x="930" y="2133"/>
            <a:chExt cx="3356" cy="184"/>
          </a:xfrm>
        </p:grpSpPr>
        <p:sp>
          <p:nvSpPr>
            <p:cNvPr id="403494" name="Rectangle 38"/>
            <p:cNvSpPr>
              <a:spLocks noChangeArrowheads="1"/>
            </p:cNvSpPr>
            <p:nvPr/>
          </p:nvSpPr>
          <p:spPr bwMode="auto">
            <a:xfrm>
              <a:off x="930" y="2133"/>
              <a:ext cx="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03495" name="Rectangle 39"/>
            <p:cNvSpPr>
              <a:spLocks noChangeArrowheads="1"/>
            </p:cNvSpPr>
            <p:nvPr/>
          </p:nvSpPr>
          <p:spPr bwMode="auto">
            <a:xfrm>
              <a:off x="1833" y="2133"/>
              <a:ext cx="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03496" name="Rectangle 40"/>
            <p:cNvSpPr>
              <a:spLocks noChangeArrowheads="1"/>
            </p:cNvSpPr>
            <p:nvPr/>
          </p:nvSpPr>
          <p:spPr bwMode="auto">
            <a:xfrm>
              <a:off x="3702" y="2133"/>
              <a:ext cx="5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03497" name="Rectangle 41"/>
            <p:cNvSpPr>
              <a:spLocks noChangeArrowheads="1"/>
            </p:cNvSpPr>
            <p:nvPr/>
          </p:nvSpPr>
          <p:spPr bwMode="auto">
            <a:xfrm>
              <a:off x="1397"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3498" name="Rectangle 42"/>
            <p:cNvSpPr>
              <a:spLocks noChangeArrowheads="1"/>
            </p:cNvSpPr>
            <p:nvPr/>
          </p:nvSpPr>
          <p:spPr bwMode="auto">
            <a:xfrm>
              <a:off x="4200"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3499" name="Rectangle 43"/>
            <p:cNvSpPr>
              <a:spLocks noChangeArrowheads="1"/>
            </p:cNvSpPr>
            <p:nvPr/>
          </p:nvSpPr>
          <p:spPr bwMode="auto">
            <a:xfrm>
              <a:off x="2269"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3500" name="Rectangle 44"/>
            <p:cNvSpPr>
              <a:spLocks noChangeArrowheads="1"/>
            </p:cNvSpPr>
            <p:nvPr/>
          </p:nvSpPr>
          <p:spPr bwMode="auto">
            <a:xfrm>
              <a:off x="2705"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3501" name="Rectangle 45"/>
            <p:cNvSpPr>
              <a:spLocks noChangeArrowheads="1"/>
            </p:cNvSpPr>
            <p:nvPr/>
          </p:nvSpPr>
          <p:spPr bwMode="auto">
            <a:xfrm>
              <a:off x="3203" y="2133"/>
              <a:ext cx="8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1900"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grpSp>
      <p:sp>
        <p:nvSpPr>
          <p:cNvPr id="403503" name="Line 47"/>
          <p:cNvSpPr>
            <a:spLocks noChangeShapeType="1"/>
          </p:cNvSpPr>
          <p:nvPr/>
        </p:nvSpPr>
        <p:spPr bwMode="auto">
          <a:xfrm>
            <a:off x="3791268"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04" name="Line 48"/>
          <p:cNvSpPr>
            <a:spLocks noChangeShapeType="1"/>
          </p:cNvSpPr>
          <p:nvPr/>
        </p:nvSpPr>
        <p:spPr bwMode="auto">
          <a:xfrm>
            <a:off x="4483418"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05" name="Line 49"/>
          <p:cNvSpPr>
            <a:spLocks noChangeShapeType="1"/>
          </p:cNvSpPr>
          <p:nvPr/>
        </p:nvSpPr>
        <p:spPr bwMode="auto">
          <a:xfrm>
            <a:off x="5175568"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06" name="Line 50"/>
          <p:cNvSpPr>
            <a:spLocks noChangeShapeType="1"/>
          </p:cNvSpPr>
          <p:nvPr/>
        </p:nvSpPr>
        <p:spPr bwMode="auto">
          <a:xfrm>
            <a:off x="5867718"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07" name="Line 51"/>
          <p:cNvSpPr>
            <a:spLocks noChangeShapeType="1"/>
          </p:cNvSpPr>
          <p:nvPr/>
        </p:nvSpPr>
        <p:spPr bwMode="auto">
          <a:xfrm>
            <a:off x="6559868"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08" name="Line 52"/>
          <p:cNvSpPr>
            <a:spLocks noChangeShapeType="1"/>
          </p:cNvSpPr>
          <p:nvPr/>
        </p:nvSpPr>
        <p:spPr bwMode="auto">
          <a:xfrm>
            <a:off x="8142605"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09" name="Line 53"/>
          <p:cNvSpPr>
            <a:spLocks noChangeShapeType="1"/>
          </p:cNvSpPr>
          <p:nvPr/>
        </p:nvSpPr>
        <p:spPr bwMode="auto">
          <a:xfrm>
            <a:off x="7352030" y="3747513"/>
            <a:ext cx="0" cy="1789113"/>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3510" name="Line 54"/>
          <p:cNvSpPr>
            <a:spLocks noChangeShapeType="1"/>
          </p:cNvSpPr>
          <p:nvPr/>
        </p:nvSpPr>
        <p:spPr bwMode="auto">
          <a:xfrm flipH="1">
            <a:off x="8933180" y="3757037"/>
            <a:ext cx="0" cy="177958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 name="内容占位符 2"/>
          <p:cNvSpPr>
            <a:spLocks noGrp="1"/>
          </p:cNvSpPr>
          <p:nvPr>
            <p:ph idx="1"/>
          </p:nvPr>
        </p:nvSpPr>
        <p:spPr>
          <a:xfrm>
            <a:off x="334434" y="1052515"/>
            <a:ext cx="11523133" cy="2294226"/>
          </a:xfrm>
        </p:spPr>
        <p:txBody>
          <a:bodyPr/>
          <a:lstStyle/>
          <a:p>
            <a:pPr>
              <a:lnSpc>
                <a:spcPct val="90000"/>
              </a:lnSpc>
            </a:pPr>
            <a:r>
              <a:rPr lang="zh-CN" altLang="en-US" dirty="0"/>
              <a:t>电压是单极性，高电平表示</a:t>
            </a:r>
            <a:r>
              <a:rPr lang="en-US" altLang="zh-CN" dirty="0"/>
              <a:t>1</a:t>
            </a:r>
            <a:r>
              <a:rPr lang="zh-CN" altLang="en-US" dirty="0"/>
              <a:t>、低电平表示</a:t>
            </a:r>
            <a:r>
              <a:rPr lang="en-US" altLang="zh-CN" dirty="0"/>
              <a:t>0</a:t>
            </a:r>
            <a:endParaRPr lang="zh-CN" altLang="en-US" dirty="0"/>
          </a:p>
          <a:p>
            <a:pPr>
              <a:lnSpc>
                <a:spcPct val="90000"/>
              </a:lnSpc>
            </a:pPr>
            <a:r>
              <a:rPr lang="zh-CN" altLang="en-US" dirty="0"/>
              <a:t>缺点：</a:t>
            </a:r>
            <a:endParaRPr lang="zh-CN" altLang="en-US" dirty="0"/>
          </a:p>
          <a:p>
            <a:pPr lvl="1">
              <a:lnSpc>
                <a:spcPct val="90000"/>
              </a:lnSpc>
            </a:pPr>
            <a:r>
              <a:rPr lang="zh-CN" altLang="en-US" dirty="0"/>
              <a:t>有直流电平，要求带宽高</a:t>
            </a:r>
            <a:endParaRPr lang="zh-CN" altLang="en-US" dirty="0"/>
          </a:p>
          <a:p>
            <a:pPr lvl="1">
              <a:lnSpc>
                <a:spcPct val="90000"/>
              </a:lnSpc>
            </a:pPr>
            <a:r>
              <a:rPr lang="zh-CN" altLang="en-US" dirty="0"/>
              <a:t>无法同步，需依赖附加线</a:t>
            </a:r>
            <a:endParaRPr lang="zh-CN" altLang="en-US" dirty="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r>
              <a:rPr lang="zh-CN" altLang="en-US" dirty="0"/>
              <a:t>极化编码</a:t>
            </a:r>
            <a:endParaRPr lang="zh-CN" altLang="en-US" dirty="0"/>
          </a:p>
        </p:txBody>
      </p:sp>
      <p:sp>
        <p:nvSpPr>
          <p:cNvPr id="404483" name="Rectangle 3"/>
          <p:cNvSpPr>
            <a:spLocks noGrp="1" noChangeArrowheads="1"/>
          </p:cNvSpPr>
          <p:nvPr>
            <p:ph idx="1"/>
          </p:nvPr>
        </p:nvSpPr>
        <p:spPr/>
        <p:txBody>
          <a:bodyPr>
            <a:normAutofit/>
          </a:bodyPr>
          <a:lstStyle/>
          <a:p>
            <a:r>
              <a:rPr lang="zh-CN" altLang="en-US" dirty="0"/>
              <a:t>极化编码采用两个电压：正、负电压</a:t>
            </a:r>
            <a:endParaRPr lang="zh-CN" altLang="en-US" dirty="0"/>
          </a:p>
          <a:p>
            <a:pPr lvl="1"/>
            <a:r>
              <a:rPr lang="zh-CN" altLang="en-US" dirty="0"/>
              <a:t>减轻了单极性编码中的直流分量问题</a:t>
            </a:r>
            <a:endParaRPr lang="zh-CN" altLang="en-US" dirty="0"/>
          </a:p>
          <a:p>
            <a:r>
              <a:rPr lang="zh-CN" altLang="en-US" dirty="0"/>
              <a:t>常见极化编码</a:t>
            </a:r>
            <a:endParaRPr lang="zh-CN" altLang="en-US" dirty="0"/>
          </a:p>
          <a:p>
            <a:pPr lvl="1"/>
            <a:r>
              <a:rPr lang="en-US" altLang="zh-CN" dirty="0"/>
              <a:t> </a:t>
            </a:r>
            <a:r>
              <a:rPr lang="zh-CN" altLang="en-US" dirty="0"/>
              <a:t>非归零编码</a:t>
            </a:r>
            <a:r>
              <a:rPr lang="en-US" altLang="zh-CN" dirty="0"/>
              <a:t>(NRZ)</a:t>
            </a:r>
            <a:endParaRPr lang="en-US" altLang="zh-CN" dirty="0"/>
          </a:p>
          <a:p>
            <a:pPr lvl="2"/>
            <a:r>
              <a:rPr lang="zh-CN" altLang="en-US" dirty="0"/>
              <a:t>非归零电平编码</a:t>
            </a:r>
            <a:endParaRPr lang="en-US" altLang="zh-CN" dirty="0"/>
          </a:p>
          <a:p>
            <a:pPr lvl="2"/>
            <a:r>
              <a:rPr lang="zh-CN" altLang="en-US" dirty="0"/>
              <a:t>非归零反相编码</a:t>
            </a:r>
            <a:endParaRPr lang="en-US" altLang="zh-CN" dirty="0"/>
          </a:p>
          <a:p>
            <a:pPr lvl="1"/>
            <a:r>
              <a:rPr lang="en-US" altLang="zh-CN" dirty="0"/>
              <a:t> </a:t>
            </a:r>
            <a:r>
              <a:rPr lang="zh-CN" altLang="en-US" dirty="0"/>
              <a:t>归零编码</a:t>
            </a:r>
            <a:r>
              <a:rPr lang="en-US" altLang="zh-CN" dirty="0"/>
              <a:t>(RZ)</a:t>
            </a:r>
            <a:endParaRPr lang="en-US" altLang="zh-CN" dirty="0"/>
          </a:p>
          <a:p>
            <a:pPr lvl="2"/>
            <a:r>
              <a:rPr lang="zh-CN" altLang="en-US" dirty="0"/>
              <a:t>非归零电平编码</a:t>
            </a:r>
            <a:endParaRPr lang="zh-CN" altLang="en-US" dirty="0"/>
          </a:p>
          <a:p>
            <a:pPr lvl="2"/>
            <a:r>
              <a:rPr lang="zh-CN" altLang="en-US" dirty="0"/>
              <a:t>非归零反相编码</a:t>
            </a:r>
            <a:endParaRPr lang="en-US" altLang="zh-CN" dirty="0"/>
          </a:p>
          <a:p>
            <a:pPr lvl="1"/>
            <a:r>
              <a:rPr lang="zh-CN" altLang="en-US" dirty="0"/>
              <a:t>双相位编码</a:t>
            </a:r>
            <a:endParaRPr lang="en-US" altLang="zh-CN" dirty="0"/>
          </a:p>
          <a:p>
            <a:pPr lvl="2"/>
            <a:r>
              <a:rPr lang="zh-CN" altLang="en-US" dirty="0"/>
              <a:t>曼彻斯特编码</a:t>
            </a:r>
            <a:endParaRPr lang="zh-CN" altLang="en-US" dirty="0"/>
          </a:p>
          <a:p>
            <a:pPr lvl="2"/>
            <a:r>
              <a:rPr lang="zh-CN" altLang="en-US" dirty="0"/>
              <a:t>差分曼彻斯特编码</a:t>
            </a:r>
            <a:endParaRPr lang="zh-CN" altLang="en-US" dirty="0"/>
          </a:p>
          <a:p>
            <a:pPr lvl="2"/>
            <a:endParaRPr lang="zh-CN" altLang="en-US" dirty="0"/>
          </a:p>
        </p:txBody>
      </p:sp>
      <p:sp>
        <p:nvSpPr>
          <p:cNvPr id="10" name="灯片编号占位符 5"/>
          <p:cNvSpPr>
            <a:spLocks noGrp="1"/>
          </p:cNvSpPr>
          <p:nvPr>
            <p:ph type="sldNum" sz="quarter" idx="12"/>
          </p:nvPr>
        </p:nvSpPr>
        <p:spPr/>
        <p:txBody>
          <a:bodyPr/>
          <a:lstStyle/>
          <a:p>
            <a:fld id="{4BFA6874-7C1C-4F39-A87A-89192FCD9FB3}" type="slidenum">
              <a:rPr lang="en-US" altLang="zh-CN"/>
            </a:fld>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r>
              <a:rPr lang="zh-CN" altLang="en-US" dirty="0"/>
              <a:t>非归零编码</a:t>
            </a:r>
            <a:endParaRPr lang="en-US" altLang="zh-CN" dirty="0"/>
          </a:p>
        </p:txBody>
      </p:sp>
      <p:sp>
        <p:nvSpPr>
          <p:cNvPr id="65" name="灯片编号占位符 5"/>
          <p:cNvSpPr>
            <a:spLocks noGrp="1"/>
          </p:cNvSpPr>
          <p:nvPr>
            <p:ph type="sldNum" sz="quarter" idx="12"/>
          </p:nvPr>
        </p:nvSpPr>
        <p:spPr/>
        <p:txBody>
          <a:bodyPr/>
          <a:lstStyle/>
          <a:p>
            <a:fld id="{9D69D59A-9B99-422D-9ED8-603F65723853}" type="slidenum">
              <a:rPr lang="en-US" altLang="zh-CN"/>
            </a:fld>
            <a:endParaRPr lang="en-US" altLang="zh-CN" dirty="0"/>
          </a:p>
        </p:txBody>
      </p:sp>
      <p:sp>
        <p:nvSpPr>
          <p:cNvPr id="405512" name="Line 8"/>
          <p:cNvSpPr>
            <a:spLocks noChangeShapeType="1"/>
          </p:cNvSpPr>
          <p:nvPr/>
        </p:nvSpPr>
        <p:spPr bwMode="auto">
          <a:xfrm>
            <a:off x="3684588" y="3521076"/>
            <a:ext cx="5427662" cy="0"/>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nvGrpSpPr>
          <p:cNvPr id="405514" name="Group 10"/>
          <p:cNvGrpSpPr/>
          <p:nvPr/>
        </p:nvGrpSpPr>
        <p:grpSpPr bwMode="auto">
          <a:xfrm>
            <a:off x="4176714" y="2790830"/>
            <a:ext cx="4587874" cy="276226"/>
            <a:chOff x="1535" y="1622"/>
            <a:chExt cx="2890" cy="174"/>
          </a:xfrm>
        </p:grpSpPr>
        <p:sp>
          <p:nvSpPr>
            <p:cNvPr id="405515" name="Rectangle 11"/>
            <p:cNvSpPr>
              <a:spLocks noChangeArrowheads="1"/>
            </p:cNvSpPr>
            <p:nvPr/>
          </p:nvSpPr>
          <p:spPr bwMode="auto">
            <a:xfrm>
              <a:off x="1535" y="1622"/>
              <a:ext cx="5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05516" name="Rectangle 12"/>
            <p:cNvSpPr>
              <a:spLocks noChangeArrowheads="1"/>
            </p:cNvSpPr>
            <p:nvPr/>
          </p:nvSpPr>
          <p:spPr bwMode="auto">
            <a:xfrm>
              <a:off x="2311" y="1622"/>
              <a:ext cx="5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05517" name="Rectangle 13"/>
            <p:cNvSpPr>
              <a:spLocks noChangeArrowheads="1"/>
            </p:cNvSpPr>
            <p:nvPr/>
          </p:nvSpPr>
          <p:spPr bwMode="auto">
            <a:xfrm>
              <a:off x="3916" y="1622"/>
              <a:ext cx="5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05518" name="Rectangle 14"/>
            <p:cNvSpPr>
              <a:spLocks noChangeArrowheads="1"/>
            </p:cNvSpPr>
            <p:nvPr/>
          </p:nvSpPr>
          <p:spPr bwMode="auto">
            <a:xfrm>
              <a:off x="1937" y="1622"/>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5519" name="Rectangle 15"/>
            <p:cNvSpPr>
              <a:spLocks noChangeArrowheads="1"/>
            </p:cNvSpPr>
            <p:nvPr/>
          </p:nvSpPr>
          <p:spPr bwMode="auto">
            <a:xfrm>
              <a:off x="4344" y="1622"/>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5520" name="Rectangle 16"/>
            <p:cNvSpPr>
              <a:spLocks noChangeArrowheads="1"/>
            </p:cNvSpPr>
            <p:nvPr/>
          </p:nvSpPr>
          <p:spPr bwMode="auto">
            <a:xfrm>
              <a:off x="2686" y="1622"/>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5521" name="Rectangle 17"/>
            <p:cNvSpPr>
              <a:spLocks noChangeArrowheads="1"/>
            </p:cNvSpPr>
            <p:nvPr/>
          </p:nvSpPr>
          <p:spPr bwMode="auto">
            <a:xfrm>
              <a:off x="3060" y="1622"/>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05522" name="Rectangle 18"/>
            <p:cNvSpPr>
              <a:spLocks noChangeArrowheads="1"/>
            </p:cNvSpPr>
            <p:nvPr/>
          </p:nvSpPr>
          <p:spPr bwMode="auto">
            <a:xfrm>
              <a:off x="3488" y="1622"/>
              <a:ext cx="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grpSp>
      <p:grpSp>
        <p:nvGrpSpPr>
          <p:cNvPr id="405523" name="Group 19"/>
          <p:cNvGrpSpPr/>
          <p:nvPr/>
        </p:nvGrpSpPr>
        <p:grpSpPr bwMode="auto">
          <a:xfrm>
            <a:off x="4491038" y="2841626"/>
            <a:ext cx="4418012" cy="3108325"/>
            <a:chOff x="1733" y="1654"/>
            <a:chExt cx="2783" cy="1958"/>
          </a:xfrm>
        </p:grpSpPr>
        <p:sp>
          <p:nvSpPr>
            <p:cNvPr id="405524" name="Line 20"/>
            <p:cNvSpPr>
              <a:spLocks noChangeShapeType="1"/>
            </p:cNvSpPr>
            <p:nvPr/>
          </p:nvSpPr>
          <p:spPr bwMode="auto">
            <a:xfrm>
              <a:off x="1733"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25" name="Line 21"/>
            <p:cNvSpPr>
              <a:spLocks noChangeShapeType="1"/>
            </p:cNvSpPr>
            <p:nvPr/>
          </p:nvSpPr>
          <p:spPr bwMode="auto">
            <a:xfrm>
              <a:off x="2108"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26" name="Line 22"/>
            <p:cNvSpPr>
              <a:spLocks noChangeShapeType="1"/>
            </p:cNvSpPr>
            <p:nvPr/>
          </p:nvSpPr>
          <p:spPr bwMode="auto">
            <a:xfrm>
              <a:off x="2482"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27" name="Line 23"/>
            <p:cNvSpPr>
              <a:spLocks noChangeShapeType="1"/>
            </p:cNvSpPr>
            <p:nvPr/>
          </p:nvSpPr>
          <p:spPr bwMode="auto">
            <a:xfrm>
              <a:off x="2857"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28" name="Line 24"/>
            <p:cNvSpPr>
              <a:spLocks noChangeShapeType="1"/>
            </p:cNvSpPr>
            <p:nvPr/>
          </p:nvSpPr>
          <p:spPr bwMode="auto">
            <a:xfrm>
              <a:off x="3231"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29" name="Line 25"/>
            <p:cNvSpPr>
              <a:spLocks noChangeShapeType="1"/>
            </p:cNvSpPr>
            <p:nvPr/>
          </p:nvSpPr>
          <p:spPr bwMode="auto">
            <a:xfrm>
              <a:off x="4088"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30" name="Line 26"/>
            <p:cNvSpPr>
              <a:spLocks noChangeShapeType="1"/>
            </p:cNvSpPr>
            <p:nvPr/>
          </p:nvSpPr>
          <p:spPr bwMode="auto">
            <a:xfrm>
              <a:off x="3660"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31" name="Line 27"/>
            <p:cNvSpPr>
              <a:spLocks noChangeShapeType="1"/>
            </p:cNvSpPr>
            <p:nvPr/>
          </p:nvSpPr>
          <p:spPr bwMode="auto">
            <a:xfrm>
              <a:off x="4516" y="1654"/>
              <a:ext cx="0" cy="1958"/>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05532" name="Rectangle 28"/>
          <p:cNvSpPr>
            <a:spLocks noChangeArrowheads="1"/>
          </p:cNvSpPr>
          <p:nvPr/>
        </p:nvSpPr>
        <p:spPr bwMode="auto">
          <a:xfrm>
            <a:off x="3224215" y="2488208"/>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05533" name="Rectangle 29"/>
          <p:cNvSpPr>
            <a:spLocks noChangeArrowheads="1"/>
          </p:cNvSpPr>
          <p:nvPr/>
        </p:nvSpPr>
        <p:spPr bwMode="auto">
          <a:xfrm>
            <a:off x="9191625" y="3573464"/>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05535" name="Line 31"/>
          <p:cNvSpPr>
            <a:spLocks noChangeShapeType="1"/>
          </p:cNvSpPr>
          <p:nvPr/>
        </p:nvSpPr>
        <p:spPr bwMode="auto">
          <a:xfrm flipV="1">
            <a:off x="3811589" y="4633931"/>
            <a:ext cx="0" cy="1316043"/>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40" name="Rectangle 36"/>
          <p:cNvSpPr>
            <a:spLocks noChangeArrowheads="1"/>
          </p:cNvSpPr>
          <p:nvPr/>
        </p:nvSpPr>
        <p:spPr bwMode="auto">
          <a:xfrm>
            <a:off x="9239250" y="5373689"/>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05541" name="Rectangle 37"/>
          <p:cNvSpPr>
            <a:spLocks noChangeArrowheads="1"/>
          </p:cNvSpPr>
          <p:nvPr/>
        </p:nvSpPr>
        <p:spPr bwMode="auto">
          <a:xfrm>
            <a:off x="763470" y="3331776"/>
            <a:ext cx="22464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r"/>
            <a:r>
              <a:rPr lang="zh-CN" altLang="en-US" dirty="0">
                <a:solidFill>
                  <a:schemeClr val="tx2"/>
                </a:solidFill>
                <a:latin typeface="宋体" panose="02010600030101010101" pitchFamily="2" charset="-122"/>
                <a:ea typeface="微软雅黑 Light" panose="020B0502040204020203" pitchFamily="34" charset="-122"/>
              </a:rPr>
              <a:t>非归零</a:t>
            </a:r>
            <a:r>
              <a:rPr lang="zh-CN" altLang="en-US" dirty="0">
                <a:solidFill>
                  <a:schemeClr val="tx2"/>
                </a:solidFill>
                <a:latin typeface="微软雅黑 Light" panose="020B0502040204020203" pitchFamily="34" charset="-122"/>
                <a:ea typeface="微软雅黑 Light" panose="020B0502040204020203" pitchFamily="34" charset="-122"/>
              </a:rPr>
              <a:t>电平编码</a:t>
            </a:r>
            <a:endParaRPr lang="en-US" altLang="zh-CN" dirty="0">
              <a:solidFill>
                <a:schemeClr val="tx2"/>
              </a:solidFill>
              <a:latin typeface="微软雅黑 Light" panose="020B0502040204020203" pitchFamily="34" charset="-122"/>
              <a:ea typeface="微软雅黑 Light" panose="020B0502040204020203" pitchFamily="34" charset="-122"/>
            </a:endParaRPr>
          </a:p>
        </p:txBody>
      </p:sp>
      <p:sp>
        <p:nvSpPr>
          <p:cNvPr id="405542" name="Rectangle 38"/>
          <p:cNvSpPr>
            <a:spLocks noChangeArrowheads="1"/>
          </p:cNvSpPr>
          <p:nvPr/>
        </p:nvSpPr>
        <p:spPr bwMode="auto">
          <a:xfrm>
            <a:off x="340816" y="5096690"/>
            <a:ext cx="269534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r"/>
            <a:r>
              <a:rPr lang="zh-CN" altLang="en-US" dirty="0">
                <a:solidFill>
                  <a:schemeClr val="tx2"/>
                </a:solidFill>
                <a:latin typeface="宋体" panose="02010600030101010101" pitchFamily="2" charset="-122"/>
                <a:ea typeface="微软雅黑 Light" panose="020B0502040204020203" pitchFamily="34" charset="-122"/>
              </a:rPr>
              <a:t>非归零</a:t>
            </a:r>
            <a:r>
              <a:rPr lang="zh-CN" altLang="en-US" dirty="0">
                <a:solidFill>
                  <a:schemeClr val="tx2"/>
                </a:solidFill>
                <a:latin typeface="微软雅黑 Light" panose="020B0502040204020203" pitchFamily="34" charset="-122"/>
                <a:ea typeface="微软雅黑 Light" panose="020B0502040204020203" pitchFamily="34" charset="-122"/>
              </a:rPr>
              <a:t>反相编码</a:t>
            </a:r>
            <a:endParaRPr lang="en-US" altLang="zh-CN" dirty="0">
              <a:solidFill>
                <a:schemeClr val="tx2"/>
              </a:solidFill>
              <a:latin typeface="微软雅黑 Light" panose="020B0502040204020203" pitchFamily="34" charset="-122"/>
              <a:ea typeface="微软雅黑 Light" panose="020B0502040204020203" pitchFamily="34" charset="-122"/>
            </a:endParaRPr>
          </a:p>
        </p:txBody>
      </p:sp>
      <p:grpSp>
        <p:nvGrpSpPr>
          <p:cNvPr id="405543" name="Group 39"/>
          <p:cNvGrpSpPr/>
          <p:nvPr/>
        </p:nvGrpSpPr>
        <p:grpSpPr bwMode="auto">
          <a:xfrm>
            <a:off x="3806826" y="3173413"/>
            <a:ext cx="5097463" cy="849312"/>
            <a:chOff x="1305" y="1815"/>
            <a:chExt cx="3211" cy="535"/>
          </a:xfrm>
        </p:grpSpPr>
        <p:sp>
          <p:nvSpPr>
            <p:cNvPr id="405544" name="Line 40"/>
            <p:cNvSpPr>
              <a:spLocks noChangeShapeType="1"/>
            </p:cNvSpPr>
            <p:nvPr/>
          </p:nvSpPr>
          <p:spPr bwMode="auto">
            <a:xfrm>
              <a:off x="1305" y="1815"/>
              <a:ext cx="428"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45" name="Line 41"/>
            <p:cNvSpPr>
              <a:spLocks noChangeShapeType="1"/>
            </p:cNvSpPr>
            <p:nvPr/>
          </p:nvSpPr>
          <p:spPr bwMode="auto">
            <a:xfrm>
              <a:off x="1733" y="1815"/>
              <a:ext cx="0" cy="535"/>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46" name="Line 42"/>
            <p:cNvSpPr>
              <a:spLocks noChangeShapeType="1"/>
            </p:cNvSpPr>
            <p:nvPr/>
          </p:nvSpPr>
          <p:spPr bwMode="auto">
            <a:xfrm>
              <a:off x="1733" y="2350"/>
              <a:ext cx="375"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47" name="Line 43"/>
            <p:cNvSpPr>
              <a:spLocks noChangeShapeType="1"/>
            </p:cNvSpPr>
            <p:nvPr/>
          </p:nvSpPr>
          <p:spPr bwMode="auto">
            <a:xfrm>
              <a:off x="2108" y="1815"/>
              <a:ext cx="0" cy="535"/>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48" name="Line 44"/>
            <p:cNvSpPr>
              <a:spLocks noChangeShapeType="1"/>
            </p:cNvSpPr>
            <p:nvPr/>
          </p:nvSpPr>
          <p:spPr bwMode="auto">
            <a:xfrm>
              <a:off x="2108" y="1815"/>
              <a:ext cx="374"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49" name="Line 45"/>
            <p:cNvSpPr>
              <a:spLocks noChangeShapeType="1"/>
            </p:cNvSpPr>
            <p:nvPr/>
          </p:nvSpPr>
          <p:spPr bwMode="auto">
            <a:xfrm>
              <a:off x="2482" y="1815"/>
              <a:ext cx="0" cy="535"/>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0" name="Line 46"/>
            <p:cNvSpPr>
              <a:spLocks noChangeShapeType="1"/>
            </p:cNvSpPr>
            <p:nvPr/>
          </p:nvSpPr>
          <p:spPr bwMode="auto">
            <a:xfrm>
              <a:off x="2482" y="2350"/>
              <a:ext cx="1178"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1" name="Line 47"/>
            <p:cNvSpPr>
              <a:spLocks noChangeShapeType="1"/>
            </p:cNvSpPr>
            <p:nvPr/>
          </p:nvSpPr>
          <p:spPr bwMode="auto">
            <a:xfrm>
              <a:off x="3660" y="1815"/>
              <a:ext cx="0" cy="535"/>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2" name="Line 48"/>
            <p:cNvSpPr>
              <a:spLocks noChangeShapeType="1"/>
            </p:cNvSpPr>
            <p:nvPr/>
          </p:nvSpPr>
          <p:spPr bwMode="auto">
            <a:xfrm>
              <a:off x="3660" y="1815"/>
              <a:ext cx="428"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3" name="Line 49"/>
            <p:cNvSpPr>
              <a:spLocks noChangeShapeType="1"/>
            </p:cNvSpPr>
            <p:nvPr/>
          </p:nvSpPr>
          <p:spPr bwMode="auto">
            <a:xfrm>
              <a:off x="4088" y="1815"/>
              <a:ext cx="0" cy="535"/>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4" name="Line 50"/>
            <p:cNvSpPr>
              <a:spLocks noChangeShapeType="1"/>
            </p:cNvSpPr>
            <p:nvPr/>
          </p:nvSpPr>
          <p:spPr bwMode="auto">
            <a:xfrm>
              <a:off x="4088" y="2350"/>
              <a:ext cx="428"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grpSp>
        <p:nvGrpSpPr>
          <p:cNvPr id="405555" name="Group 51"/>
          <p:cNvGrpSpPr/>
          <p:nvPr/>
        </p:nvGrpSpPr>
        <p:grpSpPr bwMode="auto">
          <a:xfrm>
            <a:off x="3806826" y="4872038"/>
            <a:ext cx="5097463" cy="933450"/>
            <a:chOff x="1305" y="2885"/>
            <a:chExt cx="3211" cy="588"/>
          </a:xfrm>
        </p:grpSpPr>
        <p:sp>
          <p:nvSpPr>
            <p:cNvPr id="405556" name="Line 52"/>
            <p:cNvSpPr>
              <a:spLocks noChangeShapeType="1"/>
            </p:cNvSpPr>
            <p:nvPr/>
          </p:nvSpPr>
          <p:spPr bwMode="auto">
            <a:xfrm>
              <a:off x="1305" y="2885"/>
              <a:ext cx="803"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7" name="Line 53"/>
            <p:cNvSpPr>
              <a:spLocks noChangeShapeType="1"/>
            </p:cNvSpPr>
            <p:nvPr/>
          </p:nvSpPr>
          <p:spPr bwMode="auto">
            <a:xfrm>
              <a:off x="2108" y="2885"/>
              <a:ext cx="0" cy="588"/>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8" name="Line 54"/>
            <p:cNvSpPr>
              <a:spLocks noChangeShapeType="1"/>
            </p:cNvSpPr>
            <p:nvPr/>
          </p:nvSpPr>
          <p:spPr bwMode="auto">
            <a:xfrm>
              <a:off x="2108" y="3473"/>
              <a:ext cx="1552"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59" name="Line 55"/>
            <p:cNvSpPr>
              <a:spLocks noChangeShapeType="1"/>
            </p:cNvSpPr>
            <p:nvPr/>
          </p:nvSpPr>
          <p:spPr bwMode="auto">
            <a:xfrm flipV="1">
              <a:off x="3660" y="2885"/>
              <a:ext cx="0" cy="588"/>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60" name="Line 56"/>
            <p:cNvSpPr>
              <a:spLocks noChangeShapeType="1"/>
            </p:cNvSpPr>
            <p:nvPr/>
          </p:nvSpPr>
          <p:spPr bwMode="auto">
            <a:xfrm>
              <a:off x="3660" y="2885"/>
              <a:ext cx="856" cy="0"/>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61" name="Line 57"/>
            <p:cNvSpPr>
              <a:spLocks noChangeShapeType="1"/>
            </p:cNvSpPr>
            <p:nvPr/>
          </p:nvSpPr>
          <p:spPr bwMode="auto">
            <a:xfrm flipV="1">
              <a:off x="1305" y="2885"/>
              <a:ext cx="0" cy="588"/>
            </a:xfrm>
            <a:prstGeom prst="line">
              <a:avLst/>
            </a:prstGeom>
            <a:noFill/>
            <a:ln w="31750">
              <a:solidFill>
                <a:schemeClr val="hlink"/>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05562" name="Oval 58"/>
          <p:cNvSpPr>
            <a:spLocks noChangeArrowheads="1"/>
          </p:cNvSpPr>
          <p:nvPr/>
        </p:nvSpPr>
        <p:spPr bwMode="auto">
          <a:xfrm>
            <a:off x="5159376" y="4149726"/>
            <a:ext cx="2443163" cy="714375"/>
          </a:xfrm>
          <a:prstGeom prst="ellipse">
            <a:avLst/>
          </a:prstGeom>
          <a:solidFill>
            <a:srgbClr val="FFFFFF"/>
          </a:solidFill>
          <a:ln w="9525">
            <a:solidFill>
              <a:srgbClr val="000000"/>
            </a:solidFill>
            <a:round/>
          </a:ln>
        </p:spPr>
        <p:txBody>
          <a:bodyPr/>
          <a:lstStyle/>
          <a:p>
            <a:r>
              <a:rPr lang="zh-CN" altLang="en-US" sz="1600" dirty="0">
                <a:latin typeface="微软雅黑 Light" panose="020B0502040204020203" pitchFamily="34" charset="-122"/>
                <a:ea typeface="微软雅黑 Light" panose="020B0502040204020203" pitchFamily="34" charset="-122"/>
              </a:rPr>
              <a:t>下一比特为</a:t>
            </a:r>
            <a:r>
              <a:rPr lang="en-US" altLang="zh-CN" sz="1600" dirty="0">
                <a:latin typeface="微软雅黑 Light" panose="020B0502040204020203" pitchFamily="34" charset="-122"/>
                <a:ea typeface="微软雅黑 Light" panose="020B0502040204020203" pitchFamily="34" charset="-122"/>
              </a:rPr>
              <a:t>1</a:t>
            </a:r>
            <a:r>
              <a:rPr lang="zh-CN" altLang="en-US" sz="1600" dirty="0">
                <a:latin typeface="微软雅黑 Light" panose="020B0502040204020203" pitchFamily="34" charset="-122"/>
                <a:ea typeface="微软雅黑 Light" panose="020B0502040204020203" pitchFamily="34" charset="-122"/>
              </a:rPr>
              <a:t>，</a:t>
            </a:r>
            <a:endParaRPr lang="zh-CN" altLang="en-US" sz="1600" dirty="0">
              <a:latin typeface="微软雅黑 Light" panose="020B0502040204020203" pitchFamily="34" charset="-122"/>
              <a:ea typeface="微软雅黑 Light" panose="020B0502040204020203" pitchFamily="34" charset="-122"/>
            </a:endParaRPr>
          </a:p>
          <a:p>
            <a:r>
              <a:rPr lang="zh-CN" altLang="en-US" sz="1600" dirty="0">
                <a:latin typeface="微软雅黑 Light" panose="020B0502040204020203" pitchFamily="34" charset="-122"/>
                <a:ea typeface="微软雅黑 Light" panose="020B0502040204020203" pitchFamily="34" charset="-122"/>
              </a:rPr>
              <a:t>发生电平翻转</a:t>
            </a:r>
            <a:endParaRPr lang="zh-CN" altLang="en-US" sz="1600" dirty="0">
              <a:latin typeface="微软雅黑 Light" panose="020B0502040204020203" pitchFamily="34" charset="-122"/>
              <a:ea typeface="微软雅黑 Light" panose="020B0502040204020203" pitchFamily="34" charset="-122"/>
            </a:endParaRPr>
          </a:p>
        </p:txBody>
      </p:sp>
      <p:sp>
        <p:nvSpPr>
          <p:cNvPr id="405564" name="Line 60"/>
          <p:cNvSpPr>
            <a:spLocks noChangeShapeType="1"/>
          </p:cNvSpPr>
          <p:nvPr/>
        </p:nvSpPr>
        <p:spPr bwMode="auto">
          <a:xfrm flipH="1">
            <a:off x="3824288" y="4597401"/>
            <a:ext cx="1370012" cy="5746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67" name="Line 63"/>
          <p:cNvSpPr>
            <a:spLocks noChangeShapeType="1"/>
          </p:cNvSpPr>
          <p:nvPr/>
        </p:nvSpPr>
        <p:spPr bwMode="auto">
          <a:xfrm flipH="1">
            <a:off x="5087938" y="4826000"/>
            <a:ext cx="728662" cy="3317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70" name="Line 66"/>
          <p:cNvSpPr>
            <a:spLocks noChangeShapeType="1"/>
          </p:cNvSpPr>
          <p:nvPr/>
        </p:nvSpPr>
        <p:spPr bwMode="auto">
          <a:xfrm>
            <a:off x="6961189" y="4822825"/>
            <a:ext cx="574675" cy="4064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05572" name="Rectangle 68"/>
          <p:cNvSpPr>
            <a:spLocks noChangeArrowheads="1"/>
          </p:cNvSpPr>
          <p:nvPr/>
        </p:nvSpPr>
        <p:spPr bwMode="auto">
          <a:xfrm>
            <a:off x="3242153" y="4346576"/>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a:xfrm>
            <a:off x="334434" y="1052515"/>
            <a:ext cx="11523133" cy="1347786"/>
          </a:xfrm>
        </p:spPr>
        <p:txBody>
          <a:bodyPr/>
          <a:lstStyle/>
          <a:p>
            <a:r>
              <a:rPr lang="en-US" altLang="zh-CN" dirty="0"/>
              <a:t>NRZ-L</a:t>
            </a:r>
            <a:r>
              <a:rPr lang="zh-CN" altLang="en-US" dirty="0"/>
              <a:t>：信号的电平代表比特</a:t>
            </a:r>
            <a:endParaRPr lang="zh-CN" altLang="en-US" dirty="0"/>
          </a:p>
          <a:p>
            <a:r>
              <a:rPr lang="en-US" altLang="zh-CN" dirty="0"/>
              <a:t>NRZ-I</a:t>
            </a:r>
            <a:r>
              <a:rPr lang="zh-CN" altLang="en-US" dirty="0"/>
              <a:t>：电平翻转代表</a:t>
            </a:r>
            <a:r>
              <a:rPr lang="en-US" altLang="zh-CN" dirty="0"/>
              <a:t>1</a:t>
            </a:r>
            <a:r>
              <a:rPr lang="zh-CN" altLang="en-US" dirty="0"/>
              <a:t>，否则代表</a:t>
            </a:r>
            <a:r>
              <a:rPr lang="en-US" altLang="zh-CN" dirty="0"/>
              <a:t>0</a:t>
            </a:r>
            <a:endParaRPr lang="en-US" altLang="zh-CN" dirty="0"/>
          </a:p>
          <a:p>
            <a:pPr marL="0" indent="0">
              <a:buNone/>
            </a:pPr>
            <a:endParaRPr lang="zh-CN" altLang="en-US" dirty="0"/>
          </a:p>
        </p:txBody>
      </p:sp>
      <p:sp>
        <p:nvSpPr>
          <p:cNvPr id="64" name="Line 31"/>
          <p:cNvSpPr>
            <a:spLocks noChangeShapeType="1"/>
          </p:cNvSpPr>
          <p:nvPr/>
        </p:nvSpPr>
        <p:spPr bwMode="auto">
          <a:xfrm flipV="1">
            <a:off x="3806826" y="2770978"/>
            <a:ext cx="0" cy="1316043"/>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66" name="Line 8"/>
          <p:cNvSpPr>
            <a:spLocks noChangeShapeType="1"/>
          </p:cNvSpPr>
          <p:nvPr/>
        </p:nvSpPr>
        <p:spPr bwMode="auto">
          <a:xfrm>
            <a:off x="3699353" y="5373689"/>
            <a:ext cx="5427662" cy="0"/>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r>
              <a:rPr lang="en-US" altLang="zh-CN" dirty="0"/>
              <a:t>4B/5B</a:t>
            </a:r>
            <a:r>
              <a:rPr lang="zh-CN" altLang="en-US" dirty="0"/>
              <a:t>编码</a:t>
            </a:r>
            <a:endParaRPr lang="zh-CN" altLang="en-US" dirty="0"/>
          </a:p>
        </p:txBody>
      </p:sp>
      <p:sp>
        <p:nvSpPr>
          <p:cNvPr id="7" name="灯片编号占位符 5"/>
          <p:cNvSpPr>
            <a:spLocks noGrp="1"/>
          </p:cNvSpPr>
          <p:nvPr>
            <p:ph type="sldNum" sz="quarter" idx="12"/>
          </p:nvPr>
        </p:nvSpPr>
        <p:spPr/>
        <p:txBody>
          <a:bodyPr/>
          <a:lstStyle/>
          <a:p>
            <a:fld id="{16D39E08-3E63-4FC7-8F59-DC9D5A87073C}" type="slidenum">
              <a:rPr lang="en-US" altLang="zh-CN"/>
            </a:fld>
            <a:endParaRPr lang="en-US" altLang="zh-CN" dirty="0"/>
          </a:p>
        </p:txBody>
      </p:sp>
      <p:pic>
        <p:nvPicPr>
          <p:cNvPr id="456709" name="Picture 5" descr="562315_201008242215181DR8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97392" y="1052514"/>
            <a:ext cx="4448148" cy="5400822"/>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a:xfrm>
            <a:off x="334435" y="1052514"/>
            <a:ext cx="5761566" cy="5437187"/>
          </a:xfrm>
        </p:spPr>
        <p:txBody>
          <a:bodyPr/>
          <a:lstStyle/>
          <a:p>
            <a:r>
              <a:rPr lang="zh-CN" altLang="en-US" sz="2800" dirty="0"/>
              <a:t>解决连续</a:t>
            </a:r>
            <a:r>
              <a:rPr lang="en-US" altLang="zh-CN" sz="2800" dirty="0"/>
              <a:t>0</a:t>
            </a:r>
            <a:r>
              <a:rPr lang="zh-CN" altLang="en-US" sz="2800" dirty="0"/>
              <a:t>或</a:t>
            </a:r>
            <a:r>
              <a:rPr lang="en-US" altLang="zh-CN" sz="2800" dirty="0"/>
              <a:t>1</a:t>
            </a:r>
            <a:r>
              <a:rPr lang="zh-CN" altLang="en-US" sz="2800" dirty="0"/>
              <a:t>导致的同步丢失问题</a:t>
            </a:r>
            <a:endParaRPr lang="en-US" altLang="zh-CN" sz="2800" dirty="0"/>
          </a:p>
          <a:p>
            <a:r>
              <a:rPr lang="zh-CN" altLang="en-US" sz="2800" dirty="0"/>
              <a:t>用</a:t>
            </a:r>
            <a:r>
              <a:rPr lang="en-US" altLang="zh-CN" sz="2800" dirty="0"/>
              <a:t>5bit</a:t>
            </a:r>
            <a:r>
              <a:rPr lang="zh-CN" altLang="en-US" sz="2800" dirty="0"/>
              <a:t>的二进制数来表示</a:t>
            </a:r>
            <a:r>
              <a:rPr lang="en-US" altLang="zh-CN" sz="2800" dirty="0"/>
              <a:t>4bit</a:t>
            </a:r>
            <a:r>
              <a:rPr lang="zh-CN" altLang="en-US" sz="2800" dirty="0"/>
              <a:t>二进制数，映射方式如右表所示</a:t>
            </a:r>
            <a:endParaRPr lang="zh-CN" altLang="en-US" sz="2800" dirty="0"/>
          </a:p>
          <a:p>
            <a:r>
              <a:rPr lang="en-US" altLang="zh-CN" sz="2800" dirty="0"/>
              <a:t>4</a:t>
            </a:r>
            <a:r>
              <a:rPr lang="zh-CN" altLang="en-US" sz="2800" dirty="0"/>
              <a:t>位</a:t>
            </a:r>
            <a:r>
              <a:rPr lang="en-US" altLang="zh-CN" sz="2800" dirty="0"/>
              <a:t>16</a:t>
            </a:r>
            <a:r>
              <a:rPr lang="zh-CN" altLang="en-US" sz="2800" dirty="0"/>
              <a:t>种组合，</a:t>
            </a:r>
            <a:r>
              <a:rPr lang="en-US" altLang="zh-CN" sz="2800" dirty="0"/>
              <a:t>5</a:t>
            </a:r>
            <a:r>
              <a:rPr lang="zh-CN" altLang="en-US" sz="2800" dirty="0"/>
              <a:t>位</a:t>
            </a:r>
            <a:r>
              <a:rPr lang="en-US" altLang="zh-CN" sz="2800" dirty="0"/>
              <a:t>32</a:t>
            </a:r>
            <a:r>
              <a:rPr lang="zh-CN" altLang="en-US" sz="2800" dirty="0"/>
              <a:t>种组合</a:t>
            </a:r>
            <a:endParaRPr lang="en-US" altLang="zh-CN" sz="2800" dirty="0"/>
          </a:p>
          <a:p>
            <a:r>
              <a:rPr lang="zh-CN" altLang="en-US" sz="2800" dirty="0"/>
              <a:t>组合</a:t>
            </a:r>
            <a:r>
              <a:rPr lang="zh-CN" altLang="en-US" dirty="0"/>
              <a:t>选取原则</a:t>
            </a:r>
            <a:endParaRPr lang="zh-CN" altLang="en-US" sz="2800" dirty="0"/>
          </a:p>
          <a:p>
            <a:pPr lvl="1"/>
            <a:r>
              <a:rPr lang="zh-CN" altLang="en-US" sz="2400" dirty="0"/>
              <a:t>每个</a:t>
            </a:r>
            <a:r>
              <a:rPr lang="en-US" altLang="zh-CN" sz="2400" dirty="0"/>
              <a:t>5</a:t>
            </a:r>
            <a:r>
              <a:rPr lang="zh-CN" altLang="en-US" sz="2400" dirty="0"/>
              <a:t>比特码组中不含多于</a:t>
            </a:r>
            <a:r>
              <a:rPr lang="en-US" altLang="zh-CN" sz="2400" dirty="0"/>
              <a:t>3</a:t>
            </a:r>
            <a:r>
              <a:rPr lang="zh-CN" altLang="en-US" sz="2400" dirty="0"/>
              <a:t>个“</a:t>
            </a:r>
            <a:r>
              <a:rPr lang="en-US" altLang="zh-CN" sz="2400" dirty="0"/>
              <a:t>0”</a:t>
            </a:r>
            <a:endParaRPr lang="en-US" altLang="zh-CN" sz="2400" dirty="0"/>
          </a:p>
          <a:p>
            <a:pPr lvl="1"/>
            <a:r>
              <a:rPr lang="zh-CN" altLang="en-US" sz="2400" dirty="0"/>
              <a:t>或者</a:t>
            </a:r>
            <a:r>
              <a:rPr lang="en-US" altLang="zh-CN" sz="2400" dirty="0"/>
              <a:t>5</a:t>
            </a:r>
            <a:r>
              <a:rPr lang="zh-CN" altLang="en-US" sz="2400" dirty="0"/>
              <a:t>比特码组中包含不少于</a:t>
            </a:r>
            <a:r>
              <a:rPr lang="en-US" altLang="zh-CN" sz="2400" dirty="0"/>
              <a:t>2</a:t>
            </a:r>
            <a:r>
              <a:rPr lang="zh-CN" altLang="en-US" sz="2400" dirty="0"/>
              <a:t>个“</a:t>
            </a:r>
            <a:r>
              <a:rPr lang="en-US" altLang="zh-CN" sz="2400" dirty="0"/>
              <a:t>1”</a:t>
            </a:r>
            <a:endParaRPr lang="en-US" altLang="zh-CN" sz="2400"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r>
              <a:rPr lang="zh-CN" altLang="en-US" dirty="0"/>
              <a:t>归零编码</a:t>
            </a:r>
            <a:endParaRPr lang="en-US" altLang="zh-CN" dirty="0"/>
          </a:p>
        </p:txBody>
      </p:sp>
      <p:sp>
        <p:nvSpPr>
          <p:cNvPr id="42" name="灯片编号占位符 5"/>
          <p:cNvSpPr>
            <a:spLocks noGrp="1"/>
          </p:cNvSpPr>
          <p:nvPr>
            <p:ph type="sldNum" sz="quarter" idx="12"/>
          </p:nvPr>
        </p:nvSpPr>
        <p:spPr/>
        <p:txBody>
          <a:bodyPr/>
          <a:lstStyle/>
          <a:p>
            <a:fld id="{81E3FCAB-AF6D-445D-A753-36BBE76F8AC7}" type="slidenum">
              <a:rPr lang="en-US" altLang="zh-CN"/>
            </a:fld>
            <a:endParaRPr lang="en-US" altLang="zh-CN" dirty="0"/>
          </a:p>
        </p:txBody>
      </p:sp>
      <p:grpSp>
        <p:nvGrpSpPr>
          <p:cNvPr id="561156" name="Group 4"/>
          <p:cNvGrpSpPr/>
          <p:nvPr/>
        </p:nvGrpSpPr>
        <p:grpSpPr bwMode="auto">
          <a:xfrm>
            <a:off x="3471864" y="3505859"/>
            <a:ext cx="5937236" cy="2083726"/>
            <a:chOff x="748" y="1720"/>
            <a:chExt cx="3419" cy="829"/>
          </a:xfrm>
        </p:grpSpPr>
        <p:sp>
          <p:nvSpPr>
            <p:cNvPr id="561158" name="Line 6"/>
            <p:cNvSpPr>
              <a:spLocks noChangeShapeType="1"/>
            </p:cNvSpPr>
            <p:nvPr/>
          </p:nvSpPr>
          <p:spPr bwMode="auto">
            <a:xfrm flipV="1">
              <a:off x="828" y="1720"/>
              <a:ext cx="0" cy="829"/>
            </a:xfrm>
            <a:prstGeom prst="line">
              <a:avLst/>
            </a:prstGeom>
            <a:noFill/>
            <a:ln w="15875">
              <a:solidFill>
                <a:srgbClr val="000000"/>
              </a:solidFill>
              <a:round/>
              <a:tailEnd type="stealth" w="lg" len="me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61" name="Line 9"/>
            <p:cNvSpPr>
              <a:spLocks noChangeShapeType="1"/>
            </p:cNvSpPr>
            <p:nvPr/>
          </p:nvSpPr>
          <p:spPr bwMode="auto">
            <a:xfrm>
              <a:off x="748" y="2164"/>
              <a:ext cx="3419" cy="0"/>
            </a:xfrm>
            <a:prstGeom prst="line">
              <a:avLst/>
            </a:prstGeom>
            <a:noFill/>
            <a:ln w="15875">
              <a:solidFill>
                <a:srgbClr val="000000"/>
              </a:solidFill>
              <a:round/>
              <a:headEnd type="none"/>
              <a:tailEnd type="stealth" w="lg" len="me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grpSp>
        <p:nvGrpSpPr>
          <p:cNvPr id="561163" name="Group 11"/>
          <p:cNvGrpSpPr/>
          <p:nvPr/>
        </p:nvGrpSpPr>
        <p:grpSpPr bwMode="auto">
          <a:xfrm>
            <a:off x="4264026" y="3789360"/>
            <a:ext cx="4418013" cy="1655763"/>
            <a:chOff x="1733" y="1654"/>
            <a:chExt cx="2783" cy="1958"/>
          </a:xfrm>
        </p:grpSpPr>
        <p:sp>
          <p:nvSpPr>
            <p:cNvPr id="561164" name="Line 12"/>
            <p:cNvSpPr>
              <a:spLocks noChangeShapeType="1"/>
            </p:cNvSpPr>
            <p:nvPr/>
          </p:nvSpPr>
          <p:spPr bwMode="auto">
            <a:xfrm>
              <a:off x="1733"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65" name="Line 13"/>
            <p:cNvSpPr>
              <a:spLocks noChangeShapeType="1"/>
            </p:cNvSpPr>
            <p:nvPr/>
          </p:nvSpPr>
          <p:spPr bwMode="auto">
            <a:xfrm>
              <a:off x="2108"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66" name="Line 14"/>
            <p:cNvSpPr>
              <a:spLocks noChangeShapeType="1"/>
            </p:cNvSpPr>
            <p:nvPr/>
          </p:nvSpPr>
          <p:spPr bwMode="auto">
            <a:xfrm>
              <a:off x="2482"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67" name="Line 15"/>
            <p:cNvSpPr>
              <a:spLocks noChangeShapeType="1"/>
            </p:cNvSpPr>
            <p:nvPr/>
          </p:nvSpPr>
          <p:spPr bwMode="auto">
            <a:xfrm>
              <a:off x="2857"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68" name="Line 16"/>
            <p:cNvSpPr>
              <a:spLocks noChangeShapeType="1"/>
            </p:cNvSpPr>
            <p:nvPr/>
          </p:nvSpPr>
          <p:spPr bwMode="auto">
            <a:xfrm>
              <a:off x="3231"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69" name="Line 17"/>
            <p:cNvSpPr>
              <a:spLocks noChangeShapeType="1"/>
            </p:cNvSpPr>
            <p:nvPr/>
          </p:nvSpPr>
          <p:spPr bwMode="auto">
            <a:xfrm>
              <a:off x="4088"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70" name="Line 18"/>
            <p:cNvSpPr>
              <a:spLocks noChangeShapeType="1"/>
            </p:cNvSpPr>
            <p:nvPr/>
          </p:nvSpPr>
          <p:spPr bwMode="auto">
            <a:xfrm>
              <a:off x="3660"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561171" name="Line 19"/>
            <p:cNvSpPr>
              <a:spLocks noChangeShapeType="1"/>
            </p:cNvSpPr>
            <p:nvPr/>
          </p:nvSpPr>
          <p:spPr bwMode="auto">
            <a:xfrm>
              <a:off x="4516" y="1654"/>
              <a:ext cx="0" cy="1958"/>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561172" name="Freeform 20"/>
          <p:cNvSpPr/>
          <p:nvPr/>
        </p:nvSpPr>
        <p:spPr bwMode="auto">
          <a:xfrm>
            <a:off x="3616325" y="4005260"/>
            <a:ext cx="5068888" cy="1223963"/>
          </a:xfrm>
          <a:custGeom>
            <a:avLst/>
            <a:gdLst>
              <a:gd name="T0" fmla="*/ 0 w 3193"/>
              <a:gd name="T1" fmla="*/ 2 h 1050"/>
              <a:gd name="T2" fmla="*/ 205 w 3193"/>
              <a:gd name="T3" fmla="*/ 2 h 1050"/>
              <a:gd name="T4" fmla="*/ 205 w 3193"/>
              <a:gd name="T5" fmla="*/ 524 h 1050"/>
              <a:gd name="T6" fmla="*/ 409 w 3193"/>
              <a:gd name="T7" fmla="*/ 524 h 1050"/>
              <a:gd name="T8" fmla="*/ 409 w 3193"/>
              <a:gd name="T9" fmla="*/ 1041 h 1050"/>
              <a:gd name="T10" fmla="*/ 601 w 3193"/>
              <a:gd name="T11" fmla="*/ 1042 h 1050"/>
              <a:gd name="T12" fmla="*/ 601 w 3193"/>
              <a:gd name="T13" fmla="*/ 528 h 1050"/>
              <a:gd name="T14" fmla="*/ 781 w 3193"/>
              <a:gd name="T15" fmla="*/ 528 h 1050"/>
              <a:gd name="T16" fmla="*/ 784 w 3193"/>
              <a:gd name="T17" fmla="*/ 6 h 1050"/>
              <a:gd name="T18" fmla="*/ 985 w 3193"/>
              <a:gd name="T19" fmla="*/ 6 h 1050"/>
              <a:gd name="T20" fmla="*/ 985 w 3193"/>
              <a:gd name="T21" fmla="*/ 522 h 1050"/>
              <a:gd name="T22" fmla="*/ 1159 w 3193"/>
              <a:gd name="T23" fmla="*/ 522 h 1050"/>
              <a:gd name="T24" fmla="*/ 1159 w 3193"/>
              <a:gd name="T25" fmla="*/ 1044 h 1050"/>
              <a:gd name="T26" fmla="*/ 1357 w 3193"/>
              <a:gd name="T27" fmla="*/ 1044 h 1050"/>
              <a:gd name="T28" fmla="*/ 1357 w 3193"/>
              <a:gd name="T29" fmla="*/ 524 h 1050"/>
              <a:gd name="T30" fmla="*/ 1533 w 3193"/>
              <a:gd name="T31" fmla="*/ 524 h 1050"/>
              <a:gd name="T32" fmla="*/ 1533 w 3193"/>
              <a:gd name="T33" fmla="*/ 1044 h 1050"/>
              <a:gd name="T34" fmla="*/ 1739 w 3193"/>
              <a:gd name="T35" fmla="*/ 1044 h 1050"/>
              <a:gd name="T36" fmla="*/ 1741 w 3193"/>
              <a:gd name="T37" fmla="*/ 1050 h 1050"/>
              <a:gd name="T38" fmla="*/ 1741 w 3193"/>
              <a:gd name="T39" fmla="*/ 522 h 1050"/>
              <a:gd name="T40" fmla="*/ 1907 w 3193"/>
              <a:gd name="T41" fmla="*/ 522 h 1050"/>
              <a:gd name="T42" fmla="*/ 1903 w 3193"/>
              <a:gd name="T43" fmla="*/ 1050 h 1050"/>
              <a:gd name="T44" fmla="*/ 2119 w 3193"/>
              <a:gd name="T45" fmla="*/ 1050 h 1050"/>
              <a:gd name="T46" fmla="*/ 2119 w 3193"/>
              <a:gd name="T47" fmla="*/ 522 h 1050"/>
              <a:gd name="T48" fmla="*/ 2335 w 3193"/>
              <a:gd name="T49" fmla="*/ 522 h 1050"/>
              <a:gd name="T50" fmla="*/ 2333 w 3193"/>
              <a:gd name="T51" fmla="*/ 0 h 1050"/>
              <a:gd name="T52" fmla="*/ 2569 w 3193"/>
              <a:gd name="T53" fmla="*/ 0 h 1050"/>
              <a:gd name="T54" fmla="*/ 2569 w 3193"/>
              <a:gd name="T55" fmla="*/ 524 h 1050"/>
              <a:gd name="T56" fmla="*/ 2761 w 3193"/>
              <a:gd name="T57" fmla="*/ 524 h 1050"/>
              <a:gd name="T58" fmla="*/ 2761 w 3193"/>
              <a:gd name="T59" fmla="*/ 1044 h 1050"/>
              <a:gd name="T60" fmla="*/ 2983 w 3193"/>
              <a:gd name="T61" fmla="*/ 1044 h 1050"/>
              <a:gd name="T62" fmla="*/ 2983 w 3193"/>
              <a:gd name="T63" fmla="*/ 522 h 1050"/>
              <a:gd name="T64" fmla="*/ 3193 w 3193"/>
              <a:gd name="T65" fmla="*/ 522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93" h="1050">
                <a:moveTo>
                  <a:pt x="0" y="2"/>
                </a:moveTo>
                <a:lnTo>
                  <a:pt x="205" y="2"/>
                </a:lnTo>
                <a:lnTo>
                  <a:pt x="205" y="524"/>
                </a:lnTo>
                <a:lnTo>
                  <a:pt x="409" y="524"/>
                </a:lnTo>
                <a:lnTo>
                  <a:pt x="409" y="1041"/>
                </a:lnTo>
                <a:lnTo>
                  <a:pt x="601" y="1042"/>
                </a:lnTo>
                <a:lnTo>
                  <a:pt x="601" y="528"/>
                </a:lnTo>
                <a:lnTo>
                  <a:pt x="781" y="528"/>
                </a:lnTo>
                <a:lnTo>
                  <a:pt x="784" y="6"/>
                </a:lnTo>
                <a:lnTo>
                  <a:pt x="985" y="6"/>
                </a:lnTo>
                <a:lnTo>
                  <a:pt x="985" y="522"/>
                </a:lnTo>
                <a:lnTo>
                  <a:pt x="1159" y="522"/>
                </a:lnTo>
                <a:lnTo>
                  <a:pt x="1159" y="1044"/>
                </a:lnTo>
                <a:lnTo>
                  <a:pt x="1357" y="1044"/>
                </a:lnTo>
                <a:lnTo>
                  <a:pt x="1357" y="524"/>
                </a:lnTo>
                <a:lnTo>
                  <a:pt x="1533" y="524"/>
                </a:lnTo>
                <a:lnTo>
                  <a:pt x="1533" y="1044"/>
                </a:lnTo>
                <a:lnTo>
                  <a:pt x="1739" y="1044"/>
                </a:lnTo>
                <a:lnTo>
                  <a:pt x="1741" y="1050"/>
                </a:lnTo>
                <a:lnTo>
                  <a:pt x="1741" y="522"/>
                </a:lnTo>
                <a:lnTo>
                  <a:pt x="1907" y="522"/>
                </a:lnTo>
                <a:lnTo>
                  <a:pt x="1903" y="1050"/>
                </a:lnTo>
                <a:lnTo>
                  <a:pt x="2119" y="1050"/>
                </a:lnTo>
                <a:lnTo>
                  <a:pt x="2119" y="522"/>
                </a:lnTo>
                <a:lnTo>
                  <a:pt x="2335" y="522"/>
                </a:lnTo>
                <a:lnTo>
                  <a:pt x="2333" y="0"/>
                </a:lnTo>
                <a:lnTo>
                  <a:pt x="2569" y="0"/>
                </a:lnTo>
                <a:lnTo>
                  <a:pt x="2569" y="524"/>
                </a:lnTo>
                <a:lnTo>
                  <a:pt x="2761" y="524"/>
                </a:lnTo>
                <a:lnTo>
                  <a:pt x="2761" y="1044"/>
                </a:lnTo>
                <a:lnTo>
                  <a:pt x="2983" y="1044"/>
                </a:lnTo>
                <a:lnTo>
                  <a:pt x="2983" y="522"/>
                </a:lnTo>
                <a:lnTo>
                  <a:pt x="3193" y="522"/>
                </a:lnTo>
              </a:path>
            </a:pathLst>
          </a:custGeom>
          <a:noFill/>
          <a:ln w="28575"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73" name="Text Box 21"/>
          <p:cNvSpPr txBox="1">
            <a:spLocks noChangeArrowheads="1"/>
          </p:cNvSpPr>
          <p:nvPr/>
        </p:nvSpPr>
        <p:spPr bwMode="auto">
          <a:xfrm>
            <a:off x="3811588" y="3284535"/>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561174" name="Text Box 22"/>
          <p:cNvSpPr txBox="1">
            <a:spLocks noChangeArrowheads="1"/>
          </p:cNvSpPr>
          <p:nvPr/>
        </p:nvSpPr>
        <p:spPr bwMode="auto">
          <a:xfrm>
            <a:off x="4408488" y="328453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561175" name="Text Box 23"/>
          <p:cNvSpPr txBox="1">
            <a:spLocks noChangeArrowheads="1"/>
          </p:cNvSpPr>
          <p:nvPr/>
        </p:nvSpPr>
        <p:spPr bwMode="auto">
          <a:xfrm>
            <a:off x="4984750" y="3284535"/>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561176" name="Text Box 24"/>
          <p:cNvSpPr txBox="1">
            <a:spLocks noChangeArrowheads="1"/>
          </p:cNvSpPr>
          <p:nvPr/>
        </p:nvSpPr>
        <p:spPr bwMode="auto">
          <a:xfrm>
            <a:off x="5561013" y="328453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561177" name="Text Box 25"/>
          <p:cNvSpPr txBox="1">
            <a:spLocks noChangeArrowheads="1"/>
          </p:cNvSpPr>
          <p:nvPr/>
        </p:nvSpPr>
        <p:spPr bwMode="auto">
          <a:xfrm>
            <a:off x="6135688" y="328453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561178" name="Text Box 26"/>
          <p:cNvSpPr txBox="1">
            <a:spLocks noChangeArrowheads="1"/>
          </p:cNvSpPr>
          <p:nvPr/>
        </p:nvSpPr>
        <p:spPr bwMode="auto">
          <a:xfrm>
            <a:off x="6856413" y="328453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561179" name="Text Box 27"/>
          <p:cNvSpPr txBox="1">
            <a:spLocks noChangeArrowheads="1"/>
          </p:cNvSpPr>
          <p:nvPr/>
        </p:nvSpPr>
        <p:spPr bwMode="auto">
          <a:xfrm>
            <a:off x="7504113" y="3284535"/>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561180" name="Text Box 28"/>
          <p:cNvSpPr txBox="1">
            <a:spLocks noChangeArrowheads="1"/>
          </p:cNvSpPr>
          <p:nvPr/>
        </p:nvSpPr>
        <p:spPr bwMode="auto">
          <a:xfrm>
            <a:off x="8224838" y="328453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561181" name="Text Box 29"/>
          <p:cNvSpPr txBox="1">
            <a:spLocks noChangeArrowheads="1"/>
          </p:cNvSpPr>
          <p:nvPr/>
        </p:nvSpPr>
        <p:spPr bwMode="auto">
          <a:xfrm>
            <a:off x="2817813" y="328453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latin typeface="微软雅黑 Light" panose="020B0502040204020203" pitchFamily="34" charset="-122"/>
                <a:ea typeface="微软雅黑 Light" panose="020B0502040204020203" pitchFamily="34" charset="-122"/>
              </a:rPr>
              <a:t>振幅</a:t>
            </a:r>
            <a:endParaRPr lang="zh-CN" altLang="en-US" dirty="0">
              <a:latin typeface="微软雅黑 Light" panose="020B0502040204020203" pitchFamily="34" charset="-122"/>
              <a:ea typeface="微软雅黑 Light" panose="020B0502040204020203" pitchFamily="34" charset="-122"/>
            </a:endParaRPr>
          </a:p>
        </p:txBody>
      </p:sp>
      <p:sp>
        <p:nvSpPr>
          <p:cNvPr id="561182" name="Text Box 30"/>
          <p:cNvSpPr txBox="1">
            <a:spLocks noChangeArrowheads="1"/>
          </p:cNvSpPr>
          <p:nvPr/>
        </p:nvSpPr>
        <p:spPr bwMode="auto">
          <a:xfrm>
            <a:off x="9088438" y="4797422"/>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zh-CN" altLang="en-US" dirty="0"/>
              <a:t>时间</a:t>
            </a:r>
            <a:endParaRPr lang="zh-CN" altLang="en-US" dirty="0"/>
          </a:p>
        </p:txBody>
      </p:sp>
      <p:sp>
        <p:nvSpPr>
          <p:cNvPr id="561183" name="Line 31"/>
          <p:cNvSpPr>
            <a:spLocks noChangeShapeType="1"/>
          </p:cNvSpPr>
          <p:nvPr/>
        </p:nvSpPr>
        <p:spPr bwMode="auto">
          <a:xfrm>
            <a:off x="3970338" y="4292598"/>
            <a:ext cx="1014412" cy="1512887"/>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84" name="Line 32"/>
          <p:cNvSpPr>
            <a:spLocks noChangeShapeType="1"/>
          </p:cNvSpPr>
          <p:nvPr/>
        </p:nvSpPr>
        <p:spPr bwMode="auto">
          <a:xfrm>
            <a:off x="4552950" y="4873622"/>
            <a:ext cx="719138" cy="93186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85" name="Line 33"/>
          <p:cNvSpPr>
            <a:spLocks noChangeShapeType="1"/>
          </p:cNvSpPr>
          <p:nvPr/>
        </p:nvSpPr>
        <p:spPr bwMode="auto">
          <a:xfrm>
            <a:off x="5194300" y="4221159"/>
            <a:ext cx="431800" cy="1728788"/>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86" name="Line 34"/>
          <p:cNvSpPr>
            <a:spLocks noChangeShapeType="1"/>
          </p:cNvSpPr>
          <p:nvPr/>
        </p:nvSpPr>
        <p:spPr bwMode="auto">
          <a:xfrm flipH="1">
            <a:off x="7072313" y="4292598"/>
            <a:ext cx="569912" cy="1512887"/>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87" name="Line 35"/>
          <p:cNvSpPr>
            <a:spLocks noChangeShapeType="1"/>
          </p:cNvSpPr>
          <p:nvPr/>
        </p:nvSpPr>
        <p:spPr bwMode="auto">
          <a:xfrm flipH="1">
            <a:off x="7361238" y="4873622"/>
            <a:ext cx="1008062" cy="93186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88" name="Line 36"/>
          <p:cNvSpPr>
            <a:spLocks noChangeShapeType="1"/>
          </p:cNvSpPr>
          <p:nvPr/>
        </p:nvSpPr>
        <p:spPr bwMode="auto">
          <a:xfrm flipH="1">
            <a:off x="6784975" y="4873622"/>
            <a:ext cx="215900" cy="93186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89" name="Line 37"/>
          <p:cNvSpPr>
            <a:spLocks noChangeShapeType="1"/>
          </p:cNvSpPr>
          <p:nvPr/>
        </p:nvSpPr>
        <p:spPr bwMode="auto">
          <a:xfrm>
            <a:off x="5776913" y="4873622"/>
            <a:ext cx="215900" cy="93186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90" name="Line 38"/>
          <p:cNvSpPr>
            <a:spLocks noChangeShapeType="1"/>
          </p:cNvSpPr>
          <p:nvPr/>
        </p:nvSpPr>
        <p:spPr bwMode="auto">
          <a:xfrm>
            <a:off x="6351589" y="4873622"/>
            <a:ext cx="73025" cy="93186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561191" name="Text Box 39"/>
          <p:cNvSpPr txBox="1">
            <a:spLocks noChangeArrowheads="1"/>
          </p:cNvSpPr>
          <p:nvPr/>
        </p:nvSpPr>
        <p:spPr bwMode="auto">
          <a:xfrm>
            <a:off x="4505325" y="5689267"/>
            <a:ext cx="3260725" cy="376237"/>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dirty="0">
                <a:latin typeface="微软雅黑 Light" panose="020B0502040204020203" pitchFamily="34" charset="-122"/>
                <a:ea typeface="微软雅黑 Light" panose="020B0502040204020203" pitchFamily="34" charset="-122"/>
              </a:rPr>
              <a:t>跳变用于同步</a:t>
            </a:r>
            <a:endParaRPr lang="zh-CN" altLang="en-US" dirty="0">
              <a:latin typeface="微软雅黑 Light" panose="020B0502040204020203" pitchFamily="34" charset="-122"/>
              <a:ea typeface="微软雅黑 Light" panose="020B0502040204020203" pitchFamily="34" charset="-122"/>
            </a:endParaRPr>
          </a:p>
        </p:txBody>
      </p:sp>
      <p:sp>
        <p:nvSpPr>
          <p:cNvPr id="2" name="内容占位符 1"/>
          <p:cNvSpPr>
            <a:spLocks noGrp="1"/>
          </p:cNvSpPr>
          <p:nvPr>
            <p:ph idx="1"/>
          </p:nvPr>
        </p:nvSpPr>
        <p:spPr>
          <a:xfrm>
            <a:off x="334434" y="1052515"/>
            <a:ext cx="11523133" cy="2376486"/>
          </a:xfrm>
        </p:spPr>
        <p:txBody>
          <a:bodyPr/>
          <a:lstStyle/>
          <a:p>
            <a:r>
              <a:rPr lang="zh-CN" altLang="en-US" dirty="0"/>
              <a:t>使用</a:t>
            </a:r>
            <a:r>
              <a:rPr lang="en-US" altLang="zh-CN" dirty="0"/>
              <a:t>3</a:t>
            </a:r>
            <a:r>
              <a:rPr lang="zh-CN" altLang="en-US" dirty="0"/>
              <a:t>个电平：正电平、负电平和零</a:t>
            </a:r>
            <a:endParaRPr lang="zh-CN" altLang="en-US" dirty="0"/>
          </a:p>
          <a:p>
            <a:r>
              <a:rPr lang="zh-CN" altLang="en-US" dirty="0"/>
              <a:t>在每个比特间隙的中间，信号将归零</a:t>
            </a:r>
            <a:endParaRPr lang="zh-CN" altLang="en-US" dirty="0"/>
          </a:p>
          <a:p>
            <a:r>
              <a:rPr lang="zh-CN" altLang="en-US" dirty="0"/>
              <a:t>正电压到零的跳变代表</a:t>
            </a:r>
            <a:r>
              <a:rPr lang="en-US" altLang="zh-CN" dirty="0"/>
              <a:t>1</a:t>
            </a:r>
            <a:r>
              <a:rPr lang="zh-CN" altLang="en-US" dirty="0"/>
              <a:t>，负电压到零的跳变代表</a:t>
            </a:r>
            <a:r>
              <a:rPr lang="en-US" altLang="zh-CN" dirty="0"/>
              <a:t>0</a:t>
            </a:r>
            <a:r>
              <a:rPr lang="zh-CN" altLang="en-US" dirty="0"/>
              <a:t>，比特中间的跳变可用于同步</a:t>
            </a:r>
            <a:endParaRPr lang="zh-CN" altLang="en-US"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r>
              <a:rPr lang="zh-CN" altLang="en-US" dirty="0"/>
              <a:t>双相位编码</a:t>
            </a:r>
            <a:endParaRPr lang="zh-CN" altLang="en-US" dirty="0"/>
          </a:p>
        </p:txBody>
      </p:sp>
      <p:sp>
        <p:nvSpPr>
          <p:cNvPr id="406531" name="Rectangle 3"/>
          <p:cNvSpPr>
            <a:spLocks noGrp="1" noChangeArrowheads="1"/>
          </p:cNvSpPr>
          <p:nvPr>
            <p:ph idx="1"/>
          </p:nvPr>
        </p:nvSpPr>
        <p:spPr/>
        <p:txBody>
          <a:bodyPr/>
          <a:lstStyle/>
          <a:p>
            <a:r>
              <a:rPr lang="zh-CN" altLang="en-US" dirty="0"/>
              <a:t>信号在每比特间隙的中间发生改变，并不归零，转为相反的一极</a:t>
            </a:r>
            <a:endParaRPr lang="en-US" altLang="zh-CN" dirty="0"/>
          </a:p>
          <a:p>
            <a:r>
              <a:rPr lang="zh-CN" altLang="en-US" dirty="0"/>
              <a:t>每个比特中间的跳变可用于同步</a:t>
            </a:r>
            <a:endParaRPr lang="zh-CN" altLang="en-US" dirty="0"/>
          </a:p>
          <a:p>
            <a:r>
              <a:rPr lang="zh-CN" altLang="en-US" dirty="0"/>
              <a:t>双相位编码两种方式：</a:t>
            </a:r>
            <a:endParaRPr lang="zh-CN" altLang="en-US" dirty="0"/>
          </a:p>
          <a:p>
            <a:pPr lvl="1"/>
            <a:r>
              <a:rPr lang="zh-CN" altLang="en-US" dirty="0"/>
              <a:t>曼彻斯特编码（</a:t>
            </a:r>
            <a:r>
              <a:rPr lang="en-US" altLang="zh-CN" dirty="0"/>
              <a:t>MPE</a:t>
            </a:r>
            <a:r>
              <a:rPr lang="zh-CN" altLang="en-US" dirty="0"/>
              <a:t>）</a:t>
            </a:r>
            <a:endParaRPr lang="en-US" altLang="zh-CN" dirty="0"/>
          </a:p>
          <a:p>
            <a:pPr lvl="2"/>
            <a:r>
              <a:rPr lang="zh-CN" altLang="en-US" dirty="0"/>
              <a:t>在每个比特间隙中间引入跳变来表示不同的比特和同步信息。</a:t>
            </a:r>
            <a:endParaRPr lang="zh-CN" altLang="en-US" dirty="0"/>
          </a:p>
          <a:p>
            <a:pPr lvl="2"/>
            <a:r>
              <a:rPr lang="zh-CN" altLang="en-US" dirty="0"/>
              <a:t>一个负电平到正电平的跳变代表比特</a:t>
            </a:r>
            <a:r>
              <a:rPr lang="en-US" altLang="zh-CN" dirty="0"/>
              <a:t>1</a:t>
            </a:r>
            <a:r>
              <a:rPr lang="zh-CN" altLang="en-US" dirty="0"/>
              <a:t>，一个正电平到负电平的跳变代表比特</a:t>
            </a:r>
            <a:r>
              <a:rPr lang="en-US" altLang="zh-CN" dirty="0"/>
              <a:t>0</a:t>
            </a:r>
            <a:endParaRPr lang="zh-CN" altLang="en-US" dirty="0"/>
          </a:p>
          <a:p>
            <a:pPr lvl="1"/>
            <a:r>
              <a:rPr lang="zh-CN" altLang="en-US" dirty="0"/>
              <a:t>差分曼彻斯特编码（</a:t>
            </a:r>
            <a:r>
              <a:rPr lang="en-US" altLang="zh-CN" dirty="0"/>
              <a:t>DME</a:t>
            </a:r>
            <a:r>
              <a:rPr lang="zh-CN" altLang="en-US" dirty="0"/>
              <a:t>）</a:t>
            </a:r>
            <a:endParaRPr lang="en-US" altLang="zh-CN" dirty="0"/>
          </a:p>
          <a:p>
            <a:pPr lvl="2"/>
            <a:r>
              <a:rPr lang="zh-CN" altLang="en-US" dirty="0"/>
              <a:t>比特间隙中间的跳变用于携带同步信息。</a:t>
            </a:r>
            <a:endParaRPr lang="zh-CN" altLang="en-US" dirty="0"/>
          </a:p>
          <a:p>
            <a:pPr lvl="2"/>
            <a:r>
              <a:rPr lang="zh-CN" altLang="en-US" dirty="0"/>
              <a:t>每个比特间隙的开始位置有跳变代表比特</a:t>
            </a:r>
            <a:r>
              <a:rPr lang="en-US" altLang="zh-CN" dirty="0"/>
              <a:t>0</a:t>
            </a:r>
            <a:r>
              <a:rPr lang="zh-CN" altLang="en-US" dirty="0"/>
              <a:t>，没有跳变则代表比特</a:t>
            </a:r>
            <a:r>
              <a:rPr lang="en-US" altLang="zh-CN" dirty="0"/>
              <a:t>1</a:t>
            </a:r>
            <a:endParaRPr lang="zh-CN" altLang="en-US" dirty="0"/>
          </a:p>
          <a:p>
            <a:pPr lvl="2"/>
            <a:endParaRPr lang="zh-CN" altLang="en-US" dirty="0"/>
          </a:p>
        </p:txBody>
      </p:sp>
      <p:sp>
        <p:nvSpPr>
          <p:cNvPr id="6" name="灯片编号占位符 5"/>
          <p:cNvSpPr>
            <a:spLocks noGrp="1"/>
          </p:cNvSpPr>
          <p:nvPr>
            <p:ph type="sldNum" sz="quarter" idx="12"/>
          </p:nvPr>
        </p:nvSpPr>
        <p:spPr/>
        <p:txBody>
          <a:bodyPr/>
          <a:lstStyle/>
          <a:p>
            <a:fld id="{50A6D200-0239-4200-AFB4-31DC9D1929DD}" type="slidenum">
              <a:rPr lang="en-US" altLang="zh-CN"/>
            </a:fld>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Line 7"/>
          <p:cNvSpPr>
            <a:spLocks noChangeShapeType="1"/>
          </p:cNvSpPr>
          <p:nvPr/>
        </p:nvSpPr>
        <p:spPr bwMode="auto">
          <a:xfrm flipV="1">
            <a:off x="3000376" y="3753845"/>
            <a:ext cx="0" cy="20880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39" name="Rectangle 111"/>
          <p:cNvSpPr>
            <a:spLocks noGrp="1" noChangeArrowheads="1"/>
          </p:cNvSpPr>
          <p:nvPr>
            <p:ph type="title"/>
          </p:nvPr>
        </p:nvSpPr>
        <p:spPr>
          <a:noFill/>
        </p:spPr>
        <p:txBody>
          <a:bodyPr/>
          <a:lstStyle/>
          <a:p>
            <a:r>
              <a:rPr lang="en-US" altLang="zh-CN" dirty="0"/>
              <a:t>MPE </a:t>
            </a:r>
            <a:r>
              <a:rPr lang="zh-CN" altLang="en-US" dirty="0"/>
              <a:t>和</a:t>
            </a:r>
            <a:r>
              <a:rPr lang="en-US" altLang="zh-CN" dirty="0"/>
              <a:t>DME</a:t>
            </a:r>
            <a:endParaRPr lang="en-US" altLang="zh-CN" dirty="0"/>
          </a:p>
        </p:txBody>
      </p:sp>
      <p:sp>
        <p:nvSpPr>
          <p:cNvPr id="97" name="灯片编号占位符 5"/>
          <p:cNvSpPr>
            <a:spLocks noGrp="1"/>
          </p:cNvSpPr>
          <p:nvPr>
            <p:ph type="sldNum" sz="quarter" idx="12"/>
          </p:nvPr>
        </p:nvSpPr>
        <p:spPr/>
        <p:txBody>
          <a:bodyPr/>
          <a:lstStyle/>
          <a:p>
            <a:fld id="{5B9235A4-3C85-4F95-9115-3AEDAD73C645}" type="slidenum">
              <a:rPr lang="en-US" altLang="zh-CN"/>
            </a:fld>
            <a:endParaRPr lang="en-US" altLang="zh-CN" dirty="0"/>
          </a:p>
        </p:txBody>
      </p:sp>
      <p:sp>
        <p:nvSpPr>
          <p:cNvPr id="278535" name="Line 7"/>
          <p:cNvSpPr>
            <a:spLocks noChangeShapeType="1"/>
          </p:cNvSpPr>
          <p:nvPr/>
        </p:nvSpPr>
        <p:spPr bwMode="auto">
          <a:xfrm flipV="1">
            <a:off x="3000376" y="1576389"/>
            <a:ext cx="0" cy="20880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nvGrpSpPr>
          <p:cNvPr id="278561" name="Group 33"/>
          <p:cNvGrpSpPr/>
          <p:nvPr/>
        </p:nvGrpSpPr>
        <p:grpSpPr bwMode="auto">
          <a:xfrm>
            <a:off x="3000376" y="2420938"/>
            <a:ext cx="6335713" cy="1008062"/>
            <a:chOff x="930" y="1525"/>
            <a:chExt cx="3991" cy="635"/>
          </a:xfrm>
        </p:grpSpPr>
        <p:sp>
          <p:nvSpPr>
            <p:cNvPr id="278538" name="Line 10"/>
            <p:cNvSpPr>
              <a:spLocks noChangeShapeType="1"/>
            </p:cNvSpPr>
            <p:nvPr/>
          </p:nvSpPr>
          <p:spPr bwMode="auto">
            <a:xfrm>
              <a:off x="930" y="1525"/>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39" name="Line 11"/>
            <p:cNvSpPr>
              <a:spLocks noChangeShapeType="1"/>
            </p:cNvSpPr>
            <p:nvPr/>
          </p:nvSpPr>
          <p:spPr bwMode="auto">
            <a:xfrm>
              <a:off x="1202"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0" name="Line 12"/>
            <p:cNvSpPr>
              <a:spLocks noChangeShapeType="1"/>
            </p:cNvSpPr>
            <p:nvPr/>
          </p:nvSpPr>
          <p:spPr bwMode="auto">
            <a:xfrm>
              <a:off x="1202" y="2160"/>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1" name="Line 13"/>
            <p:cNvSpPr>
              <a:spLocks noChangeShapeType="1"/>
            </p:cNvSpPr>
            <p:nvPr/>
          </p:nvSpPr>
          <p:spPr bwMode="auto">
            <a:xfrm flipV="1">
              <a:off x="1701"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2" name="Line 14"/>
            <p:cNvSpPr>
              <a:spLocks noChangeShapeType="1"/>
            </p:cNvSpPr>
            <p:nvPr/>
          </p:nvSpPr>
          <p:spPr bwMode="auto">
            <a:xfrm>
              <a:off x="1701" y="1525"/>
              <a:ext cx="226"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3" name="Line 15"/>
            <p:cNvSpPr>
              <a:spLocks noChangeShapeType="1"/>
            </p:cNvSpPr>
            <p:nvPr/>
          </p:nvSpPr>
          <p:spPr bwMode="auto">
            <a:xfrm>
              <a:off x="1927"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4" name="Line 16"/>
            <p:cNvSpPr>
              <a:spLocks noChangeShapeType="1"/>
            </p:cNvSpPr>
            <p:nvPr/>
          </p:nvSpPr>
          <p:spPr bwMode="auto">
            <a:xfrm>
              <a:off x="1927" y="2160"/>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5" name="Line 17"/>
            <p:cNvSpPr>
              <a:spLocks noChangeShapeType="1"/>
            </p:cNvSpPr>
            <p:nvPr/>
          </p:nvSpPr>
          <p:spPr bwMode="auto">
            <a:xfrm flipV="1">
              <a:off x="2154"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6" name="Line 18"/>
            <p:cNvSpPr>
              <a:spLocks noChangeShapeType="1"/>
            </p:cNvSpPr>
            <p:nvPr/>
          </p:nvSpPr>
          <p:spPr bwMode="auto">
            <a:xfrm>
              <a:off x="2154" y="1525"/>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7" name="Line 19"/>
            <p:cNvSpPr>
              <a:spLocks noChangeShapeType="1"/>
            </p:cNvSpPr>
            <p:nvPr/>
          </p:nvSpPr>
          <p:spPr bwMode="auto">
            <a:xfrm>
              <a:off x="2653"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8" name="Line 20"/>
            <p:cNvSpPr>
              <a:spLocks noChangeShapeType="1"/>
            </p:cNvSpPr>
            <p:nvPr/>
          </p:nvSpPr>
          <p:spPr bwMode="auto">
            <a:xfrm>
              <a:off x="2653" y="2160"/>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49" name="Line 21"/>
            <p:cNvSpPr>
              <a:spLocks noChangeShapeType="1"/>
            </p:cNvSpPr>
            <p:nvPr/>
          </p:nvSpPr>
          <p:spPr bwMode="auto">
            <a:xfrm flipV="1">
              <a:off x="2925"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0" name="Line 22"/>
            <p:cNvSpPr>
              <a:spLocks noChangeShapeType="1"/>
            </p:cNvSpPr>
            <p:nvPr/>
          </p:nvSpPr>
          <p:spPr bwMode="auto">
            <a:xfrm>
              <a:off x="2925" y="1525"/>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1" name="Line 23"/>
            <p:cNvSpPr>
              <a:spLocks noChangeShapeType="1"/>
            </p:cNvSpPr>
            <p:nvPr/>
          </p:nvSpPr>
          <p:spPr bwMode="auto">
            <a:xfrm>
              <a:off x="3152"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2" name="Line 24"/>
            <p:cNvSpPr>
              <a:spLocks noChangeShapeType="1"/>
            </p:cNvSpPr>
            <p:nvPr/>
          </p:nvSpPr>
          <p:spPr bwMode="auto">
            <a:xfrm>
              <a:off x="3152" y="2160"/>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3" name="Line 25"/>
            <p:cNvSpPr>
              <a:spLocks noChangeShapeType="1"/>
            </p:cNvSpPr>
            <p:nvPr/>
          </p:nvSpPr>
          <p:spPr bwMode="auto">
            <a:xfrm flipV="1">
              <a:off x="3424"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4" name="Line 26"/>
            <p:cNvSpPr>
              <a:spLocks noChangeShapeType="1"/>
            </p:cNvSpPr>
            <p:nvPr/>
          </p:nvSpPr>
          <p:spPr bwMode="auto">
            <a:xfrm>
              <a:off x="3424" y="1525"/>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5" name="Line 27"/>
            <p:cNvSpPr>
              <a:spLocks noChangeShapeType="1"/>
            </p:cNvSpPr>
            <p:nvPr/>
          </p:nvSpPr>
          <p:spPr bwMode="auto">
            <a:xfrm>
              <a:off x="3651"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6" name="Line 28"/>
            <p:cNvSpPr>
              <a:spLocks noChangeShapeType="1"/>
            </p:cNvSpPr>
            <p:nvPr/>
          </p:nvSpPr>
          <p:spPr bwMode="auto">
            <a:xfrm>
              <a:off x="3651" y="2160"/>
              <a:ext cx="544"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7" name="Line 29"/>
            <p:cNvSpPr>
              <a:spLocks noChangeShapeType="1"/>
            </p:cNvSpPr>
            <p:nvPr/>
          </p:nvSpPr>
          <p:spPr bwMode="auto">
            <a:xfrm flipV="1">
              <a:off x="4195"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8" name="Line 30"/>
            <p:cNvSpPr>
              <a:spLocks noChangeShapeType="1"/>
            </p:cNvSpPr>
            <p:nvPr/>
          </p:nvSpPr>
          <p:spPr bwMode="auto">
            <a:xfrm>
              <a:off x="4195" y="1525"/>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59" name="Line 31"/>
            <p:cNvSpPr>
              <a:spLocks noChangeShapeType="1"/>
            </p:cNvSpPr>
            <p:nvPr/>
          </p:nvSpPr>
          <p:spPr bwMode="auto">
            <a:xfrm>
              <a:off x="4694" y="1525"/>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60" name="Line 32"/>
            <p:cNvSpPr>
              <a:spLocks noChangeShapeType="1"/>
            </p:cNvSpPr>
            <p:nvPr/>
          </p:nvSpPr>
          <p:spPr bwMode="auto">
            <a:xfrm>
              <a:off x="4694" y="2160"/>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278536" name="Line 8"/>
          <p:cNvSpPr>
            <a:spLocks noChangeShapeType="1"/>
          </p:cNvSpPr>
          <p:nvPr/>
        </p:nvSpPr>
        <p:spPr bwMode="auto">
          <a:xfrm>
            <a:off x="3000376" y="2924175"/>
            <a:ext cx="6551613" cy="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8" name="Line 60"/>
          <p:cNvSpPr>
            <a:spLocks noChangeShapeType="1"/>
          </p:cNvSpPr>
          <p:nvPr/>
        </p:nvSpPr>
        <p:spPr bwMode="auto">
          <a:xfrm>
            <a:off x="3863975"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9" name="Line 61"/>
          <p:cNvSpPr>
            <a:spLocks noChangeShapeType="1"/>
          </p:cNvSpPr>
          <p:nvPr/>
        </p:nvSpPr>
        <p:spPr bwMode="auto">
          <a:xfrm>
            <a:off x="4583113"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0" name="Line 62"/>
          <p:cNvSpPr>
            <a:spLocks noChangeShapeType="1"/>
          </p:cNvSpPr>
          <p:nvPr/>
        </p:nvSpPr>
        <p:spPr bwMode="auto">
          <a:xfrm>
            <a:off x="5375275"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1" name="Line 63"/>
          <p:cNvSpPr>
            <a:spLocks noChangeShapeType="1"/>
          </p:cNvSpPr>
          <p:nvPr/>
        </p:nvSpPr>
        <p:spPr bwMode="auto">
          <a:xfrm>
            <a:off x="6167438"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2" name="Line 64"/>
          <p:cNvSpPr>
            <a:spLocks noChangeShapeType="1"/>
          </p:cNvSpPr>
          <p:nvPr/>
        </p:nvSpPr>
        <p:spPr bwMode="auto">
          <a:xfrm>
            <a:off x="6959600"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3" name="Line 65"/>
          <p:cNvSpPr>
            <a:spLocks noChangeShapeType="1"/>
          </p:cNvSpPr>
          <p:nvPr/>
        </p:nvSpPr>
        <p:spPr bwMode="auto">
          <a:xfrm>
            <a:off x="7751763"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4" name="Line 66"/>
          <p:cNvSpPr>
            <a:spLocks noChangeShapeType="1"/>
          </p:cNvSpPr>
          <p:nvPr/>
        </p:nvSpPr>
        <p:spPr bwMode="auto">
          <a:xfrm>
            <a:off x="8543925"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5" name="Line 67"/>
          <p:cNvSpPr>
            <a:spLocks noChangeShapeType="1"/>
          </p:cNvSpPr>
          <p:nvPr/>
        </p:nvSpPr>
        <p:spPr bwMode="auto">
          <a:xfrm>
            <a:off x="9336088" y="1628776"/>
            <a:ext cx="0" cy="4105275"/>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nvGrpSpPr>
          <p:cNvPr id="278636" name="Group 108"/>
          <p:cNvGrpSpPr/>
          <p:nvPr/>
        </p:nvGrpSpPr>
        <p:grpSpPr bwMode="auto">
          <a:xfrm>
            <a:off x="3340100" y="1520826"/>
            <a:ext cx="5803900" cy="369888"/>
            <a:chOff x="1144" y="958"/>
            <a:chExt cx="3656" cy="233"/>
          </a:xfrm>
        </p:grpSpPr>
        <p:sp>
          <p:nvSpPr>
            <p:cNvPr id="278599" name="Text Box 71"/>
            <p:cNvSpPr txBox="1">
              <a:spLocks noChangeArrowheads="1"/>
            </p:cNvSpPr>
            <p:nvPr/>
          </p:nvSpPr>
          <p:spPr bwMode="auto">
            <a:xfrm>
              <a:off x="1144"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278600" name="Text Box 72"/>
            <p:cNvSpPr txBox="1">
              <a:spLocks noChangeArrowheads="1"/>
            </p:cNvSpPr>
            <p:nvPr/>
          </p:nvSpPr>
          <p:spPr bwMode="auto">
            <a:xfrm>
              <a:off x="1610"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278601" name="Text Box 73"/>
            <p:cNvSpPr txBox="1">
              <a:spLocks noChangeArrowheads="1"/>
            </p:cNvSpPr>
            <p:nvPr/>
          </p:nvSpPr>
          <p:spPr bwMode="auto">
            <a:xfrm>
              <a:off x="2064"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278602" name="Text Box 74"/>
            <p:cNvSpPr txBox="1">
              <a:spLocks noChangeArrowheads="1"/>
            </p:cNvSpPr>
            <p:nvPr/>
          </p:nvSpPr>
          <p:spPr bwMode="auto">
            <a:xfrm>
              <a:off x="4105"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278603" name="Text Box 75"/>
            <p:cNvSpPr txBox="1">
              <a:spLocks noChangeArrowheads="1"/>
            </p:cNvSpPr>
            <p:nvPr/>
          </p:nvSpPr>
          <p:spPr bwMode="auto">
            <a:xfrm>
              <a:off x="2608"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278604" name="Text Box 76"/>
            <p:cNvSpPr txBox="1">
              <a:spLocks noChangeArrowheads="1"/>
            </p:cNvSpPr>
            <p:nvPr/>
          </p:nvSpPr>
          <p:spPr bwMode="auto">
            <a:xfrm>
              <a:off x="3061"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278605" name="Text Box 77"/>
            <p:cNvSpPr txBox="1">
              <a:spLocks noChangeArrowheads="1"/>
            </p:cNvSpPr>
            <p:nvPr/>
          </p:nvSpPr>
          <p:spPr bwMode="auto">
            <a:xfrm>
              <a:off x="3560"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278606" name="Text Box 78"/>
            <p:cNvSpPr txBox="1">
              <a:spLocks noChangeArrowheads="1"/>
            </p:cNvSpPr>
            <p:nvPr/>
          </p:nvSpPr>
          <p:spPr bwMode="auto">
            <a:xfrm>
              <a:off x="4604"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grpSp>
      <p:sp>
        <p:nvSpPr>
          <p:cNvPr id="278607" name="Text Box 79"/>
          <p:cNvSpPr txBox="1">
            <a:spLocks noChangeArrowheads="1"/>
          </p:cNvSpPr>
          <p:nvPr/>
        </p:nvSpPr>
        <p:spPr bwMode="auto">
          <a:xfrm>
            <a:off x="9409113" y="2971801"/>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时间</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sp>
        <p:nvSpPr>
          <p:cNvPr id="278608" name="Text Box 80"/>
          <p:cNvSpPr txBox="1">
            <a:spLocks noChangeArrowheads="1"/>
          </p:cNvSpPr>
          <p:nvPr/>
        </p:nvSpPr>
        <p:spPr bwMode="auto">
          <a:xfrm>
            <a:off x="9409113" y="4556126"/>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时间</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grpSp>
        <p:nvGrpSpPr>
          <p:cNvPr id="278611" name="Group 83"/>
          <p:cNvGrpSpPr/>
          <p:nvPr/>
        </p:nvGrpSpPr>
        <p:grpSpPr bwMode="auto">
          <a:xfrm>
            <a:off x="3000376" y="4005263"/>
            <a:ext cx="6335713" cy="1008062"/>
            <a:chOff x="930" y="2523"/>
            <a:chExt cx="3991" cy="635"/>
          </a:xfrm>
        </p:grpSpPr>
        <p:sp>
          <p:nvSpPr>
            <p:cNvPr id="278565" name="Line 37"/>
            <p:cNvSpPr>
              <a:spLocks noChangeShapeType="1"/>
            </p:cNvSpPr>
            <p:nvPr/>
          </p:nvSpPr>
          <p:spPr bwMode="auto">
            <a:xfrm flipV="1">
              <a:off x="930" y="3158"/>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66" name="Line 38"/>
            <p:cNvSpPr>
              <a:spLocks noChangeShapeType="1"/>
            </p:cNvSpPr>
            <p:nvPr/>
          </p:nvSpPr>
          <p:spPr bwMode="auto">
            <a:xfrm flipV="1">
              <a:off x="1202"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67" name="Line 39"/>
            <p:cNvSpPr>
              <a:spLocks noChangeShapeType="1"/>
            </p:cNvSpPr>
            <p:nvPr/>
          </p:nvSpPr>
          <p:spPr bwMode="auto">
            <a:xfrm flipV="1">
              <a:off x="1202" y="2523"/>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68" name="Line 40"/>
            <p:cNvSpPr>
              <a:spLocks noChangeShapeType="1"/>
            </p:cNvSpPr>
            <p:nvPr/>
          </p:nvSpPr>
          <p:spPr bwMode="auto">
            <a:xfrm>
              <a:off x="1701"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69" name="Line 41"/>
            <p:cNvSpPr>
              <a:spLocks noChangeShapeType="1"/>
            </p:cNvSpPr>
            <p:nvPr/>
          </p:nvSpPr>
          <p:spPr bwMode="auto">
            <a:xfrm flipV="1">
              <a:off x="1701" y="3158"/>
              <a:ext cx="453"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0" name="Line 42"/>
            <p:cNvSpPr>
              <a:spLocks noChangeShapeType="1"/>
            </p:cNvSpPr>
            <p:nvPr/>
          </p:nvSpPr>
          <p:spPr bwMode="auto">
            <a:xfrm flipV="1">
              <a:off x="2154"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1" name="Line 43"/>
            <p:cNvSpPr>
              <a:spLocks noChangeShapeType="1"/>
            </p:cNvSpPr>
            <p:nvPr/>
          </p:nvSpPr>
          <p:spPr bwMode="auto">
            <a:xfrm flipV="1">
              <a:off x="2154" y="2523"/>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2" name="Line 44"/>
            <p:cNvSpPr>
              <a:spLocks noChangeShapeType="1"/>
            </p:cNvSpPr>
            <p:nvPr/>
          </p:nvSpPr>
          <p:spPr bwMode="auto">
            <a:xfrm>
              <a:off x="2426"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3" name="Line 45"/>
            <p:cNvSpPr>
              <a:spLocks noChangeShapeType="1"/>
            </p:cNvSpPr>
            <p:nvPr/>
          </p:nvSpPr>
          <p:spPr bwMode="auto">
            <a:xfrm flipV="1">
              <a:off x="2426" y="3158"/>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4" name="Line 46"/>
            <p:cNvSpPr>
              <a:spLocks noChangeShapeType="1"/>
            </p:cNvSpPr>
            <p:nvPr/>
          </p:nvSpPr>
          <p:spPr bwMode="auto">
            <a:xfrm flipV="1">
              <a:off x="2653"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5" name="Line 47"/>
            <p:cNvSpPr>
              <a:spLocks noChangeShapeType="1"/>
            </p:cNvSpPr>
            <p:nvPr/>
          </p:nvSpPr>
          <p:spPr bwMode="auto">
            <a:xfrm flipV="1">
              <a:off x="2653" y="2523"/>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6" name="Line 48"/>
            <p:cNvSpPr>
              <a:spLocks noChangeShapeType="1"/>
            </p:cNvSpPr>
            <p:nvPr/>
          </p:nvSpPr>
          <p:spPr bwMode="auto">
            <a:xfrm>
              <a:off x="2925"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7" name="Line 49"/>
            <p:cNvSpPr>
              <a:spLocks noChangeShapeType="1"/>
            </p:cNvSpPr>
            <p:nvPr/>
          </p:nvSpPr>
          <p:spPr bwMode="auto">
            <a:xfrm flipV="1">
              <a:off x="2925" y="3158"/>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8" name="Line 50"/>
            <p:cNvSpPr>
              <a:spLocks noChangeShapeType="1"/>
            </p:cNvSpPr>
            <p:nvPr/>
          </p:nvSpPr>
          <p:spPr bwMode="auto">
            <a:xfrm flipV="1">
              <a:off x="3152"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79" name="Line 51"/>
            <p:cNvSpPr>
              <a:spLocks noChangeShapeType="1"/>
            </p:cNvSpPr>
            <p:nvPr/>
          </p:nvSpPr>
          <p:spPr bwMode="auto">
            <a:xfrm flipV="1">
              <a:off x="3152" y="2523"/>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0" name="Line 52"/>
            <p:cNvSpPr>
              <a:spLocks noChangeShapeType="1"/>
            </p:cNvSpPr>
            <p:nvPr/>
          </p:nvSpPr>
          <p:spPr bwMode="auto">
            <a:xfrm>
              <a:off x="3424"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1" name="Line 53"/>
            <p:cNvSpPr>
              <a:spLocks noChangeShapeType="1"/>
            </p:cNvSpPr>
            <p:nvPr/>
          </p:nvSpPr>
          <p:spPr bwMode="auto">
            <a:xfrm flipV="1">
              <a:off x="3424" y="3158"/>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2" name="Line 54"/>
            <p:cNvSpPr>
              <a:spLocks noChangeShapeType="1"/>
            </p:cNvSpPr>
            <p:nvPr/>
          </p:nvSpPr>
          <p:spPr bwMode="auto">
            <a:xfrm flipV="1">
              <a:off x="3651"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3" name="Line 55"/>
            <p:cNvSpPr>
              <a:spLocks noChangeShapeType="1"/>
            </p:cNvSpPr>
            <p:nvPr/>
          </p:nvSpPr>
          <p:spPr bwMode="auto">
            <a:xfrm flipV="1">
              <a:off x="3651" y="2523"/>
              <a:ext cx="544"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4" name="Line 56"/>
            <p:cNvSpPr>
              <a:spLocks noChangeShapeType="1"/>
            </p:cNvSpPr>
            <p:nvPr/>
          </p:nvSpPr>
          <p:spPr bwMode="auto">
            <a:xfrm>
              <a:off x="4195"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5" name="Line 57"/>
            <p:cNvSpPr>
              <a:spLocks noChangeShapeType="1"/>
            </p:cNvSpPr>
            <p:nvPr/>
          </p:nvSpPr>
          <p:spPr bwMode="auto">
            <a:xfrm flipV="1">
              <a:off x="4195" y="3158"/>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6" name="Line 58"/>
            <p:cNvSpPr>
              <a:spLocks noChangeShapeType="1"/>
            </p:cNvSpPr>
            <p:nvPr/>
          </p:nvSpPr>
          <p:spPr bwMode="auto">
            <a:xfrm flipV="1">
              <a:off x="4422"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87" name="Line 59"/>
            <p:cNvSpPr>
              <a:spLocks noChangeShapeType="1"/>
            </p:cNvSpPr>
            <p:nvPr/>
          </p:nvSpPr>
          <p:spPr bwMode="auto">
            <a:xfrm flipV="1">
              <a:off x="4422" y="2523"/>
              <a:ext cx="27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596" name="Line 68"/>
            <p:cNvSpPr>
              <a:spLocks noChangeShapeType="1"/>
            </p:cNvSpPr>
            <p:nvPr/>
          </p:nvSpPr>
          <p:spPr bwMode="auto">
            <a:xfrm flipV="1">
              <a:off x="930"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09" name="Line 81"/>
            <p:cNvSpPr>
              <a:spLocks noChangeShapeType="1"/>
            </p:cNvSpPr>
            <p:nvPr/>
          </p:nvSpPr>
          <p:spPr bwMode="auto">
            <a:xfrm flipV="1">
              <a:off x="4694" y="2523"/>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10" name="Line 82"/>
            <p:cNvSpPr>
              <a:spLocks noChangeShapeType="1"/>
            </p:cNvSpPr>
            <p:nvPr/>
          </p:nvSpPr>
          <p:spPr bwMode="auto">
            <a:xfrm flipV="1">
              <a:off x="4694" y="3158"/>
              <a:ext cx="227"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278612" name="Text Box 84"/>
          <p:cNvSpPr txBox="1">
            <a:spLocks noChangeArrowheads="1"/>
          </p:cNvSpPr>
          <p:nvPr/>
        </p:nvSpPr>
        <p:spPr bwMode="auto">
          <a:xfrm>
            <a:off x="2279650" y="1027114"/>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振幅</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grpSp>
        <p:nvGrpSpPr>
          <p:cNvPr id="278620" name="Group 92"/>
          <p:cNvGrpSpPr/>
          <p:nvPr/>
        </p:nvGrpSpPr>
        <p:grpSpPr bwMode="auto">
          <a:xfrm>
            <a:off x="5375275" y="1052513"/>
            <a:ext cx="431800" cy="431800"/>
            <a:chOff x="2154" y="663"/>
            <a:chExt cx="272" cy="272"/>
          </a:xfrm>
        </p:grpSpPr>
        <p:sp>
          <p:nvSpPr>
            <p:cNvPr id="278613" name="Line 85"/>
            <p:cNvSpPr>
              <a:spLocks noChangeShapeType="1"/>
            </p:cNvSpPr>
            <p:nvPr/>
          </p:nvSpPr>
          <p:spPr bwMode="auto">
            <a:xfrm>
              <a:off x="2154" y="663"/>
              <a:ext cx="136"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14" name="Line 86"/>
            <p:cNvSpPr>
              <a:spLocks noChangeShapeType="1"/>
            </p:cNvSpPr>
            <p:nvPr/>
          </p:nvSpPr>
          <p:spPr bwMode="auto">
            <a:xfrm>
              <a:off x="2290" y="663"/>
              <a:ext cx="0" cy="272"/>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15" name="Line 87"/>
            <p:cNvSpPr>
              <a:spLocks noChangeShapeType="1"/>
            </p:cNvSpPr>
            <p:nvPr/>
          </p:nvSpPr>
          <p:spPr bwMode="auto">
            <a:xfrm>
              <a:off x="2290" y="935"/>
              <a:ext cx="136"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278621" name="Group 93"/>
          <p:cNvGrpSpPr/>
          <p:nvPr/>
        </p:nvGrpSpPr>
        <p:grpSpPr bwMode="auto">
          <a:xfrm flipV="1">
            <a:off x="6959600" y="1052513"/>
            <a:ext cx="431800" cy="431800"/>
            <a:chOff x="2154" y="663"/>
            <a:chExt cx="272" cy="272"/>
          </a:xfrm>
        </p:grpSpPr>
        <p:sp>
          <p:nvSpPr>
            <p:cNvPr id="278622" name="Line 94"/>
            <p:cNvSpPr>
              <a:spLocks noChangeShapeType="1"/>
            </p:cNvSpPr>
            <p:nvPr/>
          </p:nvSpPr>
          <p:spPr bwMode="auto">
            <a:xfrm>
              <a:off x="2154" y="663"/>
              <a:ext cx="136"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23" name="Line 95"/>
            <p:cNvSpPr>
              <a:spLocks noChangeShapeType="1"/>
            </p:cNvSpPr>
            <p:nvPr/>
          </p:nvSpPr>
          <p:spPr bwMode="auto">
            <a:xfrm>
              <a:off x="2290" y="663"/>
              <a:ext cx="0" cy="272"/>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24" name="Line 96"/>
            <p:cNvSpPr>
              <a:spLocks noChangeShapeType="1"/>
            </p:cNvSpPr>
            <p:nvPr/>
          </p:nvSpPr>
          <p:spPr bwMode="auto">
            <a:xfrm>
              <a:off x="2290" y="935"/>
              <a:ext cx="136"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278625" name="Text Box 97"/>
          <p:cNvSpPr txBox="1">
            <a:spLocks noChangeArrowheads="1"/>
          </p:cNvSpPr>
          <p:nvPr/>
        </p:nvSpPr>
        <p:spPr bwMode="auto">
          <a:xfrm>
            <a:off x="4990716" y="1077557"/>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278626" name="Text Box 98"/>
          <p:cNvSpPr txBox="1">
            <a:spLocks noChangeArrowheads="1"/>
          </p:cNvSpPr>
          <p:nvPr/>
        </p:nvSpPr>
        <p:spPr bwMode="auto">
          <a:xfrm>
            <a:off x="6600826" y="1077557"/>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278627" name="Line 99"/>
          <p:cNvSpPr>
            <a:spLocks noChangeShapeType="1"/>
          </p:cNvSpPr>
          <p:nvPr/>
        </p:nvSpPr>
        <p:spPr bwMode="auto">
          <a:xfrm flipH="1" flipV="1">
            <a:off x="3000376" y="4724400"/>
            <a:ext cx="1655763" cy="10096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28" name="Line 100"/>
          <p:cNvSpPr>
            <a:spLocks noChangeShapeType="1"/>
          </p:cNvSpPr>
          <p:nvPr/>
        </p:nvSpPr>
        <p:spPr bwMode="auto">
          <a:xfrm flipH="1" flipV="1">
            <a:off x="5375276" y="4724400"/>
            <a:ext cx="576263" cy="10096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29" name="Line 101"/>
          <p:cNvSpPr>
            <a:spLocks noChangeShapeType="1"/>
          </p:cNvSpPr>
          <p:nvPr/>
        </p:nvSpPr>
        <p:spPr bwMode="auto">
          <a:xfrm flipH="1" flipV="1">
            <a:off x="6167438" y="4724400"/>
            <a:ext cx="576262" cy="10096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30" name="Line 102"/>
          <p:cNvSpPr>
            <a:spLocks noChangeShapeType="1"/>
          </p:cNvSpPr>
          <p:nvPr/>
        </p:nvSpPr>
        <p:spPr bwMode="auto">
          <a:xfrm flipV="1">
            <a:off x="8112125" y="4724400"/>
            <a:ext cx="431800" cy="10096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31" name="Line 103"/>
          <p:cNvSpPr>
            <a:spLocks noChangeShapeType="1"/>
          </p:cNvSpPr>
          <p:nvPr/>
        </p:nvSpPr>
        <p:spPr bwMode="auto">
          <a:xfrm flipH="1" flipV="1">
            <a:off x="6959601" y="4724400"/>
            <a:ext cx="576263" cy="10096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32" name="Text Box 104"/>
          <p:cNvSpPr txBox="1">
            <a:spLocks noChangeArrowheads="1"/>
          </p:cNvSpPr>
          <p:nvPr/>
        </p:nvSpPr>
        <p:spPr bwMode="auto">
          <a:xfrm>
            <a:off x="2135189" y="2708276"/>
            <a:ext cx="7762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微软雅黑 Light" panose="020B0502040204020203" pitchFamily="34" charset="-122"/>
              </a:rPr>
              <a:t>MPE</a:t>
            </a:r>
            <a:endParaRPr lang="en-US" altLang="zh-CN" dirty="0">
              <a:latin typeface="微软雅黑 Light" panose="020B0502040204020203" pitchFamily="34" charset="-122"/>
            </a:endParaRPr>
          </a:p>
        </p:txBody>
      </p:sp>
      <p:sp>
        <p:nvSpPr>
          <p:cNvPr id="278633" name="Text Box 105"/>
          <p:cNvSpPr txBox="1">
            <a:spLocks noChangeArrowheads="1"/>
          </p:cNvSpPr>
          <p:nvPr/>
        </p:nvSpPr>
        <p:spPr bwMode="auto">
          <a:xfrm>
            <a:off x="2135189" y="4292601"/>
            <a:ext cx="7762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微软雅黑 Light" panose="020B0502040204020203" pitchFamily="34" charset="-122"/>
              </a:rPr>
              <a:t>DME</a:t>
            </a:r>
            <a:endParaRPr lang="en-US" altLang="zh-CN" dirty="0">
              <a:latin typeface="微软雅黑 Light" panose="020B0502040204020203" pitchFamily="34" charset="-122"/>
            </a:endParaRPr>
          </a:p>
        </p:txBody>
      </p:sp>
      <p:sp>
        <p:nvSpPr>
          <p:cNvPr id="278635" name="Line 107"/>
          <p:cNvSpPr>
            <a:spLocks noChangeShapeType="1"/>
          </p:cNvSpPr>
          <p:nvPr/>
        </p:nvSpPr>
        <p:spPr bwMode="auto">
          <a:xfrm>
            <a:off x="3000376" y="4581525"/>
            <a:ext cx="6551613" cy="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78638" name="AutoShape 110"/>
          <p:cNvSpPr>
            <a:spLocks noChangeArrowheads="1"/>
          </p:cNvSpPr>
          <p:nvPr/>
        </p:nvSpPr>
        <p:spPr bwMode="auto">
          <a:xfrm>
            <a:off x="4440238" y="5734050"/>
            <a:ext cx="3960812" cy="431800"/>
          </a:xfrm>
          <a:prstGeom prst="roundRect">
            <a:avLst>
              <a:gd name="adj" fmla="val 16667"/>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latin typeface="微软雅黑 Light" panose="020B0502040204020203" pitchFamily="34" charset="-122"/>
                <a:ea typeface="微软雅黑 Light" panose="020B0502040204020203" pitchFamily="34" charset="-122"/>
              </a:rPr>
              <a:t>比特间隙开始时刻发生跳变代表</a:t>
            </a:r>
            <a:r>
              <a:rPr lang="en-US" altLang="zh-CN" dirty="0">
                <a:latin typeface="微软雅黑 Light" panose="020B0502040204020203" pitchFamily="34" charset="-122"/>
                <a:ea typeface="微软雅黑 Light" panose="020B0502040204020203" pitchFamily="34" charset="-122"/>
              </a:rPr>
              <a:t>0</a:t>
            </a:r>
            <a:endParaRPr lang="en-US" altLang="zh-CN"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r>
              <a:rPr lang="en-US" altLang="zh-CN" dirty="0"/>
              <a:t>MPE</a:t>
            </a:r>
            <a:r>
              <a:rPr lang="zh-CN" altLang="en-US" dirty="0"/>
              <a:t>信号的生成</a:t>
            </a:r>
            <a:endParaRPr lang="en-US" altLang="zh-CN" dirty="0"/>
          </a:p>
        </p:txBody>
      </p:sp>
      <p:sp>
        <p:nvSpPr>
          <p:cNvPr id="8" name="灯片编号占位符 5"/>
          <p:cNvSpPr>
            <a:spLocks noGrp="1"/>
          </p:cNvSpPr>
          <p:nvPr>
            <p:ph type="sldNum" sz="quarter" idx="12"/>
          </p:nvPr>
        </p:nvSpPr>
        <p:spPr/>
        <p:txBody>
          <a:bodyPr/>
          <a:lstStyle/>
          <a:p>
            <a:fld id="{96D739E7-686F-4810-B538-5779964C5A66}" type="slidenum">
              <a:rPr lang="en-US" altLang="zh-CN"/>
            </a:fld>
            <a:endParaRPr lang="en-US" altLang="zh-CN" dirty="0"/>
          </a:p>
        </p:txBody>
      </p:sp>
      <p:pic>
        <p:nvPicPr>
          <p:cNvPr id="605189" name="Picture 5" descr="File:Manchester encoding both conventions.sv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089" y="1196976"/>
            <a:ext cx="7343775" cy="347662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bwMode="auto">
          <a:xfrm>
            <a:off x="2730184" y="5137804"/>
            <a:ext cx="1684020" cy="52322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400" dirty="0">
                <a:latin typeface="微软雅黑 Light" panose="020B0502040204020203" pitchFamily="34" charset="-122"/>
                <a:ea typeface="微软雅黑 Light" panose="020B0502040204020203" pitchFamily="34" charset="-122"/>
              </a:rPr>
              <a:t>时钟与数据</a:t>
            </a:r>
            <a:endParaRPr lang="en-US" altLang="zh-CN" sz="1400" dirty="0">
              <a:latin typeface="微软雅黑 Light" panose="020B0502040204020203" pitchFamily="34" charset="-122"/>
              <a:ea typeface="微软雅黑 Light" panose="020B0502040204020203" pitchFamily="34" charset="-122"/>
            </a:endParaRPr>
          </a:p>
          <a:p>
            <a:pPr algn="ctr"/>
            <a:r>
              <a:rPr lang="en-US" altLang="zh-CN" sz="1400" dirty="0">
                <a:latin typeface="微软雅黑 Light" panose="020B0502040204020203" pitchFamily="34" charset="-122"/>
                <a:ea typeface="微软雅黑 Light" panose="020B0502040204020203" pitchFamily="34" charset="-122"/>
              </a:rPr>
              <a:t>XOR</a:t>
            </a:r>
            <a:r>
              <a:rPr lang="zh-CN" altLang="en-US" sz="1400" dirty="0">
                <a:latin typeface="微软雅黑 Light" panose="020B0502040204020203" pitchFamily="34" charset="-122"/>
                <a:ea typeface="微软雅黑 Light" panose="020B0502040204020203" pitchFamily="34" charset="-122"/>
              </a:rPr>
              <a:t>运算</a:t>
            </a:r>
            <a:endParaRPr lang="en-US" altLang="zh-CN" sz="1400" dirty="0">
              <a:latin typeface="微软雅黑 Light" panose="020B0502040204020203" pitchFamily="34" charset="-122"/>
              <a:ea typeface="微软雅黑 Light" panose="020B0502040204020203" pitchFamily="34" charset="-122"/>
            </a:endParaRPr>
          </a:p>
        </p:txBody>
      </p:sp>
      <p:graphicFrame>
        <p:nvGraphicFramePr>
          <p:cNvPr id="3" name="表格 3"/>
          <p:cNvGraphicFramePr>
            <a:graphicFrameLocks noGrp="1"/>
          </p:cNvGraphicFramePr>
          <p:nvPr/>
        </p:nvGraphicFramePr>
        <p:xfrm>
          <a:off x="4567557" y="4764237"/>
          <a:ext cx="4363083" cy="1676400"/>
        </p:xfrm>
        <a:graphic>
          <a:graphicData uri="http://schemas.openxmlformats.org/drawingml/2006/table">
            <a:tbl>
              <a:tblPr firstRow="1" bandRow="1">
                <a:tableStyleId>{5C22544A-7EE6-4342-B048-85BDC9FD1C3A}</a:tableStyleId>
              </a:tblPr>
              <a:tblGrid>
                <a:gridCol w="1454361"/>
                <a:gridCol w="1582842"/>
                <a:gridCol w="1325880"/>
              </a:tblGrid>
              <a:tr h="263144">
                <a:tc>
                  <a:txBody>
                    <a:bodyPr/>
                    <a:lstStyle/>
                    <a:p>
                      <a:pPr algn="ctr"/>
                      <a:r>
                        <a:rPr lang="zh-CN" altLang="en-US" sz="1600" b="0" dirty="0">
                          <a:solidFill>
                            <a:schemeClr val="tx1"/>
                          </a:solidFill>
                          <a:latin typeface="微软雅黑 Light" panose="020B0502040204020203" pitchFamily="34" charset="-122"/>
                          <a:ea typeface="微软雅黑 Light" panose="020B0502040204020203" pitchFamily="34" charset="-122"/>
                        </a:rPr>
                        <a:t>时钟</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zh-CN" altLang="en-US" sz="1600" b="0" dirty="0">
                          <a:solidFill>
                            <a:schemeClr val="tx1"/>
                          </a:solidFill>
                          <a:latin typeface="微软雅黑 Light" panose="020B0502040204020203" pitchFamily="34" charset="-122"/>
                          <a:ea typeface="微软雅黑 Light" panose="020B0502040204020203" pitchFamily="34" charset="-122"/>
                        </a:rPr>
                        <a:t>数据</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zh-CN" altLang="en-US" sz="1600" b="0" dirty="0">
                          <a:solidFill>
                            <a:schemeClr val="tx1"/>
                          </a:solidFill>
                          <a:latin typeface="微软雅黑 Light" panose="020B0502040204020203" pitchFamily="34" charset="-122"/>
                          <a:ea typeface="微软雅黑 Light" panose="020B0502040204020203" pitchFamily="34" charset="-122"/>
                        </a:rPr>
                        <a:t>信号</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r>
              <a:tr h="263144">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0</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0</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0</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r>
              <a:tr h="263144">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1</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0</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1</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r>
              <a:tr h="263144">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0</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1</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1</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r>
              <a:tr h="263144">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1</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1</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c>
                  <a:txBody>
                    <a:bodyPr/>
                    <a:lstStyle/>
                    <a:p>
                      <a:pPr algn="ctr"/>
                      <a:r>
                        <a:rPr lang="en-US" altLang="zh-CN" sz="1600" b="0" dirty="0">
                          <a:solidFill>
                            <a:schemeClr val="tx1"/>
                          </a:solidFill>
                          <a:latin typeface="微软雅黑 Light" panose="020B0502040204020203" pitchFamily="34" charset="-122"/>
                          <a:ea typeface="微软雅黑 Light" panose="020B0502040204020203" pitchFamily="34" charset="-122"/>
                        </a:rPr>
                        <a:t>0</a:t>
                      </a:r>
                      <a:endParaRPr lang="zh-CN" altLang="en-US" sz="1600" b="0" dirty="0">
                        <a:solidFill>
                          <a:schemeClr val="tx1"/>
                        </a:solidFill>
                        <a:latin typeface="微软雅黑 Light" panose="020B0502040204020203" pitchFamily="34" charset="-122"/>
                        <a:ea typeface="微软雅黑 Light" panose="020B0502040204020203" pitchFamily="34" charset="-122"/>
                      </a:endParaRPr>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r>
              <a:rPr lang="zh-CN" altLang="en-US" dirty="0"/>
              <a:t>双极性编码</a:t>
            </a:r>
            <a:endParaRPr lang="zh-CN" altLang="en-US" dirty="0"/>
          </a:p>
        </p:txBody>
      </p:sp>
      <p:sp>
        <p:nvSpPr>
          <p:cNvPr id="410627" name="Rectangle 3"/>
          <p:cNvSpPr>
            <a:spLocks noGrp="1" noChangeArrowheads="1"/>
          </p:cNvSpPr>
          <p:nvPr>
            <p:ph idx="1"/>
          </p:nvPr>
        </p:nvSpPr>
        <p:spPr/>
        <p:txBody>
          <a:bodyPr/>
          <a:lstStyle/>
          <a:p>
            <a:r>
              <a:rPr lang="zh-CN" altLang="en-US" dirty="0"/>
              <a:t>使用</a:t>
            </a:r>
            <a:r>
              <a:rPr lang="en-US" altLang="zh-CN" dirty="0"/>
              <a:t>3</a:t>
            </a:r>
            <a:r>
              <a:rPr lang="zh-CN" altLang="en-US" dirty="0"/>
              <a:t>个电平值：正、负和零</a:t>
            </a:r>
            <a:endParaRPr lang="zh-CN" altLang="en-US" dirty="0"/>
          </a:p>
          <a:p>
            <a:r>
              <a:rPr lang="zh-CN" altLang="en-US" dirty="0"/>
              <a:t>电平</a:t>
            </a:r>
            <a:r>
              <a:rPr lang="en-US" altLang="zh-CN" dirty="0"/>
              <a:t>0</a:t>
            </a:r>
            <a:r>
              <a:rPr lang="zh-CN" altLang="en-US" dirty="0"/>
              <a:t>代表比特</a:t>
            </a:r>
            <a:r>
              <a:rPr lang="en-US" altLang="zh-CN" dirty="0"/>
              <a:t>0</a:t>
            </a:r>
            <a:r>
              <a:rPr lang="zh-CN" altLang="en-US" dirty="0"/>
              <a:t>，正负电平交替代表比特</a:t>
            </a:r>
            <a:r>
              <a:rPr lang="en-US" altLang="zh-CN" dirty="0"/>
              <a:t>1</a:t>
            </a:r>
            <a:endParaRPr lang="en-US" altLang="zh-CN" dirty="0"/>
          </a:p>
          <a:p>
            <a:r>
              <a:rPr lang="zh-CN" altLang="en-US" dirty="0"/>
              <a:t>有三种类型</a:t>
            </a:r>
            <a:endParaRPr lang="zh-CN" altLang="en-US" dirty="0"/>
          </a:p>
          <a:p>
            <a:pPr lvl="1"/>
            <a:r>
              <a:rPr lang="zh-CN" altLang="en-US" dirty="0"/>
              <a:t>信号交替反转码</a:t>
            </a:r>
            <a:r>
              <a:rPr lang="en-US" altLang="zh-CN" dirty="0"/>
              <a:t>(AMI)</a:t>
            </a:r>
            <a:endParaRPr lang="en-US" altLang="zh-CN" dirty="0"/>
          </a:p>
          <a:p>
            <a:pPr lvl="1"/>
            <a:r>
              <a:rPr lang="en-US" altLang="zh-CN" dirty="0"/>
              <a:t>8</a:t>
            </a:r>
            <a:r>
              <a:rPr lang="zh-CN" altLang="en-US" dirty="0"/>
              <a:t>零替换吗</a:t>
            </a:r>
            <a:r>
              <a:rPr lang="en-US" altLang="zh-CN" dirty="0"/>
              <a:t>(B8ZS)</a:t>
            </a:r>
            <a:endParaRPr lang="en-US" altLang="zh-CN" dirty="0"/>
          </a:p>
          <a:p>
            <a:pPr lvl="1"/>
            <a:r>
              <a:rPr lang="zh-CN" altLang="en-US" dirty="0"/>
              <a:t>高密度双极性</a:t>
            </a:r>
            <a:r>
              <a:rPr lang="en-US" altLang="zh-CN" dirty="0"/>
              <a:t>3</a:t>
            </a:r>
            <a:r>
              <a:rPr lang="zh-CN" altLang="en-US" dirty="0"/>
              <a:t>零编码</a:t>
            </a:r>
            <a:r>
              <a:rPr lang="en-US" altLang="zh-CN" dirty="0"/>
              <a:t>(HDB3)</a:t>
            </a:r>
            <a:endParaRPr lang="en-US" altLang="zh-CN" dirty="0"/>
          </a:p>
        </p:txBody>
      </p:sp>
      <p:sp>
        <p:nvSpPr>
          <p:cNvPr id="6" name="灯片编号占位符 5"/>
          <p:cNvSpPr>
            <a:spLocks noGrp="1"/>
          </p:cNvSpPr>
          <p:nvPr>
            <p:ph type="sldNum" sz="quarter" idx="12"/>
          </p:nvPr>
        </p:nvSpPr>
        <p:spPr/>
        <p:txBody>
          <a:bodyPr/>
          <a:lstStyle/>
          <a:p>
            <a:fld id="{5F6F001E-7119-4E85-B8BB-ED35766E682D}" type="slidenum">
              <a:rPr lang="en-US" altLang="zh-CN"/>
            </a:fld>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zh-CN" altLang="en-US" dirty="0"/>
              <a:t>信号交替反转码</a:t>
            </a:r>
            <a:endParaRPr lang="en-US" altLang="zh-CN" dirty="0"/>
          </a:p>
        </p:txBody>
      </p:sp>
      <p:sp>
        <p:nvSpPr>
          <p:cNvPr id="44" name="灯片编号占位符 5"/>
          <p:cNvSpPr>
            <a:spLocks noGrp="1"/>
          </p:cNvSpPr>
          <p:nvPr>
            <p:ph type="sldNum" sz="quarter" idx="12"/>
          </p:nvPr>
        </p:nvSpPr>
        <p:spPr/>
        <p:txBody>
          <a:bodyPr/>
          <a:lstStyle/>
          <a:p>
            <a:fld id="{6BD3846C-2736-4C32-82B0-F2AE28EE4D03}" type="slidenum">
              <a:rPr lang="en-US" altLang="zh-CN"/>
            </a:fld>
            <a:endParaRPr lang="en-US" altLang="zh-CN" dirty="0"/>
          </a:p>
        </p:txBody>
      </p:sp>
      <p:sp>
        <p:nvSpPr>
          <p:cNvPr id="411652" name="Line 4"/>
          <p:cNvSpPr>
            <a:spLocks noChangeShapeType="1"/>
          </p:cNvSpPr>
          <p:nvPr/>
        </p:nvSpPr>
        <p:spPr bwMode="auto">
          <a:xfrm flipV="1">
            <a:off x="2908277" y="2549880"/>
            <a:ext cx="0" cy="3070225"/>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7" name="Line 29"/>
          <p:cNvSpPr>
            <a:spLocks noChangeShapeType="1"/>
          </p:cNvSpPr>
          <p:nvPr/>
        </p:nvSpPr>
        <p:spPr bwMode="auto">
          <a:xfrm>
            <a:off x="2908278" y="4277079"/>
            <a:ext cx="6551613" cy="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nvGrpSpPr>
          <p:cNvPr id="411744" name="Group 96"/>
          <p:cNvGrpSpPr/>
          <p:nvPr/>
        </p:nvGrpSpPr>
        <p:grpSpPr bwMode="auto">
          <a:xfrm>
            <a:off x="3771878" y="2981680"/>
            <a:ext cx="5472113" cy="2566987"/>
            <a:chOff x="1474" y="1632"/>
            <a:chExt cx="3447" cy="2586"/>
          </a:xfrm>
        </p:grpSpPr>
        <p:sp>
          <p:nvSpPr>
            <p:cNvPr id="411678" name="Line 30"/>
            <p:cNvSpPr>
              <a:spLocks noChangeShapeType="1"/>
            </p:cNvSpPr>
            <p:nvPr/>
          </p:nvSpPr>
          <p:spPr bwMode="auto">
            <a:xfrm>
              <a:off x="1474"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9" name="Line 31"/>
            <p:cNvSpPr>
              <a:spLocks noChangeShapeType="1"/>
            </p:cNvSpPr>
            <p:nvPr/>
          </p:nvSpPr>
          <p:spPr bwMode="auto">
            <a:xfrm>
              <a:off x="1927"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80" name="Line 32"/>
            <p:cNvSpPr>
              <a:spLocks noChangeShapeType="1"/>
            </p:cNvSpPr>
            <p:nvPr/>
          </p:nvSpPr>
          <p:spPr bwMode="auto">
            <a:xfrm>
              <a:off x="2426"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81" name="Line 33"/>
            <p:cNvSpPr>
              <a:spLocks noChangeShapeType="1"/>
            </p:cNvSpPr>
            <p:nvPr/>
          </p:nvSpPr>
          <p:spPr bwMode="auto">
            <a:xfrm>
              <a:off x="2925"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82" name="Line 34"/>
            <p:cNvSpPr>
              <a:spLocks noChangeShapeType="1"/>
            </p:cNvSpPr>
            <p:nvPr/>
          </p:nvSpPr>
          <p:spPr bwMode="auto">
            <a:xfrm>
              <a:off x="3424"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83" name="Line 35"/>
            <p:cNvSpPr>
              <a:spLocks noChangeShapeType="1"/>
            </p:cNvSpPr>
            <p:nvPr/>
          </p:nvSpPr>
          <p:spPr bwMode="auto">
            <a:xfrm>
              <a:off x="3923"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84" name="Line 36"/>
            <p:cNvSpPr>
              <a:spLocks noChangeShapeType="1"/>
            </p:cNvSpPr>
            <p:nvPr/>
          </p:nvSpPr>
          <p:spPr bwMode="auto">
            <a:xfrm>
              <a:off x="4422"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85" name="Line 37"/>
            <p:cNvSpPr>
              <a:spLocks noChangeShapeType="1"/>
            </p:cNvSpPr>
            <p:nvPr/>
          </p:nvSpPr>
          <p:spPr bwMode="auto">
            <a:xfrm>
              <a:off x="4921" y="1632"/>
              <a:ext cx="0" cy="2586"/>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411686" name="Group 38"/>
          <p:cNvGrpSpPr/>
          <p:nvPr/>
        </p:nvGrpSpPr>
        <p:grpSpPr bwMode="auto">
          <a:xfrm>
            <a:off x="3248002" y="2873729"/>
            <a:ext cx="5803900" cy="369887"/>
            <a:chOff x="1144" y="958"/>
            <a:chExt cx="3656" cy="233"/>
          </a:xfrm>
        </p:grpSpPr>
        <p:sp>
          <p:nvSpPr>
            <p:cNvPr id="411687" name="Text Box 39"/>
            <p:cNvSpPr txBox="1">
              <a:spLocks noChangeArrowheads="1"/>
            </p:cNvSpPr>
            <p:nvPr/>
          </p:nvSpPr>
          <p:spPr bwMode="auto">
            <a:xfrm>
              <a:off x="1144"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411688" name="Text Box 40"/>
            <p:cNvSpPr txBox="1">
              <a:spLocks noChangeArrowheads="1"/>
            </p:cNvSpPr>
            <p:nvPr/>
          </p:nvSpPr>
          <p:spPr bwMode="auto">
            <a:xfrm>
              <a:off x="1610"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11689" name="Text Box 41"/>
            <p:cNvSpPr txBox="1">
              <a:spLocks noChangeArrowheads="1"/>
            </p:cNvSpPr>
            <p:nvPr/>
          </p:nvSpPr>
          <p:spPr bwMode="auto">
            <a:xfrm>
              <a:off x="2064"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11690" name="Text Box 42"/>
            <p:cNvSpPr txBox="1">
              <a:spLocks noChangeArrowheads="1"/>
            </p:cNvSpPr>
            <p:nvPr/>
          </p:nvSpPr>
          <p:spPr bwMode="auto">
            <a:xfrm>
              <a:off x="4105"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11691" name="Text Box 43"/>
            <p:cNvSpPr txBox="1">
              <a:spLocks noChangeArrowheads="1"/>
            </p:cNvSpPr>
            <p:nvPr/>
          </p:nvSpPr>
          <p:spPr bwMode="auto">
            <a:xfrm>
              <a:off x="2608"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411692" name="Text Box 44"/>
            <p:cNvSpPr txBox="1">
              <a:spLocks noChangeArrowheads="1"/>
            </p:cNvSpPr>
            <p:nvPr/>
          </p:nvSpPr>
          <p:spPr bwMode="auto">
            <a:xfrm>
              <a:off x="3061" y="958"/>
              <a:ext cx="1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11693" name="Text Box 45"/>
            <p:cNvSpPr txBox="1">
              <a:spLocks noChangeArrowheads="1"/>
            </p:cNvSpPr>
            <p:nvPr/>
          </p:nvSpPr>
          <p:spPr bwMode="auto">
            <a:xfrm>
              <a:off x="3560"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sp>
          <p:nvSpPr>
            <p:cNvPr id="411694" name="Text Box 46"/>
            <p:cNvSpPr txBox="1">
              <a:spLocks noChangeArrowheads="1"/>
            </p:cNvSpPr>
            <p:nvPr/>
          </p:nvSpPr>
          <p:spPr bwMode="auto">
            <a:xfrm>
              <a:off x="4604" y="95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0</a:t>
              </a:r>
              <a:endParaRPr lang="en-US" altLang="zh-CN" dirty="0">
                <a:latin typeface="微软雅黑 Light" panose="020B0502040204020203" pitchFamily="34" charset="-122"/>
              </a:endParaRPr>
            </a:p>
          </p:txBody>
        </p:sp>
      </p:grpSp>
      <p:sp>
        <p:nvSpPr>
          <p:cNvPr id="411695" name="Text Box 47"/>
          <p:cNvSpPr txBox="1">
            <a:spLocks noChangeArrowheads="1"/>
          </p:cNvSpPr>
          <p:nvPr/>
        </p:nvSpPr>
        <p:spPr bwMode="auto">
          <a:xfrm>
            <a:off x="9317015" y="432470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时间</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sp>
        <p:nvSpPr>
          <p:cNvPr id="411724" name="Text Box 76"/>
          <p:cNvSpPr txBox="1">
            <a:spLocks noChangeArrowheads="1"/>
          </p:cNvSpPr>
          <p:nvPr/>
        </p:nvSpPr>
        <p:spPr bwMode="auto">
          <a:xfrm>
            <a:off x="2187552" y="2380017"/>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振幅</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grpSp>
        <p:nvGrpSpPr>
          <p:cNvPr id="411748" name="Group 100"/>
          <p:cNvGrpSpPr/>
          <p:nvPr/>
        </p:nvGrpSpPr>
        <p:grpSpPr bwMode="auto">
          <a:xfrm>
            <a:off x="2908278" y="3442055"/>
            <a:ext cx="6335713" cy="1673225"/>
            <a:chOff x="930" y="2630"/>
            <a:chExt cx="3991" cy="636"/>
          </a:xfrm>
        </p:grpSpPr>
        <p:sp>
          <p:nvSpPr>
            <p:cNvPr id="411655" name="Line 7"/>
            <p:cNvSpPr>
              <a:spLocks noChangeShapeType="1"/>
            </p:cNvSpPr>
            <p:nvPr/>
          </p:nvSpPr>
          <p:spPr bwMode="auto">
            <a:xfrm>
              <a:off x="1474" y="2631"/>
              <a:ext cx="0" cy="318"/>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58" name="Line 10"/>
            <p:cNvSpPr>
              <a:spLocks noChangeShapeType="1"/>
            </p:cNvSpPr>
            <p:nvPr/>
          </p:nvSpPr>
          <p:spPr bwMode="auto">
            <a:xfrm flipV="1">
              <a:off x="1474" y="2630"/>
              <a:ext cx="453" cy="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59" name="Line 11"/>
            <p:cNvSpPr>
              <a:spLocks noChangeShapeType="1"/>
            </p:cNvSpPr>
            <p:nvPr/>
          </p:nvSpPr>
          <p:spPr bwMode="auto">
            <a:xfrm>
              <a:off x="1927" y="2630"/>
              <a:ext cx="0" cy="63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60" name="Line 12"/>
            <p:cNvSpPr>
              <a:spLocks noChangeShapeType="1"/>
            </p:cNvSpPr>
            <p:nvPr/>
          </p:nvSpPr>
          <p:spPr bwMode="auto">
            <a:xfrm>
              <a:off x="1927" y="3265"/>
              <a:ext cx="499" cy="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61" name="Line 13"/>
            <p:cNvSpPr>
              <a:spLocks noChangeShapeType="1"/>
            </p:cNvSpPr>
            <p:nvPr/>
          </p:nvSpPr>
          <p:spPr bwMode="auto">
            <a:xfrm flipV="1">
              <a:off x="2426" y="2949"/>
              <a:ext cx="0" cy="31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64" name="Line 16"/>
            <p:cNvSpPr>
              <a:spLocks noChangeShapeType="1"/>
            </p:cNvSpPr>
            <p:nvPr/>
          </p:nvSpPr>
          <p:spPr bwMode="auto">
            <a:xfrm>
              <a:off x="2426" y="2949"/>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65" name="Line 17"/>
            <p:cNvSpPr>
              <a:spLocks noChangeShapeType="1"/>
            </p:cNvSpPr>
            <p:nvPr/>
          </p:nvSpPr>
          <p:spPr bwMode="auto">
            <a:xfrm flipV="1">
              <a:off x="2925" y="2630"/>
              <a:ext cx="0" cy="319"/>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66" name="Line 18"/>
            <p:cNvSpPr>
              <a:spLocks noChangeShapeType="1"/>
            </p:cNvSpPr>
            <p:nvPr/>
          </p:nvSpPr>
          <p:spPr bwMode="auto">
            <a:xfrm>
              <a:off x="2925" y="2630"/>
              <a:ext cx="499" cy="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69" name="Line 21"/>
            <p:cNvSpPr>
              <a:spLocks noChangeShapeType="1"/>
            </p:cNvSpPr>
            <p:nvPr/>
          </p:nvSpPr>
          <p:spPr bwMode="auto">
            <a:xfrm flipV="1">
              <a:off x="3424" y="2630"/>
              <a:ext cx="0" cy="319"/>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0" name="Line 22"/>
            <p:cNvSpPr>
              <a:spLocks noChangeShapeType="1"/>
            </p:cNvSpPr>
            <p:nvPr/>
          </p:nvSpPr>
          <p:spPr bwMode="auto">
            <a:xfrm>
              <a:off x="3424" y="2949"/>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1" name="Line 23"/>
            <p:cNvSpPr>
              <a:spLocks noChangeShapeType="1"/>
            </p:cNvSpPr>
            <p:nvPr/>
          </p:nvSpPr>
          <p:spPr bwMode="auto">
            <a:xfrm>
              <a:off x="3923" y="2949"/>
              <a:ext cx="0" cy="316"/>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2" name="Line 24"/>
            <p:cNvSpPr>
              <a:spLocks noChangeShapeType="1"/>
            </p:cNvSpPr>
            <p:nvPr/>
          </p:nvSpPr>
          <p:spPr bwMode="auto">
            <a:xfrm>
              <a:off x="3923" y="3266"/>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3" name="Line 25"/>
            <p:cNvSpPr>
              <a:spLocks noChangeShapeType="1"/>
            </p:cNvSpPr>
            <p:nvPr/>
          </p:nvSpPr>
          <p:spPr bwMode="auto">
            <a:xfrm flipV="1">
              <a:off x="4422" y="2949"/>
              <a:ext cx="0" cy="31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674" name="Line 26"/>
            <p:cNvSpPr>
              <a:spLocks noChangeShapeType="1"/>
            </p:cNvSpPr>
            <p:nvPr/>
          </p:nvSpPr>
          <p:spPr bwMode="auto">
            <a:xfrm>
              <a:off x="4422" y="2949"/>
              <a:ext cx="499"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1747" name="Line 99"/>
            <p:cNvSpPr>
              <a:spLocks noChangeShapeType="1"/>
            </p:cNvSpPr>
            <p:nvPr/>
          </p:nvSpPr>
          <p:spPr bwMode="auto">
            <a:xfrm>
              <a:off x="930" y="2949"/>
              <a:ext cx="544"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3" name="内容占位符 2"/>
          <p:cNvSpPr>
            <a:spLocks noGrp="1"/>
          </p:cNvSpPr>
          <p:nvPr>
            <p:ph idx="1"/>
          </p:nvPr>
        </p:nvSpPr>
        <p:spPr/>
        <p:txBody>
          <a:bodyPr/>
          <a:lstStyle/>
          <a:p>
            <a:r>
              <a:rPr lang="en-US" altLang="zh-CN" dirty="0"/>
              <a:t>0</a:t>
            </a:r>
            <a:r>
              <a:rPr lang="zh-CN" altLang="en-US" dirty="0"/>
              <a:t>电平代表比特</a:t>
            </a:r>
            <a:r>
              <a:rPr lang="en-US" altLang="zh-CN" dirty="0"/>
              <a:t>0</a:t>
            </a:r>
            <a:r>
              <a:rPr lang="zh-CN" altLang="en-US" dirty="0"/>
              <a:t>，</a:t>
            </a:r>
            <a:endParaRPr lang="zh-CN" altLang="en-US" dirty="0"/>
          </a:p>
          <a:p>
            <a:r>
              <a:rPr lang="zh-CN" altLang="en-US" dirty="0"/>
              <a:t>比特</a:t>
            </a:r>
            <a:r>
              <a:rPr lang="en-US" altLang="zh-CN" dirty="0"/>
              <a:t>1</a:t>
            </a:r>
            <a:r>
              <a:rPr lang="zh-CN" altLang="en-US" dirty="0"/>
              <a:t>由交替的正负电平代表</a:t>
            </a:r>
            <a:endParaRPr lang="zh-CN" altLang="en-US" dirty="0"/>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zh-CN" altLang="en-US" dirty="0"/>
              <a:t>数字</a:t>
            </a:r>
            <a:r>
              <a:rPr lang="en-US" altLang="zh-CN" dirty="0"/>
              <a:t>—</a:t>
            </a:r>
            <a:r>
              <a:rPr lang="zh-CN" altLang="en-US" dirty="0"/>
              <a:t>模拟编码</a:t>
            </a:r>
            <a:endParaRPr lang="zh-CN" altLang="en-US" dirty="0"/>
          </a:p>
        </p:txBody>
      </p:sp>
      <p:sp>
        <p:nvSpPr>
          <p:cNvPr id="409603" name="Rectangle 3"/>
          <p:cNvSpPr>
            <a:spLocks noGrp="1" noChangeArrowheads="1"/>
          </p:cNvSpPr>
          <p:nvPr>
            <p:ph idx="1"/>
          </p:nvPr>
        </p:nvSpPr>
        <p:spPr/>
        <p:txBody>
          <a:bodyPr/>
          <a:lstStyle/>
          <a:p>
            <a:r>
              <a:rPr lang="zh-CN" altLang="en-US" sz="2800" dirty="0"/>
              <a:t>利用模拟信号表示数字信息的技术</a:t>
            </a:r>
            <a:endParaRPr lang="zh-CN" altLang="en-US" sz="2800" dirty="0"/>
          </a:p>
          <a:p>
            <a:r>
              <a:rPr lang="zh-CN" altLang="en-US" sz="2800" dirty="0"/>
              <a:t>调制技术：用模拟信号的幅值、频率、相位来代替数字</a:t>
            </a:r>
            <a:r>
              <a:rPr lang="en-US" altLang="zh-CN" sz="2800" dirty="0"/>
              <a:t>1</a:t>
            </a:r>
            <a:r>
              <a:rPr lang="zh-CN" altLang="en-US" sz="2800" dirty="0"/>
              <a:t>和</a:t>
            </a:r>
            <a:r>
              <a:rPr lang="en-US" altLang="zh-CN" sz="2800" dirty="0"/>
              <a:t>0</a:t>
            </a:r>
            <a:r>
              <a:rPr lang="zh-CN" altLang="en-US" sz="2800" dirty="0"/>
              <a:t>。</a:t>
            </a:r>
            <a:endParaRPr lang="zh-CN" altLang="en-US" sz="2800" dirty="0"/>
          </a:p>
          <a:p>
            <a:r>
              <a:rPr lang="zh-CN" altLang="en-US" sz="2800" dirty="0"/>
              <a:t>四种常用编码机制：</a:t>
            </a:r>
            <a:endParaRPr lang="zh-CN" altLang="en-US" sz="2800" dirty="0"/>
          </a:p>
          <a:p>
            <a:pPr lvl="1"/>
            <a:r>
              <a:rPr lang="zh-CN" altLang="en-US" sz="2400" dirty="0"/>
              <a:t>幅移键控</a:t>
            </a:r>
            <a:r>
              <a:rPr lang="zh-CN" altLang="en-US" dirty="0"/>
              <a:t>（</a:t>
            </a:r>
            <a:r>
              <a:rPr lang="en-US" altLang="zh-CN" sz="2400" dirty="0"/>
              <a:t>ASK</a:t>
            </a:r>
            <a:r>
              <a:rPr lang="zh-CN" altLang="en-US" dirty="0"/>
              <a:t>）</a:t>
            </a:r>
            <a:endParaRPr lang="en-US" altLang="zh-CN" sz="2400" dirty="0"/>
          </a:p>
          <a:p>
            <a:pPr lvl="1"/>
            <a:r>
              <a:rPr lang="zh-CN" altLang="en-US" sz="2400" dirty="0"/>
              <a:t>频移键控</a:t>
            </a:r>
            <a:r>
              <a:rPr lang="zh-CN" altLang="en-US" dirty="0"/>
              <a:t>（</a:t>
            </a:r>
            <a:r>
              <a:rPr lang="en-US" altLang="zh-CN" sz="2400" dirty="0"/>
              <a:t>FSK</a:t>
            </a:r>
            <a:r>
              <a:rPr lang="zh-CN" altLang="en-US" sz="2400" dirty="0"/>
              <a:t>）</a:t>
            </a:r>
            <a:endParaRPr lang="en-US" altLang="zh-CN" sz="2400" dirty="0"/>
          </a:p>
          <a:p>
            <a:pPr lvl="1"/>
            <a:r>
              <a:rPr lang="zh-CN" altLang="en-US" sz="2400" dirty="0"/>
              <a:t>相移键控</a:t>
            </a:r>
            <a:r>
              <a:rPr lang="zh-CN" altLang="en-US" dirty="0"/>
              <a:t>（</a:t>
            </a:r>
            <a:r>
              <a:rPr lang="en-US" altLang="zh-CN" sz="2400" dirty="0"/>
              <a:t>PSK</a:t>
            </a:r>
            <a:r>
              <a:rPr lang="zh-CN" altLang="en-US" sz="2400" dirty="0"/>
              <a:t>）</a:t>
            </a:r>
            <a:endParaRPr lang="en-US" altLang="zh-CN" sz="2400" dirty="0"/>
          </a:p>
          <a:p>
            <a:pPr lvl="1"/>
            <a:r>
              <a:rPr lang="zh-CN" altLang="en-US" sz="2400" dirty="0"/>
              <a:t>正交调幅</a:t>
            </a:r>
            <a:r>
              <a:rPr lang="zh-CN" altLang="en-US" dirty="0"/>
              <a:t>（</a:t>
            </a:r>
            <a:r>
              <a:rPr lang="en-US" altLang="zh-CN" sz="2400" dirty="0"/>
              <a:t>QAM</a:t>
            </a:r>
            <a:r>
              <a:rPr lang="zh-CN" altLang="en-US" sz="2400" dirty="0"/>
              <a:t>）</a:t>
            </a:r>
            <a:endParaRPr lang="en-US" altLang="zh-CN" sz="2400" dirty="0"/>
          </a:p>
        </p:txBody>
      </p:sp>
      <p:sp>
        <p:nvSpPr>
          <p:cNvPr id="6" name="灯片编号占位符 5"/>
          <p:cNvSpPr>
            <a:spLocks noGrp="1"/>
          </p:cNvSpPr>
          <p:nvPr>
            <p:ph type="sldNum" sz="quarter" idx="12"/>
          </p:nvPr>
        </p:nvSpPr>
        <p:spPr/>
        <p:txBody>
          <a:bodyPr/>
          <a:lstStyle/>
          <a:p>
            <a:fld id="{D76E7AEF-0A6A-4E87-A9FE-F573F5B18671}" type="slidenum">
              <a:rPr lang="en-US" altLang="zh-CN"/>
            </a:fld>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777" name="Rectangle 81"/>
          <p:cNvSpPr>
            <a:spLocks noGrp="1" noChangeArrowheads="1"/>
          </p:cNvSpPr>
          <p:nvPr>
            <p:ph type="title"/>
          </p:nvPr>
        </p:nvSpPr>
        <p:spPr>
          <a:noFill/>
        </p:spPr>
        <p:txBody>
          <a:bodyPr/>
          <a:lstStyle/>
          <a:p>
            <a:r>
              <a:rPr lang="zh-CN" altLang="en-US" dirty="0"/>
              <a:t>正弦波的参数变化</a:t>
            </a:r>
            <a:endParaRPr lang="zh-CN" altLang="en-US" dirty="0"/>
          </a:p>
        </p:txBody>
      </p:sp>
      <p:sp>
        <p:nvSpPr>
          <p:cNvPr id="60" name="灯片编号占位符 5"/>
          <p:cNvSpPr>
            <a:spLocks noGrp="1"/>
          </p:cNvSpPr>
          <p:nvPr>
            <p:ph type="sldNum" sz="quarter" idx="12"/>
          </p:nvPr>
        </p:nvSpPr>
        <p:spPr/>
        <p:txBody>
          <a:bodyPr/>
          <a:lstStyle/>
          <a:p>
            <a:fld id="{29E6DA26-7799-44C6-A5BB-76ADB8258452}" type="slidenum">
              <a:rPr lang="en-US" altLang="zh-CN"/>
            </a:fld>
            <a:endParaRPr lang="en-US" altLang="zh-CN" dirty="0"/>
          </a:p>
        </p:txBody>
      </p:sp>
      <p:sp>
        <p:nvSpPr>
          <p:cNvPr id="413699" name="Line 3"/>
          <p:cNvSpPr>
            <a:spLocks noChangeShapeType="1"/>
          </p:cNvSpPr>
          <p:nvPr/>
        </p:nvSpPr>
        <p:spPr bwMode="auto">
          <a:xfrm flipV="1">
            <a:off x="3179763" y="1328738"/>
            <a:ext cx="0" cy="191770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01" name="Freeform 5"/>
          <p:cNvSpPr/>
          <p:nvPr/>
        </p:nvSpPr>
        <p:spPr bwMode="auto">
          <a:xfrm>
            <a:off x="3179764" y="1481138"/>
            <a:ext cx="858837" cy="722312"/>
          </a:xfrm>
          <a:custGeom>
            <a:avLst/>
            <a:gdLst>
              <a:gd name="T0" fmla="*/ 0 w 110"/>
              <a:gd name="T1" fmla="*/ 90 h 90"/>
              <a:gd name="T2" fmla="*/ 53 w 110"/>
              <a:gd name="T3" fmla="*/ 0 h 90"/>
              <a:gd name="T4" fmla="*/ 110 w 110"/>
              <a:gd name="T5" fmla="*/ 90 h 90"/>
            </a:gdLst>
            <a:ahLst/>
            <a:cxnLst>
              <a:cxn ang="0">
                <a:pos x="T0" y="T1"/>
              </a:cxn>
              <a:cxn ang="0">
                <a:pos x="T2" y="T3"/>
              </a:cxn>
              <a:cxn ang="0">
                <a:pos x="T4" y="T5"/>
              </a:cxn>
            </a:cxnLst>
            <a:rect l="0" t="0" r="r" b="b"/>
            <a:pathLst>
              <a:path w="110" h="90">
                <a:moveTo>
                  <a:pt x="0" y="90"/>
                </a:moveTo>
                <a:cubicBezTo>
                  <a:pt x="17" y="45"/>
                  <a:pt x="34" y="0"/>
                  <a:pt x="53" y="0"/>
                </a:cubicBezTo>
                <a:cubicBezTo>
                  <a:pt x="71" y="0"/>
                  <a:pt x="100" y="75"/>
                  <a:pt x="110" y="9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02" name="Freeform 6"/>
          <p:cNvSpPr/>
          <p:nvPr/>
        </p:nvSpPr>
        <p:spPr bwMode="auto">
          <a:xfrm>
            <a:off x="4038600" y="2203451"/>
            <a:ext cx="858838" cy="722313"/>
          </a:xfrm>
          <a:custGeom>
            <a:avLst/>
            <a:gdLst>
              <a:gd name="T0" fmla="*/ 110 w 110"/>
              <a:gd name="T1" fmla="*/ 0 h 90"/>
              <a:gd name="T2" fmla="*/ 57 w 110"/>
              <a:gd name="T3" fmla="*/ 90 h 90"/>
              <a:gd name="T4" fmla="*/ 0 w 110"/>
              <a:gd name="T5" fmla="*/ 0 h 90"/>
            </a:gdLst>
            <a:ahLst/>
            <a:cxnLst>
              <a:cxn ang="0">
                <a:pos x="T0" y="T1"/>
              </a:cxn>
              <a:cxn ang="0">
                <a:pos x="T2" y="T3"/>
              </a:cxn>
              <a:cxn ang="0">
                <a:pos x="T4" y="T5"/>
              </a:cxn>
            </a:cxnLst>
            <a:rect l="0" t="0" r="r" b="b"/>
            <a:pathLst>
              <a:path w="110" h="90">
                <a:moveTo>
                  <a:pt x="110" y="0"/>
                </a:moveTo>
                <a:cubicBezTo>
                  <a:pt x="93" y="45"/>
                  <a:pt x="76" y="90"/>
                  <a:pt x="57" y="90"/>
                </a:cubicBezTo>
                <a:cubicBezTo>
                  <a:pt x="39" y="90"/>
                  <a:pt x="10" y="15"/>
                  <a:pt x="0" y="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03" name="Freeform 7"/>
          <p:cNvSpPr/>
          <p:nvPr/>
        </p:nvSpPr>
        <p:spPr bwMode="auto">
          <a:xfrm>
            <a:off x="7143750" y="1481138"/>
            <a:ext cx="858838" cy="722312"/>
          </a:xfrm>
          <a:custGeom>
            <a:avLst/>
            <a:gdLst>
              <a:gd name="T0" fmla="*/ 0 w 110"/>
              <a:gd name="T1" fmla="*/ 90 h 90"/>
              <a:gd name="T2" fmla="*/ 52 w 110"/>
              <a:gd name="T3" fmla="*/ 0 h 90"/>
              <a:gd name="T4" fmla="*/ 110 w 110"/>
              <a:gd name="T5" fmla="*/ 90 h 90"/>
            </a:gdLst>
            <a:ahLst/>
            <a:cxnLst>
              <a:cxn ang="0">
                <a:pos x="T0" y="T1"/>
              </a:cxn>
              <a:cxn ang="0">
                <a:pos x="T2" y="T3"/>
              </a:cxn>
              <a:cxn ang="0">
                <a:pos x="T4" y="T5"/>
              </a:cxn>
            </a:cxnLst>
            <a:rect l="0" t="0" r="r" b="b"/>
            <a:pathLst>
              <a:path w="110" h="90">
                <a:moveTo>
                  <a:pt x="0" y="90"/>
                </a:moveTo>
                <a:cubicBezTo>
                  <a:pt x="17" y="45"/>
                  <a:pt x="34" y="0"/>
                  <a:pt x="52" y="0"/>
                </a:cubicBezTo>
                <a:cubicBezTo>
                  <a:pt x="71" y="0"/>
                  <a:pt x="100" y="75"/>
                  <a:pt x="110" y="9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04" name="Freeform 8"/>
          <p:cNvSpPr/>
          <p:nvPr/>
        </p:nvSpPr>
        <p:spPr bwMode="auto">
          <a:xfrm>
            <a:off x="8002589" y="2203451"/>
            <a:ext cx="858837" cy="722313"/>
          </a:xfrm>
          <a:custGeom>
            <a:avLst/>
            <a:gdLst>
              <a:gd name="T0" fmla="*/ 110 w 110"/>
              <a:gd name="T1" fmla="*/ 0 h 90"/>
              <a:gd name="T2" fmla="*/ 57 w 110"/>
              <a:gd name="T3" fmla="*/ 90 h 90"/>
              <a:gd name="T4" fmla="*/ 0 w 110"/>
              <a:gd name="T5" fmla="*/ 0 h 90"/>
            </a:gdLst>
            <a:ahLst/>
            <a:cxnLst>
              <a:cxn ang="0">
                <a:pos x="T0" y="T1"/>
              </a:cxn>
              <a:cxn ang="0">
                <a:pos x="T2" y="T3"/>
              </a:cxn>
              <a:cxn ang="0">
                <a:pos x="T4" y="T5"/>
              </a:cxn>
            </a:cxnLst>
            <a:rect l="0" t="0" r="r" b="b"/>
            <a:pathLst>
              <a:path w="110" h="90">
                <a:moveTo>
                  <a:pt x="110" y="0"/>
                </a:moveTo>
                <a:cubicBezTo>
                  <a:pt x="93" y="45"/>
                  <a:pt x="75" y="90"/>
                  <a:pt x="57" y="90"/>
                </a:cubicBezTo>
                <a:cubicBezTo>
                  <a:pt x="39" y="90"/>
                  <a:pt x="9" y="15"/>
                  <a:pt x="0" y="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07" name="Line 11"/>
          <p:cNvSpPr>
            <a:spLocks noChangeShapeType="1"/>
          </p:cNvSpPr>
          <p:nvPr/>
        </p:nvSpPr>
        <p:spPr bwMode="auto">
          <a:xfrm flipV="1">
            <a:off x="3179763" y="4170363"/>
            <a:ext cx="0" cy="191770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13" name="Line 17"/>
          <p:cNvSpPr>
            <a:spLocks noChangeShapeType="1"/>
          </p:cNvSpPr>
          <p:nvPr/>
        </p:nvSpPr>
        <p:spPr bwMode="auto">
          <a:xfrm flipV="1">
            <a:off x="7553326" y="4170363"/>
            <a:ext cx="0" cy="191770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22" name="Line 26"/>
          <p:cNvSpPr>
            <a:spLocks noChangeShapeType="1"/>
          </p:cNvSpPr>
          <p:nvPr/>
        </p:nvSpPr>
        <p:spPr bwMode="auto">
          <a:xfrm>
            <a:off x="2495551" y="2203452"/>
            <a:ext cx="3357614" cy="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25" name="Line 29"/>
          <p:cNvSpPr>
            <a:spLocks noChangeShapeType="1"/>
          </p:cNvSpPr>
          <p:nvPr/>
        </p:nvSpPr>
        <p:spPr bwMode="auto">
          <a:xfrm>
            <a:off x="2566989" y="5124451"/>
            <a:ext cx="3287760" cy="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16" name="Line 20"/>
          <p:cNvSpPr>
            <a:spLocks noChangeShapeType="1"/>
          </p:cNvSpPr>
          <p:nvPr/>
        </p:nvSpPr>
        <p:spPr bwMode="auto">
          <a:xfrm>
            <a:off x="6959601" y="5124451"/>
            <a:ext cx="2871745" cy="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413776" name="Group 80"/>
          <p:cNvGrpSpPr/>
          <p:nvPr/>
        </p:nvGrpSpPr>
        <p:grpSpPr bwMode="auto">
          <a:xfrm>
            <a:off x="7558088" y="4402139"/>
            <a:ext cx="1733550" cy="1444625"/>
            <a:chOff x="3875" y="2596"/>
            <a:chExt cx="1388" cy="910"/>
          </a:xfrm>
        </p:grpSpPr>
        <p:sp>
          <p:nvSpPr>
            <p:cNvPr id="413718" name="Freeform 22"/>
            <p:cNvSpPr/>
            <p:nvPr/>
          </p:nvSpPr>
          <p:spPr bwMode="auto">
            <a:xfrm>
              <a:off x="4222" y="3051"/>
              <a:ext cx="347" cy="455"/>
            </a:xfrm>
            <a:custGeom>
              <a:avLst/>
              <a:gdLst>
                <a:gd name="T0" fmla="*/ 110 w 110"/>
                <a:gd name="T1" fmla="*/ 0 h 90"/>
                <a:gd name="T2" fmla="*/ 57 w 110"/>
                <a:gd name="T3" fmla="*/ 90 h 90"/>
                <a:gd name="T4" fmla="*/ 0 w 110"/>
                <a:gd name="T5" fmla="*/ 0 h 90"/>
              </a:gdLst>
              <a:ahLst/>
              <a:cxnLst>
                <a:cxn ang="0">
                  <a:pos x="T0" y="T1"/>
                </a:cxn>
                <a:cxn ang="0">
                  <a:pos x="T2" y="T3"/>
                </a:cxn>
                <a:cxn ang="0">
                  <a:pos x="T4" y="T5"/>
                </a:cxn>
              </a:cxnLst>
              <a:rect l="0" t="0" r="r" b="b"/>
              <a:pathLst>
                <a:path w="110" h="90">
                  <a:moveTo>
                    <a:pt x="110" y="0"/>
                  </a:moveTo>
                  <a:cubicBezTo>
                    <a:pt x="93" y="45"/>
                    <a:pt x="75" y="90"/>
                    <a:pt x="57" y="90"/>
                  </a:cubicBezTo>
                  <a:cubicBezTo>
                    <a:pt x="39" y="90"/>
                    <a:pt x="9" y="15"/>
                    <a:pt x="0" y="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19" name="Freeform 23"/>
            <p:cNvSpPr/>
            <p:nvPr/>
          </p:nvSpPr>
          <p:spPr bwMode="auto">
            <a:xfrm>
              <a:off x="4569" y="2596"/>
              <a:ext cx="347" cy="455"/>
            </a:xfrm>
            <a:custGeom>
              <a:avLst/>
              <a:gdLst>
                <a:gd name="T0" fmla="*/ 0 w 110"/>
                <a:gd name="T1" fmla="*/ 90 h 90"/>
                <a:gd name="T2" fmla="*/ 52 w 110"/>
                <a:gd name="T3" fmla="*/ 0 h 90"/>
                <a:gd name="T4" fmla="*/ 110 w 110"/>
                <a:gd name="T5" fmla="*/ 90 h 90"/>
              </a:gdLst>
              <a:ahLst/>
              <a:cxnLst>
                <a:cxn ang="0">
                  <a:pos x="T0" y="T1"/>
                </a:cxn>
                <a:cxn ang="0">
                  <a:pos x="T2" y="T3"/>
                </a:cxn>
                <a:cxn ang="0">
                  <a:pos x="T4" y="T5"/>
                </a:cxn>
              </a:cxnLst>
              <a:rect l="0" t="0" r="r" b="b"/>
              <a:pathLst>
                <a:path w="110" h="90">
                  <a:moveTo>
                    <a:pt x="0" y="90"/>
                  </a:moveTo>
                  <a:cubicBezTo>
                    <a:pt x="17" y="45"/>
                    <a:pt x="34" y="0"/>
                    <a:pt x="52" y="0"/>
                  </a:cubicBezTo>
                  <a:cubicBezTo>
                    <a:pt x="71" y="0"/>
                    <a:pt x="100" y="75"/>
                    <a:pt x="110" y="9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20" name="Freeform 24"/>
            <p:cNvSpPr/>
            <p:nvPr/>
          </p:nvSpPr>
          <p:spPr bwMode="auto">
            <a:xfrm>
              <a:off x="4916" y="3051"/>
              <a:ext cx="347" cy="455"/>
            </a:xfrm>
            <a:custGeom>
              <a:avLst/>
              <a:gdLst>
                <a:gd name="T0" fmla="*/ 110 w 110"/>
                <a:gd name="T1" fmla="*/ 0 h 90"/>
                <a:gd name="T2" fmla="*/ 57 w 110"/>
                <a:gd name="T3" fmla="*/ 90 h 90"/>
                <a:gd name="T4" fmla="*/ 0 w 110"/>
                <a:gd name="T5" fmla="*/ 0 h 90"/>
              </a:gdLst>
              <a:ahLst/>
              <a:cxnLst>
                <a:cxn ang="0">
                  <a:pos x="T0" y="T1"/>
                </a:cxn>
                <a:cxn ang="0">
                  <a:pos x="T2" y="T3"/>
                </a:cxn>
                <a:cxn ang="0">
                  <a:pos x="T4" y="T5"/>
                </a:cxn>
              </a:cxnLst>
              <a:rect l="0" t="0" r="r" b="b"/>
              <a:pathLst>
                <a:path w="110" h="90">
                  <a:moveTo>
                    <a:pt x="110" y="0"/>
                  </a:moveTo>
                  <a:cubicBezTo>
                    <a:pt x="93" y="45"/>
                    <a:pt x="75" y="90"/>
                    <a:pt x="57" y="90"/>
                  </a:cubicBezTo>
                  <a:cubicBezTo>
                    <a:pt x="39" y="90"/>
                    <a:pt x="9" y="15"/>
                    <a:pt x="0" y="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27" name="Freeform 31"/>
            <p:cNvSpPr/>
            <p:nvPr/>
          </p:nvSpPr>
          <p:spPr bwMode="auto">
            <a:xfrm>
              <a:off x="3875" y="2596"/>
              <a:ext cx="347" cy="455"/>
            </a:xfrm>
            <a:custGeom>
              <a:avLst/>
              <a:gdLst>
                <a:gd name="T0" fmla="*/ 0 w 110"/>
                <a:gd name="T1" fmla="*/ 90 h 90"/>
                <a:gd name="T2" fmla="*/ 52 w 110"/>
                <a:gd name="T3" fmla="*/ 0 h 90"/>
                <a:gd name="T4" fmla="*/ 110 w 110"/>
                <a:gd name="T5" fmla="*/ 90 h 90"/>
              </a:gdLst>
              <a:ahLst/>
              <a:cxnLst>
                <a:cxn ang="0">
                  <a:pos x="T0" y="T1"/>
                </a:cxn>
                <a:cxn ang="0">
                  <a:pos x="T2" y="T3"/>
                </a:cxn>
                <a:cxn ang="0">
                  <a:pos x="T4" y="T5"/>
                </a:cxn>
              </a:cxnLst>
              <a:rect l="0" t="0" r="r" b="b"/>
              <a:pathLst>
                <a:path w="110" h="90">
                  <a:moveTo>
                    <a:pt x="0" y="90"/>
                  </a:moveTo>
                  <a:cubicBezTo>
                    <a:pt x="17" y="45"/>
                    <a:pt x="34" y="0"/>
                    <a:pt x="52" y="0"/>
                  </a:cubicBezTo>
                  <a:cubicBezTo>
                    <a:pt x="71" y="0"/>
                    <a:pt x="100" y="75"/>
                    <a:pt x="110" y="9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413729" name="Line 33"/>
          <p:cNvSpPr>
            <a:spLocks noChangeShapeType="1"/>
          </p:cNvSpPr>
          <p:nvPr/>
        </p:nvSpPr>
        <p:spPr bwMode="auto">
          <a:xfrm>
            <a:off x="6743701" y="2203452"/>
            <a:ext cx="3082857" cy="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31" name="Line 35"/>
          <p:cNvSpPr>
            <a:spLocks noChangeShapeType="1"/>
          </p:cNvSpPr>
          <p:nvPr/>
        </p:nvSpPr>
        <p:spPr bwMode="auto">
          <a:xfrm>
            <a:off x="7137400" y="2203450"/>
            <a:ext cx="0" cy="10429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35" name="Line 39"/>
          <p:cNvSpPr>
            <a:spLocks noChangeShapeType="1"/>
          </p:cNvSpPr>
          <p:nvPr/>
        </p:nvSpPr>
        <p:spPr bwMode="auto">
          <a:xfrm>
            <a:off x="6927850" y="2925764"/>
            <a:ext cx="173038" cy="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38" name="Line 42"/>
          <p:cNvSpPr>
            <a:spLocks noChangeShapeType="1"/>
          </p:cNvSpPr>
          <p:nvPr/>
        </p:nvSpPr>
        <p:spPr bwMode="auto">
          <a:xfrm flipH="1">
            <a:off x="7569200" y="2925764"/>
            <a:ext cx="266700" cy="0"/>
          </a:xfrm>
          <a:prstGeom prst="line">
            <a:avLst/>
          </a:prstGeom>
          <a:noFill/>
          <a:ln w="19050">
            <a:solidFill>
              <a:srgbClr val="000000"/>
            </a:solidFill>
            <a:round/>
            <a:headEnd type="none"/>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53" name="Line 57"/>
          <p:cNvSpPr>
            <a:spLocks noChangeShapeType="1"/>
          </p:cNvSpPr>
          <p:nvPr/>
        </p:nvSpPr>
        <p:spPr bwMode="auto">
          <a:xfrm flipV="1">
            <a:off x="7542213" y="1343025"/>
            <a:ext cx="0" cy="1917700"/>
          </a:xfrm>
          <a:prstGeom prst="line">
            <a:avLst/>
          </a:prstGeom>
          <a:noFill/>
          <a:ln w="1905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55" name="Text Box 59"/>
          <p:cNvSpPr txBox="1">
            <a:spLocks noChangeArrowheads="1"/>
          </p:cNvSpPr>
          <p:nvPr/>
        </p:nvSpPr>
        <p:spPr bwMode="auto">
          <a:xfrm>
            <a:off x="2535238" y="3984626"/>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56" name="Text Box 60"/>
          <p:cNvSpPr txBox="1">
            <a:spLocks noChangeArrowheads="1"/>
          </p:cNvSpPr>
          <p:nvPr/>
        </p:nvSpPr>
        <p:spPr bwMode="auto">
          <a:xfrm>
            <a:off x="2528888" y="1109663"/>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57" name="Text Box 61"/>
          <p:cNvSpPr txBox="1">
            <a:spLocks noChangeArrowheads="1"/>
          </p:cNvSpPr>
          <p:nvPr/>
        </p:nvSpPr>
        <p:spPr bwMode="auto">
          <a:xfrm>
            <a:off x="6854825" y="1109663"/>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58" name="Text Box 62"/>
          <p:cNvSpPr txBox="1">
            <a:spLocks noChangeArrowheads="1"/>
          </p:cNvSpPr>
          <p:nvPr/>
        </p:nvSpPr>
        <p:spPr bwMode="auto">
          <a:xfrm>
            <a:off x="6927850" y="3990976"/>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59" name="Text Box 63"/>
          <p:cNvSpPr txBox="1">
            <a:spLocks noChangeArrowheads="1"/>
          </p:cNvSpPr>
          <p:nvPr/>
        </p:nvSpPr>
        <p:spPr bwMode="auto">
          <a:xfrm>
            <a:off x="5414963" y="226218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60" name="Text Box 64"/>
          <p:cNvSpPr txBox="1">
            <a:spLocks noChangeArrowheads="1"/>
          </p:cNvSpPr>
          <p:nvPr/>
        </p:nvSpPr>
        <p:spPr bwMode="auto">
          <a:xfrm>
            <a:off x="9440863" y="226218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61" name="Text Box 65"/>
          <p:cNvSpPr txBox="1">
            <a:spLocks noChangeArrowheads="1"/>
          </p:cNvSpPr>
          <p:nvPr/>
        </p:nvSpPr>
        <p:spPr bwMode="auto">
          <a:xfrm>
            <a:off x="9585325" y="521493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62" name="Text Box 66"/>
          <p:cNvSpPr txBox="1">
            <a:spLocks noChangeArrowheads="1"/>
          </p:cNvSpPr>
          <p:nvPr/>
        </p:nvSpPr>
        <p:spPr bwMode="auto">
          <a:xfrm>
            <a:off x="5414963" y="5141913"/>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latin typeface="微软雅黑 Light" panose="020B0502040204020203" pitchFamily="34"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3764" name="Text Box 68"/>
          <p:cNvSpPr txBox="1">
            <a:spLocks noChangeArrowheads="1"/>
          </p:cNvSpPr>
          <p:nvPr/>
        </p:nvSpPr>
        <p:spPr bwMode="auto">
          <a:xfrm>
            <a:off x="7553326" y="3259139"/>
            <a:ext cx="1873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latin typeface="微软雅黑 Light" panose="020B0502040204020203" pitchFamily="34" charset="-122"/>
                <a:ea typeface="微软雅黑 Light" panose="020B0502040204020203" pitchFamily="34" charset="-122"/>
              </a:rPr>
              <a:t>相位偏移</a:t>
            </a:r>
            <a:r>
              <a:rPr lang="en-US" altLang="zh-CN" dirty="0">
                <a:latin typeface="微软雅黑 Light" panose="020B0502040204020203" pitchFamily="34" charset="-122"/>
                <a:ea typeface="微软雅黑 Light" panose="020B0502040204020203" pitchFamily="34" charset="-122"/>
              </a:rPr>
              <a:t>1/4</a:t>
            </a:r>
            <a:r>
              <a:rPr lang="zh-CN" altLang="en-US" dirty="0">
                <a:latin typeface="微软雅黑 Light" panose="020B0502040204020203" pitchFamily="34" charset="-122"/>
                <a:ea typeface="微软雅黑 Light" panose="020B0502040204020203" pitchFamily="34" charset="-122"/>
              </a:rPr>
              <a:t>周期</a:t>
            </a:r>
            <a:endParaRPr lang="zh-CN" altLang="en-US" dirty="0">
              <a:latin typeface="微软雅黑 Light" panose="020B0502040204020203" pitchFamily="34" charset="-122"/>
              <a:ea typeface="微软雅黑 Light" panose="020B0502040204020203" pitchFamily="34" charset="-122"/>
            </a:endParaRPr>
          </a:p>
        </p:txBody>
      </p:sp>
      <p:sp>
        <p:nvSpPr>
          <p:cNvPr id="413767" name="Rectangle 71"/>
          <p:cNvSpPr>
            <a:spLocks noChangeArrowheads="1"/>
          </p:cNvSpPr>
          <p:nvPr/>
        </p:nvSpPr>
        <p:spPr bwMode="auto">
          <a:xfrm>
            <a:off x="3025775" y="3278188"/>
            <a:ext cx="19370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ea typeface="微软雅黑 Light" panose="020B0502040204020203" pitchFamily="34" charset="-122"/>
              </a:rPr>
              <a:t>x(t)=Asin(2</a:t>
            </a:r>
            <a:r>
              <a:rPr lang="en-US" altLang="zh-CN" dirty="0">
                <a:latin typeface="微软雅黑 Light" panose="020B0502040204020203" pitchFamily="34" charset="-122"/>
                <a:ea typeface="微软雅黑 Light" panose="020B0502040204020203" pitchFamily="34" charset="-122"/>
                <a:sym typeface="Symbol" panose="05050102010706020507" pitchFamily="18" charset="2"/>
              </a:rPr>
              <a:t></a:t>
            </a:r>
            <a:r>
              <a:rPr lang="en-US" altLang="zh-CN" dirty="0">
                <a:latin typeface="微软雅黑 Light" panose="020B0502040204020203" pitchFamily="34" charset="-122"/>
                <a:ea typeface="微软雅黑 Light" panose="020B0502040204020203" pitchFamily="34" charset="-122"/>
              </a:rPr>
              <a:t>ft+</a:t>
            </a:r>
            <a:r>
              <a:rPr lang="en-US" altLang="zh-CN" dirty="0">
                <a:latin typeface="微软雅黑 Light" panose="020B0502040204020203" pitchFamily="34" charset="-122"/>
                <a:ea typeface="微软雅黑 Light" panose="020B0502040204020203" pitchFamily="34" charset="-122"/>
                <a:sym typeface="Symbol" panose="05050102010706020507" pitchFamily="18" charset="2"/>
              </a:rPr>
              <a:t></a:t>
            </a:r>
            <a:r>
              <a:rPr lang="en-US" altLang="zh-CN" dirty="0">
                <a:latin typeface="微软雅黑 Light" panose="020B0502040204020203" pitchFamily="34" charset="-122"/>
                <a:ea typeface="微软雅黑 Light" panose="020B0502040204020203" pitchFamily="34" charset="-122"/>
              </a:rPr>
              <a:t>)</a:t>
            </a:r>
            <a:endParaRPr lang="en-US" altLang="zh-CN" dirty="0">
              <a:latin typeface="微软雅黑 Light" panose="020B0502040204020203" pitchFamily="34" charset="-122"/>
              <a:ea typeface="微软雅黑 Light" panose="020B0502040204020203" pitchFamily="34" charset="-122"/>
            </a:endParaRPr>
          </a:p>
        </p:txBody>
      </p:sp>
      <p:grpSp>
        <p:nvGrpSpPr>
          <p:cNvPr id="413771" name="Group 75"/>
          <p:cNvGrpSpPr/>
          <p:nvPr/>
        </p:nvGrpSpPr>
        <p:grpSpPr bwMode="auto">
          <a:xfrm>
            <a:off x="3175001" y="4697413"/>
            <a:ext cx="1717675" cy="863600"/>
            <a:chOff x="1114" y="2567"/>
            <a:chExt cx="1082" cy="910"/>
          </a:xfrm>
        </p:grpSpPr>
        <p:sp>
          <p:nvSpPr>
            <p:cNvPr id="413769" name="Freeform 73"/>
            <p:cNvSpPr/>
            <p:nvPr/>
          </p:nvSpPr>
          <p:spPr bwMode="auto">
            <a:xfrm>
              <a:off x="1114" y="2567"/>
              <a:ext cx="541" cy="455"/>
            </a:xfrm>
            <a:custGeom>
              <a:avLst/>
              <a:gdLst>
                <a:gd name="T0" fmla="*/ 0 w 110"/>
                <a:gd name="T1" fmla="*/ 90 h 90"/>
                <a:gd name="T2" fmla="*/ 53 w 110"/>
                <a:gd name="T3" fmla="*/ 0 h 90"/>
                <a:gd name="T4" fmla="*/ 110 w 110"/>
                <a:gd name="T5" fmla="*/ 90 h 90"/>
              </a:gdLst>
              <a:ahLst/>
              <a:cxnLst>
                <a:cxn ang="0">
                  <a:pos x="T0" y="T1"/>
                </a:cxn>
                <a:cxn ang="0">
                  <a:pos x="T2" y="T3"/>
                </a:cxn>
                <a:cxn ang="0">
                  <a:pos x="T4" y="T5"/>
                </a:cxn>
              </a:cxnLst>
              <a:rect l="0" t="0" r="r" b="b"/>
              <a:pathLst>
                <a:path w="110" h="90">
                  <a:moveTo>
                    <a:pt x="0" y="90"/>
                  </a:moveTo>
                  <a:cubicBezTo>
                    <a:pt x="17" y="45"/>
                    <a:pt x="34" y="0"/>
                    <a:pt x="53" y="0"/>
                  </a:cubicBezTo>
                  <a:cubicBezTo>
                    <a:pt x="71" y="0"/>
                    <a:pt x="100" y="75"/>
                    <a:pt x="110" y="9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13770" name="Freeform 74"/>
            <p:cNvSpPr/>
            <p:nvPr/>
          </p:nvSpPr>
          <p:spPr bwMode="auto">
            <a:xfrm>
              <a:off x="1655" y="3022"/>
              <a:ext cx="541" cy="455"/>
            </a:xfrm>
            <a:custGeom>
              <a:avLst/>
              <a:gdLst>
                <a:gd name="T0" fmla="*/ 110 w 110"/>
                <a:gd name="T1" fmla="*/ 0 h 90"/>
                <a:gd name="T2" fmla="*/ 57 w 110"/>
                <a:gd name="T3" fmla="*/ 90 h 90"/>
                <a:gd name="T4" fmla="*/ 0 w 110"/>
                <a:gd name="T5" fmla="*/ 0 h 90"/>
              </a:gdLst>
              <a:ahLst/>
              <a:cxnLst>
                <a:cxn ang="0">
                  <a:pos x="T0" y="T1"/>
                </a:cxn>
                <a:cxn ang="0">
                  <a:pos x="T2" y="T3"/>
                </a:cxn>
                <a:cxn ang="0">
                  <a:pos x="T4" y="T5"/>
                </a:cxn>
              </a:cxnLst>
              <a:rect l="0" t="0" r="r" b="b"/>
              <a:pathLst>
                <a:path w="110" h="90">
                  <a:moveTo>
                    <a:pt x="110" y="0"/>
                  </a:moveTo>
                  <a:cubicBezTo>
                    <a:pt x="93" y="45"/>
                    <a:pt x="76" y="90"/>
                    <a:pt x="57" y="90"/>
                  </a:cubicBezTo>
                  <a:cubicBezTo>
                    <a:pt x="39" y="90"/>
                    <a:pt x="10" y="15"/>
                    <a:pt x="0" y="0"/>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413773" name="Text Box 77"/>
          <p:cNvSpPr txBox="1">
            <a:spLocks noChangeArrowheads="1"/>
          </p:cNvSpPr>
          <p:nvPr/>
        </p:nvSpPr>
        <p:spPr bwMode="auto">
          <a:xfrm>
            <a:off x="3025775" y="6157913"/>
            <a:ext cx="155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latin typeface="微软雅黑 Light" panose="020B0502040204020203" pitchFamily="34" charset="-122"/>
                <a:ea typeface="微软雅黑 Light" panose="020B0502040204020203" pitchFamily="34" charset="-122"/>
              </a:rPr>
              <a:t>振幅减小一半</a:t>
            </a:r>
            <a:endParaRPr lang="zh-CN" altLang="en-US" dirty="0">
              <a:latin typeface="微软雅黑 Light" panose="020B0502040204020203" pitchFamily="34" charset="-122"/>
              <a:ea typeface="微软雅黑 Light" panose="020B0502040204020203" pitchFamily="34" charset="-122"/>
            </a:endParaRPr>
          </a:p>
        </p:txBody>
      </p:sp>
      <p:sp>
        <p:nvSpPr>
          <p:cNvPr id="413774" name="Text Box 78"/>
          <p:cNvSpPr txBox="1">
            <a:spLocks noChangeArrowheads="1"/>
          </p:cNvSpPr>
          <p:nvPr/>
        </p:nvSpPr>
        <p:spPr bwMode="auto">
          <a:xfrm>
            <a:off x="7418388" y="6086476"/>
            <a:ext cx="155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latin typeface="微软雅黑 Light" panose="020B0502040204020203" pitchFamily="34" charset="-122"/>
                <a:ea typeface="微软雅黑 Light" panose="020B0502040204020203" pitchFamily="34" charset="-122"/>
              </a:rPr>
              <a:t>频率提高一倍</a:t>
            </a:r>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r>
              <a:rPr lang="zh-CN" altLang="en-US" dirty="0"/>
              <a:t>幅移键控</a:t>
            </a:r>
            <a:r>
              <a:rPr lang="en-US" altLang="zh-CN" dirty="0"/>
              <a:t>(ASK—Amplitude shift key)</a:t>
            </a:r>
            <a:endParaRPr lang="en-US" altLang="zh-CN" dirty="0"/>
          </a:p>
        </p:txBody>
      </p:sp>
      <p:sp>
        <p:nvSpPr>
          <p:cNvPr id="24" name="灯片编号占位符 5"/>
          <p:cNvSpPr>
            <a:spLocks noGrp="1"/>
          </p:cNvSpPr>
          <p:nvPr>
            <p:ph type="sldNum" sz="quarter" idx="12"/>
          </p:nvPr>
        </p:nvSpPr>
        <p:spPr/>
        <p:txBody>
          <a:bodyPr/>
          <a:lstStyle/>
          <a:p>
            <a:fld id="{AD0512C9-81BC-49E8-8200-AABBA59E2B42}" type="slidenum">
              <a:rPr lang="en-US" altLang="zh-CN"/>
            </a:fld>
            <a:endParaRPr lang="en-US" altLang="zh-CN" dirty="0"/>
          </a:p>
        </p:txBody>
      </p:sp>
      <p:sp>
        <p:nvSpPr>
          <p:cNvPr id="414737" name="Freeform 17"/>
          <p:cNvSpPr/>
          <p:nvPr/>
        </p:nvSpPr>
        <p:spPr bwMode="auto">
          <a:xfrm>
            <a:off x="2764790" y="3673479"/>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nvGrpSpPr>
          <p:cNvPr id="414745" name="Group 25"/>
          <p:cNvGrpSpPr/>
          <p:nvPr/>
        </p:nvGrpSpPr>
        <p:grpSpPr bwMode="auto">
          <a:xfrm>
            <a:off x="4307841" y="2890840"/>
            <a:ext cx="4627563" cy="2203450"/>
            <a:chOff x="1475" y="1639"/>
            <a:chExt cx="2915" cy="1388"/>
          </a:xfrm>
        </p:grpSpPr>
        <p:sp>
          <p:nvSpPr>
            <p:cNvPr id="414746" name="Line 26"/>
            <p:cNvSpPr>
              <a:spLocks noChangeShapeType="1"/>
            </p:cNvSpPr>
            <p:nvPr/>
          </p:nvSpPr>
          <p:spPr bwMode="auto">
            <a:xfrm>
              <a:off x="1475"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4747" name="Line 27"/>
            <p:cNvSpPr>
              <a:spLocks noChangeShapeType="1"/>
            </p:cNvSpPr>
            <p:nvPr/>
          </p:nvSpPr>
          <p:spPr bwMode="auto">
            <a:xfrm>
              <a:off x="2447"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4748" name="Line 28"/>
            <p:cNvSpPr>
              <a:spLocks noChangeShapeType="1"/>
            </p:cNvSpPr>
            <p:nvPr/>
          </p:nvSpPr>
          <p:spPr bwMode="auto">
            <a:xfrm>
              <a:off x="3418"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4749" name="Line 29"/>
            <p:cNvSpPr>
              <a:spLocks noChangeShapeType="1"/>
            </p:cNvSpPr>
            <p:nvPr/>
          </p:nvSpPr>
          <p:spPr bwMode="auto">
            <a:xfrm>
              <a:off x="4390"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14750" name="Rectangle 30"/>
          <p:cNvSpPr>
            <a:spLocks noChangeArrowheads="1"/>
          </p:cNvSpPr>
          <p:nvPr/>
        </p:nvSpPr>
        <p:spPr bwMode="auto">
          <a:xfrm>
            <a:off x="2188528" y="2933704"/>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4751" name="Rectangle 31"/>
          <p:cNvSpPr>
            <a:spLocks noChangeArrowheads="1"/>
          </p:cNvSpPr>
          <p:nvPr/>
        </p:nvSpPr>
        <p:spPr bwMode="auto">
          <a:xfrm>
            <a:off x="9508490" y="4157665"/>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4752" name="Freeform 32"/>
          <p:cNvSpPr/>
          <p:nvPr/>
        </p:nvSpPr>
        <p:spPr bwMode="auto">
          <a:xfrm>
            <a:off x="7392353" y="3221040"/>
            <a:ext cx="1543050" cy="1873250"/>
          </a:xfrm>
          <a:custGeom>
            <a:avLst/>
            <a:gdLst>
              <a:gd name="T0" fmla="*/ 0 w 140"/>
              <a:gd name="T1" fmla="*/ 85 h 170"/>
              <a:gd name="T2" fmla="*/ 12 w 140"/>
              <a:gd name="T3" fmla="*/ 12 h 170"/>
              <a:gd name="T4" fmla="*/ 34 w 140"/>
              <a:gd name="T5" fmla="*/ 158 h 170"/>
              <a:gd name="T6" fmla="*/ 59 w 140"/>
              <a:gd name="T7" fmla="*/ 12 h 170"/>
              <a:gd name="T8" fmla="*/ 81 w 140"/>
              <a:gd name="T9" fmla="*/ 158 h 170"/>
              <a:gd name="T10" fmla="*/ 106 w 140"/>
              <a:gd name="T11" fmla="*/ 12 h 170"/>
              <a:gd name="T12" fmla="*/ 128 w 140"/>
              <a:gd name="T13" fmla="*/ 158 h 170"/>
              <a:gd name="T14" fmla="*/ 140 w 140"/>
              <a:gd name="T15" fmla="*/ 85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0">
                <a:moveTo>
                  <a:pt x="0" y="85"/>
                </a:moveTo>
                <a:cubicBezTo>
                  <a:pt x="3" y="42"/>
                  <a:pt x="6" y="0"/>
                  <a:pt x="12" y="12"/>
                </a:cubicBezTo>
                <a:cubicBezTo>
                  <a:pt x="18" y="24"/>
                  <a:pt x="27" y="158"/>
                  <a:pt x="34" y="158"/>
                </a:cubicBezTo>
                <a:cubicBezTo>
                  <a:pt x="42" y="158"/>
                  <a:pt x="51" y="12"/>
                  <a:pt x="59" y="12"/>
                </a:cubicBezTo>
                <a:cubicBezTo>
                  <a:pt x="67" y="12"/>
                  <a:pt x="73" y="158"/>
                  <a:pt x="81" y="158"/>
                </a:cubicBezTo>
                <a:cubicBezTo>
                  <a:pt x="89" y="158"/>
                  <a:pt x="98" y="12"/>
                  <a:pt x="106" y="12"/>
                </a:cubicBezTo>
                <a:cubicBezTo>
                  <a:pt x="113" y="12"/>
                  <a:pt x="122" y="146"/>
                  <a:pt x="128" y="158"/>
                </a:cubicBezTo>
                <a:cubicBezTo>
                  <a:pt x="134" y="170"/>
                  <a:pt x="137" y="127"/>
                  <a:pt x="140" y="85"/>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4753" name="Freeform 33"/>
          <p:cNvSpPr/>
          <p:nvPr/>
        </p:nvSpPr>
        <p:spPr bwMode="auto">
          <a:xfrm>
            <a:off x="4307840" y="3144841"/>
            <a:ext cx="1543050" cy="1871663"/>
          </a:xfrm>
          <a:custGeom>
            <a:avLst/>
            <a:gdLst>
              <a:gd name="T0" fmla="*/ 0 w 140"/>
              <a:gd name="T1" fmla="*/ 85 h 170"/>
              <a:gd name="T2" fmla="*/ 12 w 140"/>
              <a:gd name="T3" fmla="*/ 12 h 170"/>
              <a:gd name="T4" fmla="*/ 34 w 140"/>
              <a:gd name="T5" fmla="*/ 158 h 170"/>
              <a:gd name="T6" fmla="*/ 59 w 140"/>
              <a:gd name="T7" fmla="*/ 12 h 170"/>
              <a:gd name="T8" fmla="*/ 81 w 140"/>
              <a:gd name="T9" fmla="*/ 158 h 170"/>
              <a:gd name="T10" fmla="*/ 106 w 140"/>
              <a:gd name="T11" fmla="*/ 12 h 170"/>
              <a:gd name="T12" fmla="*/ 128 w 140"/>
              <a:gd name="T13" fmla="*/ 158 h 170"/>
              <a:gd name="T14" fmla="*/ 140 w 140"/>
              <a:gd name="T15" fmla="*/ 85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0">
                <a:moveTo>
                  <a:pt x="0" y="85"/>
                </a:moveTo>
                <a:cubicBezTo>
                  <a:pt x="3" y="42"/>
                  <a:pt x="6" y="0"/>
                  <a:pt x="12" y="12"/>
                </a:cubicBezTo>
                <a:cubicBezTo>
                  <a:pt x="18" y="24"/>
                  <a:pt x="27" y="158"/>
                  <a:pt x="34" y="158"/>
                </a:cubicBezTo>
                <a:cubicBezTo>
                  <a:pt x="42" y="158"/>
                  <a:pt x="51" y="12"/>
                  <a:pt x="59" y="12"/>
                </a:cubicBezTo>
                <a:cubicBezTo>
                  <a:pt x="67" y="12"/>
                  <a:pt x="73" y="158"/>
                  <a:pt x="81" y="158"/>
                </a:cubicBezTo>
                <a:cubicBezTo>
                  <a:pt x="89" y="158"/>
                  <a:pt x="98" y="12"/>
                  <a:pt x="106" y="12"/>
                </a:cubicBezTo>
                <a:cubicBezTo>
                  <a:pt x="113" y="12"/>
                  <a:pt x="122" y="146"/>
                  <a:pt x="128" y="158"/>
                </a:cubicBezTo>
                <a:cubicBezTo>
                  <a:pt x="134" y="170"/>
                  <a:pt x="137" y="127"/>
                  <a:pt x="140" y="85"/>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4754" name="Freeform 34"/>
          <p:cNvSpPr/>
          <p:nvPr/>
        </p:nvSpPr>
        <p:spPr bwMode="auto">
          <a:xfrm>
            <a:off x="5850891" y="3673479"/>
            <a:ext cx="1541463"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4755" name="Line 35"/>
          <p:cNvSpPr>
            <a:spLocks noChangeShapeType="1"/>
          </p:cNvSpPr>
          <p:nvPr/>
        </p:nvSpPr>
        <p:spPr bwMode="auto">
          <a:xfrm flipV="1">
            <a:off x="2764790" y="3006729"/>
            <a:ext cx="0" cy="2160587"/>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4756" name="Line 36"/>
          <p:cNvSpPr>
            <a:spLocks noChangeShapeType="1"/>
          </p:cNvSpPr>
          <p:nvPr/>
        </p:nvSpPr>
        <p:spPr bwMode="auto">
          <a:xfrm>
            <a:off x="2764790" y="4086228"/>
            <a:ext cx="7200900" cy="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4757" name="Rectangle 37"/>
          <p:cNvSpPr>
            <a:spLocks noChangeArrowheads="1"/>
          </p:cNvSpPr>
          <p:nvPr/>
        </p:nvSpPr>
        <p:spPr bwMode="auto">
          <a:xfrm>
            <a:off x="3407728" y="2943229"/>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a:t>
            </a:r>
            <a:endParaRPr lang="en-US" altLang="zh-CN" dirty="0">
              <a:solidFill>
                <a:schemeClr val="tx2"/>
              </a:solidFill>
              <a:latin typeface="微软雅黑 Light" panose="020B0502040204020203" pitchFamily="34" charset="-122"/>
            </a:endParaRPr>
          </a:p>
        </p:txBody>
      </p:sp>
      <p:sp>
        <p:nvSpPr>
          <p:cNvPr id="414758" name="Rectangle 38"/>
          <p:cNvSpPr>
            <a:spLocks noChangeArrowheads="1"/>
          </p:cNvSpPr>
          <p:nvPr/>
        </p:nvSpPr>
        <p:spPr bwMode="auto">
          <a:xfrm>
            <a:off x="8090853" y="2943229"/>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a:t>
            </a:r>
            <a:endParaRPr lang="en-US" altLang="zh-CN" dirty="0">
              <a:solidFill>
                <a:schemeClr val="tx2"/>
              </a:solidFill>
              <a:latin typeface="微软雅黑 Light" panose="020B0502040204020203" pitchFamily="34" charset="-122"/>
            </a:endParaRPr>
          </a:p>
        </p:txBody>
      </p:sp>
      <p:sp>
        <p:nvSpPr>
          <p:cNvPr id="414759" name="Rectangle 39"/>
          <p:cNvSpPr>
            <a:spLocks noChangeArrowheads="1"/>
          </p:cNvSpPr>
          <p:nvPr/>
        </p:nvSpPr>
        <p:spPr bwMode="auto">
          <a:xfrm>
            <a:off x="4950778" y="2943229"/>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a:t>
            </a:r>
            <a:endParaRPr lang="en-US" altLang="zh-CN" dirty="0">
              <a:solidFill>
                <a:schemeClr val="tx2"/>
              </a:solidFill>
              <a:latin typeface="微软雅黑 Light" panose="020B0502040204020203" pitchFamily="34" charset="-122"/>
            </a:endParaRPr>
          </a:p>
        </p:txBody>
      </p:sp>
      <p:sp>
        <p:nvSpPr>
          <p:cNvPr id="414760" name="Rectangle 40"/>
          <p:cNvSpPr>
            <a:spLocks noChangeArrowheads="1"/>
          </p:cNvSpPr>
          <p:nvPr/>
        </p:nvSpPr>
        <p:spPr bwMode="auto">
          <a:xfrm>
            <a:off x="6547803" y="2943229"/>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a:t>
            </a:r>
            <a:endParaRPr lang="en-US" altLang="zh-CN" dirty="0">
              <a:solidFill>
                <a:schemeClr val="tx2"/>
              </a:solidFill>
              <a:latin typeface="微软雅黑 Light" panose="020B0502040204020203" pitchFamily="34" charset="-122"/>
            </a:endParaRPr>
          </a:p>
        </p:txBody>
      </p:sp>
      <p:sp>
        <p:nvSpPr>
          <p:cNvPr id="2" name="内容占位符 1"/>
          <p:cNvSpPr>
            <a:spLocks noGrp="1"/>
          </p:cNvSpPr>
          <p:nvPr>
            <p:ph idx="1"/>
          </p:nvPr>
        </p:nvSpPr>
        <p:spPr>
          <a:xfrm>
            <a:off x="334434" y="1052514"/>
            <a:ext cx="11523133" cy="1622425"/>
          </a:xfrm>
        </p:spPr>
        <p:txBody>
          <a:bodyPr>
            <a:normAutofit/>
          </a:bodyPr>
          <a:lstStyle/>
          <a:p>
            <a:r>
              <a:rPr lang="zh-CN" altLang="en-US" dirty="0"/>
              <a:t>用载波的不同幅度代替数字</a:t>
            </a:r>
            <a:r>
              <a:rPr lang="en-US" altLang="zh-CN" dirty="0"/>
              <a:t>0</a:t>
            </a:r>
            <a:r>
              <a:rPr lang="zh-CN" altLang="en-US" dirty="0"/>
              <a:t>，</a:t>
            </a:r>
            <a:r>
              <a:rPr lang="en-US" altLang="zh-CN" dirty="0"/>
              <a:t>1</a:t>
            </a:r>
            <a:endParaRPr lang="en-US" altLang="zh-CN" dirty="0"/>
          </a:p>
          <a:p>
            <a:pPr lvl="1"/>
            <a:r>
              <a:rPr lang="zh-CN" altLang="en-US" dirty="0"/>
              <a:t>例如：高幅表示</a:t>
            </a:r>
            <a:r>
              <a:rPr lang="en-US" altLang="zh-CN" dirty="0"/>
              <a:t>0</a:t>
            </a:r>
            <a:r>
              <a:rPr lang="zh-CN" altLang="en-US" dirty="0"/>
              <a:t>，低幅表示</a:t>
            </a:r>
            <a:r>
              <a:rPr lang="en-US" altLang="zh-CN" dirty="0"/>
              <a:t>1</a:t>
            </a:r>
            <a:endParaRPr lang="en-US" altLang="zh-CN" dirty="0"/>
          </a:p>
          <a:p>
            <a:pPr lvl="1"/>
            <a:r>
              <a:rPr lang="zh-CN" altLang="en-US" dirty="0">
                <a:latin typeface="微软雅黑 Light" panose="020B0502040204020203" pitchFamily="34" charset="-122"/>
                <a:ea typeface="微软雅黑 Light" panose="020B0502040204020203" pitchFamily="34" charset="-122"/>
              </a:rPr>
              <a:t>缺点：抗干扰能力差</a:t>
            </a:r>
            <a:endParaRPr lang="zh-CN" altLang="en-US" dirty="0">
              <a:latin typeface="微软雅黑 Light" panose="020B0502040204020203" pitchFamily="34" charset="-122"/>
              <a:ea typeface="微软雅黑 Light" panose="020B0502040204020203" pitchFamily="34" charset="-122"/>
            </a:endParaRPr>
          </a:p>
          <a:p>
            <a:pPr marL="457200" lvl="1" indent="0">
              <a:buNone/>
            </a:pPr>
            <a:endParaRPr lang="zh-CN" altLang="en-US" dirty="0"/>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r>
              <a:rPr lang="zh-CN" altLang="en-US" dirty="0"/>
              <a:t>频移键控</a:t>
            </a:r>
            <a:endParaRPr lang="en-US" altLang="zh-CN" dirty="0"/>
          </a:p>
        </p:txBody>
      </p:sp>
      <p:sp>
        <p:nvSpPr>
          <p:cNvPr id="26" name="灯片编号占位符 5"/>
          <p:cNvSpPr>
            <a:spLocks noGrp="1"/>
          </p:cNvSpPr>
          <p:nvPr>
            <p:ph type="sldNum" sz="quarter" idx="12"/>
          </p:nvPr>
        </p:nvSpPr>
        <p:spPr/>
        <p:txBody>
          <a:bodyPr/>
          <a:lstStyle/>
          <a:p>
            <a:fld id="{34AC486B-5EBB-49AF-87B3-2E563D989A10}" type="slidenum">
              <a:rPr lang="en-US" altLang="zh-CN"/>
            </a:fld>
            <a:endParaRPr lang="en-US" altLang="zh-CN" dirty="0"/>
          </a:p>
        </p:txBody>
      </p:sp>
      <p:sp>
        <p:nvSpPr>
          <p:cNvPr id="415749" name="Freeform 5"/>
          <p:cNvSpPr/>
          <p:nvPr/>
        </p:nvSpPr>
        <p:spPr bwMode="auto">
          <a:xfrm>
            <a:off x="2711450" y="3230564"/>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nvGrpSpPr>
          <p:cNvPr id="415750" name="Group 6"/>
          <p:cNvGrpSpPr/>
          <p:nvPr/>
        </p:nvGrpSpPr>
        <p:grpSpPr bwMode="auto">
          <a:xfrm>
            <a:off x="4254501" y="2447925"/>
            <a:ext cx="4627563" cy="2203450"/>
            <a:chOff x="1475" y="1639"/>
            <a:chExt cx="2915" cy="1388"/>
          </a:xfrm>
        </p:grpSpPr>
        <p:sp>
          <p:nvSpPr>
            <p:cNvPr id="415751" name="Line 7"/>
            <p:cNvSpPr>
              <a:spLocks noChangeShapeType="1"/>
            </p:cNvSpPr>
            <p:nvPr/>
          </p:nvSpPr>
          <p:spPr bwMode="auto">
            <a:xfrm>
              <a:off x="1475"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5752" name="Line 8"/>
            <p:cNvSpPr>
              <a:spLocks noChangeShapeType="1"/>
            </p:cNvSpPr>
            <p:nvPr/>
          </p:nvSpPr>
          <p:spPr bwMode="auto">
            <a:xfrm>
              <a:off x="2447"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5753" name="Line 9"/>
            <p:cNvSpPr>
              <a:spLocks noChangeShapeType="1"/>
            </p:cNvSpPr>
            <p:nvPr/>
          </p:nvSpPr>
          <p:spPr bwMode="auto">
            <a:xfrm>
              <a:off x="3418"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5754" name="Line 10"/>
            <p:cNvSpPr>
              <a:spLocks noChangeShapeType="1"/>
            </p:cNvSpPr>
            <p:nvPr/>
          </p:nvSpPr>
          <p:spPr bwMode="auto">
            <a:xfrm>
              <a:off x="4390"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15755" name="Rectangle 11"/>
          <p:cNvSpPr>
            <a:spLocks noChangeArrowheads="1"/>
          </p:cNvSpPr>
          <p:nvPr/>
        </p:nvSpPr>
        <p:spPr bwMode="auto">
          <a:xfrm>
            <a:off x="2135188" y="2490789"/>
            <a:ext cx="457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5756" name="Rectangle 12"/>
          <p:cNvSpPr>
            <a:spLocks noChangeArrowheads="1"/>
          </p:cNvSpPr>
          <p:nvPr/>
        </p:nvSpPr>
        <p:spPr bwMode="auto">
          <a:xfrm>
            <a:off x="9455150" y="371475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5758" name="Freeform 14"/>
          <p:cNvSpPr/>
          <p:nvPr/>
        </p:nvSpPr>
        <p:spPr bwMode="auto">
          <a:xfrm>
            <a:off x="4254500" y="3240088"/>
            <a:ext cx="762000" cy="793750"/>
          </a:xfrm>
          <a:custGeom>
            <a:avLst/>
            <a:gdLst>
              <a:gd name="T0" fmla="*/ 0 w 140"/>
              <a:gd name="T1" fmla="*/ 85 h 170"/>
              <a:gd name="T2" fmla="*/ 12 w 140"/>
              <a:gd name="T3" fmla="*/ 12 h 170"/>
              <a:gd name="T4" fmla="*/ 34 w 140"/>
              <a:gd name="T5" fmla="*/ 158 h 170"/>
              <a:gd name="T6" fmla="*/ 59 w 140"/>
              <a:gd name="T7" fmla="*/ 12 h 170"/>
              <a:gd name="T8" fmla="*/ 81 w 140"/>
              <a:gd name="T9" fmla="*/ 158 h 170"/>
              <a:gd name="T10" fmla="*/ 106 w 140"/>
              <a:gd name="T11" fmla="*/ 12 h 170"/>
              <a:gd name="T12" fmla="*/ 128 w 140"/>
              <a:gd name="T13" fmla="*/ 158 h 170"/>
              <a:gd name="T14" fmla="*/ 140 w 140"/>
              <a:gd name="T15" fmla="*/ 85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0">
                <a:moveTo>
                  <a:pt x="0" y="85"/>
                </a:moveTo>
                <a:cubicBezTo>
                  <a:pt x="3" y="42"/>
                  <a:pt x="6" y="0"/>
                  <a:pt x="12" y="12"/>
                </a:cubicBezTo>
                <a:cubicBezTo>
                  <a:pt x="18" y="24"/>
                  <a:pt x="27" y="158"/>
                  <a:pt x="34" y="158"/>
                </a:cubicBezTo>
                <a:cubicBezTo>
                  <a:pt x="42" y="158"/>
                  <a:pt x="51" y="12"/>
                  <a:pt x="59" y="12"/>
                </a:cubicBezTo>
                <a:cubicBezTo>
                  <a:pt x="67" y="12"/>
                  <a:pt x="73" y="158"/>
                  <a:pt x="81" y="158"/>
                </a:cubicBezTo>
                <a:cubicBezTo>
                  <a:pt x="89" y="158"/>
                  <a:pt x="98" y="12"/>
                  <a:pt x="106" y="12"/>
                </a:cubicBezTo>
                <a:cubicBezTo>
                  <a:pt x="113" y="12"/>
                  <a:pt x="122" y="146"/>
                  <a:pt x="128" y="158"/>
                </a:cubicBezTo>
                <a:cubicBezTo>
                  <a:pt x="134" y="170"/>
                  <a:pt x="137" y="127"/>
                  <a:pt x="140" y="85"/>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5759" name="Freeform 15"/>
          <p:cNvSpPr/>
          <p:nvPr/>
        </p:nvSpPr>
        <p:spPr bwMode="auto">
          <a:xfrm>
            <a:off x="5797551" y="3230564"/>
            <a:ext cx="1541463"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5760" name="Line 16"/>
          <p:cNvSpPr>
            <a:spLocks noChangeShapeType="1"/>
          </p:cNvSpPr>
          <p:nvPr/>
        </p:nvSpPr>
        <p:spPr bwMode="auto">
          <a:xfrm flipV="1">
            <a:off x="2711450" y="2563814"/>
            <a:ext cx="0" cy="2160587"/>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5761" name="Line 17"/>
          <p:cNvSpPr>
            <a:spLocks noChangeShapeType="1"/>
          </p:cNvSpPr>
          <p:nvPr/>
        </p:nvSpPr>
        <p:spPr bwMode="auto">
          <a:xfrm>
            <a:off x="2711450" y="3643313"/>
            <a:ext cx="7200900" cy="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5762" name="Rectangle 18"/>
          <p:cNvSpPr>
            <a:spLocks noChangeArrowheads="1"/>
          </p:cNvSpPr>
          <p:nvPr/>
        </p:nvSpPr>
        <p:spPr bwMode="auto">
          <a:xfrm>
            <a:off x="3354388" y="2500314"/>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a:t>
            </a:r>
            <a:endParaRPr lang="en-US" altLang="zh-CN" dirty="0">
              <a:solidFill>
                <a:schemeClr val="tx2"/>
              </a:solidFill>
              <a:latin typeface="微软雅黑 Light" panose="020B0502040204020203" pitchFamily="34" charset="-122"/>
            </a:endParaRPr>
          </a:p>
        </p:txBody>
      </p:sp>
      <p:sp>
        <p:nvSpPr>
          <p:cNvPr id="415763" name="Rectangle 19"/>
          <p:cNvSpPr>
            <a:spLocks noChangeArrowheads="1"/>
          </p:cNvSpPr>
          <p:nvPr/>
        </p:nvSpPr>
        <p:spPr bwMode="auto">
          <a:xfrm>
            <a:off x="8037513" y="2500314"/>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a:t>
            </a:r>
            <a:endParaRPr lang="en-US" altLang="zh-CN" dirty="0">
              <a:solidFill>
                <a:schemeClr val="tx2"/>
              </a:solidFill>
              <a:latin typeface="微软雅黑 Light" panose="020B0502040204020203" pitchFamily="34" charset="-122"/>
            </a:endParaRPr>
          </a:p>
        </p:txBody>
      </p:sp>
      <p:sp>
        <p:nvSpPr>
          <p:cNvPr id="415764" name="Rectangle 20"/>
          <p:cNvSpPr>
            <a:spLocks noChangeArrowheads="1"/>
          </p:cNvSpPr>
          <p:nvPr/>
        </p:nvSpPr>
        <p:spPr bwMode="auto">
          <a:xfrm>
            <a:off x="4897438" y="2500314"/>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a:t>
            </a:r>
            <a:endParaRPr lang="en-US" altLang="zh-CN" dirty="0">
              <a:solidFill>
                <a:schemeClr val="tx2"/>
              </a:solidFill>
              <a:latin typeface="微软雅黑 Light" panose="020B0502040204020203" pitchFamily="34" charset="-122"/>
            </a:endParaRPr>
          </a:p>
        </p:txBody>
      </p:sp>
      <p:sp>
        <p:nvSpPr>
          <p:cNvPr id="415765" name="Rectangle 21"/>
          <p:cNvSpPr>
            <a:spLocks noChangeArrowheads="1"/>
          </p:cNvSpPr>
          <p:nvPr/>
        </p:nvSpPr>
        <p:spPr bwMode="auto">
          <a:xfrm>
            <a:off x="6494463" y="2500314"/>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a:t>
            </a:r>
            <a:endParaRPr lang="en-US" altLang="zh-CN" dirty="0">
              <a:solidFill>
                <a:schemeClr val="tx2"/>
              </a:solidFill>
              <a:latin typeface="微软雅黑 Light" panose="020B0502040204020203" pitchFamily="34" charset="-122"/>
            </a:endParaRPr>
          </a:p>
        </p:txBody>
      </p:sp>
      <p:sp>
        <p:nvSpPr>
          <p:cNvPr id="415767" name="Freeform 23"/>
          <p:cNvSpPr/>
          <p:nvPr/>
        </p:nvSpPr>
        <p:spPr bwMode="auto">
          <a:xfrm>
            <a:off x="5016500" y="3240088"/>
            <a:ext cx="762000" cy="793750"/>
          </a:xfrm>
          <a:custGeom>
            <a:avLst/>
            <a:gdLst>
              <a:gd name="T0" fmla="*/ 0 w 140"/>
              <a:gd name="T1" fmla="*/ 85 h 170"/>
              <a:gd name="T2" fmla="*/ 12 w 140"/>
              <a:gd name="T3" fmla="*/ 12 h 170"/>
              <a:gd name="T4" fmla="*/ 34 w 140"/>
              <a:gd name="T5" fmla="*/ 158 h 170"/>
              <a:gd name="T6" fmla="*/ 59 w 140"/>
              <a:gd name="T7" fmla="*/ 12 h 170"/>
              <a:gd name="T8" fmla="*/ 81 w 140"/>
              <a:gd name="T9" fmla="*/ 158 h 170"/>
              <a:gd name="T10" fmla="*/ 106 w 140"/>
              <a:gd name="T11" fmla="*/ 12 h 170"/>
              <a:gd name="T12" fmla="*/ 128 w 140"/>
              <a:gd name="T13" fmla="*/ 158 h 170"/>
              <a:gd name="T14" fmla="*/ 140 w 140"/>
              <a:gd name="T15" fmla="*/ 85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0">
                <a:moveTo>
                  <a:pt x="0" y="85"/>
                </a:moveTo>
                <a:cubicBezTo>
                  <a:pt x="3" y="42"/>
                  <a:pt x="6" y="0"/>
                  <a:pt x="12" y="12"/>
                </a:cubicBezTo>
                <a:cubicBezTo>
                  <a:pt x="18" y="24"/>
                  <a:pt x="27" y="158"/>
                  <a:pt x="34" y="158"/>
                </a:cubicBezTo>
                <a:cubicBezTo>
                  <a:pt x="42" y="158"/>
                  <a:pt x="51" y="12"/>
                  <a:pt x="59" y="12"/>
                </a:cubicBezTo>
                <a:cubicBezTo>
                  <a:pt x="67" y="12"/>
                  <a:pt x="73" y="158"/>
                  <a:pt x="81" y="158"/>
                </a:cubicBezTo>
                <a:cubicBezTo>
                  <a:pt x="89" y="158"/>
                  <a:pt x="98" y="12"/>
                  <a:pt x="106" y="12"/>
                </a:cubicBezTo>
                <a:cubicBezTo>
                  <a:pt x="113" y="12"/>
                  <a:pt x="122" y="146"/>
                  <a:pt x="128" y="158"/>
                </a:cubicBezTo>
                <a:cubicBezTo>
                  <a:pt x="134" y="170"/>
                  <a:pt x="137" y="127"/>
                  <a:pt x="140" y="85"/>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5768" name="Freeform 24"/>
          <p:cNvSpPr/>
          <p:nvPr/>
        </p:nvSpPr>
        <p:spPr bwMode="auto">
          <a:xfrm>
            <a:off x="7346950" y="3240088"/>
            <a:ext cx="762000" cy="793750"/>
          </a:xfrm>
          <a:custGeom>
            <a:avLst/>
            <a:gdLst>
              <a:gd name="T0" fmla="*/ 0 w 140"/>
              <a:gd name="T1" fmla="*/ 85 h 170"/>
              <a:gd name="T2" fmla="*/ 12 w 140"/>
              <a:gd name="T3" fmla="*/ 12 h 170"/>
              <a:gd name="T4" fmla="*/ 34 w 140"/>
              <a:gd name="T5" fmla="*/ 158 h 170"/>
              <a:gd name="T6" fmla="*/ 59 w 140"/>
              <a:gd name="T7" fmla="*/ 12 h 170"/>
              <a:gd name="T8" fmla="*/ 81 w 140"/>
              <a:gd name="T9" fmla="*/ 158 h 170"/>
              <a:gd name="T10" fmla="*/ 106 w 140"/>
              <a:gd name="T11" fmla="*/ 12 h 170"/>
              <a:gd name="T12" fmla="*/ 128 w 140"/>
              <a:gd name="T13" fmla="*/ 158 h 170"/>
              <a:gd name="T14" fmla="*/ 140 w 140"/>
              <a:gd name="T15" fmla="*/ 85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0">
                <a:moveTo>
                  <a:pt x="0" y="85"/>
                </a:moveTo>
                <a:cubicBezTo>
                  <a:pt x="3" y="42"/>
                  <a:pt x="6" y="0"/>
                  <a:pt x="12" y="12"/>
                </a:cubicBezTo>
                <a:cubicBezTo>
                  <a:pt x="18" y="24"/>
                  <a:pt x="27" y="158"/>
                  <a:pt x="34" y="158"/>
                </a:cubicBezTo>
                <a:cubicBezTo>
                  <a:pt x="42" y="158"/>
                  <a:pt x="51" y="12"/>
                  <a:pt x="59" y="12"/>
                </a:cubicBezTo>
                <a:cubicBezTo>
                  <a:pt x="67" y="12"/>
                  <a:pt x="73" y="158"/>
                  <a:pt x="81" y="158"/>
                </a:cubicBezTo>
                <a:cubicBezTo>
                  <a:pt x="89" y="158"/>
                  <a:pt x="98" y="12"/>
                  <a:pt x="106" y="12"/>
                </a:cubicBezTo>
                <a:cubicBezTo>
                  <a:pt x="113" y="12"/>
                  <a:pt x="122" y="146"/>
                  <a:pt x="128" y="158"/>
                </a:cubicBezTo>
                <a:cubicBezTo>
                  <a:pt x="134" y="170"/>
                  <a:pt x="137" y="127"/>
                  <a:pt x="140" y="85"/>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415769" name="Freeform 25"/>
          <p:cNvSpPr/>
          <p:nvPr/>
        </p:nvSpPr>
        <p:spPr bwMode="auto">
          <a:xfrm>
            <a:off x="8108950" y="3240088"/>
            <a:ext cx="762000" cy="793750"/>
          </a:xfrm>
          <a:custGeom>
            <a:avLst/>
            <a:gdLst>
              <a:gd name="T0" fmla="*/ 0 w 140"/>
              <a:gd name="T1" fmla="*/ 85 h 170"/>
              <a:gd name="T2" fmla="*/ 12 w 140"/>
              <a:gd name="T3" fmla="*/ 12 h 170"/>
              <a:gd name="T4" fmla="*/ 34 w 140"/>
              <a:gd name="T5" fmla="*/ 158 h 170"/>
              <a:gd name="T6" fmla="*/ 59 w 140"/>
              <a:gd name="T7" fmla="*/ 12 h 170"/>
              <a:gd name="T8" fmla="*/ 81 w 140"/>
              <a:gd name="T9" fmla="*/ 158 h 170"/>
              <a:gd name="T10" fmla="*/ 106 w 140"/>
              <a:gd name="T11" fmla="*/ 12 h 170"/>
              <a:gd name="T12" fmla="*/ 128 w 140"/>
              <a:gd name="T13" fmla="*/ 158 h 170"/>
              <a:gd name="T14" fmla="*/ 140 w 140"/>
              <a:gd name="T15" fmla="*/ 85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0">
                <a:moveTo>
                  <a:pt x="0" y="85"/>
                </a:moveTo>
                <a:cubicBezTo>
                  <a:pt x="3" y="42"/>
                  <a:pt x="6" y="0"/>
                  <a:pt x="12" y="12"/>
                </a:cubicBezTo>
                <a:cubicBezTo>
                  <a:pt x="18" y="24"/>
                  <a:pt x="27" y="158"/>
                  <a:pt x="34" y="158"/>
                </a:cubicBezTo>
                <a:cubicBezTo>
                  <a:pt x="42" y="158"/>
                  <a:pt x="51" y="12"/>
                  <a:pt x="59" y="12"/>
                </a:cubicBezTo>
                <a:cubicBezTo>
                  <a:pt x="67" y="12"/>
                  <a:pt x="73" y="158"/>
                  <a:pt x="81" y="158"/>
                </a:cubicBezTo>
                <a:cubicBezTo>
                  <a:pt x="89" y="158"/>
                  <a:pt x="98" y="12"/>
                  <a:pt x="106" y="12"/>
                </a:cubicBezTo>
                <a:cubicBezTo>
                  <a:pt x="113" y="12"/>
                  <a:pt x="122" y="146"/>
                  <a:pt x="128" y="158"/>
                </a:cubicBezTo>
                <a:cubicBezTo>
                  <a:pt x="134" y="170"/>
                  <a:pt x="137" y="127"/>
                  <a:pt x="140" y="85"/>
                </a:cubicBezTo>
              </a:path>
            </a:pathLst>
          </a:custGeom>
          <a:noFill/>
          <a:ln w="190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ndParaRPr>
          </a:p>
        </p:txBody>
      </p:sp>
      <p:sp>
        <p:nvSpPr>
          <p:cNvPr id="2" name="内容占位符 1"/>
          <p:cNvSpPr>
            <a:spLocks noGrp="1"/>
          </p:cNvSpPr>
          <p:nvPr>
            <p:ph idx="1"/>
          </p:nvPr>
        </p:nvSpPr>
        <p:spPr>
          <a:xfrm>
            <a:off x="334434" y="1052514"/>
            <a:ext cx="11523133" cy="1366839"/>
          </a:xfrm>
        </p:spPr>
        <p:txBody>
          <a:bodyPr/>
          <a:lstStyle/>
          <a:p>
            <a:r>
              <a:rPr lang="zh-CN" altLang="en-US" dirty="0"/>
              <a:t>用载波的不同频率表示</a:t>
            </a:r>
            <a:r>
              <a:rPr lang="en-US" altLang="zh-CN" dirty="0"/>
              <a:t>0</a:t>
            </a:r>
            <a:r>
              <a:rPr lang="zh-CN" altLang="en-US" dirty="0"/>
              <a:t>和</a:t>
            </a:r>
            <a:r>
              <a:rPr lang="en-US" altLang="zh-CN" dirty="0"/>
              <a:t>1</a:t>
            </a:r>
            <a:endParaRPr lang="en-US" altLang="zh-CN" dirty="0"/>
          </a:p>
          <a:p>
            <a:pPr lvl="1"/>
            <a:r>
              <a:rPr lang="zh-CN" altLang="en-US" dirty="0"/>
              <a:t>例如</a:t>
            </a:r>
            <a:r>
              <a:rPr lang="en-US" altLang="zh-CN" dirty="0"/>
              <a:t>:</a:t>
            </a:r>
            <a:r>
              <a:rPr lang="zh-CN" altLang="en-US" dirty="0"/>
              <a:t>高频表示</a:t>
            </a:r>
            <a:r>
              <a:rPr lang="en-US" altLang="zh-CN" dirty="0"/>
              <a:t>0</a:t>
            </a:r>
            <a:r>
              <a:rPr lang="zh-CN" altLang="en-US" dirty="0"/>
              <a:t>，低频表示</a:t>
            </a:r>
            <a:r>
              <a:rPr lang="en-US" altLang="zh-CN" dirty="0"/>
              <a:t>1</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zh-CN" altLang="en-US" dirty="0"/>
              <a:t>相移键控</a:t>
            </a:r>
            <a:endParaRPr lang="en-US" altLang="zh-CN" dirty="0"/>
          </a:p>
        </p:txBody>
      </p:sp>
      <p:sp>
        <p:nvSpPr>
          <p:cNvPr id="23" name="灯片编号占位符 5"/>
          <p:cNvSpPr>
            <a:spLocks noGrp="1"/>
          </p:cNvSpPr>
          <p:nvPr>
            <p:ph type="sldNum" sz="quarter" idx="12"/>
          </p:nvPr>
        </p:nvSpPr>
        <p:spPr/>
        <p:txBody>
          <a:bodyPr/>
          <a:lstStyle/>
          <a:p>
            <a:fld id="{2C01F6E4-E558-43DE-9477-BB45EC065861}" type="slidenum">
              <a:rPr lang="en-US" altLang="zh-CN"/>
            </a:fld>
            <a:endParaRPr lang="en-US" altLang="zh-CN" dirty="0"/>
          </a:p>
        </p:txBody>
      </p:sp>
      <p:sp>
        <p:nvSpPr>
          <p:cNvPr id="416772" name="Freeform 4"/>
          <p:cNvSpPr/>
          <p:nvPr/>
        </p:nvSpPr>
        <p:spPr bwMode="auto">
          <a:xfrm flipV="1">
            <a:off x="2711450" y="3116264"/>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nvGrpSpPr>
          <p:cNvPr id="416773" name="Group 5"/>
          <p:cNvGrpSpPr/>
          <p:nvPr/>
        </p:nvGrpSpPr>
        <p:grpSpPr bwMode="auto">
          <a:xfrm>
            <a:off x="4254501" y="2665414"/>
            <a:ext cx="4627563" cy="1539875"/>
            <a:chOff x="1475" y="1639"/>
            <a:chExt cx="2915" cy="1388"/>
          </a:xfrm>
        </p:grpSpPr>
        <p:sp>
          <p:nvSpPr>
            <p:cNvPr id="416774" name="Line 6"/>
            <p:cNvSpPr>
              <a:spLocks noChangeShapeType="1"/>
            </p:cNvSpPr>
            <p:nvPr/>
          </p:nvSpPr>
          <p:spPr bwMode="auto">
            <a:xfrm>
              <a:off x="1475"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6775" name="Line 7"/>
            <p:cNvSpPr>
              <a:spLocks noChangeShapeType="1"/>
            </p:cNvSpPr>
            <p:nvPr/>
          </p:nvSpPr>
          <p:spPr bwMode="auto">
            <a:xfrm>
              <a:off x="2447"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6776" name="Line 8"/>
            <p:cNvSpPr>
              <a:spLocks noChangeShapeType="1"/>
            </p:cNvSpPr>
            <p:nvPr/>
          </p:nvSpPr>
          <p:spPr bwMode="auto">
            <a:xfrm>
              <a:off x="3418"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6777" name="Line 9"/>
            <p:cNvSpPr>
              <a:spLocks noChangeShapeType="1"/>
            </p:cNvSpPr>
            <p:nvPr/>
          </p:nvSpPr>
          <p:spPr bwMode="auto">
            <a:xfrm>
              <a:off x="4390"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16778" name="Rectangle 10"/>
          <p:cNvSpPr>
            <a:spLocks noChangeArrowheads="1"/>
          </p:cNvSpPr>
          <p:nvPr/>
        </p:nvSpPr>
        <p:spPr bwMode="auto">
          <a:xfrm>
            <a:off x="2135188" y="2562225"/>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6779" name="Rectangle 11"/>
          <p:cNvSpPr>
            <a:spLocks noChangeArrowheads="1"/>
          </p:cNvSpPr>
          <p:nvPr/>
        </p:nvSpPr>
        <p:spPr bwMode="auto">
          <a:xfrm>
            <a:off x="9455150" y="360045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6783" name="Line 15"/>
          <p:cNvSpPr>
            <a:spLocks noChangeShapeType="1"/>
          </p:cNvSpPr>
          <p:nvPr/>
        </p:nvSpPr>
        <p:spPr bwMode="auto">
          <a:xfrm flipV="1">
            <a:off x="2711450" y="2620963"/>
            <a:ext cx="0" cy="181610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6784" name="Line 16"/>
          <p:cNvSpPr>
            <a:spLocks noChangeShapeType="1"/>
          </p:cNvSpPr>
          <p:nvPr/>
        </p:nvSpPr>
        <p:spPr bwMode="auto">
          <a:xfrm>
            <a:off x="2711450" y="3529013"/>
            <a:ext cx="7200900" cy="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6785" name="Rectangle 17"/>
          <p:cNvSpPr>
            <a:spLocks noChangeArrowheads="1"/>
          </p:cNvSpPr>
          <p:nvPr/>
        </p:nvSpPr>
        <p:spPr bwMode="auto">
          <a:xfrm>
            <a:off x="3354388" y="2635250"/>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a:t>
            </a:r>
            <a:endParaRPr lang="en-US" altLang="zh-CN" dirty="0">
              <a:solidFill>
                <a:schemeClr val="tx2"/>
              </a:solidFill>
              <a:latin typeface="微软雅黑 Light" panose="020B0502040204020203" pitchFamily="34" charset="-122"/>
            </a:endParaRPr>
          </a:p>
        </p:txBody>
      </p:sp>
      <p:sp>
        <p:nvSpPr>
          <p:cNvPr id="416786" name="Rectangle 18"/>
          <p:cNvSpPr>
            <a:spLocks noChangeArrowheads="1"/>
          </p:cNvSpPr>
          <p:nvPr/>
        </p:nvSpPr>
        <p:spPr bwMode="auto">
          <a:xfrm>
            <a:off x="8037513" y="2635250"/>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a:t>
            </a:r>
            <a:endParaRPr lang="en-US" altLang="zh-CN" dirty="0">
              <a:solidFill>
                <a:schemeClr val="tx2"/>
              </a:solidFill>
              <a:latin typeface="微软雅黑 Light" panose="020B0502040204020203" pitchFamily="34" charset="-122"/>
            </a:endParaRPr>
          </a:p>
        </p:txBody>
      </p:sp>
      <p:sp>
        <p:nvSpPr>
          <p:cNvPr id="416787" name="Rectangle 19"/>
          <p:cNvSpPr>
            <a:spLocks noChangeArrowheads="1"/>
          </p:cNvSpPr>
          <p:nvPr/>
        </p:nvSpPr>
        <p:spPr bwMode="auto">
          <a:xfrm>
            <a:off x="4897438" y="2635250"/>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a:t>
            </a:r>
            <a:endParaRPr lang="en-US" altLang="zh-CN" dirty="0">
              <a:solidFill>
                <a:schemeClr val="tx2"/>
              </a:solidFill>
              <a:latin typeface="微软雅黑 Light" panose="020B0502040204020203" pitchFamily="34" charset="-122"/>
            </a:endParaRPr>
          </a:p>
        </p:txBody>
      </p:sp>
      <p:sp>
        <p:nvSpPr>
          <p:cNvPr id="416788" name="Rectangle 20"/>
          <p:cNvSpPr>
            <a:spLocks noChangeArrowheads="1"/>
          </p:cNvSpPr>
          <p:nvPr/>
        </p:nvSpPr>
        <p:spPr bwMode="auto">
          <a:xfrm>
            <a:off x="6494463" y="2635250"/>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a:t>
            </a:r>
            <a:endParaRPr lang="en-US" altLang="zh-CN" dirty="0">
              <a:solidFill>
                <a:schemeClr val="tx2"/>
              </a:solidFill>
              <a:latin typeface="微软雅黑 Light" panose="020B0502040204020203" pitchFamily="34" charset="-122"/>
            </a:endParaRPr>
          </a:p>
        </p:txBody>
      </p:sp>
      <p:sp>
        <p:nvSpPr>
          <p:cNvPr id="416789" name="Freeform 21"/>
          <p:cNvSpPr/>
          <p:nvPr/>
        </p:nvSpPr>
        <p:spPr bwMode="auto">
          <a:xfrm>
            <a:off x="4257675" y="3125789"/>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6790" name="Freeform 22"/>
          <p:cNvSpPr/>
          <p:nvPr/>
        </p:nvSpPr>
        <p:spPr bwMode="auto">
          <a:xfrm flipV="1">
            <a:off x="5797550" y="3116264"/>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6791" name="Freeform 23"/>
          <p:cNvSpPr/>
          <p:nvPr/>
        </p:nvSpPr>
        <p:spPr bwMode="auto">
          <a:xfrm>
            <a:off x="7343775" y="3125789"/>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 name="内容占位符 1"/>
          <p:cNvSpPr>
            <a:spLocks noGrp="1"/>
          </p:cNvSpPr>
          <p:nvPr>
            <p:ph idx="1"/>
          </p:nvPr>
        </p:nvSpPr>
        <p:spPr>
          <a:xfrm>
            <a:off x="334434" y="1052515"/>
            <a:ext cx="11523133" cy="1338262"/>
          </a:xfrm>
        </p:spPr>
        <p:txBody>
          <a:bodyPr/>
          <a:lstStyle/>
          <a:p>
            <a:r>
              <a:rPr lang="zh-CN" altLang="en-US" dirty="0"/>
              <a:t>调制载波的相位：不同的相位表示</a:t>
            </a:r>
            <a:r>
              <a:rPr lang="en-US" altLang="zh-CN" dirty="0"/>
              <a:t>0</a:t>
            </a:r>
            <a:r>
              <a:rPr lang="zh-CN" altLang="en-US" dirty="0"/>
              <a:t>和</a:t>
            </a:r>
            <a:r>
              <a:rPr lang="en-US" altLang="zh-CN" dirty="0"/>
              <a:t>1</a:t>
            </a:r>
            <a:r>
              <a:rPr lang="zh-CN" altLang="en-US" dirty="0"/>
              <a:t>。</a:t>
            </a:r>
            <a:endParaRPr lang="zh-CN" altLang="en-US" dirty="0"/>
          </a:p>
          <a:p>
            <a:pPr lvl="1"/>
            <a:r>
              <a:rPr lang="zh-CN" altLang="en-US" dirty="0"/>
              <a:t>例如：相位</a:t>
            </a:r>
            <a:r>
              <a:rPr lang="en-US" altLang="zh-CN" dirty="0"/>
              <a:t>0</a:t>
            </a:r>
            <a:r>
              <a:rPr lang="zh-CN" altLang="en-US" dirty="0"/>
              <a:t>表示</a:t>
            </a:r>
            <a:r>
              <a:rPr lang="en-US" altLang="zh-CN" dirty="0"/>
              <a:t>0</a:t>
            </a:r>
            <a:r>
              <a:rPr lang="zh-CN" altLang="en-US" dirty="0"/>
              <a:t>，相位</a:t>
            </a:r>
            <a:r>
              <a:rPr lang="en-US" altLang="zh-CN" dirty="0"/>
              <a:t>180</a:t>
            </a:r>
            <a:r>
              <a:rPr lang="zh-CN" altLang="en-US" dirty="0"/>
              <a:t>表示</a:t>
            </a:r>
            <a:r>
              <a:rPr lang="en-US" altLang="zh-CN" dirty="0"/>
              <a:t>1</a:t>
            </a:r>
            <a:endParaRPr lang="en-US" altLang="zh-CN" dirty="0"/>
          </a:p>
          <a:p>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zh-CN" altLang="en-US" dirty="0"/>
              <a:t>相移键控</a:t>
            </a:r>
            <a:endParaRPr lang="en-US" altLang="zh-CN" dirty="0"/>
          </a:p>
        </p:txBody>
      </p:sp>
      <p:sp>
        <p:nvSpPr>
          <p:cNvPr id="23" name="灯片编号占位符 5"/>
          <p:cNvSpPr>
            <a:spLocks noGrp="1"/>
          </p:cNvSpPr>
          <p:nvPr>
            <p:ph type="sldNum" sz="quarter" idx="12"/>
          </p:nvPr>
        </p:nvSpPr>
        <p:spPr/>
        <p:txBody>
          <a:bodyPr/>
          <a:lstStyle/>
          <a:p>
            <a:fld id="{8D672C5A-F320-4CC4-97EE-D14546D8CCCC}" type="slidenum">
              <a:rPr lang="en-US" altLang="zh-CN"/>
            </a:fld>
            <a:endParaRPr lang="en-US" altLang="zh-CN" dirty="0"/>
          </a:p>
        </p:txBody>
      </p:sp>
      <p:sp>
        <p:nvSpPr>
          <p:cNvPr id="417796" name="Freeform 4"/>
          <p:cNvSpPr/>
          <p:nvPr/>
        </p:nvSpPr>
        <p:spPr bwMode="auto">
          <a:xfrm>
            <a:off x="2741613" y="3405190"/>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nvGrpSpPr>
          <p:cNvPr id="417797" name="Group 5"/>
          <p:cNvGrpSpPr/>
          <p:nvPr/>
        </p:nvGrpSpPr>
        <p:grpSpPr bwMode="auto">
          <a:xfrm>
            <a:off x="4284663" y="2954340"/>
            <a:ext cx="4627562" cy="1539875"/>
            <a:chOff x="1475" y="1639"/>
            <a:chExt cx="2915" cy="1388"/>
          </a:xfrm>
        </p:grpSpPr>
        <p:sp>
          <p:nvSpPr>
            <p:cNvPr id="417798" name="Line 6"/>
            <p:cNvSpPr>
              <a:spLocks noChangeShapeType="1"/>
            </p:cNvSpPr>
            <p:nvPr/>
          </p:nvSpPr>
          <p:spPr bwMode="auto">
            <a:xfrm>
              <a:off x="1475"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7799" name="Line 7"/>
            <p:cNvSpPr>
              <a:spLocks noChangeShapeType="1"/>
            </p:cNvSpPr>
            <p:nvPr/>
          </p:nvSpPr>
          <p:spPr bwMode="auto">
            <a:xfrm>
              <a:off x="2447"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7800" name="Line 8"/>
            <p:cNvSpPr>
              <a:spLocks noChangeShapeType="1"/>
            </p:cNvSpPr>
            <p:nvPr/>
          </p:nvSpPr>
          <p:spPr bwMode="auto">
            <a:xfrm>
              <a:off x="3418"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7801" name="Line 9"/>
            <p:cNvSpPr>
              <a:spLocks noChangeShapeType="1"/>
            </p:cNvSpPr>
            <p:nvPr/>
          </p:nvSpPr>
          <p:spPr bwMode="auto">
            <a:xfrm>
              <a:off x="4390"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17802" name="Rectangle 10"/>
          <p:cNvSpPr>
            <a:spLocks noChangeArrowheads="1"/>
          </p:cNvSpPr>
          <p:nvPr/>
        </p:nvSpPr>
        <p:spPr bwMode="auto">
          <a:xfrm>
            <a:off x="2165350" y="2851151"/>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7803" name="Rectangle 11"/>
          <p:cNvSpPr>
            <a:spLocks noChangeArrowheads="1"/>
          </p:cNvSpPr>
          <p:nvPr/>
        </p:nvSpPr>
        <p:spPr bwMode="auto">
          <a:xfrm>
            <a:off x="9485313" y="3889376"/>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7804" name="Line 12"/>
          <p:cNvSpPr>
            <a:spLocks noChangeShapeType="1"/>
          </p:cNvSpPr>
          <p:nvPr/>
        </p:nvSpPr>
        <p:spPr bwMode="auto">
          <a:xfrm flipV="1">
            <a:off x="2741613" y="2909889"/>
            <a:ext cx="0" cy="181610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7805" name="Line 13"/>
          <p:cNvSpPr>
            <a:spLocks noChangeShapeType="1"/>
          </p:cNvSpPr>
          <p:nvPr/>
        </p:nvSpPr>
        <p:spPr bwMode="auto">
          <a:xfrm>
            <a:off x="2741613" y="3817939"/>
            <a:ext cx="7200900" cy="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7806" name="Rectangle 14"/>
          <p:cNvSpPr>
            <a:spLocks noChangeArrowheads="1"/>
          </p:cNvSpPr>
          <p:nvPr/>
        </p:nvSpPr>
        <p:spPr bwMode="auto">
          <a:xfrm>
            <a:off x="3384550" y="2924176"/>
            <a:ext cx="256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00</a:t>
            </a:r>
            <a:endParaRPr lang="en-US" altLang="zh-CN" dirty="0">
              <a:solidFill>
                <a:schemeClr val="tx2"/>
              </a:solidFill>
              <a:latin typeface="微软雅黑 Light" panose="020B0502040204020203" pitchFamily="34" charset="-122"/>
            </a:endParaRPr>
          </a:p>
        </p:txBody>
      </p:sp>
      <p:sp>
        <p:nvSpPr>
          <p:cNvPr id="417807" name="Rectangle 15"/>
          <p:cNvSpPr>
            <a:spLocks noChangeArrowheads="1"/>
          </p:cNvSpPr>
          <p:nvPr/>
        </p:nvSpPr>
        <p:spPr bwMode="auto">
          <a:xfrm>
            <a:off x="8067675" y="2924176"/>
            <a:ext cx="176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11</a:t>
            </a:r>
            <a:endParaRPr lang="en-US" altLang="zh-CN" dirty="0">
              <a:solidFill>
                <a:schemeClr val="tx2"/>
              </a:solidFill>
              <a:latin typeface="微软雅黑 Light" panose="020B0502040204020203" pitchFamily="34" charset="-122"/>
            </a:endParaRPr>
          </a:p>
        </p:txBody>
      </p:sp>
      <p:sp>
        <p:nvSpPr>
          <p:cNvPr id="417808" name="Rectangle 16"/>
          <p:cNvSpPr>
            <a:spLocks noChangeArrowheads="1"/>
          </p:cNvSpPr>
          <p:nvPr/>
        </p:nvSpPr>
        <p:spPr bwMode="auto">
          <a:xfrm>
            <a:off x="4927600" y="2924176"/>
            <a:ext cx="2164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01</a:t>
            </a:r>
            <a:endParaRPr lang="en-US" altLang="zh-CN" dirty="0">
              <a:solidFill>
                <a:schemeClr val="tx2"/>
              </a:solidFill>
              <a:latin typeface="微软雅黑 Light" panose="020B0502040204020203" pitchFamily="34" charset="-122"/>
            </a:endParaRPr>
          </a:p>
        </p:txBody>
      </p:sp>
      <p:sp>
        <p:nvSpPr>
          <p:cNvPr id="417809" name="Rectangle 17"/>
          <p:cNvSpPr>
            <a:spLocks noChangeArrowheads="1"/>
          </p:cNvSpPr>
          <p:nvPr/>
        </p:nvSpPr>
        <p:spPr bwMode="auto">
          <a:xfrm>
            <a:off x="6524625" y="2924176"/>
            <a:ext cx="2164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10</a:t>
            </a:r>
            <a:endParaRPr lang="en-US" altLang="zh-CN" dirty="0">
              <a:solidFill>
                <a:schemeClr val="tx2"/>
              </a:solidFill>
              <a:latin typeface="微软雅黑 Light" panose="020B0502040204020203" pitchFamily="34" charset="-122"/>
            </a:endParaRPr>
          </a:p>
        </p:txBody>
      </p:sp>
      <p:sp>
        <p:nvSpPr>
          <p:cNvPr id="417810" name="Freeform 18"/>
          <p:cNvSpPr/>
          <p:nvPr/>
        </p:nvSpPr>
        <p:spPr bwMode="auto">
          <a:xfrm>
            <a:off x="4291014" y="3455989"/>
            <a:ext cx="1533525" cy="760412"/>
          </a:xfrm>
          <a:custGeom>
            <a:avLst/>
            <a:gdLst>
              <a:gd name="T0" fmla="*/ 0 w 966"/>
              <a:gd name="T1" fmla="*/ 3 h 479"/>
              <a:gd name="T2" fmla="*/ 165 w 966"/>
              <a:gd name="T3" fmla="*/ 445 h 479"/>
              <a:gd name="T4" fmla="*/ 339 w 966"/>
              <a:gd name="T5" fmla="*/ 9 h 479"/>
              <a:gd name="T6" fmla="*/ 491 w 966"/>
              <a:gd name="T7" fmla="*/ 445 h 479"/>
              <a:gd name="T8" fmla="*/ 665 w 966"/>
              <a:gd name="T9" fmla="*/ 9 h 479"/>
              <a:gd name="T10" fmla="*/ 818 w 966"/>
              <a:gd name="T11" fmla="*/ 445 h 479"/>
              <a:gd name="T12" fmla="*/ 898 w 966"/>
              <a:gd name="T13" fmla="*/ 227 h 479"/>
              <a:gd name="T14" fmla="*/ 933 w 966"/>
              <a:gd name="T15" fmla="*/ 45 h 479"/>
              <a:gd name="T16" fmla="*/ 966 w 966"/>
              <a:gd name="T17" fmla="*/ 11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479">
                <a:moveTo>
                  <a:pt x="0" y="3"/>
                </a:moveTo>
                <a:cubicBezTo>
                  <a:pt x="60" y="0"/>
                  <a:pt x="116" y="445"/>
                  <a:pt x="165" y="445"/>
                </a:cubicBezTo>
                <a:cubicBezTo>
                  <a:pt x="221" y="445"/>
                  <a:pt x="283" y="9"/>
                  <a:pt x="339" y="9"/>
                </a:cubicBezTo>
                <a:cubicBezTo>
                  <a:pt x="394" y="9"/>
                  <a:pt x="436" y="445"/>
                  <a:pt x="491" y="445"/>
                </a:cubicBezTo>
                <a:cubicBezTo>
                  <a:pt x="547" y="445"/>
                  <a:pt x="609" y="9"/>
                  <a:pt x="665" y="9"/>
                </a:cubicBezTo>
                <a:cubicBezTo>
                  <a:pt x="714" y="9"/>
                  <a:pt x="776" y="411"/>
                  <a:pt x="818" y="445"/>
                </a:cubicBezTo>
                <a:cubicBezTo>
                  <a:pt x="857" y="479"/>
                  <a:pt x="886" y="295"/>
                  <a:pt x="898" y="227"/>
                </a:cubicBezTo>
                <a:cubicBezTo>
                  <a:pt x="910" y="159"/>
                  <a:pt x="923" y="81"/>
                  <a:pt x="933" y="45"/>
                </a:cubicBezTo>
                <a:cubicBezTo>
                  <a:pt x="944" y="9"/>
                  <a:pt x="961" y="18"/>
                  <a:pt x="966" y="11"/>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7811" name="Freeform 19"/>
          <p:cNvSpPr/>
          <p:nvPr/>
        </p:nvSpPr>
        <p:spPr bwMode="auto">
          <a:xfrm flipV="1">
            <a:off x="5827713" y="3405190"/>
            <a:ext cx="15430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7813" name="Freeform 21"/>
          <p:cNvSpPr/>
          <p:nvPr/>
        </p:nvSpPr>
        <p:spPr bwMode="auto">
          <a:xfrm flipV="1">
            <a:off x="7350126" y="3430589"/>
            <a:ext cx="1533525" cy="760412"/>
          </a:xfrm>
          <a:custGeom>
            <a:avLst/>
            <a:gdLst>
              <a:gd name="T0" fmla="*/ 0 w 966"/>
              <a:gd name="T1" fmla="*/ 3 h 479"/>
              <a:gd name="T2" fmla="*/ 165 w 966"/>
              <a:gd name="T3" fmla="*/ 445 h 479"/>
              <a:gd name="T4" fmla="*/ 339 w 966"/>
              <a:gd name="T5" fmla="*/ 9 h 479"/>
              <a:gd name="T6" fmla="*/ 491 w 966"/>
              <a:gd name="T7" fmla="*/ 445 h 479"/>
              <a:gd name="T8" fmla="*/ 665 w 966"/>
              <a:gd name="T9" fmla="*/ 9 h 479"/>
              <a:gd name="T10" fmla="*/ 818 w 966"/>
              <a:gd name="T11" fmla="*/ 445 h 479"/>
              <a:gd name="T12" fmla="*/ 898 w 966"/>
              <a:gd name="T13" fmla="*/ 227 h 479"/>
              <a:gd name="T14" fmla="*/ 933 w 966"/>
              <a:gd name="T15" fmla="*/ 45 h 479"/>
              <a:gd name="T16" fmla="*/ 966 w 966"/>
              <a:gd name="T17" fmla="*/ 11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479">
                <a:moveTo>
                  <a:pt x="0" y="3"/>
                </a:moveTo>
                <a:cubicBezTo>
                  <a:pt x="60" y="0"/>
                  <a:pt x="116" y="445"/>
                  <a:pt x="165" y="445"/>
                </a:cubicBezTo>
                <a:cubicBezTo>
                  <a:pt x="221" y="445"/>
                  <a:pt x="283" y="9"/>
                  <a:pt x="339" y="9"/>
                </a:cubicBezTo>
                <a:cubicBezTo>
                  <a:pt x="394" y="9"/>
                  <a:pt x="436" y="445"/>
                  <a:pt x="491" y="445"/>
                </a:cubicBezTo>
                <a:cubicBezTo>
                  <a:pt x="547" y="445"/>
                  <a:pt x="609" y="9"/>
                  <a:pt x="665" y="9"/>
                </a:cubicBezTo>
                <a:cubicBezTo>
                  <a:pt x="714" y="9"/>
                  <a:pt x="776" y="411"/>
                  <a:pt x="818" y="445"/>
                </a:cubicBezTo>
                <a:cubicBezTo>
                  <a:pt x="857" y="479"/>
                  <a:pt x="886" y="295"/>
                  <a:pt x="898" y="227"/>
                </a:cubicBezTo>
                <a:cubicBezTo>
                  <a:pt x="910" y="159"/>
                  <a:pt x="923" y="81"/>
                  <a:pt x="933" y="45"/>
                </a:cubicBezTo>
                <a:cubicBezTo>
                  <a:pt x="944" y="9"/>
                  <a:pt x="961" y="18"/>
                  <a:pt x="966" y="11"/>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 name="内容占位符 1"/>
          <p:cNvSpPr>
            <a:spLocks noGrp="1"/>
          </p:cNvSpPr>
          <p:nvPr>
            <p:ph idx="1"/>
          </p:nvPr>
        </p:nvSpPr>
        <p:spPr>
          <a:xfrm>
            <a:off x="334434" y="1052515"/>
            <a:ext cx="11523133" cy="1798636"/>
          </a:xfrm>
        </p:spPr>
        <p:txBody>
          <a:bodyPr/>
          <a:lstStyle/>
          <a:p>
            <a:r>
              <a:rPr lang="en-US" altLang="zh-CN" dirty="0"/>
              <a:t>PSK</a:t>
            </a:r>
            <a:r>
              <a:rPr lang="zh-CN" altLang="en-US" dirty="0"/>
              <a:t>可以用更多的状态表示二进制位，是调制技术主要应用的技术。</a:t>
            </a:r>
            <a:endParaRPr lang="zh-CN" altLang="en-US" dirty="0"/>
          </a:p>
          <a:p>
            <a:pPr lvl="1"/>
            <a:r>
              <a:rPr lang="zh-CN" altLang="en-US" dirty="0"/>
              <a:t>例如，用</a:t>
            </a:r>
            <a:r>
              <a:rPr lang="en-US" altLang="zh-CN" dirty="0"/>
              <a:t>0</a:t>
            </a:r>
            <a:r>
              <a:rPr lang="en-US" altLang="zh-CN" dirty="0">
                <a:sym typeface="Symbol" panose="05050102010706020507" pitchFamily="18" charset="2"/>
              </a:rPr>
              <a:t></a:t>
            </a:r>
            <a:r>
              <a:rPr lang="zh-CN" altLang="en-US" dirty="0"/>
              <a:t>相位代表</a:t>
            </a:r>
            <a:r>
              <a:rPr lang="en-US" altLang="zh-CN" dirty="0"/>
              <a:t>00</a:t>
            </a:r>
            <a:r>
              <a:rPr lang="zh-CN" altLang="en-US" dirty="0"/>
              <a:t>，用</a:t>
            </a:r>
            <a:r>
              <a:rPr lang="en-US" altLang="zh-CN" dirty="0"/>
              <a:t>90 </a:t>
            </a:r>
            <a:r>
              <a:rPr lang="en-US" altLang="zh-CN" dirty="0">
                <a:sym typeface="Symbol" panose="05050102010706020507" pitchFamily="18" charset="2"/>
              </a:rPr>
              <a:t></a:t>
            </a:r>
            <a:r>
              <a:rPr lang="zh-CN" altLang="en-US" dirty="0"/>
              <a:t>相位表示</a:t>
            </a:r>
            <a:r>
              <a:rPr lang="en-US" altLang="zh-CN" dirty="0"/>
              <a:t>01</a:t>
            </a:r>
            <a:r>
              <a:rPr lang="zh-CN" altLang="en-US" dirty="0"/>
              <a:t>，用</a:t>
            </a:r>
            <a:r>
              <a:rPr lang="en-US" altLang="zh-CN" dirty="0"/>
              <a:t>180 </a:t>
            </a:r>
            <a:r>
              <a:rPr lang="en-US" altLang="zh-CN" dirty="0">
                <a:sym typeface="Symbol" panose="05050102010706020507" pitchFamily="18" charset="2"/>
              </a:rPr>
              <a:t></a:t>
            </a:r>
            <a:r>
              <a:rPr lang="zh-CN" altLang="en-US" dirty="0"/>
              <a:t>相位代表</a:t>
            </a:r>
            <a:r>
              <a:rPr lang="en-US" altLang="zh-CN" dirty="0"/>
              <a:t>10</a:t>
            </a:r>
            <a:r>
              <a:rPr lang="zh-CN" altLang="en-US" dirty="0"/>
              <a:t>，用</a:t>
            </a:r>
            <a:r>
              <a:rPr lang="en-US" altLang="zh-CN" dirty="0"/>
              <a:t>270 </a:t>
            </a:r>
            <a:r>
              <a:rPr lang="en-US" altLang="zh-CN" dirty="0">
                <a:sym typeface="Symbol" panose="05050102010706020507" pitchFamily="18" charset="2"/>
              </a:rPr>
              <a:t></a:t>
            </a:r>
            <a:r>
              <a:rPr lang="zh-CN" altLang="en-US" dirty="0"/>
              <a:t>相位表示</a:t>
            </a:r>
            <a:r>
              <a:rPr lang="en-US" altLang="zh-CN" dirty="0"/>
              <a:t>11</a:t>
            </a:r>
            <a:r>
              <a:rPr lang="zh-CN" altLang="en-US" dirty="0"/>
              <a:t>。这样每种相位的正弦信号可以表示两位二进制信息。 </a:t>
            </a:r>
            <a:endParaRPr lang="zh-CN" altLang="en-US" dirty="0"/>
          </a:p>
          <a:p>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zh-CN" altLang="en-US" dirty="0"/>
              <a:t>相移键控星座图</a:t>
            </a:r>
            <a:endParaRPr lang="en-US" altLang="zh-CN" dirty="0"/>
          </a:p>
        </p:txBody>
      </p:sp>
      <p:sp>
        <p:nvSpPr>
          <p:cNvPr id="32" name="灯片编号占位符 5"/>
          <p:cNvSpPr>
            <a:spLocks noGrp="1"/>
          </p:cNvSpPr>
          <p:nvPr>
            <p:ph type="sldNum" sz="quarter" idx="12"/>
          </p:nvPr>
        </p:nvSpPr>
        <p:spPr/>
        <p:txBody>
          <a:bodyPr/>
          <a:lstStyle/>
          <a:p>
            <a:fld id="{0270955C-0657-42A3-AFA2-0B44878B96B2}" type="slidenum">
              <a:rPr lang="en-US" altLang="zh-CN"/>
            </a:fld>
            <a:endParaRPr lang="en-US" altLang="zh-CN" dirty="0"/>
          </a:p>
        </p:txBody>
      </p:sp>
      <p:sp>
        <p:nvSpPr>
          <p:cNvPr id="418823" name="Rectangle 7"/>
          <p:cNvSpPr>
            <a:spLocks noChangeArrowheads="1"/>
          </p:cNvSpPr>
          <p:nvPr/>
        </p:nvSpPr>
        <p:spPr bwMode="auto">
          <a:xfrm>
            <a:off x="2911475" y="4738689"/>
            <a:ext cx="6187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2-PSK</a:t>
            </a:r>
            <a:endParaRPr lang="en-US" altLang="zh-CN" dirty="0">
              <a:latin typeface="微软雅黑 Light" panose="020B0502040204020203" pitchFamily="34" charset="-122"/>
            </a:endParaRPr>
          </a:p>
        </p:txBody>
      </p:sp>
      <p:sp>
        <p:nvSpPr>
          <p:cNvPr id="418824" name="Rectangle 8"/>
          <p:cNvSpPr>
            <a:spLocks noChangeArrowheads="1"/>
          </p:cNvSpPr>
          <p:nvPr/>
        </p:nvSpPr>
        <p:spPr bwMode="auto">
          <a:xfrm>
            <a:off x="2081213" y="3354389"/>
            <a:ext cx="881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a:t>
            </a:r>
            <a:endParaRPr lang="en-US" altLang="zh-CN" dirty="0">
              <a:latin typeface="微软雅黑 Light" panose="020B0502040204020203" pitchFamily="34" charset="-122"/>
            </a:endParaRPr>
          </a:p>
        </p:txBody>
      </p:sp>
      <p:sp>
        <p:nvSpPr>
          <p:cNvPr id="418825" name="Rectangle 9"/>
          <p:cNvSpPr>
            <a:spLocks noChangeArrowheads="1"/>
          </p:cNvSpPr>
          <p:nvPr/>
        </p:nvSpPr>
        <p:spPr bwMode="auto">
          <a:xfrm>
            <a:off x="4241800" y="3354389"/>
            <a:ext cx="1282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a:t>
            </a:r>
            <a:endParaRPr lang="en-US" altLang="zh-CN" dirty="0">
              <a:latin typeface="微软雅黑 Light" panose="020B0502040204020203" pitchFamily="34" charset="-122"/>
            </a:endParaRPr>
          </a:p>
        </p:txBody>
      </p:sp>
      <p:sp>
        <p:nvSpPr>
          <p:cNvPr id="418829" name="Rectangle 13"/>
          <p:cNvSpPr>
            <a:spLocks noChangeArrowheads="1"/>
          </p:cNvSpPr>
          <p:nvPr/>
        </p:nvSpPr>
        <p:spPr bwMode="auto">
          <a:xfrm>
            <a:off x="5503863" y="4738689"/>
            <a:ext cx="6235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4-PSK</a:t>
            </a:r>
            <a:endParaRPr lang="en-US" altLang="zh-CN" dirty="0">
              <a:latin typeface="微软雅黑 Light" panose="020B0502040204020203" pitchFamily="34" charset="-122"/>
            </a:endParaRPr>
          </a:p>
        </p:txBody>
      </p:sp>
      <p:sp>
        <p:nvSpPr>
          <p:cNvPr id="418830" name="Rectangle 14"/>
          <p:cNvSpPr>
            <a:spLocks noChangeArrowheads="1"/>
          </p:cNvSpPr>
          <p:nvPr/>
        </p:nvSpPr>
        <p:spPr bwMode="auto">
          <a:xfrm>
            <a:off x="4529138" y="3354389"/>
            <a:ext cx="2164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10</a:t>
            </a:r>
            <a:endParaRPr lang="en-US" altLang="zh-CN" dirty="0">
              <a:latin typeface="微软雅黑 Light" panose="020B0502040204020203" pitchFamily="34" charset="-122"/>
            </a:endParaRPr>
          </a:p>
        </p:txBody>
      </p:sp>
      <p:sp>
        <p:nvSpPr>
          <p:cNvPr id="418831" name="Rectangle 15"/>
          <p:cNvSpPr>
            <a:spLocks noChangeArrowheads="1"/>
          </p:cNvSpPr>
          <p:nvPr/>
        </p:nvSpPr>
        <p:spPr bwMode="auto">
          <a:xfrm>
            <a:off x="6761163" y="3354389"/>
            <a:ext cx="256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00</a:t>
            </a:r>
            <a:endParaRPr lang="en-US" altLang="zh-CN" dirty="0">
              <a:latin typeface="微软雅黑 Light" panose="020B0502040204020203" pitchFamily="34" charset="-122"/>
            </a:endParaRPr>
          </a:p>
        </p:txBody>
      </p:sp>
      <p:sp>
        <p:nvSpPr>
          <p:cNvPr id="418832" name="Rectangle 16"/>
          <p:cNvSpPr>
            <a:spLocks noChangeArrowheads="1"/>
          </p:cNvSpPr>
          <p:nvPr/>
        </p:nvSpPr>
        <p:spPr bwMode="auto">
          <a:xfrm>
            <a:off x="5651500" y="2201864"/>
            <a:ext cx="2164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01</a:t>
            </a:r>
            <a:endParaRPr lang="en-US" altLang="zh-CN" dirty="0">
              <a:latin typeface="微软雅黑 Light" panose="020B0502040204020203" pitchFamily="34" charset="-122"/>
            </a:endParaRPr>
          </a:p>
        </p:txBody>
      </p:sp>
      <p:sp>
        <p:nvSpPr>
          <p:cNvPr id="418833" name="Rectangle 17"/>
          <p:cNvSpPr>
            <a:spLocks noChangeArrowheads="1"/>
          </p:cNvSpPr>
          <p:nvPr/>
        </p:nvSpPr>
        <p:spPr bwMode="auto">
          <a:xfrm>
            <a:off x="5667375" y="4376739"/>
            <a:ext cx="176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11</a:t>
            </a:r>
            <a:endParaRPr lang="en-US" altLang="zh-CN" dirty="0">
              <a:latin typeface="微软雅黑 Light" panose="020B0502040204020203" pitchFamily="34" charset="-122"/>
            </a:endParaRPr>
          </a:p>
        </p:txBody>
      </p:sp>
      <p:sp>
        <p:nvSpPr>
          <p:cNvPr id="418837" name="Rectangle 21"/>
          <p:cNvSpPr>
            <a:spLocks noChangeArrowheads="1"/>
          </p:cNvSpPr>
          <p:nvPr/>
        </p:nvSpPr>
        <p:spPr bwMode="auto">
          <a:xfrm>
            <a:off x="8489950" y="4738689"/>
            <a:ext cx="6187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8-PSK</a:t>
            </a:r>
            <a:endParaRPr lang="en-US" altLang="zh-CN" dirty="0">
              <a:latin typeface="微软雅黑 Light" panose="020B0502040204020203" pitchFamily="34" charset="-122"/>
            </a:endParaRPr>
          </a:p>
        </p:txBody>
      </p:sp>
      <p:sp>
        <p:nvSpPr>
          <p:cNvPr id="418838" name="Rectangle 22"/>
          <p:cNvSpPr>
            <a:spLocks noChangeArrowheads="1"/>
          </p:cNvSpPr>
          <p:nvPr/>
        </p:nvSpPr>
        <p:spPr bwMode="auto">
          <a:xfrm>
            <a:off x="7337425" y="3354389"/>
            <a:ext cx="342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100</a:t>
            </a:r>
            <a:endParaRPr lang="en-US" altLang="zh-CN" dirty="0">
              <a:latin typeface="微软雅黑 Light" panose="020B0502040204020203" pitchFamily="34" charset="-122"/>
            </a:endParaRPr>
          </a:p>
        </p:txBody>
      </p:sp>
      <p:sp>
        <p:nvSpPr>
          <p:cNvPr id="418839" name="Rectangle 23"/>
          <p:cNvSpPr>
            <a:spLocks noChangeArrowheads="1"/>
          </p:cNvSpPr>
          <p:nvPr/>
        </p:nvSpPr>
        <p:spPr bwMode="auto">
          <a:xfrm>
            <a:off x="9713913" y="3354389"/>
            <a:ext cx="38472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000</a:t>
            </a:r>
            <a:endParaRPr lang="en-US" altLang="zh-CN" dirty="0">
              <a:latin typeface="微软雅黑 Light" panose="020B0502040204020203" pitchFamily="34" charset="-122"/>
            </a:endParaRPr>
          </a:p>
        </p:txBody>
      </p:sp>
      <p:sp>
        <p:nvSpPr>
          <p:cNvPr id="418840" name="Rectangle 24"/>
          <p:cNvSpPr>
            <a:spLocks noChangeArrowheads="1"/>
          </p:cNvSpPr>
          <p:nvPr/>
        </p:nvSpPr>
        <p:spPr bwMode="auto">
          <a:xfrm>
            <a:off x="8520113" y="2184400"/>
            <a:ext cx="342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010</a:t>
            </a:r>
            <a:endParaRPr lang="en-US" altLang="zh-CN" dirty="0">
              <a:latin typeface="微软雅黑 Light" panose="020B0502040204020203" pitchFamily="34" charset="-122"/>
            </a:endParaRPr>
          </a:p>
        </p:txBody>
      </p:sp>
      <p:sp>
        <p:nvSpPr>
          <p:cNvPr id="418841" name="Rectangle 25"/>
          <p:cNvSpPr>
            <a:spLocks noChangeArrowheads="1"/>
          </p:cNvSpPr>
          <p:nvPr/>
        </p:nvSpPr>
        <p:spPr bwMode="auto">
          <a:xfrm>
            <a:off x="8543925" y="4365625"/>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110</a:t>
            </a:r>
            <a:endParaRPr lang="en-US" altLang="zh-CN" dirty="0">
              <a:latin typeface="微软雅黑 Light" panose="020B0502040204020203" pitchFamily="34" charset="-122"/>
            </a:endParaRPr>
          </a:p>
        </p:txBody>
      </p:sp>
      <p:sp>
        <p:nvSpPr>
          <p:cNvPr id="418844" name="Rectangle 28"/>
          <p:cNvSpPr>
            <a:spLocks noChangeArrowheads="1"/>
          </p:cNvSpPr>
          <p:nvPr/>
        </p:nvSpPr>
        <p:spPr bwMode="auto">
          <a:xfrm>
            <a:off x="9426575" y="2562225"/>
            <a:ext cx="342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001</a:t>
            </a:r>
            <a:endParaRPr lang="en-US" altLang="zh-CN" dirty="0">
              <a:latin typeface="微软雅黑 Light" panose="020B0502040204020203" pitchFamily="34" charset="-122"/>
            </a:endParaRPr>
          </a:p>
        </p:txBody>
      </p:sp>
      <p:sp>
        <p:nvSpPr>
          <p:cNvPr id="418845" name="Rectangle 29"/>
          <p:cNvSpPr>
            <a:spLocks noChangeArrowheads="1"/>
          </p:cNvSpPr>
          <p:nvPr/>
        </p:nvSpPr>
        <p:spPr bwMode="auto">
          <a:xfrm>
            <a:off x="7626350" y="2490789"/>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011</a:t>
            </a:r>
            <a:endParaRPr lang="en-US" altLang="zh-CN" dirty="0">
              <a:latin typeface="微软雅黑 Light" panose="020B0502040204020203" pitchFamily="34" charset="-122"/>
            </a:endParaRPr>
          </a:p>
        </p:txBody>
      </p:sp>
      <p:sp>
        <p:nvSpPr>
          <p:cNvPr id="418846" name="Rectangle 30"/>
          <p:cNvSpPr>
            <a:spLocks noChangeArrowheads="1"/>
          </p:cNvSpPr>
          <p:nvPr/>
        </p:nvSpPr>
        <p:spPr bwMode="auto">
          <a:xfrm>
            <a:off x="7626350" y="4146550"/>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101</a:t>
            </a:r>
            <a:endParaRPr lang="en-US" altLang="zh-CN" dirty="0">
              <a:latin typeface="微软雅黑 Light" panose="020B0502040204020203" pitchFamily="34" charset="-122"/>
            </a:endParaRPr>
          </a:p>
        </p:txBody>
      </p:sp>
      <p:sp>
        <p:nvSpPr>
          <p:cNvPr id="418847" name="Rectangle 31"/>
          <p:cNvSpPr>
            <a:spLocks noChangeArrowheads="1"/>
          </p:cNvSpPr>
          <p:nvPr/>
        </p:nvSpPr>
        <p:spPr bwMode="auto">
          <a:xfrm>
            <a:off x="9353550" y="4075114"/>
            <a:ext cx="2644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rgbClr val="000000"/>
                </a:solidFill>
                <a:latin typeface="微软雅黑 Light" panose="020B0502040204020203" pitchFamily="34" charset="-122"/>
              </a:rPr>
              <a:t>111</a:t>
            </a:r>
            <a:endParaRPr lang="en-US" altLang="zh-CN" dirty="0">
              <a:latin typeface="微软雅黑 Light" panose="020B0502040204020203" pitchFamily="34" charset="-122"/>
            </a:endParaRPr>
          </a:p>
        </p:txBody>
      </p:sp>
      <p:sp>
        <p:nvSpPr>
          <p:cNvPr id="418848" name="Line 32"/>
          <p:cNvSpPr>
            <a:spLocks noChangeShapeType="1"/>
          </p:cNvSpPr>
          <p:nvPr/>
        </p:nvSpPr>
        <p:spPr bwMode="auto">
          <a:xfrm>
            <a:off x="2297113" y="3498850"/>
            <a:ext cx="1871662"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8849" name="Line 33"/>
          <p:cNvSpPr>
            <a:spLocks noChangeShapeType="1"/>
          </p:cNvSpPr>
          <p:nvPr/>
        </p:nvSpPr>
        <p:spPr bwMode="auto">
          <a:xfrm rot="-5400000">
            <a:off x="2297907" y="3426619"/>
            <a:ext cx="1871662" cy="0"/>
          </a:xfrm>
          <a:prstGeom prst="line">
            <a:avLst/>
          </a:prstGeom>
          <a:noFill/>
          <a:ln w="127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8850" name="Line 34"/>
          <p:cNvSpPr>
            <a:spLocks noChangeShapeType="1"/>
          </p:cNvSpPr>
          <p:nvPr/>
        </p:nvSpPr>
        <p:spPr bwMode="auto">
          <a:xfrm>
            <a:off x="4816476" y="3498850"/>
            <a:ext cx="1871663"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8851" name="Line 35"/>
          <p:cNvSpPr>
            <a:spLocks noChangeShapeType="1"/>
          </p:cNvSpPr>
          <p:nvPr/>
        </p:nvSpPr>
        <p:spPr bwMode="auto">
          <a:xfrm rot="-5400000">
            <a:off x="4817269" y="3426619"/>
            <a:ext cx="1871662"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nvGrpSpPr>
          <p:cNvPr id="418855" name="Group 39"/>
          <p:cNvGrpSpPr/>
          <p:nvPr/>
        </p:nvGrpSpPr>
        <p:grpSpPr bwMode="auto">
          <a:xfrm>
            <a:off x="7769226" y="2490788"/>
            <a:ext cx="1871663" cy="1871662"/>
            <a:chOff x="3923" y="1888"/>
            <a:chExt cx="1179" cy="1179"/>
          </a:xfrm>
        </p:grpSpPr>
        <p:sp>
          <p:nvSpPr>
            <p:cNvPr id="418852" name="Line 36"/>
            <p:cNvSpPr>
              <a:spLocks noChangeShapeType="1"/>
            </p:cNvSpPr>
            <p:nvPr/>
          </p:nvSpPr>
          <p:spPr bwMode="auto">
            <a:xfrm>
              <a:off x="3923" y="2523"/>
              <a:ext cx="1179"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8853" name="Line 37"/>
            <p:cNvSpPr>
              <a:spLocks noChangeShapeType="1"/>
            </p:cNvSpPr>
            <p:nvPr/>
          </p:nvSpPr>
          <p:spPr bwMode="auto">
            <a:xfrm rot="-5400000">
              <a:off x="3923" y="2478"/>
              <a:ext cx="1179"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418856" name="Group 40"/>
          <p:cNvGrpSpPr/>
          <p:nvPr/>
        </p:nvGrpSpPr>
        <p:grpSpPr bwMode="auto">
          <a:xfrm rot="-2711047">
            <a:off x="7721601" y="2509838"/>
            <a:ext cx="1871662" cy="1871663"/>
            <a:chOff x="3923" y="1888"/>
            <a:chExt cx="1179" cy="1179"/>
          </a:xfrm>
        </p:grpSpPr>
        <p:sp>
          <p:nvSpPr>
            <p:cNvPr id="418857" name="Line 41"/>
            <p:cNvSpPr>
              <a:spLocks noChangeShapeType="1"/>
            </p:cNvSpPr>
            <p:nvPr/>
          </p:nvSpPr>
          <p:spPr bwMode="auto">
            <a:xfrm>
              <a:off x="3923" y="2523"/>
              <a:ext cx="1179"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8858" name="Line 42"/>
            <p:cNvSpPr>
              <a:spLocks noChangeShapeType="1"/>
            </p:cNvSpPr>
            <p:nvPr/>
          </p:nvSpPr>
          <p:spPr bwMode="auto">
            <a:xfrm rot="-5400000">
              <a:off x="3923" y="2478"/>
              <a:ext cx="1179" cy="0"/>
            </a:xfrm>
            <a:prstGeom prst="line">
              <a:avLst/>
            </a:prstGeom>
            <a:noFill/>
            <a:ln w="1270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zh-CN" altLang="en-US" dirty="0"/>
              <a:t>正交调幅</a:t>
            </a:r>
            <a:endParaRPr lang="en-US" altLang="zh-CN" dirty="0"/>
          </a:p>
        </p:txBody>
      </p:sp>
      <p:sp>
        <p:nvSpPr>
          <p:cNvPr id="36" name="灯片编号占位符 5"/>
          <p:cNvSpPr>
            <a:spLocks noGrp="1"/>
          </p:cNvSpPr>
          <p:nvPr>
            <p:ph type="sldNum" sz="quarter" idx="12"/>
          </p:nvPr>
        </p:nvSpPr>
        <p:spPr/>
        <p:txBody>
          <a:bodyPr/>
          <a:lstStyle/>
          <a:p>
            <a:fld id="{8B485F1A-5E4E-4A1A-9D21-823A36E293EE}" type="slidenum">
              <a:rPr lang="en-US" altLang="zh-CN"/>
            </a:fld>
            <a:endParaRPr lang="en-US" altLang="zh-CN" dirty="0"/>
          </a:p>
        </p:txBody>
      </p:sp>
      <p:sp>
        <p:nvSpPr>
          <p:cNvPr id="419861" name="Freeform 21"/>
          <p:cNvSpPr/>
          <p:nvPr/>
        </p:nvSpPr>
        <p:spPr bwMode="auto">
          <a:xfrm>
            <a:off x="2855914" y="3376614"/>
            <a:ext cx="782637"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nvGrpSpPr>
          <p:cNvPr id="419862" name="Group 22"/>
          <p:cNvGrpSpPr/>
          <p:nvPr/>
        </p:nvGrpSpPr>
        <p:grpSpPr bwMode="auto">
          <a:xfrm>
            <a:off x="4402139" y="2925764"/>
            <a:ext cx="4668837" cy="1747837"/>
            <a:chOff x="1475" y="1639"/>
            <a:chExt cx="2915" cy="1388"/>
          </a:xfrm>
        </p:grpSpPr>
        <p:sp>
          <p:nvSpPr>
            <p:cNvPr id="419863" name="Line 23"/>
            <p:cNvSpPr>
              <a:spLocks noChangeShapeType="1"/>
            </p:cNvSpPr>
            <p:nvPr/>
          </p:nvSpPr>
          <p:spPr bwMode="auto">
            <a:xfrm>
              <a:off x="1475"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9864" name="Line 24"/>
            <p:cNvSpPr>
              <a:spLocks noChangeShapeType="1"/>
            </p:cNvSpPr>
            <p:nvPr/>
          </p:nvSpPr>
          <p:spPr bwMode="auto">
            <a:xfrm>
              <a:off x="2447"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9865" name="Line 25"/>
            <p:cNvSpPr>
              <a:spLocks noChangeShapeType="1"/>
            </p:cNvSpPr>
            <p:nvPr/>
          </p:nvSpPr>
          <p:spPr bwMode="auto">
            <a:xfrm>
              <a:off x="3418"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9866" name="Line 26"/>
            <p:cNvSpPr>
              <a:spLocks noChangeShapeType="1"/>
            </p:cNvSpPr>
            <p:nvPr/>
          </p:nvSpPr>
          <p:spPr bwMode="auto">
            <a:xfrm>
              <a:off x="4390"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19867" name="Rectangle 27"/>
          <p:cNvSpPr>
            <a:spLocks noChangeArrowheads="1"/>
          </p:cNvSpPr>
          <p:nvPr/>
        </p:nvSpPr>
        <p:spPr bwMode="auto">
          <a:xfrm>
            <a:off x="2279650" y="2822575"/>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振幅</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9868" name="Rectangle 28"/>
          <p:cNvSpPr>
            <a:spLocks noChangeArrowheads="1"/>
          </p:cNvSpPr>
          <p:nvPr/>
        </p:nvSpPr>
        <p:spPr bwMode="auto">
          <a:xfrm>
            <a:off x="9599613" y="3860800"/>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dirty="0">
                <a:solidFill>
                  <a:schemeClr val="tx2"/>
                </a:solidFill>
                <a:latin typeface="宋体" panose="02010600030101010101" pitchFamily="2" charset="-122"/>
                <a:ea typeface="微软雅黑 Light" panose="020B0502040204020203" pitchFamily="34" charset="-122"/>
              </a:rPr>
              <a:t>时间</a:t>
            </a:r>
            <a:endParaRPr lang="zh-CN" altLang="en-US" dirty="0">
              <a:solidFill>
                <a:schemeClr val="tx2"/>
              </a:solidFill>
              <a:latin typeface="微软雅黑 Light" panose="020B0502040204020203" pitchFamily="34" charset="-122"/>
              <a:ea typeface="微软雅黑 Light" panose="020B0502040204020203" pitchFamily="34" charset="-122"/>
            </a:endParaRPr>
          </a:p>
        </p:txBody>
      </p:sp>
      <p:sp>
        <p:nvSpPr>
          <p:cNvPr id="419869" name="Line 29"/>
          <p:cNvSpPr>
            <a:spLocks noChangeShapeType="1"/>
          </p:cNvSpPr>
          <p:nvPr/>
        </p:nvSpPr>
        <p:spPr bwMode="auto">
          <a:xfrm flipV="1">
            <a:off x="2855913" y="2881313"/>
            <a:ext cx="0" cy="181610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9870" name="Line 30"/>
          <p:cNvSpPr>
            <a:spLocks noChangeShapeType="1"/>
          </p:cNvSpPr>
          <p:nvPr/>
        </p:nvSpPr>
        <p:spPr bwMode="auto">
          <a:xfrm>
            <a:off x="2855913" y="3789363"/>
            <a:ext cx="7200900" cy="0"/>
          </a:xfrm>
          <a:prstGeom prst="line">
            <a:avLst/>
          </a:prstGeom>
          <a:noFill/>
          <a:ln w="127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19871" name="Rectangle 31"/>
          <p:cNvSpPr>
            <a:spLocks noChangeArrowheads="1"/>
          </p:cNvSpPr>
          <p:nvPr/>
        </p:nvSpPr>
        <p:spPr bwMode="auto">
          <a:xfrm>
            <a:off x="3103563" y="2728914"/>
            <a:ext cx="38472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000</a:t>
            </a:r>
            <a:endParaRPr lang="en-US" altLang="zh-CN" dirty="0">
              <a:solidFill>
                <a:schemeClr val="tx2"/>
              </a:solidFill>
              <a:latin typeface="微软雅黑 Light" panose="020B0502040204020203" pitchFamily="34" charset="-122"/>
            </a:endParaRPr>
          </a:p>
        </p:txBody>
      </p:sp>
      <p:sp>
        <p:nvSpPr>
          <p:cNvPr id="419872" name="Rectangle 32"/>
          <p:cNvSpPr>
            <a:spLocks noChangeArrowheads="1"/>
          </p:cNvSpPr>
          <p:nvPr/>
        </p:nvSpPr>
        <p:spPr bwMode="auto">
          <a:xfrm>
            <a:off x="7742238" y="2728914"/>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110</a:t>
            </a:r>
            <a:endParaRPr lang="en-US" altLang="zh-CN" dirty="0">
              <a:solidFill>
                <a:schemeClr val="tx2"/>
              </a:solidFill>
              <a:latin typeface="微软雅黑 Light" panose="020B0502040204020203" pitchFamily="34" charset="-122"/>
            </a:endParaRPr>
          </a:p>
        </p:txBody>
      </p:sp>
      <p:sp>
        <p:nvSpPr>
          <p:cNvPr id="419873" name="Rectangle 33"/>
          <p:cNvSpPr>
            <a:spLocks noChangeArrowheads="1"/>
          </p:cNvSpPr>
          <p:nvPr/>
        </p:nvSpPr>
        <p:spPr bwMode="auto">
          <a:xfrm>
            <a:off x="4646613" y="2728914"/>
            <a:ext cx="342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010</a:t>
            </a:r>
            <a:endParaRPr lang="en-US" altLang="zh-CN" dirty="0">
              <a:solidFill>
                <a:schemeClr val="tx2"/>
              </a:solidFill>
              <a:latin typeface="微软雅黑 Light" panose="020B0502040204020203" pitchFamily="34" charset="-122"/>
            </a:endParaRPr>
          </a:p>
        </p:txBody>
      </p:sp>
      <p:sp>
        <p:nvSpPr>
          <p:cNvPr id="419874" name="Rectangle 34"/>
          <p:cNvSpPr>
            <a:spLocks noChangeArrowheads="1"/>
          </p:cNvSpPr>
          <p:nvPr/>
        </p:nvSpPr>
        <p:spPr bwMode="auto">
          <a:xfrm>
            <a:off x="6157913" y="2728914"/>
            <a:ext cx="342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100</a:t>
            </a:r>
            <a:endParaRPr lang="en-US" altLang="zh-CN" dirty="0">
              <a:solidFill>
                <a:schemeClr val="tx2"/>
              </a:solidFill>
              <a:latin typeface="微软雅黑 Light" panose="020B0502040204020203" pitchFamily="34" charset="-122"/>
            </a:endParaRPr>
          </a:p>
        </p:txBody>
      </p:sp>
      <p:sp>
        <p:nvSpPr>
          <p:cNvPr id="419875" name="Freeform 35"/>
          <p:cNvSpPr/>
          <p:nvPr/>
        </p:nvSpPr>
        <p:spPr bwMode="auto">
          <a:xfrm>
            <a:off x="4405313" y="3427413"/>
            <a:ext cx="773112" cy="760412"/>
          </a:xfrm>
          <a:custGeom>
            <a:avLst/>
            <a:gdLst>
              <a:gd name="T0" fmla="*/ 0 w 966"/>
              <a:gd name="T1" fmla="*/ 3 h 479"/>
              <a:gd name="T2" fmla="*/ 165 w 966"/>
              <a:gd name="T3" fmla="*/ 445 h 479"/>
              <a:gd name="T4" fmla="*/ 339 w 966"/>
              <a:gd name="T5" fmla="*/ 9 h 479"/>
              <a:gd name="T6" fmla="*/ 491 w 966"/>
              <a:gd name="T7" fmla="*/ 445 h 479"/>
              <a:gd name="T8" fmla="*/ 665 w 966"/>
              <a:gd name="T9" fmla="*/ 9 h 479"/>
              <a:gd name="T10" fmla="*/ 818 w 966"/>
              <a:gd name="T11" fmla="*/ 445 h 479"/>
              <a:gd name="T12" fmla="*/ 898 w 966"/>
              <a:gd name="T13" fmla="*/ 227 h 479"/>
              <a:gd name="T14" fmla="*/ 933 w 966"/>
              <a:gd name="T15" fmla="*/ 45 h 479"/>
              <a:gd name="T16" fmla="*/ 966 w 966"/>
              <a:gd name="T17" fmla="*/ 11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479">
                <a:moveTo>
                  <a:pt x="0" y="3"/>
                </a:moveTo>
                <a:cubicBezTo>
                  <a:pt x="60" y="0"/>
                  <a:pt x="116" y="445"/>
                  <a:pt x="165" y="445"/>
                </a:cubicBezTo>
                <a:cubicBezTo>
                  <a:pt x="221" y="445"/>
                  <a:pt x="283" y="9"/>
                  <a:pt x="339" y="9"/>
                </a:cubicBezTo>
                <a:cubicBezTo>
                  <a:pt x="394" y="9"/>
                  <a:pt x="436" y="445"/>
                  <a:pt x="491" y="445"/>
                </a:cubicBezTo>
                <a:cubicBezTo>
                  <a:pt x="547" y="445"/>
                  <a:pt x="609" y="9"/>
                  <a:pt x="665" y="9"/>
                </a:cubicBezTo>
                <a:cubicBezTo>
                  <a:pt x="714" y="9"/>
                  <a:pt x="776" y="411"/>
                  <a:pt x="818" y="445"/>
                </a:cubicBezTo>
                <a:cubicBezTo>
                  <a:pt x="857" y="479"/>
                  <a:pt x="886" y="295"/>
                  <a:pt x="898" y="227"/>
                </a:cubicBezTo>
                <a:cubicBezTo>
                  <a:pt x="910" y="159"/>
                  <a:pt x="923" y="81"/>
                  <a:pt x="933" y="45"/>
                </a:cubicBezTo>
                <a:cubicBezTo>
                  <a:pt x="944" y="9"/>
                  <a:pt x="961" y="18"/>
                  <a:pt x="966" y="11"/>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9876" name="Freeform 36"/>
          <p:cNvSpPr/>
          <p:nvPr/>
        </p:nvSpPr>
        <p:spPr bwMode="auto">
          <a:xfrm flipV="1">
            <a:off x="5962650" y="3376614"/>
            <a:ext cx="755650" cy="814387"/>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9877" name="Freeform 37"/>
          <p:cNvSpPr/>
          <p:nvPr/>
        </p:nvSpPr>
        <p:spPr bwMode="auto">
          <a:xfrm flipV="1">
            <a:off x="7512051" y="3402013"/>
            <a:ext cx="754063" cy="760412"/>
          </a:xfrm>
          <a:custGeom>
            <a:avLst/>
            <a:gdLst>
              <a:gd name="T0" fmla="*/ 0 w 966"/>
              <a:gd name="T1" fmla="*/ 3 h 479"/>
              <a:gd name="T2" fmla="*/ 165 w 966"/>
              <a:gd name="T3" fmla="*/ 445 h 479"/>
              <a:gd name="T4" fmla="*/ 339 w 966"/>
              <a:gd name="T5" fmla="*/ 9 h 479"/>
              <a:gd name="T6" fmla="*/ 491 w 966"/>
              <a:gd name="T7" fmla="*/ 445 h 479"/>
              <a:gd name="T8" fmla="*/ 665 w 966"/>
              <a:gd name="T9" fmla="*/ 9 h 479"/>
              <a:gd name="T10" fmla="*/ 818 w 966"/>
              <a:gd name="T11" fmla="*/ 445 h 479"/>
              <a:gd name="T12" fmla="*/ 898 w 966"/>
              <a:gd name="T13" fmla="*/ 227 h 479"/>
              <a:gd name="T14" fmla="*/ 933 w 966"/>
              <a:gd name="T15" fmla="*/ 45 h 479"/>
              <a:gd name="T16" fmla="*/ 966 w 966"/>
              <a:gd name="T17" fmla="*/ 11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479">
                <a:moveTo>
                  <a:pt x="0" y="3"/>
                </a:moveTo>
                <a:cubicBezTo>
                  <a:pt x="60" y="0"/>
                  <a:pt x="116" y="445"/>
                  <a:pt x="165" y="445"/>
                </a:cubicBezTo>
                <a:cubicBezTo>
                  <a:pt x="221" y="445"/>
                  <a:pt x="283" y="9"/>
                  <a:pt x="339" y="9"/>
                </a:cubicBezTo>
                <a:cubicBezTo>
                  <a:pt x="394" y="9"/>
                  <a:pt x="436" y="445"/>
                  <a:pt x="491" y="445"/>
                </a:cubicBezTo>
                <a:cubicBezTo>
                  <a:pt x="547" y="445"/>
                  <a:pt x="609" y="9"/>
                  <a:pt x="665" y="9"/>
                </a:cubicBezTo>
                <a:cubicBezTo>
                  <a:pt x="714" y="9"/>
                  <a:pt x="776" y="411"/>
                  <a:pt x="818" y="445"/>
                </a:cubicBezTo>
                <a:cubicBezTo>
                  <a:pt x="857" y="479"/>
                  <a:pt x="886" y="295"/>
                  <a:pt x="898" y="227"/>
                </a:cubicBezTo>
                <a:cubicBezTo>
                  <a:pt x="910" y="159"/>
                  <a:pt x="923" y="81"/>
                  <a:pt x="933" y="45"/>
                </a:cubicBezTo>
                <a:cubicBezTo>
                  <a:pt x="944" y="9"/>
                  <a:pt x="961" y="18"/>
                  <a:pt x="966" y="11"/>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nvGrpSpPr>
          <p:cNvPr id="419878" name="Group 38"/>
          <p:cNvGrpSpPr/>
          <p:nvPr/>
        </p:nvGrpSpPr>
        <p:grpSpPr bwMode="auto">
          <a:xfrm>
            <a:off x="3638551" y="2917826"/>
            <a:ext cx="4627563" cy="1755775"/>
            <a:chOff x="1475" y="1639"/>
            <a:chExt cx="2915" cy="1388"/>
          </a:xfrm>
        </p:grpSpPr>
        <p:sp>
          <p:nvSpPr>
            <p:cNvPr id="419879" name="Line 39"/>
            <p:cNvSpPr>
              <a:spLocks noChangeShapeType="1"/>
            </p:cNvSpPr>
            <p:nvPr/>
          </p:nvSpPr>
          <p:spPr bwMode="auto">
            <a:xfrm>
              <a:off x="1475"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9880" name="Line 40"/>
            <p:cNvSpPr>
              <a:spLocks noChangeShapeType="1"/>
            </p:cNvSpPr>
            <p:nvPr/>
          </p:nvSpPr>
          <p:spPr bwMode="auto">
            <a:xfrm>
              <a:off x="2447"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9881" name="Line 41"/>
            <p:cNvSpPr>
              <a:spLocks noChangeShapeType="1"/>
            </p:cNvSpPr>
            <p:nvPr/>
          </p:nvSpPr>
          <p:spPr bwMode="auto">
            <a:xfrm>
              <a:off x="3418"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19882" name="Line 42"/>
            <p:cNvSpPr>
              <a:spLocks noChangeShapeType="1"/>
            </p:cNvSpPr>
            <p:nvPr/>
          </p:nvSpPr>
          <p:spPr bwMode="auto">
            <a:xfrm>
              <a:off x="4390" y="1639"/>
              <a:ext cx="0" cy="1388"/>
            </a:xfrm>
            <a:prstGeom prst="line">
              <a:avLst/>
            </a:prstGeom>
            <a:noFill/>
            <a:ln w="11113">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grpSp>
      <p:sp>
        <p:nvSpPr>
          <p:cNvPr id="419883" name="Freeform 43"/>
          <p:cNvSpPr/>
          <p:nvPr/>
        </p:nvSpPr>
        <p:spPr bwMode="auto">
          <a:xfrm>
            <a:off x="3638551" y="2873376"/>
            <a:ext cx="754063" cy="1819275"/>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9884" name="Freeform 44"/>
          <p:cNvSpPr/>
          <p:nvPr/>
        </p:nvSpPr>
        <p:spPr bwMode="auto">
          <a:xfrm>
            <a:off x="5178426" y="2965450"/>
            <a:ext cx="773113" cy="1708150"/>
          </a:xfrm>
          <a:custGeom>
            <a:avLst/>
            <a:gdLst>
              <a:gd name="T0" fmla="*/ 0 w 966"/>
              <a:gd name="T1" fmla="*/ 3 h 479"/>
              <a:gd name="T2" fmla="*/ 165 w 966"/>
              <a:gd name="T3" fmla="*/ 445 h 479"/>
              <a:gd name="T4" fmla="*/ 339 w 966"/>
              <a:gd name="T5" fmla="*/ 9 h 479"/>
              <a:gd name="T6" fmla="*/ 491 w 966"/>
              <a:gd name="T7" fmla="*/ 445 h 479"/>
              <a:gd name="T8" fmla="*/ 665 w 966"/>
              <a:gd name="T9" fmla="*/ 9 h 479"/>
              <a:gd name="T10" fmla="*/ 818 w 966"/>
              <a:gd name="T11" fmla="*/ 445 h 479"/>
              <a:gd name="T12" fmla="*/ 898 w 966"/>
              <a:gd name="T13" fmla="*/ 227 h 479"/>
              <a:gd name="T14" fmla="*/ 933 w 966"/>
              <a:gd name="T15" fmla="*/ 45 h 479"/>
              <a:gd name="T16" fmla="*/ 966 w 966"/>
              <a:gd name="T17" fmla="*/ 11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479">
                <a:moveTo>
                  <a:pt x="0" y="3"/>
                </a:moveTo>
                <a:cubicBezTo>
                  <a:pt x="60" y="0"/>
                  <a:pt x="116" y="445"/>
                  <a:pt x="165" y="445"/>
                </a:cubicBezTo>
                <a:cubicBezTo>
                  <a:pt x="221" y="445"/>
                  <a:pt x="283" y="9"/>
                  <a:pt x="339" y="9"/>
                </a:cubicBezTo>
                <a:cubicBezTo>
                  <a:pt x="394" y="9"/>
                  <a:pt x="436" y="445"/>
                  <a:pt x="491" y="445"/>
                </a:cubicBezTo>
                <a:cubicBezTo>
                  <a:pt x="547" y="445"/>
                  <a:pt x="609" y="9"/>
                  <a:pt x="665" y="9"/>
                </a:cubicBezTo>
                <a:cubicBezTo>
                  <a:pt x="714" y="9"/>
                  <a:pt x="776" y="411"/>
                  <a:pt x="818" y="445"/>
                </a:cubicBezTo>
                <a:cubicBezTo>
                  <a:pt x="857" y="479"/>
                  <a:pt x="886" y="295"/>
                  <a:pt x="898" y="227"/>
                </a:cubicBezTo>
                <a:cubicBezTo>
                  <a:pt x="910" y="159"/>
                  <a:pt x="923" y="81"/>
                  <a:pt x="933" y="45"/>
                </a:cubicBezTo>
                <a:cubicBezTo>
                  <a:pt x="944" y="9"/>
                  <a:pt x="961" y="18"/>
                  <a:pt x="966" y="11"/>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9885" name="Freeform 45"/>
          <p:cNvSpPr/>
          <p:nvPr/>
        </p:nvSpPr>
        <p:spPr bwMode="auto">
          <a:xfrm flipV="1">
            <a:off x="6724651" y="2873376"/>
            <a:ext cx="784225" cy="1819275"/>
          </a:xfrm>
          <a:custGeom>
            <a:avLst/>
            <a:gdLst>
              <a:gd name="T0" fmla="*/ 0 w 140"/>
              <a:gd name="T1" fmla="*/ 37 h 74"/>
              <a:gd name="T2" fmla="*/ 12 w 140"/>
              <a:gd name="T3" fmla="*/ 5 h 74"/>
              <a:gd name="T4" fmla="*/ 34 w 140"/>
              <a:gd name="T5" fmla="*/ 68 h 74"/>
              <a:gd name="T6" fmla="*/ 59 w 140"/>
              <a:gd name="T7" fmla="*/ 5 h 74"/>
              <a:gd name="T8" fmla="*/ 81 w 140"/>
              <a:gd name="T9" fmla="*/ 68 h 74"/>
              <a:gd name="T10" fmla="*/ 106 w 140"/>
              <a:gd name="T11" fmla="*/ 5 h 74"/>
              <a:gd name="T12" fmla="*/ 128 w 140"/>
              <a:gd name="T13" fmla="*/ 68 h 74"/>
              <a:gd name="T14" fmla="*/ 140 w 140"/>
              <a:gd name="T15" fmla="*/ 37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74">
                <a:moveTo>
                  <a:pt x="0" y="37"/>
                </a:moveTo>
                <a:cubicBezTo>
                  <a:pt x="3" y="19"/>
                  <a:pt x="6" y="0"/>
                  <a:pt x="12" y="5"/>
                </a:cubicBezTo>
                <a:cubicBezTo>
                  <a:pt x="18" y="11"/>
                  <a:pt x="27" y="68"/>
                  <a:pt x="34" y="68"/>
                </a:cubicBezTo>
                <a:cubicBezTo>
                  <a:pt x="42" y="68"/>
                  <a:pt x="51" y="5"/>
                  <a:pt x="59" y="5"/>
                </a:cubicBezTo>
                <a:cubicBezTo>
                  <a:pt x="67" y="5"/>
                  <a:pt x="73" y="68"/>
                  <a:pt x="81" y="68"/>
                </a:cubicBezTo>
                <a:cubicBezTo>
                  <a:pt x="89" y="68"/>
                  <a:pt x="98" y="5"/>
                  <a:pt x="106" y="5"/>
                </a:cubicBezTo>
                <a:cubicBezTo>
                  <a:pt x="113" y="5"/>
                  <a:pt x="122" y="63"/>
                  <a:pt x="128" y="68"/>
                </a:cubicBezTo>
                <a:cubicBezTo>
                  <a:pt x="134" y="74"/>
                  <a:pt x="137" y="55"/>
                  <a:pt x="140" y="37"/>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9886" name="Freeform 46"/>
          <p:cNvSpPr/>
          <p:nvPr/>
        </p:nvSpPr>
        <p:spPr bwMode="auto">
          <a:xfrm flipV="1">
            <a:off x="8270875" y="2873375"/>
            <a:ext cx="793750" cy="1765300"/>
          </a:xfrm>
          <a:custGeom>
            <a:avLst/>
            <a:gdLst>
              <a:gd name="T0" fmla="*/ 0 w 966"/>
              <a:gd name="T1" fmla="*/ 3 h 479"/>
              <a:gd name="T2" fmla="*/ 165 w 966"/>
              <a:gd name="T3" fmla="*/ 445 h 479"/>
              <a:gd name="T4" fmla="*/ 339 w 966"/>
              <a:gd name="T5" fmla="*/ 9 h 479"/>
              <a:gd name="T6" fmla="*/ 491 w 966"/>
              <a:gd name="T7" fmla="*/ 445 h 479"/>
              <a:gd name="T8" fmla="*/ 665 w 966"/>
              <a:gd name="T9" fmla="*/ 9 h 479"/>
              <a:gd name="T10" fmla="*/ 818 w 966"/>
              <a:gd name="T11" fmla="*/ 445 h 479"/>
              <a:gd name="T12" fmla="*/ 898 w 966"/>
              <a:gd name="T13" fmla="*/ 227 h 479"/>
              <a:gd name="T14" fmla="*/ 933 w 966"/>
              <a:gd name="T15" fmla="*/ 45 h 479"/>
              <a:gd name="T16" fmla="*/ 966 w 966"/>
              <a:gd name="T17" fmla="*/ 11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6" h="479">
                <a:moveTo>
                  <a:pt x="0" y="3"/>
                </a:moveTo>
                <a:cubicBezTo>
                  <a:pt x="60" y="0"/>
                  <a:pt x="116" y="445"/>
                  <a:pt x="165" y="445"/>
                </a:cubicBezTo>
                <a:cubicBezTo>
                  <a:pt x="221" y="445"/>
                  <a:pt x="283" y="9"/>
                  <a:pt x="339" y="9"/>
                </a:cubicBezTo>
                <a:cubicBezTo>
                  <a:pt x="394" y="9"/>
                  <a:pt x="436" y="445"/>
                  <a:pt x="491" y="445"/>
                </a:cubicBezTo>
                <a:cubicBezTo>
                  <a:pt x="547" y="445"/>
                  <a:pt x="609" y="9"/>
                  <a:pt x="665" y="9"/>
                </a:cubicBezTo>
                <a:cubicBezTo>
                  <a:pt x="714" y="9"/>
                  <a:pt x="776" y="411"/>
                  <a:pt x="818" y="445"/>
                </a:cubicBezTo>
                <a:cubicBezTo>
                  <a:pt x="857" y="479"/>
                  <a:pt x="886" y="295"/>
                  <a:pt x="898" y="227"/>
                </a:cubicBezTo>
                <a:cubicBezTo>
                  <a:pt x="910" y="159"/>
                  <a:pt x="923" y="81"/>
                  <a:pt x="933" y="45"/>
                </a:cubicBezTo>
                <a:cubicBezTo>
                  <a:pt x="944" y="9"/>
                  <a:pt x="961" y="18"/>
                  <a:pt x="966" y="11"/>
                </a:cubicBezTo>
              </a:path>
            </a:pathLst>
          </a:custGeom>
          <a:noFill/>
          <a:ln w="19050" cmpd="sng">
            <a:solidFill>
              <a:schemeClr va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419888" name="Rectangle 48"/>
          <p:cNvSpPr>
            <a:spLocks noChangeArrowheads="1"/>
          </p:cNvSpPr>
          <p:nvPr/>
        </p:nvSpPr>
        <p:spPr bwMode="auto">
          <a:xfrm>
            <a:off x="3798888" y="2728914"/>
            <a:ext cx="342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001</a:t>
            </a:r>
            <a:endParaRPr lang="en-US" altLang="zh-CN" dirty="0">
              <a:solidFill>
                <a:schemeClr val="tx2"/>
              </a:solidFill>
              <a:latin typeface="微软雅黑 Light" panose="020B0502040204020203" pitchFamily="34" charset="-122"/>
            </a:endParaRPr>
          </a:p>
        </p:txBody>
      </p:sp>
      <p:sp>
        <p:nvSpPr>
          <p:cNvPr id="419889" name="Rectangle 49"/>
          <p:cNvSpPr>
            <a:spLocks noChangeArrowheads="1"/>
          </p:cNvSpPr>
          <p:nvPr/>
        </p:nvSpPr>
        <p:spPr bwMode="auto">
          <a:xfrm>
            <a:off x="8462963" y="2728914"/>
            <a:ext cx="2644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111</a:t>
            </a:r>
            <a:endParaRPr lang="en-US" altLang="zh-CN" dirty="0">
              <a:solidFill>
                <a:schemeClr val="tx2"/>
              </a:solidFill>
              <a:latin typeface="微软雅黑 Light" panose="020B0502040204020203" pitchFamily="34" charset="-122"/>
            </a:endParaRPr>
          </a:p>
        </p:txBody>
      </p:sp>
      <p:sp>
        <p:nvSpPr>
          <p:cNvPr id="419890" name="Rectangle 50"/>
          <p:cNvSpPr>
            <a:spLocks noChangeArrowheads="1"/>
          </p:cNvSpPr>
          <p:nvPr/>
        </p:nvSpPr>
        <p:spPr bwMode="auto">
          <a:xfrm>
            <a:off x="5438775" y="2728914"/>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011</a:t>
            </a:r>
            <a:endParaRPr lang="en-US" altLang="zh-CN" dirty="0">
              <a:solidFill>
                <a:schemeClr val="tx2"/>
              </a:solidFill>
              <a:latin typeface="微软雅黑 Light" panose="020B0502040204020203" pitchFamily="34" charset="-122"/>
            </a:endParaRPr>
          </a:p>
        </p:txBody>
      </p:sp>
      <p:sp>
        <p:nvSpPr>
          <p:cNvPr id="419891" name="Rectangle 51"/>
          <p:cNvSpPr>
            <a:spLocks noChangeArrowheads="1"/>
          </p:cNvSpPr>
          <p:nvPr/>
        </p:nvSpPr>
        <p:spPr bwMode="auto">
          <a:xfrm>
            <a:off x="6950075" y="2728914"/>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dirty="0">
                <a:solidFill>
                  <a:schemeClr val="tx2"/>
                </a:solidFill>
                <a:latin typeface="微软雅黑 Light" panose="020B0502040204020203" pitchFamily="34" charset="-122"/>
              </a:rPr>
              <a:t>101</a:t>
            </a:r>
            <a:endParaRPr lang="en-US" altLang="zh-CN" dirty="0">
              <a:solidFill>
                <a:schemeClr val="tx2"/>
              </a:solidFill>
              <a:latin typeface="微软雅黑 Light" panose="020B0502040204020203" pitchFamily="34" charset="-122"/>
            </a:endParaRPr>
          </a:p>
        </p:txBody>
      </p:sp>
      <p:sp>
        <p:nvSpPr>
          <p:cNvPr id="2" name="内容占位符 1"/>
          <p:cNvSpPr>
            <a:spLocks noGrp="1"/>
          </p:cNvSpPr>
          <p:nvPr>
            <p:ph idx="1"/>
          </p:nvPr>
        </p:nvSpPr>
        <p:spPr>
          <a:xfrm>
            <a:off x="334434" y="1052515"/>
            <a:ext cx="11523133" cy="1430336"/>
          </a:xfrm>
        </p:spPr>
        <p:txBody>
          <a:bodyPr/>
          <a:lstStyle/>
          <a:p>
            <a:r>
              <a:rPr lang="zh-CN" altLang="en-US" dirty="0"/>
              <a:t>正交调幅：</a:t>
            </a:r>
            <a:r>
              <a:rPr lang="en-US" altLang="zh-CN" dirty="0"/>
              <a:t>ASK</a:t>
            </a:r>
            <a:r>
              <a:rPr lang="zh-CN" altLang="en-US" dirty="0"/>
              <a:t>和</a:t>
            </a:r>
            <a:r>
              <a:rPr lang="en-US" altLang="zh-CN" dirty="0"/>
              <a:t>PSK</a:t>
            </a:r>
            <a:r>
              <a:rPr lang="zh-CN" altLang="en-US" dirty="0"/>
              <a:t>结合起来的编码方法</a:t>
            </a:r>
            <a:endParaRPr lang="zh-CN" altLang="en-US" dirty="0"/>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zh-CN" altLang="en-US" dirty="0"/>
              <a:t>正交调幅星座图</a:t>
            </a:r>
            <a:endParaRPr lang="en-US" altLang="zh-CN" dirty="0"/>
          </a:p>
        </p:txBody>
      </p:sp>
      <p:sp>
        <p:nvSpPr>
          <p:cNvPr id="57" name="灯片编号占位符 5"/>
          <p:cNvSpPr>
            <a:spLocks noGrp="1"/>
          </p:cNvSpPr>
          <p:nvPr>
            <p:ph type="sldNum" sz="quarter" idx="12"/>
          </p:nvPr>
        </p:nvSpPr>
        <p:spPr/>
        <p:txBody>
          <a:bodyPr/>
          <a:lstStyle/>
          <a:p>
            <a:fld id="{D27B2D57-6BA8-49D3-8CDF-DBD09477179B}" type="slidenum">
              <a:rPr lang="en-US" altLang="zh-CN"/>
            </a:fld>
            <a:endParaRPr lang="en-US" altLang="zh-CN" dirty="0"/>
          </a:p>
        </p:txBody>
      </p:sp>
      <p:grpSp>
        <p:nvGrpSpPr>
          <p:cNvPr id="420868" name="Group 4"/>
          <p:cNvGrpSpPr/>
          <p:nvPr/>
        </p:nvGrpSpPr>
        <p:grpSpPr bwMode="auto">
          <a:xfrm>
            <a:off x="2488973" y="2001839"/>
            <a:ext cx="3449638" cy="3052762"/>
            <a:chOff x="436" y="1225"/>
            <a:chExt cx="2173" cy="1923"/>
          </a:xfrm>
        </p:grpSpPr>
        <p:sp>
          <p:nvSpPr>
            <p:cNvPr id="420869" name="Rectangle 5"/>
            <p:cNvSpPr>
              <a:spLocks noChangeArrowheads="1"/>
            </p:cNvSpPr>
            <p:nvPr/>
          </p:nvSpPr>
          <p:spPr bwMode="auto">
            <a:xfrm>
              <a:off x="618" y="1421"/>
              <a:ext cx="1711" cy="1606"/>
            </a:xfrm>
            <a:prstGeom prst="rect">
              <a:avLst/>
            </a:prstGeom>
            <a:solidFill>
              <a:srgbClr val="FFFFFF"/>
            </a:solidFill>
            <a:ln w="7938">
              <a:solidFill>
                <a:srgbClr val="000000"/>
              </a:solidFill>
              <a:prstDash val="sysDot"/>
              <a:miter lim="800000"/>
            </a:ln>
          </p:spPr>
          <p:txBody>
            <a:bodyPr/>
            <a:lstStyle/>
            <a:p>
              <a:pPr algn="l"/>
              <a:endParaRPr lang="zh-CN" altLang="zh-CN" dirty="0">
                <a:latin typeface="微软雅黑 Light" panose="020B0502040204020203" pitchFamily="34" charset="-122"/>
              </a:endParaRPr>
            </a:p>
          </p:txBody>
        </p:sp>
        <p:sp>
          <p:nvSpPr>
            <p:cNvPr id="420870" name="Rectangle 6"/>
            <p:cNvSpPr>
              <a:spLocks noChangeArrowheads="1"/>
            </p:cNvSpPr>
            <p:nvPr/>
          </p:nvSpPr>
          <p:spPr bwMode="auto">
            <a:xfrm>
              <a:off x="903" y="1680"/>
              <a:ext cx="1140" cy="1083"/>
            </a:xfrm>
            <a:prstGeom prst="rect">
              <a:avLst/>
            </a:prstGeom>
            <a:solidFill>
              <a:srgbClr val="FFFFFF"/>
            </a:solidFill>
            <a:ln w="7938">
              <a:solidFill>
                <a:srgbClr val="000000"/>
              </a:solidFill>
              <a:prstDash val="sysDot"/>
              <a:miter lim="800000"/>
            </a:ln>
          </p:spPr>
          <p:txBody>
            <a:bodyPr/>
            <a:lstStyle/>
            <a:p>
              <a:pPr algn="l"/>
              <a:endParaRPr lang="zh-CN" altLang="zh-CN" dirty="0">
                <a:latin typeface="微软雅黑 Light" panose="020B0502040204020203" pitchFamily="34" charset="-122"/>
              </a:endParaRPr>
            </a:p>
          </p:txBody>
        </p:sp>
        <p:sp>
          <p:nvSpPr>
            <p:cNvPr id="420871" name="Rectangle 7"/>
            <p:cNvSpPr>
              <a:spLocks noChangeArrowheads="1"/>
            </p:cNvSpPr>
            <p:nvPr/>
          </p:nvSpPr>
          <p:spPr bwMode="auto">
            <a:xfrm>
              <a:off x="1214" y="1960"/>
              <a:ext cx="518" cy="528"/>
            </a:xfrm>
            <a:prstGeom prst="rect">
              <a:avLst/>
            </a:prstGeom>
            <a:solidFill>
              <a:srgbClr val="FFFFFF"/>
            </a:solidFill>
            <a:ln w="7938">
              <a:solidFill>
                <a:srgbClr val="000000"/>
              </a:solidFill>
              <a:prstDash val="sysDot"/>
              <a:miter lim="800000"/>
            </a:ln>
          </p:spPr>
          <p:txBody>
            <a:bodyPr/>
            <a:lstStyle/>
            <a:p>
              <a:pPr algn="l"/>
              <a:endParaRPr lang="zh-CN" altLang="zh-CN" dirty="0">
                <a:latin typeface="微软雅黑 Light" panose="020B0502040204020203" pitchFamily="34" charset="-122"/>
              </a:endParaRPr>
            </a:p>
          </p:txBody>
        </p:sp>
        <p:sp>
          <p:nvSpPr>
            <p:cNvPr id="420873" name="Line 9"/>
            <p:cNvSpPr>
              <a:spLocks noChangeShapeType="1"/>
            </p:cNvSpPr>
            <p:nvPr/>
          </p:nvSpPr>
          <p:spPr bwMode="auto">
            <a:xfrm>
              <a:off x="436" y="2224"/>
              <a:ext cx="2173" cy="0"/>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20876" name="Line 12"/>
            <p:cNvSpPr>
              <a:spLocks noChangeShapeType="1"/>
            </p:cNvSpPr>
            <p:nvPr/>
          </p:nvSpPr>
          <p:spPr bwMode="auto">
            <a:xfrm flipV="1">
              <a:off x="1473" y="1225"/>
              <a:ext cx="0" cy="1923"/>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20878" name="Oval 14"/>
            <p:cNvSpPr>
              <a:spLocks noChangeArrowheads="1"/>
            </p:cNvSpPr>
            <p:nvPr/>
          </p:nvSpPr>
          <p:spPr bwMode="auto">
            <a:xfrm>
              <a:off x="1691" y="1917"/>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79" name="Oval 15"/>
            <p:cNvSpPr>
              <a:spLocks noChangeArrowheads="1"/>
            </p:cNvSpPr>
            <p:nvPr/>
          </p:nvSpPr>
          <p:spPr bwMode="auto">
            <a:xfrm>
              <a:off x="1691" y="2419"/>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0" name="Oval 16"/>
            <p:cNvSpPr>
              <a:spLocks noChangeArrowheads="1"/>
            </p:cNvSpPr>
            <p:nvPr/>
          </p:nvSpPr>
          <p:spPr bwMode="auto">
            <a:xfrm>
              <a:off x="1172" y="2446"/>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1" name="Oval 17"/>
            <p:cNvSpPr>
              <a:spLocks noChangeArrowheads="1"/>
            </p:cNvSpPr>
            <p:nvPr/>
          </p:nvSpPr>
          <p:spPr bwMode="auto">
            <a:xfrm>
              <a:off x="1172" y="1917"/>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2" name="Oval 18"/>
            <p:cNvSpPr>
              <a:spLocks noChangeArrowheads="1"/>
            </p:cNvSpPr>
            <p:nvPr/>
          </p:nvSpPr>
          <p:spPr bwMode="auto">
            <a:xfrm>
              <a:off x="2002" y="2726"/>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3" name="Oval 19"/>
            <p:cNvSpPr>
              <a:spLocks noChangeArrowheads="1"/>
            </p:cNvSpPr>
            <p:nvPr/>
          </p:nvSpPr>
          <p:spPr bwMode="auto">
            <a:xfrm>
              <a:off x="2002" y="218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4" name="Oval 20"/>
            <p:cNvSpPr>
              <a:spLocks noChangeArrowheads="1"/>
            </p:cNvSpPr>
            <p:nvPr/>
          </p:nvSpPr>
          <p:spPr bwMode="auto">
            <a:xfrm>
              <a:off x="2002" y="1643"/>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5" name="Oval 21"/>
            <p:cNvSpPr>
              <a:spLocks noChangeArrowheads="1"/>
            </p:cNvSpPr>
            <p:nvPr/>
          </p:nvSpPr>
          <p:spPr bwMode="auto">
            <a:xfrm>
              <a:off x="1432" y="2726"/>
              <a:ext cx="77"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6" name="Oval 22"/>
            <p:cNvSpPr>
              <a:spLocks noChangeArrowheads="1"/>
            </p:cNvSpPr>
            <p:nvPr/>
          </p:nvSpPr>
          <p:spPr bwMode="auto">
            <a:xfrm>
              <a:off x="861" y="2726"/>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7" name="Oval 23"/>
            <p:cNvSpPr>
              <a:spLocks noChangeArrowheads="1"/>
            </p:cNvSpPr>
            <p:nvPr/>
          </p:nvSpPr>
          <p:spPr bwMode="auto">
            <a:xfrm>
              <a:off x="861" y="1643"/>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8" name="Oval 24"/>
            <p:cNvSpPr>
              <a:spLocks noChangeArrowheads="1"/>
            </p:cNvSpPr>
            <p:nvPr/>
          </p:nvSpPr>
          <p:spPr bwMode="auto">
            <a:xfrm>
              <a:off x="1432" y="1643"/>
              <a:ext cx="77"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89" name="Oval 25"/>
            <p:cNvSpPr>
              <a:spLocks noChangeArrowheads="1"/>
            </p:cNvSpPr>
            <p:nvPr/>
          </p:nvSpPr>
          <p:spPr bwMode="auto">
            <a:xfrm>
              <a:off x="861" y="218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90" name="Oval 26"/>
            <p:cNvSpPr>
              <a:spLocks noChangeArrowheads="1"/>
            </p:cNvSpPr>
            <p:nvPr/>
          </p:nvSpPr>
          <p:spPr bwMode="auto">
            <a:xfrm>
              <a:off x="2287" y="218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91" name="Oval 27"/>
            <p:cNvSpPr>
              <a:spLocks noChangeArrowheads="1"/>
            </p:cNvSpPr>
            <p:nvPr/>
          </p:nvSpPr>
          <p:spPr bwMode="auto">
            <a:xfrm>
              <a:off x="1432" y="2985"/>
              <a:ext cx="77"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92" name="Oval 28"/>
            <p:cNvSpPr>
              <a:spLocks noChangeArrowheads="1"/>
            </p:cNvSpPr>
            <p:nvPr/>
          </p:nvSpPr>
          <p:spPr bwMode="auto">
            <a:xfrm>
              <a:off x="1432" y="1384"/>
              <a:ext cx="77"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893" name="Oval 29"/>
            <p:cNvSpPr>
              <a:spLocks noChangeArrowheads="1"/>
            </p:cNvSpPr>
            <p:nvPr/>
          </p:nvSpPr>
          <p:spPr bwMode="auto">
            <a:xfrm>
              <a:off x="576" y="218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grpSp>
      <p:grpSp>
        <p:nvGrpSpPr>
          <p:cNvPr id="420894" name="Group 30"/>
          <p:cNvGrpSpPr/>
          <p:nvPr/>
        </p:nvGrpSpPr>
        <p:grpSpPr bwMode="auto">
          <a:xfrm>
            <a:off x="6446840" y="2001839"/>
            <a:ext cx="3448050" cy="3052762"/>
            <a:chOff x="2925" y="1265"/>
            <a:chExt cx="2172" cy="1923"/>
          </a:xfrm>
        </p:grpSpPr>
        <p:sp>
          <p:nvSpPr>
            <p:cNvPr id="420895" name="Rectangle 31"/>
            <p:cNvSpPr>
              <a:spLocks noChangeArrowheads="1"/>
            </p:cNvSpPr>
            <p:nvPr/>
          </p:nvSpPr>
          <p:spPr bwMode="auto">
            <a:xfrm>
              <a:off x="3065" y="1458"/>
              <a:ext cx="1711" cy="1606"/>
            </a:xfrm>
            <a:prstGeom prst="rect">
              <a:avLst/>
            </a:prstGeom>
            <a:solidFill>
              <a:srgbClr val="FFFFFF"/>
            </a:solidFill>
            <a:ln w="7938">
              <a:solidFill>
                <a:srgbClr val="000000"/>
              </a:solidFill>
              <a:prstDash val="sysDot"/>
              <a:miter lim="800000"/>
            </a:ln>
          </p:spPr>
          <p:txBody>
            <a:bodyPr/>
            <a:lstStyle/>
            <a:p>
              <a:pPr algn="l"/>
              <a:endParaRPr lang="zh-CN" altLang="zh-CN" dirty="0">
                <a:latin typeface="微软雅黑 Light" panose="020B0502040204020203" pitchFamily="34" charset="-122"/>
              </a:endParaRPr>
            </a:p>
          </p:txBody>
        </p:sp>
        <p:sp>
          <p:nvSpPr>
            <p:cNvPr id="420896" name="Rectangle 32"/>
            <p:cNvSpPr>
              <a:spLocks noChangeArrowheads="1"/>
            </p:cNvSpPr>
            <p:nvPr/>
          </p:nvSpPr>
          <p:spPr bwMode="auto">
            <a:xfrm>
              <a:off x="3568" y="1917"/>
              <a:ext cx="788" cy="766"/>
            </a:xfrm>
            <a:prstGeom prst="rect">
              <a:avLst/>
            </a:prstGeom>
            <a:solidFill>
              <a:srgbClr val="FFFFFF"/>
            </a:solidFill>
            <a:ln w="7938">
              <a:solidFill>
                <a:srgbClr val="000000"/>
              </a:solidFill>
              <a:prstDash val="sysDot"/>
              <a:miter lim="800000"/>
            </a:ln>
          </p:spPr>
          <p:txBody>
            <a:bodyPr/>
            <a:lstStyle/>
            <a:p>
              <a:pPr algn="l"/>
              <a:endParaRPr lang="zh-CN" altLang="zh-CN" dirty="0">
                <a:latin typeface="微软雅黑 Light" panose="020B0502040204020203" pitchFamily="34" charset="-122"/>
              </a:endParaRPr>
            </a:p>
          </p:txBody>
        </p:sp>
        <p:sp>
          <p:nvSpPr>
            <p:cNvPr id="420898" name="Line 34"/>
            <p:cNvSpPr>
              <a:spLocks noChangeShapeType="1"/>
            </p:cNvSpPr>
            <p:nvPr/>
          </p:nvSpPr>
          <p:spPr bwMode="auto">
            <a:xfrm>
              <a:off x="2925" y="2277"/>
              <a:ext cx="2172" cy="0"/>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20901" name="Line 37"/>
            <p:cNvSpPr>
              <a:spLocks noChangeShapeType="1"/>
            </p:cNvSpPr>
            <p:nvPr/>
          </p:nvSpPr>
          <p:spPr bwMode="auto">
            <a:xfrm flipV="1">
              <a:off x="3962" y="1265"/>
              <a:ext cx="0" cy="1923"/>
            </a:xfrm>
            <a:prstGeom prst="line">
              <a:avLst/>
            </a:prstGeom>
            <a:noFill/>
            <a:ln w="12700">
              <a:solidFill>
                <a:srgbClr val="000000"/>
              </a:solidFill>
              <a:round/>
              <a:tailEnd type="stealth"/>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420903" name="Oval 39"/>
            <p:cNvSpPr>
              <a:spLocks noChangeArrowheads="1"/>
            </p:cNvSpPr>
            <p:nvPr/>
          </p:nvSpPr>
          <p:spPr bwMode="auto">
            <a:xfrm>
              <a:off x="4319" y="1875"/>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04" name="Oval 40"/>
            <p:cNvSpPr>
              <a:spLocks noChangeArrowheads="1"/>
            </p:cNvSpPr>
            <p:nvPr/>
          </p:nvSpPr>
          <p:spPr bwMode="auto">
            <a:xfrm>
              <a:off x="4319" y="2631"/>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05" name="Oval 41"/>
            <p:cNvSpPr>
              <a:spLocks noChangeArrowheads="1"/>
            </p:cNvSpPr>
            <p:nvPr/>
          </p:nvSpPr>
          <p:spPr bwMode="auto">
            <a:xfrm>
              <a:off x="3526" y="2641"/>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06" name="Oval 42"/>
            <p:cNvSpPr>
              <a:spLocks noChangeArrowheads="1"/>
            </p:cNvSpPr>
            <p:nvPr/>
          </p:nvSpPr>
          <p:spPr bwMode="auto">
            <a:xfrm>
              <a:off x="3526" y="1875"/>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07" name="Oval 43"/>
            <p:cNvSpPr>
              <a:spLocks noChangeArrowheads="1"/>
            </p:cNvSpPr>
            <p:nvPr/>
          </p:nvSpPr>
          <p:spPr bwMode="auto">
            <a:xfrm>
              <a:off x="4739" y="302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08" name="Oval 44"/>
            <p:cNvSpPr>
              <a:spLocks noChangeArrowheads="1"/>
            </p:cNvSpPr>
            <p:nvPr/>
          </p:nvSpPr>
          <p:spPr bwMode="auto">
            <a:xfrm>
              <a:off x="4319" y="2240"/>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09" name="Oval 45"/>
            <p:cNvSpPr>
              <a:spLocks noChangeArrowheads="1"/>
            </p:cNvSpPr>
            <p:nvPr/>
          </p:nvSpPr>
          <p:spPr bwMode="auto">
            <a:xfrm>
              <a:off x="4739" y="1421"/>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0" name="Oval 46"/>
            <p:cNvSpPr>
              <a:spLocks noChangeArrowheads="1"/>
            </p:cNvSpPr>
            <p:nvPr/>
          </p:nvSpPr>
          <p:spPr bwMode="auto">
            <a:xfrm>
              <a:off x="3920" y="302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1" name="Oval 47"/>
            <p:cNvSpPr>
              <a:spLocks noChangeArrowheads="1"/>
            </p:cNvSpPr>
            <p:nvPr/>
          </p:nvSpPr>
          <p:spPr bwMode="auto">
            <a:xfrm>
              <a:off x="3028" y="3022"/>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2" name="Oval 48"/>
            <p:cNvSpPr>
              <a:spLocks noChangeArrowheads="1"/>
            </p:cNvSpPr>
            <p:nvPr/>
          </p:nvSpPr>
          <p:spPr bwMode="auto">
            <a:xfrm>
              <a:off x="3028" y="1421"/>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3" name="Oval 49"/>
            <p:cNvSpPr>
              <a:spLocks noChangeArrowheads="1"/>
            </p:cNvSpPr>
            <p:nvPr/>
          </p:nvSpPr>
          <p:spPr bwMode="auto">
            <a:xfrm>
              <a:off x="3920" y="1421"/>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4" name="Oval 50"/>
            <p:cNvSpPr>
              <a:spLocks noChangeArrowheads="1"/>
            </p:cNvSpPr>
            <p:nvPr/>
          </p:nvSpPr>
          <p:spPr bwMode="auto">
            <a:xfrm>
              <a:off x="3028" y="2240"/>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5" name="Oval 51"/>
            <p:cNvSpPr>
              <a:spLocks noChangeArrowheads="1"/>
            </p:cNvSpPr>
            <p:nvPr/>
          </p:nvSpPr>
          <p:spPr bwMode="auto">
            <a:xfrm>
              <a:off x="4739" y="2240"/>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6" name="Oval 52"/>
            <p:cNvSpPr>
              <a:spLocks noChangeArrowheads="1"/>
            </p:cNvSpPr>
            <p:nvPr/>
          </p:nvSpPr>
          <p:spPr bwMode="auto">
            <a:xfrm>
              <a:off x="3920" y="2641"/>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7" name="Oval 53"/>
            <p:cNvSpPr>
              <a:spLocks noChangeArrowheads="1"/>
            </p:cNvSpPr>
            <p:nvPr/>
          </p:nvSpPr>
          <p:spPr bwMode="auto">
            <a:xfrm>
              <a:off x="3920" y="1875"/>
              <a:ext cx="78" cy="79"/>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sp>
          <p:nvSpPr>
            <p:cNvPr id="420918" name="Oval 54"/>
            <p:cNvSpPr>
              <a:spLocks noChangeArrowheads="1"/>
            </p:cNvSpPr>
            <p:nvPr/>
          </p:nvSpPr>
          <p:spPr bwMode="auto">
            <a:xfrm>
              <a:off x="3526" y="2240"/>
              <a:ext cx="78" cy="80"/>
            </a:xfrm>
            <a:prstGeom prst="ellipse">
              <a:avLst/>
            </a:prstGeom>
            <a:solidFill>
              <a:srgbClr val="00CC99"/>
            </a:solidFill>
            <a:ln w="7938">
              <a:solidFill>
                <a:srgbClr val="000000"/>
              </a:solidFill>
              <a:round/>
            </a:ln>
          </p:spPr>
          <p:txBody>
            <a:bodyPr/>
            <a:lstStyle/>
            <a:p>
              <a:pPr algn="l"/>
              <a:endParaRPr lang="zh-CN" altLang="zh-CN" dirty="0">
                <a:latin typeface="微软雅黑 Light" panose="020B0502040204020203" pitchFamily="34" charset="-122"/>
              </a:endParaRPr>
            </a:p>
          </p:txBody>
        </p:sp>
      </p:grpSp>
      <p:sp>
        <p:nvSpPr>
          <p:cNvPr id="420919" name="Text Box 55"/>
          <p:cNvSpPr txBox="1">
            <a:spLocks noChangeArrowheads="1"/>
          </p:cNvSpPr>
          <p:nvPr/>
        </p:nvSpPr>
        <p:spPr bwMode="auto">
          <a:xfrm>
            <a:off x="4354982" y="5367339"/>
            <a:ext cx="33606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dirty="0">
                <a:solidFill>
                  <a:schemeClr val="tx2"/>
                </a:solidFill>
                <a:latin typeface="微软雅黑 Light" panose="020B0502040204020203" pitchFamily="34" charset="-122"/>
                <a:ea typeface="微软雅黑 Light" panose="020B0502040204020203" pitchFamily="34" charset="-122"/>
              </a:rPr>
              <a:t>两种</a:t>
            </a:r>
            <a:r>
              <a:rPr lang="en-US" altLang="zh-CN" sz="2400" dirty="0">
                <a:solidFill>
                  <a:schemeClr val="tx2"/>
                </a:solidFill>
                <a:latin typeface="微软雅黑 Light" panose="020B0502040204020203" pitchFamily="34" charset="-122"/>
                <a:ea typeface="微软雅黑 Light" panose="020B0502040204020203" pitchFamily="34" charset="-122"/>
              </a:rPr>
              <a:t>16</a:t>
            </a:r>
            <a:r>
              <a:rPr lang="zh-CN" altLang="en-US" sz="2400" dirty="0">
                <a:solidFill>
                  <a:schemeClr val="tx2"/>
                </a:solidFill>
                <a:latin typeface="微软雅黑 Light" panose="020B0502040204020203" pitchFamily="34" charset="-122"/>
                <a:ea typeface="微软雅黑 Light" panose="020B0502040204020203" pitchFamily="34" charset="-122"/>
              </a:rPr>
              <a:t>相位</a:t>
            </a:r>
            <a:r>
              <a:rPr lang="en-US" altLang="zh-CN" sz="2400" dirty="0">
                <a:solidFill>
                  <a:schemeClr val="tx2"/>
                </a:solidFill>
                <a:latin typeface="微软雅黑 Light" panose="020B0502040204020203" pitchFamily="34" charset="-122"/>
                <a:ea typeface="微软雅黑 Light" panose="020B0502040204020203" pitchFamily="34" charset="-122"/>
              </a:rPr>
              <a:t>QAM</a:t>
            </a:r>
            <a:r>
              <a:rPr lang="zh-CN" altLang="en-US" sz="2400" dirty="0">
                <a:solidFill>
                  <a:schemeClr val="tx2"/>
                </a:solidFill>
                <a:latin typeface="微软雅黑 Light" panose="020B0502040204020203" pitchFamily="34" charset="-122"/>
                <a:ea typeface="微软雅黑 Light" panose="020B0502040204020203" pitchFamily="34" charset="-122"/>
              </a:rPr>
              <a:t>星座图</a:t>
            </a:r>
            <a:endParaRPr lang="zh-CN" altLang="en-US" sz="2400" dirty="0">
              <a:solidFill>
                <a:schemeClr val="tx2"/>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p:txBody>
          <a:bodyPr/>
          <a:lstStyle/>
          <a:p>
            <a:r>
              <a:rPr lang="zh-CN" altLang="en-US" dirty="0"/>
              <a:t>模拟</a:t>
            </a:r>
            <a:r>
              <a:rPr lang="en-US" altLang="zh-CN" dirty="0"/>
              <a:t>—</a:t>
            </a:r>
            <a:r>
              <a:rPr lang="zh-CN" altLang="en-US" dirty="0"/>
              <a:t>数字编码</a:t>
            </a:r>
            <a:endParaRPr lang="zh-CN" altLang="en-US" dirty="0"/>
          </a:p>
        </p:txBody>
      </p:sp>
      <p:sp>
        <p:nvSpPr>
          <p:cNvPr id="521219" name="Rectangle 3"/>
          <p:cNvSpPr>
            <a:spLocks noGrp="1" noChangeArrowheads="1"/>
          </p:cNvSpPr>
          <p:nvPr>
            <p:ph idx="1"/>
          </p:nvPr>
        </p:nvSpPr>
        <p:spPr/>
        <p:txBody>
          <a:bodyPr/>
          <a:lstStyle/>
          <a:p>
            <a:r>
              <a:rPr lang="en-US" altLang="zh-CN" dirty="0"/>
              <a:t>A/D</a:t>
            </a:r>
            <a:r>
              <a:rPr lang="zh-CN" altLang="en-US" dirty="0"/>
              <a:t>数据采集：主要应用自动控制系统</a:t>
            </a:r>
            <a:endParaRPr lang="zh-CN" altLang="en-US" dirty="0"/>
          </a:p>
          <a:p>
            <a:r>
              <a:rPr lang="zh-CN" altLang="en-US" dirty="0"/>
              <a:t>需要</a:t>
            </a:r>
            <a:r>
              <a:rPr lang="en-US" altLang="zh-CN" dirty="0"/>
              <a:t>3</a:t>
            </a:r>
            <a:r>
              <a:rPr lang="zh-CN" altLang="en-US" dirty="0"/>
              <a:t>步</a:t>
            </a:r>
            <a:r>
              <a:rPr lang="en-US" altLang="zh-CN" dirty="0"/>
              <a:t>:</a:t>
            </a:r>
            <a:endParaRPr lang="en-US" altLang="zh-CN" dirty="0"/>
          </a:p>
          <a:p>
            <a:pPr lvl="1"/>
            <a:r>
              <a:rPr lang="zh-CN" altLang="en-US" dirty="0"/>
              <a:t>采样：将连续的模拟信号离散化</a:t>
            </a:r>
            <a:endParaRPr lang="zh-CN" altLang="en-US" dirty="0"/>
          </a:p>
          <a:p>
            <a:pPr lvl="1"/>
            <a:r>
              <a:rPr lang="zh-CN" altLang="en-US" dirty="0"/>
              <a:t>量化：离散的采样值用</a:t>
            </a:r>
            <a:r>
              <a:rPr lang="en-US" altLang="zh-CN" dirty="0"/>
              <a:t>2</a:t>
            </a:r>
            <a:r>
              <a:rPr lang="zh-CN" altLang="en-US" dirty="0"/>
              <a:t>进制位数量化</a:t>
            </a:r>
            <a:endParaRPr lang="zh-CN" altLang="en-US" dirty="0"/>
          </a:p>
          <a:p>
            <a:pPr lvl="1"/>
            <a:r>
              <a:rPr lang="zh-CN" altLang="en-US" dirty="0"/>
              <a:t>编码：对量化后的数据用</a:t>
            </a:r>
            <a:r>
              <a:rPr lang="en-US" altLang="zh-CN" dirty="0"/>
              <a:t>2</a:t>
            </a:r>
            <a:r>
              <a:rPr lang="zh-CN" altLang="en-US" dirty="0"/>
              <a:t>进制编码</a:t>
            </a:r>
            <a:endParaRPr lang="zh-CN" altLang="en-US" dirty="0"/>
          </a:p>
          <a:p>
            <a:r>
              <a:rPr lang="zh-CN" altLang="en-US" dirty="0"/>
              <a:t>采样定理：采样频率大于信号最高频率的</a:t>
            </a:r>
            <a:r>
              <a:rPr lang="en-US" altLang="zh-CN" dirty="0"/>
              <a:t>2</a:t>
            </a:r>
            <a:r>
              <a:rPr lang="zh-CN" altLang="en-US" dirty="0"/>
              <a:t>倍。</a:t>
            </a:r>
            <a:endParaRPr lang="zh-CN" altLang="en-US" dirty="0"/>
          </a:p>
        </p:txBody>
      </p:sp>
      <p:sp>
        <p:nvSpPr>
          <p:cNvPr id="6" name="灯片编号占位符 5"/>
          <p:cNvSpPr>
            <a:spLocks noGrp="1"/>
          </p:cNvSpPr>
          <p:nvPr>
            <p:ph type="sldNum" sz="quarter" idx="12"/>
          </p:nvPr>
        </p:nvSpPr>
        <p:spPr/>
        <p:txBody>
          <a:bodyPr/>
          <a:lstStyle/>
          <a:p>
            <a:fld id="{8CCA758A-87A2-4C12-B2D9-49A8D8F6FA64}" type="slidenum">
              <a:rPr lang="en-US" altLang="zh-CN"/>
            </a:fld>
            <a:endParaRPr lang="en-US"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r>
              <a:rPr lang="zh-CN" altLang="en-US" dirty="0"/>
              <a:t>模拟</a:t>
            </a:r>
            <a:r>
              <a:rPr lang="en-US" altLang="zh-CN" dirty="0"/>
              <a:t>—</a:t>
            </a:r>
            <a:r>
              <a:rPr lang="zh-CN" altLang="en-US" dirty="0"/>
              <a:t>模拟编码</a:t>
            </a:r>
            <a:endParaRPr lang="zh-CN" altLang="en-US" dirty="0"/>
          </a:p>
        </p:txBody>
      </p:sp>
      <p:sp>
        <p:nvSpPr>
          <p:cNvPr id="522243" name="Rectangle 3"/>
          <p:cNvSpPr>
            <a:spLocks noGrp="1" noChangeArrowheads="1"/>
          </p:cNvSpPr>
          <p:nvPr>
            <p:ph idx="1"/>
          </p:nvPr>
        </p:nvSpPr>
        <p:spPr/>
        <p:txBody>
          <a:bodyPr/>
          <a:lstStyle/>
          <a:p>
            <a:r>
              <a:rPr lang="zh-CN" altLang="en-US" dirty="0"/>
              <a:t>传统有线电视、电话系统等</a:t>
            </a:r>
            <a:endParaRPr lang="zh-CN" altLang="en-US" dirty="0"/>
          </a:p>
          <a:p>
            <a:r>
              <a:rPr lang="zh-CN" altLang="en-US" dirty="0"/>
              <a:t>声音信号的频率范围：</a:t>
            </a:r>
            <a:r>
              <a:rPr lang="en-US" altLang="zh-CN" dirty="0"/>
              <a:t>20Hz~20kHz</a:t>
            </a:r>
            <a:endParaRPr lang="en-US" altLang="zh-CN" dirty="0"/>
          </a:p>
          <a:p>
            <a:pPr lvl="1"/>
            <a:r>
              <a:rPr lang="zh-CN" altLang="en-US" dirty="0"/>
              <a:t>主要能量集中在</a:t>
            </a:r>
            <a:r>
              <a:rPr lang="en-US" altLang="zh-CN" dirty="0"/>
              <a:t>300Hz~ 3000Hz </a:t>
            </a:r>
            <a:r>
              <a:rPr lang="zh-CN" altLang="en-US" dirty="0"/>
              <a:t>之间</a:t>
            </a:r>
            <a:endParaRPr lang="zh-CN" altLang="en-US" dirty="0"/>
          </a:p>
        </p:txBody>
      </p:sp>
      <p:sp>
        <p:nvSpPr>
          <p:cNvPr id="6" name="灯片编号占位符 5"/>
          <p:cNvSpPr>
            <a:spLocks noGrp="1"/>
          </p:cNvSpPr>
          <p:nvPr>
            <p:ph type="sldNum" sz="quarter" idx="12"/>
          </p:nvPr>
        </p:nvSpPr>
        <p:spPr/>
        <p:txBody>
          <a:bodyPr/>
          <a:lstStyle/>
          <a:p>
            <a:fld id="{BF8DD8D1-D4F2-498B-B032-E79240734C7E}" type="slidenum">
              <a:rPr lang="en-US" altLang="zh-CN"/>
            </a:fld>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zh-CN" altLang="en-US" dirty="0"/>
              <a:t>傅里叶分析与有限带宽信号</a:t>
            </a:r>
            <a:endParaRPr lang="zh-CN" altLang="en-US" dirty="0"/>
          </a:p>
        </p:txBody>
      </p:sp>
      <p:sp>
        <p:nvSpPr>
          <p:cNvPr id="390147" name="Rectangle 3"/>
          <p:cNvSpPr>
            <a:spLocks noGrp="1" noChangeArrowheads="1"/>
          </p:cNvSpPr>
          <p:nvPr>
            <p:ph idx="1"/>
          </p:nvPr>
        </p:nvSpPr>
        <p:spPr>
          <a:xfrm>
            <a:off x="334434" y="1052515"/>
            <a:ext cx="11523133" cy="1108018"/>
          </a:xfrm>
        </p:spPr>
        <p:txBody>
          <a:bodyPr/>
          <a:lstStyle/>
          <a:p>
            <a:r>
              <a:rPr lang="zh-CN" altLang="en-US" dirty="0"/>
              <a:t>复杂模拟信号可以被分解为多个正弦波的迭加</a:t>
            </a:r>
            <a:endParaRPr lang="zh-CN" altLang="en-US" dirty="0"/>
          </a:p>
          <a:p>
            <a:pPr>
              <a:lnSpc>
                <a:spcPct val="90000"/>
              </a:lnSpc>
            </a:pPr>
            <a:endParaRPr lang="zh-CN" altLang="en-US" dirty="0"/>
          </a:p>
          <a:p>
            <a:pPr>
              <a:lnSpc>
                <a:spcPct val="90000"/>
              </a:lnSpc>
            </a:pPr>
            <a:endParaRPr lang="zh-CN" altLang="en-US" dirty="0"/>
          </a:p>
        </p:txBody>
      </p:sp>
      <p:sp>
        <p:nvSpPr>
          <p:cNvPr id="12" name="灯片编号占位符 5"/>
          <p:cNvSpPr>
            <a:spLocks noGrp="1"/>
          </p:cNvSpPr>
          <p:nvPr>
            <p:ph type="sldNum" sz="quarter" idx="12"/>
          </p:nvPr>
        </p:nvSpPr>
        <p:spPr/>
        <p:txBody>
          <a:bodyPr/>
          <a:lstStyle/>
          <a:p>
            <a:fld id="{AB0C3F63-A086-46D1-810A-2C25BA224F77}" type="slidenum">
              <a:rPr lang="en-US" altLang="zh-CN"/>
            </a:fld>
            <a:endParaRPr lang="en-US" altLang="zh-CN" dirty="0"/>
          </a:p>
        </p:txBody>
      </p:sp>
      <p:sp>
        <p:nvSpPr>
          <p:cNvPr id="390148" name="Line 4"/>
          <p:cNvSpPr>
            <a:spLocks noChangeShapeType="1"/>
          </p:cNvSpPr>
          <p:nvPr/>
        </p:nvSpPr>
        <p:spPr bwMode="auto">
          <a:xfrm>
            <a:off x="3163659" y="3778194"/>
            <a:ext cx="6121400" cy="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90149" name="Line 5"/>
          <p:cNvSpPr>
            <a:spLocks noChangeShapeType="1"/>
          </p:cNvSpPr>
          <p:nvPr/>
        </p:nvSpPr>
        <p:spPr bwMode="auto">
          <a:xfrm flipV="1">
            <a:off x="3163659" y="2481207"/>
            <a:ext cx="0" cy="2449513"/>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90150" name="Text Box 6"/>
          <p:cNvSpPr txBox="1">
            <a:spLocks noChangeArrowheads="1"/>
          </p:cNvSpPr>
          <p:nvPr/>
        </p:nvSpPr>
        <p:spPr bwMode="auto">
          <a:xfrm>
            <a:off x="8877071" y="3757557"/>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时间</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sp>
        <p:nvSpPr>
          <p:cNvPr id="390151" name="Text Box 7"/>
          <p:cNvSpPr txBox="1">
            <a:spLocks noChangeArrowheads="1"/>
          </p:cNvSpPr>
          <p:nvPr/>
        </p:nvSpPr>
        <p:spPr bwMode="auto">
          <a:xfrm>
            <a:off x="2273071" y="2312932"/>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dirty="0">
                <a:solidFill>
                  <a:schemeClr val="tx2"/>
                </a:solidFill>
                <a:latin typeface="微软雅黑 Light" panose="020B0502040204020203" pitchFamily="34" charset="-122"/>
                <a:ea typeface="微软雅黑 Light" panose="020B0502040204020203" pitchFamily="34" charset="-122"/>
              </a:rPr>
              <a:t>信号值</a:t>
            </a:r>
            <a:endParaRPr lang="zh-CN" altLang="en-US" sz="2000" dirty="0">
              <a:solidFill>
                <a:schemeClr val="tx2"/>
              </a:solidFill>
              <a:latin typeface="微软雅黑 Light" panose="020B0502040204020203" pitchFamily="34" charset="-122"/>
              <a:ea typeface="微软雅黑 Light" panose="020B0502040204020203" pitchFamily="34" charset="-122"/>
            </a:endParaRPr>
          </a:p>
        </p:txBody>
      </p:sp>
      <p:sp>
        <p:nvSpPr>
          <p:cNvPr id="390152" name="Freeform 8"/>
          <p:cNvSpPr/>
          <p:nvPr/>
        </p:nvSpPr>
        <p:spPr bwMode="auto">
          <a:xfrm>
            <a:off x="3171596" y="2879669"/>
            <a:ext cx="5291138" cy="1617662"/>
          </a:xfrm>
          <a:custGeom>
            <a:avLst/>
            <a:gdLst>
              <a:gd name="T0" fmla="*/ 0 w 3333"/>
              <a:gd name="T1" fmla="*/ 846 h 1019"/>
              <a:gd name="T2" fmla="*/ 296 w 3333"/>
              <a:gd name="T3" fmla="*/ 21 h 1019"/>
              <a:gd name="T4" fmla="*/ 749 w 3333"/>
              <a:gd name="T5" fmla="*/ 974 h 1019"/>
              <a:gd name="T6" fmla="*/ 1248 w 3333"/>
              <a:gd name="T7" fmla="*/ 294 h 1019"/>
              <a:gd name="T8" fmla="*/ 1793 w 3333"/>
              <a:gd name="T9" fmla="*/ 883 h 1019"/>
              <a:gd name="T10" fmla="*/ 2051 w 3333"/>
              <a:gd name="T11" fmla="*/ 380 h 1019"/>
              <a:gd name="T12" fmla="*/ 2382 w 3333"/>
              <a:gd name="T13" fmla="*/ 793 h 1019"/>
              <a:gd name="T14" fmla="*/ 2564 w 3333"/>
              <a:gd name="T15" fmla="*/ 203 h 1019"/>
              <a:gd name="T16" fmla="*/ 2836 w 3333"/>
              <a:gd name="T17" fmla="*/ 883 h 1019"/>
              <a:gd name="T18" fmla="*/ 3108 w 3333"/>
              <a:gd name="T19" fmla="*/ 67 h 1019"/>
              <a:gd name="T20" fmla="*/ 3333 w 3333"/>
              <a:gd name="T21" fmla="*/ 661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33" h="1019">
                <a:moveTo>
                  <a:pt x="0" y="846"/>
                </a:moveTo>
                <a:cubicBezTo>
                  <a:pt x="50" y="709"/>
                  <a:pt x="171" y="0"/>
                  <a:pt x="296" y="21"/>
                </a:cubicBezTo>
                <a:cubicBezTo>
                  <a:pt x="421" y="42"/>
                  <a:pt x="590" y="929"/>
                  <a:pt x="749" y="974"/>
                </a:cubicBezTo>
                <a:cubicBezTo>
                  <a:pt x="908" y="1019"/>
                  <a:pt x="1074" y="309"/>
                  <a:pt x="1248" y="294"/>
                </a:cubicBezTo>
                <a:cubicBezTo>
                  <a:pt x="1422" y="279"/>
                  <a:pt x="1659" y="869"/>
                  <a:pt x="1793" y="883"/>
                </a:cubicBezTo>
                <a:cubicBezTo>
                  <a:pt x="1927" y="897"/>
                  <a:pt x="1953" y="395"/>
                  <a:pt x="2051" y="380"/>
                </a:cubicBezTo>
                <a:cubicBezTo>
                  <a:pt x="2149" y="365"/>
                  <a:pt x="2296" y="823"/>
                  <a:pt x="2382" y="793"/>
                </a:cubicBezTo>
                <a:cubicBezTo>
                  <a:pt x="2468" y="763"/>
                  <a:pt x="2489" y="188"/>
                  <a:pt x="2564" y="203"/>
                </a:cubicBezTo>
                <a:cubicBezTo>
                  <a:pt x="2639" y="218"/>
                  <a:pt x="2745" y="906"/>
                  <a:pt x="2836" y="883"/>
                </a:cubicBezTo>
                <a:cubicBezTo>
                  <a:pt x="2927" y="860"/>
                  <a:pt x="3025" y="104"/>
                  <a:pt x="3108" y="67"/>
                </a:cubicBezTo>
                <a:cubicBezTo>
                  <a:pt x="3191" y="30"/>
                  <a:pt x="3286" y="537"/>
                  <a:pt x="3333" y="661"/>
                </a:cubicBezTo>
              </a:path>
            </a:pathLst>
          </a:custGeom>
          <a:noFill/>
          <a:ln w="19050" cap="flat" cmpd="sng">
            <a:solidFill>
              <a:srgbClr val="0070C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pic>
        <p:nvPicPr>
          <p:cNvPr id="390153"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6723" y="5002157"/>
            <a:ext cx="71628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61" name="Rectangle 201"/>
          <p:cNvSpPr>
            <a:spLocks noGrp="1" noChangeArrowheads="1"/>
          </p:cNvSpPr>
          <p:nvPr>
            <p:ph type="title"/>
          </p:nvPr>
        </p:nvSpPr>
        <p:spPr>
          <a:noFill/>
        </p:spPr>
        <p:txBody>
          <a:bodyPr/>
          <a:lstStyle/>
          <a:p>
            <a:r>
              <a:rPr lang="zh-CN" altLang="en-US" dirty="0"/>
              <a:t>傅里叶分析</a:t>
            </a:r>
            <a:endParaRPr lang="zh-CN" altLang="en-US" dirty="0"/>
          </a:p>
        </p:txBody>
      </p:sp>
      <p:sp>
        <p:nvSpPr>
          <p:cNvPr id="203" name="灯片编号占位符 5"/>
          <p:cNvSpPr>
            <a:spLocks noGrp="1"/>
          </p:cNvSpPr>
          <p:nvPr>
            <p:ph type="sldNum" sz="quarter" idx="12"/>
          </p:nvPr>
        </p:nvSpPr>
        <p:spPr/>
        <p:txBody>
          <a:bodyPr/>
          <a:lstStyle/>
          <a:p>
            <a:fld id="{66A52FBE-1301-4173-A0FB-5352BDAFEE13}" type="slidenum">
              <a:rPr lang="en-US" altLang="zh-CN"/>
            </a:fld>
            <a:endParaRPr lang="en-US" altLang="zh-CN" dirty="0"/>
          </a:p>
        </p:txBody>
      </p:sp>
      <p:sp>
        <p:nvSpPr>
          <p:cNvPr id="399366" name="Line 6"/>
          <p:cNvSpPr>
            <a:spLocks noChangeShapeType="1"/>
          </p:cNvSpPr>
          <p:nvPr/>
        </p:nvSpPr>
        <p:spPr bwMode="auto">
          <a:xfrm>
            <a:off x="3588601" y="2905641"/>
            <a:ext cx="529374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67" name="Line 7"/>
          <p:cNvSpPr>
            <a:spLocks noChangeShapeType="1"/>
          </p:cNvSpPr>
          <p:nvPr/>
        </p:nvSpPr>
        <p:spPr bwMode="auto">
          <a:xfrm>
            <a:off x="3588601" y="2576981"/>
            <a:ext cx="5293747" cy="0"/>
          </a:xfrm>
          <a:prstGeom prst="line">
            <a:avLst/>
          </a:prstGeom>
          <a:noFill/>
          <a:ln w="31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68" name="Line 8"/>
          <p:cNvSpPr>
            <a:spLocks noChangeShapeType="1"/>
          </p:cNvSpPr>
          <p:nvPr/>
        </p:nvSpPr>
        <p:spPr bwMode="auto">
          <a:xfrm>
            <a:off x="3588601" y="1912357"/>
            <a:ext cx="5293747" cy="0"/>
          </a:xfrm>
          <a:prstGeom prst="line">
            <a:avLst/>
          </a:prstGeom>
          <a:noFill/>
          <a:ln w="31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69" name="Line 9"/>
          <p:cNvSpPr>
            <a:spLocks noChangeShapeType="1"/>
          </p:cNvSpPr>
          <p:nvPr/>
        </p:nvSpPr>
        <p:spPr bwMode="auto">
          <a:xfrm>
            <a:off x="3588601" y="1576393"/>
            <a:ext cx="529374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0" name="Rectangle 10"/>
          <p:cNvSpPr>
            <a:spLocks noChangeArrowheads="1"/>
          </p:cNvSpPr>
          <p:nvPr/>
        </p:nvSpPr>
        <p:spPr bwMode="auto">
          <a:xfrm>
            <a:off x="3588601" y="1576393"/>
            <a:ext cx="5293747" cy="1329249"/>
          </a:xfrm>
          <a:prstGeom prst="rect">
            <a:avLst/>
          </a:prstGeom>
          <a:noFill/>
          <a:ln w="9525">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pPr algn="l"/>
            <a:endParaRPr lang="zh-CN" altLang="zh-CN" dirty="0">
              <a:latin typeface="微软雅黑 Light" panose="020B0502040204020203" pitchFamily="34" charset="-122"/>
            </a:endParaRPr>
          </a:p>
        </p:txBody>
      </p:sp>
      <p:sp>
        <p:nvSpPr>
          <p:cNvPr id="399371" name="Line 11"/>
          <p:cNvSpPr>
            <a:spLocks noChangeShapeType="1"/>
          </p:cNvSpPr>
          <p:nvPr/>
        </p:nvSpPr>
        <p:spPr bwMode="auto">
          <a:xfrm>
            <a:off x="3588601" y="1576393"/>
            <a:ext cx="0" cy="1329249"/>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2" name="Line 12"/>
          <p:cNvSpPr>
            <a:spLocks noChangeShapeType="1"/>
          </p:cNvSpPr>
          <p:nvPr/>
        </p:nvSpPr>
        <p:spPr bwMode="auto">
          <a:xfrm>
            <a:off x="3588601" y="2905641"/>
            <a:ext cx="2820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4" name="Line 14"/>
          <p:cNvSpPr>
            <a:spLocks noChangeShapeType="1"/>
          </p:cNvSpPr>
          <p:nvPr/>
        </p:nvSpPr>
        <p:spPr bwMode="auto">
          <a:xfrm>
            <a:off x="3588601" y="2241017"/>
            <a:ext cx="2820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5" name="Line 15"/>
          <p:cNvSpPr>
            <a:spLocks noChangeShapeType="1"/>
          </p:cNvSpPr>
          <p:nvPr/>
        </p:nvSpPr>
        <p:spPr bwMode="auto">
          <a:xfrm>
            <a:off x="3588601" y="1912357"/>
            <a:ext cx="2820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6" name="Line 16"/>
          <p:cNvSpPr>
            <a:spLocks noChangeShapeType="1"/>
          </p:cNvSpPr>
          <p:nvPr/>
        </p:nvSpPr>
        <p:spPr bwMode="auto">
          <a:xfrm>
            <a:off x="3588601" y="1576393"/>
            <a:ext cx="2820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7" name="Line 17"/>
          <p:cNvSpPr>
            <a:spLocks noChangeShapeType="1"/>
          </p:cNvSpPr>
          <p:nvPr/>
        </p:nvSpPr>
        <p:spPr bwMode="auto">
          <a:xfrm>
            <a:off x="3588601" y="2241017"/>
            <a:ext cx="529374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8" name="Line 18"/>
          <p:cNvSpPr>
            <a:spLocks noChangeShapeType="1"/>
          </p:cNvSpPr>
          <p:nvPr/>
        </p:nvSpPr>
        <p:spPr bwMode="auto">
          <a:xfrm flipV="1">
            <a:off x="3588601" y="2219106"/>
            <a:ext cx="0" cy="2191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79" name="Line 19"/>
          <p:cNvSpPr>
            <a:spLocks noChangeShapeType="1"/>
          </p:cNvSpPr>
          <p:nvPr/>
        </p:nvSpPr>
        <p:spPr bwMode="auto">
          <a:xfrm flipV="1">
            <a:off x="4914388" y="2219106"/>
            <a:ext cx="0" cy="2191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80" name="Line 20"/>
          <p:cNvSpPr>
            <a:spLocks noChangeShapeType="1"/>
          </p:cNvSpPr>
          <p:nvPr/>
        </p:nvSpPr>
        <p:spPr bwMode="auto">
          <a:xfrm flipV="1">
            <a:off x="6240176" y="2219106"/>
            <a:ext cx="0" cy="2191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81" name="Line 21"/>
          <p:cNvSpPr>
            <a:spLocks noChangeShapeType="1"/>
          </p:cNvSpPr>
          <p:nvPr/>
        </p:nvSpPr>
        <p:spPr bwMode="auto">
          <a:xfrm flipV="1">
            <a:off x="7556561" y="2219106"/>
            <a:ext cx="0" cy="2191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382" name="Freeform 22"/>
          <p:cNvSpPr/>
          <p:nvPr/>
        </p:nvSpPr>
        <p:spPr bwMode="auto">
          <a:xfrm>
            <a:off x="3588601" y="2014607"/>
            <a:ext cx="150444" cy="226410"/>
          </a:xfrm>
          <a:custGeom>
            <a:avLst/>
            <a:gdLst>
              <a:gd name="T0" fmla="*/ 0 w 96"/>
              <a:gd name="T1" fmla="*/ 186 h 186"/>
              <a:gd name="T2" fmla="*/ 48 w 96"/>
              <a:gd name="T3" fmla="*/ 90 h 186"/>
              <a:gd name="T4" fmla="*/ 96 w 96"/>
              <a:gd name="T5" fmla="*/ 0 h 186"/>
            </a:gdLst>
            <a:ahLst/>
            <a:cxnLst>
              <a:cxn ang="0">
                <a:pos x="T0" y="T1"/>
              </a:cxn>
              <a:cxn ang="0">
                <a:pos x="T2" y="T3"/>
              </a:cxn>
              <a:cxn ang="0">
                <a:pos x="T4" y="T5"/>
              </a:cxn>
            </a:cxnLst>
            <a:rect l="0" t="0" r="r" b="b"/>
            <a:pathLst>
              <a:path w="96" h="186">
                <a:moveTo>
                  <a:pt x="0" y="186"/>
                </a:moveTo>
                <a:lnTo>
                  <a:pt x="48" y="90"/>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3" name="Freeform 23"/>
          <p:cNvSpPr/>
          <p:nvPr/>
        </p:nvSpPr>
        <p:spPr bwMode="auto">
          <a:xfrm>
            <a:off x="3739045" y="1817410"/>
            <a:ext cx="141041" cy="197196"/>
          </a:xfrm>
          <a:custGeom>
            <a:avLst/>
            <a:gdLst>
              <a:gd name="T0" fmla="*/ 0 w 90"/>
              <a:gd name="T1" fmla="*/ 162 h 162"/>
              <a:gd name="T2" fmla="*/ 42 w 90"/>
              <a:gd name="T3" fmla="*/ 78 h 162"/>
              <a:gd name="T4" fmla="*/ 90 w 90"/>
              <a:gd name="T5" fmla="*/ 0 h 162"/>
            </a:gdLst>
            <a:ahLst/>
            <a:cxnLst>
              <a:cxn ang="0">
                <a:pos x="T0" y="T1"/>
              </a:cxn>
              <a:cxn ang="0">
                <a:pos x="T2" y="T3"/>
              </a:cxn>
              <a:cxn ang="0">
                <a:pos x="T4" y="T5"/>
              </a:cxn>
            </a:cxnLst>
            <a:rect l="0" t="0" r="r" b="b"/>
            <a:pathLst>
              <a:path w="90" h="162">
                <a:moveTo>
                  <a:pt x="0" y="162"/>
                </a:moveTo>
                <a:lnTo>
                  <a:pt x="42" y="78"/>
                </a:lnTo>
                <a:lnTo>
                  <a:pt x="90"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4" name="Freeform 24"/>
          <p:cNvSpPr/>
          <p:nvPr/>
        </p:nvSpPr>
        <p:spPr bwMode="auto">
          <a:xfrm>
            <a:off x="3880086" y="1664036"/>
            <a:ext cx="150444" cy="153375"/>
          </a:xfrm>
          <a:custGeom>
            <a:avLst/>
            <a:gdLst>
              <a:gd name="T0" fmla="*/ 0 w 96"/>
              <a:gd name="T1" fmla="*/ 126 h 126"/>
              <a:gd name="T2" fmla="*/ 48 w 96"/>
              <a:gd name="T3" fmla="*/ 54 h 126"/>
              <a:gd name="T4" fmla="*/ 72 w 96"/>
              <a:gd name="T5" fmla="*/ 24 h 126"/>
              <a:gd name="T6" fmla="*/ 96 w 96"/>
              <a:gd name="T7" fmla="*/ 0 h 126"/>
            </a:gdLst>
            <a:ahLst/>
            <a:cxnLst>
              <a:cxn ang="0">
                <a:pos x="T0" y="T1"/>
              </a:cxn>
              <a:cxn ang="0">
                <a:pos x="T2" y="T3"/>
              </a:cxn>
              <a:cxn ang="0">
                <a:pos x="T4" y="T5"/>
              </a:cxn>
              <a:cxn ang="0">
                <a:pos x="T6" y="T7"/>
              </a:cxn>
            </a:cxnLst>
            <a:rect l="0" t="0" r="r" b="b"/>
            <a:pathLst>
              <a:path w="96" h="126">
                <a:moveTo>
                  <a:pt x="0" y="126"/>
                </a:moveTo>
                <a:lnTo>
                  <a:pt x="48" y="54"/>
                </a:lnTo>
                <a:lnTo>
                  <a:pt x="72" y="24"/>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5" name="Freeform 25"/>
          <p:cNvSpPr/>
          <p:nvPr/>
        </p:nvSpPr>
        <p:spPr bwMode="auto">
          <a:xfrm>
            <a:off x="4030530" y="1583696"/>
            <a:ext cx="150444" cy="80339"/>
          </a:xfrm>
          <a:custGeom>
            <a:avLst/>
            <a:gdLst>
              <a:gd name="T0" fmla="*/ 0 w 96"/>
              <a:gd name="T1" fmla="*/ 66 h 66"/>
              <a:gd name="T2" fmla="*/ 48 w 96"/>
              <a:gd name="T3" fmla="*/ 24 h 66"/>
              <a:gd name="T4" fmla="*/ 72 w 96"/>
              <a:gd name="T5" fmla="*/ 12 h 66"/>
              <a:gd name="T6" fmla="*/ 96 w 96"/>
              <a:gd name="T7" fmla="*/ 0 h 66"/>
            </a:gdLst>
            <a:ahLst/>
            <a:cxnLst>
              <a:cxn ang="0">
                <a:pos x="T0" y="T1"/>
              </a:cxn>
              <a:cxn ang="0">
                <a:pos x="T2" y="T3"/>
              </a:cxn>
              <a:cxn ang="0">
                <a:pos x="T4" y="T5"/>
              </a:cxn>
              <a:cxn ang="0">
                <a:pos x="T6" y="T7"/>
              </a:cxn>
            </a:cxnLst>
            <a:rect l="0" t="0" r="r" b="b"/>
            <a:pathLst>
              <a:path w="96" h="66">
                <a:moveTo>
                  <a:pt x="0" y="66"/>
                </a:moveTo>
                <a:lnTo>
                  <a:pt x="48" y="24"/>
                </a:lnTo>
                <a:lnTo>
                  <a:pt x="72" y="12"/>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6" name="Freeform 26"/>
          <p:cNvSpPr/>
          <p:nvPr/>
        </p:nvSpPr>
        <p:spPr bwMode="auto">
          <a:xfrm>
            <a:off x="4180974" y="1576393"/>
            <a:ext cx="141041" cy="7304"/>
          </a:xfrm>
          <a:custGeom>
            <a:avLst/>
            <a:gdLst>
              <a:gd name="T0" fmla="*/ 0 w 90"/>
              <a:gd name="T1" fmla="*/ 6 h 6"/>
              <a:gd name="T2" fmla="*/ 42 w 90"/>
              <a:gd name="T3" fmla="*/ 0 h 6"/>
              <a:gd name="T4" fmla="*/ 90 w 90"/>
              <a:gd name="T5" fmla="*/ 6 h 6"/>
            </a:gdLst>
            <a:ahLst/>
            <a:cxnLst>
              <a:cxn ang="0">
                <a:pos x="T0" y="T1"/>
              </a:cxn>
              <a:cxn ang="0">
                <a:pos x="T2" y="T3"/>
              </a:cxn>
              <a:cxn ang="0">
                <a:pos x="T4" y="T5"/>
              </a:cxn>
            </a:cxnLst>
            <a:rect l="0" t="0" r="r" b="b"/>
            <a:pathLst>
              <a:path w="90" h="6">
                <a:moveTo>
                  <a:pt x="0" y="6"/>
                </a:moveTo>
                <a:lnTo>
                  <a:pt x="42" y="0"/>
                </a:lnTo>
                <a:lnTo>
                  <a:pt x="90" y="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7" name="Freeform 27"/>
          <p:cNvSpPr/>
          <p:nvPr/>
        </p:nvSpPr>
        <p:spPr bwMode="auto">
          <a:xfrm>
            <a:off x="4322015" y="1583696"/>
            <a:ext cx="150444" cy="80339"/>
          </a:xfrm>
          <a:custGeom>
            <a:avLst/>
            <a:gdLst>
              <a:gd name="T0" fmla="*/ 0 w 96"/>
              <a:gd name="T1" fmla="*/ 0 h 66"/>
              <a:gd name="T2" fmla="*/ 24 w 96"/>
              <a:gd name="T3" fmla="*/ 12 h 66"/>
              <a:gd name="T4" fmla="*/ 48 w 96"/>
              <a:gd name="T5" fmla="*/ 24 h 66"/>
              <a:gd name="T6" fmla="*/ 96 w 96"/>
              <a:gd name="T7" fmla="*/ 66 h 66"/>
            </a:gdLst>
            <a:ahLst/>
            <a:cxnLst>
              <a:cxn ang="0">
                <a:pos x="T0" y="T1"/>
              </a:cxn>
              <a:cxn ang="0">
                <a:pos x="T2" y="T3"/>
              </a:cxn>
              <a:cxn ang="0">
                <a:pos x="T4" y="T5"/>
              </a:cxn>
              <a:cxn ang="0">
                <a:pos x="T6" y="T7"/>
              </a:cxn>
            </a:cxnLst>
            <a:rect l="0" t="0" r="r" b="b"/>
            <a:pathLst>
              <a:path w="96" h="66">
                <a:moveTo>
                  <a:pt x="0" y="0"/>
                </a:moveTo>
                <a:lnTo>
                  <a:pt x="24" y="12"/>
                </a:lnTo>
                <a:lnTo>
                  <a:pt x="48" y="24"/>
                </a:lnTo>
                <a:lnTo>
                  <a:pt x="96" y="6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8" name="Freeform 28"/>
          <p:cNvSpPr/>
          <p:nvPr/>
        </p:nvSpPr>
        <p:spPr bwMode="auto">
          <a:xfrm>
            <a:off x="4472459" y="1664036"/>
            <a:ext cx="141041" cy="153375"/>
          </a:xfrm>
          <a:custGeom>
            <a:avLst/>
            <a:gdLst>
              <a:gd name="T0" fmla="*/ 0 w 90"/>
              <a:gd name="T1" fmla="*/ 0 h 126"/>
              <a:gd name="T2" fmla="*/ 24 w 90"/>
              <a:gd name="T3" fmla="*/ 24 h 126"/>
              <a:gd name="T4" fmla="*/ 42 w 90"/>
              <a:gd name="T5" fmla="*/ 54 h 126"/>
              <a:gd name="T6" fmla="*/ 90 w 90"/>
              <a:gd name="T7" fmla="*/ 126 h 126"/>
            </a:gdLst>
            <a:ahLst/>
            <a:cxnLst>
              <a:cxn ang="0">
                <a:pos x="T0" y="T1"/>
              </a:cxn>
              <a:cxn ang="0">
                <a:pos x="T2" y="T3"/>
              </a:cxn>
              <a:cxn ang="0">
                <a:pos x="T4" y="T5"/>
              </a:cxn>
              <a:cxn ang="0">
                <a:pos x="T6" y="T7"/>
              </a:cxn>
            </a:cxnLst>
            <a:rect l="0" t="0" r="r" b="b"/>
            <a:pathLst>
              <a:path w="90" h="126">
                <a:moveTo>
                  <a:pt x="0" y="0"/>
                </a:moveTo>
                <a:lnTo>
                  <a:pt x="24" y="24"/>
                </a:lnTo>
                <a:lnTo>
                  <a:pt x="42" y="54"/>
                </a:lnTo>
                <a:lnTo>
                  <a:pt x="90" y="12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89" name="Freeform 29"/>
          <p:cNvSpPr/>
          <p:nvPr/>
        </p:nvSpPr>
        <p:spPr bwMode="auto">
          <a:xfrm>
            <a:off x="4613500" y="1817410"/>
            <a:ext cx="150444" cy="197196"/>
          </a:xfrm>
          <a:custGeom>
            <a:avLst/>
            <a:gdLst>
              <a:gd name="T0" fmla="*/ 0 w 96"/>
              <a:gd name="T1" fmla="*/ 0 h 162"/>
              <a:gd name="T2" fmla="*/ 48 w 96"/>
              <a:gd name="T3" fmla="*/ 78 h 162"/>
              <a:gd name="T4" fmla="*/ 96 w 96"/>
              <a:gd name="T5" fmla="*/ 162 h 162"/>
            </a:gdLst>
            <a:ahLst/>
            <a:cxnLst>
              <a:cxn ang="0">
                <a:pos x="T0" y="T1"/>
              </a:cxn>
              <a:cxn ang="0">
                <a:pos x="T2" y="T3"/>
              </a:cxn>
              <a:cxn ang="0">
                <a:pos x="T4" y="T5"/>
              </a:cxn>
            </a:cxnLst>
            <a:rect l="0" t="0" r="r" b="b"/>
            <a:pathLst>
              <a:path w="96" h="162">
                <a:moveTo>
                  <a:pt x="0" y="0"/>
                </a:moveTo>
                <a:lnTo>
                  <a:pt x="48" y="78"/>
                </a:lnTo>
                <a:lnTo>
                  <a:pt x="96" y="162"/>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0" name="Freeform 30"/>
          <p:cNvSpPr/>
          <p:nvPr/>
        </p:nvSpPr>
        <p:spPr bwMode="auto">
          <a:xfrm>
            <a:off x="4763944" y="2014607"/>
            <a:ext cx="150444" cy="226410"/>
          </a:xfrm>
          <a:custGeom>
            <a:avLst/>
            <a:gdLst>
              <a:gd name="T0" fmla="*/ 0 w 96"/>
              <a:gd name="T1" fmla="*/ 0 h 186"/>
              <a:gd name="T2" fmla="*/ 48 w 96"/>
              <a:gd name="T3" fmla="*/ 90 h 186"/>
              <a:gd name="T4" fmla="*/ 96 w 96"/>
              <a:gd name="T5" fmla="*/ 186 h 186"/>
            </a:gdLst>
            <a:ahLst/>
            <a:cxnLst>
              <a:cxn ang="0">
                <a:pos x="T0" y="T1"/>
              </a:cxn>
              <a:cxn ang="0">
                <a:pos x="T2" y="T3"/>
              </a:cxn>
              <a:cxn ang="0">
                <a:pos x="T4" y="T5"/>
              </a:cxn>
            </a:cxnLst>
            <a:rect l="0" t="0" r="r" b="b"/>
            <a:pathLst>
              <a:path w="96" h="186">
                <a:moveTo>
                  <a:pt x="0" y="0"/>
                </a:moveTo>
                <a:lnTo>
                  <a:pt x="48" y="90"/>
                </a:lnTo>
                <a:lnTo>
                  <a:pt x="96" y="18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1" name="Freeform 31"/>
          <p:cNvSpPr/>
          <p:nvPr/>
        </p:nvSpPr>
        <p:spPr bwMode="auto">
          <a:xfrm>
            <a:off x="4914388" y="2241017"/>
            <a:ext cx="141041" cy="226410"/>
          </a:xfrm>
          <a:custGeom>
            <a:avLst/>
            <a:gdLst>
              <a:gd name="T0" fmla="*/ 0 w 90"/>
              <a:gd name="T1" fmla="*/ 0 h 186"/>
              <a:gd name="T2" fmla="*/ 42 w 90"/>
              <a:gd name="T3" fmla="*/ 96 h 186"/>
              <a:gd name="T4" fmla="*/ 90 w 90"/>
              <a:gd name="T5" fmla="*/ 186 h 186"/>
            </a:gdLst>
            <a:ahLst/>
            <a:cxnLst>
              <a:cxn ang="0">
                <a:pos x="T0" y="T1"/>
              </a:cxn>
              <a:cxn ang="0">
                <a:pos x="T2" y="T3"/>
              </a:cxn>
              <a:cxn ang="0">
                <a:pos x="T4" y="T5"/>
              </a:cxn>
            </a:cxnLst>
            <a:rect l="0" t="0" r="r" b="b"/>
            <a:pathLst>
              <a:path w="90" h="186">
                <a:moveTo>
                  <a:pt x="0" y="0"/>
                </a:moveTo>
                <a:lnTo>
                  <a:pt x="42" y="96"/>
                </a:lnTo>
                <a:lnTo>
                  <a:pt x="90" y="18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2" name="Freeform 32"/>
          <p:cNvSpPr/>
          <p:nvPr/>
        </p:nvSpPr>
        <p:spPr bwMode="auto">
          <a:xfrm>
            <a:off x="5055430" y="2467428"/>
            <a:ext cx="150444" cy="197196"/>
          </a:xfrm>
          <a:custGeom>
            <a:avLst/>
            <a:gdLst>
              <a:gd name="T0" fmla="*/ 0 w 96"/>
              <a:gd name="T1" fmla="*/ 0 h 162"/>
              <a:gd name="T2" fmla="*/ 48 w 96"/>
              <a:gd name="T3" fmla="*/ 84 h 162"/>
              <a:gd name="T4" fmla="*/ 96 w 96"/>
              <a:gd name="T5" fmla="*/ 162 h 162"/>
            </a:gdLst>
            <a:ahLst/>
            <a:cxnLst>
              <a:cxn ang="0">
                <a:pos x="T0" y="T1"/>
              </a:cxn>
              <a:cxn ang="0">
                <a:pos x="T2" y="T3"/>
              </a:cxn>
              <a:cxn ang="0">
                <a:pos x="T4" y="T5"/>
              </a:cxn>
            </a:cxnLst>
            <a:rect l="0" t="0" r="r" b="b"/>
            <a:pathLst>
              <a:path w="96" h="162">
                <a:moveTo>
                  <a:pt x="0" y="0"/>
                </a:moveTo>
                <a:lnTo>
                  <a:pt x="48" y="84"/>
                </a:lnTo>
                <a:lnTo>
                  <a:pt x="96" y="162"/>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3" name="Freeform 33"/>
          <p:cNvSpPr/>
          <p:nvPr/>
        </p:nvSpPr>
        <p:spPr bwMode="auto">
          <a:xfrm>
            <a:off x="5205874" y="2664624"/>
            <a:ext cx="150444" cy="153375"/>
          </a:xfrm>
          <a:custGeom>
            <a:avLst/>
            <a:gdLst>
              <a:gd name="T0" fmla="*/ 0 w 96"/>
              <a:gd name="T1" fmla="*/ 0 h 126"/>
              <a:gd name="T2" fmla="*/ 48 w 96"/>
              <a:gd name="T3" fmla="*/ 72 h 126"/>
              <a:gd name="T4" fmla="*/ 72 w 96"/>
              <a:gd name="T5" fmla="*/ 102 h 126"/>
              <a:gd name="T6" fmla="*/ 96 w 96"/>
              <a:gd name="T7" fmla="*/ 126 h 126"/>
            </a:gdLst>
            <a:ahLst/>
            <a:cxnLst>
              <a:cxn ang="0">
                <a:pos x="T0" y="T1"/>
              </a:cxn>
              <a:cxn ang="0">
                <a:pos x="T2" y="T3"/>
              </a:cxn>
              <a:cxn ang="0">
                <a:pos x="T4" y="T5"/>
              </a:cxn>
              <a:cxn ang="0">
                <a:pos x="T6" y="T7"/>
              </a:cxn>
            </a:cxnLst>
            <a:rect l="0" t="0" r="r" b="b"/>
            <a:pathLst>
              <a:path w="96" h="126">
                <a:moveTo>
                  <a:pt x="0" y="0"/>
                </a:moveTo>
                <a:lnTo>
                  <a:pt x="48" y="72"/>
                </a:lnTo>
                <a:lnTo>
                  <a:pt x="72" y="102"/>
                </a:lnTo>
                <a:lnTo>
                  <a:pt x="96" y="12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4" name="Freeform 34"/>
          <p:cNvSpPr/>
          <p:nvPr/>
        </p:nvSpPr>
        <p:spPr bwMode="auto">
          <a:xfrm>
            <a:off x="5356318" y="2817999"/>
            <a:ext cx="141041" cy="80339"/>
          </a:xfrm>
          <a:custGeom>
            <a:avLst/>
            <a:gdLst>
              <a:gd name="T0" fmla="*/ 0 w 90"/>
              <a:gd name="T1" fmla="*/ 0 h 66"/>
              <a:gd name="T2" fmla="*/ 42 w 90"/>
              <a:gd name="T3" fmla="*/ 42 h 66"/>
              <a:gd name="T4" fmla="*/ 66 w 90"/>
              <a:gd name="T5" fmla="*/ 54 h 66"/>
              <a:gd name="T6" fmla="*/ 90 w 90"/>
              <a:gd name="T7" fmla="*/ 66 h 66"/>
            </a:gdLst>
            <a:ahLst/>
            <a:cxnLst>
              <a:cxn ang="0">
                <a:pos x="T0" y="T1"/>
              </a:cxn>
              <a:cxn ang="0">
                <a:pos x="T2" y="T3"/>
              </a:cxn>
              <a:cxn ang="0">
                <a:pos x="T4" y="T5"/>
              </a:cxn>
              <a:cxn ang="0">
                <a:pos x="T6" y="T7"/>
              </a:cxn>
            </a:cxnLst>
            <a:rect l="0" t="0" r="r" b="b"/>
            <a:pathLst>
              <a:path w="90" h="66">
                <a:moveTo>
                  <a:pt x="0" y="0"/>
                </a:moveTo>
                <a:lnTo>
                  <a:pt x="42" y="42"/>
                </a:lnTo>
                <a:lnTo>
                  <a:pt x="66" y="54"/>
                </a:lnTo>
                <a:lnTo>
                  <a:pt x="90" y="6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5" name="Freeform 35"/>
          <p:cNvSpPr/>
          <p:nvPr/>
        </p:nvSpPr>
        <p:spPr bwMode="auto">
          <a:xfrm>
            <a:off x="5497359" y="2898338"/>
            <a:ext cx="150444" cy="7304"/>
          </a:xfrm>
          <a:custGeom>
            <a:avLst/>
            <a:gdLst>
              <a:gd name="T0" fmla="*/ 0 w 96"/>
              <a:gd name="T1" fmla="*/ 0 h 6"/>
              <a:gd name="T2" fmla="*/ 48 w 96"/>
              <a:gd name="T3" fmla="*/ 6 h 6"/>
              <a:gd name="T4" fmla="*/ 96 w 96"/>
              <a:gd name="T5" fmla="*/ 0 h 6"/>
            </a:gdLst>
            <a:ahLst/>
            <a:cxnLst>
              <a:cxn ang="0">
                <a:pos x="T0" y="T1"/>
              </a:cxn>
              <a:cxn ang="0">
                <a:pos x="T2" y="T3"/>
              </a:cxn>
              <a:cxn ang="0">
                <a:pos x="T4" y="T5"/>
              </a:cxn>
            </a:cxnLst>
            <a:rect l="0" t="0" r="r" b="b"/>
            <a:pathLst>
              <a:path w="96" h="6">
                <a:moveTo>
                  <a:pt x="0" y="0"/>
                </a:moveTo>
                <a:lnTo>
                  <a:pt x="48" y="6"/>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6" name="Freeform 36"/>
          <p:cNvSpPr/>
          <p:nvPr/>
        </p:nvSpPr>
        <p:spPr bwMode="auto">
          <a:xfrm>
            <a:off x="5647803" y="2817999"/>
            <a:ext cx="150444" cy="80339"/>
          </a:xfrm>
          <a:custGeom>
            <a:avLst/>
            <a:gdLst>
              <a:gd name="T0" fmla="*/ 0 w 96"/>
              <a:gd name="T1" fmla="*/ 66 h 66"/>
              <a:gd name="T2" fmla="*/ 24 w 96"/>
              <a:gd name="T3" fmla="*/ 54 h 66"/>
              <a:gd name="T4" fmla="*/ 48 w 96"/>
              <a:gd name="T5" fmla="*/ 42 h 66"/>
              <a:gd name="T6" fmla="*/ 96 w 96"/>
              <a:gd name="T7" fmla="*/ 0 h 66"/>
            </a:gdLst>
            <a:ahLst/>
            <a:cxnLst>
              <a:cxn ang="0">
                <a:pos x="T0" y="T1"/>
              </a:cxn>
              <a:cxn ang="0">
                <a:pos x="T2" y="T3"/>
              </a:cxn>
              <a:cxn ang="0">
                <a:pos x="T4" y="T5"/>
              </a:cxn>
              <a:cxn ang="0">
                <a:pos x="T6" y="T7"/>
              </a:cxn>
            </a:cxnLst>
            <a:rect l="0" t="0" r="r" b="b"/>
            <a:pathLst>
              <a:path w="96" h="66">
                <a:moveTo>
                  <a:pt x="0" y="66"/>
                </a:moveTo>
                <a:lnTo>
                  <a:pt x="24" y="54"/>
                </a:lnTo>
                <a:lnTo>
                  <a:pt x="48" y="42"/>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7" name="Freeform 37"/>
          <p:cNvSpPr/>
          <p:nvPr/>
        </p:nvSpPr>
        <p:spPr bwMode="auto">
          <a:xfrm>
            <a:off x="5798247" y="2664624"/>
            <a:ext cx="141041" cy="153375"/>
          </a:xfrm>
          <a:custGeom>
            <a:avLst/>
            <a:gdLst>
              <a:gd name="T0" fmla="*/ 0 w 90"/>
              <a:gd name="T1" fmla="*/ 126 h 126"/>
              <a:gd name="T2" fmla="*/ 24 w 90"/>
              <a:gd name="T3" fmla="*/ 102 h 126"/>
              <a:gd name="T4" fmla="*/ 42 w 90"/>
              <a:gd name="T5" fmla="*/ 72 h 126"/>
              <a:gd name="T6" fmla="*/ 90 w 90"/>
              <a:gd name="T7" fmla="*/ 0 h 126"/>
            </a:gdLst>
            <a:ahLst/>
            <a:cxnLst>
              <a:cxn ang="0">
                <a:pos x="T0" y="T1"/>
              </a:cxn>
              <a:cxn ang="0">
                <a:pos x="T2" y="T3"/>
              </a:cxn>
              <a:cxn ang="0">
                <a:pos x="T4" y="T5"/>
              </a:cxn>
              <a:cxn ang="0">
                <a:pos x="T6" y="T7"/>
              </a:cxn>
            </a:cxnLst>
            <a:rect l="0" t="0" r="r" b="b"/>
            <a:pathLst>
              <a:path w="90" h="126">
                <a:moveTo>
                  <a:pt x="0" y="126"/>
                </a:moveTo>
                <a:lnTo>
                  <a:pt x="24" y="102"/>
                </a:lnTo>
                <a:lnTo>
                  <a:pt x="42" y="72"/>
                </a:lnTo>
                <a:lnTo>
                  <a:pt x="90"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8" name="Freeform 38"/>
          <p:cNvSpPr/>
          <p:nvPr/>
        </p:nvSpPr>
        <p:spPr bwMode="auto">
          <a:xfrm>
            <a:off x="5939288" y="2467428"/>
            <a:ext cx="150444" cy="197196"/>
          </a:xfrm>
          <a:custGeom>
            <a:avLst/>
            <a:gdLst>
              <a:gd name="T0" fmla="*/ 0 w 96"/>
              <a:gd name="T1" fmla="*/ 162 h 162"/>
              <a:gd name="T2" fmla="*/ 48 w 96"/>
              <a:gd name="T3" fmla="*/ 84 h 162"/>
              <a:gd name="T4" fmla="*/ 96 w 96"/>
              <a:gd name="T5" fmla="*/ 0 h 162"/>
            </a:gdLst>
            <a:ahLst/>
            <a:cxnLst>
              <a:cxn ang="0">
                <a:pos x="T0" y="T1"/>
              </a:cxn>
              <a:cxn ang="0">
                <a:pos x="T2" y="T3"/>
              </a:cxn>
              <a:cxn ang="0">
                <a:pos x="T4" y="T5"/>
              </a:cxn>
            </a:cxnLst>
            <a:rect l="0" t="0" r="r" b="b"/>
            <a:pathLst>
              <a:path w="96" h="162">
                <a:moveTo>
                  <a:pt x="0" y="162"/>
                </a:moveTo>
                <a:lnTo>
                  <a:pt x="48" y="84"/>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399" name="Freeform 39"/>
          <p:cNvSpPr/>
          <p:nvPr/>
        </p:nvSpPr>
        <p:spPr bwMode="auto">
          <a:xfrm>
            <a:off x="6089732" y="2241017"/>
            <a:ext cx="150444" cy="226410"/>
          </a:xfrm>
          <a:custGeom>
            <a:avLst/>
            <a:gdLst>
              <a:gd name="T0" fmla="*/ 0 w 96"/>
              <a:gd name="T1" fmla="*/ 186 h 186"/>
              <a:gd name="T2" fmla="*/ 48 w 96"/>
              <a:gd name="T3" fmla="*/ 96 h 186"/>
              <a:gd name="T4" fmla="*/ 96 w 96"/>
              <a:gd name="T5" fmla="*/ 0 h 186"/>
            </a:gdLst>
            <a:ahLst/>
            <a:cxnLst>
              <a:cxn ang="0">
                <a:pos x="T0" y="T1"/>
              </a:cxn>
              <a:cxn ang="0">
                <a:pos x="T2" y="T3"/>
              </a:cxn>
              <a:cxn ang="0">
                <a:pos x="T4" y="T5"/>
              </a:cxn>
            </a:cxnLst>
            <a:rect l="0" t="0" r="r" b="b"/>
            <a:pathLst>
              <a:path w="96" h="186">
                <a:moveTo>
                  <a:pt x="0" y="186"/>
                </a:moveTo>
                <a:lnTo>
                  <a:pt x="48" y="96"/>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0" name="Freeform 40"/>
          <p:cNvSpPr/>
          <p:nvPr/>
        </p:nvSpPr>
        <p:spPr bwMode="auto">
          <a:xfrm>
            <a:off x="6240176" y="2014607"/>
            <a:ext cx="141041" cy="226410"/>
          </a:xfrm>
          <a:custGeom>
            <a:avLst/>
            <a:gdLst>
              <a:gd name="T0" fmla="*/ 0 w 90"/>
              <a:gd name="T1" fmla="*/ 186 h 186"/>
              <a:gd name="T2" fmla="*/ 42 w 90"/>
              <a:gd name="T3" fmla="*/ 90 h 186"/>
              <a:gd name="T4" fmla="*/ 90 w 90"/>
              <a:gd name="T5" fmla="*/ 0 h 186"/>
            </a:gdLst>
            <a:ahLst/>
            <a:cxnLst>
              <a:cxn ang="0">
                <a:pos x="T0" y="T1"/>
              </a:cxn>
              <a:cxn ang="0">
                <a:pos x="T2" y="T3"/>
              </a:cxn>
              <a:cxn ang="0">
                <a:pos x="T4" y="T5"/>
              </a:cxn>
            </a:cxnLst>
            <a:rect l="0" t="0" r="r" b="b"/>
            <a:pathLst>
              <a:path w="90" h="186">
                <a:moveTo>
                  <a:pt x="0" y="186"/>
                </a:moveTo>
                <a:lnTo>
                  <a:pt x="42" y="90"/>
                </a:lnTo>
                <a:lnTo>
                  <a:pt x="90"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1" name="Freeform 41"/>
          <p:cNvSpPr/>
          <p:nvPr/>
        </p:nvSpPr>
        <p:spPr bwMode="auto">
          <a:xfrm>
            <a:off x="6381217" y="1817410"/>
            <a:ext cx="150444" cy="197196"/>
          </a:xfrm>
          <a:custGeom>
            <a:avLst/>
            <a:gdLst>
              <a:gd name="T0" fmla="*/ 0 w 96"/>
              <a:gd name="T1" fmla="*/ 162 h 162"/>
              <a:gd name="T2" fmla="*/ 48 w 96"/>
              <a:gd name="T3" fmla="*/ 78 h 162"/>
              <a:gd name="T4" fmla="*/ 96 w 96"/>
              <a:gd name="T5" fmla="*/ 0 h 162"/>
            </a:gdLst>
            <a:ahLst/>
            <a:cxnLst>
              <a:cxn ang="0">
                <a:pos x="T0" y="T1"/>
              </a:cxn>
              <a:cxn ang="0">
                <a:pos x="T2" y="T3"/>
              </a:cxn>
              <a:cxn ang="0">
                <a:pos x="T4" y="T5"/>
              </a:cxn>
            </a:cxnLst>
            <a:rect l="0" t="0" r="r" b="b"/>
            <a:pathLst>
              <a:path w="96" h="162">
                <a:moveTo>
                  <a:pt x="0" y="162"/>
                </a:moveTo>
                <a:lnTo>
                  <a:pt x="48" y="78"/>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2" name="Freeform 42"/>
          <p:cNvSpPr/>
          <p:nvPr/>
        </p:nvSpPr>
        <p:spPr bwMode="auto">
          <a:xfrm>
            <a:off x="6531661" y="1664036"/>
            <a:ext cx="141041" cy="153375"/>
          </a:xfrm>
          <a:custGeom>
            <a:avLst/>
            <a:gdLst>
              <a:gd name="T0" fmla="*/ 0 w 90"/>
              <a:gd name="T1" fmla="*/ 126 h 126"/>
              <a:gd name="T2" fmla="*/ 42 w 90"/>
              <a:gd name="T3" fmla="*/ 54 h 126"/>
              <a:gd name="T4" fmla="*/ 66 w 90"/>
              <a:gd name="T5" fmla="*/ 24 h 126"/>
              <a:gd name="T6" fmla="*/ 90 w 90"/>
              <a:gd name="T7" fmla="*/ 0 h 126"/>
            </a:gdLst>
            <a:ahLst/>
            <a:cxnLst>
              <a:cxn ang="0">
                <a:pos x="T0" y="T1"/>
              </a:cxn>
              <a:cxn ang="0">
                <a:pos x="T2" y="T3"/>
              </a:cxn>
              <a:cxn ang="0">
                <a:pos x="T4" y="T5"/>
              </a:cxn>
              <a:cxn ang="0">
                <a:pos x="T6" y="T7"/>
              </a:cxn>
            </a:cxnLst>
            <a:rect l="0" t="0" r="r" b="b"/>
            <a:pathLst>
              <a:path w="90" h="126">
                <a:moveTo>
                  <a:pt x="0" y="126"/>
                </a:moveTo>
                <a:lnTo>
                  <a:pt x="42" y="54"/>
                </a:lnTo>
                <a:lnTo>
                  <a:pt x="66" y="24"/>
                </a:lnTo>
                <a:lnTo>
                  <a:pt x="90"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3" name="Freeform 43"/>
          <p:cNvSpPr/>
          <p:nvPr/>
        </p:nvSpPr>
        <p:spPr bwMode="auto">
          <a:xfrm>
            <a:off x="6672702" y="1583696"/>
            <a:ext cx="150444" cy="80339"/>
          </a:xfrm>
          <a:custGeom>
            <a:avLst/>
            <a:gdLst>
              <a:gd name="T0" fmla="*/ 0 w 96"/>
              <a:gd name="T1" fmla="*/ 66 h 66"/>
              <a:gd name="T2" fmla="*/ 48 w 96"/>
              <a:gd name="T3" fmla="*/ 24 h 66"/>
              <a:gd name="T4" fmla="*/ 72 w 96"/>
              <a:gd name="T5" fmla="*/ 12 h 66"/>
              <a:gd name="T6" fmla="*/ 96 w 96"/>
              <a:gd name="T7" fmla="*/ 0 h 66"/>
            </a:gdLst>
            <a:ahLst/>
            <a:cxnLst>
              <a:cxn ang="0">
                <a:pos x="T0" y="T1"/>
              </a:cxn>
              <a:cxn ang="0">
                <a:pos x="T2" y="T3"/>
              </a:cxn>
              <a:cxn ang="0">
                <a:pos x="T4" y="T5"/>
              </a:cxn>
              <a:cxn ang="0">
                <a:pos x="T6" y="T7"/>
              </a:cxn>
            </a:cxnLst>
            <a:rect l="0" t="0" r="r" b="b"/>
            <a:pathLst>
              <a:path w="96" h="66">
                <a:moveTo>
                  <a:pt x="0" y="66"/>
                </a:moveTo>
                <a:lnTo>
                  <a:pt x="48" y="24"/>
                </a:lnTo>
                <a:lnTo>
                  <a:pt x="72" y="12"/>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4" name="Freeform 44"/>
          <p:cNvSpPr/>
          <p:nvPr/>
        </p:nvSpPr>
        <p:spPr bwMode="auto">
          <a:xfrm>
            <a:off x="6823146" y="1576393"/>
            <a:ext cx="150444" cy="7304"/>
          </a:xfrm>
          <a:custGeom>
            <a:avLst/>
            <a:gdLst>
              <a:gd name="T0" fmla="*/ 0 w 96"/>
              <a:gd name="T1" fmla="*/ 6 h 6"/>
              <a:gd name="T2" fmla="*/ 48 w 96"/>
              <a:gd name="T3" fmla="*/ 0 h 6"/>
              <a:gd name="T4" fmla="*/ 96 w 96"/>
              <a:gd name="T5" fmla="*/ 6 h 6"/>
            </a:gdLst>
            <a:ahLst/>
            <a:cxnLst>
              <a:cxn ang="0">
                <a:pos x="T0" y="T1"/>
              </a:cxn>
              <a:cxn ang="0">
                <a:pos x="T2" y="T3"/>
              </a:cxn>
              <a:cxn ang="0">
                <a:pos x="T4" y="T5"/>
              </a:cxn>
            </a:cxnLst>
            <a:rect l="0" t="0" r="r" b="b"/>
            <a:pathLst>
              <a:path w="96" h="6">
                <a:moveTo>
                  <a:pt x="0" y="6"/>
                </a:moveTo>
                <a:lnTo>
                  <a:pt x="48" y="0"/>
                </a:lnTo>
                <a:lnTo>
                  <a:pt x="96" y="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5" name="Freeform 45"/>
          <p:cNvSpPr/>
          <p:nvPr/>
        </p:nvSpPr>
        <p:spPr bwMode="auto">
          <a:xfrm>
            <a:off x="6973590" y="1583696"/>
            <a:ext cx="141041" cy="80339"/>
          </a:xfrm>
          <a:custGeom>
            <a:avLst/>
            <a:gdLst>
              <a:gd name="T0" fmla="*/ 0 w 90"/>
              <a:gd name="T1" fmla="*/ 0 h 66"/>
              <a:gd name="T2" fmla="*/ 24 w 90"/>
              <a:gd name="T3" fmla="*/ 12 h 66"/>
              <a:gd name="T4" fmla="*/ 42 w 90"/>
              <a:gd name="T5" fmla="*/ 24 h 66"/>
              <a:gd name="T6" fmla="*/ 90 w 90"/>
              <a:gd name="T7" fmla="*/ 66 h 66"/>
            </a:gdLst>
            <a:ahLst/>
            <a:cxnLst>
              <a:cxn ang="0">
                <a:pos x="T0" y="T1"/>
              </a:cxn>
              <a:cxn ang="0">
                <a:pos x="T2" y="T3"/>
              </a:cxn>
              <a:cxn ang="0">
                <a:pos x="T4" y="T5"/>
              </a:cxn>
              <a:cxn ang="0">
                <a:pos x="T6" y="T7"/>
              </a:cxn>
            </a:cxnLst>
            <a:rect l="0" t="0" r="r" b="b"/>
            <a:pathLst>
              <a:path w="90" h="66">
                <a:moveTo>
                  <a:pt x="0" y="0"/>
                </a:moveTo>
                <a:lnTo>
                  <a:pt x="24" y="12"/>
                </a:lnTo>
                <a:lnTo>
                  <a:pt x="42" y="24"/>
                </a:lnTo>
                <a:lnTo>
                  <a:pt x="90" y="6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6" name="Freeform 46"/>
          <p:cNvSpPr/>
          <p:nvPr/>
        </p:nvSpPr>
        <p:spPr bwMode="auto">
          <a:xfrm>
            <a:off x="7114631" y="1664036"/>
            <a:ext cx="150444" cy="153375"/>
          </a:xfrm>
          <a:custGeom>
            <a:avLst/>
            <a:gdLst>
              <a:gd name="T0" fmla="*/ 0 w 96"/>
              <a:gd name="T1" fmla="*/ 0 h 126"/>
              <a:gd name="T2" fmla="*/ 24 w 96"/>
              <a:gd name="T3" fmla="*/ 24 h 126"/>
              <a:gd name="T4" fmla="*/ 48 w 96"/>
              <a:gd name="T5" fmla="*/ 54 h 126"/>
              <a:gd name="T6" fmla="*/ 96 w 96"/>
              <a:gd name="T7" fmla="*/ 126 h 126"/>
            </a:gdLst>
            <a:ahLst/>
            <a:cxnLst>
              <a:cxn ang="0">
                <a:pos x="T0" y="T1"/>
              </a:cxn>
              <a:cxn ang="0">
                <a:pos x="T2" y="T3"/>
              </a:cxn>
              <a:cxn ang="0">
                <a:pos x="T4" y="T5"/>
              </a:cxn>
              <a:cxn ang="0">
                <a:pos x="T6" y="T7"/>
              </a:cxn>
            </a:cxnLst>
            <a:rect l="0" t="0" r="r" b="b"/>
            <a:pathLst>
              <a:path w="96" h="126">
                <a:moveTo>
                  <a:pt x="0" y="0"/>
                </a:moveTo>
                <a:lnTo>
                  <a:pt x="24" y="24"/>
                </a:lnTo>
                <a:lnTo>
                  <a:pt x="48" y="54"/>
                </a:lnTo>
                <a:lnTo>
                  <a:pt x="96" y="12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7" name="Freeform 47"/>
          <p:cNvSpPr/>
          <p:nvPr/>
        </p:nvSpPr>
        <p:spPr bwMode="auto">
          <a:xfrm>
            <a:off x="7265075" y="1817410"/>
            <a:ext cx="150444" cy="197196"/>
          </a:xfrm>
          <a:custGeom>
            <a:avLst/>
            <a:gdLst>
              <a:gd name="T0" fmla="*/ 0 w 96"/>
              <a:gd name="T1" fmla="*/ 0 h 162"/>
              <a:gd name="T2" fmla="*/ 48 w 96"/>
              <a:gd name="T3" fmla="*/ 78 h 162"/>
              <a:gd name="T4" fmla="*/ 96 w 96"/>
              <a:gd name="T5" fmla="*/ 162 h 162"/>
            </a:gdLst>
            <a:ahLst/>
            <a:cxnLst>
              <a:cxn ang="0">
                <a:pos x="T0" y="T1"/>
              </a:cxn>
              <a:cxn ang="0">
                <a:pos x="T2" y="T3"/>
              </a:cxn>
              <a:cxn ang="0">
                <a:pos x="T4" y="T5"/>
              </a:cxn>
            </a:cxnLst>
            <a:rect l="0" t="0" r="r" b="b"/>
            <a:pathLst>
              <a:path w="96" h="162">
                <a:moveTo>
                  <a:pt x="0" y="0"/>
                </a:moveTo>
                <a:lnTo>
                  <a:pt x="48" y="78"/>
                </a:lnTo>
                <a:lnTo>
                  <a:pt x="96" y="162"/>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8" name="Freeform 48"/>
          <p:cNvSpPr/>
          <p:nvPr/>
        </p:nvSpPr>
        <p:spPr bwMode="auto">
          <a:xfrm>
            <a:off x="7415519" y="2014607"/>
            <a:ext cx="141041" cy="226410"/>
          </a:xfrm>
          <a:custGeom>
            <a:avLst/>
            <a:gdLst>
              <a:gd name="T0" fmla="*/ 0 w 90"/>
              <a:gd name="T1" fmla="*/ 0 h 186"/>
              <a:gd name="T2" fmla="*/ 42 w 90"/>
              <a:gd name="T3" fmla="*/ 90 h 186"/>
              <a:gd name="T4" fmla="*/ 90 w 90"/>
              <a:gd name="T5" fmla="*/ 186 h 186"/>
            </a:gdLst>
            <a:ahLst/>
            <a:cxnLst>
              <a:cxn ang="0">
                <a:pos x="T0" y="T1"/>
              </a:cxn>
              <a:cxn ang="0">
                <a:pos x="T2" y="T3"/>
              </a:cxn>
              <a:cxn ang="0">
                <a:pos x="T4" y="T5"/>
              </a:cxn>
            </a:cxnLst>
            <a:rect l="0" t="0" r="r" b="b"/>
            <a:pathLst>
              <a:path w="90" h="186">
                <a:moveTo>
                  <a:pt x="0" y="0"/>
                </a:moveTo>
                <a:lnTo>
                  <a:pt x="42" y="90"/>
                </a:lnTo>
                <a:lnTo>
                  <a:pt x="90" y="18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09" name="Freeform 49"/>
          <p:cNvSpPr/>
          <p:nvPr/>
        </p:nvSpPr>
        <p:spPr bwMode="auto">
          <a:xfrm>
            <a:off x="7556561" y="2241017"/>
            <a:ext cx="150444" cy="226410"/>
          </a:xfrm>
          <a:custGeom>
            <a:avLst/>
            <a:gdLst>
              <a:gd name="T0" fmla="*/ 0 w 96"/>
              <a:gd name="T1" fmla="*/ 0 h 186"/>
              <a:gd name="T2" fmla="*/ 48 w 96"/>
              <a:gd name="T3" fmla="*/ 96 h 186"/>
              <a:gd name="T4" fmla="*/ 96 w 96"/>
              <a:gd name="T5" fmla="*/ 186 h 186"/>
            </a:gdLst>
            <a:ahLst/>
            <a:cxnLst>
              <a:cxn ang="0">
                <a:pos x="T0" y="T1"/>
              </a:cxn>
              <a:cxn ang="0">
                <a:pos x="T2" y="T3"/>
              </a:cxn>
              <a:cxn ang="0">
                <a:pos x="T4" y="T5"/>
              </a:cxn>
            </a:cxnLst>
            <a:rect l="0" t="0" r="r" b="b"/>
            <a:pathLst>
              <a:path w="96" h="186">
                <a:moveTo>
                  <a:pt x="0" y="0"/>
                </a:moveTo>
                <a:lnTo>
                  <a:pt x="48" y="96"/>
                </a:lnTo>
                <a:lnTo>
                  <a:pt x="96" y="18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0" name="Freeform 50"/>
          <p:cNvSpPr/>
          <p:nvPr/>
        </p:nvSpPr>
        <p:spPr bwMode="auto">
          <a:xfrm>
            <a:off x="7707005" y="2467428"/>
            <a:ext cx="150444" cy="197196"/>
          </a:xfrm>
          <a:custGeom>
            <a:avLst/>
            <a:gdLst>
              <a:gd name="T0" fmla="*/ 0 w 96"/>
              <a:gd name="T1" fmla="*/ 0 h 162"/>
              <a:gd name="T2" fmla="*/ 48 w 96"/>
              <a:gd name="T3" fmla="*/ 84 h 162"/>
              <a:gd name="T4" fmla="*/ 96 w 96"/>
              <a:gd name="T5" fmla="*/ 162 h 162"/>
            </a:gdLst>
            <a:ahLst/>
            <a:cxnLst>
              <a:cxn ang="0">
                <a:pos x="T0" y="T1"/>
              </a:cxn>
              <a:cxn ang="0">
                <a:pos x="T2" y="T3"/>
              </a:cxn>
              <a:cxn ang="0">
                <a:pos x="T4" y="T5"/>
              </a:cxn>
            </a:cxnLst>
            <a:rect l="0" t="0" r="r" b="b"/>
            <a:pathLst>
              <a:path w="96" h="162">
                <a:moveTo>
                  <a:pt x="0" y="0"/>
                </a:moveTo>
                <a:lnTo>
                  <a:pt x="48" y="84"/>
                </a:lnTo>
                <a:lnTo>
                  <a:pt x="96" y="162"/>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1" name="Freeform 51"/>
          <p:cNvSpPr/>
          <p:nvPr/>
        </p:nvSpPr>
        <p:spPr bwMode="auto">
          <a:xfrm>
            <a:off x="7857449" y="2664624"/>
            <a:ext cx="141041" cy="153375"/>
          </a:xfrm>
          <a:custGeom>
            <a:avLst/>
            <a:gdLst>
              <a:gd name="T0" fmla="*/ 0 w 90"/>
              <a:gd name="T1" fmla="*/ 0 h 126"/>
              <a:gd name="T2" fmla="*/ 42 w 90"/>
              <a:gd name="T3" fmla="*/ 72 h 126"/>
              <a:gd name="T4" fmla="*/ 66 w 90"/>
              <a:gd name="T5" fmla="*/ 102 h 126"/>
              <a:gd name="T6" fmla="*/ 90 w 90"/>
              <a:gd name="T7" fmla="*/ 126 h 126"/>
            </a:gdLst>
            <a:ahLst/>
            <a:cxnLst>
              <a:cxn ang="0">
                <a:pos x="T0" y="T1"/>
              </a:cxn>
              <a:cxn ang="0">
                <a:pos x="T2" y="T3"/>
              </a:cxn>
              <a:cxn ang="0">
                <a:pos x="T4" y="T5"/>
              </a:cxn>
              <a:cxn ang="0">
                <a:pos x="T6" y="T7"/>
              </a:cxn>
            </a:cxnLst>
            <a:rect l="0" t="0" r="r" b="b"/>
            <a:pathLst>
              <a:path w="90" h="126">
                <a:moveTo>
                  <a:pt x="0" y="0"/>
                </a:moveTo>
                <a:lnTo>
                  <a:pt x="42" y="72"/>
                </a:lnTo>
                <a:lnTo>
                  <a:pt x="66" y="102"/>
                </a:lnTo>
                <a:lnTo>
                  <a:pt x="90" y="12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2" name="Freeform 52"/>
          <p:cNvSpPr/>
          <p:nvPr/>
        </p:nvSpPr>
        <p:spPr bwMode="auto">
          <a:xfrm>
            <a:off x="7998490" y="2817999"/>
            <a:ext cx="150444" cy="80339"/>
          </a:xfrm>
          <a:custGeom>
            <a:avLst/>
            <a:gdLst>
              <a:gd name="T0" fmla="*/ 0 w 96"/>
              <a:gd name="T1" fmla="*/ 0 h 66"/>
              <a:gd name="T2" fmla="*/ 48 w 96"/>
              <a:gd name="T3" fmla="*/ 42 h 66"/>
              <a:gd name="T4" fmla="*/ 72 w 96"/>
              <a:gd name="T5" fmla="*/ 54 h 66"/>
              <a:gd name="T6" fmla="*/ 96 w 96"/>
              <a:gd name="T7" fmla="*/ 66 h 66"/>
            </a:gdLst>
            <a:ahLst/>
            <a:cxnLst>
              <a:cxn ang="0">
                <a:pos x="T0" y="T1"/>
              </a:cxn>
              <a:cxn ang="0">
                <a:pos x="T2" y="T3"/>
              </a:cxn>
              <a:cxn ang="0">
                <a:pos x="T4" y="T5"/>
              </a:cxn>
              <a:cxn ang="0">
                <a:pos x="T6" y="T7"/>
              </a:cxn>
            </a:cxnLst>
            <a:rect l="0" t="0" r="r" b="b"/>
            <a:pathLst>
              <a:path w="96" h="66">
                <a:moveTo>
                  <a:pt x="0" y="0"/>
                </a:moveTo>
                <a:lnTo>
                  <a:pt x="48" y="42"/>
                </a:lnTo>
                <a:lnTo>
                  <a:pt x="72" y="54"/>
                </a:lnTo>
                <a:lnTo>
                  <a:pt x="96" y="66"/>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3" name="Freeform 53"/>
          <p:cNvSpPr/>
          <p:nvPr/>
        </p:nvSpPr>
        <p:spPr bwMode="auto">
          <a:xfrm>
            <a:off x="8148934" y="2898338"/>
            <a:ext cx="141041" cy="7304"/>
          </a:xfrm>
          <a:custGeom>
            <a:avLst/>
            <a:gdLst>
              <a:gd name="T0" fmla="*/ 0 w 90"/>
              <a:gd name="T1" fmla="*/ 0 h 6"/>
              <a:gd name="T2" fmla="*/ 42 w 90"/>
              <a:gd name="T3" fmla="*/ 6 h 6"/>
              <a:gd name="T4" fmla="*/ 90 w 90"/>
              <a:gd name="T5" fmla="*/ 0 h 6"/>
            </a:gdLst>
            <a:ahLst/>
            <a:cxnLst>
              <a:cxn ang="0">
                <a:pos x="T0" y="T1"/>
              </a:cxn>
              <a:cxn ang="0">
                <a:pos x="T2" y="T3"/>
              </a:cxn>
              <a:cxn ang="0">
                <a:pos x="T4" y="T5"/>
              </a:cxn>
            </a:cxnLst>
            <a:rect l="0" t="0" r="r" b="b"/>
            <a:pathLst>
              <a:path w="90" h="6">
                <a:moveTo>
                  <a:pt x="0" y="0"/>
                </a:moveTo>
                <a:lnTo>
                  <a:pt x="42" y="6"/>
                </a:lnTo>
                <a:lnTo>
                  <a:pt x="90"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4" name="Freeform 54"/>
          <p:cNvSpPr/>
          <p:nvPr/>
        </p:nvSpPr>
        <p:spPr bwMode="auto">
          <a:xfrm>
            <a:off x="8289975" y="2817999"/>
            <a:ext cx="150444" cy="80339"/>
          </a:xfrm>
          <a:custGeom>
            <a:avLst/>
            <a:gdLst>
              <a:gd name="T0" fmla="*/ 0 w 96"/>
              <a:gd name="T1" fmla="*/ 66 h 66"/>
              <a:gd name="T2" fmla="*/ 24 w 96"/>
              <a:gd name="T3" fmla="*/ 54 h 66"/>
              <a:gd name="T4" fmla="*/ 48 w 96"/>
              <a:gd name="T5" fmla="*/ 42 h 66"/>
              <a:gd name="T6" fmla="*/ 96 w 96"/>
              <a:gd name="T7" fmla="*/ 0 h 66"/>
            </a:gdLst>
            <a:ahLst/>
            <a:cxnLst>
              <a:cxn ang="0">
                <a:pos x="T0" y="T1"/>
              </a:cxn>
              <a:cxn ang="0">
                <a:pos x="T2" y="T3"/>
              </a:cxn>
              <a:cxn ang="0">
                <a:pos x="T4" y="T5"/>
              </a:cxn>
              <a:cxn ang="0">
                <a:pos x="T6" y="T7"/>
              </a:cxn>
            </a:cxnLst>
            <a:rect l="0" t="0" r="r" b="b"/>
            <a:pathLst>
              <a:path w="96" h="66">
                <a:moveTo>
                  <a:pt x="0" y="66"/>
                </a:moveTo>
                <a:lnTo>
                  <a:pt x="24" y="54"/>
                </a:lnTo>
                <a:lnTo>
                  <a:pt x="48" y="42"/>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5" name="Freeform 55"/>
          <p:cNvSpPr/>
          <p:nvPr/>
        </p:nvSpPr>
        <p:spPr bwMode="auto">
          <a:xfrm>
            <a:off x="8440419" y="2664624"/>
            <a:ext cx="150444" cy="153375"/>
          </a:xfrm>
          <a:custGeom>
            <a:avLst/>
            <a:gdLst>
              <a:gd name="T0" fmla="*/ 0 w 96"/>
              <a:gd name="T1" fmla="*/ 126 h 126"/>
              <a:gd name="T2" fmla="*/ 24 w 96"/>
              <a:gd name="T3" fmla="*/ 102 h 126"/>
              <a:gd name="T4" fmla="*/ 48 w 96"/>
              <a:gd name="T5" fmla="*/ 72 h 126"/>
              <a:gd name="T6" fmla="*/ 96 w 96"/>
              <a:gd name="T7" fmla="*/ 0 h 126"/>
            </a:gdLst>
            <a:ahLst/>
            <a:cxnLst>
              <a:cxn ang="0">
                <a:pos x="T0" y="T1"/>
              </a:cxn>
              <a:cxn ang="0">
                <a:pos x="T2" y="T3"/>
              </a:cxn>
              <a:cxn ang="0">
                <a:pos x="T4" y="T5"/>
              </a:cxn>
              <a:cxn ang="0">
                <a:pos x="T6" y="T7"/>
              </a:cxn>
            </a:cxnLst>
            <a:rect l="0" t="0" r="r" b="b"/>
            <a:pathLst>
              <a:path w="96" h="126">
                <a:moveTo>
                  <a:pt x="0" y="126"/>
                </a:moveTo>
                <a:lnTo>
                  <a:pt x="24" y="102"/>
                </a:lnTo>
                <a:lnTo>
                  <a:pt x="48" y="72"/>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6" name="Freeform 56"/>
          <p:cNvSpPr/>
          <p:nvPr/>
        </p:nvSpPr>
        <p:spPr bwMode="auto">
          <a:xfrm>
            <a:off x="8590863" y="2467428"/>
            <a:ext cx="141041" cy="197196"/>
          </a:xfrm>
          <a:custGeom>
            <a:avLst/>
            <a:gdLst>
              <a:gd name="T0" fmla="*/ 0 w 90"/>
              <a:gd name="T1" fmla="*/ 162 h 162"/>
              <a:gd name="T2" fmla="*/ 42 w 90"/>
              <a:gd name="T3" fmla="*/ 84 h 162"/>
              <a:gd name="T4" fmla="*/ 90 w 90"/>
              <a:gd name="T5" fmla="*/ 0 h 162"/>
            </a:gdLst>
            <a:ahLst/>
            <a:cxnLst>
              <a:cxn ang="0">
                <a:pos x="T0" y="T1"/>
              </a:cxn>
              <a:cxn ang="0">
                <a:pos x="T2" y="T3"/>
              </a:cxn>
              <a:cxn ang="0">
                <a:pos x="T4" y="T5"/>
              </a:cxn>
            </a:cxnLst>
            <a:rect l="0" t="0" r="r" b="b"/>
            <a:pathLst>
              <a:path w="90" h="162">
                <a:moveTo>
                  <a:pt x="0" y="162"/>
                </a:moveTo>
                <a:lnTo>
                  <a:pt x="42" y="84"/>
                </a:lnTo>
                <a:lnTo>
                  <a:pt x="90"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7" name="Freeform 57"/>
          <p:cNvSpPr/>
          <p:nvPr/>
        </p:nvSpPr>
        <p:spPr bwMode="auto">
          <a:xfrm>
            <a:off x="8731904" y="2241017"/>
            <a:ext cx="150444" cy="226410"/>
          </a:xfrm>
          <a:custGeom>
            <a:avLst/>
            <a:gdLst>
              <a:gd name="T0" fmla="*/ 0 w 96"/>
              <a:gd name="T1" fmla="*/ 186 h 186"/>
              <a:gd name="T2" fmla="*/ 48 w 96"/>
              <a:gd name="T3" fmla="*/ 96 h 186"/>
              <a:gd name="T4" fmla="*/ 96 w 96"/>
              <a:gd name="T5" fmla="*/ 0 h 186"/>
            </a:gdLst>
            <a:ahLst/>
            <a:cxnLst>
              <a:cxn ang="0">
                <a:pos x="T0" y="T1"/>
              </a:cxn>
              <a:cxn ang="0">
                <a:pos x="T2" y="T3"/>
              </a:cxn>
              <a:cxn ang="0">
                <a:pos x="T4" y="T5"/>
              </a:cxn>
            </a:cxnLst>
            <a:rect l="0" t="0" r="r" b="b"/>
            <a:pathLst>
              <a:path w="96" h="186">
                <a:moveTo>
                  <a:pt x="0" y="186"/>
                </a:moveTo>
                <a:lnTo>
                  <a:pt x="48" y="96"/>
                </a:lnTo>
                <a:lnTo>
                  <a:pt x="96" y="0"/>
                </a:lnTo>
              </a:path>
            </a:pathLst>
          </a:custGeom>
          <a:noFill/>
          <a:ln w="19050">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418" name="Rectangle 58"/>
          <p:cNvSpPr>
            <a:spLocks noChangeArrowheads="1"/>
          </p:cNvSpPr>
          <p:nvPr/>
        </p:nvSpPr>
        <p:spPr bwMode="auto">
          <a:xfrm>
            <a:off x="3400546" y="2869124"/>
            <a:ext cx="101863"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419" name="Rectangle 59"/>
          <p:cNvSpPr>
            <a:spLocks noChangeArrowheads="1"/>
          </p:cNvSpPr>
          <p:nvPr/>
        </p:nvSpPr>
        <p:spPr bwMode="auto">
          <a:xfrm>
            <a:off x="3287713" y="2540463"/>
            <a:ext cx="205293"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420" name="Rectangle 60"/>
          <p:cNvSpPr>
            <a:spLocks noChangeArrowheads="1"/>
          </p:cNvSpPr>
          <p:nvPr/>
        </p:nvSpPr>
        <p:spPr bwMode="auto">
          <a:xfrm>
            <a:off x="3456962" y="2203282"/>
            <a:ext cx="51715"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a:t>
            </a:r>
            <a:endParaRPr lang="en-US" altLang="zh-CN" dirty="0">
              <a:latin typeface="微软雅黑 Light" panose="020B0502040204020203" pitchFamily="34" charset="-122"/>
            </a:endParaRPr>
          </a:p>
        </p:txBody>
      </p:sp>
      <p:sp>
        <p:nvSpPr>
          <p:cNvPr id="399421" name="Rectangle 61"/>
          <p:cNvSpPr>
            <a:spLocks noChangeArrowheads="1"/>
          </p:cNvSpPr>
          <p:nvPr/>
        </p:nvSpPr>
        <p:spPr bwMode="auto">
          <a:xfrm>
            <a:off x="3344129" y="1877056"/>
            <a:ext cx="153578"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422" name="Rectangle 62"/>
          <p:cNvSpPr>
            <a:spLocks noChangeArrowheads="1"/>
          </p:cNvSpPr>
          <p:nvPr/>
        </p:nvSpPr>
        <p:spPr bwMode="auto">
          <a:xfrm>
            <a:off x="3456962" y="1539875"/>
            <a:ext cx="51715"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424" name="Rectangle 64"/>
          <p:cNvSpPr>
            <a:spLocks noChangeArrowheads="1"/>
          </p:cNvSpPr>
          <p:nvPr/>
        </p:nvSpPr>
        <p:spPr bwMode="auto">
          <a:xfrm>
            <a:off x="4829764" y="2312836"/>
            <a:ext cx="153578"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425" name="Rectangle 65"/>
          <p:cNvSpPr>
            <a:spLocks noChangeArrowheads="1"/>
          </p:cNvSpPr>
          <p:nvPr/>
        </p:nvSpPr>
        <p:spPr bwMode="auto">
          <a:xfrm>
            <a:off x="6211968" y="2312836"/>
            <a:ext cx="51715"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426" name="Rectangle 66"/>
          <p:cNvSpPr>
            <a:spLocks noChangeArrowheads="1"/>
          </p:cNvSpPr>
          <p:nvPr/>
        </p:nvSpPr>
        <p:spPr bwMode="auto">
          <a:xfrm>
            <a:off x="7471936" y="2312836"/>
            <a:ext cx="153578"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1.5</a:t>
            </a:r>
            <a:endParaRPr lang="en-US" altLang="zh-CN" dirty="0">
              <a:latin typeface="微软雅黑 Light" panose="020B0502040204020203" pitchFamily="34" charset="-122"/>
            </a:endParaRPr>
          </a:p>
        </p:txBody>
      </p:sp>
      <p:sp>
        <p:nvSpPr>
          <p:cNvPr id="399427" name="Rectangle 67"/>
          <p:cNvSpPr>
            <a:spLocks noChangeArrowheads="1"/>
          </p:cNvSpPr>
          <p:nvPr/>
        </p:nvSpPr>
        <p:spPr bwMode="auto">
          <a:xfrm>
            <a:off x="8854140" y="2312836"/>
            <a:ext cx="51715" cy="12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2</a:t>
            </a:r>
            <a:endParaRPr lang="en-US" altLang="zh-CN" dirty="0">
              <a:latin typeface="微软雅黑 Light" panose="020B0502040204020203" pitchFamily="34" charset="-122"/>
            </a:endParaRPr>
          </a:p>
        </p:txBody>
      </p:sp>
      <p:sp>
        <p:nvSpPr>
          <p:cNvPr id="399430" name="Line 70"/>
          <p:cNvSpPr>
            <a:spLocks noChangeShapeType="1"/>
          </p:cNvSpPr>
          <p:nvPr/>
        </p:nvSpPr>
        <p:spPr bwMode="auto">
          <a:xfrm>
            <a:off x="3594770" y="6282293"/>
            <a:ext cx="5287129"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1" name="Line 71"/>
          <p:cNvSpPr>
            <a:spLocks noChangeShapeType="1"/>
          </p:cNvSpPr>
          <p:nvPr/>
        </p:nvSpPr>
        <p:spPr bwMode="auto">
          <a:xfrm>
            <a:off x="3594770" y="5953777"/>
            <a:ext cx="5287129" cy="0"/>
          </a:xfrm>
          <a:prstGeom prst="line">
            <a:avLst/>
          </a:prstGeom>
          <a:noFill/>
          <a:ln w="31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2" name="Line 72"/>
          <p:cNvSpPr>
            <a:spLocks noChangeShapeType="1"/>
          </p:cNvSpPr>
          <p:nvPr/>
        </p:nvSpPr>
        <p:spPr bwMode="auto">
          <a:xfrm>
            <a:off x="3594770" y="5289444"/>
            <a:ext cx="5287129" cy="0"/>
          </a:xfrm>
          <a:prstGeom prst="line">
            <a:avLst/>
          </a:prstGeom>
          <a:noFill/>
          <a:ln w="31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3" name="Line 73"/>
          <p:cNvSpPr>
            <a:spLocks noChangeShapeType="1"/>
          </p:cNvSpPr>
          <p:nvPr/>
        </p:nvSpPr>
        <p:spPr bwMode="auto">
          <a:xfrm>
            <a:off x="3594770" y="4960928"/>
            <a:ext cx="5287129"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4" name="Rectangle 74"/>
          <p:cNvSpPr>
            <a:spLocks noChangeArrowheads="1"/>
          </p:cNvSpPr>
          <p:nvPr/>
        </p:nvSpPr>
        <p:spPr bwMode="auto">
          <a:xfrm>
            <a:off x="3594770" y="4960928"/>
            <a:ext cx="5287129" cy="1321366"/>
          </a:xfrm>
          <a:prstGeom prst="rect">
            <a:avLst/>
          </a:prstGeom>
          <a:noFill/>
          <a:ln w="9525">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pPr algn="l"/>
            <a:endParaRPr lang="zh-CN" altLang="zh-CN" dirty="0">
              <a:latin typeface="微软雅黑 Light" panose="020B0502040204020203" pitchFamily="34" charset="-122"/>
            </a:endParaRPr>
          </a:p>
        </p:txBody>
      </p:sp>
      <p:sp>
        <p:nvSpPr>
          <p:cNvPr id="399435" name="Line 75"/>
          <p:cNvSpPr>
            <a:spLocks noChangeShapeType="1"/>
          </p:cNvSpPr>
          <p:nvPr/>
        </p:nvSpPr>
        <p:spPr bwMode="auto">
          <a:xfrm>
            <a:off x="3594770" y="4960928"/>
            <a:ext cx="0" cy="1321366"/>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6" name="Line 76"/>
          <p:cNvSpPr>
            <a:spLocks noChangeShapeType="1"/>
          </p:cNvSpPr>
          <p:nvPr/>
        </p:nvSpPr>
        <p:spPr bwMode="auto">
          <a:xfrm>
            <a:off x="3594770" y="6282293"/>
            <a:ext cx="2878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7" name="Line 77"/>
          <p:cNvSpPr>
            <a:spLocks noChangeShapeType="1"/>
          </p:cNvSpPr>
          <p:nvPr/>
        </p:nvSpPr>
        <p:spPr bwMode="auto">
          <a:xfrm>
            <a:off x="3594770" y="5953777"/>
            <a:ext cx="2878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8" name="Line 78"/>
          <p:cNvSpPr>
            <a:spLocks noChangeShapeType="1"/>
          </p:cNvSpPr>
          <p:nvPr/>
        </p:nvSpPr>
        <p:spPr bwMode="auto">
          <a:xfrm>
            <a:off x="3594770" y="5625261"/>
            <a:ext cx="2878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39" name="Line 79"/>
          <p:cNvSpPr>
            <a:spLocks noChangeShapeType="1"/>
          </p:cNvSpPr>
          <p:nvPr/>
        </p:nvSpPr>
        <p:spPr bwMode="auto">
          <a:xfrm>
            <a:off x="3594770" y="5289444"/>
            <a:ext cx="2878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0" name="Line 80"/>
          <p:cNvSpPr>
            <a:spLocks noChangeShapeType="1"/>
          </p:cNvSpPr>
          <p:nvPr/>
        </p:nvSpPr>
        <p:spPr bwMode="auto">
          <a:xfrm>
            <a:off x="3594770" y="4960928"/>
            <a:ext cx="28787"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1" name="Line 81"/>
          <p:cNvSpPr>
            <a:spLocks noChangeShapeType="1"/>
          </p:cNvSpPr>
          <p:nvPr/>
        </p:nvSpPr>
        <p:spPr bwMode="auto">
          <a:xfrm>
            <a:off x="3594770" y="5625261"/>
            <a:ext cx="5287129"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2" name="Line 82"/>
          <p:cNvSpPr>
            <a:spLocks noChangeShapeType="1"/>
          </p:cNvSpPr>
          <p:nvPr/>
        </p:nvSpPr>
        <p:spPr bwMode="auto">
          <a:xfrm flipV="1">
            <a:off x="3594770" y="5603360"/>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3" name="Line 83"/>
          <p:cNvSpPr>
            <a:spLocks noChangeShapeType="1"/>
          </p:cNvSpPr>
          <p:nvPr/>
        </p:nvSpPr>
        <p:spPr bwMode="auto">
          <a:xfrm flipV="1">
            <a:off x="4918952" y="5603360"/>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4" name="Line 84"/>
          <p:cNvSpPr>
            <a:spLocks noChangeShapeType="1"/>
          </p:cNvSpPr>
          <p:nvPr/>
        </p:nvSpPr>
        <p:spPr bwMode="auto">
          <a:xfrm flipV="1">
            <a:off x="6243133" y="5603360"/>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5" name="Line 85"/>
          <p:cNvSpPr>
            <a:spLocks noChangeShapeType="1"/>
          </p:cNvSpPr>
          <p:nvPr/>
        </p:nvSpPr>
        <p:spPr bwMode="auto">
          <a:xfrm flipV="1">
            <a:off x="7557718" y="5603360"/>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46" name="Line 86"/>
          <p:cNvSpPr>
            <a:spLocks noChangeShapeType="1"/>
          </p:cNvSpPr>
          <p:nvPr/>
        </p:nvSpPr>
        <p:spPr bwMode="auto">
          <a:xfrm flipV="1">
            <a:off x="8881899" y="5603360"/>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83" name="Rectangle 123"/>
          <p:cNvSpPr>
            <a:spLocks noChangeArrowheads="1"/>
          </p:cNvSpPr>
          <p:nvPr/>
        </p:nvSpPr>
        <p:spPr bwMode="auto">
          <a:xfrm>
            <a:off x="3402860" y="6245792"/>
            <a:ext cx="102352"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484" name="Rectangle 124"/>
          <p:cNvSpPr>
            <a:spLocks noChangeArrowheads="1"/>
          </p:cNvSpPr>
          <p:nvPr/>
        </p:nvSpPr>
        <p:spPr bwMode="auto">
          <a:xfrm>
            <a:off x="3287714" y="5917275"/>
            <a:ext cx="204704"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485" name="Rectangle 125"/>
          <p:cNvSpPr>
            <a:spLocks noChangeArrowheads="1"/>
          </p:cNvSpPr>
          <p:nvPr/>
        </p:nvSpPr>
        <p:spPr bwMode="auto">
          <a:xfrm>
            <a:off x="3460433" y="5588759"/>
            <a:ext cx="5117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a:t>
            </a:r>
            <a:endParaRPr lang="en-US" altLang="zh-CN" dirty="0">
              <a:latin typeface="微软雅黑 Light" panose="020B0502040204020203" pitchFamily="34" charset="-122"/>
            </a:endParaRPr>
          </a:p>
        </p:txBody>
      </p:sp>
      <p:sp>
        <p:nvSpPr>
          <p:cNvPr id="399486" name="Rectangle 126"/>
          <p:cNvSpPr>
            <a:spLocks noChangeArrowheads="1"/>
          </p:cNvSpPr>
          <p:nvPr/>
        </p:nvSpPr>
        <p:spPr bwMode="auto">
          <a:xfrm>
            <a:off x="3345287" y="5252942"/>
            <a:ext cx="153528"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487" name="Rectangle 127"/>
          <p:cNvSpPr>
            <a:spLocks noChangeArrowheads="1"/>
          </p:cNvSpPr>
          <p:nvPr/>
        </p:nvSpPr>
        <p:spPr bwMode="auto">
          <a:xfrm>
            <a:off x="3460433" y="4924426"/>
            <a:ext cx="5117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489" name="Rectangle 129"/>
          <p:cNvSpPr>
            <a:spLocks noChangeArrowheads="1"/>
          </p:cNvSpPr>
          <p:nvPr/>
        </p:nvSpPr>
        <p:spPr bwMode="auto">
          <a:xfrm>
            <a:off x="4832592" y="5698264"/>
            <a:ext cx="153528"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490" name="Rectangle 130"/>
          <p:cNvSpPr>
            <a:spLocks noChangeArrowheads="1"/>
          </p:cNvSpPr>
          <p:nvPr/>
        </p:nvSpPr>
        <p:spPr bwMode="auto">
          <a:xfrm>
            <a:off x="6214346" y="5698264"/>
            <a:ext cx="5117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491" name="Rectangle 131"/>
          <p:cNvSpPr>
            <a:spLocks noChangeArrowheads="1"/>
          </p:cNvSpPr>
          <p:nvPr/>
        </p:nvSpPr>
        <p:spPr bwMode="auto">
          <a:xfrm>
            <a:off x="7471359" y="5698264"/>
            <a:ext cx="153528"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1.5</a:t>
            </a:r>
            <a:endParaRPr lang="en-US" altLang="zh-CN" dirty="0">
              <a:latin typeface="微软雅黑 Light" panose="020B0502040204020203" pitchFamily="34" charset="-122"/>
            </a:endParaRPr>
          </a:p>
        </p:txBody>
      </p:sp>
      <p:sp>
        <p:nvSpPr>
          <p:cNvPr id="399492" name="Rectangle 132"/>
          <p:cNvSpPr>
            <a:spLocks noChangeArrowheads="1"/>
          </p:cNvSpPr>
          <p:nvPr/>
        </p:nvSpPr>
        <p:spPr bwMode="auto">
          <a:xfrm>
            <a:off x="8853113" y="5698264"/>
            <a:ext cx="5117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2</a:t>
            </a:r>
            <a:endParaRPr lang="en-US" altLang="zh-CN" dirty="0">
              <a:latin typeface="微软雅黑 Light" panose="020B0502040204020203" pitchFamily="34" charset="-122"/>
            </a:endParaRPr>
          </a:p>
        </p:txBody>
      </p:sp>
      <p:sp>
        <p:nvSpPr>
          <p:cNvPr id="399495" name="Line 135"/>
          <p:cNvSpPr>
            <a:spLocks noChangeShapeType="1"/>
          </p:cNvSpPr>
          <p:nvPr/>
        </p:nvSpPr>
        <p:spPr bwMode="auto">
          <a:xfrm>
            <a:off x="3589107" y="4561444"/>
            <a:ext cx="529320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96" name="Line 136"/>
          <p:cNvSpPr>
            <a:spLocks noChangeShapeType="1"/>
          </p:cNvSpPr>
          <p:nvPr/>
        </p:nvSpPr>
        <p:spPr bwMode="auto">
          <a:xfrm>
            <a:off x="3589107" y="4232928"/>
            <a:ext cx="5293206" cy="0"/>
          </a:xfrm>
          <a:prstGeom prst="line">
            <a:avLst/>
          </a:prstGeom>
          <a:noFill/>
          <a:ln w="31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97" name="Line 137"/>
          <p:cNvSpPr>
            <a:spLocks noChangeShapeType="1"/>
          </p:cNvSpPr>
          <p:nvPr/>
        </p:nvSpPr>
        <p:spPr bwMode="auto">
          <a:xfrm>
            <a:off x="3589107" y="3568595"/>
            <a:ext cx="5293206" cy="0"/>
          </a:xfrm>
          <a:prstGeom prst="line">
            <a:avLst/>
          </a:prstGeom>
          <a:noFill/>
          <a:ln w="31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98" name="Line 138"/>
          <p:cNvSpPr>
            <a:spLocks noChangeShapeType="1"/>
          </p:cNvSpPr>
          <p:nvPr/>
        </p:nvSpPr>
        <p:spPr bwMode="auto">
          <a:xfrm>
            <a:off x="3589107" y="3240079"/>
            <a:ext cx="529320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499" name="Rectangle 139"/>
          <p:cNvSpPr>
            <a:spLocks noChangeArrowheads="1"/>
          </p:cNvSpPr>
          <p:nvPr/>
        </p:nvSpPr>
        <p:spPr bwMode="auto">
          <a:xfrm>
            <a:off x="3589107" y="3240079"/>
            <a:ext cx="5293206" cy="1321366"/>
          </a:xfrm>
          <a:prstGeom prst="rect">
            <a:avLst/>
          </a:prstGeom>
          <a:noFill/>
          <a:ln w="9525">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pPr algn="l"/>
            <a:endParaRPr lang="zh-CN" altLang="zh-CN" dirty="0">
              <a:latin typeface="微软雅黑 Light" panose="020B0502040204020203" pitchFamily="34" charset="-122"/>
            </a:endParaRPr>
          </a:p>
        </p:txBody>
      </p:sp>
      <p:sp>
        <p:nvSpPr>
          <p:cNvPr id="399500" name="Line 140"/>
          <p:cNvSpPr>
            <a:spLocks noChangeShapeType="1"/>
          </p:cNvSpPr>
          <p:nvPr/>
        </p:nvSpPr>
        <p:spPr bwMode="auto">
          <a:xfrm>
            <a:off x="3589107" y="3240079"/>
            <a:ext cx="0" cy="1321366"/>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1" name="Line 141"/>
          <p:cNvSpPr>
            <a:spLocks noChangeShapeType="1"/>
          </p:cNvSpPr>
          <p:nvPr/>
        </p:nvSpPr>
        <p:spPr bwMode="auto">
          <a:xfrm>
            <a:off x="3589107" y="4561444"/>
            <a:ext cx="2825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2" name="Line 142"/>
          <p:cNvSpPr>
            <a:spLocks noChangeShapeType="1"/>
          </p:cNvSpPr>
          <p:nvPr/>
        </p:nvSpPr>
        <p:spPr bwMode="auto">
          <a:xfrm>
            <a:off x="3589107" y="4232928"/>
            <a:ext cx="2825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3" name="Line 143"/>
          <p:cNvSpPr>
            <a:spLocks noChangeShapeType="1"/>
          </p:cNvSpPr>
          <p:nvPr/>
        </p:nvSpPr>
        <p:spPr bwMode="auto">
          <a:xfrm>
            <a:off x="3589107" y="3904412"/>
            <a:ext cx="2825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4" name="Line 144"/>
          <p:cNvSpPr>
            <a:spLocks noChangeShapeType="1"/>
          </p:cNvSpPr>
          <p:nvPr/>
        </p:nvSpPr>
        <p:spPr bwMode="auto">
          <a:xfrm>
            <a:off x="3589107" y="3568595"/>
            <a:ext cx="2825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5" name="Line 145"/>
          <p:cNvSpPr>
            <a:spLocks noChangeShapeType="1"/>
          </p:cNvSpPr>
          <p:nvPr/>
        </p:nvSpPr>
        <p:spPr bwMode="auto">
          <a:xfrm>
            <a:off x="3589107" y="3240079"/>
            <a:ext cx="2825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6" name="Line 146"/>
          <p:cNvSpPr>
            <a:spLocks noChangeShapeType="1"/>
          </p:cNvSpPr>
          <p:nvPr/>
        </p:nvSpPr>
        <p:spPr bwMode="auto">
          <a:xfrm>
            <a:off x="3589107" y="3904412"/>
            <a:ext cx="5293206"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7" name="Line 147"/>
          <p:cNvSpPr>
            <a:spLocks noChangeShapeType="1"/>
          </p:cNvSpPr>
          <p:nvPr/>
        </p:nvSpPr>
        <p:spPr bwMode="auto">
          <a:xfrm flipV="1">
            <a:off x="3589107" y="3882511"/>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8" name="Line 148"/>
          <p:cNvSpPr>
            <a:spLocks noChangeShapeType="1"/>
          </p:cNvSpPr>
          <p:nvPr/>
        </p:nvSpPr>
        <p:spPr bwMode="auto">
          <a:xfrm flipV="1">
            <a:off x="4917117" y="3882511"/>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09" name="Line 149"/>
          <p:cNvSpPr>
            <a:spLocks noChangeShapeType="1"/>
          </p:cNvSpPr>
          <p:nvPr/>
        </p:nvSpPr>
        <p:spPr bwMode="auto">
          <a:xfrm flipV="1">
            <a:off x="6235710" y="3882511"/>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10" name="Line 150"/>
          <p:cNvSpPr>
            <a:spLocks noChangeShapeType="1"/>
          </p:cNvSpPr>
          <p:nvPr/>
        </p:nvSpPr>
        <p:spPr bwMode="auto">
          <a:xfrm flipV="1">
            <a:off x="7563720" y="3882511"/>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11" name="Line 151"/>
          <p:cNvSpPr>
            <a:spLocks noChangeShapeType="1"/>
          </p:cNvSpPr>
          <p:nvPr/>
        </p:nvSpPr>
        <p:spPr bwMode="auto">
          <a:xfrm flipV="1">
            <a:off x="8882313" y="3882511"/>
            <a:ext cx="0" cy="2190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99512" name="Freeform 152"/>
          <p:cNvSpPr/>
          <p:nvPr/>
        </p:nvSpPr>
        <p:spPr bwMode="auto">
          <a:xfrm>
            <a:off x="3589107" y="3707302"/>
            <a:ext cx="150696" cy="197110"/>
          </a:xfrm>
          <a:custGeom>
            <a:avLst/>
            <a:gdLst>
              <a:gd name="T0" fmla="*/ 0 w 96"/>
              <a:gd name="T1" fmla="*/ 162 h 162"/>
              <a:gd name="T2" fmla="*/ 24 w 96"/>
              <a:gd name="T3" fmla="*/ 120 h 162"/>
              <a:gd name="T4" fmla="*/ 48 w 96"/>
              <a:gd name="T5" fmla="*/ 72 h 162"/>
              <a:gd name="T6" fmla="*/ 72 w 96"/>
              <a:gd name="T7" fmla="*/ 30 h 162"/>
              <a:gd name="T8" fmla="*/ 84 w 96"/>
              <a:gd name="T9" fmla="*/ 12 h 162"/>
              <a:gd name="T10" fmla="*/ 96 w 96"/>
              <a:gd name="T11" fmla="*/ 0 h 162"/>
            </a:gdLst>
            <a:ahLst/>
            <a:cxnLst>
              <a:cxn ang="0">
                <a:pos x="T0" y="T1"/>
              </a:cxn>
              <a:cxn ang="0">
                <a:pos x="T2" y="T3"/>
              </a:cxn>
              <a:cxn ang="0">
                <a:pos x="T4" y="T5"/>
              </a:cxn>
              <a:cxn ang="0">
                <a:pos x="T6" y="T7"/>
              </a:cxn>
              <a:cxn ang="0">
                <a:pos x="T8" y="T9"/>
              </a:cxn>
              <a:cxn ang="0">
                <a:pos x="T10" y="T11"/>
              </a:cxn>
            </a:cxnLst>
            <a:rect l="0" t="0" r="r" b="b"/>
            <a:pathLst>
              <a:path w="96" h="162">
                <a:moveTo>
                  <a:pt x="0" y="162"/>
                </a:moveTo>
                <a:lnTo>
                  <a:pt x="24" y="120"/>
                </a:lnTo>
                <a:lnTo>
                  <a:pt x="48" y="72"/>
                </a:lnTo>
                <a:lnTo>
                  <a:pt x="72" y="30"/>
                </a:lnTo>
                <a:lnTo>
                  <a:pt x="84"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3" name="Freeform 153"/>
          <p:cNvSpPr/>
          <p:nvPr/>
        </p:nvSpPr>
        <p:spPr bwMode="auto">
          <a:xfrm>
            <a:off x="3739803" y="3685401"/>
            <a:ext cx="141278" cy="21901"/>
          </a:xfrm>
          <a:custGeom>
            <a:avLst/>
            <a:gdLst>
              <a:gd name="T0" fmla="*/ 0 w 90"/>
              <a:gd name="T1" fmla="*/ 18 h 18"/>
              <a:gd name="T2" fmla="*/ 24 w 90"/>
              <a:gd name="T3" fmla="*/ 0 h 18"/>
              <a:gd name="T4" fmla="*/ 42 w 90"/>
              <a:gd name="T5" fmla="*/ 0 h 18"/>
              <a:gd name="T6" fmla="*/ 66 w 90"/>
              <a:gd name="T7" fmla="*/ 0 h 18"/>
              <a:gd name="T8" fmla="*/ 90 w 90"/>
              <a:gd name="T9" fmla="*/ 18 h 18"/>
            </a:gdLst>
            <a:ahLst/>
            <a:cxnLst>
              <a:cxn ang="0">
                <a:pos x="T0" y="T1"/>
              </a:cxn>
              <a:cxn ang="0">
                <a:pos x="T2" y="T3"/>
              </a:cxn>
              <a:cxn ang="0">
                <a:pos x="T4" y="T5"/>
              </a:cxn>
              <a:cxn ang="0">
                <a:pos x="T6" y="T7"/>
              </a:cxn>
              <a:cxn ang="0">
                <a:pos x="T8" y="T9"/>
              </a:cxn>
            </a:cxnLst>
            <a:rect l="0" t="0" r="r" b="b"/>
            <a:pathLst>
              <a:path w="90" h="18">
                <a:moveTo>
                  <a:pt x="0" y="18"/>
                </a:moveTo>
                <a:lnTo>
                  <a:pt x="24" y="0"/>
                </a:lnTo>
                <a:lnTo>
                  <a:pt x="42" y="0"/>
                </a:lnTo>
                <a:lnTo>
                  <a:pt x="66" y="0"/>
                </a:lnTo>
                <a:lnTo>
                  <a:pt x="90" y="18"/>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4" name="Freeform 154"/>
          <p:cNvSpPr/>
          <p:nvPr/>
        </p:nvSpPr>
        <p:spPr bwMode="auto">
          <a:xfrm>
            <a:off x="3881081" y="3707302"/>
            <a:ext cx="150696" cy="197110"/>
          </a:xfrm>
          <a:custGeom>
            <a:avLst/>
            <a:gdLst>
              <a:gd name="T0" fmla="*/ 0 w 96"/>
              <a:gd name="T1" fmla="*/ 0 h 162"/>
              <a:gd name="T2" fmla="*/ 12 w 96"/>
              <a:gd name="T3" fmla="*/ 12 h 162"/>
              <a:gd name="T4" fmla="*/ 24 w 96"/>
              <a:gd name="T5" fmla="*/ 30 h 162"/>
              <a:gd name="T6" fmla="*/ 48 w 96"/>
              <a:gd name="T7" fmla="*/ 72 h 162"/>
              <a:gd name="T8" fmla="*/ 72 w 96"/>
              <a:gd name="T9" fmla="*/ 120 h 162"/>
              <a:gd name="T10" fmla="*/ 96 w 96"/>
              <a:gd name="T11" fmla="*/ 162 h 162"/>
            </a:gdLst>
            <a:ahLst/>
            <a:cxnLst>
              <a:cxn ang="0">
                <a:pos x="T0" y="T1"/>
              </a:cxn>
              <a:cxn ang="0">
                <a:pos x="T2" y="T3"/>
              </a:cxn>
              <a:cxn ang="0">
                <a:pos x="T4" y="T5"/>
              </a:cxn>
              <a:cxn ang="0">
                <a:pos x="T6" y="T7"/>
              </a:cxn>
              <a:cxn ang="0">
                <a:pos x="T8" y="T9"/>
              </a:cxn>
              <a:cxn ang="0">
                <a:pos x="T10" y="T11"/>
              </a:cxn>
            </a:cxnLst>
            <a:rect l="0" t="0" r="r" b="b"/>
            <a:pathLst>
              <a:path w="96" h="162">
                <a:moveTo>
                  <a:pt x="0" y="0"/>
                </a:moveTo>
                <a:lnTo>
                  <a:pt x="12" y="12"/>
                </a:lnTo>
                <a:lnTo>
                  <a:pt x="24" y="30"/>
                </a:lnTo>
                <a:lnTo>
                  <a:pt x="48" y="72"/>
                </a:lnTo>
                <a:lnTo>
                  <a:pt x="72" y="120"/>
                </a:lnTo>
                <a:lnTo>
                  <a:pt x="96" y="162"/>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5" name="Freeform 155"/>
          <p:cNvSpPr/>
          <p:nvPr/>
        </p:nvSpPr>
        <p:spPr bwMode="auto">
          <a:xfrm>
            <a:off x="4031777" y="3904412"/>
            <a:ext cx="141278" cy="189809"/>
          </a:xfrm>
          <a:custGeom>
            <a:avLst/>
            <a:gdLst>
              <a:gd name="T0" fmla="*/ 0 w 90"/>
              <a:gd name="T1" fmla="*/ 0 h 156"/>
              <a:gd name="T2" fmla="*/ 24 w 90"/>
              <a:gd name="T3" fmla="*/ 42 h 156"/>
              <a:gd name="T4" fmla="*/ 42 w 90"/>
              <a:gd name="T5" fmla="*/ 90 h 156"/>
              <a:gd name="T6" fmla="*/ 66 w 90"/>
              <a:gd name="T7" fmla="*/ 126 h 156"/>
              <a:gd name="T8" fmla="*/ 78 w 90"/>
              <a:gd name="T9" fmla="*/ 144 h 156"/>
              <a:gd name="T10" fmla="*/ 90 w 90"/>
              <a:gd name="T11" fmla="*/ 156 h 156"/>
            </a:gdLst>
            <a:ahLst/>
            <a:cxnLst>
              <a:cxn ang="0">
                <a:pos x="T0" y="T1"/>
              </a:cxn>
              <a:cxn ang="0">
                <a:pos x="T2" y="T3"/>
              </a:cxn>
              <a:cxn ang="0">
                <a:pos x="T4" y="T5"/>
              </a:cxn>
              <a:cxn ang="0">
                <a:pos x="T6" y="T7"/>
              </a:cxn>
              <a:cxn ang="0">
                <a:pos x="T8" y="T9"/>
              </a:cxn>
              <a:cxn ang="0">
                <a:pos x="T10" y="T11"/>
              </a:cxn>
            </a:cxnLst>
            <a:rect l="0" t="0" r="r" b="b"/>
            <a:pathLst>
              <a:path w="90" h="156">
                <a:moveTo>
                  <a:pt x="0" y="0"/>
                </a:moveTo>
                <a:lnTo>
                  <a:pt x="24" y="42"/>
                </a:lnTo>
                <a:lnTo>
                  <a:pt x="42" y="90"/>
                </a:lnTo>
                <a:lnTo>
                  <a:pt x="66" y="126"/>
                </a:lnTo>
                <a:lnTo>
                  <a:pt x="78" y="144"/>
                </a:lnTo>
                <a:lnTo>
                  <a:pt x="90" y="156"/>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6" name="Freeform 156"/>
          <p:cNvSpPr/>
          <p:nvPr/>
        </p:nvSpPr>
        <p:spPr bwMode="auto">
          <a:xfrm>
            <a:off x="4173055" y="4094221"/>
            <a:ext cx="150696" cy="21901"/>
          </a:xfrm>
          <a:custGeom>
            <a:avLst/>
            <a:gdLst>
              <a:gd name="T0" fmla="*/ 0 w 96"/>
              <a:gd name="T1" fmla="*/ 0 h 18"/>
              <a:gd name="T2" fmla="*/ 24 w 96"/>
              <a:gd name="T3" fmla="*/ 12 h 18"/>
              <a:gd name="T4" fmla="*/ 48 w 96"/>
              <a:gd name="T5" fmla="*/ 18 h 18"/>
              <a:gd name="T6" fmla="*/ 72 w 96"/>
              <a:gd name="T7" fmla="*/ 12 h 18"/>
              <a:gd name="T8" fmla="*/ 96 w 96"/>
              <a:gd name="T9" fmla="*/ 0 h 18"/>
            </a:gdLst>
            <a:ahLst/>
            <a:cxnLst>
              <a:cxn ang="0">
                <a:pos x="T0" y="T1"/>
              </a:cxn>
              <a:cxn ang="0">
                <a:pos x="T2" y="T3"/>
              </a:cxn>
              <a:cxn ang="0">
                <a:pos x="T4" y="T5"/>
              </a:cxn>
              <a:cxn ang="0">
                <a:pos x="T6" y="T7"/>
              </a:cxn>
              <a:cxn ang="0">
                <a:pos x="T8" y="T9"/>
              </a:cxn>
            </a:cxnLst>
            <a:rect l="0" t="0" r="r" b="b"/>
            <a:pathLst>
              <a:path w="96" h="18">
                <a:moveTo>
                  <a:pt x="0" y="0"/>
                </a:moveTo>
                <a:lnTo>
                  <a:pt x="24" y="12"/>
                </a:lnTo>
                <a:lnTo>
                  <a:pt x="48" y="18"/>
                </a:lnTo>
                <a:lnTo>
                  <a:pt x="72"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7" name="Freeform 157"/>
          <p:cNvSpPr/>
          <p:nvPr/>
        </p:nvSpPr>
        <p:spPr bwMode="auto">
          <a:xfrm>
            <a:off x="4323751" y="3904412"/>
            <a:ext cx="150696" cy="189809"/>
          </a:xfrm>
          <a:custGeom>
            <a:avLst/>
            <a:gdLst>
              <a:gd name="T0" fmla="*/ 0 w 96"/>
              <a:gd name="T1" fmla="*/ 156 h 156"/>
              <a:gd name="T2" fmla="*/ 12 w 96"/>
              <a:gd name="T3" fmla="*/ 144 h 156"/>
              <a:gd name="T4" fmla="*/ 24 w 96"/>
              <a:gd name="T5" fmla="*/ 126 h 156"/>
              <a:gd name="T6" fmla="*/ 48 w 96"/>
              <a:gd name="T7" fmla="*/ 90 h 156"/>
              <a:gd name="T8" fmla="*/ 72 w 96"/>
              <a:gd name="T9" fmla="*/ 42 h 156"/>
              <a:gd name="T10" fmla="*/ 96 w 96"/>
              <a:gd name="T11" fmla="*/ 0 h 156"/>
            </a:gdLst>
            <a:ahLst/>
            <a:cxnLst>
              <a:cxn ang="0">
                <a:pos x="T0" y="T1"/>
              </a:cxn>
              <a:cxn ang="0">
                <a:pos x="T2" y="T3"/>
              </a:cxn>
              <a:cxn ang="0">
                <a:pos x="T4" y="T5"/>
              </a:cxn>
              <a:cxn ang="0">
                <a:pos x="T6" y="T7"/>
              </a:cxn>
              <a:cxn ang="0">
                <a:pos x="T8" y="T9"/>
              </a:cxn>
              <a:cxn ang="0">
                <a:pos x="T10" y="T11"/>
              </a:cxn>
            </a:cxnLst>
            <a:rect l="0" t="0" r="r" b="b"/>
            <a:pathLst>
              <a:path w="96" h="156">
                <a:moveTo>
                  <a:pt x="0" y="156"/>
                </a:moveTo>
                <a:lnTo>
                  <a:pt x="12" y="144"/>
                </a:lnTo>
                <a:lnTo>
                  <a:pt x="24" y="126"/>
                </a:lnTo>
                <a:lnTo>
                  <a:pt x="48" y="90"/>
                </a:lnTo>
                <a:lnTo>
                  <a:pt x="72" y="4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8" name="Freeform 158"/>
          <p:cNvSpPr/>
          <p:nvPr/>
        </p:nvSpPr>
        <p:spPr bwMode="auto">
          <a:xfrm>
            <a:off x="4474447" y="3707302"/>
            <a:ext cx="141278" cy="197110"/>
          </a:xfrm>
          <a:custGeom>
            <a:avLst/>
            <a:gdLst>
              <a:gd name="T0" fmla="*/ 0 w 90"/>
              <a:gd name="T1" fmla="*/ 162 h 162"/>
              <a:gd name="T2" fmla="*/ 24 w 90"/>
              <a:gd name="T3" fmla="*/ 120 h 162"/>
              <a:gd name="T4" fmla="*/ 42 w 90"/>
              <a:gd name="T5" fmla="*/ 72 h 162"/>
              <a:gd name="T6" fmla="*/ 66 w 90"/>
              <a:gd name="T7" fmla="*/ 30 h 162"/>
              <a:gd name="T8" fmla="*/ 78 w 90"/>
              <a:gd name="T9" fmla="*/ 12 h 162"/>
              <a:gd name="T10" fmla="*/ 90 w 90"/>
              <a:gd name="T11" fmla="*/ 0 h 162"/>
            </a:gdLst>
            <a:ahLst/>
            <a:cxnLst>
              <a:cxn ang="0">
                <a:pos x="T0" y="T1"/>
              </a:cxn>
              <a:cxn ang="0">
                <a:pos x="T2" y="T3"/>
              </a:cxn>
              <a:cxn ang="0">
                <a:pos x="T4" y="T5"/>
              </a:cxn>
              <a:cxn ang="0">
                <a:pos x="T6" y="T7"/>
              </a:cxn>
              <a:cxn ang="0">
                <a:pos x="T8" y="T9"/>
              </a:cxn>
              <a:cxn ang="0">
                <a:pos x="T10" y="T11"/>
              </a:cxn>
            </a:cxnLst>
            <a:rect l="0" t="0" r="r" b="b"/>
            <a:pathLst>
              <a:path w="90" h="162">
                <a:moveTo>
                  <a:pt x="0" y="162"/>
                </a:moveTo>
                <a:lnTo>
                  <a:pt x="24" y="120"/>
                </a:lnTo>
                <a:lnTo>
                  <a:pt x="42" y="72"/>
                </a:lnTo>
                <a:lnTo>
                  <a:pt x="66" y="30"/>
                </a:lnTo>
                <a:lnTo>
                  <a:pt x="78" y="12"/>
                </a:lnTo>
                <a:lnTo>
                  <a:pt x="9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19" name="Freeform 159"/>
          <p:cNvSpPr/>
          <p:nvPr/>
        </p:nvSpPr>
        <p:spPr bwMode="auto">
          <a:xfrm>
            <a:off x="4615725" y="3685401"/>
            <a:ext cx="150696" cy="21901"/>
          </a:xfrm>
          <a:custGeom>
            <a:avLst/>
            <a:gdLst>
              <a:gd name="T0" fmla="*/ 0 w 96"/>
              <a:gd name="T1" fmla="*/ 18 h 18"/>
              <a:gd name="T2" fmla="*/ 24 w 96"/>
              <a:gd name="T3" fmla="*/ 0 h 18"/>
              <a:gd name="T4" fmla="*/ 48 w 96"/>
              <a:gd name="T5" fmla="*/ 0 h 18"/>
              <a:gd name="T6" fmla="*/ 72 w 96"/>
              <a:gd name="T7" fmla="*/ 6 h 18"/>
              <a:gd name="T8" fmla="*/ 96 w 96"/>
              <a:gd name="T9" fmla="*/ 18 h 18"/>
            </a:gdLst>
            <a:ahLst/>
            <a:cxnLst>
              <a:cxn ang="0">
                <a:pos x="T0" y="T1"/>
              </a:cxn>
              <a:cxn ang="0">
                <a:pos x="T2" y="T3"/>
              </a:cxn>
              <a:cxn ang="0">
                <a:pos x="T4" y="T5"/>
              </a:cxn>
              <a:cxn ang="0">
                <a:pos x="T6" y="T7"/>
              </a:cxn>
              <a:cxn ang="0">
                <a:pos x="T8" y="T9"/>
              </a:cxn>
            </a:cxnLst>
            <a:rect l="0" t="0" r="r" b="b"/>
            <a:pathLst>
              <a:path w="96" h="18">
                <a:moveTo>
                  <a:pt x="0" y="18"/>
                </a:moveTo>
                <a:lnTo>
                  <a:pt x="24" y="0"/>
                </a:lnTo>
                <a:lnTo>
                  <a:pt x="48" y="0"/>
                </a:lnTo>
                <a:lnTo>
                  <a:pt x="72" y="6"/>
                </a:lnTo>
                <a:lnTo>
                  <a:pt x="96" y="18"/>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0" name="Freeform 160"/>
          <p:cNvSpPr/>
          <p:nvPr/>
        </p:nvSpPr>
        <p:spPr bwMode="auto">
          <a:xfrm>
            <a:off x="4766421" y="3707302"/>
            <a:ext cx="150696" cy="189809"/>
          </a:xfrm>
          <a:custGeom>
            <a:avLst/>
            <a:gdLst>
              <a:gd name="T0" fmla="*/ 0 w 96"/>
              <a:gd name="T1" fmla="*/ 0 h 156"/>
              <a:gd name="T2" fmla="*/ 12 w 96"/>
              <a:gd name="T3" fmla="*/ 12 h 156"/>
              <a:gd name="T4" fmla="*/ 24 w 96"/>
              <a:gd name="T5" fmla="*/ 30 h 156"/>
              <a:gd name="T6" fmla="*/ 48 w 96"/>
              <a:gd name="T7" fmla="*/ 66 h 156"/>
              <a:gd name="T8" fmla="*/ 72 w 96"/>
              <a:gd name="T9" fmla="*/ 114 h 156"/>
              <a:gd name="T10" fmla="*/ 96 w 96"/>
              <a:gd name="T11" fmla="*/ 156 h 156"/>
            </a:gdLst>
            <a:ahLst/>
            <a:cxnLst>
              <a:cxn ang="0">
                <a:pos x="T0" y="T1"/>
              </a:cxn>
              <a:cxn ang="0">
                <a:pos x="T2" y="T3"/>
              </a:cxn>
              <a:cxn ang="0">
                <a:pos x="T4" y="T5"/>
              </a:cxn>
              <a:cxn ang="0">
                <a:pos x="T6" y="T7"/>
              </a:cxn>
              <a:cxn ang="0">
                <a:pos x="T8" y="T9"/>
              </a:cxn>
              <a:cxn ang="0">
                <a:pos x="T10" y="T11"/>
              </a:cxn>
            </a:cxnLst>
            <a:rect l="0" t="0" r="r" b="b"/>
            <a:pathLst>
              <a:path w="96" h="156">
                <a:moveTo>
                  <a:pt x="0" y="0"/>
                </a:moveTo>
                <a:lnTo>
                  <a:pt x="12" y="12"/>
                </a:lnTo>
                <a:lnTo>
                  <a:pt x="24" y="30"/>
                </a:lnTo>
                <a:lnTo>
                  <a:pt x="48" y="66"/>
                </a:lnTo>
                <a:lnTo>
                  <a:pt x="72" y="114"/>
                </a:lnTo>
                <a:lnTo>
                  <a:pt x="96" y="156"/>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1" name="Freeform 161"/>
          <p:cNvSpPr/>
          <p:nvPr/>
        </p:nvSpPr>
        <p:spPr bwMode="auto">
          <a:xfrm>
            <a:off x="4917117" y="3897111"/>
            <a:ext cx="141278" cy="197110"/>
          </a:xfrm>
          <a:custGeom>
            <a:avLst/>
            <a:gdLst>
              <a:gd name="T0" fmla="*/ 0 w 90"/>
              <a:gd name="T1" fmla="*/ 0 h 162"/>
              <a:gd name="T2" fmla="*/ 24 w 90"/>
              <a:gd name="T3" fmla="*/ 42 h 162"/>
              <a:gd name="T4" fmla="*/ 42 w 90"/>
              <a:gd name="T5" fmla="*/ 90 h 162"/>
              <a:gd name="T6" fmla="*/ 66 w 90"/>
              <a:gd name="T7" fmla="*/ 132 h 162"/>
              <a:gd name="T8" fmla="*/ 78 w 90"/>
              <a:gd name="T9" fmla="*/ 150 h 162"/>
              <a:gd name="T10" fmla="*/ 90 w 90"/>
              <a:gd name="T11" fmla="*/ 162 h 162"/>
            </a:gdLst>
            <a:ahLst/>
            <a:cxnLst>
              <a:cxn ang="0">
                <a:pos x="T0" y="T1"/>
              </a:cxn>
              <a:cxn ang="0">
                <a:pos x="T2" y="T3"/>
              </a:cxn>
              <a:cxn ang="0">
                <a:pos x="T4" y="T5"/>
              </a:cxn>
              <a:cxn ang="0">
                <a:pos x="T6" y="T7"/>
              </a:cxn>
              <a:cxn ang="0">
                <a:pos x="T8" y="T9"/>
              </a:cxn>
              <a:cxn ang="0">
                <a:pos x="T10" y="T11"/>
              </a:cxn>
            </a:cxnLst>
            <a:rect l="0" t="0" r="r" b="b"/>
            <a:pathLst>
              <a:path w="90" h="162">
                <a:moveTo>
                  <a:pt x="0" y="0"/>
                </a:moveTo>
                <a:lnTo>
                  <a:pt x="24" y="42"/>
                </a:lnTo>
                <a:lnTo>
                  <a:pt x="42" y="90"/>
                </a:lnTo>
                <a:lnTo>
                  <a:pt x="66" y="132"/>
                </a:lnTo>
                <a:lnTo>
                  <a:pt x="78" y="150"/>
                </a:lnTo>
                <a:lnTo>
                  <a:pt x="90" y="162"/>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2" name="Freeform 162"/>
          <p:cNvSpPr/>
          <p:nvPr/>
        </p:nvSpPr>
        <p:spPr bwMode="auto">
          <a:xfrm>
            <a:off x="5058395" y="4094221"/>
            <a:ext cx="150696" cy="21901"/>
          </a:xfrm>
          <a:custGeom>
            <a:avLst/>
            <a:gdLst>
              <a:gd name="T0" fmla="*/ 0 w 96"/>
              <a:gd name="T1" fmla="*/ 0 h 18"/>
              <a:gd name="T2" fmla="*/ 24 w 96"/>
              <a:gd name="T3" fmla="*/ 18 h 18"/>
              <a:gd name="T4" fmla="*/ 48 w 96"/>
              <a:gd name="T5" fmla="*/ 18 h 18"/>
              <a:gd name="T6" fmla="*/ 72 w 96"/>
              <a:gd name="T7" fmla="*/ 12 h 18"/>
              <a:gd name="T8" fmla="*/ 96 w 96"/>
              <a:gd name="T9" fmla="*/ 0 h 18"/>
            </a:gdLst>
            <a:ahLst/>
            <a:cxnLst>
              <a:cxn ang="0">
                <a:pos x="T0" y="T1"/>
              </a:cxn>
              <a:cxn ang="0">
                <a:pos x="T2" y="T3"/>
              </a:cxn>
              <a:cxn ang="0">
                <a:pos x="T4" y="T5"/>
              </a:cxn>
              <a:cxn ang="0">
                <a:pos x="T6" y="T7"/>
              </a:cxn>
              <a:cxn ang="0">
                <a:pos x="T8" y="T9"/>
              </a:cxn>
            </a:cxnLst>
            <a:rect l="0" t="0" r="r" b="b"/>
            <a:pathLst>
              <a:path w="96" h="18">
                <a:moveTo>
                  <a:pt x="0" y="0"/>
                </a:moveTo>
                <a:lnTo>
                  <a:pt x="24" y="18"/>
                </a:lnTo>
                <a:lnTo>
                  <a:pt x="48" y="18"/>
                </a:lnTo>
                <a:lnTo>
                  <a:pt x="72"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3" name="Freeform 163"/>
          <p:cNvSpPr/>
          <p:nvPr/>
        </p:nvSpPr>
        <p:spPr bwMode="auto">
          <a:xfrm>
            <a:off x="5209091" y="3904412"/>
            <a:ext cx="141278" cy="189809"/>
          </a:xfrm>
          <a:custGeom>
            <a:avLst/>
            <a:gdLst>
              <a:gd name="T0" fmla="*/ 0 w 90"/>
              <a:gd name="T1" fmla="*/ 156 h 156"/>
              <a:gd name="T2" fmla="*/ 12 w 90"/>
              <a:gd name="T3" fmla="*/ 144 h 156"/>
              <a:gd name="T4" fmla="*/ 24 w 90"/>
              <a:gd name="T5" fmla="*/ 126 h 156"/>
              <a:gd name="T6" fmla="*/ 42 w 90"/>
              <a:gd name="T7" fmla="*/ 90 h 156"/>
              <a:gd name="T8" fmla="*/ 66 w 90"/>
              <a:gd name="T9" fmla="*/ 42 h 156"/>
              <a:gd name="T10" fmla="*/ 90 w 90"/>
              <a:gd name="T11" fmla="*/ 0 h 156"/>
            </a:gdLst>
            <a:ahLst/>
            <a:cxnLst>
              <a:cxn ang="0">
                <a:pos x="T0" y="T1"/>
              </a:cxn>
              <a:cxn ang="0">
                <a:pos x="T2" y="T3"/>
              </a:cxn>
              <a:cxn ang="0">
                <a:pos x="T4" y="T5"/>
              </a:cxn>
              <a:cxn ang="0">
                <a:pos x="T6" y="T7"/>
              </a:cxn>
              <a:cxn ang="0">
                <a:pos x="T8" y="T9"/>
              </a:cxn>
              <a:cxn ang="0">
                <a:pos x="T10" y="T11"/>
              </a:cxn>
            </a:cxnLst>
            <a:rect l="0" t="0" r="r" b="b"/>
            <a:pathLst>
              <a:path w="90" h="156">
                <a:moveTo>
                  <a:pt x="0" y="156"/>
                </a:moveTo>
                <a:lnTo>
                  <a:pt x="12" y="144"/>
                </a:lnTo>
                <a:lnTo>
                  <a:pt x="24" y="126"/>
                </a:lnTo>
                <a:lnTo>
                  <a:pt x="42" y="90"/>
                </a:lnTo>
                <a:lnTo>
                  <a:pt x="66" y="42"/>
                </a:lnTo>
                <a:lnTo>
                  <a:pt x="9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4" name="Freeform 164"/>
          <p:cNvSpPr/>
          <p:nvPr/>
        </p:nvSpPr>
        <p:spPr bwMode="auto">
          <a:xfrm>
            <a:off x="5350369" y="3707302"/>
            <a:ext cx="150696" cy="197110"/>
          </a:xfrm>
          <a:custGeom>
            <a:avLst/>
            <a:gdLst>
              <a:gd name="T0" fmla="*/ 0 w 96"/>
              <a:gd name="T1" fmla="*/ 162 h 162"/>
              <a:gd name="T2" fmla="*/ 24 w 96"/>
              <a:gd name="T3" fmla="*/ 120 h 162"/>
              <a:gd name="T4" fmla="*/ 48 w 96"/>
              <a:gd name="T5" fmla="*/ 72 h 162"/>
              <a:gd name="T6" fmla="*/ 72 w 96"/>
              <a:gd name="T7" fmla="*/ 30 h 162"/>
              <a:gd name="T8" fmla="*/ 84 w 96"/>
              <a:gd name="T9" fmla="*/ 12 h 162"/>
              <a:gd name="T10" fmla="*/ 96 w 96"/>
              <a:gd name="T11" fmla="*/ 0 h 162"/>
            </a:gdLst>
            <a:ahLst/>
            <a:cxnLst>
              <a:cxn ang="0">
                <a:pos x="T0" y="T1"/>
              </a:cxn>
              <a:cxn ang="0">
                <a:pos x="T2" y="T3"/>
              </a:cxn>
              <a:cxn ang="0">
                <a:pos x="T4" y="T5"/>
              </a:cxn>
              <a:cxn ang="0">
                <a:pos x="T6" y="T7"/>
              </a:cxn>
              <a:cxn ang="0">
                <a:pos x="T8" y="T9"/>
              </a:cxn>
              <a:cxn ang="0">
                <a:pos x="T10" y="T11"/>
              </a:cxn>
            </a:cxnLst>
            <a:rect l="0" t="0" r="r" b="b"/>
            <a:pathLst>
              <a:path w="96" h="162">
                <a:moveTo>
                  <a:pt x="0" y="162"/>
                </a:moveTo>
                <a:lnTo>
                  <a:pt x="24" y="120"/>
                </a:lnTo>
                <a:lnTo>
                  <a:pt x="48" y="72"/>
                </a:lnTo>
                <a:lnTo>
                  <a:pt x="72" y="30"/>
                </a:lnTo>
                <a:lnTo>
                  <a:pt x="84"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5" name="Freeform 165"/>
          <p:cNvSpPr/>
          <p:nvPr/>
        </p:nvSpPr>
        <p:spPr bwMode="auto">
          <a:xfrm>
            <a:off x="5501065" y="3685401"/>
            <a:ext cx="150696" cy="21901"/>
          </a:xfrm>
          <a:custGeom>
            <a:avLst/>
            <a:gdLst>
              <a:gd name="T0" fmla="*/ 0 w 96"/>
              <a:gd name="T1" fmla="*/ 18 h 18"/>
              <a:gd name="T2" fmla="*/ 24 w 96"/>
              <a:gd name="T3" fmla="*/ 0 h 18"/>
              <a:gd name="T4" fmla="*/ 48 w 96"/>
              <a:gd name="T5" fmla="*/ 0 h 18"/>
              <a:gd name="T6" fmla="*/ 72 w 96"/>
              <a:gd name="T7" fmla="*/ 6 h 18"/>
              <a:gd name="T8" fmla="*/ 96 w 96"/>
              <a:gd name="T9" fmla="*/ 18 h 18"/>
            </a:gdLst>
            <a:ahLst/>
            <a:cxnLst>
              <a:cxn ang="0">
                <a:pos x="T0" y="T1"/>
              </a:cxn>
              <a:cxn ang="0">
                <a:pos x="T2" y="T3"/>
              </a:cxn>
              <a:cxn ang="0">
                <a:pos x="T4" y="T5"/>
              </a:cxn>
              <a:cxn ang="0">
                <a:pos x="T6" y="T7"/>
              </a:cxn>
              <a:cxn ang="0">
                <a:pos x="T8" y="T9"/>
              </a:cxn>
            </a:cxnLst>
            <a:rect l="0" t="0" r="r" b="b"/>
            <a:pathLst>
              <a:path w="96" h="18">
                <a:moveTo>
                  <a:pt x="0" y="18"/>
                </a:moveTo>
                <a:lnTo>
                  <a:pt x="24" y="0"/>
                </a:lnTo>
                <a:lnTo>
                  <a:pt x="48" y="0"/>
                </a:lnTo>
                <a:lnTo>
                  <a:pt x="72" y="6"/>
                </a:lnTo>
                <a:lnTo>
                  <a:pt x="96" y="18"/>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6" name="Freeform 166"/>
          <p:cNvSpPr/>
          <p:nvPr/>
        </p:nvSpPr>
        <p:spPr bwMode="auto">
          <a:xfrm>
            <a:off x="5651762" y="3707302"/>
            <a:ext cx="141278" cy="189809"/>
          </a:xfrm>
          <a:custGeom>
            <a:avLst/>
            <a:gdLst>
              <a:gd name="T0" fmla="*/ 0 w 90"/>
              <a:gd name="T1" fmla="*/ 0 h 156"/>
              <a:gd name="T2" fmla="*/ 12 w 90"/>
              <a:gd name="T3" fmla="*/ 12 h 156"/>
              <a:gd name="T4" fmla="*/ 24 w 90"/>
              <a:gd name="T5" fmla="*/ 30 h 156"/>
              <a:gd name="T6" fmla="*/ 42 w 90"/>
              <a:gd name="T7" fmla="*/ 66 h 156"/>
              <a:gd name="T8" fmla="*/ 66 w 90"/>
              <a:gd name="T9" fmla="*/ 114 h 156"/>
              <a:gd name="T10" fmla="*/ 90 w 90"/>
              <a:gd name="T11" fmla="*/ 156 h 156"/>
            </a:gdLst>
            <a:ahLst/>
            <a:cxnLst>
              <a:cxn ang="0">
                <a:pos x="T0" y="T1"/>
              </a:cxn>
              <a:cxn ang="0">
                <a:pos x="T2" y="T3"/>
              </a:cxn>
              <a:cxn ang="0">
                <a:pos x="T4" y="T5"/>
              </a:cxn>
              <a:cxn ang="0">
                <a:pos x="T6" y="T7"/>
              </a:cxn>
              <a:cxn ang="0">
                <a:pos x="T8" y="T9"/>
              </a:cxn>
              <a:cxn ang="0">
                <a:pos x="T10" y="T11"/>
              </a:cxn>
            </a:cxnLst>
            <a:rect l="0" t="0" r="r" b="b"/>
            <a:pathLst>
              <a:path w="90" h="156">
                <a:moveTo>
                  <a:pt x="0" y="0"/>
                </a:moveTo>
                <a:lnTo>
                  <a:pt x="12" y="12"/>
                </a:lnTo>
                <a:lnTo>
                  <a:pt x="24" y="30"/>
                </a:lnTo>
                <a:lnTo>
                  <a:pt x="42" y="66"/>
                </a:lnTo>
                <a:lnTo>
                  <a:pt x="66" y="114"/>
                </a:lnTo>
                <a:lnTo>
                  <a:pt x="90" y="156"/>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7" name="Freeform 167"/>
          <p:cNvSpPr/>
          <p:nvPr/>
        </p:nvSpPr>
        <p:spPr bwMode="auto">
          <a:xfrm>
            <a:off x="5793039" y="3897111"/>
            <a:ext cx="150696" cy="197110"/>
          </a:xfrm>
          <a:custGeom>
            <a:avLst/>
            <a:gdLst>
              <a:gd name="T0" fmla="*/ 0 w 96"/>
              <a:gd name="T1" fmla="*/ 0 h 162"/>
              <a:gd name="T2" fmla="*/ 24 w 96"/>
              <a:gd name="T3" fmla="*/ 42 h 162"/>
              <a:gd name="T4" fmla="*/ 48 w 96"/>
              <a:gd name="T5" fmla="*/ 90 h 162"/>
              <a:gd name="T6" fmla="*/ 72 w 96"/>
              <a:gd name="T7" fmla="*/ 132 h 162"/>
              <a:gd name="T8" fmla="*/ 84 w 96"/>
              <a:gd name="T9" fmla="*/ 150 h 162"/>
              <a:gd name="T10" fmla="*/ 96 w 96"/>
              <a:gd name="T11" fmla="*/ 162 h 162"/>
            </a:gdLst>
            <a:ahLst/>
            <a:cxnLst>
              <a:cxn ang="0">
                <a:pos x="T0" y="T1"/>
              </a:cxn>
              <a:cxn ang="0">
                <a:pos x="T2" y="T3"/>
              </a:cxn>
              <a:cxn ang="0">
                <a:pos x="T4" y="T5"/>
              </a:cxn>
              <a:cxn ang="0">
                <a:pos x="T6" y="T7"/>
              </a:cxn>
              <a:cxn ang="0">
                <a:pos x="T8" y="T9"/>
              </a:cxn>
              <a:cxn ang="0">
                <a:pos x="T10" y="T11"/>
              </a:cxn>
            </a:cxnLst>
            <a:rect l="0" t="0" r="r" b="b"/>
            <a:pathLst>
              <a:path w="96" h="162">
                <a:moveTo>
                  <a:pt x="0" y="0"/>
                </a:moveTo>
                <a:lnTo>
                  <a:pt x="24" y="42"/>
                </a:lnTo>
                <a:lnTo>
                  <a:pt x="48" y="90"/>
                </a:lnTo>
                <a:lnTo>
                  <a:pt x="72" y="132"/>
                </a:lnTo>
                <a:lnTo>
                  <a:pt x="84" y="150"/>
                </a:lnTo>
                <a:lnTo>
                  <a:pt x="96" y="162"/>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8" name="Freeform 168"/>
          <p:cNvSpPr/>
          <p:nvPr/>
        </p:nvSpPr>
        <p:spPr bwMode="auto">
          <a:xfrm>
            <a:off x="5943736" y="4094221"/>
            <a:ext cx="141278" cy="21901"/>
          </a:xfrm>
          <a:custGeom>
            <a:avLst/>
            <a:gdLst>
              <a:gd name="T0" fmla="*/ 0 w 90"/>
              <a:gd name="T1" fmla="*/ 0 h 18"/>
              <a:gd name="T2" fmla="*/ 24 w 90"/>
              <a:gd name="T3" fmla="*/ 18 h 18"/>
              <a:gd name="T4" fmla="*/ 42 w 90"/>
              <a:gd name="T5" fmla="*/ 18 h 18"/>
              <a:gd name="T6" fmla="*/ 66 w 90"/>
              <a:gd name="T7" fmla="*/ 12 h 18"/>
              <a:gd name="T8" fmla="*/ 90 w 90"/>
              <a:gd name="T9" fmla="*/ 0 h 18"/>
            </a:gdLst>
            <a:ahLst/>
            <a:cxnLst>
              <a:cxn ang="0">
                <a:pos x="T0" y="T1"/>
              </a:cxn>
              <a:cxn ang="0">
                <a:pos x="T2" y="T3"/>
              </a:cxn>
              <a:cxn ang="0">
                <a:pos x="T4" y="T5"/>
              </a:cxn>
              <a:cxn ang="0">
                <a:pos x="T6" y="T7"/>
              </a:cxn>
              <a:cxn ang="0">
                <a:pos x="T8" y="T9"/>
              </a:cxn>
            </a:cxnLst>
            <a:rect l="0" t="0" r="r" b="b"/>
            <a:pathLst>
              <a:path w="90" h="18">
                <a:moveTo>
                  <a:pt x="0" y="0"/>
                </a:moveTo>
                <a:lnTo>
                  <a:pt x="24" y="18"/>
                </a:lnTo>
                <a:lnTo>
                  <a:pt x="42" y="18"/>
                </a:lnTo>
                <a:lnTo>
                  <a:pt x="66" y="12"/>
                </a:lnTo>
                <a:lnTo>
                  <a:pt x="9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29" name="Freeform 169"/>
          <p:cNvSpPr/>
          <p:nvPr/>
        </p:nvSpPr>
        <p:spPr bwMode="auto">
          <a:xfrm>
            <a:off x="6085013" y="3904412"/>
            <a:ext cx="150696" cy="189809"/>
          </a:xfrm>
          <a:custGeom>
            <a:avLst/>
            <a:gdLst>
              <a:gd name="T0" fmla="*/ 0 w 96"/>
              <a:gd name="T1" fmla="*/ 156 h 156"/>
              <a:gd name="T2" fmla="*/ 12 w 96"/>
              <a:gd name="T3" fmla="*/ 144 h 156"/>
              <a:gd name="T4" fmla="*/ 24 w 96"/>
              <a:gd name="T5" fmla="*/ 126 h 156"/>
              <a:gd name="T6" fmla="*/ 48 w 96"/>
              <a:gd name="T7" fmla="*/ 90 h 156"/>
              <a:gd name="T8" fmla="*/ 72 w 96"/>
              <a:gd name="T9" fmla="*/ 42 h 156"/>
              <a:gd name="T10" fmla="*/ 96 w 96"/>
              <a:gd name="T11" fmla="*/ 0 h 156"/>
            </a:gdLst>
            <a:ahLst/>
            <a:cxnLst>
              <a:cxn ang="0">
                <a:pos x="T0" y="T1"/>
              </a:cxn>
              <a:cxn ang="0">
                <a:pos x="T2" y="T3"/>
              </a:cxn>
              <a:cxn ang="0">
                <a:pos x="T4" y="T5"/>
              </a:cxn>
              <a:cxn ang="0">
                <a:pos x="T6" y="T7"/>
              </a:cxn>
              <a:cxn ang="0">
                <a:pos x="T8" y="T9"/>
              </a:cxn>
              <a:cxn ang="0">
                <a:pos x="T10" y="T11"/>
              </a:cxn>
            </a:cxnLst>
            <a:rect l="0" t="0" r="r" b="b"/>
            <a:pathLst>
              <a:path w="96" h="156">
                <a:moveTo>
                  <a:pt x="0" y="156"/>
                </a:moveTo>
                <a:lnTo>
                  <a:pt x="12" y="144"/>
                </a:lnTo>
                <a:lnTo>
                  <a:pt x="24" y="126"/>
                </a:lnTo>
                <a:lnTo>
                  <a:pt x="48" y="90"/>
                </a:lnTo>
                <a:lnTo>
                  <a:pt x="72" y="4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0" name="Freeform 170"/>
          <p:cNvSpPr/>
          <p:nvPr/>
        </p:nvSpPr>
        <p:spPr bwMode="auto">
          <a:xfrm>
            <a:off x="6235710" y="3707302"/>
            <a:ext cx="150696" cy="197110"/>
          </a:xfrm>
          <a:custGeom>
            <a:avLst/>
            <a:gdLst>
              <a:gd name="T0" fmla="*/ 0 w 96"/>
              <a:gd name="T1" fmla="*/ 162 h 162"/>
              <a:gd name="T2" fmla="*/ 24 w 96"/>
              <a:gd name="T3" fmla="*/ 120 h 162"/>
              <a:gd name="T4" fmla="*/ 48 w 96"/>
              <a:gd name="T5" fmla="*/ 72 h 162"/>
              <a:gd name="T6" fmla="*/ 72 w 96"/>
              <a:gd name="T7" fmla="*/ 30 h 162"/>
              <a:gd name="T8" fmla="*/ 84 w 96"/>
              <a:gd name="T9" fmla="*/ 12 h 162"/>
              <a:gd name="T10" fmla="*/ 96 w 96"/>
              <a:gd name="T11" fmla="*/ 0 h 162"/>
            </a:gdLst>
            <a:ahLst/>
            <a:cxnLst>
              <a:cxn ang="0">
                <a:pos x="T0" y="T1"/>
              </a:cxn>
              <a:cxn ang="0">
                <a:pos x="T2" y="T3"/>
              </a:cxn>
              <a:cxn ang="0">
                <a:pos x="T4" y="T5"/>
              </a:cxn>
              <a:cxn ang="0">
                <a:pos x="T6" y="T7"/>
              </a:cxn>
              <a:cxn ang="0">
                <a:pos x="T8" y="T9"/>
              </a:cxn>
              <a:cxn ang="0">
                <a:pos x="T10" y="T11"/>
              </a:cxn>
            </a:cxnLst>
            <a:rect l="0" t="0" r="r" b="b"/>
            <a:pathLst>
              <a:path w="96" h="162">
                <a:moveTo>
                  <a:pt x="0" y="162"/>
                </a:moveTo>
                <a:lnTo>
                  <a:pt x="24" y="120"/>
                </a:lnTo>
                <a:lnTo>
                  <a:pt x="48" y="72"/>
                </a:lnTo>
                <a:lnTo>
                  <a:pt x="72" y="30"/>
                </a:lnTo>
                <a:lnTo>
                  <a:pt x="84"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1" name="Freeform 171"/>
          <p:cNvSpPr/>
          <p:nvPr/>
        </p:nvSpPr>
        <p:spPr bwMode="auto">
          <a:xfrm>
            <a:off x="6386406" y="3685401"/>
            <a:ext cx="141278" cy="21901"/>
          </a:xfrm>
          <a:custGeom>
            <a:avLst/>
            <a:gdLst>
              <a:gd name="T0" fmla="*/ 0 w 90"/>
              <a:gd name="T1" fmla="*/ 18 h 18"/>
              <a:gd name="T2" fmla="*/ 24 w 90"/>
              <a:gd name="T3" fmla="*/ 0 h 18"/>
              <a:gd name="T4" fmla="*/ 42 w 90"/>
              <a:gd name="T5" fmla="*/ 0 h 18"/>
              <a:gd name="T6" fmla="*/ 66 w 90"/>
              <a:gd name="T7" fmla="*/ 6 h 18"/>
              <a:gd name="T8" fmla="*/ 90 w 90"/>
              <a:gd name="T9" fmla="*/ 18 h 18"/>
            </a:gdLst>
            <a:ahLst/>
            <a:cxnLst>
              <a:cxn ang="0">
                <a:pos x="T0" y="T1"/>
              </a:cxn>
              <a:cxn ang="0">
                <a:pos x="T2" y="T3"/>
              </a:cxn>
              <a:cxn ang="0">
                <a:pos x="T4" y="T5"/>
              </a:cxn>
              <a:cxn ang="0">
                <a:pos x="T6" y="T7"/>
              </a:cxn>
              <a:cxn ang="0">
                <a:pos x="T8" y="T9"/>
              </a:cxn>
            </a:cxnLst>
            <a:rect l="0" t="0" r="r" b="b"/>
            <a:pathLst>
              <a:path w="90" h="18">
                <a:moveTo>
                  <a:pt x="0" y="18"/>
                </a:moveTo>
                <a:lnTo>
                  <a:pt x="24" y="0"/>
                </a:lnTo>
                <a:lnTo>
                  <a:pt x="42" y="0"/>
                </a:lnTo>
                <a:lnTo>
                  <a:pt x="66" y="6"/>
                </a:lnTo>
                <a:lnTo>
                  <a:pt x="90" y="18"/>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2" name="Freeform 172"/>
          <p:cNvSpPr/>
          <p:nvPr/>
        </p:nvSpPr>
        <p:spPr bwMode="auto">
          <a:xfrm>
            <a:off x="6527684" y="3707302"/>
            <a:ext cx="150696" cy="189809"/>
          </a:xfrm>
          <a:custGeom>
            <a:avLst/>
            <a:gdLst>
              <a:gd name="T0" fmla="*/ 0 w 96"/>
              <a:gd name="T1" fmla="*/ 0 h 156"/>
              <a:gd name="T2" fmla="*/ 12 w 96"/>
              <a:gd name="T3" fmla="*/ 12 h 156"/>
              <a:gd name="T4" fmla="*/ 24 w 96"/>
              <a:gd name="T5" fmla="*/ 30 h 156"/>
              <a:gd name="T6" fmla="*/ 48 w 96"/>
              <a:gd name="T7" fmla="*/ 66 h 156"/>
              <a:gd name="T8" fmla="*/ 72 w 96"/>
              <a:gd name="T9" fmla="*/ 114 h 156"/>
              <a:gd name="T10" fmla="*/ 96 w 96"/>
              <a:gd name="T11" fmla="*/ 156 h 156"/>
            </a:gdLst>
            <a:ahLst/>
            <a:cxnLst>
              <a:cxn ang="0">
                <a:pos x="T0" y="T1"/>
              </a:cxn>
              <a:cxn ang="0">
                <a:pos x="T2" y="T3"/>
              </a:cxn>
              <a:cxn ang="0">
                <a:pos x="T4" y="T5"/>
              </a:cxn>
              <a:cxn ang="0">
                <a:pos x="T6" y="T7"/>
              </a:cxn>
              <a:cxn ang="0">
                <a:pos x="T8" y="T9"/>
              </a:cxn>
              <a:cxn ang="0">
                <a:pos x="T10" y="T11"/>
              </a:cxn>
            </a:cxnLst>
            <a:rect l="0" t="0" r="r" b="b"/>
            <a:pathLst>
              <a:path w="96" h="156">
                <a:moveTo>
                  <a:pt x="0" y="0"/>
                </a:moveTo>
                <a:lnTo>
                  <a:pt x="12" y="12"/>
                </a:lnTo>
                <a:lnTo>
                  <a:pt x="24" y="30"/>
                </a:lnTo>
                <a:lnTo>
                  <a:pt x="48" y="66"/>
                </a:lnTo>
                <a:lnTo>
                  <a:pt x="72" y="114"/>
                </a:lnTo>
                <a:lnTo>
                  <a:pt x="96" y="156"/>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3" name="Freeform 173"/>
          <p:cNvSpPr/>
          <p:nvPr/>
        </p:nvSpPr>
        <p:spPr bwMode="auto">
          <a:xfrm>
            <a:off x="6678380" y="3897111"/>
            <a:ext cx="141278" cy="197110"/>
          </a:xfrm>
          <a:custGeom>
            <a:avLst/>
            <a:gdLst>
              <a:gd name="T0" fmla="*/ 0 w 90"/>
              <a:gd name="T1" fmla="*/ 0 h 162"/>
              <a:gd name="T2" fmla="*/ 24 w 90"/>
              <a:gd name="T3" fmla="*/ 42 h 162"/>
              <a:gd name="T4" fmla="*/ 42 w 90"/>
              <a:gd name="T5" fmla="*/ 90 h 162"/>
              <a:gd name="T6" fmla="*/ 66 w 90"/>
              <a:gd name="T7" fmla="*/ 132 h 162"/>
              <a:gd name="T8" fmla="*/ 78 w 90"/>
              <a:gd name="T9" fmla="*/ 150 h 162"/>
              <a:gd name="T10" fmla="*/ 90 w 90"/>
              <a:gd name="T11" fmla="*/ 162 h 162"/>
            </a:gdLst>
            <a:ahLst/>
            <a:cxnLst>
              <a:cxn ang="0">
                <a:pos x="T0" y="T1"/>
              </a:cxn>
              <a:cxn ang="0">
                <a:pos x="T2" y="T3"/>
              </a:cxn>
              <a:cxn ang="0">
                <a:pos x="T4" y="T5"/>
              </a:cxn>
              <a:cxn ang="0">
                <a:pos x="T6" y="T7"/>
              </a:cxn>
              <a:cxn ang="0">
                <a:pos x="T8" y="T9"/>
              </a:cxn>
              <a:cxn ang="0">
                <a:pos x="T10" y="T11"/>
              </a:cxn>
            </a:cxnLst>
            <a:rect l="0" t="0" r="r" b="b"/>
            <a:pathLst>
              <a:path w="90" h="162">
                <a:moveTo>
                  <a:pt x="0" y="0"/>
                </a:moveTo>
                <a:lnTo>
                  <a:pt x="24" y="42"/>
                </a:lnTo>
                <a:lnTo>
                  <a:pt x="42" y="90"/>
                </a:lnTo>
                <a:lnTo>
                  <a:pt x="66" y="132"/>
                </a:lnTo>
                <a:lnTo>
                  <a:pt x="78" y="150"/>
                </a:lnTo>
                <a:lnTo>
                  <a:pt x="90" y="162"/>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4" name="Freeform 174"/>
          <p:cNvSpPr/>
          <p:nvPr/>
        </p:nvSpPr>
        <p:spPr bwMode="auto">
          <a:xfrm>
            <a:off x="6819658" y="4094221"/>
            <a:ext cx="150696" cy="21901"/>
          </a:xfrm>
          <a:custGeom>
            <a:avLst/>
            <a:gdLst>
              <a:gd name="T0" fmla="*/ 0 w 96"/>
              <a:gd name="T1" fmla="*/ 0 h 18"/>
              <a:gd name="T2" fmla="*/ 24 w 96"/>
              <a:gd name="T3" fmla="*/ 18 h 18"/>
              <a:gd name="T4" fmla="*/ 48 w 96"/>
              <a:gd name="T5" fmla="*/ 18 h 18"/>
              <a:gd name="T6" fmla="*/ 72 w 96"/>
              <a:gd name="T7" fmla="*/ 12 h 18"/>
              <a:gd name="T8" fmla="*/ 96 w 96"/>
              <a:gd name="T9" fmla="*/ 0 h 18"/>
            </a:gdLst>
            <a:ahLst/>
            <a:cxnLst>
              <a:cxn ang="0">
                <a:pos x="T0" y="T1"/>
              </a:cxn>
              <a:cxn ang="0">
                <a:pos x="T2" y="T3"/>
              </a:cxn>
              <a:cxn ang="0">
                <a:pos x="T4" y="T5"/>
              </a:cxn>
              <a:cxn ang="0">
                <a:pos x="T6" y="T7"/>
              </a:cxn>
              <a:cxn ang="0">
                <a:pos x="T8" y="T9"/>
              </a:cxn>
            </a:cxnLst>
            <a:rect l="0" t="0" r="r" b="b"/>
            <a:pathLst>
              <a:path w="96" h="18">
                <a:moveTo>
                  <a:pt x="0" y="0"/>
                </a:moveTo>
                <a:lnTo>
                  <a:pt x="24" y="18"/>
                </a:lnTo>
                <a:lnTo>
                  <a:pt x="48" y="18"/>
                </a:lnTo>
                <a:lnTo>
                  <a:pt x="72"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5" name="Freeform 175"/>
          <p:cNvSpPr/>
          <p:nvPr/>
        </p:nvSpPr>
        <p:spPr bwMode="auto">
          <a:xfrm>
            <a:off x="6970354" y="3904412"/>
            <a:ext cx="150696" cy="189809"/>
          </a:xfrm>
          <a:custGeom>
            <a:avLst/>
            <a:gdLst>
              <a:gd name="T0" fmla="*/ 0 w 96"/>
              <a:gd name="T1" fmla="*/ 156 h 156"/>
              <a:gd name="T2" fmla="*/ 12 w 96"/>
              <a:gd name="T3" fmla="*/ 144 h 156"/>
              <a:gd name="T4" fmla="*/ 24 w 96"/>
              <a:gd name="T5" fmla="*/ 126 h 156"/>
              <a:gd name="T6" fmla="*/ 48 w 96"/>
              <a:gd name="T7" fmla="*/ 90 h 156"/>
              <a:gd name="T8" fmla="*/ 72 w 96"/>
              <a:gd name="T9" fmla="*/ 42 h 156"/>
              <a:gd name="T10" fmla="*/ 96 w 96"/>
              <a:gd name="T11" fmla="*/ 0 h 156"/>
            </a:gdLst>
            <a:ahLst/>
            <a:cxnLst>
              <a:cxn ang="0">
                <a:pos x="T0" y="T1"/>
              </a:cxn>
              <a:cxn ang="0">
                <a:pos x="T2" y="T3"/>
              </a:cxn>
              <a:cxn ang="0">
                <a:pos x="T4" y="T5"/>
              </a:cxn>
              <a:cxn ang="0">
                <a:pos x="T6" y="T7"/>
              </a:cxn>
              <a:cxn ang="0">
                <a:pos x="T8" y="T9"/>
              </a:cxn>
              <a:cxn ang="0">
                <a:pos x="T10" y="T11"/>
              </a:cxn>
            </a:cxnLst>
            <a:rect l="0" t="0" r="r" b="b"/>
            <a:pathLst>
              <a:path w="96" h="156">
                <a:moveTo>
                  <a:pt x="0" y="156"/>
                </a:moveTo>
                <a:lnTo>
                  <a:pt x="12" y="144"/>
                </a:lnTo>
                <a:lnTo>
                  <a:pt x="24" y="126"/>
                </a:lnTo>
                <a:lnTo>
                  <a:pt x="48" y="90"/>
                </a:lnTo>
                <a:lnTo>
                  <a:pt x="72" y="4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6" name="Freeform 176"/>
          <p:cNvSpPr/>
          <p:nvPr/>
        </p:nvSpPr>
        <p:spPr bwMode="auto">
          <a:xfrm>
            <a:off x="7121050" y="3707302"/>
            <a:ext cx="141278" cy="197110"/>
          </a:xfrm>
          <a:custGeom>
            <a:avLst/>
            <a:gdLst>
              <a:gd name="T0" fmla="*/ 0 w 90"/>
              <a:gd name="T1" fmla="*/ 162 h 162"/>
              <a:gd name="T2" fmla="*/ 24 w 90"/>
              <a:gd name="T3" fmla="*/ 120 h 162"/>
              <a:gd name="T4" fmla="*/ 42 w 90"/>
              <a:gd name="T5" fmla="*/ 72 h 162"/>
              <a:gd name="T6" fmla="*/ 66 w 90"/>
              <a:gd name="T7" fmla="*/ 30 h 162"/>
              <a:gd name="T8" fmla="*/ 78 w 90"/>
              <a:gd name="T9" fmla="*/ 12 h 162"/>
              <a:gd name="T10" fmla="*/ 90 w 90"/>
              <a:gd name="T11" fmla="*/ 0 h 162"/>
            </a:gdLst>
            <a:ahLst/>
            <a:cxnLst>
              <a:cxn ang="0">
                <a:pos x="T0" y="T1"/>
              </a:cxn>
              <a:cxn ang="0">
                <a:pos x="T2" y="T3"/>
              </a:cxn>
              <a:cxn ang="0">
                <a:pos x="T4" y="T5"/>
              </a:cxn>
              <a:cxn ang="0">
                <a:pos x="T6" y="T7"/>
              </a:cxn>
              <a:cxn ang="0">
                <a:pos x="T8" y="T9"/>
              </a:cxn>
              <a:cxn ang="0">
                <a:pos x="T10" y="T11"/>
              </a:cxn>
            </a:cxnLst>
            <a:rect l="0" t="0" r="r" b="b"/>
            <a:pathLst>
              <a:path w="90" h="162">
                <a:moveTo>
                  <a:pt x="0" y="162"/>
                </a:moveTo>
                <a:lnTo>
                  <a:pt x="24" y="120"/>
                </a:lnTo>
                <a:lnTo>
                  <a:pt x="42" y="72"/>
                </a:lnTo>
                <a:lnTo>
                  <a:pt x="66" y="30"/>
                </a:lnTo>
                <a:lnTo>
                  <a:pt x="78" y="12"/>
                </a:lnTo>
                <a:lnTo>
                  <a:pt x="9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7" name="Freeform 177"/>
          <p:cNvSpPr/>
          <p:nvPr/>
        </p:nvSpPr>
        <p:spPr bwMode="auto">
          <a:xfrm>
            <a:off x="7262328" y="3685401"/>
            <a:ext cx="150696" cy="21901"/>
          </a:xfrm>
          <a:custGeom>
            <a:avLst/>
            <a:gdLst>
              <a:gd name="T0" fmla="*/ 0 w 96"/>
              <a:gd name="T1" fmla="*/ 18 h 18"/>
              <a:gd name="T2" fmla="*/ 24 w 96"/>
              <a:gd name="T3" fmla="*/ 0 h 18"/>
              <a:gd name="T4" fmla="*/ 48 w 96"/>
              <a:gd name="T5" fmla="*/ 0 h 18"/>
              <a:gd name="T6" fmla="*/ 72 w 96"/>
              <a:gd name="T7" fmla="*/ 6 h 18"/>
              <a:gd name="T8" fmla="*/ 96 w 96"/>
              <a:gd name="T9" fmla="*/ 18 h 18"/>
            </a:gdLst>
            <a:ahLst/>
            <a:cxnLst>
              <a:cxn ang="0">
                <a:pos x="T0" y="T1"/>
              </a:cxn>
              <a:cxn ang="0">
                <a:pos x="T2" y="T3"/>
              </a:cxn>
              <a:cxn ang="0">
                <a:pos x="T4" y="T5"/>
              </a:cxn>
              <a:cxn ang="0">
                <a:pos x="T6" y="T7"/>
              </a:cxn>
              <a:cxn ang="0">
                <a:pos x="T8" y="T9"/>
              </a:cxn>
            </a:cxnLst>
            <a:rect l="0" t="0" r="r" b="b"/>
            <a:pathLst>
              <a:path w="96" h="18">
                <a:moveTo>
                  <a:pt x="0" y="18"/>
                </a:moveTo>
                <a:lnTo>
                  <a:pt x="24" y="0"/>
                </a:lnTo>
                <a:lnTo>
                  <a:pt x="48" y="0"/>
                </a:lnTo>
                <a:lnTo>
                  <a:pt x="72" y="6"/>
                </a:lnTo>
                <a:lnTo>
                  <a:pt x="96" y="18"/>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8" name="Freeform 178"/>
          <p:cNvSpPr/>
          <p:nvPr/>
        </p:nvSpPr>
        <p:spPr bwMode="auto">
          <a:xfrm>
            <a:off x="7413024" y="3707302"/>
            <a:ext cx="150696" cy="189809"/>
          </a:xfrm>
          <a:custGeom>
            <a:avLst/>
            <a:gdLst>
              <a:gd name="T0" fmla="*/ 0 w 96"/>
              <a:gd name="T1" fmla="*/ 0 h 156"/>
              <a:gd name="T2" fmla="*/ 12 w 96"/>
              <a:gd name="T3" fmla="*/ 12 h 156"/>
              <a:gd name="T4" fmla="*/ 24 w 96"/>
              <a:gd name="T5" fmla="*/ 30 h 156"/>
              <a:gd name="T6" fmla="*/ 48 w 96"/>
              <a:gd name="T7" fmla="*/ 66 h 156"/>
              <a:gd name="T8" fmla="*/ 72 w 96"/>
              <a:gd name="T9" fmla="*/ 114 h 156"/>
              <a:gd name="T10" fmla="*/ 96 w 96"/>
              <a:gd name="T11" fmla="*/ 156 h 156"/>
            </a:gdLst>
            <a:ahLst/>
            <a:cxnLst>
              <a:cxn ang="0">
                <a:pos x="T0" y="T1"/>
              </a:cxn>
              <a:cxn ang="0">
                <a:pos x="T2" y="T3"/>
              </a:cxn>
              <a:cxn ang="0">
                <a:pos x="T4" y="T5"/>
              </a:cxn>
              <a:cxn ang="0">
                <a:pos x="T6" y="T7"/>
              </a:cxn>
              <a:cxn ang="0">
                <a:pos x="T8" y="T9"/>
              </a:cxn>
              <a:cxn ang="0">
                <a:pos x="T10" y="T11"/>
              </a:cxn>
            </a:cxnLst>
            <a:rect l="0" t="0" r="r" b="b"/>
            <a:pathLst>
              <a:path w="96" h="156">
                <a:moveTo>
                  <a:pt x="0" y="0"/>
                </a:moveTo>
                <a:lnTo>
                  <a:pt x="12" y="12"/>
                </a:lnTo>
                <a:lnTo>
                  <a:pt x="24" y="30"/>
                </a:lnTo>
                <a:lnTo>
                  <a:pt x="48" y="66"/>
                </a:lnTo>
                <a:lnTo>
                  <a:pt x="72" y="114"/>
                </a:lnTo>
                <a:lnTo>
                  <a:pt x="96" y="156"/>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39" name="Freeform 179"/>
          <p:cNvSpPr/>
          <p:nvPr/>
        </p:nvSpPr>
        <p:spPr bwMode="auto">
          <a:xfrm>
            <a:off x="7563720" y="3897111"/>
            <a:ext cx="141278" cy="197110"/>
          </a:xfrm>
          <a:custGeom>
            <a:avLst/>
            <a:gdLst>
              <a:gd name="T0" fmla="*/ 0 w 90"/>
              <a:gd name="T1" fmla="*/ 0 h 162"/>
              <a:gd name="T2" fmla="*/ 24 w 90"/>
              <a:gd name="T3" fmla="*/ 42 h 162"/>
              <a:gd name="T4" fmla="*/ 42 w 90"/>
              <a:gd name="T5" fmla="*/ 90 h 162"/>
              <a:gd name="T6" fmla="*/ 66 w 90"/>
              <a:gd name="T7" fmla="*/ 132 h 162"/>
              <a:gd name="T8" fmla="*/ 78 w 90"/>
              <a:gd name="T9" fmla="*/ 150 h 162"/>
              <a:gd name="T10" fmla="*/ 90 w 90"/>
              <a:gd name="T11" fmla="*/ 162 h 162"/>
            </a:gdLst>
            <a:ahLst/>
            <a:cxnLst>
              <a:cxn ang="0">
                <a:pos x="T0" y="T1"/>
              </a:cxn>
              <a:cxn ang="0">
                <a:pos x="T2" y="T3"/>
              </a:cxn>
              <a:cxn ang="0">
                <a:pos x="T4" y="T5"/>
              </a:cxn>
              <a:cxn ang="0">
                <a:pos x="T6" y="T7"/>
              </a:cxn>
              <a:cxn ang="0">
                <a:pos x="T8" y="T9"/>
              </a:cxn>
              <a:cxn ang="0">
                <a:pos x="T10" y="T11"/>
              </a:cxn>
            </a:cxnLst>
            <a:rect l="0" t="0" r="r" b="b"/>
            <a:pathLst>
              <a:path w="90" h="162">
                <a:moveTo>
                  <a:pt x="0" y="0"/>
                </a:moveTo>
                <a:lnTo>
                  <a:pt x="24" y="42"/>
                </a:lnTo>
                <a:lnTo>
                  <a:pt x="42" y="90"/>
                </a:lnTo>
                <a:lnTo>
                  <a:pt x="66" y="132"/>
                </a:lnTo>
                <a:lnTo>
                  <a:pt x="78" y="150"/>
                </a:lnTo>
                <a:lnTo>
                  <a:pt x="90" y="162"/>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0" name="Freeform 180"/>
          <p:cNvSpPr/>
          <p:nvPr/>
        </p:nvSpPr>
        <p:spPr bwMode="auto">
          <a:xfrm>
            <a:off x="7704998" y="4094221"/>
            <a:ext cx="150696" cy="21901"/>
          </a:xfrm>
          <a:custGeom>
            <a:avLst/>
            <a:gdLst>
              <a:gd name="T0" fmla="*/ 0 w 96"/>
              <a:gd name="T1" fmla="*/ 0 h 18"/>
              <a:gd name="T2" fmla="*/ 24 w 96"/>
              <a:gd name="T3" fmla="*/ 18 h 18"/>
              <a:gd name="T4" fmla="*/ 48 w 96"/>
              <a:gd name="T5" fmla="*/ 18 h 18"/>
              <a:gd name="T6" fmla="*/ 72 w 96"/>
              <a:gd name="T7" fmla="*/ 12 h 18"/>
              <a:gd name="T8" fmla="*/ 96 w 96"/>
              <a:gd name="T9" fmla="*/ 0 h 18"/>
            </a:gdLst>
            <a:ahLst/>
            <a:cxnLst>
              <a:cxn ang="0">
                <a:pos x="T0" y="T1"/>
              </a:cxn>
              <a:cxn ang="0">
                <a:pos x="T2" y="T3"/>
              </a:cxn>
              <a:cxn ang="0">
                <a:pos x="T4" y="T5"/>
              </a:cxn>
              <a:cxn ang="0">
                <a:pos x="T6" y="T7"/>
              </a:cxn>
              <a:cxn ang="0">
                <a:pos x="T8" y="T9"/>
              </a:cxn>
            </a:cxnLst>
            <a:rect l="0" t="0" r="r" b="b"/>
            <a:pathLst>
              <a:path w="96" h="18">
                <a:moveTo>
                  <a:pt x="0" y="0"/>
                </a:moveTo>
                <a:lnTo>
                  <a:pt x="24" y="18"/>
                </a:lnTo>
                <a:lnTo>
                  <a:pt x="48" y="18"/>
                </a:lnTo>
                <a:lnTo>
                  <a:pt x="72"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1" name="Freeform 181"/>
          <p:cNvSpPr/>
          <p:nvPr/>
        </p:nvSpPr>
        <p:spPr bwMode="auto">
          <a:xfrm>
            <a:off x="7855694" y="3904412"/>
            <a:ext cx="141278" cy="189809"/>
          </a:xfrm>
          <a:custGeom>
            <a:avLst/>
            <a:gdLst>
              <a:gd name="T0" fmla="*/ 0 w 90"/>
              <a:gd name="T1" fmla="*/ 156 h 156"/>
              <a:gd name="T2" fmla="*/ 12 w 90"/>
              <a:gd name="T3" fmla="*/ 144 h 156"/>
              <a:gd name="T4" fmla="*/ 24 w 90"/>
              <a:gd name="T5" fmla="*/ 126 h 156"/>
              <a:gd name="T6" fmla="*/ 42 w 90"/>
              <a:gd name="T7" fmla="*/ 90 h 156"/>
              <a:gd name="T8" fmla="*/ 66 w 90"/>
              <a:gd name="T9" fmla="*/ 42 h 156"/>
              <a:gd name="T10" fmla="*/ 90 w 90"/>
              <a:gd name="T11" fmla="*/ 0 h 156"/>
            </a:gdLst>
            <a:ahLst/>
            <a:cxnLst>
              <a:cxn ang="0">
                <a:pos x="T0" y="T1"/>
              </a:cxn>
              <a:cxn ang="0">
                <a:pos x="T2" y="T3"/>
              </a:cxn>
              <a:cxn ang="0">
                <a:pos x="T4" y="T5"/>
              </a:cxn>
              <a:cxn ang="0">
                <a:pos x="T6" y="T7"/>
              </a:cxn>
              <a:cxn ang="0">
                <a:pos x="T8" y="T9"/>
              </a:cxn>
              <a:cxn ang="0">
                <a:pos x="T10" y="T11"/>
              </a:cxn>
            </a:cxnLst>
            <a:rect l="0" t="0" r="r" b="b"/>
            <a:pathLst>
              <a:path w="90" h="156">
                <a:moveTo>
                  <a:pt x="0" y="156"/>
                </a:moveTo>
                <a:lnTo>
                  <a:pt x="12" y="144"/>
                </a:lnTo>
                <a:lnTo>
                  <a:pt x="24" y="126"/>
                </a:lnTo>
                <a:lnTo>
                  <a:pt x="42" y="90"/>
                </a:lnTo>
                <a:lnTo>
                  <a:pt x="66" y="42"/>
                </a:lnTo>
                <a:lnTo>
                  <a:pt x="9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2" name="Freeform 182"/>
          <p:cNvSpPr/>
          <p:nvPr/>
        </p:nvSpPr>
        <p:spPr bwMode="auto">
          <a:xfrm>
            <a:off x="7996972" y="3707302"/>
            <a:ext cx="150696" cy="197110"/>
          </a:xfrm>
          <a:custGeom>
            <a:avLst/>
            <a:gdLst>
              <a:gd name="T0" fmla="*/ 0 w 96"/>
              <a:gd name="T1" fmla="*/ 162 h 162"/>
              <a:gd name="T2" fmla="*/ 24 w 96"/>
              <a:gd name="T3" fmla="*/ 120 h 162"/>
              <a:gd name="T4" fmla="*/ 48 w 96"/>
              <a:gd name="T5" fmla="*/ 72 h 162"/>
              <a:gd name="T6" fmla="*/ 72 w 96"/>
              <a:gd name="T7" fmla="*/ 30 h 162"/>
              <a:gd name="T8" fmla="*/ 84 w 96"/>
              <a:gd name="T9" fmla="*/ 12 h 162"/>
              <a:gd name="T10" fmla="*/ 96 w 96"/>
              <a:gd name="T11" fmla="*/ 0 h 162"/>
            </a:gdLst>
            <a:ahLst/>
            <a:cxnLst>
              <a:cxn ang="0">
                <a:pos x="T0" y="T1"/>
              </a:cxn>
              <a:cxn ang="0">
                <a:pos x="T2" y="T3"/>
              </a:cxn>
              <a:cxn ang="0">
                <a:pos x="T4" y="T5"/>
              </a:cxn>
              <a:cxn ang="0">
                <a:pos x="T6" y="T7"/>
              </a:cxn>
              <a:cxn ang="0">
                <a:pos x="T8" y="T9"/>
              </a:cxn>
              <a:cxn ang="0">
                <a:pos x="T10" y="T11"/>
              </a:cxn>
            </a:cxnLst>
            <a:rect l="0" t="0" r="r" b="b"/>
            <a:pathLst>
              <a:path w="96" h="162">
                <a:moveTo>
                  <a:pt x="0" y="162"/>
                </a:moveTo>
                <a:lnTo>
                  <a:pt x="24" y="120"/>
                </a:lnTo>
                <a:lnTo>
                  <a:pt x="48" y="72"/>
                </a:lnTo>
                <a:lnTo>
                  <a:pt x="72" y="30"/>
                </a:lnTo>
                <a:lnTo>
                  <a:pt x="84" y="1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3" name="Freeform 183"/>
          <p:cNvSpPr/>
          <p:nvPr/>
        </p:nvSpPr>
        <p:spPr bwMode="auto">
          <a:xfrm>
            <a:off x="8147668" y="3685401"/>
            <a:ext cx="150696" cy="21901"/>
          </a:xfrm>
          <a:custGeom>
            <a:avLst/>
            <a:gdLst>
              <a:gd name="T0" fmla="*/ 0 w 96"/>
              <a:gd name="T1" fmla="*/ 18 h 18"/>
              <a:gd name="T2" fmla="*/ 24 w 96"/>
              <a:gd name="T3" fmla="*/ 0 h 18"/>
              <a:gd name="T4" fmla="*/ 48 w 96"/>
              <a:gd name="T5" fmla="*/ 0 h 18"/>
              <a:gd name="T6" fmla="*/ 72 w 96"/>
              <a:gd name="T7" fmla="*/ 6 h 18"/>
              <a:gd name="T8" fmla="*/ 96 w 96"/>
              <a:gd name="T9" fmla="*/ 18 h 18"/>
            </a:gdLst>
            <a:ahLst/>
            <a:cxnLst>
              <a:cxn ang="0">
                <a:pos x="T0" y="T1"/>
              </a:cxn>
              <a:cxn ang="0">
                <a:pos x="T2" y="T3"/>
              </a:cxn>
              <a:cxn ang="0">
                <a:pos x="T4" y="T5"/>
              </a:cxn>
              <a:cxn ang="0">
                <a:pos x="T6" y="T7"/>
              </a:cxn>
              <a:cxn ang="0">
                <a:pos x="T8" y="T9"/>
              </a:cxn>
            </a:cxnLst>
            <a:rect l="0" t="0" r="r" b="b"/>
            <a:pathLst>
              <a:path w="96" h="18">
                <a:moveTo>
                  <a:pt x="0" y="18"/>
                </a:moveTo>
                <a:lnTo>
                  <a:pt x="24" y="0"/>
                </a:lnTo>
                <a:lnTo>
                  <a:pt x="48" y="0"/>
                </a:lnTo>
                <a:lnTo>
                  <a:pt x="72" y="6"/>
                </a:lnTo>
                <a:lnTo>
                  <a:pt x="96" y="18"/>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4" name="Freeform 184"/>
          <p:cNvSpPr/>
          <p:nvPr/>
        </p:nvSpPr>
        <p:spPr bwMode="auto">
          <a:xfrm>
            <a:off x="8298365" y="3707302"/>
            <a:ext cx="141278" cy="189809"/>
          </a:xfrm>
          <a:custGeom>
            <a:avLst/>
            <a:gdLst>
              <a:gd name="T0" fmla="*/ 0 w 90"/>
              <a:gd name="T1" fmla="*/ 0 h 156"/>
              <a:gd name="T2" fmla="*/ 12 w 90"/>
              <a:gd name="T3" fmla="*/ 12 h 156"/>
              <a:gd name="T4" fmla="*/ 24 w 90"/>
              <a:gd name="T5" fmla="*/ 30 h 156"/>
              <a:gd name="T6" fmla="*/ 42 w 90"/>
              <a:gd name="T7" fmla="*/ 66 h 156"/>
              <a:gd name="T8" fmla="*/ 66 w 90"/>
              <a:gd name="T9" fmla="*/ 114 h 156"/>
              <a:gd name="T10" fmla="*/ 90 w 90"/>
              <a:gd name="T11" fmla="*/ 156 h 156"/>
            </a:gdLst>
            <a:ahLst/>
            <a:cxnLst>
              <a:cxn ang="0">
                <a:pos x="T0" y="T1"/>
              </a:cxn>
              <a:cxn ang="0">
                <a:pos x="T2" y="T3"/>
              </a:cxn>
              <a:cxn ang="0">
                <a:pos x="T4" y="T5"/>
              </a:cxn>
              <a:cxn ang="0">
                <a:pos x="T6" y="T7"/>
              </a:cxn>
              <a:cxn ang="0">
                <a:pos x="T8" y="T9"/>
              </a:cxn>
              <a:cxn ang="0">
                <a:pos x="T10" y="T11"/>
              </a:cxn>
            </a:cxnLst>
            <a:rect l="0" t="0" r="r" b="b"/>
            <a:pathLst>
              <a:path w="90" h="156">
                <a:moveTo>
                  <a:pt x="0" y="0"/>
                </a:moveTo>
                <a:lnTo>
                  <a:pt x="12" y="12"/>
                </a:lnTo>
                <a:lnTo>
                  <a:pt x="24" y="30"/>
                </a:lnTo>
                <a:lnTo>
                  <a:pt x="42" y="66"/>
                </a:lnTo>
                <a:lnTo>
                  <a:pt x="66" y="114"/>
                </a:lnTo>
                <a:lnTo>
                  <a:pt x="90" y="156"/>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5" name="Freeform 185"/>
          <p:cNvSpPr/>
          <p:nvPr/>
        </p:nvSpPr>
        <p:spPr bwMode="auto">
          <a:xfrm>
            <a:off x="8439642" y="3897111"/>
            <a:ext cx="150696" cy="197110"/>
          </a:xfrm>
          <a:custGeom>
            <a:avLst/>
            <a:gdLst>
              <a:gd name="T0" fmla="*/ 0 w 96"/>
              <a:gd name="T1" fmla="*/ 0 h 162"/>
              <a:gd name="T2" fmla="*/ 24 w 96"/>
              <a:gd name="T3" fmla="*/ 42 h 162"/>
              <a:gd name="T4" fmla="*/ 48 w 96"/>
              <a:gd name="T5" fmla="*/ 90 h 162"/>
              <a:gd name="T6" fmla="*/ 72 w 96"/>
              <a:gd name="T7" fmla="*/ 132 h 162"/>
              <a:gd name="T8" fmla="*/ 84 w 96"/>
              <a:gd name="T9" fmla="*/ 150 h 162"/>
              <a:gd name="T10" fmla="*/ 96 w 96"/>
              <a:gd name="T11" fmla="*/ 162 h 162"/>
            </a:gdLst>
            <a:ahLst/>
            <a:cxnLst>
              <a:cxn ang="0">
                <a:pos x="T0" y="T1"/>
              </a:cxn>
              <a:cxn ang="0">
                <a:pos x="T2" y="T3"/>
              </a:cxn>
              <a:cxn ang="0">
                <a:pos x="T4" y="T5"/>
              </a:cxn>
              <a:cxn ang="0">
                <a:pos x="T6" y="T7"/>
              </a:cxn>
              <a:cxn ang="0">
                <a:pos x="T8" y="T9"/>
              </a:cxn>
              <a:cxn ang="0">
                <a:pos x="T10" y="T11"/>
              </a:cxn>
            </a:cxnLst>
            <a:rect l="0" t="0" r="r" b="b"/>
            <a:pathLst>
              <a:path w="96" h="162">
                <a:moveTo>
                  <a:pt x="0" y="0"/>
                </a:moveTo>
                <a:lnTo>
                  <a:pt x="24" y="42"/>
                </a:lnTo>
                <a:lnTo>
                  <a:pt x="48" y="90"/>
                </a:lnTo>
                <a:lnTo>
                  <a:pt x="72" y="132"/>
                </a:lnTo>
                <a:lnTo>
                  <a:pt x="84" y="150"/>
                </a:lnTo>
                <a:lnTo>
                  <a:pt x="96" y="162"/>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6" name="Freeform 186"/>
          <p:cNvSpPr/>
          <p:nvPr/>
        </p:nvSpPr>
        <p:spPr bwMode="auto">
          <a:xfrm>
            <a:off x="8590339" y="4094221"/>
            <a:ext cx="141278" cy="21901"/>
          </a:xfrm>
          <a:custGeom>
            <a:avLst/>
            <a:gdLst>
              <a:gd name="T0" fmla="*/ 0 w 90"/>
              <a:gd name="T1" fmla="*/ 0 h 18"/>
              <a:gd name="T2" fmla="*/ 24 w 90"/>
              <a:gd name="T3" fmla="*/ 18 h 18"/>
              <a:gd name="T4" fmla="*/ 42 w 90"/>
              <a:gd name="T5" fmla="*/ 18 h 18"/>
              <a:gd name="T6" fmla="*/ 66 w 90"/>
              <a:gd name="T7" fmla="*/ 12 h 18"/>
              <a:gd name="T8" fmla="*/ 90 w 90"/>
              <a:gd name="T9" fmla="*/ 0 h 18"/>
            </a:gdLst>
            <a:ahLst/>
            <a:cxnLst>
              <a:cxn ang="0">
                <a:pos x="T0" y="T1"/>
              </a:cxn>
              <a:cxn ang="0">
                <a:pos x="T2" y="T3"/>
              </a:cxn>
              <a:cxn ang="0">
                <a:pos x="T4" y="T5"/>
              </a:cxn>
              <a:cxn ang="0">
                <a:pos x="T6" y="T7"/>
              </a:cxn>
              <a:cxn ang="0">
                <a:pos x="T8" y="T9"/>
              </a:cxn>
            </a:cxnLst>
            <a:rect l="0" t="0" r="r" b="b"/>
            <a:pathLst>
              <a:path w="90" h="18">
                <a:moveTo>
                  <a:pt x="0" y="0"/>
                </a:moveTo>
                <a:lnTo>
                  <a:pt x="24" y="18"/>
                </a:lnTo>
                <a:lnTo>
                  <a:pt x="42" y="18"/>
                </a:lnTo>
                <a:lnTo>
                  <a:pt x="66" y="12"/>
                </a:lnTo>
                <a:lnTo>
                  <a:pt x="9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7" name="Freeform 187"/>
          <p:cNvSpPr/>
          <p:nvPr/>
        </p:nvSpPr>
        <p:spPr bwMode="auto">
          <a:xfrm>
            <a:off x="8731616" y="3904412"/>
            <a:ext cx="150696" cy="189809"/>
          </a:xfrm>
          <a:custGeom>
            <a:avLst/>
            <a:gdLst>
              <a:gd name="T0" fmla="*/ 0 w 96"/>
              <a:gd name="T1" fmla="*/ 156 h 156"/>
              <a:gd name="T2" fmla="*/ 12 w 96"/>
              <a:gd name="T3" fmla="*/ 144 h 156"/>
              <a:gd name="T4" fmla="*/ 24 w 96"/>
              <a:gd name="T5" fmla="*/ 126 h 156"/>
              <a:gd name="T6" fmla="*/ 48 w 96"/>
              <a:gd name="T7" fmla="*/ 90 h 156"/>
              <a:gd name="T8" fmla="*/ 72 w 96"/>
              <a:gd name="T9" fmla="*/ 42 h 156"/>
              <a:gd name="T10" fmla="*/ 96 w 96"/>
              <a:gd name="T11" fmla="*/ 0 h 156"/>
            </a:gdLst>
            <a:ahLst/>
            <a:cxnLst>
              <a:cxn ang="0">
                <a:pos x="T0" y="T1"/>
              </a:cxn>
              <a:cxn ang="0">
                <a:pos x="T2" y="T3"/>
              </a:cxn>
              <a:cxn ang="0">
                <a:pos x="T4" y="T5"/>
              </a:cxn>
              <a:cxn ang="0">
                <a:pos x="T6" y="T7"/>
              </a:cxn>
              <a:cxn ang="0">
                <a:pos x="T8" y="T9"/>
              </a:cxn>
              <a:cxn ang="0">
                <a:pos x="T10" y="T11"/>
              </a:cxn>
            </a:cxnLst>
            <a:rect l="0" t="0" r="r" b="b"/>
            <a:pathLst>
              <a:path w="96" h="156">
                <a:moveTo>
                  <a:pt x="0" y="156"/>
                </a:moveTo>
                <a:lnTo>
                  <a:pt x="12" y="144"/>
                </a:lnTo>
                <a:lnTo>
                  <a:pt x="24" y="126"/>
                </a:lnTo>
                <a:lnTo>
                  <a:pt x="48" y="90"/>
                </a:lnTo>
                <a:lnTo>
                  <a:pt x="72" y="42"/>
                </a:lnTo>
                <a:lnTo>
                  <a:pt x="96"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399548" name="Rectangle 188"/>
          <p:cNvSpPr>
            <a:spLocks noChangeArrowheads="1"/>
          </p:cNvSpPr>
          <p:nvPr/>
        </p:nvSpPr>
        <p:spPr bwMode="auto">
          <a:xfrm>
            <a:off x="3400736" y="4524943"/>
            <a:ext cx="102034"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549" name="Rectangle 189"/>
          <p:cNvSpPr>
            <a:spLocks noChangeArrowheads="1"/>
          </p:cNvSpPr>
          <p:nvPr/>
        </p:nvSpPr>
        <p:spPr bwMode="auto">
          <a:xfrm>
            <a:off x="3287714" y="4196426"/>
            <a:ext cx="205638"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550" name="Rectangle 190"/>
          <p:cNvSpPr>
            <a:spLocks noChangeArrowheads="1"/>
          </p:cNvSpPr>
          <p:nvPr/>
        </p:nvSpPr>
        <p:spPr bwMode="auto">
          <a:xfrm>
            <a:off x="3457247" y="3867910"/>
            <a:ext cx="51802"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a:t>
            </a:r>
            <a:endParaRPr lang="en-US" altLang="zh-CN" dirty="0">
              <a:latin typeface="微软雅黑 Light" panose="020B0502040204020203" pitchFamily="34" charset="-122"/>
            </a:endParaRPr>
          </a:p>
        </p:txBody>
      </p:sp>
      <p:sp>
        <p:nvSpPr>
          <p:cNvPr id="399551" name="Rectangle 191"/>
          <p:cNvSpPr>
            <a:spLocks noChangeArrowheads="1"/>
          </p:cNvSpPr>
          <p:nvPr/>
        </p:nvSpPr>
        <p:spPr bwMode="auto">
          <a:xfrm>
            <a:off x="3344225" y="3532093"/>
            <a:ext cx="15383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552" name="Rectangle 192"/>
          <p:cNvSpPr>
            <a:spLocks noChangeArrowheads="1"/>
          </p:cNvSpPr>
          <p:nvPr/>
        </p:nvSpPr>
        <p:spPr bwMode="auto">
          <a:xfrm>
            <a:off x="3457247" y="3203577"/>
            <a:ext cx="51802"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554" name="Rectangle 194"/>
          <p:cNvSpPr>
            <a:spLocks noChangeArrowheads="1"/>
          </p:cNvSpPr>
          <p:nvPr/>
        </p:nvSpPr>
        <p:spPr bwMode="auto">
          <a:xfrm>
            <a:off x="4832351" y="3977415"/>
            <a:ext cx="15383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0.5</a:t>
            </a:r>
            <a:endParaRPr lang="en-US" altLang="zh-CN" dirty="0">
              <a:latin typeface="微软雅黑 Light" panose="020B0502040204020203" pitchFamily="34" charset="-122"/>
            </a:endParaRPr>
          </a:p>
        </p:txBody>
      </p:sp>
      <p:sp>
        <p:nvSpPr>
          <p:cNvPr id="399555" name="Rectangle 195"/>
          <p:cNvSpPr>
            <a:spLocks noChangeArrowheads="1"/>
          </p:cNvSpPr>
          <p:nvPr/>
        </p:nvSpPr>
        <p:spPr bwMode="auto">
          <a:xfrm>
            <a:off x="6207454" y="3977415"/>
            <a:ext cx="51802"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a:t>
            </a:r>
            <a:endParaRPr lang="en-US" altLang="zh-CN" dirty="0">
              <a:latin typeface="微软雅黑 Light" panose="020B0502040204020203" pitchFamily="34" charset="-122"/>
            </a:endParaRPr>
          </a:p>
        </p:txBody>
      </p:sp>
      <p:sp>
        <p:nvSpPr>
          <p:cNvPr id="399556" name="Rectangle 196"/>
          <p:cNvSpPr>
            <a:spLocks noChangeArrowheads="1"/>
          </p:cNvSpPr>
          <p:nvPr/>
        </p:nvSpPr>
        <p:spPr bwMode="auto">
          <a:xfrm>
            <a:off x="7478954" y="3977415"/>
            <a:ext cx="153836"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1.5</a:t>
            </a:r>
            <a:endParaRPr lang="en-US" altLang="zh-CN" dirty="0">
              <a:latin typeface="微软雅黑 Light" panose="020B0502040204020203" pitchFamily="34" charset="-122"/>
            </a:endParaRPr>
          </a:p>
        </p:txBody>
      </p:sp>
      <p:sp>
        <p:nvSpPr>
          <p:cNvPr id="399557" name="Rectangle 197"/>
          <p:cNvSpPr>
            <a:spLocks noChangeArrowheads="1"/>
          </p:cNvSpPr>
          <p:nvPr/>
        </p:nvSpPr>
        <p:spPr bwMode="auto">
          <a:xfrm>
            <a:off x="8854057" y="3977415"/>
            <a:ext cx="51802" cy="1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800" dirty="0">
                <a:solidFill>
                  <a:srgbClr val="000000"/>
                </a:solidFill>
                <a:latin typeface="宋体" panose="02010600030101010101" pitchFamily="2" charset="-122"/>
              </a:rPr>
              <a:t>2</a:t>
            </a:r>
            <a:endParaRPr lang="en-US" altLang="zh-CN" dirty="0">
              <a:latin typeface="微软雅黑 Light" panose="020B0502040204020203" pitchFamily="34" charset="-122"/>
            </a:endParaRPr>
          </a:p>
        </p:txBody>
      </p:sp>
      <p:sp>
        <p:nvSpPr>
          <p:cNvPr id="399558" name="Text Box 198"/>
          <p:cNvSpPr txBox="1">
            <a:spLocks noChangeArrowheads="1"/>
          </p:cNvSpPr>
          <p:nvPr/>
        </p:nvSpPr>
        <p:spPr bwMode="auto">
          <a:xfrm>
            <a:off x="5662613" y="2843213"/>
            <a:ext cx="15170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S(t)=sin(2</a:t>
            </a:r>
            <a:r>
              <a:rPr lang="en-US" altLang="zh-CN" dirty="0">
                <a:solidFill>
                  <a:schemeClr val="tx2"/>
                </a:solidFill>
                <a:latin typeface="微软雅黑 Light" panose="020B0502040204020203" pitchFamily="34" charset="-122"/>
                <a:sym typeface="Symbol" panose="05050102010706020507" pitchFamily="18" charset="2"/>
              </a:rPr>
              <a:t></a:t>
            </a:r>
            <a:r>
              <a:rPr lang="en-US" altLang="zh-CN" dirty="0">
                <a:solidFill>
                  <a:schemeClr val="tx2"/>
                </a:solidFill>
                <a:latin typeface="微软雅黑 Light" panose="020B0502040204020203" pitchFamily="34" charset="-122"/>
              </a:rPr>
              <a:t>ft)</a:t>
            </a:r>
            <a:endParaRPr lang="en-US" altLang="zh-CN" dirty="0">
              <a:solidFill>
                <a:schemeClr val="tx2"/>
              </a:solidFill>
              <a:latin typeface="微软雅黑 Light" panose="020B0502040204020203" pitchFamily="34" charset="-122"/>
            </a:endParaRPr>
          </a:p>
        </p:txBody>
      </p:sp>
      <p:sp>
        <p:nvSpPr>
          <p:cNvPr id="399559" name="Text Box 199"/>
          <p:cNvSpPr txBox="1">
            <a:spLocks noChangeArrowheads="1"/>
          </p:cNvSpPr>
          <p:nvPr/>
        </p:nvSpPr>
        <p:spPr bwMode="auto">
          <a:xfrm>
            <a:off x="5446713" y="4572001"/>
            <a:ext cx="21739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S(t)=1/3*sin(2</a:t>
            </a:r>
            <a:r>
              <a:rPr lang="en-US" altLang="zh-CN" dirty="0">
                <a:solidFill>
                  <a:schemeClr val="tx2"/>
                </a:solidFill>
                <a:latin typeface="微软雅黑 Light" panose="020B0502040204020203" pitchFamily="34" charset="-122"/>
                <a:sym typeface="Symbol" panose="05050102010706020507" pitchFamily="18" charset="2"/>
              </a:rPr>
              <a:t>(3</a:t>
            </a:r>
            <a:r>
              <a:rPr lang="en-US" altLang="zh-CN" dirty="0">
                <a:solidFill>
                  <a:schemeClr val="tx2"/>
                </a:solidFill>
                <a:latin typeface="微软雅黑 Light" panose="020B0502040204020203" pitchFamily="34" charset="-122"/>
              </a:rPr>
              <a:t>f)t)</a:t>
            </a:r>
            <a:endParaRPr lang="en-US" altLang="zh-CN" dirty="0">
              <a:solidFill>
                <a:schemeClr val="tx2"/>
              </a:solidFill>
              <a:latin typeface="微软雅黑 Light" panose="020B0502040204020203" pitchFamily="34" charset="-122"/>
            </a:endParaRPr>
          </a:p>
        </p:txBody>
      </p:sp>
      <p:sp>
        <p:nvSpPr>
          <p:cNvPr id="399560" name="Text Box 200"/>
          <p:cNvSpPr txBox="1">
            <a:spLocks noChangeArrowheads="1"/>
          </p:cNvSpPr>
          <p:nvPr/>
        </p:nvSpPr>
        <p:spPr bwMode="auto">
          <a:xfrm>
            <a:off x="5038725" y="6230938"/>
            <a:ext cx="32306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S(t)=sin(2</a:t>
            </a:r>
            <a:r>
              <a:rPr lang="en-US" altLang="zh-CN" dirty="0">
                <a:solidFill>
                  <a:schemeClr val="tx2"/>
                </a:solidFill>
                <a:latin typeface="微软雅黑 Light" panose="020B0502040204020203" pitchFamily="34" charset="-122"/>
                <a:sym typeface="Symbol" panose="05050102010706020507" pitchFamily="18" charset="2"/>
              </a:rPr>
              <a:t></a:t>
            </a:r>
            <a:r>
              <a:rPr lang="en-US" altLang="zh-CN" dirty="0">
                <a:solidFill>
                  <a:schemeClr val="tx2"/>
                </a:solidFill>
                <a:latin typeface="微软雅黑 Light" panose="020B0502040204020203" pitchFamily="34" charset="-122"/>
              </a:rPr>
              <a:t>ft)+ 1/3*sin(2</a:t>
            </a:r>
            <a:r>
              <a:rPr lang="en-US" altLang="zh-CN" dirty="0">
                <a:solidFill>
                  <a:schemeClr val="tx2"/>
                </a:solidFill>
                <a:latin typeface="微软雅黑 Light" panose="020B0502040204020203" pitchFamily="34" charset="-122"/>
                <a:sym typeface="Symbol" panose="05050102010706020507" pitchFamily="18" charset="2"/>
              </a:rPr>
              <a:t>(3</a:t>
            </a:r>
            <a:r>
              <a:rPr lang="en-US" altLang="zh-CN" dirty="0">
                <a:solidFill>
                  <a:schemeClr val="tx2"/>
                </a:solidFill>
                <a:latin typeface="微软雅黑 Light" panose="020B0502040204020203" pitchFamily="34" charset="-122"/>
              </a:rPr>
              <a:t>f)t)</a:t>
            </a:r>
            <a:endParaRPr lang="en-US" altLang="zh-CN" dirty="0">
              <a:solidFill>
                <a:schemeClr val="tx2"/>
              </a:solidFill>
              <a:latin typeface="微软雅黑 Light" panose="020B0502040204020203" pitchFamily="34" charset="-122"/>
            </a:endParaRPr>
          </a:p>
        </p:txBody>
      </p:sp>
      <p:grpSp>
        <p:nvGrpSpPr>
          <p:cNvPr id="202" name="组合 201"/>
          <p:cNvGrpSpPr/>
          <p:nvPr/>
        </p:nvGrpSpPr>
        <p:grpSpPr>
          <a:xfrm>
            <a:off x="3594770" y="4997430"/>
            <a:ext cx="5287130" cy="1248362"/>
            <a:chOff x="3594770" y="4997430"/>
            <a:chExt cx="5287130" cy="1248362"/>
          </a:xfrm>
        </p:grpSpPr>
        <p:sp>
          <p:nvSpPr>
            <p:cNvPr id="204" name="Freeform 87"/>
            <p:cNvSpPr/>
            <p:nvPr/>
          </p:nvSpPr>
          <p:spPr bwMode="auto">
            <a:xfrm>
              <a:off x="3594770" y="5201840"/>
              <a:ext cx="143933" cy="423421"/>
            </a:xfrm>
            <a:custGeom>
              <a:avLst/>
              <a:gdLst>
                <a:gd name="T0" fmla="*/ 0 w 90"/>
                <a:gd name="T1" fmla="*/ 348 h 348"/>
                <a:gd name="T2" fmla="*/ 24 w 90"/>
                <a:gd name="T3" fmla="*/ 258 h 348"/>
                <a:gd name="T4" fmla="*/ 42 w 90"/>
                <a:gd name="T5" fmla="*/ 162 h 348"/>
                <a:gd name="T6" fmla="*/ 66 w 90"/>
                <a:gd name="T7" fmla="*/ 72 h 348"/>
                <a:gd name="T8" fmla="*/ 78 w 90"/>
                <a:gd name="T9" fmla="*/ 36 h 348"/>
                <a:gd name="T10" fmla="*/ 90 w 90"/>
                <a:gd name="T11" fmla="*/ 0 h 348"/>
              </a:gdLst>
              <a:ahLst/>
              <a:cxnLst>
                <a:cxn ang="0">
                  <a:pos x="T0" y="T1"/>
                </a:cxn>
                <a:cxn ang="0">
                  <a:pos x="T2" y="T3"/>
                </a:cxn>
                <a:cxn ang="0">
                  <a:pos x="T4" y="T5"/>
                </a:cxn>
                <a:cxn ang="0">
                  <a:pos x="T6" y="T7"/>
                </a:cxn>
                <a:cxn ang="0">
                  <a:pos x="T8" y="T9"/>
                </a:cxn>
                <a:cxn ang="0">
                  <a:pos x="T10" y="T11"/>
                </a:cxn>
              </a:cxnLst>
              <a:rect l="0" t="0" r="r" b="b"/>
              <a:pathLst>
                <a:path w="90" h="348">
                  <a:moveTo>
                    <a:pt x="0" y="348"/>
                  </a:moveTo>
                  <a:lnTo>
                    <a:pt x="24" y="258"/>
                  </a:lnTo>
                  <a:lnTo>
                    <a:pt x="42" y="162"/>
                  </a:lnTo>
                  <a:lnTo>
                    <a:pt x="66" y="72"/>
                  </a:lnTo>
                  <a:lnTo>
                    <a:pt x="78" y="36"/>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05" name="Freeform 88"/>
            <p:cNvSpPr/>
            <p:nvPr/>
          </p:nvSpPr>
          <p:spPr bwMode="auto">
            <a:xfrm>
              <a:off x="3738703" y="5004730"/>
              <a:ext cx="153528" cy="197110"/>
            </a:xfrm>
            <a:custGeom>
              <a:avLst/>
              <a:gdLst>
                <a:gd name="T0" fmla="*/ 0 w 96"/>
                <a:gd name="T1" fmla="*/ 162 h 162"/>
                <a:gd name="T2" fmla="*/ 24 w 96"/>
                <a:gd name="T3" fmla="*/ 102 h 162"/>
                <a:gd name="T4" fmla="*/ 48 w 96"/>
                <a:gd name="T5" fmla="*/ 60 h 162"/>
                <a:gd name="T6" fmla="*/ 72 w 96"/>
                <a:gd name="T7" fmla="*/ 24 h 162"/>
                <a:gd name="T8" fmla="*/ 96 w 96"/>
                <a:gd name="T9" fmla="*/ 0 h 162"/>
              </a:gdLst>
              <a:ahLst/>
              <a:cxnLst>
                <a:cxn ang="0">
                  <a:pos x="T0" y="T1"/>
                </a:cxn>
                <a:cxn ang="0">
                  <a:pos x="T2" y="T3"/>
                </a:cxn>
                <a:cxn ang="0">
                  <a:pos x="T4" y="T5"/>
                </a:cxn>
                <a:cxn ang="0">
                  <a:pos x="T6" y="T7"/>
                </a:cxn>
                <a:cxn ang="0">
                  <a:pos x="T8" y="T9"/>
                </a:cxn>
              </a:cxnLst>
              <a:rect l="0" t="0" r="r" b="b"/>
              <a:pathLst>
                <a:path w="96" h="162">
                  <a:moveTo>
                    <a:pt x="0" y="162"/>
                  </a:moveTo>
                  <a:lnTo>
                    <a:pt x="24" y="102"/>
                  </a:lnTo>
                  <a:lnTo>
                    <a:pt x="48" y="60"/>
                  </a:lnTo>
                  <a:lnTo>
                    <a:pt x="72" y="24"/>
                  </a:lnTo>
                  <a:lnTo>
                    <a:pt x="96"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06" name="Freeform 89"/>
            <p:cNvSpPr/>
            <p:nvPr/>
          </p:nvSpPr>
          <p:spPr bwMode="auto">
            <a:xfrm>
              <a:off x="3892231" y="4997430"/>
              <a:ext cx="143933" cy="51103"/>
            </a:xfrm>
            <a:custGeom>
              <a:avLst/>
              <a:gdLst>
                <a:gd name="T0" fmla="*/ 0 w 90"/>
                <a:gd name="T1" fmla="*/ 6 h 42"/>
                <a:gd name="T2" fmla="*/ 12 w 90"/>
                <a:gd name="T3" fmla="*/ 0 h 42"/>
                <a:gd name="T4" fmla="*/ 24 w 90"/>
                <a:gd name="T5" fmla="*/ 0 h 42"/>
                <a:gd name="T6" fmla="*/ 48 w 90"/>
                <a:gd name="T7" fmla="*/ 6 h 42"/>
                <a:gd name="T8" fmla="*/ 66 w 90"/>
                <a:gd name="T9" fmla="*/ 24 h 42"/>
                <a:gd name="T10" fmla="*/ 90 w 90"/>
                <a:gd name="T11" fmla="*/ 42 h 42"/>
              </a:gdLst>
              <a:ahLst/>
              <a:cxnLst>
                <a:cxn ang="0">
                  <a:pos x="T0" y="T1"/>
                </a:cxn>
                <a:cxn ang="0">
                  <a:pos x="T2" y="T3"/>
                </a:cxn>
                <a:cxn ang="0">
                  <a:pos x="T4" y="T5"/>
                </a:cxn>
                <a:cxn ang="0">
                  <a:pos x="T6" y="T7"/>
                </a:cxn>
                <a:cxn ang="0">
                  <a:pos x="T8" y="T9"/>
                </a:cxn>
                <a:cxn ang="0">
                  <a:pos x="T10" y="T11"/>
                </a:cxn>
              </a:cxnLst>
              <a:rect l="0" t="0" r="r" b="b"/>
              <a:pathLst>
                <a:path w="90" h="42">
                  <a:moveTo>
                    <a:pt x="0" y="6"/>
                  </a:moveTo>
                  <a:lnTo>
                    <a:pt x="12" y="0"/>
                  </a:lnTo>
                  <a:lnTo>
                    <a:pt x="24" y="0"/>
                  </a:lnTo>
                  <a:lnTo>
                    <a:pt x="48" y="6"/>
                  </a:lnTo>
                  <a:lnTo>
                    <a:pt x="66" y="24"/>
                  </a:lnTo>
                  <a:lnTo>
                    <a:pt x="90" y="4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07" name="Freeform 90"/>
            <p:cNvSpPr/>
            <p:nvPr/>
          </p:nvSpPr>
          <p:spPr bwMode="auto">
            <a:xfrm>
              <a:off x="4036164" y="5048532"/>
              <a:ext cx="143933" cy="109505"/>
            </a:xfrm>
            <a:custGeom>
              <a:avLst/>
              <a:gdLst>
                <a:gd name="T0" fmla="*/ 0 w 90"/>
                <a:gd name="T1" fmla="*/ 0 h 90"/>
                <a:gd name="T2" fmla="*/ 24 w 90"/>
                <a:gd name="T3" fmla="*/ 18 h 90"/>
                <a:gd name="T4" fmla="*/ 42 w 90"/>
                <a:gd name="T5" fmla="*/ 48 h 90"/>
                <a:gd name="T6" fmla="*/ 66 w 90"/>
                <a:gd name="T7" fmla="*/ 72 h 90"/>
                <a:gd name="T8" fmla="*/ 90 w 90"/>
                <a:gd name="T9" fmla="*/ 90 h 90"/>
              </a:gdLst>
              <a:ahLst/>
              <a:cxnLst>
                <a:cxn ang="0">
                  <a:pos x="T0" y="T1"/>
                </a:cxn>
                <a:cxn ang="0">
                  <a:pos x="T2" y="T3"/>
                </a:cxn>
                <a:cxn ang="0">
                  <a:pos x="T4" y="T5"/>
                </a:cxn>
                <a:cxn ang="0">
                  <a:pos x="T6" y="T7"/>
                </a:cxn>
                <a:cxn ang="0">
                  <a:pos x="T8" y="T9"/>
                </a:cxn>
              </a:cxnLst>
              <a:rect l="0" t="0" r="r" b="b"/>
              <a:pathLst>
                <a:path w="90" h="90">
                  <a:moveTo>
                    <a:pt x="0" y="0"/>
                  </a:moveTo>
                  <a:lnTo>
                    <a:pt x="24" y="18"/>
                  </a:lnTo>
                  <a:lnTo>
                    <a:pt x="42" y="48"/>
                  </a:lnTo>
                  <a:lnTo>
                    <a:pt x="66" y="72"/>
                  </a:lnTo>
                  <a:lnTo>
                    <a:pt x="90" y="9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08" name="Freeform 91"/>
            <p:cNvSpPr/>
            <p:nvPr/>
          </p:nvSpPr>
          <p:spPr bwMode="auto">
            <a:xfrm>
              <a:off x="4180097" y="5158038"/>
              <a:ext cx="153528" cy="14601"/>
            </a:xfrm>
            <a:custGeom>
              <a:avLst/>
              <a:gdLst>
                <a:gd name="T0" fmla="*/ 0 w 96"/>
                <a:gd name="T1" fmla="*/ 0 h 12"/>
                <a:gd name="T2" fmla="*/ 24 w 96"/>
                <a:gd name="T3" fmla="*/ 6 h 12"/>
                <a:gd name="T4" fmla="*/ 48 w 96"/>
                <a:gd name="T5" fmla="*/ 12 h 12"/>
                <a:gd name="T6" fmla="*/ 72 w 96"/>
                <a:gd name="T7" fmla="*/ 6 h 12"/>
                <a:gd name="T8" fmla="*/ 96 w 96"/>
                <a:gd name="T9" fmla="*/ 0 h 12"/>
              </a:gdLst>
              <a:ahLst/>
              <a:cxnLst>
                <a:cxn ang="0">
                  <a:pos x="T0" y="T1"/>
                </a:cxn>
                <a:cxn ang="0">
                  <a:pos x="T2" y="T3"/>
                </a:cxn>
                <a:cxn ang="0">
                  <a:pos x="T4" y="T5"/>
                </a:cxn>
                <a:cxn ang="0">
                  <a:pos x="T6" y="T7"/>
                </a:cxn>
                <a:cxn ang="0">
                  <a:pos x="T8" y="T9"/>
                </a:cxn>
              </a:cxnLst>
              <a:rect l="0" t="0" r="r" b="b"/>
              <a:pathLst>
                <a:path w="96" h="12">
                  <a:moveTo>
                    <a:pt x="0" y="0"/>
                  </a:moveTo>
                  <a:lnTo>
                    <a:pt x="24" y="6"/>
                  </a:lnTo>
                  <a:lnTo>
                    <a:pt x="48" y="12"/>
                  </a:lnTo>
                  <a:lnTo>
                    <a:pt x="72" y="6"/>
                  </a:lnTo>
                  <a:lnTo>
                    <a:pt x="96"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09" name="Freeform 92"/>
            <p:cNvSpPr/>
            <p:nvPr/>
          </p:nvSpPr>
          <p:spPr bwMode="auto">
            <a:xfrm>
              <a:off x="4333625" y="5048532"/>
              <a:ext cx="143933" cy="109505"/>
            </a:xfrm>
            <a:custGeom>
              <a:avLst/>
              <a:gdLst>
                <a:gd name="T0" fmla="*/ 0 w 90"/>
                <a:gd name="T1" fmla="*/ 90 h 90"/>
                <a:gd name="T2" fmla="*/ 24 w 90"/>
                <a:gd name="T3" fmla="*/ 72 h 90"/>
                <a:gd name="T4" fmla="*/ 48 w 90"/>
                <a:gd name="T5" fmla="*/ 48 h 90"/>
                <a:gd name="T6" fmla="*/ 66 w 90"/>
                <a:gd name="T7" fmla="*/ 18 h 90"/>
                <a:gd name="T8" fmla="*/ 90 w 90"/>
                <a:gd name="T9" fmla="*/ 0 h 90"/>
              </a:gdLst>
              <a:ahLst/>
              <a:cxnLst>
                <a:cxn ang="0">
                  <a:pos x="T0" y="T1"/>
                </a:cxn>
                <a:cxn ang="0">
                  <a:pos x="T2" y="T3"/>
                </a:cxn>
                <a:cxn ang="0">
                  <a:pos x="T4" y="T5"/>
                </a:cxn>
                <a:cxn ang="0">
                  <a:pos x="T6" y="T7"/>
                </a:cxn>
                <a:cxn ang="0">
                  <a:pos x="T8" y="T9"/>
                </a:cxn>
              </a:cxnLst>
              <a:rect l="0" t="0" r="r" b="b"/>
              <a:pathLst>
                <a:path w="90" h="90">
                  <a:moveTo>
                    <a:pt x="0" y="90"/>
                  </a:moveTo>
                  <a:lnTo>
                    <a:pt x="24" y="72"/>
                  </a:lnTo>
                  <a:lnTo>
                    <a:pt x="48" y="48"/>
                  </a:lnTo>
                  <a:lnTo>
                    <a:pt x="66" y="18"/>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0" name="Freeform 93"/>
            <p:cNvSpPr/>
            <p:nvPr/>
          </p:nvSpPr>
          <p:spPr bwMode="auto">
            <a:xfrm>
              <a:off x="4477558" y="4997430"/>
              <a:ext cx="143933" cy="51103"/>
            </a:xfrm>
            <a:custGeom>
              <a:avLst/>
              <a:gdLst>
                <a:gd name="T0" fmla="*/ 0 w 90"/>
                <a:gd name="T1" fmla="*/ 42 h 42"/>
                <a:gd name="T2" fmla="*/ 24 w 90"/>
                <a:gd name="T3" fmla="*/ 24 h 42"/>
                <a:gd name="T4" fmla="*/ 42 w 90"/>
                <a:gd name="T5" fmla="*/ 6 h 42"/>
                <a:gd name="T6" fmla="*/ 66 w 90"/>
                <a:gd name="T7" fmla="*/ 0 h 42"/>
                <a:gd name="T8" fmla="*/ 78 w 90"/>
                <a:gd name="T9" fmla="*/ 0 h 42"/>
                <a:gd name="T10" fmla="*/ 90 w 90"/>
                <a:gd name="T11" fmla="*/ 6 h 42"/>
              </a:gdLst>
              <a:ahLst/>
              <a:cxnLst>
                <a:cxn ang="0">
                  <a:pos x="T0" y="T1"/>
                </a:cxn>
                <a:cxn ang="0">
                  <a:pos x="T2" y="T3"/>
                </a:cxn>
                <a:cxn ang="0">
                  <a:pos x="T4" y="T5"/>
                </a:cxn>
                <a:cxn ang="0">
                  <a:pos x="T6" y="T7"/>
                </a:cxn>
                <a:cxn ang="0">
                  <a:pos x="T8" y="T9"/>
                </a:cxn>
                <a:cxn ang="0">
                  <a:pos x="T10" y="T11"/>
                </a:cxn>
              </a:cxnLst>
              <a:rect l="0" t="0" r="r" b="b"/>
              <a:pathLst>
                <a:path w="90" h="42">
                  <a:moveTo>
                    <a:pt x="0" y="42"/>
                  </a:moveTo>
                  <a:lnTo>
                    <a:pt x="24" y="24"/>
                  </a:lnTo>
                  <a:lnTo>
                    <a:pt x="42" y="6"/>
                  </a:lnTo>
                  <a:lnTo>
                    <a:pt x="66" y="0"/>
                  </a:lnTo>
                  <a:lnTo>
                    <a:pt x="78" y="0"/>
                  </a:lnTo>
                  <a:lnTo>
                    <a:pt x="90" y="6"/>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1" name="Freeform 94"/>
            <p:cNvSpPr/>
            <p:nvPr/>
          </p:nvSpPr>
          <p:spPr bwMode="auto">
            <a:xfrm>
              <a:off x="4621491" y="5004730"/>
              <a:ext cx="143933" cy="197110"/>
            </a:xfrm>
            <a:custGeom>
              <a:avLst/>
              <a:gdLst>
                <a:gd name="T0" fmla="*/ 0 w 90"/>
                <a:gd name="T1" fmla="*/ 0 h 162"/>
                <a:gd name="T2" fmla="*/ 24 w 90"/>
                <a:gd name="T3" fmla="*/ 24 h 162"/>
                <a:gd name="T4" fmla="*/ 42 w 90"/>
                <a:gd name="T5" fmla="*/ 60 h 162"/>
                <a:gd name="T6" fmla="*/ 66 w 90"/>
                <a:gd name="T7" fmla="*/ 102 h 162"/>
                <a:gd name="T8" fmla="*/ 90 w 90"/>
                <a:gd name="T9" fmla="*/ 162 h 162"/>
              </a:gdLst>
              <a:ahLst/>
              <a:cxnLst>
                <a:cxn ang="0">
                  <a:pos x="T0" y="T1"/>
                </a:cxn>
                <a:cxn ang="0">
                  <a:pos x="T2" y="T3"/>
                </a:cxn>
                <a:cxn ang="0">
                  <a:pos x="T4" y="T5"/>
                </a:cxn>
                <a:cxn ang="0">
                  <a:pos x="T6" y="T7"/>
                </a:cxn>
                <a:cxn ang="0">
                  <a:pos x="T8" y="T9"/>
                </a:cxn>
              </a:cxnLst>
              <a:rect l="0" t="0" r="r" b="b"/>
              <a:pathLst>
                <a:path w="90" h="162">
                  <a:moveTo>
                    <a:pt x="0" y="0"/>
                  </a:moveTo>
                  <a:lnTo>
                    <a:pt x="24" y="24"/>
                  </a:lnTo>
                  <a:lnTo>
                    <a:pt x="42" y="60"/>
                  </a:lnTo>
                  <a:lnTo>
                    <a:pt x="66" y="102"/>
                  </a:lnTo>
                  <a:lnTo>
                    <a:pt x="90" y="16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2" name="Freeform 95"/>
            <p:cNvSpPr/>
            <p:nvPr/>
          </p:nvSpPr>
          <p:spPr bwMode="auto">
            <a:xfrm>
              <a:off x="4765423" y="5201840"/>
              <a:ext cx="153528" cy="416121"/>
            </a:xfrm>
            <a:custGeom>
              <a:avLst/>
              <a:gdLst>
                <a:gd name="T0" fmla="*/ 0 w 96"/>
                <a:gd name="T1" fmla="*/ 0 h 342"/>
                <a:gd name="T2" fmla="*/ 12 w 96"/>
                <a:gd name="T3" fmla="*/ 36 h 342"/>
                <a:gd name="T4" fmla="*/ 24 w 96"/>
                <a:gd name="T5" fmla="*/ 72 h 342"/>
                <a:gd name="T6" fmla="*/ 48 w 96"/>
                <a:gd name="T7" fmla="*/ 162 h 342"/>
                <a:gd name="T8" fmla="*/ 72 w 96"/>
                <a:gd name="T9" fmla="*/ 252 h 342"/>
                <a:gd name="T10" fmla="*/ 96 w 96"/>
                <a:gd name="T11" fmla="*/ 342 h 342"/>
              </a:gdLst>
              <a:ahLst/>
              <a:cxnLst>
                <a:cxn ang="0">
                  <a:pos x="T0" y="T1"/>
                </a:cxn>
                <a:cxn ang="0">
                  <a:pos x="T2" y="T3"/>
                </a:cxn>
                <a:cxn ang="0">
                  <a:pos x="T4" y="T5"/>
                </a:cxn>
                <a:cxn ang="0">
                  <a:pos x="T6" y="T7"/>
                </a:cxn>
                <a:cxn ang="0">
                  <a:pos x="T8" y="T9"/>
                </a:cxn>
                <a:cxn ang="0">
                  <a:pos x="T10" y="T11"/>
                </a:cxn>
              </a:cxnLst>
              <a:rect l="0" t="0" r="r" b="b"/>
              <a:pathLst>
                <a:path w="96" h="342">
                  <a:moveTo>
                    <a:pt x="0" y="0"/>
                  </a:moveTo>
                  <a:lnTo>
                    <a:pt x="12" y="36"/>
                  </a:lnTo>
                  <a:lnTo>
                    <a:pt x="24" y="72"/>
                  </a:lnTo>
                  <a:lnTo>
                    <a:pt x="48" y="162"/>
                  </a:lnTo>
                  <a:lnTo>
                    <a:pt x="72" y="252"/>
                  </a:lnTo>
                  <a:lnTo>
                    <a:pt x="96" y="34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3" name="Freeform 96"/>
            <p:cNvSpPr/>
            <p:nvPr/>
          </p:nvSpPr>
          <p:spPr bwMode="auto">
            <a:xfrm>
              <a:off x="4918952" y="5617960"/>
              <a:ext cx="143933" cy="423421"/>
            </a:xfrm>
            <a:custGeom>
              <a:avLst/>
              <a:gdLst>
                <a:gd name="T0" fmla="*/ 0 w 90"/>
                <a:gd name="T1" fmla="*/ 0 h 348"/>
                <a:gd name="T2" fmla="*/ 24 w 90"/>
                <a:gd name="T3" fmla="*/ 90 h 348"/>
                <a:gd name="T4" fmla="*/ 48 w 90"/>
                <a:gd name="T5" fmla="*/ 186 h 348"/>
                <a:gd name="T6" fmla="*/ 66 w 90"/>
                <a:gd name="T7" fmla="*/ 276 h 348"/>
                <a:gd name="T8" fmla="*/ 78 w 90"/>
                <a:gd name="T9" fmla="*/ 312 h 348"/>
                <a:gd name="T10" fmla="*/ 90 w 90"/>
                <a:gd name="T11" fmla="*/ 348 h 348"/>
              </a:gdLst>
              <a:ahLst/>
              <a:cxnLst>
                <a:cxn ang="0">
                  <a:pos x="T0" y="T1"/>
                </a:cxn>
                <a:cxn ang="0">
                  <a:pos x="T2" y="T3"/>
                </a:cxn>
                <a:cxn ang="0">
                  <a:pos x="T4" y="T5"/>
                </a:cxn>
                <a:cxn ang="0">
                  <a:pos x="T6" y="T7"/>
                </a:cxn>
                <a:cxn ang="0">
                  <a:pos x="T8" y="T9"/>
                </a:cxn>
                <a:cxn ang="0">
                  <a:pos x="T10" y="T11"/>
                </a:cxn>
              </a:cxnLst>
              <a:rect l="0" t="0" r="r" b="b"/>
              <a:pathLst>
                <a:path w="90" h="348">
                  <a:moveTo>
                    <a:pt x="0" y="0"/>
                  </a:moveTo>
                  <a:lnTo>
                    <a:pt x="24" y="90"/>
                  </a:lnTo>
                  <a:lnTo>
                    <a:pt x="48" y="186"/>
                  </a:lnTo>
                  <a:lnTo>
                    <a:pt x="66" y="276"/>
                  </a:lnTo>
                  <a:lnTo>
                    <a:pt x="78" y="312"/>
                  </a:lnTo>
                  <a:lnTo>
                    <a:pt x="90" y="348"/>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4" name="Freeform 97"/>
            <p:cNvSpPr/>
            <p:nvPr/>
          </p:nvSpPr>
          <p:spPr bwMode="auto">
            <a:xfrm>
              <a:off x="5062884" y="6041381"/>
              <a:ext cx="143933" cy="197110"/>
            </a:xfrm>
            <a:custGeom>
              <a:avLst/>
              <a:gdLst>
                <a:gd name="T0" fmla="*/ 0 w 90"/>
                <a:gd name="T1" fmla="*/ 0 h 162"/>
                <a:gd name="T2" fmla="*/ 24 w 90"/>
                <a:gd name="T3" fmla="*/ 60 h 162"/>
                <a:gd name="T4" fmla="*/ 42 w 90"/>
                <a:gd name="T5" fmla="*/ 102 h 162"/>
                <a:gd name="T6" fmla="*/ 66 w 90"/>
                <a:gd name="T7" fmla="*/ 138 h 162"/>
                <a:gd name="T8" fmla="*/ 90 w 90"/>
                <a:gd name="T9" fmla="*/ 162 h 162"/>
              </a:gdLst>
              <a:ahLst/>
              <a:cxnLst>
                <a:cxn ang="0">
                  <a:pos x="T0" y="T1"/>
                </a:cxn>
                <a:cxn ang="0">
                  <a:pos x="T2" y="T3"/>
                </a:cxn>
                <a:cxn ang="0">
                  <a:pos x="T4" y="T5"/>
                </a:cxn>
                <a:cxn ang="0">
                  <a:pos x="T6" y="T7"/>
                </a:cxn>
                <a:cxn ang="0">
                  <a:pos x="T8" y="T9"/>
                </a:cxn>
              </a:cxnLst>
              <a:rect l="0" t="0" r="r" b="b"/>
              <a:pathLst>
                <a:path w="90" h="162">
                  <a:moveTo>
                    <a:pt x="0" y="0"/>
                  </a:moveTo>
                  <a:lnTo>
                    <a:pt x="24" y="60"/>
                  </a:lnTo>
                  <a:lnTo>
                    <a:pt x="42" y="102"/>
                  </a:lnTo>
                  <a:lnTo>
                    <a:pt x="66" y="138"/>
                  </a:lnTo>
                  <a:lnTo>
                    <a:pt x="90" y="16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5" name="Freeform 98"/>
            <p:cNvSpPr/>
            <p:nvPr/>
          </p:nvSpPr>
          <p:spPr bwMode="auto">
            <a:xfrm>
              <a:off x="5206817" y="6194689"/>
              <a:ext cx="153528" cy="51103"/>
            </a:xfrm>
            <a:custGeom>
              <a:avLst/>
              <a:gdLst>
                <a:gd name="T0" fmla="*/ 0 w 96"/>
                <a:gd name="T1" fmla="*/ 36 h 42"/>
                <a:gd name="T2" fmla="*/ 12 w 96"/>
                <a:gd name="T3" fmla="*/ 42 h 42"/>
                <a:gd name="T4" fmla="*/ 24 w 96"/>
                <a:gd name="T5" fmla="*/ 42 h 42"/>
                <a:gd name="T6" fmla="*/ 48 w 96"/>
                <a:gd name="T7" fmla="*/ 36 h 42"/>
                <a:gd name="T8" fmla="*/ 72 w 96"/>
                <a:gd name="T9" fmla="*/ 18 h 42"/>
                <a:gd name="T10" fmla="*/ 96 w 96"/>
                <a:gd name="T11" fmla="*/ 0 h 42"/>
              </a:gdLst>
              <a:ahLst/>
              <a:cxnLst>
                <a:cxn ang="0">
                  <a:pos x="T0" y="T1"/>
                </a:cxn>
                <a:cxn ang="0">
                  <a:pos x="T2" y="T3"/>
                </a:cxn>
                <a:cxn ang="0">
                  <a:pos x="T4" y="T5"/>
                </a:cxn>
                <a:cxn ang="0">
                  <a:pos x="T6" y="T7"/>
                </a:cxn>
                <a:cxn ang="0">
                  <a:pos x="T8" y="T9"/>
                </a:cxn>
                <a:cxn ang="0">
                  <a:pos x="T10" y="T11"/>
                </a:cxn>
              </a:cxnLst>
              <a:rect l="0" t="0" r="r" b="b"/>
              <a:pathLst>
                <a:path w="96" h="42">
                  <a:moveTo>
                    <a:pt x="0" y="36"/>
                  </a:moveTo>
                  <a:lnTo>
                    <a:pt x="12" y="42"/>
                  </a:lnTo>
                  <a:lnTo>
                    <a:pt x="24" y="42"/>
                  </a:lnTo>
                  <a:lnTo>
                    <a:pt x="48" y="36"/>
                  </a:lnTo>
                  <a:lnTo>
                    <a:pt x="72" y="18"/>
                  </a:lnTo>
                  <a:lnTo>
                    <a:pt x="96"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6" name="Freeform 99"/>
            <p:cNvSpPr/>
            <p:nvPr/>
          </p:nvSpPr>
          <p:spPr bwMode="auto">
            <a:xfrm>
              <a:off x="5360345" y="6085184"/>
              <a:ext cx="143933" cy="109505"/>
            </a:xfrm>
            <a:custGeom>
              <a:avLst/>
              <a:gdLst>
                <a:gd name="T0" fmla="*/ 0 w 90"/>
                <a:gd name="T1" fmla="*/ 90 h 90"/>
                <a:gd name="T2" fmla="*/ 24 w 90"/>
                <a:gd name="T3" fmla="*/ 72 h 90"/>
                <a:gd name="T4" fmla="*/ 48 w 90"/>
                <a:gd name="T5" fmla="*/ 42 h 90"/>
                <a:gd name="T6" fmla="*/ 66 w 90"/>
                <a:gd name="T7" fmla="*/ 18 h 90"/>
                <a:gd name="T8" fmla="*/ 90 w 90"/>
                <a:gd name="T9" fmla="*/ 0 h 90"/>
              </a:gdLst>
              <a:ahLst/>
              <a:cxnLst>
                <a:cxn ang="0">
                  <a:pos x="T0" y="T1"/>
                </a:cxn>
                <a:cxn ang="0">
                  <a:pos x="T2" y="T3"/>
                </a:cxn>
                <a:cxn ang="0">
                  <a:pos x="T4" y="T5"/>
                </a:cxn>
                <a:cxn ang="0">
                  <a:pos x="T6" y="T7"/>
                </a:cxn>
                <a:cxn ang="0">
                  <a:pos x="T8" y="T9"/>
                </a:cxn>
              </a:cxnLst>
              <a:rect l="0" t="0" r="r" b="b"/>
              <a:pathLst>
                <a:path w="90" h="90">
                  <a:moveTo>
                    <a:pt x="0" y="90"/>
                  </a:moveTo>
                  <a:lnTo>
                    <a:pt x="24" y="72"/>
                  </a:lnTo>
                  <a:lnTo>
                    <a:pt x="48" y="42"/>
                  </a:lnTo>
                  <a:lnTo>
                    <a:pt x="66" y="18"/>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7" name="Freeform 100"/>
            <p:cNvSpPr/>
            <p:nvPr/>
          </p:nvSpPr>
          <p:spPr bwMode="auto">
            <a:xfrm>
              <a:off x="5504278" y="6070583"/>
              <a:ext cx="143933" cy="14601"/>
            </a:xfrm>
            <a:custGeom>
              <a:avLst/>
              <a:gdLst>
                <a:gd name="T0" fmla="*/ 0 w 90"/>
                <a:gd name="T1" fmla="*/ 12 h 12"/>
                <a:gd name="T2" fmla="*/ 24 w 90"/>
                <a:gd name="T3" fmla="*/ 6 h 12"/>
                <a:gd name="T4" fmla="*/ 42 w 90"/>
                <a:gd name="T5" fmla="*/ 0 h 12"/>
                <a:gd name="T6" fmla="*/ 66 w 90"/>
                <a:gd name="T7" fmla="*/ 6 h 12"/>
                <a:gd name="T8" fmla="*/ 90 w 90"/>
                <a:gd name="T9" fmla="*/ 12 h 12"/>
              </a:gdLst>
              <a:ahLst/>
              <a:cxnLst>
                <a:cxn ang="0">
                  <a:pos x="T0" y="T1"/>
                </a:cxn>
                <a:cxn ang="0">
                  <a:pos x="T2" y="T3"/>
                </a:cxn>
                <a:cxn ang="0">
                  <a:pos x="T4" y="T5"/>
                </a:cxn>
                <a:cxn ang="0">
                  <a:pos x="T6" y="T7"/>
                </a:cxn>
                <a:cxn ang="0">
                  <a:pos x="T8" y="T9"/>
                </a:cxn>
              </a:cxnLst>
              <a:rect l="0" t="0" r="r" b="b"/>
              <a:pathLst>
                <a:path w="90" h="12">
                  <a:moveTo>
                    <a:pt x="0" y="12"/>
                  </a:moveTo>
                  <a:lnTo>
                    <a:pt x="24" y="6"/>
                  </a:lnTo>
                  <a:lnTo>
                    <a:pt x="42" y="0"/>
                  </a:lnTo>
                  <a:lnTo>
                    <a:pt x="66" y="6"/>
                  </a:lnTo>
                  <a:lnTo>
                    <a:pt x="90" y="1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8" name="Freeform 101"/>
            <p:cNvSpPr/>
            <p:nvPr/>
          </p:nvSpPr>
          <p:spPr bwMode="auto">
            <a:xfrm>
              <a:off x="5648211" y="6085184"/>
              <a:ext cx="153528" cy="109505"/>
            </a:xfrm>
            <a:custGeom>
              <a:avLst/>
              <a:gdLst>
                <a:gd name="T0" fmla="*/ 0 w 96"/>
                <a:gd name="T1" fmla="*/ 0 h 90"/>
                <a:gd name="T2" fmla="*/ 24 w 96"/>
                <a:gd name="T3" fmla="*/ 18 h 90"/>
                <a:gd name="T4" fmla="*/ 48 w 96"/>
                <a:gd name="T5" fmla="*/ 42 h 90"/>
                <a:gd name="T6" fmla="*/ 72 w 96"/>
                <a:gd name="T7" fmla="*/ 72 h 90"/>
                <a:gd name="T8" fmla="*/ 96 w 96"/>
                <a:gd name="T9" fmla="*/ 90 h 90"/>
              </a:gdLst>
              <a:ahLst/>
              <a:cxnLst>
                <a:cxn ang="0">
                  <a:pos x="T0" y="T1"/>
                </a:cxn>
                <a:cxn ang="0">
                  <a:pos x="T2" y="T3"/>
                </a:cxn>
                <a:cxn ang="0">
                  <a:pos x="T4" y="T5"/>
                </a:cxn>
                <a:cxn ang="0">
                  <a:pos x="T6" y="T7"/>
                </a:cxn>
                <a:cxn ang="0">
                  <a:pos x="T8" y="T9"/>
                </a:cxn>
              </a:cxnLst>
              <a:rect l="0" t="0" r="r" b="b"/>
              <a:pathLst>
                <a:path w="96" h="90">
                  <a:moveTo>
                    <a:pt x="0" y="0"/>
                  </a:moveTo>
                  <a:lnTo>
                    <a:pt x="24" y="18"/>
                  </a:lnTo>
                  <a:lnTo>
                    <a:pt x="48" y="42"/>
                  </a:lnTo>
                  <a:lnTo>
                    <a:pt x="72" y="72"/>
                  </a:lnTo>
                  <a:lnTo>
                    <a:pt x="96" y="9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19" name="Freeform 102"/>
            <p:cNvSpPr/>
            <p:nvPr/>
          </p:nvSpPr>
          <p:spPr bwMode="auto">
            <a:xfrm>
              <a:off x="5801739" y="6194689"/>
              <a:ext cx="143933" cy="51103"/>
            </a:xfrm>
            <a:custGeom>
              <a:avLst/>
              <a:gdLst>
                <a:gd name="T0" fmla="*/ 0 w 90"/>
                <a:gd name="T1" fmla="*/ 0 h 42"/>
                <a:gd name="T2" fmla="*/ 24 w 90"/>
                <a:gd name="T3" fmla="*/ 18 h 42"/>
                <a:gd name="T4" fmla="*/ 48 w 90"/>
                <a:gd name="T5" fmla="*/ 36 h 42"/>
                <a:gd name="T6" fmla="*/ 66 w 90"/>
                <a:gd name="T7" fmla="*/ 42 h 42"/>
                <a:gd name="T8" fmla="*/ 78 w 90"/>
                <a:gd name="T9" fmla="*/ 42 h 42"/>
                <a:gd name="T10" fmla="*/ 90 w 90"/>
                <a:gd name="T11" fmla="*/ 36 h 42"/>
              </a:gdLst>
              <a:ahLst/>
              <a:cxnLst>
                <a:cxn ang="0">
                  <a:pos x="T0" y="T1"/>
                </a:cxn>
                <a:cxn ang="0">
                  <a:pos x="T2" y="T3"/>
                </a:cxn>
                <a:cxn ang="0">
                  <a:pos x="T4" y="T5"/>
                </a:cxn>
                <a:cxn ang="0">
                  <a:pos x="T6" y="T7"/>
                </a:cxn>
                <a:cxn ang="0">
                  <a:pos x="T8" y="T9"/>
                </a:cxn>
                <a:cxn ang="0">
                  <a:pos x="T10" y="T11"/>
                </a:cxn>
              </a:cxnLst>
              <a:rect l="0" t="0" r="r" b="b"/>
              <a:pathLst>
                <a:path w="90" h="42">
                  <a:moveTo>
                    <a:pt x="0" y="0"/>
                  </a:moveTo>
                  <a:lnTo>
                    <a:pt x="24" y="18"/>
                  </a:lnTo>
                  <a:lnTo>
                    <a:pt x="48" y="36"/>
                  </a:lnTo>
                  <a:lnTo>
                    <a:pt x="66" y="42"/>
                  </a:lnTo>
                  <a:lnTo>
                    <a:pt x="78" y="42"/>
                  </a:lnTo>
                  <a:lnTo>
                    <a:pt x="90" y="36"/>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0" name="Freeform 103"/>
            <p:cNvSpPr/>
            <p:nvPr/>
          </p:nvSpPr>
          <p:spPr bwMode="auto">
            <a:xfrm>
              <a:off x="5945672" y="6041381"/>
              <a:ext cx="143933" cy="197110"/>
            </a:xfrm>
            <a:custGeom>
              <a:avLst/>
              <a:gdLst>
                <a:gd name="T0" fmla="*/ 0 w 90"/>
                <a:gd name="T1" fmla="*/ 162 h 162"/>
                <a:gd name="T2" fmla="*/ 24 w 90"/>
                <a:gd name="T3" fmla="*/ 138 h 162"/>
                <a:gd name="T4" fmla="*/ 42 w 90"/>
                <a:gd name="T5" fmla="*/ 102 h 162"/>
                <a:gd name="T6" fmla="*/ 66 w 90"/>
                <a:gd name="T7" fmla="*/ 60 h 162"/>
                <a:gd name="T8" fmla="*/ 90 w 90"/>
                <a:gd name="T9" fmla="*/ 0 h 162"/>
              </a:gdLst>
              <a:ahLst/>
              <a:cxnLst>
                <a:cxn ang="0">
                  <a:pos x="T0" y="T1"/>
                </a:cxn>
                <a:cxn ang="0">
                  <a:pos x="T2" y="T3"/>
                </a:cxn>
                <a:cxn ang="0">
                  <a:pos x="T4" y="T5"/>
                </a:cxn>
                <a:cxn ang="0">
                  <a:pos x="T6" y="T7"/>
                </a:cxn>
                <a:cxn ang="0">
                  <a:pos x="T8" y="T9"/>
                </a:cxn>
              </a:cxnLst>
              <a:rect l="0" t="0" r="r" b="b"/>
              <a:pathLst>
                <a:path w="90" h="162">
                  <a:moveTo>
                    <a:pt x="0" y="162"/>
                  </a:moveTo>
                  <a:lnTo>
                    <a:pt x="24" y="138"/>
                  </a:lnTo>
                  <a:lnTo>
                    <a:pt x="42" y="102"/>
                  </a:lnTo>
                  <a:lnTo>
                    <a:pt x="66" y="60"/>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1" name="Freeform 104"/>
            <p:cNvSpPr/>
            <p:nvPr/>
          </p:nvSpPr>
          <p:spPr bwMode="auto">
            <a:xfrm>
              <a:off x="6089604" y="5625261"/>
              <a:ext cx="153528" cy="416121"/>
            </a:xfrm>
            <a:custGeom>
              <a:avLst/>
              <a:gdLst>
                <a:gd name="T0" fmla="*/ 0 w 96"/>
                <a:gd name="T1" fmla="*/ 342 h 342"/>
                <a:gd name="T2" fmla="*/ 12 w 96"/>
                <a:gd name="T3" fmla="*/ 306 h 342"/>
                <a:gd name="T4" fmla="*/ 24 w 96"/>
                <a:gd name="T5" fmla="*/ 270 h 342"/>
                <a:gd name="T6" fmla="*/ 48 w 96"/>
                <a:gd name="T7" fmla="*/ 180 h 342"/>
                <a:gd name="T8" fmla="*/ 72 w 96"/>
                <a:gd name="T9" fmla="*/ 90 h 342"/>
                <a:gd name="T10" fmla="*/ 96 w 96"/>
                <a:gd name="T11" fmla="*/ 0 h 342"/>
              </a:gdLst>
              <a:ahLst/>
              <a:cxnLst>
                <a:cxn ang="0">
                  <a:pos x="T0" y="T1"/>
                </a:cxn>
                <a:cxn ang="0">
                  <a:pos x="T2" y="T3"/>
                </a:cxn>
                <a:cxn ang="0">
                  <a:pos x="T4" y="T5"/>
                </a:cxn>
                <a:cxn ang="0">
                  <a:pos x="T6" y="T7"/>
                </a:cxn>
                <a:cxn ang="0">
                  <a:pos x="T8" y="T9"/>
                </a:cxn>
                <a:cxn ang="0">
                  <a:pos x="T10" y="T11"/>
                </a:cxn>
              </a:cxnLst>
              <a:rect l="0" t="0" r="r" b="b"/>
              <a:pathLst>
                <a:path w="96" h="342">
                  <a:moveTo>
                    <a:pt x="0" y="342"/>
                  </a:moveTo>
                  <a:lnTo>
                    <a:pt x="12" y="306"/>
                  </a:lnTo>
                  <a:lnTo>
                    <a:pt x="24" y="270"/>
                  </a:lnTo>
                  <a:lnTo>
                    <a:pt x="48" y="180"/>
                  </a:lnTo>
                  <a:lnTo>
                    <a:pt x="72" y="90"/>
                  </a:lnTo>
                  <a:lnTo>
                    <a:pt x="96"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2" name="Freeform 105"/>
            <p:cNvSpPr/>
            <p:nvPr/>
          </p:nvSpPr>
          <p:spPr bwMode="auto">
            <a:xfrm>
              <a:off x="6243133" y="5201840"/>
              <a:ext cx="143933" cy="423421"/>
            </a:xfrm>
            <a:custGeom>
              <a:avLst/>
              <a:gdLst>
                <a:gd name="T0" fmla="*/ 0 w 90"/>
                <a:gd name="T1" fmla="*/ 348 h 348"/>
                <a:gd name="T2" fmla="*/ 24 w 90"/>
                <a:gd name="T3" fmla="*/ 258 h 348"/>
                <a:gd name="T4" fmla="*/ 48 w 90"/>
                <a:gd name="T5" fmla="*/ 162 h 348"/>
                <a:gd name="T6" fmla="*/ 66 w 90"/>
                <a:gd name="T7" fmla="*/ 72 h 348"/>
                <a:gd name="T8" fmla="*/ 78 w 90"/>
                <a:gd name="T9" fmla="*/ 36 h 348"/>
                <a:gd name="T10" fmla="*/ 90 w 90"/>
                <a:gd name="T11" fmla="*/ 0 h 348"/>
              </a:gdLst>
              <a:ahLst/>
              <a:cxnLst>
                <a:cxn ang="0">
                  <a:pos x="T0" y="T1"/>
                </a:cxn>
                <a:cxn ang="0">
                  <a:pos x="T2" y="T3"/>
                </a:cxn>
                <a:cxn ang="0">
                  <a:pos x="T4" y="T5"/>
                </a:cxn>
                <a:cxn ang="0">
                  <a:pos x="T6" y="T7"/>
                </a:cxn>
                <a:cxn ang="0">
                  <a:pos x="T8" y="T9"/>
                </a:cxn>
                <a:cxn ang="0">
                  <a:pos x="T10" y="T11"/>
                </a:cxn>
              </a:cxnLst>
              <a:rect l="0" t="0" r="r" b="b"/>
              <a:pathLst>
                <a:path w="90" h="348">
                  <a:moveTo>
                    <a:pt x="0" y="348"/>
                  </a:moveTo>
                  <a:lnTo>
                    <a:pt x="24" y="258"/>
                  </a:lnTo>
                  <a:lnTo>
                    <a:pt x="48" y="162"/>
                  </a:lnTo>
                  <a:lnTo>
                    <a:pt x="66" y="72"/>
                  </a:lnTo>
                  <a:lnTo>
                    <a:pt x="78" y="36"/>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3" name="Freeform 106"/>
            <p:cNvSpPr/>
            <p:nvPr/>
          </p:nvSpPr>
          <p:spPr bwMode="auto">
            <a:xfrm>
              <a:off x="6387065" y="5004730"/>
              <a:ext cx="143933" cy="197110"/>
            </a:xfrm>
            <a:custGeom>
              <a:avLst/>
              <a:gdLst>
                <a:gd name="T0" fmla="*/ 0 w 90"/>
                <a:gd name="T1" fmla="*/ 162 h 162"/>
                <a:gd name="T2" fmla="*/ 24 w 90"/>
                <a:gd name="T3" fmla="*/ 102 h 162"/>
                <a:gd name="T4" fmla="*/ 42 w 90"/>
                <a:gd name="T5" fmla="*/ 60 h 162"/>
                <a:gd name="T6" fmla="*/ 66 w 90"/>
                <a:gd name="T7" fmla="*/ 24 h 162"/>
                <a:gd name="T8" fmla="*/ 90 w 90"/>
                <a:gd name="T9" fmla="*/ 0 h 162"/>
              </a:gdLst>
              <a:ahLst/>
              <a:cxnLst>
                <a:cxn ang="0">
                  <a:pos x="T0" y="T1"/>
                </a:cxn>
                <a:cxn ang="0">
                  <a:pos x="T2" y="T3"/>
                </a:cxn>
                <a:cxn ang="0">
                  <a:pos x="T4" y="T5"/>
                </a:cxn>
                <a:cxn ang="0">
                  <a:pos x="T6" y="T7"/>
                </a:cxn>
                <a:cxn ang="0">
                  <a:pos x="T8" y="T9"/>
                </a:cxn>
              </a:cxnLst>
              <a:rect l="0" t="0" r="r" b="b"/>
              <a:pathLst>
                <a:path w="90" h="162">
                  <a:moveTo>
                    <a:pt x="0" y="162"/>
                  </a:moveTo>
                  <a:lnTo>
                    <a:pt x="24" y="102"/>
                  </a:lnTo>
                  <a:lnTo>
                    <a:pt x="42" y="60"/>
                  </a:lnTo>
                  <a:lnTo>
                    <a:pt x="66" y="24"/>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4" name="Freeform 107"/>
            <p:cNvSpPr/>
            <p:nvPr/>
          </p:nvSpPr>
          <p:spPr bwMode="auto">
            <a:xfrm>
              <a:off x="6530998" y="4997430"/>
              <a:ext cx="143933" cy="51103"/>
            </a:xfrm>
            <a:custGeom>
              <a:avLst/>
              <a:gdLst>
                <a:gd name="T0" fmla="*/ 0 w 90"/>
                <a:gd name="T1" fmla="*/ 6 h 42"/>
                <a:gd name="T2" fmla="*/ 12 w 90"/>
                <a:gd name="T3" fmla="*/ 0 h 42"/>
                <a:gd name="T4" fmla="*/ 24 w 90"/>
                <a:gd name="T5" fmla="*/ 0 h 42"/>
                <a:gd name="T6" fmla="*/ 42 w 90"/>
                <a:gd name="T7" fmla="*/ 6 h 42"/>
                <a:gd name="T8" fmla="*/ 66 w 90"/>
                <a:gd name="T9" fmla="*/ 24 h 42"/>
                <a:gd name="T10" fmla="*/ 90 w 90"/>
                <a:gd name="T11" fmla="*/ 42 h 42"/>
              </a:gdLst>
              <a:ahLst/>
              <a:cxnLst>
                <a:cxn ang="0">
                  <a:pos x="T0" y="T1"/>
                </a:cxn>
                <a:cxn ang="0">
                  <a:pos x="T2" y="T3"/>
                </a:cxn>
                <a:cxn ang="0">
                  <a:pos x="T4" y="T5"/>
                </a:cxn>
                <a:cxn ang="0">
                  <a:pos x="T6" y="T7"/>
                </a:cxn>
                <a:cxn ang="0">
                  <a:pos x="T8" y="T9"/>
                </a:cxn>
                <a:cxn ang="0">
                  <a:pos x="T10" y="T11"/>
                </a:cxn>
              </a:cxnLst>
              <a:rect l="0" t="0" r="r" b="b"/>
              <a:pathLst>
                <a:path w="90" h="42">
                  <a:moveTo>
                    <a:pt x="0" y="6"/>
                  </a:moveTo>
                  <a:lnTo>
                    <a:pt x="12" y="0"/>
                  </a:lnTo>
                  <a:lnTo>
                    <a:pt x="24" y="0"/>
                  </a:lnTo>
                  <a:lnTo>
                    <a:pt x="42" y="6"/>
                  </a:lnTo>
                  <a:lnTo>
                    <a:pt x="66" y="24"/>
                  </a:lnTo>
                  <a:lnTo>
                    <a:pt x="90" y="4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5" name="Freeform 108"/>
            <p:cNvSpPr/>
            <p:nvPr/>
          </p:nvSpPr>
          <p:spPr bwMode="auto">
            <a:xfrm>
              <a:off x="6674931" y="5048532"/>
              <a:ext cx="153528" cy="109505"/>
            </a:xfrm>
            <a:custGeom>
              <a:avLst/>
              <a:gdLst>
                <a:gd name="T0" fmla="*/ 0 w 96"/>
                <a:gd name="T1" fmla="*/ 0 h 90"/>
                <a:gd name="T2" fmla="*/ 24 w 96"/>
                <a:gd name="T3" fmla="*/ 18 h 90"/>
                <a:gd name="T4" fmla="*/ 48 w 96"/>
                <a:gd name="T5" fmla="*/ 48 h 90"/>
                <a:gd name="T6" fmla="*/ 72 w 96"/>
                <a:gd name="T7" fmla="*/ 72 h 90"/>
                <a:gd name="T8" fmla="*/ 96 w 96"/>
                <a:gd name="T9" fmla="*/ 90 h 90"/>
              </a:gdLst>
              <a:ahLst/>
              <a:cxnLst>
                <a:cxn ang="0">
                  <a:pos x="T0" y="T1"/>
                </a:cxn>
                <a:cxn ang="0">
                  <a:pos x="T2" y="T3"/>
                </a:cxn>
                <a:cxn ang="0">
                  <a:pos x="T4" y="T5"/>
                </a:cxn>
                <a:cxn ang="0">
                  <a:pos x="T6" y="T7"/>
                </a:cxn>
                <a:cxn ang="0">
                  <a:pos x="T8" y="T9"/>
                </a:cxn>
              </a:cxnLst>
              <a:rect l="0" t="0" r="r" b="b"/>
              <a:pathLst>
                <a:path w="96" h="90">
                  <a:moveTo>
                    <a:pt x="0" y="0"/>
                  </a:moveTo>
                  <a:lnTo>
                    <a:pt x="24" y="18"/>
                  </a:lnTo>
                  <a:lnTo>
                    <a:pt x="48" y="48"/>
                  </a:lnTo>
                  <a:lnTo>
                    <a:pt x="72" y="72"/>
                  </a:lnTo>
                  <a:lnTo>
                    <a:pt x="96" y="9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6" name="Freeform 109"/>
            <p:cNvSpPr/>
            <p:nvPr/>
          </p:nvSpPr>
          <p:spPr bwMode="auto">
            <a:xfrm>
              <a:off x="6828459" y="5158038"/>
              <a:ext cx="143933" cy="14601"/>
            </a:xfrm>
            <a:custGeom>
              <a:avLst/>
              <a:gdLst>
                <a:gd name="T0" fmla="*/ 0 w 90"/>
                <a:gd name="T1" fmla="*/ 0 h 12"/>
                <a:gd name="T2" fmla="*/ 24 w 90"/>
                <a:gd name="T3" fmla="*/ 6 h 12"/>
                <a:gd name="T4" fmla="*/ 48 w 90"/>
                <a:gd name="T5" fmla="*/ 12 h 12"/>
                <a:gd name="T6" fmla="*/ 66 w 90"/>
                <a:gd name="T7" fmla="*/ 6 h 12"/>
                <a:gd name="T8" fmla="*/ 90 w 90"/>
                <a:gd name="T9" fmla="*/ 0 h 12"/>
              </a:gdLst>
              <a:ahLst/>
              <a:cxnLst>
                <a:cxn ang="0">
                  <a:pos x="T0" y="T1"/>
                </a:cxn>
                <a:cxn ang="0">
                  <a:pos x="T2" y="T3"/>
                </a:cxn>
                <a:cxn ang="0">
                  <a:pos x="T4" y="T5"/>
                </a:cxn>
                <a:cxn ang="0">
                  <a:pos x="T6" y="T7"/>
                </a:cxn>
                <a:cxn ang="0">
                  <a:pos x="T8" y="T9"/>
                </a:cxn>
              </a:cxnLst>
              <a:rect l="0" t="0" r="r" b="b"/>
              <a:pathLst>
                <a:path w="90" h="12">
                  <a:moveTo>
                    <a:pt x="0" y="0"/>
                  </a:moveTo>
                  <a:lnTo>
                    <a:pt x="24" y="6"/>
                  </a:lnTo>
                  <a:lnTo>
                    <a:pt x="48" y="12"/>
                  </a:lnTo>
                  <a:lnTo>
                    <a:pt x="66" y="6"/>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7" name="Freeform 110"/>
            <p:cNvSpPr/>
            <p:nvPr/>
          </p:nvSpPr>
          <p:spPr bwMode="auto">
            <a:xfrm>
              <a:off x="6972392" y="5048532"/>
              <a:ext cx="143933" cy="109505"/>
            </a:xfrm>
            <a:custGeom>
              <a:avLst/>
              <a:gdLst>
                <a:gd name="T0" fmla="*/ 0 w 90"/>
                <a:gd name="T1" fmla="*/ 90 h 90"/>
                <a:gd name="T2" fmla="*/ 24 w 90"/>
                <a:gd name="T3" fmla="*/ 72 h 90"/>
                <a:gd name="T4" fmla="*/ 42 w 90"/>
                <a:gd name="T5" fmla="*/ 48 h 90"/>
                <a:gd name="T6" fmla="*/ 66 w 90"/>
                <a:gd name="T7" fmla="*/ 18 h 90"/>
                <a:gd name="T8" fmla="*/ 90 w 90"/>
                <a:gd name="T9" fmla="*/ 0 h 90"/>
              </a:gdLst>
              <a:ahLst/>
              <a:cxnLst>
                <a:cxn ang="0">
                  <a:pos x="T0" y="T1"/>
                </a:cxn>
                <a:cxn ang="0">
                  <a:pos x="T2" y="T3"/>
                </a:cxn>
                <a:cxn ang="0">
                  <a:pos x="T4" y="T5"/>
                </a:cxn>
                <a:cxn ang="0">
                  <a:pos x="T6" y="T7"/>
                </a:cxn>
                <a:cxn ang="0">
                  <a:pos x="T8" y="T9"/>
                </a:cxn>
              </a:cxnLst>
              <a:rect l="0" t="0" r="r" b="b"/>
              <a:pathLst>
                <a:path w="90" h="90">
                  <a:moveTo>
                    <a:pt x="0" y="90"/>
                  </a:moveTo>
                  <a:lnTo>
                    <a:pt x="24" y="72"/>
                  </a:lnTo>
                  <a:lnTo>
                    <a:pt x="42" y="48"/>
                  </a:lnTo>
                  <a:lnTo>
                    <a:pt x="66" y="18"/>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8" name="Freeform 111"/>
            <p:cNvSpPr/>
            <p:nvPr/>
          </p:nvSpPr>
          <p:spPr bwMode="auto">
            <a:xfrm>
              <a:off x="7116325" y="4997430"/>
              <a:ext cx="153528" cy="51103"/>
            </a:xfrm>
            <a:custGeom>
              <a:avLst/>
              <a:gdLst>
                <a:gd name="T0" fmla="*/ 0 w 96"/>
                <a:gd name="T1" fmla="*/ 42 h 42"/>
                <a:gd name="T2" fmla="*/ 24 w 96"/>
                <a:gd name="T3" fmla="*/ 24 h 42"/>
                <a:gd name="T4" fmla="*/ 48 w 96"/>
                <a:gd name="T5" fmla="*/ 6 h 42"/>
                <a:gd name="T6" fmla="*/ 72 w 96"/>
                <a:gd name="T7" fmla="*/ 0 h 42"/>
                <a:gd name="T8" fmla="*/ 84 w 96"/>
                <a:gd name="T9" fmla="*/ 0 h 42"/>
                <a:gd name="T10" fmla="*/ 96 w 96"/>
                <a:gd name="T11" fmla="*/ 6 h 42"/>
              </a:gdLst>
              <a:ahLst/>
              <a:cxnLst>
                <a:cxn ang="0">
                  <a:pos x="T0" y="T1"/>
                </a:cxn>
                <a:cxn ang="0">
                  <a:pos x="T2" y="T3"/>
                </a:cxn>
                <a:cxn ang="0">
                  <a:pos x="T4" y="T5"/>
                </a:cxn>
                <a:cxn ang="0">
                  <a:pos x="T6" y="T7"/>
                </a:cxn>
                <a:cxn ang="0">
                  <a:pos x="T8" y="T9"/>
                </a:cxn>
                <a:cxn ang="0">
                  <a:pos x="T10" y="T11"/>
                </a:cxn>
              </a:cxnLst>
              <a:rect l="0" t="0" r="r" b="b"/>
              <a:pathLst>
                <a:path w="96" h="42">
                  <a:moveTo>
                    <a:pt x="0" y="42"/>
                  </a:moveTo>
                  <a:lnTo>
                    <a:pt x="24" y="24"/>
                  </a:lnTo>
                  <a:lnTo>
                    <a:pt x="48" y="6"/>
                  </a:lnTo>
                  <a:lnTo>
                    <a:pt x="72" y="0"/>
                  </a:lnTo>
                  <a:lnTo>
                    <a:pt x="84" y="0"/>
                  </a:lnTo>
                  <a:lnTo>
                    <a:pt x="96" y="6"/>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29" name="Freeform 112"/>
            <p:cNvSpPr/>
            <p:nvPr/>
          </p:nvSpPr>
          <p:spPr bwMode="auto">
            <a:xfrm>
              <a:off x="7269853" y="5004730"/>
              <a:ext cx="143933" cy="197110"/>
            </a:xfrm>
            <a:custGeom>
              <a:avLst/>
              <a:gdLst>
                <a:gd name="T0" fmla="*/ 0 w 90"/>
                <a:gd name="T1" fmla="*/ 0 h 162"/>
                <a:gd name="T2" fmla="*/ 24 w 90"/>
                <a:gd name="T3" fmla="*/ 24 h 162"/>
                <a:gd name="T4" fmla="*/ 48 w 90"/>
                <a:gd name="T5" fmla="*/ 60 h 162"/>
                <a:gd name="T6" fmla="*/ 66 w 90"/>
                <a:gd name="T7" fmla="*/ 102 h 162"/>
                <a:gd name="T8" fmla="*/ 90 w 90"/>
                <a:gd name="T9" fmla="*/ 162 h 162"/>
              </a:gdLst>
              <a:ahLst/>
              <a:cxnLst>
                <a:cxn ang="0">
                  <a:pos x="T0" y="T1"/>
                </a:cxn>
                <a:cxn ang="0">
                  <a:pos x="T2" y="T3"/>
                </a:cxn>
                <a:cxn ang="0">
                  <a:pos x="T4" y="T5"/>
                </a:cxn>
                <a:cxn ang="0">
                  <a:pos x="T6" y="T7"/>
                </a:cxn>
                <a:cxn ang="0">
                  <a:pos x="T8" y="T9"/>
                </a:cxn>
              </a:cxnLst>
              <a:rect l="0" t="0" r="r" b="b"/>
              <a:pathLst>
                <a:path w="90" h="162">
                  <a:moveTo>
                    <a:pt x="0" y="0"/>
                  </a:moveTo>
                  <a:lnTo>
                    <a:pt x="24" y="24"/>
                  </a:lnTo>
                  <a:lnTo>
                    <a:pt x="48" y="60"/>
                  </a:lnTo>
                  <a:lnTo>
                    <a:pt x="66" y="102"/>
                  </a:lnTo>
                  <a:lnTo>
                    <a:pt x="90" y="16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0" name="Freeform 113"/>
            <p:cNvSpPr/>
            <p:nvPr/>
          </p:nvSpPr>
          <p:spPr bwMode="auto">
            <a:xfrm>
              <a:off x="7413786" y="5201840"/>
              <a:ext cx="143933" cy="416121"/>
            </a:xfrm>
            <a:custGeom>
              <a:avLst/>
              <a:gdLst>
                <a:gd name="T0" fmla="*/ 0 w 90"/>
                <a:gd name="T1" fmla="*/ 0 h 342"/>
                <a:gd name="T2" fmla="*/ 12 w 90"/>
                <a:gd name="T3" fmla="*/ 36 h 342"/>
                <a:gd name="T4" fmla="*/ 24 w 90"/>
                <a:gd name="T5" fmla="*/ 72 h 342"/>
                <a:gd name="T6" fmla="*/ 42 w 90"/>
                <a:gd name="T7" fmla="*/ 162 h 342"/>
                <a:gd name="T8" fmla="*/ 66 w 90"/>
                <a:gd name="T9" fmla="*/ 252 h 342"/>
                <a:gd name="T10" fmla="*/ 90 w 90"/>
                <a:gd name="T11" fmla="*/ 342 h 342"/>
              </a:gdLst>
              <a:ahLst/>
              <a:cxnLst>
                <a:cxn ang="0">
                  <a:pos x="T0" y="T1"/>
                </a:cxn>
                <a:cxn ang="0">
                  <a:pos x="T2" y="T3"/>
                </a:cxn>
                <a:cxn ang="0">
                  <a:pos x="T4" y="T5"/>
                </a:cxn>
                <a:cxn ang="0">
                  <a:pos x="T6" y="T7"/>
                </a:cxn>
                <a:cxn ang="0">
                  <a:pos x="T8" y="T9"/>
                </a:cxn>
                <a:cxn ang="0">
                  <a:pos x="T10" y="T11"/>
                </a:cxn>
              </a:cxnLst>
              <a:rect l="0" t="0" r="r" b="b"/>
              <a:pathLst>
                <a:path w="90" h="342">
                  <a:moveTo>
                    <a:pt x="0" y="0"/>
                  </a:moveTo>
                  <a:lnTo>
                    <a:pt x="12" y="36"/>
                  </a:lnTo>
                  <a:lnTo>
                    <a:pt x="24" y="72"/>
                  </a:lnTo>
                  <a:lnTo>
                    <a:pt x="42" y="162"/>
                  </a:lnTo>
                  <a:lnTo>
                    <a:pt x="66" y="252"/>
                  </a:lnTo>
                  <a:lnTo>
                    <a:pt x="90" y="34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1" name="Freeform 114"/>
            <p:cNvSpPr/>
            <p:nvPr/>
          </p:nvSpPr>
          <p:spPr bwMode="auto">
            <a:xfrm>
              <a:off x="7557718" y="5617960"/>
              <a:ext cx="153528" cy="423421"/>
            </a:xfrm>
            <a:custGeom>
              <a:avLst/>
              <a:gdLst>
                <a:gd name="T0" fmla="*/ 0 w 96"/>
                <a:gd name="T1" fmla="*/ 0 h 348"/>
                <a:gd name="T2" fmla="*/ 24 w 96"/>
                <a:gd name="T3" fmla="*/ 90 h 348"/>
                <a:gd name="T4" fmla="*/ 48 w 96"/>
                <a:gd name="T5" fmla="*/ 186 h 348"/>
                <a:gd name="T6" fmla="*/ 72 w 96"/>
                <a:gd name="T7" fmla="*/ 276 h 348"/>
                <a:gd name="T8" fmla="*/ 84 w 96"/>
                <a:gd name="T9" fmla="*/ 312 h 348"/>
                <a:gd name="T10" fmla="*/ 96 w 96"/>
                <a:gd name="T11" fmla="*/ 348 h 348"/>
              </a:gdLst>
              <a:ahLst/>
              <a:cxnLst>
                <a:cxn ang="0">
                  <a:pos x="T0" y="T1"/>
                </a:cxn>
                <a:cxn ang="0">
                  <a:pos x="T2" y="T3"/>
                </a:cxn>
                <a:cxn ang="0">
                  <a:pos x="T4" y="T5"/>
                </a:cxn>
                <a:cxn ang="0">
                  <a:pos x="T6" y="T7"/>
                </a:cxn>
                <a:cxn ang="0">
                  <a:pos x="T8" y="T9"/>
                </a:cxn>
                <a:cxn ang="0">
                  <a:pos x="T10" y="T11"/>
                </a:cxn>
              </a:cxnLst>
              <a:rect l="0" t="0" r="r" b="b"/>
              <a:pathLst>
                <a:path w="96" h="348">
                  <a:moveTo>
                    <a:pt x="0" y="0"/>
                  </a:moveTo>
                  <a:lnTo>
                    <a:pt x="24" y="90"/>
                  </a:lnTo>
                  <a:lnTo>
                    <a:pt x="48" y="186"/>
                  </a:lnTo>
                  <a:lnTo>
                    <a:pt x="72" y="276"/>
                  </a:lnTo>
                  <a:lnTo>
                    <a:pt x="84" y="312"/>
                  </a:lnTo>
                  <a:lnTo>
                    <a:pt x="96" y="348"/>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2" name="Freeform 115"/>
            <p:cNvSpPr/>
            <p:nvPr/>
          </p:nvSpPr>
          <p:spPr bwMode="auto">
            <a:xfrm>
              <a:off x="7711247" y="6041381"/>
              <a:ext cx="143933" cy="197110"/>
            </a:xfrm>
            <a:custGeom>
              <a:avLst/>
              <a:gdLst>
                <a:gd name="T0" fmla="*/ 0 w 90"/>
                <a:gd name="T1" fmla="*/ 0 h 162"/>
                <a:gd name="T2" fmla="*/ 24 w 90"/>
                <a:gd name="T3" fmla="*/ 60 h 162"/>
                <a:gd name="T4" fmla="*/ 48 w 90"/>
                <a:gd name="T5" fmla="*/ 102 h 162"/>
                <a:gd name="T6" fmla="*/ 66 w 90"/>
                <a:gd name="T7" fmla="*/ 138 h 162"/>
                <a:gd name="T8" fmla="*/ 90 w 90"/>
                <a:gd name="T9" fmla="*/ 162 h 162"/>
              </a:gdLst>
              <a:ahLst/>
              <a:cxnLst>
                <a:cxn ang="0">
                  <a:pos x="T0" y="T1"/>
                </a:cxn>
                <a:cxn ang="0">
                  <a:pos x="T2" y="T3"/>
                </a:cxn>
                <a:cxn ang="0">
                  <a:pos x="T4" y="T5"/>
                </a:cxn>
                <a:cxn ang="0">
                  <a:pos x="T6" y="T7"/>
                </a:cxn>
                <a:cxn ang="0">
                  <a:pos x="T8" y="T9"/>
                </a:cxn>
              </a:cxnLst>
              <a:rect l="0" t="0" r="r" b="b"/>
              <a:pathLst>
                <a:path w="90" h="162">
                  <a:moveTo>
                    <a:pt x="0" y="0"/>
                  </a:moveTo>
                  <a:lnTo>
                    <a:pt x="24" y="60"/>
                  </a:lnTo>
                  <a:lnTo>
                    <a:pt x="48" y="102"/>
                  </a:lnTo>
                  <a:lnTo>
                    <a:pt x="66" y="138"/>
                  </a:lnTo>
                  <a:lnTo>
                    <a:pt x="90" y="16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3" name="Freeform 116"/>
            <p:cNvSpPr/>
            <p:nvPr/>
          </p:nvSpPr>
          <p:spPr bwMode="auto">
            <a:xfrm>
              <a:off x="7855179" y="6194689"/>
              <a:ext cx="143933" cy="51103"/>
            </a:xfrm>
            <a:custGeom>
              <a:avLst/>
              <a:gdLst>
                <a:gd name="T0" fmla="*/ 0 w 90"/>
                <a:gd name="T1" fmla="*/ 36 h 42"/>
                <a:gd name="T2" fmla="*/ 12 w 90"/>
                <a:gd name="T3" fmla="*/ 42 h 42"/>
                <a:gd name="T4" fmla="*/ 24 w 90"/>
                <a:gd name="T5" fmla="*/ 42 h 42"/>
                <a:gd name="T6" fmla="*/ 42 w 90"/>
                <a:gd name="T7" fmla="*/ 36 h 42"/>
                <a:gd name="T8" fmla="*/ 66 w 90"/>
                <a:gd name="T9" fmla="*/ 18 h 42"/>
                <a:gd name="T10" fmla="*/ 90 w 90"/>
                <a:gd name="T11" fmla="*/ 0 h 42"/>
              </a:gdLst>
              <a:ahLst/>
              <a:cxnLst>
                <a:cxn ang="0">
                  <a:pos x="T0" y="T1"/>
                </a:cxn>
                <a:cxn ang="0">
                  <a:pos x="T2" y="T3"/>
                </a:cxn>
                <a:cxn ang="0">
                  <a:pos x="T4" y="T5"/>
                </a:cxn>
                <a:cxn ang="0">
                  <a:pos x="T6" y="T7"/>
                </a:cxn>
                <a:cxn ang="0">
                  <a:pos x="T8" y="T9"/>
                </a:cxn>
                <a:cxn ang="0">
                  <a:pos x="T10" y="T11"/>
                </a:cxn>
              </a:cxnLst>
              <a:rect l="0" t="0" r="r" b="b"/>
              <a:pathLst>
                <a:path w="90" h="42">
                  <a:moveTo>
                    <a:pt x="0" y="36"/>
                  </a:moveTo>
                  <a:lnTo>
                    <a:pt x="12" y="42"/>
                  </a:lnTo>
                  <a:lnTo>
                    <a:pt x="24" y="42"/>
                  </a:lnTo>
                  <a:lnTo>
                    <a:pt x="42" y="36"/>
                  </a:lnTo>
                  <a:lnTo>
                    <a:pt x="66" y="18"/>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4" name="Freeform 117"/>
            <p:cNvSpPr/>
            <p:nvPr/>
          </p:nvSpPr>
          <p:spPr bwMode="auto">
            <a:xfrm>
              <a:off x="7999112" y="6085184"/>
              <a:ext cx="143933" cy="109505"/>
            </a:xfrm>
            <a:custGeom>
              <a:avLst/>
              <a:gdLst>
                <a:gd name="T0" fmla="*/ 0 w 90"/>
                <a:gd name="T1" fmla="*/ 90 h 90"/>
                <a:gd name="T2" fmla="*/ 24 w 90"/>
                <a:gd name="T3" fmla="*/ 72 h 90"/>
                <a:gd name="T4" fmla="*/ 42 w 90"/>
                <a:gd name="T5" fmla="*/ 42 h 90"/>
                <a:gd name="T6" fmla="*/ 66 w 90"/>
                <a:gd name="T7" fmla="*/ 18 h 90"/>
                <a:gd name="T8" fmla="*/ 90 w 90"/>
                <a:gd name="T9" fmla="*/ 0 h 90"/>
              </a:gdLst>
              <a:ahLst/>
              <a:cxnLst>
                <a:cxn ang="0">
                  <a:pos x="T0" y="T1"/>
                </a:cxn>
                <a:cxn ang="0">
                  <a:pos x="T2" y="T3"/>
                </a:cxn>
                <a:cxn ang="0">
                  <a:pos x="T4" y="T5"/>
                </a:cxn>
                <a:cxn ang="0">
                  <a:pos x="T6" y="T7"/>
                </a:cxn>
                <a:cxn ang="0">
                  <a:pos x="T8" y="T9"/>
                </a:cxn>
              </a:cxnLst>
              <a:rect l="0" t="0" r="r" b="b"/>
              <a:pathLst>
                <a:path w="90" h="90">
                  <a:moveTo>
                    <a:pt x="0" y="90"/>
                  </a:moveTo>
                  <a:lnTo>
                    <a:pt x="24" y="72"/>
                  </a:lnTo>
                  <a:lnTo>
                    <a:pt x="42" y="42"/>
                  </a:lnTo>
                  <a:lnTo>
                    <a:pt x="66" y="18"/>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5" name="Freeform 118"/>
            <p:cNvSpPr/>
            <p:nvPr/>
          </p:nvSpPr>
          <p:spPr bwMode="auto">
            <a:xfrm>
              <a:off x="8143045" y="6070583"/>
              <a:ext cx="153528" cy="14601"/>
            </a:xfrm>
            <a:custGeom>
              <a:avLst/>
              <a:gdLst>
                <a:gd name="T0" fmla="*/ 0 w 96"/>
                <a:gd name="T1" fmla="*/ 12 h 12"/>
                <a:gd name="T2" fmla="*/ 24 w 96"/>
                <a:gd name="T3" fmla="*/ 6 h 12"/>
                <a:gd name="T4" fmla="*/ 48 w 96"/>
                <a:gd name="T5" fmla="*/ 0 h 12"/>
                <a:gd name="T6" fmla="*/ 72 w 96"/>
                <a:gd name="T7" fmla="*/ 6 h 12"/>
                <a:gd name="T8" fmla="*/ 96 w 96"/>
                <a:gd name="T9" fmla="*/ 12 h 12"/>
              </a:gdLst>
              <a:ahLst/>
              <a:cxnLst>
                <a:cxn ang="0">
                  <a:pos x="T0" y="T1"/>
                </a:cxn>
                <a:cxn ang="0">
                  <a:pos x="T2" y="T3"/>
                </a:cxn>
                <a:cxn ang="0">
                  <a:pos x="T4" y="T5"/>
                </a:cxn>
                <a:cxn ang="0">
                  <a:pos x="T6" y="T7"/>
                </a:cxn>
                <a:cxn ang="0">
                  <a:pos x="T8" y="T9"/>
                </a:cxn>
              </a:cxnLst>
              <a:rect l="0" t="0" r="r" b="b"/>
              <a:pathLst>
                <a:path w="96" h="12">
                  <a:moveTo>
                    <a:pt x="0" y="12"/>
                  </a:moveTo>
                  <a:lnTo>
                    <a:pt x="24" y="6"/>
                  </a:lnTo>
                  <a:lnTo>
                    <a:pt x="48" y="0"/>
                  </a:lnTo>
                  <a:lnTo>
                    <a:pt x="72" y="6"/>
                  </a:lnTo>
                  <a:lnTo>
                    <a:pt x="96" y="12"/>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6" name="Freeform 119"/>
            <p:cNvSpPr/>
            <p:nvPr/>
          </p:nvSpPr>
          <p:spPr bwMode="auto">
            <a:xfrm>
              <a:off x="8296573" y="6085184"/>
              <a:ext cx="143933" cy="109505"/>
            </a:xfrm>
            <a:custGeom>
              <a:avLst/>
              <a:gdLst>
                <a:gd name="T0" fmla="*/ 0 w 90"/>
                <a:gd name="T1" fmla="*/ 0 h 90"/>
                <a:gd name="T2" fmla="*/ 24 w 90"/>
                <a:gd name="T3" fmla="*/ 18 h 90"/>
                <a:gd name="T4" fmla="*/ 48 w 90"/>
                <a:gd name="T5" fmla="*/ 42 h 90"/>
                <a:gd name="T6" fmla="*/ 66 w 90"/>
                <a:gd name="T7" fmla="*/ 72 h 90"/>
                <a:gd name="T8" fmla="*/ 90 w 90"/>
                <a:gd name="T9" fmla="*/ 90 h 90"/>
              </a:gdLst>
              <a:ahLst/>
              <a:cxnLst>
                <a:cxn ang="0">
                  <a:pos x="T0" y="T1"/>
                </a:cxn>
                <a:cxn ang="0">
                  <a:pos x="T2" y="T3"/>
                </a:cxn>
                <a:cxn ang="0">
                  <a:pos x="T4" y="T5"/>
                </a:cxn>
                <a:cxn ang="0">
                  <a:pos x="T6" y="T7"/>
                </a:cxn>
                <a:cxn ang="0">
                  <a:pos x="T8" y="T9"/>
                </a:cxn>
              </a:cxnLst>
              <a:rect l="0" t="0" r="r" b="b"/>
              <a:pathLst>
                <a:path w="90" h="90">
                  <a:moveTo>
                    <a:pt x="0" y="0"/>
                  </a:moveTo>
                  <a:lnTo>
                    <a:pt x="24" y="18"/>
                  </a:lnTo>
                  <a:lnTo>
                    <a:pt x="48" y="42"/>
                  </a:lnTo>
                  <a:lnTo>
                    <a:pt x="66" y="72"/>
                  </a:lnTo>
                  <a:lnTo>
                    <a:pt x="90" y="9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7" name="Freeform 120"/>
            <p:cNvSpPr/>
            <p:nvPr/>
          </p:nvSpPr>
          <p:spPr bwMode="auto">
            <a:xfrm>
              <a:off x="8440506" y="6194689"/>
              <a:ext cx="143933" cy="51103"/>
            </a:xfrm>
            <a:custGeom>
              <a:avLst/>
              <a:gdLst>
                <a:gd name="T0" fmla="*/ 0 w 90"/>
                <a:gd name="T1" fmla="*/ 0 h 42"/>
                <a:gd name="T2" fmla="*/ 24 w 90"/>
                <a:gd name="T3" fmla="*/ 18 h 42"/>
                <a:gd name="T4" fmla="*/ 42 w 90"/>
                <a:gd name="T5" fmla="*/ 36 h 42"/>
                <a:gd name="T6" fmla="*/ 66 w 90"/>
                <a:gd name="T7" fmla="*/ 42 h 42"/>
                <a:gd name="T8" fmla="*/ 78 w 90"/>
                <a:gd name="T9" fmla="*/ 42 h 42"/>
                <a:gd name="T10" fmla="*/ 90 w 90"/>
                <a:gd name="T11" fmla="*/ 36 h 42"/>
              </a:gdLst>
              <a:ahLst/>
              <a:cxnLst>
                <a:cxn ang="0">
                  <a:pos x="T0" y="T1"/>
                </a:cxn>
                <a:cxn ang="0">
                  <a:pos x="T2" y="T3"/>
                </a:cxn>
                <a:cxn ang="0">
                  <a:pos x="T4" y="T5"/>
                </a:cxn>
                <a:cxn ang="0">
                  <a:pos x="T6" y="T7"/>
                </a:cxn>
                <a:cxn ang="0">
                  <a:pos x="T8" y="T9"/>
                </a:cxn>
                <a:cxn ang="0">
                  <a:pos x="T10" y="T11"/>
                </a:cxn>
              </a:cxnLst>
              <a:rect l="0" t="0" r="r" b="b"/>
              <a:pathLst>
                <a:path w="90" h="42">
                  <a:moveTo>
                    <a:pt x="0" y="0"/>
                  </a:moveTo>
                  <a:lnTo>
                    <a:pt x="24" y="18"/>
                  </a:lnTo>
                  <a:lnTo>
                    <a:pt x="42" y="36"/>
                  </a:lnTo>
                  <a:lnTo>
                    <a:pt x="66" y="42"/>
                  </a:lnTo>
                  <a:lnTo>
                    <a:pt x="78" y="42"/>
                  </a:lnTo>
                  <a:lnTo>
                    <a:pt x="90" y="36"/>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8" name="Freeform 121"/>
            <p:cNvSpPr/>
            <p:nvPr/>
          </p:nvSpPr>
          <p:spPr bwMode="auto">
            <a:xfrm>
              <a:off x="8584438" y="6041381"/>
              <a:ext cx="153528" cy="197110"/>
            </a:xfrm>
            <a:custGeom>
              <a:avLst/>
              <a:gdLst>
                <a:gd name="T0" fmla="*/ 0 w 96"/>
                <a:gd name="T1" fmla="*/ 162 h 162"/>
                <a:gd name="T2" fmla="*/ 24 w 96"/>
                <a:gd name="T3" fmla="*/ 138 h 162"/>
                <a:gd name="T4" fmla="*/ 48 w 96"/>
                <a:gd name="T5" fmla="*/ 102 h 162"/>
                <a:gd name="T6" fmla="*/ 72 w 96"/>
                <a:gd name="T7" fmla="*/ 60 h 162"/>
                <a:gd name="T8" fmla="*/ 96 w 96"/>
                <a:gd name="T9" fmla="*/ 0 h 162"/>
              </a:gdLst>
              <a:ahLst/>
              <a:cxnLst>
                <a:cxn ang="0">
                  <a:pos x="T0" y="T1"/>
                </a:cxn>
                <a:cxn ang="0">
                  <a:pos x="T2" y="T3"/>
                </a:cxn>
                <a:cxn ang="0">
                  <a:pos x="T4" y="T5"/>
                </a:cxn>
                <a:cxn ang="0">
                  <a:pos x="T6" y="T7"/>
                </a:cxn>
                <a:cxn ang="0">
                  <a:pos x="T8" y="T9"/>
                </a:cxn>
              </a:cxnLst>
              <a:rect l="0" t="0" r="r" b="b"/>
              <a:pathLst>
                <a:path w="96" h="162">
                  <a:moveTo>
                    <a:pt x="0" y="162"/>
                  </a:moveTo>
                  <a:lnTo>
                    <a:pt x="24" y="138"/>
                  </a:lnTo>
                  <a:lnTo>
                    <a:pt x="48" y="102"/>
                  </a:lnTo>
                  <a:lnTo>
                    <a:pt x="72" y="60"/>
                  </a:lnTo>
                  <a:lnTo>
                    <a:pt x="96"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sp>
          <p:nvSpPr>
            <p:cNvPr id="239" name="Freeform 122"/>
            <p:cNvSpPr/>
            <p:nvPr/>
          </p:nvSpPr>
          <p:spPr bwMode="auto">
            <a:xfrm>
              <a:off x="8737967" y="5625261"/>
              <a:ext cx="143933" cy="416121"/>
            </a:xfrm>
            <a:custGeom>
              <a:avLst/>
              <a:gdLst>
                <a:gd name="T0" fmla="*/ 0 w 90"/>
                <a:gd name="T1" fmla="*/ 342 h 342"/>
                <a:gd name="T2" fmla="*/ 12 w 90"/>
                <a:gd name="T3" fmla="*/ 306 h 342"/>
                <a:gd name="T4" fmla="*/ 24 w 90"/>
                <a:gd name="T5" fmla="*/ 270 h 342"/>
                <a:gd name="T6" fmla="*/ 48 w 90"/>
                <a:gd name="T7" fmla="*/ 180 h 342"/>
                <a:gd name="T8" fmla="*/ 66 w 90"/>
                <a:gd name="T9" fmla="*/ 90 h 342"/>
                <a:gd name="T10" fmla="*/ 90 w 90"/>
                <a:gd name="T11" fmla="*/ 0 h 342"/>
              </a:gdLst>
              <a:ahLst/>
              <a:cxnLst>
                <a:cxn ang="0">
                  <a:pos x="T0" y="T1"/>
                </a:cxn>
                <a:cxn ang="0">
                  <a:pos x="T2" y="T3"/>
                </a:cxn>
                <a:cxn ang="0">
                  <a:pos x="T4" y="T5"/>
                </a:cxn>
                <a:cxn ang="0">
                  <a:pos x="T6" y="T7"/>
                </a:cxn>
                <a:cxn ang="0">
                  <a:pos x="T8" y="T9"/>
                </a:cxn>
                <a:cxn ang="0">
                  <a:pos x="T10" y="T11"/>
                </a:cxn>
              </a:cxnLst>
              <a:rect l="0" t="0" r="r" b="b"/>
              <a:pathLst>
                <a:path w="90" h="342">
                  <a:moveTo>
                    <a:pt x="0" y="342"/>
                  </a:moveTo>
                  <a:lnTo>
                    <a:pt x="12" y="306"/>
                  </a:lnTo>
                  <a:lnTo>
                    <a:pt x="24" y="270"/>
                  </a:lnTo>
                  <a:lnTo>
                    <a:pt x="48" y="180"/>
                  </a:lnTo>
                  <a:lnTo>
                    <a:pt x="66" y="90"/>
                  </a:lnTo>
                  <a:lnTo>
                    <a:pt x="90" y="0"/>
                  </a:lnTo>
                </a:path>
              </a:pathLst>
            </a:custGeom>
            <a:noFill/>
            <a:ln w="1905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微软雅黑 Light" panose="020B0502040204020203" pitchFamily="34"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8" name="Rectangle 4"/>
          <p:cNvSpPr>
            <a:spLocks noGrp="1" noChangeArrowheads="1"/>
          </p:cNvSpPr>
          <p:nvPr>
            <p:ph type="title"/>
          </p:nvPr>
        </p:nvSpPr>
        <p:spPr>
          <a:noFill/>
        </p:spPr>
        <p:txBody>
          <a:bodyPr/>
          <a:lstStyle/>
          <a:p>
            <a:r>
              <a:rPr lang="zh-CN" altLang="en-US" dirty="0"/>
              <a:t>几个相关的概念</a:t>
            </a:r>
            <a:endParaRPr lang="zh-CN" altLang="en-US" dirty="0"/>
          </a:p>
        </p:txBody>
      </p:sp>
      <p:sp>
        <p:nvSpPr>
          <p:cNvPr id="395267" name="Rectangle 3"/>
          <p:cNvSpPr>
            <a:spLocks noGrp="1" noChangeArrowheads="1"/>
          </p:cNvSpPr>
          <p:nvPr>
            <p:ph idx="1"/>
          </p:nvPr>
        </p:nvSpPr>
        <p:spPr/>
        <p:txBody>
          <a:bodyPr>
            <a:normAutofit/>
          </a:bodyPr>
          <a:lstStyle/>
          <a:p>
            <a:r>
              <a:rPr lang="zh-CN" altLang="en-US" dirty="0"/>
              <a:t>介质带宽</a:t>
            </a:r>
            <a:r>
              <a:rPr lang="en-US" altLang="zh-CN" dirty="0"/>
              <a:t>(Hz) </a:t>
            </a:r>
            <a:r>
              <a:rPr lang="zh-CN" altLang="en-US" dirty="0"/>
              <a:t>：传输介质只能传输某些频率范围内的信号。</a:t>
            </a:r>
            <a:endParaRPr lang="zh-CN" altLang="en-US" dirty="0"/>
          </a:p>
          <a:p>
            <a:r>
              <a:rPr lang="zh-CN" altLang="en-US" dirty="0"/>
              <a:t>有效带宽</a:t>
            </a:r>
            <a:r>
              <a:rPr lang="en-US" altLang="zh-CN" dirty="0"/>
              <a:t>(Hz) </a:t>
            </a:r>
            <a:r>
              <a:rPr lang="zh-CN" altLang="en-US" dirty="0"/>
              <a:t>：数字信号是由多个频率信号的叠加而成，如果只传输有重要振幅分量的频率信号，输出端能够以合理的精度恢复信号，则这个上限频率就是有效带宽。 </a:t>
            </a:r>
            <a:endParaRPr lang="zh-CN" altLang="en-US" dirty="0"/>
          </a:p>
          <a:p>
            <a:r>
              <a:rPr lang="zh-CN" altLang="en-US" dirty="0"/>
              <a:t>信道：表示向某一个方向传送信息的媒体</a:t>
            </a:r>
            <a:endParaRPr lang="zh-CN" altLang="en-US" dirty="0"/>
          </a:p>
          <a:p>
            <a:r>
              <a:rPr lang="zh-CN" altLang="en-US" dirty="0"/>
              <a:t>信道容量</a:t>
            </a:r>
            <a:r>
              <a:rPr lang="en-US" altLang="zh-CN" dirty="0"/>
              <a:t>(bps) </a:t>
            </a:r>
            <a:r>
              <a:rPr lang="zh-CN" altLang="en-US" dirty="0"/>
              <a:t>：传输介质可以传输的最大比特率，依赖于编码技术。</a:t>
            </a:r>
            <a:endParaRPr lang="zh-CN" altLang="en-US" dirty="0"/>
          </a:p>
        </p:txBody>
      </p:sp>
      <p:sp>
        <p:nvSpPr>
          <p:cNvPr id="6" name="灯片编号占位符 5"/>
          <p:cNvSpPr>
            <a:spLocks noGrp="1"/>
          </p:cNvSpPr>
          <p:nvPr>
            <p:ph type="sldNum" sz="quarter" idx="12"/>
          </p:nvPr>
        </p:nvSpPr>
        <p:spPr/>
        <p:txBody>
          <a:bodyPr/>
          <a:lstStyle/>
          <a:p>
            <a:fld id="{FD0A03BF-3B75-4041-B547-5E0569474B28}" type="slidenum">
              <a:rPr lang="en-US" altLang="zh-CN"/>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p:txBody>
          <a:bodyPr/>
          <a:lstStyle/>
          <a:p>
            <a:r>
              <a:rPr lang="zh-CN" altLang="en-US" dirty="0"/>
              <a:t>基带信号和带通信号 </a:t>
            </a:r>
            <a:endParaRPr lang="zh-CN" altLang="en-US" dirty="0"/>
          </a:p>
        </p:txBody>
      </p:sp>
      <p:sp>
        <p:nvSpPr>
          <p:cNvPr id="516099" name="Rectangle 3"/>
          <p:cNvSpPr>
            <a:spLocks noGrp="1" noChangeArrowheads="1"/>
          </p:cNvSpPr>
          <p:nvPr>
            <p:ph idx="1"/>
          </p:nvPr>
        </p:nvSpPr>
        <p:spPr/>
        <p:txBody>
          <a:bodyPr/>
          <a:lstStyle/>
          <a:p>
            <a:r>
              <a:rPr lang="zh-CN" altLang="en-US" sz="2800" dirty="0"/>
              <a:t>基带信号</a:t>
            </a:r>
            <a:r>
              <a:rPr lang="en-US" altLang="zh-CN" sz="2800" dirty="0"/>
              <a:t>(</a:t>
            </a:r>
            <a:r>
              <a:rPr lang="zh-CN" altLang="en-US" sz="2800" dirty="0"/>
              <a:t>基本频带信号</a:t>
            </a:r>
            <a:r>
              <a:rPr lang="en-US" altLang="zh-CN" sz="2800" dirty="0"/>
              <a:t>)</a:t>
            </a:r>
            <a:endParaRPr lang="en-US" altLang="zh-CN" sz="2800" dirty="0"/>
          </a:p>
          <a:p>
            <a:pPr lvl="1"/>
            <a:r>
              <a:rPr lang="zh-CN" altLang="en-US" sz="2400" dirty="0"/>
              <a:t>来自信源的信号，未进行频谱搬移和变换 </a:t>
            </a:r>
            <a:endParaRPr lang="zh-CN" altLang="en-US" sz="2400" dirty="0"/>
          </a:p>
          <a:p>
            <a:pPr lvl="1"/>
            <a:r>
              <a:rPr lang="zh-CN" altLang="en-US" sz="2400" dirty="0"/>
              <a:t>计算机输出的代表各种文字、图像文件的数据信号都属于基带信号</a:t>
            </a:r>
            <a:endParaRPr lang="zh-CN" altLang="en-US" sz="2400" dirty="0"/>
          </a:p>
          <a:p>
            <a:pPr lvl="1"/>
            <a:r>
              <a:rPr lang="zh-CN" altLang="en-US" sz="2400" dirty="0"/>
              <a:t>其特点是包含有较多的低频成分，甚至有直流成分，但许多信道并不能传输这种低频分量或直流分量</a:t>
            </a:r>
            <a:endParaRPr lang="zh-CN" altLang="en-US" sz="2400" dirty="0"/>
          </a:p>
          <a:p>
            <a:pPr lvl="2"/>
            <a:r>
              <a:rPr lang="zh-CN" altLang="en-US" sz="2000" dirty="0"/>
              <a:t>解决方法：发送设备产生一个高频信号作为基波来承载信息信号</a:t>
            </a:r>
            <a:endParaRPr lang="en-US" altLang="zh-CN" sz="2000" dirty="0"/>
          </a:p>
          <a:p>
            <a:pPr lvl="2"/>
            <a:r>
              <a:rPr lang="zh-CN" altLang="en-US" sz="2000" dirty="0"/>
              <a:t>基波称为载波信号</a:t>
            </a:r>
            <a:endParaRPr lang="zh-CN" altLang="en-US" sz="2000" dirty="0"/>
          </a:p>
          <a:p>
            <a:r>
              <a:rPr lang="zh-CN" altLang="en-US" sz="2800" dirty="0"/>
              <a:t>带通信号：</a:t>
            </a:r>
            <a:endParaRPr lang="en-US" altLang="zh-CN" sz="2800" dirty="0"/>
          </a:p>
          <a:p>
            <a:pPr lvl="1"/>
            <a:r>
              <a:rPr lang="zh-CN" altLang="en-US" sz="2400" dirty="0"/>
              <a:t>使用载波信号传输基带信号的过程称为调制</a:t>
            </a:r>
            <a:r>
              <a:rPr lang="en-US" altLang="zh-CN" sz="2400" dirty="0"/>
              <a:t>(modulation)</a:t>
            </a:r>
            <a:endParaRPr lang="en-US" altLang="zh-CN" sz="2400" dirty="0"/>
          </a:p>
          <a:p>
            <a:pPr lvl="1"/>
            <a:r>
              <a:rPr lang="zh-CN" altLang="en-US" sz="2400" dirty="0"/>
              <a:t>经过载波调制后的信号称为带通信号</a:t>
            </a:r>
            <a:endParaRPr lang="zh-CN" altLang="en-US" sz="2400" dirty="0"/>
          </a:p>
        </p:txBody>
      </p:sp>
      <p:sp>
        <p:nvSpPr>
          <p:cNvPr id="6" name="灯片编号占位符 5"/>
          <p:cNvSpPr>
            <a:spLocks noGrp="1"/>
          </p:cNvSpPr>
          <p:nvPr>
            <p:ph type="sldNum" sz="quarter" idx="12"/>
          </p:nvPr>
        </p:nvSpPr>
        <p:spPr/>
        <p:txBody>
          <a:bodyPr/>
          <a:lstStyle/>
          <a:p>
            <a:fld id="{5EBC77A1-621B-4286-8852-5E1C8410AE53}" type="slidenum">
              <a:rPr lang="en-US" altLang="zh-CN"/>
            </a:fld>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r>
              <a:rPr lang="zh-CN" altLang="en-US" dirty="0"/>
              <a:t>奈氏准则</a:t>
            </a:r>
            <a:endParaRPr lang="zh-CN" altLang="en-US" dirty="0"/>
          </a:p>
        </p:txBody>
      </p:sp>
      <p:sp>
        <p:nvSpPr>
          <p:cNvPr id="397315" name="Rectangle 3"/>
          <p:cNvSpPr>
            <a:spLocks noGrp="1" noChangeArrowheads="1"/>
          </p:cNvSpPr>
          <p:nvPr>
            <p:ph idx="1"/>
          </p:nvPr>
        </p:nvSpPr>
        <p:spPr/>
        <p:txBody>
          <a:bodyPr/>
          <a:lstStyle/>
          <a:p>
            <a:r>
              <a:rPr lang="zh-CN" altLang="en-US" dirty="0"/>
              <a:t>码元：携带数据信息的信号单元叫码元</a:t>
            </a:r>
            <a:endParaRPr lang="zh-CN" altLang="en-US" dirty="0"/>
          </a:p>
          <a:p>
            <a:pPr lvl="1"/>
            <a:r>
              <a:rPr lang="zh-CN" altLang="en-US" dirty="0"/>
              <a:t>数字通信中用时间间隔相同的符号来表示二进制数字</a:t>
            </a:r>
            <a:endParaRPr lang="en-US" altLang="zh-CN" dirty="0"/>
          </a:p>
          <a:p>
            <a:pPr lvl="1"/>
            <a:r>
              <a:rPr lang="zh-CN" altLang="en-US" dirty="0"/>
              <a:t>二进制码元：单位时间间隔内的信号，这个间隔被称为码元长度</a:t>
            </a:r>
            <a:endParaRPr lang="en-US" altLang="zh-CN" dirty="0"/>
          </a:p>
          <a:p>
            <a:r>
              <a:rPr lang="zh-CN" altLang="en-US" dirty="0"/>
              <a:t>码元速率：每秒通过信道传输的码元数（信号速率、波特率）</a:t>
            </a:r>
            <a:endParaRPr lang="en-US" altLang="zh-CN" dirty="0"/>
          </a:p>
          <a:p>
            <a:r>
              <a:rPr lang="zh-CN" altLang="en-US" dirty="0"/>
              <a:t>奈氏准则：无噪声</a:t>
            </a:r>
            <a:r>
              <a:rPr lang="en-US" altLang="zh-CN" dirty="0"/>
              <a:t>(</a:t>
            </a:r>
            <a:r>
              <a:rPr lang="zh-CN" altLang="en-US" dirty="0"/>
              <a:t>理论状态</a:t>
            </a:r>
            <a:r>
              <a:rPr lang="en-US" altLang="zh-CN" dirty="0"/>
              <a:t>)</a:t>
            </a:r>
            <a:r>
              <a:rPr lang="zh-CN" altLang="en-US" dirty="0"/>
              <a:t>情况下波特率</a:t>
            </a:r>
            <a:r>
              <a:rPr lang="en-US" altLang="zh-CN" dirty="0"/>
              <a:t>B</a:t>
            </a:r>
            <a:r>
              <a:rPr lang="zh-CN" altLang="en-US" dirty="0"/>
              <a:t>（波特）与信道带宽</a:t>
            </a:r>
            <a:r>
              <a:rPr lang="en-US" altLang="zh-CN" dirty="0"/>
              <a:t>W</a:t>
            </a:r>
            <a:r>
              <a:rPr lang="zh-CN" altLang="en-US" dirty="0"/>
              <a:t>（赫兹</a:t>
            </a:r>
            <a:r>
              <a:rPr lang="en-US" altLang="zh-CN" dirty="0"/>
              <a:t>Hz</a:t>
            </a:r>
            <a:r>
              <a:rPr lang="zh-CN" altLang="en-US" dirty="0"/>
              <a:t>）的关系：</a:t>
            </a:r>
            <a:endParaRPr lang="zh-CN" altLang="en-US" dirty="0"/>
          </a:p>
          <a:p>
            <a:pPr algn="ctr">
              <a:buFont typeface="Wingdings" panose="05000000000000000000" pitchFamily="2" charset="2"/>
              <a:buNone/>
            </a:pPr>
            <a:r>
              <a:rPr lang="zh-CN" altLang="en-US" dirty="0"/>
              <a:t> </a:t>
            </a:r>
            <a:r>
              <a:rPr lang="en-US" altLang="zh-CN" dirty="0"/>
              <a:t>B = 2×W  (Baud)</a:t>
            </a:r>
            <a:endParaRPr lang="en-US" altLang="zh-CN" dirty="0"/>
          </a:p>
          <a:p>
            <a:r>
              <a:rPr lang="zh-CN" altLang="en-US" dirty="0"/>
              <a:t>比特率与波特率、码元状态</a:t>
            </a:r>
            <a:endParaRPr lang="en-US" altLang="zh-CN" dirty="0"/>
          </a:p>
          <a:p>
            <a:pPr marL="0" indent="0">
              <a:buNone/>
            </a:pPr>
            <a:r>
              <a:rPr lang="en-US" altLang="zh-CN" dirty="0"/>
              <a:t>			S= B×log</a:t>
            </a:r>
            <a:r>
              <a:rPr lang="en-US" altLang="zh-CN" baseline="-25000" dirty="0"/>
              <a:t>2</a:t>
            </a:r>
            <a:r>
              <a:rPr lang="en-US" altLang="zh-CN" dirty="0"/>
              <a:t>N </a:t>
            </a:r>
            <a:r>
              <a:rPr lang="zh-CN" altLang="en-US" dirty="0"/>
              <a:t>（ </a:t>
            </a:r>
            <a:r>
              <a:rPr lang="en-US" altLang="zh-CN" dirty="0"/>
              <a:t>N</a:t>
            </a:r>
            <a:r>
              <a:rPr lang="zh-CN" altLang="en-US" dirty="0"/>
              <a:t>：码元状态数）</a:t>
            </a:r>
            <a:endParaRPr lang="zh-CN" altLang="en-US" dirty="0"/>
          </a:p>
          <a:p>
            <a:pPr>
              <a:buFont typeface="Wingdings" panose="05000000000000000000" pitchFamily="2" charset="2"/>
              <a:buNone/>
            </a:pPr>
            <a:r>
              <a:rPr lang="zh-CN" altLang="en-US" dirty="0"/>
              <a:t>	  </a:t>
            </a:r>
            <a:r>
              <a:rPr lang="en-US" altLang="zh-CN" dirty="0"/>
              <a:t>			  = 2×W×log</a:t>
            </a:r>
            <a:r>
              <a:rPr lang="en-US" altLang="zh-CN" baseline="-25000" dirty="0"/>
              <a:t>2</a:t>
            </a:r>
            <a:r>
              <a:rPr lang="en-US" altLang="zh-CN" dirty="0"/>
              <a:t>N</a:t>
            </a:r>
            <a:endParaRPr lang="en-US" altLang="zh-CN" dirty="0"/>
          </a:p>
          <a:p>
            <a:endParaRPr lang="en-US" altLang="zh-CN" dirty="0"/>
          </a:p>
        </p:txBody>
      </p:sp>
      <p:sp>
        <p:nvSpPr>
          <p:cNvPr id="6" name="灯片编号占位符 5"/>
          <p:cNvSpPr>
            <a:spLocks noGrp="1"/>
          </p:cNvSpPr>
          <p:nvPr>
            <p:ph type="sldNum" sz="quarter" idx="12"/>
          </p:nvPr>
        </p:nvSpPr>
        <p:spPr/>
        <p:txBody>
          <a:bodyPr/>
          <a:lstStyle/>
          <a:p>
            <a:fld id="{1B9CF306-9BD2-4D3F-B1FE-9C0F7AF8F2C0}" type="slidenum">
              <a:rPr lang="en-US" altLang="zh-CN"/>
            </a:fld>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Light" panose="020B0502040204020203" pitchFamily="34" charset="-122"/>
              </a:rPr>
              <a:t>比特率、波特率、码元状态的关系</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2714069" y="1379459"/>
            <a:ext cx="5352202" cy="4855758"/>
            <a:chOff x="1896109" y="642834"/>
            <a:chExt cx="5352202" cy="4489997"/>
          </a:xfrm>
        </p:grpSpPr>
        <p:cxnSp>
          <p:nvCxnSpPr>
            <p:cNvPr id="6" name="直接连接符 5"/>
            <p:cNvCxnSpPr/>
            <p:nvPr/>
          </p:nvCxnSpPr>
          <p:spPr>
            <a:xfrm flipH="1">
              <a:off x="1896109"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2254860"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2609220"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2967971"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297946"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3656697"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011057"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369808"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4742531"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089090"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5443450"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802201"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6163318"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6515973"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6870333"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7229084" y="642834"/>
              <a:ext cx="19227" cy="4489997"/>
            </a:xfrm>
            <a:prstGeom prst="line">
              <a:avLst/>
            </a:prstGeom>
            <a:ln w="31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22" name="直接箭头连接符 21"/>
          <p:cNvCxnSpPr/>
          <p:nvPr/>
        </p:nvCxnSpPr>
        <p:spPr>
          <a:xfrm>
            <a:off x="2370687" y="3787952"/>
            <a:ext cx="59040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2370686" y="2923558"/>
            <a:ext cx="0" cy="11661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2370686" y="3223596"/>
            <a:ext cx="357188" cy="564357"/>
            <a:chOff x="892969" y="914400"/>
            <a:chExt cx="357188" cy="564357"/>
          </a:xfrm>
        </p:grpSpPr>
        <p:cxnSp>
          <p:nvCxnSpPr>
            <p:cNvPr id="25" name="直接连接符 24"/>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3083918" y="3223596"/>
            <a:ext cx="357188" cy="564357"/>
            <a:chOff x="892969" y="914400"/>
            <a:chExt cx="357188" cy="564357"/>
          </a:xfrm>
        </p:grpSpPr>
        <p:cxnSp>
          <p:nvCxnSpPr>
            <p:cNvPr id="29" name="直接连接符 28"/>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3791054" y="3223596"/>
            <a:ext cx="357188" cy="564357"/>
            <a:chOff x="892969" y="914400"/>
            <a:chExt cx="357188" cy="564357"/>
          </a:xfrm>
        </p:grpSpPr>
        <p:cxnSp>
          <p:nvCxnSpPr>
            <p:cNvPr id="33" name="直接连接符 32"/>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4498190" y="3223596"/>
            <a:ext cx="357188" cy="564357"/>
            <a:chOff x="892969" y="914400"/>
            <a:chExt cx="357188" cy="564357"/>
          </a:xfrm>
        </p:grpSpPr>
        <p:cxnSp>
          <p:nvCxnSpPr>
            <p:cNvPr id="37" name="直接连接符 36"/>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5211422" y="3223596"/>
            <a:ext cx="357188" cy="564357"/>
            <a:chOff x="892969" y="914400"/>
            <a:chExt cx="357188" cy="564357"/>
          </a:xfrm>
        </p:grpSpPr>
        <p:cxnSp>
          <p:nvCxnSpPr>
            <p:cNvPr id="41" name="直接连接符 40"/>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5918558" y="3223596"/>
            <a:ext cx="357188" cy="564357"/>
            <a:chOff x="892969" y="914400"/>
            <a:chExt cx="357188" cy="564357"/>
          </a:xfrm>
        </p:grpSpPr>
        <p:cxnSp>
          <p:nvCxnSpPr>
            <p:cNvPr id="45" name="直接连接符 44"/>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48" name="直接箭头连接符 47"/>
          <p:cNvCxnSpPr/>
          <p:nvPr/>
        </p:nvCxnSpPr>
        <p:spPr>
          <a:xfrm>
            <a:off x="2370687" y="2202707"/>
            <a:ext cx="59040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2376782" y="1338314"/>
            <a:ext cx="0" cy="11008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a:off x="2376782" y="1638351"/>
            <a:ext cx="710756" cy="564357"/>
            <a:chOff x="892969" y="914400"/>
            <a:chExt cx="357188" cy="564357"/>
          </a:xfrm>
        </p:grpSpPr>
        <p:cxnSp>
          <p:nvCxnSpPr>
            <p:cNvPr id="51" name="直接连接符 50"/>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3797150" y="1638351"/>
            <a:ext cx="710756" cy="564357"/>
            <a:chOff x="892969" y="914400"/>
            <a:chExt cx="357188" cy="564357"/>
          </a:xfrm>
        </p:grpSpPr>
        <p:cxnSp>
          <p:nvCxnSpPr>
            <p:cNvPr id="55" name="直接连接符 54"/>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5217518" y="1638351"/>
            <a:ext cx="710756" cy="564357"/>
            <a:chOff x="892969" y="914400"/>
            <a:chExt cx="357188" cy="564357"/>
          </a:xfrm>
        </p:grpSpPr>
        <p:cxnSp>
          <p:nvCxnSpPr>
            <p:cNvPr id="59" name="直接连接符 58"/>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62" name="组合 61"/>
          <p:cNvGrpSpPr/>
          <p:nvPr/>
        </p:nvGrpSpPr>
        <p:grpSpPr>
          <a:xfrm>
            <a:off x="6639696" y="1638351"/>
            <a:ext cx="710756" cy="564357"/>
            <a:chOff x="892969" y="914400"/>
            <a:chExt cx="357188" cy="564357"/>
          </a:xfrm>
        </p:grpSpPr>
        <p:cxnSp>
          <p:nvCxnSpPr>
            <p:cNvPr id="63" name="直接连接符 62"/>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6633266" y="3223596"/>
            <a:ext cx="357188" cy="564357"/>
            <a:chOff x="892969" y="914400"/>
            <a:chExt cx="357188" cy="564357"/>
          </a:xfrm>
        </p:grpSpPr>
        <p:cxnSp>
          <p:nvCxnSpPr>
            <p:cNvPr id="67" name="直接连接符 66"/>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7340402" y="3223596"/>
            <a:ext cx="357188" cy="564357"/>
            <a:chOff x="892969" y="914400"/>
            <a:chExt cx="357188" cy="564357"/>
          </a:xfrm>
        </p:grpSpPr>
        <p:cxnSp>
          <p:nvCxnSpPr>
            <p:cNvPr id="71" name="直接连接符 70"/>
            <p:cNvCxnSpPr/>
            <p:nvPr/>
          </p:nvCxnSpPr>
          <p:spPr>
            <a:xfrm>
              <a:off x="892969"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892969" y="91440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1250157" y="914400"/>
              <a:ext cx="0" cy="56435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74" name="直接箭头连接符 73"/>
          <p:cNvCxnSpPr/>
          <p:nvPr/>
        </p:nvCxnSpPr>
        <p:spPr>
          <a:xfrm>
            <a:off x="2370686" y="5463591"/>
            <a:ext cx="590407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V="1">
            <a:off x="2365257" y="4599197"/>
            <a:ext cx="5429" cy="15933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3776884" y="4899234"/>
            <a:ext cx="1425798" cy="1128714"/>
            <a:chOff x="2971116" y="3839521"/>
            <a:chExt cx="1425798" cy="1128714"/>
          </a:xfrm>
        </p:grpSpPr>
        <p:cxnSp>
          <p:nvCxnSpPr>
            <p:cNvPr id="77" name="直接连接符 76"/>
            <p:cNvCxnSpPr/>
            <p:nvPr/>
          </p:nvCxnSpPr>
          <p:spPr>
            <a:xfrm>
              <a:off x="2971116" y="3839521"/>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3326495" y="3839521"/>
              <a:ext cx="1809" cy="30003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3328304" y="4139559"/>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3682539" y="4139558"/>
              <a:ext cx="333" cy="82867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3684349" y="4968234"/>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flipV="1">
              <a:off x="4039726" y="4705630"/>
              <a:ext cx="1811" cy="26260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V="1">
              <a:off x="4039726" y="470563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flipV="1">
              <a:off x="4391486" y="3839521"/>
              <a:ext cx="1815" cy="86610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2365256" y="4899234"/>
            <a:ext cx="1425798" cy="1128714"/>
            <a:chOff x="2971116" y="3839521"/>
            <a:chExt cx="1425798" cy="1128714"/>
          </a:xfrm>
        </p:grpSpPr>
        <p:cxnSp>
          <p:nvCxnSpPr>
            <p:cNvPr id="86" name="直接连接符 85"/>
            <p:cNvCxnSpPr/>
            <p:nvPr/>
          </p:nvCxnSpPr>
          <p:spPr>
            <a:xfrm>
              <a:off x="2971116" y="3839521"/>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3326495" y="3839521"/>
              <a:ext cx="1809" cy="30003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3328304" y="4139559"/>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3682539" y="4139558"/>
              <a:ext cx="333" cy="82867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V="1">
              <a:off x="3684349" y="4968234"/>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flipV="1">
              <a:off x="4039726" y="4705630"/>
              <a:ext cx="1811" cy="26260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4039726" y="470563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flipV="1">
              <a:off x="4391486" y="3839521"/>
              <a:ext cx="1815" cy="86610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5205659" y="4899234"/>
            <a:ext cx="1425798" cy="1128714"/>
            <a:chOff x="2971116" y="3839521"/>
            <a:chExt cx="1425798" cy="1128714"/>
          </a:xfrm>
        </p:grpSpPr>
        <p:cxnSp>
          <p:nvCxnSpPr>
            <p:cNvPr id="95" name="直接连接符 94"/>
            <p:cNvCxnSpPr/>
            <p:nvPr/>
          </p:nvCxnSpPr>
          <p:spPr>
            <a:xfrm>
              <a:off x="2971116" y="3839521"/>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3326495" y="3839521"/>
              <a:ext cx="1809" cy="30003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3328304" y="4139559"/>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3682539" y="4139558"/>
              <a:ext cx="333" cy="82867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V="1">
              <a:off x="3684349" y="4968234"/>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flipV="1">
              <a:off x="4039726" y="4705630"/>
              <a:ext cx="1811" cy="26260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V="1">
              <a:off x="4039726" y="470563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flipV="1">
              <a:off x="4391486" y="3839521"/>
              <a:ext cx="1815" cy="86610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nvGrpSpPr>
        <p:grpSpPr>
          <a:xfrm>
            <a:off x="6633266" y="4899234"/>
            <a:ext cx="1425798" cy="1128714"/>
            <a:chOff x="2971116" y="3839521"/>
            <a:chExt cx="1425798" cy="1128714"/>
          </a:xfrm>
        </p:grpSpPr>
        <p:cxnSp>
          <p:nvCxnSpPr>
            <p:cNvPr id="104" name="直接连接符 103"/>
            <p:cNvCxnSpPr/>
            <p:nvPr/>
          </p:nvCxnSpPr>
          <p:spPr>
            <a:xfrm>
              <a:off x="2971116" y="3839521"/>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3326495" y="3839521"/>
              <a:ext cx="1809" cy="30003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3328304" y="4139559"/>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3682539" y="4139558"/>
              <a:ext cx="333" cy="82867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V="1">
              <a:off x="3684349" y="4968234"/>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flipV="1">
              <a:off x="4039726" y="4705630"/>
              <a:ext cx="1811" cy="26260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V="1">
              <a:off x="4039726" y="4705630"/>
              <a:ext cx="3571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flipV="1">
              <a:off x="4391486" y="3839521"/>
              <a:ext cx="1815" cy="86610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112" name="文本框 111"/>
          <p:cNvSpPr txBox="1"/>
          <p:nvPr/>
        </p:nvSpPr>
        <p:spPr>
          <a:xfrm>
            <a:off x="2578383" y="1265112"/>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13" name="文本框 112"/>
          <p:cNvSpPr txBox="1"/>
          <p:nvPr/>
        </p:nvSpPr>
        <p:spPr>
          <a:xfrm>
            <a:off x="3291794" y="1265112"/>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14" name="文本框 113"/>
          <p:cNvSpPr txBox="1"/>
          <p:nvPr/>
        </p:nvSpPr>
        <p:spPr>
          <a:xfrm>
            <a:off x="3987110" y="1265112"/>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15" name="文本框 114"/>
          <p:cNvSpPr txBox="1"/>
          <p:nvPr/>
        </p:nvSpPr>
        <p:spPr>
          <a:xfrm>
            <a:off x="4700521" y="1265112"/>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16" name="文本框 115"/>
          <p:cNvSpPr txBox="1"/>
          <p:nvPr/>
        </p:nvSpPr>
        <p:spPr>
          <a:xfrm>
            <a:off x="5435325" y="1265112"/>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17" name="文本框 116"/>
          <p:cNvSpPr txBox="1"/>
          <p:nvPr/>
        </p:nvSpPr>
        <p:spPr>
          <a:xfrm>
            <a:off x="6148736" y="1265112"/>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18" name="文本框 117"/>
          <p:cNvSpPr txBox="1"/>
          <p:nvPr/>
        </p:nvSpPr>
        <p:spPr>
          <a:xfrm>
            <a:off x="6844052" y="1265112"/>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19" name="文本框 118"/>
          <p:cNvSpPr txBox="1"/>
          <p:nvPr/>
        </p:nvSpPr>
        <p:spPr>
          <a:xfrm>
            <a:off x="7557463" y="1265112"/>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20" name="文本框 119"/>
          <p:cNvSpPr txBox="1"/>
          <p:nvPr/>
        </p:nvSpPr>
        <p:spPr>
          <a:xfrm>
            <a:off x="2401116"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1" name="文本框 120"/>
          <p:cNvSpPr txBox="1"/>
          <p:nvPr/>
        </p:nvSpPr>
        <p:spPr>
          <a:xfrm>
            <a:off x="3107314"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2" name="文本框 121"/>
          <p:cNvSpPr txBox="1"/>
          <p:nvPr/>
        </p:nvSpPr>
        <p:spPr>
          <a:xfrm>
            <a:off x="3809843"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3" name="文本框 122"/>
          <p:cNvSpPr txBox="1"/>
          <p:nvPr/>
        </p:nvSpPr>
        <p:spPr>
          <a:xfrm>
            <a:off x="4523254"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24" name="文本框 123"/>
          <p:cNvSpPr txBox="1"/>
          <p:nvPr/>
        </p:nvSpPr>
        <p:spPr>
          <a:xfrm>
            <a:off x="5258058"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5" name="文本框 124"/>
          <p:cNvSpPr txBox="1"/>
          <p:nvPr/>
        </p:nvSpPr>
        <p:spPr>
          <a:xfrm>
            <a:off x="5964256"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6" name="文本框 125"/>
          <p:cNvSpPr txBox="1"/>
          <p:nvPr/>
        </p:nvSpPr>
        <p:spPr>
          <a:xfrm>
            <a:off x="6666785"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7" name="文本框 126"/>
          <p:cNvSpPr txBox="1"/>
          <p:nvPr/>
        </p:nvSpPr>
        <p:spPr>
          <a:xfrm>
            <a:off x="7372983"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28" name="文本框 127"/>
          <p:cNvSpPr txBox="1"/>
          <p:nvPr/>
        </p:nvSpPr>
        <p:spPr>
          <a:xfrm>
            <a:off x="2771331"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29" name="文本框 128"/>
          <p:cNvSpPr txBox="1"/>
          <p:nvPr/>
        </p:nvSpPr>
        <p:spPr>
          <a:xfrm>
            <a:off x="3477529"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30" name="文本框 129"/>
          <p:cNvSpPr txBox="1"/>
          <p:nvPr/>
        </p:nvSpPr>
        <p:spPr>
          <a:xfrm>
            <a:off x="4180058"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31" name="文本框 130"/>
          <p:cNvSpPr txBox="1"/>
          <p:nvPr/>
        </p:nvSpPr>
        <p:spPr>
          <a:xfrm>
            <a:off x="4879043" y="2838113"/>
            <a:ext cx="272832" cy="369332"/>
          </a:xfrm>
          <a:prstGeom prst="rect">
            <a:avLst/>
          </a:prstGeom>
          <a:noFill/>
        </p:spPr>
        <p:txBody>
          <a:bodyPr wrap="none" rtlCol="0">
            <a:spAutoFit/>
          </a:bodyPr>
          <a:lstStyle/>
          <a:p>
            <a:r>
              <a:rPr lang="en-US" altLang="zh-CN" dirty="0">
                <a:latin typeface="微软雅黑 Light" panose="020B0502040204020203" pitchFamily="34" charset="-122"/>
              </a:rPr>
              <a:t>1</a:t>
            </a:r>
            <a:endParaRPr lang="zh-CN" altLang="en-US" dirty="0">
              <a:latin typeface="微软雅黑 Light" panose="020B0502040204020203" pitchFamily="34" charset="-122"/>
            </a:endParaRPr>
          </a:p>
        </p:txBody>
      </p:sp>
      <p:sp>
        <p:nvSpPr>
          <p:cNvPr id="132" name="文本框 131"/>
          <p:cNvSpPr txBox="1"/>
          <p:nvPr/>
        </p:nvSpPr>
        <p:spPr>
          <a:xfrm>
            <a:off x="5628273"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33" name="文本框 132"/>
          <p:cNvSpPr txBox="1"/>
          <p:nvPr/>
        </p:nvSpPr>
        <p:spPr>
          <a:xfrm>
            <a:off x="6334471"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34" name="文本框 133"/>
          <p:cNvSpPr txBox="1"/>
          <p:nvPr/>
        </p:nvSpPr>
        <p:spPr>
          <a:xfrm>
            <a:off x="7037000"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35" name="文本框 134"/>
          <p:cNvSpPr txBox="1"/>
          <p:nvPr/>
        </p:nvSpPr>
        <p:spPr>
          <a:xfrm>
            <a:off x="7743198" y="2838113"/>
            <a:ext cx="312906" cy="369332"/>
          </a:xfrm>
          <a:prstGeom prst="rect">
            <a:avLst/>
          </a:prstGeom>
          <a:noFill/>
        </p:spPr>
        <p:txBody>
          <a:bodyPr wrap="none" rtlCol="0">
            <a:spAutoFit/>
          </a:bodyPr>
          <a:lstStyle/>
          <a:p>
            <a:r>
              <a:rPr lang="en-US" altLang="zh-CN" dirty="0">
                <a:latin typeface="微软雅黑 Light" panose="020B0502040204020203" pitchFamily="34" charset="-122"/>
              </a:rPr>
              <a:t>0</a:t>
            </a:r>
            <a:endParaRPr lang="zh-CN" altLang="en-US" dirty="0">
              <a:latin typeface="微软雅黑 Light" panose="020B0502040204020203" pitchFamily="34" charset="-122"/>
            </a:endParaRPr>
          </a:p>
        </p:txBody>
      </p:sp>
      <p:sp>
        <p:nvSpPr>
          <p:cNvPr id="136" name="文本框 135"/>
          <p:cNvSpPr txBox="1"/>
          <p:nvPr/>
        </p:nvSpPr>
        <p:spPr>
          <a:xfrm>
            <a:off x="2353719" y="4547761"/>
            <a:ext cx="360996" cy="369332"/>
          </a:xfrm>
          <a:prstGeom prst="rect">
            <a:avLst/>
          </a:prstGeom>
          <a:noFill/>
        </p:spPr>
        <p:txBody>
          <a:bodyPr wrap="none" rtlCol="0">
            <a:spAutoFit/>
          </a:bodyPr>
          <a:lstStyle/>
          <a:p>
            <a:pPr algn="ctr"/>
            <a:r>
              <a:rPr lang="en-US" altLang="zh-CN" dirty="0">
                <a:latin typeface="微软雅黑 Light" panose="020B0502040204020203" pitchFamily="34" charset="-122"/>
              </a:rPr>
              <a:t>11</a:t>
            </a:r>
            <a:endParaRPr lang="zh-CN" altLang="en-US" dirty="0">
              <a:latin typeface="微软雅黑 Light" panose="020B0502040204020203" pitchFamily="34" charset="-122"/>
            </a:endParaRPr>
          </a:p>
        </p:txBody>
      </p:sp>
      <p:sp>
        <p:nvSpPr>
          <p:cNvPr id="137" name="文本框 136"/>
          <p:cNvSpPr txBox="1"/>
          <p:nvPr/>
        </p:nvSpPr>
        <p:spPr>
          <a:xfrm>
            <a:off x="3019842" y="4547761"/>
            <a:ext cx="441147" cy="369332"/>
          </a:xfrm>
          <a:prstGeom prst="rect">
            <a:avLst/>
          </a:prstGeom>
          <a:noFill/>
        </p:spPr>
        <p:txBody>
          <a:bodyPr wrap="none" rtlCol="0">
            <a:spAutoFit/>
          </a:bodyPr>
          <a:lstStyle/>
          <a:p>
            <a:pPr algn="ctr"/>
            <a:r>
              <a:rPr lang="en-US" altLang="zh-CN" dirty="0">
                <a:latin typeface="微软雅黑 Light" panose="020B0502040204020203" pitchFamily="34" charset="-122"/>
              </a:rPr>
              <a:t>00</a:t>
            </a:r>
            <a:endParaRPr lang="zh-CN" altLang="en-US" dirty="0">
              <a:latin typeface="微软雅黑 Light" panose="020B0502040204020203" pitchFamily="34" charset="-122"/>
            </a:endParaRPr>
          </a:p>
        </p:txBody>
      </p:sp>
      <p:sp>
        <p:nvSpPr>
          <p:cNvPr id="138" name="文本框 137"/>
          <p:cNvSpPr txBox="1"/>
          <p:nvPr/>
        </p:nvSpPr>
        <p:spPr>
          <a:xfrm>
            <a:off x="2703897"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10</a:t>
            </a:r>
            <a:endParaRPr lang="zh-CN" altLang="en-US" dirty="0">
              <a:latin typeface="微软雅黑 Light" panose="020B0502040204020203" pitchFamily="34" charset="-122"/>
            </a:endParaRPr>
          </a:p>
        </p:txBody>
      </p:sp>
      <p:sp>
        <p:nvSpPr>
          <p:cNvPr id="139" name="文本框 138"/>
          <p:cNvSpPr txBox="1"/>
          <p:nvPr/>
        </p:nvSpPr>
        <p:spPr>
          <a:xfrm>
            <a:off x="3410095"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01</a:t>
            </a:r>
            <a:endParaRPr lang="zh-CN" altLang="en-US" dirty="0">
              <a:latin typeface="微软雅黑 Light" panose="020B0502040204020203" pitchFamily="34" charset="-122"/>
            </a:endParaRPr>
          </a:p>
        </p:txBody>
      </p:sp>
      <p:sp>
        <p:nvSpPr>
          <p:cNvPr id="140" name="文本框 139"/>
          <p:cNvSpPr txBox="1"/>
          <p:nvPr/>
        </p:nvSpPr>
        <p:spPr>
          <a:xfrm>
            <a:off x="3787259" y="4547761"/>
            <a:ext cx="360996" cy="369332"/>
          </a:xfrm>
          <a:prstGeom prst="rect">
            <a:avLst/>
          </a:prstGeom>
          <a:noFill/>
        </p:spPr>
        <p:txBody>
          <a:bodyPr wrap="none" rtlCol="0">
            <a:spAutoFit/>
          </a:bodyPr>
          <a:lstStyle/>
          <a:p>
            <a:pPr algn="ctr"/>
            <a:r>
              <a:rPr lang="en-US" altLang="zh-CN" dirty="0">
                <a:latin typeface="微软雅黑 Light" panose="020B0502040204020203" pitchFamily="34" charset="-122"/>
              </a:rPr>
              <a:t>11</a:t>
            </a:r>
            <a:endParaRPr lang="zh-CN" altLang="en-US" dirty="0">
              <a:latin typeface="微软雅黑 Light" panose="020B0502040204020203" pitchFamily="34" charset="-122"/>
            </a:endParaRPr>
          </a:p>
        </p:txBody>
      </p:sp>
      <p:sp>
        <p:nvSpPr>
          <p:cNvPr id="141" name="文本框 140"/>
          <p:cNvSpPr txBox="1"/>
          <p:nvPr/>
        </p:nvSpPr>
        <p:spPr>
          <a:xfrm>
            <a:off x="4453382" y="4547761"/>
            <a:ext cx="441147" cy="369332"/>
          </a:xfrm>
          <a:prstGeom prst="rect">
            <a:avLst/>
          </a:prstGeom>
          <a:noFill/>
        </p:spPr>
        <p:txBody>
          <a:bodyPr wrap="none" rtlCol="0">
            <a:spAutoFit/>
          </a:bodyPr>
          <a:lstStyle/>
          <a:p>
            <a:pPr algn="ctr"/>
            <a:r>
              <a:rPr lang="en-US" altLang="zh-CN" dirty="0">
                <a:latin typeface="微软雅黑 Light" panose="020B0502040204020203" pitchFamily="34" charset="-122"/>
              </a:rPr>
              <a:t>00</a:t>
            </a:r>
            <a:endParaRPr lang="zh-CN" altLang="en-US" dirty="0">
              <a:latin typeface="微软雅黑 Light" panose="020B0502040204020203" pitchFamily="34" charset="-122"/>
            </a:endParaRPr>
          </a:p>
        </p:txBody>
      </p:sp>
      <p:sp>
        <p:nvSpPr>
          <p:cNvPr id="142" name="文本框 141"/>
          <p:cNvSpPr txBox="1"/>
          <p:nvPr/>
        </p:nvSpPr>
        <p:spPr>
          <a:xfrm>
            <a:off x="4137437"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10</a:t>
            </a:r>
            <a:endParaRPr lang="zh-CN" altLang="en-US" dirty="0">
              <a:latin typeface="微软雅黑 Light" panose="020B0502040204020203" pitchFamily="34" charset="-122"/>
            </a:endParaRPr>
          </a:p>
        </p:txBody>
      </p:sp>
      <p:sp>
        <p:nvSpPr>
          <p:cNvPr id="143" name="文本框 142"/>
          <p:cNvSpPr txBox="1"/>
          <p:nvPr/>
        </p:nvSpPr>
        <p:spPr>
          <a:xfrm>
            <a:off x="4843635"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01</a:t>
            </a:r>
            <a:endParaRPr lang="zh-CN" altLang="en-US" dirty="0">
              <a:latin typeface="微软雅黑 Light" panose="020B0502040204020203" pitchFamily="34" charset="-122"/>
            </a:endParaRPr>
          </a:p>
        </p:txBody>
      </p:sp>
      <p:sp>
        <p:nvSpPr>
          <p:cNvPr id="144" name="文本框 143"/>
          <p:cNvSpPr txBox="1"/>
          <p:nvPr/>
        </p:nvSpPr>
        <p:spPr>
          <a:xfrm>
            <a:off x="5208241" y="4547761"/>
            <a:ext cx="360996" cy="369332"/>
          </a:xfrm>
          <a:prstGeom prst="rect">
            <a:avLst/>
          </a:prstGeom>
          <a:noFill/>
        </p:spPr>
        <p:txBody>
          <a:bodyPr wrap="none" rtlCol="0">
            <a:spAutoFit/>
          </a:bodyPr>
          <a:lstStyle/>
          <a:p>
            <a:pPr algn="ctr"/>
            <a:r>
              <a:rPr lang="en-US" altLang="zh-CN" dirty="0">
                <a:latin typeface="微软雅黑 Light" panose="020B0502040204020203" pitchFamily="34" charset="-122"/>
              </a:rPr>
              <a:t>11</a:t>
            </a:r>
            <a:endParaRPr lang="zh-CN" altLang="en-US" dirty="0">
              <a:latin typeface="微软雅黑 Light" panose="020B0502040204020203" pitchFamily="34" charset="-122"/>
            </a:endParaRPr>
          </a:p>
        </p:txBody>
      </p:sp>
      <p:sp>
        <p:nvSpPr>
          <p:cNvPr id="145" name="文本框 144"/>
          <p:cNvSpPr txBox="1"/>
          <p:nvPr/>
        </p:nvSpPr>
        <p:spPr>
          <a:xfrm>
            <a:off x="5874364" y="4547761"/>
            <a:ext cx="441147" cy="369332"/>
          </a:xfrm>
          <a:prstGeom prst="rect">
            <a:avLst/>
          </a:prstGeom>
          <a:noFill/>
        </p:spPr>
        <p:txBody>
          <a:bodyPr wrap="none" rtlCol="0">
            <a:spAutoFit/>
          </a:bodyPr>
          <a:lstStyle/>
          <a:p>
            <a:pPr algn="ctr"/>
            <a:r>
              <a:rPr lang="en-US" altLang="zh-CN" dirty="0">
                <a:latin typeface="微软雅黑 Light" panose="020B0502040204020203" pitchFamily="34" charset="-122"/>
              </a:rPr>
              <a:t>00</a:t>
            </a:r>
            <a:endParaRPr lang="zh-CN" altLang="en-US" dirty="0">
              <a:latin typeface="微软雅黑 Light" panose="020B0502040204020203" pitchFamily="34" charset="-122"/>
            </a:endParaRPr>
          </a:p>
        </p:txBody>
      </p:sp>
      <p:sp>
        <p:nvSpPr>
          <p:cNvPr id="146" name="文本框 145"/>
          <p:cNvSpPr txBox="1"/>
          <p:nvPr/>
        </p:nvSpPr>
        <p:spPr>
          <a:xfrm>
            <a:off x="5558419"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10</a:t>
            </a:r>
            <a:endParaRPr lang="zh-CN" altLang="en-US" dirty="0">
              <a:latin typeface="微软雅黑 Light" panose="020B0502040204020203" pitchFamily="34" charset="-122"/>
            </a:endParaRPr>
          </a:p>
        </p:txBody>
      </p:sp>
      <p:sp>
        <p:nvSpPr>
          <p:cNvPr id="147" name="文本框 146"/>
          <p:cNvSpPr txBox="1"/>
          <p:nvPr/>
        </p:nvSpPr>
        <p:spPr>
          <a:xfrm>
            <a:off x="6264617"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01</a:t>
            </a:r>
            <a:endParaRPr lang="zh-CN" altLang="en-US" dirty="0">
              <a:latin typeface="微软雅黑 Light" panose="020B0502040204020203" pitchFamily="34" charset="-122"/>
            </a:endParaRPr>
          </a:p>
        </p:txBody>
      </p:sp>
      <p:sp>
        <p:nvSpPr>
          <p:cNvPr id="148" name="文本框 147"/>
          <p:cNvSpPr txBox="1"/>
          <p:nvPr/>
        </p:nvSpPr>
        <p:spPr>
          <a:xfrm>
            <a:off x="6605618" y="4547761"/>
            <a:ext cx="360996" cy="369332"/>
          </a:xfrm>
          <a:prstGeom prst="rect">
            <a:avLst/>
          </a:prstGeom>
          <a:noFill/>
        </p:spPr>
        <p:txBody>
          <a:bodyPr wrap="none" rtlCol="0">
            <a:spAutoFit/>
          </a:bodyPr>
          <a:lstStyle/>
          <a:p>
            <a:pPr algn="ctr"/>
            <a:r>
              <a:rPr lang="en-US" altLang="zh-CN" dirty="0">
                <a:latin typeface="微软雅黑 Light" panose="020B0502040204020203" pitchFamily="34" charset="-122"/>
              </a:rPr>
              <a:t>11</a:t>
            </a:r>
            <a:endParaRPr lang="zh-CN" altLang="en-US" dirty="0">
              <a:latin typeface="微软雅黑 Light" panose="020B0502040204020203" pitchFamily="34" charset="-122"/>
            </a:endParaRPr>
          </a:p>
        </p:txBody>
      </p:sp>
      <p:sp>
        <p:nvSpPr>
          <p:cNvPr id="149" name="文本框 148"/>
          <p:cNvSpPr txBox="1"/>
          <p:nvPr/>
        </p:nvSpPr>
        <p:spPr>
          <a:xfrm>
            <a:off x="7271741" y="4547761"/>
            <a:ext cx="441147" cy="369332"/>
          </a:xfrm>
          <a:prstGeom prst="rect">
            <a:avLst/>
          </a:prstGeom>
          <a:noFill/>
        </p:spPr>
        <p:txBody>
          <a:bodyPr wrap="none" rtlCol="0">
            <a:spAutoFit/>
          </a:bodyPr>
          <a:lstStyle/>
          <a:p>
            <a:pPr algn="ctr"/>
            <a:r>
              <a:rPr lang="en-US" altLang="zh-CN" dirty="0">
                <a:latin typeface="微软雅黑 Light" panose="020B0502040204020203" pitchFamily="34" charset="-122"/>
              </a:rPr>
              <a:t>00</a:t>
            </a:r>
            <a:endParaRPr lang="zh-CN" altLang="en-US" dirty="0">
              <a:latin typeface="微软雅黑 Light" panose="020B0502040204020203" pitchFamily="34" charset="-122"/>
            </a:endParaRPr>
          </a:p>
        </p:txBody>
      </p:sp>
      <p:sp>
        <p:nvSpPr>
          <p:cNvPr id="150" name="文本框 149"/>
          <p:cNvSpPr txBox="1"/>
          <p:nvPr/>
        </p:nvSpPr>
        <p:spPr>
          <a:xfrm>
            <a:off x="6955796"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10</a:t>
            </a:r>
            <a:endParaRPr lang="zh-CN" altLang="en-US" dirty="0">
              <a:latin typeface="微软雅黑 Light" panose="020B0502040204020203" pitchFamily="34" charset="-122"/>
            </a:endParaRPr>
          </a:p>
        </p:txBody>
      </p:sp>
      <p:sp>
        <p:nvSpPr>
          <p:cNvPr id="151" name="文本框 150"/>
          <p:cNvSpPr txBox="1"/>
          <p:nvPr/>
        </p:nvSpPr>
        <p:spPr>
          <a:xfrm>
            <a:off x="7661994" y="4547761"/>
            <a:ext cx="401071" cy="369332"/>
          </a:xfrm>
          <a:prstGeom prst="rect">
            <a:avLst/>
          </a:prstGeom>
          <a:noFill/>
        </p:spPr>
        <p:txBody>
          <a:bodyPr wrap="none" rtlCol="0">
            <a:spAutoFit/>
          </a:bodyPr>
          <a:lstStyle/>
          <a:p>
            <a:pPr algn="ctr"/>
            <a:r>
              <a:rPr lang="en-US" altLang="zh-CN" dirty="0">
                <a:latin typeface="微软雅黑 Light" panose="020B0502040204020203" pitchFamily="34" charset="-122"/>
              </a:rPr>
              <a:t>01</a:t>
            </a:r>
            <a:endParaRPr lang="zh-CN" altLang="en-US" dirty="0">
              <a:latin typeface="微软雅黑 Light" panose="020B0502040204020203" pitchFamily="34" charset="-122"/>
            </a:endParaRPr>
          </a:p>
        </p:txBody>
      </p:sp>
      <p:sp>
        <p:nvSpPr>
          <p:cNvPr id="152" name="文本框 151"/>
          <p:cNvSpPr txBox="1"/>
          <p:nvPr/>
        </p:nvSpPr>
        <p:spPr>
          <a:xfrm>
            <a:off x="9110552" y="1411120"/>
            <a:ext cx="1737976" cy="923330"/>
          </a:xfrm>
          <a:prstGeom prst="rect">
            <a:avLst/>
          </a:prstGeom>
          <a:noFill/>
        </p:spPr>
        <p:txBody>
          <a:bodyPr wrap="none" rtlCol="0">
            <a:spAutoFit/>
          </a:bodyPr>
          <a:lstStyle/>
          <a:p>
            <a:r>
              <a:rPr lang="zh-CN" altLang="en-US" dirty="0">
                <a:latin typeface="微软雅黑 Light" panose="020B0502040204020203" pitchFamily="34" charset="-122"/>
                <a:ea typeface="微软雅黑 Light" panose="020B0502040204020203" pitchFamily="34" charset="-122"/>
              </a:rPr>
              <a:t>波特率：</a:t>
            </a:r>
            <a:r>
              <a:rPr lang="en-US" altLang="zh-CN" dirty="0">
                <a:latin typeface="微软雅黑 Light" panose="020B0502040204020203" pitchFamily="34" charset="-122"/>
                <a:ea typeface="微软雅黑 Light" panose="020B0502040204020203" pitchFamily="34" charset="-122"/>
              </a:rPr>
              <a:t>8</a:t>
            </a:r>
            <a:r>
              <a:rPr lang="zh-CN" altLang="en-US" dirty="0">
                <a:latin typeface="微软雅黑 Light" panose="020B0502040204020203" pitchFamily="34" charset="-122"/>
                <a:ea typeface="微软雅黑 Light" panose="020B0502040204020203" pitchFamily="34" charset="-122"/>
              </a:rPr>
              <a:t>波特</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码元状态：</a:t>
            </a:r>
            <a:r>
              <a:rPr lang="en-US" altLang="zh-CN" dirty="0">
                <a:latin typeface="微软雅黑 Light" panose="020B0502040204020203" pitchFamily="34" charset="-122"/>
                <a:ea typeface="微软雅黑 Light" panose="020B0502040204020203" pitchFamily="34" charset="-122"/>
              </a:rPr>
              <a:t>2</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比特率：</a:t>
            </a:r>
            <a:r>
              <a:rPr lang="en-US" altLang="zh-CN" dirty="0">
                <a:latin typeface="微软雅黑 Light" panose="020B0502040204020203" pitchFamily="34" charset="-122"/>
                <a:ea typeface="微软雅黑 Light" panose="020B0502040204020203" pitchFamily="34" charset="-122"/>
              </a:rPr>
              <a:t>8bps</a:t>
            </a:r>
            <a:endParaRPr lang="zh-CN" altLang="en-US" dirty="0">
              <a:latin typeface="微软雅黑 Light" panose="020B0502040204020203" pitchFamily="34" charset="-122"/>
              <a:ea typeface="微软雅黑 Light" panose="020B0502040204020203" pitchFamily="34" charset="-122"/>
            </a:endParaRPr>
          </a:p>
        </p:txBody>
      </p:sp>
      <p:sp>
        <p:nvSpPr>
          <p:cNvPr id="155" name="文本框 154"/>
          <p:cNvSpPr txBox="1"/>
          <p:nvPr/>
        </p:nvSpPr>
        <p:spPr>
          <a:xfrm>
            <a:off x="8247756" y="2057451"/>
            <a:ext cx="492443" cy="276999"/>
          </a:xfrm>
          <a:prstGeom prst="rect">
            <a:avLst/>
          </a:prstGeom>
          <a:noFill/>
        </p:spPr>
        <p:txBody>
          <a:bodyPr wrap="none" rtlCol="0">
            <a:spAutoFit/>
          </a:bodyPr>
          <a:lstStyle/>
          <a:p>
            <a:r>
              <a:rPr lang="zh-CN" altLang="en-US" sz="1200" dirty="0">
                <a:latin typeface="微软雅黑 Light" panose="020B0502040204020203" pitchFamily="34" charset="-122"/>
              </a:rPr>
              <a:t>时间</a:t>
            </a:r>
            <a:endParaRPr lang="zh-CN" altLang="en-US" sz="1200" dirty="0">
              <a:latin typeface="微软雅黑 Light" panose="020B0502040204020203" pitchFamily="34" charset="-122"/>
            </a:endParaRPr>
          </a:p>
        </p:txBody>
      </p:sp>
      <p:sp>
        <p:nvSpPr>
          <p:cNvPr id="156" name="文本框 155"/>
          <p:cNvSpPr txBox="1"/>
          <p:nvPr/>
        </p:nvSpPr>
        <p:spPr>
          <a:xfrm>
            <a:off x="8247756" y="3649453"/>
            <a:ext cx="492443" cy="276999"/>
          </a:xfrm>
          <a:prstGeom prst="rect">
            <a:avLst/>
          </a:prstGeom>
          <a:noFill/>
        </p:spPr>
        <p:txBody>
          <a:bodyPr wrap="none" rtlCol="0">
            <a:spAutoFit/>
          </a:bodyPr>
          <a:lstStyle/>
          <a:p>
            <a:r>
              <a:rPr lang="zh-CN" altLang="en-US" sz="1200" dirty="0">
                <a:latin typeface="微软雅黑 Light" panose="020B0502040204020203" pitchFamily="34" charset="-122"/>
              </a:rPr>
              <a:t>时间</a:t>
            </a:r>
            <a:endParaRPr lang="zh-CN" altLang="en-US" sz="1200" dirty="0">
              <a:latin typeface="微软雅黑 Light" panose="020B0502040204020203" pitchFamily="34" charset="-122"/>
            </a:endParaRPr>
          </a:p>
        </p:txBody>
      </p:sp>
      <p:sp>
        <p:nvSpPr>
          <p:cNvPr id="157" name="文本框 156"/>
          <p:cNvSpPr txBox="1"/>
          <p:nvPr/>
        </p:nvSpPr>
        <p:spPr>
          <a:xfrm>
            <a:off x="8247756" y="5315619"/>
            <a:ext cx="492443" cy="276999"/>
          </a:xfrm>
          <a:prstGeom prst="rect">
            <a:avLst/>
          </a:prstGeom>
          <a:noFill/>
        </p:spPr>
        <p:txBody>
          <a:bodyPr wrap="none" rtlCol="0">
            <a:spAutoFit/>
          </a:bodyPr>
          <a:lstStyle/>
          <a:p>
            <a:r>
              <a:rPr lang="zh-CN" altLang="en-US" sz="1200" dirty="0">
                <a:latin typeface="微软雅黑 Light" panose="020B0502040204020203" pitchFamily="34" charset="-122"/>
              </a:rPr>
              <a:t>时间</a:t>
            </a:r>
            <a:endParaRPr lang="zh-CN" altLang="en-US" sz="1200" dirty="0">
              <a:latin typeface="微软雅黑 Light" panose="020B0502040204020203" pitchFamily="34" charset="-122"/>
            </a:endParaRPr>
          </a:p>
        </p:txBody>
      </p:sp>
      <p:sp>
        <p:nvSpPr>
          <p:cNvPr id="158" name="文本框 157"/>
          <p:cNvSpPr txBox="1"/>
          <p:nvPr/>
        </p:nvSpPr>
        <p:spPr>
          <a:xfrm>
            <a:off x="2124593" y="1054731"/>
            <a:ext cx="492443" cy="276999"/>
          </a:xfrm>
          <a:prstGeom prst="rect">
            <a:avLst/>
          </a:prstGeom>
          <a:noFill/>
        </p:spPr>
        <p:txBody>
          <a:bodyPr wrap="none" rtlCol="0">
            <a:spAutoFit/>
          </a:bodyPr>
          <a:lstStyle/>
          <a:p>
            <a:r>
              <a:rPr lang="zh-CN" altLang="en-US" sz="1200" dirty="0">
                <a:latin typeface="微软雅黑 Light" panose="020B0502040204020203" pitchFamily="34" charset="-122"/>
              </a:rPr>
              <a:t>振幅</a:t>
            </a:r>
            <a:endParaRPr lang="zh-CN" altLang="en-US" sz="1200" dirty="0">
              <a:latin typeface="微软雅黑 Light" panose="020B0502040204020203" pitchFamily="34" charset="-122"/>
            </a:endParaRPr>
          </a:p>
        </p:txBody>
      </p:sp>
      <p:sp>
        <p:nvSpPr>
          <p:cNvPr id="159" name="文本框 158"/>
          <p:cNvSpPr txBox="1"/>
          <p:nvPr/>
        </p:nvSpPr>
        <p:spPr>
          <a:xfrm>
            <a:off x="2124593" y="2680659"/>
            <a:ext cx="492443" cy="276999"/>
          </a:xfrm>
          <a:prstGeom prst="rect">
            <a:avLst/>
          </a:prstGeom>
          <a:noFill/>
        </p:spPr>
        <p:txBody>
          <a:bodyPr wrap="none" rtlCol="0">
            <a:spAutoFit/>
          </a:bodyPr>
          <a:lstStyle/>
          <a:p>
            <a:r>
              <a:rPr lang="zh-CN" altLang="en-US" sz="1200" dirty="0">
                <a:latin typeface="微软雅黑 Light" panose="020B0502040204020203" pitchFamily="34" charset="-122"/>
              </a:rPr>
              <a:t>振幅</a:t>
            </a:r>
            <a:endParaRPr lang="zh-CN" altLang="en-US" sz="1200" dirty="0">
              <a:latin typeface="微软雅黑 Light" panose="020B0502040204020203" pitchFamily="34" charset="-122"/>
            </a:endParaRPr>
          </a:p>
        </p:txBody>
      </p:sp>
      <p:sp>
        <p:nvSpPr>
          <p:cNvPr id="160" name="文本框 159"/>
          <p:cNvSpPr txBox="1"/>
          <p:nvPr/>
        </p:nvSpPr>
        <p:spPr>
          <a:xfrm>
            <a:off x="2124593" y="4334880"/>
            <a:ext cx="492443" cy="276999"/>
          </a:xfrm>
          <a:prstGeom prst="rect">
            <a:avLst/>
          </a:prstGeom>
          <a:noFill/>
        </p:spPr>
        <p:txBody>
          <a:bodyPr wrap="none" rtlCol="0">
            <a:spAutoFit/>
          </a:bodyPr>
          <a:lstStyle/>
          <a:p>
            <a:r>
              <a:rPr lang="zh-CN" altLang="en-US" sz="1200" dirty="0">
                <a:latin typeface="微软雅黑 Light" panose="020B0502040204020203" pitchFamily="34" charset="-122"/>
              </a:rPr>
              <a:t>振幅</a:t>
            </a:r>
            <a:endParaRPr lang="zh-CN" altLang="en-US" sz="1200" dirty="0">
              <a:latin typeface="微软雅黑 Light" panose="020B0502040204020203" pitchFamily="34" charset="-122"/>
            </a:endParaRPr>
          </a:p>
        </p:txBody>
      </p:sp>
      <p:sp>
        <p:nvSpPr>
          <p:cNvPr id="161" name="文本框 160"/>
          <p:cNvSpPr txBox="1"/>
          <p:nvPr/>
        </p:nvSpPr>
        <p:spPr>
          <a:xfrm>
            <a:off x="2086258" y="3570642"/>
            <a:ext cx="298480" cy="338554"/>
          </a:xfrm>
          <a:prstGeom prst="rect">
            <a:avLst/>
          </a:prstGeom>
          <a:noFill/>
        </p:spPr>
        <p:txBody>
          <a:bodyPr wrap="none" rtlCol="0">
            <a:spAutoFit/>
          </a:bodyPr>
          <a:lstStyle/>
          <a:p>
            <a:r>
              <a:rPr lang="en-US" altLang="zh-CN" sz="1600" dirty="0">
                <a:latin typeface="微软雅黑 Light" panose="020B0502040204020203" pitchFamily="34" charset="-122"/>
              </a:rPr>
              <a:t>0</a:t>
            </a:r>
            <a:endParaRPr lang="zh-CN" altLang="en-US" sz="1600" dirty="0">
              <a:latin typeface="微软雅黑 Light" panose="020B0502040204020203" pitchFamily="34" charset="-122"/>
            </a:endParaRPr>
          </a:p>
        </p:txBody>
      </p:sp>
      <p:sp>
        <p:nvSpPr>
          <p:cNvPr id="162" name="文本框 161"/>
          <p:cNvSpPr txBox="1"/>
          <p:nvPr/>
        </p:nvSpPr>
        <p:spPr>
          <a:xfrm>
            <a:off x="2086258" y="5306445"/>
            <a:ext cx="298480" cy="338554"/>
          </a:xfrm>
          <a:prstGeom prst="rect">
            <a:avLst/>
          </a:prstGeom>
          <a:noFill/>
        </p:spPr>
        <p:txBody>
          <a:bodyPr wrap="none" rtlCol="0">
            <a:spAutoFit/>
          </a:bodyPr>
          <a:lstStyle/>
          <a:p>
            <a:r>
              <a:rPr lang="en-US" altLang="zh-CN" sz="1600" dirty="0">
                <a:latin typeface="微软雅黑 Light" panose="020B0502040204020203" pitchFamily="34" charset="-122"/>
              </a:rPr>
              <a:t>0</a:t>
            </a:r>
            <a:endParaRPr lang="zh-CN" altLang="en-US" sz="1600" dirty="0">
              <a:latin typeface="微软雅黑 Light" panose="020B0502040204020203" pitchFamily="34" charset="-122"/>
            </a:endParaRPr>
          </a:p>
        </p:txBody>
      </p:sp>
      <p:sp>
        <p:nvSpPr>
          <p:cNvPr id="163" name="文本框 162"/>
          <p:cNvSpPr txBox="1"/>
          <p:nvPr/>
        </p:nvSpPr>
        <p:spPr>
          <a:xfrm>
            <a:off x="2086258" y="2004819"/>
            <a:ext cx="298480" cy="338554"/>
          </a:xfrm>
          <a:prstGeom prst="rect">
            <a:avLst/>
          </a:prstGeom>
          <a:noFill/>
        </p:spPr>
        <p:txBody>
          <a:bodyPr wrap="none" rtlCol="0">
            <a:spAutoFit/>
          </a:bodyPr>
          <a:lstStyle/>
          <a:p>
            <a:r>
              <a:rPr lang="en-US" altLang="zh-CN" sz="1600" dirty="0">
                <a:latin typeface="微软雅黑 Light" panose="020B0502040204020203" pitchFamily="34" charset="-122"/>
              </a:rPr>
              <a:t>0</a:t>
            </a:r>
            <a:endParaRPr lang="zh-CN" altLang="en-US" sz="1600" dirty="0">
              <a:latin typeface="微软雅黑 Light" panose="020B0502040204020203" pitchFamily="34" charset="-122"/>
            </a:endParaRPr>
          </a:p>
        </p:txBody>
      </p:sp>
      <p:sp>
        <p:nvSpPr>
          <p:cNvPr id="164" name="文本框 163"/>
          <p:cNvSpPr txBox="1"/>
          <p:nvPr/>
        </p:nvSpPr>
        <p:spPr>
          <a:xfrm>
            <a:off x="1977254" y="1420055"/>
            <a:ext cx="442750" cy="338554"/>
          </a:xfrm>
          <a:prstGeom prst="rect">
            <a:avLst/>
          </a:prstGeom>
          <a:noFill/>
        </p:spPr>
        <p:txBody>
          <a:bodyPr wrap="none" rtlCol="0">
            <a:spAutoFit/>
          </a:bodyPr>
          <a:lstStyle/>
          <a:p>
            <a:r>
              <a:rPr lang="en-US" altLang="zh-CN" sz="1600" dirty="0">
                <a:latin typeface="微软雅黑 Light" panose="020B0502040204020203" pitchFamily="34" charset="-122"/>
              </a:rPr>
              <a:t>+5</a:t>
            </a:r>
            <a:endParaRPr lang="zh-CN" altLang="en-US" sz="1600" dirty="0">
              <a:latin typeface="微软雅黑 Light" panose="020B0502040204020203" pitchFamily="34" charset="-122"/>
            </a:endParaRPr>
          </a:p>
        </p:txBody>
      </p:sp>
      <p:sp>
        <p:nvSpPr>
          <p:cNvPr id="165" name="文本框 164"/>
          <p:cNvSpPr txBox="1"/>
          <p:nvPr/>
        </p:nvSpPr>
        <p:spPr>
          <a:xfrm>
            <a:off x="1977254" y="3037878"/>
            <a:ext cx="442750" cy="338554"/>
          </a:xfrm>
          <a:prstGeom prst="rect">
            <a:avLst/>
          </a:prstGeom>
          <a:noFill/>
        </p:spPr>
        <p:txBody>
          <a:bodyPr wrap="none" rtlCol="0">
            <a:spAutoFit/>
          </a:bodyPr>
          <a:lstStyle/>
          <a:p>
            <a:r>
              <a:rPr lang="en-US" altLang="zh-CN" sz="1600" dirty="0">
                <a:latin typeface="微软雅黑 Light" panose="020B0502040204020203" pitchFamily="34" charset="-122"/>
              </a:rPr>
              <a:t>+5</a:t>
            </a:r>
            <a:endParaRPr lang="zh-CN" altLang="en-US" sz="1600" dirty="0">
              <a:latin typeface="微软雅黑 Light" panose="020B0502040204020203" pitchFamily="34" charset="-122"/>
            </a:endParaRPr>
          </a:p>
        </p:txBody>
      </p:sp>
      <p:sp>
        <p:nvSpPr>
          <p:cNvPr id="166" name="文本框 165"/>
          <p:cNvSpPr txBox="1"/>
          <p:nvPr/>
        </p:nvSpPr>
        <p:spPr>
          <a:xfrm>
            <a:off x="1977254" y="4688904"/>
            <a:ext cx="442750" cy="338554"/>
          </a:xfrm>
          <a:prstGeom prst="rect">
            <a:avLst/>
          </a:prstGeom>
          <a:noFill/>
        </p:spPr>
        <p:txBody>
          <a:bodyPr wrap="none" rtlCol="0">
            <a:spAutoFit/>
          </a:bodyPr>
          <a:lstStyle/>
          <a:p>
            <a:r>
              <a:rPr lang="en-US" altLang="zh-CN" sz="1600" dirty="0">
                <a:latin typeface="微软雅黑 Light" panose="020B0502040204020203" pitchFamily="34" charset="-122"/>
              </a:rPr>
              <a:t>+5</a:t>
            </a:r>
            <a:endParaRPr lang="zh-CN" altLang="en-US" sz="1600" dirty="0">
              <a:latin typeface="微软雅黑 Light" panose="020B0502040204020203" pitchFamily="34" charset="-122"/>
            </a:endParaRPr>
          </a:p>
        </p:txBody>
      </p:sp>
      <p:sp>
        <p:nvSpPr>
          <p:cNvPr id="167" name="文本框 166"/>
          <p:cNvSpPr txBox="1"/>
          <p:nvPr/>
        </p:nvSpPr>
        <p:spPr>
          <a:xfrm>
            <a:off x="1974048" y="4995207"/>
            <a:ext cx="442750" cy="338554"/>
          </a:xfrm>
          <a:prstGeom prst="rect">
            <a:avLst/>
          </a:prstGeom>
          <a:noFill/>
        </p:spPr>
        <p:txBody>
          <a:bodyPr wrap="none" rtlCol="0">
            <a:spAutoFit/>
          </a:bodyPr>
          <a:lstStyle/>
          <a:p>
            <a:r>
              <a:rPr lang="en-US" altLang="zh-CN" sz="1600" dirty="0">
                <a:latin typeface="微软雅黑 Light" panose="020B0502040204020203" pitchFamily="34" charset="-122"/>
              </a:rPr>
              <a:t>+2</a:t>
            </a:r>
            <a:endParaRPr lang="zh-CN" altLang="en-US" sz="1600" dirty="0">
              <a:latin typeface="微软雅黑 Light" panose="020B0502040204020203" pitchFamily="34" charset="-122"/>
            </a:endParaRPr>
          </a:p>
        </p:txBody>
      </p:sp>
      <p:sp>
        <p:nvSpPr>
          <p:cNvPr id="168" name="文本框 167"/>
          <p:cNvSpPr txBox="1"/>
          <p:nvPr/>
        </p:nvSpPr>
        <p:spPr>
          <a:xfrm>
            <a:off x="2018131" y="5581180"/>
            <a:ext cx="386644" cy="338554"/>
          </a:xfrm>
          <a:prstGeom prst="rect">
            <a:avLst/>
          </a:prstGeom>
          <a:noFill/>
        </p:spPr>
        <p:txBody>
          <a:bodyPr wrap="none" rtlCol="0">
            <a:spAutoFit/>
          </a:bodyPr>
          <a:lstStyle/>
          <a:p>
            <a:r>
              <a:rPr lang="en-US" altLang="zh-CN" sz="1600" dirty="0">
                <a:latin typeface="微软雅黑 Light" panose="020B0502040204020203" pitchFamily="34" charset="-122"/>
              </a:rPr>
              <a:t>-2</a:t>
            </a:r>
            <a:endParaRPr lang="zh-CN" altLang="en-US" sz="1600" dirty="0">
              <a:latin typeface="微软雅黑 Light" panose="020B0502040204020203" pitchFamily="34" charset="-122"/>
            </a:endParaRPr>
          </a:p>
        </p:txBody>
      </p:sp>
      <p:sp>
        <p:nvSpPr>
          <p:cNvPr id="169" name="文本框 168"/>
          <p:cNvSpPr txBox="1"/>
          <p:nvPr/>
        </p:nvSpPr>
        <p:spPr>
          <a:xfrm>
            <a:off x="2021337" y="5829309"/>
            <a:ext cx="386644" cy="338554"/>
          </a:xfrm>
          <a:prstGeom prst="rect">
            <a:avLst/>
          </a:prstGeom>
          <a:noFill/>
        </p:spPr>
        <p:txBody>
          <a:bodyPr wrap="none" rtlCol="0">
            <a:spAutoFit/>
          </a:bodyPr>
          <a:lstStyle/>
          <a:p>
            <a:r>
              <a:rPr lang="en-US" altLang="zh-CN" sz="1600" dirty="0">
                <a:latin typeface="微软雅黑 Light" panose="020B0502040204020203" pitchFamily="34" charset="-122"/>
              </a:rPr>
              <a:t>-5</a:t>
            </a:r>
            <a:endParaRPr lang="zh-CN" altLang="en-US" sz="1600" dirty="0">
              <a:latin typeface="微软雅黑 Light" panose="020B0502040204020203" pitchFamily="34" charset="-122"/>
            </a:endParaRPr>
          </a:p>
        </p:txBody>
      </p:sp>
      <p:sp>
        <p:nvSpPr>
          <p:cNvPr id="172" name="文本框 171"/>
          <p:cNvSpPr txBox="1"/>
          <p:nvPr/>
        </p:nvSpPr>
        <p:spPr>
          <a:xfrm>
            <a:off x="9110552" y="4917093"/>
            <a:ext cx="1786066" cy="923330"/>
          </a:xfrm>
          <a:prstGeom prst="rect">
            <a:avLst/>
          </a:prstGeom>
          <a:noFill/>
        </p:spPr>
        <p:txBody>
          <a:bodyPr wrap="none" rtlCol="0">
            <a:spAutoFit/>
          </a:bodyPr>
          <a:lstStyle/>
          <a:p>
            <a:r>
              <a:rPr lang="zh-CN" altLang="en-US" dirty="0">
                <a:latin typeface="微软雅黑 Light" panose="020B0502040204020203" pitchFamily="34" charset="-122"/>
                <a:ea typeface="微软雅黑 Light" panose="020B0502040204020203" pitchFamily="34" charset="-122"/>
              </a:rPr>
              <a:t>波特率：</a:t>
            </a:r>
            <a:r>
              <a:rPr lang="en-US" altLang="zh-CN" dirty="0">
                <a:latin typeface="微软雅黑 Light" panose="020B0502040204020203" pitchFamily="34" charset="-122"/>
                <a:ea typeface="微软雅黑 Light" panose="020B0502040204020203" pitchFamily="34" charset="-122"/>
              </a:rPr>
              <a:t>16</a:t>
            </a:r>
            <a:r>
              <a:rPr lang="zh-CN" altLang="en-US" dirty="0">
                <a:latin typeface="微软雅黑 Light" panose="020B0502040204020203" pitchFamily="34" charset="-122"/>
                <a:ea typeface="微软雅黑 Light" panose="020B0502040204020203" pitchFamily="34" charset="-122"/>
              </a:rPr>
              <a:t>波特</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码元状态：</a:t>
            </a:r>
            <a:r>
              <a:rPr lang="en-US" altLang="zh-CN" dirty="0">
                <a:latin typeface="微软雅黑 Light" panose="020B0502040204020203" pitchFamily="34" charset="-122"/>
                <a:ea typeface="微软雅黑 Light" panose="020B0502040204020203" pitchFamily="34" charset="-122"/>
              </a:rPr>
              <a:t>4</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比特率：</a:t>
            </a:r>
            <a:r>
              <a:rPr lang="en-US" altLang="zh-CN" dirty="0">
                <a:latin typeface="微软雅黑 Light" panose="020B0502040204020203" pitchFamily="34" charset="-122"/>
                <a:ea typeface="微软雅黑 Light" panose="020B0502040204020203" pitchFamily="34" charset="-122"/>
              </a:rPr>
              <a:t>32bps</a:t>
            </a:r>
            <a:endParaRPr lang="zh-CN" altLang="en-US" dirty="0">
              <a:latin typeface="微软雅黑 Light" panose="020B0502040204020203" pitchFamily="34" charset="-122"/>
              <a:ea typeface="微软雅黑 Light" panose="020B0502040204020203" pitchFamily="34" charset="-122"/>
            </a:endParaRPr>
          </a:p>
        </p:txBody>
      </p:sp>
      <p:sp>
        <p:nvSpPr>
          <p:cNvPr id="173" name="文本框 172"/>
          <p:cNvSpPr txBox="1"/>
          <p:nvPr/>
        </p:nvSpPr>
        <p:spPr>
          <a:xfrm>
            <a:off x="9110552" y="3223596"/>
            <a:ext cx="1786066" cy="923330"/>
          </a:xfrm>
          <a:prstGeom prst="rect">
            <a:avLst/>
          </a:prstGeom>
          <a:noFill/>
        </p:spPr>
        <p:txBody>
          <a:bodyPr wrap="none" rtlCol="0">
            <a:spAutoFit/>
          </a:bodyPr>
          <a:lstStyle/>
          <a:p>
            <a:r>
              <a:rPr lang="zh-CN" altLang="en-US" dirty="0">
                <a:latin typeface="微软雅黑 Light" panose="020B0502040204020203" pitchFamily="34" charset="-122"/>
                <a:ea typeface="微软雅黑 Light" panose="020B0502040204020203" pitchFamily="34" charset="-122"/>
              </a:rPr>
              <a:t>波特率：</a:t>
            </a:r>
            <a:r>
              <a:rPr lang="en-US" altLang="zh-CN" dirty="0">
                <a:latin typeface="微软雅黑 Light" panose="020B0502040204020203" pitchFamily="34" charset="-122"/>
                <a:ea typeface="微软雅黑 Light" panose="020B0502040204020203" pitchFamily="34" charset="-122"/>
              </a:rPr>
              <a:t>16</a:t>
            </a:r>
            <a:r>
              <a:rPr lang="zh-CN" altLang="en-US" dirty="0">
                <a:latin typeface="微软雅黑 Light" panose="020B0502040204020203" pitchFamily="34" charset="-122"/>
                <a:ea typeface="微软雅黑 Light" panose="020B0502040204020203" pitchFamily="34" charset="-122"/>
              </a:rPr>
              <a:t>波特</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码元状态：</a:t>
            </a:r>
            <a:r>
              <a:rPr lang="en-US" altLang="zh-CN" dirty="0">
                <a:latin typeface="微软雅黑 Light" panose="020B0502040204020203" pitchFamily="34" charset="-122"/>
                <a:ea typeface="微软雅黑 Light" panose="020B0502040204020203" pitchFamily="34" charset="-122"/>
              </a:rPr>
              <a:t>2</a:t>
            </a:r>
            <a:endParaRPr lang="en-US" altLang="zh-CN"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比特率：</a:t>
            </a:r>
            <a:r>
              <a:rPr lang="en-US" altLang="zh-CN" dirty="0">
                <a:latin typeface="微软雅黑 Light" panose="020B0502040204020203" pitchFamily="34" charset="-122"/>
                <a:ea typeface="微软雅黑 Light" panose="020B0502040204020203" pitchFamily="34" charset="-122"/>
              </a:rPr>
              <a:t>16bps</a:t>
            </a:r>
            <a:endParaRPr lang="zh-CN" altLang="en-US" dirty="0">
              <a:latin typeface="微软雅黑 Light" panose="020B0502040204020203" pitchFamily="34" charset="-122"/>
              <a:ea typeface="微软雅黑 Light" panose="020B0502040204020203" pitchFamily="34" charset="-122"/>
            </a:endParaRPr>
          </a:p>
        </p:txBody>
      </p:sp>
      <p:sp>
        <p:nvSpPr>
          <p:cNvPr id="174" name="文本框 173"/>
          <p:cNvSpPr txBox="1"/>
          <p:nvPr/>
        </p:nvSpPr>
        <p:spPr>
          <a:xfrm>
            <a:off x="7849747" y="2287865"/>
            <a:ext cx="397866" cy="276999"/>
          </a:xfrm>
          <a:prstGeom prst="rect">
            <a:avLst/>
          </a:prstGeom>
          <a:noFill/>
        </p:spPr>
        <p:txBody>
          <a:bodyPr wrap="none" rtlCol="0">
            <a:spAutoFit/>
          </a:bodyPr>
          <a:lstStyle/>
          <a:p>
            <a:r>
              <a:rPr lang="en-US" altLang="zh-CN" sz="1200" dirty="0">
                <a:latin typeface="微软雅黑 Light" panose="020B0502040204020203" pitchFamily="34" charset="-122"/>
              </a:rPr>
              <a:t>1</a:t>
            </a:r>
            <a:r>
              <a:rPr lang="zh-CN" altLang="en-US" sz="1200" dirty="0">
                <a:latin typeface="微软雅黑 Light" panose="020B0502040204020203" pitchFamily="34" charset="-122"/>
              </a:rPr>
              <a:t>秒</a:t>
            </a:r>
            <a:endParaRPr lang="zh-CN" altLang="en-US" sz="1200" dirty="0">
              <a:latin typeface="微软雅黑 Light" panose="020B0502040204020203" pitchFamily="34" charset="-122"/>
            </a:endParaRPr>
          </a:p>
        </p:txBody>
      </p:sp>
      <p:sp>
        <p:nvSpPr>
          <p:cNvPr id="175" name="文本框 174"/>
          <p:cNvSpPr txBox="1"/>
          <p:nvPr/>
        </p:nvSpPr>
        <p:spPr>
          <a:xfrm>
            <a:off x="7849747" y="3852466"/>
            <a:ext cx="397866" cy="276999"/>
          </a:xfrm>
          <a:prstGeom prst="rect">
            <a:avLst/>
          </a:prstGeom>
          <a:noFill/>
        </p:spPr>
        <p:txBody>
          <a:bodyPr wrap="none" rtlCol="0">
            <a:spAutoFit/>
          </a:bodyPr>
          <a:lstStyle/>
          <a:p>
            <a:r>
              <a:rPr lang="en-US" altLang="zh-CN" sz="1200" dirty="0">
                <a:latin typeface="微软雅黑 Light" panose="020B0502040204020203" pitchFamily="34" charset="-122"/>
              </a:rPr>
              <a:t>1</a:t>
            </a:r>
            <a:r>
              <a:rPr lang="zh-CN" altLang="en-US" sz="1200" dirty="0">
                <a:latin typeface="微软雅黑 Light" panose="020B0502040204020203" pitchFamily="34" charset="-122"/>
              </a:rPr>
              <a:t>秒</a:t>
            </a:r>
            <a:endParaRPr lang="zh-CN" altLang="en-US" sz="1200" dirty="0">
              <a:latin typeface="微软雅黑 Light" panose="020B0502040204020203" pitchFamily="34" charset="-122"/>
            </a:endParaRPr>
          </a:p>
        </p:txBody>
      </p:sp>
      <p:sp>
        <p:nvSpPr>
          <p:cNvPr id="176" name="文本框 175"/>
          <p:cNvSpPr txBox="1"/>
          <p:nvPr/>
        </p:nvSpPr>
        <p:spPr>
          <a:xfrm>
            <a:off x="7870369" y="5477978"/>
            <a:ext cx="397866" cy="276999"/>
          </a:xfrm>
          <a:prstGeom prst="rect">
            <a:avLst/>
          </a:prstGeom>
          <a:noFill/>
        </p:spPr>
        <p:txBody>
          <a:bodyPr wrap="none" rtlCol="0">
            <a:spAutoFit/>
          </a:bodyPr>
          <a:lstStyle/>
          <a:p>
            <a:r>
              <a:rPr lang="en-US" altLang="zh-CN" sz="1200" dirty="0">
                <a:latin typeface="微软雅黑 Light" panose="020B0502040204020203" pitchFamily="34" charset="-122"/>
              </a:rPr>
              <a:t>1</a:t>
            </a:r>
            <a:r>
              <a:rPr lang="zh-CN" altLang="en-US" sz="1200" dirty="0">
                <a:latin typeface="微软雅黑 Light" panose="020B0502040204020203" pitchFamily="34" charset="-122"/>
              </a:rPr>
              <a:t>秒</a:t>
            </a:r>
            <a:endParaRPr lang="zh-CN" altLang="en-US" sz="1200" dirty="0">
              <a:latin typeface="微软雅黑 Light" panose="020B0502040204020203"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r>
              <a:rPr lang="zh-CN" altLang="en-US" dirty="0"/>
              <a:t>香农</a:t>
            </a:r>
            <a:r>
              <a:rPr lang="en-US" altLang="zh-CN" dirty="0"/>
              <a:t>(Shannon)</a:t>
            </a:r>
            <a:r>
              <a:rPr lang="zh-CN" altLang="en-US" dirty="0"/>
              <a:t>定理</a:t>
            </a:r>
            <a:endParaRPr lang="zh-CN" altLang="en-US" dirty="0"/>
          </a:p>
        </p:txBody>
      </p:sp>
      <p:sp>
        <p:nvSpPr>
          <p:cNvPr id="398339" name="Rectangle 3"/>
          <p:cNvSpPr>
            <a:spLocks noGrp="1" noChangeArrowheads="1"/>
          </p:cNvSpPr>
          <p:nvPr>
            <p:ph idx="1"/>
          </p:nvPr>
        </p:nvSpPr>
        <p:spPr/>
        <p:txBody>
          <a:bodyPr/>
          <a:lstStyle/>
          <a:p>
            <a:r>
              <a:rPr lang="zh-CN" altLang="en-US" dirty="0"/>
              <a:t>信道总是要受到噪声的干扰</a:t>
            </a:r>
            <a:endParaRPr lang="zh-CN" altLang="en-US" dirty="0"/>
          </a:p>
          <a:p>
            <a:r>
              <a:rPr lang="zh-CN" altLang="en-US" dirty="0"/>
              <a:t>香农定理：噪声环境中有限带宽介质信道的最大传输速率</a:t>
            </a:r>
            <a:r>
              <a:rPr lang="en-US" altLang="zh-CN" dirty="0"/>
              <a:t>C</a:t>
            </a:r>
            <a:r>
              <a:rPr lang="zh-CN" altLang="en-US" dirty="0"/>
              <a:t>与信道带宽和信号噪声功率比之间的关系</a:t>
            </a:r>
            <a:endParaRPr lang="zh-CN" altLang="en-US" dirty="0"/>
          </a:p>
          <a:p>
            <a:pPr algn="ctr">
              <a:buFont typeface="Wingdings" panose="05000000000000000000" pitchFamily="2" charset="2"/>
              <a:buNone/>
            </a:pPr>
            <a:r>
              <a:rPr lang="en-US" altLang="zh-CN" dirty="0"/>
              <a:t>C=W×log</a:t>
            </a:r>
            <a:r>
              <a:rPr lang="en-US" altLang="zh-CN" baseline="-25000" dirty="0"/>
              <a:t>2</a:t>
            </a:r>
            <a:r>
              <a:rPr lang="en-US" altLang="zh-CN" dirty="0"/>
              <a:t>(1</a:t>
            </a:r>
            <a:r>
              <a:rPr lang="zh-CN" altLang="en-US" dirty="0"/>
              <a:t>＋</a:t>
            </a:r>
            <a:r>
              <a:rPr lang="en-US" altLang="zh-CN" dirty="0"/>
              <a:t>S/N)  (bps)</a:t>
            </a:r>
            <a:endParaRPr lang="en-US" altLang="zh-CN" dirty="0"/>
          </a:p>
          <a:p>
            <a:pPr lvl="1"/>
            <a:r>
              <a:rPr lang="en-US" altLang="zh-CN" dirty="0"/>
              <a:t>W</a:t>
            </a:r>
            <a:r>
              <a:rPr lang="zh-CN" altLang="en-US" dirty="0"/>
              <a:t>：信道带宽</a:t>
            </a:r>
            <a:endParaRPr lang="en-US" altLang="zh-CN" dirty="0"/>
          </a:p>
          <a:p>
            <a:pPr lvl="1"/>
            <a:r>
              <a:rPr lang="en-US" altLang="zh-CN" dirty="0"/>
              <a:t>S</a:t>
            </a:r>
            <a:r>
              <a:rPr lang="zh-CN" altLang="en-US" dirty="0"/>
              <a:t>：平均信号功率</a:t>
            </a:r>
            <a:endParaRPr lang="en-US" altLang="zh-CN" dirty="0"/>
          </a:p>
          <a:p>
            <a:pPr lvl="1"/>
            <a:r>
              <a:rPr lang="en-US" altLang="zh-CN" dirty="0"/>
              <a:t>N</a:t>
            </a:r>
            <a:r>
              <a:rPr lang="zh-CN" altLang="en-US" dirty="0"/>
              <a:t>：平均噪声功率</a:t>
            </a:r>
            <a:endParaRPr lang="en-US" altLang="zh-CN" dirty="0"/>
          </a:p>
          <a:p>
            <a:r>
              <a:rPr lang="zh-CN" altLang="en-US" dirty="0"/>
              <a:t>信噪比：单位分贝</a:t>
            </a:r>
            <a:r>
              <a:rPr lang="en-US" altLang="zh-CN" dirty="0"/>
              <a:t>(dB)</a:t>
            </a:r>
            <a:endParaRPr lang="zh-CN" altLang="en-US" dirty="0"/>
          </a:p>
          <a:p>
            <a:pPr algn="ctr">
              <a:buFont typeface="Wingdings" panose="05000000000000000000" pitchFamily="2" charset="2"/>
              <a:buNone/>
            </a:pPr>
            <a:r>
              <a:rPr lang="zh-CN" altLang="en-US" dirty="0"/>
              <a:t>信噪比</a:t>
            </a:r>
            <a:r>
              <a:rPr lang="en-US" altLang="zh-CN" dirty="0"/>
              <a:t>=10×log</a:t>
            </a:r>
            <a:r>
              <a:rPr lang="en-US" altLang="zh-CN" baseline="-25000" dirty="0"/>
              <a:t>10</a:t>
            </a:r>
            <a:r>
              <a:rPr lang="en-US" altLang="zh-CN" dirty="0"/>
              <a:t>(S/N) </a:t>
            </a:r>
            <a:endParaRPr lang="en-US" altLang="zh-CN" dirty="0"/>
          </a:p>
        </p:txBody>
      </p:sp>
      <p:sp>
        <p:nvSpPr>
          <p:cNvPr id="6" name="灯片编号占位符 5"/>
          <p:cNvSpPr>
            <a:spLocks noGrp="1"/>
          </p:cNvSpPr>
          <p:nvPr>
            <p:ph type="sldNum" sz="quarter" idx="12"/>
          </p:nvPr>
        </p:nvSpPr>
        <p:spPr/>
        <p:txBody>
          <a:bodyPr/>
          <a:lstStyle/>
          <a:p>
            <a:fld id="{18C6B2FA-F9F0-4E5E-99EF-85314D2BC07A}" type="slidenum">
              <a:rPr lang="en-US" altLang="zh-CN"/>
            </a:fld>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r>
              <a:rPr lang="zh-CN" altLang="en-US" dirty="0"/>
              <a:t>示例</a:t>
            </a:r>
            <a:endParaRPr lang="zh-CN" altLang="en-US" dirty="0"/>
          </a:p>
        </p:txBody>
      </p:sp>
      <p:sp>
        <p:nvSpPr>
          <p:cNvPr id="569347" name="Rectangle 3"/>
          <p:cNvSpPr>
            <a:spLocks noGrp="1" noChangeArrowheads="1"/>
          </p:cNvSpPr>
          <p:nvPr>
            <p:ph sz="half" idx="1"/>
          </p:nvPr>
        </p:nvSpPr>
        <p:spPr/>
        <p:txBody>
          <a:bodyPr/>
          <a:lstStyle/>
          <a:p>
            <a:r>
              <a:rPr lang="zh-CN" altLang="en-US" dirty="0"/>
              <a:t>电话线的带宽为</a:t>
            </a:r>
            <a:r>
              <a:rPr lang="en-US" altLang="zh-CN" dirty="0"/>
              <a:t>3.5kHz</a:t>
            </a:r>
            <a:r>
              <a:rPr lang="zh-CN" altLang="en-US" dirty="0"/>
              <a:t>，每个码元可能取</a:t>
            </a:r>
            <a:r>
              <a:rPr lang="en-US" altLang="zh-CN" dirty="0"/>
              <a:t>16</a:t>
            </a:r>
            <a:r>
              <a:rPr lang="zh-CN" altLang="en-US" dirty="0"/>
              <a:t>个值，求最大的数据传输率？</a:t>
            </a:r>
            <a:endParaRPr lang="zh-CN" altLang="en-US" dirty="0"/>
          </a:p>
          <a:p>
            <a:r>
              <a:rPr lang="zh-CN" altLang="en-US" dirty="0"/>
              <a:t>根据奈氏准则</a:t>
            </a:r>
            <a:endParaRPr lang="zh-CN" altLang="en-US" dirty="0"/>
          </a:p>
          <a:p>
            <a:pPr>
              <a:buFont typeface="Wingdings" panose="05000000000000000000" pitchFamily="2" charset="2"/>
              <a:buNone/>
            </a:pPr>
            <a:r>
              <a:rPr lang="zh-CN" altLang="en-US" dirty="0"/>
              <a:t>	</a:t>
            </a:r>
            <a:r>
              <a:rPr lang="en-US" altLang="zh-CN" dirty="0"/>
              <a:t>S	= 2×W×log</a:t>
            </a:r>
            <a:r>
              <a:rPr lang="en-US" altLang="zh-CN" baseline="-25000" dirty="0"/>
              <a:t>2</a:t>
            </a:r>
            <a:r>
              <a:rPr lang="en-US" altLang="zh-CN" dirty="0"/>
              <a:t>N</a:t>
            </a:r>
            <a:endParaRPr lang="en-US" altLang="zh-CN" dirty="0"/>
          </a:p>
          <a:p>
            <a:pPr>
              <a:buFont typeface="Wingdings" panose="05000000000000000000" pitchFamily="2" charset="2"/>
              <a:buNone/>
            </a:pPr>
            <a:r>
              <a:rPr lang="en-US" altLang="zh-CN" dirty="0"/>
              <a:t>		= 2×3.5k×log</a:t>
            </a:r>
            <a:r>
              <a:rPr lang="en-US" altLang="zh-CN" baseline="-25000" dirty="0"/>
              <a:t>2</a:t>
            </a:r>
            <a:r>
              <a:rPr lang="en-US" altLang="zh-CN" dirty="0"/>
              <a:t>16</a:t>
            </a:r>
            <a:endParaRPr lang="en-US" altLang="zh-CN" dirty="0"/>
          </a:p>
          <a:p>
            <a:pPr>
              <a:buFont typeface="Wingdings" panose="05000000000000000000" pitchFamily="2" charset="2"/>
              <a:buNone/>
            </a:pPr>
            <a:r>
              <a:rPr lang="en-US" altLang="zh-CN" dirty="0"/>
              <a:t>		= 28kbps</a:t>
            </a:r>
            <a:endParaRPr lang="en-US" altLang="zh-CN" dirty="0"/>
          </a:p>
          <a:p>
            <a:endParaRPr lang="en-US" altLang="zh-CN" dirty="0"/>
          </a:p>
        </p:txBody>
      </p:sp>
      <p:sp>
        <p:nvSpPr>
          <p:cNvPr id="2" name="内容占位符 1"/>
          <p:cNvSpPr>
            <a:spLocks noGrp="1"/>
          </p:cNvSpPr>
          <p:nvPr>
            <p:ph sz="half" idx="2"/>
          </p:nvPr>
        </p:nvSpPr>
        <p:spPr/>
        <p:txBody>
          <a:bodyPr/>
          <a:lstStyle/>
          <a:p>
            <a:r>
              <a:rPr lang="zh-CN" altLang="en-US" dirty="0"/>
              <a:t>电话系统模拟部分的典型参数：信噪比为</a:t>
            </a:r>
            <a:r>
              <a:rPr lang="en-US" altLang="zh-CN" dirty="0"/>
              <a:t>30dB</a:t>
            </a:r>
            <a:r>
              <a:rPr lang="zh-CN" altLang="en-US" dirty="0"/>
              <a:t>，带宽为</a:t>
            </a:r>
            <a:r>
              <a:rPr lang="en-US" altLang="zh-CN" dirty="0"/>
              <a:t>3.5kHz</a:t>
            </a:r>
            <a:r>
              <a:rPr lang="zh-CN" altLang="en-US" dirty="0"/>
              <a:t>，最大数据传输率为多少？</a:t>
            </a:r>
            <a:endParaRPr lang="zh-CN" altLang="en-US" dirty="0"/>
          </a:p>
          <a:p>
            <a:r>
              <a:rPr lang="zh-CN" altLang="en-US" dirty="0"/>
              <a:t>根据香浓定理</a:t>
            </a:r>
            <a:endParaRPr lang="zh-CN" altLang="en-US" dirty="0"/>
          </a:p>
          <a:p>
            <a:pPr>
              <a:buFont typeface="Wingdings" panose="05000000000000000000" pitchFamily="2" charset="2"/>
              <a:buNone/>
            </a:pPr>
            <a:r>
              <a:rPr lang="zh-CN" altLang="en-US" dirty="0"/>
              <a:t>	</a:t>
            </a:r>
            <a:r>
              <a:rPr lang="en-US" altLang="zh-CN" dirty="0"/>
              <a:t>C	= W×log</a:t>
            </a:r>
            <a:r>
              <a:rPr lang="en-US" altLang="zh-CN" baseline="-25000" dirty="0"/>
              <a:t>2</a:t>
            </a:r>
            <a:r>
              <a:rPr lang="en-US" altLang="zh-CN" dirty="0"/>
              <a:t> (1</a:t>
            </a:r>
            <a:r>
              <a:rPr lang="zh-CN" altLang="en-US" dirty="0"/>
              <a:t>＋</a:t>
            </a:r>
            <a:r>
              <a:rPr lang="en-US" altLang="zh-CN" dirty="0"/>
              <a:t>S/N)</a:t>
            </a:r>
            <a:endParaRPr lang="en-US" altLang="zh-CN" dirty="0"/>
          </a:p>
          <a:p>
            <a:pPr>
              <a:buFont typeface="Wingdings" panose="05000000000000000000" pitchFamily="2" charset="2"/>
              <a:buNone/>
            </a:pPr>
            <a:r>
              <a:rPr lang="en-US" altLang="zh-CN" dirty="0"/>
              <a:t>		= 3.5kHz×log</a:t>
            </a:r>
            <a:r>
              <a:rPr lang="en-US" altLang="zh-CN" baseline="-25000" dirty="0"/>
              <a:t>2</a:t>
            </a:r>
            <a:r>
              <a:rPr lang="en-US" altLang="zh-CN" dirty="0"/>
              <a:t> (1+1000)</a:t>
            </a:r>
            <a:endParaRPr lang="en-US" altLang="zh-CN" dirty="0"/>
          </a:p>
          <a:p>
            <a:pPr>
              <a:buFont typeface="Wingdings" panose="05000000000000000000" pitchFamily="2" charset="2"/>
              <a:buNone/>
            </a:pPr>
            <a:r>
              <a:rPr lang="en-US" altLang="zh-CN" dirty="0"/>
              <a:t>		</a:t>
            </a:r>
            <a:r>
              <a:rPr lang="en-US" altLang="zh-CN" dirty="0">
                <a:sym typeface="Symbol" panose="05050102010706020507" pitchFamily="18" charset="2"/>
              </a:rPr>
              <a:t></a:t>
            </a:r>
            <a:r>
              <a:rPr lang="en-US" altLang="zh-CN" dirty="0"/>
              <a:t> 35kbps</a:t>
            </a:r>
            <a:endParaRPr lang="en-US" altLang="zh-CN" dirty="0"/>
          </a:p>
          <a:p>
            <a:endParaRPr lang="zh-CN" altLang="en-US" dirty="0"/>
          </a:p>
        </p:txBody>
      </p:sp>
      <p:sp>
        <p:nvSpPr>
          <p:cNvPr id="6" name="灯片编号占位符 5"/>
          <p:cNvSpPr>
            <a:spLocks noGrp="1"/>
          </p:cNvSpPr>
          <p:nvPr>
            <p:ph type="sldNum" sz="quarter" idx="12"/>
          </p:nvPr>
        </p:nvSpPr>
        <p:spPr/>
        <p:txBody>
          <a:bodyPr/>
          <a:lstStyle/>
          <a:p>
            <a:fld id="{6A17DCDB-733C-403E-8512-9FF47C76C529}" type="slidenum">
              <a:rPr lang="en-US" altLang="zh-CN"/>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9347">
                                            <p:txEl>
                                              <p:pRg st="1" end="1"/>
                                            </p:txEl>
                                          </p:spTgt>
                                        </p:tgtEl>
                                        <p:attrNameLst>
                                          <p:attrName>style.visibility</p:attrName>
                                        </p:attrNameLst>
                                      </p:cBhvr>
                                      <p:to>
                                        <p:strVal val="visible"/>
                                      </p:to>
                                    </p:set>
                                    <p:animEffect transition="in" filter="blinds(horizontal)">
                                      <p:cBhvr>
                                        <p:cTn id="7" dur="500"/>
                                        <p:tgtEl>
                                          <p:spTgt spid="56934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69347">
                                            <p:txEl>
                                              <p:pRg st="2" end="2"/>
                                            </p:txEl>
                                          </p:spTgt>
                                        </p:tgtEl>
                                        <p:attrNameLst>
                                          <p:attrName>style.visibility</p:attrName>
                                        </p:attrNameLst>
                                      </p:cBhvr>
                                      <p:to>
                                        <p:strVal val="visible"/>
                                      </p:to>
                                    </p:set>
                                    <p:animEffect transition="in" filter="blinds(horizontal)">
                                      <p:cBhvr>
                                        <p:cTn id="10" dur="500"/>
                                        <p:tgtEl>
                                          <p:spTgt spid="56934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69347">
                                            <p:txEl>
                                              <p:pRg st="3" end="3"/>
                                            </p:txEl>
                                          </p:spTgt>
                                        </p:tgtEl>
                                        <p:attrNameLst>
                                          <p:attrName>style.visibility</p:attrName>
                                        </p:attrNameLst>
                                      </p:cBhvr>
                                      <p:to>
                                        <p:strVal val="visible"/>
                                      </p:to>
                                    </p:set>
                                    <p:animEffect transition="in" filter="blinds(horizontal)">
                                      <p:cBhvr>
                                        <p:cTn id="13" dur="500"/>
                                        <p:tgtEl>
                                          <p:spTgt spid="56934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69347">
                                            <p:txEl>
                                              <p:pRg st="4" end="4"/>
                                            </p:txEl>
                                          </p:spTgt>
                                        </p:tgtEl>
                                        <p:attrNameLst>
                                          <p:attrName>style.visibility</p:attrName>
                                        </p:attrNameLst>
                                      </p:cBhvr>
                                      <p:to>
                                        <p:strVal val="visible"/>
                                      </p:to>
                                    </p:set>
                                    <p:animEffect transition="in" filter="blinds(horizontal)">
                                      <p:cBhvr>
                                        <p:cTn id="16" dur="500"/>
                                        <p:tgtEl>
                                          <p:spTgt spid="5693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en-US" altLang="zh-CN" dirty="0"/>
              <a:t>2.3 </a:t>
            </a:r>
            <a:r>
              <a:rPr lang="zh-CN" altLang="en-US" dirty="0"/>
              <a:t>多路复用技术</a:t>
            </a:r>
            <a:endParaRPr lang="zh-CN" altLang="en-US" dirty="0"/>
          </a:p>
        </p:txBody>
      </p:sp>
      <p:sp>
        <p:nvSpPr>
          <p:cNvPr id="31" name="灯片编号占位符 5"/>
          <p:cNvSpPr>
            <a:spLocks noGrp="1"/>
          </p:cNvSpPr>
          <p:nvPr>
            <p:ph type="sldNum" sz="quarter" idx="12"/>
          </p:nvPr>
        </p:nvSpPr>
        <p:spPr/>
        <p:txBody>
          <a:bodyPr/>
          <a:lstStyle/>
          <a:p>
            <a:fld id="{053BFEEA-5FEC-4BF9-B13F-738DB3185E3E}" type="slidenum">
              <a:rPr lang="en-US" altLang="zh-CN"/>
            </a:fld>
            <a:endParaRPr lang="en-US" altLang="zh-CN" dirty="0"/>
          </a:p>
        </p:txBody>
      </p:sp>
      <p:sp>
        <p:nvSpPr>
          <p:cNvPr id="435205" name="Rectangle 5"/>
          <p:cNvSpPr>
            <a:spLocks noChangeArrowheads="1"/>
          </p:cNvSpPr>
          <p:nvPr/>
        </p:nvSpPr>
        <p:spPr bwMode="auto">
          <a:xfrm>
            <a:off x="3850323" y="3360307"/>
            <a:ext cx="792162" cy="1323893"/>
          </a:xfrm>
          <a:prstGeom prst="rect">
            <a:avLst/>
          </a:prstGeom>
          <a:solidFill>
            <a:srgbClr val="00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p>
            <a:r>
              <a:rPr lang="zh-CN" altLang="en-US" dirty="0">
                <a:solidFill>
                  <a:schemeClr val="bg1"/>
                </a:solidFill>
                <a:latin typeface="微软雅黑 Light" panose="020B0502040204020203" pitchFamily="34" charset="-122"/>
                <a:ea typeface="微软雅黑 Light" panose="020B0502040204020203" pitchFamily="34" charset="-122"/>
              </a:rPr>
              <a:t>复用器</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grpSp>
        <p:nvGrpSpPr>
          <p:cNvPr id="435244" name="Group 44"/>
          <p:cNvGrpSpPr/>
          <p:nvPr/>
        </p:nvGrpSpPr>
        <p:grpSpPr bwMode="auto">
          <a:xfrm>
            <a:off x="3994786" y="3965775"/>
            <a:ext cx="504825" cy="460426"/>
            <a:chOff x="1746" y="2990"/>
            <a:chExt cx="182" cy="273"/>
          </a:xfrm>
        </p:grpSpPr>
        <p:sp>
          <p:nvSpPr>
            <p:cNvPr id="435208" name="AutoShape 8"/>
            <p:cNvSpPr>
              <a:spLocks noChangeArrowheads="1"/>
            </p:cNvSpPr>
            <p:nvPr/>
          </p:nvSpPr>
          <p:spPr bwMode="auto">
            <a:xfrm flipH="1">
              <a:off x="1746" y="3092"/>
              <a:ext cx="182" cy="69"/>
            </a:xfrm>
            <a:prstGeom prst="leftRightArrow">
              <a:avLst>
                <a:gd name="adj1" fmla="val 50000"/>
                <a:gd name="adj2" fmla="val 52754"/>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435209" name="AutoShape 9"/>
            <p:cNvSpPr>
              <a:spLocks noChangeArrowheads="1"/>
            </p:cNvSpPr>
            <p:nvPr/>
          </p:nvSpPr>
          <p:spPr bwMode="auto">
            <a:xfrm rot="19703550" flipH="1">
              <a:off x="1746" y="3195"/>
              <a:ext cx="182" cy="68"/>
            </a:xfrm>
            <a:prstGeom prst="leftRightArrow">
              <a:avLst>
                <a:gd name="adj1" fmla="val 50000"/>
                <a:gd name="adj2" fmla="val 53529"/>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435210" name="AutoShape 10"/>
            <p:cNvSpPr>
              <a:spLocks noChangeArrowheads="1"/>
            </p:cNvSpPr>
            <p:nvPr/>
          </p:nvSpPr>
          <p:spPr bwMode="auto">
            <a:xfrm rot="1896450" flipH="1" flipV="1">
              <a:off x="1746" y="2990"/>
              <a:ext cx="182" cy="68"/>
            </a:xfrm>
            <a:prstGeom prst="leftRightArrow">
              <a:avLst>
                <a:gd name="adj1" fmla="val 50000"/>
                <a:gd name="adj2" fmla="val 53529"/>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grpSp>
      <p:sp>
        <p:nvSpPr>
          <p:cNvPr id="435223" name="Line 23"/>
          <p:cNvSpPr>
            <a:spLocks noChangeShapeType="1"/>
          </p:cNvSpPr>
          <p:nvPr/>
        </p:nvSpPr>
        <p:spPr bwMode="auto">
          <a:xfrm>
            <a:off x="2848611" y="2938241"/>
            <a:ext cx="1008063" cy="790575"/>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35224" name="Line 24"/>
          <p:cNvSpPr>
            <a:spLocks noChangeShapeType="1"/>
          </p:cNvSpPr>
          <p:nvPr/>
        </p:nvSpPr>
        <p:spPr bwMode="auto">
          <a:xfrm>
            <a:off x="2848611" y="3987578"/>
            <a:ext cx="1008063"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35225" name="Line 25"/>
          <p:cNvSpPr>
            <a:spLocks noChangeShapeType="1"/>
          </p:cNvSpPr>
          <p:nvPr/>
        </p:nvSpPr>
        <p:spPr bwMode="auto">
          <a:xfrm flipV="1">
            <a:off x="2848611" y="4305078"/>
            <a:ext cx="1008063" cy="6477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35229" name="Line 29"/>
          <p:cNvSpPr>
            <a:spLocks noChangeShapeType="1"/>
          </p:cNvSpPr>
          <p:nvPr/>
        </p:nvSpPr>
        <p:spPr bwMode="auto">
          <a:xfrm flipH="1">
            <a:off x="7960360" y="2938241"/>
            <a:ext cx="1009650" cy="646113"/>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35230" name="Line 30"/>
          <p:cNvSpPr>
            <a:spLocks noChangeShapeType="1"/>
          </p:cNvSpPr>
          <p:nvPr/>
        </p:nvSpPr>
        <p:spPr bwMode="auto">
          <a:xfrm flipH="1">
            <a:off x="7961948" y="3987578"/>
            <a:ext cx="1008062"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35231" name="Line 31"/>
          <p:cNvSpPr>
            <a:spLocks noChangeShapeType="1"/>
          </p:cNvSpPr>
          <p:nvPr/>
        </p:nvSpPr>
        <p:spPr bwMode="auto">
          <a:xfrm flipH="1" flipV="1">
            <a:off x="7960360" y="4305078"/>
            <a:ext cx="1009650" cy="64770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35236" name="Line 36"/>
          <p:cNvSpPr>
            <a:spLocks noChangeShapeType="1"/>
          </p:cNvSpPr>
          <p:nvPr/>
        </p:nvSpPr>
        <p:spPr bwMode="auto">
          <a:xfrm>
            <a:off x="4648835" y="4012978"/>
            <a:ext cx="2520950" cy="0"/>
          </a:xfrm>
          <a:prstGeom prst="line">
            <a:avLst/>
          </a:prstGeom>
          <a:noFill/>
          <a:ln w="762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 name="内容占位符 2"/>
          <p:cNvSpPr>
            <a:spLocks noGrp="1"/>
          </p:cNvSpPr>
          <p:nvPr>
            <p:ph idx="1"/>
          </p:nvPr>
        </p:nvSpPr>
        <p:spPr>
          <a:xfrm>
            <a:off x="334434" y="1052515"/>
            <a:ext cx="11523133" cy="1613668"/>
          </a:xfrm>
        </p:spPr>
        <p:txBody>
          <a:bodyPr/>
          <a:lstStyle/>
          <a:p>
            <a:r>
              <a:rPr lang="zh-CN" altLang="en-US" dirty="0"/>
              <a:t>多路复用：利用一条链路同时传输多路信号</a:t>
            </a:r>
            <a:endParaRPr lang="zh-CN" altLang="en-US" dirty="0"/>
          </a:p>
          <a:p>
            <a:r>
              <a:rPr lang="zh-CN" altLang="en-US" dirty="0"/>
              <a:t>多路复用技术可以最大限度地利用系统所具有的传输能力</a:t>
            </a:r>
            <a:endParaRPr lang="zh-CN" altLang="en-US" dirty="0"/>
          </a:p>
          <a:p>
            <a:endParaRPr lang="zh-CN" altLang="en-US" dirty="0"/>
          </a:p>
        </p:txBody>
      </p:sp>
      <p:pic>
        <p:nvPicPr>
          <p:cNvPr id="34" name="图形 33"/>
          <p:cNvPicPr>
            <a:picLocks noChangeAspect="1"/>
          </p:cNvPicPr>
          <p:nvPr/>
        </p:nvPicPr>
        <p:blipFill>
          <a:blip r:embed="rId1"/>
          <a:stretch>
            <a:fillRect/>
          </a:stretch>
        </p:blipFill>
        <p:spPr>
          <a:xfrm>
            <a:off x="9051130" y="2577533"/>
            <a:ext cx="709454" cy="537157"/>
          </a:xfrm>
          <a:prstGeom prst="rect">
            <a:avLst/>
          </a:prstGeom>
        </p:spPr>
      </p:pic>
      <p:pic>
        <p:nvPicPr>
          <p:cNvPr id="38" name="图形 37"/>
          <p:cNvPicPr>
            <a:picLocks noChangeAspect="1"/>
          </p:cNvPicPr>
          <p:nvPr/>
        </p:nvPicPr>
        <p:blipFill>
          <a:blip r:embed="rId1"/>
          <a:stretch>
            <a:fillRect/>
          </a:stretch>
        </p:blipFill>
        <p:spPr>
          <a:xfrm>
            <a:off x="9037794" y="3666267"/>
            <a:ext cx="709454" cy="537157"/>
          </a:xfrm>
          <a:prstGeom prst="rect">
            <a:avLst/>
          </a:prstGeom>
        </p:spPr>
      </p:pic>
      <p:pic>
        <p:nvPicPr>
          <p:cNvPr id="39" name="图形 38"/>
          <p:cNvPicPr>
            <a:picLocks noChangeAspect="1"/>
          </p:cNvPicPr>
          <p:nvPr/>
        </p:nvPicPr>
        <p:blipFill>
          <a:blip r:embed="rId1"/>
          <a:stretch>
            <a:fillRect/>
          </a:stretch>
        </p:blipFill>
        <p:spPr>
          <a:xfrm>
            <a:off x="9037794" y="4684199"/>
            <a:ext cx="709454" cy="537157"/>
          </a:xfrm>
          <a:prstGeom prst="rect">
            <a:avLst/>
          </a:prstGeom>
        </p:spPr>
      </p:pic>
      <p:sp>
        <p:nvSpPr>
          <p:cNvPr id="41" name="Rectangle 5"/>
          <p:cNvSpPr>
            <a:spLocks noChangeArrowheads="1"/>
          </p:cNvSpPr>
          <p:nvPr/>
        </p:nvSpPr>
        <p:spPr bwMode="auto">
          <a:xfrm>
            <a:off x="7127956" y="3360307"/>
            <a:ext cx="792162" cy="1323893"/>
          </a:xfrm>
          <a:prstGeom prst="rect">
            <a:avLst/>
          </a:prstGeom>
          <a:solidFill>
            <a:srgbClr val="00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p>
            <a:r>
              <a:rPr lang="zh-CN" altLang="en-US" dirty="0">
                <a:solidFill>
                  <a:schemeClr val="bg1"/>
                </a:solidFill>
                <a:latin typeface="微软雅黑 Light" panose="020B0502040204020203" pitchFamily="34" charset="-122"/>
                <a:ea typeface="微软雅黑 Light" panose="020B0502040204020203" pitchFamily="34" charset="-122"/>
              </a:rPr>
              <a:t>复用器</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grpSp>
        <p:nvGrpSpPr>
          <p:cNvPr id="42" name="Group 44"/>
          <p:cNvGrpSpPr/>
          <p:nvPr/>
        </p:nvGrpSpPr>
        <p:grpSpPr bwMode="auto">
          <a:xfrm>
            <a:off x="7272419" y="3965775"/>
            <a:ext cx="504825" cy="460426"/>
            <a:chOff x="1746" y="2990"/>
            <a:chExt cx="182" cy="273"/>
          </a:xfrm>
        </p:grpSpPr>
        <p:sp>
          <p:nvSpPr>
            <p:cNvPr id="44" name="AutoShape 8"/>
            <p:cNvSpPr>
              <a:spLocks noChangeArrowheads="1"/>
            </p:cNvSpPr>
            <p:nvPr/>
          </p:nvSpPr>
          <p:spPr bwMode="auto">
            <a:xfrm flipH="1">
              <a:off x="1746" y="3092"/>
              <a:ext cx="182" cy="69"/>
            </a:xfrm>
            <a:prstGeom prst="leftRightArrow">
              <a:avLst>
                <a:gd name="adj1" fmla="val 50000"/>
                <a:gd name="adj2" fmla="val 52754"/>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45" name="AutoShape 9"/>
            <p:cNvSpPr>
              <a:spLocks noChangeArrowheads="1"/>
            </p:cNvSpPr>
            <p:nvPr/>
          </p:nvSpPr>
          <p:spPr bwMode="auto">
            <a:xfrm rot="19703550" flipH="1">
              <a:off x="1746" y="3195"/>
              <a:ext cx="182" cy="68"/>
            </a:xfrm>
            <a:prstGeom prst="leftRightArrow">
              <a:avLst>
                <a:gd name="adj1" fmla="val 50000"/>
                <a:gd name="adj2" fmla="val 53529"/>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46" name="AutoShape 10"/>
            <p:cNvSpPr>
              <a:spLocks noChangeArrowheads="1"/>
            </p:cNvSpPr>
            <p:nvPr/>
          </p:nvSpPr>
          <p:spPr bwMode="auto">
            <a:xfrm rot="1896450" flipH="1" flipV="1">
              <a:off x="1746" y="2990"/>
              <a:ext cx="182" cy="68"/>
            </a:xfrm>
            <a:prstGeom prst="leftRightArrow">
              <a:avLst>
                <a:gd name="adj1" fmla="val 50000"/>
                <a:gd name="adj2" fmla="val 53529"/>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grpSp>
      <p:pic>
        <p:nvPicPr>
          <p:cNvPr id="47" name="图形 46"/>
          <p:cNvPicPr>
            <a:picLocks noChangeAspect="1"/>
          </p:cNvPicPr>
          <p:nvPr/>
        </p:nvPicPr>
        <p:blipFill>
          <a:blip r:embed="rId1"/>
          <a:stretch>
            <a:fillRect/>
          </a:stretch>
        </p:blipFill>
        <p:spPr>
          <a:xfrm>
            <a:off x="2082213" y="2669662"/>
            <a:ext cx="709454" cy="537157"/>
          </a:xfrm>
          <a:prstGeom prst="rect">
            <a:avLst/>
          </a:prstGeom>
        </p:spPr>
      </p:pic>
      <p:pic>
        <p:nvPicPr>
          <p:cNvPr id="48" name="图形 47"/>
          <p:cNvPicPr>
            <a:picLocks noChangeAspect="1"/>
          </p:cNvPicPr>
          <p:nvPr/>
        </p:nvPicPr>
        <p:blipFill>
          <a:blip r:embed="rId1"/>
          <a:stretch>
            <a:fillRect/>
          </a:stretch>
        </p:blipFill>
        <p:spPr>
          <a:xfrm>
            <a:off x="2068877" y="3758396"/>
            <a:ext cx="709454" cy="537157"/>
          </a:xfrm>
          <a:prstGeom prst="rect">
            <a:avLst/>
          </a:prstGeom>
        </p:spPr>
      </p:pic>
      <p:pic>
        <p:nvPicPr>
          <p:cNvPr id="49" name="图形 48"/>
          <p:cNvPicPr>
            <a:picLocks noChangeAspect="1"/>
          </p:cNvPicPr>
          <p:nvPr/>
        </p:nvPicPr>
        <p:blipFill>
          <a:blip r:embed="rId1"/>
          <a:stretch>
            <a:fillRect/>
          </a:stretch>
        </p:blipFill>
        <p:spPr>
          <a:xfrm>
            <a:off x="2068877" y="4776328"/>
            <a:ext cx="709454" cy="53715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zh-CN" altLang="en-US" dirty="0"/>
              <a:t>多路复用技术类型</a:t>
            </a:r>
            <a:endParaRPr lang="zh-CN" altLang="en-US" dirty="0"/>
          </a:p>
        </p:txBody>
      </p:sp>
      <p:sp>
        <p:nvSpPr>
          <p:cNvPr id="437251" name="Rectangle 3"/>
          <p:cNvSpPr>
            <a:spLocks noGrp="1" noChangeArrowheads="1"/>
          </p:cNvSpPr>
          <p:nvPr>
            <p:ph idx="1"/>
          </p:nvPr>
        </p:nvSpPr>
        <p:spPr/>
        <p:txBody>
          <a:bodyPr/>
          <a:lstStyle/>
          <a:p>
            <a:r>
              <a:rPr lang="zh-CN" altLang="en-US" dirty="0"/>
              <a:t>频分多路复用技术</a:t>
            </a:r>
            <a:r>
              <a:rPr lang="en-US" altLang="zh-CN" dirty="0"/>
              <a:t>(FDM)</a:t>
            </a:r>
            <a:endParaRPr lang="en-US" altLang="zh-CN" dirty="0"/>
          </a:p>
          <a:p>
            <a:r>
              <a:rPr lang="zh-CN" altLang="en-US" dirty="0"/>
              <a:t>时分多路复用技术</a:t>
            </a:r>
            <a:r>
              <a:rPr lang="en-US" altLang="zh-CN" dirty="0"/>
              <a:t>(TDM)</a:t>
            </a:r>
            <a:endParaRPr lang="en-US" altLang="zh-CN" dirty="0"/>
          </a:p>
          <a:p>
            <a:pPr lvl="1"/>
            <a:r>
              <a:rPr lang="zh-CN" altLang="en-US" dirty="0"/>
              <a:t>同步时分多路复用</a:t>
            </a:r>
            <a:endParaRPr lang="zh-CN" altLang="en-US" dirty="0"/>
          </a:p>
          <a:p>
            <a:pPr lvl="1"/>
            <a:r>
              <a:rPr lang="zh-CN" altLang="en-US" dirty="0"/>
              <a:t>异步时分多路复用</a:t>
            </a:r>
            <a:endParaRPr lang="zh-CN" altLang="en-US" dirty="0"/>
          </a:p>
          <a:p>
            <a:r>
              <a:rPr lang="zh-CN" altLang="en-US" dirty="0"/>
              <a:t>波分多路复用技术</a:t>
            </a:r>
            <a:r>
              <a:rPr lang="en-US" altLang="zh-CN" dirty="0"/>
              <a:t>(WDM)</a:t>
            </a:r>
            <a:endParaRPr lang="en-US" altLang="zh-CN" dirty="0"/>
          </a:p>
          <a:p>
            <a:r>
              <a:rPr lang="zh-CN" altLang="en-US" dirty="0"/>
              <a:t>码分多路复用技术</a:t>
            </a:r>
            <a:r>
              <a:rPr lang="en-US" altLang="zh-CN" dirty="0"/>
              <a:t>(CDM)</a:t>
            </a:r>
            <a:endParaRPr lang="en-US" altLang="zh-CN" dirty="0"/>
          </a:p>
        </p:txBody>
      </p:sp>
      <p:sp>
        <p:nvSpPr>
          <p:cNvPr id="6" name="灯片编号占位符 5"/>
          <p:cNvSpPr>
            <a:spLocks noGrp="1"/>
          </p:cNvSpPr>
          <p:nvPr>
            <p:ph type="sldNum" sz="quarter" idx="12"/>
          </p:nvPr>
        </p:nvSpPr>
        <p:spPr/>
        <p:txBody>
          <a:bodyPr/>
          <a:lstStyle/>
          <a:p>
            <a:fld id="{F7F66D23-0314-42CA-921D-E1B5925EC408}" type="slidenum">
              <a:rPr lang="en-US" altLang="zh-CN"/>
            </a:fld>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r>
              <a:rPr lang="zh-CN" altLang="en-US" dirty="0"/>
              <a:t>频分复用</a:t>
            </a:r>
            <a:endParaRPr lang="en-US" altLang="zh-CN" dirty="0"/>
          </a:p>
        </p:txBody>
      </p:sp>
      <p:sp>
        <p:nvSpPr>
          <p:cNvPr id="438275" name="Rectangle 3"/>
          <p:cNvSpPr>
            <a:spLocks noGrp="1" noChangeArrowheads="1"/>
          </p:cNvSpPr>
          <p:nvPr>
            <p:ph idx="1"/>
          </p:nvPr>
        </p:nvSpPr>
        <p:spPr>
          <a:xfrm>
            <a:off x="334434" y="1052515"/>
            <a:ext cx="11523133" cy="2459036"/>
          </a:xfrm>
        </p:spPr>
        <p:txBody>
          <a:bodyPr/>
          <a:lstStyle/>
          <a:p>
            <a:r>
              <a:rPr lang="zh-CN" altLang="en-US" dirty="0"/>
              <a:t>通过分割线路的带宽来实现，适用于模拟信号</a:t>
            </a:r>
            <a:endParaRPr lang="zh-CN" altLang="en-US" dirty="0"/>
          </a:p>
          <a:p>
            <a:r>
              <a:rPr lang="zh-CN" altLang="en-US" dirty="0"/>
              <a:t>用户在分配到一定的频带后，在通信过程中自始至终都占用这个频带</a:t>
            </a:r>
            <a:endParaRPr lang="zh-CN" altLang="en-US" dirty="0"/>
          </a:p>
          <a:p>
            <a:r>
              <a:rPr lang="zh-CN" altLang="en-US" dirty="0"/>
              <a:t>频分复用的所有用户在同样的时间占用不同的带宽资源</a:t>
            </a:r>
            <a:endParaRPr lang="en-US" altLang="zh-CN" dirty="0"/>
          </a:p>
          <a:p>
            <a:pPr lvl="1"/>
            <a:r>
              <a:rPr lang="zh-CN" altLang="en-US" dirty="0"/>
              <a:t>“带宽”是频率带宽，不是数据的发送速率  </a:t>
            </a:r>
            <a:endParaRPr lang="zh-CN" altLang="en-US" dirty="0"/>
          </a:p>
        </p:txBody>
      </p:sp>
      <p:sp>
        <p:nvSpPr>
          <p:cNvPr id="6" name="灯片编号占位符 5"/>
          <p:cNvSpPr>
            <a:spLocks noGrp="1"/>
          </p:cNvSpPr>
          <p:nvPr>
            <p:ph type="sldNum" sz="quarter" idx="12"/>
          </p:nvPr>
        </p:nvSpPr>
        <p:spPr/>
        <p:txBody>
          <a:bodyPr/>
          <a:lstStyle/>
          <a:p>
            <a:fld id="{956F8496-E527-486E-BF73-51D935F4370B}" type="slidenum">
              <a:rPr lang="en-US" altLang="zh-CN"/>
            </a:fld>
            <a:endParaRPr lang="en-US" altLang="zh-CN" dirty="0"/>
          </a:p>
        </p:txBody>
      </p:sp>
      <p:grpSp>
        <p:nvGrpSpPr>
          <p:cNvPr id="5" name="组合 4"/>
          <p:cNvGrpSpPr/>
          <p:nvPr/>
        </p:nvGrpSpPr>
        <p:grpSpPr>
          <a:xfrm>
            <a:off x="2108836" y="3098801"/>
            <a:ext cx="7508874" cy="3606801"/>
            <a:chOff x="2403476" y="1989138"/>
            <a:chExt cx="7508874" cy="3606801"/>
          </a:xfrm>
        </p:grpSpPr>
        <p:sp>
          <p:nvSpPr>
            <p:cNvPr id="7" name="Line 5"/>
            <p:cNvSpPr>
              <a:spLocks noChangeShapeType="1"/>
            </p:cNvSpPr>
            <p:nvPr/>
          </p:nvSpPr>
          <p:spPr bwMode="auto">
            <a:xfrm flipV="1">
              <a:off x="3675064" y="5187951"/>
              <a:ext cx="6116637" cy="9525"/>
            </a:xfrm>
            <a:prstGeom prst="line">
              <a:avLst/>
            </a:prstGeom>
            <a:noFill/>
            <a:ln w="22225">
              <a:solidFill>
                <a:schemeClr val="tx1"/>
              </a:solidFill>
              <a:round/>
              <a:tailEnd type="stealth"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8" name="Text Box 6"/>
            <p:cNvSpPr txBox="1">
              <a:spLocks noChangeArrowheads="1"/>
            </p:cNvSpPr>
            <p:nvPr/>
          </p:nvSpPr>
          <p:spPr bwMode="auto">
            <a:xfrm>
              <a:off x="2954338" y="1989138"/>
              <a:ext cx="692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dirty="0">
                  <a:latin typeface="微软雅黑 Light" panose="020B0502040204020203" pitchFamily="34" charset="-122"/>
                  <a:ea typeface="微软雅黑 Light" panose="020B0502040204020203" pitchFamily="34" charset="-122"/>
                </a:rPr>
                <a:t>频率</a:t>
              </a:r>
              <a:endParaRPr kumimoji="1" lang="zh-CN" altLang="en-US" sz="2000" dirty="0">
                <a:latin typeface="微软雅黑 Light" panose="020B0502040204020203" pitchFamily="34" charset="-122"/>
                <a:ea typeface="微软雅黑 Light" panose="020B0502040204020203" pitchFamily="34" charset="-122"/>
              </a:endParaRPr>
            </a:p>
          </p:txBody>
        </p:sp>
        <p:sp>
          <p:nvSpPr>
            <p:cNvPr id="9" name="Text Box 7"/>
            <p:cNvSpPr txBox="1">
              <a:spLocks noChangeArrowheads="1"/>
            </p:cNvSpPr>
            <p:nvPr/>
          </p:nvSpPr>
          <p:spPr bwMode="auto">
            <a:xfrm>
              <a:off x="9220200" y="5229226"/>
              <a:ext cx="692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dirty="0">
                  <a:latin typeface="微软雅黑 Light" panose="020B0502040204020203" pitchFamily="34" charset="-122"/>
                  <a:ea typeface="微软雅黑 Light" panose="020B0502040204020203" pitchFamily="34" charset="-122"/>
                </a:rPr>
                <a:t>时间</a:t>
              </a:r>
              <a:endParaRPr kumimoji="1" lang="zh-CN" altLang="en-US" sz="2000" dirty="0">
                <a:latin typeface="微软雅黑 Light" panose="020B0502040204020203" pitchFamily="34" charset="-122"/>
                <a:ea typeface="微软雅黑 Light" panose="020B0502040204020203" pitchFamily="34" charset="-122"/>
              </a:endParaRPr>
            </a:p>
          </p:txBody>
        </p:sp>
        <p:sp>
          <p:nvSpPr>
            <p:cNvPr id="10" name="Rectangle 8"/>
            <p:cNvSpPr>
              <a:spLocks noChangeArrowheads="1"/>
            </p:cNvSpPr>
            <p:nvPr/>
          </p:nvSpPr>
          <p:spPr bwMode="auto">
            <a:xfrm>
              <a:off x="3675063" y="2492375"/>
              <a:ext cx="5543550" cy="387350"/>
            </a:xfrm>
            <a:prstGeom prst="rect">
              <a:avLst/>
            </a:prstGeom>
            <a:solidFill>
              <a:srgbClr val="0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chemeClr val="bg1"/>
                  </a:solidFill>
                  <a:latin typeface="微软雅黑 Light" panose="020B0502040204020203" pitchFamily="34" charset="-122"/>
                  <a:ea typeface="微软雅黑 Light" panose="020B0502040204020203" pitchFamily="34" charset="-122"/>
                </a:rPr>
                <a:t>信道</a:t>
              </a:r>
              <a:r>
                <a:rPr lang="en-US" altLang="zh-CN" dirty="0">
                  <a:solidFill>
                    <a:schemeClr val="bg1"/>
                  </a:solidFill>
                  <a:latin typeface="微软雅黑 Light" panose="020B0502040204020203" pitchFamily="34" charset="-122"/>
                  <a:ea typeface="微软雅黑 Light" panose="020B0502040204020203" pitchFamily="34" charset="-122"/>
                </a:rPr>
                <a:t>5</a:t>
              </a:r>
              <a:endParaRPr lang="en-US" altLang="zh-CN" dirty="0">
                <a:solidFill>
                  <a:schemeClr val="bg1"/>
                </a:solidFill>
                <a:latin typeface="微软雅黑 Light" panose="020B0502040204020203" pitchFamily="34" charset="-122"/>
                <a:ea typeface="微软雅黑 Light" panose="020B0502040204020203" pitchFamily="34" charset="-122"/>
              </a:endParaRPr>
            </a:p>
          </p:txBody>
        </p:sp>
        <p:sp>
          <p:nvSpPr>
            <p:cNvPr id="11" name="Rectangle 9"/>
            <p:cNvSpPr>
              <a:spLocks noChangeArrowheads="1"/>
            </p:cNvSpPr>
            <p:nvPr/>
          </p:nvSpPr>
          <p:spPr bwMode="auto">
            <a:xfrm>
              <a:off x="3675063" y="2962275"/>
              <a:ext cx="5543550" cy="387350"/>
            </a:xfrm>
            <a:prstGeom prst="rect">
              <a:avLst/>
            </a:prstGeom>
            <a:solidFill>
              <a:srgbClr val="33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chemeClr val="bg1"/>
                  </a:solidFill>
                  <a:latin typeface="微软雅黑 Light" panose="020B0502040204020203" pitchFamily="34" charset="-122"/>
                  <a:ea typeface="微软雅黑 Light" panose="020B0502040204020203" pitchFamily="34" charset="-122"/>
                </a:rPr>
                <a:t>信道</a:t>
              </a:r>
              <a:r>
                <a:rPr lang="en-US" altLang="zh-CN" dirty="0">
                  <a:solidFill>
                    <a:schemeClr val="bg1"/>
                  </a:solidFill>
                  <a:latin typeface="微软雅黑 Light" panose="020B0502040204020203" pitchFamily="34" charset="-122"/>
                  <a:ea typeface="微软雅黑 Light" panose="020B0502040204020203" pitchFamily="34" charset="-122"/>
                </a:rPr>
                <a:t>4</a:t>
              </a:r>
              <a:endParaRPr lang="en-US" altLang="zh-CN" dirty="0">
                <a:solidFill>
                  <a:schemeClr val="bg1"/>
                </a:solidFill>
                <a:latin typeface="微软雅黑 Light" panose="020B0502040204020203" pitchFamily="34" charset="-122"/>
                <a:ea typeface="微软雅黑 Light" panose="020B0502040204020203" pitchFamily="34" charset="-122"/>
              </a:endParaRPr>
            </a:p>
          </p:txBody>
        </p:sp>
        <p:sp>
          <p:nvSpPr>
            <p:cNvPr id="12" name="Rectangle 10"/>
            <p:cNvSpPr>
              <a:spLocks noChangeArrowheads="1"/>
            </p:cNvSpPr>
            <p:nvPr/>
          </p:nvSpPr>
          <p:spPr bwMode="auto">
            <a:xfrm>
              <a:off x="3675063" y="3440113"/>
              <a:ext cx="5543550" cy="387350"/>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chemeClr val="bg1"/>
                  </a:solidFill>
                  <a:latin typeface="微软雅黑 Light" panose="020B0502040204020203" pitchFamily="34" charset="-122"/>
                  <a:ea typeface="微软雅黑 Light" panose="020B0502040204020203" pitchFamily="34" charset="-122"/>
                </a:rPr>
                <a:t>信道</a:t>
              </a:r>
              <a:r>
                <a:rPr lang="en-US" altLang="zh-CN" dirty="0">
                  <a:solidFill>
                    <a:schemeClr val="bg1"/>
                  </a:solidFill>
                  <a:latin typeface="微软雅黑 Light" panose="020B0502040204020203" pitchFamily="34" charset="-122"/>
                  <a:ea typeface="微软雅黑 Light" panose="020B0502040204020203" pitchFamily="34" charset="-122"/>
                </a:rPr>
                <a:t>3</a:t>
              </a:r>
              <a:endParaRPr lang="en-US" altLang="zh-CN" dirty="0">
                <a:solidFill>
                  <a:schemeClr val="bg1"/>
                </a:solidFill>
                <a:latin typeface="微软雅黑 Light" panose="020B0502040204020203" pitchFamily="34" charset="-122"/>
                <a:ea typeface="微软雅黑 Light" panose="020B0502040204020203" pitchFamily="34" charset="-122"/>
              </a:endParaRPr>
            </a:p>
          </p:txBody>
        </p:sp>
        <p:sp>
          <p:nvSpPr>
            <p:cNvPr id="13" name="Rectangle 11"/>
            <p:cNvSpPr>
              <a:spLocks noChangeArrowheads="1"/>
            </p:cNvSpPr>
            <p:nvPr/>
          </p:nvSpPr>
          <p:spPr bwMode="auto">
            <a:xfrm>
              <a:off x="3675063" y="3943350"/>
              <a:ext cx="5543550" cy="387350"/>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chemeClr val="bg1"/>
                  </a:solidFill>
                  <a:latin typeface="微软雅黑 Light" panose="020B0502040204020203" pitchFamily="34" charset="-122"/>
                  <a:ea typeface="微软雅黑 Light" panose="020B0502040204020203" pitchFamily="34" charset="-122"/>
                </a:rPr>
                <a:t>信道</a:t>
              </a:r>
              <a:r>
                <a:rPr lang="en-US" altLang="zh-CN" dirty="0">
                  <a:solidFill>
                    <a:schemeClr val="bg1"/>
                  </a:solidFill>
                  <a:latin typeface="微软雅黑 Light" panose="020B0502040204020203" pitchFamily="34" charset="-122"/>
                  <a:ea typeface="微软雅黑 Light" panose="020B0502040204020203" pitchFamily="34" charset="-122"/>
                </a:rPr>
                <a:t>2</a:t>
              </a:r>
              <a:endParaRPr lang="en-US" altLang="zh-CN" dirty="0">
                <a:solidFill>
                  <a:schemeClr val="bg1"/>
                </a:solidFill>
                <a:latin typeface="微软雅黑 Light" panose="020B0502040204020203" pitchFamily="34" charset="-122"/>
                <a:ea typeface="微软雅黑 Light" panose="020B0502040204020203" pitchFamily="34" charset="-122"/>
              </a:endParaRPr>
            </a:p>
          </p:txBody>
        </p:sp>
        <p:sp>
          <p:nvSpPr>
            <p:cNvPr id="14" name="Rectangle 12"/>
            <p:cNvSpPr>
              <a:spLocks noChangeArrowheads="1"/>
            </p:cNvSpPr>
            <p:nvPr/>
          </p:nvSpPr>
          <p:spPr bwMode="auto">
            <a:xfrm>
              <a:off x="3675063" y="4446588"/>
              <a:ext cx="5543550" cy="387350"/>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dirty="0">
                  <a:solidFill>
                    <a:schemeClr val="bg1"/>
                  </a:solidFill>
                  <a:latin typeface="微软雅黑 Light" panose="020B0502040204020203" pitchFamily="34" charset="-122"/>
                  <a:ea typeface="微软雅黑 Light" panose="020B0502040204020203" pitchFamily="34" charset="-122"/>
                </a:rPr>
                <a:t>信道</a:t>
              </a:r>
              <a:r>
                <a:rPr lang="en-US" altLang="zh-CN" dirty="0">
                  <a:solidFill>
                    <a:schemeClr val="bg1"/>
                  </a:solidFill>
                  <a:latin typeface="微软雅黑 Light" panose="020B0502040204020203" pitchFamily="34" charset="-122"/>
                  <a:ea typeface="微软雅黑 Light" panose="020B0502040204020203" pitchFamily="34" charset="-122"/>
                </a:rPr>
                <a:t>1</a:t>
              </a:r>
              <a:endParaRPr lang="en-US" altLang="zh-CN" dirty="0">
                <a:solidFill>
                  <a:schemeClr val="bg1"/>
                </a:solidFill>
                <a:latin typeface="微软雅黑 Light" panose="020B0502040204020203" pitchFamily="34" charset="-122"/>
                <a:ea typeface="微软雅黑 Light" panose="020B0502040204020203" pitchFamily="34" charset="-122"/>
              </a:endParaRPr>
            </a:p>
          </p:txBody>
        </p:sp>
        <p:sp>
          <p:nvSpPr>
            <p:cNvPr id="15" name="Line 18"/>
            <p:cNvSpPr>
              <a:spLocks noChangeShapeType="1"/>
            </p:cNvSpPr>
            <p:nvPr/>
          </p:nvSpPr>
          <p:spPr bwMode="auto">
            <a:xfrm rot="-5400000">
              <a:off x="2108201" y="3627438"/>
              <a:ext cx="3133725" cy="0"/>
            </a:xfrm>
            <a:prstGeom prst="line">
              <a:avLst/>
            </a:prstGeom>
            <a:noFill/>
            <a:ln w="22225">
              <a:solidFill>
                <a:schemeClr val="tx1"/>
              </a:solidFill>
              <a:round/>
              <a:tailEnd type="stealth" w="lg"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6" name="Line 20"/>
            <p:cNvSpPr>
              <a:spLocks noChangeShapeType="1"/>
            </p:cNvSpPr>
            <p:nvPr/>
          </p:nvSpPr>
          <p:spPr bwMode="auto">
            <a:xfrm flipV="1">
              <a:off x="2855914" y="3402014"/>
              <a:ext cx="827087" cy="242887"/>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7" name="Line 21"/>
            <p:cNvSpPr>
              <a:spLocks noChangeShapeType="1"/>
            </p:cNvSpPr>
            <p:nvPr/>
          </p:nvSpPr>
          <p:spPr bwMode="auto">
            <a:xfrm flipV="1">
              <a:off x="2855914" y="2924176"/>
              <a:ext cx="828675" cy="504825"/>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8" name="Line 22"/>
            <p:cNvSpPr>
              <a:spLocks noChangeShapeType="1"/>
            </p:cNvSpPr>
            <p:nvPr/>
          </p:nvSpPr>
          <p:spPr bwMode="auto">
            <a:xfrm>
              <a:off x="2855914" y="3789364"/>
              <a:ext cx="827087" cy="71437"/>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9" name="Line 23"/>
            <p:cNvSpPr>
              <a:spLocks noChangeShapeType="1"/>
            </p:cNvSpPr>
            <p:nvPr/>
          </p:nvSpPr>
          <p:spPr bwMode="auto">
            <a:xfrm>
              <a:off x="2855914" y="3933825"/>
              <a:ext cx="827087" cy="431800"/>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0" name="Text Box 25"/>
            <p:cNvSpPr txBox="1">
              <a:spLocks noChangeArrowheads="1"/>
            </p:cNvSpPr>
            <p:nvPr/>
          </p:nvSpPr>
          <p:spPr bwMode="auto">
            <a:xfrm>
              <a:off x="2403476" y="2997201"/>
              <a:ext cx="379413"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dirty="0">
                  <a:latin typeface="微软雅黑 Light" panose="020B0502040204020203" pitchFamily="34" charset="-122"/>
                  <a:ea typeface="微软雅黑 Light" panose="020B0502040204020203" pitchFamily="34" charset="-122"/>
                </a:rPr>
                <a:t>警戒频带</a:t>
              </a:r>
              <a:endParaRPr lang="zh-CN" altLang="en-US" sz="2000" dirty="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zh-CN" altLang="en-US" dirty="0"/>
              <a:t>时分复用</a:t>
            </a:r>
            <a:endParaRPr lang="en-US" altLang="zh-CN" dirty="0"/>
          </a:p>
        </p:txBody>
      </p:sp>
      <p:sp>
        <p:nvSpPr>
          <p:cNvPr id="53" name="灯片编号占位符 5"/>
          <p:cNvSpPr>
            <a:spLocks noGrp="1"/>
          </p:cNvSpPr>
          <p:nvPr>
            <p:ph type="sldNum" sz="quarter" idx="12"/>
          </p:nvPr>
        </p:nvSpPr>
        <p:spPr/>
        <p:txBody>
          <a:bodyPr/>
          <a:lstStyle/>
          <a:p>
            <a:fld id="{2DABF700-86AD-43D5-B45B-F095A67D4429}" type="slidenum">
              <a:rPr lang="en-US" altLang="zh-CN"/>
            </a:fld>
            <a:endParaRPr lang="en-US" altLang="zh-CN" dirty="0"/>
          </a:p>
        </p:txBody>
      </p:sp>
      <p:sp>
        <p:nvSpPr>
          <p:cNvPr id="446468" name="Line 4"/>
          <p:cNvSpPr>
            <a:spLocks noChangeShapeType="1"/>
          </p:cNvSpPr>
          <p:nvPr/>
        </p:nvSpPr>
        <p:spPr bwMode="auto">
          <a:xfrm flipV="1">
            <a:off x="2534999" y="5459410"/>
            <a:ext cx="7561263" cy="3175"/>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6469" name="Text Box 5"/>
          <p:cNvSpPr txBox="1">
            <a:spLocks noChangeArrowheads="1"/>
          </p:cNvSpPr>
          <p:nvPr/>
        </p:nvSpPr>
        <p:spPr bwMode="auto">
          <a:xfrm>
            <a:off x="1939686" y="3233735"/>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a:latin typeface="微软雅黑 Light" panose="020B0502040204020203" pitchFamily="34" charset="-122"/>
                <a:ea typeface="微软雅黑 Light" panose="020B0502040204020203" pitchFamily="34" charset="-122"/>
              </a:defRPr>
            </a:lvl1pPr>
          </a:lstStyle>
          <a:p>
            <a:r>
              <a:rPr lang="zh-CN" altLang="en-US" dirty="0"/>
              <a:t>频率</a:t>
            </a:r>
            <a:endParaRPr lang="zh-CN" altLang="en-US" dirty="0"/>
          </a:p>
        </p:txBody>
      </p:sp>
      <p:sp>
        <p:nvSpPr>
          <p:cNvPr id="446470" name="Text Box 6"/>
          <p:cNvSpPr txBox="1">
            <a:spLocks noChangeArrowheads="1"/>
          </p:cNvSpPr>
          <p:nvPr/>
        </p:nvSpPr>
        <p:spPr bwMode="auto">
          <a:xfrm>
            <a:off x="9643823" y="5465760"/>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a:solidFill>
                  <a:srgbClr val="333399"/>
                </a:solidFill>
                <a:latin typeface="微软雅黑 Light" panose="020B0502040204020203" pitchFamily="34" charset="-122"/>
                <a:ea typeface="微软雅黑 Light" panose="020B0502040204020203" pitchFamily="34" charset="-122"/>
              </a:defRPr>
            </a:lvl1pPr>
          </a:lstStyle>
          <a:p>
            <a:r>
              <a:rPr lang="zh-CN" altLang="en-US" dirty="0">
                <a:solidFill>
                  <a:schemeClr val="tx1"/>
                </a:solidFill>
              </a:rPr>
              <a:t>时间</a:t>
            </a:r>
            <a:endParaRPr lang="zh-CN" altLang="en-US" dirty="0">
              <a:solidFill>
                <a:schemeClr val="tx1"/>
              </a:solidFill>
            </a:endParaRPr>
          </a:p>
        </p:txBody>
      </p:sp>
      <p:sp>
        <p:nvSpPr>
          <p:cNvPr id="446471" name="Rectangle 7"/>
          <p:cNvSpPr>
            <a:spLocks noChangeArrowheads="1"/>
          </p:cNvSpPr>
          <p:nvPr/>
        </p:nvSpPr>
        <p:spPr bwMode="auto">
          <a:xfrm>
            <a:off x="2895362" y="3817934"/>
            <a:ext cx="287337" cy="1162050"/>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B</a:t>
            </a:r>
            <a:endParaRPr lang="en-US" altLang="zh-CN" sz="2000" dirty="0">
              <a:solidFill>
                <a:schemeClr val="bg1"/>
              </a:solidFill>
              <a:latin typeface="微软雅黑 Light" panose="020B0502040204020203" pitchFamily="34" charset="-122"/>
            </a:endParaRPr>
          </a:p>
        </p:txBody>
      </p:sp>
      <p:sp>
        <p:nvSpPr>
          <p:cNvPr id="446472" name="Rectangle 8"/>
          <p:cNvSpPr>
            <a:spLocks noChangeArrowheads="1"/>
          </p:cNvSpPr>
          <p:nvPr/>
        </p:nvSpPr>
        <p:spPr bwMode="auto">
          <a:xfrm>
            <a:off x="3255723" y="3817934"/>
            <a:ext cx="287338" cy="1162050"/>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C</a:t>
            </a:r>
            <a:endParaRPr lang="en-US" altLang="zh-CN" sz="2000" dirty="0">
              <a:solidFill>
                <a:schemeClr val="bg1"/>
              </a:solidFill>
              <a:latin typeface="微软雅黑 Light" panose="020B0502040204020203" pitchFamily="34" charset="-122"/>
            </a:endParaRPr>
          </a:p>
        </p:txBody>
      </p:sp>
      <p:sp>
        <p:nvSpPr>
          <p:cNvPr id="446473" name="Rectangle 9"/>
          <p:cNvSpPr>
            <a:spLocks noChangeArrowheads="1"/>
          </p:cNvSpPr>
          <p:nvPr/>
        </p:nvSpPr>
        <p:spPr bwMode="auto">
          <a:xfrm>
            <a:off x="3616087" y="3817934"/>
            <a:ext cx="287337" cy="1162050"/>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D</a:t>
            </a:r>
            <a:endParaRPr lang="en-US" altLang="zh-CN" sz="2000" dirty="0">
              <a:solidFill>
                <a:schemeClr val="bg1"/>
              </a:solidFill>
              <a:latin typeface="微软雅黑 Light" panose="020B0502040204020203" pitchFamily="34" charset="-122"/>
            </a:endParaRPr>
          </a:p>
        </p:txBody>
      </p:sp>
      <p:sp>
        <p:nvSpPr>
          <p:cNvPr id="446484" name="Rectangle 20"/>
          <p:cNvSpPr>
            <a:spLocks noChangeArrowheads="1"/>
          </p:cNvSpPr>
          <p:nvPr/>
        </p:nvSpPr>
        <p:spPr bwMode="auto">
          <a:xfrm>
            <a:off x="2534998" y="3817934"/>
            <a:ext cx="287338" cy="1162050"/>
          </a:xfrm>
          <a:prstGeom prst="rect">
            <a:avLst/>
          </a:prstGeom>
          <a:solidFill>
            <a:srgbClr val="00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A</a:t>
            </a:r>
            <a:endParaRPr lang="en-US" altLang="zh-CN" sz="2000" dirty="0">
              <a:solidFill>
                <a:schemeClr val="bg1"/>
              </a:solidFill>
              <a:latin typeface="微软雅黑 Light" panose="020B0502040204020203" pitchFamily="34" charset="-122"/>
            </a:endParaRPr>
          </a:p>
        </p:txBody>
      </p:sp>
      <p:sp>
        <p:nvSpPr>
          <p:cNvPr id="446488" name="Text Box 24"/>
          <p:cNvSpPr txBox="1">
            <a:spLocks noChangeArrowheads="1"/>
          </p:cNvSpPr>
          <p:nvPr/>
        </p:nvSpPr>
        <p:spPr bwMode="auto">
          <a:xfrm>
            <a:off x="7965836" y="3018686"/>
            <a:ext cx="158432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pPr>
            <a:r>
              <a:rPr kumimoji="1" lang="en-US" altLang="zh-CN" sz="1600" dirty="0">
                <a:latin typeface="微软雅黑 Light" panose="020B0502040204020203" pitchFamily="34" charset="-122"/>
                <a:ea typeface="微软雅黑 Light" panose="020B0502040204020203" pitchFamily="34" charset="-122"/>
              </a:rPr>
              <a:t>A </a:t>
            </a:r>
            <a:r>
              <a:rPr kumimoji="1" lang="zh-CN" altLang="en-US" sz="1600" dirty="0">
                <a:latin typeface="微软雅黑 Light" panose="020B0502040204020203" pitchFamily="34" charset="-122"/>
                <a:ea typeface="微软雅黑 Light" panose="020B0502040204020203" pitchFamily="34" charset="-122"/>
              </a:rPr>
              <a:t>在 </a:t>
            </a:r>
            <a:r>
              <a:rPr kumimoji="1" lang="en-US" altLang="zh-CN" sz="1600" dirty="0">
                <a:latin typeface="微软雅黑 Light" panose="020B0502040204020203" pitchFamily="34" charset="-122"/>
                <a:ea typeface="微软雅黑 Light" panose="020B0502040204020203" pitchFamily="34" charset="-122"/>
              </a:rPr>
              <a:t>TDM </a:t>
            </a:r>
            <a:r>
              <a:rPr kumimoji="1" lang="zh-CN" altLang="en-US" sz="1600" dirty="0">
                <a:latin typeface="微软雅黑 Light" panose="020B0502040204020203" pitchFamily="34" charset="-122"/>
                <a:ea typeface="微软雅黑 Light" panose="020B0502040204020203" pitchFamily="34" charset="-122"/>
              </a:rPr>
              <a:t>帧</a:t>
            </a:r>
            <a:endParaRPr kumimoji="1" lang="en-US" altLang="zh-CN" sz="1600" dirty="0">
              <a:latin typeface="微软雅黑 Light" panose="020B0502040204020203" pitchFamily="34" charset="-122"/>
              <a:ea typeface="微软雅黑 Light" panose="020B0502040204020203" pitchFamily="34" charset="-122"/>
            </a:endParaRPr>
          </a:p>
          <a:p>
            <a:pPr algn="ctr">
              <a:lnSpc>
                <a:spcPct val="90000"/>
              </a:lnSpc>
            </a:pPr>
            <a:r>
              <a:rPr kumimoji="1" lang="zh-CN" altLang="en-US" sz="1600" dirty="0">
                <a:latin typeface="微软雅黑 Light" panose="020B0502040204020203" pitchFamily="34" charset="-122"/>
                <a:ea typeface="微软雅黑 Light" panose="020B0502040204020203" pitchFamily="34" charset="-122"/>
              </a:rPr>
              <a:t>中的位置不变</a:t>
            </a:r>
            <a:endParaRPr kumimoji="1" lang="zh-CN" altLang="en-US" sz="1600" dirty="0">
              <a:latin typeface="微软雅黑 Light" panose="020B0502040204020203" pitchFamily="34" charset="-122"/>
              <a:ea typeface="微软雅黑 Light" panose="020B0502040204020203" pitchFamily="34" charset="-122"/>
            </a:endParaRPr>
          </a:p>
        </p:txBody>
      </p:sp>
      <p:sp>
        <p:nvSpPr>
          <p:cNvPr id="446489" name="Line 25"/>
          <p:cNvSpPr>
            <a:spLocks noChangeShapeType="1"/>
          </p:cNvSpPr>
          <p:nvPr/>
        </p:nvSpPr>
        <p:spPr bwMode="auto">
          <a:xfrm>
            <a:off x="2677873" y="3536946"/>
            <a:ext cx="5518150" cy="0"/>
          </a:xfrm>
          <a:prstGeom prst="line">
            <a:avLst/>
          </a:prstGeom>
          <a:noFill/>
          <a:ln w="158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490" name="Line 26"/>
          <p:cNvSpPr>
            <a:spLocks noChangeShapeType="1"/>
          </p:cNvSpPr>
          <p:nvPr/>
        </p:nvSpPr>
        <p:spPr bwMode="auto">
          <a:xfrm>
            <a:off x="2677873" y="3536947"/>
            <a:ext cx="0" cy="288925"/>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491" name="Line 27"/>
          <p:cNvSpPr>
            <a:spLocks noChangeShapeType="1"/>
          </p:cNvSpPr>
          <p:nvPr/>
        </p:nvSpPr>
        <p:spPr bwMode="auto">
          <a:xfrm>
            <a:off x="4120911" y="3536947"/>
            <a:ext cx="0" cy="288925"/>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492" name="Line 28"/>
          <p:cNvSpPr>
            <a:spLocks noChangeShapeType="1"/>
          </p:cNvSpPr>
          <p:nvPr/>
        </p:nvSpPr>
        <p:spPr bwMode="auto">
          <a:xfrm>
            <a:off x="5560773" y="3536947"/>
            <a:ext cx="0" cy="288925"/>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493" name="Line 29"/>
          <p:cNvSpPr>
            <a:spLocks noChangeShapeType="1"/>
          </p:cNvSpPr>
          <p:nvPr/>
        </p:nvSpPr>
        <p:spPr bwMode="auto">
          <a:xfrm>
            <a:off x="7000636" y="3536947"/>
            <a:ext cx="0" cy="288925"/>
          </a:xfrm>
          <a:prstGeom prst="line">
            <a:avLst/>
          </a:prstGeom>
          <a:noFill/>
          <a:ln w="15875">
            <a:solidFill>
              <a:schemeClr val="tx1"/>
            </a:solidFill>
            <a:prstDash val="sys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grpSp>
        <p:nvGrpSpPr>
          <p:cNvPr id="446533" name="Group 69"/>
          <p:cNvGrpSpPr/>
          <p:nvPr/>
        </p:nvGrpSpPr>
        <p:grpSpPr bwMode="auto">
          <a:xfrm>
            <a:off x="2544524" y="5043492"/>
            <a:ext cx="1368425" cy="388938"/>
            <a:chOff x="884" y="3659"/>
            <a:chExt cx="862" cy="245"/>
          </a:xfrm>
        </p:grpSpPr>
        <p:sp>
          <p:nvSpPr>
            <p:cNvPr id="446495" name="Text Box 31"/>
            <p:cNvSpPr txBox="1">
              <a:spLocks noChangeArrowheads="1"/>
            </p:cNvSpPr>
            <p:nvPr/>
          </p:nvSpPr>
          <p:spPr bwMode="auto">
            <a:xfrm>
              <a:off x="1049" y="3724"/>
              <a:ext cx="50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a:latin typeface="微软雅黑 Light" panose="020B0502040204020203" pitchFamily="34" charset="-122"/>
                  <a:ea typeface="微软雅黑 Light" panose="020B0502040204020203" pitchFamily="34" charset="-122"/>
                </a:defRPr>
              </a:lvl1pPr>
            </a:lstStyle>
            <a:p>
              <a:r>
                <a:rPr lang="en-US" altLang="zh-CN" sz="1400" dirty="0"/>
                <a:t>TDM </a:t>
              </a:r>
              <a:r>
                <a:rPr lang="zh-CN" altLang="en-US" sz="1400" dirty="0"/>
                <a:t>帧</a:t>
              </a:r>
              <a:endParaRPr lang="zh-CN" altLang="en-US" sz="1400" dirty="0"/>
            </a:p>
          </p:txBody>
        </p:sp>
        <p:sp>
          <p:nvSpPr>
            <p:cNvPr id="446496" name="AutoShape 32"/>
            <p:cNvSpPr/>
            <p:nvPr/>
          </p:nvSpPr>
          <p:spPr bwMode="auto">
            <a:xfrm rot="16200000" flipV="1">
              <a:off x="1270" y="3273"/>
              <a:ext cx="90" cy="862"/>
            </a:xfrm>
            <a:prstGeom prst="leftBrace">
              <a:avLst>
                <a:gd name="adj1" fmla="val 79815"/>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zh-CN" sz="1600" dirty="0">
                <a:latin typeface="微软雅黑 Light" panose="020B0502040204020203" pitchFamily="34" charset="-122"/>
              </a:endParaRPr>
            </a:p>
          </p:txBody>
        </p:sp>
      </p:grpSp>
      <p:sp>
        <p:nvSpPr>
          <p:cNvPr id="446506" name="Rectangle 42"/>
          <p:cNvSpPr>
            <a:spLocks noChangeArrowheads="1"/>
          </p:cNvSpPr>
          <p:nvPr/>
        </p:nvSpPr>
        <p:spPr bwMode="auto">
          <a:xfrm rot="21600000">
            <a:off x="8977679" y="4255750"/>
            <a:ext cx="36708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b="1" dirty="0">
                <a:solidFill>
                  <a:srgbClr val="333399"/>
                </a:solidFill>
                <a:latin typeface="微软雅黑 Light" panose="020B0502040204020203" pitchFamily="34" charset="-122"/>
              </a:rPr>
              <a:t>…</a:t>
            </a:r>
            <a:endParaRPr lang="en-US" altLang="zh-CN" sz="2000" b="1" dirty="0">
              <a:solidFill>
                <a:srgbClr val="333399"/>
              </a:solidFill>
              <a:latin typeface="微软雅黑 Light" panose="020B0502040204020203" pitchFamily="34" charset="-122"/>
            </a:endParaRPr>
          </a:p>
        </p:txBody>
      </p:sp>
      <p:sp>
        <p:nvSpPr>
          <p:cNvPr id="446507" name="Line 43"/>
          <p:cNvSpPr>
            <a:spLocks noChangeShapeType="1"/>
          </p:cNvSpPr>
          <p:nvPr/>
        </p:nvSpPr>
        <p:spPr bwMode="auto">
          <a:xfrm rot="-5400000">
            <a:off x="1452323" y="4375146"/>
            <a:ext cx="2165350" cy="0"/>
          </a:xfrm>
          <a:prstGeom prst="line">
            <a:avLst/>
          </a:prstGeom>
          <a:noFill/>
          <a:ln w="1905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6512" name="Line 48"/>
          <p:cNvSpPr>
            <a:spLocks noChangeShapeType="1"/>
          </p:cNvSpPr>
          <p:nvPr/>
        </p:nvSpPr>
        <p:spPr bwMode="auto">
          <a:xfrm>
            <a:off x="3941523" y="3675060"/>
            <a:ext cx="0" cy="166528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513" name="Line 49"/>
          <p:cNvSpPr>
            <a:spLocks noChangeShapeType="1"/>
          </p:cNvSpPr>
          <p:nvPr/>
        </p:nvSpPr>
        <p:spPr bwMode="auto">
          <a:xfrm>
            <a:off x="5373448" y="3675060"/>
            <a:ext cx="0" cy="166528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514" name="Line 50"/>
          <p:cNvSpPr>
            <a:spLocks noChangeShapeType="1"/>
          </p:cNvSpPr>
          <p:nvPr/>
        </p:nvSpPr>
        <p:spPr bwMode="auto">
          <a:xfrm>
            <a:off x="6818073" y="3675060"/>
            <a:ext cx="0" cy="166528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515" name="Line 51"/>
          <p:cNvSpPr>
            <a:spLocks noChangeShapeType="1"/>
          </p:cNvSpPr>
          <p:nvPr/>
        </p:nvSpPr>
        <p:spPr bwMode="auto">
          <a:xfrm>
            <a:off x="8275398" y="3675060"/>
            <a:ext cx="0" cy="166528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516" name="Line 52"/>
          <p:cNvSpPr>
            <a:spLocks noChangeShapeType="1"/>
          </p:cNvSpPr>
          <p:nvPr/>
        </p:nvSpPr>
        <p:spPr bwMode="auto">
          <a:xfrm>
            <a:off x="9951798" y="3675060"/>
            <a:ext cx="0" cy="1665287"/>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46517" name="Rectangle 53"/>
          <p:cNvSpPr>
            <a:spLocks noChangeArrowheads="1"/>
          </p:cNvSpPr>
          <p:nvPr/>
        </p:nvSpPr>
        <p:spPr bwMode="auto">
          <a:xfrm>
            <a:off x="4335223" y="3825871"/>
            <a:ext cx="287338" cy="1162050"/>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B</a:t>
            </a:r>
            <a:endParaRPr lang="en-US" altLang="zh-CN" sz="2000" dirty="0">
              <a:solidFill>
                <a:schemeClr val="bg1"/>
              </a:solidFill>
              <a:latin typeface="微软雅黑 Light" panose="020B0502040204020203" pitchFamily="34" charset="-122"/>
            </a:endParaRPr>
          </a:p>
        </p:txBody>
      </p:sp>
      <p:sp>
        <p:nvSpPr>
          <p:cNvPr id="446518" name="Rectangle 54"/>
          <p:cNvSpPr>
            <a:spLocks noChangeArrowheads="1"/>
          </p:cNvSpPr>
          <p:nvPr/>
        </p:nvSpPr>
        <p:spPr bwMode="auto">
          <a:xfrm>
            <a:off x="4695587" y="3825871"/>
            <a:ext cx="287337" cy="1162050"/>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C</a:t>
            </a:r>
            <a:endParaRPr lang="en-US" altLang="zh-CN" sz="2000" dirty="0">
              <a:solidFill>
                <a:schemeClr val="bg1"/>
              </a:solidFill>
              <a:latin typeface="微软雅黑 Light" panose="020B0502040204020203" pitchFamily="34" charset="-122"/>
            </a:endParaRPr>
          </a:p>
        </p:txBody>
      </p:sp>
      <p:sp>
        <p:nvSpPr>
          <p:cNvPr id="446519" name="Rectangle 55"/>
          <p:cNvSpPr>
            <a:spLocks noChangeArrowheads="1"/>
          </p:cNvSpPr>
          <p:nvPr/>
        </p:nvSpPr>
        <p:spPr bwMode="auto">
          <a:xfrm>
            <a:off x="5055948" y="3825871"/>
            <a:ext cx="287338" cy="1162050"/>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D</a:t>
            </a:r>
            <a:endParaRPr lang="en-US" altLang="zh-CN" sz="2000" dirty="0">
              <a:solidFill>
                <a:schemeClr val="bg1"/>
              </a:solidFill>
              <a:latin typeface="微软雅黑 Light" panose="020B0502040204020203" pitchFamily="34" charset="-122"/>
            </a:endParaRPr>
          </a:p>
        </p:txBody>
      </p:sp>
      <p:sp>
        <p:nvSpPr>
          <p:cNvPr id="446520" name="Rectangle 56"/>
          <p:cNvSpPr>
            <a:spLocks noChangeArrowheads="1"/>
          </p:cNvSpPr>
          <p:nvPr/>
        </p:nvSpPr>
        <p:spPr bwMode="auto">
          <a:xfrm>
            <a:off x="3974862" y="3825871"/>
            <a:ext cx="287337" cy="1162050"/>
          </a:xfrm>
          <a:prstGeom prst="rect">
            <a:avLst/>
          </a:prstGeom>
          <a:solidFill>
            <a:srgbClr val="00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A</a:t>
            </a:r>
            <a:endParaRPr lang="en-US" altLang="zh-CN" sz="2000" dirty="0">
              <a:solidFill>
                <a:schemeClr val="bg1"/>
              </a:solidFill>
              <a:latin typeface="微软雅黑 Light" panose="020B0502040204020203" pitchFamily="34" charset="-122"/>
            </a:endParaRPr>
          </a:p>
        </p:txBody>
      </p:sp>
      <p:sp>
        <p:nvSpPr>
          <p:cNvPr id="446521" name="Rectangle 57"/>
          <p:cNvSpPr>
            <a:spLocks noChangeArrowheads="1"/>
          </p:cNvSpPr>
          <p:nvPr/>
        </p:nvSpPr>
        <p:spPr bwMode="auto">
          <a:xfrm>
            <a:off x="5775087" y="3825871"/>
            <a:ext cx="287337" cy="1162050"/>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B</a:t>
            </a:r>
            <a:endParaRPr lang="en-US" altLang="zh-CN" sz="2000" dirty="0">
              <a:solidFill>
                <a:schemeClr val="bg1"/>
              </a:solidFill>
              <a:latin typeface="微软雅黑 Light" panose="020B0502040204020203" pitchFamily="34" charset="-122"/>
            </a:endParaRPr>
          </a:p>
        </p:txBody>
      </p:sp>
      <p:sp>
        <p:nvSpPr>
          <p:cNvPr id="446522" name="Rectangle 58"/>
          <p:cNvSpPr>
            <a:spLocks noChangeArrowheads="1"/>
          </p:cNvSpPr>
          <p:nvPr/>
        </p:nvSpPr>
        <p:spPr bwMode="auto">
          <a:xfrm>
            <a:off x="6135448" y="3825871"/>
            <a:ext cx="287338" cy="1162050"/>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C</a:t>
            </a:r>
            <a:endParaRPr lang="en-US" altLang="zh-CN" sz="2000" dirty="0">
              <a:solidFill>
                <a:schemeClr val="bg1"/>
              </a:solidFill>
              <a:latin typeface="微软雅黑 Light" panose="020B0502040204020203" pitchFamily="34" charset="-122"/>
            </a:endParaRPr>
          </a:p>
        </p:txBody>
      </p:sp>
      <p:sp>
        <p:nvSpPr>
          <p:cNvPr id="446523" name="Rectangle 59"/>
          <p:cNvSpPr>
            <a:spLocks noChangeArrowheads="1"/>
          </p:cNvSpPr>
          <p:nvPr/>
        </p:nvSpPr>
        <p:spPr bwMode="auto">
          <a:xfrm>
            <a:off x="6495812" y="3825871"/>
            <a:ext cx="287337" cy="1162050"/>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D</a:t>
            </a:r>
            <a:endParaRPr lang="en-US" altLang="zh-CN" sz="2000" dirty="0">
              <a:solidFill>
                <a:schemeClr val="bg1"/>
              </a:solidFill>
              <a:latin typeface="微软雅黑 Light" panose="020B0502040204020203" pitchFamily="34" charset="-122"/>
            </a:endParaRPr>
          </a:p>
        </p:txBody>
      </p:sp>
      <p:sp>
        <p:nvSpPr>
          <p:cNvPr id="446524" name="Rectangle 60"/>
          <p:cNvSpPr>
            <a:spLocks noChangeArrowheads="1"/>
          </p:cNvSpPr>
          <p:nvPr/>
        </p:nvSpPr>
        <p:spPr bwMode="auto">
          <a:xfrm>
            <a:off x="5414723" y="3825871"/>
            <a:ext cx="287338" cy="1162050"/>
          </a:xfrm>
          <a:prstGeom prst="rect">
            <a:avLst/>
          </a:prstGeom>
          <a:solidFill>
            <a:srgbClr val="00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A</a:t>
            </a:r>
            <a:endParaRPr lang="en-US" altLang="zh-CN" sz="2000" dirty="0">
              <a:solidFill>
                <a:schemeClr val="bg1"/>
              </a:solidFill>
              <a:latin typeface="微软雅黑 Light" panose="020B0502040204020203" pitchFamily="34" charset="-122"/>
            </a:endParaRPr>
          </a:p>
        </p:txBody>
      </p:sp>
      <p:sp>
        <p:nvSpPr>
          <p:cNvPr id="446529" name="Rectangle 65"/>
          <p:cNvSpPr>
            <a:spLocks noChangeArrowheads="1"/>
          </p:cNvSpPr>
          <p:nvPr/>
        </p:nvSpPr>
        <p:spPr bwMode="auto">
          <a:xfrm>
            <a:off x="7214948" y="3825871"/>
            <a:ext cx="287338" cy="1162050"/>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B</a:t>
            </a:r>
            <a:endParaRPr lang="en-US" altLang="zh-CN" sz="2000" dirty="0">
              <a:solidFill>
                <a:schemeClr val="bg1"/>
              </a:solidFill>
              <a:latin typeface="微软雅黑 Light" panose="020B0502040204020203" pitchFamily="34" charset="-122"/>
            </a:endParaRPr>
          </a:p>
        </p:txBody>
      </p:sp>
      <p:sp>
        <p:nvSpPr>
          <p:cNvPr id="446530" name="Rectangle 66"/>
          <p:cNvSpPr>
            <a:spLocks noChangeArrowheads="1"/>
          </p:cNvSpPr>
          <p:nvPr/>
        </p:nvSpPr>
        <p:spPr bwMode="auto">
          <a:xfrm>
            <a:off x="7575312" y="3825871"/>
            <a:ext cx="287337" cy="1162050"/>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C</a:t>
            </a:r>
            <a:endParaRPr lang="en-US" altLang="zh-CN" sz="2000" dirty="0">
              <a:solidFill>
                <a:schemeClr val="bg1"/>
              </a:solidFill>
              <a:latin typeface="微软雅黑 Light" panose="020B0502040204020203" pitchFamily="34" charset="-122"/>
            </a:endParaRPr>
          </a:p>
        </p:txBody>
      </p:sp>
      <p:sp>
        <p:nvSpPr>
          <p:cNvPr id="446531" name="Rectangle 67"/>
          <p:cNvSpPr>
            <a:spLocks noChangeArrowheads="1"/>
          </p:cNvSpPr>
          <p:nvPr/>
        </p:nvSpPr>
        <p:spPr bwMode="auto">
          <a:xfrm>
            <a:off x="7935673" y="3825871"/>
            <a:ext cx="287338" cy="1162050"/>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D</a:t>
            </a:r>
            <a:endParaRPr lang="en-US" altLang="zh-CN" sz="2000" dirty="0">
              <a:solidFill>
                <a:schemeClr val="bg1"/>
              </a:solidFill>
              <a:latin typeface="微软雅黑 Light" panose="020B0502040204020203" pitchFamily="34" charset="-122"/>
            </a:endParaRPr>
          </a:p>
        </p:txBody>
      </p:sp>
      <p:sp>
        <p:nvSpPr>
          <p:cNvPr id="446532" name="Rectangle 68"/>
          <p:cNvSpPr>
            <a:spLocks noChangeArrowheads="1"/>
          </p:cNvSpPr>
          <p:nvPr/>
        </p:nvSpPr>
        <p:spPr bwMode="auto">
          <a:xfrm>
            <a:off x="6854587" y="3825871"/>
            <a:ext cx="287337" cy="1162050"/>
          </a:xfrm>
          <a:prstGeom prst="rect">
            <a:avLst/>
          </a:prstGeom>
          <a:solidFill>
            <a:srgbClr val="00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dirty="0">
                <a:solidFill>
                  <a:schemeClr val="bg1"/>
                </a:solidFill>
                <a:latin typeface="微软雅黑 Light" panose="020B0502040204020203" pitchFamily="34" charset="-122"/>
              </a:rPr>
              <a:t>A</a:t>
            </a:r>
            <a:endParaRPr lang="en-US" altLang="zh-CN" sz="2000" dirty="0">
              <a:solidFill>
                <a:schemeClr val="bg1"/>
              </a:solidFill>
              <a:latin typeface="微软雅黑 Light" panose="020B0502040204020203" pitchFamily="34" charset="-122"/>
            </a:endParaRPr>
          </a:p>
        </p:txBody>
      </p:sp>
      <p:grpSp>
        <p:nvGrpSpPr>
          <p:cNvPr id="446534" name="Group 70"/>
          <p:cNvGrpSpPr/>
          <p:nvPr/>
        </p:nvGrpSpPr>
        <p:grpSpPr bwMode="auto">
          <a:xfrm>
            <a:off x="3974862" y="5043491"/>
            <a:ext cx="1368425" cy="388938"/>
            <a:chOff x="884" y="3659"/>
            <a:chExt cx="862" cy="245"/>
          </a:xfrm>
        </p:grpSpPr>
        <p:sp>
          <p:nvSpPr>
            <p:cNvPr id="446535" name="Text Box 71"/>
            <p:cNvSpPr txBox="1">
              <a:spLocks noChangeArrowheads="1"/>
            </p:cNvSpPr>
            <p:nvPr/>
          </p:nvSpPr>
          <p:spPr bwMode="auto">
            <a:xfrm>
              <a:off x="1028" y="3724"/>
              <a:ext cx="50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latin typeface="微软雅黑 Light" panose="020B0502040204020203" pitchFamily="34" charset="-122"/>
                  <a:ea typeface="微软雅黑 Light" panose="020B0502040204020203" pitchFamily="34" charset="-122"/>
                </a:defRPr>
              </a:lvl1pPr>
            </a:lstStyle>
            <a:p>
              <a:r>
                <a:rPr lang="en-US" altLang="zh-CN" dirty="0"/>
                <a:t>TDM </a:t>
              </a:r>
              <a:r>
                <a:rPr lang="zh-CN" altLang="en-US" dirty="0"/>
                <a:t>帧</a:t>
              </a:r>
              <a:endParaRPr lang="zh-CN" altLang="en-US" dirty="0"/>
            </a:p>
          </p:txBody>
        </p:sp>
        <p:sp>
          <p:nvSpPr>
            <p:cNvPr id="446536" name="AutoShape 72"/>
            <p:cNvSpPr/>
            <p:nvPr/>
          </p:nvSpPr>
          <p:spPr bwMode="auto">
            <a:xfrm rot="16200000" flipV="1">
              <a:off x="1270" y="3273"/>
              <a:ext cx="90" cy="862"/>
            </a:xfrm>
            <a:prstGeom prst="leftBrace">
              <a:avLst>
                <a:gd name="adj1" fmla="val 79815"/>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zh-CN" sz="1600" dirty="0">
                <a:latin typeface="微软雅黑 Light" panose="020B0502040204020203" pitchFamily="34" charset="-122"/>
              </a:endParaRPr>
            </a:p>
          </p:txBody>
        </p:sp>
      </p:grpSp>
      <p:grpSp>
        <p:nvGrpSpPr>
          <p:cNvPr id="446537" name="Group 73"/>
          <p:cNvGrpSpPr/>
          <p:nvPr/>
        </p:nvGrpSpPr>
        <p:grpSpPr bwMode="auto">
          <a:xfrm>
            <a:off x="5416312" y="5043491"/>
            <a:ext cx="1368425" cy="388938"/>
            <a:chOff x="884" y="3659"/>
            <a:chExt cx="862" cy="245"/>
          </a:xfrm>
        </p:grpSpPr>
        <p:sp>
          <p:nvSpPr>
            <p:cNvPr id="446538" name="Text Box 74"/>
            <p:cNvSpPr txBox="1">
              <a:spLocks noChangeArrowheads="1"/>
            </p:cNvSpPr>
            <p:nvPr/>
          </p:nvSpPr>
          <p:spPr bwMode="auto">
            <a:xfrm>
              <a:off x="1026" y="3724"/>
              <a:ext cx="50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latin typeface="微软雅黑 Light" panose="020B0502040204020203" pitchFamily="34" charset="-122"/>
                  <a:ea typeface="微软雅黑 Light" panose="020B0502040204020203" pitchFamily="34" charset="-122"/>
                </a:defRPr>
              </a:lvl1pPr>
            </a:lstStyle>
            <a:p>
              <a:r>
                <a:rPr lang="en-US" altLang="zh-CN" dirty="0"/>
                <a:t>TDM </a:t>
              </a:r>
              <a:r>
                <a:rPr lang="zh-CN" altLang="en-US" dirty="0"/>
                <a:t>帧</a:t>
              </a:r>
              <a:endParaRPr lang="zh-CN" altLang="en-US" dirty="0"/>
            </a:p>
          </p:txBody>
        </p:sp>
        <p:sp>
          <p:nvSpPr>
            <p:cNvPr id="446539" name="AutoShape 75"/>
            <p:cNvSpPr/>
            <p:nvPr/>
          </p:nvSpPr>
          <p:spPr bwMode="auto">
            <a:xfrm rot="16200000" flipV="1">
              <a:off x="1270" y="3273"/>
              <a:ext cx="90" cy="862"/>
            </a:xfrm>
            <a:prstGeom prst="leftBrace">
              <a:avLst>
                <a:gd name="adj1" fmla="val 79815"/>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zh-CN" sz="1600" dirty="0">
                <a:latin typeface="微软雅黑 Light" panose="020B0502040204020203" pitchFamily="34" charset="-122"/>
              </a:endParaRPr>
            </a:p>
          </p:txBody>
        </p:sp>
      </p:grpSp>
      <p:grpSp>
        <p:nvGrpSpPr>
          <p:cNvPr id="446540" name="Group 76"/>
          <p:cNvGrpSpPr/>
          <p:nvPr/>
        </p:nvGrpSpPr>
        <p:grpSpPr bwMode="auto">
          <a:xfrm>
            <a:off x="6856174" y="5043499"/>
            <a:ext cx="1368425" cy="384176"/>
            <a:chOff x="884" y="3659"/>
            <a:chExt cx="862" cy="242"/>
          </a:xfrm>
        </p:grpSpPr>
        <p:sp>
          <p:nvSpPr>
            <p:cNvPr id="446541" name="Text Box 77"/>
            <p:cNvSpPr txBox="1">
              <a:spLocks noChangeArrowheads="1"/>
            </p:cNvSpPr>
            <p:nvPr/>
          </p:nvSpPr>
          <p:spPr bwMode="auto">
            <a:xfrm>
              <a:off x="1031" y="3721"/>
              <a:ext cx="50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latin typeface="微软雅黑 Light" panose="020B0502040204020203" pitchFamily="34" charset="-122"/>
                  <a:ea typeface="微软雅黑 Light" panose="020B0502040204020203" pitchFamily="34" charset="-122"/>
                </a:defRPr>
              </a:lvl1pPr>
            </a:lstStyle>
            <a:p>
              <a:r>
                <a:rPr lang="en-US" altLang="zh-CN" dirty="0"/>
                <a:t>TDM </a:t>
              </a:r>
              <a:r>
                <a:rPr lang="zh-CN" altLang="en-US" dirty="0"/>
                <a:t>帧</a:t>
              </a:r>
              <a:endParaRPr lang="zh-CN" altLang="en-US" dirty="0"/>
            </a:p>
          </p:txBody>
        </p:sp>
        <p:sp>
          <p:nvSpPr>
            <p:cNvPr id="446542" name="AutoShape 78"/>
            <p:cNvSpPr/>
            <p:nvPr/>
          </p:nvSpPr>
          <p:spPr bwMode="auto">
            <a:xfrm rot="16200000" flipV="1">
              <a:off x="1270" y="3273"/>
              <a:ext cx="90" cy="862"/>
            </a:xfrm>
            <a:prstGeom prst="leftBrace">
              <a:avLst>
                <a:gd name="adj1" fmla="val 79815"/>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zh-CN" sz="1600" dirty="0">
                <a:latin typeface="微软雅黑 Light" panose="020B0502040204020203" pitchFamily="34" charset="-122"/>
              </a:endParaRPr>
            </a:p>
          </p:txBody>
        </p:sp>
      </p:grpSp>
      <p:grpSp>
        <p:nvGrpSpPr>
          <p:cNvPr id="446543" name="Group 79"/>
          <p:cNvGrpSpPr/>
          <p:nvPr/>
        </p:nvGrpSpPr>
        <p:grpSpPr bwMode="auto">
          <a:xfrm>
            <a:off x="8413512" y="5041904"/>
            <a:ext cx="1368425" cy="354013"/>
            <a:chOff x="884" y="3659"/>
            <a:chExt cx="862" cy="223"/>
          </a:xfrm>
        </p:grpSpPr>
        <p:sp>
          <p:nvSpPr>
            <p:cNvPr id="446544" name="Text Box 80"/>
            <p:cNvSpPr txBox="1">
              <a:spLocks noChangeArrowheads="1"/>
            </p:cNvSpPr>
            <p:nvPr/>
          </p:nvSpPr>
          <p:spPr bwMode="auto">
            <a:xfrm>
              <a:off x="1008" y="3702"/>
              <a:ext cx="50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latin typeface="微软雅黑 Light" panose="020B0502040204020203" pitchFamily="34" charset="-122"/>
                  <a:ea typeface="微软雅黑 Light" panose="020B0502040204020203" pitchFamily="34" charset="-122"/>
                </a:defRPr>
              </a:lvl1pPr>
            </a:lstStyle>
            <a:p>
              <a:r>
                <a:rPr lang="en-US" altLang="zh-CN" dirty="0"/>
                <a:t>TDM </a:t>
              </a:r>
              <a:r>
                <a:rPr lang="zh-CN" altLang="en-US" dirty="0"/>
                <a:t>帧</a:t>
              </a:r>
              <a:endParaRPr lang="zh-CN" altLang="en-US" dirty="0"/>
            </a:p>
          </p:txBody>
        </p:sp>
        <p:sp>
          <p:nvSpPr>
            <p:cNvPr id="446545" name="AutoShape 81"/>
            <p:cNvSpPr/>
            <p:nvPr/>
          </p:nvSpPr>
          <p:spPr bwMode="auto">
            <a:xfrm rot="16200000" flipV="1">
              <a:off x="1270" y="3273"/>
              <a:ext cx="90" cy="862"/>
            </a:xfrm>
            <a:prstGeom prst="leftBrace">
              <a:avLst>
                <a:gd name="adj1" fmla="val 79815"/>
                <a:gd name="adj2" fmla="val 50000"/>
              </a:avLst>
            </a:prstGeom>
            <a:noFill/>
            <a:ln w="19050">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zh-CN" sz="1600" dirty="0">
                <a:latin typeface="微软雅黑 Light" panose="020B0502040204020203" pitchFamily="34" charset="-122"/>
              </a:endParaRPr>
            </a:p>
          </p:txBody>
        </p:sp>
      </p:grpSp>
      <p:sp>
        <p:nvSpPr>
          <p:cNvPr id="3" name="内容占位符 2"/>
          <p:cNvSpPr>
            <a:spLocks noGrp="1"/>
          </p:cNvSpPr>
          <p:nvPr>
            <p:ph idx="1"/>
          </p:nvPr>
        </p:nvSpPr>
        <p:spPr>
          <a:xfrm>
            <a:off x="334434" y="1052515"/>
            <a:ext cx="11523133" cy="1679794"/>
          </a:xfrm>
        </p:spPr>
        <p:txBody>
          <a:bodyPr/>
          <a:lstStyle/>
          <a:p>
            <a:r>
              <a:rPr lang="zh-CN" altLang="en-US" dirty="0"/>
              <a:t>通过分割时间片来划分信道</a:t>
            </a:r>
            <a:endParaRPr lang="en-US" altLang="zh-CN" dirty="0"/>
          </a:p>
          <a:p>
            <a:r>
              <a:rPr lang="zh-CN" altLang="en-US" dirty="0"/>
              <a:t>每个时间片由一个复用信号占用</a:t>
            </a:r>
            <a:endParaRPr lang="en-US" altLang="zh-CN" dirty="0"/>
          </a:p>
          <a:p>
            <a:r>
              <a:rPr lang="zh-CN" altLang="en-US" dirty="0"/>
              <a:t>适用于数字信号</a:t>
            </a:r>
            <a:endParaRPr lang="zh-CN" altLang="en-US" dirty="0"/>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lstStyle/>
          <a:p>
            <a:r>
              <a:rPr lang="zh-CN" altLang="en-US" dirty="0"/>
              <a:t>时分复用</a:t>
            </a:r>
            <a:endParaRPr lang="en-US" altLang="zh-CN" dirty="0"/>
          </a:p>
        </p:txBody>
      </p:sp>
      <p:sp>
        <p:nvSpPr>
          <p:cNvPr id="450563" name="Rectangle 3"/>
          <p:cNvSpPr>
            <a:spLocks noGrp="1" noChangeArrowheads="1"/>
          </p:cNvSpPr>
          <p:nvPr>
            <p:ph idx="1"/>
          </p:nvPr>
        </p:nvSpPr>
        <p:spPr/>
        <p:txBody>
          <a:bodyPr/>
          <a:lstStyle/>
          <a:p>
            <a:r>
              <a:rPr lang="zh-CN" altLang="en-US" dirty="0"/>
              <a:t>每一个用户所占用的时隙是周期性地出现</a:t>
            </a:r>
            <a:endParaRPr lang="en-US" altLang="zh-CN" dirty="0"/>
          </a:p>
          <a:p>
            <a:pPr lvl="1"/>
            <a:r>
              <a:rPr lang="zh-CN" altLang="en-US" dirty="0"/>
              <a:t>周期：</a:t>
            </a:r>
            <a:r>
              <a:rPr lang="en-US" altLang="zh-CN" dirty="0"/>
              <a:t>TDM</a:t>
            </a:r>
            <a:r>
              <a:rPr lang="zh-CN" altLang="en-US" dirty="0"/>
              <a:t>帧的长度</a:t>
            </a:r>
            <a:endParaRPr lang="zh-CN" altLang="en-US" dirty="0"/>
          </a:p>
          <a:p>
            <a:r>
              <a:rPr lang="zh-CN" altLang="en-US" dirty="0"/>
              <a:t>所有用户在不同的时间占用同样的频带宽度</a:t>
            </a:r>
            <a:endParaRPr lang="zh-CN" altLang="en-US" dirty="0"/>
          </a:p>
          <a:p>
            <a:pPr>
              <a:lnSpc>
                <a:spcPct val="90000"/>
              </a:lnSpc>
            </a:pPr>
            <a:r>
              <a:rPr lang="en-US" altLang="zh-CN" dirty="0"/>
              <a:t>TDM</a:t>
            </a:r>
            <a:r>
              <a:rPr lang="zh-CN" altLang="en-US" dirty="0"/>
              <a:t>两种实现方式</a:t>
            </a:r>
            <a:endParaRPr lang="zh-CN" altLang="en-US" dirty="0"/>
          </a:p>
          <a:p>
            <a:pPr lvl="1">
              <a:lnSpc>
                <a:spcPct val="90000"/>
              </a:lnSpc>
            </a:pPr>
            <a:r>
              <a:rPr lang="zh-CN" altLang="en-US" dirty="0"/>
              <a:t>同步时分多路复用</a:t>
            </a:r>
            <a:endParaRPr lang="zh-CN" altLang="en-US" dirty="0"/>
          </a:p>
          <a:p>
            <a:pPr lvl="1">
              <a:lnSpc>
                <a:spcPct val="90000"/>
              </a:lnSpc>
            </a:pPr>
            <a:r>
              <a:rPr lang="zh-CN" altLang="en-US" dirty="0"/>
              <a:t>异步时分多路复用</a:t>
            </a:r>
            <a:endParaRPr lang="zh-CN" altLang="en-US" dirty="0"/>
          </a:p>
        </p:txBody>
      </p:sp>
      <p:sp>
        <p:nvSpPr>
          <p:cNvPr id="6" name="灯片编号占位符 5"/>
          <p:cNvSpPr>
            <a:spLocks noGrp="1"/>
          </p:cNvSpPr>
          <p:nvPr>
            <p:ph type="sldNum" sz="quarter" idx="12"/>
          </p:nvPr>
        </p:nvSpPr>
        <p:spPr/>
        <p:txBody>
          <a:bodyPr/>
          <a:lstStyle/>
          <a:p>
            <a:fld id="{467A614A-469D-4D52-9B47-49A4BB15C591}" type="slidenum">
              <a:rPr lang="en-US" altLang="zh-CN"/>
            </a:fld>
            <a:endParaRPr lang="en-US"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zh-CN" altLang="en-US" dirty="0"/>
              <a:t>同步</a:t>
            </a:r>
            <a:r>
              <a:rPr lang="en-US" altLang="zh-CN" dirty="0"/>
              <a:t>TDM</a:t>
            </a:r>
            <a:endParaRPr lang="en-US" altLang="zh-CN" dirty="0"/>
          </a:p>
        </p:txBody>
      </p:sp>
      <p:sp>
        <p:nvSpPr>
          <p:cNvPr id="44" name="灯片编号占位符 5"/>
          <p:cNvSpPr>
            <a:spLocks noGrp="1"/>
          </p:cNvSpPr>
          <p:nvPr>
            <p:ph type="sldNum" sz="quarter" idx="12"/>
          </p:nvPr>
        </p:nvSpPr>
        <p:spPr/>
        <p:txBody>
          <a:bodyPr/>
          <a:lstStyle/>
          <a:p>
            <a:fld id="{3B2D719F-3554-4DAC-93B5-CDE9DDB6879E}" type="slidenum">
              <a:rPr lang="en-US" altLang="zh-CN"/>
            </a:fld>
            <a:endParaRPr lang="en-US" altLang="zh-CN" dirty="0"/>
          </a:p>
        </p:txBody>
      </p:sp>
      <p:sp>
        <p:nvSpPr>
          <p:cNvPr id="449541" name="AutoShape 5"/>
          <p:cNvSpPr>
            <a:spLocks noChangeArrowheads="1"/>
          </p:cNvSpPr>
          <p:nvPr/>
        </p:nvSpPr>
        <p:spPr bwMode="auto">
          <a:xfrm rot="-5400000">
            <a:off x="2913063" y="3105151"/>
            <a:ext cx="2016125" cy="647700"/>
          </a:xfrm>
          <a:custGeom>
            <a:avLst/>
            <a:gdLst>
              <a:gd name="G0" fmla="+- 3112 0 0"/>
              <a:gd name="G1" fmla="+- 21600 0 3112"/>
              <a:gd name="G2" fmla="*/ 3112 1 2"/>
              <a:gd name="G3" fmla="+- 21600 0 G2"/>
              <a:gd name="G4" fmla="+/ 3112 21600 2"/>
              <a:gd name="G5" fmla="+/ G1 0 2"/>
              <a:gd name="G6" fmla="*/ 21600 21600 3112"/>
              <a:gd name="G7" fmla="*/ G6 1 2"/>
              <a:gd name="G8" fmla="+- 21600 0 G7"/>
              <a:gd name="G9" fmla="*/ 21600 1 2"/>
              <a:gd name="G10" fmla="+- 3112 0 G9"/>
              <a:gd name="G11" fmla="?: G10 G8 0"/>
              <a:gd name="G12" fmla="?: G10 G7 21600"/>
              <a:gd name="T0" fmla="*/ 20044 w 21600"/>
              <a:gd name="T1" fmla="*/ 10800 h 21600"/>
              <a:gd name="T2" fmla="*/ 10800 w 21600"/>
              <a:gd name="T3" fmla="*/ 21600 h 21600"/>
              <a:gd name="T4" fmla="*/ 1556 w 21600"/>
              <a:gd name="T5" fmla="*/ 10800 h 21600"/>
              <a:gd name="T6" fmla="*/ 10800 w 21600"/>
              <a:gd name="T7" fmla="*/ 0 h 21600"/>
              <a:gd name="T8" fmla="*/ 3356 w 21600"/>
              <a:gd name="T9" fmla="*/ 3356 h 21600"/>
              <a:gd name="T10" fmla="*/ 18244 w 21600"/>
              <a:gd name="T11" fmla="*/ 18244 h 21600"/>
            </a:gdLst>
            <a:ahLst/>
            <a:cxnLst>
              <a:cxn ang="0">
                <a:pos x="T0" y="T1"/>
              </a:cxn>
              <a:cxn ang="0">
                <a:pos x="T2" y="T3"/>
              </a:cxn>
              <a:cxn ang="0">
                <a:pos x="T4" y="T5"/>
              </a:cxn>
              <a:cxn ang="0">
                <a:pos x="T6" y="T7"/>
              </a:cxn>
            </a:cxnLst>
            <a:rect l="T8" t="T9" r="T10" b="T11"/>
            <a:pathLst>
              <a:path w="21600" h="21600">
                <a:moveTo>
                  <a:pt x="0" y="0"/>
                </a:moveTo>
                <a:lnTo>
                  <a:pt x="3112" y="21600"/>
                </a:lnTo>
                <a:lnTo>
                  <a:pt x="18488" y="21600"/>
                </a:lnTo>
                <a:lnTo>
                  <a:pt x="21600" y="0"/>
                </a:lnTo>
                <a:close/>
              </a:path>
            </a:pathLst>
          </a:custGeom>
          <a:solidFill>
            <a:schemeClr val="accent1">
              <a:lumMod val="50000"/>
            </a:schemeClr>
          </a:solidFill>
          <a:ln w="9525">
            <a:solidFill>
              <a:schemeClr val="tx1"/>
            </a:solidFill>
            <a:miter lim="800000"/>
          </a:ln>
          <a:effectLst/>
        </p:spPr>
        <p:txBody>
          <a:bodyPr vert="eaVert" wrap="none" anchor="ctr"/>
          <a:lstStyle/>
          <a:p>
            <a:pPr algn="ctr"/>
            <a:r>
              <a:rPr lang="zh-CN" altLang="en-US" dirty="0">
                <a:solidFill>
                  <a:schemeClr val="bg1"/>
                </a:solidFill>
                <a:latin typeface="微软雅黑 Light" panose="020B0502040204020203" pitchFamily="34" charset="-122"/>
              </a:rPr>
              <a:t>复</a:t>
            </a:r>
            <a:endParaRPr lang="zh-CN" altLang="en-US" dirty="0">
              <a:solidFill>
                <a:schemeClr val="bg1"/>
              </a:solidFill>
              <a:latin typeface="微软雅黑 Light" panose="020B0502040204020203" pitchFamily="34" charset="-122"/>
            </a:endParaRPr>
          </a:p>
          <a:p>
            <a:pPr algn="ctr"/>
            <a:r>
              <a:rPr lang="zh-CN" altLang="en-US" dirty="0">
                <a:solidFill>
                  <a:schemeClr val="bg1"/>
                </a:solidFill>
                <a:latin typeface="微软雅黑 Light" panose="020B0502040204020203" pitchFamily="34" charset="-122"/>
              </a:rPr>
              <a:t>用</a:t>
            </a:r>
            <a:endParaRPr lang="zh-CN" altLang="en-US" dirty="0">
              <a:solidFill>
                <a:schemeClr val="bg1"/>
              </a:solidFill>
              <a:latin typeface="微软雅黑 Light" panose="020B0502040204020203" pitchFamily="34" charset="-122"/>
            </a:endParaRPr>
          </a:p>
          <a:p>
            <a:pPr algn="ctr"/>
            <a:r>
              <a:rPr lang="zh-CN" altLang="en-US" dirty="0">
                <a:solidFill>
                  <a:schemeClr val="bg1"/>
                </a:solidFill>
                <a:latin typeface="微软雅黑 Light" panose="020B0502040204020203" pitchFamily="34" charset="-122"/>
              </a:rPr>
              <a:t>器</a:t>
            </a:r>
            <a:endParaRPr lang="zh-CN" altLang="en-US" dirty="0">
              <a:solidFill>
                <a:schemeClr val="bg1"/>
              </a:solidFill>
              <a:latin typeface="微软雅黑 Light" panose="020B0502040204020203" pitchFamily="34" charset="-122"/>
            </a:endParaRPr>
          </a:p>
        </p:txBody>
      </p:sp>
      <p:sp>
        <p:nvSpPr>
          <p:cNvPr id="449543" name="AutoShape 7"/>
          <p:cNvSpPr>
            <a:spLocks noChangeArrowheads="1"/>
          </p:cNvSpPr>
          <p:nvPr/>
        </p:nvSpPr>
        <p:spPr bwMode="auto">
          <a:xfrm rot="5400000">
            <a:off x="7593013" y="3105151"/>
            <a:ext cx="2016125" cy="647700"/>
          </a:xfrm>
          <a:custGeom>
            <a:avLst/>
            <a:gdLst>
              <a:gd name="G0" fmla="+- 3066 0 0"/>
              <a:gd name="G1" fmla="+- 21600 0 3066"/>
              <a:gd name="G2" fmla="*/ 3066 1 2"/>
              <a:gd name="G3" fmla="+- 21600 0 G2"/>
              <a:gd name="G4" fmla="+/ 3066 21600 2"/>
              <a:gd name="G5" fmla="+/ G1 0 2"/>
              <a:gd name="G6" fmla="*/ 21600 21600 3066"/>
              <a:gd name="G7" fmla="*/ G6 1 2"/>
              <a:gd name="G8" fmla="+- 21600 0 G7"/>
              <a:gd name="G9" fmla="*/ 21600 1 2"/>
              <a:gd name="G10" fmla="+- 3066 0 G9"/>
              <a:gd name="G11" fmla="?: G10 G8 0"/>
              <a:gd name="G12" fmla="?: G10 G7 21600"/>
              <a:gd name="T0" fmla="*/ 20067 w 21600"/>
              <a:gd name="T1" fmla="*/ 10800 h 21600"/>
              <a:gd name="T2" fmla="*/ 10800 w 21600"/>
              <a:gd name="T3" fmla="*/ 21600 h 21600"/>
              <a:gd name="T4" fmla="*/ 1533 w 21600"/>
              <a:gd name="T5" fmla="*/ 10800 h 21600"/>
              <a:gd name="T6" fmla="*/ 10800 w 21600"/>
              <a:gd name="T7" fmla="*/ 0 h 21600"/>
              <a:gd name="T8" fmla="*/ 3333 w 21600"/>
              <a:gd name="T9" fmla="*/ 3333 h 21600"/>
              <a:gd name="T10" fmla="*/ 18267 w 21600"/>
              <a:gd name="T11" fmla="*/ 18267 h 21600"/>
            </a:gdLst>
            <a:ahLst/>
            <a:cxnLst>
              <a:cxn ang="0">
                <a:pos x="T0" y="T1"/>
              </a:cxn>
              <a:cxn ang="0">
                <a:pos x="T2" y="T3"/>
              </a:cxn>
              <a:cxn ang="0">
                <a:pos x="T4" y="T5"/>
              </a:cxn>
              <a:cxn ang="0">
                <a:pos x="T6" y="T7"/>
              </a:cxn>
            </a:cxnLst>
            <a:rect l="T8" t="T9" r="T10" b="T11"/>
            <a:pathLst>
              <a:path w="21600" h="21600">
                <a:moveTo>
                  <a:pt x="0" y="0"/>
                </a:moveTo>
                <a:lnTo>
                  <a:pt x="3066" y="21600"/>
                </a:lnTo>
                <a:lnTo>
                  <a:pt x="18534" y="21600"/>
                </a:lnTo>
                <a:lnTo>
                  <a:pt x="21600" y="0"/>
                </a:lnTo>
                <a:close/>
              </a:path>
            </a:pathLst>
          </a:custGeom>
          <a:solidFill>
            <a:schemeClr val="accent1">
              <a:lumMod val="50000"/>
            </a:schemeClr>
          </a:solidFill>
          <a:ln w="9525">
            <a:solidFill>
              <a:schemeClr val="tx1"/>
            </a:solidFill>
            <a:miter lim="800000"/>
          </a:ln>
          <a:effectLst/>
        </p:spPr>
        <p:txBody>
          <a:bodyPr rot="10800000" vert="eaVert" wrap="none" anchor="ctr"/>
          <a:lstStyle/>
          <a:p>
            <a:pPr algn="ctr"/>
            <a:r>
              <a:rPr lang="zh-CN" altLang="en-US" dirty="0">
                <a:solidFill>
                  <a:schemeClr val="bg1"/>
                </a:solidFill>
                <a:latin typeface="微软雅黑 Light" panose="020B0502040204020203" pitchFamily="34" charset="-122"/>
              </a:rPr>
              <a:t>解</a:t>
            </a:r>
            <a:endParaRPr lang="zh-CN" altLang="en-US" dirty="0">
              <a:solidFill>
                <a:schemeClr val="bg1"/>
              </a:solidFill>
              <a:latin typeface="微软雅黑 Light" panose="020B0502040204020203" pitchFamily="34" charset="-122"/>
            </a:endParaRPr>
          </a:p>
          <a:p>
            <a:pPr algn="ctr"/>
            <a:r>
              <a:rPr lang="zh-CN" altLang="en-US" dirty="0">
                <a:solidFill>
                  <a:schemeClr val="bg1"/>
                </a:solidFill>
                <a:latin typeface="微软雅黑 Light" panose="020B0502040204020203" pitchFamily="34" charset="-122"/>
              </a:rPr>
              <a:t>复</a:t>
            </a:r>
            <a:endParaRPr lang="zh-CN" altLang="en-US" dirty="0">
              <a:solidFill>
                <a:schemeClr val="bg1"/>
              </a:solidFill>
              <a:latin typeface="微软雅黑 Light" panose="020B0502040204020203" pitchFamily="34" charset="-122"/>
            </a:endParaRPr>
          </a:p>
          <a:p>
            <a:pPr algn="ctr"/>
            <a:r>
              <a:rPr lang="zh-CN" altLang="en-US" dirty="0">
                <a:solidFill>
                  <a:schemeClr val="bg1"/>
                </a:solidFill>
                <a:latin typeface="微软雅黑 Light" panose="020B0502040204020203" pitchFamily="34" charset="-122"/>
              </a:rPr>
              <a:t>用</a:t>
            </a:r>
            <a:endParaRPr lang="zh-CN" altLang="en-US" dirty="0">
              <a:solidFill>
                <a:schemeClr val="bg1"/>
              </a:solidFill>
              <a:latin typeface="微软雅黑 Light" panose="020B0502040204020203" pitchFamily="34" charset="-122"/>
            </a:endParaRPr>
          </a:p>
          <a:p>
            <a:pPr algn="ctr"/>
            <a:r>
              <a:rPr lang="zh-CN" altLang="en-US" dirty="0">
                <a:solidFill>
                  <a:schemeClr val="bg1"/>
                </a:solidFill>
                <a:latin typeface="微软雅黑 Light" panose="020B0502040204020203" pitchFamily="34" charset="-122"/>
              </a:rPr>
              <a:t>器</a:t>
            </a:r>
            <a:endParaRPr lang="zh-CN" altLang="en-US" dirty="0">
              <a:solidFill>
                <a:schemeClr val="bg1"/>
              </a:solidFill>
              <a:latin typeface="微软雅黑 Light" panose="020B0502040204020203" pitchFamily="34" charset="-122"/>
            </a:endParaRPr>
          </a:p>
        </p:txBody>
      </p:sp>
      <p:sp>
        <p:nvSpPr>
          <p:cNvPr id="449545" name="Rectangle 9"/>
          <p:cNvSpPr>
            <a:spLocks noChangeAspect="1" noChangeArrowheads="1"/>
          </p:cNvSpPr>
          <p:nvPr/>
        </p:nvSpPr>
        <p:spPr bwMode="auto">
          <a:xfrm>
            <a:off x="4387850" y="3141664"/>
            <a:ext cx="287338" cy="287337"/>
          </a:xfrm>
          <a:prstGeom prst="rect">
            <a:avLst/>
          </a:prstGeom>
          <a:solidFill>
            <a:schemeClr val="accent2">
              <a:lumMod val="60000"/>
              <a:lumOff val="40000"/>
            </a:schemeClr>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D</a:t>
            </a:r>
            <a:endParaRPr lang="en-US" altLang="zh-CN" dirty="0">
              <a:solidFill>
                <a:schemeClr val="bg1"/>
              </a:solidFill>
              <a:latin typeface="微软雅黑 Light" panose="020B0502040204020203" pitchFamily="34" charset="-122"/>
            </a:endParaRPr>
          </a:p>
        </p:txBody>
      </p:sp>
      <p:sp>
        <p:nvSpPr>
          <p:cNvPr id="449546" name="Rectangle 10"/>
          <p:cNvSpPr>
            <a:spLocks noChangeAspect="1" noChangeArrowheads="1"/>
          </p:cNvSpPr>
          <p:nvPr/>
        </p:nvSpPr>
        <p:spPr bwMode="auto">
          <a:xfrm>
            <a:off x="4676775" y="3141664"/>
            <a:ext cx="287338" cy="287337"/>
          </a:xfrm>
          <a:prstGeom prst="rect">
            <a:avLst/>
          </a:prstGeom>
          <a:solidFill>
            <a:srgbClr val="00B05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C</a:t>
            </a:r>
            <a:endParaRPr lang="en-US" altLang="zh-CN" dirty="0">
              <a:solidFill>
                <a:schemeClr val="bg1"/>
              </a:solidFill>
              <a:latin typeface="微软雅黑 Light" panose="020B0502040204020203" pitchFamily="34" charset="-122"/>
            </a:endParaRPr>
          </a:p>
        </p:txBody>
      </p:sp>
      <p:sp>
        <p:nvSpPr>
          <p:cNvPr id="449547" name="Rectangle 11"/>
          <p:cNvSpPr>
            <a:spLocks noChangeAspect="1" noChangeArrowheads="1"/>
          </p:cNvSpPr>
          <p:nvPr/>
        </p:nvSpPr>
        <p:spPr bwMode="auto">
          <a:xfrm>
            <a:off x="4964114" y="3141664"/>
            <a:ext cx="287337" cy="287337"/>
          </a:xfrm>
          <a:prstGeom prst="rect">
            <a:avLst/>
          </a:prstGeom>
          <a:solidFill>
            <a:srgbClr val="00B0F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B</a:t>
            </a:r>
            <a:endParaRPr lang="en-US" altLang="zh-CN" dirty="0">
              <a:solidFill>
                <a:schemeClr val="bg1"/>
              </a:solidFill>
              <a:latin typeface="微软雅黑 Light" panose="020B0502040204020203" pitchFamily="34" charset="-122"/>
            </a:endParaRPr>
          </a:p>
        </p:txBody>
      </p:sp>
      <p:sp>
        <p:nvSpPr>
          <p:cNvPr id="449548" name="Rectangle 12"/>
          <p:cNvSpPr>
            <a:spLocks noChangeAspect="1" noChangeArrowheads="1"/>
          </p:cNvSpPr>
          <p:nvPr/>
        </p:nvSpPr>
        <p:spPr bwMode="auto">
          <a:xfrm>
            <a:off x="5253039" y="3141664"/>
            <a:ext cx="287337" cy="287337"/>
          </a:xfrm>
          <a:prstGeom prst="rect">
            <a:avLst/>
          </a:prstGeom>
          <a:solidFill>
            <a:srgbClr val="0070C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A</a:t>
            </a:r>
            <a:endParaRPr lang="en-US" altLang="zh-CN" dirty="0">
              <a:solidFill>
                <a:schemeClr val="bg1"/>
              </a:solidFill>
              <a:latin typeface="微软雅黑 Light" panose="020B0502040204020203" pitchFamily="34" charset="-122"/>
            </a:endParaRPr>
          </a:p>
        </p:txBody>
      </p:sp>
      <p:sp>
        <p:nvSpPr>
          <p:cNvPr id="449565" name="Line 29"/>
          <p:cNvSpPr>
            <a:spLocks noChangeShapeType="1"/>
          </p:cNvSpPr>
          <p:nvPr/>
        </p:nvSpPr>
        <p:spPr bwMode="auto">
          <a:xfrm>
            <a:off x="4244975" y="3536950"/>
            <a:ext cx="403225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66" name="Line 30"/>
          <p:cNvSpPr>
            <a:spLocks noChangeShapeType="1"/>
          </p:cNvSpPr>
          <p:nvPr/>
        </p:nvSpPr>
        <p:spPr bwMode="auto">
          <a:xfrm>
            <a:off x="2587626" y="2816225"/>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67" name="Text Box 31"/>
          <p:cNvSpPr txBox="1">
            <a:spLocks noChangeArrowheads="1"/>
          </p:cNvSpPr>
          <p:nvPr/>
        </p:nvSpPr>
        <p:spPr bwMode="auto">
          <a:xfrm>
            <a:off x="2782645" y="2528888"/>
            <a:ext cx="8130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AAAA</a:t>
            </a:r>
            <a:endParaRPr lang="en-US" altLang="zh-CN" dirty="0">
              <a:latin typeface="微软雅黑 Light" panose="020B0502040204020203" pitchFamily="34" charset="-122"/>
            </a:endParaRPr>
          </a:p>
        </p:txBody>
      </p:sp>
      <p:sp>
        <p:nvSpPr>
          <p:cNvPr id="449568" name="Text Box 32"/>
          <p:cNvSpPr txBox="1">
            <a:spLocks noChangeArrowheads="1"/>
          </p:cNvSpPr>
          <p:nvPr/>
        </p:nvSpPr>
        <p:spPr bwMode="auto">
          <a:xfrm>
            <a:off x="2208213" y="2620963"/>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49571" name="Line 35"/>
          <p:cNvSpPr>
            <a:spLocks noChangeShapeType="1"/>
          </p:cNvSpPr>
          <p:nvPr/>
        </p:nvSpPr>
        <p:spPr bwMode="auto">
          <a:xfrm>
            <a:off x="2606676" y="327501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72" name="Text Box 36"/>
          <p:cNvSpPr txBox="1">
            <a:spLocks noChangeArrowheads="1"/>
          </p:cNvSpPr>
          <p:nvPr/>
        </p:nvSpPr>
        <p:spPr bwMode="auto">
          <a:xfrm>
            <a:off x="2866001" y="2987676"/>
            <a:ext cx="7296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BBBB</a:t>
            </a:r>
            <a:endParaRPr lang="en-US" altLang="zh-CN" dirty="0">
              <a:latin typeface="微软雅黑 Light" panose="020B0502040204020203" pitchFamily="34" charset="-122"/>
            </a:endParaRPr>
          </a:p>
        </p:txBody>
      </p:sp>
      <p:sp>
        <p:nvSpPr>
          <p:cNvPr id="449573" name="Text Box 37"/>
          <p:cNvSpPr txBox="1">
            <a:spLocks noChangeArrowheads="1"/>
          </p:cNvSpPr>
          <p:nvPr/>
        </p:nvSpPr>
        <p:spPr bwMode="auto">
          <a:xfrm>
            <a:off x="2227263" y="307975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49575" name="Line 39"/>
          <p:cNvSpPr>
            <a:spLocks noChangeShapeType="1"/>
          </p:cNvSpPr>
          <p:nvPr/>
        </p:nvSpPr>
        <p:spPr bwMode="auto">
          <a:xfrm>
            <a:off x="2606676" y="370681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76" name="Text Box 40"/>
          <p:cNvSpPr txBox="1">
            <a:spLocks noChangeArrowheads="1"/>
          </p:cNvSpPr>
          <p:nvPr/>
        </p:nvSpPr>
        <p:spPr bwMode="auto">
          <a:xfrm>
            <a:off x="2819835" y="3419476"/>
            <a:ext cx="7758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CCCC</a:t>
            </a:r>
            <a:endParaRPr lang="en-US" altLang="zh-CN" dirty="0">
              <a:latin typeface="微软雅黑 Light" panose="020B0502040204020203" pitchFamily="34" charset="-122"/>
            </a:endParaRPr>
          </a:p>
        </p:txBody>
      </p:sp>
      <p:sp>
        <p:nvSpPr>
          <p:cNvPr id="449577" name="Text Box 41"/>
          <p:cNvSpPr txBox="1">
            <a:spLocks noChangeArrowheads="1"/>
          </p:cNvSpPr>
          <p:nvPr/>
        </p:nvSpPr>
        <p:spPr bwMode="auto">
          <a:xfrm>
            <a:off x="2227263" y="351155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49579" name="Line 43"/>
          <p:cNvSpPr>
            <a:spLocks noChangeShapeType="1"/>
          </p:cNvSpPr>
          <p:nvPr/>
        </p:nvSpPr>
        <p:spPr bwMode="auto">
          <a:xfrm>
            <a:off x="2606676" y="413861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80" name="Text Box 44"/>
          <p:cNvSpPr txBox="1">
            <a:spLocks noChangeArrowheads="1"/>
          </p:cNvSpPr>
          <p:nvPr/>
        </p:nvSpPr>
        <p:spPr bwMode="auto">
          <a:xfrm>
            <a:off x="2737761" y="3851276"/>
            <a:ext cx="8579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DDDD</a:t>
            </a:r>
            <a:endParaRPr lang="en-US" altLang="zh-CN" dirty="0">
              <a:latin typeface="微软雅黑 Light" panose="020B0502040204020203" pitchFamily="34" charset="-122"/>
            </a:endParaRPr>
          </a:p>
        </p:txBody>
      </p:sp>
      <p:sp>
        <p:nvSpPr>
          <p:cNvPr id="449581" name="Text Box 45"/>
          <p:cNvSpPr txBox="1">
            <a:spLocks noChangeArrowheads="1"/>
          </p:cNvSpPr>
          <p:nvPr/>
        </p:nvSpPr>
        <p:spPr bwMode="auto">
          <a:xfrm>
            <a:off x="2227263" y="3943351"/>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49583" name="Line 47"/>
          <p:cNvSpPr>
            <a:spLocks noChangeShapeType="1"/>
          </p:cNvSpPr>
          <p:nvPr/>
        </p:nvSpPr>
        <p:spPr bwMode="auto">
          <a:xfrm>
            <a:off x="8924926" y="286226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84" name="Text Box 48"/>
          <p:cNvSpPr txBox="1">
            <a:spLocks noChangeArrowheads="1"/>
          </p:cNvSpPr>
          <p:nvPr/>
        </p:nvSpPr>
        <p:spPr bwMode="auto">
          <a:xfrm>
            <a:off x="8924925" y="2574926"/>
            <a:ext cx="8130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AAAA</a:t>
            </a:r>
            <a:endParaRPr lang="en-US" altLang="zh-CN" dirty="0">
              <a:latin typeface="微软雅黑 Light" panose="020B0502040204020203" pitchFamily="34" charset="-122"/>
            </a:endParaRPr>
          </a:p>
        </p:txBody>
      </p:sp>
      <p:sp>
        <p:nvSpPr>
          <p:cNvPr id="449585" name="Text Box 49"/>
          <p:cNvSpPr txBox="1">
            <a:spLocks noChangeArrowheads="1"/>
          </p:cNvSpPr>
          <p:nvPr/>
        </p:nvSpPr>
        <p:spPr bwMode="auto">
          <a:xfrm>
            <a:off x="9890125" y="2667001"/>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49587" name="Line 51"/>
          <p:cNvSpPr>
            <a:spLocks noChangeShapeType="1"/>
          </p:cNvSpPr>
          <p:nvPr/>
        </p:nvSpPr>
        <p:spPr bwMode="auto">
          <a:xfrm>
            <a:off x="8943976" y="3321050"/>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88" name="Text Box 52"/>
          <p:cNvSpPr txBox="1">
            <a:spLocks noChangeArrowheads="1"/>
          </p:cNvSpPr>
          <p:nvPr/>
        </p:nvSpPr>
        <p:spPr bwMode="auto">
          <a:xfrm>
            <a:off x="8943975" y="3033713"/>
            <a:ext cx="7296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BBBB</a:t>
            </a:r>
            <a:endParaRPr lang="en-US" altLang="zh-CN" dirty="0">
              <a:latin typeface="微软雅黑 Light" panose="020B0502040204020203" pitchFamily="34" charset="-122"/>
            </a:endParaRPr>
          </a:p>
        </p:txBody>
      </p:sp>
      <p:sp>
        <p:nvSpPr>
          <p:cNvPr id="449589" name="Text Box 53"/>
          <p:cNvSpPr txBox="1">
            <a:spLocks noChangeArrowheads="1"/>
          </p:cNvSpPr>
          <p:nvPr/>
        </p:nvSpPr>
        <p:spPr bwMode="auto">
          <a:xfrm>
            <a:off x="9909175" y="31257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49591" name="Line 55"/>
          <p:cNvSpPr>
            <a:spLocks noChangeShapeType="1"/>
          </p:cNvSpPr>
          <p:nvPr/>
        </p:nvSpPr>
        <p:spPr bwMode="auto">
          <a:xfrm>
            <a:off x="8943976" y="3752850"/>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92" name="Text Box 56"/>
          <p:cNvSpPr txBox="1">
            <a:spLocks noChangeArrowheads="1"/>
          </p:cNvSpPr>
          <p:nvPr/>
        </p:nvSpPr>
        <p:spPr bwMode="auto">
          <a:xfrm>
            <a:off x="8943975" y="3465513"/>
            <a:ext cx="7758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CCCC</a:t>
            </a:r>
            <a:endParaRPr lang="en-US" altLang="zh-CN" dirty="0">
              <a:latin typeface="微软雅黑 Light" panose="020B0502040204020203" pitchFamily="34" charset="-122"/>
            </a:endParaRPr>
          </a:p>
        </p:txBody>
      </p:sp>
      <p:sp>
        <p:nvSpPr>
          <p:cNvPr id="449593" name="Text Box 57"/>
          <p:cNvSpPr txBox="1">
            <a:spLocks noChangeArrowheads="1"/>
          </p:cNvSpPr>
          <p:nvPr/>
        </p:nvSpPr>
        <p:spPr bwMode="auto">
          <a:xfrm>
            <a:off x="9909175" y="35575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49595" name="Line 59"/>
          <p:cNvSpPr>
            <a:spLocks noChangeShapeType="1"/>
          </p:cNvSpPr>
          <p:nvPr/>
        </p:nvSpPr>
        <p:spPr bwMode="auto">
          <a:xfrm>
            <a:off x="8943976" y="4184650"/>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49596" name="Text Box 60"/>
          <p:cNvSpPr txBox="1">
            <a:spLocks noChangeArrowheads="1"/>
          </p:cNvSpPr>
          <p:nvPr/>
        </p:nvSpPr>
        <p:spPr bwMode="auto">
          <a:xfrm>
            <a:off x="8943975" y="3897313"/>
            <a:ext cx="8579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DDDD</a:t>
            </a:r>
            <a:endParaRPr lang="en-US" altLang="zh-CN" dirty="0">
              <a:latin typeface="微软雅黑 Light" panose="020B0502040204020203" pitchFamily="34" charset="-122"/>
            </a:endParaRPr>
          </a:p>
        </p:txBody>
      </p:sp>
      <p:sp>
        <p:nvSpPr>
          <p:cNvPr id="449597" name="Text Box 61"/>
          <p:cNvSpPr txBox="1">
            <a:spLocks noChangeArrowheads="1"/>
          </p:cNvSpPr>
          <p:nvPr/>
        </p:nvSpPr>
        <p:spPr bwMode="auto">
          <a:xfrm>
            <a:off x="9909175" y="3989388"/>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49598" name="Rectangle 62"/>
          <p:cNvSpPr>
            <a:spLocks noChangeAspect="1" noChangeArrowheads="1"/>
          </p:cNvSpPr>
          <p:nvPr/>
        </p:nvSpPr>
        <p:spPr bwMode="auto">
          <a:xfrm>
            <a:off x="5662614" y="3141664"/>
            <a:ext cx="287337" cy="287337"/>
          </a:xfrm>
          <a:prstGeom prst="rect">
            <a:avLst/>
          </a:prstGeom>
          <a:solidFill>
            <a:schemeClr val="accent2">
              <a:lumMod val="60000"/>
              <a:lumOff val="40000"/>
            </a:schemeClr>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D</a:t>
            </a:r>
            <a:endParaRPr lang="en-US" altLang="zh-CN" dirty="0">
              <a:solidFill>
                <a:schemeClr val="bg1"/>
              </a:solidFill>
              <a:latin typeface="微软雅黑 Light" panose="020B0502040204020203" pitchFamily="34" charset="-122"/>
            </a:endParaRPr>
          </a:p>
        </p:txBody>
      </p:sp>
      <p:sp>
        <p:nvSpPr>
          <p:cNvPr id="449599" name="Rectangle 63"/>
          <p:cNvSpPr>
            <a:spLocks noChangeAspect="1" noChangeArrowheads="1"/>
          </p:cNvSpPr>
          <p:nvPr/>
        </p:nvSpPr>
        <p:spPr bwMode="auto">
          <a:xfrm>
            <a:off x="5951539" y="3141664"/>
            <a:ext cx="287337" cy="287337"/>
          </a:xfrm>
          <a:prstGeom prst="rect">
            <a:avLst/>
          </a:prstGeom>
          <a:solidFill>
            <a:srgbClr val="00B05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C</a:t>
            </a:r>
            <a:endParaRPr lang="en-US" altLang="zh-CN" dirty="0">
              <a:solidFill>
                <a:schemeClr val="bg1"/>
              </a:solidFill>
              <a:latin typeface="微软雅黑 Light" panose="020B0502040204020203" pitchFamily="34" charset="-122"/>
            </a:endParaRPr>
          </a:p>
        </p:txBody>
      </p:sp>
      <p:sp>
        <p:nvSpPr>
          <p:cNvPr id="449600" name="Rectangle 64"/>
          <p:cNvSpPr>
            <a:spLocks noChangeAspect="1" noChangeArrowheads="1"/>
          </p:cNvSpPr>
          <p:nvPr/>
        </p:nvSpPr>
        <p:spPr bwMode="auto">
          <a:xfrm>
            <a:off x="6238875" y="3141664"/>
            <a:ext cx="287338" cy="287337"/>
          </a:xfrm>
          <a:prstGeom prst="rect">
            <a:avLst/>
          </a:prstGeom>
          <a:solidFill>
            <a:srgbClr val="00B0F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B</a:t>
            </a:r>
            <a:endParaRPr lang="en-US" altLang="zh-CN" dirty="0">
              <a:solidFill>
                <a:schemeClr val="bg1"/>
              </a:solidFill>
              <a:latin typeface="微软雅黑 Light" panose="020B0502040204020203" pitchFamily="34" charset="-122"/>
            </a:endParaRPr>
          </a:p>
        </p:txBody>
      </p:sp>
      <p:sp>
        <p:nvSpPr>
          <p:cNvPr id="449601" name="Rectangle 65"/>
          <p:cNvSpPr>
            <a:spLocks noChangeAspect="1" noChangeArrowheads="1"/>
          </p:cNvSpPr>
          <p:nvPr/>
        </p:nvSpPr>
        <p:spPr bwMode="auto">
          <a:xfrm>
            <a:off x="6527800" y="3141664"/>
            <a:ext cx="287338" cy="287337"/>
          </a:xfrm>
          <a:prstGeom prst="rect">
            <a:avLst/>
          </a:prstGeom>
          <a:solidFill>
            <a:srgbClr val="0070C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A</a:t>
            </a:r>
            <a:endParaRPr lang="en-US" altLang="zh-CN" dirty="0">
              <a:solidFill>
                <a:schemeClr val="bg1"/>
              </a:solidFill>
              <a:latin typeface="微软雅黑 Light" panose="020B0502040204020203" pitchFamily="34" charset="-122"/>
            </a:endParaRPr>
          </a:p>
        </p:txBody>
      </p:sp>
      <p:sp>
        <p:nvSpPr>
          <p:cNvPr id="449602" name="Rectangle 66"/>
          <p:cNvSpPr>
            <a:spLocks noChangeAspect="1" noChangeArrowheads="1"/>
          </p:cNvSpPr>
          <p:nvPr/>
        </p:nvSpPr>
        <p:spPr bwMode="auto">
          <a:xfrm>
            <a:off x="6959600" y="3141664"/>
            <a:ext cx="287338" cy="287337"/>
          </a:xfrm>
          <a:prstGeom prst="rect">
            <a:avLst/>
          </a:prstGeom>
          <a:solidFill>
            <a:schemeClr val="accent2">
              <a:lumMod val="60000"/>
              <a:lumOff val="40000"/>
            </a:schemeClr>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D</a:t>
            </a:r>
            <a:endParaRPr lang="en-US" altLang="zh-CN" dirty="0">
              <a:solidFill>
                <a:schemeClr val="bg1"/>
              </a:solidFill>
              <a:latin typeface="微软雅黑 Light" panose="020B0502040204020203" pitchFamily="34" charset="-122"/>
            </a:endParaRPr>
          </a:p>
        </p:txBody>
      </p:sp>
      <p:sp>
        <p:nvSpPr>
          <p:cNvPr id="449603" name="Rectangle 67"/>
          <p:cNvSpPr>
            <a:spLocks noChangeAspect="1" noChangeArrowheads="1"/>
          </p:cNvSpPr>
          <p:nvPr/>
        </p:nvSpPr>
        <p:spPr bwMode="auto">
          <a:xfrm>
            <a:off x="7248525" y="3141664"/>
            <a:ext cx="287338" cy="287337"/>
          </a:xfrm>
          <a:prstGeom prst="rect">
            <a:avLst/>
          </a:prstGeom>
          <a:solidFill>
            <a:srgbClr val="00B05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C</a:t>
            </a:r>
            <a:endParaRPr lang="en-US" altLang="zh-CN" dirty="0">
              <a:solidFill>
                <a:schemeClr val="bg1"/>
              </a:solidFill>
              <a:latin typeface="微软雅黑 Light" panose="020B0502040204020203" pitchFamily="34" charset="-122"/>
            </a:endParaRPr>
          </a:p>
        </p:txBody>
      </p:sp>
      <p:sp>
        <p:nvSpPr>
          <p:cNvPr id="449604" name="Rectangle 68"/>
          <p:cNvSpPr>
            <a:spLocks noChangeAspect="1" noChangeArrowheads="1"/>
          </p:cNvSpPr>
          <p:nvPr/>
        </p:nvSpPr>
        <p:spPr bwMode="auto">
          <a:xfrm>
            <a:off x="7535864" y="3141664"/>
            <a:ext cx="287337" cy="287337"/>
          </a:xfrm>
          <a:prstGeom prst="rect">
            <a:avLst/>
          </a:prstGeom>
          <a:solidFill>
            <a:srgbClr val="00B0F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B</a:t>
            </a:r>
            <a:endParaRPr lang="en-US" altLang="zh-CN" dirty="0">
              <a:solidFill>
                <a:schemeClr val="bg1"/>
              </a:solidFill>
              <a:latin typeface="微软雅黑 Light" panose="020B0502040204020203" pitchFamily="34" charset="-122"/>
            </a:endParaRPr>
          </a:p>
        </p:txBody>
      </p:sp>
      <p:sp>
        <p:nvSpPr>
          <p:cNvPr id="449605" name="Rectangle 69"/>
          <p:cNvSpPr>
            <a:spLocks noChangeAspect="1" noChangeArrowheads="1"/>
          </p:cNvSpPr>
          <p:nvPr/>
        </p:nvSpPr>
        <p:spPr bwMode="auto">
          <a:xfrm>
            <a:off x="7824789" y="3141664"/>
            <a:ext cx="287337" cy="287337"/>
          </a:xfrm>
          <a:prstGeom prst="rect">
            <a:avLst/>
          </a:prstGeom>
          <a:solidFill>
            <a:srgbClr val="0070C0"/>
          </a:solidFill>
          <a:ln w="9525">
            <a:solidFill>
              <a:schemeClr val="tx1"/>
            </a:solidFill>
            <a:miter lim="800000"/>
          </a:ln>
          <a:effectLst/>
        </p:spPr>
        <p:txBody>
          <a:bodyPr wrap="none" anchor="ctr"/>
          <a:lstStyle/>
          <a:p>
            <a:pPr algn="ctr"/>
            <a:r>
              <a:rPr lang="en-US" altLang="zh-CN" dirty="0">
                <a:solidFill>
                  <a:schemeClr val="bg1"/>
                </a:solidFill>
                <a:latin typeface="微软雅黑 Light" panose="020B0502040204020203" pitchFamily="34" charset="-122"/>
              </a:rPr>
              <a:t>A</a:t>
            </a:r>
            <a:endParaRPr lang="en-US" altLang="zh-CN" dirty="0">
              <a:solidFill>
                <a:schemeClr val="bg1"/>
              </a:solidFill>
              <a:latin typeface="微软雅黑 Light" panose="020B0502040204020203"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zh-CN" altLang="en-US" dirty="0"/>
              <a:t>同步</a:t>
            </a:r>
            <a:r>
              <a:rPr lang="en-US" altLang="zh-CN" dirty="0"/>
              <a:t>TDM</a:t>
            </a:r>
            <a:r>
              <a:rPr lang="zh-CN" altLang="en-US" dirty="0"/>
              <a:t>可能浪费资源</a:t>
            </a:r>
            <a:endParaRPr lang="zh-CN" altLang="en-US" dirty="0"/>
          </a:p>
        </p:txBody>
      </p:sp>
      <p:sp>
        <p:nvSpPr>
          <p:cNvPr id="88" name="灯片编号占位符 5"/>
          <p:cNvSpPr>
            <a:spLocks noGrp="1"/>
          </p:cNvSpPr>
          <p:nvPr>
            <p:ph type="sldNum" sz="quarter" idx="12"/>
          </p:nvPr>
        </p:nvSpPr>
        <p:spPr/>
        <p:txBody>
          <a:bodyPr/>
          <a:lstStyle/>
          <a:p>
            <a:fld id="{A312235C-9E07-4394-8ABB-D5DCD18A288B}" type="slidenum">
              <a:rPr lang="en-US" altLang="zh-CN"/>
            </a:fld>
            <a:endParaRPr lang="en-US" altLang="zh-CN" dirty="0"/>
          </a:p>
        </p:txBody>
      </p:sp>
      <p:sp>
        <p:nvSpPr>
          <p:cNvPr id="451588" name="Freeform 4"/>
          <p:cNvSpPr/>
          <p:nvPr/>
        </p:nvSpPr>
        <p:spPr bwMode="auto">
          <a:xfrm>
            <a:off x="7680553" y="2740289"/>
            <a:ext cx="241300"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451589" name="Freeform 5"/>
          <p:cNvSpPr/>
          <p:nvPr/>
        </p:nvSpPr>
        <p:spPr bwMode="auto">
          <a:xfrm>
            <a:off x="8644166" y="2740289"/>
            <a:ext cx="239712"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451590" name="Freeform 6"/>
          <p:cNvSpPr/>
          <p:nvPr/>
        </p:nvSpPr>
        <p:spPr bwMode="auto">
          <a:xfrm>
            <a:off x="9125178" y="2740289"/>
            <a:ext cx="241300"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451592" name="Freeform 8"/>
          <p:cNvSpPr/>
          <p:nvPr/>
        </p:nvSpPr>
        <p:spPr bwMode="auto">
          <a:xfrm>
            <a:off x="7440841" y="2740289"/>
            <a:ext cx="239712"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451594" name="Freeform 10"/>
          <p:cNvSpPr/>
          <p:nvPr/>
        </p:nvSpPr>
        <p:spPr bwMode="auto">
          <a:xfrm>
            <a:off x="6237516" y="2743465"/>
            <a:ext cx="239712" cy="376237"/>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451599" name="Text Box 15"/>
          <p:cNvSpPr txBox="1">
            <a:spLocks noChangeArrowheads="1"/>
          </p:cNvSpPr>
          <p:nvPr/>
        </p:nvSpPr>
        <p:spPr bwMode="auto">
          <a:xfrm>
            <a:off x="1515810" y="1803930"/>
            <a:ext cx="67358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1</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451604" name="Line 20"/>
          <p:cNvSpPr>
            <a:spLocks noChangeShapeType="1"/>
          </p:cNvSpPr>
          <p:nvPr/>
        </p:nvSpPr>
        <p:spPr bwMode="auto">
          <a:xfrm>
            <a:off x="6718528" y="3021277"/>
            <a:ext cx="0" cy="93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14" name="Text Box 30"/>
          <p:cNvSpPr txBox="1">
            <a:spLocks noChangeArrowheads="1"/>
          </p:cNvSpPr>
          <p:nvPr/>
        </p:nvSpPr>
        <p:spPr bwMode="auto">
          <a:xfrm>
            <a:off x="4697641" y="1968765"/>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15" name="Text Box 31"/>
          <p:cNvSpPr txBox="1">
            <a:spLocks noChangeArrowheads="1"/>
          </p:cNvSpPr>
          <p:nvPr/>
        </p:nvSpPr>
        <p:spPr bwMode="auto">
          <a:xfrm>
            <a:off x="4697641" y="2738702"/>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16" name="Text Box 32"/>
          <p:cNvSpPr txBox="1">
            <a:spLocks noChangeArrowheads="1"/>
          </p:cNvSpPr>
          <p:nvPr/>
        </p:nvSpPr>
        <p:spPr bwMode="auto">
          <a:xfrm>
            <a:off x="4697641" y="3508640"/>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17" name="Text Box 33"/>
          <p:cNvSpPr txBox="1">
            <a:spLocks noChangeArrowheads="1"/>
          </p:cNvSpPr>
          <p:nvPr/>
        </p:nvSpPr>
        <p:spPr bwMode="auto">
          <a:xfrm>
            <a:off x="4697641" y="4278577"/>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18" name="Text Box 34"/>
          <p:cNvSpPr txBox="1">
            <a:spLocks noChangeArrowheads="1"/>
          </p:cNvSpPr>
          <p:nvPr/>
        </p:nvSpPr>
        <p:spPr bwMode="auto">
          <a:xfrm>
            <a:off x="10169753" y="3162565"/>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19" name="Line 35"/>
          <p:cNvSpPr>
            <a:spLocks noChangeShapeType="1"/>
          </p:cNvSpPr>
          <p:nvPr/>
        </p:nvSpPr>
        <p:spPr bwMode="auto">
          <a:xfrm>
            <a:off x="8402866" y="3021277"/>
            <a:ext cx="0" cy="93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26" name="Line 42"/>
          <p:cNvSpPr>
            <a:spLocks noChangeShapeType="1"/>
          </p:cNvSpPr>
          <p:nvPr/>
        </p:nvSpPr>
        <p:spPr bwMode="auto">
          <a:xfrm>
            <a:off x="6237516" y="3210190"/>
            <a:ext cx="0" cy="1873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27" name="Line 43"/>
          <p:cNvSpPr>
            <a:spLocks noChangeShapeType="1"/>
          </p:cNvSpPr>
          <p:nvPr/>
        </p:nvSpPr>
        <p:spPr bwMode="auto">
          <a:xfrm>
            <a:off x="7199541" y="3210190"/>
            <a:ext cx="0" cy="1873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28" name="Line 44"/>
          <p:cNvSpPr>
            <a:spLocks noChangeShapeType="1"/>
          </p:cNvSpPr>
          <p:nvPr/>
        </p:nvSpPr>
        <p:spPr bwMode="auto">
          <a:xfrm>
            <a:off x="8161566" y="3210190"/>
            <a:ext cx="0" cy="1873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29" name="Line 45"/>
          <p:cNvSpPr>
            <a:spLocks noChangeShapeType="1"/>
          </p:cNvSpPr>
          <p:nvPr/>
        </p:nvSpPr>
        <p:spPr bwMode="auto">
          <a:xfrm>
            <a:off x="9125178" y="3210190"/>
            <a:ext cx="0" cy="1873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0" name="Line 46"/>
          <p:cNvSpPr>
            <a:spLocks noChangeShapeType="1"/>
          </p:cNvSpPr>
          <p:nvPr/>
        </p:nvSpPr>
        <p:spPr bwMode="auto">
          <a:xfrm>
            <a:off x="6237517" y="3303851"/>
            <a:ext cx="962025" cy="0"/>
          </a:xfrm>
          <a:prstGeom prst="line">
            <a:avLst/>
          </a:prstGeom>
          <a:noFill/>
          <a:ln w="2222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1" name="Line 47"/>
          <p:cNvSpPr>
            <a:spLocks noChangeShapeType="1"/>
          </p:cNvSpPr>
          <p:nvPr/>
        </p:nvSpPr>
        <p:spPr bwMode="auto">
          <a:xfrm>
            <a:off x="7199542" y="3303851"/>
            <a:ext cx="962025" cy="0"/>
          </a:xfrm>
          <a:prstGeom prst="line">
            <a:avLst/>
          </a:prstGeom>
          <a:noFill/>
          <a:ln w="2222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2" name="Line 48"/>
          <p:cNvSpPr>
            <a:spLocks noChangeShapeType="1"/>
          </p:cNvSpPr>
          <p:nvPr/>
        </p:nvSpPr>
        <p:spPr bwMode="auto">
          <a:xfrm>
            <a:off x="8161566" y="3303851"/>
            <a:ext cx="963612" cy="0"/>
          </a:xfrm>
          <a:prstGeom prst="line">
            <a:avLst/>
          </a:prstGeom>
          <a:noFill/>
          <a:ln w="2222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3" name="Text Box 49"/>
          <p:cNvSpPr txBox="1">
            <a:spLocks noChangeArrowheads="1"/>
          </p:cNvSpPr>
          <p:nvPr/>
        </p:nvSpPr>
        <p:spPr bwMode="auto">
          <a:xfrm>
            <a:off x="7440842" y="4024577"/>
            <a:ext cx="19463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4 </a:t>
            </a:r>
            <a:r>
              <a:rPr kumimoji="1" lang="zh-CN" altLang="en-US" sz="2000" dirty="0">
                <a:solidFill>
                  <a:srgbClr val="333399"/>
                </a:solidFill>
                <a:latin typeface="微软雅黑 Light" panose="020B0502040204020203" pitchFamily="34" charset="-122"/>
                <a:ea typeface="微软雅黑 Light" panose="020B0502040204020203" pitchFamily="34" charset="-122"/>
              </a:rPr>
              <a:t>个时分复用帧</a:t>
            </a:r>
            <a:endParaRPr kumimoji="1" lang="zh-CN" altLang="en-US" sz="2000" dirty="0">
              <a:solidFill>
                <a:srgbClr val="333399"/>
              </a:solidFill>
              <a:latin typeface="微软雅黑 Light" panose="020B0502040204020203" pitchFamily="34" charset="-122"/>
              <a:ea typeface="微软雅黑 Light" panose="020B0502040204020203" pitchFamily="34" charset="-122"/>
            </a:endParaRPr>
          </a:p>
        </p:txBody>
      </p:sp>
      <p:sp>
        <p:nvSpPr>
          <p:cNvPr id="451634" name="Text Box 50"/>
          <p:cNvSpPr txBox="1">
            <a:spLocks noChangeArrowheads="1"/>
          </p:cNvSpPr>
          <p:nvPr/>
        </p:nvSpPr>
        <p:spPr bwMode="auto">
          <a:xfrm>
            <a:off x="6477229" y="3253052"/>
            <a:ext cx="4507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#1</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35" name="Line 51"/>
          <p:cNvSpPr>
            <a:spLocks noChangeShapeType="1"/>
          </p:cNvSpPr>
          <p:nvPr/>
        </p:nvSpPr>
        <p:spPr bwMode="auto">
          <a:xfrm>
            <a:off x="4945292" y="2041789"/>
            <a:ext cx="1050925" cy="698500"/>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6" name="Line 52"/>
          <p:cNvSpPr>
            <a:spLocks noChangeShapeType="1"/>
          </p:cNvSpPr>
          <p:nvPr/>
        </p:nvSpPr>
        <p:spPr bwMode="auto">
          <a:xfrm>
            <a:off x="4945291" y="2762514"/>
            <a:ext cx="969962" cy="165100"/>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7" name="Line 53"/>
          <p:cNvSpPr>
            <a:spLocks noChangeShapeType="1"/>
          </p:cNvSpPr>
          <p:nvPr/>
        </p:nvSpPr>
        <p:spPr bwMode="auto">
          <a:xfrm flipV="1">
            <a:off x="5016729" y="3114939"/>
            <a:ext cx="898525" cy="366712"/>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38" name="Line 54"/>
          <p:cNvSpPr>
            <a:spLocks noChangeShapeType="1"/>
          </p:cNvSpPr>
          <p:nvPr/>
        </p:nvSpPr>
        <p:spPr bwMode="auto">
          <a:xfrm flipV="1">
            <a:off x="5032604" y="3303851"/>
            <a:ext cx="963613" cy="846138"/>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43" name="Freeform 59"/>
          <p:cNvSpPr/>
          <p:nvPr/>
        </p:nvSpPr>
        <p:spPr bwMode="auto">
          <a:xfrm>
            <a:off x="2778450" y="1611576"/>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451649" name="Line 65"/>
          <p:cNvSpPr>
            <a:spLocks noChangeShapeType="1"/>
          </p:cNvSpPr>
          <p:nvPr/>
        </p:nvSpPr>
        <p:spPr bwMode="auto">
          <a:xfrm>
            <a:off x="6958241" y="3021277"/>
            <a:ext cx="0" cy="93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50" name="Line 66"/>
          <p:cNvSpPr>
            <a:spLocks noChangeShapeType="1"/>
          </p:cNvSpPr>
          <p:nvPr/>
        </p:nvSpPr>
        <p:spPr bwMode="auto">
          <a:xfrm>
            <a:off x="7199541" y="3021277"/>
            <a:ext cx="0" cy="93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51" name="Line 67"/>
          <p:cNvSpPr>
            <a:spLocks noChangeShapeType="1"/>
          </p:cNvSpPr>
          <p:nvPr/>
        </p:nvSpPr>
        <p:spPr bwMode="auto">
          <a:xfrm>
            <a:off x="9125179" y="3303851"/>
            <a:ext cx="962025" cy="0"/>
          </a:xfrm>
          <a:prstGeom prst="line">
            <a:avLst/>
          </a:prstGeom>
          <a:noFill/>
          <a:ln w="2222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52" name="Line 68"/>
          <p:cNvSpPr>
            <a:spLocks noChangeShapeType="1"/>
          </p:cNvSpPr>
          <p:nvPr/>
        </p:nvSpPr>
        <p:spPr bwMode="auto">
          <a:xfrm>
            <a:off x="10074047" y="3210190"/>
            <a:ext cx="0" cy="1873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53" name="Line 69"/>
          <p:cNvSpPr>
            <a:spLocks noChangeShapeType="1"/>
          </p:cNvSpPr>
          <p:nvPr/>
        </p:nvSpPr>
        <p:spPr bwMode="auto">
          <a:xfrm>
            <a:off x="9606191" y="3021277"/>
            <a:ext cx="0" cy="93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54" name="Line 70"/>
          <p:cNvSpPr>
            <a:spLocks noChangeShapeType="1"/>
          </p:cNvSpPr>
          <p:nvPr/>
        </p:nvSpPr>
        <p:spPr bwMode="auto">
          <a:xfrm>
            <a:off x="8161566" y="3021277"/>
            <a:ext cx="0" cy="93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58" name="Text Box 74"/>
          <p:cNvSpPr txBox="1">
            <a:spLocks noChangeArrowheads="1"/>
          </p:cNvSpPr>
          <p:nvPr/>
        </p:nvSpPr>
        <p:spPr bwMode="auto">
          <a:xfrm>
            <a:off x="7440842" y="3253052"/>
            <a:ext cx="4940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#2</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59" name="Text Box 75"/>
          <p:cNvSpPr txBox="1">
            <a:spLocks noChangeArrowheads="1"/>
          </p:cNvSpPr>
          <p:nvPr/>
        </p:nvSpPr>
        <p:spPr bwMode="auto">
          <a:xfrm>
            <a:off x="8450492" y="3253052"/>
            <a:ext cx="4940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#3</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60" name="Text Box 76"/>
          <p:cNvSpPr txBox="1">
            <a:spLocks noChangeArrowheads="1"/>
          </p:cNvSpPr>
          <p:nvPr/>
        </p:nvSpPr>
        <p:spPr bwMode="auto">
          <a:xfrm>
            <a:off x="9412517" y="3253052"/>
            <a:ext cx="4988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#4</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1661" name="Line 77"/>
          <p:cNvSpPr>
            <a:spLocks noChangeShapeType="1"/>
          </p:cNvSpPr>
          <p:nvPr/>
        </p:nvSpPr>
        <p:spPr bwMode="auto">
          <a:xfrm>
            <a:off x="6797904" y="3649926"/>
            <a:ext cx="1203325" cy="376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2" name="Line 78"/>
          <p:cNvSpPr>
            <a:spLocks noChangeShapeType="1"/>
          </p:cNvSpPr>
          <p:nvPr/>
        </p:nvSpPr>
        <p:spPr bwMode="auto">
          <a:xfrm>
            <a:off x="7680554" y="3649926"/>
            <a:ext cx="481013" cy="376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3" name="Line 79"/>
          <p:cNvSpPr>
            <a:spLocks noChangeShapeType="1"/>
          </p:cNvSpPr>
          <p:nvPr/>
        </p:nvSpPr>
        <p:spPr bwMode="auto">
          <a:xfrm flipH="1">
            <a:off x="8242528" y="3649926"/>
            <a:ext cx="401638" cy="376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4" name="Line 80"/>
          <p:cNvSpPr>
            <a:spLocks noChangeShapeType="1"/>
          </p:cNvSpPr>
          <p:nvPr/>
        </p:nvSpPr>
        <p:spPr bwMode="auto">
          <a:xfrm flipV="1">
            <a:off x="8402867" y="3649926"/>
            <a:ext cx="1203325" cy="376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5" name="Line 81"/>
          <p:cNvSpPr>
            <a:spLocks noChangeShapeType="1"/>
          </p:cNvSpPr>
          <p:nvPr/>
        </p:nvSpPr>
        <p:spPr bwMode="auto">
          <a:xfrm>
            <a:off x="2225904" y="1987814"/>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7" name="Line 83"/>
          <p:cNvSpPr>
            <a:spLocks noChangeShapeType="1"/>
          </p:cNvSpPr>
          <p:nvPr/>
        </p:nvSpPr>
        <p:spPr bwMode="auto">
          <a:xfrm>
            <a:off x="2225904" y="3491176"/>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70" name="Line 86"/>
          <p:cNvSpPr>
            <a:spLocks noChangeShapeType="1"/>
          </p:cNvSpPr>
          <p:nvPr/>
        </p:nvSpPr>
        <p:spPr bwMode="auto">
          <a:xfrm>
            <a:off x="6234114" y="2546614"/>
            <a:ext cx="0" cy="1079500"/>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1" name="Line 87"/>
          <p:cNvSpPr>
            <a:spLocks noChangeShapeType="1"/>
          </p:cNvSpPr>
          <p:nvPr/>
        </p:nvSpPr>
        <p:spPr bwMode="auto">
          <a:xfrm>
            <a:off x="7198351" y="2546614"/>
            <a:ext cx="0" cy="1079500"/>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2" name="Line 88"/>
          <p:cNvSpPr>
            <a:spLocks noChangeShapeType="1"/>
          </p:cNvSpPr>
          <p:nvPr/>
        </p:nvSpPr>
        <p:spPr bwMode="auto">
          <a:xfrm>
            <a:off x="8156011" y="2546614"/>
            <a:ext cx="0" cy="1079500"/>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3" name="Line 89"/>
          <p:cNvSpPr>
            <a:spLocks noChangeShapeType="1"/>
          </p:cNvSpPr>
          <p:nvPr/>
        </p:nvSpPr>
        <p:spPr bwMode="auto">
          <a:xfrm>
            <a:off x="9126826" y="2546614"/>
            <a:ext cx="0" cy="1079500"/>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4" name="Line 90"/>
          <p:cNvSpPr>
            <a:spLocks noChangeShapeType="1"/>
          </p:cNvSpPr>
          <p:nvPr/>
        </p:nvSpPr>
        <p:spPr bwMode="auto">
          <a:xfrm>
            <a:off x="10071329" y="2546614"/>
            <a:ext cx="0" cy="1079500"/>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6" name="Line 92"/>
          <p:cNvSpPr>
            <a:spLocks noChangeShapeType="1"/>
          </p:cNvSpPr>
          <p:nvPr/>
        </p:nvSpPr>
        <p:spPr bwMode="auto">
          <a:xfrm>
            <a:off x="3849305"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7" name="Line 93"/>
          <p:cNvSpPr>
            <a:spLocks noChangeShapeType="1"/>
          </p:cNvSpPr>
          <p:nvPr/>
        </p:nvSpPr>
        <p:spPr bwMode="auto">
          <a:xfrm>
            <a:off x="3578594"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8" name="Line 94"/>
          <p:cNvSpPr>
            <a:spLocks noChangeShapeType="1"/>
          </p:cNvSpPr>
          <p:nvPr/>
        </p:nvSpPr>
        <p:spPr bwMode="auto">
          <a:xfrm>
            <a:off x="3310825" y="1508390"/>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1679" name="Line 95"/>
          <p:cNvSpPr>
            <a:spLocks noChangeShapeType="1"/>
          </p:cNvSpPr>
          <p:nvPr/>
        </p:nvSpPr>
        <p:spPr bwMode="auto">
          <a:xfrm>
            <a:off x="3046457"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87" name="Freeform 59"/>
          <p:cNvSpPr/>
          <p:nvPr/>
        </p:nvSpPr>
        <p:spPr bwMode="auto">
          <a:xfrm>
            <a:off x="3584155" y="1600209"/>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89" name="Freeform 59"/>
          <p:cNvSpPr/>
          <p:nvPr/>
        </p:nvSpPr>
        <p:spPr bwMode="auto">
          <a:xfrm>
            <a:off x="2773870" y="2362297"/>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90" name="Freeform 59"/>
          <p:cNvSpPr/>
          <p:nvPr/>
        </p:nvSpPr>
        <p:spPr bwMode="auto">
          <a:xfrm>
            <a:off x="3044587" y="2362297"/>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91" name="Freeform 59"/>
          <p:cNvSpPr/>
          <p:nvPr/>
        </p:nvSpPr>
        <p:spPr bwMode="auto">
          <a:xfrm>
            <a:off x="3039933" y="3099950"/>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92" name="Freeform 59"/>
          <p:cNvSpPr/>
          <p:nvPr/>
        </p:nvSpPr>
        <p:spPr bwMode="auto">
          <a:xfrm>
            <a:off x="3317225" y="3099950"/>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93" name="Freeform 59"/>
          <p:cNvSpPr/>
          <p:nvPr/>
        </p:nvSpPr>
        <p:spPr bwMode="auto">
          <a:xfrm>
            <a:off x="3584154" y="3869922"/>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chemeClr val="accent2">
              <a:lumMod val="60000"/>
              <a:lumOff val="40000"/>
            </a:schemeClr>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d</a:t>
            </a:r>
            <a:endParaRPr lang="zh-CN" altLang="en-US" dirty="0">
              <a:solidFill>
                <a:schemeClr val="bg1"/>
              </a:solidFill>
              <a:latin typeface="微软雅黑 Light" panose="020B0502040204020203" pitchFamily="34" charset="-122"/>
            </a:endParaRPr>
          </a:p>
        </p:txBody>
      </p:sp>
      <p:sp>
        <p:nvSpPr>
          <p:cNvPr id="94" name="Freeform 10"/>
          <p:cNvSpPr/>
          <p:nvPr/>
        </p:nvSpPr>
        <p:spPr bwMode="auto">
          <a:xfrm>
            <a:off x="6486608" y="2743465"/>
            <a:ext cx="239712" cy="376237"/>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96" name="Freeform 6"/>
          <p:cNvSpPr/>
          <p:nvPr/>
        </p:nvSpPr>
        <p:spPr bwMode="auto">
          <a:xfrm>
            <a:off x="9821714" y="2751877"/>
            <a:ext cx="241300"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chemeClr val="accent2">
              <a:lumMod val="60000"/>
              <a:lumOff val="40000"/>
            </a:schemeClr>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d</a:t>
            </a:r>
            <a:endParaRPr lang="zh-CN" altLang="en-US" dirty="0">
              <a:solidFill>
                <a:schemeClr val="bg1"/>
              </a:solidFill>
              <a:latin typeface="微软雅黑 Light" panose="020B0502040204020203" pitchFamily="34" charset="-122"/>
            </a:endParaRPr>
          </a:p>
        </p:txBody>
      </p:sp>
      <p:sp>
        <p:nvSpPr>
          <p:cNvPr id="451603" name="Line 19"/>
          <p:cNvSpPr>
            <a:spLocks noChangeShapeType="1"/>
          </p:cNvSpPr>
          <p:nvPr/>
        </p:nvSpPr>
        <p:spPr bwMode="auto">
          <a:xfrm>
            <a:off x="6075591" y="3114939"/>
            <a:ext cx="4252912"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6" name="Line 82"/>
          <p:cNvSpPr>
            <a:spLocks noChangeShapeType="1"/>
          </p:cNvSpPr>
          <p:nvPr/>
        </p:nvSpPr>
        <p:spPr bwMode="auto">
          <a:xfrm>
            <a:off x="2225904" y="2740289"/>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1668" name="Line 84"/>
          <p:cNvSpPr>
            <a:spLocks noChangeShapeType="1"/>
          </p:cNvSpPr>
          <p:nvPr/>
        </p:nvSpPr>
        <p:spPr bwMode="auto">
          <a:xfrm>
            <a:off x="2225904" y="4243651"/>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97" name="Text Box 15"/>
          <p:cNvSpPr txBox="1">
            <a:spLocks noChangeArrowheads="1"/>
          </p:cNvSpPr>
          <p:nvPr/>
        </p:nvSpPr>
        <p:spPr bwMode="auto">
          <a:xfrm>
            <a:off x="1515810" y="2536673"/>
            <a:ext cx="70884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2</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98" name="Text Box 15"/>
          <p:cNvSpPr txBox="1">
            <a:spLocks noChangeArrowheads="1"/>
          </p:cNvSpPr>
          <p:nvPr/>
        </p:nvSpPr>
        <p:spPr bwMode="auto">
          <a:xfrm>
            <a:off x="1515810" y="3272439"/>
            <a:ext cx="70231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3</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99" name="Text Box 15"/>
          <p:cNvSpPr txBox="1">
            <a:spLocks noChangeArrowheads="1"/>
          </p:cNvSpPr>
          <p:nvPr/>
        </p:nvSpPr>
        <p:spPr bwMode="auto">
          <a:xfrm>
            <a:off x="1515810" y="4035308"/>
            <a:ext cx="705485"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4</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105" name="Line 92"/>
          <p:cNvSpPr>
            <a:spLocks noChangeShapeType="1"/>
          </p:cNvSpPr>
          <p:nvPr/>
        </p:nvSpPr>
        <p:spPr bwMode="auto">
          <a:xfrm>
            <a:off x="2778120"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6" name="Line 93"/>
          <p:cNvSpPr>
            <a:spLocks noChangeShapeType="1"/>
          </p:cNvSpPr>
          <p:nvPr/>
        </p:nvSpPr>
        <p:spPr bwMode="auto">
          <a:xfrm>
            <a:off x="2512460"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7" name="Line 94"/>
          <p:cNvSpPr>
            <a:spLocks noChangeShapeType="1"/>
          </p:cNvSpPr>
          <p:nvPr/>
        </p:nvSpPr>
        <p:spPr bwMode="auto">
          <a:xfrm>
            <a:off x="2240219"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9" name="Line 92"/>
          <p:cNvSpPr>
            <a:spLocks noChangeShapeType="1"/>
          </p:cNvSpPr>
          <p:nvPr/>
        </p:nvSpPr>
        <p:spPr bwMode="auto">
          <a:xfrm>
            <a:off x="4633234"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0" name="Line 93"/>
          <p:cNvSpPr>
            <a:spLocks noChangeShapeType="1"/>
          </p:cNvSpPr>
          <p:nvPr/>
        </p:nvSpPr>
        <p:spPr bwMode="auto">
          <a:xfrm>
            <a:off x="4367574"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1" name="Line 94"/>
          <p:cNvSpPr>
            <a:spLocks noChangeShapeType="1"/>
          </p:cNvSpPr>
          <p:nvPr/>
        </p:nvSpPr>
        <p:spPr bwMode="auto">
          <a:xfrm>
            <a:off x="4095333" y="1544962"/>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zh-CN" altLang="en-US" dirty="0"/>
              <a:t>异步</a:t>
            </a:r>
            <a:r>
              <a:rPr lang="en-US" altLang="zh-CN" dirty="0"/>
              <a:t>TDM</a:t>
            </a:r>
            <a:endParaRPr lang="en-US" altLang="zh-CN" dirty="0"/>
          </a:p>
        </p:txBody>
      </p:sp>
      <p:sp>
        <p:nvSpPr>
          <p:cNvPr id="49" name="灯片编号占位符 5"/>
          <p:cNvSpPr>
            <a:spLocks noGrp="1"/>
          </p:cNvSpPr>
          <p:nvPr>
            <p:ph type="sldNum" sz="quarter" idx="12"/>
          </p:nvPr>
        </p:nvSpPr>
        <p:spPr/>
        <p:txBody>
          <a:bodyPr/>
          <a:lstStyle/>
          <a:p>
            <a:fld id="{BBE5FFA1-C56F-4107-BA53-9302DB3A9465}" type="slidenum">
              <a:rPr lang="en-US" altLang="zh-CN"/>
            </a:fld>
            <a:endParaRPr lang="en-US" altLang="zh-CN" dirty="0"/>
          </a:p>
        </p:txBody>
      </p:sp>
      <p:sp>
        <p:nvSpPr>
          <p:cNvPr id="452654" name="AutoShape 46"/>
          <p:cNvSpPr>
            <a:spLocks noChangeArrowheads="1"/>
          </p:cNvSpPr>
          <p:nvPr/>
        </p:nvSpPr>
        <p:spPr bwMode="auto">
          <a:xfrm rot="-5400000">
            <a:off x="2913063" y="3465513"/>
            <a:ext cx="2016125" cy="647700"/>
          </a:xfrm>
          <a:custGeom>
            <a:avLst/>
            <a:gdLst>
              <a:gd name="G0" fmla="+- 3112 0 0"/>
              <a:gd name="G1" fmla="+- 21600 0 3112"/>
              <a:gd name="G2" fmla="*/ 3112 1 2"/>
              <a:gd name="G3" fmla="+- 21600 0 G2"/>
              <a:gd name="G4" fmla="+/ 3112 21600 2"/>
              <a:gd name="G5" fmla="+/ G1 0 2"/>
              <a:gd name="G6" fmla="*/ 21600 21600 3112"/>
              <a:gd name="G7" fmla="*/ G6 1 2"/>
              <a:gd name="G8" fmla="+- 21600 0 G7"/>
              <a:gd name="G9" fmla="*/ 21600 1 2"/>
              <a:gd name="G10" fmla="+- 3112 0 G9"/>
              <a:gd name="G11" fmla="?: G10 G8 0"/>
              <a:gd name="G12" fmla="?: G10 G7 21600"/>
              <a:gd name="T0" fmla="*/ 20044 w 21600"/>
              <a:gd name="T1" fmla="*/ 10800 h 21600"/>
              <a:gd name="T2" fmla="*/ 10800 w 21600"/>
              <a:gd name="T3" fmla="*/ 21600 h 21600"/>
              <a:gd name="T4" fmla="*/ 1556 w 21600"/>
              <a:gd name="T5" fmla="*/ 10800 h 21600"/>
              <a:gd name="T6" fmla="*/ 10800 w 21600"/>
              <a:gd name="T7" fmla="*/ 0 h 21600"/>
              <a:gd name="T8" fmla="*/ 3356 w 21600"/>
              <a:gd name="T9" fmla="*/ 3356 h 21600"/>
              <a:gd name="T10" fmla="*/ 18244 w 21600"/>
              <a:gd name="T11" fmla="*/ 18244 h 21600"/>
            </a:gdLst>
            <a:ahLst/>
            <a:cxnLst>
              <a:cxn ang="0">
                <a:pos x="T0" y="T1"/>
              </a:cxn>
              <a:cxn ang="0">
                <a:pos x="T2" y="T3"/>
              </a:cxn>
              <a:cxn ang="0">
                <a:pos x="T4" y="T5"/>
              </a:cxn>
              <a:cxn ang="0">
                <a:pos x="T6" y="T7"/>
              </a:cxn>
            </a:cxnLst>
            <a:rect l="T8" t="T9" r="T10" b="T11"/>
            <a:pathLst>
              <a:path w="21600" h="21600">
                <a:moveTo>
                  <a:pt x="0" y="0"/>
                </a:moveTo>
                <a:lnTo>
                  <a:pt x="3112" y="21600"/>
                </a:lnTo>
                <a:lnTo>
                  <a:pt x="18488" y="21600"/>
                </a:lnTo>
                <a:lnTo>
                  <a:pt x="21600" y="0"/>
                </a:lnTo>
                <a:close/>
              </a:path>
            </a:pathLst>
          </a:custGeom>
          <a:solidFill>
            <a:schemeClr val="accent1">
              <a:lumMod val="50000"/>
            </a:schemeClr>
          </a:solidFill>
          <a:ln w="9525">
            <a:solidFill>
              <a:schemeClr val="tx1"/>
            </a:solidFill>
            <a:miter lim="800000"/>
          </a:ln>
          <a:effectLst/>
        </p:spPr>
        <p:txBody>
          <a:bodyPr vert="eaVert" wrap="none" anchor="ctr"/>
          <a:lstStyle/>
          <a:p>
            <a:r>
              <a:rPr lang="zh-CN" altLang="en-US" dirty="0">
                <a:solidFill>
                  <a:schemeClr val="bg1"/>
                </a:solidFill>
                <a:latin typeface="微软雅黑 Light" panose="020B0502040204020203" pitchFamily="34" charset="-122"/>
              </a:rPr>
              <a:t>复</a:t>
            </a:r>
            <a:endParaRPr lang="zh-CN" altLang="en-US" dirty="0">
              <a:solidFill>
                <a:schemeClr val="bg1"/>
              </a:solidFill>
              <a:latin typeface="微软雅黑 Light" panose="020B0502040204020203" pitchFamily="34" charset="-122"/>
            </a:endParaRPr>
          </a:p>
          <a:p>
            <a:r>
              <a:rPr lang="zh-CN" altLang="en-US" dirty="0">
                <a:solidFill>
                  <a:schemeClr val="bg1"/>
                </a:solidFill>
                <a:latin typeface="微软雅黑 Light" panose="020B0502040204020203" pitchFamily="34" charset="-122"/>
              </a:rPr>
              <a:t>用</a:t>
            </a:r>
            <a:endParaRPr lang="zh-CN" altLang="en-US" dirty="0">
              <a:solidFill>
                <a:schemeClr val="bg1"/>
              </a:solidFill>
              <a:latin typeface="微软雅黑 Light" panose="020B0502040204020203" pitchFamily="34" charset="-122"/>
            </a:endParaRPr>
          </a:p>
          <a:p>
            <a:r>
              <a:rPr lang="zh-CN" altLang="en-US" dirty="0">
                <a:solidFill>
                  <a:schemeClr val="bg1"/>
                </a:solidFill>
                <a:latin typeface="微软雅黑 Light" panose="020B0502040204020203" pitchFamily="34" charset="-122"/>
              </a:rPr>
              <a:t>器</a:t>
            </a:r>
            <a:endParaRPr lang="zh-CN" altLang="en-US" dirty="0">
              <a:solidFill>
                <a:schemeClr val="bg1"/>
              </a:solidFill>
              <a:latin typeface="微软雅黑 Light" panose="020B0502040204020203" pitchFamily="34" charset="-122"/>
            </a:endParaRPr>
          </a:p>
        </p:txBody>
      </p:sp>
      <p:sp>
        <p:nvSpPr>
          <p:cNvPr id="452655" name="AutoShape 47"/>
          <p:cNvSpPr>
            <a:spLocks noChangeArrowheads="1"/>
          </p:cNvSpPr>
          <p:nvPr/>
        </p:nvSpPr>
        <p:spPr bwMode="auto">
          <a:xfrm rot="5400000">
            <a:off x="7593013" y="3465513"/>
            <a:ext cx="2016125" cy="647700"/>
          </a:xfrm>
          <a:custGeom>
            <a:avLst/>
            <a:gdLst>
              <a:gd name="G0" fmla="+- 3066 0 0"/>
              <a:gd name="G1" fmla="+- 21600 0 3066"/>
              <a:gd name="G2" fmla="*/ 3066 1 2"/>
              <a:gd name="G3" fmla="+- 21600 0 G2"/>
              <a:gd name="G4" fmla="+/ 3066 21600 2"/>
              <a:gd name="G5" fmla="+/ G1 0 2"/>
              <a:gd name="G6" fmla="*/ 21600 21600 3066"/>
              <a:gd name="G7" fmla="*/ G6 1 2"/>
              <a:gd name="G8" fmla="+- 21600 0 G7"/>
              <a:gd name="G9" fmla="*/ 21600 1 2"/>
              <a:gd name="G10" fmla="+- 3066 0 G9"/>
              <a:gd name="G11" fmla="?: G10 G8 0"/>
              <a:gd name="G12" fmla="?: G10 G7 21600"/>
              <a:gd name="T0" fmla="*/ 20067 w 21600"/>
              <a:gd name="T1" fmla="*/ 10800 h 21600"/>
              <a:gd name="T2" fmla="*/ 10800 w 21600"/>
              <a:gd name="T3" fmla="*/ 21600 h 21600"/>
              <a:gd name="T4" fmla="*/ 1533 w 21600"/>
              <a:gd name="T5" fmla="*/ 10800 h 21600"/>
              <a:gd name="T6" fmla="*/ 10800 w 21600"/>
              <a:gd name="T7" fmla="*/ 0 h 21600"/>
              <a:gd name="T8" fmla="*/ 3333 w 21600"/>
              <a:gd name="T9" fmla="*/ 3333 h 21600"/>
              <a:gd name="T10" fmla="*/ 18267 w 21600"/>
              <a:gd name="T11" fmla="*/ 18267 h 21600"/>
            </a:gdLst>
            <a:ahLst/>
            <a:cxnLst>
              <a:cxn ang="0">
                <a:pos x="T0" y="T1"/>
              </a:cxn>
              <a:cxn ang="0">
                <a:pos x="T2" y="T3"/>
              </a:cxn>
              <a:cxn ang="0">
                <a:pos x="T4" y="T5"/>
              </a:cxn>
              <a:cxn ang="0">
                <a:pos x="T6" y="T7"/>
              </a:cxn>
            </a:cxnLst>
            <a:rect l="T8" t="T9" r="T10" b="T11"/>
            <a:pathLst>
              <a:path w="21600" h="21600">
                <a:moveTo>
                  <a:pt x="0" y="0"/>
                </a:moveTo>
                <a:lnTo>
                  <a:pt x="3066" y="21600"/>
                </a:lnTo>
                <a:lnTo>
                  <a:pt x="18534" y="21600"/>
                </a:lnTo>
                <a:lnTo>
                  <a:pt x="21600" y="0"/>
                </a:lnTo>
                <a:close/>
              </a:path>
            </a:pathLst>
          </a:custGeom>
          <a:solidFill>
            <a:schemeClr val="accent1">
              <a:lumMod val="50000"/>
            </a:schemeClr>
          </a:solidFill>
          <a:ln w="9525">
            <a:solidFill>
              <a:schemeClr val="tx1"/>
            </a:solidFill>
            <a:miter lim="800000"/>
          </a:ln>
          <a:effectLst/>
        </p:spPr>
        <p:txBody>
          <a:bodyPr rot="10800000" vert="eaVert" wrap="none" anchor="ctr"/>
          <a:lstStyle/>
          <a:p>
            <a:r>
              <a:rPr lang="zh-CN" altLang="en-US" dirty="0">
                <a:solidFill>
                  <a:schemeClr val="bg1"/>
                </a:solidFill>
                <a:latin typeface="微软雅黑 Light" panose="020B0502040204020203" pitchFamily="34" charset="-122"/>
              </a:rPr>
              <a:t>解</a:t>
            </a:r>
            <a:endParaRPr lang="zh-CN" altLang="en-US" dirty="0">
              <a:solidFill>
                <a:schemeClr val="bg1"/>
              </a:solidFill>
              <a:latin typeface="微软雅黑 Light" panose="020B0502040204020203" pitchFamily="34" charset="-122"/>
            </a:endParaRPr>
          </a:p>
          <a:p>
            <a:r>
              <a:rPr lang="zh-CN" altLang="en-US" dirty="0">
                <a:solidFill>
                  <a:schemeClr val="bg1"/>
                </a:solidFill>
                <a:latin typeface="微软雅黑 Light" panose="020B0502040204020203" pitchFamily="34" charset="-122"/>
              </a:rPr>
              <a:t>复</a:t>
            </a:r>
            <a:endParaRPr lang="zh-CN" altLang="en-US" dirty="0">
              <a:solidFill>
                <a:schemeClr val="bg1"/>
              </a:solidFill>
              <a:latin typeface="微软雅黑 Light" panose="020B0502040204020203" pitchFamily="34" charset="-122"/>
            </a:endParaRPr>
          </a:p>
          <a:p>
            <a:r>
              <a:rPr lang="zh-CN" altLang="en-US" dirty="0">
                <a:solidFill>
                  <a:schemeClr val="bg1"/>
                </a:solidFill>
                <a:latin typeface="微软雅黑 Light" panose="020B0502040204020203" pitchFamily="34" charset="-122"/>
              </a:rPr>
              <a:t>用</a:t>
            </a:r>
            <a:endParaRPr lang="zh-CN" altLang="en-US" dirty="0">
              <a:solidFill>
                <a:schemeClr val="bg1"/>
              </a:solidFill>
              <a:latin typeface="微软雅黑 Light" panose="020B0502040204020203" pitchFamily="34" charset="-122"/>
            </a:endParaRPr>
          </a:p>
          <a:p>
            <a:r>
              <a:rPr lang="zh-CN" altLang="en-US" dirty="0">
                <a:solidFill>
                  <a:schemeClr val="bg1"/>
                </a:solidFill>
                <a:latin typeface="微软雅黑 Light" panose="020B0502040204020203" pitchFamily="34" charset="-122"/>
              </a:rPr>
              <a:t>器</a:t>
            </a:r>
            <a:endParaRPr lang="zh-CN" altLang="en-US" dirty="0">
              <a:solidFill>
                <a:schemeClr val="bg1"/>
              </a:solidFill>
              <a:latin typeface="微软雅黑 Light" panose="020B0502040204020203" pitchFamily="34" charset="-122"/>
            </a:endParaRPr>
          </a:p>
        </p:txBody>
      </p:sp>
      <p:sp>
        <p:nvSpPr>
          <p:cNvPr id="452656" name="Rectangle 48"/>
          <p:cNvSpPr>
            <a:spLocks noChangeAspect="1" noChangeArrowheads="1"/>
          </p:cNvSpPr>
          <p:nvPr/>
        </p:nvSpPr>
        <p:spPr bwMode="auto">
          <a:xfrm>
            <a:off x="4656139" y="3502025"/>
            <a:ext cx="287337" cy="287338"/>
          </a:xfrm>
          <a:prstGeom prst="rect">
            <a:avLst/>
          </a:prstGeom>
          <a:solidFill>
            <a:schemeClr val="accent2">
              <a:lumMod val="60000"/>
              <a:lumOff val="40000"/>
            </a:schemeClr>
          </a:solidFill>
          <a:ln w="9525">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D4</a:t>
            </a:r>
            <a:endParaRPr lang="en-US" altLang="zh-CN" sz="1600" dirty="0">
              <a:solidFill>
                <a:schemeClr val="bg1"/>
              </a:solidFill>
              <a:latin typeface="微软雅黑 Light" panose="020B0502040204020203" pitchFamily="34" charset="-122"/>
            </a:endParaRPr>
          </a:p>
        </p:txBody>
      </p:sp>
      <p:sp>
        <p:nvSpPr>
          <p:cNvPr id="452657" name="Rectangle 49"/>
          <p:cNvSpPr>
            <a:spLocks noChangeAspect="1" noChangeArrowheads="1"/>
          </p:cNvSpPr>
          <p:nvPr/>
        </p:nvSpPr>
        <p:spPr bwMode="auto">
          <a:xfrm>
            <a:off x="5016500" y="3502025"/>
            <a:ext cx="287338" cy="287338"/>
          </a:xfrm>
          <a:prstGeom prst="rect">
            <a:avLst/>
          </a:prstGeom>
          <a:solidFill>
            <a:schemeClr val="accent2">
              <a:lumMod val="60000"/>
              <a:lumOff val="40000"/>
            </a:schemeClr>
          </a:solidFill>
          <a:ln w="9525" algn="ctr">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D4</a:t>
            </a:r>
            <a:endParaRPr lang="en-US" altLang="zh-CN" sz="1600" dirty="0">
              <a:solidFill>
                <a:schemeClr val="bg1"/>
              </a:solidFill>
              <a:latin typeface="微软雅黑 Light" panose="020B0502040204020203" pitchFamily="34" charset="-122"/>
            </a:endParaRPr>
          </a:p>
        </p:txBody>
      </p:sp>
      <p:sp>
        <p:nvSpPr>
          <p:cNvPr id="452660" name="Line 52"/>
          <p:cNvSpPr>
            <a:spLocks noChangeShapeType="1"/>
          </p:cNvSpPr>
          <p:nvPr/>
        </p:nvSpPr>
        <p:spPr bwMode="auto">
          <a:xfrm>
            <a:off x="4244975" y="3897313"/>
            <a:ext cx="403225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61" name="Line 53"/>
          <p:cNvSpPr>
            <a:spLocks noChangeShapeType="1"/>
          </p:cNvSpPr>
          <p:nvPr/>
        </p:nvSpPr>
        <p:spPr bwMode="auto">
          <a:xfrm>
            <a:off x="2587626" y="3176588"/>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62" name="Text Box 54"/>
          <p:cNvSpPr txBox="1">
            <a:spLocks noChangeArrowheads="1"/>
          </p:cNvSpPr>
          <p:nvPr/>
        </p:nvSpPr>
        <p:spPr bwMode="auto">
          <a:xfrm>
            <a:off x="3096833" y="2889251"/>
            <a:ext cx="4988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AA</a:t>
            </a:r>
            <a:endParaRPr lang="en-US" altLang="zh-CN" dirty="0">
              <a:latin typeface="微软雅黑 Light" panose="020B0502040204020203" pitchFamily="34" charset="-122"/>
            </a:endParaRPr>
          </a:p>
        </p:txBody>
      </p:sp>
      <p:sp>
        <p:nvSpPr>
          <p:cNvPr id="452663" name="Text Box 55"/>
          <p:cNvSpPr txBox="1">
            <a:spLocks noChangeArrowheads="1"/>
          </p:cNvSpPr>
          <p:nvPr/>
        </p:nvSpPr>
        <p:spPr bwMode="auto">
          <a:xfrm>
            <a:off x="2208213" y="2981326"/>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52664" name="Line 56"/>
          <p:cNvSpPr>
            <a:spLocks noChangeShapeType="1"/>
          </p:cNvSpPr>
          <p:nvPr/>
        </p:nvSpPr>
        <p:spPr bwMode="auto">
          <a:xfrm>
            <a:off x="2606676" y="3635375"/>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65" name="Text Box 57"/>
          <p:cNvSpPr txBox="1">
            <a:spLocks noChangeArrowheads="1"/>
          </p:cNvSpPr>
          <p:nvPr/>
        </p:nvSpPr>
        <p:spPr bwMode="auto">
          <a:xfrm>
            <a:off x="3138512" y="3348038"/>
            <a:ext cx="4571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BB</a:t>
            </a:r>
            <a:endParaRPr lang="en-US" altLang="zh-CN" dirty="0">
              <a:latin typeface="微软雅黑 Light" panose="020B0502040204020203" pitchFamily="34" charset="-122"/>
            </a:endParaRPr>
          </a:p>
        </p:txBody>
      </p:sp>
      <p:sp>
        <p:nvSpPr>
          <p:cNvPr id="452666" name="Text Box 58"/>
          <p:cNvSpPr txBox="1">
            <a:spLocks noChangeArrowheads="1"/>
          </p:cNvSpPr>
          <p:nvPr/>
        </p:nvSpPr>
        <p:spPr bwMode="auto">
          <a:xfrm>
            <a:off x="2227263" y="34401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52667" name="Line 59"/>
          <p:cNvSpPr>
            <a:spLocks noChangeShapeType="1"/>
          </p:cNvSpPr>
          <p:nvPr/>
        </p:nvSpPr>
        <p:spPr bwMode="auto">
          <a:xfrm>
            <a:off x="2606676" y="4067175"/>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68" name="Text Box 60"/>
          <p:cNvSpPr txBox="1">
            <a:spLocks noChangeArrowheads="1"/>
          </p:cNvSpPr>
          <p:nvPr/>
        </p:nvSpPr>
        <p:spPr bwMode="auto">
          <a:xfrm>
            <a:off x="3246438" y="37798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C</a:t>
            </a:r>
            <a:endParaRPr lang="en-US" altLang="zh-CN" dirty="0">
              <a:latin typeface="微软雅黑 Light" panose="020B0502040204020203" pitchFamily="34" charset="-122"/>
            </a:endParaRPr>
          </a:p>
        </p:txBody>
      </p:sp>
      <p:sp>
        <p:nvSpPr>
          <p:cNvPr id="452669" name="Text Box 61"/>
          <p:cNvSpPr txBox="1">
            <a:spLocks noChangeArrowheads="1"/>
          </p:cNvSpPr>
          <p:nvPr/>
        </p:nvSpPr>
        <p:spPr bwMode="auto">
          <a:xfrm>
            <a:off x="2227263" y="38719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52670" name="Line 62"/>
          <p:cNvSpPr>
            <a:spLocks noChangeShapeType="1"/>
          </p:cNvSpPr>
          <p:nvPr/>
        </p:nvSpPr>
        <p:spPr bwMode="auto">
          <a:xfrm>
            <a:off x="2606676" y="4498975"/>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71" name="Text Box 63"/>
          <p:cNvSpPr txBox="1">
            <a:spLocks noChangeArrowheads="1"/>
          </p:cNvSpPr>
          <p:nvPr/>
        </p:nvSpPr>
        <p:spPr bwMode="auto">
          <a:xfrm>
            <a:off x="2906076" y="4211638"/>
            <a:ext cx="689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rPr>
              <a:t>DDD</a:t>
            </a:r>
            <a:endParaRPr lang="en-US" altLang="zh-CN" dirty="0">
              <a:latin typeface="微软雅黑 Light" panose="020B0502040204020203" pitchFamily="34" charset="-122"/>
            </a:endParaRPr>
          </a:p>
        </p:txBody>
      </p:sp>
      <p:sp>
        <p:nvSpPr>
          <p:cNvPr id="452672" name="Text Box 64"/>
          <p:cNvSpPr txBox="1">
            <a:spLocks noChangeArrowheads="1"/>
          </p:cNvSpPr>
          <p:nvPr/>
        </p:nvSpPr>
        <p:spPr bwMode="auto">
          <a:xfrm>
            <a:off x="2227263" y="4303713"/>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52673" name="Line 65"/>
          <p:cNvSpPr>
            <a:spLocks noChangeShapeType="1"/>
          </p:cNvSpPr>
          <p:nvPr/>
        </p:nvSpPr>
        <p:spPr bwMode="auto">
          <a:xfrm>
            <a:off x="8924926" y="3222625"/>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74" name="Text Box 66"/>
          <p:cNvSpPr txBox="1">
            <a:spLocks noChangeArrowheads="1"/>
          </p:cNvSpPr>
          <p:nvPr/>
        </p:nvSpPr>
        <p:spPr bwMode="auto">
          <a:xfrm>
            <a:off x="8924925" y="2935288"/>
            <a:ext cx="4988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AA</a:t>
            </a:r>
            <a:endParaRPr lang="en-US" altLang="zh-CN" dirty="0">
              <a:latin typeface="微软雅黑 Light" panose="020B0502040204020203" pitchFamily="34" charset="-122"/>
            </a:endParaRPr>
          </a:p>
        </p:txBody>
      </p:sp>
      <p:sp>
        <p:nvSpPr>
          <p:cNvPr id="452675" name="Text Box 67"/>
          <p:cNvSpPr txBox="1">
            <a:spLocks noChangeArrowheads="1"/>
          </p:cNvSpPr>
          <p:nvPr/>
        </p:nvSpPr>
        <p:spPr bwMode="auto">
          <a:xfrm>
            <a:off x="9890125" y="3027363"/>
            <a:ext cx="27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52676" name="Line 68"/>
          <p:cNvSpPr>
            <a:spLocks noChangeShapeType="1"/>
          </p:cNvSpPr>
          <p:nvPr/>
        </p:nvSpPr>
        <p:spPr bwMode="auto">
          <a:xfrm>
            <a:off x="8943976" y="368141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77" name="Text Box 69"/>
          <p:cNvSpPr txBox="1">
            <a:spLocks noChangeArrowheads="1"/>
          </p:cNvSpPr>
          <p:nvPr/>
        </p:nvSpPr>
        <p:spPr bwMode="auto">
          <a:xfrm>
            <a:off x="8943975" y="3394076"/>
            <a:ext cx="4571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BB</a:t>
            </a:r>
            <a:endParaRPr lang="en-US" altLang="zh-CN" dirty="0">
              <a:latin typeface="微软雅黑 Light" panose="020B0502040204020203" pitchFamily="34" charset="-122"/>
            </a:endParaRPr>
          </a:p>
        </p:txBody>
      </p:sp>
      <p:sp>
        <p:nvSpPr>
          <p:cNvPr id="452678" name="Text Box 70"/>
          <p:cNvSpPr txBox="1">
            <a:spLocks noChangeArrowheads="1"/>
          </p:cNvSpPr>
          <p:nvPr/>
        </p:nvSpPr>
        <p:spPr bwMode="auto">
          <a:xfrm>
            <a:off x="9909175" y="348615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52679" name="Line 71"/>
          <p:cNvSpPr>
            <a:spLocks noChangeShapeType="1"/>
          </p:cNvSpPr>
          <p:nvPr/>
        </p:nvSpPr>
        <p:spPr bwMode="auto">
          <a:xfrm>
            <a:off x="8943976" y="411321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80" name="Text Box 72"/>
          <p:cNvSpPr txBox="1">
            <a:spLocks noChangeArrowheads="1"/>
          </p:cNvSpPr>
          <p:nvPr/>
        </p:nvSpPr>
        <p:spPr bwMode="auto">
          <a:xfrm>
            <a:off x="8943975" y="3825876"/>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C</a:t>
            </a:r>
            <a:endParaRPr lang="en-US" altLang="zh-CN" dirty="0">
              <a:latin typeface="微软雅黑 Light" panose="020B0502040204020203" pitchFamily="34" charset="-122"/>
            </a:endParaRPr>
          </a:p>
        </p:txBody>
      </p:sp>
      <p:sp>
        <p:nvSpPr>
          <p:cNvPr id="452681" name="Text Box 73"/>
          <p:cNvSpPr txBox="1">
            <a:spLocks noChangeArrowheads="1"/>
          </p:cNvSpPr>
          <p:nvPr/>
        </p:nvSpPr>
        <p:spPr bwMode="auto">
          <a:xfrm>
            <a:off x="9909175" y="3917951"/>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52682" name="Line 74"/>
          <p:cNvSpPr>
            <a:spLocks noChangeShapeType="1"/>
          </p:cNvSpPr>
          <p:nvPr/>
        </p:nvSpPr>
        <p:spPr bwMode="auto">
          <a:xfrm>
            <a:off x="8943976" y="4545013"/>
            <a:ext cx="1008063"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52683" name="Text Box 75"/>
          <p:cNvSpPr txBox="1">
            <a:spLocks noChangeArrowheads="1"/>
          </p:cNvSpPr>
          <p:nvPr/>
        </p:nvSpPr>
        <p:spPr bwMode="auto">
          <a:xfrm>
            <a:off x="8943975" y="4257676"/>
            <a:ext cx="689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DDD</a:t>
            </a:r>
            <a:endParaRPr lang="en-US" altLang="zh-CN" dirty="0">
              <a:latin typeface="微软雅黑 Light" panose="020B0502040204020203" pitchFamily="34" charset="-122"/>
            </a:endParaRPr>
          </a:p>
        </p:txBody>
      </p:sp>
      <p:sp>
        <p:nvSpPr>
          <p:cNvPr id="452684" name="Text Box 76"/>
          <p:cNvSpPr txBox="1">
            <a:spLocks noChangeArrowheads="1"/>
          </p:cNvSpPr>
          <p:nvPr/>
        </p:nvSpPr>
        <p:spPr bwMode="auto">
          <a:xfrm>
            <a:off x="9909175" y="4349751"/>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52685" name="Rectangle 77"/>
          <p:cNvSpPr>
            <a:spLocks noChangeAspect="1" noChangeArrowheads="1"/>
          </p:cNvSpPr>
          <p:nvPr/>
        </p:nvSpPr>
        <p:spPr bwMode="auto">
          <a:xfrm>
            <a:off x="5591175" y="3502025"/>
            <a:ext cx="287338" cy="287338"/>
          </a:xfrm>
          <a:prstGeom prst="rect">
            <a:avLst/>
          </a:prstGeom>
          <a:solidFill>
            <a:srgbClr val="00B0F0"/>
          </a:solidFill>
          <a:ln w="9525">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B2</a:t>
            </a:r>
            <a:endParaRPr lang="en-US" altLang="zh-CN" sz="1600" dirty="0">
              <a:solidFill>
                <a:schemeClr val="bg1"/>
              </a:solidFill>
              <a:latin typeface="微软雅黑 Light" panose="020B0502040204020203" pitchFamily="34" charset="-122"/>
            </a:endParaRPr>
          </a:p>
        </p:txBody>
      </p:sp>
      <p:sp>
        <p:nvSpPr>
          <p:cNvPr id="452686" name="Rectangle 78"/>
          <p:cNvSpPr>
            <a:spLocks noChangeAspect="1" noChangeArrowheads="1"/>
          </p:cNvSpPr>
          <p:nvPr/>
        </p:nvSpPr>
        <p:spPr bwMode="auto">
          <a:xfrm>
            <a:off x="5953125" y="3502025"/>
            <a:ext cx="287338" cy="287338"/>
          </a:xfrm>
          <a:prstGeom prst="rect">
            <a:avLst/>
          </a:prstGeom>
          <a:solidFill>
            <a:srgbClr val="0070C0"/>
          </a:solidFill>
          <a:ln w="9525" algn="ctr">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A1</a:t>
            </a:r>
            <a:endParaRPr lang="en-US" altLang="zh-CN" sz="1600" dirty="0">
              <a:solidFill>
                <a:schemeClr val="bg1"/>
              </a:solidFill>
              <a:latin typeface="微软雅黑 Light" panose="020B0502040204020203" pitchFamily="34" charset="-122"/>
            </a:endParaRPr>
          </a:p>
        </p:txBody>
      </p:sp>
      <p:sp>
        <p:nvSpPr>
          <p:cNvPr id="452687" name="Rectangle 79"/>
          <p:cNvSpPr>
            <a:spLocks noChangeAspect="1" noChangeArrowheads="1"/>
          </p:cNvSpPr>
          <p:nvPr/>
        </p:nvSpPr>
        <p:spPr bwMode="auto">
          <a:xfrm>
            <a:off x="6313489" y="3502025"/>
            <a:ext cx="287337" cy="287338"/>
          </a:xfrm>
          <a:prstGeom prst="rect">
            <a:avLst/>
          </a:prstGeom>
          <a:solidFill>
            <a:schemeClr val="accent2">
              <a:lumMod val="60000"/>
              <a:lumOff val="40000"/>
            </a:schemeClr>
          </a:solidFill>
          <a:ln w="9525" algn="ctr">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D4</a:t>
            </a:r>
            <a:endParaRPr lang="en-US" altLang="zh-CN" sz="1600" dirty="0">
              <a:solidFill>
                <a:schemeClr val="bg1"/>
              </a:solidFill>
              <a:latin typeface="微软雅黑 Light" panose="020B0502040204020203" pitchFamily="34" charset="-122"/>
            </a:endParaRPr>
          </a:p>
        </p:txBody>
      </p:sp>
      <p:sp>
        <p:nvSpPr>
          <p:cNvPr id="452690" name="Rectangle 82"/>
          <p:cNvSpPr>
            <a:spLocks noChangeAspect="1" noChangeArrowheads="1"/>
          </p:cNvSpPr>
          <p:nvPr/>
        </p:nvSpPr>
        <p:spPr bwMode="auto">
          <a:xfrm>
            <a:off x="6816725" y="3502025"/>
            <a:ext cx="287338" cy="287338"/>
          </a:xfrm>
          <a:prstGeom prst="rect">
            <a:avLst/>
          </a:prstGeom>
          <a:solidFill>
            <a:srgbClr val="00B050"/>
          </a:solidFill>
          <a:ln w="9525">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C3</a:t>
            </a:r>
            <a:endParaRPr lang="en-US" altLang="zh-CN" sz="1600" dirty="0">
              <a:solidFill>
                <a:schemeClr val="bg1"/>
              </a:solidFill>
              <a:latin typeface="微软雅黑 Light" panose="020B0502040204020203" pitchFamily="34" charset="-122"/>
            </a:endParaRPr>
          </a:p>
        </p:txBody>
      </p:sp>
      <p:sp>
        <p:nvSpPr>
          <p:cNvPr id="452691" name="Rectangle 83"/>
          <p:cNvSpPr>
            <a:spLocks noChangeAspect="1" noChangeArrowheads="1"/>
          </p:cNvSpPr>
          <p:nvPr/>
        </p:nvSpPr>
        <p:spPr bwMode="auto">
          <a:xfrm>
            <a:off x="7175500" y="3502025"/>
            <a:ext cx="287338" cy="287338"/>
          </a:xfrm>
          <a:prstGeom prst="rect">
            <a:avLst/>
          </a:prstGeom>
          <a:solidFill>
            <a:srgbClr val="00B0F0"/>
          </a:solidFill>
          <a:ln w="9525">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B2</a:t>
            </a:r>
            <a:endParaRPr lang="en-US" altLang="zh-CN" sz="1600" dirty="0">
              <a:solidFill>
                <a:schemeClr val="bg1"/>
              </a:solidFill>
              <a:latin typeface="微软雅黑 Light" panose="020B0502040204020203" pitchFamily="34" charset="-122"/>
            </a:endParaRPr>
          </a:p>
        </p:txBody>
      </p:sp>
      <p:sp>
        <p:nvSpPr>
          <p:cNvPr id="452692" name="Rectangle 84"/>
          <p:cNvSpPr>
            <a:spLocks noChangeAspect="1" noChangeArrowheads="1"/>
          </p:cNvSpPr>
          <p:nvPr/>
        </p:nvSpPr>
        <p:spPr bwMode="auto">
          <a:xfrm>
            <a:off x="7535864" y="3502025"/>
            <a:ext cx="287337" cy="287338"/>
          </a:xfrm>
          <a:prstGeom prst="rect">
            <a:avLst/>
          </a:prstGeom>
          <a:solidFill>
            <a:srgbClr val="0070C0"/>
          </a:solidFill>
          <a:ln w="9525">
            <a:solidFill>
              <a:schemeClr val="tx1"/>
            </a:solidFill>
            <a:miter lim="800000"/>
          </a:ln>
          <a:effectLst/>
        </p:spPr>
        <p:txBody>
          <a:bodyPr wrap="none" anchor="ctr"/>
          <a:lstStyle/>
          <a:p>
            <a:pPr algn="ctr"/>
            <a:r>
              <a:rPr lang="en-US" altLang="zh-CN" sz="1600" dirty="0">
                <a:solidFill>
                  <a:schemeClr val="bg1"/>
                </a:solidFill>
                <a:latin typeface="微软雅黑 Light" panose="020B0502040204020203" pitchFamily="34" charset="-122"/>
              </a:rPr>
              <a:t>A1</a:t>
            </a:r>
            <a:endParaRPr lang="en-US" altLang="zh-CN" sz="1600" dirty="0">
              <a:solidFill>
                <a:schemeClr val="bg1"/>
              </a:solidFill>
              <a:latin typeface="微软雅黑 Light" panose="020B0502040204020203" pitchFamily="34" charset="-122"/>
            </a:endParaRPr>
          </a:p>
        </p:txBody>
      </p:sp>
      <p:sp>
        <p:nvSpPr>
          <p:cNvPr id="452694" name="Rectangle 86"/>
          <p:cNvSpPr>
            <a:spLocks noChangeAspect="1" noChangeArrowheads="1"/>
          </p:cNvSpPr>
          <p:nvPr/>
        </p:nvSpPr>
        <p:spPr bwMode="auto">
          <a:xfrm>
            <a:off x="7823201"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695" name="Rectangle 87"/>
          <p:cNvSpPr>
            <a:spLocks noChangeAspect="1" noChangeArrowheads="1"/>
          </p:cNvSpPr>
          <p:nvPr/>
        </p:nvSpPr>
        <p:spPr bwMode="auto">
          <a:xfrm>
            <a:off x="7464426"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696" name="Rectangle 88"/>
          <p:cNvSpPr>
            <a:spLocks noChangeAspect="1" noChangeArrowheads="1"/>
          </p:cNvSpPr>
          <p:nvPr/>
        </p:nvSpPr>
        <p:spPr bwMode="auto">
          <a:xfrm>
            <a:off x="7104064"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697" name="Rectangle 89"/>
          <p:cNvSpPr>
            <a:spLocks noChangeAspect="1" noChangeArrowheads="1"/>
          </p:cNvSpPr>
          <p:nvPr/>
        </p:nvSpPr>
        <p:spPr bwMode="auto">
          <a:xfrm>
            <a:off x="6600826"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698" name="Rectangle 90"/>
          <p:cNvSpPr>
            <a:spLocks noChangeAspect="1" noChangeArrowheads="1"/>
          </p:cNvSpPr>
          <p:nvPr/>
        </p:nvSpPr>
        <p:spPr bwMode="auto">
          <a:xfrm>
            <a:off x="6240464"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699" name="Rectangle 91"/>
          <p:cNvSpPr>
            <a:spLocks noChangeAspect="1" noChangeArrowheads="1"/>
          </p:cNvSpPr>
          <p:nvPr/>
        </p:nvSpPr>
        <p:spPr bwMode="auto">
          <a:xfrm>
            <a:off x="5880101"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700" name="Rectangle 92"/>
          <p:cNvSpPr>
            <a:spLocks noChangeAspect="1" noChangeArrowheads="1"/>
          </p:cNvSpPr>
          <p:nvPr/>
        </p:nvSpPr>
        <p:spPr bwMode="auto">
          <a:xfrm>
            <a:off x="5303839"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452701" name="Rectangle 93"/>
          <p:cNvSpPr>
            <a:spLocks noChangeAspect="1" noChangeArrowheads="1"/>
          </p:cNvSpPr>
          <p:nvPr/>
        </p:nvSpPr>
        <p:spPr bwMode="auto">
          <a:xfrm>
            <a:off x="4943476" y="3500439"/>
            <a:ext cx="73025" cy="287337"/>
          </a:xfrm>
          <a:prstGeom prst="rect">
            <a:avLst/>
          </a:prstGeom>
          <a:solidFill>
            <a:srgbClr val="6600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600" dirty="0">
              <a:solidFill>
                <a:schemeClr val="bg1"/>
              </a:solidFill>
              <a:latin typeface="微软雅黑 Light" panose="020B0502040204020203" pitchFamily="34" charset="-122"/>
            </a:endParaRPr>
          </a:p>
        </p:txBody>
      </p:sp>
      <p:sp>
        <p:nvSpPr>
          <p:cNvPr id="3" name="内容占位符 2"/>
          <p:cNvSpPr>
            <a:spLocks noGrp="1"/>
          </p:cNvSpPr>
          <p:nvPr>
            <p:ph idx="1"/>
          </p:nvPr>
        </p:nvSpPr>
        <p:spPr>
          <a:xfrm>
            <a:off x="334434" y="1052514"/>
            <a:ext cx="11523133" cy="1505981"/>
          </a:xfrm>
        </p:spPr>
        <p:txBody>
          <a:bodyPr/>
          <a:lstStyle/>
          <a:p>
            <a:r>
              <a:rPr lang="zh-CN" altLang="en-US" dirty="0"/>
              <a:t>异步</a:t>
            </a:r>
            <a:r>
              <a:rPr lang="en-US" altLang="zh-CN" dirty="0"/>
              <a:t>TDM</a:t>
            </a:r>
            <a:r>
              <a:rPr lang="zh-CN" altLang="en-US" dirty="0"/>
              <a:t>又称统计复用</a:t>
            </a:r>
            <a:r>
              <a:rPr lang="en-US" altLang="zh-CN" dirty="0"/>
              <a:t>(STDM)</a:t>
            </a:r>
            <a:endParaRPr lang="en-US" altLang="zh-CN" dirty="0"/>
          </a:p>
          <a:p>
            <a:r>
              <a:rPr lang="zh-CN" altLang="en-US" dirty="0"/>
              <a:t>每帧的时间片数量小于输入设备数量</a:t>
            </a:r>
            <a:endParaRPr lang="zh-CN" altLang="en-US" dirty="0"/>
          </a:p>
          <a:p>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r>
              <a:rPr lang="zh-CN" altLang="en-US" dirty="0"/>
              <a:t>异步</a:t>
            </a:r>
            <a:r>
              <a:rPr lang="en-US" altLang="zh-CN" dirty="0"/>
              <a:t>TDM</a:t>
            </a:r>
            <a:endParaRPr lang="en-US" altLang="zh-CN" dirty="0"/>
          </a:p>
        </p:txBody>
      </p:sp>
      <p:sp>
        <p:nvSpPr>
          <p:cNvPr id="90" name="灯片编号占位符 5"/>
          <p:cNvSpPr>
            <a:spLocks noGrp="1"/>
          </p:cNvSpPr>
          <p:nvPr>
            <p:ph type="sldNum" sz="quarter" idx="12"/>
          </p:nvPr>
        </p:nvSpPr>
        <p:spPr/>
        <p:txBody>
          <a:bodyPr/>
          <a:lstStyle/>
          <a:p>
            <a:fld id="{7225E300-9266-4C20-8D85-97D7E2EEE242}" type="slidenum">
              <a:rPr lang="en-US" altLang="zh-CN"/>
            </a:fld>
            <a:endParaRPr lang="en-US" altLang="zh-CN" dirty="0"/>
          </a:p>
        </p:txBody>
      </p:sp>
      <p:sp>
        <p:nvSpPr>
          <p:cNvPr id="453636" name="Freeform 4"/>
          <p:cNvSpPr/>
          <p:nvPr/>
        </p:nvSpPr>
        <p:spPr bwMode="auto">
          <a:xfrm>
            <a:off x="8163479" y="2844232"/>
            <a:ext cx="26987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453637" name="Freeform 5"/>
          <p:cNvSpPr/>
          <p:nvPr/>
        </p:nvSpPr>
        <p:spPr bwMode="auto">
          <a:xfrm>
            <a:off x="9247741" y="2844232"/>
            <a:ext cx="26987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453638" name="Freeform 6"/>
          <p:cNvSpPr/>
          <p:nvPr/>
        </p:nvSpPr>
        <p:spPr bwMode="auto">
          <a:xfrm>
            <a:off x="8885791" y="2844232"/>
            <a:ext cx="271463"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chemeClr val="accent2">
              <a:lumMod val="60000"/>
              <a:lumOff val="40000"/>
            </a:schemeClr>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d</a:t>
            </a:r>
            <a:endParaRPr lang="zh-CN" altLang="en-US" dirty="0">
              <a:solidFill>
                <a:schemeClr val="bg1"/>
              </a:solidFill>
              <a:latin typeface="微软雅黑 Light" panose="020B0502040204020203" pitchFamily="34" charset="-122"/>
            </a:endParaRPr>
          </a:p>
        </p:txBody>
      </p:sp>
      <p:sp>
        <p:nvSpPr>
          <p:cNvPr id="453639" name="Freeform 7"/>
          <p:cNvSpPr/>
          <p:nvPr/>
        </p:nvSpPr>
        <p:spPr bwMode="auto">
          <a:xfrm>
            <a:off x="8523841" y="2844232"/>
            <a:ext cx="271463"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453640" name="Freeform 8"/>
          <p:cNvSpPr/>
          <p:nvPr/>
        </p:nvSpPr>
        <p:spPr bwMode="auto">
          <a:xfrm>
            <a:off x="7801528" y="2844232"/>
            <a:ext cx="271462"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453641" name="Freeform 9"/>
          <p:cNvSpPr/>
          <p:nvPr/>
        </p:nvSpPr>
        <p:spPr bwMode="auto">
          <a:xfrm>
            <a:off x="7439578" y="2844232"/>
            <a:ext cx="271462"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453642" name="Freeform 10"/>
          <p:cNvSpPr/>
          <p:nvPr/>
        </p:nvSpPr>
        <p:spPr bwMode="auto">
          <a:xfrm>
            <a:off x="7079216" y="2844232"/>
            <a:ext cx="26987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453652" name="Line 20"/>
          <p:cNvSpPr>
            <a:spLocks noChangeShapeType="1"/>
          </p:cNvSpPr>
          <p:nvPr/>
        </p:nvSpPr>
        <p:spPr bwMode="auto">
          <a:xfrm>
            <a:off x="6807754" y="3247456"/>
            <a:ext cx="2981325"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61" name="Text Box 29"/>
          <p:cNvSpPr txBox="1">
            <a:spLocks noChangeArrowheads="1"/>
          </p:cNvSpPr>
          <p:nvPr/>
        </p:nvSpPr>
        <p:spPr bwMode="auto">
          <a:xfrm>
            <a:off x="9698590" y="2825182"/>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3668" name="Line 36"/>
          <p:cNvSpPr>
            <a:spLocks noChangeShapeType="1"/>
          </p:cNvSpPr>
          <p:nvPr/>
        </p:nvSpPr>
        <p:spPr bwMode="auto">
          <a:xfrm>
            <a:off x="7085565" y="3349057"/>
            <a:ext cx="0" cy="2000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69" name="Line 37"/>
          <p:cNvSpPr>
            <a:spLocks noChangeShapeType="1"/>
          </p:cNvSpPr>
          <p:nvPr/>
        </p:nvSpPr>
        <p:spPr bwMode="auto">
          <a:xfrm>
            <a:off x="7807878" y="3349057"/>
            <a:ext cx="0" cy="2000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0" name="Line 38"/>
          <p:cNvSpPr>
            <a:spLocks noChangeShapeType="1"/>
          </p:cNvSpPr>
          <p:nvPr/>
        </p:nvSpPr>
        <p:spPr bwMode="auto">
          <a:xfrm>
            <a:off x="8530190" y="3349057"/>
            <a:ext cx="0" cy="2000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1" name="Line 39"/>
          <p:cNvSpPr>
            <a:spLocks noChangeShapeType="1"/>
          </p:cNvSpPr>
          <p:nvPr/>
        </p:nvSpPr>
        <p:spPr bwMode="auto">
          <a:xfrm>
            <a:off x="7085566" y="3449068"/>
            <a:ext cx="72231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2" name="Line 40"/>
          <p:cNvSpPr>
            <a:spLocks noChangeShapeType="1"/>
          </p:cNvSpPr>
          <p:nvPr/>
        </p:nvSpPr>
        <p:spPr bwMode="auto">
          <a:xfrm>
            <a:off x="7807878" y="3449068"/>
            <a:ext cx="7223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3" name="Line 41"/>
          <p:cNvSpPr>
            <a:spLocks noChangeShapeType="1"/>
          </p:cNvSpPr>
          <p:nvPr/>
        </p:nvSpPr>
        <p:spPr bwMode="auto">
          <a:xfrm>
            <a:off x="8530190" y="3449068"/>
            <a:ext cx="7239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4" name="Text Box 42"/>
          <p:cNvSpPr txBox="1">
            <a:spLocks noChangeArrowheads="1"/>
          </p:cNvSpPr>
          <p:nvPr/>
        </p:nvSpPr>
        <p:spPr bwMode="auto">
          <a:xfrm>
            <a:off x="7357028" y="4309494"/>
            <a:ext cx="1763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dirty="0">
                <a:solidFill>
                  <a:srgbClr val="333399"/>
                </a:solidFill>
                <a:latin typeface="微软雅黑 Light" panose="020B0502040204020203" pitchFamily="34" charset="-122"/>
                <a:ea typeface="微软雅黑 Light" panose="020B0502040204020203" pitchFamily="34" charset="-122"/>
              </a:rPr>
              <a:t>3 </a:t>
            </a:r>
            <a:r>
              <a:rPr kumimoji="1" lang="zh-CN" altLang="en-US" sz="2000" dirty="0">
                <a:solidFill>
                  <a:srgbClr val="333399"/>
                </a:solidFill>
                <a:latin typeface="微软雅黑 Light" panose="020B0502040204020203" pitchFamily="34" charset="-122"/>
                <a:ea typeface="微软雅黑 Light" panose="020B0502040204020203" pitchFamily="34" charset="-122"/>
              </a:rPr>
              <a:t>个 </a:t>
            </a:r>
            <a:r>
              <a:rPr kumimoji="1" lang="en-US" altLang="zh-CN" sz="2000" dirty="0">
                <a:solidFill>
                  <a:srgbClr val="333399"/>
                </a:solidFill>
                <a:latin typeface="微软雅黑 Light" panose="020B0502040204020203" pitchFamily="34" charset="-122"/>
                <a:ea typeface="微软雅黑 Light" panose="020B0502040204020203" pitchFamily="34" charset="-122"/>
              </a:rPr>
              <a:t>STDM </a:t>
            </a:r>
            <a:r>
              <a:rPr kumimoji="1" lang="zh-CN" altLang="en-US" sz="2000" dirty="0">
                <a:solidFill>
                  <a:srgbClr val="333399"/>
                </a:solidFill>
                <a:latin typeface="微软雅黑 Light" panose="020B0502040204020203" pitchFamily="34" charset="-122"/>
                <a:ea typeface="微软雅黑 Light" panose="020B0502040204020203" pitchFamily="34" charset="-122"/>
              </a:rPr>
              <a:t>帧</a:t>
            </a:r>
            <a:endParaRPr kumimoji="1" lang="zh-CN" altLang="en-US" sz="2000" dirty="0">
              <a:solidFill>
                <a:srgbClr val="333399"/>
              </a:solidFill>
              <a:latin typeface="微软雅黑 Light" panose="020B0502040204020203" pitchFamily="34" charset="-122"/>
              <a:ea typeface="微软雅黑 Light" panose="020B0502040204020203" pitchFamily="34" charset="-122"/>
            </a:endParaRPr>
          </a:p>
        </p:txBody>
      </p:sp>
      <p:sp>
        <p:nvSpPr>
          <p:cNvPr id="453675" name="Text Box 43"/>
          <p:cNvSpPr txBox="1">
            <a:spLocks noChangeArrowheads="1"/>
          </p:cNvSpPr>
          <p:nvPr/>
        </p:nvSpPr>
        <p:spPr bwMode="auto">
          <a:xfrm>
            <a:off x="7284004" y="3436369"/>
            <a:ext cx="4940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#3</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3676" name="Line 44"/>
          <p:cNvSpPr>
            <a:spLocks noChangeShapeType="1"/>
          </p:cNvSpPr>
          <p:nvPr/>
        </p:nvSpPr>
        <p:spPr bwMode="auto">
          <a:xfrm>
            <a:off x="5509933" y="2088764"/>
            <a:ext cx="1160462" cy="808038"/>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7" name="Line 45"/>
          <p:cNvSpPr>
            <a:spLocks noChangeShapeType="1"/>
          </p:cNvSpPr>
          <p:nvPr/>
        </p:nvSpPr>
        <p:spPr bwMode="auto">
          <a:xfrm>
            <a:off x="5628240" y="2828357"/>
            <a:ext cx="998538" cy="217487"/>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8" name="Line 46"/>
          <p:cNvSpPr>
            <a:spLocks noChangeShapeType="1"/>
          </p:cNvSpPr>
          <p:nvPr/>
        </p:nvSpPr>
        <p:spPr bwMode="auto">
          <a:xfrm flipV="1">
            <a:off x="5614289" y="3247456"/>
            <a:ext cx="1012489" cy="301626"/>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79" name="Line 47"/>
          <p:cNvSpPr>
            <a:spLocks noChangeShapeType="1"/>
          </p:cNvSpPr>
          <p:nvPr/>
        </p:nvSpPr>
        <p:spPr bwMode="auto">
          <a:xfrm flipV="1">
            <a:off x="5509933" y="3354672"/>
            <a:ext cx="1160462" cy="963613"/>
          </a:xfrm>
          <a:prstGeom prst="line">
            <a:avLst/>
          </a:prstGeom>
          <a:noFill/>
          <a:ln w="158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90" name="Line 58"/>
          <p:cNvSpPr>
            <a:spLocks noChangeShapeType="1"/>
          </p:cNvSpPr>
          <p:nvPr/>
        </p:nvSpPr>
        <p:spPr bwMode="auto">
          <a:xfrm>
            <a:off x="7801528" y="3147444"/>
            <a:ext cx="0" cy="1000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dirty="0">
              <a:latin typeface="微软雅黑 Light" panose="020B0502040204020203" pitchFamily="34" charset="-122"/>
            </a:endParaRPr>
          </a:p>
        </p:txBody>
      </p:sp>
      <p:sp>
        <p:nvSpPr>
          <p:cNvPr id="453691" name="Line 59"/>
          <p:cNvSpPr>
            <a:spLocks noChangeShapeType="1"/>
          </p:cNvSpPr>
          <p:nvPr/>
        </p:nvSpPr>
        <p:spPr bwMode="auto">
          <a:xfrm>
            <a:off x="8072990" y="3147444"/>
            <a:ext cx="0" cy="1000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dirty="0">
              <a:latin typeface="微软雅黑 Light" panose="020B0502040204020203" pitchFamily="34" charset="-122"/>
            </a:endParaRPr>
          </a:p>
        </p:txBody>
      </p:sp>
      <p:sp>
        <p:nvSpPr>
          <p:cNvPr id="453692" name="Line 60"/>
          <p:cNvSpPr>
            <a:spLocks noChangeShapeType="1"/>
          </p:cNvSpPr>
          <p:nvPr/>
        </p:nvSpPr>
        <p:spPr bwMode="auto">
          <a:xfrm>
            <a:off x="9254090" y="3349057"/>
            <a:ext cx="0" cy="2000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693" name="Line 61"/>
          <p:cNvSpPr>
            <a:spLocks noChangeShapeType="1"/>
          </p:cNvSpPr>
          <p:nvPr/>
        </p:nvSpPr>
        <p:spPr bwMode="auto">
          <a:xfrm>
            <a:off x="9157253" y="3147444"/>
            <a:ext cx="0" cy="1000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dirty="0">
              <a:latin typeface="微软雅黑 Light" panose="020B0502040204020203" pitchFamily="34" charset="-122"/>
            </a:endParaRPr>
          </a:p>
        </p:txBody>
      </p:sp>
      <p:sp>
        <p:nvSpPr>
          <p:cNvPr id="453701" name="Freeform 69"/>
          <p:cNvSpPr/>
          <p:nvPr/>
        </p:nvSpPr>
        <p:spPr bwMode="auto">
          <a:xfrm>
            <a:off x="9516029" y="2844232"/>
            <a:ext cx="90487"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chemeClr val="tx1"/>
            </a:solidFill>
            <a:round/>
          </a:ln>
          <a:effectLst/>
        </p:spPr>
        <p:txBody>
          <a:bodyPr/>
          <a:lstStyle/>
          <a:p>
            <a:pPr algn="ctr"/>
            <a:endParaRPr lang="zh-CN" altLang="en-US" dirty="0">
              <a:latin typeface="微软雅黑 Light" panose="020B0502040204020203" pitchFamily="34" charset="-122"/>
            </a:endParaRPr>
          </a:p>
        </p:txBody>
      </p:sp>
      <p:sp>
        <p:nvSpPr>
          <p:cNvPr id="453702" name="Freeform 70"/>
          <p:cNvSpPr/>
          <p:nvPr/>
        </p:nvSpPr>
        <p:spPr bwMode="auto">
          <a:xfrm>
            <a:off x="7349090" y="2844232"/>
            <a:ext cx="9048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rgbClr val="002060"/>
            </a:solidFill>
            <a:round/>
          </a:ln>
          <a:effectLst/>
        </p:spPr>
        <p:txBody>
          <a:bodyPr/>
          <a:lstStyle/>
          <a:p>
            <a:pPr algn="ctr"/>
            <a:endParaRPr lang="zh-CN" altLang="en-US" dirty="0">
              <a:latin typeface="微软雅黑 Light" panose="020B0502040204020203" pitchFamily="34" charset="-122"/>
            </a:endParaRPr>
          </a:p>
        </p:txBody>
      </p:sp>
      <p:sp>
        <p:nvSpPr>
          <p:cNvPr id="453703" name="Freeform 71"/>
          <p:cNvSpPr/>
          <p:nvPr/>
        </p:nvSpPr>
        <p:spPr bwMode="auto">
          <a:xfrm>
            <a:off x="7711040" y="2844232"/>
            <a:ext cx="9048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chemeClr val="tx1"/>
            </a:solidFill>
            <a:round/>
          </a:ln>
          <a:effectLst/>
        </p:spPr>
        <p:txBody>
          <a:bodyPr/>
          <a:lstStyle/>
          <a:p>
            <a:pPr algn="ctr"/>
            <a:endParaRPr lang="zh-CN" altLang="en-US" dirty="0">
              <a:latin typeface="微软雅黑 Light" panose="020B0502040204020203" pitchFamily="34" charset="-122"/>
            </a:endParaRPr>
          </a:p>
        </p:txBody>
      </p:sp>
      <p:sp>
        <p:nvSpPr>
          <p:cNvPr id="453704" name="Freeform 72"/>
          <p:cNvSpPr/>
          <p:nvPr/>
        </p:nvSpPr>
        <p:spPr bwMode="auto">
          <a:xfrm>
            <a:off x="8072990" y="2844232"/>
            <a:ext cx="9048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chemeClr val="tx1"/>
            </a:solidFill>
            <a:round/>
          </a:ln>
          <a:effectLst/>
        </p:spPr>
        <p:txBody>
          <a:bodyPr/>
          <a:lstStyle/>
          <a:p>
            <a:pPr algn="ctr"/>
            <a:endParaRPr lang="zh-CN" altLang="en-US" dirty="0">
              <a:latin typeface="微软雅黑 Light" panose="020B0502040204020203" pitchFamily="34" charset="-122"/>
            </a:endParaRPr>
          </a:p>
        </p:txBody>
      </p:sp>
      <p:sp>
        <p:nvSpPr>
          <p:cNvPr id="453705" name="Freeform 73"/>
          <p:cNvSpPr/>
          <p:nvPr/>
        </p:nvSpPr>
        <p:spPr bwMode="auto">
          <a:xfrm>
            <a:off x="8433354" y="2844232"/>
            <a:ext cx="90487"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chemeClr val="tx1"/>
            </a:solidFill>
            <a:round/>
          </a:ln>
          <a:effectLst/>
        </p:spPr>
        <p:txBody>
          <a:bodyPr/>
          <a:lstStyle/>
          <a:p>
            <a:pPr algn="ctr"/>
            <a:endParaRPr lang="zh-CN" altLang="en-US" dirty="0">
              <a:latin typeface="微软雅黑 Light" panose="020B0502040204020203" pitchFamily="34" charset="-122"/>
            </a:endParaRPr>
          </a:p>
        </p:txBody>
      </p:sp>
      <p:sp>
        <p:nvSpPr>
          <p:cNvPr id="453706" name="Freeform 74"/>
          <p:cNvSpPr/>
          <p:nvPr/>
        </p:nvSpPr>
        <p:spPr bwMode="auto">
          <a:xfrm>
            <a:off x="8795304" y="2844232"/>
            <a:ext cx="90487"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chemeClr val="tx1"/>
            </a:solidFill>
            <a:round/>
          </a:ln>
          <a:effectLst/>
        </p:spPr>
        <p:txBody>
          <a:bodyPr/>
          <a:lstStyle/>
          <a:p>
            <a:pPr algn="ctr"/>
            <a:endParaRPr lang="zh-CN" altLang="en-US" dirty="0">
              <a:latin typeface="微软雅黑 Light" panose="020B0502040204020203" pitchFamily="34" charset="-122"/>
            </a:endParaRPr>
          </a:p>
        </p:txBody>
      </p:sp>
      <p:sp>
        <p:nvSpPr>
          <p:cNvPr id="453707" name="Freeform 75"/>
          <p:cNvSpPr/>
          <p:nvPr/>
        </p:nvSpPr>
        <p:spPr bwMode="auto">
          <a:xfrm>
            <a:off x="9157254" y="2844232"/>
            <a:ext cx="90487"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7030A0"/>
          </a:solidFill>
          <a:ln w="9525">
            <a:solidFill>
              <a:schemeClr val="tx1"/>
            </a:solidFill>
            <a:round/>
          </a:ln>
          <a:effectLst/>
        </p:spPr>
        <p:txBody>
          <a:bodyPr/>
          <a:lstStyle/>
          <a:p>
            <a:pPr algn="ctr"/>
            <a:endParaRPr lang="zh-CN" altLang="en-US" dirty="0">
              <a:latin typeface="微软雅黑 Light" panose="020B0502040204020203" pitchFamily="34" charset="-122"/>
            </a:endParaRPr>
          </a:p>
        </p:txBody>
      </p:sp>
      <p:sp>
        <p:nvSpPr>
          <p:cNvPr id="453708" name="Text Box 76"/>
          <p:cNvSpPr txBox="1">
            <a:spLocks noChangeArrowheads="1"/>
          </p:cNvSpPr>
          <p:nvPr/>
        </p:nvSpPr>
        <p:spPr bwMode="auto">
          <a:xfrm>
            <a:off x="7987266" y="3423669"/>
            <a:ext cx="4940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#2</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3709" name="Text Box 77"/>
          <p:cNvSpPr txBox="1">
            <a:spLocks noChangeArrowheads="1"/>
          </p:cNvSpPr>
          <p:nvPr/>
        </p:nvSpPr>
        <p:spPr bwMode="auto">
          <a:xfrm>
            <a:off x="8690529" y="3410969"/>
            <a:ext cx="4507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#1</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453711" name="Line 79"/>
          <p:cNvSpPr>
            <a:spLocks noChangeShapeType="1"/>
          </p:cNvSpPr>
          <p:nvPr/>
        </p:nvSpPr>
        <p:spPr bwMode="auto">
          <a:xfrm>
            <a:off x="7464978" y="3761807"/>
            <a:ext cx="633412" cy="503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712" name="Line 80"/>
          <p:cNvSpPr>
            <a:spLocks noChangeShapeType="1"/>
          </p:cNvSpPr>
          <p:nvPr/>
        </p:nvSpPr>
        <p:spPr bwMode="auto">
          <a:xfrm>
            <a:off x="8188878" y="3761807"/>
            <a:ext cx="0" cy="503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713" name="Line 81"/>
          <p:cNvSpPr>
            <a:spLocks noChangeShapeType="1"/>
          </p:cNvSpPr>
          <p:nvPr/>
        </p:nvSpPr>
        <p:spPr bwMode="auto">
          <a:xfrm flipH="1">
            <a:off x="8369853" y="3761807"/>
            <a:ext cx="450850" cy="503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718" name="Line 86"/>
          <p:cNvSpPr>
            <a:spLocks noChangeShapeType="1"/>
          </p:cNvSpPr>
          <p:nvPr/>
        </p:nvSpPr>
        <p:spPr bwMode="auto">
          <a:xfrm>
            <a:off x="7079215" y="2539431"/>
            <a:ext cx="0" cy="1079500"/>
          </a:xfrm>
          <a:prstGeom prst="line">
            <a:avLst/>
          </a:prstGeom>
          <a:noFill/>
          <a:ln w="158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719" name="Line 87"/>
          <p:cNvSpPr>
            <a:spLocks noChangeShapeType="1"/>
          </p:cNvSpPr>
          <p:nvPr/>
        </p:nvSpPr>
        <p:spPr bwMode="auto">
          <a:xfrm>
            <a:off x="7803115" y="2539431"/>
            <a:ext cx="0" cy="1079500"/>
          </a:xfrm>
          <a:prstGeom prst="line">
            <a:avLst/>
          </a:prstGeom>
          <a:noFill/>
          <a:ln w="158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720" name="Line 88"/>
          <p:cNvSpPr>
            <a:spLocks noChangeShapeType="1"/>
          </p:cNvSpPr>
          <p:nvPr/>
        </p:nvSpPr>
        <p:spPr bwMode="auto">
          <a:xfrm>
            <a:off x="8527015" y="2539431"/>
            <a:ext cx="0" cy="1079500"/>
          </a:xfrm>
          <a:prstGeom prst="line">
            <a:avLst/>
          </a:prstGeom>
          <a:noFill/>
          <a:ln w="158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453721" name="Line 89"/>
          <p:cNvSpPr>
            <a:spLocks noChangeShapeType="1"/>
          </p:cNvSpPr>
          <p:nvPr/>
        </p:nvSpPr>
        <p:spPr bwMode="auto">
          <a:xfrm>
            <a:off x="9249328" y="2539431"/>
            <a:ext cx="0" cy="1079500"/>
          </a:xfrm>
          <a:prstGeom prst="line">
            <a:avLst/>
          </a:prstGeom>
          <a:noFill/>
          <a:ln w="158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89" name="Text Box 15"/>
          <p:cNvSpPr txBox="1">
            <a:spLocks noChangeArrowheads="1"/>
          </p:cNvSpPr>
          <p:nvPr/>
        </p:nvSpPr>
        <p:spPr bwMode="auto">
          <a:xfrm>
            <a:off x="2038625" y="1864949"/>
            <a:ext cx="67358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1</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91" name="Text Box 30"/>
          <p:cNvSpPr txBox="1">
            <a:spLocks noChangeArrowheads="1"/>
          </p:cNvSpPr>
          <p:nvPr/>
        </p:nvSpPr>
        <p:spPr bwMode="auto">
          <a:xfrm>
            <a:off x="5220456" y="2029784"/>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92" name="Text Box 31"/>
          <p:cNvSpPr txBox="1">
            <a:spLocks noChangeArrowheads="1"/>
          </p:cNvSpPr>
          <p:nvPr/>
        </p:nvSpPr>
        <p:spPr bwMode="auto">
          <a:xfrm>
            <a:off x="5220456" y="2799721"/>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93" name="Text Box 32"/>
          <p:cNvSpPr txBox="1">
            <a:spLocks noChangeArrowheads="1"/>
          </p:cNvSpPr>
          <p:nvPr/>
        </p:nvSpPr>
        <p:spPr bwMode="auto">
          <a:xfrm>
            <a:off x="5220456" y="3569659"/>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94" name="Text Box 33"/>
          <p:cNvSpPr txBox="1">
            <a:spLocks noChangeArrowheads="1"/>
          </p:cNvSpPr>
          <p:nvPr/>
        </p:nvSpPr>
        <p:spPr bwMode="auto">
          <a:xfrm>
            <a:off x="5220456" y="4339596"/>
            <a:ext cx="2664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t</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95" name="Freeform 59"/>
          <p:cNvSpPr/>
          <p:nvPr/>
        </p:nvSpPr>
        <p:spPr bwMode="auto">
          <a:xfrm>
            <a:off x="3301265" y="1672595"/>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96" name="Line 81"/>
          <p:cNvSpPr>
            <a:spLocks noChangeShapeType="1"/>
          </p:cNvSpPr>
          <p:nvPr/>
        </p:nvSpPr>
        <p:spPr bwMode="auto">
          <a:xfrm>
            <a:off x="2748719" y="2048833"/>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97" name="Line 83"/>
          <p:cNvSpPr>
            <a:spLocks noChangeShapeType="1"/>
          </p:cNvSpPr>
          <p:nvPr/>
        </p:nvSpPr>
        <p:spPr bwMode="auto">
          <a:xfrm>
            <a:off x="2748719" y="3552195"/>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98" name="Line 92"/>
          <p:cNvSpPr>
            <a:spLocks noChangeShapeType="1"/>
          </p:cNvSpPr>
          <p:nvPr/>
        </p:nvSpPr>
        <p:spPr bwMode="auto">
          <a:xfrm>
            <a:off x="4372120"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99" name="Line 93"/>
          <p:cNvSpPr>
            <a:spLocks noChangeShapeType="1"/>
          </p:cNvSpPr>
          <p:nvPr/>
        </p:nvSpPr>
        <p:spPr bwMode="auto">
          <a:xfrm>
            <a:off x="4101409"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0" name="Line 94"/>
          <p:cNvSpPr>
            <a:spLocks noChangeShapeType="1"/>
          </p:cNvSpPr>
          <p:nvPr/>
        </p:nvSpPr>
        <p:spPr bwMode="auto">
          <a:xfrm>
            <a:off x="3833640" y="1569409"/>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1" name="Line 95"/>
          <p:cNvSpPr>
            <a:spLocks noChangeShapeType="1"/>
          </p:cNvSpPr>
          <p:nvPr/>
        </p:nvSpPr>
        <p:spPr bwMode="auto">
          <a:xfrm>
            <a:off x="3569272"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2" name="Freeform 59"/>
          <p:cNvSpPr/>
          <p:nvPr/>
        </p:nvSpPr>
        <p:spPr bwMode="auto">
          <a:xfrm>
            <a:off x="4106970" y="1661228"/>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70C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a</a:t>
            </a:r>
            <a:endParaRPr lang="zh-CN" altLang="en-US" dirty="0">
              <a:solidFill>
                <a:schemeClr val="bg1"/>
              </a:solidFill>
              <a:latin typeface="微软雅黑 Light" panose="020B0502040204020203" pitchFamily="34" charset="-122"/>
            </a:endParaRPr>
          </a:p>
        </p:txBody>
      </p:sp>
      <p:sp>
        <p:nvSpPr>
          <p:cNvPr id="103" name="Freeform 59"/>
          <p:cNvSpPr/>
          <p:nvPr/>
        </p:nvSpPr>
        <p:spPr bwMode="auto">
          <a:xfrm>
            <a:off x="3296685" y="2423316"/>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104" name="Freeform 59"/>
          <p:cNvSpPr/>
          <p:nvPr/>
        </p:nvSpPr>
        <p:spPr bwMode="auto">
          <a:xfrm>
            <a:off x="3567402" y="2423316"/>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F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b</a:t>
            </a:r>
            <a:endParaRPr lang="zh-CN" altLang="en-US" dirty="0">
              <a:solidFill>
                <a:schemeClr val="bg1"/>
              </a:solidFill>
              <a:latin typeface="微软雅黑 Light" panose="020B0502040204020203" pitchFamily="34" charset="-122"/>
            </a:endParaRPr>
          </a:p>
        </p:txBody>
      </p:sp>
      <p:sp>
        <p:nvSpPr>
          <p:cNvPr id="105" name="Freeform 59"/>
          <p:cNvSpPr/>
          <p:nvPr/>
        </p:nvSpPr>
        <p:spPr bwMode="auto">
          <a:xfrm>
            <a:off x="3562748" y="3160969"/>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106" name="Freeform 59"/>
          <p:cNvSpPr/>
          <p:nvPr/>
        </p:nvSpPr>
        <p:spPr bwMode="auto">
          <a:xfrm>
            <a:off x="3840040" y="3160969"/>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B050"/>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c</a:t>
            </a:r>
            <a:endParaRPr lang="zh-CN" altLang="en-US" dirty="0">
              <a:solidFill>
                <a:schemeClr val="bg1"/>
              </a:solidFill>
              <a:latin typeface="微软雅黑 Light" panose="020B0502040204020203" pitchFamily="34" charset="-122"/>
            </a:endParaRPr>
          </a:p>
        </p:txBody>
      </p:sp>
      <p:sp>
        <p:nvSpPr>
          <p:cNvPr id="107" name="Freeform 59"/>
          <p:cNvSpPr/>
          <p:nvPr/>
        </p:nvSpPr>
        <p:spPr bwMode="auto">
          <a:xfrm>
            <a:off x="4106969" y="3930941"/>
            <a:ext cx="266420"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chemeClr val="accent2">
              <a:lumMod val="60000"/>
              <a:lumOff val="40000"/>
            </a:schemeClr>
          </a:solidFill>
          <a:ln w="9525">
            <a:solidFill>
              <a:schemeClr val="tx1"/>
            </a:solidFill>
            <a:round/>
          </a:ln>
          <a:effectLst/>
        </p:spPr>
        <p:txBody>
          <a:bodyPr/>
          <a:lstStyle/>
          <a:p>
            <a:pPr algn="ctr"/>
            <a:r>
              <a:rPr lang="en-US" altLang="zh-CN" dirty="0">
                <a:solidFill>
                  <a:schemeClr val="bg1"/>
                </a:solidFill>
                <a:latin typeface="微软雅黑 Light" panose="020B0502040204020203" pitchFamily="34" charset="-122"/>
              </a:rPr>
              <a:t>d</a:t>
            </a:r>
            <a:endParaRPr lang="zh-CN" altLang="en-US" dirty="0">
              <a:solidFill>
                <a:schemeClr val="bg1"/>
              </a:solidFill>
              <a:latin typeface="微软雅黑 Light" panose="020B0502040204020203" pitchFamily="34" charset="-122"/>
            </a:endParaRPr>
          </a:p>
        </p:txBody>
      </p:sp>
      <p:sp>
        <p:nvSpPr>
          <p:cNvPr id="108" name="Line 82"/>
          <p:cNvSpPr>
            <a:spLocks noChangeShapeType="1"/>
          </p:cNvSpPr>
          <p:nvPr/>
        </p:nvSpPr>
        <p:spPr bwMode="auto">
          <a:xfrm>
            <a:off x="2748719" y="2801308"/>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109" name="Line 84"/>
          <p:cNvSpPr>
            <a:spLocks noChangeShapeType="1"/>
          </p:cNvSpPr>
          <p:nvPr/>
        </p:nvSpPr>
        <p:spPr bwMode="auto">
          <a:xfrm>
            <a:off x="2748719" y="4304670"/>
            <a:ext cx="2646363"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110" name="Text Box 15"/>
          <p:cNvSpPr txBox="1">
            <a:spLocks noChangeArrowheads="1"/>
          </p:cNvSpPr>
          <p:nvPr/>
        </p:nvSpPr>
        <p:spPr bwMode="auto">
          <a:xfrm>
            <a:off x="2038625" y="2597692"/>
            <a:ext cx="70884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2</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111" name="Text Box 15"/>
          <p:cNvSpPr txBox="1">
            <a:spLocks noChangeArrowheads="1"/>
          </p:cNvSpPr>
          <p:nvPr/>
        </p:nvSpPr>
        <p:spPr bwMode="auto">
          <a:xfrm>
            <a:off x="2038625" y="3333458"/>
            <a:ext cx="70884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2</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112" name="Text Box 15"/>
          <p:cNvSpPr txBox="1">
            <a:spLocks noChangeArrowheads="1"/>
          </p:cNvSpPr>
          <p:nvPr/>
        </p:nvSpPr>
        <p:spPr bwMode="auto">
          <a:xfrm>
            <a:off x="2038625" y="4096327"/>
            <a:ext cx="70884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latin typeface="微软雅黑 Light" panose="020B0502040204020203" pitchFamily="34" charset="-122"/>
                <a:ea typeface="微软雅黑 Light" panose="020B0502040204020203" pitchFamily="34" charset="-122"/>
              </a:rPr>
              <a:t>用户</a:t>
            </a:r>
            <a:r>
              <a:rPr kumimoji="1" lang="en-US" altLang="zh-CN" sz="1600" dirty="0">
                <a:latin typeface="微软雅黑 Light" panose="020B0502040204020203" pitchFamily="34" charset="-122"/>
                <a:ea typeface="微软雅黑 Light" panose="020B0502040204020203" pitchFamily="34" charset="-122"/>
              </a:rPr>
              <a:t>2</a:t>
            </a:r>
            <a:endParaRPr kumimoji="1" lang="en-US" altLang="zh-CN" sz="1600" dirty="0">
              <a:latin typeface="微软雅黑 Light" panose="020B0502040204020203" pitchFamily="34" charset="-122"/>
              <a:ea typeface="微软雅黑 Light" panose="020B0502040204020203" pitchFamily="34" charset="-122"/>
            </a:endParaRPr>
          </a:p>
        </p:txBody>
      </p:sp>
      <p:sp>
        <p:nvSpPr>
          <p:cNvPr id="113" name="Line 92"/>
          <p:cNvSpPr>
            <a:spLocks noChangeShapeType="1"/>
          </p:cNvSpPr>
          <p:nvPr/>
        </p:nvSpPr>
        <p:spPr bwMode="auto">
          <a:xfrm>
            <a:off x="3300935"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4" name="Line 93"/>
          <p:cNvSpPr>
            <a:spLocks noChangeShapeType="1"/>
          </p:cNvSpPr>
          <p:nvPr/>
        </p:nvSpPr>
        <p:spPr bwMode="auto">
          <a:xfrm>
            <a:off x="3035275"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5" name="Line 94"/>
          <p:cNvSpPr>
            <a:spLocks noChangeShapeType="1"/>
          </p:cNvSpPr>
          <p:nvPr/>
        </p:nvSpPr>
        <p:spPr bwMode="auto">
          <a:xfrm>
            <a:off x="2763034"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6" name="Line 92"/>
          <p:cNvSpPr>
            <a:spLocks noChangeShapeType="1"/>
          </p:cNvSpPr>
          <p:nvPr/>
        </p:nvSpPr>
        <p:spPr bwMode="auto">
          <a:xfrm>
            <a:off x="5156049"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7" name="Line 93"/>
          <p:cNvSpPr>
            <a:spLocks noChangeShapeType="1"/>
          </p:cNvSpPr>
          <p:nvPr/>
        </p:nvSpPr>
        <p:spPr bwMode="auto">
          <a:xfrm>
            <a:off x="4890389"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18" name="Line 94"/>
          <p:cNvSpPr>
            <a:spLocks noChangeShapeType="1"/>
          </p:cNvSpPr>
          <p:nvPr/>
        </p:nvSpPr>
        <p:spPr bwMode="auto">
          <a:xfrm>
            <a:off x="4618148" y="1605981"/>
            <a:ext cx="0" cy="2879725"/>
          </a:xfrm>
          <a:prstGeom prst="line">
            <a:avLst/>
          </a:prstGeom>
          <a:noFill/>
          <a:ln w="63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r>
              <a:rPr lang="zh-CN" altLang="en-US" dirty="0"/>
              <a:t>同步</a:t>
            </a:r>
            <a:r>
              <a:rPr lang="en-US" altLang="zh-CN" dirty="0"/>
              <a:t>TDM vs </a:t>
            </a:r>
            <a:r>
              <a:rPr lang="zh-CN" altLang="en-US" dirty="0"/>
              <a:t>异步</a:t>
            </a:r>
            <a:r>
              <a:rPr lang="en-US" altLang="zh-CN" dirty="0"/>
              <a:t>TDM</a:t>
            </a:r>
            <a:endParaRPr lang="en-US" altLang="zh-CN" dirty="0"/>
          </a:p>
        </p:txBody>
      </p:sp>
      <p:sp>
        <p:nvSpPr>
          <p:cNvPr id="455683" name="Rectangle 3"/>
          <p:cNvSpPr>
            <a:spLocks noGrp="1" noChangeArrowheads="1"/>
          </p:cNvSpPr>
          <p:nvPr>
            <p:ph idx="1"/>
          </p:nvPr>
        </p:nvSpPr>
        <p:spPr/>
        <p:txBody>
          <a:bodyPr/>
          <a:lstStyle/>
          <a:p>
            <a:r>
              <a:rPr lang="zh-CN" altLang="en-US" dirty="0"/>
              <a:t>同步时分多路复用的帧是固定大小的，控制简单，实时性好，信道效率差</a:t>
            </a:r>
            <a:endParaRPr lang="zh-CN" altLang="en-US" dirty="0"/>
          </a:p>
          <a:p>
            <a:r>
              <a:rPr lang="zh-CN" altLang="en-US" dirty="0"/>
              <a:t>异步时分多路复用能提高系统的利用率，需要一些额外的代价</a:t>
            </a:r>
            <a:endParaRPr lang="zh-CN" altLang="en-US" dirty="0"/>
          </a:p>
          <a:p>
            <a:pPr lvl="1"/>
            <a:r>
              <a:rPr lang="zh-CN" altLang="en-US" dirty="0"/>
              <a:t>信息单元需附带地址信息</a:t>
            </a:r>
            <a:endParaRPr lang="zh-CN" altLang="en-US" dirty="0"/>
          </a:p>
          <a:p>
            <a:pPr lvl="1"/>
            <a:r>
              <a:rPr lang="zh-CN" altLang="en-US" dirty="0"/>
              <a:t>复用器必须有一定的存储容量</a:t>
            </a:r>
            <a:endParaRPr lang="zh-CN" altLang="en-US" dirty="0"/>
          </a:p>
          <a:p>
            <a:pPr lvl="1"/>
            <a:r>
              <a:rPr lang="zh-CN" altLang="en-US" dirty="0"/>
              <a:t>节点必须有管理队列的能力</a:t>
            </a:r>
            <a:endParaRPr lang="zh-CN" altLang="en-US" dirty="0"/>
          </a:p>
          <a:p>
            <a:endParaRPr lang="en-US" altLang="zh-CN" dirty="0"/>
          </a:p>
        </p:txBody>
      </p:sp>
      <p:sp>
        <p:nvSpPr>
          <p:cNvPr id="6" name="灯片编号占位符 5"/>
          <p:cNvSpPr>
            <a:spLocks noGrp="1"/>
          </p:cNvSpPr>
          <p:nvPr>
            <p:ph type="sldNum" sz="quarter" idx="12"/>
          </p:nvPr>
        </p:nvSpPr>
        <p:spPr/>
        <p:txBody>
          <a:bodyPr/>
          <a:lstStyle/>
          <a:p>
            <a:fld id="{139DA964-0936-465C-A978-408CBF2AC6FC}" type="slidenum">
              <a:rPr lang="en-US" altLang="zh-CN"/>
            </a:fld>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r>
              <a:rPr lang="zh-CN" altLang="en-US" dirty="0"/>
              <a:t>波分多路复用</a:t>
            </a:r>
            <a:endParaRPr lang="zh-CN" altLang="en-US" dirty="0"/>
          </a:p>
        </p:txBody>
      </p:sp>
      <p:sp>
        <p:nvSpPr>
          <p:cNvPr id="456707" name="Rectangle 3"/>
          <p:cNvSpPr>
            <a:spLocks noGrp="1" noChangeArrowheads="1"/>
          </p:cNvSpPr>
          <p:nvPr>
            <p:ph idx="1"/>
          </p:nvPr>
        </p:nvSpPr>
        <p:spPr>
          <a:xfrm>
            <a:off x="334434" y="1052515"/>
            <a:ext cx="11523133" cy="2059960"/>
          </a:xfrm>
        </p:spPr>
        <p:txBody>
          <a:bodyPr/>
          <a:lstStyle/>
          <a:p>
            <a:r>
              <a:rPr lang="zh-CN" altLang="en-US" dirty="0"/>
              <a:t>波分多路复用：光的频分复用</a:t>
            </a:r>
            <a:endParaRPr lang="zh-CN" altLang="en-US" dirty="0"/>
          </a:p>
          <a:p>
            <a:r>
              <a:rPr lang="zh-CN" altLang="en-US" dirty="0"/>
              <a:t>利用多个激光器在单条光纤上同时发送多束不同波长激光的技术</a:t>
            </a:r>
            <a:endParaRPr lang="zh-CN" altLang="en-US" dirty="0"/>
          </a:p>
          <a:p>
            <a:r>
              <a:rPr lang="zh-CN" altLang="en-US" dirty="0"/>
              <a:t>在一定的带宽上将输入的光信号调制到特定的频率上，然后将调制后的信号复用到一根光纤上</a:t>
            </a:r>
            <a:endParaRPr lang="zh-CN" altLang="en-US" dirty="0"/>
          </a:p>
        </p:txBody>
      </p:sp>
      <p:sp>
        <p:nvSpPr>
          <p:cNvPr id="6" name="灯片编号占位符 5"/>
          <p:cNvSpPr>
            <a:spLocks noGrp="1"/>
          </p:cNvSpPr>
          <p:nvPr>
            <p:ph type="sldNum" sz="quarter" idx="12"/>
          </p:nvPr>
        </p:nvSpPr>
        <p:spPr/>
        <p:txBody>
          <a:bodyPr/>
          <a:lstStyle/>
          <a:p>
            <a:fld id="{1D9DCAD7-D824-4B6A-85A3-BD8506D83BCF}" type="slidenum">
              <a:rPr lang="en-US" altLang="zh-CN"/>
            </a:fld>
            <a:endParaRPr lang="en-US" altLang="zh-CN" dirty="0"/>
          </a:p>
        </p:txBody>
      </p:sp>
      <p:grpSp>
        <p:nvGrpSpPr>
          <p:cNvPr id="2" name="组合 1"/>
          <p:cNvGrpSpPr/>
          <p:nvPr/>
        </p:nvGrpSpPr>
        <p:grpSpPr>
          <a:xfrm>
            <a:off x="1903311" y="3112475"/>
            <a:ext cx="8385378" cy="3480473"/>
            <a:chOff x="2011998" y="3225129"/>
            <a:chExt cx="8385378" cy="3480473"/>
          </a:xfrm>
        </p:grpSpPr>
        <p:sp>
          <p:nvSpPr>
            <p:cNvPr id="61" name="Text Box 4"/>
            <p:cNvSpPr txBox="1">
              <a:spLocks noChangeArrowheads="1"/>
            </p:cNvSpPr>
            <p:nvPr/>
          </p:nvSpPr>
          <p:spPr bwMode="auto">
            <a:xfrm flipH="1">
              <a:off x="8111173" y="3225129"/>
              <a:ext cx="2286203" cy="2895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kumimoji="1" lang="en-US" altLang="zh-CN" sz="2000" dirty="0">
                  <a:solidFill>
                    <a:srgbClr val="333399"/>
                  </a:solidFill>
                  <a:latin typeface="微软雅黑 Light" panose="020B0502040204020203" pitchFamily="34" charset="-122"/>
                </a:rPr>
                <a:t> 1550 nm           0 </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1551 nm           1</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1552 nm           2</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1553 nm           3</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1554 nm           4</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1555 nm           5</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1556 nm           6</a:t>
              </a:r>
              <a:endParaRPr kumimoji="1" lang="en-US" altLang="zh-CN" sz="2000" dirty="0">
                <a:solidFill>
                  <a:srgbClr val="333399"/>
                </a:solidFill>
                <a:latin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rPr>
                <a:t> 1557 nm           7</a:t>
              </a:r>
              <a:endParaRPr kumimoji="1" lang="en-US" altLang="zh-CN" sz="2000" dirty="0">
                <a:solidFill>
                  <a:srgbClr val="333399"/>
                </a:solidFill>
                <a:latin typeface="微软雅黑 Light" panose="020B0502040204020203" pitchFamily="34" charset="-122"/>
              </a:endParaRPr>
            </a:p>
          </p:txBody>
        </p:sp>
        <p:sp>
          <p:nvSpPr>
            <p:cNvPr id="62" name="Text Box 5"/>
            <p:cNvSpPr txBox="1">
              <a:spLocks noChangeArrowheads="1"/>
            </p:cNvSpPr>
            <p:nvPr/>
          </p:nvSpPr>
          <p:spPr bwMode="auto">
            <a:xfrm>
              <a:off x="2011998" y="3261641"/>
              <a:ext cx="2361544" cy="2895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0          1550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1          1551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2          1552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3          1553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4          1554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5          1555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6          1556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a:p>
              <a:pPr algn="l">
                <a:lnSpc>
                  <a:spcPct val="115000"/>
                </a:lnSpc>
              </a:pPr>
              <a:r>
                <a:rPr kumimoji="1" lang="en-US" altLang="zh-CN" sz="2000" dirty="0">
                  <a:solidFill>
                    <a:srgbClr val="333399"/>
                  </a:solidFill>
                  <a:latin typeface="微软雅黑 Light" panose="020B0502040204020203" pitchFamily="34" charset="-122"/>
                  <a:ea typeface="微软雅黑 Light" panose="020B0502040204020203" pitchFamily="34" charset="-122"/>
                </a:rPr>
                <a:t>7          1557 nm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63" name="Text Box 6"/>
            <p:cNvSpPr txBox="1">
              <a:spLocks noChangeArrowheads="1"/>
            </p:cNvSpPr>
            <p:nvPr/>
          </p:nvSpPr>
          <p:spPr bwMode="auto">
            <a:xfrm>
              <a:off x="5362511" y="5766659"/>
              <a:ext cx="1588897" cy="707886"/>
            </a:xfrm>
            <a:prstGeom prst="rect">
              <a:avLst/>
            </a:prstGeom>
            <a:noFill/>
            <a:ln w="9525">
              <a:solidFill>
                <a:srgbClr val="33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dirty="0">
                  <a:latin typeface="微软雅黑 Light" panose="020B0502040204020203" pitchFamily="34" charset="-122"/>
                </a:rPr>
                <a:t>8 </a:t>
              </a:r>
              <a:r>
                <a:rPr kumimoji="1" lang="en-US" altLang="zh-CN" sz="2000" dirty="0">
                  <a:latin typeface="微软雅黑 Light" panose="020B0502040204020203" pitchFamily="34" charset="-122"/>
                  <a:sym typeface="Symbol" panose="05050102010706020507" pitchFamily="18" charset="2"/>
                </a:rPr>
                <a:t> </a:t>
              </a:r>
              <a:r>
                <a:rPr kumimoji="1" lang="en-US" altLang="zh-CN" sz="2000" dirty="0">
                  <a:latin typeface="微软雅黑 Light" panose="020B0502040204020203" pitchFamily="34" charset="-122"/>
                </a:rPr>
                <a:t>2.5 Gb/s</a:t>
              </a:r>
              <a:endParaRPr kumimoji="1" lang="en-US" altLang="zh-CN" sz="2000" dirty="0">
                <a:latin typeface="微软雅黑 Light" panose="020B0502040204020203" pitchFamily="34" charset="-122"/>
              </a:endParaRPr>
            </a:p>
            <a:p>
              <a:pPr algn="ctr"/>
              <a:r>
                <a:rPr kumimoji="1" lang="en-US" altLang="zh-CN" sz="2000" dirty="0">
                  <a:latin typeface="微软雅黑 Light" panose="020B0502040204020203" pitchFamily="34" charset="-122"/>
                </a:rPr>
                <a:t>1310 nm</a:t>
              </a:r>
              <a:endParaRPr kumimoji="1" lang="en-US" altLang="zh-CN" sz="2000" dirty="0">
                <a:latin typeface="微软雅黑 Light" panose="020B0502040204020203" pitchFamily="34" charset="-122"/>
              </a:endParaRPr>
            </a:p>
          </p:txBody>
        </p:sp>
        <p:sp>
          <p:nvSpPr>
            <p:cNvPr id="64" name="Line 7"/>
            <p:cNvSpPr>
              <a:spLocks noChangeShapeType="1"/>
            </p:cNvSpPr>
            <p:nvPr/>
          </p:nvSpPr>
          <p:spPr bwMode="auto">
            <a:xfrm>
              <a:off x="8238174" y="3636290"/>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65" name="Line 8"/>
            <p:cNvSpPr>
              <a:spLocks noChangeShapeType="1"/>
            </p:cNvSpPr>
            <p:nvPr/>
          </p:nvSpPr>
          <p:spPr bwMode="auto">
            <a:xfrm>
              <a:off x="8238174" y="398712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66" name="Line 9"/>
            <p:cNvSpPr>
              <a:spLocks noChangeShapeType="1"/>
            </p:cNvSpPr>
            <p:nvPr/>
          </p:nvSpPr>
          <p:spPr bwMode="auto">
            <a:xfrm>
              <a:off x="8238174" y="433637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67" name="Line 10"/>
            <p:cNvSpPr>
              <a:spLocks noChangeShapeType="1"/>
            </p:cNvSpPr>
            <p:nvPr/>
          </p:nvSpPr>
          <p:spPr bwMode="auto">
            <a:xfrm>
              <a:off x="8238174" y="468880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68" name="Line 11"/>
            <p:cNvSpPr>
              <a:spLocks noChangeShapeType="1"/>
            </p:cNvSpPr>
            <p:nvPr/>
          </p:nvSpPr>
          <p:spPr bwMode="auto">
            <a:xfrm>
              <a:off x="8238174" y="503805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69" name="Line 12"/>
            <p:cNvSpPr>
              <a:spLocks noChangeShapeType="1"/>
            </p:cNvSpPr>
            <p:nvPr/>
          </p:nvSpPr>
          <p:spPr bwMode="auto">
            <a:xfrm>
              <a:off x="8238174" y="539047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0" name="Line 13"/>
            <p:cNvSpPr>
              <a:spLocks noChangeShapeType="1"/>
            </p:cNvSpPr>
            <p:nvPr/>
          </p:nvSpPr>
          <p:spPr bwMode="auto">
            <a:xfrm>
              <a:off x="8238174" y="573972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1" name="Line 14"/>
            <p:cNvSpPr>
              <a:spLocks noChangeShapeType="1"/>
            </p:cNvSpPr>
            <p:nvPr/>
          </p:nvSpPr>
          <p:spPr bwMode="auto">
            <a:xfrm>
              <a:off x="8238174" y="609215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2" name="Line 15"/>
            <p:cNvSpPr>
              <a:spLocks noChangeShapeType="1"/>
            </p:cNvSpPr>
            <p:nvPr/>
          </p:nvSpPr>
          <p:spPr bwMode="auto">
            <a:xfrm>
              <a:off x="2011999" y="3636290"/>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3" name="Line 16"/>
            <p:cNvSpPr>
              <a:spLocks noChangeShapeType="1"/>
            </p:cNvSpPr>
            <p:nvPr/>
          </p:nvSpPr>
          <p:spPr bwMode="auto">
            <a:xfrm>
              <a:off x="2011999" y="398712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4" name="Line 17"/>
            <p:cNvSpPr>
              <a:spLocks noChangeShapeType="1"/>
            </p:cNvSpPr>
            <p:nvPr/>
          </p:nvSpPr>
          <p:spPr bwMode="auto">
            <a:xfrm>
              <a:off x="2011999" y="433637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5" name="Line 18"/>
            <p:cNvSpPr>
              <a:spLocks noChangeShapeType="1"/>
            </p:cNvSpPr>
            <p:nvPr/>
          </p:nvSpPr>
          <p:spPr bwMode="auto">
            <a:xfrm>
              <a:off x="2011999" y="468880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6" name="Line 19"/>
            <p:cNvSpPr>
              <a:spLocks noChangeShapeType="1"/>
            </p:cNvSpPr>
            <p:nvPr/>
          </p:nvSpPr>
          <p:spPr bwMode="auto">
            <a:xfrm>
              <a:off x="2011999" y="503805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7" name="Line 20"/>
            <p:cNvSpPr>
              <a:spLocks noChangeShapeType="1"/>
            </p:cNvSpPr>
            <p:nvPr/>
          </p:nvSpPr>
          <p:spPr bwMode="auto">
            <a:xfrm>
              <a:off x="2011999" y="539047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8" name="Line 21"/>
            <p:cNvSpPr>
              <a:spLocks noChangeShapeType="1"/>
            </p:cNvSpPr>
            <p:nvPr/>
          </p:nvSpPr>
          <p:spPr bwMode="auto">
            <a:xfrm>
              <a:off x="2011999" y="5739728"/>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79" name="Line 22"/>
            <p:cNvSpPr>
              <a:spLocks noChangeShapeType="1"/>
            </p:cNvSpPr>
            <p:nvPr/>
          </p:nvSpPr>
          <p:spPr bwMode="auto">
            <a:xfrm>
              <a:off x="2011999" y="6092153"/>
              <a:ext cx="2090737"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80" name="Line 23"/>
            <p:cNvSpPr>
              <a:spLocks noChangeShapeType="1"/>
            </p:cNvSpPr>
            <p:nvPr/>
          </p:nvSpPr>
          <p:spPr bwMode="auto">
            <a:xfrm flipV="1">
              <a:off x="4140835" y="4901528"/>
              <a:ext cx="3887788"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81" name="AutoShape 24"/>
            <p:cNvSpPr>
              <a:spLocks noChangeArrowheads="1"/>
            </p:cNvSpPr>
            <p:nvPr/>
          </p:nvSpPr>
          <p:spPr bwMode="auto">
            <a:xfrm rot="5400000">
              <a:off x="4736148" y="4741191"/>
              <a:ext cx="354013" cy="296862"/>
            </a:xfrm>
            <a:prstGeom prst="triangle">
              <a:avLst>
                <a:gd name="adj" fmla="val 50000"/>
              </a:avLst>
            </a:prstGeom>
            <a:solidFill>
              <a:srgbClr val="0070C0"/>
            </a:solidFill>
            <a:ln w="19050">
              <a:solidFill>
                <a:schemeClr val="tx1"/>
              </a:solidFill>
              <a:miter lim="800000"/>
            </a:ln>
            <a:effectLst>
              <a:outerShdw dist="35921" dir="2700000" algn="ctr" rotWithShape="0">
                <a:schemeClr val="bg2"/>
              </a:outerShdw>
            </a:effectLst>
          </p:spPr>
          <p:txBody>
            <a:bodyPr rot="10800000" vert="eaVert" wrap="none" anchor="ctr"/>
            <a:lstStyle/>
            <a:p>
              <a:endParaRPr lang="zh-CN" altLang="zh-CN" dirty="0">
                <a:latin typeface="微软雅黑 Light" panose="020B0502040204020203" pitchFamily="34" charset="-122"/>
              </a:endParaRPr>
            </a:p>
          </p:txBody>
        </p:sp>
        <p:sp>
          <p:nvSpPr>
            <p:cNvPr id="82" name="Rectangle 25"/>
            <p:cNvSpPr>
              <a:spLocks noChangeArrowheads="1"/>
            </p:cNvSpPr>
            <p:nvPr/>
          </p:nvSpPr>
          <p:spPr bwMode="auto">
            <a:xfrm>
              <a:off x="2466024" y="3539453"/>
              <a:ext cx="496887" cy="1968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3" name="Rectangle 26"/>
            <p:cNvSpPr>
              <a:spLocks noChangeArrowheads="1"/>
            </p:cNvSpPr>
            <p:nvPr/>
          </p:nvSpPr>
          <p:spPr bwMode="auto">
            <a:xfrm>
              <a:off x="2466024" y="3888703"/>
              <a:ext cx="496887" cy="195262"/>
            </a:xfrm>
            <a:prstGeom prst="rect">
              <a:avLst/>
            </a:prstGeom>
            <a:solidFill>
              <a:srgbClr val="CCFF99"/>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4" name="Rectangle 27"/>
            <p:cNvSpPr>
              <a:spLocks noChangeArrowheads="1"/>
            </p:cNvSpPr>
            <p:nvPr/>
          </p:nvSpPr>
          <p:spPr bwMode="auto">
            <a:xfrm>
              <a:off x="2466024" y="4239541"/>
              <a:ext cx="496887" cy="195263"/>
            </a:xfrm>
            <a:prstGeom prst="rect">
              <a:avLst/>
            </a:prstGeom>
            <a:solidFill>
              <a:srgbClr val="CCCC00"/>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5" name="Rectangle 28"/>
            <p:cNvSpPr>
              <a:spLocks noChangeArrowheads="1"/>
            </p:cNvSpPr>
            <p:nvPr/>
          </p:nvSpPr>
          <p:spPr bwMode="auto">
            <a:xfrm>
              <a:off x="2466024" y="4590378"/>
              <a:ext cx="496887" cy="195262"/>
            </a:xfrm>
            <a:prstGeom prst="rect">
              <a:avLst/>
            </a:prstGeom>
            <a:solidFill>
              <a:srgbClr val="00CC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6" name="Rectangle 29"/>
            <p:cNvSpPr>
              <a:spLocks noChangeArrowheads="1"/>
            </p:cNvSpPr>
            <p:nvPr/>
          </p:nvSpPr>
          <p:spPr bwMode="auto">
            <a:xfrm>
              <a:off x="2466024" y="4941216"/>
              <a:ext cx="496887" cy="195263"/>
            </a:xfrm>
            <a:prstGeom prst="rect">
              <a:avLst/>
            </a:prstGeom>
            <a:solidFill>
              <a:srgbClr val="FF99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7" name="Rectangle 30"/>
            <p:cNvSpPr>
              <a:spLocks noChangeArrowheads="1"/>
            </p:cNvSpPr>
            <p:nvPr/>
          </p:nvSpPr>
          <p:spPr bwMode="auto">
            <a:xfrm>
              <a:off x="2466024" y="5292053"/>
              <a:ext cx="496887" cy="195262"/>
            </a:xfrm>
            <a:prstGeom prst="rect">
              <a:avLst/>
            </a:prstGeom>
            <a:solidFill>
              <a:srgbClr val="00CC00"/>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8" name="Rectangle 31"/>
            <p:cNvSpPr>
              <a:spLocks noChangeArrowheads="1"/>
            </p:cNvSpPr>
            <p:nvPr/>
          </p:nvSpPr>
          <p:spPr bwMode="auto">
            <a:xfrm>
              <a:off x="2466024" y="5642891"/>
              <a:ext cx="496887" cy="195263"/>
            </a:xfrm>
            <a:prstGeom prst="rect">
              <a:avLst/>
            </a:prstGeom>
            <a:solidFill>
              <a:srgbClr val="FF00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89" name="Rectangle 32"/>
            <p:cNvSpPr>
              <a:spLocks noChangeArrowheads="1"/>
            </p:cNvSpPr>
            <p:nvPr/>
          </p:nvSpPr>
          <p:spPr bwMode="auto">
            <a:xfrm>
              <a:off x="2466024" y="5992140"/>
              <a:ext cx="496887" cy="196850"/>
            </a:xfrm>
            <a:prstGeom prst="rect">
              <a:avLst/>
            </a:prstGeom>
            <a:solidFill>
              <a:srgbClr val="3399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0" name="Text Box 33"/>
            <p:cNvSpPr txBox="1">
              <a:spLocks noChangeArrowheads="1"/>
            </p:cNvSpPr>
            <p:nvPr/>
          </p:nvSpPr>
          <p:spPr bwMode="auto">
            <a:xfrm>
              <a:off x="4979036" y="3812504"/>
              <a:ext cx="10182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rPr>
                <a:t>20Gb/s</a:t>
              </a:r>
              <a:endParaRPr kumimoji="1" lang="en-US" altLang="zh-CN" sz="2000" dirty="0">
                <a:solidFill>
                  <a:srgbClr val="333399"/>
                </a:solidFill>
                <a:latin typeface="微软雅黑 Light" panose="020B0502040204020203" pitchFamily="34" charset="-122"/>
              </a:endParaRPr>
            </a:p>
          </p:txBody>
        </p:sp>
        <p:sp>
          <p:nvSpPr>
            <p:cNvPr id="91" name="Rectangle 36"/>
            <p:cNvSpPr>
              <a:spLocks noChangeArrowheads="1"/>
            </p:cNvSpPr>
            <p:nvPr/>
          </p:nvSpPr>
          <p:spPr bwMode="auto">
            <a:xfrm>
              <a:off x="9349424" y="3539453"/>
              <a:ext cx="496887" cy="196850"/>
            </a:xfrm>
            <a:prstGeom prst="rect">
              <a:avLst/>
            </a:prstGeom>
            <a:solidFill>
              <a:srgbClr val="FFFFCC"/>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2" name="Rectangle 37"/>
            <p:cNvSpPr>
              <a:spLocks noChangeArrowheads="1"/>
            </p:cNvSpPr>
            <p:nvPr/>
          </p:nvSpPr>
          <p:spPr bwMode="auto">
            <a:xfrm>
              <a:off x="9349424" y="3888703"/>
              <a:ext cx="496887" cy="195262"/>
            </a:xfrm>
            <a:prstGeom prst="rect">
              <a:avLst/>
            </a:prstGeom>
            <a:solidFill>
              <a:srgbClr val="CCFF99"/>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3" name="Rectangle 38"/>
            <p:cNvSpPr>
              <a:spLocks noChangeArrowheads="1"/>
            </p:cNvSpPr>
            <p:nvPr/>
          </p:nvSpPr>
          <p:spPr bwMode="auto">
            <a:xfrm>
              <a:off x="9349424" y="4239541"/>
              <a:ext cx="496887" cy="195263"/>
            </a:xfrm>
            <a:prstGeom prst="rect">
              <a:avLst/>
            </a:prstGeom>
            <a:solidFill>
              <a:srgbClr val="CCCC00"/>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4" name="Rectangle 39"/>
            <p:cNvSpPr>
              <a:spLocks noChangeArrowheads="1"/>
            </p:cNvSpPr>
            <p:nvPr/>
          </p:nvSpPr>
          <p:spPr bwMode="auto">
            <a:xfrm>
              <a:off x="9349424" y="4590378"/>
              <a:ext cx="496887" cy="195262"/>
            </a:xfrm>
            <a:prstGeom prst="rect">
              <a:avLst/>
            </a:prstGeom>
            <a:solidFill>
              <a:srgbClr val="00CC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5" name="Rectangle 40"/>
            <p:cNvSpPr>
              <a:spLocks noChangeArrowheads="1"/>
            </p:cNvSpPr>
            <p:nvPr/>
          </p:nvSpPr>
          <p:spPr bwMode="auto">
            <a:xfrm>
              <a:off x="9349424" y="4941216"/>
              <a:ext cx="496887" cy="195263"/>
            </a:xfrm>
            <a:prstGeom prst="rect">
              <a:avLst/>
            </a:prstGeom>
            <a:solidFill>
              <a:srgbClr val="FF99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6" name="Rectangle 41"/>
            <p:cNvSpPr>
              <a:spLocks noChangeArrowheads="1"/>
            </p:cNvSpPr>
            <p:nvPr/>
          </p:nvSpPr>
          <p:spPr bwMode="auto">
            <a:xfrm>
              <a:off x="9349424" y="5292053"/>
              <a:ext cx="496887" cy="195262"/>
            </a:xfrm>
            <a:prstGeom prst="rect">
              <a:avLst/>
            </a:prstGeom>
            <a:solidFill>
              <a:srgbClr val="00CC00"/>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7" name="Rectangle 42"/>
            <p:cNvSpPr>
              <a:spLocks noChangeArrowheads="1"/>
            </p:cNvSpPr>
            <p:nvPr/>
          </p:nvSpPr>
          <p:spPr bwMode="auto">
            <a:xfrm>
              <a:off x="9349424" y="5642891"/>
              <a:ext cx="496887" cy="195263"/>
            </a:xfrm>
            <a:prstGeom prst="rect">
              <a:avLst/>
            </a:prstGeom>
            <a:solidFill>
              <a:srgbClr val="FF00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8" name="Rectangle 43"/>
            <p:cNvSpPr>
              <a:spLocks noChangeArrowheads="1"/>
            </p:cNvSpPr>
            <p:nvPr/>
          </p:nvSpPr>
          <p:spPr bwMode="auto">
            <a:xfrm>
              <a:off x="9349424" y="5992140"/>
              <a:ext cx="496887" cy="196850"/>
            </a:xfrm>
            <a:prstGeom prst="rect">
              <a:avLst/>
            </a:prstGeom>
            <a:solidFill>
              <a:srgbClr val="3399FF"/>
            </a:solidFill>
            <a:ln w="9525">
              <a:solidFill>
                <a:schemeClr val="tx1"/>
              </a:solidFill>
              <a:miter lim="800000"/>
            </a:ln>
            <a:effectLst>
              <a:outerShdw dist="35921" dir="2700000" algn="ctr" rotWithShape="0">
                <a:schemeClr val="bg2"/>
              </a:outerShdw>
            </a:effectLst>
          </p:spPr>
          <p:txBody>
            <a:bodyPr wrap="none" anchor="ctr"/>
            <a:lstStyle/>
            <a:p>
              <a:endParaRPr lang="zh-CN" altLang="zh-CN" dirty="0">
                <a:latin typeface="微软雅黑 Light" panose="020B0502040204020203" pitchFamily="34" charset="-122"/>
              </a:endParaRPr>
            </a:p>
          </p:txBody>
        </p:sp>
        <p:sp>
          <p:nvSpPr>
            <p:cNvPr id="99" name="AutoShape 44"/>
            <p:cNvSpPr>
              <a:spLocks noChangeArrowheads="1"/>
            </p:cNvSpPr>
            <p:nvPr/>
          </p:nvSpPr>
          <p:spPr bwMode="auto">
            <a:xfrm rot="5400000">
              <a:off x="5911692" y="4741985"/>
              <a:ext cx="354013" cy="295275"/>
            </a:xfrm>
            <a:prstGeom prst="triangle">
              <a:avLst>
                <a:gd name="adj" fmla="val 50000"/>
              </a:avLst>
            </a:prstGeom>
            <a:solidFill>
              <a:srgbClr val="0070C0"/>
            </a:solidFill>
            <a:ln w="19050">
              <a:solidFill>
                <a:schemeClr val="tx1"/>
              </a:solidFill>
              <a:miter lim="800000"/>
            </a:ln>
            <a:effectLst>
              <a:outerShdw dist="35921" dir="2700000" algn="ctr" rotWithShape="0">
                <a:schemeClr val="bg2"/>
              </a:outerShdw>
            </a:effectLst>
          </p:spPr>
          <p:txBody>
            <a:bodyPr rot="10800000" vert="eaVert" wrap="none" anchor="ctr"/>
            <a:lstStyle/>
            <a:p>
              <a:endParaRPr lang="zh-CN" altLang="zh-CN" dirty="0">
                <a:latin typeface="微软雅黑 Light" panose="020B0502040204020203" pitchFamily="34" charset="-122"/>
              </a:endParaRPr>
            </a:p>
          </p:txBody>
        </p:sp>
        <p:sp>
          <p:nvSpPr>
            <p:cNvPr id="100" name="AutoShape 45"/>
            <p:cNvSpPr>
              <a:spLocks noChangeArrowheads="1"/>
            </p:cNvSpPr>
            <p:nvPr/>
          </p:nvSpPr>
          <p:spPr bwMode="auto">
            <a:xfrm rot="5400000">
              <a:off x="7123748" y="4741191"/>
              <a:ext cx="354013" cy="296862"/>
            </a:xfrm>
            <a:prstGeom prst="triangle">
              <a:avLst>
                <a:gd name="adj" fmla="val 50000"/>
              </a:avLst>
            </a:prstGeom>
            <a:solidFill>
              <a:srgbClr val="0070C0"/>
            </a:solidFill>
            <a:ln w="19050">
              <a:solidFill>
                <a:schemeClr val="tx1"/>
              </a:solidFill>
              <a:miter lim="800000"/>
            </a:ln>
            <a:effectLst>
              <a:outerShdw dist="35921" dir="2700000" algn="ctr" rotWithShape="0">
                <a:schemeClr val="bg2"/>
              </a:outerShdw>
            </a:effectLst>
          </p:spPr>
          <p:txBody>
            <a:bodyPr rot="10800000" vert="eaVert" wrap="none" anchor="ctr"/>
            <a:lstStyle/>
            <a:p>
              <a:endParaRPr lang="zh-CN" altLang="zh-CN" dirty="0">
                <a:latin typeface="微软雅黑 Light" panose="020B0502040204020203" pitchFamily="34" charset="-122"/>
              </a:endParaRPr>
            </a:p>
          </p:txBody>
        </p:sp>
        <p:sp>
          <p:nvSpPr>
            <p:cNvPr id="101" name="Line 46"/>
            <p:cNvSpPr>
              <a:spLocks noChangeShapeType="1"/>
            </p:cNvSpPr>
            <p:nvPr/>
          </p:nvSpPr>
          <p:spPr bwMode="auto">
            <a:xfrm flipH="1">
              <a:off x="5331460" y="4226840"/>
              <a:ext cx="128588" cy="62230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2" name="AutoShape 34"/>
            <p:cNvSpPr>
              <a:spLocks noChangeArrowheads="1"/>
            </p:cNvSpPr>
            <p:nvPr/>
          </p:nvSpPr>
          <p:spPr bwMode="auto">
            <a:xfrm rot="16200000">
              <a:off x="2635726" y="4611177"/>
              <a:ext cx="3240087" cy="506091"/>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 name="connsiteX0" fmla="*/ 0 w 21600"/>
                <a:gd name="connsiteY0" fmla="*/ 0 h 21600"/>
                <a:gd name="connsiteX1" fmla="*/ 2408 w 21600"/>
                <a:gd name="connsiteY1" fmla="*/ 21600 h 21600"/>
                <a:gd name="connsiteX2" fmla="*/ 20208 w 21600"/>
                <a:gd name="connsiteY2" fmla="*/ 21600 h 21600"/>
                <a:gd name="connsiteX3" fmla="*/ 21600 w 21600"/>
                <a:gd name="connsiteY3" fmla="*/ 0 h 21600"/>
                <a:gd name="connsiteX4" fmla="*/ 0 w 21600"/>
                <a:gd name="connsiteY4" fmla="*/ 0 h 21600"/>
                <a:gd name="connsiteX0-1" fmla="*/ 0 w 21600"/>
                <a:gd name="connsiteY0-2" fmla="*/ 0 h 21765"/>
                <a:gd name="connsiteX1-3" fmla="*/ 1392 w 21600"/>
                <a:gd name="connsiteY1-4" fmla="*/ 21765 h 21765"/>
                <a:gd name="connsiteX2-5" fmla="*/ 20208 w 21600"/>
                <a:gd name="connsiteY2-6" fmla="*/ 21600 h 21765"/>
                <a:gd name="connsiteX3-7" fmla="*/ 21600 w 21600"/>
                <a:gd name="connsiteY3-8" fmla="*/ 0 h 21765"/>
                <a:gd name="connsiteX4-9" fmla="*/ 0 w 21600"/>
                <a:gd name="connsiteY4-10" fmla="*/ 0 h 21765"/>
                <a:gd name="connsiteX0-11" fmla="*/ 0 w 21600"/>
                <a:gd name="connsiteY0-12" fmla="*/ 0 h 21930"/>
                <a:gd name="connsiteX1-13" fmla="*/ 1392 w 21600"/>
                <a:gd name="connsiteY1-14" fmla="*/ 21765 h 21930"/>
                <a:gd name="connsiteX2-15" fmla="*/ 20310 w 21600"/>
                <a:gd name="connsiteY2-16" fmla="*/ 21930 h 21930"/>
                <a:gd name="connsiteX3-17" fmla="*/ 21600 w 21600"/>
                <a:gd name="connsiteY3-18" fmla="*/ 0 h 21930"/>
                <a:gd name="connsiteX4-19" fmla="*/ 0 w 21600"/>
                <a:gd name="connsiteY4-20" fmla="*/ 0 h 219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1600" h="21930">
                  <a:moveTo>
                    <a:pt x="0" y="0"/>
                  </a:moveTo>
                  <a:lnTo>
                    <a:pt x="1392" y="21765"/>
                  </a:lnTo>
                  <a:lnTo>
                    <a:pt x="20310" y="21930"/>
                  </a:lnTo>
                  <a:lnTo>
                    <a:pt x="21600" y="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vert="eaVert" wrap="none"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合</a:t>
              </a:r>
              <a:endParaRPr lang="en-US" altLang="zh-CN" dirty="0">
                <a:solidFill>
                  <a:schemeClr val="tx1"/>
                </a:solidFill>
                <a:latin typeface="微软雅黑 Light" panose="020B0502040204020203" pitchFamily="34" charset="-122"/>
                <a:ea typeface="微软雅黑 Light" panose="020B0502040204020203" pitchFamily="34" charset="-122"/>
              </a:endParaRPr>
            </a:p>
            <a:p>
              <a:pPr algn="ctr"/>
              <a:r>
                <a:rPr lang="zh-CN" altLang="en-US" dirty="0">
                  <a:solidFill>
                    <a:schemeClr val="tx1"/>
                  </a:solidFill>
                  <a:latin typeface="微软雅黑 Light" panose="020B0502040204020203" pitchFamily="34" charset="-122"/>
                  <a:ea typeface="微软雅黑 Light" panose="020B0502040204020203" pitchFamily="34" charset="-122"/>
                </a:rPr>
                <a:t>波</a:t>
              </a:r>
              <a:endParaRPr lang="en-US" altLang="zh-CN" dirty="0">
                <a:solidFill>
                  <a:schemeClr val="tx1"/>
                </a:solidFill>
                <a:latin typeface="微软雅黑 Light" panose="020B0502040204020203" pitchFamily="34" charset="-122"/>
                <a:ea typeface="微软雅黑 Light" panose="020B0502040204020203" pitchFamily="34" charset="-122"/>
              </a:endParaRPr>
            </a:p>
            <a:p>
              <a:pPr algn="ctr"/>
              <a:r>
                <a:rPr lang="zh-CN" altLang="en-US" dirty="0">
                  <a:solidFill>
                    <a:schemeClr val="tx1"/>
                  </a:solidFill>
                  <a:latin typeface="微软雅黑 Light" panose="020B0502040204020203" pitchFamily="34" charset="-122"/>
                  <a:ea typeface="微软雅黑 Light" panose="020B0502040204020203" pitchFamily="34" charset="-122"/>
                </a:rPr>
                <a:t>器</a:t>
              </a:r>
              <a:endParaRPr lang="zh-CN" altLang="zh-CN" dirty="0">
                <a:solidFill>
                  <a:schemeClr val="tx1"/>
                </a:solidFill>
                <a:latin typeface="微软雅黑 Light" panose="020B0502040204020203" pitchFamily="34" charset="-122"/>
                <a:ea typeface="微软雅黑 Light" panose="020B0502040204020203" pitchFamily="34" charset="-122"/>
              </a:endParaRPr>
            </a:p>
          </p:txBody>
        </p:sp>
        <p:sp>
          <p:nvSpPr>
            <p:cNvPr id="103" name="AutoShape 35"/>
            <p:cNvSpPr>
              <a:spLocks noChangeArrowheads="1"/>
            </p:cNvSpPr>
            <p:nvPr/>
          </p:nvSpPr>
          <p:spPr bwMode="auto">
            <a:xfrm rot="5400000" flipH="1">
              <a:off x="6369686" y="4615778"/>
              <a:ext cx="3240087" cy="496888"/>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 name="connsiteX0" fmla="*/ 0 w 21600"/>
                <a:gd name="connsiteY0" fmla="*/ 0 h 21600"/>
                <a:gd name="connsiteX1" fmla="*/ 1544 w 21600"/>
                <a:gd name="connsiteY1" fmla="*/ 21600 h 21600"/>
                <a:gd name="connsiteX2" fmla="*/ 19192 w 21600"/>
                <a:gd name="connsiteY2" fmla="*/ 21600 h 21600"/>
                <a:gd name="connsiteX3" fmla="*/ 21600 w 21600"/>
                <a:gd name="connsiteY3" fmla="*/ 0 h 21600"/>
                <a:gd name="connsiteX4" fmla="*/ 0 w 21600"/>
                <a:gd name="connsiteY4" fmla="*/ 0 h 21600"/>
                <a:gd name="connsiteX0-1" fmla="*/ 0 w 21600"/>
                <a:gd name="connsiteY0-2" fmla="*/ 0 h 21600"/>
                <a:gd name="connsiteX1-3" fmla="*/ 1544 w 21600"/>
                <a:gd name="connsiteY1-4" fmla="*/ 21600 h 21600"/>
                <a:gd name="connsiteX2-5" fmla="*/ 20360 w 21600"/>
                <a:gd name="connsiteY2-6" fmla="*/ 21434 h 21600"/>
                <a:gd name="connsiteX3-7" fmla="*/ 21600 w 21600"/>
                <a:gd name="connsiteY3-8" fmla="*/ 0 h 21600"/>
                <a:gd name="connsiteX4-9" fmla="*/ 0 w 21600"/>
                <a:gd name="connsiteY4-10" fmla="*/ 0 h 21600"/>
                <a:gd name="connsiteX0-11" fmla="*/ 0 w 21600"/>
                <a:gd name="connsiteY0-12" fmla="*/ 0 h 21600"/>
                <a:gd name="connsiteX1-13" fmla="*/ 1341 w 21600"/>
                <a:gd name="connsiteY1-14" fmla="*/ 21600 h 21600"/>
                <a:gd name="connsiteX2-15" fmla="*/ 20360 w 21600"/>
                <a:gd name="connsiteY2-16" fmla="*/ 21434 h 21600"/>
                <a:gd name="connsiteX3-17" fmla="*/ 21600 w 21600"/>
                <a:gd name="connsiteY3-18" fmla="*/ 0 h 21600"/>
                <a:gd name="connsiteX4-19" fmla="*/ 0 w 21600"/>
                <a:gd name="connsiteY4-20" fmla="*/ 0 h 2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1600" h="21600">
                  <a:moveTo>
                    <a:pt x="0" y="0"/>
                  </a:moveTo>
                  <a:lnTo>
                    <a:pt x="1341" y="21600"/>
                  </a:lnTo>
                  <a:lnTo>
                    <a:pt x="20360" y="21434"/>
                  </a:lnTo>
                  <a:cubicBezTo>
                    <a:pt x="20773" y="14289"/>
                    <a:pt x="21187" y="7145"/>
                    <a:pt x="21600" y="0"/>
                  </a:cubicBez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ot="10800000" vert="eaVert" wrap="none"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分</a:t>
              </a:r>
              <a:endParaRPr lang="en-US" altLang="zh-CN" dirty="0">
                <a:solidFill>
                  <a:schemeClr val="tx1"/>
                </a:solidFill>
                <a:latin typeface="微软雅黑 Light" panose="020B0502040204020203" pitchFamily="34" charset="-122"/>
                <a:ea typeface="微软雅黑 Light" panose="020B0502040204020203" pitchFamily="34" charset="-122"/>
              </a:endParaRPr>
            </a:p>
            <a:p>
              <a:pPr algn="ctr"/>
              <a:r>
                <a:rPr lang="zh-CN" altLang="en-US" dirty="0">
                  <a:solidFill>
                    <a:schemeClr val="tx1"/>
                  </a:solidFill>
                  <a:latin typeface="微软雅黑 Light" panose="020B0502040204020203" pitchFamily="34" charset="-122"/>
                  <a:ea typeface="微软雅黑 Light" panose="020B0502040204020203" pitchFamily="34" charset="-122"/>
                </a:rPr>
                <a:t>波</a:t>
              </a:r>
              <a:endParaRPr lang="en-US" altLang="zh-CN" dirty="0">
                <a:solidFill>
                  <a:schemeClr val="tx1"/>
                </a:solidFill>
                <a:latin typeface="微软雅黑 Light" panose="020B0502040204020203" pitchFamily="34" charset="-122"/>
                <a:ea typeface="微软雅黑 Light" panose="020B0502040204020203" pitchFamily="34" charset="-122"/>
              </a:endParaRPr>
            </a:p>
            <a:p>
              <a:pPr algn="ctr"/>
              <a:r>
                <a:rPr lang="zh-CN" altLang="en-US" dirty="0">
                  <a:solidFill>
                    <a:schemeClr val="tx1"/>
                  </a:solidFill>
                  <a:latin typeface="微软雅黑 Light" panose="020B0502040204020203" pitchFamily="34" charset="-122"/>
                  <a:ea typeface="微软雅黑 Light" panose="020B0502040204020203" pitchFamily="34" charset="-122"/>
                </a:rPr>
                <a:t>器</a:t>
              </a:r>
              <a:endParaRPr lang="zh-CN" altLang="zh-CN" dirty="0">
                <a:solidFill>
                  <a:schemeClr val="tx1"/>
                </a:solidFill>
                <a:latin typeface="微软雅黑 Light" panose="020B0502040204020203" pitchFamily="34" charset="-122"/>
                <a:ea typeface="微软雅黑 Light" panose="020B0502040204020203" pitchFamily="34" charset="-122"/>
              </a:endParaRPr>
            </a:p>
          </p:txBody>
        </p:sp>
        <p:sp>
          <p:nvSpPr>
            <p:cNvPr id="104" name="Text Box 49"/>
            <p:cNvSpPr txBox="1">
              <a:spLocks noChangeArrowheads="1"/>
            </p:cNvSpPr>
            <p:nvPr/>
          </p:nvSpPr>
          <p:spPr bwMode="auto">
            <a:xfrm>
              <a:off x="6006148" y="4014465"/>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dirty="0">
                  <a:solidFill>
                    <a:srgbClr val="333399"/>
                  </a:solidFill>
                  <a:latin typeface="微软雅黑 Light" panose="020B0502040204020203" pitchFamily="34" charset="-122"/>
                  <a:ea typeface="微软雅黑 Light" panose="020B0502040204020203" pitchFamily="34" charset="-122"/>
                </a:rPr>
                <a:t>光纤放大器</a:t>
              </a:r>
              <a:endParaRPr kumimoji="1" lang="en-US" altLang="zh-CN" sz="1600" dirty="0">
                <a:solidFill>
                  <a:srgbClr val="333399"/>
                </a:solidFill>
                <a:latin typeface="微软雅黑 Light" panose="020B0502040204020203" pitchFamily="34" charset="-122"/>
                <a:ea typeface="微软雅黑 Light" panose="020B0502040204020203" pitchFamily="34" charset="-122"/>
              </a:endParaRPr>
            </a:p>
          </p:txBody>
        </p:sp>
        <p:sp>
          <p:nvSpPr>
            <p:cNvPr id="105" name="Line 50"/>
            <p:cNvSpPr>
              <a:spLocks noChangeShapeType="1"/>
            </p:cNvSpPr>
            <p:nvPr/>
          </p:nvSpPr>
          <p:spPr bwMode="auto">
            <a:xfrm flipH="1">
              <a:off x="6156960" y="4279245"/>
              <a:ext cx="287337" cy="503238"/>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6" name="Line 51"/>
            <p:cNvSpPr>
              <a:spLocks noChangeShapeType="1"/>
            </p:cNvSpPr>
            <p:nvPr/>
          </p:nvSpPr>
          <p:spPr bwMode="auto">
            <a:xfrm>
              <a:off x="4863148" y="5109490"/>
              <a:ext cx="0" cy="1968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7" name="Line 52"/>
            <p:cNvSpPr>
              <a:spLocks noChangeShapeType="1"/>
            </p:cNvSpPr>
            <p:nvPr/>
          </p:nvSpPr>
          <p:spPr bwMode="auto">
            <a:xfrm>
              <a:off x="6056948" y="5109490"/>
              <a:ext cx="0" cy="1968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8" name="Line 53"/>
            <p:cNvSpPr>
              <a:spLocks noChangeShapeType="1"/>
            </p:cNvSpPr>
            <p:nvPr/>
          </p:nvSpPr>
          <p:spPr bwMode="auto">
            <a:xfrm>
              <a:off x="4859974" y="5206328"/>
              <a:ext cx="1195387"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09" name="Text Box 54"/>
            <p:cNvSpPr txBox="1">
              <a:spLocks noChangeArrowheads="1"/>
            </p:cNvSpPr>
            <p:nvPr/>
          </p:nvSpPr>
          <p:spPr bwMode="auto">
            <a:xfrm>
              <a:off x="4879023" y="5190454"/>
              <a:ext cx="9957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120 km</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110" name="Text Box 55"/>
            <p:cNvSpPr txBox="1">
              <a:spLocks noChangeArrowheads="1"/>
            </p:cNvSpPr>
            <p:nvPr/>
          </p:nvSpPr>
          <p:spPr bwMode="auto">
            <a:xfrm>
              <a:off x="2194679" y="6321697"/>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rgbClr val="333399"/>
                  </a:solidFill>
                  <a:latin typeface="Tahoma" panose="020B0604030504040204" pitchFamily="34" charset="0"/>
                  <a:ea typeface="微软雅黑 Light" panose="020B0502040204020203" pitchFamily="34" charset="-122"/>
                </a:rPr>
                <a:t>光调制器</a:t>
              </a:r>
              <a:endParaRPr lang="zh-CN" altLang="en-US" dirty="0">
                <a:solidFill>
                  <a:srgbClr val="333399"/>
                </a:solidFill>
                <a:latin typeface="Tahoma" panose="020B0604030504040204" pitchFamily="34" charset="0"/>
                <a:ea typeface="微软雅黑 Light" panose="020B0502040204020203" pitchFamily="34" charset="-122"/>
              </a:endParaRPr>
            </a:p>
          </p:txBody>
        </p:sp>
        <p:sp>
          <p:nvSpPr>
            <p:cNvPr id="111" name="Text Box 57"/>
            <p:cNvSpPr txBox="1">
              <a:spLocks noChangeArrowheads="1"/>
            </p:cNvSpPr>
            <p:nvPr/>
          </p:nvSpPr>
          <p:spPr bwMode="auto">
            <a:xfrm>
              <a:off x="9011246" y="6336270"/>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rgbClr val="333399"/>
                  </a:solidFill>
                  <a:latin typeface="Tahoma" panose="020B0604030504040204" pitchFamily="34" charset="0"/>
                  <a:ea typeface="微软雅黑 Light" panose="020B0502040204020203" pitchFamily="34" charset="-122"/>
                </a:rPr>
                <a:t>光解调器</a:t>
              </a:r>
              <a:endParaRPr lang="zh-CN" altLang="en-US" dirty="0">
                <a:solidFill>
                  <a:srgbClr val="333399"/>
                </a:solidFill>
                <a:latin typeface="Tahoma" panose="020B0604030504040204" pitchFamily="34" charset="0"/>
                <a:ea typeface="微软雅黑 Light" panose="020B0502040204020203" pitchFamily="34" charset="-122"/>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zh-CN" altLang="en-US" dirty="0"/>
              <a:t>码分多路复用</a:t>
            </a:r>
            <a:endParaRPr lang="zh-CN" altLang="en-US" dirty="0"/>
          </a:p>
        </p:txBody>
      </p:sp>
      <p:sp>
        <p:nvSpPr>
          <p:cNvPr id="458755" name="Rectangle 3"/>
          <p:cNvSpPr>
            <a:spLocks noGrp="1" noChangeArrowheads="1"/>
          </p:cNvSpPr>
          <p:nvPr>
            <p:ph idx="1"/>
          </p:nvPr>
        </p:nvSpPr>
        <p:spPr/>
        <p:txBody>
          <a:bodyPr/>
          <a:lstStyle/>
          <a:p>
            <a:r>
              <a:rPr lang="zh-CN" altLang="en-US" dirty="0"/>
              <a:t>码分多路复用又称码分多址复用</a:t>
            </a:r>
            <a:r>
              <a:rPr lang="en-US" altLang="zh-CN" dirty="0"/>
              <a:t>CDMA</a:t>
            </a:r>
            <a:endParaRPr lang="en-US" altLang="zh-CN" dirty="0"/>
          </a:p>
          <a:p>
            <a:r>
              <a:rPr lang="zh-CN" altLang="en-US" dirty="0"/>
              <a:t>复用时根据码型结构的不同来实现信号分割的多路复用</a:t>
            </a:r>
            <a:endParaRPr lang="zh-CN" altLang="en-US" dirty="0"/>
          </a:p>
          <a:p>
            <a:r>
              <a:rPr lang="zh-CN" altLang="en-US" dirty="0"/>
              <a:t>各个用户不是靠频率或时隙来区分，而是码型来区分</a:t>
            </a:r>
            <a:endParaRPr lang="zh-CN" altLang="en-US" dirty="0"/>
          </a:p>
          <a:p>
            <a:r>
              <a:rPr lang="zh-CN" altLang="en-US" dirty="0"/>
              <a:t>用户使用同一频率，占用相同的带宽</a:t>
            </a:r>
            <a:endParaRPr lang="zh-CN" altLang="en-US" dirty="0"/>
          </a:p>
        </p:txBody>
      </p:sp>
      <p:sp>
        <p:nvSpPr>
          <p:cNvPr id="6" name="灯片编号占位符 5"/>
          <p:cNvSpPr>
            <a:spLocks noGrp="1"/>
          </p:cNvSpPr>
          <p:nvPr>
            <p:ph type="sldNum" sz="quarter" idx="12"/>
          </p:nvPr>
        </p:nvSpPr>
        <p:spPr/>
        <p:txBody>
          <a:bodyPr/>
          <a:lstStyle/>
          <a:p>
            <a:fld id="{12832603-165C-4180-ABE5-20ED5186F92A}" type="slidenum">
              <a:rPr lang="en-US" altLang="zh-CN"/>
            </a:fld>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a:lstStyle/>
          <a:p>
            <a:r>
              <a:rPr lang="zh-CN" altLang="en-US" dirty="0"/>
              <a:t>码分多路复用</a:t>
            </a:r>
            <a:endParaRPr lang="zh-CN" altLang="en-US" dirty="0"/>
          </a:p>
        </p:txBody>
      </p:sp>
      <p:sp>
        <p:nvSpPr>
          <p:cNvPr id="578563" name="Rectangle 3"/>
          <p:cNvSpPr>
            <a:spLocks noGrp="1" noChangeArrowheads="1"/>
          </p:cNvSpPr>
          <p:nvPr>
            <p:ph idx="1"/>
          </p:nvPr>
        </p:nvSpPr>
        <p:spPr/>
        <p:txBody>
          <a:bodyPr/>
          <a:lstStyle/>
          <a:p>
            <a:r>
              <a:rPr lang="zh-CN" altLang="en-US" dirty="0"/>
              <a:t>码片：每个比特时间被再细分成</a:t>
            </a:r>
            <a:r>
              <a:rPr lang="en-US" altLang="zh-CN" dirty="0"/>
              <a:t>m</a:t>
            </a:r>
            <a:r>
              <a:rPr lang="zh-CN" altLang="en-US" dirty="0"/>
              <a:t>个更短的时间间隔，更短的时间间隔称之为码片</a:t>
            </a:r>
            <a:endParaRPr lang="zh-CN" altLang="en-US" dirty="0"/>
          </a:p>
          <a:p>
            <a:r>
              <a:rPr lang="zh-CN" altLang="en-US" dirty="0"/>
              <a:t>码片序列：每个站点分配一个</a:t>
            </a:r>
            <a:r>
              <a:rPr lang="en-US" altLang="zh-CN" dirty="0"/>
              <a:t>m</a:t>
            </a:r>
            <a:r>
              <a:rPr lang="zh-CN" altLang="en-US" dirty="0"/>
              <a:t>位码</a:t>
            </a:r>
            <a:endParaRPr lang="zh-CN" altLang="en-US" dirty="0"/>
          </a:p>
          <a:p>
            <a:pPr lvl="1"/>
            <a:r>
              <a:rPr lang="zh-CN" altLang="en-US" dirty="0"/>
              <a:t>例：站点</a:t>
            </a:r>
            <a:r>
              <a:rPr lang="en-US" altLang="zh-CN" dirty="0"/>
              <a:t>A </a:t>
            </a:r>
            <a:r>
              <a:rPr lang="zh-CN" altLang="en-US" dirty="0"/>
              <a:t>（</a:t>
            </a:r>
            <a:r>
              <a:rPr lang="en-US" altLang="zh-CN" dirty="0"/>
              <a:t>0 0 0 1 1 0 1 1</a:t>
            </a:r>
            <a:r>
              <a:rPr lang="zh-CN" altLang="en-US" dirty="0"/>
              <a:t>）</a:t>
            </a:r>
            <a:endParaRPr lang="en-US" altLang="zh-CN" dirty="0"/>
          </a:p>
          <a:p>
            <a:pPr lvl="2"/>
            <a:r>
              <a:rPr lang="zh-CN" altLang="en-US" dirty="0"/>
              <a:t>发送比特</a:t>
            </a:r>
            <a:r>
              <a:rPr lang="en-US" altLang="zh-CN" dirty="0"/>
              <a:t>1</a:t>
            </a:r>
            <a:r>
              <a:rPr lang="zh-CN" altLang="en-US" dirty="0"/>
              <a:t>，站点就发送其码片序列</a:t>
            </a:r>
            <a:endParaRPr lang="zh-CN" altLang="en-US" dirty="0"/>
          </a:p>
          <a:p>
            <a:pPr lvl="2"/>
            <a:r>
              <a:rPr lang="zh-CN" altLang="en-US" dirty="0"/>
              <a:t>发送比特</a:t>
            </a:r>
            <a:r>
              <a:rPr lang="en-US" altLang="zh-CN" dirty="0"/>
              <a:t>0</a:t>
            </a:r>
            <a:r>
              <a:rPr lang="zh-CN" altLang="en-US" dirty="0"/>
              <a:t>，站点就发送其码片序列的反码</a:t>
            </a:r>
            <a:endParaRPr lang="zh-CN" altLang="en-US" dirty="0"/>
          </a:p>
          <a:p>
            <a:r>
              <a:rPr lang="zh-CN" altLang="en-US" dirty="0"/>
              <a:t>双极型表示：</a:t>
            </a:r>
            <a:r>
              <a:rPr lang="en-US" altLang="zh-CN" dirty="0"/>
              <a:t>0</a:t>
            </a:r>
            <a:r>
              <a:rPr lang="en-US" altLang="zh-CN" dirty="0">
                <a:sym typeface="Wingdings" panose="05000000000000000000" pitchFamily="2" charset="2"/>
              </a:rPr>
              <a:t> -1</a:t>
            </a:r>
            <a:r>
              <a:rPr lang="zh-CN" altLang="en-US" dirty="0">
                <a:sym typeface="Wingdings" panose="05000000000000000000" pitchFamily="2" charset="2"/>
              </a:rPr>
              <a:t>，</a:t>
            </a:r>
            <a:r>
              <a:rPr lang="en-US" altLang="zh-CN" dirty="0">
                <a:sym typeface="Wingdings" panose="05000000000000000000" pitchFamily="2" charset="2"/>
              </a:rPr>
              <a:t>1+1</a:t>
            </a:r>
            <a:r>
              <a:rPr lang="zh-CN" altLang="en-US" dirty="0">
                <a:sym typeface="Wingdings" panose="05000000000000000000" pitchFamily="2" charset="2"/>
              </a:rPr>
              <a:t>，</a:t>
            </a:r>
            <a:r>
              <a:rPr lang="en-US" altLang="zh-CN" dirty="0">
                <a:sym typeface="Wingdings" panose="05000000000000000000" pitchFamily="2" charset="2"/>
              </a:rPr>
              <a:t>0</a:t>
            </a:r>
            <a:r>
              <a:rPr lang="zh-CN" altLang="en-US" dirty="0">
                <a:sym typeface="Wingdings" panose="05000000000000000000" pitchFamily="2" charset="2"/>
              </a:rPr>
              <a:t>无信号</a:t>
            </a:r>
            <a:endParaRPr lang="zh-CN" altLang="en-US" dirty="0"/>
          </a:p>
          <a:p>
            <a:pPr lvl="1"/>
            <a:r>
              <a:rPr lang="en-US" altLang="zh-CN" dirty="0"/>
              <a:t>A</a:t>
            </a:r>
            <a:r>
              <a:rPr lang="zh-CN" altLang="en-US" dirty="0"/>
              <a:t>的码片序列为（</a:t>
            </a:r>
            <a:r>
              <a:rPr lang="en-US" altLang="zh-CN" dirty="0"/>
              <a:t>-1 -1 -1 +1 +1 -1 +1 +1</a:t>
            </a:r>
            <a:r>
              <a:rPr lang="zh-CN" altLang="en-US" dirty="0"/>
              <a:t>）</a:t>
            </a:r>
            <a:endParaRPr lang="en-US" altLang="zh-CN" dirty="0"/>
          </a:p>
          <a:p>
            <a:pPr lvl="1"/>
            <a:r>
              <a:rPr lang="zh-CN" altLang="en-US" dirty="0"/>
              <a:t>其反码为（</a:t>
            </a:r>
            <a:r>
              <a:rPr lang="en-US" altLang="zh-CN" dirty="0"/>
              <a:t>+1 +1 +1 -1 -1 +1 -1 -1</a:t>
            </a:r>
            <a:r>
              <a:rPr lang="zh-CN" altLang="en-US" dirty="0"/>
              <a:t>）</a:t>
            </a:r>
            <a:endParaRPr lang="en-US" altLang="zh-CN" dirty="0"/>
          </a:p>
        </p:txBody>
      </p:sp>
      <p:sp>
        <p:nvSpPr>
          <p:cNvPr id="6" name="灯片编号占位符 5"/>
          <p:cNvSpPr>
            <a:spLocks noGrp="1"/>
          </p:cNvSpPr>
          <p:nvPr>
            <p:ph type="sldNum" sz="quarter" idx="12"/>
          </p:nvPr>
        </p:nvSpPr>
        <p:spPr/>
        <p:txBody>
          <a:bodyPr/>
          <a:lstStyle/>
          <a:p>
            <a:fld id="{9BACCB0B-CA06-4DC6-8021-490929285DB1}" type="slidenum">
              <a:rPr lang="en-US" altLang="zh-CN"/>
            </a:fld>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r>
              <a:rPr lang="zh-CN" altLang="en-US" dirty="0"/>
              <a:t>正交性</a:t>
            </a:r>
            <a:endParaRPr lang="zh-CN" altLang="en-US" dirty="0"/>
          </a:p>
        </p:txBody>
      </p:sp>
      <p:sp>
        <p:nvSpPr>
          <p:cNvPr id="580611" name="Rectangle 3"/>
          <p:cNvSpPr>
            <a:spLocks noGrp="1" noChangeArrowheads="1"/>
          </p:cNvSpPr>
          <p:nvPr>
            <p:ph idx="1"/>
          </p:nvPr>
        </p:nvSpPr>
        <p:spPr/>
        <p:txBody>
          <a:bodyPr/>
          <a:lstStyle/>
          <a:p>
            <a:r>
              <a:rPr lang="zh-CN" altLang="en-US" dirty="0"/>
              <a:t>正交性可以表示为</a:t>
            </a:r>
            <a:endParaRPr lang="zh-CN" altLang="en-US" dirty="0"/>
          </a:p>
          <a:p>
            <a:endParaRPr lang="en-US" altLang="zh-CN" dirty="0"/>
          </a:p>
          <a:p>
            <a:endParaRPr lang="zh-CN" altLang="en-US" dirty="0"/>
          </a:p>
          <a:p>
            <a:r>
              <a:rPr lang="zh-CN" altLang="en-US" dirty="0"/>
              <a:t>可以得到</a:t>
            </a:r>
            <a:endParaRPr lang="zh-CN" altLang="en-US" dirty="0"/>
          </a:p>
        </p:txBody>
      </p:sp>
      <p:sp>
        <p:nvSpPr>
          <p:cNvPr id="10" name="灯片编号占位符 5"/>
          <p:cNvSpPr>
            <a:spLocks noGrp="1"/>
          </p:cNvSpPr>
          <p:nvPr>
            <p:ph type="sldNum" sz="quarter" idx="12"/>
          </p:nvPr>
        </p:nvSpPr>
        <p:spPr/>
        <p:txBody>
          <a:bodyPr/>
          <a:lstStyle/>
          <a:p>
            <a:fld id="{55EA5004-29F6-4EA3-BD96-D4C6D623F3B0}" type="slidenum">
              <a:rPr lang="en-US" altLang="zh-CN"/>
            </a:fld>
            <a:endParaRPr lang="en-US" altLang="zh-CN" dirty="0"/>
          </a:p>
        </p:txBody>
      </p:sp>
      <p:pic>
        <p:nvPicPr>
          <p:cNvPr id="5806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87825" y="1700214"/>
            <a:ext cx="2832100" cy="93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06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0450" y="5043170"/>
            <a:ext cx="1468438"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06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6013" y="3169920"/>
            <a:ext cx="1357312"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061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3200" y="3917634"/>
            <a:ext cx="3181350" cy="9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r>
              <a:rPr lang="zh-CN" altLang="en-US" dirty="0"/>
              <a:t>码分复用示例</a:t>
            </a:r>
            <a:endParaRPr lang="zh-CN" altLang="en-US" dirty="0"/>
          </a:p>
        </p:txBody>
      </p:sp>
      <p:graphicFrame>
        <p:nvGraphicFramePr>
          <p:cNvPr id="582222" name="Group 590"/>
          <p:cNvGraphicFramePr>
            <a:graphicFrameLocks noGrp="1"/>
          </p:cNvGraphicFramePr>
          <p:nvPr>
            <p:ph sz="half" idx="1"/>
          </p:nvPr>
        </p:nvGraphicFramePr>
        <p:xfrm>
          <a:off x="2135189" y="1052513"/>
          <a:ext cx="8010525" cy="2286000"/>
        </p:xfrm>
        <a:graphic>
          <a:graphicData uri="http://schemas.openxmlformats.org/drawingml/2006/table">
            <a:tbl>
              <a:tblPr/>
              <a:tblGrid>
                <a:gridCol w="533400"/>
                <a:gridCol w="533400"/>
                <a:gridCol w="534987"/>
                <a:gridCol w="534988"/>
                <a:gridCol w="533400"/>
                <a:gridCol w="533400"/>
                <a:gridCol w="533400"/>
                <a:gridCol w="534987"/>
                <a:gridCol w="533400"/>
                <a:gridCol w="533400"/>
                <a:gridCol w="533400"/>
                <a:gridCol w="536575"/>
                <a:gridCol w="533400"/>
                <a:gridCol w="534988"/>
                <a:gridCol w="533400"/>
              </a:tblGrid>
              <a:tr h="18732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站</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8">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双极型码片序列</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c hMerge="1">
                  <a:tcPr/>
                </a:tc>
                <a:tc gridSpan="6">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发送比特序列</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r>
              <a:tr h="18732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732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B</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732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732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D</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82251" name="Group 619"/>
          <p:cNvGraphicFramePr>
            <a:graphicFrameLocks noGrp="1"/>
          </p:cNvGraphicFramePr>
          <p:nvPr>
            <p:ph sz="half" idx="2"/>
          </p:nvPr>
        </p:nvGraphicFramePr>
        <p:xfrm>
          <a:off x="2135188" y="3608388"/>
          <a:ext cx="2520950" cy="2916238"/>
        </p:xfrm>
        <a:graphic>
          <a:graphicData uri="http://schemas.openxmlformats.org/drawingml/2006/table">
            <a:tbl>
              <a:tblPr/>
              <a:tblGrid>
                <a:gridCol w="576262"/>
                <a:gridCol w="1944688"/>
              </a:tblGrid>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S2</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B+C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363">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S3</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A+B</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S4</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A+B+C</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A+B+C+D</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S6</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A+B+C+D</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9" name="灯片编号占位符 6"/>
          <p:cNvSpPr>
            <a:spLocks noGrp="1"/>
          </p:cNvSpPr>
          <p:nvPr>
            <p:ph type="sldNum" sz="quarter" idx="12"/>
          </p:nvPr>
        </p:nvSpPr>
        <p:spPr/>
        <p:txBody>
          <a:bodyPr/>
          <a:lstStyle/>
          <a:p>
            <a:fld id="{AEB235C1-99A9-4D12-8A02-702DCE29022F}" type="slidenum">
              <a:rPr lang="en-US" altLang="zh-CN"/>
            </a:fld>
            <a:endParaRPr lang="en-US" altLang="zh-CN" dirty="0"/>
          </a:p>
        </p:txBody>
      </p:sp>
      <p:sp>
        <p:nvSpPr>
          <p:cNvPr id="582247" name="Line 615"/>
          <p:cNvSpPr>
            <a:spLocks noChangeShapeType="1"/>
          </p:cNvSpPr>
          <p:nvPr/>
        </p:nvSpPr>
        <p:spPr bwMode="auto">
          <a:xfrm>
            <a:off x="3178175" y="4645025"/>
            <a:ext cx="215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82248" name="Line 616"/>
          <p:cNvSpPr>
            <a:spLocks noChangeShapeType="1"/>
          </p:cNvSpPr>
          <p:nvPr/>
        </p:nvSpPr>
        <p:spPr bwMode="auto">
          <a:xfrm>
            <a:off x="3185795" y="5139373"/>
            <a:ext cx="215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82249" name="Line 617"/>
          <p:cNvSpPr>
            <a:spLocks noChangeShapeType="1"/>
          </p:cNvSpPr>
          <p:nvPr/>
        </p:nvSpPr>
        <p:spPr bwMode="auto">
          <a:xfrm>
            <a:off x="3607118" y="6114098"/>
            <a:ext cx="215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aphicFrame>
        <p:nvGraphicFramePr>
          <p:cNvPr id="582312" name="Group 680"/>
          <p:cNvGraphicFramePr>
            <a:graphicFrameLocks noGrp="1"/>
          </p:cNvGraphicFramePr>
          <p:nvPr/>
        </p:nvGraphicFramePr>
        <p:xfrm>
          <a:off x="5807076" y="3608388"/>
          <a:ext cx="4321175" cy="2916238"/>
        </p:xfrm>
        <a:graphic>
          <a:graphicData uri="http://schemas.openxmlformats.org/drawingml/2006/table">
            <a:tbl>
              <a:tblPr/>
              <a:tblGrid>
                <a:gridCol w="1081088"/>
                <a:gridCol w="3240087"/>
              </a:tblGrid>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S1</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(C)</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S2</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(B+C)</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363">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S3</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(A+B)</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C=0</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S4</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(A+B+C)</a:t>
                      </a: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S5</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(A+B+C+D)</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C=1</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5775">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S6</a:t>
                      </a:r>
                      <a:r>
                        <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a:t>
                      </a:r>
                      <a:endParaRPr kumimoji="0" lang="en-US" altLang="zh-CN" sz="24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(A+B+C+D)</a:t>
                      </a: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rPr>
                        <a:t>C=-1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82298" name="Line 666"/>
          <p:cNvSpPr>
            <a:spLocks noChangeShapeType="1"/>
          </p:cNvSpPr>
          <p:nvPr/>
        </p:nvSpPr>
        <p:spPr bwMode="auto">
          <a:xfrm>
            <a:off x="7450138" y="4645025"/>
            <a:ext cx="215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82299" name="Line 667"/>
          <p:cNvSpPr>
            <a:spLocks noChangeShapeType="1"/>
          </p:cNvSpPr>
          <p:nvPr/>
        </p:nvSpPr>
        <p:spPr bwMode="auto">
          <a:xfrm>
            <a:off x="7450138" y="5131753"/>
            <a:ext cx="215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82300" name="Line 668"/>
          <p:cNvSpPr>
            <a:spLocks noChangeShapeType="1"/>
          </p:cNvSpPr>
          <p:nvPr/>
        </p:nvSpPr>
        <p:spPr bwMode="auto">
          <a:xfrm>
            <a:off x="7879080" y="6106478"/>
            <a:ext cx="2159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82313" name="Text Box 681"/>
          <p:cNvSpPr txBox="1">
            <a:spLocks noChangeArrowheads="1"/>
          </p:cNvSpPr>
          <p:nvPr/>
        </p:nvSpPr>
        <p:spPr bwMode="auto">
          <a:xfrm>
            <a:off x="4963160" y="3644901"/>
            <a:ext cx="3465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t1</a:t>
            </a:r>
            <a:endParaRPr lang="en-US" altLang="zh-CN" dirty="0">
              <a:latin typeface="微软雅黑 Light" panose="020B0502040204020203" pitchFamily="34" charset="-122"/>
              <a:ea typeface="微软雅黑 Light" panose="020B0502040204020203" pitchFamily="34" charset="-122"/>
            </a:endParaRPr>
          </a:p>
        </p:txBody>
      </p:sp>
      <p:sp>
        <p:nvSpPr>
          <p:cNvPr id="582314" name="Text Box 682"/>
          <p:cNvSpPr txBox="1">
            <a:spLocks noChangeArrowheads="1"/>
          </p:cNvSpPr>
          <p:nvPr/>
        </p:nvSpPr>
        <p:spPr bwMode="auto">
          <a:xfrm>
            <a:off x="4963160" y="4149726"/>
            <a:ext cx="386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t2</a:t>
            </a:r>
            <a:endParaRPr lang="en-US" altLang="zh-CN" dirty="0">
              <a:latin typeface="微软雅黑 Light" panose="020B0502040204020203" pitchFamily="34" charset="-122"/>
              <a:ea typeface="微软雅黑 Light" panose="020B0502040204020203" pitchFamily="34" charset="-122"/>
            </a:endParaRPr>
          </a:p>
        </p:txBody>
      </p:sp>
      <p:sp>
        <p:nvSpPr>
          <p:cNvPr id="582315" name="Text Box 683"/>
          <p:cNvSpPr txBox="1">
            <a:spLocks noChangeArrowheads="1"/>
          </p:cNvSpPr>
          <p:nvPr/>
        </p:nvSpPr>
        <p:spPr bwMode="auto">
          <a:xfrm>
            <a:off x="4963160" y="4652963"/>
            <a:ext cx="386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t3</a:t>
            </a:r>
            <a:endParaRPr lang="en-US" altLang="zh-CN" dirty="0">
              <a:latin typeface="微软雅黑 Light" panose="020B0502040204020203" pitchFamily="34" charset="-122"/>
              <a:ea typeface="微软雅黑 Light" panose="020B0502040204020203" pitchFamily="34" charset="-122"/>
            </a:endParaRPr>
          </a:p>
        </p:txBody>
      </p:sp>
      <p:sp>
        <p:nvSpPr>
          <p:cNvPr id="582316" name="Text Box 684"/>
          <p:cNvSpPr txBox="1">
            <a:spLocks noChangeArrowheads="1"/>
          </p:cNvSpPr>
          <p:nvPr/>
        </p:nvSpPr>
        <p:spPr bwMode="auto">
          <a:xfrm>
            <a:off x="4963160" y="5157788"/>
            <a:ext cx="3914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t4</a:t>
            </a:r>
            <a:endParaRPr lang="en-US" altLang="zh-CN" dirty="0">
              <a:latin typeface="微软雅黑 Light" panose="020B0502040204020203" pitchFamily="34" charset="-122"/>
              <a:ea typeface="微软雅黑 Light" panose="020B0502040204020203" pitchFamily="34" charset="-122"/>
            </a:endParaRPr>
          </a:p>
        </p:txBody>
      </p:sp>
      <p:sp>
        <p:nvSpPr>
          <p:cNvPr id="582317" name="Text Box 685"/>
          <p:cNvSpPr txBox="1">
            <a:spLocks noChangeArrowheads="1"/>
          </p:cNvSpPr>
          <p:nvPr/>
        </p:nvSpPr>
        <p:spPr bwMode="auto">
          <a:xfrm>
            <a:off x="4963160" y="5661026"/>
            <a:ext cx="386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t5</a:t>
            </a:r>
            <a:endParaRPr lang="en-US" altLang="zh-CN" dirty="0">
              <a:latin typeface="微软雅黑 Light" panose="020B0502040204020203" pitchFamily="34" charset="-122"/>
              <a:ea typeface="微软雅黑 Light" panose="020B0502040204020203" pitchFamily="34" charset="-122"/>
            </a:endParaRPr>
          </a:p>
        </p:txBody>
      </p:sp>
      <p:sp>
        <p:nvSpPr>
          <p:cNvPr id="582318" name="Text Box 686"/>
          <p:cNvSpPr txBox="1">
            <a:spLocks noChangeArrowheads="1"/>
          </p:cNvSpPr>
          <p:nvPr/>
        </p:nvSpPr>
        <p:spPr bwMode="auto">
          <a:xfrm>
            <a:off x="4963160" y="6165851"/>
            <a:ext cx="386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t6</a:t>
            </a:r>
            <a:endParaRPr lang="en-US" altLang="zh-CN"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r>
              <a:rPr lang="zh-CN" altLang="en-US" dirty="0"/>
              <a:t>三种复用方式对比</a:t>
            </a:r>
            <a:endParaRPr lang="zh-CN" altLang="en-US" dirty="0"/>
          </a:p>
        </p:txBody>
      </p:sp>
      <p:sp>
        <p:nvSpPr>
          <p:cNvPr id="35" name="灯片编号占位符 5"/>
          <p:cNvSpPr>
            <a:spLocks noGrp="1"/>
          </p:cNvSpPr>
          <p:nvPr>
            <p:ph type="sldNum" sz="quarter" idx="12"/>
          </p:nvPr>
        </p:nvSpPr>
        <p:spPr/>
        <p:txBody>
          <a:bodyPr/>
          <a:lstStyle/>
          <a:p>
            <a:fld id="{8671EE39-75EA-422F-8CF7-F59C62927C89}" type="slidenum">
              <a:rPr lang="en-US" altLang="zh-CN"/>
            </a:fld>
            <a:endParaRPr lang="en-US" altLang="zh-CN" dirty="0"/>
          </a:p>
        </p:txBody>
      </p:sp>
      <p:sp>
        <p:nvSpPr>
          <p:cNvPr id="570376" name="Rectangle 8"/>
          <p:cNvSpPr>
            <a:spLocks noChangeArrowheads="1"/>
          </p:cNvSpPr>
          <p:nvPr/>
        </p:nvSpPr>
        <p:spPr bwMode="auto">
          <a:xfrm>
            <a:off x="4890135" y="2205038"/>
            <a:ext cx="1728788" cy="246062"/>
          </a:xfrm>
          <a:prstGeom prst="rect">
            <a:avLst/>
          </a:prstGeom>
          <a:solidFill>
            <a:srgbClr val="33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chemeClr val="bg1"/>
                </a:solidFill>
                <a:latin typeface="微软雅黑 Light" panose="020B0502040204020203" pitchFamily="34" charset="-122"/>
                <a:ea typeface="微软雅黑 Light" panose="020B0502040204020203" pitchFamily="34" charset="-122"/>
              </a:rPr>
              <a:t>信道</a:t>
            </a:r>
            <a:r>
              <a:rPr lang="en-US" altLang="zh-CN" sz="1600" dirty="0">
                <a:solidFill>
                  <a:schemeClr val="bg1"/>
                </a:solidFill>
                <a:latin typeface="微软雅黑 Light" panose="020B0502040204020203" pitchFamily="34" charset="-122"/>
                <a:ea typeface="微软雅黑 Light" panose="020B0502040204020203" pitchFamily="34" charset="-122"/>
              </a:rPr>
              <a:t>4</a:t>
            </a:r>
            <a:endParaRPr lang="en-US" altLang="zh-CN" sz="1600" dirty="0">
              <a:solidFill>
                <a:schemeClr val="bg1"/>
              </a:solidFill>
              <a:latin typeface="微软雅黑 Light" panose="020B0502040204020203" pitchFamily="34" charset="-122"/>
              <a:ea typeface="微软雅黑 Light" panose="020B0502040204020203" pitchFamily="34" charset="-122"/>
            </a:endParaRPr>
          </a:p>
        </p:txBody>
      </p:sp>
      <p:sp>
        <p:nvSpPr>
          <p:cNvPr id="570377" name="Rectangle 9"/>
          <p:cNvSpPr>
            <a:spLocks noChangeArrowheads="1"/>
          </p:cNvSpPr>
          <p:nvPr/>
        </p:nvSpPr>
        <p:spPr bwMode="auto">
          <a:xfrm>
            <a:off x="4890135" y="2568576"/>
            <a:ext cx="1728788" cy="246063"/>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chemeClr val="bg1"/>
                </a:solidFill>
                <a:latin typeface="微软雅黑 Light" panose="020B0502040204020203" pitchFamily="34" charset="-122"/>
                <a:ea typeface="微软雅黑 Light" panose="020B0502040204020203" pitchFamily="34" charset="-122"/>
              </a:rPr>
              <a:t>信道</a:t>
            </a:r>
            <a:r>
              <a:rPr lang="en-US" altLang="zh-CN" sz="1600" dirty="0">
                <a:solidFill>
                  <a:schemeClr val="bg1"/>
                </a:solidFill>
                <a:latin typeface="微软雅黑 Light" panose="020B0502040204020203" pitchFamily="34" charset="-122"/>
                <a:ea typeface="微软雅黑 Light" panose="020B0502040204020203" pitchFamily="34" charset="-122"/>
              </a:rPr>
              <a:t>3</a:t>
            </a:r>
            <a:endParaRPr lang="en-US" altLang="zh-CN" sz="1600" dirty="0">
              <a:solidFill>
                <a:schemeClr val="bg1"/>
              </a:solidFill>
              <a:latin typeface="微软雅黑 Light" panose="020B0502040204020203" pitchFamily="34" charset="-122"/>
              <a:ea typeface="微软雅黑 Light" panose="020B0502040204020203" pitchFamily="34" charset="-122"/>
            </a:endParaRPr>
          </a:p>
        </p:txBody>
      </p:sp>
      <p:sp>
        <p:nvSpPr>
          <p:cNvPr id="570378" name="Rectangle 10"/>
          <p:cNvSpPr>
            <a:spLocks noChangeArrowheads="1"/>
          </p:cNvSpPr>
          <p:nvPr/>
        </p:nvSpPr>
        <p:spPr bwMode="auto">
          <a:xfrm>
            <a:off x="4890135" y="2954338"/>
            <a:ext cx="1728788" cy="246062"/>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chemeClr val="bg1"/>
                </a:solidFill>
                <a:latin typeface="微软雅黑 Light" panose="020B0502040204020203" pitchFamily="34" charset="-122"/>
                <a:ea typeface="微软雅黑 Light" panose="020B0502040204020203" pitchFamily="34" charset="-122"/>
              </a:rPr>
              <a:t>信道</a:t>
            </a:r>
            <a:r>
              <a:rPr lang="en-US" altLang="zh-CN" sz="1600" dirty="0">
                <a:solidFill>
                  <a:schemeClr val="bg1"/>
                </a:solidFill>
                <a:latin typeface="微软雅黑 Light" panose="020B0502040204020203" pitchFamily="34" charset="-122"/>
                <a:ea typeface="微软雅黑 Light" panose="020B0502040204020203" pitchFamily="34" charset="-122"/>
              </a:rPr>
              <a:t>2</a:t>
            </a:r>
            <a:endParaRPr lang="en-US" altLang="zh-CN" sz="1600" dirty="0">
              <a:solidFill>
                <a:schemeClr val="bg1"/>
              </a:solidFill>
              <a:latin typeface="微软雅黑 Light" panose="020B0502040204020203" pitchFamily="34" charset="-122"/>
              <a:ea typeface="微软雅黑 Light" panose="020B0502040204020203" pitchFamily="34" charset="-122"/>
            </a:endParaRPr>
          </a:p>
        </p:txBody>
      </p:sp>
      <p:sp>
        <p:nvSpPr>
          <p:cNvPr id="570379" name="Rectangle 11"/>
          <p:cNvSpPr>
            <a:spLocks noChangeArrowheads="1"/>
          </p:cNvSpPr>
          <p:nvPr/>
        </p:nvSpPr>
        <p:spPr bwMode="auto">
          <a:xfrm>
            <a:off x="4890135" y="3314701"/>
            <a:ext cx="1728788" cy="246063"/>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chemeClr val="bg1"/>
                </a:solidFill>
                <a:latin typeface="微软雅黑 Light" panose="020B0502040204020203" pitchFamily="34" charset="-122"/>
                <a:ea typeface="微软雅黑 Light" panose="020B0502040204020203" pitchFamily="34" charset="-122"/>
              </a:rPr>
              <a:t>信道</a:t>
            </a:r>
            <a:r>
              <a:rPr lang="en-US" altLang="zh-CN" sz="1600" dirty="0">
                <a:solidFill>
                  <a:schemeClr val="bg1"/>
                </a:solidFill>
                <a:latin typeface="微软雅黑 Light" panose="020B0502040204020203" pitchFamily="34" charset="-122"/>
                <a:ea typeface="微软雅黑 Light" panose="020B0502040204020203" pitchFamily="34" charset="-122"/>
              </a:rPr>
              <a:t>1</a:t>
            </a:r>
            <a:endParaRPr lang="en-US" altLang="zh-CN" sz="1600" dirty="0">
              <a:solidFill>
                <a:schemeClr val="bg1"/>
              </a:solidFill>
              <a:latin typeface="微软雅黑 Light" panose="020B0502040204020203" pitchFamily="34" charset="-122"/>
              <a:ea typeface="微软雅黑 Light" panose="020B0502040204020203" pitchFamily="34" charset="-122"/>
            </a:endParaRPr>
          </a:p>
        </p:txBody>
      </p:sp>
      <p:sp>
        <p:nvSpPr>
          <p:cNvPr id="570386" name="Line 18"/>
          <p:cNvSpPr>
            <a:spLocks noChangeShapeType="1"/>
          </p:cNvSpPr>
          <p:nvPr/>
        </p:nvSpPr>
        <p:spPr bwMode="auto">
          <a:xfrm flipV="1">
            <a:off x="2130266" y="3762376"/>
            <a:ext cx="1512888"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387" name="Text Box 19"/>
          <p:cNvSpPr txBox="1">
            <a:spLocks noChangeArrowheads="1"/>
          </p:cNvSpPr>
          <p:nvPr/>
        </p:nvSpPr>
        <p:spPr bwMode="auto">
          <a:xfrm>
            <a:off x="1482566" y="1544639"/>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频率</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388" name="Text Box 20"/>
          <p:cNvSpPr txBox="1">
            <a:spLocks noChangeArrowheads="1"/>
          </p:cNvSpPr>
          <p:nvPr/>
        </p:nvSpPr>
        <p:spPr bwMode="auto">
          <a:xfrm>
            <a:off x="3211354" y="3833814"/>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时间</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389" name="Line 21"/>
          <p:cNvSpPr>
            <a:spLocks noChangeShapeType="1"/>
          </p:cNvSpPr>
          <p:nvPr/>
        </p:nvSpPr>
        <p:spPr bwMode="auto">
          <a:xfrm rot="-5400000">
            <a:off x="1047591" y="2706688"/>
            <a:ext cx="2165350"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390" name="Rectangle 22"/>
          <p:cNvSpPr>
            <a:spLocks noChangeArrowheads="1"/>
          </p:cNvSpPr>
          <p:nvPr/>
        </p:nvSpPr>
        <p:spPr bwMode="auto">
          <a:xfrm>
            <a:off x="2490630" y="2178052"/>
            <a:ext cx="287337" cy="1368425"/>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B</a:t>
            </a:r>
            <a:endParaRPr lang="en-US" altLang="zh-CN" dirty="0">
              <a:solidFill>
                <a:schemeClr val="bg1"/>
              </a:solidFill>
              <a:latin typeface="微软雅黑 Light" panose="020B0502040204020203" pitchFamily="34" charset="-122"/>
            </a:endParaRPr>
          </a:p>
        </p:txBody>
      </p:sp>
      <p:sp>
        <p:nvSpPr>
          <p:cNvPr id="570391" name="Rectangle 23"/>
          <p:cNvSpPr>
            <a:spLocks noChangeArrowheads="1"/>
          </p:cNvSpPr>
          <p:nvPr/>
        </p:nvSpPr>
        <p:spPr bwMode="auto">
          <a:xfrm>
            <a:off x="2850991" y="2178052"/>
            <a:ext cx="287338" cy="1368425"/>
          </a:xfrm>
          <a:prstGeom prst="rect">
            <a:avLst/>
          </a:prstGeom>
          <a:solidFill>
            <a:srgbClr val="00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C</a:t>
            </a:r>
            <a:endParaRPr lang="en-US" altLang="zh-CN" dirty="0">
              <a:solidFill>
                <a:schemeClr val="bg1"/>
              </a:solidFill>
              <a:latin typeface="微软雅黑 Light" panose="020B0502040204020203" pitchFamily="34" charset="-122"/>
            </a:endParaRPr>
          </a:p>
        </p:txBody>
      </p:sp>
      <p:sp>
        <p:nvSpPr>
          <p:cNvPr id="570392" name="Rectangle 24"/>
          <p:cNvSpPr>
            <a:spLocks noChangeArrowheads="1"/>
          </p:cNvSpPr>
          <p:nvPr/>
        </p:nvSpPr>
        <p:spPr bwMode="auto">
          <a:xfrm>
            <a:off x="3211355" y="2178052"/>
            <a:ext cx="287337" cy="1368425"/>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D</a:t>
            </a:r>
            <a:endParaRPr lang="en-US" altLang="zh-CN" dirty="0">
              <a:solidFill>
                <a:schemeClr val="bg1"/>
              </a:solidFill>
              <a:latin typeface="微软雅黑 Light" panose="020B0502040204020203" pitchFamily="34" charset="-122"/>
            </a:endParaRPr>
          </a:p>
        </p:txBody>
      </p:sp>
      <p:sp>
        <p:nvSpPr>
          <p:cNvPr id="570393" name="Rectangle 25"/>
          <p:cNvSpPr>
            <a:spLocks noChangeArrowheads="1"/>
          </p:cNvSpPr>
          <p:nvPr/>
        </p:nvSpPr>
        <p:spPr bwMode="auto">
          <a:xfrm>
            <a:off x="2130266" y="2178052"/>
            <a:ext cx="287338" cy="1368425"/>
          </a:xfrm>
          <a:prstGeom prst="rect">
            <a:avLst/>
          </a:prstGeom>
          <a:solidFill>
            <a:srgbClr val="0033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A</a:t>
            </a:r>
            <a:endParaRPr lang="en-US" altLang="zh-CN" dirty="0">
              <a:solidFill>
                <a:schemeClr val="bg1"/>
              </a:solidFill>
              <a:latin typeface="微软雅黑 Light" panose="020B0502040204020203" pitchFamily="34" charset="-122"/>
            </a:endParaRPr>
          </a:p>
        </p:txBody>
      </p:sp>
      <p:sp>
        <p:nvSpPr>
          <p:cNvPr id="570397" name="Line 29"/>
          <p:cNvSpPr>
            <a:spLocks noChangeShapeType="1"/>
          </p:cNvSpPr>
          <p:nvPr/>
        </p:nvSpPr>
        <p:spPr bwMode="auto">
          <a:xfrm flipV="1">
            <a:off x="4890136" y="3776663"/>
            <a:ext cx="2016125"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398" name="Text Box 30"/>
          <p:cNvSpPr txBox="1">
            <a:spLocks noChangeArrowheads="1"/>
          </p:cNvSpPr>
          <p:nvPr/>
        </p:nvSpPr>
        <p:spPr bwMode="auto">
          <a:xfrm>
            <a:off x="4248785" y="1565276"/>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频率</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399" name="Text Box 31"/>
          <p:cNvSpPr txBox="1">
            <a:spLocks noChangeArrowheads="1"/>
          </p:cNvSpPr>
          <p:nvPr/>
        </p:nvSpPr>
        <p:spPr bwMode="auto">
          <a:xfrm>
            <a:off x="6401435" y="3848101"/>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时间</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400" name="Line 32"/>
          <p:cNvSpPr>
            <a:spLocks noChangeShapeType="1"/>
          </p:cNvSpPr>
          <p:nvPr/>
        </p:nvSpPr>
        <p:spPr bwMode="auto">
          <a:xfrm rot="-5400000">
            <a:off x="3813810" y="2727325"/>
            <a:ext cx="2165350"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401" name="Line 33"/>
          <p:cNvSpPr>
            <a:spLocks noChangeShapeType="1"/>
          </p:cNvSpPr>
          <p:nvPr/>
        </p:nvSpPr>
        <p:spPr bwMode="auto">
          <a:xfrm flipV="1">
            <a:off x="8444019" y="3317876"/>
            <a:ext cx="2016125" cy="0"/>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402" name="Text Box 34"/>
          <p:cNvSpPr txBox="1">
            <a:spLocks noChangeArrowheads="1"/>
          </p:cNvSpPr>
          <p:nvPr/>
        </p:nvSpPr>
        <p:spPr bwMode="auto">
          <a:xfrm>
            <a:off x="7721706" y="1517652"/>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频率</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403" name="Text Box 35"/>
          <p:cNvSpPr txBox="1">
            <a:spLocks noChangeArrowheads="1"/>
          </p:cNvSpPr>
          <p:nvPr/>
        </p:nvSpPr>
        <p:spPr bwMode="auto">
          <a:xfrm>
            <a:off x="9955318" y="3389314"/>
            <a:ext cx="6413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时间</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404" name="Line 36"/>
          <p:cNvSpPr>
            <a:spLocks noChangeShapeType="1"/>
          </p:cNvSpPr>
          <p:nvPr/>
        </p:nvSpPr>
        <p:spPr bwMode="auto">
          <a:xfrm rot="5400000" flipH="1">
            <a:off x="7529619" y="2430464"/>
            <a:ext cx="1833562" cy="7937"/>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405" name="Line 37"/>
          <p:cNvSpPr>
            <a:spLocks noChangeShapeType="1"/>
          </p:cNvSpPr>
          <p:nvPr/>
        </p:nvSpPr>
        <p:spPr bwMode="auto">
          <a:xfrm flipH="1">
            <a:off x="7696307" y="3317877"/>
            <a:ext cx="746125" cy="719137"/>
          </a:xfrm>
          <a:prstGeom prst="line">
            <a:avLst/>
          </a:prstGeom>
          <a:noFill/>
          <a:ln w="28575">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570406" name="Text Box 38"/>
          <p:cNvSpPr txBox="1">
            <a:spLocks noChangeArrowheads="1"/>
          </p:cNvSpPr>
          <p:nvPr/>
        </p:nvSpPr>
        <p:spPr bwMode="auto">
          <a:xfrm>
            <a:off x="7794731" y="3894139"/>
            <a:ext cx="4127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码</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70408" name="Rectangle 40"/>
          <p:cNvSpPr>
            <a:spLocks noChangeArrowheads="1"/>
          </p:cNvSpPr>
          <p:nvPr/>
        </p:nvSpPr>
        <p:spPr bwMode="auto">
          <a:xfrm>
            <a:off x="8336068" y="2093913"/>
            <a:ext cx="1296988" cy="1335088"/>
          </a:xfrm>
          <a:prstGeom prst="rect">
            <a:avLst/>
          </a:prstGeom>
          <a:noFill/>
          <a:ln w="9525" algn="ctr">
            <a:solidFill>
              <a:srgbClr val="FF0000"/>
            </a:solidFill>
            <a:miter lim="800000"/>
          </a:ln>
          <a:effectLst/>
          <a:scene3d>
            <a:camera prst="legacyObliqueTopRight"/>
            <a:lightRig rig="legacyFlat3" dir="b"/>
          </a:scene3d>
          <a:sp3d extrusionH="277800" prstMaterial="legacyMetal">
            <a:bevelT w="13500" h="13500" prst="angle"/>
            <a:bevelB w="13500" h="13500" prst="angle"/>
            <a:extrusionClr>
              <a:srgbClr val="FF0000"/>
            </a:extrusionClr>
            <a:contourClr>
              <a:srgbClr val="FF0000"/>
            </a:contourClr>
          </a:sp3d>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dirty="0">
              <a:latin typeface="微软雅黑 Light" panose="020B0502040204020203" pitchFamily="34" charset="-122"/>
            </a:endParaRPr>
          </a:p>
        </p:txBody>
      </p:sp>
      <p:sp>
        <p:nvSpPr>
          <p:cNvPr id="570409" name="Rectangle 41"/>
          <p:cNvSpPr>
            <a:spLocks noChangeArrowheads="1"/>
          </p:cNvSpPr>
          <p:nvPr/>
        </p:nvSpPr>
        <p:spPr bwMode="auto">
          <a:xfrm>
            <a:off x="8228118" y="2200277"/>
            <a:ext cx="1296988" cy="1335087"/>
          </a:xfrm>
          <a:prstGeom prst="rect">
            <a:avLst/>
          </a:prstGeom>
          <a:noFill/>
          <a:ln w="9525" algn="ctr">
            <a:solidFill>
              <a:srgbClr val="FF9900"/>
            </a:solidFill>
            <a:miter lim="800000"/>
          </a:ln>
          <a:effectLst/>
          <a:scene3d>
            <a:camera prst="legacyObliqueTopRight"/>
            <a:lightRig rig="legacyFlat3" dir="b"/>
          </a:scene3d>
          <a:sp3d extrusionH="277800" prstMaterial="legacyMetal">
            <a:bevelT w="13500" h="13500" prst="angle"/>
            <a:bevelB w="13500" h="13500" prst="angle"/>
            <a:extrusionClr>
              <a:srgbClr val="FF9900"/>
            </a:extrusionClr>
            <a:contourClr>
              <a:srgbClr val="FF9900"/>
            </a:contourClr>
          </a:sp3d>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dirty="0">
              <a:latin typeface="微软雅黑 Light" panose="020B0502040204020203" pitchFamily="34" charset="-122"/>
            </a:endParaRPr>
          </a:p>
        </p:txBody>
      </p:sp>
      <p:sp>
        <p:nvSpPr>
          <p:cNvPr id="570410" name="Rectangle 42"/>
          <p:cNvSpPr>
            <a:spLocks noChangeArrowheads="1"/>
          </p:cNvSpPr>
          <p:nvPr/>
        </p:nvSpPr>
        <p:spPr bwMode="auto">
          <a:xfrm>
            <a:off x="8118582" y="2303463"/>
            <a:ext cx="1296987" cy="1335088"/>
          </a:xfrm>
          <a:prstGeom prst="rect">
            <a:avLst/>
          </a:prstGeom>
          <a:noFill/>
          <a:ln w="9525" algn="ctr">
            <a:solidFill>
              <a:srgbClr val="99CC00"/>
            </a:solidFill>
            <a:miter lim="800000"/>
          </a:ln>
          <a:effectLst/>
          <a:scene3d>
            <a:camera prst="legacyObliqueTopRight"/>
            <a:lightRig rig="legacyFlat3" dir="b"/>
          </a:scene3d>
          <a:sp3d extrusionH="277800" prstMaterial="legacyMetal">
            <a:bevelT w="13500" h="13500" prst="angle"/>
            <a:bevelB w="13500" h="13500" prst="angle"/>
            <a:extrusionClr>
              <a:srgbClr val="99CC00"/>
            </a:extrusionClr>
            <a:contourClr>
              <a:srgbClr val="99CC00"/>
            </a:contourClr>
          </a:sp3d>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dirty="0">
              <a:latin typeface="微软雅黑 Light" panose="020B0502040204020203" pitchFamily="34" charset="-122"/>
            </a:endParaRPr>
          </a:p>
        </p:txBody>
      </p:sp>
      <p:sp>
        <p:nvSpPr>
          <p:cNvPr id="570411" name="Rectangle 43"/>
          <p:cNvSpPr>
            <a:spLocks noChangeArrowheads="1"/>
          </p:cNvSpPr>
          <p:nvPr/>
        </p:nvSpPr>
        <p:spPr bwMode="auto">
          <a:xfrm>
            <a:off x="8009043" y="2409827"/>
            <a:ext cx="1296988" cy="1335087"/>
          </a:xfrm>
          <a:prstGeom prst="rect">
            <a:avLst/>
          </a:prstGeom>
          <a:noFill/>
          <a:ln w="9525" algn="ctr">
            <a:solidFill>
              <a:srgbClr val="339966"/>
            </a:solidFill>
            <a:miter lim="800000"/>
          </a:ln>
          <a:effectLst/>
          <a:scene3d>
            <a:camera prst="legacyObliqueTopRight"/>
            <a:lightRig rig="legacyFlat3" dir="b"/>
          </a:scene3d>
          <a:sp3d extrusionH="277800" prstMaterial="legacyMetal">
            <a:bevelT w="13500" h="13500" prst="angle"/>
            <a:bevelB w="13500" h="13500" prst="angle"/>
            <a:extrusionClr>
              <a:srgbClr val="6600CC"/>
            </a:extrusionClr>
            <a:contourClr>
              <a:srgbClr val="339966"/>
            </a:contourClr>
          </a:sp3d>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dirty="0">
              <a:latin typeface="微软雅黑 Light" panose="020B0502040204020203" pitchFamily="34" charset="-122"/>
            </a:endParaRPr>
          </a:p>
        </p:txBody>
      </p:sp>
      <p:sp>
        <p:nvSpPr>
          <p:cNvPr id="570412" name="Rectangle 44"/>
          <p:cNvSpPr>
            <a:spLocks noChangeArrowheads="1"/>
          </p:cNvSpPr>
          <p:nvPr/>
        </p:nvSpPr>
        <p:spPr bwMode="auto">
          <a:xfrm>
            <a:off x="7905857" y="2513013"/>
            <a:ext cx="1296987" cy="1335088"/>
          </a:xfrm>
          <a:prstGeom prst="rect">
            <a:avLst/>
          </a:prstGeom>
          <a:solidFill>
            <a:srgbClr val="0066FF"/>
          </a:solidFill>
          <a:ln w="9525" algn="ctr">
            <a:miter lim="800000"/>
          </a:ln>
          <a:effectLst/>
          <a:scene3d>
            <a:camera prst="legacyObliqueTopRight"/>
            <a:lightRig rig="legacyFlat3" dir="b"/>
          </a:scene3d>
          <a:sp3d extrusionH="277800" prstMaterial="legacyMetal">
            <a:bevelT w="13500" h="13500" prst="angle"/>
            <a:bevelB w="13500" h="13500" prst="angle"/>
            <a:extrusionClr>
              <a:srgbClr val="0066FF"/>
            </a:extrusionClr>
            <a:contourClr>
              <a:srgbClr val="0066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dirty="0">
              <a:latin typeface="微软雅黑 Light" panose="020B0502040204020203" pitchFamily="34" charset="-122"/>
            </a:endParaRPr>
          </a:p>
        </p:txBody>
      </p:sp>
      <p:sp>
        <p:nvSpPr>
          <p:cNvPr id="570413" name="Text Box 45"/>
          <p:cNvSpPr txBox="1">
            <a:spLocks noChangeArrowheads="1"/>
          </p:cNvSpPr>
          <p:nvPr/>
        </p:nvSpPr>
        <p:spPr bwMode="auto">
          <a:xfrm>
            <a:off x="2312447" y="4227513"/>
            <a:ext cx="85632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400" dirty="0">
                <a:latin typeface="微软雅黑 Light" panose="020B0502040204020203" pitchFamily="34" charset="-122"/>
                <a:ea typeface="微软雅黑 Light" panose="020B0502040204020203" pitchFamily="34" charset="-122"/>
              </a:rPr>
              <a:t>TDM</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570414" name="Text Box 46"/>
          <p:cNvSpPr txBox="1">
            <a:spLocks noChangeArrowheads="1"/>
          </p:cNvSpPr>
          <p:nvPr/>
        </p:nvSpPr>
        <p:spPr bwMode="auto">
          <a:xfrm>
            <a:off x="5424741" y="4241800"/>
            <a:ext cx="84029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400" dirty="0">
                <a:latin typeface="微软雅黑 Light" panose="020B0502040204020203" pitchFamily="34" charset="-122"/>
                <a:ea typeface="微软雅黑 Light" panose="020B0502040204020203" pitchFamily="34" charset="-122"/>
              </a:rPr>
              <a:t>FDM</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570415" name="Text Box 47"/>
          <p:cNvSpPr txBox="1">
            <a:spLocks noChangeArrowheads="1"/>
          </p:cNvSpPr>
          <p:nvPr/>
        </p:nvSpPr>
        <p:spPr bwMode="auto">
          <a:xfrm>
            <a:off x="8481736" y="4214813"/>
            <a:ext cx="893193"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400" dirty="0">
                <a:latin typeface="微软雅黑 Light" panose="020B0502040204020203" pitchFamily="34" charset="-122"/>
                <a:ea typeface="微软雅黑 Light" panose="020B0502040204020203" pitchFamily="34" charset="-122"/>
              </a:rPr>
              <a:t>CDM</a:t>
            </a:r>
            <a:endParaRPr kumimoji="1" lang="en-US" altLang="zh-CN" sz="24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bwMode="auto">
          <a:xfrm>
            <a:off x="4225145" y="5928998"/>
            <a:ext cx="352982"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D</a:t>
            </a:r>
            <a:endParaRPr lang="zh-CN" altLang="en-US" dirty="0"/>
          </a:p>
        </p:txBody>
      </p:sp>
      <p:sp>
        <p:nvSpPr>
          <p:cNvPr id="75" name="文本框 74"/>
          <p:cNvSpPr txBox="1"/>
          <p:nvPr/>
        </p:nvSpPr>
        <p:spPr bwMode="auto">
          <a:xfrm>
            <a:off x="8118387" y="6050883"/>
            <a:ext cx="300082" cy="369332"/>
          </a:xfrm>
          <a:prstGeom prst="rect">
            <a:avLst/>
          </a:prstGeom>
          <a:no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F</a:t>
            </a:r>
            <a:endParaRPr lang="zh-CN" altLang="en-US" dirty="0"/>
          </a:p>
        </p:txBody>
      </p:sp>
      <p:sp>
        <p:nvSpPr>
          <p:cNvPr id="73" name="文本框 72"/>
          <p:cNvSpPr txBox="1"/>
          <p:nvPr/>
        </p:nvSpPr>
        <p:spPr bwMode="auto">
          <a:xfrm>
            <a:off x="6691672" y="6049703"/>
            <a:ext cx="309700"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E</a:t>
            </a:r>
            <a:endParaRPr lang="zh-CN" altLang="en-US" dirty="0"/>
          </a:p>
        </p:txBody>
      </p:sp>
      <p:sp>
        <p:nvSpPr>
          <p:cNvPr id="83" name="文本框 82"/>
          <p:cNvSpPr txBox="1"/>
          <p:nvPr/>
        </p:nvSpPr>
        <p:spPr bwMode="auto">
          <a:xfrm>
            <a:off x="5710080" y="2512785"/>
            <a:ext cx="264816"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J</a:t>
            </a:r>
            <a:endParaRPr lang="zh-CN" altLang="en-US" dirty="0"/>
          </a:p>
        </p:txBody>
      </p:sp>
      <p:sp>
        <p:nvSpPr>
          <p:cNvPr id="2" name="标题 1"/>
          <p:cNvSpPr>
            <a:spLocks noGrp="1"/>
          </p:cNvSpPr>
          <p:nvPr>
            <p:ph type="title"/>
          </p:nvPr>
        </p:nvSpPr>
        <p:spPr/>
        <p:txBody>
          <a:bodyPr/>
          <a:lstStyle/>
          <a:p>
            <a:r>
              <a:rPr lang="en-US" altLang="zh-CN" dirty="0"/>
              <a:t>2.4 </a:t>
            </a:r>
            <a:r>
              <a:rPr lang="zh-CN" altLang="en-US" dirty="0"/>
              <a:t>数据交换技术</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6" name="Group 59"/>
          <p:cNvGrpSpPr/>
          <p:nvPr/>
        </p:nvGrpSpPr>
        <p:grpSpPr bwMode="auto">
          <a:xfrm>
            <a:off x="3777326" y="2961434"/>
            <a:ext cx="4464050" cy="2665413"/>
            <a:chOff x="2949" y="196"/>
            <a:chExt cx="941" cy="598"/>
          </a:xfrm>
        </p:grpSpPr>
        <p:sp>
          <p:nvSpPr>
            <p:cNvPr id="7" name="Oval 60"/>
            <p:cNvSpPr>
              <a:spLocks noChangeArrowheads="1"/>
            </p:cNvSpPr>
            <p:nvPr/>
          </p:nvSpPr>
          <p:spPr bwMode="auto">
            <a:xfrm>
              <a:off x="3168" y="196"/>
              <a:ext cx="407" cy="162"/>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8" name="Oval 61"/>
            <p:cNvSpPr>
              <a:spLocks noChangeArrowheads="1"/>
            </p:cNvSpPr>
            <p:nvPr/>
          </p:nvSpPr>
          <p:spPr bwMode="auto">
            <a:xfrm rot="900000">
              <a:off x="3512" y="252"/>
              <a:ext cx="275" cy="131"/>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9" name="Oval 62"/>
            <p:cNvSpPr>
              <a:spLocks noChangeArrowheads="1"/>
            </p:cNvSpPr>
            <p:nvPr/>
          </p:nvSpPr>
          <p:spPr bwMode="auto">
            <a:xfrm rot="1500000">
              <a:off x="3650" y="385"/>
              <a:ext cx="240" cy="153"/>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10" name="Oval 63"/>
            <p:cNvSpPr>
              <a:spLocks noChangeArrowheads="1"/>
            </p:cNvSpPr>
            <p:nvPr/>
          </p:nvSpPr>
          <p:spPr bwMode="auto">
            <a:xfrm rot="-1560000">
              <a:off x="3573" y="537"/>
              <a:ext cx="291" cy="189"/>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11" name="Oval 64"/>
            <p:cNvSpPr>
              <a:spLocks noChangeArrowheads="1"/>
            </p:cNvSpPr>
            <p:nvPr/>
          </p:nvSpPr>
          <p:spPr bwMode="auto">
            <a:xfrm>
              <a:off x="3216" y="555"/>
              <a:ext cx="471" cy="239"/>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12" name="Oval 65"/>
            <p:cNvSpPr>
              <a:spLocks noChangeArrowheads="1"/>
            </p:cNvSpPr>
            <p:nvPr/>
          </p:nvSpPr>
          <p:spPr bwMode="auto">
            <a:xfrm rot="1080000">
              <a:off x="3023" y="555"/>
              <a:ext cx="265" cy="156"/>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13" name="Oval 66"/>
            <p:cNvSpPr>
              <a:spLocks noChangeArrowheads="1"/>
            </p:cNvSpPr>
            <p:nvPr/>
          </p:nvSpPr>
          <p:spPr bwMode="auto">
            <a:xfrm>
              <a:off x="2949" y="432"/>
              <a:ext cx="217" cy="156"/>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14" name="Oval 67"/>
            <p:cNvSpPr>
              <a:spLocks noChangeArrowheads="1"/>
            </p:cNvSpPr>
            <p:nvPr/>
          </p:nvSpPr>
          <p:spPr bwMode="auto">
            <a:xfrm rot="-1860000">
              <a:off x="2984" y="310"/>
              <a:ext cx="295" cy="156"/>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15" name="Freeform 6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sp>
          <p:nvSpPr>
            <p:cNvPr id="16" name="Freeform 6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sp>
          <p:nvSpPr>
            <p:cNvPr id="17" name="Freeform 7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grpSp>
      <p:sp>
        <p:nvSpPr>
          <p:cNvPr id="18" name="Line 41"/>
          <p:cNvSpPr>
            <a:spLocks noChangeShapeType="1"/>
          </p:cNvSpPr>
          <p:nvPr/>
        </p:nvSpPr>
        <p:spPr bwMode="auto">
          <a:xfrm flipV="1">
            <a:off x="4942503" y="3786014"/>
            <a:ext cx="1891949" cy="28066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19" name="Line 42"/>
          <p:cNvSpPr>
            <a:spLocks noChangeShapeType="1"/>
          </p:cNvSpPr>
          <p:nvPr/>
        </p:nvSpPr>
        <p:spPr bwMode="auto">
          <a:xfrm>
            <a:off x="5999379" y="3645428"/>
            <a:ext cx="673496" cy="101737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0" name="Line 150"/>
          <p:cNvSpPr>
            <a:spLocks noChangeShapeType="1"/>
          </p:cNvSpPr>
          <p:nvPr/>
        </p:nvSpPr>
        <p:spPr bwMode="auto">
          <a:xfrm flipV="1">
            <a:off x="5337347" y="3942164"/>
            <a:ext cx="1487652" cy="9339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sp>
        <p:nvSpPr>
          <p:cNvPr id="21" name="Line 151"/>
          <p:cNvSpPr>
            <a:spLocks noChangeShapeType="1"/>
          </p:cNvSpPr>
          <p:nvPr/>
        </p:nvSpPr>
        <p:spPr bwMode="auto">
          <a:xfrm flipH="1">
            <a:off x="4942503" y="3447724"/>
            <a:ext cx="620632" cy="44172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2" name="Line 152"/>
          <p:cNvSpPr>
            <a:spLocks noChangeShapeType="1"/>
          </p:cNvSpPr>
          <p:nvPr/>
        </p:nvSpPr>
        <p:spPr bwMode="auto">
          <a:xfrm flipH="1" flipV="1">
            <a:off x="4771382" y="4283233"/>
            <a:ext cx="211825" cy="4082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3" name="Line 153"/>
          <p:cNvSpPr>
            <a:spLocks noChangeShapeType="1"/>
          </p:cNvSpPr>
          <p:nvPr/>
        </p:nvSpPr>
        <p:spPr bwMode="auto">
          <a:xfrm flipV="1">
            <a:off x="5337347" y="4994514"/>
            <a:ext cx="1237179" cy="8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4" name="Line 155"/>
          <p:cNvSpPr>
            <a:spLocks noChangeShapeType="1"/>
          </p:cNvSpPr>
          <p:nvPr/>
        </p:nvSpPr>
        <p:spPr bwMode="auto">
          <a:xfrm flipH="1">
            <a:off x="6953843" y="4020086"/>
            <a:ext cx="87259" cy="67435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5" name="Line 154"/>
          <p:cNvSpPr>
            <a:spLocks noChangeShapeType="1"/>
          </p:cNvSpPr>
          <p:nvPr/>
        </p:nvSpPr>
        <p:spPr bwMode="auto">
          <a:xfrm>
            <a:off x="6070901" y="3393927"/>
            <a:ext cx="763551" cy="28066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6" name="Line 180"/>
          <p:cNvSpPr>
            <a:spLocks noChangeShapeType="1"/>
          </p:cNvSpPr>
          <p:nvPr/>
        </p:nvSpPr>
        <p:spPr bwMode="auto">
          <a:xfrm flipH="1">
            <a:off x="5278242" y="3631569"/>
            <a:ext cx="442183" cy="103798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ea"/>
            </a:endParaRPr>
          </a:p>
        </p:txBody>
      </p:sp>
      <p:sp>
        <p:nvSpPr>
          <p:cNvPr id="27" name="Line 181"/>
          <p:cNvSpPr>
            <a:spLocks noChangeShapeType="1"/>
          </p:cNvSpPr>
          <p:nvPr/>
        </p:nvSpPr>
        <p:spPr bwMode="auto">
          <a:xfrm>
            <a:off x="2696240" y="3250358"/>
            <a:ext cx="1762360" cy="72292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28" name="Line 182"/>
          <p:cNvSpPr>
            <a:spLocks noChangeShapeType="1"/>
          </p:cNvSpPr>
          <p:nvPr/>
        </p:nvSpPr>
        <p:spPr bwMode="auto">
          <a:xfrm>
            <a:off x="3848765" y="2602658"/>
            <a:ext cx="1714370" cy="73495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29" name="Line 183"/>
          <p:cNvSpPr>
            <a:spLocks noChangeShapeType="1"/>
          </p:cNvSpPr>
          <p:nvPr/>
        </p:nvSpPr>
        <p:spPr bwMode="auto">
          <a:xfrm>
            <a:off x="5577553" y="2385172"/>
            <a:ext cx="142874" cy="722069"/>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0" name="Line 184"/>
          <p:cNvSpPr>
            <a:spLocks noChangeShapeType="1"/>
          </p:cNvSpPr>
          <p:nvPr/>
        </p:nvSpPr>
        <p:spPr bwMode="auto">
          <a:xfrm flipH="1">
            <a:off x="7184927" y="2529634"/>
            <a:ext cx="408747" cy="97261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1" name="Line 185"/>
          <p:cNvSpPr>
            <a:spLocks noChangeShapeType="1"/>
          </p:cNvSpPr>
          <p:nvPr/>
        </p:nvSpPr>
        <p:spPr bwMode="auto">
          <a:xfrm flipH="1">
            <a:off x="7347278" y="3618289"/>
            <a:ext cx="1778054" cy="10706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2" name="Line 186"/>
          <p:cNvSpPr>
            <a:spLocks noChangeShapeType="1"/>
          </p:cNvSpPr>
          <p:nvPr/>
        </p:nvSpPr>
        <p:spPr bwMode="auto">
          <a:xfrm>
            <a:off x="7318355" y="3942164"/>
            <a:ext cx="1600065" cy="121582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3" name="Line 187"/>
          <p:cNvSpPr>
            <a:spLocks noChangeShapeType="1"/>
          </p:cNvSpPr>
          <p:nvPr/>
        </p:nvSpPr>
        <p:spPr bwMode="auto">
          <a:xfrm>
            <a:off x="6953844" y="5173555"/>
            <a:ext cx="684200" cy="905055"/>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4" name="Line 188"/>
          <p:cNvSpPr>
            <a:spLocks noChangeShapeType="1"/>
          </p:cNvSpPr>
          <p:nvPr/>
        </p:nvSpPr>
        <p:spPr bwMode="auto">
          <a:xfrm flipH="1">
            <a:off x="6548785" y="5173554"/>
            <a:ext cx="198248" cy="876149"/>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5" name="Line 189"/>
          <p:cNvSpPr>
            <a:spLocks noChangeShapeType="1"/>
          </p:cNvSpPr>
          <p:nvPr/>
        </p:nvSpPr>
        <p:spPr bwMode="auto">
          <a:xfrm flipV="1">
            <a:off x="3993226" y="5117285"/>
            <a:ext cx="850904" cy="79689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6" name="Line 190"/>
          <p:cNvSpPr>
            <a:spLocks noChangeShapeType="1"/>
          </p:cNvSpPr>
          <p:nvPr/>
        </p:nvSpPr>
        <p:spPr bwMode="auto">
          <a:xfrm flipV="1">
            <a:off x="2985164" y="4283973"/>
            <a:ext cx="1498081" cy="119841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sp>
        <p:nvSpPr>
          <p:cNvPr id="37" name="Line 191"/>
          <p:cNvSpPr>
            <a:spLocks noChangeShapeType="1"/>
          </p:cNvSpPr>
          <p:nvPr/>
        </p:nvSpPr>
        <p:spPr bwMode="auto">
          <a:xfrm flipV="1">
            <a:off x="2264438" y="4185396"/>
            <a:ext cx="2160588" cy="14446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latin typeface="+mn-ea"/>
              <a:ea typeface="+mn-ea"/>
            </a:endParaRPr>
          </a:p>
        </p:txBody>
      </p:sp>
      <p:pic>
        <p:nvPicPr>
          <p:cNvPr id="59" name="图形 5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66901" y="3114290"/>
            <a:ext cx="504000" cy="504000"/>
          </a:xfrm>
          <a:prstGeom prst="rect">
            <a:avLst/>
          </a:prstGeom>
        </p:spPr>
      </p:pic>
      <p:pic>
        <p:nvPicPr>
          <p:cNvPr id="62" name="图形 6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44533" y="3790868"/>
            <a:ext cx="504000" cy="504000"/>
          </a:xfrm>
          <a:prstGeom prst="rect">
            <a:avLst/>
          </a:prstGeom>
        </p:spPr>
      </p:pic>
      <p:pic>
        <p:nvPicPr>
          <p:cNvPr id="63" name="图形 6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40355" y="4679948"/>
            <a:ext cx="504000" cy="504000"/>
          </a:xfrm>
          <a:prstGeom prst="rect">
            <a:avLst/>
          </a:prstGeom>
        </p:spPr>
      </p:pic>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74527" y="4669554"/>
            <a:ext cx="504000" cy="504000"/>
          </a:xfrm>
          <a:prstGeom prst="rect">
            <a:avLst/>
          </a:prstGeom>
        </p:spPr>
      </p:pic>
      <p:pic>
        <p:nvPicPr>
          <p:cNvPr id="65" name="图形 6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34454" y="3509336"/>
            <a:ext cx="504000" cy="504000"/>
          </a:xfrm>
          <a:prstGeom prst="rect">
            <a:avLst/>
          </a:prstGeom>
        </p:spPr>
      </p:pic>
      <p:pic>
        <p:nvPicPr>
          <p:cNvPr id="58" name="图形 57"/>
          <p:cNvPicPr>
            <a:picLocks noChangeAspect="1"/>
          </p:cNvPicPr>
          <p:nvPr/>
        </p:nvPicPr>
        <p:blipFill>
          <a:blip r:embed="rId3"/>
          <a:stretch>
            <a:fillRect/>
          </a:stretch>
        </p:blipFill>
        <p:spPr>
          <a:xfrm>
            <a:off x="1699317" y="4120141"/>
            <a:ext cx="553968" cy="419433"/>
          </a:xfrm>
          <a:prstGeom prst="rect">
            <a:avLst/>
          </a:prstGeom>
        </p:spPr>
      </p:pic>
      <p:pic>
        <p:nvPicPr>
          <p:cNvPr id="60" name="图形 59"/>
          <p:cNvPicPr>
            <a:picLocks noChangeAspect="1"/>
          </p:cNvPicPr>
          <p:nvPr/>
        </p:nvPicPr>
        <p:blipFill>
          <a:blip r:embed="rId3"/>
          <a:stretch>
            <a:fillRect/>
          </a:stretch>
        </p:blipFill>
        <p:spPr>
          <a:xfrm>
            <a:off x="3344732" y="2343653"/>
            <a:ext cx="553968" cy="419433"/>
          </a:xfrm>
          <a:prstGeom prst="rect">
            <a:avLst/>
          </a:prstGeom>
        </p:spPr>
      </p:pic>
      <p:pic>
        <p:nvPicPr>
          <p:cNvPr id="61" name="图形 60"/>
          <p:cNvPicPr>
            <a:picLocks noChangeAspect="1"/>
          </p:cNvPicPr>
          <p:nvPr/>
        </p:nvPicPr>
        <p:blipFill>
          <a:blip r:embed="rId3"/>
          <a:stretch>
            <a:fillRect/>
          </a:stretch>
        </p:blipFill>
        <p:spPr>
          <a:xfrm>
            <a:off x="2431196" y="5333123"/>
            <a:ext cx="553968" cy="419433"/>
          </a:xfrm>
          <a:prstGeom prst="rect">
            <a:avLst/>
          </a:prstGeom>
        </p:spPr>
      </p:pic>
      <p:pic>
        <p:nvPicPr>
          <p:cNvPr id="66" name="图形 65"/>
          <p:cNvPicPr>
            <a:picLocks noChangeAspect="1"/>
          </p:cNvPicPr>
          <p:nvPr/>
        </p:nvPicPr>
        <p:blipFill>
          <a:blip r:embed="rId3"/>
          <a:stretch>
            <a:fillRect/>
          </a:stretch>
        </p:blipFill>
        <p:spPr>
          <a:xfrm>
            <a:off x="2157679" y="3015942"/>
            <a:ext cx="553968" cy="419433"/>
          </a:xfrm>
          <a:prstGeom prst="rect">
            <a:avLst/>
          </a:prstGeom>
        </p:spPr>
      </p:pic>
      <p:sp>
        <p:nvSpPr>
          <p:cNvPr id="3" name="文本框 2"/>
          <p:cNvSpPr txBox="1"/>
          <p:nvPr/>
        </p:nvSpPr>
        <p:spPr bwMode="auto">
          <a:xfrm>
            <a:off x="2295181" y="3451550"/>
            <a:ext cx="341760" cy="369332"/>
          </a:xfrm>
          <a:prstGeom prst="rect">
            <a:avLst/>
          </a:prstGeom>
          <a:solidFill>
            <a:schemeClr val="bg1"/>
          </a:solidFill>
          <a:ln>
            <a:noFill/>
          </a:ln>
          <a:effectLst/>
        </p:spPr>
        <p:txBody>
          <a:bodyPr wrap="none" rtlCol="0">
            <a:spAutoFit/>
          </a:bodyPr>
          <a:lstStyle/>
          <a:p>
            <a:pPr algn="l"/>
            <a:r>
              <a:rPr lang="en-US" altLang="zh-CN" dirty="0">
                <a:latin typeface="微软雅黑 Light" panose="020B0502040204020203" pitchFamily="34" charset="-122"/>
                <a:ea typeface="微软雅黑 Light" panose="020B0502040204020203" pitchFamily="34" charset="-122"/>
              </a:rPr>
              <a:t>A</a:t>
            </a:r>
            <a:endParaRPr lang="zh-CN" altLang="en-US" dirty="0">
              <a:latin typeface="微软雅黑 Light" panose="020B0502040204020203" pitchFamily="34" charset="-122"/>
              <a:ea typeface="微软雅黑 Light" panose="020B0502040204020203" pitchFamily="34" charset="-122"/>
            </a:endParaRPr>
          </a:p>
        </p:txBody>
      </p:sp>
      <p:sp>
        <p:nvSpPr>
          <p:cNvPr id="67" name="文本框 66"/>
          <p:cNvSpPr txBox="1"/>
          <p:nvPr/>
        </p:nvSpPr>
        <p:spPr bwMode="auto">
          <a:xfrm>
            <a:off x="1881384" y="4565042"/>
            <a:ext cx="320922"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B</a:t>
            </a:r>
            <a:endParaRPr lang="zh-CN" altLang="en-US" dirty="0"/>
          </a:p>
        </p:txBody>
      </p:sp>
      <p:sp>
        <p:nvSpPr>
          <p:cNvPr id="68" name="文本框 67"/>
          <p:cNvSpPr txBox="1"/>
          <p:nvPr/>
        </p:nvSpPr>
        <p:spPr bwMode="auto">
          <a:xfrm>
            <a:off x="2537300" y="5796281"/>
            <a:ext cx="341760"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C</a:t>
            </a:r>
            <a:endParaRPr lang="zh-CN" altLang="en-US" dirty="0"/>
          </a:p>
        </p:txBody>
      </p:sp>
      <p:sp>
        <p:nvSpPr>
          <p:cNvPr id="69" name="文本框 68"/>
          <p:cNvSpPr txBox="1"/>
          <p:nvPr/>
        </p:nvSpPr>
        <p:spPr bwMode="auto">
          <a:xfrm>
            <a:off x="3520950" y="2824455"/>
            <a:ext cx="316112"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K</a:t>
            </a:r>
            <a:endParaRPr lang="zh-CN" altLang="en-US" dirty="0"/>
          </a:p>
        </p:txBody>
      </p:sp>
      <p:pic>
        <p:nvPicPr>
          <p:cNvPr id="70" name="图形 69"/>
          <p:cNvPicPr>
            <a:picLocks noChangeAspect="1"/>
          </p:cNvPicPr>
          <p:nvPr/>
        </p:nvPicPr>
        <p:blipFill>
          <a:blip r:embed="rId3"/>
          <a:stretch>
            <a:fillRect/>
          </a:stretch>
        </p:blipFill>
        <p:spPr>
          <a:xfrm>
            <a:off x="3657117" y="5891007"/>
            <a:ext cx="553968" cy="419433"/>
          </a:xfrm>
          <a:prstGeom prst="rect">
            <a:avLst/>
          </a:prstGeom>
        </p:spPr>
      </p:pic>
      <p:pic>
        <p:nvPicPr>
          <p:cNvPr id="72" name="图形 71"/>
          <p:cNvPicPr>
            <a:picLocks noChangeAspect="1"/>
          </p:cNvPicPr>
          <p:nvPr/>
        </p:nvPicPr>
        <p:blipFill>
          <a:blip r:embed="rId3"/>
          <a:stretch>
            <a:fillRect/>
          </a:stretch>
        </p:blipFill>
        <p:spPr>
          <a:xfrm>
            <a:off x="6181743" y="6016514"/>
            <a:ext cx="553968" cy="419433"/>
          </a:xfrm>
          <a:prstGeom prst="rect">
            <a:avLst/>
          </a:prstGeom>
        </p:spPr>
      </p:pic>
      <p:pic>
        <p:nvPicPr>
          <p:cNvPr id="74" name="图形 73"/>
          <p:cNvPicPr>
            <a:picLocks noChangeAspect="1"/>
          </p:cNvPicPr>
          <p:nvPr/>
        </p:nvPicPr>
        <p:blipFill>
          <a:blip r:embed="rId3"/>
          <a:stretch>
            <a:fillRect/>
          </a:stretch>
        </p:blipFill>
        <p:spPr>
          <a:xfrm>
            <a:off x="7611010" y="5999602"/>
            <a:ext cx="553968" cy="419433"/>
          </a:xfrm>
          <a:prstGeom prst="rect">
            <a:avLst/>
          </a:prstGeom>
        </p:spPr>
      </p:pic>
      <p:pic>
        <p:nvPicPr>
          <p:cNvPr id="76" name="图形 75"/>
          <p:cNvPicPr>
            <a:picLocks noChangeAspect="1"/>
          </p:cNvPicPr>
          <p:nvPr/>
        </p:nvPicPr>
        <p:blipFill>
          <a:blip r:embed="rId3"/>
          <a:stretch>
            <a:fillRect/>
          </a:stretch>
        </p:blipFill>
        <p:spPr>
          <a:xfrm>
            <a:off x="8954452" y="5081693"/>
            <a:ext cx="553968" cy="419433"/>
          </a:xfrm>
          <a:prstGeom prst="rect">
            <a:avLst/>
          </a:prstGeom>
        </p:spPr>
      </p:pic>
      <p:sp>
        <p:nvSpPr>
          <p:cNvPr id="77" name="文本框 76"/>
          <p:cNvSpPr txBox="1"/>
          <p:nvPr/>
        </p:nvSpPr>
        <p:spPr bwMode="auto">
          <a:xfrm>
            <a:off x="9060556" y="5544851"/>
            <a:ext cx="351378" cy="369332"/>
          </a:xfrm>
          <a:prstGeom prst="rect">
            <a:avLst/>
          </a:prstGeom>
          <a:no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G</a:t>
            </a:r>
            <a:endParaRPr lang="zh-CN" altLang="en-US" dirty="0"/>
          </a:p>
        </p:txBody>
      </p:sp>
      <p:pic>
        <p:nvPicPr>
          <p:cNvPr id="78" name="图形 77"/>
          <p:cNvPicPr>
            <a:picLocks noChangeAspect="1"/>
          </p:cNvPicPr>
          <p:nvPr/>
        </p:nvPicPr>
        <p:blipFill>
          <a:blip r:embed="rId3"/>
          <a:stretch>
            <a:fillRect/>
          </a:stretch>
        </p:blipFill>
        <p:spPr>
          <a:xfrm>
            <a:off x="9125332" y="3302495"/>
            <a:ext cx="553968" cy="419433"/>
          </a:xfrm>
          <a:prstGeom prst="rect">
            <a:avLst/>
          </a:prstGeom>
        </p:spPr>
      </p:pic>
      <p:sp>
        <p:nvSpPr>
          <p:cNvPr id="79" name="文本框 78"/>
          <p:cNvSpPr txBox="1"/>
          <p:nvPr/>
        </p:nvSpPr>
        <p:spPr bwMode="auto">
          <a:xfrm>
            <a:off x="9231436" y="3765653"/>
            <a:ext cx="352982" cy="369332"/>
          </a:xfrm>
          <a:prstGeom prst="rect">
            <a:avLst/>
          </a:prstGeom>
          <a:no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H</a:t>
            </a:r>
            <a:endParaRPr lang="zh-CN" altLang="en-US" dirty="0"/>
          </a:p>
        </p:txBody>
      </p:sp>
      <p:pic>
        <p:nvPicPr>
          <p:cNvPr id="80" name="图形 79"/>
          <p:cNvPicPr>
            <a:picLocks noChangeAspect="1"/>
          </p:cNvPicPr>
          <p:nvPr/>
        </p:nvPicPr>
        <p:blipFill>
          <a:blip r:embed="rId3"/>
          <a:stretch>
            <a:fillRect/>
          </a:stretch>
        </p:blipFill>
        <p:spPr>
          <a:xfrm>
            <a:off x="7529102" y="2238866"/>
            <a:ext cx="553968" cy="419433"/>
          </a:xfrm>
          <a:prstGeom prst="rect">
            <a:avLst/>
          </a:prstGeom>
        </p:spPr>
      </p:pic>
      <p:sp>
        <p:nvSpPr>
          <p:cNvPr id="81" name="文本框 80"/>
          <p:cNvSpPr txBox="1"/>
          <p:nvPr/>
        </p:nvSpPr>
        <p:spPr bwMode="auto">
          <a:xfrm>
            <a:off x="7767608" y="2652545"/>
            <a:ext cx="240772" cy="369332"/>
          </a:xfrm>
          <a:prstGeom prst="rect">
            <a:avLst/>
          </a:prstGeom>
          <a:solidFill>
            <a:schemeClr val="bg1"/>
          </a:solidFill>
          <a:ln>
            <a:noFill/>
          </a:ln>
          <a:effectLst/>
        </p:spPr>
        <p:txBody>
          <a:bodyPr wrap="none" rtlCol="0">
            <a:spAutoFit/>
          </a:bodyPr>
          <a:lstStyle>
            <a:defPPr>
              <a:defRPr lang="zh-CN"/>
            </a:defPPr>
            <a:lvl1pPr>
              <a:defRPr>
                <a:latin typeface="微软雅黑 Light" panose="020B0502040204020203" pitchFamily="34" charset="-122"/>
                <a:ea typeface="微软雅黑 Light" panose="020B0502040204020203" pitchFamily="34" charset="-122"/>
              </a:defRPr>
            </a:lvl1pPr>
          </a:lstStyle>
          <a:p>
            <a:r>
              <a:rPr lang="en-US" altLang="zh-CN" dirty="0"/>
              <a:t>I</a:t>
            </a:r>
            <a:endParaRPr lang="zh-CN" altLang="en-US" dirty="0"/>
          </a:p>
        </p:txBody>
      </p:sp>
      <p:pic>
        <p:nvPicPr>
          <p:cNvPr id="82" name="图形 81"/>
          <p:cNvPicPr>
            <a:picLocks noChangeAspect="1"/>
          </p:cNvPicPr>
          <p:nvPr/>
        </p:nvPicPr>
        <p:blipFill>
          <a:blip r:embed="rId3"/>
          <a:stretch>
            <a:fillRect/>
          </a:stretch>
        </p:blipFill>
        <p:spPr>
          <a:xfrm>
            <a:off x="5489889" y="2029149"/>
            <a:ext cx="553968" cy="419433"/>
          </a:xfrm>
          <a:prstGeom prst="rect">
            <a:avLst/>
          </a:prstGeom>
        </p:spPr>
      </p:pic>
      <p:sp>
        <p:nvSpPr>
          <p:cNvPr id="84" name="内容占位符 2"/>
          <p:cNvSpPr>
            <a:spLocks noGrp="1"/>
          </p:cNvSpPr>
          <p:nvPr>
            <p:ph idx="1"/>
          </p:nvPr>
        </p:nvSpPr>
        <p:spPr>
          <a:xfrm>
            <a:off x="334434" y="1052514"/>
            <a:ext cx="11523133" cy="964075"/>
          </a:xfrm>
        </p:spPr>
        <p:txBody>
          <a:bodyPr/>
          <a:lstStyle/>
          <a:p>
            <a:r>
              <a:rPr lang="zh-CN" altLang="en-US" dirty="0"/>
              <a:t>交换是将多条物理链路连接起来，在两个设备间形成一条临时通信路径</a:t>
            </a:r>
            <a:endParaRPr lang="zh-CN" altLang="en-US" dirty="0"/>
          </a:p>
        </p:txBody>
      </p:sp>
      <p:sp>
        <p:nvSpPr>
          <p:cNvPr id="38" name="文本框 37"/>
          <p:cNvSpPr txBox="1"/>
          <p:nvPr/>
        </p:nvSpPr>
        <p:spPr bwMode="auto">
          <a:xfrm>
            <a:off x="4620038" y="3427152"/>
            <a:ext cx="272832" cy="369332"/>
          </a:xfrm>
          <a:prstGeom prst="rect">
            <a:avLst/>
          </a:prstGeom>
          <a:noFill/>
          <a:ln>
            <a:noFill/>
          </a:ln>
          <a:effectLst/>
        </p:spPr>
        <p:txBody>
          <a:bodyPr wrap="none" rtlCol="0">
            <a:spAutoFit/>
          </a:bodyPr>
          <a:lstStyle/>
          <a:p>
            <a:pPr algn="ctr"/>
            <a:r>
              <a:rPr lang="en-US" altLang="zh-CN" dirty="0">
                <a:solidFill>
                  <a:srgbClr val="002060"/>
                </a:solidFill>
                <a:latin typeface="微软雅黑 Light" panose="020B0502040204020203" pitchFamily="34" charset="-122"/>
                <a:ea typeface="微软雅黑 Light" panose="020B0502040204020203" pitchFamily="34" charset="-122"/>
              </a:rPr>
              <a:t>1</a:t>
            </a:r>
            <a:endParaRPr lang="zh-CN" altLang="en-US" dirty="0">
              <a:solidFill>
                <a:srgbClr val="002060"/>
              </a:solidFill>
              <a:latin typeface="微软雅黑 Light" panose="020B0502040204020203" pitchFamily="34" charset="-122"/>
              <a:ea typeface="微软雅黑 Light" panose="020B0502040204020203" pitchFamily="34" charset="-122"/>
            </a:endParaRPr>
          </a:p>
        </p:txBody>
      </p:sp>
      <p:sp>
        <p:nvSpPr>
          <p:cNvPr id="85" name="文本框 84"/>
          <p:cNvSpPr txBox="1"/>
          <p:nvPr/>
        </p:nvSpPr>
        <p:spPr bwMode="auto">
          <a:xfrm>
            <a:off x="6076464" y="3045728"/>
            <a:ext cx="312906" cy="369332"/>
          </a:xfrm>
          <a:prstGeom prst="rect">
            <a:avLst/>
          </a:prstGeom>
          <a:noFill/>
          <a:ln>
            <a:noFill/>
          </a:ln>
          <a:effectLst/>
        </p:spPr>
        <p:txBody>
          <a:bodyPr wrap="none" rtlCol="0">
            <a:spAutoFit/>
          </a:bodyPr>
          <a:lstStyle/>
          <a:p>
            <a:pPr algn="ctr"/>
            <a:r>
              <a:rPr lang="en-US" altLang="zh-CN" dirty="0">
                <a:solidFill>
                  <a:srgbClr val="002060"/>
                </a:solidFill>
                <a:latin typeface="微软雅黑 Light" panose="020B0502040204020203" pitchFamily="34" charset="-122"/>
                <a:ea typeface="微软雅黑 Light" panose="020B0502040204020203" pitchFamily="34" charset="-122"/>
              </a:rPr>
              <a:t>3</a:t>
            </a:r>
            <a:endParaRPr lang="zh-CN" altLang="en-US" dirty="0">
              <a:solidFill>
                <a:srgbClr val="002060"/>
              </a:solidFill>
              <a:latin typeface="微软雅黑 Light" panose="020B0502040204020203" pitchFamily="34" charset="-122"/>
              <a:ea typeface="微软雅黑 Light" panose="020B0502040204020203" pitchFamily="34" charset="-122"/>
            </a:endParaRPr>
          </a:p>
        </p:txBody>
      </p:sp>
      <p:sp>
        <p:nvSpPr>
          <p:cNvPr id="86" name="文本框 85"/>
          <p:cNvSpPr txBox="1"/>
          <p:nvPr/>
        </p:nvSpPr>
        <p:spPr bwMode="auto">
          <a:xfrm>
            <a:off x="7121903" y="3999792"/>
            <a:ext cx="312906" cy="369332"/>
          </a:xfrm>
          <a:prstGeom prst="rect">
            <a:avLst/>
          </a:prstGeom>
          <a:noFill/>
          <a:ln>
            <a:noFill/>
          </a:ln>
          <a:effectLst/>
        </p:spPr>
        <p:txBody>
          <a:bodyPr wrap="none" rtlCol="0">
            <a:spAutoFit/>
          </a:bodyPr>
          <a:lstStyle/>
          <a:p>
            <a:pPr algn="ctr"/>
            <a:r>
              <a:rPr lang="en-US" altLang="zh-CN" dirty="0">
                <a:solidFill>
                  <a:srgbClr val="002060"/>
                </a:solidFill>
                <a:latin typeface="微软雅黑 Light" panose="020B0502040204020203" pitchFamily="34" charset="-122"/>
                <a:ea typeface="微软雅黑 Light" panose="020B0502040204020203" pitchFamily="34" charset="-122"/>
              </a:rPr>
              <a:t>5</a:t>
            </a:r>
            <a:endParaRPr lang="zh-CN" altLang="en-US" dirty="0">
              <a:solidFill>
                <a:srgbClr val="002060"/>
              </a:solidFill>
              <a:latin typeface="微软雅黑 Light" panose="020B0502040204020203" pitchFamily="34" charset="-122"/>
              <a:ea typeface="微软雅黑 Light" panose="020B0502040204020203" pitchFamily="34" charset="-122"/>
            </a:endParaRPr>
          </a:p>
        </p:txBody>
      </p:sp>
      <p:sp>
        <p:nvSpPr>
          <p:cNvPr id="87" name="文本框 86"/>
          <p:cNvSpPr txBox="1"/>
          <p:nvPr/>
        </p:nvSpPr>
        <p:spPr bwMode="auto">
          <a:xfrm>
            <a:off x="7047504" y="4733449"/>
            <a:ext cx="317716" cy="369332"/>
          </a:xfrm>
          <a:prstGeom prst="rect">
            <a:avLst/>
          </a:prstGeom>
          <a:noFill/>
          <a:ln>
            <a:noFill/>
          </a:ln>
          <a:effectLst/>
        </p:spPr>
        <p:txBody>
          <a:bodyPr wrap="none" rtlCol="0">
            <a:spAutoFit/>
          </a:bodyPr>
          <a:lstStyle/>
          <a:p>
            <a:pPr algn="ctr"/>
            <a:r>
              <a:rPr lang="en-US" altLang="zh-CN" dirty="0">
                <a:solidFill>
                  <a:srgbClr val="002060"/>
                </a:solidFill>
                <a:latin typeface="微软雅黑 Light" panose="020B0502040204020203" pitchFamily="34" charset="-122"/>
                <a:ea typeface="微软雅黑 Light" panose="020B0502040204020203" pitchFamily="34" charset="-122"/>
              </a:rPr>
              <a:t>4</a:t>
            </a:r>
            <a:endParaRPr lang="zh-CN" altLang="en-US" dirty="0">
              <a:solidFill>
                <a:srgbClr val="002060"/>
              </a:solidFill>
              <a:latin typeface="微软雅黑 Light" panose="020B0502040204020203" pitchFamily="34" charset="-122"/>
              <a:ea typeface="微软雅黑 Light" panose="020B0502040204020203" pitchFamily="34" charset="-122"/>
            </a:endParaRPr>
          </a:p>
        </p:txBody>
      </p:sp>
      <p:sp>
        <p:nvSpPr>
          <p:cNvPr id="88" name="文本框 87"/>
          <p:cNvSpPr txBox="1"/>
          <p:nvPr/>
        </p:nvSpPr>
        <p:spPr bwMode="auto">
          <a:xfrm>
            <a:off x="4436340" y="4741122"/>
            <a:ext cx="312906" cy="369332"/>
          </a:xfrm>
          <a:prstGeom prst="rect">
            <a:avLst/>
          </a:prstGeom>
          <a:noFill/>
          <a:ln>
            <a:noFill/>
          </a:ln>
          <a:effectLst/>
        </p:spPr>
        <p:txBody>
          <a:bodyPr wrap="none" rtlCol="0">
            <a:spAutoFit/>
          </a:bodyPr>
          <a:lstStyle/>
          <a:p>
            <a:pPr algn="ctr"/>
            <a:r>
              <a:rPr lang="en-US" altLang="zh-CN" dirty="0">
                <a:solidFill>
                  <a:srgbClr val="002060"/>
                </a:solidFill>
                <a:latin typeface="微软雅黑 Light" panose="020B0502040204020203" pitchFamily="34" charset="-122"/>
                <a:ea typeface="微软雅黑 Light" panose="020B0502040204020203" pitchFamily="34" charset="-122"/>
              </a:rPr>
              <a:t>2</a:t>
            </a:r>
            <a:endParaRPr lang="zh-CN" altLang="en-US" dirty="0">
              <a:solidFill>
                <a:srgbClr val="00206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r>
              <a:rPr lang="en-US" altLang="zh-CN" dirty="0"/>
              <a:t>2.4 </a:t>
            </a:r>
            <a:r>
              <a:rPr lang="zh-CN" altLang="en-US" dirty="0"/>
              <a:t>数据交换技术</a:t>
            </a:r>
            <a:endParaRPr lang="zh-CN" altLang="en-US" dirty="0"/>
          </a:p>
        </p:txBody>
      </p:sp>
      <p:sp>
        <p:nvSpPr>
          <p:cNvPr id="463875" name="Rectangle 3"/>
          <p:cNvSpPr>
            <a:spLocks noGrp="1" noChangeArrowheads="1"/>
          </p:cNvSpPr>
          <p:nvPr>
            <p:ph idx="1"/>
          </p:nvPr>
        </p:nvSpPr>
        <p:spPr/>
        <p:txBody>
          <a:bodyPr/>
          <a:lstStyle/>
          <a:p>
            <a:r>
              <a:rPr lang="zh-CN" altLang="en-US" dirty="0"/>
              <a:t>当存在多个通信设备时，如何使每两个设备之间能够通信？</a:t>
            </a:r>
            <a:endParaRPr lang="zh-CN" altLang="en-US" dirty="0"/>
          </a:p>
          <a:p>
            <a:r>
              <a:rPr lang="zh-CN" altLang="en-US" dirty="0"/>
              <a:t>交换技术</a:t>
            </a:r>
            <a:endParaRPr lang="en-US" altLang="zh-CN" dirty="0"/>
          </a:p>
          <a:p>
            <a:pPr lvl="1"/>
            <a:r>
              <a:rPr lang="zh-CN" altLang="en-US" dirty="0"/>
              <a:t>没有物理链路直接连接的两个或多个设备之间能够通信的技术</a:t>
            </a:r>
            <a:endParaRPr lang="en-US" altLang="zh-CN" dirty="0"/>
          </a:p>
          <a:p>
            <a:r>
              <a:rPr lang="zh-CN" altLang="en-US" dirty="0"/>
              <a:t>三种基本交换方式</a:t>
            </a:r>
            <a:endParaRPr lang="en-US" altLang="zh-CN" dirty="0"/>
          </a:p>
          <a:p>
            <a:pPr lvl="1"/>
            <a:r>
              <a:rPr lang="zh-CN" altLang="en-US" dirty="0"/>
              <a:t>电路交换</a:t>
            </a:r>
            <a:endParaRPr lang="en-US" altLang="zh-CN" dirty="0"/>
          </a:p>
          <a:p>
            <a:pPr lvl="1"/>
            <a:r>
              <a:rPr lang="zh-CN" altLang="en-US" dirty="0"/>
              <a:t>分组交换</a:t>
            </a:r>
            <a:endParaRPr lang="en-US" altLang="zh-CN" dirty="0"/>
          </a:p>
          <a:p>
            <a:pPr lvl="1"/>
            <a:r>
              <a:rPr lang="zh-CN" altLang="en-US" dirty="0"/>
              <a:t>报文交换</a:t>
            </a:r>
            <a:endParaRPr lang="en-US" altLang="zh-CN" dirty="0"/>
          </a:p>
          <a:p>
            <a:r>
              <a:rPr lang="zh-CN" altLang="en-US" dirty="0"/>
              <a:t>其它交换技术</a:t>
            </a:r>
            <a:endParaRPr lang="en-US" altLang="zh-CN" dirty="0"/>
          </a:p>
          <a:p>
            <a:pPr lvl="1"/>
            <a:r>
              <a:rPr lang="en-US" altLang="zh-CN" dirty="0"/>
              <a:t>ATM</a:t>
            </a:r>
            <a:r>
              <a:rPr lang="zh-CN" altLang="en-US" dirty="0"/>
              <a:t>交换（信元交换）</a:t>
            </a:r>
            <a:endParaRPr lang="en-US" altLang="zh-CN" dirty="0"/>
          </a:p>
          <a:p>
            <a:pPr lvl="1"/>
            <a:r>
              <a:rPr lang="zh-CN" altLang="en-US" dirty="0"/>
              <a:t>帧中继</a:t>
            </a:r>
            <a:endParaRPr lang="zh-CN" altLang="en-US" dirty="0"/>
          </a:p>
          <a:p>
            <a:endParaRPr lang="zh-CN" altLang="en-US" dirty="0"/>
          </a:p>
        </p:txBody>
      </p:sp>
      <p:sp>
        <p:nvSpPr>
          <p:cNvPr id="6" name="灯片编号占位符 5"/>
          <p:cNvSpPr>
            <a:spLocks noGrp="1"/>
          </p:cNvSpPr>
          <p:nvPr>
            <p:ph type="sldNum" sz="quarter" idx="12"/>
          </p:nvPr>
        </p:nvSpPr>
        <p:spPr/>
        <p:txBody>
          <a:bodyPr/>
          <a:lstStyle/>
          <a:p>
            <a:fld id="{5B4DC291-3C35-46AA-A7E7-55968BC48CA3}" type="slidenum">
              <a:rPr lang="en-US" altLang="zh-CN"/>
            </a:fld>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r>
              <a:rPr lang="zh-CN" altLang="en-US" dirty="0"/>
              <a:t>电路交换</a:t>
            </a:r>
            <a:endParaRPr lang="zh-CN" altLang="en-US" dirty="0"/>
          </a:p>
        </p:txBody>
      </p:sp>
      <p:sp>
        <p:nvSpPr>
          <p:cNvPr id="465923" name="Rectangle 3"/>
          <p:cNvSpPr>
            <a:spLocks noGrp="1" noChangeArrowheads="1"/>
          </p:cNvSpPr>
          <p:nvPr>
            <p:ph idx="1"/>
          </p:nvPr>
        </p:nvSpPr>
        <p:spPr>
          <a:xfrm>
            <a:off x="334434" y="1052514"/>
            <a:ext cx="11523133" cy="1956681"/>
          </a:xfrm>
        </p:spPr>
        <p:txBody>
          <a:bodyPr>
            <a:normAutofit fontScale="92500" lnSpcReduction="10000"/>
          </a:bodyPr>
          <a:lstStyle/>
          <a:p>
            <a:r>
              <a:rPr lang="zh-CN" altLang="en-US" dirty="0"/>
              <a:t>电路交换是在两个设备之间创建一条临时的物理连接</a:t>
            </a:r>
            <a:endParaRPr lang="en-US" altLang="zh-CN" dirty="0"/>
          </a:p>
          <a:p>
            <a:pPr lvl="1"/>
            <a:r>
              <a:rPr lang="zh-CN" altLang="en-US" dirty="0"/>
              <a:t>在通信开始之前，要在两个通信设备之间建立起一条完全被通信双方所占用的物理通路</a:t>
            </a:r>
            <a:endParaRPr lang="zh-CN" altLang="en-US" dirty="0"/>
          </a:p>
          <a:p>
            <a:pPr lvl="1"/>
            <a:r>
              <a:rPr lang="zh-CN" altLang="en-US" dirty="0"/>
              <a:t>可以把电路交换机看作是一个多路开关</a:t>
            </a:r>
            <a:endParaRPr lang="en-US" altLang="zh-CN" dirty="0"/>
          </a:p>
          <a:p>
            <a:r>
              <a:rPr lang="zh-CN" altLang="en-US" dirty="0"/>
              <a:t>电路交换过程包括：电路建立、数据传输、电路拆除</a:t>
            </a:r>
            <a:endParaRPr lang="zh-CN" altLang="en-US" dirty="0"/>
          </a:p>
          <a:p>
            <a:pPr lvl="1"/>
            <a:endParaRPr lang="zh-CN" altLang="en-US" dirty="0"/>
          </a:p>
        </p:txBody>
      </p:sp>
      <p:sp>
        <p:nvSpPr>
          <p:cNvPr id="6" name="灯片编号占位符 5"/>
          <p:cNvSpPr>
            <a:spLocks noGrp="1"/>
          </p:cNvSpPr>
          <p:nvPr>
            <p:ph type="sldNum" sz="quarter" idx="12"/>
          </p:nvPr>
        </p:nvSpPr>
        <p:spPr/>
        <p:txBody>
          <a:bodyPr/>
          <a:lstStyle/>
          <a:p>
            <a:fld id="{0C613674-86D5-485A-8056-3A765750A4D1}" type="slidenum">
              <a:rPr lang="en-US" altLang="zh-CN"/>
            </a:fld>
            <a:endParaRPr lang="en-US" altLang="zh-CN" dirty="0"/>
          </a:p>
        </p:txBody>
      </p:sp>
      <p:pic>
        <p:nvPicPr>
          <p:cNvPr id="9" name="Picture 8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36976" y="2861555"/>
            <a:ext cx="5040313"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6"/>
          <p:cNvGrpSpPr/>
          <p:nvPr/>
        </p:nvGrpSpPr>
        <p:grpSpPr bwMode="auto">
          <a:xfrm>
            <a:off x="4529138" y="4301418"/>
            <a:ext cx="863600" cy="792162"/>
            <a:chOff x="1292" y="3067"/>
            <a:chExt cx="544" cy="499"/>
          </a:xfrm>
        </p:grpSpPr>
        <p:sp>
          <p:nvSpPr>
            <p:cNvPr id="156" name="Rectangle 7"/>
            <p:cNvSpPr>
              <a:spLocks noChangeArrowheads="1"/>
            </p:cNvSpPr>
            <p:nvPr/>
          </p:nvSpPr>
          <p:spPr bwMode="auto">
            <a:xfrm>
              <a:off x="1292" y="3067"/>
              <a:ext cx="544" cy="499"/>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7" name="Oval 8"/>
            <p:cNvSpPr>
              <a:spLocks noChangeAspect="1" noChangeArrowheads="1"/>
            </p:cNvSpPr>
            <p:nvPr/>
          </p:nvSpPr>
          <p:spPr bwMode="auto">
            <a:xfrm>
              <a:off x="1383" y="3430"/>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8" name="Oval 9"/>
            <p:cNvSpPr>
              <a:spLocks noChangeAspect="1" noChangeArrowheads="1"/>
            </p:cNvSpPr>
            <p:nvPr/>
          </p:nvSpPr>
          <p:spPr bwMode="auto">
            <a:xfrm>
              <a:off x="1698" y="3224"/>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9" name="Oval 10"/>
            <p:cNvSpPr>
              <a:spLocks noChangeAspect="1" noChangeArrowheads="1"/>
            </p:cNvSpPr>
            <p:nvPr/>
          </p:nvSpPr>
          <p:spPr bwMode="auto">
            <a:xfrm>
              <a:off x="1383" y="3158"/>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60" name="Oval 11"/>
            <p:cNvSpPr>
              <a:spLocks noChangeAspect="1" noChangeArrowheads="1"/>
            </p:cNvSpPr>
            <p:nvPr/>
          </p:nvSpPr>
          <p:spPr bwMode="auto">
            <a:xfrm>
              <a:off x="1383" y="3294"/>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61" name="Oval 12"/>
            <p:cNvSpPr>
              <a:spLocks noChangeAspect="1" noChangeArrowheads="1"/>
            </p:cNvSpPr>
            <p:nvPr/>
          </p:nvSpPr>
          <p:spPr bwMode="auto">
            <a:xfrm>
              <a:off x="1701" y="3354"/>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62" name="Line 13"/>
            <p:cNvSpPr>
              <a:spLocks noChangeShapeType="1"/>
            </p:cNvSpPr>
            <p:nvPr/>
          </p:nvSpPr>
          <p:spPr bwMode="auto">
            <a:xfrm flipH="1" flipV="1">
              <a:off x="1453" y="3197"/>
              <a:ext cx="245" cy="58"/>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63" name="Line 14"/>
            <p:cNvSpPr>
              <a:spLocks noChangeShapeType="1"/>
            </p:cNvSpPr>
            <p:nvPr/>
          </p:nvSpPr>
          <p:spPr bwMode="auto">
            <a:xfrm flipH="1">
              <a:off x="1459" y="3400"/>
              <a:ext cx="239" cy="6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11" name="Group 15"/>
          <p:cNvGrpSpPr/>
          <p:nvPr/>
        </p:nvGrpSpPr>
        <p:grpSpPr bwMode="auto">
          <a:xfrm>
            <a:off x="6938963" y="3725156"/>
            <a:ext cx="830262" cy="720725"/>
            <a:chOff x="1994" y="3067"/>
            <a:chExt cx="523" cy="454"/>
          </a:xfrm>
        </p:grpSpPr>
        <p:sp>
          <p:nvSpPr>
            <p:cNvPr id="150" name="Rectangle 16"/>
            <p:cNvSpPr>
              <a:spLocks noChangeArrowheads="1"/>
            </p:cNvSpPr>
            <p:nvPr/>
          </p:nvSpPr>
          <p:spPr bwMode="auto">
            <a:xfrm>
              <a:off x="1994" y="3067"/>
              <a:ext cx="523" cy="45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1" name="Oval 17"/>
            <p:cNvSpPr>
              <a:spLocks noChangeAspect="1" noChangeArrowheads="1"/>
            </p:cNvSpPr>
            <p:nvPr/>
          </p:nvSpPr>
          <p:spPr bwMode="auto">
            <a:xfrm>
              <a:off x="2064" y="3402"/>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2" name="Oval 18"/>
            <p:cNvSpPr>
              <a:spLocks noChangeAspect="1" noChangeArrowheads="1"/>
            </p:cNvSpPr>
            <p:nvPr/>
          </p:nvSpPr>
          <p:spPr bwMode="auto">
            <a:xfrm>
              <a:off x="2382" y="3130"/>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3" name="Oval 19"/>
            <p:cNvSpPr>
              <a:spLocks noChangeAspect="1" noChangeArrowheads="1"/>
            </p:cNvSpPr>
            <p:nvPr/>
          </p:nvSpPr>
          <p:spPr bwMode="auto">
            <a:xfrm>
              <a:off x="2064" y="3130"/>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4" name="Oval 20"/>
            <p:cNvSpPr>
              <a:spLocks noChangeAspect="1" noChangeArrowheads="1"/>
            </p:cNvSpPr>
            <p:nvPr/>
          </p:nvSpPr>
          <p:spPr bwMode="auto">
            <a:xfrm>
              <a:off x="2382" y="3402"/>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55" name="Line 21"/>
            <p:cNvSpPr>
              <a:spLocks noChangeShapeType="1"/>
            </p:cNvSpPr>
            <p:nvPr/>
          </p:nvSpPr>
          <p:spPr bwMode="auto">
            <a:xfrm flipH="1" flipV="1">
              <a:off x="2125" y="3188"/>
              <a:ext cx="264" cy="22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12" name="Group 22"/>
          <p:cNvGrpSpPr/>
          <p:nvPr/>
        </p:nvGrpSpPr>
        <p:grpSpPr bwMode="auto">
          <a:xfrm>
            <a:off x="6938963" y="4877681"/>
            <a:ext cx="830262" cy="720725"/>
            <a:chOff x="1994" y="3067"/>
            <a:chExt cx="523" cy="454"/>
          </a:xfrm>
        </p:grpSpPr>
        <p:sp>
          <p:nvSpPr>
            <p:cNvPr id="144" name="Rectangle 23"/>
            <p:cNvSpPr>
              <a:spLocks noChangeArrowheads="1"/>
            </p:cNvSpPr>
            <p:nvPr/>
          </p:nvSpPr>
          <p:spPr bwMode="auto">
            <a:xfrm>
              <a:off x="1994" y="3067"/>
              <a:ext cx="523" cy="45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45" name="Oval 24"/>
            <p:cNvSpPr>
              <a:spLocks noChangeAspect="1" noChangeArrowheads="1"/>
            </p:cNvSpPr>
            <p:nvPr/>
          </p:nvSpPr>
          <p:spPr bwMode="auto">
            <a:xfrm>
              <a:off x="2064" y="3402"/>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46" name="Oval 25"/>
            <p:cNvSpPr>
              <a:spLocks noChangeAspect="1" noChangeArrowheads="1"/>
            </p:cNvSpPr>
            <p:nvPr/>
          </p:nvSpPr>
          <p:spPr bwMode="auto">
            <a:xfrm>
              <a:off x="2382" y="3130"/>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47" name="Oval 26"/>
            <p:cNvSpPr>
              <a:spLocks noChangeAspect="1" noChangeArrowheads="1"/>
            </p:cNvSpPr>
            <p:nvPr/>
          </p:nvSpPr>
          <p:spPr bwMode="auto">
            <a:xfrm>
              <a:off x="2064" y="3130"/>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48" name="Oval 27"/>
            <p:cNvSpPr>
              <a:spLocks noChangeAspect="1" noChangeArrowheads="1"/>
            </p:cNvSpPr>
            <p:nvPr/>
          </p:nvSpPr>
          <p:spPr bwMode="auto">
            <a:xfrm>
              <a:off x="2382" y="3402"/>
              <a:ext cx="73" cy="73"/>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149" name="Line 28"/>
            <p:cNvSpPr>
              <a:spLocks noChangeShapeType="1"/>
            </p:cNvSpPr>
            <p:nvPr/>
          </p:nvSpPr>
          <p:spPr bwMode="auto">
            <a:xfrm flipH="1" flipV="1">
              <a:off x="2125" y="3188"/>
              <a:ext cx="264" cy="224"/>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13" name="Line 35"/>
          <p:cNvSpPr>
            <a:spLocks noChangeShapeType="1"/>
          </p:cNvSpPr>
          <p:nvPr/>
        </p:nvSpPr>
        <p:spPr bwMode="auto">
          <a:xfrm>
            <a:off x="3305176" y="3509255"/>
            <a:ext cx="1370013" cy="95885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4" name="Line 36"/>
          <p:cNvSpPr>
            <a:spLocks noChangeShapeType="1"/>
          </p:cNvSpPr>
          <p:nvPr/>
        </p:nvSpPr>
        <p:spPr bwMode="auto">
          <a:xfrm flipV="1">
            <a:off x="3305175" y="4733218"/>
            <a:ext cx="1366838"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5" name="Line 37"/>
          <p:cNvSpPr>
            <a:spLocks noChangeShapeType="1"/>
          </p:cNvSpPr>
          <p:nvPr/>
        </p:nvSpPr>
        <p:spPr bwMode="auto">
          <a:xfrm flipV="1">
            <a:off x="3305176" y="4971343"/>
            <a:ext cx="1368425" cy="113030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6" name="Line 38"/>
          <p:cNvSpPr>
            <a:spLocks noChangeShapeType="1"/>
          </p:cNvSpPr>
          <p:nvPr/>
        </p:nvSpPr>
        <p:spPr bwMode="auto">
          <a:xfrm>
            <a:off x="5289550" y="4823705"/>
            <a:ext cx="1758950" cy="19685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7" name="Line 39"/>
          <p:cNvSpPr>
            <a:spLocks noChangeShapeType="1"/>
          </p:cNvSpPr>
          <p:nvPr/>
        </p:nvSpPr>
        <p:spPr bwMode="auto">
          <a:xfrm flipV="1">
            <a:off x="5289550" y="3896605"/>
            <a:ext cx="1752600" cy="69215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8" name="Line 40"/>
          <p:cNvSpPr>
            <a:spLocks noChangeShapeType="1"/>
          </p:cNvSpPr>
          <p:nvPr/>
        </p:nvSpPr>
        <p:spPr bwMode="auto">
          <a:xfrm flipV="1">
            <a:off x="7673976" y="4326818"/>
            <a:ext cx="167957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9" name="Line 41"/>
          <p:cNvSpPr>
            <a:spLocks noChangeShapeType="1"/>
          </p:cNvSpPr>
          <p:nvPr/>
        </p:nvSpPr>
        <p:spPr bwMode="auto">
          <a:xfrm>
            <a:off x="7670800" y="5042780"/>
            <a:ext cx="1682750" cy="28575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0" name="Line 42"/>
          <p:cNvSpPr>
            <a:spLocks noChangeShapeType="1"/>
          </p:cNvSpPr>
          <p:nvPr/>
        </p:nvSpPr>
        <p:spPr bwMode="auto">
          <a:xfrm flipV="1">
            <a:off x="7677150" y="3269543"/>
            <a:ext cx="1676400" cy="60325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1" name="Line 43"/>
          <p:cNvSpPr>
            <a:spLocks noChangeShapeType="1"/>
          </p:cNvSpPr>
          <p:nvPr/>
        </p:nvSpPr>
        <p:spPr bwMode="auto">
          <a:xfrm>
            <a:off x="7662863" y="5495218"/>
            <a:ext cx="1695450" cy="906462"/>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5" name="Text Box 47"/>
          <p:cNvSpPr txBox="1">
            <a:spLocks noChangeArrowheads="1"/>
          </p:cNvSpPr>
          <p:nvPr/>
        </p:nvSpPr>
        <p:spPr bwMode="auto">
          <a:xfrm>
            <a:off x="4816476" y="3869618"/>
            <a:ext cx="3032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dirty="0">
                <a:solidFill>
                  <a:schemeClr val="tx2"/>
                </a:solidFill>
                <a:latin typeface="微软雅黑 Light" panose="020B0502040204020203" pitchFamily="34" charset="-122"/>
              </a:rPr>
              <a:t>1</a:t>
            </a:r>
            <a:endParaRPr lang="en-US" altLang="zh-CN" sz="2400" dirty="0">
              <a:solidFill>
                <a:schemeClr val="tx2"/>
              </a:solidFill>
              <a:latin typeface="微软雅黑 Light" panose="020B0502040204020203" pitchFamily="34" charset="-122"/>
            </a:endParaRPr>
          </a:p>
        </p:txBody>
      </p:sp>
      <p:sp>
        <p:nvSpPr>
          <p:cNvPr id="26" name="Text Box 48"/>
          <p:cNvSpPr txBox="1">
            <a:spLocks noChangeArrowheads="1"/>
          </p:cNvSpPr>
          <p:nvPr/>
        </p:nvSpPr>
        <p:spPr bwMode="auto">
          <a:xfrm>
            <a:off x="6616701" y="336479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dirty="0">
                <a:solidFill>
                  <a:schemeClr val="tx2"/>
                </a:solidFill>
                <a:latin typeface="微软雅黑 Light" panose="020B0502040204020203" pitchFamily="34" charset="-122"/>
              </a:rPr>
              <a:t>2</a:t>
            </a:r>
            <a:endParaRPr lang="en-US" altLang="zh-CN" sz="2400" dirty="0">
              <a:solidFill>
                <a:schemeClr val="tx2"/>
              </a:solidFill>
              <a:latin typeface="微软雅黑 Light" panose="020B0502040204020203" pitchFamily="34" charset="-122"/>
            </a:endParaRPr>
          </a:p>
        </p:txBody>
      </p:sp>
      <p:sp>
        <p:nvSpPr>
          <p:cNvPr id="27" name="Text Box 49"/>
          <p:cNvSpPr txBox="1">
            <a:spLocks noChangeArrowheads="1"/>
          </p:cNvSpPr>
          <p:nvPr/>
        </p:nvSpPr>
        <p:spPr bwMode="auto">
          <a:xfrm>
            <a:off x="6623051" y="538091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dirty="0">
                <a:solidFill>
                  <a:schemeClr val="tx2"/>
                </a:solidFill>
                <a:latin typeface="微软雅黑 Light" panose="020B0502040204020203" pitchFamily="34" charset="-122"/>
              </a:rPr>
              <a:t>3</a:t>
            </a:r>
            <a:endParaRPr lang="en-US" altLang="zh-CN" sz="2400" dirty="0">
              <a:solidFill>
                <a:schemeClr val="tx2"/>
              </a:solidFill>
              <a:latin typeface="微软雅黑 Light" panose="020B0502040204020203" pitchFamily="34" charset="-122"/>
            </a:endParaRPr>
          </a:p>
        </p:txBody>
      </p:sp>
      <p:sp>
        <p:nvSpPr>
          <p:cNvPr id="164" name="Text Box 44"/>
          <p:cNvSpPr txBox="1">
            <a:spLocks noChangeArrowheads="1"/>
          </p:cNvSpPr>
          <p:nvPr/>
        </p:nvSpPr>
        <p:spPr bwMode="auto">
          <a:xfrm>
            <a:off x="2282021" y="2996919"/>
            <a:ext cx="1199367" cy="830997"/>
          </a:xfrm>
          <a:prstGeom prst="rect">
            <a:avLst/>
          </a:prstGeom>
          <a:noFill/>
          <a:ln>
            <a:noFill/>
          </a:ln>
          <a:effectLst/>
        </p:spPr>
        <p:txBody>
          <a:bodyPr wrap="none">
            <a:spAutoFit/>
          </a:bodyPr>
          <a:lstStyle/>
          <a:p>
            <a:pPr algn="l"/>
            <a:r>
              <a:rPr kumimoji="1" lang="en-US" altLang="zh-CN" sz="3600" dirty="0">
                <a:solidFill>
                  <a:srgbClr val="0070C0"/>
                </a:solidFill>
                <a:latin typeface="微软雅黑 Light" panose="020B0502040204020203" pitchFamily="34" charset="-122"/>
                <a:ea typeface="微软雅黑 Light" panose="020B0502040204020203" pitchFamily="34" charset="-122"/>
              </a:rPr>
              <a:t>A</a:t>
            </a:r>
            <a:r>
              <a:rPr kumimoji="1" lang="en-US" altLang="zh-CN" sz="4800" dirty="0">
                <a:solidFill>
                  <a:srgbClr val="0070C0"/>
                </a:solidFill>
                <a:latin typeface="Wingdings" panose="05000000000000000000" pitchFamily="2" charset="2"/>
              </a:rPr>
              <a:t>(</a:t>
            </a:r>
            <a:endParaRPr kumimoji="1" lang="en-US" altLang="zh-CN" sz="4800" dirty="0">
              <a:solidFill>
                <a:srgbClr val="0070C0"/>
              </a:solidFill>
              <a:latin typeface="Wingdings" panose="05000000000000000000" pitchFamily="2" charset="2"/>
            </a:endParaRPr>
          </a:p>
        </p:txBody>
      </p:sp>
      <p:sp>
        <p:nvSpPr>
          <p:cNvPr id="165" name="Text Box 44"/>
          <p:cNvSpPr txBox="1">
            <a:spLocks noChangeArrowheads="1"/>
          </p:cNvSpPr>
          <p:nvPr/>
        </p:nvSpPr>
        <p:spPr bwMode="auto">
          <a:xfrm>
            <a:off x="2273692" y="4211783"/>
            <a:ext cx="1122423" cy="830997"/>
          </a:xfrm>
          <a:prstGeom prst="rect">
            <a:avLst/>
          </a:prstGeom>
          <a:noFill/>
          <a:ln>
            <a:noFill/>
          </a:ln>
          <a:effectLst/>
        </p:spPr>
        <p:txBody>
          <a:bodyPr wrap="none">
            <a:spAutoFit/>
          </a:bodyPr>
          <a:lstStyle/>
          <a:p>
            <a:pPr algn="l"/>
            <a:r>
              <a:rPr kumimoji="1" lang="en-US" altLang="zh-CN" sz="3600" dirty="0">
                <a:solidFill>
                  <a:srgbClr val="0070C0"/>
                </a:solidFill>
                <a:latin typeface="微软雅黑 Light" panose="020B0502040204020203" pitchFamily="34" charset="-122"/>
                <a:ea typeface="微软雅黑 Light" panose="020B0502040204020203" pitchFamily="34" charset="-122"/>
              </a:rPr>
              <a:t>B</a:t>
            </a:r>
            <a:r>
              <a:rPr kumimoji="1" lang="en-US" altLang="zh-CN" sz="4800" dirty="0">
                <a:solidFill>
                  <a:srgbClr val="0070C0"/>
                </a:solidFill>
                <a:latin typeface="Wingdings" panose="05000000000000000000" pitchFamily="2" charset="2"/>
              </a:rPr>
              <a:t>(</a:t>
            </a:r>
            <a:endParaRPr kumimoji="1" lang="en-US" altLang="zh-CN" sz="4800" dirty="0">
              <a:solidFill>
                <a:srgbClr val="0070C0"/>
              </a:solidFill>
              <a:latin typeface="Wingdings" panose="05000000000000000000" pitchFamily="2" charset="2"/>
            </a:endParaRPr>
          </a:p>
        </p:txBody>
      </p:sp>
      <p:sp>
        <p:nvSpPr>
          <p:cNvPr id="166" name="Text Box 44"/>
          <p:cNvSpPr txBox="1">
            <a:spLocks noChangeArrowheads="1"/>
          </p:cNvSpPr>
          <p:nvPr/>
        </p:nvSpPr>
        <p:spPr bwMode="auto">
          <a:xfrm>
            <a:off x="2273691" y="5598406"/>
            <a:ext cx="1199367" cy="830997"/>
          </a:xfrm>
          <a:prstGeom prst="rect">
            <a:avLst/>
          </a:prstGeom>
          <a:noFill/>
          <a:ln>
            <a:noFill/>
          </a:ln>
          <a:effectLst/>
        </p:spPr>
        <p:txBody>
          <a:bodyPr wrap="none">
            <a:spAutoFit/>
          </a:bodyPr>
          <a:lstStyle/>
          <a:p>
            <a:pPr algn="l"/>
            <a:r>
              <a:rPr kumimoji="1" lang="en-US" altLang="zh-CN" sz="3600" dirty="0">
                <a:solidFill>
                  <a:srgbClr val="0070C0"/>
                </a:solidFill>
                <a:latin typeface="微软雅黑 Light" panose="020B0502040204020203" pitchFamily="34" charset="-122"/>
                <a:ea typeface="微软雅黑 Light" panose="020B0502040204020203" pitchFamily="34" charset="-122"/>
              </a:rPr>
              <a:t>C</a:t>
            </a:r>
            <a:r>
              <a:rPr kumimoji="1" lang="en-US" altLang="zh-CN" sz="4800" dirty="0">
                <a:solidFill>
                  <a:srgbClr val="0070C0"/>
                </a:solidFill>
                <a:latin typeface="Wingdings" panose="05000000000000000000" pitchFamily="2" charset="2"/>
              </a:rPr>
              <a:t>(</a:t>
            </a:r>
            <a:endParaRPr kumimoji="1" lang="en-US" altLang="zh-CN" sz="4800" dirty="0">
              <a:solidFill>
                <a:srgbClr val="0070C0"/>
              </a:solidFill>
              <a:latin typeface="Wingdings" panose="05000000000000000000" pitchFamily="2" charset="2"/>
            </a:endParaRPr>
          </a:p>
        </p:txBody>
      </p:sp>
      <p:sp>
        <p:nvSpPr>
          <p:cNvPr id="167" name="Text Box 44"/>
          <p:cNvSpPr txBox="1">
            <a:spLocks noChangeArrowheads="1"/>
          </p:cNvSpPr>
          <p:nvPr/>
        </p:nvSpPr>
        <p:spPr bwMode="auto">
          <a:xfrm>
            <a:off x="9223554" y="2786237"/>
            <a:ext cx="1029449" cy="830997"/>
          </a:xfrm>
          <a:prstGeom prst="rect">
            <a:avLst/>
          </a:prstGeom>
          <a:noFill/>
          <a:ln>
            <a:noFill/>
          </a:ln>
          <a:effectLst/>
        </p:spPr>
        <p:txBody>
          <a:bodyPr wrap="none">
            <a:spAutoFit/>
          </a:bodyPr>
          <a:lstStyle/>
          <a:p>
            <a:pPr algn="l"/>
            <a:r>
              <a:rPr kumimoji="1" lang="en-US" altLang="zh-CN" sz="4800" dirty="0">
                <a:solidFill>
                  <a:srgbClr val="0070C0"/>
                </a:solidFill>
                <a:latin typeface="Wingdings" panose="05000000000000000000" pitchFamily="2" charset="2"/>
              </a:rPr>
              <a:t>(</a:t>
            </a:r>
            <a:r>
              <a:rPr kumimoji="1" lang="en-US" altLang="zh-CN" sz="3600" dirty="0">
                <a:solidFill>
                  <a:srgbClr val="0070C0"/>
                </a:solidFill>
                <a:latin typeface="微软雅黑 Light" panose="020B0502040204020203" pitchFamily="34" charset="-122"/>
                <a:ea typeface="微软雅黑 Light" panose="020B0502040204020203" pitchFamily="34" charset="-122"/>
              </a:rPr>
              <a:t>1</a:t>
            </a:r>
            <a:endParaRPr kumimoji="1" lang="en-US" altLang="zh-CN" sz="4800" dirty="0">
              <a:solidFill>
                <a:srgbClr val="0070C0"/>
              </a:solidFill>
              <a:latin typeface="微软雅黑 Light" panose="020B0502040204020203" pitchFamily="34" charset="-122"/>
              <a:ea typeface="微软雅黑 Light" panose="020B0502040204020203" pitchFamily="34" charset="-122"/>
            </a:endParaRPr>
          </a:p>
        </p:txBody>
      </p:sp>
      <p:sp>
        <p:nvSpPr>
          <p:cNvPr id="170" name="Text Box 44"/>
          <p:cNvSpPr txBox="1">
            <a:spLocks noChangeArrowheads="1"/>
          </p:cNvSpPr>
          <p:nvPr/>
        </p:nvSpPr>
        <p:spPr bwMode="auto">
          <a:xfrm>
            <a:off x="9223554" y="3935201"/>
            <a:ext cx="1107996" cy="830997"/>
          </a:xfrm>
          <a:prstGeom prst="rect">
            <a:avLst/>
          </a:prstGeom>
          <a:noFill/>
          <a:ln>
            <a:noFill/>
          </a:ln>
          <a:effectLst/>
        </p:spPr>
        <p:txBody>
          <a:bodyPr wrap="none">
            <a:spAutoFit/>
          </a:bodyPr>
          <a:lstStyle/>
          <a:p>
            <a:pPr algn="l"/>
            <a:r>
              <a:rPr kumimoji="1" lang="en-US" altLang="zh-CN" sz="4800" dirty="0">
                <a:solidFill>
                  <a:srgbClr val="0070C0"/>
                </a:solidFill>
                <a:latin typeface="Wingdings" panose="05000000000000000000" pitchFamily="2" charset="2"/>
              </a:rPr>
              <a:t>(</a:t>
            </a:r>
            <a:r>
              <a:rPr kumimoji="1" lang="en-US" altLang="zh-CN" sz="3600" dirty="0">
                <a:solidFill>
                  <a:srgbClr val="0070C0"/>
                </a:solidFill>
                <a:latin typeface="微软雅黑 Light" panose="020B0502040204020203" pitchFamily="34" charset="-122"/>
                <a:ea typeface="微软雅黑 Light" panose="020B0502040204020203" pitchFamily="34" charset="-122"/>
              </a:rPr>
              <a:t>2</a:t>
            </a:r>
            <a:endParaRPr kumimoji="1" lang="en-US" altLang="zh-CN" sz="4800" dirty="0">
              <a:solidFill>
                <a:srgbClr val="0070C0"/>
              </a:solidFill>
              <a:latin typeface="微软雅黑 Light" panose="020B0502040204020203" pitchFamily="34" charset="-122"/>
              <a:ea typeface="微软雅黑 Light" panose="020B0502040204020203" pitchFamily="34" charset="-122"/>
            </a:endParaRPr>
          </a:p>
        </p:txBody>
      </p:sp>
      <p:sp>
        <p:nvSpPr>
          <p:cNvPr id="171" name="Text Box 44"/>
          <p:cNvSpPr txBox="1">
            <a:spLocks noChangeArrowheads="1"/>
          </p:cNvSpPr>
          <p:nvPr/>
        </p:nvSpPr>
        <p:spPr bwMode="auto">
          <a:xfrm>
            <a:off x="9242426" y="4952764"/>
            <a:ext cx="1107996" cy="830997"/>
          </a:xfrm>
          <a:prstGeom prst="rect">
            <a:avLst/>
          </a:prstGeom>
          <a:noFill/>
          <a:ln>
            <a:noFill/>
          </a:ln>
          <a:effectLst/>
        </p:spPr>
        <p:txBody>
          <a:bodyPr wrap="none">
            <a:spAutoFit/>
          </a:bodyPr>
          <a:lstStyle/>
          <a:p>
            <a:pPr algn="l"/>
            <a:r>
              <a:rPr kumimoji="1" lang="en-US" altLang="zh-CN" sz="4800" dirty="0">
                <a:solidFill>
                  <a:srgbClr val="0070C0"/>
                </a:solidFill>
                <a:latin typeface="Wingdings" panose="05000000000000000000" pitchFamily="2" charset="2"/>
              </a:rPr>
              <a:t>(</a:t>
            </a:r>
            <a:r>
              <a:rPr kumimoji="1" lang="en-US" altLang="zh-CN" sz="3600" dirty="0">
                <a:solidFill>
                  <a:srgbClr val="0070C0"/>
                </a:solidFill>
                <a:latin typeface="微软雅黑 Light" panose="020B0502040204020203" pitchFamily="34" charset="-122"/>
                <a:ea typeface="微软雅黑 Light" panose="020B0502040204020203" pitchFamily="34" charset="-122"/>
              </a:rPr>
              <a:t>3</a:t>
            </a:r>
            <a:endParaRPr kumimoji="1" lang="en-US" altLang="zh-CN" sz="4800" dirty="0">
              <a:solidFill>
                <a:srgbClr val="0070C0"/>
              </a:solidFill>
              <a:latin typeface="微软雅黑 Light" panose="020B0502040204020203" pitchFamily="34" charset="-122"/>
              <a:ea typeface="微软雅黑 Light" panose="020B0502040204020203" pitchFamily="34" charset="-122"/>
            </a:endParaRPr>
          </a:p>
        </p:txBody>
      </p:sp>
      <p:sp>
        <p:nvSpPr>
          <p:cNvPr id="172" name="Text Box 44"/>
          <p:cNvSpPr txBox="1">
            <a:spLocks noChangeArrowheads="1"/>
          </p:cNvSpPr>
          <p:nvPr/>
        </p:nvSpPr>
        <p:spPr bwMode="auto">
          <a:xfrm>
            <a:off x="9242426" y="5955565"/>
            <a:ext cx="1116011" cy="830997"/>
          </a:xfrm>
          <a:prstGeom prst="rect">
            <a:avLst/>
          </a:prstGeom>
          <a:noFill/>
          <a:ln>
            <a:noFill/>
          </a:ln>
          <a:effectLst/>
        </p:spPr>
        <p:txBody>
          <a:bodyPr wrap="none">
            <a:spAutoFit/>
          </a:bodyPr>
          <a:lstStyle/>
          <a:p>
            <a:pPr algn="l"/>
            <a:r>
              <a:rPr kumimoji="1" lang="en-US" altLang="zh-CN" sz="4800" dirty="0">
                <a:solidFill>
                  <a:srgbClr val="0070C0"/>
                </a:solidFill>
                <a:latin typeface="Wingdings" panose="05000000000000000000" pitchFamily="2" charset="2"/>
              </a:rPr>
              <a:t>(</a:t>
            </a:r>
            <a:r>
              <a:rPr kumimoji="1" lang="en-US" altLang="zh-CN" sz="3600" dirty="0">
                <a:solidFill>
                  <a:srgbClr val="0070C0"/>
                </a:solidFill>
                <a:latin typeface="微软雅黑 Light" panose="020B0502040204020203" pitchFamily="34" charset="-122"/>
                <a:ea typeface="微软雅黑 Light" panose="020B0502040204020203" pitchFamily="34" charset="-122"/>
              </a:rPr>
              <a:t>4</a:t>
            </a:r>
            <a:endParaRPr kumimoji="1" lang="en-US" altLang="zh-CN" sz="4800" dirty="0">
              <a:solidFill>
                <a:srgbClr val="0070C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r>
              <a:rPr lang="zh-CN" altLang="en-US" dirty="0"/>
              <a:t>报文交换</a:t>
            </a:r>
            <a:endParaRPr lang="zh-CN" altLang="en-US" dirty="0"/>
          </a:p>
        </p:txBody>
      </p:sp>
      <p:sp>
        <p:nvSpPr>
          <p:cNvPr id="470019" name="Rectangle 3"/>
          <p:cNvSpPr>
            <a:spLocks noGrp="1" noChangeArrowheads="1"/>
          </p:cNvSpPr>
          <p:nvPr>
            <p:ph idx="1"/>
          </p:nvPr>
        </p:nvSpPr>
        <p:spPr/>
        <p:txBody>
          <a:bodyPr/>
          <a:lstStyle/>
          <a:p>
            <a:r>
              <a:rPr lang="zh-CN" altLang="en-US" dirty="0"/>
              <a:t>报文交换又称为存储转发</a:t>
            </a:r>
            <a:endParaRPr lang="zh-CN" altLang="en-US" dirty="0"/>
          </a:p>
          <a:p>
            <a:r>
              <a:rPr lang="zh-CN" altLang="en-US" dirty="0"/>
              <a:t>基本原理</a:t>
            </a:r>
            <a:endParaRPr lang="en-US" altLang="zh-CN" dirty="0"/>
          </a:p>
          <a:p>
            <a:pPr lvl="1"/>
            <a:r>
              <a:rPr lang="zh-CN" altLang="en-US" dirty="0"/>
              <a:t>在报文的传输过程中，由网络的中间节点将报文暂时存储起来，检查它的正确性和完整性，然后再发往下一个节点</a:t>
            </a:r>
            <a:endParaRPr lang="zh-CN" altLang="en-US" dirty="0"/>
          </a:p>
          <a:p>
            <a:r>
              <a:rPr lang="zh-CN" altLang="en-US" dirty="0"/>
              <a:t>缺点</a:t>
            </a:r>
            <a:endParaRPr lang="en-US" altLang="zh-CN" dirty="0"/>
          </a:p>
          <a:p>
            <a:pPr lvl="1"/>
            <a:r>
              <a:rPr lang="zh-CN" altLang="en-US" dirty="0"/>
              <a:t>在报文交换中，整个报文是作为一个整体来处理，由于报文较长，报文传输的延迟很大</a:t>
            </a:r>
            <a:endParaRPr lang="zh-CN" altLang="en-US" dirty="0"/>
          </a:p>
          <a:p>
            <a:r>
              <a:rPr lang="zh-CN" altLang="en-US" dirty="0"/>
              <a:t>报文交换技术已被淘汰</a:t>
            </a:r>
            <a:endParaRPr lang="zh-CN" altLang="en-US" dirty="0"/>
          </a:p>
        </p:txBody>
      </p:sp>
      <p:sp>
        <p:nvSpPr>
          <p:cNvPr id="6" name="灯片编号占位符 5"/>
          <p:cNvSpPr>
            <a:spLocks noGrp="1"/>
          </p:cNvSpPr>
          <p:nvPr>
            <p:ph type="sldNum" sz="quarter" idx="12"/>
          </p:nvPr>
        </p:nvSpPr>
        <p:spPr/>
        <p:txBody>
          <a:bodyPr/>
          <a:lstStyle/>
          <a:p>
            <a:fld id="{A3E89306-08AD-4ED3-9584-AF97FA5AF1F6}" type="slidenum">
              <a:rPr lang="en-US" altLang="zh-CN"/>
            </a:fld>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r>
              <a:rPr lang="zh-CN" altLang="en-US" dirty="0"/>
              <a:t>分组交换</a:t>
            </a:r>
            <a:endParaRPr lang="zh-CN" altLang="en-US" dirty="0"/>
          </a:p>
        </p:txBody>
      </p:sp>
      <p:sp>
        <p:nvSpPr>
          <p:cNvPr id="471043" name="Rectangle 3"/>
          <p:cNvSpPr>
            <a:spLocks noGrp="1" noChangeArrowheads="1"/>
          </p:cNvSpPr>
          <p:nvPr>
            <p:ph idx="1"/>
          </p:nvPr>
        </p:nvSpPr>
        <p:spPr/>
        <p:txBody>
          <a:bodyPr/>
          <a:lstStyle/>
          <a:p>
            <a:r>
              <a:rPr lang="zh-CN" altLang="en-US" dirty="0"/>
              <a:t>较长的报文被分为较短的数据单元</a:t>
            </a:r>
            <a:endParaRPr lang="en-US" altLang="zh-CN" dirty="0"/>
          </a:p>
          <a:p>
            <a:r>
              <a:rPr lang="zh-CN" altLang="en-US" dirty="0"/>
              <a:t>每个数据单元被加上一些通信控制信息等内容，形成一个信息包</a:t>
            </a:r>
            <a:r>
              <a:rPr lang="en-US" altLang="zh-CN" dirty="0"/>
              <a:t>(packet)</a:t>
            </a:r>
            <a:endParaRPr lang="zh-CN" altLang="en-US" dirty="0"/>
          </a:p>
          <a:p>
            <a:r>
              <a:rPr lang="zh-CN" altLang="en-US" dirty="0"/>
              <a:t>通信时以包为单位发送、存储和转发</a:t>
            </a:r>
            <a:endParaRPr lang="zh-CN" altLang="en-US" dirty="0"/>
          </a:p>
          <a:p>
            <a:r>
              <a:rPr lang="zh-CN" altLang="en-US" dirty="0"/>
              <a:t>包长度一般比报文短得多，只要包到达后就可以转发。不必等待报文全部到达，缩短了信息传输过程中的延迟时间</a:t>
            </a:r>
            <a:endParaRPr lang="zh-CN" altLang="en-US" dirty="0"/>
          </a:p>
        </p:txBody>
      </p:sp>
      <p:sp>
        <p:nvSpPr>
          <p:cNvPr id="6" name="灯片编号占位符 5"/>
          <p:cNvSpPr>
            <a:spLocks noGrp="1"/>
          </p:cNvSpPr>
          <p:nvPr>
            <p:ph type="sldNum" sz="quarter" idx="12"/>
          </p:nvPr>
        </p:nvSpPr>
        <p:spPr/>
        <p:txBody>
          <a:bodyPr/>
          <a:lstStyle/>
          <a:p>
            <a:fld id="{DD659CB3-D7B6-41CE-8EB1-C17008D352E7}" type="slidenum">
              <a:rPr lang="en-US" altLang="zh-CN"/>
            </a:fld>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a:lstStyle/>
          <a:p>
            <a:r>
              <a:rPr lang="zh-CN" altLang="en-US" dirty="0"/>
              <a:t>分组交换与电路交换的比较</a:t>
            </a:r>
            <a:endParaRPr lang="zh-CN" altLang="en-US" dirty="0"/>
          </a:p>
        </p:txBody>
      </p:sp>
      <p:sp>
        <p:nvSpPr>
          <p:cNvPr id="472067" name="Rectangle 3"/>
          <p:cNvSpPr>
            <a:spLocks noGrp="1" noChangeArrowheads="1"/>
          </p:cNvSpPr>
          <p:nvPr>
            <p:ph idx="1"/>
          </p:nvPr>
        </p:nvSpPr>
        <p:spPr/>
        <p:txBody>
          <a:bodyPr/>
          <a:lstStyle/>
          <a:p>
            <a:r>
              <a:rPr lang="zh-CN" altLang="en-US" dirty="0"/>
              <a:t>共享传输链路，提高使用效率</a:t>
            </a:r>
            <a:endParaRPr lang="zh-CN" altLang="en-US" dirty="0"/>
          </a:p>
          <a:p>
            <a:r>
              <a:rPr lang="zh-CN" altLang="en-US" dirty="0"/>
              <a:t>有流量和拥塞控制，不会发生阻塞，但会使延迟增大</a:t>
            </a:r>
            <a:endParaRPr lang="zh-CN" altLang="en-US" dirty="0"/>
          </a:p>
          <a:p>
            <a:r>
              <a:rPr lang="zh-CN" altLang="en-US" dirty="0"/>
              <a:t>可工作于广播和多播的方式</a:t>
            </a:r>
            <a:endParaRPr lang="zh-CN" altLang="en-US" dirty="0"/>
          </a:p>
          <a:p>
            <a:r>
              <a:rPr lang="zh-CN" altLang="en-US" dirty="0"/>
              <a:t>提供多种通信设备互连</a:t>
            </a:r>
            <a:endParaRPr lang="zh-CN" altLang="en-US" dirty="0"/>
          </a:p>
        </p:txBody>
      </p:sp>
      <p:sp>
        <p:nvSpPr>
          <p:cNvPr id="6" name="灯片编号占位符 5"/>
          <p:cNvSpPr>
            <a:spLocks noGrp="1"/>
          </p:cNvSpPr>
          <p:nvPr>
            <p:ph type="sldNum" sz="quarter" idx="12"/>
          </p:nvPr>
        </p:nvSpPr>
        <p:spPr/>
        <p:txBody>
          <a:bodyPr/>
          <a:lstStyle/>
          <a:p>
            <a:fld id="{0D2AF3AE-153B-483A-B2E1-B62BF96C8BCE}" type="slidenum">
              <a:rPr lang="en-US" altLang="zh-CN"/>
            </a:fld>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r>
              <a:rPr lang="zh-CN" altLang="en-US" dirty="0"/>
              <a:t>分组交换两种类型</a:t>
            </a:r>
            <a:endParaRPr lang="zh-CN" altLang="en-US" dirty="0"/>
          </a:p>
        </p:txBody>
      </p:sp>
      <p:sp>
        <p:nvSpPr>
          <p:cNvPr id="473091" name="Rectangle 3"/>
          <p:cNvSpPr>
            <a:spLocks noGrp="1" noChangeArrowheads="1"/>
          </p:cNvSpPr>
          <p:nvPr>
            <p:ph idx="1"/>
          </p:nvPr>
        </p:nvSpPr>
        <p:spPr/>
        <p:txBody>
          <a:bodyPr/>
          <a:lstStyle/>
          <a:p>
            <a:pPr>
              <a:lnSpc>
                <a:spcPct val="90000"/>
              </a:lnSpc>
            </a:pPr>
            <a:r>
              <a:rPr lang="zh-CN" altLang="en-US" dirty="0"/>
              <a:t>数据报</a:t>
            </a:r>
            <a:endParaRPr lang="zh-CN" altLang="en-US" dirty="0"/>
          </a:p>
          <a:p>
            <a:pPr lvl="1">
              <a:lnSpc>
                <a:spcPct val="90000"/>
              </a:lnSpc>
            </a:pPr>
            <a:r>
              <a:rPr lang="zh-CN" altLang="en-US" dirty="0"/>
              <a:t>在传输中每个包都将独立于其他包进行处理</a:t>
            </a:r>
            <a:endParaRPr lang="en-US" altLang="zh-CN" dirty="0"/>
          </a:p>
          <a:p>
            <a:pPr lvl="1">
              <a:lnSpc>
                <a:spcPct val="90000"/>
              </a:lnSpc>
            </a:pPr>
            <a:r>
              <a:rPr lang="zh-CN" altLang="en-US" dirty="0"/>
              <a:t>任何一条链路可以同时为多对设备之间的通信服务</a:t>
            </a:r>
            <a:endParaRPr lang="en-US" altLang="zh-CN" dirty="0"/>
          </a:p>
          <a:p>
            <a:pPr lvl="1">
              <a:lnSpc>
                <a:spcPct val="90000"/>
              </a:lnSpc>
            </a:pPr>
            <a:r>
              <a:rPr lang="zh-CN" altLang="en-US" dirty="0"/>
              <a:t>一次传输的数据报可能不是次序地到达目的地</a:t>
            </a:r>
            <a:endParaRPr lang="en-US" altLang="zh-CN" dirty="0"/>
          </a:p>
          <a:p>
            <a:pPr lvl="1">
              <a:lnSpc>
                <a:spcPct val="90000"/>
              </a:lnSpc>
            </a:pPr>
            <a:r>
              <a:rPr lang="zh-CN" altLang="en-US" dirty="0"/>
              <a:t>重新排序的任务由传输层来完成</a:t>
            </a:r>
            <a:endParaRPr lang="zh-CN" altLang="en-US" dirty="0"/>
          </a:p>
          <a:p>
            <a:pPr>
              <a:lnSpc>
                <a:spcPct val="90000"/>
              </a:lnSpc>
            </a:pPr>
            <a:r>
              <a:rPr lang="zh-CN" altLang="en-US" dirty="0"/>
              <a:t>虚电路</a:t>
            </a:r>
            <a:endParaRPr lang="zh-CN" altLang="en-US" dirty="0"/>
          </a:p>
          <a:p>
            <a:pPr lvl="1">
              <a:lnSpc>
                <a:spcPct val="90000"/>
              </a:lnSpc>
            </a:pPr>
            <a:r>
              <a:rPr lang="zh-CN" altLang="en-US" dirty="0"/>
              <a:t>属于同一次通信的所有包之间的关系得以维持</a:t>
            </a:r>
            <a:endParaRPr lang="en-US" altLang="zh-CN" dirty="0"/>
          </a:p>
          <a:p>
            <a:pPr lvl="1">
              <a:lnSpc>
                <a:spcPct val="90000"/>
              </a:lnSpc>
            </a:pPr>
            <a:r>
              <a:rPr lang="zh-CN" altLang="en-US" dirty="0"/>
              <a:t>路径是在数据传输的开始之前就被选定</a:t>
            </a:r>
            <a:endParaRPr lang="zh-CN" altLang="en-US" dirty="0"/>
          </a:p>
          <a:p>
            <a:pPr lvl="1">
              <a:lnSpc>
                <a:spcPct val="90000"/>
              </a:lnSpc>
            </a:pPr>
            <a:r>
              <a:rPr lang="zh-CN" altLang="en-US" dirty="0"/>
              <a:t>与电路交换的区别</a:t>
            </a:r>
            <a:endParaRPr lang="en-US" altLang="zh-CN" dirty="0"/>
          </a:p>
          <a:p>
            <a:pPr lvl="2">
              <a:lnSpc>
                <a:spcPct val="90000"/>
              </a:lnSpc>
            </a:pPr>
            <a:r>
              <a:rPr lang="zh-CN" altLang="en-US" dirty="0"/>
              <a:t>虚电路所使用的电路可以同时为多个设备提供通信服务</a:t>
            </a:r>
            <a:endParaRPr lang="en-US" altLang="zh-CN" dirty="0"/>
          </a:p>
          <a:p>
            <a:pPr lvl="2">
              <a:lnSpc>
                <a:spcPct val="90000"/>
              </a:lnSpc>
            </a:pPr>
            <a:r>
              <a:rPr lang="zh-CN" altLang="en-US" dirty="0"/>
              <a:t>电路交换所使用的电路是独占的</a:t>
            </a:r>
            <a:endParaRPr lang="zh-CN" altLang="en-US" dirty="0"/>
          </a:p>
        </p:txBody>
      </p:sp>
      <p:sp>
        <p:nvSpPr>
          <p:cNvPr id="6" name="灯片编号占位符 5"/>
          <p:cNvSpPr>
            <a:spLocks noGrp="1"/>
          </p:cNvSpPr>
          <p:nvPr>
            <p:ph type="sldNum" sz="quarter" idx="12"/>
          </p:nvPr>
        </p:nvSpPr>
        <p:spPr/>
        <p:txBody>
          <a:bodyPr/>
          <a:lstStyle/>
          <a:p>
            <a:fld id="{D8F1BAD3-5FC0-4F0C-B5CC-817516AC3E6B}" type="slidenum">
              <a:rPr lang="en-US" altLang="zh-CN"/>
            </a:fld>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2" name="Rectangle 4"/>
          <p:cNvSpPr>
            <a:spLocks noGrp="1" noChangeArrowheads="1"/>
          </p:cNvSpPr>
          <p:nvPr>
            <p:ph type="title"/>
          </p:nvPr>
        </p:nvSpPr>
        <p:spPr/>
        <p:txBody>
          <a:bodyPr/>
          <a:lstStyle/>
          <a:p>
            <a:r>
              <a:rPr lang="zh-CN" altLang="en-US" dirty="0"/>
              <a:t>数据报</a:t>
            </a:r>
            <a:endParaRPr lang="zh-CN" altLang="en-US" dirty="0"/>
          </a:p>
        </p:txBody>
      </p:sp>
      <p:sp>
        <p:nvSpPr>
          <p:cNvPr id="61" name="灯片编号占位符 5"/>
          <p:cNvSpPr>
            <a:spLocks noGrp="1"/>
          </p:cNvSpPr>
          <p:nvPr>
            <p:ph type="sldNum" sz="quarter" idx="12"/>
          </p:nvPr>
        </p:nvSpPr>
        <p:spPr/>
        <p:txBody>
          <a:bodyPr/>
          <a:lstStyle/>
          <a:p>
            <a:fld id="{898B9B69-DFED-4498-BE89-D87591882B67}" type="slidenum">
              <a:rPr lang="en-US" altLang="zh-CN"/>
            </a:fld>
            <a:endParaRPr lang="en-US" altLang="zh-CN" dirty="0"/>
          </a:p>
        </p:txBody>
      </p:sp>
      <p:pic>
        <p:nvPicPr>
          <p:cNvPr id="478214" name="Picture 8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5050" y="1630364"/>
            <a:ext cx="52578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8216" name="Line 8"/>
          <p:cNvSpPr>
            <a:spLocks noChangeShapeType="1"/>
          </p:cNvSpPr>
          <p:nvPr/>
        </p:nvSpPr>
        <p:spPr bwMode="auto">
          <a:xfrm>
            <a:off x="2855913" y="2133602"/>
            <a:ext cx="1606689" cy="45522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17" name="Line 9"/>
          <p:cNvSpPr>
            <a:spLocks noChangeShapeType="1"/>
          </p:cNvSpPr>
          <p:nvPr/>
        </p:nvSpPr>
        <p:spPr bwMode="auto">
          <a:xfrm flipV="1">
            <a:off x="2855913" y="4478338"/>
            <a:ext cx="1590242" cy="679449"/>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18" name="Line 10"/>
          <p:cNvSpPr>
            <a:spLocks noChangeShapeType="1"/>
          </p:cNvSpPr>
          <p:nvPr/>
        </p:nvSpPr>
        <p:spPr bwMode="auto">
          <a:xfrm flipV="1">
            <a:off x="8039101" y="2133600"/>
            <a:ext cx="1512888" cy="504826"/>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19" name="Line 11"/>
          <p:cNvSpPr>
            <a:spLocks noChangeShapeType="1"/>
          </p:cNvSpPr>
          <p:nvPr/>
        </p:nvSpPr>
        <p:spPr bwMode="auto">
          <a:xfrm>
            <a:off x="7885650" y="4478338"/>
            <a:ext cx="1666337" cy="608012"/>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0" name="Line 12"/>
          <p:cNvSpPr>
            <a:spLocks noChangeShapeType="1"/>
          </p:cNvSpPr>
          <p:nvPr/>
        </p:nvSpPr>
        <p:spPr bwMode="auto">
          <a:xfrm flipV="1">
            <a:off x="6585735" y="2962273"/>
            <a:ext cx="839426" cy="660971"/>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1" name="Line 13"/>
          <p:cNvSpPr>
            <a:spLocks noChangeShapeType="1"/>
          </p:cNvSpPr>
          <p:nvPr/>
        </p:nvSpPr>
        <p:spPr bwMode="auto">
          <a:xfrm flipV="1">
            <a:off x="5028063" y="4305785"/>
            <a:ext cx="2254033" cy="18642"/>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2" name="Line 14"/>
          <p:cNvSpPr>
            <a:spLocks noChangeShapeType="1"/>
          </p:cNvSpPr>
          <p:nvPr/>
        </p:nvSpPr>
        <p:spPr bwMode="auto">
          <a:xfrm flipV="1">
            <a:off x="5028064" y="2700809"/>
            <a:ext cx="984512" cy="22238"/>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3" name="Line 15"/>
          <p:cNvSpPr>
            <a:spLocks noChangeShapeType="1"/>
          </p:cNvSpPr>
          <p:nvPr/>
        </p:nvSpPr>
        <p:spPr bwMode="auto">
          <a:xfrm>
            <a:off x="6585734" y="3940821"/>
            <a:ext cx="733806" cy="239144"/>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4" name="Line 16"/>
          <p:cNvSpPr>
            <a:spLocks noChangeShapeType="1"/>
          </p:cNvSpPr>
          <p:nvPr/>
        </p:nvSpPr>
        <p:spPr bwMode="auto">
          <a:xfrm flipH="1" flipV="1">
            <a:off x="4751747" y="2997116"/>
            <a:ext cx="8424" cy="94370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5" name="Line 17"/>
          <p:cNvSpPr>
            <a:spLocks noChangeShapeType="1"/>
          </p:cNvSpPr>
          <p:nvPr/>
        </p:nvSpPr>
        <p:spPr bwMode="auto">
          <a:xfrm flipH="1">
            <a:off x="7646143" y="3006170"/>
            <a:ext cx="0" cy="999093"/>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26" name="Line 18"/>
          <p:cNvSpPr>
            <a:spLocks noChangeShapeType="1"/>
          </p:cNvSpPr>
          <p:nvPr/>
        </p:nvSpPr>
        <p:spPr bwMode="auto">
          <a:xfrm>
            <a:off x="5028063" y="2962276"/>
            <a:ext cx="968512" cy="716602"/>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56" name="Line 48"/>
          <p:cNvSpPr>
            <a:spLocks noChangeShapeType="1"/>
          </p:cNvSpPr>
          <p:nvPr/>
        </p:nvSpPr>
        <p:spPr bwMode="auto">
          <a:xfrm>
            <a:off x="8014321" y="2854326"/>
            <a:ext cx="1537666" cy="719137"/>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57" name="Line 49"/>
          <p:cNvSpPr>
            <a:spLocks noChangeShapeType="1"/>
          </p:cNvSpPr>
          <p:nvPr/>
        </p:nvSpPr>
        <p:spPr bwMode="auto">
          <a:xfrm flipV="1">
            <a:off x="2872360" y="2962274"/>
            <a:ext cx="1590242" cy="49709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8262" name="Rectangle 54"/>
          <p:cNvSpPr>
            <a:spLocks noChangeArrowheads="1"/>
          </p:cNvSpPr>
          <p:nvPr/>
        </p:nvSpPr>
        <p:spPr bwMode="auto">
          <a:xfrm>
            <a:off x="9121775" y="4652964"/>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8263" name="Rectangle 55"/>
          <p:cNvSpPr>
            <a:spLocks noChangeArrowheads="1"/>
          </p:cNvSpPr>
          <p:nvPr/>
        </p:nvSpPr>
        <p:spPr bwMode="auto">
          <a:xfrm>
            <a:off x="8834439" y="4581526"/>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78264" name="Rectangle 56"/>
          <p:cNvSpPr>
            <a:spLocks noChangeArrowheads="1"/>
          </p:cNvSpPr>
          <p:nvPr/>
        </p:nvSpPr>
        <p:spPr bwMode="auto">
          <a:xfrm>
            <a:off x="8246435" y="4322923"/>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8265" name="Rectangle 57"/>
          <p:cNvSpPr>
            <a:spLocks noChangeArrowheads="1"/>
          </p:cNvSpPr>
          <p:nvPr/>
        </p:nvSpPr>
        <p:spPr bwMode="auto">
          <a:xfrm>
            <a:off x="8539642" y="4478339"/>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8266" name="Rectangle 58"/>
          <p:cNvSpPr>
            <a:spLocks noChangeArrowheads="1"/>
          </p:cNvSpPr>
          <p:nvPr/>
        </p:nvSpPr>
        <p:spPr bwMode="auto">
          <a:xfrm>
            <a:off x="5664200" y="2349501"/>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8267" name="Rectangle 59"/>
          <p:cNvSpPr>
            <a:spLocks noChangeArrowheads="1"/>
          </p:cNvSpPr>
          <p:nvPr/>
        </p:nvSpPr>
        <p:spPr bwMode="auto">
          <a:xfrm>
            <a:off x="5376864" y="2349501"/>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8269" name="Rectangle 61"/>
          <p:cNvSpPr>
            <a:spLocks noChangeArrowheads="1"/>
          </p:cNvSpPr>
          <p:nvPr/>
        </p:nvSpPr>
        <p:spPr bwMode="auto">
          <a:xfrm>
            <a:off x="7175500" y="2349501"/>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8270" name="Rectangle 62"/>
          <p:cNvSpPr>
            <a:spLocks noChangeArrowheads="1"/>
          </p:cNvSpPr>
          <p:nvPr/>
        </p:nvSpPr>
        <p:spPr bwMode="auto">
          <a:xfrm>
            <a:off x="6888164" y="2349501"/>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8271" name="Rectangle 63"/>
          <p:cNvSpPr>
            <a:spLocks noChangeArrowheads="1"/>
          </p:cNvSpPr>
          <p:nvPr/>
        </p:nvSpPr>
        <p:spPr bwMode="auto">
          <a:xfrm>
            <a:off x="7751764" y="3573464"/>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8272" name="Rectangle 64"/>
          <p:cNvSpPr>
            <a:spLocks noChangeArrowheads="1"/>
          </p:cNvSpPr>
          <p:nvPr/>
        </p:nvSpPr>
        <p:spPr bwMode="auto">
          <a:xfrm>
            <a:off x="7753350" y="3286126"/>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8273" name="Rectangle 65"/>
          <p:cNvSpPr>
            <a:spLocks noChangeArrowheads="1"/>
          </p:cNvSpPr>
          <p:nvPr/>
        </p:nvSpPr>
        <p:spPr bwMode="auto">
          <a:xfrm>
            <a:off x="4367214" y="3430589"/>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8274" name="Rectangle 66"/>
          <p:cNvSpPr>
            <a:spLocks noChangeArrowheads="1"/>
          </p:cNvSpPr>
          <p:nvPr/>
        </p:nvSpPr>
        <p:spPr bwMode="auto">
          <a:xfrm>
            <a:off x="5519739" y="3070226"/>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78275" name="Rectangle 67"/>
          <p:cNvSpPr>
            <a:spLocks noChangeArrowheads="1"/>
          </p:cNvSpPr>
          <p:nvPr/>
        </p:nvSpPr>
        <p:spPr bwMode="auto">
          <a:xfrm>
            <a:off x="6959600" y="3789364"/>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78276" name="Rectangle 68"/>
          <p:cNvSpPr>
            <a:spLocks noChangeArrowheads="1"/>
          </p:cNvSpPr>
          <p:nvPr/>
        </p:nvSpPr>
        <p:spPr bwMode="auto">
          <a:xfrm>
            <a:off x="5519739" y="4005264"/>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8258" name="Rectangle 50"/>
          <p:cNvSpPr>
            <a:spLocks noChangeArrowheads="1"/>
          </p:cNvSpPr>
          <p:nvPr/>
        </p:nvSpPr>
        <p:spPr bwMode="auto">
          <a:xfrm>
            <a:off x="4079875" y="2060576"/>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8259" name="Rectangle 51"/>
          <p:cNvSpPr>
            <a:spLocks noChangeArrowheads="1"/>
          </p:cNvSpPr>
          <p:nvPr/>
        </p:nvSpPr>
        <p:spPr bwMode="auto">
          <a:xfrm>
            <a:off x="3792539" y="1989139"/>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8260" name="Rectangle 52"/>
          <p:cNvSpPr>
            <a:spLocks noChangeArrowheads="1"/>
          </p:cNvSpPr>
          <p:nvPr/>
        </p:nvSpPr>
        <p:spPr bwMode="auto">
          <a:xfrm>
            <a:off x="3503614" y="1916114"/>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8261" name="Rectangle 53"/>
          <p:cNvSpPr>
            <a:spLocks noChangeArrowheads="1"/>
          </p:cNvSpPr>
          <p:nvPr/>
        </p:nvSpPr>
        <p:spPr bwMode="auto">
          <a:xfrm>
            <a:off x="3216275" y="1844676"/>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4</a:t>
            </a:r>
            <a:endParaRPr lang="en-US" altLang="zh-CN" dirty="0">
              <a:latin typeface="微软雅黑 Light" panose="020B0502040204020203" pitchFamily="34" charset="-122"/>
            </a:endParaRPr>
          </a:p>
        </p:txBody>
      </p:sp>
      <p:sp>
        <p:nvSpPr>
          <p:cNvPr id="478278" name="Text Box 70"/>
          <p:cNvSpPr txBox="1">
            <a:spLocks noChangeArrowheads="1"/>
          </p:cNvSpPr>
          <p:nvPr/>
        </p:nvSpPr>
        <p:spPr bwMode="auto">
          <a:xfrm>
            <a:off x="4583113" y="4508501"/>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B</a:t>
            </a:r>
            <a:endParaRPr lang="en-US" altLang="zh-CN" b="1" dirty="0">
              <a:solidFill>
                <a:schemeClr val="tx2"/>
              </a:solidFill>
              <a:latin typeface="微软雅黑 Light" panose="020B0502040204020203" pitchFamily="34" charset="-122"/>
            </a:endParaRPr>
          </a:p>
        </p:txBody>
      </p:sp>
      <p:sp>
        <p:nvSpPr>
          <p:cNvPr id="478279" name="Text Box 71"/>
          <p:cNvSpPr txBox="1">
            <a:spLocks noChangeArrowheads="1"/>
          </p:cNvSpPr>
          <p:nvPr/>
        </p:nvSpPr>
        <p:spPr bwMode="auto">
          <a:xfrm>
            <a:off x="4583113" y="2133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A</a:t>
            </a:r>
            <a:endParaRPr lang="en-US" altLang="zh-CN" b="1" dirty="0">
              <a:solidFill>
                <a:schemeClr val="tx2"/>
              </a:solidFill>
              <a:latin typeface="微软雅黑 Light" panose="020B0502040204020203" pitchFamily="34" charset="-122"/>
            </a:endParaRPr>
          </a:p>
        </p:txBody>
      </p:sp>
      <p:sp>
        <p:nvSpPr>
          <p:cNvPr id="478280" name="Text Box 72"/>
          <p:cNvSpPr txBox="1">
            <a:spLocks noChangeArrowheads="1"/>
          </p:cNvSpPr>
          <p:nvPr/>
        </p:nvSpPr>
        <p:spPr bwMode="auto">
          <a:xfrm>
            <a:off x="7608888" y="4581526"/>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F</a:t>
            </a:r>
            <a:endParaRPr lang="en-US" altLang="zh-CN" b="1" dirty="0">
              <a:solidFill>
                <a:schemeClr val="tx2"/>
              </a:solidFill>
              <a:latin typeface="微软雅黑 Light" panose="020B0502040204020203" pitchFamily="34" charset="-122"/>
            </a:endParaRPr>
          </a:p>
        </p:txBody>
      </p:sp>
      <p:sp>
        <p:nvSpPr>
          <p:cNvPr id="478281" name="Text Box 73"/>
          <p:cNvSpPr txBox="1">
            <a:spLocks noChangeArrowheads="1"/>
          </p:cNvSpPr>
          <p:nvPr/>
        </p:nvSpPr>
        <p:spPr bwMode="auto">
          <a:xfrm>
            <a:off x="7598500" y="2060576"/>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E</a:t>
            </a:r>
            <a:endParaRPr lang="en-US" altLang="zh-CN" b="1" dirty="0">
              <a:solidFill>
                <a:schemeClr val="tx2"/>
              </a:solidFill>
              <a:latin typeface="微软雅黑 Light" panose="020B0502040204020203" pitchFamily="34" charset="-122"/>
            </a:endParaRPr>
          </a:p>
        </p:txBody>
      </p:sp>
      <p:sp>
        <p:nvSpPr>
          <p:cNvPr id="478282" name="Text Box 74"/>
          <p:cNvSpPr txBox="1">
            <a:spLocks noChangeArrowheads="1"/>
          </p:cNvSpPr>
          <p:nvPr/>
        </p:nvSpPr>
        <p:spPr bwMode="auto">
          <a:xfrm>
            <a:off x="6147596" y="2042398"/>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C</a:t>
            </a:r>
            <a:endParaRPr lang="en-US" altLang="zh-CN" b="1" dirty="0">
              <a:solidFill>
                <a:schemeClr val="tx2"/>
              </a:solidFill>
              <a:latin typeface="微软雅黑 Light" panose="020B0502040204020203" pitchFamily="34" charset="-122"/>
            </a:endParaRPr>
          </a:p>
        </p:txBody>
      </p:sp>
      <p:sp>
        <p:nvSpPr>
          <p:cNvPr id="478283" name="Text Box 75"/>
          <p:cNvSpPr txBox="1">
            <a:spLocks noChangeArrowheads="1"/>
          </p:cNvSpPr>
          <p:nvPr/>
        </p:nvSpPr>
        <p:spPr bwMode="auto">
          <a:xfrm>
            <a:off x="6167438" y="3284538"/>
            <a:ext cx="352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D</a:t>
            </a:r>
            <a:endParaRPr lang="en-US" altLang="zh-CN" b="1" dirty="0">
              <a:solidFill>
                <a:schemeClr val="tx2"/>
              </a:solidFill>
              <a:latin typeface="微软雅黑 Light" panose="020B0502040204020203" pitchFamily="34" charset="-122"/>
            </a:endParaRPr>
          </a:p>
        </p:txBody>
      </p:sp>
      <p:sp>
        <p:nvSpPr>
          <p:cNvPr id="67" name="Text Box 24"/>
          <p:cNvSpPr txBox="1">
            <a:spLocks noChangeArrowheads="1"/>
          </p:cNvSpPr>
          <p:nvPr/>
        </p:nvSpPr>
        <p:spPr bwMode="auto">
          <a:xfrm>
            <a:off x="1873250" y="1856423"/>
            <a:ext cx="3417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A</a:t>
            </a:r>
            <a:endParaRPr lang="en-US" altLang="zh-CN" dirty="0">
              <a:solidFill>
                <a:schemeClr val="tx2"/>
              </a:solidFill>
              <a:latin typeface="微软雅黑 Light" panose="020B0502040204020203" pitchFamily="34" charset="-122"/>
            </a:endParaRPr>
          </a:p>
        </p:txBody>
      </p:sp>
      <p:sp>
        <p:nvSpPr>
          <p:cNvPr id="68" name="Text Box 25"/>
          <p:cNvSpPr txBox="1">
            <a:spLocks noChangeArrowheads="1"/>
          </p:cNvSpPr>
          <p:nvPr/>
        </p:nvSpPr>
        <p:spPr bwMode="auto">
          <a:xfrm>
            <a:off x="1860550" y="495204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C</a:t>
            </a:r>
            <a:endParaRPr lang="en-US" altLang="zh-CN" dirty="0">
              <a:solidFill>
                <a:schemeClr val="tx2"/>
              </a:solidFill>
              <a:latin typeface="微软雅黑 Light" panose="020B0502040204020203" pitchFamily="34" charset="-122"/>
            </a:endParaRPr>
          </a:p>
        </p:txBody>
      </p:sp>
      <p:sp>
        <p:nvSpPr>
          <p:cNvPr id="69" name="Text Box 29"/>
          <p:cNvSpPr txBox="1">
            <a:spLocks noChangeArrowheads="1"/>
          </p:cNvSpPr>
          <p:nvPr/>
        </p:nvSpPr>
        <p:spPr bwMode="auto">
          <a:xfrm>
            <a:off x="1903644" y="3378240"/>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B</a:t>
            </a:r>
            <a:endParaRPr lang="en-US" altLang="zh-CN" dirty="0">
              <a:solidFill>
                <a:schemeClr val="tx2"/>
              </a:solidFill>
              <a:latin typeface="微软雅黑 Light" panose="020B0502040204020203" pitchFamily="34" charset="-122"/>
            </a:endParaRPr>
          </a:p>
        </p:txBody>
      </p:sp>
      <p:pic>
        <p:nvPicPr>
          <p:cNvPr id="70" name="图形 6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7674" y="4856473"/>
            <a:ext cx="656542" cy="497096"/>
          </a:xfrm>
          <a:prstGeom prst="rect">
            <a:avLst/>
          </a:prstGeom>
        </p:spPr>
      </p:pic>
      <p:pic>
        <p:nvPicPr>
          <p:cNvPr id="71" name="图形 7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7674" y="3246991"/>
            <a:ext cx="656542" cy="497096"/>
          </a:xfrm>
          <a:prstGeom prst="rect">
            <a:avLst/>
          </a:prstGeom>
        </p:spPr>
      </p:pic>
      <p:pic>
        <p:nvPicPr>
          <p:cNvPr id="72" name="图形 7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48927" y="1873758"/>
            <a:ext cx="656542" cy="497096"/>
          </a:xfrm>
          <a:prstGeom prst="rect">
            <a:avLst/>
          </a:prstGeom>
        </p:spPr>
      </p:pic>
      <p:sp>
        <p:nvSpPr>
          <p:cNvPr id="73" name="Text Box 26"/>
          <p:cNvSpPr txBox="1">
            <a:spLocks noChangeArrowheads="1"/>
          </p:cNvSpPr>
          <p:nvPr/>
        </p:nvSpPr>
        <p:spPr bwMode="auto">
          <a:xfrm>
            <a:off x="10236275" y="4901684"/>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F</a:t>
            </a:r>
            <a:endParaRPr lang="en-US" altLang="zh-CN" dirty="0">
              <a:solidFill>
                <a:schemeClr val="tx2"/>
              </a:solidFill>
              <a:latin typeface="微软雅黑 Light" panose="020B0502040204020203" pitchFamily="34" charset="-122"/>
            </a:endParaRPr>
          </a:p>
        </p:txBody>
      </p:sp>
      <p:sp>
        <p:nvSpPr>
          <p:cNvPr id="74" name="Text Box 27"/>
          <p:cNvSpPr txBox="1">
            <a:spLocks noChangeArrowheads="1"/>
          </p:cNvSpPr>
          <p:nvPr/>
        </p:nvSpPr>
        <p:spPr bwMode="auto">
          <a:xfrm>
            <a:off x="10172143" y="2001522"/>
            <a:ext cx="352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D</a:t>
            </a:r>
            <a:endParaRPr lang="en-US" altLang="zh-CN" dirty="0">
              <a:solidFill>
                <a:schemeClr val="tx2"/>
              </a:solidFill>
              <a:latin typeface="微软雅黑 Light" panose="020B0502040204020203" pitchFamily="34" charset="-122"/>
            </a:endParaRPr>
          </a:p>
        </p:txBody>
      </p:sp>
      <p:sp>
        <p:nvSpPr>
          <p:cNvPr id="75" name="Text Box 30"/>
          <p:cNvSpPr txBox="1">
            <a:spLocks noChangeArrowheads="1"/>
          </p:cNvSpPr>
          <p:nvPr/>
        </p:nvSpPr>
        <p:spPr bwMode="auto">
          <a:xfrm>
            <a:off x="10199782" y="3388797"/>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E</a:t>
            </a:r>
            <a:endParaRPr lang="en-US" altLang="zh-CN" dirty="0">
              <a:solidFill>
                <a:schemeClr val="tx2"/>
              </a:solidFill>
              <a:latin typeface="微软雅黑 Light" panose="020B0502040204020203" pitchFamily="34" charset="-122"/>
            </a:endParaRPr>
          </a:p>
        </p:txBody>
      </p:sp>
      <p:pic>
        <p:nvPicPr>
          <p:cNvPr id="76" name="图形 7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1987" y="4891845"/>
            <a:ext cx="656542" cy="497096"/>
          </a:xfrm>
          <a:prstGeom prst="rect">
            <a:avLst/>
          </a:prstGeom>
        </p:spPr>
      </p:pic>
      <p:pic>
        <p:nvPicPr>
          <p:cNvPr id="77" name="图形 7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1987" y="3282363"/>
            <a:ext cx="656542" cy="497096"/>
          </a:xfrm>
          <a:prstGeom prst="rect">
            <a:avLst/>
          </a:prstGeom>
        </p:spPr>
      </p:pic>
      <p:pic>
        <p:nvPicPr>
          <p:cNvPr id="78" name="图形 7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43240" y="1909130"/>
            <a:ext cx="656542" cy="497096"/>
          </a:xfrm>
          <a:prstGeom prst="rect">
            <a:avLst/>
          </a:prstGeom>
        </p:spPr>
      </p:pic>
      <p:pic>
        <p:nvPicPr>
          <p:cNvPr id="79" name="图形 7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40237" y="3958834"/>
            <a:ext cx="597685" cy="597685"/>
          </a:xfrm>
          <a:prstGeom prst="rect">
            <a:avLst/>
          </a:prstGeom>
        </p:spPr>
      </p:pic>
      <p:pic>
        <p:nvPicPr>
          <p:cNvPr id="80" name="图形 7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48762" y="2414402"/>
            <a:ext cx="597685" cy="597685"/>
          </a:xfrm>
          <a:prstGeom prst="rect">
            <a:avLst/>
          </a:prstGeom>
        </p:spPr>
      </p:pic>
      <p:pic>
        <p:nvPicPr>
          <p:cNvPr id="81" name="图形 8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4164" y="2386013"/>
            <a:ext cx="597685" cy="597685"/>
          </a:xfrm>
          <a:prstGeom prst="rect">
            <a:avLst/>
          </a:prstGeom>
        </p:spPr>
      </p:pic>
      <p:pic>
        <p:nvPicPr>
          <p:cNvPr id="82" name="图形 8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51276" y="2399432"/>
            <a:ext cx="597685" cy="597685"/>
          </a:xfrm>
          <a:prstGeom prst="rect">
            <a:avLst/>
          </a:prstGeom>
        </p:spPr>
      </p:pic>
      <p:pic>
        <p:nvPicPr>
          <p:cNvPr id="83" name="图形 8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88050" y="3582279"/>
            <a:ext cx="597685" cy="597685"/>
          </a:xfrm>
          <a:prstGeom prst="rect">
            <a:avLst/>
          </a:prstGeom>
        </p:spPr>
      </p:pic>
      <p:pic>
        <p:nvPicPr>
          <p:cNvPr id="84" name="图形 8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87966" y="3988209"/>
            <a:ext cx="597685" cy="597685"/>
          </a:xfrm>
          <a:prstGeom prst="rect">
            <a:avLst/>
          </a:prstGeom>
        </p:spPr>
      </p:pic>
      <p:sp>
        <p:nvSpPr>
          <p:cNvPr id="85" name="Line 14"/>
          <p:cNvSpPr>
            <a:spLocks noChangeShapeType="1"/>
          </p:cNvSpPr>
          <p:nvPr/>
        </p:nvSpPr>
        <p:spPr bwMode="auto">
          <a:xfrm flipV="1">
            <a:off x="6611849" y="2723047"/>
            <a:ext cx="813311"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r>
              <a:rPr lang="zh-CN" altLang="en-US" dirty="0"/>
              <a:t>数据报</a:t>
            </a:r>
            <a:endParaRPr lang="zh-CN" altLang="en-US" dirty="0"/>
          </a:p>
        </p:txBody>
      </p:sp>
      <p:sp>
        <p:nvSpPr>
          <p:cNvPr id="57" name="灯片编号占位符 5"/>
          <p:cNvSpPr>
            <a:spLocks noGrp="1"/>
          </p:cNvSpPr>
          <p:nvPr>
            <p:ph type="sldNum" sz="quarter" idx="12"/>
          </p:nvPr>
        </p:nvSpPr>
        <p:spPr/>
        <p:txBody>
          <a:bodyPr/>
          <a:lstStyle/>
          <a:p>
            <a:fld id="{7A990A7F-AF22-4450-8F62-007684CCAFDF}" type="slidenum">
              <a:rPr lang="en-US" altLang="zh-CN"/>
            </a:fld>
            <a:endParaRPr lang="en-US" altLang="zh-CN" dirty="0"/>
          </a:p>
        </p:txBody>
      </p:sp>
      <p:pic>
        <p:nvPicPr>
          <p:cNvPr id="479235" name="Picture 8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5050" y="1630364"/>
            <a:ext cx="52578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236" name="Line 4"/>
          <p:cNvSpPr>
            <a:spLocks noChangeShapeType="1"/>
          </p:cNvSpPr>
          <p:nvPr/>
        </p:nvSpPr>
        <p:spPr bwMode="auto">
          <a:xfrm>
            <a:off x="2855913" y="2133601"/>
            <a:ext cx="1582735" cy="41591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37" name="Line 5"/>
          <p:cNvSpPr>
            <a:spLocks noChangeShapeType="1"/>
          </p:cNvSpPr>
          <p:nvPr/>
        </p:nvSpPr>
        <p:spPr bwMode="auto">
          <a:xfrm flipV="1">
            <a:off x="2855913" y="4508500"/>
            <a:ext cx="1593313" cy="649286"/>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38" name="Line 6"/>
          <p:cNvSpPr>
            <a:spLocks noChangeShapeType="1"/>
          </p:cNvSpPr>
          <p:nvPr/>
        </p:nvSpPr>
        <p:spPr bwMode="auto">
          <a:xfrm flipV="1">
            <a:off x="7958138" y="2133600"/>
            <a:ext cx="1593851" cy="537717"/>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39" name="Line 7"/>
          <p:cNvSpPr>
            <a:spLocks noChangeShapeType="1"/>
          </p:cNvSpPr>
          <p:nvPr/>
        </p:nvSpPr>
        <p:spPr bwMode="auto">
          <a:xfrm>
            <a:off x="8015680" y="4556518"/>
            <a:ext cx="1536307" cy="529831"/>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40" name="Line 8"/>
          <p:cNvSpPr>
            <a:spLocks noChangeShapeType="1"/>
          </p:cNvSpPr>
          <p:nvPr/>
        </p:nvSpPr>
        <p:spPr bwMode="auto">
          <a:xfrm flipV="1">
            <a:off x="4989905" y="3001237"/>
            <a:ext cx="2460906" cy="1221508"/>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41" name="Line 9"/>
          <p:cNvSpPr>
            <a:spLocks noChangeShapeType="1"/>
          </p:cNvSpPr>
          <p:nvPr/>
        </p:nvSpPr>
        <p:spPr bwMode="auto">
          <a:xfrm flipV="1">
            <a:off x="5037922" y="4365619"/>
            <a:ext cx="2378485" cy="2659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42" name="Line 10"/>
          <p:cNvSpPr>
            <a:spLocks noChangeShapeType="1"/>
          </p:cNvSpPr>
          <p:nvPr/>
        </p:nvSpPr>
        <p:spPr bwMode="auto">
          <a:xfrm flipV="1">
            <a:off x="5037922" y="2699797"/>
            <a:ext cx="2343561" cy="848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44" name="Line 12"/>
          <p:cNvSpPr>
            <a:spLocks noChangeShapeType="1"/>
          </p:cNvSpPr>
          <p:nvPr/>
        </p:nvSpPr>
        <p:spPr bwMode="auto">
          <a:xfrm flipV="1">
            <a:off x="4700980" y="3075762"/>
            <a:ext cx="0" cy="883071"/>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45" name="Line 13"/>
          <p:cNvSpPr>
            <a:spLocks noChangeShapeType="1"/>
          </p:cNvSpPr>
          <p:nvPr/>
        </p:nvSpPr>
        <p:spPr bwMode="auto">
          <a:xfrm>
            <a:off x="7678737" y="3042477"/>
            <a:ext cx="0" cy="962787"/>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56" name="Text Box 24"/>
          <p:cNvSpPr txBox="1">
            <a:spLocks noChangeArrowheads="1"/>
          </p:cNvSpPr>
          <p:nvPr/>
        </p:nvSpPr>
        <p:spPr bwMode="auto">
          <a:xfrm>
            <a:off x="1873250" y="1856423"/>
            <a:ext cx="3417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A</a:t>
            </a:r>
            <a:endParaRPr lang="en-US" altLang="zh-CN" dirty="0">
              <a:solidFill>
                <a:schemeClr val="tx2"/>
              </a:solidFill>
              <a:latin typeface="微软雅黑 Light" panose="020B0502040204020203" pitchFamily="34" charset="-122"/>
            </a:endParaRPr>
          </a:p>
        </p:txBody>
      </p:sp>
      <p:sp>
        <p:nvSpPr>
          <p:cNvPr id="479257" name="Text Box 25"/>
          <p:cNvSpPr txBox="1">
            <a:spLocks noChangeArrowheads="1"/>
          </p:cNvSpPr>
          <p:nvPr/>
        </p:nvSpPr>
        <p:spPr bwMode="auto">
          <a:xfrm>
            <a:off x="1860550" y="495204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C</a:t>
            </a:r>
            <a:endParaRPr lang="en-US" altLang="zh-CN" dirty="0">
              <a:solidFill>
                <a:schemeClr val="tx2"/>
              </a:solidFill>
              <a:latin typeface="微软雅黑 Light" panose="020B0502040204020203" pitchFamily="34" charset="-122"/>
            </a:endParaRPr>
          </a:p>
        </p:txBody>
      </p:sp>
      <p:sp>
        <p:nvSpPr>
          <p:cNvPr id="479258" name="Text Box 26"/>
          <p:cNvSpPr txBox="1">
            <a:spLocks noChangeArrowheads="1"/>
          </p:cNvSpPr>
          <p:nvPr/>
        </p:nvSpPr>
        <p:spPr bwMode="auto">
          <a:xfrm>
            <a:off x="10236275" y="4901684"/>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F</a:t>
            </a:r>
            <a:endParaRPr lang="en-US" altLang="zh-CN" dirty="0">
              <a:solidFill>
                <a:schemeClr val="tx2"/>
              </a:solidFill>
              <a:latin typeface="微软雅黑 Light" panose="020B0502040204020203" pitchFamily="34" charset="-122"/>
            </a:endParaRPr>
          </a:p>
        </p:txBody>
      </p:sp>
      <p:sp>
        <p:nvSpPr>
          <p:cNvPr id="479259" name="Text Box 27"/>
          <p:cNvSpPr txBox="1">
            <a:spLocks noChangeArrowheads="1"/>
          </p:cNvSpPr>
          <p:nvPr/>
        </p:nvSpPr>
        <p:spPr bwMode="auto">
          <a:xfrm>
            <a:off x="10172143" y="2001522"/>
            <a:ext cx="352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D</a:t>
            </a:r>
            <a:endParaRPr lang="en-US" altLang="zh-CN" dirty="0">
              <a:solidFill>
                <a:schemeClr val="tx2"/>
              </a:solidFill>
              <a:latin typeface="微软雅黑 Light" panose="020B0502040204020203" pitchFamily="34" charset="-122"/>
            </a:endParaRPr>
          </a:p>
        </p:txBody>
      </p:sp>
      <p:sp>
        <p:nvSpPr>
          <p:cNvPr id="479261" name="Text Box 29"/>
          <p:cNvSpPr txBox="1">
            <a:spLocks noChangeArrowheads="1"/>
          </p:cNvSpPr>
          <p:nvPr/>
        </p:nvSpPr>
        <p:spPr bwMode="auto">
          <a:xfrm>
            <a:off x="1903644" y="3378240"/>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B</a:t>
            </a:r>
            <a:endParaRPr lang="en-US" altLang="zh-CN" dirty="0">
              <a:solidFill>
                <a:schemeClr val="tx2"/>
              </a:solidFill>
              <a:latin typeface="微软雅黑 Light" panose="020B0502040204020203" pitchFamily="34" charset="-122"/>
            </a:endParaRPr>
          </a:p>
        </p:txBody>
      </p:sp>
      <p:sp>
        <p:nvSpPr>
          <p:cNvPr id="479262" name="Text Box 30"/>
          <p:cNvSpPr txBox="1">
            <a:spLocks noChangeArrowheads="1"/>
          </p:cNvSpPr>
          <p:nvPr/>
        </p:nvSpPr>
        <p:spPr bwMode="auto">
          <a:xfrm>
            <a:off x="10199782" y="3388797"/>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E</a:t>
            </a:r>
            <a:endParaRPr lang="en-US" altLang="zh-CN" dirty="0">
              <a:solidFill>
                <a:schemeClr val="tx2"/>
              </a:solidFill>
              <a:latin typeface="微软雅黑 Light" panose="020B0502040204020203" pitchFamily="34" charset="-122"/>
            </a:endParaRPr>
          </a:p>
        </p:txBody>
      </p:sp>
      <p:sp>
        <p:nvSpPr>
          <p:cNvPr id="479263" name="Line 31"/>
          <p:cNvSpPr>
            <a:spLocks noChangeShapeType="1"/>
          </p:cNvSpPr>
          <p:nvPr/>
        </p:nvSpPr>
        <p:spPr bwMode="auto">
          <a:xfrm>
            <a:off x="8015680" y="2876213"/>
            <a:ext cx="1536308" cy="69725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64" name="Line 32"/>
          <p:cNvSpPr>
            <a:spLocks noChangeShapeType="1"/>
          </p:cNvSpPr>
          <p:nvPr/>
        </p:nvSpPr>
        <p:spPr bwMode="auto">
          <a:xfrm flipV="1">
            <a:off x="2914216" y="3042477"/>
            <a:ext cx="1524432" cy="459549"/>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9267" name="Rectangle 35"/>
          <p:cNvSpPr>
            <a:spLocks noChangeArrowheads="1"/>
          </p:cNvSpPr>
          <p:nvPr/>
        </p:nvSpPr>
        <p:spPr bwMode="auto">
          <a:xfrm>
            <a:off x="9121775" y="4652964"/>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9268" name="Rectangle 36"/>
          <p:cNvSpPr>
            <a:spLocks noChangeArrowheads="1"/>
          </p:cNvSpPr>
          <p:nvPr/>
        </p:nvSpPr>
        <p:spPr bwMode="auto">
          <a:xfrm>
            <a:off x="8834439" y="4581526"/>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9269" name="Rectangle 37"/>
          <p:cNvSpPr>
            <a:spLocks noChangeArrowheads="1"/>
          </p:cNvSpPr>
          <p:nvPr/>
        </p:nvSpPr>
        <p:spPr bwMode="auto">
          <a:xfrm>
            <a:off x="8545514" y="4437064"/>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9270" name="Rectangle 38"/>
          <p:cNvSpPr>
            <a:spLocks noChangeArrowheads="1"/>
          </p:cNvSpPr>
          <p:nvPr/>
        </p:nvSpPr>
        <p:spPr bwMode="auto">
          <a:xfrm>
            <a:off x="8401050" y="2133601"/>
            <a:ext cx="287338" cy="288925"/>
          </a:xfrm>
          <a:prstGeom prst="rect">
            <a:avLst/>
          </a:prstGeom>
          <a:solidFill>
            <a:srgbClr val="0066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1</a:t>
            </a:r>
            <a:endParaRPr lang="en-US" altLang="zh-CN" dirty="0">
              <a:solidFill>
                <a:schemeClr val="bg1"/>
              </a:solidFill>
              <a:latin typeface="微软雅黑 Light" panose="020B0502040204020203" pitchFamily="34" charset="-122"/>
            </a:endParaRPr>
          </a:p>
        </p:txBody>
      </p:sp>
      <p:sp>
        <p:nvSpPr>
          <p:cNvPr id="479271" name="Rectangle 39"/>
          <p:cNvSpPr>
            <a:spLocks noChangeArrowheads="1"/>
          </p:cNvSpPr>
          <p:nvPr/>
        </p:nvSpPr>
        <p:spPr bwMode="auto">
          <a:xfrm>
            <a:off x="6240464" y="2349501"/>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9272" name="Rectangle 40"/>
          <p:cNvSpPr>
            <a:spLocks noChangeArrowheads="1"/>
          </p:cNvSpPr>
          <p:nvPr/>
        </p:nvSpPr>
        <p:spPr bwMode="auto">
          <a:xfrm>
            <a:off x="5953125" y="2349501"/>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9273" name="Rectangle 41"/>
          <p:cNvSpPr>
            <a:spLocks noChangeArrowheads="1"/>
          </p:cNvSpPr>
          <p:nvPr/>
        </p:nvSpPr>
        <p:spPr bwMode="auto">
          <a:xfrm>
            <a:off x="6096000" y="4437064"/>
            <a:ext cx="287338" cy="288925"/>
          </a:xfrm>
          <a:prstGeom prst="rect">
            <a:avLst/>
          </a:prstGeom>
          <a:solidFill>
            <a:srgbClr val="0066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1</a:t>
            </a:r>
            <a:endParaRPr lang="en-US" altLang="zh-CN" dirty="0">
              <a:solidFill>
                <a:schemeClr val="bg1"/>
              </a:solidFill>
              <a:latin typeface="微软雅黑 Light" panose="020B0502040204020203" pitchFamily="34" charset="-122"/>
            </a:endParaRPr>
          </a:p>
        </p:txBody>
      </p:sp>
      <p:sp>
        <p:nvSpPr>
          <p:cNvPr id="479274" name="Rectangle 42"/>
          <p:cNvSpPr>
            <a:spLocks noChangeArrowheads="1"/>
          </p:cNvSpPr>
          <p:nvPr/>
        </p:nvSpPr>
        <p:spPr bwMode="auto">
          <a:xfrm>
            <a:off x="8688389" y="2060576"/>
            <a:ext cx="287337" cy="288925"/>
          </a:xfrm>
          <a:prstGeom prst="rect">
            <a:avLst/>
          </a:prstGeom>
          <a:solidFill>
            <a:srgbClr val="0066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2</a:t>
            </a:r>
            <a:endParaRPr lang="en-US" altLang="zh-CN" dirty="0">
              <a:solidFill>
                <a:schemeClr val="bg1"/>
              </a:solidFill>
              <a:latin typeface="微软雅黑 Light" panose="020B0502040204020203" pitchFamily="34" charset="-122"/>
            </a:endParaRPr>
          </a:p>
        </p:txBody>
      </p:sp>
      <p:sp>
        <p:nvSpPr>
          <p:cNvPr id="479275" name="Rectangle 43"/>
          <p:cNvSpPr>
            <a:spLocks noChangeArrowheads="1"/>
          </p:cNvSpPr>
          <p:nvPr/>
        </p:nvSpPr>
        <p:spPr bwMode="auto">
          <a:xfrm>
            <a:off x="7751764" y="3429001"/>
            <a:ext cx="287337" cy="288925"/>
          </a:xfrm>
          <a:prstGeom prst="rect">
            <a:avLst/>
          </a:prstGeom>
          <a:solidFill>
            <a:srgbClr val="0066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1</a:t>
            </a:r>
            <a:endParaRPr lang="en-US" altLang="zh-CN" dirty="0">
              <a:solidFill>
                <a:schemeClr val="bg1"/>
              </a:solidFill>
              <a:latin typeface="微软雅黑 Light" panose="020B0502040204020203" pitchFamily="34" charset="-122"/>
            </a:endParaRPr>
          </a:p>
        </p:txBody>
      </p:sp>
      <p:sp>
        <p:nvSpPr>
          <p:cNvPr id="479276" name="Rectangle 44"/>
          <p:cNvSpPr>
            <a:spLocks noChangeArrowheads="1"/>
          </p:cNvSpPr>
          <p:nvPr/>
        </p:nvSpPr>
        <p:spPr bwMode="auto">
          <a:xfrm>
            <a:off x="7319964" y="3284539"/>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9277" name="Rectangle 45"/>
          <p:cNvSpPr>
            <a:spLocks noChangeArrowheads="1"/>
          </p:cNvSpPr>
          <p:nvPr/>
        </p:nvSpPr>
        <p:spPr bwMode="auto">
          <a:xfrm>
            <a:off x="4800600" y="3429001"/>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9278" name="Rectangle 46"/>
          <p:cNvSpPr>
            <a:spLocks noChangeArrowheads="1"/>
          </p:cNvSpPr>
          <p:nvPr/>
        </p:nvSpPr>
        <p:spPr bwMode="auto">
          <a:xfrm>
            <a:off x="6096000" y="3213101"/>
            <a:ext cx="287338" cy="288925"/>
          </a:xfrm>
          <a:prstGeom prst="rect">
            <a:avLst/>
          </a:prstGeom>
          <a:solidFill>
            <a:srgbClr val="0066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2</a:t>
            </a:r>
            <a:endParaRPr lang="en-US" altLang="zh-CN" dirty="0">
              <a:solidFill>
                <a:schemeClr val="bg1"/>
              </a:solidFill>
              <a:latin typeface="微软雅黑 Light" panose="020B0502040204020203" pitchFamily="34" charset="-122"/>
            </a:endParaRPr>
          </a:p>
        </p:txBody>
      </p:sp>
      <p:sp>
        <p:nvSpPr>
          <p:cNvPr id="479279" name="Rectangle 47"/>
          <p:cNvSpPr>
            <a:spLocks noChangeArrowheads="1"/>
          </p:cNvSpPr>
          <p:nvPr/>
        </p:nvSpPr>
        <p:spPr bwMode="auto">
          <a:xfrm>
            <a:off x="7319964" y="3573464"/>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9280" name="Rectangle 48"/>
          <p:cNvSpPr>
            <a:spLocks noChangeArrowheads="1"/>
          </p:cNvSpPr>
          <p:nvPr/>
        </p:nvSpPr>
        <p:spPr bwMode="auto">
          <a:xfrm>
            <a:off x="6096000" y="4005264"/>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9281" name="Rectangle 49"/>
          <p:cNvSpPr>
            <a:spLocks noChangeArrowheads="1"/>
          </p:cNvSpPr>
          <p:nvPr/>
        </p:nvSpPr>
        <p:spPr bwMode="auto">
          <a:xfrm>
            <a:off x="4079875" y="2060576"/>
            <a:ext cx="287338"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1</a:t>
            </a:r>
            <a:endParaRPr lang="en-US" altLang="zh-CN" dirty="0">
              <a:latin typeface="微软雅黑 Light" panose="020B0502040204020203" pitchFamily="34" charset="-122"/>
            </a:endParaRPr>
          </a:p>
        </p:txBody>
      </p:sp>
      <p:sp>
        <p:nvSpPr>
          <p:cNvPr id="479282" name="Rectangle 50"/>
          <p:cNvSpPr>
            <a:spLocks noChangeArrowheads="1"/>
          </p:cNvSpPr>
          <p:nvPr/>
        </p:nvSpPr>
        <p:spPr bwMode="auto">
          <a:xfrm>
            <a:off x="3792539" y="1989139"/>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2</a:t>
            </a:r>
            <a:endParaRPr lang="en-US" altLang="zh-CN" dirty="0">
              <a:latin typeface="微软雅黑 Light" panose="020B0502040204020203" pitchFamily="34" charset="-122"/>
            </a:endParaRPr>
          </a:p>
        </p:txBody>
      </p:sp>
      <p:sp>
        <p:nvSpPr>
          <p:cNvPr id="479283" name="Rectangle 51"/>
          <p:cNvSpPr>
            <a:spLocks noChangeArrowheads="1"/>
          </p:cNvSpPr>
          <p:nvPr/>
        </p:nvSpPr>
        <p:spPr bwMode="auto">
          <a:xfrm>
            <a:off x="3503614" y="1916114"/>
            <a:ext cx="287337" cy="2889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latin typeface="微软雅黑 Light" panose="020B0502040204020203" pitchFamily="34" charset="-122"/>
              </a:rPr>
              <a:t>3</a:t>
            </a:r>
            <a:endParaRPr lang="en-US" altLang="zh-CN" dirty="0">
              <a:latin typeface="微软雅黑 Light" panose="020B0502040204020203" pitchFamily="34" charset="-122"/>
            </a:endParaRPr>
          </a:p>
        </p:txBody>
      </p:sp>
      <p:sp>
        <p:nvSpPr>
          <p:cNvPr id="479285" name="Text Box 53"/>
          <p:cNvSpPr txBox="1">
            <a:spLocks noChangeArrowheads="1"/>
          </p:cNvSpPr>
          <p:nvPr/>
        </p:nvSpPr>
        <p:spPr bwMode="auto">
          <a:xfrm>
            <a:off x="4583113" y="4508501"/>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B</a:t>
            </a:r>
            <a:endParaRPr lang="en-US" altLang="zh-CN" b="1" dirty="0">
              <a:solidFill>
                <a:schemeClr val="tx2"/>
              </a:solidFill>
              <a:latin typeface="微软雅黑 Light" panose="020B0502040204020203" pitchFamily="34" charset="-122"/>
            </a:endParaRPr>
          </a:p>
        </p:txBody>
      </p:sp>
      <p:sp>
        <p:nvSpPr>
          <p:cNvPr id="479286" name="Text Box 54"/>
          <p:cNvSpPr txBox="1">
            <a:spLocks noChangeArrowheads="1"/>
          </p:cNvSpPr>
          <p:nvPr/>
        </p:nvSpPr>
        <p:spPr bwMode="auto">
          <a:xfrm>
            <a:off x="4583113" y="2133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A</a:t>
            </a:r>
            <a:endParaRPr lang="en-US" altLang="zh-CN" b="1" dirty="0">
              <a:solidFill>
                <a:schemeClr val="tx2"/>
              </a:solidFill>
              <a:latin typeface="微软雅黑 Light" panose="020B0502040204020203" pitchFamily="34" charset="-122"/>
            </a:endParaRPr>
          </a:p>
        </p:txBody>
      </p:sp>
      <p:sp>
        <p:nvSpPr>
          <p:cNvPr id="479287" name="Text Box 55"/>
          <p:cNvSpPr txBox="1">
            <a:spLocks noChangeArrowheads="1"/>
          </p:cNvSpPr>
          <p:nvPr/>
        </p:nvSpPr>
        <p:spPr bwMode="auto">
          <a:xfrm>
            <a:off x="7608888" y="4581526"/>
            <a:ext cx="352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D</a:t>
            </a:r>
            <a:endParaRPr lang="en-US" altLang="zh-CN" b="1" dirty="0">
              <a:solidFill>
                <a:schemeClr val="tx2"/>
              </a:solidFill>
              <a:latin typeface="微软雅黑 Light" panose="020B0502040204020203" pitchFamily="34" charset="-122"/>
            </a:endParaRPr>
          </a:p>
        </p:txBody>
      </p:sp>
      <p:sp>
        <p:nvSpPr>
          <p:cNvPr id="479288" name="Text Box 56"/>
          <p:cNvSpPr txBox="1">
            <a:spLocks noChangeArrowheads="1"/>
          </p:cNvSpPr>
          <p:nvPr/>
        </p:nvSpPr>
        <p:spPr bwMode="auto">
          <a:xfrm>
            <a:off x="7608888" y="213360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C</a:t>
            </a:r>
            <a:endParaRPr lang="en-US" altLang="zh-CN" b="1" dirty="0">
              <a:solidFill>
                <a:schemeClr val="tx2"/>
              </a:solidFill>
              <a:latin typeface="微软雅黑 Light" panose="020B0502040204020203" pitchFamily="34" charset="-122"/>
            </a:endParaRPr>
          </a:p>
        </p:txBody>
      </p:sp>
      <p:sp>
        <p:nvSpPr>
          <p:cNvPr id="479291" name="Rectangle 59"/>
          <p:cNvSpPr>
            <a:spLocks noChangeArrowheads="1"/>
          </p:cNvSpPr>
          <p:nvPr/>
        </p:nvSpPr>
        <p:spPr bwMode="auto">
          <a:xfrm>
            <a:off x="3862389" y="4292601"/>
            <a:ext cx="287337" cy="288925"/>
          </a:xfrm>
          <a:prstGeom prst="rect">
            <a:avLst/>
          </a:prstGeom>
          <a:solidFill>
            <a:srgbClr val="00660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1</a:t>
            </a:r>
            <a:endParaRPr lang="en-US" altLang="zh-CN" dirty="0">
              <a:solidFill>
                <a:schemeClr val="bg1"/>
              </a:solidFill>
              <a:latin typeface="微软雅黑 Light" panose="020B0502040204020203" pitchFamily="34" charset="-122"/>
            </a:endParaRPr>
          </a:p>
        </p:txBody>
      </p:sp>
      <p:sp>
        <p:nvSpPr>
          <p:cNvPr id="479292" name="Rectangle 60"/>
          <p:cNvSpPr>
            <a:spLocks noChangeArrowheads="1"/>
          </p:cNvSpPr>
          <p:nvPr/>
        </p:nvSpPr>
        <p:spPr bwMode="auto">
          <a:xfrm>
            <a:off x="3575050" y="4435476"/>
            <a:ext cx="287338" cy="288925"/>
          </a:xfrm>
          <a:prstGeom prst="rect">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a:solidFill>
                  <a:schemeClr val="bg1"/>
                </a:solidFill>
                <a:latin typeface="微软雅黑 Light" panose="020B0502040204020203" pitchFamily="34" charset="-122"/>
              </a:rPr>
              <a:t>2</a:t>
            </a:r>
            <a:endParaRPr lang="en-US" altLang="zh-CN" dirty="0">
              <a:solidFill>
                <a:schemeClr val="bg1"/>
              </a:solidFill>
              <a:latin typeface="微软雅黑 Light" panose="020B0502040204020203" pitchFamily="34" charset="-122"/>
            </a:endParaRPr>
          </a:p>
        </p:txBody>
      </p:sp>
      <p:sp>
        <p:nvSpPr>
          <p:cNvPr id="479293" name="Text Box 61"/>
          <p:cNvSpPr txBox="1">
            <a:spLocks noChangeArrowheads="1"/>
          </p:cNvSpPr>
          <p:nvPr/>
        </p:nvSpPr>
        <p:spPr bwMode="auto">
          <a:xfrm>
            <a:off x="3212307" y="5883360"/>
            <a:ext cx="6054724" cy="398379"/>
          </a:xfrm>
          <a:prstGeom prst="rect">
            <a:avLst/>
          </a:prstGeom>
        </p:spPr>
        <p:txBody>
          <a:bodyPr lIns="0" tIns="0" rIns="0" bIns="0" anchor="ctr">
            <a:noAutofit/>
          </a:bodyPr>
          <a:lstStyle>
            <a:defPPr>
              <a:defRPr lang="zh-CN"/>
            </a:defPPr>
            <a:lvl1pPr marL="285750" indent="-285750" defTabSz="1188085">
              <a:lnSpc>
                <a:spcPct val="120000"/>
              </a:lnSpc>
              <a:spcBef>
                <a:spcPts val="0"/>
              </a:spcBef>
              <a:spcAft>
                <a:spcPts val="600"/>
              </a:spcAft>
              <a:buFont typeface="Wingdings" panose="05000000000000000000" pitchFamily="2" charset="2"/>
              <a:buChar char="Ø"/>
              <a:defRPr baseline="0">
                <a:latin typeface="微软雅黑 Light" panose="020B0502040204020203" pitchFamily="34" charset="-122"/>
                <a:ea typeface="微软雅黑 Light" panose="020B0502040204020203" pitchFamily="34" charset="-122"/>
              </a:defRPr>
            </a:lvl1pPr>
            <a:lvl2pPr marL="264160" indent="0" algn="ctr" defTabSz="1188085">
              <a:lnSpc>
                <a:spcPct val="90000"/>
              </a:lnSpc>
              <a:spcBef>
                <a:spcPts val="650"/>
              </a:spcBef>
              <a:buFont typeface="Arial" panose="020B0604020202020204" pitchFamily="34" charset="0"/>
              <a:buNone/>
              <a:defRPr sz="1155"/>
            </a:lvl2pPr>
            <a:lvl3pPr marL="527685" indent="0" algn="ctr" defTabSz="1188085">
              <a:lnSpc>
                <a:spcPct val="90000"/>
              </a:lnSpc>
              <a:spcBef>
                <a:spcPts val="650"/>
              </a:spcBef>
              <a:buFont typeface="Arial" panose="020B0604020202020204" pitchFamily="34" charset="0"/>
              <a:buNone/>
              <a:defRPr sz="1040"/>
            </a:lvl3pPr>
            <a:lvl4pPr marL="791845" indent="0" algn="ctr" defTabSz="1188085">
              <a:lnSpc>
                <a:spcPct val="90000"/>
              </a:lnSpc>
              <a:spcBef>
                <a:spcPts val="650"/>
              </a:spcBef>
              <a:buFont typeface="Arial" panose="020B0604020202020204" pitchFamily="34" charset="0"/>
              <a:buNone/>
              <a:defRPr sz="925"/>
            </a:lvl4pPr>
            <a:lvl5pPr marL="1056005" indent="0" algn="ctr" defTabSz="1188085">
              <a:lnSpc>
                <a:spcPct val="90000"/>
              </a:lnSpc>
              <a:spcBef>
                <a:spcPts val="650"/>
              </a:spcBef>
              <a:buFont typeface="Arial" panose="020B0604020202020204" pitchFamily="34" charset="0"/>
              <a:buNone/>
              <a:defRPr sz="925"/>
            </a:lvl5pPr>
            <a:lvl6pPr marL="1319530" indent="0" algn="ctr" defTabSz="1188085">
              <a:lnSpc>
                <a:spcPct val="90000"/>
              </a:lnSpc>
              <a:spcBef>
                <a:spcPts val="650"/>
              </a:spcBef>
              <a:buFont typeface="Arial" panose="020B0604020202020204" pitchFamily="34" charset="0"/>
              <a:buNone/>
              <a:defRPr sz="925"/>
            </a:lvl6pPr>
            <a:lvl7pPr marL="1583690" indent="0" algn="ctr" defTabSz="1188085">
              <a:lnSpc>
                <a:spcPct val="90000"/>
              </a:lnSpc>
              <a:spcBef>
                <a:spcPts val="650"/>
              </a:spcBef>
              <a:buFont typeface="Arial" panose="020B0604020202020204" pitchFamily="34" charset="0"/>
              <a:buNone/>
              <a:defRPr sz="925"/>
            </a:lvl7pPr>
            <a:lvl8pPr marL="1847850" indent="0" algn="ctr" defTabSz="1188085">
              <a:lnSpc>
                <a:spcPct val="90000"/>
              </a:lnSpc>
              <a:spcBef>
                <a:spcPts val="650"/>
              </a:spcBef>
              <a:buFont typeface="Arial" panose="020B0604020202020204" pitchFamily="34" charset="0"/>
              <a:buNone/>
              <a:defRPr sz="925"/>
            </a:lvl8pPr>
            <a:lvl9pPr marL="2112010" indent="0" algn="ctr" defTabSz="1188085">
              <a:lnSpc>
                <a:spcPct val="90000"/>
              </a:lnSpc>
              <a:spcBef>
                <a:spcPts val="650"/>
              </a:spcBef>
              <a:buFont typeface="Arial" panose="020B0604020202020204" pitchFamily="34" charset="0"/>
              <a:buNone/>
              <a:defRPr sz="925"/>
            </a:lvl9pPr>
          </a:lstStyle>
          <a:p>
            <a:r>
              <a:rPr lang="zh-CN" altLang="en-US" sz="2800" dirty="0"/>
              <a:t>一条链路可同时为多个设备服务</a:t>
            </a:r>
            <a:endParaRPr lang="zh-CN" altLang="en-US" sz="2800" dirty="0"/>
          </a:p>
        </p:txBody>
      </p:sp>
      <p:pic>
        <p:nvPicPr>
          <p:cNvPr id="63" name="图形 6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1987" y="4891845"/>
            <a:ext cx="656542" cy="497096"/>
          </a:xfrm>
          <a:prstGeom prst="rect">
            <a:avLst/>
          </a:prstGeom>
        </p:spPr>
      </p:pic>
      <p:pic>
        <p:nvPicPr>
          <p:cNvPr id="64" name="图形 6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1987" y="3282363"/>
            <a:ext cx="656542" cy="497096"/>
          </a:xfrm>
          <a:prstGeom prst="rect">
            <a:avLst/>
          </a:prstGeom>
        </p:spPr>
      </p:pic>
      <p:pic>
        <p:nvPicPr>
          <p:cNvPr id="65" name="图形 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43240" y="1909130"/>
            <a:ext cx="656542" cy="497096"/>
          </a:xfrm>
          <a:prstGeom prst="rect">
            <a:avLst/>
          </a:prstGeom>
        </p:spPr>
      </p:pic>
      <p:pic>
        <p:nvPicPr>
          <p:cNvPr id="66" name="图形 6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7674" y="4856473"/>
            <a:ext cx="656542" cy="497096"/>
          </a:xfrm>
          <a:prstGeom prst="rect">
            <a:avLst/>
          </a:prstGeom>
        </p:spPr>
      </p:pic>
      <p:pic>
        <p:nvPicPr>
          <p:cNvPr id="67" name="图形 6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7674" y="3246991"/>
            <a:ext cx="656542" cy="497096"/>
          </a:xfrm>
          <a:prstGeom prst="rect">
            <a:avLst/>
          </a:prstGeom>
        </p:spPr>
      </p:pic>
      <p:pic>
        <p:nvPicPr>
          <p:cNvPr id="68" name="图形 6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48927" y="1873758"/>
            <a:ext cx="656542" cy="497096"/>
          </a:xfrm>
          <a:prstGeom prst="rect">
            <a:avLst/>
          </a:prstGeom>
        </p:spPr>
      </p:pic>
      <p:pic>
        <p:nvPicPr>
          <p:cNvPr id="69" name="图形 6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40237" y="2478078"/>
            <a:ext cx="597685" cy="597685"/>
          </a:xfrm>
          <a:prstGeom prst="rect">
            <a:avLst/>
          </a:prstGeom>
        </p:spPr>
      </p:pic>
      <p:pic>
        <p:nvPicPr>
          <p:cNvPr id="70" name="图形 6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40237" y="3958834"/>
            <a:ext cx="597685" cy="597685"/>
          </a:xfrm>
          <a:prstGeom prst="rect">
            <a:avLst/>
          </a:prstGeom>
        </p:spPr>
      </p:pic>
      <p:pic>
        <p:nvPicPr>
          <p:cNvPr id="71" name="图形 7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7996" y="4010881"/>
            <a:ext cx="597685" cy="597685"/>
          </a:xfrm>
          <a:prstGeom prst="rect">
            <a:avLst/>
          </a:prstGeom>
        </p:spPr>
      </p:pic>
      <p:pic>
        <p:nvPicPr>
          <p:cNvPr id="72" name="图形 7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83072" y="2455417"/>
            <a:ext cx="597685" cy="59768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oup 59"/>
          <p:cNvGrpSpPr/>
          <p:nvPr/>
        </p:nvGrpSpPr>
        <p:grpSpPr bwMode="auto">
          <a:xfrm>
            <a:off x="3454533" y="1735716"/>
            <a:ext cx="5123156" cy="3590716"/>
            <a:chOff x="2949" y="196"/>
            <a:chExt cx="941" cy="598"/>
          </a:xfrm>
        </p:grpSpPr>
        <p:sp>
          <p:nvSpPr>
            <p:cNvPr id="75" name="Oval 60"/>
            <p:cNvSpPr>
              <a:spLocks noChangeArrowheads="1"/>
            </p:cNvSpPr>
            <p:nvPr/>
          </p:nvSpPr>
          <p:spPr bwMode="auto">
            <a:xfrm>
              <a:off x="3168" y="196"/>
              <a:ext cx="407" cy="162"/>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76" name="Oval 61"/>
            <p:cNvSpPr>
              <a:spLocks noChangeArrowheads="1"/>
            </p:cNvSpPr>
            <p:nvPr/>
          </p:nvSpPr>
          <p:spPr bwMode="auto">
            <a:xfrm rot="900000">
              <a:off x="3512" y="252"/>
              <a:ext cx="275" cy="131"/>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77" name="Oval 62"/>
            <p:cNvSpPr>
              <a:spLocks noChangeArrowheads="1"/>
            </p:cNvSpPr>
            <p:nvPr/>
          </p:nvSpPr>
          <p:spPr bwMode="auto">
            <a:xfrm rot="1500000">
              <a:off x="3650" y="385"/>
              <a:ext cx="240" cy="153"/>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78" name="Oval 63"/>
            <p:cNvSpPr>
              <a:spLocks noChangeArrowheads="1"/>
            </p:cNvSpPr>
            <p:nvPr/>
          </p:nvSpPr>
          <p:spPr bwMode="auto">
            <a:xfrm rot="-1560000">
              <a:off x="3573" y="537"/>
              <a:ext cx="291" cy="189"/>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79" name="Oval 64"/>
            <p:cNvSpPr>
              <a:spLocks noChangeArrowheads="1"/>
            </p:cNvSpPr>
            <p:nvPr/>
          </p:nvSpPr>
          <p:spPr bwMode="auto">
            <a:xfrm>
              <a:off x="3216" y="555"/>
              <a:ext cx="471" cy="239"/>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80" name="Oval 65"/>
            <p:cNvSpPr>
              <a:spLocks noChangeArrowheads="1"/>
            </p:cNvSpPr>
            <p:nvPr/>
          </p:nvSpPr>
          <p:spPr bwMode="auto">
            <a:xfrm rot="1080000">
              <a:off x="3023" y="555"/>
              <a:ext cx="265" cy="156"/>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81" name="Oval 66"/>
            <p:cNvSpPr>
              <a:spLocks noChangeArrowheads="1"/>
            </p:cNvSpPr>
            <p:nvPr/>
          </p:nvSpPr>
          <p:spPr bwMode="auto">
            <a:xfrm>
              <a:off x="2949" y="432"/>
              <a:ext cx="217" cy="156"/>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82" name="Oval 67"/>
            <p:cNvSpPr>
              <a:spLocks noChangeArrowheads="1"/>
            </p:cNvSpPr>
            <p:nvPr/>
          </p:nvSpPr>
          <p:spPr bwMode="auto">
            <a:xfrm rot="-1860000">
              <a:off x="2984" y="310"/>
              <a:ext cx="295" cy="156"/>
            </a:xfrm>
            <a:prstGeom prst="ellipse">
              <a:avLst/>
            </a:prstGeom>
            <a:solidFill>
              <a:srgbClr val="C0C0C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latin typeface="+mn-ea"/>
                <a:ea typeface="+mn-ea"/>
              </a:endParaRPr>
            </a:p>
          </p:txBody>
        </p:sp>
        <p:sp>
          <p:nvSpPr>
            <p:cNvPr id="83" name="Freeform 68"/>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sp>
          <p:nvSpPr>
            <p:cNvPr id="84" name="Freeform 69"/>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sp>
          <p:nvSpPr>
            <p:cNvPr id="85" name="Freeform 70"/>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latin typeface="+mn-ea"/>
                <a:ea typeface="+mn-ea"/>
              </a:endParaRPr>
            </a:p>
          </p:txBody>
        </p:sp>
      </p:grpSp>
      <p:sp>
        <p:nvSpPr>
          <p:cNvPr id="475138" name="Rectangle 2"/>
          <p:cNvSpPr>
            <a:spLocks noGrp="1" noChangeArrowheads="1"/>
          </p:cNvSpPr>
          <p:nvPr>
            <p:ph type="title"/>
          </p:nvPr>
        </p:nvSpPr>
        <p:spPr/>
        <p:txBody>
          <a:bodyPr/>
          <a:lstStyle/>
          <a:p>
            <a:r>
              <a:rPr lang="zh-CN" altLang="en-US" dirty="0"/>
              <a:t>虚电路</a:t>
            </a:r>
            <a:endParaRPr lang="zh-CN" altLang="en-US" dirty="0"/>
          </a:p>
        </p:txBody>
      </p:sp>
      <p:sp>
        <p:nvSpPr>
          <p:cNvPr id="42" name="灯片编号占位符 5"/>
          <p:cNvSpPr>
            <a:spLocks noGrp="1"/>
          </p:cNvSpPr>
          <p:nvPr>
            <p:ph type="sldNum" sz="quarter" idx="12"/>
          </p:nvPr>
        </p:nvSpPr>
        <p:spPr/>
        <p:txBody>
          <a:bodyPr/>
          <a:lstStyle/>
          <a:p>
            <a:fld id="{A8C7FA08-C1A8-4899-AC7E-AC57ABAC306B}" type="slidenum">
              <a:rPr lang="en-US" altLang="zh-CN"/>
            </a:fld>
            <a:endParaRPr lang="en-US" altLang="zh-CN" dirty="0"/>
          </a:p>
        </p:txBody>
      </p:sp>
      <p:sp>
        <p:nvSpPr>
          <p:cNvPr id="475154" name="Line 18"/>
          <p:cNvSpPr>
            <a:spLocks noChangeShapeType="1"/>
          </p:cNvSpPr>
          <p:nvPr/>
        </p:nvSpPr>
        <p:spPr bwMode="auto">
          <a:xfrm>
            <a:off x="6157235" y="4967114"/>
            <a:ext cx="10203" cy="79868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55" name="Line 19"/>
          <p:cNvSpPr>
            <a:spLocks noChangeShapeType="1"/>
          </p:cNvSpPr>
          <p:nvPr/>
        </p:nvSpPr>
        <p:spPr bwMode="auto">
          <a:xfrm>
            <a:off x="3503614" y="2382838"/>
            <a:ext cx="1512887" cy="2159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56" name="Line 20"/>
          <p:cNvSpPr>
            <a:spLocks noChangeShapeType="1"/>
          </p:cNvSpPr>
          <p:nvPr/>
        </p:nvSpPr>
        <p:spPr bwMode="auto">
          <a:xfrm flipV="1">
            <a:off x="3216275" y="4204269"/>
            <a:ext cx="884482" cy="41059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57" name="Line 21"/>
          <p:cNvSpPr>
            <a:spLocks noChangeShapeType="1"/>
          </p:cNvSpPr>
          <p:nvPr/>
        </p:nvSpPr>
        <p:spPr bwMode="auto">
          <a:xfrm flipV="1">
            <a:off x="7391399" y="2180051"/>
            <a:ext cx="1125531" cy="49012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58" name="Line 22"/>
          <p:cNvSpPr>
            <a:spLocks noChangeShapeType="1"/>
          </p:cNvSpPr>
          <p:nvPr/>
        </p:nvSpPr>
        <p:spPr bwMode="auto">
          <a:xfrm>
            <a:off x="8090825" y="4299655"/>
            <a:ext cx="1093518" cy="54758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59" name="Line 23"/>
          <p:cNvSpPr>
            <a:spLocks noChangeShapeType="1"/>
          </p:cNvSpPr>
          <p:nvPr/>
        </p:nvSpPr>
        <p:spPr bwMode="auto">
          <a:xfrm>
            <a:off x="5664201" y="2670176"/>
            <a:ext cx="1657487" cy="11957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0" name="Line 24"/>
          <p:cNvSpPr>
            <a:spLocks noChangeShapeType="1"/>
          </p:cNvSpPr>
          <p:nvPr/>
        </p:nvSpPr>
        <p:spPr bwMode="auto">
          <a:xfrm>
            <a:off x="4821235" y="4191001"/>
            <a:ext cx="977120" cy="4984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1" name="Line 25"/>
          <p:cNvSpPr>
            <a:spLocks noChangeShapeType="1"/>
          </p:cNvSpPr>
          <p:nvPr/>
        </p:nvSpPr>
        <p:spPr bwMode="auto">
          <a:xfrm>
            <a:off x="5663070" y="2570505"/>
            <a:ext cx="972010" cy="20251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2" name="Line 26"/>
          <p:cNvSpPr>
            <a:spLocks noChangeShapeType="1"/>
          </p:cNvSpPr>
          <p:nvPr/>
        </p:nvSpPr>
        <p:spPr bwMode="auto">
          <a:xfrm flipV="1">
            <a:off x="6566439" y="4398962"/>
            <a:ext cx="748763" cy="18766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3" name="Line 27"/>
          <p:cNvSpPr>
            <a:spLocks noChangeShapeType="1"/>
          </p:cNvSpPr>
          <p:nvPr/>
        </p:nvSpPr>
        <p:spPr bwMode="auto">
          <a:xfrm flipV="1">
            <a:off x="4727577" y="2990508"/>
            <a:ext cx="295522" cy="54326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6" name="Line 30"/>
          <p:cNvSpPr>
            <a:spLocks noChangeShapeType="1"/>
          </p:cNvSpPr>
          <p:nvPr/>
        </p:nvSpPr>
        <p:spPr bwMode="auto">
          <a:xfrm>
            <a:off x="7315201" y="3100943"/>
            <a:ext cx="243023" cy="64630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7" name="Line 31"/>
          <p:cNvSpPr>
            <a:spLocks noChangeShapeType="1"/>
          </p:cNvSpPr>
          <p:nvPr/>
        </p:nvSpPr>
        <p:spPr bwMode="auto">
          <a:xfrm>
            <a:off x="5651749" y="2990509"/>
            <a:ext cx="430428" cy="124167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68" name="Text Box 32"/>
          <p:cNvSpPr txBox="1">
            <a:spLocks noChangeArrowheads="1"/>
          </p:cNvSpPr>
          <p:nvPr/>
        </p:nvSpPr>
        <p:spPr bwMode="auto">
          <a:xfrm>
            <a:off x="2365755" y="2266478"/>
            <a:ext cx="4812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H2</a:t>
            </a:r>
            <a:endParaRPr lang="en-US" altLang="zh-CN" dirty="0">
              <a:solidFill>
                <a:schemeClr val="tx2"/>
              </a:solidFill>
              <a:latin typeface="微软雅黑 Light" panose="020B0502040204020203" pitchFamily="34" charset="-122"/>
            </a:endParaRPr>
          </a:p>
        </p:txBody>
      </p:sp>
      <p:sp>
        <p:nvSpPr>
          <p:cNvPr id="475169" name="Text Box 33"/>
          <p:cNvSpPr txBox="1">
            <a:spLocks noChangeArrowheads="1"/>
          </p:cNvSpPr>
          <p:nvPr/>
        </p:nvSpPr>
        <p:spPr bwMode="auto">
          <a:xfrm>
            <a:off x="2079149" y="4529005"/>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H1</a:t>
            </a:r>
            <a:endParaRPr lang="en-US" altLang="zh-CN" dirty="0">
              <a:solidFill>
                <a:schemeClr val="tx2"/>
              </a:solidFill>
              <a:latin typeface="微软雅黑 Light" panose="020B0502040204020203" pitchFamily="34" charset="-122"/>
            </a:endParaRPr>
          </a:p>
        </p:txBody>
      </p:sp>
      <p:sp>
        <p:nvSpPr>
          <p:cNvPr id="475170" name="Text Box 34"/>
          <p:cNvSpPr txBox="1">
            <a:spLocks noChangeArrowheads="1"/>
          </p:cNvSpPr>
          <p:nvPr/>
        </p:nvSpPr>
        <p:spPr bwMode="auto">
          <a:xfrm>
            <a:off x="6424271" y="5879339"/>
            <a:ext cx="4812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H3</a:t>
            </a:r>
            <a:endParaRPr lang="en-US" altLang="zh-CN" dirty="0">
              <a:solidFill>
                <a:schemeClr val="tx2"/>
              </a:solidFill>
              <a:latin typeface="微软雅黑 Light" panose="020B0502040204020203" pitchFamily="34" charset="-122"/>
            </a:endParaRPr>
          </a:p>
        </p:txBody>
      </p:sp>
      <p:sp>
        <p:nvSpPr>
          <p:cNvPr id="475171" name="Text Box 35"/>
          <p:cNvSpPr txBox="1">
            <a:spLocks noChangeArrowheads="1"/>
          </p:cNvSpPr>
          <p:nvPr/>
        </p:nvSpPr>
        <p:spPr bwMode="auto">
          <a:xfrm>
            <a:off x="9282801" y="5180569"/>
            <a:ext cx="4812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H5</a:t>
            </a:r>
            <a:endParaRPr lang="en-US" altLang="zh-CN" dirty="0">
              <a:solidFill>
                <a:schemeClr val="tx2"/>
              </a:solidFill>
              <a:latin typeface="微软雅黑 Light" panose="020B0502040204020203" pitchFamily="34" charset="-122"/>
            </a:endParaRPr>
          </a:p>
        </p:txBody>
      </p:sp>
      <p:sp>
        <p:nvSpPr>
          <p:cNvPr id="475172" name="Text Box 36"/>
          <p:cNvSpPr txBox="1">
            <a:spLocks noChangeArrowheads="1"/>
          </p:cNvSpPr>
          <p:nvPr/>
        </p:nvSpPr>
        <p:spPr bwMode="auto">
          <a:xfrm>
            <a:off x="9131299" y="1816301"/>
            <a:ext cx="486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latin typeface="微软雅黑 Light" panose="020B0502040204020203" pitchFamily="34" charset="-122"/>
              </a:rPr>
              <a:t>H4</a:t>
            </a:r>
            <a:endParaRPr lang="en-US" altLang="zh-CN" dirty="0">
              <a:solidFill>
                <a:schemeClr val="tx2"/>
              </a:solidFill>
              <a:latin typeface="微软雅黑 Light" panose="020B0502040204020203" pitchFamily="34" charset="-122"/>
            </a:endParaRPr>
          </a:p>
        </p:txBody>
      </p:sp>
      <p:sp>
        <p:nvSpPr>
          <p:cNvPr id="475173" name="Text Box 37"/>
          <p:cNvSpPr txBox="1">
            <a:spLocks noChangeArrowheads="1"/>
          </p:cNvSpPr>
          <p:nvPr/>
        </p:nvSpPr>
        <p:spPr bwMode="auto">
          <a:xfrm>
            <a:off x="5234063" y="1955039"/>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B</a:t>
            </a:r>
            <a:endParaRPr lang="en-US" altLang="zh-CN" b="1" dirty="0">
              <a:solidFill>
                <a:schemeClr val="tx2"/>
              </a:solidFill>
              <a:latin typeface="微软雅黑 Light" panose="020B0502040204020203" pitchFamily="34" charset="-122"/>
            </a:endParaRPr>
          </a:p>
        </p:txBody>
      </p:sp>
      <p:sp>
        <p:nvSpPr>
          <p:cNvPr id="475174" name="Text Box 38"/>
          <p:cNvSpPr txBox="1">
            <a:spLocks noChangeArrowheads="1"/>
          </p:cNvSpPr>
          <p:nvPr/>
        </p:nvSpPr>
        <p:spPr bwMode="auto">
          <a:xfrm>
            <a:off x="6849952" y="2045556"/>
            <a:ext cx="3529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D</a:t>
            </a:r>
            <a:endParaRPr lang="en-US" altLang="zh-CN" b="1" dirty="0">
              <a:solidFill>
                <a:schemeClr val="tx2"/>
              </a:solidFill>
              <a:latin typeface="微软雅黑 Light" panose="020B0502040204020203" pitchFamily="34" charset="-122"/>
            </a:endParaRPr>
          </a:p>
        </p:txBody>
      </p:sp>
      <p:sp>
        <p:nvSpPr>
          <p:cNvPr id="475175" name="Text Box 39"/>
          <p:cNvSpPr txBox="1">
            <a:spLocks noChangeArrowheads="1"/>
          </p:cNvSpPr>
          <p:nvPr/>
        </p:nvSpPr>
        <p:spPr bwMode="auto">
          <a:xfrm>
            <a:off x="7661114" y="3446001"/>
            <a:ext cx="309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E</a:t>
            </a:r>
            <a:endParaRPr lang="en-US" altLang="zh-CN" b="1" dirty="0">
              <a:solidFill>
                <a:schemeClr val="tx2"/>
              </a:solidFill>
              <a:latin typeface="微软雅黑 Light" panose="020B0502040204020203" pitchFamily="34" charset="-122"/>
            </a:endParaRPr>
          </a:p>
        </p:txBody>
      </p:sp>
      <p:sp>
        <p:nvSpPr>
          <p:cNvPr id="475176" name="Text Box 40"/>
          <p:cNvSpPr txBox="1">
            <a:spLocks noChangeArrowheads="1"/>
          </p:cNvSpPr>
          <p:nvPr/>
        </p:nvSpPr>
        <p:spPr bwMode="auto">
          <a:xfrm>
            <a:off x="6157235" y="3885171"/>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C</a:t>
            </a:r>
            <a:endParaRPr lang="en-US" altLang="zh-CN" b="1" dirty="0">
              <a:solidFill>
                <a:schemeClr val="tx2"/>
              </a:solidFill>
              <a:latin typeface="微软雅黑 Light" panose="020B0502040204020203" pitchFamily="34" charset="-122"/>
            </a:endParaRPr>
          </a:p>
        </p:txBody>
      </p:sp>
      <p:sp>
        <p:nvSpPr>
          <p:cNvPr id="475177" name="Text Box 41"/>
          <p:cNvSpPr txBox="1">
            <a:spLocks noChangeArrowheads="1"/>
          </p:cNvSpPr>
          <p:nvPr/>
        </p:nvSpPr>
        <p:spPr bwMode="auto">
          <a:xfrm>
            <a:off x="4827494" y="3777672"/>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chemeClr val="tx2"/>
                </a:solidFill>
                <a:latin typeface="微软雅黑 Light" panose="020B0502040204020203" pitchFamily="34" charset="-122"/>
              </a:rPr>
              <a:t>A</a:t>
            </a:r>
            <a:endParaRPr lang="en-US" altLang="zh-CN" b="1" dirty="0">
              <a:solidFill>
                <a:schemeClr val="tx2"/>
              </a:solidFill>
              <a:latin typeface="微软雅黑 Light" panose="020B0502040204020203" pitchFamily="34" charset="-122"/>
            </a:endParaRPr>
          </a:p>
        </p:txBody>
      </p:sp>
      <p:sp>
        <p:nvSpPr>
          <p:cNvPr id="475178" name="Text Box 42"/>
          <p:cNvSpPr txBox="1">
            <a:spLocks noChangeArrowheads="1"/>
          </p:cNvSpPr>
          <p:nvPr/>
        </p:nvSpPr>
        <p:spPr bwMode="auto">
          <a:xfrm>
            <a:off x="3031333" y="3971504"/>
            <a:ext cx="5709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rgbClr val="7030A0"/>
                </a:solidFill>
                <a:latin typeface="微软雅黑 Light" panose="020B0502040204020203" pitchFamily="34" charset="-122"/>
              </a:rPr>
              <a:t>VC1</a:t>
            </a:r>
            <a:endParaRPr lang="en-US" altLang="zh-CN" b="1" dirty="0">
              <a:solidFill>
                <a:srgbClr val="7030A0"/>
              </a:solidFill>
              <a:latin typeface="微软雅黑 Light" panose="020B0502040204020203" pitchFamily="34" charset="-122"/>
            </a:endParaRPr>
          </a:p>
        </p:txBody>
      </p:sp>
      <p:sp>
        <p:nvSpPr>
          <p:cNvPr id="475179" name="Text Box 43"/>
          <p:cNvSpPr txBox="1">
            <a:spLocks noChangeArrowheads="1"/>
          </p:cNvSpPr>
          <p:nvPr/>
        </p:nvSpPr>
        <p:spPr bwMode="auto">
          <a:xfrm>
            <a:off x="3575050" y="4614863"/>
            <a:ext cx="628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rgbClr val="0070C0"/>
                </a:solidFill>
                <a:latin typeface="微软雅黑 Light" panose="020B0502040204020203" pitchFamily="34" charset="-122"/>
              </a:rPr>
              <a:t>VC2</a:t>
            </a:r>
            <a:endParaRPr lang="en-US" altLang="zh-CN" b="1" dirty="0">
              <a:solidFill>
                <a:srgbClr val="0070C0"/>
              </a:solidFill>
              <a:latin typeface="微软雅黑 Light" panose="020B0502040204020203" pitchFamily="34" charset="-122"/>
            </a:endParaRPr>
          </a:p>
        </p:txBody>
      </p:sp>
      <p:pic>
        <p:nvPicPr>
          <p:cNvPr id="47" name="图形 4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64193" y="2125455"/>
            <a:ext cx="656542" cy="497096"/>
          </a:xfrm>
          <a:prstGeom prst="rect">
            <a:avLst/>
          </a:prstGeom>
        </p:spPr>
      </p:pic>
      <p:pic>
        <p:nvPicPr>
          <p:cNvPr id="48" name="图形 4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44106" y="4401241"/>
            <a:ext cx="656542" cy="497096"/>
          </a:xfrm>
          <a:prstGeom prst="rect">
            <a:avLst/>
          </a:prstGeom>
        </p:spPr>
      </p:pic>
      <p:pic>
        <p:nvPicPr>
          <p:cNvPr id="49" name="图形 4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35083" y="1750319"/>
            <a:ext cx="656542" cy="497096"/>
          </a:xfrm>
          <a:prstGeom prst="rect">
            <a:avLst/>
          </a:prstGeom>
        </p:spPr>
      </p:pic>
      <p:pic>
        <p:nvPicPr>
          <p:cNvPr id="50" name="图形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95141" y="4673321"/>
            <a:ext cx="656542" cy="497096"/>
          </a:xfrm>
          <a:prstGeom prst="rect">
            <a:avLst/>
          </a:prstGeom>
        </p:spPr>
      </p:pic>
      <p:pic>
        <p:nvPicPr>
          <p:cNvPr id="51" name="图形 5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67729" y="5762815"/>
            <a:ext cx="656542" cy="497096"/>
          </a:xfrm>
          <a:prstGeom prst="rect">
            <a:avLst/>
          </a:prstGeom>
        </p:spPr>
      </p:pic>
      <p:pic>
        <p:nvPicPr>
          <p:cNvPr id="52" name="图形 5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2694" y="2245415"/>
            <a:ext cx="760389" cy="760389"/>
          </a:xfrm>
          <a:prstGeom prst="rect">
            <a:avLst/>
          </a:prstGeom>
        </p:spPr>
      </p:pic>
      <p:pic>
        <p:nvPicPr>
          <p:cNvPr id="58" name="图形 5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8625" y="2345227"/>
            <a:ext cx="760389" cy="760389"/>
          </a:xfrm>
          <a:prstGeom prst="rect">
            <a:avLst/>
          </a:prstGeom>
        </p:spPr>
      </p:pic>
      <p:pic>
        <p:nvPicPr>
          <p:cNvPr id="59" name="图形 5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2819" y="3747252"/>
            <a:ext cx="760389" cy="760389"/>
          </a:xfrm>
          <a:prstGeom prst="rect">
            <a:avLst/>
          </a:prstGeom>
        </p:spPr>
      </p:pic>
      <p:pic>
        <p:nvPicPr>
          <p:cNvPr id="60" name="图形 59"/>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798355" y="4223093"/>
            <a:ext cx="760389" cy="760389"/>
          </a:xfrm>
          <a:prstGeom prst="rect">
            <a:avLst/>
          </a:prstGeom>
        </p:spPr>
      </p:pic>
      <p:pic>
        <p:nvPicPr>
          <p:cNvPr id="61" name="图形 6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0757" y="3542141"/>
            <a:ext cx="760389" cy="760389"/>
          </a:xfrm>
          <a:prstGeom prst="rect">
            <a:avLst/>
          </a:prstGeom>
        </p:spPr>
      </p:pic>
      <p:sp>
        <p:nvSpPr>
          <p:cNvPr id="475152" name="Freeform 16"/>
          <p:cNvSpPr/>
          <p:nvPr/>
        </p:nvSpPr>
        <p:spPr bwMode="auto">
          <a:xfrm>
            <a:off x="3213100" y="2816226"/>
            <a:ext cx="5930900" cy="2144713"/>
          </a:xfrm>
          <a:custGeom>
            <a:avLst/>
            <a:gdLst>
              <a:gd name="T0" fmla="*/ 0 w 3736"/>
              <a:gd name="T1" fmla="*/ 1186 h 1351"/>
              <a:gd name="T2" fmla="*/ 840 w 3736"/>
              <a:gd name="T3" fmla="*/ 789 h 1351"/>
              <a:gd name="T4" fmla="*/ 1333 w 3736"/>
              <a:gd name="T5" fmla="*/ 62 h 1351"/>
              <a:gd name="T6" fmla="*/ 1850 w 3736"/>
              <a:gd name="T7" fmla="*/ 1161 h 1351"/>
              <a:gd name="T8" fmla="*/ 2913 w 3736"/>
              <a:gd name="T9" fmla="*/ 1000 h 1351"/>
              <a:gd name="T10" fmla="*/ 3736 w 3736"/>
              <a:gd name="T11" fmla="*/ 1351 h 1351"/>
            </a:gdLst>
            <a:ahLst/>
            <a:cxnLst>
              <a:cxn ang="0">
                <a:pos x="T0" y="T1"/>
              </a:cxn>
              <a:cxn ang="0">
                <a:pos x="T2" y="T3"/>
              </a:cxn>
              <a:cxn ang="0">
                <a:pos x="T4" y="T5"/>
              </a:cxn>
              <a:cxn ang="0">
                <a:pos x="T6" y="T7"/>
              </a:cxn>
              <a:cxn ang="0">
                <a:pos x="T8" y="T9"/>
              </a:cxn>
              <a:cxn ang="0">
                <a:pos x="T10" y="T11"/>
              </a:cxn>
            </a:cxnLst>
            <a:rect l="0" t="0" r="r" b="b"/>
            <a:pathLst>
              <a:path w="3736" h="1351">
                <a:moveTo>
                  <a:pt x="0" y="1186"/>
                </a:moveTo>
                <a:cubicBezTo>
                  <a:pt x="140" y="1121"/>
                  <a:pt x="618" y="976"/>
                  <a:pt x="840" y="789"/>
                </a:cubicBezTo>
                <a:cubicBezTo>
                  <a:pt x="1062" y="602"/>
                  <a:pt x="1165" y="0"/>
                  <a:pt x="1333" y="62"/>
                </a:cubicBezTo>
                <a:cubicBezTo>
                  <a:pt x="1501" y="124"/>
                  <a:pt x="1587" y="1005"/>
                  <a:pt x="1850" y="1161"/>
                </a:cubicBezTo>
                <a:cubicBezTo>
                  <a:pt x="2121" y="1331"/>
                  <a:pt x="2601" y="982"/>
                  <a:pt x="2913" y="1000"/>
                </a:cubicBezTo>
                <a:cubicBezTo>
                  <a:pt x="3225" y="1018"/>
                  <a:pt x="3565" y="1278"/>
                  <a:pt x="3736" y="1351"/>
                </a:cubicBezTo>
              </a:path>
            </a:pathLst>
          </a:custGeom>
          <a:noFill/>
          <a:ln w="76200" cap="flat" cmpd="sng">
            <a:solidFill>
              <a:srgbClr val="0070C0"/>
            </a:solidFill>
            <a:prstDash val="dash"/>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75153" name="Freeform 17"/>
          <p:cNvSpPr/>
          <p:nvPr/>
        </p:nvSpPr>
        <p:spPr bwMode="auto">
          <a:xfrm>
            <a:off x="3195638" y="1938339"/>
            <a:ext cx="5295900" cy="2535237"/>
          </a:xfrm>
          <a:custGeom>
            <a:avLst/>
            <a:gdLst>
              <a:gd name="T0" fmla="*/ 0 w 3336"/>
              <a:gd name="T1" fmla="*/ 1597 h 1597"/>
              <a:gd name="T2" fmla="*/ 735 w 3336"/>
              <a:gd name="T3" fmla="*/ 1202 h 1597"/>
              <a:gd name="T4" fmla="*/ 1284 w 3336"/>
              <a:gd name="T5" fmla="*/ 357 h 1597"/>
              <a:gd name="T6" fmla="*/ 2392 w 3336"/>
              <a:gd name="T7" fmla="*/ 346 h 1597"/>
              <a:gd name="T8" fmla="*/ 3336 w 3336"/>
              <a:gd name="T9" fmla="*/ 0 h 1597"/>
            </a:gdLst>
            <a:ahLst/>
            <a:cxnLst>
              <a:cxn ang="0">
                <a:pos x="T0" y="T1"/>
              </a:cxn>
              <a:cxn ang="0">
                <a:pos x="T2" y="T3"/>
              </a:cxn>
              <a:cxn ang="0">
                <a:pos x="T4" y="T5"/>
              </a:cxn>
              <a:cxn ang="0">
                <a:pos x="T6" y="T7"/>
              </a:cxn>
              <a:cxn ang="0">
                <a:pos x="T8" y="T9"/>
              </a:cxn>
            </a:cxnLst>
            <a:rect l="0" t="0" r="r" b="b"/>
            <a:pathLst>
              <a:path w="3336" h="1597">
                <a:moveTo>
                  <a:pt x="0" y="1597"/>
                </a:moveTo>
                <a:cubicBezTo>
                  <a:pt x="123" y="1531"/>
                  <a:pt x="521" y="1409"/>
                  <a:pt x="735" y="1202"/>
                </a:cubicBezTo>
                <a:cubicBezTo>
                  <a:pt x="942" y="988"/>
                  <a:pt x="1008" y="500"/>
                  <a:pt x="1284" y="357"/>
                </a:cubicBezTo>
                <a:cubicBezTo>
                  <a:pt x="1560" y="214"/>
                  <a:pt x="2050" y="405"/>
                  <a:pt x="2392" y="346"/>
                </a:cubicBezTo>
                <a:cubicBezTo>
                  <a:pt x="2732" y="310"/>
                  <a:pt x="3139" y="72"/>
                  <a:pt x="3336" y="0"/>
                </a:cubicBezTo>
              </a:path>
            </a:pathLst>
          </a:custGeom>
          <a:noFill/>
          <a:ln w="76200" cap="flat" cmpd="sng">
            <a:solidFill>
              <a:srgbClr val="7030A0"/>
            </a:solidFill>
            <a:prstDash val="dash"/>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75153"/>
                                        </p:tgtEl>
                                        <p:attrNameLst>
                                          <p:attrName>style.visibility</p:attrName>
                                        </p:attrNameLst>
                                      </p:cBhvr>
                                      <p:to>
                                        <p:strVal val="visible"/>
                                      </p:to>
                                    </p:set>
                                    <p:animEffect transition="in" filter="wipe(down)">
                                      <p:cBhvr>
                                        <p:cTn id="7" dur="2000"/>
                                        <p:tgtEl>
                                          <p:spTgt spid="47515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7517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75152"/>
                                        </p:tgtEl>
                                        <p:attrNameLst>
                                          <p:attrName>style.visibility</p:attrName>
                                        </p:attrNameLst>
                                      </p:cBhvr>
                                      <p:to>
                                        <p:strVal val="visible"/>
                                      </p:to>
                                    </p:set>
                                    <p:animEffect transition="in" filter="wipe(left)">
                                      <p:cBhvr>
                                        <p:cTn id="14" dur="2000"/>
                                        <p:tgtEl>
                                          <p:spTgt spid="475152"/>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475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78" grpId="0"/>
      <p:bldP spid="475179" grpId="0"/>
      <p:bldP spid="475152" grpId="0" animBg="1"/>
      <p:bldP spid="47515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r>
              <a:rPr lang="zh-CN" altLang="en-US" dirty="0"/>
              <a:t>两种虚电路</a:t>
            </a:r>
            <a:endParaRPr lang="zh-CN" altLang="en-US" dirty="0"/>
          </a:p>
        </p:txBody>
      </p:sp>
      <p:sp>
        <p:nvSpPr>
          <p:cNvPr id="476163" name="Rectangle 3"/>
          <p:cNvSpPr>
            <a:spLocks noGrp="1" noChangeArrowheads="1"/>
          </p:cNvSpPr>
          <p:nvPr>
            <p:ph idx="1"/>
          </p:nvPr>
        </p:nvSpPr>
        <p:spPr/>
        <p:txBody>
          <a:bodyPr/>
          <a:lstStyle/>
          <a:p>
            <a:r>
              <a:rPr lang="zh-CN" altLang="en-US" dirty="0"/>
              <a:t>交换虚电路</a:t>
            </a:r>
            <a:r>
              <a:rPr lang="en-US" altLang="zh-CN" dirty="0"/>
              <a:t>(SVC)</a:t>
            </a:r>
            <a:endParaRPr lang="en-US" altLang="zh-CN" dirty="0"/>
          </a:p>
          <a:p>
            <a:pPr lvl="1"/>
            <a:r>
              <a:rPr lang="zh-CN" altLang="en-US" dirty="0"/>
              <a:t>每条虚电路在需要的时候被创建，仅在这次通信交换的过程中存在</a:t>
            </a:r>
            <a:endParaRPr lang="zh-CN" altLang="en-US" dirty="0"/>
          </a:p>
          <a:p>
            <a:r>
              <a:rPr lang="zh-CN" altLang="en-US" dirty="0"/>
              <a:t>永久虚电路</a:t>
            </a:r>
            <a:r>
              <a:rPr lang="en-US" altLang="zh-CN" dirty="0"/>
              <a:t>(PVC)</a:t>
            </a:r>
            <a:endParaRPr lang="en-US" altLang="zh-CN" dirty="0"/>
          </a:p>
          <a:p>
            <a:pPr lvl="1"/>
            <a:r>
              <a:rPr lang="zh-CN" altLang="en-US" dirty="0"/>
              <a:t>类似于租用线路，两个用户之间存在一条相同的虚电路</a:t>
            </a:r>
            <a:endParaRPr lang="en-US" altLang="zh-CN" dirty="0"/>
          </a:p>
          <a:p>
            <a:pPr lvl="1"/>
            <a:r>
              <a:rPr lang="zh-CN" altLang="en-US" dirty="0"/>
              <a:t>该电路是专门提供给特定用户的，这条虚电路总是建立好的</a:t>
            </a:r>
            <a:endParaRPr lang="zh-CN" altLang="en-US" dirty="0"/>
          </a:p>
          <a:p>
            <a:r>
              <a:rPr lang="zh-CN" altLang="en-US" dirty="0"/>
              <a:t>虚电路交换优点</a:t>
            </a:r>
            <a:endParaRPr lang="en-US" altLang="zh-CN" dirty="0"/>
          </a:p>
          <a:p>
            <a:pPr lvl="1"/>
            <a:r>
              <a:rPr lang="zh-CN" altLang="en-US" dirty="0"/>
              <a:t>仅在建立虚电路时需要目的地址</a:t>
            </a:r>
            <a:endParaRPr lang="en-US" altLang="zh-CN" dirty="0"/>
          </a:p>
          <a:p>
            <a:pPr lvl="1"/>
            <a:r>
              <a:rPr lang="zh-CN" altLang="en-US" dirty="0"/>
              <a:t>进行数据传送时，每个包不需要携带完整的目的地址，仅需要一个虚电路的号码标志</a:t>
            </a:r>
            <a:endParaRPr lang="en-US" altLang="zh-CN" dirty="0"/>
          </a:p>
          <a:p>
            <a:pPr lvl="1"/>
            <a:r>
              <a:rPr lang="zh-CN" altLang="en-US" dirty="0"/>
              <a:t>减少了包的控制信息，从而减少了额外开销</a:t>
            </a:r>
            <a:endParaRPr lang="zh-CN" altLang="en-US" dirty="0"/>
          </a:p>
          <a:p>
            <a:endParaRPr lang="en-US" altLang="zh-CN" dirty="0"/>
          </a:p>
        </p:txBody>
      </p:sp>
      <p:sp>
        <p:nvSpPr>
          <p:cNvPr id="6" name="灯片编号占位符 5"/>
          <p:cNvSpPr>
            <a:spLocks noGrp="1"/>
          </p:cNvSpPr>
          <p:nvPr>
            <p:ph type="sldNum" sz="quarter" idx="12"/>
          </p:nvPr>
        </p:nvSpPr>
        <p:spPr/>
        <p:txBody>
          <a:bodyPr/>
          <a:lstStyle/>
          <a:p>
            <a:fld id="{5CEEC60D-E3D8-4BC0-8729-EFD9D233FFAA}" type="slidenum">
              <a:rPr lang="en-US" altLang="zh-CN"/>
            </a:fld>
            <a:endParaRPr lang="en-US" altLang="zh-C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036" name="Rectangle 180"/>
          <p:cNvSpPr>
            <a:spLocks noGrp="1" noChangeArrowheads="1"/>
          </p:cNvSpPr>
          <p:nvPr>
            <p:ph type="title"/>
          </p:nvPr>
        </p:nvSpPr>
        <p:spPr>
          <a:noFill/>
        </p:spPr>
        <p:txBody>
          <a:bodyPr/>
          <a:lstStyle/>
          <a:p>
            <a:r>
              <a:rPr lang="zh-CN" altLang="en-US" dirty="0"/>
              <a:t>三种交换方式的对比</a:t>
            </a:r>
            <a:endParaRPr lang="zh-CN" altLang="en-US" dirty="0"/>
          </a:p>
        </p:txBody>
      </p:sp>
      <p:sp>
        <p:nvSpPr>
          <p:cNvPr id="180" name="灯片编号占位符 5"/>
          <p:cNvSpPr>
            <a:spLocks noGrp="1"/>
          </p:cNvSpPr>
          <p:nvPr>
            <p:ph type="sldNum" sz="quarter" idx="12"/>
          </p:nvPr>
        </p:nvSpPr>
        <p:spPr/>
        <p:txBody>
          <a:bodyPr/>
          <a:lstStyle/>
          <a:p>
            <a:fld id="{7D72560F-018F-4856-812F-5A58A4A665D3}" type="slidenum">
              <a:rPr lang="en-US" altLang="zh-CN"/>
            </a:fld>
            <a:endParaRPr lang="en-US" altLang="zh-CN" dirty="0"/>
          </a:p>
        </p:txBody>
      </p:sp>
      <p:grpSp>
        <p:nvGrpSpPr>
          <p:cNvPr id="377861" name="Group 5"/>
          <p:cNvGrpSpPr/>
          <p:nvPr/>
        </p:nvGrpSpPr>
        <p:grpSpPr bwMode="auto">
          <a:xfrm>
            <a:off x="9018589" y="1666873"/>
            <a:ext cx="581025" cy="396874"/>
            <a:chOff x="4653" y="1614"/>
            <a:chExt cx="366" cy="250"/>
          </a:xfrm>
        </p:grpSpPr>
        <p:sp>
          <p:nvSpPr>
            <p:cNvPr id="377862" name="AutoShape 6"/>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63" name="Text Box 7"/>
            <p:cNvSpPr txBox="1">
              <a:spLocks noChangeArrowheads="1"/>
            </p:cNvSpPr>
            <p:nvPr/>
          </p:nvSpPr>
          <p:spPr bwMode="auto">
            <a:xfrm rot="626605">
              <a:off x="4676" y="1614"/>
              <a:ext cx="240"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864" name="Line 8"/>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65" name="Line 9"/>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66" name="AutoShape 10"/>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867" name="Group 11"/>
          <p:cNvGrpSpPr/>
          <p:nvPr/>
        </p:nvGrpSpPr>
        <p:grpSpPr bwMode="auto">
          <a:xfrm>
            <a:off x="9010651" y="1951041"/>
            <a:ext cx="582613" cy="396876"/>
            <a:chOff x="4648" y="1793"/>
            <a:chExt cx="367" cy="250"/>
          </a:xfrm>
        </p:grpSpPr>
        <p:sp>
          <p:nvSpPr>
            <p:cNvPr id="377868" name="AutoShape 12"/>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69" name="Text Box 13"/>
            <p:cNvSpPr txBox="1">
              <a:spLocks noChangeArrowheads="1"/>
            </p:cNvSpPr>
            <p:nvPr/>
          </p:nvSpPr>
          <p:spPr bwMode="auto">
            <a:xfrm rot="626605">
              <a:off x="4657" y="1793"/>
              <a:ext cx="25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870" name="Line 14"/>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71" name="Line 15"/>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72" name="AutoShape 16"/>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873" name="Group 17"/>
          <p:cNvGrpSpPr/>
          <p:nvPr/>
        </p:nvGrpSpPr>
        <p:grpSpPr bwMode="auto">
          <a:xfrm>
            <a:off x="9017001" y="2239968"/>
            <a:ext cx="581025" cy="387351"/>
            <a:chOff x="4652" y="1975"/>
            <a:chExt cx="366" cy="244"/>
          </a:xfrm>
        </p:grpSpPr>
        <p:sp>
          <p:nvSpPr>
            <p:cNvPr id="377874" name="AutoShape 18"/>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75" name="Text Box 19"/>
            <p:cNvSpPr txBox="1">
              <a:spLocks noChangeArrowheads="1"/>
            </p:cNvSpPr>
            <p:nvPr/>
          </p:nvSpPr>
          <p:spPr bwMode="auto">
            <a:xfrm rot="626605">
              <a:off x="4661" y="1975"/>
              <a:ext cx="25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876" name="Line 20"/>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77" name="Line 21"/>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78" name="AutoShape 22"/>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879" name="Group 23"/>
          <p:cNvGrpSpPr/>
          <p:nvPr/>
        </p:nvGrpSpPr>
        <p:grpSpPr bwMode="auto">
          <a:xfrm>
            <a:off x="9023351" y="2509842"/>
            <a:ext cx="581025" cy="395288"/>
            <a:chOff x="4656" y="2145"/>
            <a:chExt cx="366" cy="249"/>
          </a:xfrm>
        </p:grpSpPr>
        <p:sp>
          <p:nvSpPr>
            <p:cNvPr id="377880" name="AutoShape 24"/>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81" name="Text Box 25"/>
            <p:cNvSpPr txBox="1">
              <a:spLocks noChangeArrowheads="1"/>
            </p:cNvSpPr>
            <p:nvPr/>
          </p:nvSpPr>
          <p:spPr bwMode="auto">
            <a:xfrm rot="626605">
              <a:off x="4664" y="2145"/>
              <a:ext cx="258"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882" name="Line 26"/>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83" name="Line 27"/>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84" name="AutoShape 28"/>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885" name="Group 29"/>
          <p:cNvGrpSpPr/>
          <p:nvPr/>
        </p:nvGrpSpPr>
        <p:grpSpPr bwMode="auto">
          <a:xfrm>
            <a:off x="9593256" y="2062167"/>
            <a:ext cx="581025" cy="385763"/>
            <a:chOff x="5015" y="1863"/>
            <a:chExt cx="366" cy="243"/>
          </a:xfrm>
        </p:grpSpPr>
        <p:sp>
          <p:nvSpPr>
            <p:cNvPr id="377886" name="AutoShape 30"/>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87" name="Text Box 31"/>
            <p:cNvSpPr txBox="1">
              <a:spLocks noChangeArrowheads="1"/>
            </p:cNvSpPr>
            <p:nvPr/>
          </p:nvSpPr>
          <p:spPr bwMode="auto">
            <a:xfrm rot="626605">
              <a:off x="5026" y="1863"/>
              <a:ext cx="240"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888" name="Line 32"/>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89" name="Line 33"/>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90" name="AutoShape 34"/>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891" name="Group 35"/>
          <p:cNvGrpSpPr/>
          <p:nvPr/>
        </p:nvGrpSpPr>
        <p:grpSpPr bwMode="auto">
          <a:xfrm>
            <a:off x="9585333" y="2327280"/>
            <a:ext cx="581025" cy="404813"/>
            <a:chOff x="5010" y="2030"/>
            <a:chExt cx="366" cy="255"/>
          </a:xfrm>
        </p:grpSpPr>
        <p:sp>
          <p:nvSpPr>
            <p:cNvPr id="377892" name="AutoShape 36"/>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93" name="Text Box 37"/>
            <p:cNvSpPr txBox="1">
              <a:spLocks noChangeArrowheads="1"/>
            </p:cNvSpPr>
            <p:nvPr/>
          </p:nvSpPr>
          <p:spPr bwMode="auto">
            <a:xfrm rot="626605">
              <a:off x="5013" y="2030"/>
              <a:ext cx="25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894" name="Line 38"/>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95" name="Line 39"/>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96" name="AutoShape 40"/>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897" name="Group 41"/>
          <p:cNvGrpSpPr/>
          <p:nvPr/>
        </p:nvGrpSpPr>
        <p:grpSpPr bwMode="auto">
          <a:xfrm>
            <a:off x="9591676" y="2614617"/>
            <a:ext cx="581025" cy="396876"/>
            <a:chOff x="5014" y="2211"/>
            <a:chExt cx="366" cy="250"/>
          </a:xfrm>
        </p:grpSpPr>
        <p:sp>
          <p:nvSpPr>
            <p:cNvPr id="377898" name="AutoShape 42"/>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899" name="Text Box 43"/>
            <p:cNvSpPr txBox="1">
              <a:spLocks noChangeArrowheads="1"/>
            </p:cNvSpPr>
            <p:nvPr/>
          </p:nvSpPr>
          <p:spPr bwMode="auto">
            <a:xfrm rot="626605">
              <a:off x="5023" y="2211"/>
              <a:ext cx="25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900" name="Line 44"/>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01" name="Line 45"/>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02" name="AutoShape 46"/>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03" name="Group 47"/>
          <p:cNvGrpSpPr/>
          <p:nvPr/>
        </p:nvGrpSpPr>
        <p:grpSpPr bwMode="auto">
          <a:xfrm>
            <a:off x="9596445" y="2884493"/>
            <a:ext cx="582613" cy="406401"/>
            <a:chOff x="5017" y="2381"/>
            <a:chExt cx="367" cy="256"/>
          </a:xfrm>
        </p:grpSpPr>
        <p:sp>
          <p:nvSpPr>
            <p:cNvPr id="377904" name="AutoShape 48"/>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05" name="Text Box 49"/>
            <p:cNvSpPr txBox="1">
              <a:spLocks noChangeArrowheads="1"/>
            </p:cNvSpPr>
            <p:nvPr/>
          </p:nvSpPr>
          <p:spPr bwMode="auto">
            <a:xfrm rot="626605">
              <a:off x="5019" y="2381"/>
              <a:ext cx="258"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906" name="Line 50"/>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07" name="Line 51"/>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08" name="AutoShape 52"/>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09" name="Group 53"/>
          <p:cNvGrpSpPr/>
          <p:nvPr/>
        </p:nvGrpSpPr>
        <p:grpSpPr bwMode="auto">
          <a:xfrm>
            <a:off x="8442332" y="1846266"/>
            <a:ext cx="581025" cy="395288"/>
            <a:chOff x="4290" y="1727"/>
            <a:chExt cx="366" cy="249"/>
          </a:xfrm>
        </p:grpSpPr>
        <p:sp>
          <p:nvSpPr>
            <p:cNvPr id="377910" name="AutoShape 54"/>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11" name="Text Box 55"/>
            <p:cNvSpPr txBox="1">
              <a:spLocks noChangeArrowheads="1"/>
            </p:cNvSpPr>
            <p:nvPr/>
          </p:nvSpPr>
          <p:spPr bwMode="auto">
            <a:xfrm rot="626605">
              <a:off x="4293" y="1727"/>
              <a:ext cx="25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912" name="Line 56"/>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13" name="Line 57"/>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14" name="AutoShape 58"/>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15" name="Group 59"/>
          <p:cNvGrpSpPr/>
          <p:nvPr/>
        </p:nvGrpSpPr>
        <p:grpSpPr bwMode="auto">
          <a:xfrm>
            <a:off x="8448676" y="2124073"/>
            <a:ext cx="581025" cy="396874"/>
            <a:chOff x="4294" y="1902"/>
            <a:chExt cx="366" cy="250"/>
          </a:xfrm>
        </p:grpSpPr>
        <p:sp>
          <p:nvSpPr>
            <p:cNvPr id="377916" name="AutoShape 60"/>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17" name="Text Box 61"/>
            <p:cNvSpPr txBox="1">
              <a:spLocks noChangeArrowheads="1"/>
            </p:cNvSpPr>
            <p:nvPr/>
          </p:nvSpPr>
          <p:spPr bwMode="auto">
            <a:xfrm rot="626605">
              <a:off x="4302" y="1902"/>
              <a:ext cx="258"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918" name="Line 62"/>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19" name="Line 63"/>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20" name="AutoShape 64"/>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21" name="Group 65"/>
          <p:cNvGrpSpPr/>
          <p:nvPr/>
        </p:nvGrpSpPr>
        <p:grpSpPr bwMode="auto">
          <a:xfrm>
            <a:off x="6197601" y="2582864"/>
            <a:ext cx="582613" cy="1069975"/>
            <a:chOff x="2876" y="2191"/>
            <a:chExt cx="367" cy="674"/>
          </a:xfrm>
        </p:grpSpPr>
        <p:sp>
          <p:nvSpPr>
            <p:cNvPr id="377922" name="AutoShape 66"/>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23" name="AutoShape 67"/>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24" name="Text Box 68"/>
            <p:cNvSpPr txBox="1">
              <a:spLocks noChangeArrowheads="1"/>
            </p:cNvSpPr>
            <p:nvPr/>
          </p:nvSpPr>
          <p:spPr bwMode="auto">
            <a:xfrm>
              <a:off x="2919" y="2300"/>
              <a:ext cx="26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报</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gn="l">
                <a:lnSpc>
                  <a:spcPct val="8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文</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377925" name="Line 69"/>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26" name="Line 70"/>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27" name="Group 71"/>
          <p:cNvGrpSpPr/>
          <p:nvPr/>
        </p:nvGrpSpPr>
        <p:grpSpPr bwMode="auto">
          <a:xfrm>
            <a:off x="6792914" y="3850958"/>
            <a:ext cx="581025" cy="1071562"/>
            <a:chOff x="3251" y="3033"/>
            <a:chExt cx="366" cy="675"/>
          </a:xfrm>
        </p:grpSpPr>
        <p:sp>
          <p:nvSpPr>
            <p:cNvPr id="377928" name="AutoShape 72"/>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29" name="AutoShape 73"/>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30" name="Text Box 74"/>
            <p:cNvSpPr txBox="1">
              <a:spLocks noChangeArrowheads="1"/>
            </p:cNvSpPr>
            <p:nvPr/>
          </p:nvSpPr>
          <p:spPr bwMode="auto">
            <a:xfrm>
              <a:off x="3293" y="3143"/>
              <a:ext cx="26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报</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gn="l">
                <a:lnSpc>
                  <a:spcPct val="8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文</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377931" name="Line 75"/>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32" name="Line 76"/>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33" name="Group 77"/>
          <p:cNvGrpSpPr/>
          <p:nvPr/>
        </p:nvGrpSpPr>
        <p:grpSpPr bwMode="auto">
          <a:xfrm>
            <a:off x="5630864" y="1311276"/>
            <a:ext cx="573087" cy="1069975"/>
            <a:chOff x="2519" y="1390"/>
            <a:chExt cx="361" cy="674"/>
          </a:xfrm>
        </p:grpSpPr>
        <p:sp>
          <p:nvSpPr>
            <p:cNvPr id="377934" name="AutoShape 78"/>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35" name="AutoShape 79"/>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36" name="Text Box 80"/>
            <p:cNvSpPr txBox="1">
              <a:spLocks noChangeArrowheads="1"/>
            </p:cNvSpPr>
            <p:nvPr/>
          </p:nvSpPr>
          <p:spPr bwMode="auto">
            <a:xfrm>
              <a:off x="2567" y="1500"/>
              <a:ext cx="26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报</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gn="l">
                <a:lnSpc>
                  <a:spcPct val="8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文</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377937" name="Line 81"/>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38" name="Line 82"/>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377939" name="Line 83"/>
          <p:cNvSpPr>
            <a:spLocks noChangeShapeType="1"/>
          </p:cNvSpPr>
          <p:nvPr/>
        </p:nvSpPr>
        <p:spPr bwMode="auto">
          <a:xfrm>
            <a:off x="3519488" y="1311276"/>
            <a:ext cx="0" cy="38131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40" name="Line 84"/>
          <p:cNvSpPr>
            <a:spLocks noChangeShapeType="1"/>
          </p:cNvSpPr>
          <p:nvPr/>
        </p:nvSpPr>
        <p:spPr bwMode="auto">
          <a:xfrm>
            <a:off x="4095750" y="1311276"/>
            <a:ext cx="0" cy="38131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41" name="Text Box 85"/>
          <p:cNvSpPr txBox="1">
            <a:spLocks noChangeArrowheads="1"/>
          </p:cNvSpPr>
          <p:nvPr/>
        </p:nvSpPr>
        <p:spPr bwMode="auto">
          <a:xfrm>
            <a:off x="2747964" y="5005389"/>
            <a:ext cx="22236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A      B      C     D </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377942" name="Text Box 86"/>
          <p:cNvSpPr txBox="1">
            <a:spLocks noChangeArrowheads="1"/>
          </p:cNvSpPr>
          <p:nvPr/>
        </p:nvSpPr>
        <p:spPr bwMode="auto">
          <a:xfrm>
            <a:off x="5445126" y="5005389"/>
            <a:ext cx="22236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A      B      C      D</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377943" name="Text Box 87"/>
          <p:cNvSpPr txBox="1">
            <a:spLocks noChangeArrowheads="1"/>
          </p:cNvSpPr>
          <p:nvPr/>
        </p:nvSpPr>
        <p:spPr bwMode="auto">
          <a:xfrm>
            <a:off x="8253414" y="5005389"/>
            <a:ext cx="22236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dirty="0">
                <a:solidFill>
                  <a:srgbClr val="333399"/>
                </a:solidFill>
                <a:latin typeface="微软雅黑 Light" panose="020B0502040204020203" pitchFamily="34" charset="-122"/>
                <a:ea typeface="微软雅黑 Light" panose="020B0502040204020203" pitchFamily="34" charset="-122"/>
              </a:rPr>
              <a:t>A      B      C      D</a:t>
            </a:r>
            <a:endParaRPr kumimoji="1" lang="en-US" altLang="zh-CN" sz="2000" dirty="0">
              <a:solidFill>
                <a:srgbClr val="333399"/>
              </a:solidFill>
              <a:latin typeface="微软雅黑 Light" panose="020B0502040204020203" pitchFamily="34" charset="-122"/>
              <a:ea typeface="微软雅黑 Light" panose="020B0502040204020203" pitchFamily="34" charset="-122"/>
            </a:endParaRPr>
          </a:p>
        </p:txBody>
      </p:sp>
      <p:sp>
        <p:nvSpPr>
          <p:cNvPr id="377944" name="Line 88"/>
          <p:cNvSpPr>
            <a:spLocks noChangeShapeType="1"/>
          </p:cNvSpPr>
          <p:nvPr/>
        </p:nvSpPr>
        <p:spPr bwMode="auto">
          <a:xfrm>
            <a:off x="2943226" y="1444626"/>
            <a:ext cx="576263"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45" name="Line 89"/>
          <p:cNvSpPr>
            <a:spLocks noChangeShapeType="1"/>
          </p:cNvSpPr>
          <p:nvPr/>
        </p:nvSpPr>
        <p:spPr bwMode="auto">
          <a:xfrm>
            <a:off x="3519488" y="1712914"/>
            <a:ext cx="576262"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46" name="Line 90"/>
          <p:cNvSpPr>
            <a:spLocks noChangeShapeType="1"/>
          </p:cNvSpPr>
          <p:nvPr/>
        </p:nvSpPr>
        <p:spPr bwMode="auto">
          <a:xfrm>
            <a:off x="4095751" y="1979614"/>
            <a:ext cx="574675" cy="6667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47" name="Line 91"/>
          <p:cNvSpPr>
            <a:spLocks noChangeShapeType="1"/>
          </p:cNvSpPr>
          <p:nvPr/>
        </p:nvSpPr>
        <p:spPr bwMode="auto">
          <a:xfrm flipH="1">
            <a:off x="2943225" y="2381250"/>
            <a:ext cx="1727200" cy="268288"/>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48" name="Text Box 92"/>
          <p:cNvSpPr txBox="1">
            <a:spLocks noChangeArrowheads="1"/>
          </p:cNvSpPr>
          <p:nvPr/>
        </p:nvSpPr>
        <p:spPr bwMode="auto">
          <a:xfrm>
            <a:off x="5916613" y="884238"/>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dirty="0">
                <a:solidFill>
                  <a:srgbClr val="333399"/>
                </a:solidFill>
                <a:latin typeface="微软雅黑 Light" panose="020B0502040204020203" pitchFamily="34" charset="-122"/>
                <a:ea typeface="微软雅黑 Light" panose="020B0502040204020203" pitchFamily="34" charset="-122"/>
              </a:rPr>
              <a:t>报文交换</a:t>
            </a:r>
            <a:endParaRPr kumimoji="1" lang="zh-CN" altLang="en-US" sz="2400" dirty="0">
              <a:solidFill>
                <a:srgbClr val="333399"/>
              </a:solidFill>
              <a:latin typeface="微软雅黑 Light" panose="020B0502040204020203" pitchFamily="34" charset="-122"/>
              <a:ea typeface="微软雅黑 Light" panose="020B0502040204020203" pitchFamily="34" charset="-122"/>
            </a:endParaRPr>
          </a:p>
        </p:txBody>
      </p:sp>
      <p:sp>
        <p:nvSpPr>
          <p:cNvPr id="377949" name="Text Box 93"/>
          <p:cNvSpPr txBox="1">
            <a:spLocks noChangeArrowheads="1"/>
          </p:cNvSpPr>
          <p:nvPr/>
        </p:nvSpPr>
        <p:spPr bwMode="auto">
          <a:xfrm>
            <a:off x="3108325" y="884238"/>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dirty="0">
                <a:solidFill>
                  <a:srgbClr val="333399"/>
                </a:solidFill>
                <a:latin typeface="微软雅黑 Light" panose="020B0502040204020203" pitchFamily="34" charset="-122"/>
                <a:ea typeface="微软雅黑 Light" panose="020B0502040204020203" pitchFamily="34" charset="-122"/>
              </a:rPr>
              <a:t>电路交换</a:t>
            </a:r>
            <a:endParaRPr kumimoji="1" lang="zh-CN" altLang="en-US" sz="2400" dirty="0">
              <a:solidFill>
                <a:srgbClr val="333399"/>
              </a:solidFill>
              <a:latin typeface="微软雅黑 Light" panose="020B0502040204020203" pitchFamily="34" charset="-122"/>
              <a:ea typeface="微软雅黑 Light" panose="020B0502040204020203" pitchFamily="34" charset="-122"/>
            </a:endParaRPr>
          </a:p>
        </p:txBody>
      </p:sp>
      <p:sp>
        <p:nvSpPr>
          <p:cNvPr id="377950" name="Text Box 94"/>
          <p:cNvSpPr txBox="1">
            <a:spLocks noChangeArrowheads="1"/>
          </p:cNvSpPr>
          <p:nvPr/>
        </p:nvSpPr>
        <p:spPr bwMode="auto">
          <a:xfrm>
            <a:off x="8724900" y="884238"/>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dirty="0">
                <a:solidFill>
                  <a:srgbClr val="333399"/>
                </a:solidFill>
                <a:latin typeface="微软雅黑 Light" panose="020B0502040204020203" pitchFamily="34" charset="-122"/>
                <a:ea typeface="微软雅黑 Light" panose="020B0502040204020203" pitchFamily="34" charset="-122"/>
              </a:rPr>
              <a:t>分组交换</a:t>
            </a:r>
            <a:endParaRPr kumimoji="1" lang="zh-CN" altLang="en-US" sz="2400" dirty="0">
              <a:solidFill>
                <a:srgbClr val="333399"/>
              </a:solidFill>
              <a:latin typeface="微软雅黑 Light" panose="020B0502040204020203" pitchFamily="34" charset="-122"/>
              <a:ea typeface="微软雅黑 Light" panose="020B0502040204020203" pitchFamily="34" charset="-122"/>
            </a:endParaRPr>
          </a:p>
        </p:txBody>
      </p:sp>
      <p:grpSp>
        <p:nvGrpSpPr>
          <p:cNvPr id="377953" name="Group 97"/>
          <p:cNvGrpSpPr/>
          <p:nvPr/>
        </p:nvGrpSpPr>
        <p:grpSpPr bwMode="auto">
          <a:xfrm>
            <a:off x="2133601" y="1443038"/>
            <a:ext cx="787400" cy="1230312"/>
            <a:chOff x="316" y="1473"/>
            <a:chExt cx="496" cy="775"/>
          </a:xfrm>
        </p:grpSpPr>
        <p:sp>
          <p:nvSpPr>
            <p:cNvPr id="377954" name="Line 98"/>
            <p:cNvSpPr>
              <a:spLocks noChangeShapeType="1"/>
            </p:cNvSpPr>
            <p:nvPr/>
          </p:nvSpPr>
          <p:spPr bwMode="auto">
            <a:xfrm>
              <a:off x="630" y="1474"/>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55" name="Line 99"/>
            <p:cNvSpPr>
              <a:spLocks noChangeShapeType="1"/>
            </p:cNvSpPr>
            <p:nvPr/>
          </p:nvSpPr>
          <p:spPr bwMode="auto">
            <a:xfrm>
              <a:off x="622" y="2248"/>
              <a:ext cx="181"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56" name="Text Box 100"/>
            <p:cNvSpPr txBox="1">
              <a:spLocks noChangeArrowheads="1"/>
            </p:cNvSpPr>
            <p:nvPr/>
          </p:nvSpPr>
          <p:spPr bwMode="auto">
            <a:xfrm>
              <a:off x="316" y="1706"/>
              <a:ext cx="425"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lnSpc>
                  <a:spcPct val="90000"/>
                </a:lnSpc>
                <a:defRPr kumimoji="1" sz="1600">
                  <a:solidFill>
                    <a:srgbClr val="333399"/>
                  </a:solidFill>
                  <a:latin typeface="微软雅黑 Light" panose="020B0502040204020203" pitchFamily="34" charset="-122"/>
                  <a:ea typeface="微软雅黑 Light" panose="020B0502040204020203" pitchFamily="34" charset="-122"/>
                </a:defRPr>
              </a:lvl1pPr>
            </a:lstStyle>
            <a:p>
              <a:r>
                <a:rPr lang="zh-CN" altLang="en-US" dirty="0"/>
                <a:t>连接建立</a:t>
              </a:r>
              <a:endParaRPr lang="zh-CN" altLang="en-US" dirty="0"/>
            </a:p>
          </p:txBody>
        </p:sp>
        <p:sp>
          <p:nvSpPr>
            <p:cNvPr id="377957" name="Line 101"/>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58" name="Group 102"/>
          <p:cNvGrpSpPr/>
          <p:nvPr/>
        </p:nvGrpSpPr>
        <p:grpSpPr bwMode="auto">
          <a:xfrm>
            <a:off x="2122488" y="2670175"/>
            <a:ext cx="798512" cy="1011238"/>
            <a:chOff x="309" y="2246"/>
            <a:chExt cx="503" cy="637"/>
          </a:xfrm>
        </p:grpSpPr>
        <p:sp>
          <p:nvSpPr>
            <p:cNvPr id="377959" name="Line 103"/>
            <p:cNvSpPr>
              <a:spLocks noChangeShapeType="1"/>
            </p:cNvSpPr>
            <p:nvPr/>
          </p:nvSpPr>
          <p:spPr bwMode="auto">
            <a:xfrm>
              <a:off x="630" y="2881"/>
              <a:ext cx="182"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0" name="Text Box 104"/>
            <p:cNvSpPr txBox="1">
              <a:spLocks noChangeArrowheads="1"/>
            </p:cNvSpPr>
            <p:nvPr/>
          </p:nvSpPr>
          <p:spPr bwMode="auto">
            <a:xfrm>
              <a:off x="309" y="2405"/>
              <a:ext cx="423"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ctr">
                <a:lnSpc>
                  <a:spcPct val="90000"/>
                </a:lnSpc>
                <a:defRPr kumimoji="1" sz="1600">
                  <a:solidFill>
                    <a:srgbClr val="333399"/>
                  </a:solidFill>
                  <a:latin typeface="微软雅黑 Light" panose="020B0502040204020203" pitchFamily="34" charset="-122"/>
                  <a:ea typeface="微软雅黑 Light" panose="020B0502040204020203" pitchFamily="34" charset="-122"/>
                </a:defRPr>
              </a:lvl1pPr>
            </a:lstStyle>
            <a:p>
              <a:r>
                <a:rPr lang="zh-CN" altLang="en-US" dirty="0"/>
                <a:t>数据传送</a:t>
              </a:r>
              <a:endParaRPr lang="zh-CN" altLang="en-US" dirty="0"/>
            </a:p>
          </p:txBody>
        </p:sp>
        <p:sp>
          <p:nvSpPr>
            <p:cNvPr id="377961" name="Line 105"/>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377962" name="Freeform 106"/>
          <p:cNvSpPr/>
          <p:nvPr/>
        </p:nvSpPr>
        <p:spPr bwMode="auto">
          <a:xfrm>
            <a:off x="2938463" y="1311276"/>
            <a:ext cx="4762" cy="3821113"/>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3" name="Freeform 107"/>
          <p:cNvSpPr/>
          <p:nvPr/>
        </p:nvSpPr>
        <p:spPr bwMode="auto">
          <a:xfrm>
            <a:off x="7369176" y="1289051"/>
            <a:ext cx="4763"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4" name="Line 108"/>
          <p:cNvSpPr>
            <a:spLocks noChangeShapeType="1"/>
          </p:cNvSpPr>
          <p:nvPr/>
        </p:nvSpPr>
        <p:spPr bwMode="auto">
          <a:xfrm>
            <a:off x="10171113" y="1338264"/>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5" name="Line 109"/>
          <p:cNvSpPr>
            <a:spLocks noChangeShapeType="1"/>
          </p:cNvSpPr>
          <p:nvPr/>
        </p:nvSpPr>
        <p:spPr bwMode="auto">
          <a:xfrm>
            <a:off x="9593263" y="1323976"/>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6" name="Line 110"/>
          <p:cNvSpPr>
            <a:spLocks noChangeShapeType="1"/>
          </p:cNvSpPr>
          <p:nvPr/>
        </p:nvSpPr>
        <p:spPr bwMode="auto">
          <a:xfrm>
            <a:off x="9024938" y="1311276"/>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7" name="Line 111"/>
          <p:cNvSpPr>
            <a:spLocks noChangeShapeType="1"/>
          </p:cNvSpPr>
          <p:nvPr/>
        </p:nvSpPr>
        <p:spPr bwMode="auto">
          <a:xfrm>
            <a:off x="5627688" y="128905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8" name="Line 112"/>
          <p:cNvSpPr>
            <a:spLocks noChangeShapeType="1"/>
          </p:cNvSpPr>
          <p:nvPr/>
        </p:nvSpPr>
        <p:spPr bwMode="auto">
          <a:xfrm>
            <a:off x="6197600" y="128905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69" name="Line 113"/>
          <p:cNvSpPr>
            <a:spLocks noChangeShapeType="1"/>
          </p:cNvSpPr>
          <p:nvPr/>
        </p:nvSpPr>
        <p:spPr bwMode="auto">
          <a:xfrm>
            <a:off x="6791325" y="128905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nvGrpSpPr>
          <p:cNvPr id="377970" name="Group 114"/>
          <p:cNvGrpSpPr/>
          <p:nvPr/>
        </p:nvGrpSpPr>
        <p:grpSpPr bwMode="auto">
          <a:xfrm>
            <a:off x="2928939" y="2657476"/>
            <a:ext cx="1766887" cy="1279525"/>
            <a:chOff x="817" y="2238"/>
            <a:chExt cx="1113" cy="806"/>
          </a:xfrm>
        </p:grpSpPr>
        <p:sp>
          <p:nvSpPr>
            <p:cNvPr id="377971" name="Line 115"/>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72" name="AutoShape 116"/>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73" name="Text Box 117"/>
            <p:cNvSpPr txBox="1">
              <a:spLocks noChangeArrowheads="1"/>
            </p:cNvSpPr>
            <p:nvPr/>
          </p:nvSpPr>
          <p:spPr bwMode="auto">
            <a:xfrm>
              <a:off x="1113" y="2429"/>
              <a:ext cx="4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dirty="0">
                  <a:solidFill>
                    <a:srgbClr val="333399"/>
                  </a:solidFill>
                  <a:latin typeface="微软雅黑 Light" panose="020B0502040204020203" pitchFamily="34" charset="-122"/>
                  <a:ea typeface="微软雅黑 Light" panose="020B0502040204020203" pitchFamily="34" charset="-122"/>
                </a:rPr>
                <a:t>数据</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377974" name="AutoShape 118"/>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75" name="Line 119"/>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76" name="Line 120"/>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77" name="Group 121"/>
          <p:cNvGrpSpPr/>
          <p:nvPr/>
        </p:nvGrpSpPr>
        <p:grpSpPr bwMode="auto">
          <a:xfrm>
            <a:off x="8435976" y="1576392"/>
            <a:ext cx="582613" cy="387351"/>
            <a:chOff x="4286" y="1557"/>
            <a:chExt cx="367" cy="244"/>
          </a:xfrm>
        </p:grpSpPr>
        <p:sp>
          <p:nvSpPr>
            <p:cNvPr id="377978" name="AutoShape 122"/>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79" name="Text Box 123"/>
            <p:cNvSpPr txBox="1">
              <a:spLocks noChangeArrowheads="1"/>
            </p:cNvSpPr>
            <p:nvPr/>
          </p:nvSpPr>
          <p:spPr bwMode="auto">
            <a:xfrm rot="626605">
              <a:off x="4301" y="1557"/>
              <a:ext cx="25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980" name="Line 124"/>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81" name="AutoShape 125"/>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82" name="Line 12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7983" name="Group 127"/>
          <p:cNvGrpSpPr/>
          <p:nvPr/>
        </p:nvGrpSpPr>
        <p:grpSpPr bwMode="auto">
          <a:xfrm>
            <a:off x="8443914" y="1282699"/>
            <a:ext cx="581025" cy="396874"/>
            <a:chOff x="4291" y="1372"/>
            <a:chExt cx="366" cy="250"/>
          </a:xfrm>
        </p:grpSpPr>
        <p:sp>
          <p:nvSpPr>
            <p:cNvPr id="377984" name="AutoShape 128"/>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85" name="Text Box 129"/>
            <p:cNvSpPr txBox="1">
              <a:spLocks noChangeArrowheads="1"/>
            </p:cNvSpPr>
            <p:nvPr/>
          </p:nvSpPr>
          <p:spPr bwMode="auto">
            <a:xfrm rot="626605">
              <a:off x="4308" y="1372"/>
              <a:ext cx="240"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dirty="0">
                  <a:solidFill>
                    <a:srgbClr val="333399"/>
                  </a:solidFill>
                  <a:latin typeface="微软雅黑 Light" panose="020B0502040204020203" pitchFamily="34" charset="-122"/>
                  <a:ea typeface="微软雅黑 Light" panose="020B0502040204020203" pitchFamily="34" charset="-122"/>
                </a:rPr>
                <a:t>P</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377986" name="Line 130"/>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87" name="Line 131"/>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88" name="AutoShape 132"/>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377989" name="Line 133"/>
          <p:cNvSpPr>
            <a:spLocks noChangeShapeType="1"/>
          </p:cNvSpPr>
          <p:nvPr/>
        </p:nvSpPr>
        <p:spPr bwMode="auto">
          <a:xfrm>
            <a:off x="8440738" y="1298576"/>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0" name="Line 134"/>
          <p:cNvSpPr>
            <a:spLocks noChangeShapeType="1"/>
          </p:cNvSpPr>
          <p:nvPr/>
        </p:nvSpPr>
        <p:spPr bwMode="auto">
          <a:xfrm>
            <a:off x="2938463" y="3763963"/>
            <a:ext cx="576262" cy="9525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1" name="Line 135"/>
          <p:cNvSpPr>
            <a:spLocks noChangeShapeType="1"/>
          </p:cNvSpPr>
          <p:nvPr/>
        </p:nvSpPr>
        <p:spPr bwMode="auto">
          <a:xfrm>
            <a:off x="3524250" y="3944938"/>
            <a:ext cx="566738" cy="95250"/>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2" name="Line 136"/>
          <p:cNvSpPr>
            <a:spLocks noChangeShapeType="1"/>
          </p:cNvSpPr>
          <p:nvPr/>
        </p:nvSpPr>
        <p:spPr bwMode="auto">
          <a:xfrm>
            <a:off x="4090989" y="4135439"/>
            <a:ext cx="574675" cy="85725"/>
          </a:xfrm>
          <a:prstGeom prst="line">
            <a:avLst/>
          </a:prstGeom>
          <a:noFill/>
          <a:ln w="19050">
            <a:solidFill>
              <a:srgbClr val="3333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4" name="Line 138"/>
          <p:cNvSpPr>
            <a:spLocks noChangeShapeType="1"/>
          </p:cNvSpPr>
          <p:nvPr/>
        </p:nvSpPr>
        <p:spPr bwMode="auto">
          <a:xfrm>
            <a:off x="2608263" y="4249739"/>
            <a:ext cx="288925" cy="0"/>
          </a:xfrm>
          <a:prstGeom prst="line">
            <a:avLst/>
          </a:prstGeom>
          <a:noFill/>
          <a:ln w="952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5" name="Line 139"/>
          <p:cNvSpPr>
            <a:spLocks noChangeShapeType="1"/>
          </p:cNvSpPr>
          <p:nvPr/>
        </p:nvSpPr>
        <p:spPr bwMode="auto">
          <a:xfrm>
            <a:off x="2776538" y="3659189"/>
            <a:ext cx="0" cy="5921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6" name="Text Box 140"/>
          <p:cNvSpPr txBox="1">
            <a:spLocks noChangeArrowheads="1"/>
          </p:cNvSpPr>
          <p:nvPr/>
        </p:nvSpPr>
        <p:spPr bwMode="auto">
          <a:xfrm>
            <a:off x="2112957" y="3715160"/>
            <a:ext cx="711201"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90000"/>
              </a:lnSpc>
            </a:pPr>
            <a:r>
              <a:rPr kumimoji="1" lang="zh-CN" altLang="en-US" sz="1600" dirty="0">
                <a:solidFill>
                  <a:srgbClr val="333399"/>
                </a:solidFill>
                <a:latin typeface="微软雅黑 Light" panose="020B0502040204020203" pitchFamily="34" charset="-122"/>
                <a:ea typeface="微软雅黑 Light" panose="020B0502040204020203" pitchFamily="34" charset="-122"/>
              </a:rPr>
              <a:t>连接释放</a:t>
            </a:r>
            <a:endParaRPr kumimoji="1" lang="zh-CN" altLang="en-US" sz="1600" dirty="0">
              <a:solidFill>
                <a:srgbClr val="333399"/>
              </a:solidFill>
              <a:latin typeface="微软雅黑 Light" panose="020B0502040204020203" pitchFamily="34" charset="-122"/>
              <a:ea typeface="微软雅黑 Light" panose="020B0502040204020203" pitchFamily="34" charset="-122"/>
            </a:endParaRPr>
          </a:p>
        </p:txBody>
      </p:sp>
      <p:sp>
        <p:nvSpPr>
          <p:cNvPr id="377997" name="Freeform 141"/>
          <p:cNvSpPr/>
          <p:nvPr/>
        </p:nvSpPr>
        <p:spPr bwMode="auto">
          <a:xfrm>
            <a:off x="4672013" y="1333501"/>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7998" name="AutoShape 142"/>
          <p:cNvSpPr>
            <a:spLocks noChangeArrowheads="1"/>
          </p:cNvSpPr>
          <p:nvPr/>
        </p:nvSpPr>
        <p:spPr bwMode="auto">
          <a:xfrm>
            <a:off x="1703388" y="5365750"/>
            <a:ext cx="8843962" cy="1377956"/>
          </a:xfrm>
          <a:prstGeom prst="roundRect">
            <a:avLst>
              <a:gd name="adj" fmla="val 16667"/>
            </a:avLst>
          </a:prstGeom>
          <a:noFill/>
          <a:ln w="9525">
            <a:solidFill>
              <a:schemeClr val="tx1"/>
            </a:solidFill>
            <a:round/>
            <a:headEnd type="none" w="sm" len="lg"/>
            <a:tailEnd type="none" w="sm" len="lg"/>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dirty="0">
              <a:latin typeface="微软雅黑 Light" panose="020B0502040204020203" pitchFamily="34" charset="-122"/>
            </a:endParaRPr>
          </a:p>
        </p:txBody>
      </p:sp>
      <p:sp>
        <p:nvSpPr>
          <p:cNvPr id="377999" name="Line 143"/>
          <p:cNvSpPr>
            <a:spLocks noChangeShapeType="1"/>
          </p:cNvSpPr>
          <p:nvPr/>
        </p:nvSpPr>
        <p:spPr bwMode="auto">
          <a:xfrm>
            <a:off x="8413750" y="6203950"/>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78000" name="Line 144"/>
          <p:cNvSpPr>
            <a:spLocks noChangeShapeType="1"/>
          </p:cNvSpPr>
          <p:nvPr/>
        </p:nvSpPr>
        <p:spPr bwMode="auto">
          <a:xfrm>
            <a:off x="5594350" y="6203950"/>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sp>
        <p:nvSpPr>
          <p:cNvPr id="378001" name="Line 145"/>
          <p:cNvSpPr>
            <a:spLocks noChangeShapeType="1"/>
          </p:cNvSpPr>
          <p:nvPr/>
        </p:nvSpPr>
        <p:spPr bwMode="auto">
          <a:xfrm>
            <a:off x="2927350" y="6203950"/>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ndParaRPr>
          </a:p>
        </p:txBody>
      </p:sp>
      <p:grpSp>
        <p:nvGrpSpPr>
          <p:cNvPr id="378002" name="Group 146"/>
          <p:cNvGrpSpPr/>
          <p:nvPr/>
        </p:nvGrpSpPr>
        <p:grpSpPr bwMode="auto">
          <a:xfrm>
            <a:off x="2851150" y="6051550"/>
            <a:ext cx="1905000" cy="228600"/>
            <a:chOff x="768" y="2544"/>
            <a:chExt cx="1200" cy="144"/>
          </a:xfrm>
        </p:grpSpPr>
        <p:sp>
          <p:nvSpPr>
            <p:cNvPr id="378003" name="AutoShape 147"/>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04" name="AutoShape 148"/>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05" name="AutoShape 149"/>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06" name="AutoShape 150"/>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8007" name="Group 151"/>
          <p:cNvGrpSpPr/>
          <p:nvPr/>
        </p:nvGrpSpPr>
        <p:grpSpPr bwMode="auto">
          <a:xfrm>
            <a:off x="5518150" y="6051550"/>
            <a:ext cx="1905000" cy="228600"/>
            <a:chOff x="768" y="2544"/>
            <a:chExt cx="1200" cy="144"/>
          </a:xfrm>
        </p:grpSpPr>
        <p:sp>
          <p:nvSpPr>
            <p:cNvPr id="378008" name="AutoShape 152"/>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09" name="AutoShape 153"/>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10" name="AutoShape 154"/>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11" name="AutoShape 155"/>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grpSp>
        <p:nvGrpSpPr>
          <p:cNvPr id="378012" name="Group 156"/>
          <p:cNvGrpSpPr/>
          <p:nvPr/>
        </p:nvGrpSpPr>
        <p:grpSpPr bwMode="auto">
          <a:xfrm>
            <a:off x="8337550" y="6051550"/>
            <a:ext cx="1905000" cy="228600"/>
            <a:chOff x="768" y="2544"/>
            <a:chExt cx="1200" cy="144"/>
          </a:xfrm>
        </p:grpSpPr>
        <p:sp>
          <p:nvSpPr>
            <p:cNvPr id="378013" name="AutoShape 157"/>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14" name="AutoShape 158"/>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15" name="AutoShape 159"/>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378016" name="AutoShape 160"/>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grpSp>
      <p:sp>
        <p:nvSpPr>
          <p:cNvPr id="378017" name="AutoShape 161"/>
          <p:cNvSpPr>
            <a:spLocks noChangeArrowheads="1"/>
          </p:cNvSpPr>
          <p:nvPr/>
        </p:nvSpPr>
        <p:spPr bwMode="auto">
          <a:xfrm>
            <a:off x="551815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18" name="AutoShape 162"/>
          <p:cNvSpPr>
            <a:spLocks noChangeArrowheads="1"/>
          </p:cNvSpPr>
          <p:nvPr/>
        </p:nvSpPr>
        <p:spPr bwMode="auto">
          <a:xfrm>
            <a:off x="616585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19" name="AutoShape 163"/>
          <p:cNvSpPr>
            <a:spLocks noChangeArrowheads="1"/>
          </p:cNvSpPr>
          <p:nvPr/>
        </p:nvSpPr>
        <p:spPr bwMode="auto">
          <a:xfrm>
            <a:off x="681355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20" name="AutoShape 164"/>
          <p:cNvSpPr>
            <a:spLocks noChangeArrowheads="1"/>
          </p:cNvSpPr>
          <p:nvPr/>
        </p:nvSpPr>
        <p:spPr bwMode="auto">
          <a:xfrm>
            <a:off x="2927350" y="5746750"/>
            <a:ext cx="1905000" cy="304800"/>
          </a:xfrm>
          <a:prstGeom prst="rightArrow">
            <a:avLst>
              <a:gd name="adj1" fmla="val 58333"/>
              <a:gd name="adj2" fmla="val 109375"/>
            </a:avLst>
          </a:prstGeom>
          <a:solidFill>
            <a:schemeClr val="bg1">
              <a:lumMod val="75000"/>
            </a:schemeClr>
          </a:solidFill>
          <a:ln w="9525">
            <a:solidFill>
              <a:schemeClr val="tx1"/>
            </a:solidFill>
            <a:miter lim="800000"/>
            <a:headEnd type="none" w="sm" len="lg"/>
            <a:tailEnd type="none" w="sm" len="lg"/>
          </a:ln>
          <a:effec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21" name="AutoShape 165"/>
          <p:cNvSpPr>
            <a:spLocks noChangeArrowheads="1"/>
          </p:cNvSpPr>
          <p:nvPr/>
        </p:nvSpPr>
        <p:spPr bwMode="auto">
          <a:xfrm>
            <a:off x="833755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22" name="AutoShape 166"/>
          <p:cNvSpPr>
            <a:spLocks noChangeArrowheads="1"/>
          </p:cNvSpPr>
          <p:nvPr/>
        </p:nvSpPr>
        <p:spPr bwMode="auto">
          <a:xfrm>
            <a:off x="894715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23" name="AutoShape 167"/>
          <p:cNvSpPr>
            <a:spLocks noChangeArrowheads="1"/>
          </p:cNvSpPr>
          <p:nvPr/>
        </p:nvSpPr>
        <p:spPr bwMode="auto">
          <a:xfrm>
            <a:off x="955675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1600" dirty="0">
              <a:solidFill>
                <a:schemeClr val="tx2"/>
              </a:solidFill>
              <a:latin typeface="微软雅黑 Light" panose="020B0502040204020203" pitchFamily="34" charset="-122"/>
            </a:endParaRPr>
          </a:p>
        </p:txBody>
      </p:sp>
      <p:sp>
        <p:nvSpPr>
          <p:cNvPr id="378024" name="Text Box 168"/>
          <p:cNvSpPr txBox="1">
            <a:spLocks noChangeArrowheads="1"/>
          </p:cNvSpPr>
          <p:nvPr/>
        </p:nvSpPr>
        <p:spPr bwMode="auto">
          <a:xfrm>
            <a:off x="1784350" y="5745163"/>
            <a:ext cx="80021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数据传</a:t>
            </a:r>
            <a:endParaRPr kumimoji="1" lang="en-US" altLang="zh-CN" sz="1600" dirty="0">
              <a:solidFill>
                <a:schemeClr val="tx2"/>
              </a:solidFill>
              <a:latin typeface="微软雅黑 Light" panose="020B0502040204020203" pitchFamily="34" charset="-122"/>
              <a:ea typeface="微软雅黑 Light" panose="020B0502040204020203" pitchFamily="34" charset="-122"/>
            </a:endParaRPr>
          </a:p>
          <a:p>
            <a:pPr>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送特点</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25" name="Text Box 169"/>
          <p:cNvSpPr txBox="1">
            <a:spLocks noChangeArrowheads="1"/>
          </p:cNvSpPr>
          <p:nvPr/>
        </p:nvSpPr>
        <p:spPr bwMode="auto">
          <a:xfrm>
            <a:off x="2890838" y="5489575"/>
            <a:ext cx="1606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比特流直达终点</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26" name="Text Box 170"/>
          <p:cNvSpPr txBox="1">
            <a:spLocks noChangeArrowheads="1"/>
          </p:cNvSpPr>
          <p:nvPr/>
        </p:nvSpPr>
        <p:spPr bwMode="auto">
          <a:xfrm>
            <a:off x="5518150" y="5365750"/>
            <a:ext cx="590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报文</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27" name="Text Box 171"/>
          <p:cNvSpPr txBox="1">
            <a:spLocks noChangeArrowheads="1"/>
          </p:cNvSpPr>
          <p:nvPr/>
        </p:nvSpPr>
        <p:spPr bwMode="auto">
          <a:xfrm>
            <a:off x="6175375" y="5365750"/>
            <a:ext cx="590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报文</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28" name="Text Box 172"/>
          <p:cNvSpPr txBox="1">
            <a:spLocks noChangeArrowheads="1"/>
          </p:cNvSpPr>
          <p:nvPr/>
        </p:nvSpPr>
        <p:spPr bwMode="auto">
          <a:xfrm>
            <a:off x="6832600" y="5365750"/>
            <a:ext cx="590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报文</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29" name="Text Box 173"/>
          <p:cNvSpPr txBox="1">
            <a:spLocks noChangeArrowheads="1"/>
          </p:cNvSpPr>
          <p:nvPr/>
        </p:nvSpPr>
        <p:spPr bwMode="auto">
          <a:xfrm>
            <a:off x="8337550" y="5365750"/>
            <a:ext cx="590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分组</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30" name="Text Box 174"/>
          <p:cNvSpPr txBox="1">
            <a:spLocks noChangeArrowheads="1"/>
          </p:cNvSpPr>
          <p:nvPr/>
        </p:nvSpPr>
        <p:spPr bwMode="auto">
          <a:xfrm>
            <a:off x="8956675" y="5365750"/>
            <a:ext cx="590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分组</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31" name="Text Box 175"/>
          <p:cNvSpPr txBox="1">
            <a:spLocks noChangeArrowheads="1"/>
          </p:cNvSpPr>
          <p:nvPr/>
        </p:nvSpPr>
        <p:spPr bwMode="auto">
          <a:xfrm>
            <a:off x="9575800" y="5365750"/>
            <a:ext cx="5905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600" dirty="0">
                <a:solidFill>
                  <a:schemeClr val="tx2"/>
                </a:solidFill>
                <a:latin typeface="微软雅黑 Light" panose="020B0502040204020203" pitchFamily="34" charset="-122"/>
                <a:ea typeface="微软雅黑 Light" panose="020B0502040204020203" pitchFamily="34" charset="-122"/>
              </a:rPr>
              <a:t>分组</a:t>
            </a:r>
            <a:endParaRPr kumimoji="1" lang="zh-CN" altLang="en-US" sz="1600" dirty="0">
              <a:solidFill>
                <a:schemeClr val="tx2"/>
              </a:solidFill>
              <a:latin typeface="微软雅黑 Light" panose="020B0502040204020203" pitchFamily="34" charset="-122"/>
              <a:ea typeface="微软雅黑 Light" panose="020B0502040204020203" pitchFamily="34" charset="-122"/>
            </a:endParaRPr>
          </a:p>
        </p:txBody>
      </p:sp>
      <p:sp>
        <p:nvSpPr>
          <p:cNvPr id="378032" name="Text Box 176"/>
          <p:cNvSpPr txBox="1">
            <a:spLocks noChangeArrowheads="1"/>
          </p:cNvSpPr>
          <p:nvPr/>
        </p:nvSpPr>
        <p:spPr bwMode="auto">
          <a:xfrm>
            <a:off x="5868988" y="6280150"/>
            <a:ext cx="543739"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dirty="0">
                <a:solidFill>
                  <a:schemeClr val="tx2"/>
                </a:solidFill>
                <a:latin typeface="微软雅黑 Light" panose="020B0502040204020203" pitchFamily="34" charset="-122"/>
                <a:ea typeface="微软雅黑 Light" panose="020B0502040204020203" pitchFamily="34" charset="-122"/>
              </a:rPr>
              <a:t>存储</a:t>
            </a:r>
            <a:endParaRPr kumimoji="1" lang="zh-CN" altLang="en-US" sz="1400" dirty="0">
              <a:solidFill>
                <a:schemeClr val="tx2"/>
              </a:solidFill>
              <a:latin typeface="微软雅黑 Light" panose="020B0502040204020203" pitchFamily="34" charset="-122"/>
              <a:ea typeface="微软雅黑 Light" panose="020B0502040204020203" pitchFamily="34" charset="-122"/>
            </a:endParaRPr>
          </a:p>
          <a:p>
            <a:pPr algn="l">
              <a:lnSpc>
                <a:spcPct val="90000"/>
              </a:lnSpc>
            </a:pPr>
            <a:r>
              <a:rPr kumimoji="1" lang="zh-CN" altLang="en-US" sz="1400" dirty="0">
                <a:solidFill>
                  <a:schemeClr val="tx2"/>
                </a:solidFill>
                <a:latin typeface="微软雅黑 Light" panose="020B0502040204020203" pitchFamily="34" charset="-122"/>
                <a:ea typeface="微软雅黑 Light" panose="020B0502040204020203" pitchFamily="34" charset="-122"/>
              </a:rPr>
              <a:t>转发</a:t>
            </a:r>
            <a:endParaRPr kumimoji="1" lang="zh-CN" altLang="en-US" sz="1400" dirty="0">
              <a:solidFill>
                <a:schemeClr val="tx2"/>
              </a:solidFill>
              <a:latin typeface="微软雅黑 Light" panose="020B0502040204020203" pitchFamily="34" charset="-122"/>
              <a:ea typeface="微软雅黑 Light" panose="020B0502040204020203" pitchFamily="34" charset="-122"/>
            </a:endParaRPr>
          </a:p>
        </p:txBody>
      </p:sp>
      <p:sp>
        <p:nvSpPr>
          <p:cNvPr id="378033" name="Text Box 177"/>
          <p:cNvSpPr txBox="1">
            <a:spLocks noChangeArrowheads="1"/>
          </p:cNvSpPr>
          <p:nvPr/>
        </p:nvSpPr>
        <p:spPr bwMode="auto">
          <a:xfrm>
            <a:off x="6451600" y="6280150"/>
            <a:ext cx="543739"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solidFill>
                  <a:schemeClr val="tx2"/>
                </a:solidFill>
                <a:latin typeface="微软雅黑 Light" panose="020B0502040204020203" pitchFamily="34" charset="-122"/>
                <a:ea typeface="微软雅黑 Light" panose="020B0502040204020203" pitchFamily="34" charset="-122"/>
              </a:defRPr>
            </a:lvl1pPr>
          </a:lstStyle>
          <a:p>
            <a:r>
              <a:rPr lang="zh-CN" altLang="en-US" dirty="0"/>
              <a:t>存储</a:t>
            </a:r>
            <a:endParaRPr lang="zh-CN" altLang="en-US" dirty="0"/>
          </a:p>
          <a:p>
            <a:r>
              <a:rPr lang="zh-CN" altLang="en-US" dirty="0"/>
              <a:t>转发</a:t>
            </a:r>
            <a:endParaRPr lang="zh-CN" altLang="en-US" dirty="0"/>
          </a:p>
        </p:txBody>
      </p:sp>
      <p:sp>
        <p:nvSpPr>
          <p:cNvPr id="378034" name="Text Box 178"/>
          <p:cNvSpPr txBox="1">
            <a:spLocks noChangeArrowheads="1"/>
          </p:cNvSpPr>
          <p:nvPr/>
        </p:nvSpPr>
        <p:spPr bwMode="auto">
          <a:xfrm>
            <a:off x="8705850" y="6267450"/>
            <a:ext cx="543739"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solidFill>
                  <a:schemeClr val="tx2"/>
                </a:solidFill>
                <a:latin typeface="微软雅黑 Light" panose="020B0502040204020203" pitchFamily="34" charset="-122"/>
                <a:ea typeface="微软雅黑 Light" panose="020B0502040204020203" pitchFamily="34" charset="-122"/>
              </a:defRPr>
            </a:lvl1pPr>
          </a:lstStyle>
          <a:p>
            <a:r>
              <a:rPr lang="zh-CN" altLang="en-US" dirty="0"/>
              <a:t>存储</a:t>
            </a:r>
            <a:endParaRPr lang="zh-CN" altLang="en-US" dirty="0"/>
          </a:p>
          <a:p>
            <a:r>
              <a:rPr lang="zh-CN" altLang="en-US" dirty="0"/>
              <a:t>转发</a:t>
            </a:r>
            <a:endParaRPr lang="zh-CN" altLang="en-US" dirty="0"/>
          </a:p>
        </p:txBody>
      </p:sp>
      <p:sp>
        <p:nvSpPr>
          <p:cNvPr id="378035" name="Text Box 179"/>
          <p:cNvSpPr txBox="1">
            <a:spLocks noChangeArrowheads="1"/>
          </p:cNvSpPr>
          <p:nvPr/>
        </p:nvSpPr>
        <p:spPr bwMode="auto">
          <a:xfrm>
            <a:off x="9271000" y="6280150"/>
            <a:ext cx="543739"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90000"/>
              </a:lnSpc>
              <a:defRPr kumimoji="1" sz="1400">
                <a:solidFill>
                  <a:schemeClr val="tx2"/>
                </a:solidFill>
                <a:latin typeface="微软雅黑 Light" panose="020B0502040204020203" pitchFamily="34" charset="-122"/>
                <a:ea typeface="微软雅黑 Light" panose="020B0502040204020203" pitchFamily="34" charset="-122"/>
              </a:defRPr>
            </a:lvl1pPr>
          </a:lstStyle>
          <a:p>
            <a:r>
              <a:rPr lang="zh-CN" altLang="en-US" dirty="0"/>
              <a:t>存储</a:t>
            </a:r>
            <a:endParaRPr lang="zh-CN" altLang="en-US" dirty="0"/>
          </a:p>
          <a:p>
            <a:r>
              <a:rPr lang="zh-CN" altLang="en-US" dirty="0"/>
              <a:t>转发</a:t>
            </a:r>
            <a:endParaRPr lang="zh-CN" altLang="en-US" dirty="0"/>
          </a:p>
        </p:txBody>
      </p:sp>
      <p:sp>
        <p:nvSpPr>
          <p:cNvPr id="179" name="Line 95"/>
          <p:cNvSpPr>
            <a:spLocks noChangeShapeType="1"/>
          </p:cNvSpPr>
          <p:nvPr/>
        </p:nvSpPr>
        <p:spPr bwMode="auto">
          <a:xfrm>
            <a:off x="1852457" y="1456546"/>
            <a:ext cx="6541" cy="3500431"/>
          </a:xfrm>
          <a:prstGeom prst="line">
            <a:avLst/>
          </a:prstGeom>
          <a:noFill/>
          <a:ln w="25400">
            <a:solidFill>
              <a:srgbClr val="0070C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181" name="Text Box 96"/>
          <p:cNvSpPr txBox="1">
            <a:spLocks noChangeArrowheads="1"/>
          </p:cNvSpPr>
          <p:nvPr/>
        </p:nvSpPr>
        <p:spPr bwMode="auto">
          <a:xfrm>
            <a:off x="1433403" y="2904336"/>
            <a:ext cx="3204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dirty="0">
                <a:solidFill>
                  <a:srgbClr val="0070C0"/>
                </a:solidFill>
                <a:latin typeface="微软雅黑 Light" panose="020B0502040204020203" pitchFamily="34" charset="-122"/>
                <a:ea typeface="微软雅黑 Light" panose="020B0502040204020203" pitchFamily="34" charset="-122"/>
              </a:rPr>
              <a:t>时间</a:t>
            </a:r>
            <a:endParaRPr kumimoji="1" lang="en-US" altLang="zh-CN" dirty="0">
              <a:solidFill>
                <a:srgbClr val="0070C0"/>
              </a:solidFill>
              <a:latin typeface="微软雅黑 Light" panose="020B0502040204020203" pitchFamily="34" charset="-122"/>
              <a:ea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795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377944"/>
                                        </p:tgtEl>
                                        <p:attrNameLst>
                                          <p:attrName>style.visibility</p:attrName>
                                        </p:attrNameLst>
                                      </p:cBhvr>
                                      <p:to>
                                        <p:strVal val="visible"/>
                                      </p:to>
                                    </p:set>
                                    <p:animEffect transition="in" filter="wipe(left)">
                                      <p:cBhvr>
                                        <p:cTn id="10" dur="500"/>
                                        <p:tgtEl>
                                          <p:spTgt spid="377944"/>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77945"/>
                                        </p:tgtEl>
                                        <p:attrNameLst>
                                          <p:attrName>style.visibility</p:attrName>
                                        </p:attrNameLst>
                                      </p:cBhvr>
                                      <p:to>
                                        <p:strVal val="visible"/>
                                      </p:to>
                                    </p:set>
                                    <p:animEffect transition="in" filter="wipe(left)">
                                      <p:cBhvr>
                                        <p:cTn id="14" dur="500"/>
                                        <p:tgtEl>
                                          <p:spTgt spid="37794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77946"/>
                                        </p:tgtEl>
                                        <p:attrNameLst>
                                          <p:attrName>style.visibility</p:attrName>
                                        </p:attrNameLst>
                                      </p:cBhvr>
                                      <p:to>
                                        <p:strVal val="visible"/>
                                      </p:to>
                                    </p:set>
                                    <p:animEffect transition="in" filter="wipe(left)">
                                      <p:cBhvr>
                                        <p:cTn id="18" dur="500"/>
                                        <p:tgtEl>
                                          <p:spTgt spid="377946"/>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377947"/>
                                        </p:tgtEl>
                                        <p:attrNameLst>
                                          <p:attrName>style.visibility</p:attrName>
                                        </p:attrNameLst>
                                      </p:cBhvr>
                                      <p:to>
                                        <p:strVal val="visible"/>
                                      </p:to>
                                    </p:set>
                                    <p:animEffect transition="in" filter="wipe(right)">
                                      <p:cBhvr>
                                        <p:cTn id="22" dur="500"/>
                                        <p:tgtEl>
                                          <p:spTgt spid="377947"/>
                                        </p:tgtEl>
                                      </p:cBhvr>
                                    </p:animEffect>
                                  </p:childTnLst>
                                </p:cTn>
                              </p:par>
                            </p:childTnLst>
                          </p:cTn>
                        </p:par>
                        <p:par>
                          <p:cTn id="23" fill="hold">
                            <p:stCondLst>
                              <p:cond delay="2000"/>
                            </p:stCondLst>
                            <p:childTnLst>
                              <p:par>
                                <p:cTn id="24" presetID="1" presetClass="entr" presetSubtype="0" fill="hold" nodeType="afterEffect">
                                  <p:stCondLst>
                                    <p:cond delay="500"/>
                                  </p:stCondLst>
                                  <p:childTnLst>
                                    <p:set>
                                      <p:cBhvr>
                                        <p:cTn id="25" dur="1" fill="hold">
                                          <p:stCondLst>
                                            <p:cond delay="0"/>
                                          </p:stCondLst>
                                        </p:cTn>
                                        <p:tgtEl>
                                          <p:spTgt spid="377958"/>
                                        </p:tgtEl>
                                        <p:attrNameLst>
                                          <p:attrName>style.visibility</p:attrName>
                                        </p:attrNameLst>
                                      </p:cBhvr>
                                      <p:to>
                                        <p:strVal val="visible"/>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377970"/>
                                        </p:tgtEl>
                                        <p:attrNameLst>
                                          <p:attrName>style.visibility</p:attrName>
                                        </p:attrNameLst>
                                      </p:cBhvr>
                                      <p:to>
                                        <p:strVal val="visible"/>
                                      </p:to>
                                    </p:set>
                                    <p:animEffect transition="in" filter="wipe(left)">
                                      <p:cBhvr>
                                        <p:cTn id="29" dur="500"/>
                                        <p:tgtEl>
                                          <p:spTgt spid="377970"/>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377990"/>
                                        </p:tgtEl>
                                        <p:attrNameLst>
                                          <p:attrName>style.visibility</p:attrName>
                                        </p:attrNameLst>
                                      </p:cBhvr>
                                      <p:to>
                                        <p:strVal val="visible"/>
                                      </p:to>
                                    </p:set>
                                    <p:animEffect transition="in" filter="wipe(left)">
                                      <p:cBhvr>
                                        <p:cTn id="33" dur="500"/>
                                        <p:tgtEl>
                                          <p:spTgt spid="377990"/>
                                        </p:tgtEl>
                                      </p:cBhvr>
                                    </p:animEffect>
                                  </p:childTnLst>
                                </p:cTn>
                              </p:par>
                            </p:childTnLst>
                          </p:cTn>
                        </p:par>
                        <p:par>
                          <p:cTn id="34" fill="hold">
                            <p:stCondLst>
                              <p:cond delay="3500"/>
                            </p:stCondLst>
                            <p:childTnLst>
                              <p:par>
                                <p:cTn id="35" presetID="22" presetClass="entr" presetSubtype="8" fill="hold" grpId="0" nodeType="afterEffect">
                                  <p:stCondLst>
                                    <p:cond delay="0"/>
                                  </p:stCondLst>
                                  <p:childTnLst>
                                    <p:set>
                                      <p:cBhvr>
                                        <p:cTn id="36" dur="1" fill="hold">
                                          <p:stCondLst>
                                            <p:cond delay="0"/>
                                          </p:stCondLst>
                                        </p:cTn>
                                        <p:tgtEl>
                                          <p:spTgt spid="377991"/>
                                        </p:tgtEl>
                                        <p:attrNameLst>
                                          <p:attrName>style.visibility</p:attrName>
                                        </p:attrNameLst>
                                      </p:cBhvr>
                                      <p:to>
                                        <p:strVal val="visible"/>
                                      </p:to>
                                    </p:set>
                                    <p:animEffect transition="in" filter="wipe(left)">
                                      <p:cBhvr>
                                        <p:cTn id="37" dur="500"/>
                                        <p:tgtEl>
                                          <p:spTgt spid="377991"/>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377992"/>
                                        </p:tgtEl>
                                        <p:attrNameLst>
                                          <p:attrName>style.visibility</p:attrName>
                                        </p:attrNameLst>
                                      </p:cBhvr>
                                      <p:to>
                                        <p:strVal val="visible"/>
                                      </p:to>
                                    </p:set>
                                    <p:animEffect transition="in" filter="wipe(left)">
                                      <p:cBhvr>
                                        <p:cTn id="41" dur="500"/>
                                        <p:tgtEl>
                                          <p:spTgt spid="377992"/>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77948"/>
                                        </p:tgtEl>
                                        <p:attrNameLst>
                                          <p:attrName>style.visibility</p:attrName>
                                        </p:attrNameLst>
                                      </p:cBhvr>
                                      <p:to>
                                        <p:strVal val="visible"/>
                                      </p:to>
                                    </p:set>
                                  </p:childTnLst>
                                </p:cTn>
                              </p:par>
                            </p:childTnLst>
                          </p:cTn>
                        </p:par>
                        <p:par>
                          <p:cTn id="46" fill="hold">
                            <p:stCondLst>
                              <p:cond delay="0"/>
                            </p:stCondLst>
                            <p:childTnLst>
                              <p:par>
                                <p:cTn id="47" presetID="22" presetClass="entr" presetSubtype="8" fill="hold" nodeType="afterEffect">
                                  <p:stCondLst>
                                    <p:cond delay="0"/>
                                  </p:stCondLst>
                                  <p:childTnLst>
                                    <p:set>
                                      <p:cBhvr>
                                        <p:cTn id="48" dur="1" fill="hold">
                                          <p:stCondLst>
                                            <p:cond delay="0"/>
                                          </p:stCondLst>
                                        </p:cTn>
                                        <p:tgtEl>
                                          <p:spTgt spid="377933"/>
                                        </p:tgtEl>
                                        <p:attrNameLst>
                                          <p:attrName>style.visibility</p:attrName>
                                        </p:attrNameLst>
                                      </p:cBhvr>
                                      <p:to>
                                        <p:strVal val="visible"/>
                                      </p:to>
                                    </p:set>
                                    <p:animEffect transition="in" filter="wipe(left)">
                                      <p:cBhvr>
                                        <p:cTn id="49" dur="2000"/>
                                        <p:tgtEl>
                                          <p:spTgt spid="377933"/>
                                        </p:tgtEl>
                                      </p:cBhvr>
                                    </p:animEffect>
                                  </p:childTnLst>
                                </p:cTn>
                              </p:par>
                            </p:childTnLst>
                          </p:cTn>
                        </p:par>
                        <p:par>
                          <p:cTn id="50" fill="hold">
                            <p:stCondLst>
                              <p:cond delay="2000"/>
                            </p:stCondLst>
                            <p:childTnLst>
                              <p:par>
                                <p:cTn id="51" presetID="22" presetClass="entr" presetSubtype="8" fill="hold" nodeType="afterEffect">
                                  <p:stCondLst>
                                    <p:cond delay="1000"/>
                                  </p:stCondLst>
                                  <p:childTnLst>
                                    <p:set>
                                      <p:cBhvr>
                                        <p:cTn id="52" dur="1" fill="hold">
                                          <p:stCondLst>
                                            <p:cond delay="0"/>
                                          </p:stCondLst>
                                        </p:cTn>
                                        <p:tgtEl>
                                          <p:spTgt spid="377921"/>
                                        </p:tgtEl>
                                        <p:attrNameLst>
                                          <p:attrName>style.visibility</p:attrName>
                                        </p:attrNameLst>
                                      </p:cBhvr>
                                      <p:to>
                                        <p:strVal val="visible"/>
                                      </p:to>
                                    </p:set>
                                    <p:animEffect transition="in" filter="wipe(left)">
                                      <p:cBhvr>
                                        <p:cTn id="53" dur="2000"/>
                                        <p:tgtEl>
                                          <p:spTgt spid="377921"/>
                                        </p:tgtEl>
                                      </p:cBhvr>
                                    </p:animEffect>
                                  </p:childTnLst>
                                </p:cTn>
                              </p:par>
                            </p:childTnLst>
                          </p:cTn>
                        </p:par>
                        <p:par>
                          <p:cTn id="54" fill="hold">
                            <p:stCondLst>
                              <p:cond delay="5000"/>
                            </p:stCondLst>
                            <p:childTnLst>
                              <p:par>
                                <p:cTn id="55" presetID="22" presetClass="entr" presetSubtype="8" fill="hold" nodeType="afterEffect">
                                  <p:stCondLst>
                                    <p:cond delay="1000"/>
                                  </p:stCondLst>
                                  <p:childTnLst>
                                    <p:set>
                                      <p:cBhvr>
                                        <p:cTn id="56" dur="1" fill="hold">
                                          <p:stCondLst>
                                            <p:cond delay="0"/>
                                          </p:stCondLst>
                                        </p:cTn>
                                        <p:tgtEl>
                                          <p:spTgt spid="377927"/>
                                        </p:tgtEl>
                                        <p:attrNameLst>
                                          <p:attrName>style.visibility</p:attrName>
                                        </p:attrNameLst>
                                      </p:cBhvr>
                                      <p:to>
                                        <p:strVal val="visible"/>
                                      </p:to>
                                    </p:set>
                                    <p:animEffect transition="in" filter="wipe(left)">
                                      <p:cBhvr>
                                        <p:cTn id="57" dur="2000"/>
                                        <p:tgtEl>
                                          <p:spTgt spid="37792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77950"/>
                                        </p:tgtEl>
                                        <p:attrNameLst>
                                          <p:attrName>style.visibility</p:attrName>
                                        </p:attrNameLst>
                                      </p:cBhvr>
                                      <p:to>
                                        <p:strVal val="visible"/>
                                      </p:to>
                                    </p:set>
                                  </p:childTnLst>
                                </p:cTn>
                              </p:par>
                            </p:childTnLst>
                          </p:cTn>
                        </p:par>
                        <p:par>
                          <p:cTn id="62" fill="hold">
                            <p:stCondLst>
                              <p:cond delay="0"/>
                            </p:stCondLst>
                            <p:childTnLst>
                              <p:par>
                                <p:cTn id="63" presetID="22" presetClass="entr" presetSubtype="8" fill="hold" nodeType="afterEffect">
                                  <p:stCondLst>
                                    <p:cond delay="0"/>
                                  </p:stCondLst>
                                  <p:childTnLst>
                                    <p:set>
                                      <p:cBhvr>
                                        <p:cTn id="64" dur="1" fill="hold">
                                          <p:stCondLst>
                                            <p:cond delay="0"/>
                                          </p:stCondLst>
                                        </p:cTn>
                                        <p:tgtEl>
                                          <p:spTgt spid="377983"/>
                                        </p:tgtEl>
                                        <p:attrNameLst>
                                          <p:attrName>style.visibility</p:attrName>
                                        </p:attrNameLst>
                                      </p:cBhvr>
                                      <p:to>
                                        <p:strVal val="visible"/>
                                      </p:to>
                                    </p:set>
                                    <p:animEffect transition="in" filter="wipe(left)">
                                      <p:cBhvr>
                                        <p:cTn id="65" dur="500"/>
                                        <p:tgtEl>
                                          <p:spTgt spid="377983"/>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377977"/>
                                        </p:tgtEl>
                                        <p:attrNameLst>
                                          <p:attrName>style.visibility</p:attrName>
                                        </p:attrNameLst>
                                      </p:cBhvr>
                                      <p:to>
                                        <p:strVal val="visible"/>
                                      </p:to>
                                    </p:set>
                                    <p:animEffect transition="in" filter="wipe(left)">
                                      <p:cBhvr>
                                        <p:cTn id="69" dur="500"/>
                                        <p:tgtEl>
                                          <p:spTgt spid="377977"/>
                                        </p:tgtEl>
                                      </p:cBhvr>
                                    </p:animEffect>
                                  </p:childTnLst>
                                </p:cTn>
                              </p:par>
                              <p:par>
                                <p:cTn id="70" presetID="22" presetClass="entr" presetSubtype="8" fill="hold" nodeType="withEffect">
                                  <p:stCondLst>
                                    <p:cond delay="0"/>
                                  </p:stCondLst>
                                  <p:childTnLst>
                                    <p:set>
                                      <p:cBhvr>
                                        <p:cTn id="71" dur="1" fill="hold">
                                          <p:stCondLst>
                                            <p:cond delay="0"/>
                                          </p:stCondLst>
                                        </p:cTn>
                                        <p:tgtEl>
                                          <p:spTgt spid="377861"/>
                                        </p:tgtEl>
                                        <p:attrNameLst>
                                          <p:attrName>style.visibility</p:attrName>
                                        </p:attrNameLst>
                                      </p:cBhvr>
                                      <p:to>
                                        <p:strVal val="visible"/>
                                      </p:to>
                                    </p:set>
                                    <p:animEffect transition="in" filter="wipe(left)">
                                      <p:cBhvr>
                                        <p:cTn id="72" dur="500"/>
                                        <p:tgtEl>
                                          <p:spTgt spid="377861"/>
                                        </p:tgtEl>
                                      </p:cBhvr>
                                    </p:animEffect>
                                  </p:childTnLst>
                                </p:cTn>
                              </p:par>
                            </p:childTnLst>
                          </p:cTn>
                        </p:par>
                        <p:par>
                          <p:cTn id="73" fill="hold">
                            <p:stCondLst>
                              <p:cond delay="1000"/>
                            </p:stCondLst>
                            <p:childTnLst>
                              <p:par>
                                <p:cTn id="74" presetID="22" presetClass="entr" presetSubtype="8" fill="hold" nodeType="afterEffect">
                                  <p:stCondLst>
                                    <p:cond delay="0"/>
                                  </p:stCondLst>
                                  <p:childTnLst>
                                    <p:set>
                                      <p:cBhvr>
                                        <p:cTn id="75" dur="1" fill="hold">
                                          <p:stCondLst>
                                            <p:cond delay="0"/>
                                          </p:stCondLst>
                                        </p:cTn>
                                        <p:tgtEl>
                                          <p:spTgt spid="377909"/>
                                        </p:tgtEl>
                                        <p:attrNameLst>
                                          <p:attrName>style.visibility</p:attrName>
                                        </p:attrNameLst>
                                      </p:cBhvr>
                                      <p:to>
                                        <p:strVal val="visible"/>
                                      </p:to>
                                    </p:set>
                                    <p:animEffect transition="in" filter="wipe(left)">
                                      <p:cBhvr>
                                        <p:cTn id="76" dur="500"/>
                                        <p:tgtEl>
                                          <p:spTgt spid="377909"/>
                                        </p:tgtEl>
                                      </p:cBhvr>
                                    </p:animEffect>
                                  </p:childTnLst>
                                </p:cTn>
                              </p:par>
                              <p:par>
                                <p:cTn id="77" presetID="22" presetClass="entr" presetSubtype="8" fill="hold" nodeType="withEffect">
                                  <p:stCondLst>
                                    <p:cond delay="0"/>
                                  </p:stCondLst>
                                  <p:childTnLst>
                                    <p:set>
                                      <p:cBhvr>
                                        <p:cTn id="78" dur="1" fill="hold">
                                          <p:stCondLst>
                                            <p:cond delay="0"/>
                                          </p:stCondLst>
                                        </p:cTn>
                                        <p:tgtEl>
                                          <p:spTgt spid="377867"/>
                                        </p:tgtEl>
                                        <p:attrNameLst>
                                          <p:attrName>style.visibility</p:attrName>
                                        </p:attrNameLst>
                                      </p:cBhvr>
                                      <p:to>
                                        <p:strVal val="visible"/>
                                      </p:to>
                                    </p:set>
                                    <p:animEffect transition="in" filter="wipe(left)">
                                      <p:cBhvr>
                                        <p:cTn id="79" dur="500"/>
                                        <p:tgtEl>
                                          <p:spTgt spid="377867"/>
                                        </p:tgtEl>
                                      </p:cBhvr>
                                    </p:animEffect>
                                  </p:childTnLst>
                                </p:cTn>
                              </p:par>
                              <p:par>
                                <p:cTn id="80" presetID="22" presetClass="entr" presetSubtype="8" fill="hold" nodeType="withEffect">
                                  <p:stCondLst>
                                    <p:cond delay="0"/>
                                  </p:stCondLst>
                                  <p:childTnLst>
                                    <p:set>
                                      <p:cBhvr>
                                        <p:cTn id="81" dur="1" fill="hold">
                                          <p:stCondLst>
                                            <p:cond delay="0"/>
                                          </p:stCondLst>
                                        </p:cTn>
                                        <p:tgtEl>
                                          <p:spTgt spid="377885"/>
                                        </p:tgtEl>
                                        <p:attrNameLst>
                                          <p:attrName>style.visibility</p:attrName>
                                        </p:attrNameLst>
                                      </p:cBhvr>
                                      <p:to>
                                        <p:strVal val="visible"/>
                                      </p:to>
                                    </p:set>
                                    <p:animEffect transition="in" filter="wipe(left)">
                                      <p:cBhvr>
                                        <p:cTn id="82" dur="500"/>
                                        <p:tgtEl>
                                          <p:spTgt spid="377885"/>
                                        </p:tgtEl>
                                      </p:cBhvr>
                                    </p:animEffect>
                                  </p:childTnLst>
                                </p:cTn>
                              </p:par>
                            </p:childTnLst>
                          </p:cTn>
                        </p:par>
                        <p:par>
                          <p:cTn id="83" fill="hold">
                            <p:stCondLst>
                              <p:cond delay="1500"/>
                            </p:stCondLst>
                            <p:childTnLst>
                              <p:par>
                                <p:cTn id="84" presetID="22" presetClass="entr" presetSubtype="8" fill="hold" nodeType="afterEffect">
                                  <p:stCondLst>
                                    <p:cond delay="0"/>
                                  </p:stCondLst>
                                  <p:childTnLst>
                                    <p:set>
                                      <p:cBhvr>
                                        <p:cTn id="85" dur="1" fill="hold">
                                          <p:stCondLst>
                                            <p:cond delay="0"/>
                                          </p:stCondLst>
                                        </p:cTn>
                                        <p:tgtEl>
                                          <p:spTgt spid="377891"/>
                                        </p:tgtEl>
                                        <p:attrNameLst>
                                          <p:attrName>style.visibility</p:attrName>
                                        </p:attrNameLst>
                                      </p:cBhvr>
                                      <p:to>
                                        <p:strVal val="visible"/>
                                      </p:to>
                                    </p:set>
                                    <p:animEffect transition="in" filter="wipe(left)">
                                      <p:cBhvr>
                                        <p:cTn id="86" dur="500"/>
                                        <p:tgtEl>
                                          <p:spTgt spid="377891"/>
                                        </p:tgtEl>
                                      </p:cBhvr>
                                    </p:animEffect>
                                  </p:childTnLst>
                                </p:cTn>
                              </p:par>
                              <p:par>
                                <p:cTn id="87" presetID="22" presetClass="entr" presetSubtype="8" fill="hold" nodeType="withEffect">
                                  <p:stCondLst>
                                    <p:cond delay="0"/>
                                  </p:stCondLst>
                                  <p:childTnLst>
                                    <p:set>
                                      <p:cBhvr>
                                        <p:cTn id="88" dur="1" fill="hold">
                                          <p:stCondLst>
                                            <p:cond delay="0"/>
                                          </p:stCondLst>
                                        </p:cTn>
                                        <p:tgtEl>
                                          <p:spTgt spid="377873"/>
                                        </p:tgtEl>
                                        <p:attrNameLst>
                                          <p:attrName>style.visibility</p:attrName>
                                        </p:attrNameLst>
                                      </p:cBhvr>
                                      <p:to>
                                        <p:strVal val="visible"/>
                                      </p:to>
                                    </p:set>
                                    <p:animEffect transition="in" filter="wipe(left)">
                                      <p:cBhvr>
                                        <p:cTn id="89" dur="500"/>
                                        <p:tgtEl>
                                          <p:spTgt spid="377873"/>
                                        </p:tgtEl>
                                      </p:cBhvr>
                                    </p:animEffect>
                                  </p:childTnLst>
                                </p:cTn>
                              </p:par>
                              <p:par>
                                <p:cTn id="90" presetID="22" presetClass="entr" presetSubtype="8" fill="hold" nodeType="withEffect">
                                  <p:stCondLst>
                                    <p:cond delay="0"/>
                                  </p:stCondLst>
                                  <p:childTnLst>
                                    <p:set>
                                      <p:cBhvr>
                                        <p:cTn id="91" dur="1" fill="hold">
                                          <p:stCondLst>
                                            <p:cond delay="0"/>
                                          </p:stCondLst>
                                        </p:cTn>
                                        <p:tgtEl>
                                          <p:spTgt spid="377915"/>
                                        </p:tgtEl>
                                        <p:attrNameLst>
                                          <p:attrName>style.visibility</p:attrName>
                                        </p:attrNameLst>
                                      </p:cBhvr>
                                      <p:to>
                                        <p:strVal val="visible"/>
                                      </p:to>
                                    </p:set>
                                    <p:animEffect transition="in" filter="wipe(left)">
                                      <p:cBhvr>
                                        <p:cTn id="92" dur="500"/>
                                        <p:tgtEl>
                                          <p:spTgt spid="377915"/>
                                        </p:tgtEl>
                                      </p:cBhvr>
                                    </p:animEffect>
                                  </p:childTnLst>
                                </p:cTn>
                              </p:par>
                            </p:childTnLst>
                          </p:cTn>
                        </p:par>
                        <p:par>
                          <p:cTn id="93" fill="hold">
                            <p:stCondLst>
                              <p:cond delay="2000"/>
                            </p:stCondLst>
                            <p:childTnLst>
                              <p:par>
                                <p:cTn id="94" presetID="22" presetClass="entr" presetSubtype="8" fill="hold" nodeType="afterEffect">
                                  <p:stCondLst>
                                    <p:cond delay="0"/>
                                  </p:stCondLst>
                                  <p:childTnLst>
                                    <p:set>
                                      <p:cBhvr>
                                        <p:cTn id="95" dur="1" fill="hold">
                                          <p:stCondLst>
                                            <p:cond delay="0"/>
                                          </p:stCondLst>
                                        </p:cTn>
                                        <p:tgtEl>
                                          <p:spTgt spid="377879"/>
                                        </p:tgtEl>
                                        <p:attrNameLst>
                                          <p:attrName>style.visibility</p:attrName>
                                        </p:attrNameLst>
                                      </p:cBhvr>
                                      <p:to>
                                        <p:strVal val="visible"/>
                                      </p:to>
                                    </p:set>
                                    <p:animEffect transition="in" filter="wipe(left)">
                                      <p:cBhvr>
                                        <p:cTn id="96" dur="500"/>
                                        <p:tgtEl>
                                          <p:spTgt spid="377879"/>
                                        </p:tgtEl>
                                      </p:cBhvr>
                                    </p:animEffect>
                                  </p:childTnLst>
                                </p:cTn>
                              </p:par>
                              <p:par>
                                <p:cTn id="97" presetID="22" presetClass="entr" presetSubtype="8" fill="hold" nodeType="withEffect">
                                  <p:stCondLst>
                                    <p:cond delay="0"/>
                                  </p:stCondLst>
                                  <p:childTnLst>
                                    <p:set>
                                      <p:cBhvr>
                                        <p:cTn id="98" dur="1" fill="hold">
                                          <p:stCondLst>
                                            <p:cond delay="0"/>
                                          </p:stCondLst>
                                        </p:cTn>
                                        <p:tgtEl>
                                          <p:spTgt spid="377897"/>
                                        </p:tgtEl>
                                        <p:attrNameLst>
                                          <p:attrName>style.visibility</p:attrName>
                                        </p:attrNameLst>
                                      </p:cBhvr>
                                      <p:to>
                                        <p:strVal val="visible"/>
                                      </p:to>
                                    </p:set>
                                    <p:animEffect transition="in" filter="wipe(left)">
                                      <p:cBhvr>
                                        <p:cTn id="99" dur="500"/>
                                        <p:tgtEl>
                                          <p:spTgt spid="377897"/>
                                        </p:tgtEl>
                                      </p:cBhvr>
                                    </p:animEffect>
                                  </p:childTnLst>
                                </p:cTn>
                              </p:par>
                            </p:childTnLst>
                          </p:cTn>
                        </p:par>
                        <p:par>
                          <p:cTn id="100" fill="hold">
                            <p:stCondLst>
                              <p:cond delay="2500"/>
                            </p:stCondLst>
                            <p:childTnLst>
                              <p:par>
                                <p:cTn id="101" presetID="22" presetClass="entr" presetSubtype="8" fill="hold" nodeType="afterEffect">
                                  <p:stCondLst>
                                    <p:cond delay="0"/>
                                  </p:stCondLst>
                                  <p:childTnLst>
                                    <p:set>
                                      <p:cBhvr>
                                        <p:cTn id="102" dur="1" fill="hold">
                                          <p:stCondLst>
                                            <p:cond delay="0"/>
                                          </p:stCondLst>
                                        </p:cTn>
                                        <p:tgtEl>
                                          <p:spTgt spid="377903"/>
                                        </p:tgtEl>
                                        <p:attrNameLst>
                                          <p:attrName>style.visibility</p:attrName>
                                        </p:attrNameLst>
                                      </p:cBhvr>
                                      <p:to>
                                        <p:strVal val="visible"/>
                                      </p:to>
                                    </p:set>
                                    <p:animEffect transition="in" filter="wipe(left)">
                                      <p:cBhvr>
                                        <p:cTn id="103" dur="500"/>
                                        <p:tgtEl>
                                          <p:spTgt spid="377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944" grpId="0" animBg="1"/>
      <p:bldP spid="377945" grpId="0" animBg="1"/>
      <p:bldP spid="377946" grpId="0" animBg="1"/>
      <p:bldP spid="377947" grpId="0" animBg="1"/>
      <p:bldP spid="377948" grpId="0"/>
      <p:bldP spid="377950" grpId="0"/>
      <p:bldP spid="377990" grpId="0" animBg="1"/>
      <p:bldP spid="377991" grpId="0" animBg="1"/>
      <p:bldP spid="37799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r>
              <a:rPr lang="en-US" altLang="zh-CN" dirty="0"/>
              <a:t>2.5 </a:t>
            </a:r>
            <a:r>
              <a:rPr lang="zh-CN" altLang="en-US" dirty="0"/>
              <a:t>错误检测编码</a:t>
            </a:r>
            <a:endParaRPr lang="zh-CN" altLang="en-US" dirty="0"/>
          </a:p>
        </p:txBody>
      </p:sp>
      <p:sp>
        <p:nvSpPr>
          <p:cNvPr id="481283" name="Rectangle 3"/>
          <p:cNvSpPr>
            <a:spLocks noGrp="1" noChangeArrowheads="1"/>
          </p:cNvSpPr>
          <p:nvPr>
            <p:ph idx="1"/>
          </p:nvPr>
        </p:nvSpPr>
        <p:spPr/>
        <p:txBody>
          <a:bodyPr>
            <a:normAutofit/>
          </a:bodyPr>
          <a:lstStyle/>
          <a:p>
            <a:r>
              <a:rPr lang="zh-CN" altLang="en-US" dirty="0"/>
              <a:t>基本原理</a:t>
            </a:r>
            <a:endParaRPr lang="en-US" altLang="zh-CN" dirty="0"/>
          </a:p>
          <a:p>
            <a:pPr lvl="1"/>
            <a:r>
              <a:rPr lang="zh-CN" altLang="en-US" dirty="0"/>
              <a:t>发送方：按照一定规则给数据增加冗余码，将数据和冗余码一起发送</a:t>
            </a:r>
            <a:endParaRPr lang="en-US" altLang="zh-CN" dirty="0"/>
          </a:p>
          <a:p>
            <a:pPr lvl="1"/>
            <a:r>
              <a:rPr lang="zh-CN" altLang="en-US" dirty="0"/>
              <a:t>接收方：按照约定的规则对收到的信息进行检查</a:t>
            </a:r>
            <a:endParaRPr lang="en-US" altLang="zh-CN" dirty="0"/>
          </a:p>
          <a:p>
            <a:pPr lvl="1"/>
            <a:r>
              <a:rPr lang="zh-CN" altLang="en-US" dirty="0"/>
              <a:t>编码效率：数据信息在整个发送信息中的比重</a:t>
            </a:r>
            <a:endParaRPr lang="zh-CN" altLang="en-US" dirty="0"/>
          </a:p>
          <a:p>
            <a:r>
              <a:rPr lang="zh-CN" altLang="en-US" dirty="0"/>
              <a:t>两种方法</a:t>
            </a:r>
            <a:endParaRPr lang="en-US" altLang="zh-CN" dirty="0"/>
          </a:p>
          <a:p>
            <a:pPr lvl="1"/>
            <a:r>
              <a:rPr lang="zh-CN" altLang="en-US" dirty="0"/>
              <a:t>检错码：给发送信息加上冗余位，使其具备检错功能</a:t>
            </a:r>
            <a:endParaRPr lang="zh-CN" altLang="en-US" dirty="0"/>
          </a:p>
          <a:p>
            <a:pPr lvl="1"/>
            <a:r>
              <a:rPr lang="zh-CN" altLang="en-US" dirty="0"/>
              <a:t>纠错码：不仅能检错，同时能纠正错误的冗余码</a:t>
            </a:r>
            <a:endParaRPr lang="zh-CN" altLang="en-US" dirty="0"/>
          </a:p>
          <a:p>
            <a:r>
              <a:rPr lang="zh-CN" altLang="en-US" dirty="0"/>
              <a:t>三种错误类型：可采用不同的方法处理</a:t>
            </a:r>
            <a:endParaRPr lang="zh-CN" altLang="en-US" dirty="0"/>
          </a:p>
          <a:p>
            <a:pPr lvl="1"/>
            <a:r>
              <a:rPr lang="zh-CN" altLang="en-US" dirty="0"/>
              <a:t>单比特错误</a:t>
            </a:r>
            <a:endParaRPr lang="zh-CN" altLang="en-US" dirty="0"/>
          </a:p>
          <a:p>
            <a:pPr lvl="1"/>
            <a:r>
              <a:rPr lang="zh-CN" altLang="en-US" dirty="0"/>
              <a:t>多比特错误</a:t>
            </a:r>
            <a:endParaRPr lang="zh-CN" altLang="en-US" dirty="0"/>
          </a:p>
          <a:p>
            <a:pPr lvl="1"/>
            <a:r>
              <a:rPr lang="zh-CN" altLang="en-US" dirty="0"/>
              <a:t>突发错误</a:t>
            </a:r>
            <a:endParaRPr lang="zh-CN" altLang="en-US" dirty="0"/>
          </a:p>
        </p:txBody>
      </p:sp>
      <p:sp>
        <p:nvSpPr>
          <p:cNvPr id="6" name="灯片编号占位符 5"/>
          <p:cNvSpPr>
            <a:spLocks noGrp="1"/>
          </p:cNvSpPr>
          <p:nvPr>
            <p:ph type="sldNum" sz="quarter" idx="12"/>
          </p:nvPr>
        </p:nvSpPr>
        <p:spPr/>
        <p:txBody>
          <a:bodyPr/>
          <a:lstStyle/>
          <a:p>
            <a:fld id="{F9CBBBC4-9CBC-4375-B10D-244D04112738}" type="slidenum">
              <a:rPr lang="en-US" altLang="zh-CN"/>
            </a:fld>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zh-CN" altLang="en-US" dirty="0"/>
              <a:t>奇偶校验码</a:t>
            </a:r>
            <a:endParaRPr lang="zh-CN" altLang="en-US" dirty="0"/>
          </a:p>
        </p:txBody>
      </p:sp>
      <p:sp>
        <p:nvSpPr>
          <p:cNvPr id="482307" name="Rectangle 3"/>
          <p:cNvSpPr>
            <a:spLocks noGrp="1" noChangeArrowheads="1"/>
          </p:cNvSpPr>
          <p:nvPr>
            <p:ph idx="1"/>
          </p:nvPr>
        </p:nvSpPr>
        <p:spPr/>
        <p:txBody>
          <a:bodyPr/>
          <a:lstStyle/>
          <a:p>
            <a:r>
              <a:rPr lang="zh-CN" altLang="en-US" dirty="0"/>
              <a:t>奇偶校验码常用于串行通信中</a:t>
            </a:r>
            <a:endParaRPr lang="en-US" altLang="zh-CN" dirty="0"/>
          </a:p>
          <a:p>
            <a:r>
              <a:rPr lang="zh-CN" altLang="en-US" dirty="0"/>
              <a:t>奇偶校验码计算规则：计算数据单元中为</a:t>
            </a:r>
            <a:r>
              <a:rPr lang="en-US" altLang="zh-CN" dirty="0"/>
              <a:t>1</a:t>
            </a:r>
            <a:r>
              <a:rPr lang="zh-CN" altLang="en-US" dirty="0"/>
              <a:t>的比特个数，附加一个比特位，使得</a:t>
            </a:r>
            <a:r>
              <a:rPr lang="en-US" altLang="zh-CN" dirty="0"/>
              <a:t>1</a:t>
            </a:r>
            <a:r>
              <a:rPr lang="zh-CN" altLang="en-US" dirty="0"/>
              <a:t>的个数为偶数（偶校验）或奇数（奇校验）</a:t>
            </a:r>
            <a:endParaRPr lang="zh-CN" altLang="en-US" dirty="0"/>
          </a:p>
          <a:p>
            <a:pPr lvl="1"/>
            <a:r>
              <a:rPr lang="zh-CN" altLang="en-US" dirty="0"/>
              <a:t>偶校验：设</a:t>
            </a:r>
            <a:r>
              <a:rPr lang="en-US" altLang="zh-CN" dirty="0"/>
              <a:t>m</a:t>
            </a:r>
            <a:r>
              <a:rPr lang="zh-CN" altLang="en-US" dirty="0"/>
              <a:t>位数据单元</a:t>
            </a:r>
            <a:r>
              <a:rPr lang="en-US" altLang="zh-CN" dirty="0"/>
              <a:t>b</a:t>
            </a:r>
            <a:r>
              <a:rPr lang="en-US" altLang="zh-CN" baseline="-25000" dirty="0"/>
              <a:t>1</a:t>
            </a:r>
            <a:r>
              <a:rPr lang="en-US" altLang="zh-CN" dirty="0"/>
              <a:t>b</a:t>
            </a:r>
            <a:r>
              <a:rPr lang="en-US" altLang="zh-CN" baseline="-25000" dirty="0"/>
              <a:t>2</a:t>
            </a:r>
            <a:r>
              <a:rPr lang="en-US" altLang="zh-CN" dirty="0"/>
              <a:t>b</a:t>
            </a:r>
            <a:r>
              <a:rPr lang="en-US" altLang="zh-CN" baseline="-25000" dirty="0"/>
              <a:t>3</a:t>
            </a:r>
            <a:r>
              <a:rPr lang="en-US" altLang="zh-CN" dirty="0">
                <a:sym typeface="Symbol" panose="05050102010706020507" pitchFamily="18" charset="2"/>
              </a:rPr>
              <a:t></a:t>
            </a:r>
            <a:r>
              <a:rPr lang="en-US" altLang="zh-CN" dirty="0"/>
              <a:t>b</a:t>
            </a:r>
            <a:r>
              <a:rPr lang="en-US" altLang="zh-CN" baseline="-25000" dirty="0"/>
              <a:t>m</a:t>
            </a:r>
            <a:r>
              <a:rPr lang="zh-CN" altLang="en-US" dirty="0"/>
              <a:t>，则：</a:t>
            </a:r>
            <a:endParaRPr lang="zh-CN" altLang="en-US" dirty="0"/>
          </a:p>
          <a:p>
            <a:pPr algn="ctr">
              <a:buFont typeface="Wingdings" panose="05000000000000000000" pitchFamily="2" charset="2"/>
              <a:buNone/>
            </a:pPr>
            <a:r>
              <a:rPr lang="en-US" altLang="zh-CN" dirty="0"/>
              <a:t>r= b</a:t>
            </a:r>
            <a:r>
              <a:rPr lang="en-US" altLang="zh-CN" baseline="-25000" dirty="0"/>
              <a:t>1</a:t>
            </a:r>
            <a:r>
              <a:rPr lang="en-US" altLang="zh-CN" dirty="0">
                <a:sym typeface="Symbol" panose="05050102010706020507" pitchFamily="18" charset="2"/>
              </a:rPr>
              <a:t></a:t>
            </a:r>
            <a:r>
              <a:rPr lang="en-US" altLang="zh-CN" dirty="0"/>
              <a:t>b</a:t>
            </a:r>
            <a:r>
              <a:rPr lang="en-US" altLang="zh-CN" baseline="-25000" dirty="0"/>
              <a:t>2</a:t>
            </a:r>
            <a:r>
              <a:rPr lang="en-US" altLang="zh-CN" dirty="0">
                <a:sym typeface="Symbol" panose="05050102010706020507" pitchFamily="18" charset="2"/>
              </a:rPr>
              <a:t></a:t>
            </a:r>
            <a:r>
              <a:rPr lang="en-US" altLang="zh-CN" baseline="-25000" dirty="0"/>
              <a:t> </a:t>
            </a:r>
            <a:r>
              <a:rPr lang="en-US" altLang="zh-CN" dirty="0"/>
              <a:t>b</a:t>
            </a:r>
            <a:r>
              <a:rPr lang="en-US" altLang="zh-CN" baseline="-25000" dirty="0"/>
              <a:t>3</a:t>
            </a:r>
            <a:r>
              <a:rPr lang="en-US" altLang="zh-CN" dirty="0">
                <a:sym typeface="Symbol" panose="05050102010706020507" pitchFamily="18" charset="2"/>
              </a:rPr>
              <a:t></a:t>
            </a:r>
            <a:r>
              <a:rPr lang="en-US" altLang="zh-CN" dirty="0"/>
              <a:t>b</a:t>
            </a:r>
            <a:r>
              <a:rPr lang="en-US" altLang="zh-CN" baseline="-25000" dirty="0"/>
              <a:t>m</a:t>
            </a:r>
            <a:endParaRPr lang="en-US" altLang="zh-CN" dirty="0"/>
          </a:p>
          <a:p>
            <a:pPr lvl="1"/>
            <a:r>
              <a:rPr lang="zh-CN" altLang="en-US" dirty="0"/>
              <a:t>奇校验：设</a:t>
            </a:r>
            <a:r>
              <a:rPr lang="en-US" altLang="zh-CN" dirty="0"/>
              <a:t>m</a:t>
            </a:r>
            <a:r>
              <a:rPr lang="zh-CN" altLang="en-US" dirty="0"/>
              <a:t>位数据单元</a:t>
            </a:r>
            <a:r>
              <a:rPr lang="en-US" altLang="zh-CN" dirty="0"/>
              <a:t>b</a:t>
            </a:r>
            <a:r>
              <a:rPr lang="en-US" altLang="zh-CN" baseline="-25000" dirty="0"/>
              <a:t>1</a:t>
            </a:r>
            <a:r>
              <a:rPr lang="en-US" altLang="zh-CN" dirty="0"/>
              <a:t>b</a:t>
            </a:r>
            <a:r>
              <a:rPr lang="en-US" altLang="zh-CN" baseline="-25000" dirty="0"/>
              <a:t>2</a:t>
            </a:r>
            <a:r>
              <a:rPr lang="en-US" altLang="zh-CN" dirty="0"/>
              <a:t>b</a:t>
            </a:r>
            <a:r>
              <a:rPr lang="en-US" altLang="zh-CN" baseline="-25000" dirty="0"/>
              <a:t>3</a:t>
            </a:r>
            <a:r>
              <a:rPr lang="en-US" altLang="zh-CN" dirty="0">
                <a:sym typeface="Symbol" panose="05050102010706020507" pitchFamily="18" charset="2"/>
              </a:rPr>
              <a:t></a:t>
            </a:r>
            <a:r>
              <a:rPr lang="en-US" altLang="zh-CN" dirty="0"/>
              <a:t>b</a:t>
            </a:r>
            <a:r>
              <a:rPr lang="en-US" altLang="zh-CN" baseline="-25000" dirty="0"/>
              <a:t>m</a:t>
            </a:r>
            <a:r>
              <a:rPr lang="zh-CN" altLang="en-US" dirty="0"/>
              <a:t>，则：</a:t>
            </a:r>
            <a:endParaRPr lang="zh-CN" altLang="en-US" dirty="0"/>
          </a:p>
          <a:p>
            <a:pPr algn="ctr">
              <a:buFont typeface="Wingdings" panose="05000000000000000000" pitchFamily="2" charset="2"/>
              <a:buNone/>
            </a:pPr>
            <a:r>
              <a:rPr lang="en-US" altLang="zh-CN" dirty="0"/>
              <a:t>r= b</a:t>
            </a:r>
            <a:r>
              <a:rPr lang="en-US" altLang="zh-CN" baseline="-25000" dirty="0"/>
              <a:t>1</a:t>
            </a:r>
            <a:r>
              <a:rPr lang="en-US" altLang="zh-CN" dirty="0">
                <a:sym typeface="Symbol" panose="05050102010706020507" pitchFamily="18" charset="2"/>
              </a:rPr>
              <a:t></a:t>
            </a:r>
            <a:r>
              <a:rPr lang="en-US" altLang="zh-CN" dirty="0"/>
              <a:t>b</a:t>
            </a:r>
            <a:r>
              <a:rPr lang="en-US" altLang="zh-CN" baseline="-25000" dirty="0"/>
              <a:t>2</a:t>
            </a:r>
            <a:r>
              <a:rPr lang="en-US" altLang="zh-CN" dirty="0">
                <a:sym typeface="Symbol" panose="05050102010706020507" pitchFamily="18" charset="2"/>
              </a:rPr>
              <a:t></a:t>
            </a:r>
            <a:r>
              <a:rPr lang="en-US" altLang="zh-CN" dirty="0"/>
              <a:t>b</a:t>
            </a:r>
            <a:r>
              <a:rPr lang="en-US" altLang="zh-CN" baseline="-25000" dirty="0"/>
              <a:t>3</a:t>
            </a:r>
            <a:r>
              <a:rPr lang="en-US" altLang="zh-CN" dirty="0">
                <a:sym typeface="Symbol" panose="05050102010706020507" pitchFamily="18" charset="2"/>
              </a:rPr>
              <a:t></a:t>
            </a:r>
            <a:r>
              <a:rPr lang="en-US" altLang="zh-CN" dirty="0"/>
              <a:t>b</a:t>
            </a:r>
            <a:r>
              <a:rPr lang="en-US" altLang="zh-CN" baseline="-25000" dirty="0"/>
              <a:t>m</a:t>
            </a:r>
            <a:r>
              <a:rPr lang="en-US" altLang="zh-CN" dirty="0">
                <a:sym typeface="Symbol" panose="05050102010706020507" pitchFamily="18" charset="2"/>
              </a:rPr>
              <a:t>1</a:t>
            </a:r>
            <a:endParaRPr lang="en-US" altLang="zh-CN" dirty="0"/>
          </a:p>
          <a:p>
            <a:r>
              <a:rPr lang="zh-CN" altLang="en-US" dirty="0"/>
              <a:t>发送方发送数据时，连同校验位</a:t>
            </a:r>
            <a:r>
              <a:rPr lang="en-US" altLang="zh-CN" dirty="0"/>
              <a:t>r</a:t>
            </a:r>
            <a:r>
              <a:rPr lang="zh-CN" altLang="en-US" dirty="0"/>
              <a:t>一起发送</a:t>
            </a:r>
            <a:endParaRPr lang="en-US" altLang="zh-CN" dirty="0"/>
          </a:p>
          <a:p>
            <a:r>
              <a:rPr lang="zh-CN" altLang="en-US" dirty="0"/>
              <a:t>接收方根据结果，判断是否发生差错</a:t>
            </a:r>
            <a:endParaRPr lang="zh-CN" altLang="en-US" dirty="0"/>
          </a:p>
        </p:txBody>
      </p:sp>
      <p:sp>
        <p:nvSpPr>
          <p:cNvPr id="6" name="灯片编号占位符 5"/>
          <p:cNvSpPr>
            <a:spLocks noGrp="1"/>
          </p:cNvSpPr>
          <p:nvPr>
            <p:ph type="sldNum" sz="quarter" idx="12"/>
          </p:nvPr>
        </p:nvSpPr>
        <p:spPr/>
        <p:txBody>
          <a:bodyPr/>
          <a:lstStyle/>
          <a:p>
            <a:fld id="{641D7EE8-C4B5-4C03-9A20-76ACAD75EE2A}" type="slidenum">
              <a:rPr lang="en-US" altLang="zh-CN"/>
            </a:fld>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r>
              <a:rPr lang="zh-CN" altLang="en-US" dirty="0"/>
              <a:t>奇偶校验</a:t>
            </a:r>
            <a:endParaRPr lang="zh-CN" altLang="en-US" dirty="0"/>
          </a:p>
        </p:txBody>
      </p:sp>
      <p:sp>
        <p:nvSpPr>
          <p:cNvPr id="30" name="灯片编号占位符 5"/>
          <p:cNvSpPr>
            <a:spLocks noGrp="1"/>
          </p:cNvSpPr>
          <p:nvPr>
            <p:ph type="sldNum" sz="quarter" idx="12"/>
          </p:nvPr>
        </p:nvSpPr>
        <p:spPr/>
        <p:txBody>
          <a:bodyPr/>
          <a:lstStyle/>
          <a:p>
            <a:fld id="{79F045DF-173E-4866-A2A7-F14DDCCA1F80}" type="slidenum">
              <a:rPr lang="en-US" altLang="zh-CN"/>
            </a:fld>
            <a:endParaRPr lang="en-US" altLang="zh-CN" dirty="0"/>
          </a:p>
        </p:txBody>
      </p:sp>
      <p:sp>
        <p:nvSpPr>
          <p:cNvPr id="484387" name="Rectangle 35"/>
          <p:cNvSpPr>
            <a:spLocks noChangeAspect="1" noChangeArrowheads="1"/>
          </p:cNvSpPr>
          <p:nvPr/>
        </p:nvSpPr>
        <p:spPr bwMode="auto">
          <a:xfrm>
            <a:off x="7682836" y="3170238"/>
            <a:ext cx="277813"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88" name="Rectangle 36"/>
          <p:cNvSpPr>
            <a:spLocks noChangeAspect="1" noChangeArrowheads="1"/>
          </p:cNvSpPr>
          <p:nvPr/>
        </p:nvSpPr>
        <p:spPr bwMode="auto">
          <a:xfrm>
            <a:off x="7960648" y="3170238"/>
            <a:ext cx="1414463"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1100111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89" name="Rectangle 37"/>
          <p:cNvSpPr>
            <a:spLocks noChangeAspect="1" noChangeArrowheads="1"/>
          </p:cNvSpPr>
          <p:nvPr/>
        </p:nvSpPr>
        <p:spPr bwMode="auto">
          <a:xfrm>
            <a:off x="5940986" y="3170238"/>
            <a:ext cx="277813"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90" name="Rectangle 38"/>
          <p:cNvSpPr>
            <a:spLocks noChangeAspect="1" noChangeArrowheads="1"/>
          </p:cNvSpPr>
          <p:nvPr/>
        </p:nvSpPr>
        <p:spPr bwMode="auto">
          <a:xfrm>
            <a:off x="6218799" y="3170238"/>
            <a:ext cx="143558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1011101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91" name="Rectangle 39"/>
          <p:cNvSpPr>
            <a:spLocks noChangeAspect="1" noChangeArrowheads="1"/>
          </p:cNvSpPr>
          <p:nvPr/>
        </p:nvSpPr>
        <p:spPr bwMode="auto">
          <a:xfrm>
            <a:off x="4140432" y="3170238"/>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92" name="Rectangle 40"/>
          <p:cNvSpPr>
            <a:spLocks noChangeAspect="1" noChangeArrowheads="1"/>
          </p:cNvSpPr>
          <p:nvPr/>
        </p:nvSpPr>
        <p:spPr bwMode="auto">
          <a:xfrm>
            <a:off x="4418245" y="3170238"/>
            <a:ext cx="140385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0111001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93" name="Rectangle 41"/>
          <p:cNvSpPr>
            <a:spLocks noChangeAspect="1" noChangeArrowheads="1"/>
          </p:cNvSpPr>
          <p:nvPr/>
        </p:nvSpPr>
        <p:spPr bwMode="auto">
          <a:xfrm>
            <a:off x="2357863" y="3170238"/>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94" name="Rectangle 42"/>
          <p:cNvSpPr>
            <a:spLocks noChangeAspect="1" noChangeArrowheads="1"/>
          </p:cNvSpPr>
          <p:nvPr/>
        </p:nvSpPr>
        <p:spPr bwMode="auto">
          <a:xfrm>
            <a:off x="2635676" y="3170238"/>
            <a:ext cx="1423618"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395" name="Line 43"/>
          <p:cNvSpPr>
            <a:spLocks noChangeShapeType="1"/>
          </p:cNvSpPr>
          <p:nvPr/>
        </p:nvSpPr>
        <p:spPr bwMode="auto">
          <a:xfrm>
            <a:off x="2351088" y="3743325"/>
            <a:ext cx="76327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84396" name="Text Box 44"/>
          <p:cNvSpPr txBox="1">
            <a:spLocks noChangeArrowheads="1"/>
          </p:cNvSpPr>
          <p:nvPr/>
        </p:nvSpPr>
        <p:spPr bwMode="auto">
          <a:xfrm>
            <a:off x="8062160" y="3681353"/>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400">
                <a:solidFill>
                  <a:schemeClr val="tx2"/>
                </a:solidFill>
                <a:latin typeface="微软雅黑 Light" panose="020B0502040204020203" pitchFamily="34" charset="-122"/>
                <a:ea typeface="微软雅黑 Light" panose="020B0502040204020203" pitchFamily="34" charset="-122"/>
                <a:cs typeface="Courier New" panose="02070309020205020404" pitchFamily="49" charset="0"/>
              </a:defRPr>
            </a:lvl1pPr>
          </a:lstStyle>
          <a:p>
            <a:r>
              <a:rPr lang="zh-CN" altLang="en-US" dirty="0"/>
              <a:t>数据传输方向</a:t>
            </a:r>
            <a:endParaRPr lang="zh-CN" altLang="en-US" dirty="0"/>
          </a:p>
        </p:txBody>
      </p:sp>
      <p:sp>
        <p:nvSpPr>
          <p:cNvPr id="484406" name="Line 54"/>
          <p:cNvSpPr>
            <a:spLocks noChangeShapeType="1"/>
          </p:cNvSpPr>
          <p:nvPr/>
        </p:nvSpPr>
        <p:spPr bwMode="auto">
          <a:xfrm>
            <a:off x="2300288" y="5603875"/>
            <a:ext cx="76327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84420" name="Rectangle 68"/>
          <p:cNvSpPr>
            <a:spLocks noChangeAspect="1" noChangeArrowheads="1"/>
          </p:cNvSpPr>
          <p:nvPr/>
        </p:nvSpPr>
        <p:spPr bwMode="auto">
          <a:xfrm>
            <a:off x="8028350" y="5043488"/>
            <a:ext cx="132666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1100111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22" name="Rectangle 70"/>
          <p:cNvSpPr>
            <a:spLocks noChangeAspect="1" noChangeArrowheads="1"/>
          </p:cNvSpPr>
          <p:nvPr/>
        </p:nvSpPr>
        <p:spPr bwMode="auto">
          <a:xfrm>
            <a:off x="6655810" y="5043488"/>
            <a:ext cx="132666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1011101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24" name="Rectangle 72"/>
          <p:cNvSpPr>
            <a:spLocks noChangeAspect="1" noChangeArrowheads="1"/>
          </p:cNvSpPr>
          <p:nvPr/>
        </p:nvSpPr>
        <p:spPr bwMode="auto">
          <a:xfrm>
            <a:off x="5262128" y="5043488"/>
            <a:ext cx="132666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0111001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26" name="Rectangle 74"/>
          <p:cNvSpPr>
            <a:spLocks noChangeAspect="1" noChangeArrowheads="1"/>
          </p:cNvSpPr>
          <p:nvPr/>
        </p:nvSpPr>
        <p:spPr bwMode="auto">
          <a:xfrm>
            <a:off x="3874777" y="5043488"/>
            <a:ext cx="132666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27" name="Rectangle 75"/>
          <p:cNvSpPr>
            <a:spLocks noChangeAspect="1" noChangeArrowheads="1"/>
          </p:cNvSpPr>
          <p:nvPr/>
        </p:nvSpPr>
        <p:spPr bwMode="auto">
          <a:xfrm>
            <a:off x="2478971" y="5043488"/>
            <a:ext cx="1326661"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0101010</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37" name="Text Box 85"/>
          <p:cNvSpPr txBox="1">
            <a:spLocks noChangeArrowheads="1"/>
          </p:cNvSpPr>
          <p:nvPr/>
        </p:nvSpPr>
        <p:spPr bwMode="auto">
          <a:xfrm>
            <a:off x="8062160" y="5603875"/>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400">
                <a:solidFill>
                  <a:schemeClr val="tx2"/>
                </a:solidFill>
                <a:latin typeface="微软雅黑 Light" panose="020B0502040204020203" pitchFamily="34" charset="-122"/>
                <a:ea typeface="微软雅黑 Light" panose="020B0502040204020203" pitchFamily="34" charset="-122"/>
                <a:cs typeface="Courier New" panose="02070309020205020404" pitchFamily="49" charset="0"/>
              </a:defRPr>
            </a:lvl1pPr>
          </a:lstStyle>
          <a:p>
            <a:r>
              <a:rPr lang="zh-CN" altLang="en-US" dirty="0"/>
              <a:t>数据传输方向</a:t>
            </a:r>
            <a:endParaRPr lang="zh-CN" altLang="en-US" dirty="0"/>
          </a:p>
        </p:txBody>
      </p:sp>
      <p:sp>
        <p:nvSpPr>
          <p:cNvPr id="484438" name="Line 86"/>
          <p:cNvSpPr>
            <a:spLocks noChangeShapeType="1"/>
          </p:cNvSpPr>
          <p:nvPr/>
        </p:nvSpPr>
        <p:spPr bwMode="auto">
          <a:xfrm>
            <a:off x="2373313" y="1814513"/>
            <a:ext cx="76327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484439" name="Rectangle 87"/>
          <p:cNvSpPr>
            <a:spLocks noChangeAspect="1" noChangeArrowheads="1"/>
          </p:cNvSpPr>
          <p:nvPr/>
        </p:nvSpPr>
        <p:spPr bwMode="auto">
          <a:xfrm>
            <a:off x="7890312" y="1227138"/>
            <a:ext cx="1489075"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1100111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40" name="Rectangle 88"/>
          <p:cNvSpPr>
            <a:spLocks noChangeAspect="1" noChangeArrowheads="1"/>
          </p:cNvSpPr>
          <p:nvPr/>
        </p:nvSpPr>
        <p:spPr bwMode="auto">
          <a:xfrm>
            <a:off x="6326083" y="1227138"/>
            <a:ext cx="1489075"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1011101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41" name="Rectangle 89"/>
          <p:cNvSpPr>
            <a:spLocks noChangeAspect="1" noChangeArrowheads="1"/>
          </p:cNvSpPr>
          <p:nvPr/>
        </p:nvSpPr>
        <p:spPr bwMode="auto">
          <a:xfrm>
            <a:off x="4791653" y="1227138"/>
            <a:ext cx="1489075"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0111001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42" name="Rectangle 90"/>
          <p:cNvSpPr>
            <a:spLocks noChangeAspect="1" noChangeArrowheads="1"/>
          </p:cNvSpPr>
          <p:nvPr/>
        </p:nvSpPr>
        <p:spPr bwMode="auto">
          <a:xfrm>
            <a:off x="3223358" y="1227138"/>
            <a:ext cx="1489075"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84443" name="Text Box 91"/>
          <p:cNvSpPr txBox="1">
            <a:spLocks noChangeArrowheads="1"/>
          </p:cNvSpPr>
          <p:nvPr/>
        </p:nvSpPr>
        <p:spPr bwMode="auto">
          <a:xfrm>
            <a:off x="8062160" y="1857357"/>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solidFill>
                  <a:schemeClr val="tx2"/>
                </a:solidFill>
                <a:latin typeface="微软雅黑 Light" panose="020B0502040204020203" pitchFamily="34" charset="-122"/>
                <a:ea typeface="微软雅黑 Light" panose="020B0502040204020203" pitchFamily="34" charset="-122"/>
                <a:cs typeface="Courier New" panose="02070309020205020404" pitchFamily="49" charset="0"/>
              </a:rPr>
              <a:t>数据传输方向</a:t>
            </a:r>
            <a:endParaRPr lang="zh-CN" altLang="en-US" sz="2400" dirty="0">
              <a:solidFill>
                <a:schemeClr val="tx2"/>
              </a:solidFill>
              <a:latin typeface="微软雅黑 Light" panose="020B0502040204020203" pitchFamily="34" charset="-122"/>
              <a:ea typeface="微软雅黑 Light" panose="020B0502040204020203" pitchFamily="34" charset="-122"/>
              <a:cs typeface="Courier New" panose="02070309020205020404" pitchFamily="49" charset="0"/>
            </a:endParaRPr>
          </a:p>
        </p:txBody>
      </p:sp>
      <p:sp>
        <p:nvSpPr>
          <p:cNvPr id="3" name="内容占位符 2"/>
          <p:cNvSpPr>
            <a:spLocks noGrp="1"/>
          </p:cNvSpPr>
          <p:nvPr>
            <p:ph idx="1"/>
          </p:nvPr>
        </p:nvSpPr>
        <p:spPr>
          <a:xfrm>
            <a:off x="334433" y="2505968"/>
            <a:ext cx="11523133" cy="635000"/>
          </a:xfrm>
        </p:spPr>
        <p:txBody>
          <a:bodyPr/>
          <a:lstStyle/>
          <a:p>
            <a:r>
              <a:rPr lang="zh-CN" altLang="en-US" dirty="0"/>
              <a:t>垂直</a:t>
            </a:r>
            <a:r>
              <a:rPr lang="en-US" altLang="zh-CN" dirty="0"/>
              <a:t>(</a:t>
            </a:r>
            <a:r>
              <a:rPr lang="zh-CN" altLang="en-US" dirty="0"/>
              <a:t>纵向</a:t>
            </a:r>
            <a:r>
              <a:rPr lang="en-US" altLang="zh-CN" dirty="0"/>
              <a:t>) </a:t>
            </a:r>
            <a:r>
              <a:rPr lang="zh-CN" altLang="en-US" dirty="0"/>
              <a:t>偶校验：每块数据增加一个校验位</a:t>
            </a:r>
            <a:endParaRPr lang="zh-CN" altLang="en-US" dirty="0"/>
          </a:p>
          <a:p>
            <a:pPr marL="0" indent="0">
              <a:buNone/>
            </a:pPr>
            <a:endParaRPr lang="zh-CN" altLang="en-US" dirty="0"/>
          </a:p>
        </p:txBody>
      </p:sp>
      <p:sp>
        <p:nvSpPr>
          <p:cNvPr id="31" name="内容占位符 2"/>
          <p:cNvSpPr txBox="1"/>
          <p:nvPr/>
        </p:nvSpPr>
        <p:spPr bwMode="auto">
          <a:xfrm>
            <a:off x="334433" y="4306168"/>
            <a:ext cx="11523133"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C80000"/>
              </a:buClr>
              <a:buSzPct val="80000"/>
              <a:buFont typeface="Wingdings" panose="05000000000000000000" pitchFamily="2" charset="2"/>
              <a:buChar char="n"/>
              <a:defRPr sz="3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lgn="l" rtl="0" eaLnBrk="0" fontAlgn="base" hangingPunct="0">
              <a:spcBef>
                <a:spcPct val="20000"/>
              </a:spcBef>
              <a:spcAft>
                <a:spcPct val="0"/>
              </a:spcAft>
              <a:buClr>
                <a:srgbClr val="00C800"/>
              </a:buClr>
              <a:buSzPct val="80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gn="l" rtl="0" eaLnBrk="0" fontAlgn="base" hangingPunct="0">
              <a:spcBef>
                <a:spcPct val="20000"/>
              </a:spcBef>
              <a:spcAft>
                <a:spcPct val="0"/>
              </a:spcAft>
              <a:buClr>
                <a:srgbClr val="0000C8"/>
              </a:buClr>
              <a:buSzPct val="80000"/>
              <a:buFont typeface="Wingdings" panose="05000000000000000000" pitchFamily="2" charset="2"/>
              <a:buChar char="n"/>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lgn="l" rtl="0" eaLnBrk="0" fontAlgn="base" hangingPunct="0">
              <a:spcBef>
                <a:spcPct val="20000"/>
              </a:spcBef>
              <a:spcAft>
                <a:spcPct val="0"/>
              </a:spcAft>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gn="l" rtl="0" eaLnBrk="0" fontAlgn="base" hangingPunct="0">
              <a:spcBef>
                <a:spcPct val="20000"/>
              </a:spcBef>
              <a:spcAft>
                <a:spcPct val="0"/>
              </a:spcAft>
              <a:buSzPct val="80000"/>
              <a:buFont typeface="Wingdings" panose="05000000000000000000" pitchFamily="2" charset="2"/>
              <a:buChar char="Ø"/>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a:lstStyle>
          <a:p>
            <a:r>
              <a:rPr lang="zh-CN" altLang="en-US" sz="2800" dirty="0">
                <a:latin typeface="微软雅黑 Light" panose="020B0502040204020203" pitchFamily="34" charset="-122"/>
                <a:ea typeface="微软雅黑 Light" panose="020B0502040204020203" pitchFamily="34" charset="-122"/>
              </a:rPr>
              <a:t>水平</a:t>
            </a:r>
            <a:r>
              <a:rPr lang="en-US" altLang="zh-CN" sz="2800" dirty="0">
                <a:latin typeface="微软雅黑 Light" panose="020B0502040204020203" pitchFamily="34" charset="-122"/>
                <a:ea typeface="微软雅黑 Light" panose="020B0502040204020203" pitchFamily="34" charset="-122"/>
              </a:rPr>
              <a:t>(</a:t>
            </a:r>
            <a:r>
              <a:rPr lang="zh-CN" altLang="en-US" sz="2800" dirty="0">
                <a:latin typeface="微软雅黑 Light" panose="020B0502040204020203" pitchFamily="34" charset="-122"/>
                <a:ea typeface="微软雅黑 Light" panose="020B0502040204020203" pitchFamily="34" charset="-122"/>
              </a:rPr>
              <a:t>横向</a:t>
            </a:r>
            <a:r>
              <a:rPr lang="en-US" altLang="zh-CN" sz="2800" dirty="0">
                <a:latin typeface="微软雅黑 Light" panose="020B0502040204020203" pitchFamily="34" charset="-122"/>
                <a:ea typeface="微软雅黑 Light" panose="020B0502040204020203" pitchFamily="34" charset="-122"/>
              </a:rPr>
              <a:t>)</a:t>
            </a:r>
            <a:r>
              <a:rPr lang="zh-CN" altLang="en-US" sz="2800" dirty="0">
                <a:latin typeface="微软雅黑 Light" panose="020B0502040204020203" pitchFamily="34" charset="-122"/>
                <a:ea typeface="微软雅黑 Light" panose="020B0502040204020203" pitchFamily="34" charset="-122"/>
              </a:rPr>
              <a:t>偶校验：各块数据相同位置的比特位进行计算</a:t>
            </a:r>
            <a:endParaRPr lang="zh-CN" altLang="en-US" sz="28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r>
              <a:rPr lang="zh-CN" altLang="en-US" dirty="0"/>
              <a:t>奇偶校验</a:t>
            </a:r>
            <a:endParaRPr lang="zh-CN" altLang="en-US" dirty="0"/>
          </a:p>
        </p:txBody>
      </p:sp>
      <p:sp>
        <p:nvSpPr>
          <p:cNvPr id="32" name="灯片编号占位符 5"/>
          <p:cNvSpPr>
            <a:spLocks noGrp="1"/>
          </p:cNvSpPr>
          <p:nvPr>
            <p:ph type="sldNum" sz="quarter" idx="12"/>
          </p:nvPr>
        </p:nvSpPr>
        <p:spPr/>
        <p:txBody>
          <a:bodyPr/>
          <a:lstStyle/>
          <a:p>
            <a:fld id="{9F6372E9-53E3-4E8D-A68E-D3761F294C59}" type="slidenum">
              <a:rPr lang="en-US" altLang="zh-CN"/>
            </a:fld>
            <a:endParaRPr lang="en-US" altLang="zh-CN" dirty="0"/>
          </a:p>
        </p:txBody>
      </p:sp>
      <p:sp>
        <p:nvSpPr>
          <p:cNvPr id="559121" name="Line 17"/>
          <p:cNvSpPr>
            <a:spLocks noChangeShapeType="1"/>
          </p:cNvSpPr>
          <p:nvPr/>
        </p:nvSpPr>
        <p:spPr bwMode="auto">
          <a:xfrm>
            <a:off x="2834981" y="2407155"/>
            <a:ext cx="76327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28" name="Rectangle 24"/>
          <p:cNvSpPr>
            <a:spLocks noChangeAspect="1" noChangeArrowheads="1"/>
          </p:cNvSpPr>
          <p:nvPr/>
        </p:nvSpPr>
        <p:spPr bwMode="auto">
          <a:xfrm>
            <a:off x="8919229" y="1860481"/>
            <a:ext cx="133194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1100111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30" name="Rectangle 26"/>
          <p:cNvSpPr>
            <a:spLocks noChangeAspect="1" noChangeArrowheads="1"/>
          </p:cNvSpPr>
          <p:nvPr/>
        </p:nvSpPr>
        <p:spPr bwMode="auto">
          <a:xfrm>
            <a:off x="7531826" y="1860481"/>
            <a:ext cx="133194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1011101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32" name="Rectangle 28"/>
          <p:cNvSpPr>
            <a:spLocks noChangeAspect="1" noChangeArrowheads="1"/>
          </p:cNvSpPr>
          <p:nvPr/>
        </p:nvSpPr>
        <p:spPr bwMode="auto">
          <a:xfrm>
            <a:off x="6117974" y="1860481"/>
            <a:ext cx="133194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0111001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34" name="Rectangle 30"/>
          <p:cNvSpPr>
            <a:spLocks noChangeAspect="1" noChangeArrowheads="1"/>
          </p:cNvSpPr>
          <p:nvPr/>
        </p:nvSpPr>
        <p:spPr bwMode="auto">
          <a:xfrm>
            <a:off x="4731094" y="1860481"/>
            <a:ext cx="133194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45" name="Rectangle 41"/>
          <p:cNvSpPr>
            <a:spLocks noChangeAspect="1" noChangeArrowheads="1"/>
          </p:cNvSpPr>
          <p:nvPr/>
        </p:nvSpPr>
        <p:spPr bwMode="auto">
          <a:xfrm>
            <a:off x="5280127" y="4816305"/>
            <a:ext cx="1423618"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0101010</a:t>
            </a:r>
            <a:endPar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46" name="Line 42"/>
          <p:cNvSpPr>
            <a:spLocks noChangeShapeType="1"/>
          </p:cNvSpPr>
          <p:nvPr/>
        </p:nvSpPr>
        <p:spPr bwMode="auto">
          <a:xfrm>
            <a:off x="2673712" y="6037492"/>
            <a:ext cx="763270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47" name="Rectangle 43"/>
          <p:cNvSpPr>
            <a:spLocks noChangeAspect="1" noChangeArrowheads="1"/>
          </p:cNvSpPr>
          <p:nvPr/>
        </p:nvSpPr>
        <p:spPr bwMode="auto">
          <a:xfrm>
            <a:off x="8513483" y="5455671"/>
            <a:ext cx="277813"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1</a:t>
            </a:r>
            <a:endPar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48" name="Rectangle 44"/>
          <p:cNvSpPr>
            <a:spLocks noChangeAspect="1" noChangeArrowheads="1"/>
          </p:cNvSpPr>
          <p:nvPr/>
        </p:nvSpPr>
        <p:spPr bwMode="auto">
          <a:xfrm>
            <a:off x="8791302" y="5455671"/>
            <a:ext cx="140811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1100111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49" name="Rectangle 45"/>
          <p:cNvSpPr>
            <a:spLocks noChangeAspect="1" noChangeArrowheads="1"/>
          </p:cNvSpPr>
          <p:nvPr/>
        </p:nvSpPr>
        <p:spPr bwMode="auto">
          <a:xfrm>
            <a:off x="6771637" y="5455671"/>
            <a:ext cx="277813"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1</a:t>
            </a:r>
            <a:endPar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50" name="Rectangle 46"/>
          <p:cNvSpPr>
            <a:spLocks noChangeAspect="1" noChangeArrowheads="1"/>
          </p:cNvSpPr>
          <p:nvPr/>
        </p:nvSpPr>
        <p:spPr bwMode="auto">
          <a:xfrm>
            <a:off x="7049450" y="5455671"/>
            <a:ext cx="140811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1011101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51" name="Rectangle 47"/>
          <p:cNvSpPr>
            <a:spLocks noChangeAspect="1" noChangeArrowheads="1"/>
          </p:cNvSpPr>
          <p:nvPr/>
        </p:nvSpPr>
        <p:spPr bwMode="auto">
          <a:xfrm>
            <a:off x="5021326" y="5455671"/>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0</a:t>
            </a:r>
            <a:endPar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52" name="Rectangle 48"/>
          <p:cNvSpPr>
            <a:spLocks noChangeAspect="1" noChangeArrowheads="1"/>
          </p:cNvSpPr>
          <p:nvPr/>
        </p:nvSpPr>
        <p:spPr bwMode="auto">
          <a:xfrm>
            <a:off x="5299142" y="5455671"/>
            <a:ext cx="140811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0110001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53" name="Rectangle 49"/>
          <p:cNvSpPr>
            <a:spLocks noChangeAspect="1" noChangeArrowheads="1"/>
          </p:cNvSpPr>
          <p:nvPr/>
        </p:nvSpPr>
        <p:spPr bwMode="auto">
          <a:xfrm>
            <a:off x="3235289" y="5466783"/>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1</a:t>
            </a:r>
            <a:endPar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54" name="Rectangle 50"/>
          <p:cNvSpPr>
            <a:spLocks noChangeAspect="1" noChangeArrowheads="1"/>
          </p:cNvSpPr>
          <p:nvPr/>
        </p:nvSpPr>
        <p:spPr bwMode="auto">
          <a:xfrm>
            <a:off x="3513101" y="5466783"/>
            <a:ext cx="1408111"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559155" name="Rectangle 51"/>
          <p:cNvSpPr>
            <a:spLocks noChangeAspect="1" noChangeArrowheads="1"/>
          </p:cNvSpPr>
          <p:nvPr/>
        </p:nvSpPr>
        <p:spPr bwMode="auto">
          <a:xfrm>
            <a:off x="1415688" y="5466783"/>
            <a:ext cx="1719117"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10101010</a:t>
            </a:r>
            <a:endParaRPr lang="en-US" altLang="zh-CN" sz="2400"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9156" name="Text Box 52"/>
          <p:cNvSpPr txBox="1">
            <a:spLocks noChangeArrowheads="1"/>
          </p:cNvSpPr>
          <p:nvPr/>
        </p:nvSpPr>
        <p:spPr bwMode="auto">
          <a:xfrm>
            <a:off x="8475730" y="2442302"/>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400">
                <a:solidFill>
                  <a:schemeClr val="tx2"/>
                </a:solidFill>
                <a:latin typeface="微软雅黑 Light" panose="020B0502040204020203" pitchFamily="34" charset="-122"/>
                <a:ea typeface="微软雅黑 Light" panose="020B0502040204020203" pitchFamily="34" charset="-122"/>
                <a:cs typeface="Courier New" panose="02070309020205020404" pitchFamily="49" charset="0"/>
              </a:defRPr>
            </a:lvl1pPr>
          </a:lstStyle>
          <a:p>
            <a:r>
              <a:rPr lang="zh-CN" altLang="en-US" dirty="0"/>
              <a:t>数据传输方向</a:t>
            </a:r>
            <a:endParaRPr lang="zh-CN" altLang="en-US" dirty="0"/>
          </a:p>
        </p:txBody>
      </p:sp>
      <p:sp>
        <p:nvSpPr>
          <p:cNvPr id="559157" name="Text Box 53"/>
          <p:cNvSpPr txBox="1">
            <a:spLocks noChangeArrowheads="1"/>
          </p:cNvSpPr>
          <p:nvPr/>
        </p:nvSpPr>
        <p:spPr bwMode="auto">
          <a:xfrm>
            <a:off x="8365754" y="6072638"/>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sz="2400">
                <a:solidFill>
                  <a:schemeClr val="tx2"/>
                </a:solidFill>
                <a:latin typeface="微软雅黑 Light" panose="020B0502040204020203" pitchFamily="34" charset="-122"/>
                <a:ea typeface="微软雅黑 Light" panose="020B0502040204020203" pitchFamily="34" charset="-122"/>
                <a:cs typeface="Courier New" panose="02070309020205020404" pitchFamily="49" charset="0"/>
              </a:defRPr>
            </a:lvl1pPr>
          </a:lstStyle>
          <a:p>
            <a:r>
              <a:rPr lang="zh-CN" altLang="en-US" dirty="0"/>
              <a:t>数据传输方向</a:t>
            </a:r>
            <a:endParaRPr lang="zh-CN" altLang="en-US" dirty="0"/>
          </a:p>
        </p:txBody>
      </p:sp>
      <p:sp>
        <p:nvSpPr>
          <p:cNvPr id="3" name="内容占位符 2"/>
          <p:cNvSpPr>
            <a:spLocks noGrp="1"/>
          </p:cNvSpPr>
          <p:nvPr>
            <p:ph idx="1"/>
          </p:nvPr>
        </p:nvSpPr>
        <p:spPr>
          <a:xfrm>
            <a:off x="334434" y="1052515"/>
            <a:ext cx="11523133" cy="598486"/>
          </a:xfrm>
        </p:spPr>
        <p:txBody>
          <a:bodyPr/>
          <a:lstStyle/>
          <a:p>
            <a:r>
              <a:rPr lang="zh-CN" altLang="en-US" dirty="0"/>
              <a:t>水平垂直</a:t>
            </a:r>
            <a:r>
              <a:rPr lang="en-US" altLang="zh-CN" dirty="0"/>
              <a:t>(</a:t>
            </a:r>
            <a:r>
              <a:rPr lang="zh-CN" altLang="en-US" dirty="0"/>
              <a:t>纵横</a:t>
            </a:r>
            <a:r>
              <a:rPr lang="en-US" altLang="zh-CN" dirty="0"/>
              <a:t>)</a:t>
            </a:r>
            <a:r>
              <a:rPr lang="zh-CN" altLang="en-US" dirty="0"/>
              <a:t>偶校验</a:t>
            </a:r>
            <a:endParaRPr lang="zh-CN" altLang="en-US" dirty="0"/>
          </a:p>
        </p:txBody>
      </p:sp>
      <p:sp>
        <p:nvSpPr>
          <p:cNvPr id="31" name="Rectangle 35"/>
          <p:cNvSpPr>
            <a:spLocks noChangeAspect="1" noChangeArrowheads="1"/>
          </p:cNvSpPr>
          <p:nvPr/>
        </p:nvSpPr>
        <p:spPr bwMode="auto">
          <a:xfrm>
            <a:off x="5003344" y="2707086"/>
            <a:ext cx="277813"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3" name="Rectangle 36"/>
          <p:cNvSpPr>
            <a:spLocks noChangeAspect="1" noChangeArrowheads="1"/>
          </p:cNvSpPr>
          <p:nvPr/>
        </p:nvSpPr>
        <p:spPr bwMode="auto">
          <a:xfrm>
            <a:off x="5281156" y="2707086"/>
            <a:ext cx="1422589"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1100111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4" name="Rectangle 37"/>
          <p:cNvSpPr>
            <a:spLocks noChangeAspect="1" noChangeArrowheads="1"/>
          </p:cNvSpPr>
          <p:nvPr/>
        </p:nvSpPr>
        <p:spPr bwMode="auto">
          <a:xfrm>
            <a:off x="5002316" y="3265092"/>
            <a:ext cx="277813"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5" name="Rectangle 38"/>
          <p:cNvSpPr>
            <a:spLocks noChangeAspect="1" noChangeArrowheads="1"/>
          </p:cNvSpPr>
          <p:nvPr/>
        </p:nvSpPr>
        <p:spPr bwMode="auto">
          <a:xfrm>
            <a:off x="5280129" y="3265092"/>
            <a:ext cx="1435586"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1011101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6" name="Rectangle 39"/>
          <p:cNvSpPr>
            <a:spLocks noChangeAspect="1" noChangeArrowheads="1"/>
          </p:cNvSpPr>
          <p:nvPr/>
        </p:nvSpPr>
        <p:spPr bwMode="auto">
          <a:xfrm>
            <a:off x="5002316" y="3769917"/>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7" name="Rectangle 40"/>
          <p:cNvSpPr>
            <a:spLocks noChangeAspect="1" noChangeArrowheads="1"/>
          </p:cNvSpPr>
          <p:nvPr/>
        </p:nvSpPr>
        <p:spPr bwMode="auto">
          <a:xfrm>
            <a:off x="5280128" y="3769917"/>
            <a:ext cx="1435585"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0111001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8" name="Rectangle 41"/>
          <p:cNvSpPr>
            <a:spLocks noChangeAspect="1" noChangeArrowheads="1"/>
          </p:cNvSpPr>
          <p:nvPr/>
        </p:nvSpPr>
        <p:spPr bwMode="auto">
          <a:xfrm>
            <a:off x="5002315" y="4304110"/>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39" name="Rectangle 42"/>
          <p:cNvSpPr>
            <a:spLocks noChangeAspect="1" noChangeArrowheads="1"/>
          </p:cNvSpPr>
          <p:nvPr/>
        </p:nvSpPr>
        <p:spPr bwMode="auto">
          <a:xfrm>
            <a:off x="5280128" y="4304110"/>
            <a:ext cx="1423618" cy="442912"/>
          </a:xfrm>
          <a:prstGeom prst="rect">
            <a:avLst/>
          </a:prstGeom>
          <a:solidFill>
            <a:srgbClr val="00B0F0"/>
          </a:solidFill>
          <a:ln w="9525">
            <a:solidFill>
              <a:schemeClr val="tx1"/>
            </a:solidFill>
            <a:miter lim="800000"/>
          </a:ln>
          <a:effec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0101001</a:t>
            </a:r>
            <a:endParaRPr lang="en-US" altLang="zh-CN" sz="2400" dirty="0">
              <a:solidFill>
                <a:schemeClr val="bg1"/>
              </a:solidFill>
              <a:latin typeface="Courier New" panose="02070309020205020404" pitchFamily="49" charset="0"/>
              <a:cs typeface="Courier New" panose="02070309020205020404" pitchFamily="49" charset="0"/>
            </a:endParaRPr>
          </a:p>
        </p:txBody>
      </p:sp>
      <p:sp>
        <p:nvSpPr>
          <p:cNvPr id="40" name="Rectangle 41"/>
          <p:cNvSpPr>
            <a:spLocks noChangeAspect="1" noChangeArrowheads="1"/>
          </p:cNvSpPr>
          <p:nvPr/>
        </p:nvSpPr>
        <p:spPr bwMode="auto">
          <a:xfrm>
            <a:off x="5006086" y="4814767"/>
            <a:ext cx="277812" cy="442912"/>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solidFill>
                  <a:schemeClr val="bg1"/>
                </a:solidFill>
                <a:latin typeface="Courier New" panose="02070309020205020404" pitchFamily="49" charset="0"/>
                <a:cs typeface="Courier New" panose="02070309020205020404" pitchFamily="49" charset="0"/>
              </a:rPr>
              <a:t>1</a:t>
            </a:r>
            <a:endParaRPr lang="en-US" altLang="zh-CN" sz="2400"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r>
              <a:rPr lang="zh-CN" altLang="en-US" dirty="0"/>
              <a:t>奇偶校验检错能力</a:t>
            </a:r>
            <a:endParaRPr lang="zh-CN" altLang="en-US" dirty="0"/>
          </a:p>
        </p:txBody>
      </p:sp>
      <p:graphicFrame>
        <p:nvGraphicFramePr>
          <p:cNvPr id="612408" name="Group 56"/>
          <p:cNvGraphicFramePr>
            <a:graphicFrameLocks noGrp="1"/>
          </p:cNvGraphicFramePr>
          <p:nvPr>
            <p:ph type="tbl" idx="1"/>
          </p:nvPr>
        </p:nvGraphicFramePr>
        <p:xfrm>
          <a:off x="1774825" y="1052513"/>
          <a:ext cx="8642350" cy="3432048"/>
        </p:xfrm>
        <a:graphic>
          <a:graphicData uri="http://schemas.openxmlformats.org/drawingml/2006/table">
            <a:tbl>
              <a:tblPr/>
              <a:tblGrid>
                <a:gridCol w="2017713"/>
                <a:gridCol w="6624637"/>
              </a:tblGrid>
              <a:tr h="692150">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垂直偶校验</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数据单元内单比特错误</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多比特</a:t>
                      </a: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突发错误：奇数个比特错误</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2150">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水平偶校验</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数据块内各数据单元同一位上奇数个错误</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单个数据单元内的突发错误</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20750">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rPr>
                        <a:t>纵横偶校验</a:t>
                      </a:r>
                      <a:endParaRPr kumimoji="0" lang="zh-CN" altLang="en-US" sz="2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lgn="l">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lgn="l">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除了数据块中偶数个数据单元中偶数个相同位发生错误不能检测，其它错误都能检测</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 name="灯片编号占位符 5"/>
          <p:cNvSpPr>
            <a:spLocks noGrp="1"/>
          </p:cNvSpPr>
          <p:nvPr>
            <p:ph type="sldNum" sz="quarter" idx="12"/>
          </p:nvPr>
        </p:nvSpPr>
        <p:spPr/>
        <p:txBody>
          <a:bodyPr/>
          <a:lstStyle/>
          <a:p>
            <a:fld id="{63D393F1-EE04-4AFC-B67E-7ACECAC62194}" type="slidenum">
              <a:rPr lang="en-US" altLang="zh-CN"/>
            </a:fld>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r>
              <a:rPr lang="zh-CN" altLang="en-US" dirty="0"/>
              <a:t>循环冗余校验码</a:t>
            </a:r>
            <a:r>
              <a:rPr lang="en-US" altLang="zh-CN" dirty="0"/>
              <a:t>CRC</a:t>
            </a:r>
            <a:endParaRPr lang="en-US" altLang="zh-CN" dirty="0"/>
          </a:p>
        </p:txBody>
      </p:sp>
      <p:sp>
        <p:nvSpPr>
          <p:cNvPr id="486403" name="Rectangle 3"/>
          <p:cNvSpPr>
            <a:spLocks noGrp="1" noChangeArrowheads="1"/>
          </p:cNvSpPr>
          <p:nvPr>
            <p:ph idx="1"/>
          </p:nvPr>
        </p:nvSpPr>
        <p:spPr/>
        <p:txBody>
          <a:bodyPr>
            <a:normAutofit/>
          </a:bodyPr>
          <a:lstStyle/>
          <a:p>
            <a:r>
              <a:rPr lang="zh-CN" altLang="en-US" dirty="0"/>
              <a:t>循环冗余校验码常用于数据链路层</a:t>
            </a:r>
            <a:endParaRPr lang="en-US" altLang="zh-CN" dirty="0"/>
          </a:p>
          <a:p>
            <a:r>
              <a:rPr lang="zh-CN" altLang="en-US" dirty="0"/>
              <a:t>通信双方约定一个生成多项式</a:t>
            </a:r>
            <a:r>
              <a:rPr lang="en-US" altLang="zh-CN" dirty="0"/>
              <a:t>G(x)</a:t>
            </a:r>
            <a:r>
              <a:rPr lang="zh-CN" altLang="en-US" dirty="0"/>
              <a:t>，最高阶为</a:t>
            </a:r>
            <a:r>
              <a:rPr lang="en-US" altLang="zh-CN" dirty="0"/>
              <a:t>m</a:t>
            </a:r>
            <a:endParaRPr lang="zh-CN" altLang="en-US" dirty="0"/>
          </a:p>
          <a:p>
            <a:pPr lvl="1"/>
            <a:r>
              <a:rPr lang="zh-CN" altLang="en-US" dirty="0"/>
              <a:t>例如 </a:t>
            </a:r>
            <a:r>
              <a:rPr lang="en-US" altLang="zh-CN" dirty="0"/>
              <a:t>G(x)=x</a:t>
            </a:r>
            <a:r>
              <a:rPr lang="en-US" altLang="zh-CN" baseline="30000" dirty="0"/>
              <a:t>4</a:t>
            </a:r>
            <a:r>
              <a:rPr lang="en-US" altLang="zh-CN" dirty="0"/>
              <a:t>+x</a:t>
            </a:r>
            <a:r>
              <a:rPr lang="en-US" altLang="zh-CN" baseline="30000" dirty="0"/>
              <a:t>3</a:t>
            </a:r>
            <a:r>
              <a:rPr lang="en-US" altLang="zh-CN" dirty="0"/>
              <a:t>+1=11001</a:t>
            </a:r>
            <a:r>
              <a:rPr lang="zh-CN" altLang="en-US" dirty="0"/>
              <a:t>，即</a:t>
            </a:r>
            <a:r>
              <a:rPr lang="en-US" altLang="zh-CN" dirty="0"/>
              <a:t>m=4</a:t>
            </a:r>
            <a:endParaRPr lang="en-US" altLang="zh-CN" dirty="0"/>
          </a:p>
          <a:p>
            <a:r>
              <a:rPr lang="zh-CN" altLang="en-US" dirty="0"/>
              <a:t>设待发送的信息为</a:t>
            </a:r>
            <a:r>
              <a:rPr lang="en-US" altLang="zh-CN" dirty="0"/>
              <a:t>U(x)</a:t>
            </a:r>
            <a:r>
              <a:rPr lang="zh-CN" altLang="en-US" dirty="0"/>
              <a:t>，例如 </a:t>
            </a:r>
            <a:r>
              <a:rPr lang="en-US" altLang="zh-CN" dirty="0"/>
              <a:t>1101011</a:t>
            </a:r>
            <a:endParaRPr lang="en-US" altLang="zh-CN" dirty="0"/>
          </a:p>
          <a:p>
            <a:r>
              <a:rPr lang="zh-CN" altLang="en-US" dirty="0"/>
              <a:t>用</a:t>
            </a:r>
            <a:r>
              <a:rPr lang="en-US" altLang="zh-CN" dirty="0" err="1"/>
              <a:t>x</a:t>
            </a:r>
            <a:r>
              <a:rPr lang="en-US" altLang="zh-CN" baseline="30000" dirty="0" err="1"/>
              <a:t>m</a:t>
            </a:r>
            <a:r>
              <a:rPr lang="en-US" altLang="zh-CN" dirty="0" err="1"/>
              <a:t>U</a:t>
            </a:r>
            <a:r>
              <a:rPr lang="en-US" altLang="zh-CN" dirty="0"/>
              <a:t>(x) </a:t>
            </a:r>
            <a:r>
              <a:rPr lang="zh-CN" altLang="en-US" dirty="0"/>
              <a:t>除以</a:t>
            </a:r>
            <a:r>
              <a:rPr lang="en-US" altLang="zh-CN" dirty="0"/>
              <a:t>G(x)</a:t>
            </a:r>
            <a:r>
              <a:rPr lang="zh-CN" altLang="en-US" dirty="0"/>
              <a:t>得</a:t>
            </a:r>
            <a:r>
              <a:rPr lang="en-US" altLang="zh-CN" dirty="0"/>
              <a:t>m</a:t>
            </a:r>
            <a:r>
              <a:rPr lang="zh-CN" altLang="en-US" dirty="0"/>
              <a:t>位余数</a:t>
            </a:r>
            <a:r>
              <a:rPr lang="en-US" altLang="zh-CN" dirty="0"/>
              <a:t>R(x)</a:t>
            </a:r>
            <a:r>
              <a:rPr lang="zh-CN" altLang="en-US" dirty="0"/>
              <a:t>，即在</a:t>
            </a:r>
            <a:r>
              <a:rPr lang="en-US" altLang="zh-CN" dirty="0"/>
              <a:t>U(x)</a:t>
            </a:r>
            <a:r>
              <a:rPr lang="zh-CN" altLang="en-US" dirty="0"/>
              <a:t>后面添</a:t>
            </a:r>
            <a:r>
              <a:rPr lang="en-US" altLang="zh-CN" dirty="0"/>
              <a:t>m</a:t>
            </a:r>
            <a:r>
              <a:rPr lang="zh-CN" altLang="en-US" dirty="0"/>
              <a:t>个零后除以</a:t>
            </a:r>
            <a:r>
              <a:rPr lang="en-US" altLang="zh-CN" dirty="0"/>
              <a:t>G(x)</a:t>
            </a:r>
            <a:endParaRPr lang="zh-CN" altLang="en-US" dirty="0"/>
          </a:p>
          <a:p>
            <a:r>
              <a:rPr lang="zh-CN" altLang="en-US" dirty="0"/>
              <a:t>将</a:t>
            </a:r>
            <a:r>
              <a:rPr lang="en-US" altLang="zh-CN" dirty="0"/>
              <a:t>R(x)</a:t>
            </a:r>
            <a:r>
              <a:rPr lang="zh-CN" altLang="en-US" dirty="0"/>
              <a:t>放在</a:t>
            </a:r>
            <a:r>
              <a:rPr lang="en-US" altLang="zh-CN" dirty="0"/>
              <a:t>U(x)</a:t>
            </a:r>
            <a:r>
              <a:rPr lang="zh-CN" altLang="en-US" dirty="0"/>
              <a:t>之后，一起成为待发送的数据</a:t>
            </a:r>
            <a:endParaRPr lang="en-US" altLang="zh-CN" dirty="0"/>
          </a:p>
          <a:p>
            <a:r>
              <a:rPr lang="zh-CN" altLang="en-US" dirty="0"/>
              <a:t>接收方用收到的数据除以生成多项式</a:t>
            </a:r>
            <a:r>
              <a:rPr lang="en-US" altLang="zh-CN" dirty="0"/>
              <a:t>G(x)</a:t>
            </a:r>
            <a:endParaRPr lang="en-US" altLang="zh-CN" dirty="0"/>
          </a:p>
          <a:p>
            <a:pPr lvl="1"/>
            <a:r>
              <a:rPr lang="zh-CN" altLang="en-US" dirty="0"/>
              <a:t>结果为</a:t>
            </a:r>
            <a:r>
              <a:rPr lang="en-US" altLang="zh-CN" dirty="0"/>
              <a:t>0</a:t>
            </a:r>
            <a:r>
              <a:rPr lang="zh-CN" altLang="en-US" dirty="0"/>
              <a:t>：传输没有错误</a:t>
            </a:r>
            <a:endParaRPr lang="en-US" altLang="zh-CN" dirty="0"/>
          </a:p>
          <a:p>
            <a:pPr lvl="1"/>
            <a:r>
              <a:rPr lang="zh-CN" altLang="en-US" dirty="0"/>
              <a:t>结果不为</a:t>
            </a:r>
            <a:r>
              <a:rPr lang="en-US" altLang="zh-CN" dirty="0"/>
              <a:t>0</a:t>
            </a:r>
            <a:r>
              <a:rPr lang="zh-CN" altLang="en-US" dirty="0"/>
              <a:t>：传输产生错误</a:t>
            </a:r>
            <a:endParaRPr lang="zh-CN" altLang="en-US" dirty="0"/>
          </a:p>
          <a:p>
            <a:r>
              <a:rPr lang="zh-CN" altLang="en-US" dirty="0"/>
              <a:t>除法规则</a:t>
            </a:r>
            <a:endParaRPr lang="zh-CN" altLang="en-US" dirty="0"/>
          </a:p>
          <a:p>
            <a:pPr lvl="1"/>
            <a:r>
              <a:rPr lang="zh-CN" altLang="en-US" dirty="0"/>
              <a:t>没有借位，模</a:t>
            </a:r>
            <a:r>
              <a:rPr lang="en-US" altLang="zh-CN" dirty="0"/>
              <a:t>2</a:t>
            </a:r>
            <a:r>
              <a:rPr lang="zh-CN" altLang="en-US" dirty="0"/>
              <a:t>法则 </a:t>
            </a:r>
            <a:r>
              <a:rPr lang="en-US" altLang="zh-CN" dirty="0"/>
              <a:t>(1-1=0</a:t>
            </a:r>
            <a:r>
              <a:rPr lang="zh-CN" altLang="en-US" dirty="0"/>
              <a:t>；</a:t>
            </a:r>
            <a:r>
              <a:rPr lang="en-US" altLang="zh-CN" dirty="0"/>
              <a:t>1-0=1</a:t>
            </a:r>
            <a:r>
              <a:rPr lang="zh-CN" altLang="en-US" dirty="0"/>
              <a:t>；</a:t>
            </a:r>
            <a:r>
              <a:rPr lang="en-US" altLang="zh-CN" dirty="0"/>
              <a:t>0-0=0</a:t>
            </a:r>
            <a:r>
              <a:rPr lang="zh-CN" altLang="en-US" dirty="0"/>
              <a:t>；</a:t>
            </a:r>
            <a:r>
              <a:rPr lang="en-US" altLang="zh-CN" dirty="0"/>
              <a:t>0-1=1)</a:t>
            </a:r>
            <a:endParaRPr lang="en-US" altLang="zh-CN" dirty="0"/>
          </a:p>
        </p:txBody>
      </p:sp>
      <p:sp>
        <p:nvSpPr>
          <p:cNvPr id="6" name="灯片编号占位符 5"/>
          <p:cNvSpPr>
            <a:spLocks noGrp="1"/>
          </p:cNvSpPr>
          <p:nvPr>
            <p:ph type="sldNum" sz="quarter" idx="12"/>
          </p:nvPr>
        </p:nvSpPr>
        <p:spPr/>
        <p:txBody>
          <a:bodyPr/>
          <a:lstStyle/>
          <a:p>
            <a:fld id="{16FEDAA6-9AF6-48DB-9CF2-790C5B1C613A}" type="slidenum">
              <a:rPr lang="en-US" altLang="zh-CN"/>
            </a:fld>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541" name="Rectangle 45"/>
          <p:cNvSpPr>
            <a:spLocks noGrp="1" noChangeArrowheads="1"/>
          </p:cNvSpPr>
          <p:nvPr>
            <p:ph type="title"/>
          </p:nvPr>
        </p:nvSpPr>
        <p:spPr>
          <a:noFill/>
        </p:spPr>
        <p:txBody>
          <a:bodyPr/>
          <a:lstStyle/>
          <a:p>
            <a:r>
              <a:rPr lang="en-US" altLang="zh-CN" dirty="0"/>
              <a:t>CRC</a:t>
            </a:r>
            <a:r>
              <a:rPr lang="zh-CN" altLang="en-US" dirty="0"/>
              <a:t>计算示例</a:t>
            </a:r>
            <a:endParaRPr lang="en-US" altLang="zh-CN" dirty="0"/>
          </a:p>
        </p:txBody>
      </p:sp>
      <p:sp>
        <p:nvSpPr>
          <p:cNvPr id="490499" name="Rectangle 3"/>
          <p:cNvSpPr>
            <a:spLocks noGrp="1" noChangeArrowheads="1"/>
          </p:cNvSpPr>
          <p:nvPr>
            <p:ph idx="1"/>
          </p:nvPr>
        </p:nvSpPr>
        <p:spPr>
          <a:xfrm>
            <a:off x="566686" y="1005681"/>
            <a:ext cx="8540750" cy="647700"/>
          </a:xfrm>
        </p:spPr>
        <p:txBody>
          <a:bodyPr/>
          <a:lstStyle/>
          <a:p>
            <a:pPr>
              <a:buClr>
                <a:schemeClr val="tx1"/>
              </a:buClr>
              <a:buFont typeface="Wingdings" panose="05000000000000000000" pitchFamily="2" charset="2"/>
              <a:buChar char="Ø"/>
            </a:pPr>
            <a:r>
              <a:rPr lang="pl-PL" altLang="en-US" dirty="0">
                <a:latin typeface="Courier New" panose="02070309020205020404" pitchFamily="49" charset="0"/>
                <a:cs typeface="Courier New" panose="02070309020205020404" pitchFamily="49" charset="0"/>
              </a:rPr>
              <a:t>U(x)=1101011</a:t>
            </a:r>
            <a:r>
              <a:rPr lang="zh-CN" altLang="en-US" dirty="0">
                <a:latin typeface="Courier New" panose="02070309020205020404" pitchFamily="49" charset="0"/>
                <a:cs typeface="Courier New" panose="02070309020205020404" pitchFamily="49" charset="0"/>
              </a:rPr>
              <a:t>，</a:t>
            </a:r>
            <a:r>
              <a:rPr lang="pl-PL" altLang="en-US" dirty="0">
                <a:latin typeface="Courier New" panose="02070309020205020404" pitchFamily="49" charset="0"/>
                <a:cs typeface="Courier New" panose="02070309020205020404" pitchFamily="49" charset="0"/>
              </a:rPr>
              <a:t>G(x)= x</a:t>
            </a:r>
            <a:r>
              <a:rPr lang="pl-PL" altLang="en-US" baseline="30000" dirty="0">
                <a:latin typeface="Courier New" panose="02070309020205020404" pitchFamily="49" charset="0"/>
                <a:cs typeface="Courier New" panose="02070309020205020404" pitchFamily="49" charset="0"/>
              </a:rPr>
              <a:t>4</a:t>
            </a:r>
            <a:r>
              <a:rPr lang="pl-PL" altLang="en-US" dirty="0">
                <a:latin typeface="Courier New" panose="02070309020205020404" pitchFamily="49" charset="0"/>
                <a:cs typeface="Courier New" panose="02070309020205020404" pitchFamily="49" charset="0"/>
              </a:rPr>
              <a:t>+x</a:t>
            </a:r>
            <a:r>
              <a:rPr lang="pl-PL" altLang="en-US" baseline="30000" dirty="0">
                <a:latin typeface="Courier New" panose="02070309020205020404" pitchFamily="49" charset="0"/>
                <a:cs typeface="Courier New" panose="02070309020205020404" pitchFamily="49" charset="0"/>
              </a:rPr>
              <a:t>3</a:t>
            </a:r>
            <a:r>
              <a:rPr lang="pl-PL" altLang="en-US" dirty="0">
                <a:latin typeface="Courier New" panose="02070309020205020404" pitchFamily="49" charset="0"/>
                <a:cs typeface="Courier New" panose="02070309020205020404" pitchFamily="49" charset="0"/>
              </a:rPr>
              <a:t>+1=11001</a:t>
            </a:r>
            <a:endParaRPr lang="en-US" altLang="zh-CN" dirty="0">
              <a:latin typeface="Courier New" panose="02070309020205020404" pitchFamily="49" charset="0"/>
              <a:cs typeface="Courier New" panose="02070309020205020404" pitchFamily="49" charset="0"/>
            </a:endParaRPr>
          </a:p>
        </p:txBody>
      </p:sp>
      <p:sp>
        <p:nvSpPr>
          <p:cNvPr id="32" name="灯片编号占位符 5"/>
          <p:cNvSpPr>
            <a:spLocks noGrp="1"/>
          </p:cNvSpPr>
          <p:nvPr>
            <p:ph type="sldNum" sz="quarter" idx="12"/>
          </p:nvPr>
        </p:nvSpPr>
        <p:spPr/>
        <p:txBody>
          <a:bodyPr/>
          <a:lstStyle/>
          <a:p>
            <a:fld id="{0BCF28EA-0AC4-4960-A09C-BA01CE090747}" type="slidenum">
              <a:rPr lang="en-US" altLang="zh-CN"/>
            </a:fld>
            <a:endParaRPr lang="en-US" altLang="zh-CN" dirty="0"/>
          </a:p>
        </p:txBody>
      </p:sp>
      <p:grpSp>
        <p:nvGrpSpPr>
          <p:cNvPr id="31" name="Group 51"/>
          <p:cNvGrpSpPr/>
          <p:nvPr/>
        </p:nvGrpSpPr>
        <p:grpSpPr bwMode="auto">
          <a:xfrm>
            <a:off x="2351087" y="1527908"/>
            <a:ext cx="7489825" cy="4608513"/>
            <a:chOff x="521" y="1026"/>
            <a:chExt cx="4718" cy="2903"/>
          </a:xfrm>
        </p:grpSpPr>
        <p:sp>
          <p:nvSpPr>
            <p:cNvPr id="33" name="Text Box 3"/>
            <p:cNvSpPr txBox="1">
              <a:spLocks noChangeArrowheads="1"/>
            </p:cNvSpPr>
            <p:nvPr/>
          </p:nvSpPr>
          <p:spPr bwMode="auto">
            <a:xfrm>
              <a:off x="755" y="1276"/>
              <a:ext cx="108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solidFill>
                    <a:schemeClr val="hlink"/>
                  </a:solidFill>
                  <a:latin typeface="Courier New" panose="02070309020205020404" pitchFamily="49" charset="0"/>
                  <a:ea typeface="微软雅黑 Light" panose="020B0502040204020203" pitchFamily="34" charset="-122"/>
                  <a:cs typeface="Courier New" panose="02070309020205020404" pitchFamily="49" charset="0"/>
                </a:rPr>
                <a:t>1 1 0 0 1 </a:t>
              </a:r>
              <a:endParaRPr lang="en-US" altLang="zh-CN" sz="2000">
                <a:solidFill>
                  <a:schemeClr val="hlink"/>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34" name="Text Box 4"/>
            <p:cNvSpPr txBox="1">
              <a:spLocks noChangeArrowheads="1"/>
            </p:cNvSpPr>
            <p:nvPr/>
          </p:nvSpPr>
          <p:spPr bwMode="auto">
            <a:xfrm>
              <a:off x="2018" y="1276"/>
              <a:ext cx="21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1 1 0 1 0 1 1 </a:t>
              </a:r>
              <a:r>
                <a:rPr lang="en-US" altLang="zh-CN" sz="2000">
                  <a:solidFill>
                    <a:schemeClr val="hlink"/>
                  </a:solidFill>
                  <a:latin typeface="Courier New" panose="02070309020205020404" pitchFamily="49" charset="0"/>
                  <a:ea typeface="微软雅黑 Light" panose="020B0502040204020203" pitchFamily="34" charset="-122"/>
                  <a:cs typeface="Courier New" panose="02070309020205020404" pitchFamily="49" charset="0"/>
                </a:rPr>
                <a:t>0 0 0 0</a:t>
              </a:r>
              <a:endParaRPr lang="en-US" altLang="zh-CN" sz="2000">
                <a:solidFill>
                  <a:schemeClr val="hlink"/>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35" name="Text Box 5"/>
            <p:cNvSpPr txBox="1">
              <a:spLocks noChangeArrowheads="1"/>
            </p:cNvSpPr>
            <p:nvPr/>
          </p:nvSpPr>
          <p:spPr bwMode="auto">
            <a:xfrm>
              <a:off x="2018" y="1457"/>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1 1 0 0 1</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36" name="Freeform 7"/>
            <p:cNvSpPr/>
            <p:nvPr/>
          </p:nvSpPr>
          <p:spPr bwMode="auto">
            <a:xfrm>
              <a:off x="1871" y="1276"/>
              <a:ext cx="109" cy="434"/>
            </a:xfrm>
            <a:custGeom>
              <a:avLst/>
              <a:gdLst>
                <a:gd name="T0" fmla="*/ 103 w 109"/>
                <a:gd name="T1" fmla="*/ 0 h 434"/>
                <a:gd name="T2" fmla="*/ 92 w 109"/>
                <a:gd name="T3" fmla="*/ 227 h 434"/>
                <a:gd name="T4" fmla="*/ 0 w 109"/>
                <a:gd name="T5" fmla="*/ 434 h 434"/>
              </a:gdLst>
              <a:ahLst/>
              <a:cxnLst>
                <a:cxn ang="0">
                  <a:pos x="T0" y="T1"/>
                </a:cxn>
                <a:cxn ang="0">
                  <a:pos x="T2" y="T3"/>
                </a:cxn>
                <a:cxn ang="0">
                  <a:pos x="T4" y="T5"/>
                </a:cxn>
              </a:cxnLst>
              <a:rect l="0" t="0" r="r" b="b"/>
              <a:pathLst>
                <a:path w="109" h="434">
                  <a:moveTo>
                    <a:pt x="103" y="0"/>
                  </a:moveTo>
                  <a:cubicBezTo>
                    <a:pt x="101" y="38"/>
                    <a:pt x="109" y="155"/>
                    <a:pt x="92" y="227"/>
                  </a:cubicBezTo>
                  <a:cubicBezTo>
                    <a:pt x="75" y="299"/>
                    <a:pt x="19" y="391"/>
                    <a:pt x="0" y="434"/>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37" name="Text Box 8"/>
            <p:cNvSpPr txBox="1">
              <a:spLocks noChangeArrowheads="1"/>
            </p:cNvSpPr>
            <p:nvPr/>
          </p:nvSpPr>
          <p:spPr bwMode="auto">
            <a:xfrm>
              <a:off x="2789" y="1026"/>
              <a:ext cx="137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1 0 0 1 0 1 0</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38" name="Text Box 10"/>
            <p:cNvSpPr txBox="1">
              <a:spLocks noChangeArrowheads="1"/>
            </p:cNvSpPr>
            <p:nvPr/>
          </p:nvSpPr>
          <p:spPr bwMode="auto">
            <a:xfrm>
              <a:off x="2196" y="1661"/>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0 0 1 1 1</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39" name="Text Box 16"/>
            <p:cNvSpPr txBox="1">
              <a:spLocks noChangeArrowheads="1"/>
            </p:cNvSpPr>
            <p:nvPr/>
          </p:nvSpPr>
          <p:spPr bwMode="auto">
            <a:xfrm>
              <a:off x="3334" y="3566"/>
              <a:ext cx="79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dirty="0">
                  <a:solidFill>
                    <a:schemeClr val="hlink"/>
                  </a:solidFill>
                  <a:latin typeface="Courier New" panose="02070309020205020404" pitchFamily="49" charset="0"/>
                  <a:ea typeface="微软雅黑 Light" panose="020B0502040204020203" pitchFamily="34" charset="-122"/>
                  <a:cs typeface="Courier New" panose="02070309020205020404" pitchFamily="49" charset="0"/>
                </a:rPr>
                <a:t>1 0 1 0</a:t>
              </a:r>
              <a:endParaRPr lang="en-US" altLang="zh-CN" sz="2000" b="1" dirty="0">
                <a:solidFill>
                  <a:schemeClr val="hlink"/>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0" name="AutoShape 24"/>
            <p:cNvSpPr>
              <a:spLocks noChangeArrowheads="1"/>
            </p:cNvSpPr>
            <p:nvPr/>
          </p:nvSpPr>
          <p:spPr bwMode="auto">
            <a:xfrm>
              <a:off x="521" y="1616"/>
              <a:ext cx="1270" cy="272"/>
            </a:xfrm>
            <a:prstGeom prst="wedgeRoundRectCallout">
              <a:avLst>
                <a:gd name="adj1" fmla="val 32597"/>
                <a:gd name="adj2" fmla="val -104412"/>
                <a:gd name="adj3" fmla="val 16667"/>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生成多项式</a:t>
              </a:r>
              <a:r>
                <a:rPr lang="en-US" altLang="zh-CN"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G(x)</a:t>
              </a:r>
              <a:endParaRPr lang="en-US" altLang="zh-CN" dirty="0">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1" name="AutoShape 26"/>
            <p:cNvSpPr>
              <a:spLocks noChangeArrowheads="1"/>
            </p:cNvSpPr>
            <p:nvPr/>
          </p:nvSpPr>
          <p:spPr bwMode="auto">
            <a:xfrm>
              <a:off x="4332" y="1525"/>
              <a:ext cx="907" cy="272"/>
            </a:xfrm>
            <a:prstGeom prst="wedgeRoundRectCallout">
              <a:avLst>
                <a:gd name="adj1" fmla="val -74588"/>
                <a:gd name="adj2" fmla="val -94486"/>
                <a:gd name="adj3" fmla="val 16667"/>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添加</a:t>
              </a:r>
              <a:r>
                <a:rPr lang="en-US" altLang="zh-CN">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4</a:t>
              </a:r>
              <a:r>
                <a:rPr lang="zh-CN" altLang="en-US">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个</a:t>
              </a:r>
              <a:r>
                <a:rPr lang="en-US" altLang="zh-CN">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0</a:t>
              </a:r>
              <a:endParaRPr lang="en-US" altLang="zh-CN">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2" name="Text Box 33"/>
            <p:cNvSpPr txBox="1">
              <a:spLocks noChangeArrowheads="1"/>
            </p:cNvSpPr>
            <p:nvPr/>
          </p:nvSpPr>
          <p:spPr bwMode="auto">
            <a:xfrm>
              <a:off x="2200" y="1797"/>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0 0 0 0 0</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3" name="Text Box 35"/>
            <p:cNvSpPr txBox="1">
              <a:spLocks noChangeArrowheads="1"/>
            </p:cNvSpPr>
            <p:nvPr/>
          </p:nvSpPr>
          <p:spPr bwMode="auto">
            <a:xfrm>
              <a:off x="2381" y="1978"/>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0 1 1 1 1</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4" name="Text Box 36"/>
            <p:cNvSpPr txBox="1">
              <a:spLocks noChangeArrowheads="1"/>
            </p:cNvSpPr>
            <p:nvPr/>
          </p:nvSpPr>
          <p:spPr bwMode="auto">
            <a:xfrm>
              <a:off x="2385" y="2114"/>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0 0 0 0 0</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5" name="Text Box 39"/>
            <p:cNvSpPr txBox="1">
              <a:spLocks noChangeArrowheads="1"/>
            </p:cNvSpPr>
            <p:nvPr/>
          </p:nvSpPr>
          <p:spPr bwMode="auto">
            <a:xfrm>
              <a:off x="2562" y="2296"/>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1 1 1 1 0</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6" name="Text Box 40"/>
            <p:cNvSpPr txBox="1">
              <a:spLocks noChangeArrowheads="1"/>
            </p:cNvSpPr>
            <p:nvPr/>
          </p:nvSpPr>
          <p:spPr bwMode="auto">
            <a:xfrm>
              <a:off x="2566" y="2432"/>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1 1 0 0 1</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7" name="Text Box 41"/>
            <p:cNvSpPr txBox="1">
              <a:spLocks noChangeArrowheads="1"/>
            </p:cNvSpPr>
            <p:nvPr/>
          </p:nvSpPr>
          <p:spPr bwMode="auto">
            <a:xfrm>
              <a:off x="2744" y="2636"/>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0 1 1 1 0</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8" name="Text Box 42"/>
            <p:cNvSpPr txBox="1">
              <a:spLocks noChangeArrowheads="1"/>
            </p:cNvSpPr>
            <p:nvPr/>
          </p:nvSpPr>
          <p:spPr bwMode="auto">
            <a:xfrm>
              <a:off x="2748" y="2772"/>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0 0 0 0 0</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49" name="Text Box 44"/>
            <p:cNvSpPr txBox="1">
              <a:spLocks noChangeArrowheads="1"/>
            </p:cNvSpPr>
            <p:nvPr/>
          </p:nvSpPr>
          <p:spPr bwMode="auto">
            <a:xfrm>
              <a:off x="2967" y="2931"/>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1 1 1 0 0</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0" name="Text Box 45"/>
            <p:cNvSpPr txBox="1">
              <a:spLocks noChangeArrowheads="1"/>
            </p:cNvSpPr>
            <p:nvPr/>
          </p:nvSpPr>
          <p:spPr bwMode="auto">
            <a:xfrm>
              <a:off x="2971" y="3067"/>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1 1 0 0 1</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1" name="Text Box 47"/>
            <p:cNvSpPr txBox="1">
              <a:spLocks noChangeArrowheads="1"/>
            </p:cNvSpPr>
            <p:nvPr/>
          </p:nvSpPr>
          <p:spPr bwMode="auto">
            <a:xfrm>
              <a:off x="3152" y="3248"/>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a:latin typeface="Courier New" panose="02070309020205020404" pitchFamily="49" charset="0"/>
                  <a:ea typeface="微软雅黑 Light" panose="020B0502040204020203" pitchFamily="34" charset="-122"/>
                  <a:cs typeface="Courier New" panose="02070309020205020404" pitchFamily="49" charset="0"/>
                </a:rPr>
                <a:t>0 1 0 1 0</a:t>
              </a:r>
              <a:endParaRPr lang="en-US" altLang="zh-CN" sz="200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2" name="Text Box 48"/>
            <p:cNvSpPr txBox="1">
              <a:spLocks noChangeArrowheads="1"/>
            </p:cNvSpPr>
            <p:nvPr/>
          </p:nvSpPr>
          <p:spPr bwMode="auto">
            <a:xfrm>
              <a:off x="3156" y="3384"/>
              <a:ext cx="98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dirty="0">
                  <a:latin typeface="Courier New" panose="02070309020205020404" pitchFamily="49" charset="0"/>
                  <a:ea typeface="微软雅黑 Light" panose="020B0502040204020203" pitchFamily="34" charset="-122"/>
                  <a:cs typeface="Courier New" panose="02070309020205020404" pitchFamily="49" charset="0"/>
                </a:rPr>
                <a:t>0 0 0 0 0</a:t>
              </a:r>
              <a:endParaRPr lang="en-US" altLang="zh-CN" sz="2000" dirty="0">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3" name="Line 6"/>
            <p:cNvSpPr>
              <a:spLocks noChangeShapeType="1"/>
            </p:cNvSpPr>
            <p:nvPr/>
          </p:nvSpPr>
          <p:spPr bwMode="auto">
            <a:xfrm>
              <a:off x="1973" y="1276"/>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4" name="Line 9"/>
            <p:cNvSpPr>
              <a:spLocks noChangeShapeType="1"/>
            </p:cNvSpPr>
            <p:nvPr/>
          </p:nvSpPr>
          <p:spPr bwMode="auto">
            <a:xfrm>
              <a:off x="1973" y="1684"/>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5" name="Line 12"/>
            <p:cNvSpPr>
              <a:spLocks noChangeShapeType="1"/>
            </p:cNvSpPr>
            <p:nvPr/>
          </p:nvSpPr>
          <p:spPr bwMode="auto">
            <a:xfrm>
              <a:off x="1973" y="3294"/>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6" name="Line 34"/>
            <p:cNvSpPr>
              <a:spLocks noChangeShapeType="1"/>
            </p:cNvSpPr>
            <p:nvPr/>
          </p:nvSpPr>
          <p:spPr bwMode="auto">
            <a:xfrm>
              <a:off x="1973" y="2024"/>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7" name="Line 37"/>
            <p:cNvSpPr>
              <a:spLocks noChangeShapeType="1"/>
            </p:cNvSpPr>
            <p:nvPr/>
          </p:nvSpPr>
          <p:spPr bwMode="auto">
            <a:xfrm>
              <a:off x="1973" y="2341"/>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8" name="Line 43"/>
            <p:cNvSpPr>
              <a:spLocks noChangeShapeType="1"/>
            </p:cNvSpPr>
            <p:nvPr/>
          </p:nvSpPr>
          <p:spPr bwMode="auto">
            <a:xfrm>
              <a:off x="1973" y="2659"/>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59" name="Line 46"/>
            <p:cNvSpPr>
              <a:spLocks noChangeShapeType="1"/>
            </p:cNvSpPr>
            <p:nvPr/>
          </p:nvSpPr>
          <p:spPr bwMode="auto">
            <a:xfrm>
              <a:off x="1973" y="2976"/>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60" name="Line 49"/>
            <p:cNvSpPr>
              <a:spLocks noChangeShapeType="1"/>
            </p:cNvSpPr>
            <p:nvPr/>
          </p:nvSpPr>
          <p:spPr bwMode="auto">
            <a:xfrm>
              <a:off x="1973" y="3611"/>
              <a:ext cx="23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61" name="AutoShape 25"/>
            <p:cNvSpPr>
              <a:spLocks noChangeArrowheads="1"/>
            </p:cNvSpPr>
            <p:nvPr/>
          </p:nvSpPr>
          <p:spPr bwMode="auto">
            <a:xfrm>
              <a:off x="4332" y="3657"/>
              <a:ext cx="907" cy="272"/>
            </a:xfrm>
            <a:prstGeom prst="wedgeRoundRectCallout">
              <a:avLst>
                <a:gd name="adj1" fmla="val -76019"/>
                <a:gd name="adj2" fmla="val -32352"/>
                <a:gd name="adj3" fmla="val 16667"/>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余数</a:t>
              </a:r>
              <a:r>
                <a:rPr lang="en-US" altLang="zh-CN">
                  <a:solidFill>
                    <a:schemeClr val="bg1"/>
                  </a:solidFill>
                  <a:latin typeface="Courier New" panose="02070309020205020404" pitchFamily="49" charset="0"/>
                  <a:ea typeface="微软雅黑 Light" panose="020B0502040204020203" pitchFamily="34" charset="-122"/>
                  <a:cs typeface="Courier New" panose="02070309020205020404" pitchFamily="49" charset="0"/>
                </a:rPr>
                <a:t>R(x)</a:t>
              </a:r>
              <a:endParaRPr lang="en-US" altLang="zh-CN">
                <a:solidFill>
                  <a:schemeClr val="bg1"/>
                </a:solidFill>
                <a:latin typeface="Courier New" panose="02070309020205020404" pitchFamily="49" charset="0"/>
                <a:ea typeface="微软雅黑 Light" panose="020B0502040204020203" pitchFamily="34" charset="-122"/>
                <a:cs typeface="Courier New" panose="02070309020205020404" pitchFamily="49" charset="0"/>
              </a:endParaRPr>
            </a:p>
          </p:txBody>
        </p:sp>
      </p:grpSp>
      <p:sp>
        <p:nvSpPr>
          <p:cNvPr id="62" name="Text Box 23"/>
          <p:cNvSpPr txBox="1">
            <a:spLocks noChangeArrowheads="1"/>
          </p:cNvSpPr>
          <p:nvPr/>
        </p:nvSpPr>
        <p:spPr bwMode="auto">
          <a:xfrm>
            <a:off x="569287" y="6056249"/>
            <a:ext cx="61253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lvl1pPr marL="342900" indent="-342900" fontAlgn="base">
              <a:spcBef>
                <a:spcPct val="20000"/>
              </a:spcBef>
              <a:spcAft>
                <a:spcPct val="0"/>
              </a:spcAft>
              <a:buClr>
                <a:schemeClr val="tx1"/>
              </a:buClr>
              <a:buSzPct val="80000"/>
              <a:buFont typeface="Wingdings" panose="05000000000000000000" pitchFamily="2" charset="2"/>
              <a:buChar char="Ø"/>
              <a:defRPr sz="2800" baseline="0">
                <a:latin typeface="Courier New" panose="02070309020205020404" pitchFamily="49" charset="0"/>
                <a:ea typeface="微软雅黑 Light" panose="020B0502040204020203" pitchFamily="34" charset="-122"/>
                <a:cs typeface="Courier New" panose="02070309020205020404" pitchFamily="49" charset="0"/>
              </a:defRPr>
            </a:lvl1pPr>
            <a:lvl2pPr marL="742950" indent="-285750" fontAlgn="base">
              <a:spcBef>
                <a:spcPct val="20000"/>
              </a:spcBef>
              <a:spcAft>
                <a:spcPct val="0"/>
              </a:spcAft>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fontAlgn="base">
              <a:spcBef>
                <a:spcPct val="20000"/>
              </a:spcBef>
              <a:spcAft>
                <a:spcPct val="0"/>
              </a:spcAft>
              <a:buClr>
                <a:srgbClr val="0000C8"/>
              </a:buClr>
              <a:buSzPct val="80000"/>
              <a:buFont typeface="Wingdings" panose="05000000000000000000" pitchFamily="2" charset="2"/>
              <a:buChar char="n"/>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fontAlgn="base">
              <a:spcBef>
                <a:spcPct val="20000"/>
              </a:spcBef>
              <a:spcAft>
                <a:spcPct val="0"/>
              </a:spcAft>
              <a:buClr>
                <a:srgbClr val="FF7F00"/>
              </a:buClr>
              <a:buSzPct val="80000"/>
              <a:buFont typeface="Wingdings" panose="05000000000000000000" pitchFamily="2" charset="2"/>
              <a:buChar char="u"/>
              <a:defRPr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fontAlgn="base">
              <a:spcBef>
                <a:spcPct val="20000"/>
              </a:spcBef>
              <a:spcAft>
                <a:spcPct val="0"/>
              </a:spcAft>
              <a:buSzPct val="80000"/>
              <a:buFont typeface="Wingdings" panose="05000000000000000000" pitchFamily="2" charset="2"/>
              <a:buChar char="Ø"/>
              <a:defRPr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sz="2000"/>
            </a:lvl6pPr>
            <a:lvl7pPr marL="2971800" indent="-228600" fontAlgn="base">
              <a:spcBef>
                <a:spcPct val="20000"/>
              </a:spcBef>
              <a:spcAft>
                <a:spcPct val="0"/>
              </a:spcAft>
              <a:buSzPct val="80000"/>
              <a:buFont typeface="Wingdings" panose="05000000000000000000" pitchFamily="2" charset="2"/>
              <a:buChar char="Ø"/>
              <a:defRPr sz="2000"/>
            </a:lvl7pPr>
            <a:lvl8pPr marL="3429000" indent="-228600" fontAlgn="base">
              <a:spcBef>
                <a:spcPct val="20000"/>
              </a:spcBef>
              <a:spcAft>
                <a:spcPct val="0"/>
              </a:spcAft>
              <a:buSzPct val="80000"/>
              <a:buFont typeface="Wingdings" panose="05000000000000000000" pitchFamily="2" charset="2"/>
              <a:buChar char="Ø"/>
              <a:defRPr sz="2000"/>
            </a:lvl8pPr>
            <a:lvl9pPr marL="3886200" indent="-228600" fontAlgn="base">
              <a:spcBef>
                <a:spcPct val="20000"/>
              </a:spcBef>
              <a:spcAft>
                <a:spcPct val="0"/>
              </a:spcAft>
              <a:buSzPct val="80000"/>
              <a:buFont typeface="Wingdings" panose="05000000000000000000" pitchFamily="2" charset="2"/>
              <a:buChar char="Ø"/>
              <a:defRPr sz="2000"/>
            </a:lvl9pPr>
          </a:lstStyle>
          <a:p>
            <a:r>
              <a:rPr lang="zh-CN" altLang="en-US" dirty="0"/>
              <a:t>最后发送的数据：</a:t>
            </a:r>
            <a:r>
              <a:rPr lang="en-US" altLang="zh-CN" dirty="0"/>
              <a:t>1101011</a:t>
            </a:r>
            <a:r>
              <a:rPr lang="en-US" altLang="zh-CN" b="1" dirty="0">
                <a:solidFill>
                  <a:schemeClr val="accent1">
                    <a:lumMod val="50000"/>
                  </a:schemeClr>
                </a:solidFill>
              </a:rPr>
              <a:t>1010</a:t>
            </a:r>
            <a:endParaRPr lang="en-US" altLang="zh-CN"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30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blinds(vertical)">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r>
              <a:rPr lang="en-US" altLang="zh-CN" dirty="0"/>
              <a:t>CRC</a:t>
            </a:r>
            <a:r>
              <a:rPr lang="zh-CN" altLang="en-US" dirty="0"/>
              <a:t>检错能力</a:t>
            </a:r>
            <a:endParaRPr lang="zh-CN" altLang="en-US" dirty="0"/>
          </a:p>
        </p:txBody>
      </p:sp>
      <p:sp>
        <p:nvSpPr>
          <p:cNvPr id="611331" name="Rectangle 3"/>
          <p:cNvSpPr>
            <a:spLocks noGrp="1" noChangeArrowheads="1"/>
          </p:cNvSpPr>
          <p:nvPr>
            <p:ph idx="1"/>
          </p:nvPr>
        </p:nvSpPr>
        <p:spPr/>
        <p:txBody>
          <a:bodyPr/>
          <a:lstStyle/>
          <a:p>
            <a:r>
              <a:rPr lang="zh-CN" altLang="en-US" dirty="0"/>
              <a:t>选择合适的</a:t>
            </a:r>
            <a:r>
              <a:rPr lang="en-US" altLang="zh-CN" dirty="0"/>
              <a:t>G(x)</a:t>
            </a:r>
            <a:r>
              <a:rPr lang="zh-CN" altLang="en-US" dirty="0"/>
              <a:t>，其最高阶次为</a:t>
            </a:r>
            <a:r>
              <a:rPr lang="en-US" altLang="zh-CN" dirty="0"/>
              <a:t>r</a:t>
            </a:r>
            <a:r>
              <a:rPr lang="zh-CN" altLang="en-US" dirty="0"/>
              <a:t>，能检出：</a:t>
            </a:r>
            <a:endParaRPr lang="zh-CN" altLang="en-US" dirty="0"/>
          </a:p>
          <a:p>
            <a:pPr lvl="1"/>
            <a:r>
              <a:rPr lang="zh-CN" altLang="en-US" dirty="0"/>
              <a:t>所有奇数位的突发性错误</a:t>
            </a:r>
            <a:endParaRPr lang="zh-CN" altLang="en-US" dirty="0"/>
          </a:p>
          <a:p>
            <a:pPr lvl="1"/>
            <a:r>
              <a:rPr lang="zh-CN" altLang="en-US" dirty="0"/>
              <a:t>所有长度小于</a:t>
            </a:r>
            <a:r>
              <a:rPr lang="en-US" altLang="zh-CN" dirty="0"/>
              <a:t>r</a:t>
            </a:r>
            <a:r>
              <a:rPr lang="zh-CN" altLang="en-US" dirty="0"/>
              <a:t>的突发性错误</a:t>
            </a:r>
            <a:endParaRPr lang="zh-CN" altLang="en-US" dirty="0"/>
          </a:p>
          <a:p>
            <a:pPr lvl="1"/>
            <a:r>
              <a:rPr lang="zh-CN" altLang="en-US" dirty="0"/>
              <a:t>以</a:t>
            </a:r>
            <a:r>
              <a:rPr lang="en-US" altLang="zh-CN" dirty="0"/>
              <a:t>(2</a:t>
            </a:r>
            <a:r>
              <a:rPr lang="en-US" altLang="zh-CN" baseline="30000" dirty="0"/>
              <a:t>r-1</a:t>
            </a:r>
            <a:r>
              <a:rPr lang="en-US" altLang="zh-CN" dirty="0"/>
              <a:t>-1)/2</a:t>
            </a:r>
            <a:r>
              <a:rPr lang="en-US" altLang="zh-CN" baseline="30000" dirty="0"/>
              <a:t>r-1</a:t>
            </a:r>
            <a:r>
              <a:rPr lang="zh-CN" altLang="en-US" dirty="0"/>
              <a:t>概率检测长度为</a:t>
            </a:r>
            <a:r>
              <a:rPr lang="en-US" altLang="zh-CN" dirty="0"/>
              <a:t>r+1</a:t>
            </a:r>
            <a:r>
              <a:rPr lang="zh-CN" altLang="en-US" dirty="0"/>
              <a:t>的突发性错误</a:t>
            </a:r>
            <a:endParaRPr lang="zh-CN" altLang="en-US" dirty="0"/>
          </a:p>
          <a:p>
            <a:pPr lvl="1"/>
            <a:r>
              <a:rPr lang="zh-CN" altLang="en-US" dirty="0"/>
              <a:t>以</a:t>
            </a:r>
            <a:r>
              <a:rPr lang="en-US" altLang="zh-CN" dirty="0"/>
              <a:t>(2</a:t>
            </a:r>
            <a:r>
              <a:rPr lang="en-US" altLang="zh-CN" baseline="30000" dirty="0"/>
              <a:t>r</a:t>
            </a:r>
            <a:r>
              <a:rPr lang="en-US" altLang="zh-CN" dirty="0"/>
              <a:t>-1)/2</a:t>
            </a:r>
            <a:r>
              <a:rPr lang="en-US" altLang="zh-CN" baseline="30000" dirty="0"/>
              <a:t>r</a:t>
            </a:r>
            <a:r>
              <a:rPr lang="zh-CN" altLang="en-US" dirty="0"/>
              <a:t>概率检测长度大于</a:t>
            </a:r>
            <a:r>
              <a:rPr lang="en-US" altLang="zh-CN" dirty="0"/>
              <a:t>r+1</a:t>
            </a:r>
            <a:r>
              <a:rPr lang="zh-CN" altLang="en-US" dirty="0"/>
              <a:t>的突发性错误</a:t>
            </a:r>
            <a:endParaRPr lang="zh-CN" altLang="en-US" dirty="0"/>
          </a:p>
          <a:p>
            <a:r>
              <a:rPr lang="en-US" altLang="zh-CN" dirty="0"/>
              <a:t>CRC-32</a:t>
            </a:r>
            <a:r>
              <a:rPr lang="zh-CN" altLang="en-US" dirty="0"/>
              <a:t>：</a:t>
            </a:r>
            <a:endParaRPr lang="zh-CN" altLang="en-US" dirty="0"/>
          </a:p>
          <a:p>
            <a:pPr lvl="1">
              <a:buFont typeface="Wingdings" panose="05000000000000000000" pitchFamily="2" charset="2"/>
              <a:buNone/>
            </a:pPr>
            <a:r>
              <a:rPr lang="en-US" altLang="zh-CN" sz="2400" dirty="0"/>
              <a:t>G(x)=x</a:t>
            </a:r>
            <a:r>
              <a:rPr lang="en-US" altLang="zh-CN" sz="2400" baseline="30000" dirty="0"/>
              <a:t>32</a:t>
            </a:r>
            <a:r>
              <a:rPr lang="en-US" altLang="zh-CN" sz="2400" dirty="0"/>
              <a:t>+x</a:t>
            </a:r>
            <a:r>
              <a:rPr lang="en-US" altLang="zh-CN" sz="2400" baseline="30000" dirty="0"/>
              <a:t>26</a:t>
            </a:r>
            <a:r>
              <a:rPr lang="en-US" altLang="zh-CN" sz="2400" dirty="0"/>
              <a:t>+x</a:t>
            </a:r>
            <a:r>
              <a:rPr lang="en-US" altLang="zh-CN" sz="2400" baseline="30000" dirty="0"/>
              <a:t>23</a:t>
            </a:r>
            <a:r>
              <a:rPr lang="en-US" altLang="zh-CN" sz="2400" dirty="0"/>
              <a:t>+x</a:t>
            </a:r>
            <a:r>
              <a:rPr lang="en-US" altLang="zh-CN" sz="2400" baseline="30000" dirty="0"/>
              <a:t>22</a:t>
            </a:r>
            <a:r>
              <a:rPr lang="en-US" altLang="zh-CN" sz="2400" dirty="0"/>
              <a:t>+x</a:t>
            </a:r>
            <a:r>
              <a:rPr lang="en-US" altLang="zh-CN" sz="2400" baseline="30000" dirty="0"/>
              <a:t>16</a:t>
            </a:r>
            <a:r>
              <a:rPr lang="en-US" altLang="zh-CN" sz="2400" dirty="0"/>
              <a:t>+x</a:t>
            </a:r>
            <a:r>
              <a:rPr lang="en-US" altLang="zh-CN" sz="2400" baseline="30000" dirty="0"/>
              <a:t>12</a:t>
            </a:r>
            <a:r>
              <a:rPr lang="en-US" altLang="zh-CN" sz="2400" dirty="0"/>
              <a:t>+x</a:t>
            </a:r>
            <a:r>
              <a:rPr lang="en-US" altLang="zh-CN" sz="2400" baseline="30000" dirty="0"/>
              <a:t>11</a:t>
            </a:r>
            <a:r>
              <a:rPr lang="en-US" altLang="zh-CN" sz="2400" dirty="0"/>
              <a:t>+x</a:t>
            </a:r>
            <a:r>
              <a:rPr lang="en-US" altLang="zh-CN" sz="2400" baseline="30000" dirty="0"/>
              <a:t>10</a:t>
            </a:r>
            <a:r>
              <a:rPr lang="en-US" altLang="zh-CN" sz="2400" dirty="0"/>
              <a:t>+x</a:t>
            </a:r>
            <a:r>
              <a:rPr lang="en-US" altLang="zh-CN" sz="2400" baseline="30000" dirty="0"/>
              <a:t>8</a:t>
            </a:r>
            <a:r>
              <a:rPr lang="en-US" altLang="zh-CN" sz="2400" dirty="0"/>
              <a:t>+x</a:t>
            </a:r>
            <a:r>
              <a:rPr lang="en-US" altLang="zh-CN" sz="2400" baseline="30000" dirty="0"/>
              <a:t>7</a:t>
            </a:r>
            <a:r>
              <a:rPr lang="en-US" altLang="zh-CN" sz="2400" dirty="0"/>
              <a:t>+x</a:t>
            </a:r>
            <a:r>
              <a:rPr lang="en-US" altLang="zh-CN" sz="2400" baseline="30000" dirty="0"/>
              <a:t>5</a:t>
            </a:r>
            <a:r>
              <a:rPr lang="en-US" altLang="zh-CN" sz="2400" dirty="0"/>
              <a:t>+x</a:t>
            </a:r>
            <a:r>
              <a:rPr lang="en-US" altLang="zh-CN" sz="2400" baseline="30000" dirty="0"/>
              <a:t>4</a:t>
            </a:r>
            <a:r>
              <a:rPr lang="en-US" altLang="zh-CN" sz="2400" dirty="0"/>
              <a:t>+x</a:t>
            </a:r>
            <a:r>
              <a:rPr lang="en-US" altLang="zh-CN" sz="2400" baseline="30000" dirty="0"/>
              <a:t>2</a:t>
            </a:r>
            <a:r>
              <a:rPr lang="en-US" altLang="zh-CN" sz="2400" dirty="0"/>
              <a:t>+x+1</a:t>
            </a:r>
            <a:endParaRPr lang="en-US" altLang="zh-CN" sz="2400" dirty="0"/>
          </a:p>
          <a:p>
            <a:pPr>
              <a:buFont typeface="Wingdings" panose="05000000000000000000" pitchFamily="2" charset="2"/>
              <a:buNone/>
            </a:pPr>
            <a:r>
              <a:rPr lang="en-US" altLang="zh-CN" dirty="0"/>
              <a:t>   </a:t>
            </a:r>
            <a:r>
              <a:rPr lang="zh-CN" altLang="en-US" dirty="0"/>
              <a:t>以</a:t>
            </a:r>
            <a:r>
              <a:rPr lang="en-US" altLang="zh-CN" dirty="0"/>
              <a:t>99.999 999 98%</a:t>
            </a:r>
            <a:r>
              <a:rPr lang="zh-CN" altLang="en-US" dirty="0"/>
              <a:t>的准确率检测出所有长度大于</a:t>
            </a:r>
            <a:r>
              <a:rPr lang="en-US" altLang="zh-CN" dirty="0"/>
              <a:t>33</a:t>
            </a:r>
            <a:r>
              <a:rPr lang="zh-CN" altLang="en-US" dirty="0"/>
              <a:t>的突发性错误</a:t>
            </a:r>
            <a:endParaRPr lang="zh-CN" altLang="en-US" dirty="0"/>
          </a:p>
        </p:txBody>
      </p:sp>
      <p:sp>
        <p:nvSpPr>
          <p:cNvPr id="6" name="灯片编号占位符 5"/>
          <p:cNvSpPr>
            <a:spLocks noGrp="1"/>
          </p:cNvSpPr>
          <p:nvPr>
            <p:ph type="sldNum" sz="quarter" idx="12"/>
          </p:nvPr>
        </p:nvSpPr>
        <p:spPr/>
        <p:txBody>
          <a:bodyPr/>
          <a:lstStyle/>
          <a:p>
            <a:fld id="{3425B6D6-86D0-490A-B260-2591F1C77D79}" type="slidenum">
              <a:rPr lang="en-US" altLang="zh-CN"/>
            </a:fld>
            <a:endParaRPr lang="en-US" altLang="zh-C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zh-CN" altLang="en-US" dirty="0"/>
              <a:t>校验和</a:t>
            </a:r>
            <a:endParaRPr lang="zh-CN" altLang="en-US" dirty="0"/>
          </a:p>
        </p:txBody>
      </p:sp>
      <p:sp>
        <p:nvSpPr>
          <p:cNvPr id="7" name="灯片编号占位符 5"/>
          <p:cNvSpPr>
            <a:spLocks noGrp="1"/>
          </p:cNvSpPr>
          <p:nvPr>
            <p:ph type="sldNum" sz="quarter" idx="12"/>
          </p:nvPr>
        </p:nvSpPr>
        <p:spPr/>
        <p:txBody>
          <a:bodyPr/>
          <a:lstStyle/>
          <a:p>
            <a:fld id="{FF04BB08-D94C-4135-88AF-8CF2AC66401E}" type="slidenum">
              <a:rPr lang="en-US" altLang="zh-CN"/>
            </a:fld>
            <a:endParaRPr lang="en-US" altLang="zh-CN" dirty="0"/>
          </a:p>
        </p:txBody>
      </p:sp>
      <p:sp>
        <p:nvSpPr>
          <p:cNvPr id="3" name="内容占位符 2"/>
          <p:cNvSpPr>
            <a:spLocks noGrp="1"/>
          </p:cNvSpPr>
          <p:nvPr>
            <p:ph idx="1"/>
          </p:nvPr>
        </p:nvSpPr>
        <p:spPr>
          <a:xfrm>
            <a:off x="334435" y="1607736"/>
            <a:ext cx="5545542" cy="4881965"/>
          </a:xfrm>
        </p:spPr>
        <p:txBody>
          <a:bodyPr/>
          <a:lstStyle/>
          <a:p>
            <a:r>
              <a:rPr lang="zh-CN" altLang="en-US" sz="2800" dirty="0"/>
              <a:t>发送方：</a:t>
            </a:r>
            <a:endParaRPr lang="zh-CN" altLang="en-US" sz="2800" dirty="0"/>
          </a:p>
          <a:p>
            <a:pPr lvl="1"/>
            <a:r>
              <a:rPr lang="zh-CN" altLang="en-US" sz="2400" dirty="0"/>
              <a:t>将要发送的整个数据单元分成大小都为</a:t>
            </a:r>
            <a:r>
              <a:rPr lang="en-US" altLang="zh-CN" sz="2400" dirty="0"/>
              <a:t>n</a:t>
            </a:r>
            <a:r>
              <a:rPr lang="zh-CN" altLang="en-US" sz="2400" dirty="0"/>
              <a:t>（一般为</a:t>
            </a:r>
            <a:r>
              <a:rPr lang="en-US" altLang="zh-CN" sz="2400" dirty="0"/>
              <a:t>16</a:t>
            </a:r>
            <a:r>
              <a:rPr lang="zh-CN" altLang="en-US" sz="2400" dirty="0"/>
              <a:t>）比特的若干段</a:t>
            </a:r>
            <a:endParaRPr lang="zh-CN" altLang="en-US" sz="2400" dirty="0"/>
          </a:p>
          <a:p>
            <a:pPr lvl="1"/>
            <a:r>
              <a:rPr lang="zh-CN" altLang="en-US" sz="2400" dirty="0"/>
              <a:t>将这些分段采用</a:t>
            </a:r>
            <a:r>
              <a:rPr lang="zh-CN" altLang="en-US" sz="2400" dirty="0">
                <a:solidFill>
                  <a:srgbClr val="00B0F0"/>
                </a:solidFill>
              </a:rPr>
              <a:t>反码加法算法</a:t>
            </a:r>
            <a:r>
              <a:rPr lang="zh-CN" altLang="en-US" sz="2400" dirty="0"/>
              <a:t>加在一起，得到一个</a:t>
            </a:r>
            <a:r>
              <a:rPr lang="en-US" altLang="zh-CN" sz="2400" dirty="0"/>
              <a:t>n</a:t>
            </a:r>
            <a:r>
              <a:rPr lang="zh-CN" altLang="en-US" sz="2400" dirty="0"/>
              <a:t>比特长的结果</a:t>
            </a:r>
            <a:endParaRPr lang="zh-CN" altLang="en-US" sz="2400" dirty="0"/>
          </a:p>
          <a:p>
            <a:pPr lvl="1"/>
            <a:r>
              <a:rPr lang="zh-CN" altLang="en-US" sz="2400" dirty="0"/>
              <a:t>该结果</a:t>
            </a:r>
            <a:r>
              <a:rPr lang="zh-CN" altLang="en-US" sz="2400" dirty="0">
                <a:solidFill>
                  <a:srgbClr val="00B0F0"/>
                </a:solidFill>
              </a:rPr>
              <a:t>取反</a:t>
            </a:r>
            <a:r>
              <a:rPr lang="zh-CN" altLang="en-US" sz="2400" dirty="0"/>
              <a:t>后得到一个</a:t>
            </a:r>
            <a:r>
              <a:rPr lang="en-US" altLang="zh-CN" sz="2400" dirty="0"/>
              <a:t>n</a:t>
            </a:r>
            <a:r>
              <a:rPr lang="zh-CN" altLang="en-US" sz="2400" dirty="0"/>
              <a:t>比特长的检查和</a:t>
            </a:r>
            <a:endParaRPr lang="zh-CN" altLang="en-US" sz="2400" dirty="0"/>
          </a:p>
          <a:p>
            <a:pPr lvl="1"/>
            <a:r>
              <a:rPr lang="zh-CN" altLang="en-US" sz="2400" dirty="0"/>
              <a:t>将检查和当作冗余位加在原始数据单元的末尾，随原始数据单元一起发送给接收方</a:t>
            </a:r>
            <a:endParaRPr lang="zh-CN" altLang="en-US" sz="2400" dirty="0"/>
          </a:p>
          <a:p>
            <a:endParaRPr lang="zh-CN" altLang="en-US" dirty="0"/>
          </a:p>
        </p:txBody>
      </p:sp>
      <p:sp>
        <p:nvSpPr>
          <p:cNvPr id="8" name="内容占位符 2"/>
          <p:cNvSpPr txBox="1"/>
          <p:nvPr/>
        </p:nvSpPr>
        <p:spPr bwMode="auto">
          <a:xfrm>
            <a:off x="6312023" y="1607736"/>
            <a:ext cx="5545542" cy="4881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C80000"/>
              </a:buClr>
              <a:buSzPct val="80000"/>
              <a:buFont typeface="Wingdings" panose="05000000000000000000" pitchFamily="2" charset="2"/>
              <a:buChar char="n"/>
              <a:defRPr sz="3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lgn="l" rtl="0" eaLnBrk="0" fontAlgn="base" hangingPunct="0">
              <a:spcBef>
                <a:spcPct val="20000"/>
              </a:spcBef>
              <a:spcAft>
                <a:spcPct val="0"/>
              </a:spcAft>
              <a:buClr>
                <a:srgbClr val="00C800"/>
              </a:buClr>
              <a:buSzPct val="80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gn="l" rtl="0" eaLnBrk="0" fontAlgn="base" hangingPunct="0">
              <a:spcBef>
                <a:spcPct val="20000"/>
              </a:spcBef>
              <a:spcAft>
                <a:spcPct val="0"/>
              </a:spcAft>
              <a:buClr>
                <a:srgbClr val="0000C8"/>
              </a:buClr>
              <a:buSzPct val="80000"/>
              <a:buFont typeface="Wingdings" panose="05000000000000000000" pitchFamily="2" charset="2"/>
              <a:buChar char="n"/>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lgn="l" rtl="0" eaLnBrk="0" fontAlgn="base" hangingPunct="0">
              <a:spcBef>
                <a:spcPct val="20000"/>
              </a:spcBef>
              <a:spcAft>
                <a:spcPct val="0"/>
              </a:spcAft>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gn="l" rtl="0" eaLnBrk="0" fontAlgn="base" hangingPunct="0">
              <a:spcBef>
                <a:spcPct val="20000"/>
              </a:spcBef>
              <a:spcAft>
                <a:spcPct val="0"/>
              </a:spcAft>
              <a:buSzPct val="80000"/>
              <a:buFont typeface="Wingdings" panose="05000000000000000000" pitchFamily="2" charset="2"/>
              <a:buChar char="Ø"/>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a:lstStyle>
          <a:p>
            <a:pPr>
              <a:lnSpc>
                <a:spcPct val="90000"/>
              </a:lnSpc>
            </a:pPr>
            <a:r>
              <a:rPr lang="zh-CN" altLang="en-US" sz="2800" dirty="0">
                <a:latin typeface="微软雅黑 Light" panose="020B0502040204020203" pitchFamily="34" charset="-122"/>
                <a:ea typeface="微软雅黑 Light" panose="020B0502040204020203" pitchFamily="34" charset="-122"/>
              </a:rPr>
              <a:t>接收方：</a:t>
            </a:r>
            <a:endParaRPr lang="zh-CN" altLang="en-US" sz="2800" dirty="0">
              <a:latin typeface="微软雅黑 Light" panose="020B0502040204020203" pitchFamily="34" charset="-122"/>
              <a:ea typeface="微软雅黑 Light" panose="020B0502040204020203" pitchFamily="34" charset="-122"/>
            </a:endParaRPr>
          </a:p>
          <a:p>
            <a:pPr lvl="1">
              <a:lnSpc>
                <a:spcPct val="90000"/>
              </a:lnSpc>
            </a:pPr>
            <a:r>
              <a:rPr lang="zh-CN" altLang="en-US" sz="2400" dirty="0">
                <a:latin typeface="微软雅黑 Light" panose="020B0502040204020203" pitchFamily="34" charset="-122"/>
                <a:ea typeface="微软雅黑 Light" panose="020B0502040204020203" pitchFamily="34" charset="-122"/>
              </a:rPr>
              <a:t>按照发送方的方法将整个数据块分成大小为</a:t>
            </a:r>
            <a:r>
              <a:rPr lang="en-US" altLang="zh-CN" sz="2400" dirty="0">
                <a:latin typeface="微软雅黑 Light" panose="020B0502040204020203" pitchFamily="34" charset="-122"/>
                <a:ea typeface="微软雅黑 Light" panose="020B0502040204020203" pitchFamily="34" charset="-122"/>
              </a:rPr>
              <a:t>n</a:t>
            </a:r>
            <a:r>
              <a:rPr lang="zh-CN" altLang="en-US" sz="2400" dirty="0">
                <a:latin typeface="微软雅黑 Light" panose="020B0502040204020203" pitchFamily="34" charset="-122"/>
                <a:ea typeface="微软雅黑 Light" panose="020B0502040204020203" pitchFamily="34" charset="-122"/>
              </a:rPr>
              <a:t>的若干段，其中最后一段为检查和</a:t>
            </a:r>
            <a:endParaRPr lang="zh-CN" altLang="en-US" sz="2400" dirty="0">
              <a:latin typeface="微软雅黑 Light" panose="020B0502040204020203" pitchFamily="34" charset="-122"/>
              <a:ea typeface="微软雅黑 Light" panose="020B0502040204020203" pitchFamily="34" charset="-122"/>
            </a:endParaRPr>
          </a:p>
          <a:p>
            <a:pPr lvl="1">
              <a:lnSpc>
                <a:spcPct val="90000"/>
              </a:lnSpc>
            </a:pPr>
            <a:r>
              <a:rPr lang="zh-CN" altLang="en-US" sz="2400" dirty="0">
                <a:latin typeface="微软雅黑 Light" panose="020B0502040204020203" pitchFamily="34" charset="-122"/>
                <a:ea typeface="微软雅黑 Light" panose="020B0502040204020203" pitchFamily="34" charset="-122"/>
              </a:rPr>
              <a:t>将这些分段采用</a:t>
            </a:r>
            <a:r>
              <a:rPr lang="zh-CN" altLang="en-US" sz="2400" dirty="0">
                <a:solidFill>
                  <a:srgbClr val="00B0F0"/>
                </a:solidFill>
                <a:latin typeface="微软雅黑 Light" panose="020B0502040204020203" pitchFamily="34" charset="-122"/>
                <a:ea typeface="微软雅黑 Light" panose="020B0502040204020203" pitchFamily="34" charset="-122"/>
              </a:rPr>
              <a:t>反码加法算法</a:t>
            </a:r>
            <a:r>
              <a:rPr lang="zh-CN" altLang="en-US" sz="2400" dirty="0">
                <a:latin typeface="微软雅黑 Light" panose="020B0502040204020203" pitchFamily="34" charset="-122"/>
                <a:ea typeface="微软雅黑 Light" panose="020B0502040204020203" pitchFamily="34" charset="-122"/>
              </a:rPr>
              <a:t>加在一起，得到一个</a:t>
            </a:r>
            <a:r>
              <a:rPr lang="en-US" altLang="zh-CN" sz="2400" dirty="0">
                <a:latin typeface="微软雅黑 Light" panose="020B0502040204020203" pitchFamily="34" charset="-122"/>
                <a:ea typeface="微软雅黑 Light" panose="020B0502040204020203" pitchFamily="34" charset="-122"/>
              </a:rPr>
              <a:t>n</a:t>
            </a:r>
            <a:r>
              <a:rPr lang="zh-CN" altLang="en-US" sz="2400" dirty="0">
                <a:latin typeface="微软雅黑 Light" panose="020B0502040204020203" pitchFamily="34" charset="-122"/>
                <a:ea typeface="微软雅黑 Light" panose="020B0502040204020203" pitchFamily="34" charset="-122"/>
              </a:rPr>
              <a:t>比特长的结果</a:t>
            </a:r>
            <a:endParaRPr lang="zh-CN" altLang="en-US" sz="2400" dirty="0">
              <a:latin typeface="微软雅黑 Light" panose="020B0502040204020203" pitchFamily="34" charset="-122"/>
              <a:ea typeface="微软雅黑 Light" panose="020B0502040204020203" pitchFamily="34" charset="-122"/>
            </a:endParaRPr>
          </a:p>
          <a:p>
            <a:pPr lvl="1">
              <a:lnSpc>
                <a:spcPct val="90000"/>
              </a:lnSpc>
            </a:pPr>
            <a:r>
              <a:rPr lang="zh-CN" altLang="en-US" sz="2400" dirty="0">
                <a:latin typeface="微软雅黑 Light" panose="020B0502040204020203" pitchFamily="34" charset="-122"/>
                <a:ea typeface="微软雅黑 Light" panose="020B0502040204020203" pitchFamily="34" charset="-122"/>
              </a:rPr>
              <a:t>如果结果为</a:t>
            </a:r>
            <a:r>
              <a:rPr lang="en-US" altLang="zh-CN" sz="2400" dirty="0">
                <a:latin typeface="微软雅黑 Light" panose="020B0502040204020203" pitchFamily="34" charset="-122"/>
                <a:ea typeface="微软雅黑 Light" panose="020B0502040204020203" pitchFamily="34" charset="-122"/>
              </a:rPr>
              <a:t>n</a:t>
            </a:r>
            <a:r>
              <a:rPr lang="zh-CN" altLang="en-US" sz="2400" dirty="0">
                <a:latin typeface="微软雅黑 Light" panose="020B0502040204020203" pitchFamily="34" charset="-122"/>
                <a:ea typeface="微软雅黑 Light" panose="020B0502040204020203" pitchFamily="34" charset="-122"/>
              </a:rPr>
              <a:t>个</a:t>
            </a:r>
            <a:r>
              <a:rPr lang="en-US" altLang="zh-CN" sz="2400" dirty="0">
                <a:latin typeface="微软雅黑 Light" panose="020B0502040204020203" pitchFamily="34" charset="-122"/>
                <a:ea typeface="微软雅黑 Light" panose="020B0502040204020203" pitchFamily="34" charset="-122"/>
              </a:rPr>
              <a:t>1</a:t>
            </a:r>
            <a:r>
              <a:rPr lang="zh-CN" altLang="en-US" sz="2400" dirty="0">
                <a:latin typeface="微软雅黑 Light" panose="020B0502040204020203" pitchFamily="34" charset="-122"/>
                <a:ea typeface="微软雅黑 Light" panose="020B0502040204020203" pitchFamily="34" charset="-122"/>
              </a:rPr>
              <a:t>，则传输正确，反之，则是错误的 </a:t>
            </a:r>
            <a:endParaRPr lang="zh-CN" altLang="en-US" sz="2400" dirty="0">
              <a:latin typeface="微软雅黑 Light" panose="020B0502040204020203" pitchFamily="34" charset="-122"/>
              <a:ea typeface="微软雅黑 Light" panose="020B0502040204020203" pitchFamily="34" charset="-122"/>
            </a:endParaRPr>
          </a:p>
          <a:p>
            <a:endParaRPr lang="zh-CN" altLang="en-US" kern="0" dirty="0">
              <a:latin typeface="微软雅黑 Light" panose="020B0502040204020203" pitchFamily="34" charset="-122"/>
              <a:ea typeface="微软雅黑 Light" panose="020B0502040204020203" pitchFamily="34" charset="-122"/>
            </a:endParaRPr>
          </a:p>
        </p:txBody>
      </p:sp>
      <p:sp>
        <p:nvSpPr>
          <p:cNvPr id="9" name="内容占位符 2"/>
          <p:cNvSpPr txBox="1"/>
          <p:nvPr/>
        </p:nvSpPr>
        <p:spPr bwMode="auto">
          <a:xfrm>
            <a:off x="334434" y="1052514"/>
            <a:ext cx="11523133" cy="64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algn="l" rtl="0" eaLnBrk="1" fontAlgn="base" hangingPunct="1">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algn="l" rtl="0" eaLnBrk="1" fontAlgn="base" hangingPunct="1">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algn="l" rtl="0" eaLnBrk="1" fontAlgn="base" hangingPunct="1">
              <a:spcBef>
                <a:spcPct val="20000"/>
              </a:spcBef>
              <a:spcAft>
                <a:spcPct val="0"/>
              </a:spcAft>
              <a:buClr>
                <a:srgbClr val="FF7F00"/>
              </a:buClr>
              <a:buSzPct val="80000"/>
              <a:buFont typeface="Wingdings" panose="05000000000000000000" pitchFamily="2" charset="2"/>
              <a:buChar char="u"/>
              <a:defRPr sz="1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algn="l" rtl="0" eaLnBrk="1" fontAlgn="base" hangingPunct="1">
              <a:spcBef>
                <a:spcPct val="20000"/>
              </a:spcBef>
              <a:spcAft>
                <a:spcPct val="0"/>
              </a:spcAft>
              <a:buSzPct val="80000"/>
              <a:buFont typeface="Wingdings" panose="05000000000000000000" pitchFamily="2" charset="2"/>
              <a:buChar char="Ø"/>
              <a:defRPr sz="1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a:lstStyle>
          <a:p>
            <a:r>
              <a:rPr lang="zh-CN" altLang="en-US" kern="0"/>
              <a:t>检查和方法常用于高层协议中</a:t>
            </a:r>
            <a:endParaRPr lang="zh-CN" altLang="en-US" kern="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484" name="Rectangle 204"/>
          <p:cNvSpPr>
            <a:spLocks noGrp="1" noChangeArrowheads="1"/>
          </p:cNvSpPr>
          <p:nvPr>
            <p:ph type="title"/>
          </p:nvPr>
        </p:nvSpPr>
        <p:spPr/>
        <p:txBody>
          <a:bodyPr/>
          <a:lstStyle/>
          <a:p>
            <a:r>
              <a:rPr lang="zh-CN" altLang="en-US" dirty="0"/>
              <a:t>校验和计算示例</a:t>
            </a:r>
            <a:endParaRPr lang="zh-CN" altLang="en-US" dirty="0"/>
          </a:p>
        </p:txBody>
      </p:sp>
      <p:sp>
        <p:nvSpPr>
          <p:cNvPr id="81" name="灯片编号占位符 5"/>
          <p:cNvSpPr>
            <a:spLocks noGrp="1"/>
          </p:cNvSpPr>
          <p:nvPr>
            <p:ph type="sldNum" sz="quarter" idx="12"/>
          </p:nvPr>
        </p:nvSpPr>
        <p:spPr/>
        <p:txBody>
          <a:bodyPr/>
          <a:lstStyle/>
          <a:p>
            <a:fld id="{25A7ED3C-778C-4C7A-9156-BC044F63EDEC}" type="slidenum">
              <a:rPr lang="en-US" altLang="zh-CN"/>
            </a:fld>
            <a:endParaRPr lang="en-US" altLang="zh-CN" dirty="0"/>
          </a:p>
        </p:txBody>
      </p:sp>
      <p:sp>
        <p:nvSpPr>
          <p:cNvPr id="353450" name="Rectangle 170"/>
          <p:cNvSpPr>
            <a:spLocks noChangeArrowheads="1"/>
          </p:cNvSpPr>
          <p:nvPr/>
        </p:nvSpPr>
        <p:spPr bwMode="auto">
          <a:xfrm>
            <a:off x="2715341" y="969727"/>
            <a:ext cx="1066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800" dirty="0">
                <a:latin typeface="宋体" panose="02010600030101010101" pitchFamily="2" charset="-122"/>
                <a:ea typeface="微软雅黑 Light" panose="020B0502040204020203" pitchFamily="34" charset="-122"/>
              </a:rPr>
              <a:t>发送方</a:t>
            </a:r>
            <a:endParaRPr lang="zh-CN" altLang="en-US" sz="2800" dirty="0">
              <a:latin typeface="微软雅黑 Light" panose="020B0502040204020203" pitchFamily="34" charset="-122"/>
              <a:ea typeface="微软雅黑 Light" panose="020B0502040204020203" pitchFamily="34" charset="-122"/>
            </a:endParaRPr>
          </a:p>
        </p:txBody>
      </p:sp>
      <p:sp>
        <p:nvSpPr>
          <p:cNvPr id="353452" name="Rectangle 172"/>
          <p:cNvSpPr>
            <a:spLocks noChangeArrowheads="1"/>
          </p:cNvSpPr>
          <p:nvPr/>
        </p:nvSpPr>
        <p:spPr bwMode="auto">
          <a:xfrm>
            <a:off x="8247494" y="972740"/>
            <a:ext cx="1066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800" dirty="0">
                <a:latin typeface="宋体" panose="02010600030101010101" pitchFamily="2" charset="-122"/>
                <a:ea typeface="微软雅黑 Light" panose="020B0502040204020203" pitchFamily="34" charset="-122"/>
              </a:rPr>
              <a:t>接收方</a:t>
            </a:r>
            <a:endParaRPr lang="zh-CN" altLang="en-US" sz="2800" dirty="0">
              <a:latin typeface="微软雅黑 Light" panose="020B0502040204020203" pitchFamily="34" charset="-122"/>
              <a:ea typeface="微软雅黑 Light" panose="020B0502040204020203" pitchFamily="34" charset="-122"/>
            </a:endParaRPr>
          </a:p>
        </p:txBody>
      </p:sp>
      <p:sp>
        <p:nvSpPr>
          <p:cNvPr id="353292" name="Rectangle 12"/>
          <p:cNvSpPr>
            <a:spLocks noChangeArrowheads="1"/>
          </p:cNvSpPr>
          <p:nvPr/>
        </p:nvSpPr>
        <p:spPr bwMode="auto">
          <a:xfrm>
            <a:off x="2824865" y="2374902"/>
            <a:ext cx="12407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1 1000100</a:t>
            </a:r>
            <a:endParaRPr lang="en-US" altLang="zh-CN" dirty="0">
              <a:latin typeface="Courier New" panose="02070309020205020404" pitchFamily="49" charset="0"/>
              <a:cs typeface="Courier New" panose="02070309020205020404" pitchFamily="49" charset="0"/>
            </a:endParaRPr>
          </a:p>
        </p:txBody>
      </p:sp>
      <p:sp>
        <p:nvSpPr>
          <p:cNvPr id="353334" name="Rectangle 54"/>
          <p:cNvSpPr>
            <a:spLocks noChangeArrowheads="1"/>
          </p:cNvSpPr>
          <p:nvPr/>
        </p:nvSpPr>
        <p:spPr bwMode="auto">
          <a:xfrm>
            <a:off x="3100580" y="1773239"/>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70C0"/>
                </a:solidFill>
                <a:latin typeface="Courier New" panose="02070309020205020404" pitchFamily="49" charset="0"/>
                <a:cs typeface="Courier New" panose="02070309020205020404" pitchFamily="49" charset="0"/>
              </a:rPr>
              <a:t>1100111</a:t>
            </a:r>
            <a:endParaRPr lang="en-US" altLang="zh-CN" dirty="0">
              <a:solidFill>
                <a:srgbClr val="0070C0"/>
              </a:solidFill>
              <a:latin typeface="Courier New" panose="02070309020205020404" pitchFamily="49" charset="0"/>
              <a:cs typeface="Courier New" panose="02070309020205020404" pitchFamily="49" charset="0"/>
            </a:endParaRPr>
          </a:p>
        </p:txBody>
      </p:sp>
      <p:sp>
        <p:nvSpPr>
          <p:cNvPr id="353336" name="Rectangle 56"/>
          <p:cNvSpPr>
            <a:spLocks noChangeArrowheads="1"/>
          </p:cNvSpPr>
          <p:nvPr/>
        </p:nvSpPr>
        <p:spPr bwMode="auto">
          <a:xfrm>
            <a:off x="2273432" y="2027239"/>
            <a:ext cx="1792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70C0"/>
                </a:solidFill>
                <a:latin typeface="Courier New" panose="02070309020205020404" pitchFamily="49" charset="0"/>
                <a:cs typeface="Courier New" panose="02070309020205020404" pitchFamily="49" charset="0"/>
              </a:rPr>
              <a:t>+     1011101</a:t>
            </a:r>
            <a:endParaRPr lang="en-US" altLang="zh-CN" dirty="0">
              <a:solidFill>
                <a:srgbClr val="0070C0"/>
              </a:solidFill>
              <a:latin typeface="Courier New" panose="02070309020205020404" pitchFamily="49" charset="0"/>
              <a:cs typeface="Courier New" panose="02070309020205020404" pitchFamily="49" charset="0"/>
            </a:endParaRPr>
          </a:p>
        </p:txBody>
      </p:sp>
      <p:sp>
        <p:nvSpPr>
          <p:cNvPr id="353337" name="Line 57"/>
          <p:cNvSpPr>
            <a:spLocks noChangeShapeType="1"/>
          </p:cNvSpPr>
          <p:nvPr/>
        </p:nvSpPr>
        <p:spPr bwMode="auto">
          <a:xfrm>
            <a:off x="2574926" y="2312989"/>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53348" name="Line 68"/>
          <p:cNvSpPr>
            <a:spLocks noChangeShapeType="1"/>
          </p:cNvSpPr>
          <p:nvPr/>
        </p:nvSpPr>
        <p:spPr bwMode="auto">
          <a:xfrm>
            <a:off x="2574926" y="2928939"/>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53351" name="Rectangle 71"/>
          <p:cNvSpPr>
            <a:spLocks noChangeArrowheads="1"/>
          </p:cNvSpPr>
          <p:nvPr/>
        </p:nvSpPr>
        <p:spPr bwMode="auto">
          <a:xfrm>
            <a:off x="3100580" y="2924177"/>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1000101</a:t>
            </a:r>
            <a:endParaRPr lang="en-US" altLang="zh-CN" dirty="0">
              <a:latin typeface="Courier New" panose="02070309020205020404" pitchFamily="49" charset="0"/>
              <a:cs typeface="Courier New" panose="02070309020205020404" pitchFamily="49" charset="0"/>
            </a:endParaRPr>
          </a:p>
        </p:txBody>
      </p:sp>
      <p:sp>
        <p:nvSpPr>
          <p:cNvPr id="353353" name="Rectangle 73"/>
          <p:cNvSpPr>
            <a:spLocks noChangeArrowheads="1"/>
          </p:cNvSpPr>
          <p:nvPr/>
        </p:nvSpPr>
        <p:spPr bwMode="auto">
          <a:xfrm>
            <a:off x="2273432" y="3163889"/>
            <a:ext cx="1792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70C0"/>
                </a:solidFill>
                <a:latin typeface="Courier New" panose="02070309020205020404" pitchFamily="49" charset="0"/>
                <a:cs typeface="Courier New" panose="02070309020205020404" pitchFamily="49" charset="0"/>
              </a:rPr>
              <a:t>+     0111001</a:t>
            </a:r>
            <a:endParaRPr lang="en-US" altLang="zh-CN" dirty="0">
              <a:solidFill>
                <a:srgbClr val="0070C0"/>
              </a:solidFill>
              <a:latin typeface="Courier New" panose="02070309020205020404" pitchFamily="49" charset="0"/>
              <a:cs typeface="Courier New" panose="02070309020205020404" pitchFamily="49" charset="0"/>
            </a:endParaRPr>
          </a:p>
        </p:txBody>
      </p:sp>
      <p:sp>
        <p:nvSpPr>
          <p:cNvPr id="353354" name="Line 74"/>
          <p:cNvSpPr>
            <a:spLocks noChangeShapeType="1"/>
          </p:cNvSpPr>
          <p:nvPr/>
        </p:nvSpPr>
        <p:spPr bwMode="auto">
          <a:xfrm>
            <a:off x="2574926" y="3449639"/>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53356" name="Rectangle 76"/>
          <p:cNvSpPr>
            <a:spLocks noChangeArrowheads="1"/>
          </p:cNvSpPr>
          <p:nvPr/>
        </p:nvSpPr>
        <p:spPr bwMode="auto">
          <a:xfrm>
            <a:off x="3100580" y="3429002"/>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1111110</a:t>
            </a:r>
            <a:endParaRPr lang="en-US" altLang="zh-CN" dirty="0">
              <a:latin typeface="Courier New" panose="02070309020205020404" pitchFamily="49" charset="0"/>
              <a:cs typeface="Courier New" panose="02070309020205020404" pitchFamily="49" charset="0"/>
            </a:endParaRPr>
          </a:p>
        </p:txBody>
      </p:sp>
      <p:sp>
        <p:nvSpPr>
          <p:cNvPr id="353358" name="Rectangle 78"/>
          <p:cNvSpPr>
            <a:spLocks noChangeArrowheads="1"/>
          </p:cNvSpPr>
          <p:nvPr/>
        </p:nvSpPr>
        <p:spPr bwMode="auto">
          <a:xfrm>
            <a:off x="2273432" y="3684589"/>
            <a:ext cx="1792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70C0"/>
                </a:solidFill>
                <a:latin typeface="Courier New" panose="02070309020205020404" pitchFamily="49" charset="0"/>
                <a:cs typeface="Courier New" panose="02070309020205020404" pitchFamily="49" charset="0"/>
              </a:rPr>
              <a:t>+     0101001</a:t>
            </a:r>
            <a:endParaRPr lang="en-US" altLang="zh-CN" dirty="0">
              <a:solidFill>
                <a:srgbClr val="0070C0"/>
              </a:solidFill>
              <a:latin typeface="Courier New" panose="02070309020205020404" pitchFamily="49" charset="0"/>
              <a:cs typeface="Courier New" panose="02070309020205020404" pitchFamily="49" charset="0"/>
            </a:endParaRPr>
          </a:p>
        </p:txBody>
      </p:sp>
      <p:sp>
        <p:nvSpPr>
          <p:cNvPr id="353359" name="Line 79"/>
          <p:cNvSpPr>
            <a:spLocks noChangeShapeType="1"/>
          </p:cNvSpPr>
          <p:nvPr/>
        </p:nvSpPr>
        <p:spPr bwMode="auto">
          <a:xfrm>
            <a:off x="2574926" y="3968752"/>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53361" name="Rectangle 81"/>
          <p:cNvSpPr>
            <a:spLocks noChangeArrowheads="1"/>
          </p:cNvSpPr>
          <p:nvPr/>
        </p:nvSpPr>
        <p:spPr bwMode="auto">
          <a:xfrm>
            <a:off x="2824864" y="4030664"/>
            <a:ext cx="124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1 0100111</a:t>
            </a:r>
            <a:endParaRPr lang="en-US" altLang="zh-CN" dirty="0">
              <a:latin typeface="Courier New" panose="02070309020205020404" pitchFamily="49" charset="0"/>
              <a:cs typeface="Courier New" panose="02070309020205020404" pitchFamily="49" charset="0"/>
            </a:endParaRPr>
          </a:p>
        </p:txBody>
      </p:sp>
      <p:sp>
        <p:nvSpPr>
          <p:cNvPr id="353371" name="Rectangle 91"/>
          <p:cNvSpPr>
            <a:spLocks noChangeArrowheads="1"/>
          </p:cNvSpPr>
          <p:nvPr/>
        </p:nvSpPr>
        <p:spPr bwMode="auto">
          <a:xfrm>
            <a:off x="3927731" y="4291014"/>
            <a:ext cx="1378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a:t>
            </a:r>
            <a:endParaRPr lang="en-US" altLang="zh-CN" dirty="0">
              <a:latin typeface="Courier New" panose="02070309020205020404" pitchFamily="49" charset="0"/>
              <a:cs typeface="Courier New" panose="02070309020205020404" pitchFamily="49" charset="0"/>
            </a:endParaRPr>
          </a:p>
        </p:txBody>
      </p:sp>
      <p:sp>
        <p:nvSpPr>
          <p:cNvPr id="353372" name="Line 92"/>
          <p:cNvSpPr>
            <a:spLocks noChangeShapeType="1"/>
          </p:cNvSpPr>
          <p:nvPr/>
        </p:nvSpPr>
        <p:spPr bwMode="auto">
          <a:xfrm>
            <a:off x="2574926" y="4576764"/>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ndParaRPr>
          </a:p>
        </p:txBody>
      </p:sp>
      <p:sp>
        <p:nvSpPr>
          <p:cNvPr id="353374" name="Rectangle 94"/>
          <p:cNvSpPr>
            <a:spLocks noChangeArrowheads="1"/>
          </p:cNvSpPr>
          <p:nvPr/>
        </p:nvSpPr>
        <p:spPr bwMode="auto">
          <a:xfrm>
            <a:off x="3100580" y="4638677"/>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0101000</a:t>
            </a:r>
            <a:endParaRPr lang="en-US" altLang="zh-CN" dirty="0">
              <a:latin typeface="Courier New" panose="02070309020205020404" pitchFamily="49" charset="0"/>
              <a:cs typeface="Courier New" panose="02070309020205020404" pitchFamily="49" charset="0"/>
            </a:endParaRPr>
          </a:p>
        </p:txBody>
      </p:sp>
      <p:sp>
        <p:nvSpPr>
          <p:cNvPr id="353377" name="Rectangle 97"/>
          <p:cNvSpPr>
            <a:spLocks noChangeArrowheads="1"/>
          </p:cNvSpPr>
          <p:nvPr/>
        </p:nvSpPr>
        <p:spPr bwMode="auto">
          <a:xfrm>
            <a:off x="2216353" y="4814077"/>
            <a:ext cx="457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zh-CN" altLang="en-US" dirty="0">
                <a:solidFill>
                  <a:srgbClr val="0070C0"/>
                </a:solidFill>
                <a:latin typeface="微软雅黑 Light" panose="020B0502040204020203" pitchFamily="34" charset="-122"/>
                <a:ea typeface="微软雅黑 Light" panose="020B0502040204020203" pitchFamily="34" charset="-122"/>
              </a:rPr>
              <a:t>取反</a:t>
            </a:r>
            <a:endParaRPr lang="zh-CN" altLang="en-US" dirty="0">
              <a:solidFill>
                <a:srgbClr val="0070C0"/>
              </a:solidFill>
              <a:latin typeface="微软雅黑 Light" panose="020B0502040204020203" pitchFamily="34" charset="-122"/>
              <a:ea typeface="微软雅黑 Light" panose="020B0502040204020203" pitchFamily="34" charset="-122"/>
            </a:endParaRPr>
          </a:p>
        </p:txBody>
      </p:sp>
      <p:sp>
        <p:nvSpPr>
          <p:cNvPr id="353379" name="Rectangle 99"/>
          <p:cNvSpPr>
            <a:spLocks noChangeArrowheads="1"/>
          </p:cNvSpPr>
          <p:nvPr/>
        </p:nvSpPr>
        <p:spPr bwMode="auto">
          <a:xfrm>
            <a:off x="3081691" y="5027613"/>
            <a:ext cx="965009" cy="276999"/>
          </a:xfrm>
          <a:prstGeom prst="rect">
            <a:avLst/>
          </a:prstGeom>
          <a:solidFill>
            <a:schemeClr val="bg1">
              <a:lumMod val="85000"/>
            </a:schemeClr>
          </a:solidFill>
          <a:ln>
            <a:solidFill>
              <a:schemeClr val="tx2"/>
            </a:solidFill>
          </a:ln>
        </p:spPr>
        <p:txBody>
          <a:bodyPr wrap="none" lIns="0" tIns="0" rIns="0" bIns="0">
            <a:spAutoFit/>
          </a:bodyPr>
          <a:lstStyle/>
          <a:p>
            <a:pPr algn="r"/>
            <a:r>
              <a:rPr lang="en-US" altLang="zh-CN" dirty="0">
                <a:latin typeface="Courier New" panose="02070309020205020404" pitchFamily="49" charset="0"/>
                <a:cs typeface="Courier New" panose="02070309020205020404" pitchFamily="49" charset="0"/>
              </a:rPr>
              <a:t>1010111</a:t>
            </a:r>
            <a:endParaRPr lang="en-US" altLang="zh-CN" dirty="0">
              <a:latin typeface="Courier New" panose="02070309020205020404" pitchFamily="49" charset="0"/>
              <a:cs typeface="Courier New" panose="02070309020205020404" pitchFamily="49" charset="0"/>
            </a:endParaRPr>
          </a:p>
        </p:txBody>
      </p:sp>
      <p:sp>
        <p:nvSpPr>
          <p:cNvPr id="353468" name="Rectangle 188"/>
          <p:cNvSpPr>
            <a:spLocks noChangeArrowheads="1"/>
          </p:cNvSpPr>
          <p:nvPr/>
        </p:nvSpPr>
        <p:spPr bwMode="auto">
          <a:xfrm>
            <a:off x="3927731" y="2636839"/>
            <a:ext cx="1378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a:t>
            </a:r>
            <a:endParaRPr lang="en-US" altLang="zh-CN" dirty="0">
              <a:latin typeface="Courier New" panose="02070309020205020404" pitchFamily="49" charset="0"/>
              <a:cs typeface="Courier New" panose="02070309020205020404" pitchFamily="49" charset="0"/>
            </a:endParaRPr>
          </a:p>
        </p:txBody>
      </p:sp>
      <p:sp>
        <p:nvSpPr>
          <p:cNvPr id="353470" name="AutoShape 190"/>
          <p:cNvSpPr>
            <a:spLocks noChangeArrowheads="1"/>
          </p:cNvSpPr>
          <p:nvPr/>
        </p:nvSpPr>
        <p:spPr bwMode="auto">
          <a:xfrm>
            <a:off x="4438810" y="5068889"/>
            <a:ext cx="1008063" cy="287338"/>
          </a:xfrm>
          <a:prstGeom prst="wedgeRoundRectCallout">
            <a:avLst>
              <a:gd name="adj1" fmla="val -85717"/>
              <a:gd name="adj2" fmla="val -23041"/>
              <a:gd name="adj3" fmla="val 16667"/>
            </a:avLst>
          </a:prstGeom>
          <a:solidFill>
            <a:srgbClr val="0070C0"/>
          </a:solidFill>
          <a:ln w="9525" algn="ctr">
            <a:solidFill>
              <a:schemeClr val="tx1"/>
            </a:solidFill>
            <a:miter lim="800000"/>
          </a:ln>
          <a:effec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校验和</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1" name="AutoShape 191"/>
          <p:cNvSpPr>
            <a:spLocks noChangeArrowheads="1"/>
          </p:cNvSpPr>
          <p:nvPr/>
        </p:nvSpPr>
        <p:spPr bwMode="auto">
          <a:xfrm>
            <a:off x="4438810" y="3851276"/>
            <a:ext cx="1008063" cy="287338"/>
          </a:xfrm>
          <a:prstGeom prst="wedgeRoundRectCallout">
            <a:avLst>
              <a:gd name="adj1" fmla="val -84709"/>
              <a:gd name="adj2" fmla="val -61936"/>
              <a:gd name="adj3" fmla="val 16667"/>
            </a:avLst>
          </a:prstGeom>
          <a:solidFill>
            <a:srgbClr val="0070C0"/>
          </a:solidFill>
          <a:ln w="9525" algn="ctr">
            <a:solidFill>
              <a:schemeClr val="tx1"/>
            </a:solidFill>
            <a:miter lim="800000"/>
          </a:ln>
          <a:effec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第四段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2" name="AutoShape 192"/>
          <p:cNvSpPr>
            <a:spLocks noChangeArrowheads="1"/>
          </p:cNvSpPr>
          <p:nvPr/>
        </p:nvSpPr>
        <p:spPr bwMode="auto">
          <a:xfrm>
            <a:off x="4445162" y="3277395"/>
            <a:ext cx="1008063" cy="287338"/>
          </a:xfrm>
          <a:prstGeom prst="wedgeRoundRectCallout">
            <a:avLst>
              <a:gd name="adj1" fmla="val -78662"/>
              <a:gd name="adj2" fmla="val -47792"/>
              <a:gd name="adj3" fmla="val 16667"/>
            </a:avLst>
          </a:prstGeom>
          <a:solidFill>
            <a:srgbClr val="0070C0"/>
          </a:solidFill>
          <a:ln w="9525" algn="ctr">
            <a:solidFill>
              <a:schemeClr val="tx1"/>
            </a:solidFill>
            <a:miter lim="800000"/>
          </a:ln>
          <a:effec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第三段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3" name="AutoShape 193"/>
          <p:cNvSpPr>
            <a:spLocks noChangeArrowheads="1"/>
          </p:cNvSpPr>
          <p:nvPr/>
        </p:nvSpPr>
        <p:spPr bwMode="auto">
          <a:xfrm>
            <a:off x="4440238" y="2205039"/>
            <a:ext cx="1008063" cy="287338"/>
          </a:xfrm>
          <a:prstGeom prst="wedgeRoundRectCallout">
            <a:avLst>
              <a:gd name="adj1" fmla="val -78662"/>
              <a:gd name="adj2" fmla="val -47792"/>
              <a:gd name="adj3" fmla="val 16667"/>
            </a:avLst>
          </a:prstGeom>
          <a:solidFill>
            <a:srgbClr val="0070C0"/>
          </a:solidFill>
          <a:ln w="9525" algn="ctr">
            <a:solidFill>
              <a:schemeClr val="tx1"/>
            </a:solidFill>
            <a:miter lim="800000"/>
          </a:ln>
          <a:effec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第二段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4" name="AutoShape 194"/>
          <p:cNvSpPr>
            <a:spLocks noChangeArrowheads="1"/>
          </p:cNvSpPr>
          <p:nvPr/>
        </p:nvSpPr>
        <p:spPr bwMode="auto">
          <a:xfrm>
            <a:off x="4451351" y="1757365"/>
            <a:ext cx="1008063" cy="287338"/>
          </a:xfrm>
          <a:prstGeom prst="wedgeRoundRectCallout">
            <a:avLst>
              <a:gd name="adj1" fmla="val -81495"/>
              <a:gd name="adj2" fmla="val 3593"/>
              <a:gd name="adj3" fmla="val 16667"/>
            </a:avLst>
          </a:prstGeom>
          <a:solidFill>
            <a:srgbClr val="0070C0"/>
          </a:solidFill>
          <a:ln w="9525" algn="ctr">
            <a:solidFill>
              <a:schemeClr val="tx1"/>
            </a:solidFill>
            <a:miter lim="800000"/>
          </a:ln>
          <a:effec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第一段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85" name="Freeform 205"/>
          <p:cNvSpPr/>
          <p:nvPr/>
        </p:nvSpPr>
        <p:spPr bwMode="auto">
          <a:xfrm>
            <a:off x="2877949" y="2636839"/>
            <a:ext cx="1057465" cy="192861"/>
          </a:xfrm>
          <a:custGeom>
            <a:avLst/>
            <a:gdLst>
              <a:gd name="T0" fmla="*/ 0 w 499"/>
              <a:gd name="T1" fmla="*/ 0 h 91"/>
              <a:gd name="T2" fmla="*/ 0 w 499"/>
              <a:gd name="T3" fmla="*/ 91 h 91"/>
              <a:gd name="T4" fmla="*/ 499 w 499"/>
              <a:gd name="T5" fmla="*/ 91 h 91"/>
            </a:gdLst>
            <a:ahLst/>
            <a:cxnLst>
              <a:cxn ang="0">
                <a:pos x="T0" y="T1"/>
              </a:cxn>
              <a:cxn ang="0">
                <a:pos x="T2" y="T3"/>
              </a:cxn>
              <a:cxn ang="0">
                <a:pos x="T4" y="T5"/>
              </a:cxn>
            </a:cxnLst>
            <a:rect l="0" t="0" r="r" b="b"/>
            <a:pathLst>
              <a:path w="499" h="91">
                <a:moveTo>
                  <a:pt x="0" y="0"/>
                </a:moveTo>
                <a:lnTo>
                  <a:pt x="0" y="91"/>
                </a:lnTo>
                <a:lnTo>
                  <a:pt x="499" y="91"/>
                </a:lnTo>
              </a:path>
            </a:pathLst>
          </a:custGeom>
          <a:noFill/>
          <a:ln w="28575"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Courier New" panose="02070309020205020404" pitchFamily="49" charset="0"/>
              <a:cs typeface="Courier New" panose="02070309020205020404" pitchFamily="49" charset="0"/>
            </a:endParaRPr>
          </a:p>
        </p:txBody>
      </p:sp>
      <p:sp>
        <p:nvSpPr>
          <p:cNvPr id="353486" name="Freeform 206"/>
          <p:cNvSpPr/>
          <p:nvPr/>
        </p:nvSpPr>
        <p:spPr bwMode="auto">
          <a:xfrm>
            <a:off x="2877949" y="4292602"/>
            <a:ext cx="1057465" cy="192084"/>
          </a:xfrm>
          <a:custGeom>
            <a:avLst/>
            <a:gdLst>
              <a:gd name="T0" fmla="*/ 0 w 499"/>
              <a:gd name="T1" fmla="*/ 0 h 91"/>
              <a:gd name="T2" fmla="*/ 0 w 499"/>
              <a:gd name="T3" fmla="*/ 91 h 91"/>
              <a:gd name="T4" fmla="*/ 499 w 499"/>
              <a:gd name="T5" fmla="*/ 91 h 91"/>
            </a:gdLst>
            <a:ahLst/>
            <a:cxnLst>
              <a:cxn ang="0">
                <a:pos x="T0" y="T1"/>
              </a:cxn>
              <a:cxn ang="0">
                <a:pos x="T2" y="T3"/>
              </a:cxn>
              <a:cxn ang="0">
                <a:pos x="T4" y="T5"/>
              </a:cxn>
            </a:cxnLst>
            <a:rect l="0" t="0" r="r" b="b"/>
            <a:pathLst>
              <a:path w="499" h="91">
                <a:moveTo>
                  <a:pt x="0" y="0"/>
                </a:moveTo>
                <a:lnTo>
                  <a:pt x="0" y="91"/>
                </a:lnTo>
                <a:lnTo>
                  <a:pt x="499" y="91"/>
                </a:lnTo>
              </a:path>
            </a:pathLst>
          </a:custGeom>
          <a:noFill/>
          <a:ln w="28575"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Courier New" panose="02070309020205020404" pitchFamily="49" charset="0"/>
              <a:cs typeface="Courier New" panose="02070309020205020404" pitchFamily="49" charset="0"/>
            </a:endParaRPr>
          </a:p>
        </p:txBody>
      </p:sp>
      <p:sp>
        <p:nvSpPr>
          <p:cNvPr id="353288" name="Rectangle 8"/>
          <p:cNvSpPr>
            <a:spLocks noChangeArrowheads="1"/>
          </p:cNvSpPr>
          <p:nvPr/>
        </p:nvSpPr>
        <p:spPr bwMode="auto">
          <a:xfrm>
            <a:off x="6839082" y="4992689"/>
            <a:ext cx="1792157" cy="276999"/>
          </a:xfrm>
          <a:prstGeom prst="rect">
            <a:avLst/>
          </a:prstGeom>
          <a:solidFill>
            <a:schemeClr val="bg1">
              <a:lumMod val="85000"/>
            </a:schemeClr>
          </a:solidFill>
          <a:ln>
            <a:solidFill>
              <a:schemeClr val="tx2"/>
            </a:solidFill>
          </a:ln>
        </p:spPr>
        <p:txBody>
          <a:bodyPr wrap="none" lIns="0" tIns="0" rIns="0" bIns="0">
            <a:spAutoFit/>
          </a:bodyPr>
          <a:lstStyle/>
          <a:p>
            <a:pPr algn="r"/>
            <a:r>
              <a:rPr lang="en-US" altLang="zh-CN" dirty="0">
                <a:latin typeface="Courier New" panose="02070309020205020404" pitchFamily="49" charset="0"/>
                <a:cs typeface="Courier New" panose="02070309020205020404" pitchFamily="49" charset="0"/>
              </a:rPr>
              <a:t>+     1010111</a:t>
            </a:r>
            <a:endParaRPr lang="en-US" altLang="zh-CN" dirty="0">
              <a:latin typeface="Courier New" panose="02070309020205020404" pitchFamily="49" charset="0"/>
              <a:cs typeface="Courier New" panose="02070309020205020404" pitchFamily="49" charset="0"/>
            </a:endParaRPr>
          </a:p>
        </p:txBody>
      </p:sp>
      <p:sp>
        <p:nvSpPr>
          <p:cNvPr id="353383" name="Rectangle 103"/>
          <p:cNvSpPr>
            <a:spLocks noChangeArrowheads="1"/>
          </p:cNvSpPr>
          <p:nvPr/>
        </p:nvSpPr>
        <p:spPr bwMode="auto">
          <a:xfrm>
            <a:off x="8493381" y="2728914"/>
            <a:ext cx="1378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a:t>
            </a:r>
            <a:endParaRPr lang="en-US" altLang="zh-CN" dirty="0">
              <a:latin typeface="Courier New" panose="02070309020205020404" pitchFamily="49" charset="0"/>
              <a:cs typeface="Courier New" panose="02070309020205020404" pitchFamily="49" charset="0"/>
            </a:endParaRPr>
          </a:p>
        </p:txBody>
      </p:sp>
      <p:sp>
        <p:nvSpPr>
          <p:cNvPr id="353385" name="Rectangle 105"/>
          <p:cNvSpPr>
            <a:spLocks noChangeArrowheads="1"/>
          </p:cNvSpPr>
          <p:nvPr/>
        </p:nvSpPr>
        <p:spPr bwMode="auto">
          <a:xfrm>
            <a:off x="7390515" y="2460626"/>
            <a:ext cx="12407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1 1000100</a:t>
            </a:r>
            <a:endParaRPr lang="en-US" altLang="zh-CN" dirty="0">
              <a:latin typeface="Courier New" panose="02070309020205020404" pitchFamily="49" charset="0"/>
              <a:cs typeface="Courier New" panose="02070309020205020404" pitchFamily="49" charset="0"/>
            </a:endParaRPr>
          </a:p>
        </p:txBody>
      </p:sp>
      <p:sp>
        <p:nvSpPr>
          <p:cNvPr id="353387" name="Rectangle 107"/>
          <p:cNvSpPr>
            <a:spLocks noChangeArrowheads="1"/>
          </p:cNvSpPr>
          <p:nvPr/>
        </p:nvSpPr>
        <p:spPr bwMode="auto">
          <a:xfrm>
            <a:off x="7666230" y="1844676"/>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chemeClr val="accent1">
                    <a:lumMod val="50000"/>
                  </a:schemeClr>
                </a:solidFill>
                <a:latin typeface="Courier New" panose="02070309020205020404" pitchFamily="49" charset="0"/>
                <a:cs typeface="Courier New" panose="02070309020205020404" pitchFamily="49" charset="0"/>
              </a:rPr>
              <a:t>1100111</a:t>
            </a:r>
            <a:endParaRPr lang="en-US" altLang="zh-CN" dirty="0">
              <a:solidFill>
                <a:schemeClr val="accent1">
                  <a:lumMod val="50000"/>
                </a:schemeClr>
              </a:solidFill>
              <a:latin typeface="Courier New" panose="02070309020205020404" pitchFamily="49" charset="0"/>
              <a:cs typeface="Courier New" panose="02070309020205020404" pitchFamily="49" charset="0"/>
            </a:endParaRPr>
          </a:p>
        </p:txBody>
      </p:sp>
      <p:sp>
        <p:nvSpPr>
          <p:cNvPr id="353389" name="Rectangle 109"/>
          <p:cNvSpPr>
            <a:spLocks noChangeArrowheads="1"/>
          </p:cNvSpPr>
          <p:nvPr/>
        </p:nvSpPr>
        <p:spPr bwMode="auto">
          <a:xfrm>
            <a:off x="6839082" y="2114551"/>
            <a:ext cx="1792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chemeClr val="accent1">
                    <a:lumMod val="50000"/>
                  </a:schemeClr>
                </a:solidFill>
                <a:latin typeface="Courier New" panose="02070309020205020404" pitchFamily="49" charset="0"/>
                <a:cs typeface="Courier New" panose="02070309020205020404" pitchFamily="49" charset="0"/>
              </a:rPr>
              <a:t>+     1011101</a:t>
            </a:r>
            <a:endParaRPr lang="en-US" altLang="zh-CN" dirty="0">
              <a:solidFill>
                <a:schemeClr val="accent1">
                  <a:lumMod val="50000"/>
                </a:schemeClr>
              </a:solidFill>
              <a:latin typeface="Courier New" panose="02070309020205020404" pitchFamily="49" charset="0"/>
              <a:cs typeface="Courier New" panose="02070309020205020404" pitchFamily="49" charset="0"/>
            </a:endParaRPr>
          </a:p>
        </p:txBody>
      </p:sp>
      <p:sp>
        <p:nvSpPr>
          <p:cNvPr id="353390" name="Line 110"/>
          <p:cNvSpPr>
            <a:spLocks noChangeShapeType="1"/>
          </p:cNvSpPr>
          <p:nvPr/>
        </p:nvSpPr>
        <p:spPr bwMode="auto">
          <a:xfrm>
            <a:off x="7140576" y="2398714"/>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392" name="Line 112"/>
          <p:cNvSpPr>
            <a:spLocks noChangeShapeType="1"/>
          </p:cNvSpPr>
          <p:nvPr/>
        </p:nvSpPr>
        <p:spPr bwMode="auto">
          <a:xfrm>
            <a:off x="8631239" y="2746376"/>
            <a:ext cx="0"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401" name="Line 121"/>
          <p:cNvSpPr>
            <a:spLocks noChangeShapeType="1"/>
          </p:cNvSpPr>
          <p:nvPr/>
        </p:nvSpPr>
        <p:spPr bwMode="auto">
          <a:xfrm>
            <a:off x="7140576" y="3014664"/>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403" name="Rectangle 123"/>
          <p:cNvSpPr>
            <a:spLocks noChangeArrowheads="1"/>
          </p:cNvSpPr>
          <p:nvPr/>
        </p:nvSpPr>
        <p:spPr bwMode="auto">
          <a:xfrm>
            <a:off x="7666230" y="2997201"/>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1000101</a:t>
            </a:r>
            <a:endParaRPr lang="en-US" altLang="zh-CN" dirty="0">
              <a:latin typeface="Courier New" panose="02070309020205020404" pitchFamily="49" charset="0"/>
              <a:cs typeface="Courier New" panose="02070309020205020404" pitchFamily="49" charset="0"/>
            </a:endParaRPr>
          </a:p>
        </p:txBody>
      </p:sp>
      <p:sp>
        <p:nvSpPr>
          <p:cNvPr id="353405" name="Rectangle 125"/>
          <p:cNvSpPr>
            <a:spLocks noChangeArrowheads="1"/>
          </p:cNvSpPr>
          <p:nvPr/>
        </p:nvSpPr>
        <p:spPr bwMode="auto">
          <a:xfrm>
            <a:off x="6839082" y="3249614"/>
            <a:ext cx="1792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chemeClr val="accent1">
                    <a:lumMod val="50000"/>
                  </a:schemeClr>
                </a:solidFill>
                <a:latin typeface="Courier New" panose="02070309020205020404" pitchFamily="49" charset="0"/>
                <a:cs typeface="Courier New" panose="02070309020205020404" pitchFamily="49" charset="0"/>
              </a:rPr>
              <a:t>+     0111001</a:t>
            </a:r>
            <a:endParaRPr lang="en-US" altLang="zh-CN" dirty="0">
              <a:solidFill>
                <a:schemeClr val="accent1">
                  <a:lumMod val="50000"/>
                </a:schemeClr>
              </a:solidFill>
              <a:latin typeface="Courier New" panose="02070309020205020404" pitchFamily="49" charset="0"/>
              <a:cs typeface="Courier New" panose="02070309020205020404" pitchFamily="49" charset="0"/>
            </a:endParaRPr>
          </a:p>
        </p:txBody>
      </p:sp>
      <p:sp>
        <p:nvSpPr>
          <p:cNvPr id="353406" name="Line 126"/>
          <p:cNvSpPr>
            <a:spLocks noChangeShapeType="1"/>
          </p:cNvSpPr>
          <p:nvPr/>
        </p:nvSpPr>
        <p:spPr bwMode="auto">
          <a:xfrm>
            <a:off x="7140576" y="3535364"/>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408" name="Rectangle 128"/>
          <p:cNvSpPr>
            <a:spLocks noChangeArrowheads="1"/>
          </p:cNvSpPr>
          <p:nvPr/>
        </p:nvSpPr>
        <p:spPr bwMode="auto">
          <a:xfrm>
            <a:off x="7666230" y="3502026"/>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1111110</a:t>
            </a:r>
            <a:endParaRPr lang="en-US" altLang="zh-CN" dirty="0">
              <a:latin typeface="Courier New" panose="02070309020205020404" pitchFamily="49" charset="0"/>
              <a:cs typeface="Courier New" panose="02070309020205020404" pitchFamily="49" charset="0"/>
            </a:endParaRPr>
          </a:p>
        </p:txBody>
      </p:sp>
      <p:sp>
        <p:nvSpPr>
          <p:cNvPr id="353410" name="Rectangle 130"/>
          <p:cNvSpPr>
            <a:spLocks noChangeArrowheads="1"/>
          </p:cNvSpPr>
          <p:nvPr/>
        </p:nvSpPr>
        <p:spPr bwMode="auto">
          <a:xfrm>
            <a:off x="6839082" y="3770314"/>
            <a:ext cx="179215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chemeClr val="accent1">
                    <a:lumMod val="50000"/>
                  </a:schemeClr>
                </a:solidFill>
                <a:latin typeface="Courier New" panose="02070309020205020404" pitchFamily="49" charset="0"/>
                <a:cs typeface="Courier New" panose="02070309020205020404" pitchFamily="49" charset="0"/>
              </a:rPr>
              <a:t>+     0101001</a:t>
            </a:r>
            <a:endParaRPr lang="en-US" altLang="zh-CN" dirty="0">
              <a:solidFill>
                <a:schemeClr val="accent1">
                  <a:lumMod val="50000"/>
                </a:schemeClr>
              </a:solidFill>
              <a:latin typeface="Courier New" panose="02070309020205020404" pitchFamily="49" charset="0"/>
              <a:cs typeface="Courier New" panose="02070309020205020404" pitchFamily="49" charset="0"/>
            </a:endParaRPr>
          </a:p>
        </p:txBody>
      </p:sp>
      <p:sp>
        <p:nvSpPr>
          <p:cNvPr id="353411" name="Line 131"/>
          <p:cNvSpPr>
            <a:spLocks noChangeShapeType="1"/>
          </p:cNvSpPr>
          <p:nvPr/>
        </p:nvSpPr>
        <p:spPr bwMode="auto">
          <a:xfrm>
            <a:off x="7140576" y="4056064"/>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413" name="Rectangle 133"/>
          <p:cNvSpPr>
            <a:spLocks noChangeArrowheads="1"/>
          </p:cNvSpPr>
          <p:nvPr/>
        </p:nvSpPr>
        <p:spPr bwMode="auto">
          <a:xfrm>
            <a:off x="7390514" y="4117976"/>
            <a:ext cx="1240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1 0100111</a:t>
            </a:r>
            <a:endParaRPr lang="en-US" altLang="zh-CN" dirty="0">
              <a:latin typeface="Courier New" panose="02070309020205020404" pitchFamily="49" charset="0"/>
              <a:cs typeface="Courier New" panose="02070309020205020404" pitchFamily="49" charset="0"/>
            </a:endParaRPr>
          </a:p>
        </p:txBody>
      </p:sp>
      <p:sp>
        <p:nvSpPr>
          <p:cNvPr id="353423" name="Rectangle 143"/>
          <p:cNvSpPr>
            <a:spLocks noChangeArrowheads="1"/>
          </p:cNvSpPr>
          <p:nvPr/>
        </p:nvSpPr>
        <p:spPr bwMode="auto">
          <a:xfrm>
            <a:off x="8493381" y="4378326"/>
            <a:ext cx="1378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a:t>
            </a:r>
            <a:endParaRPr lang="en-US" altLang="zh-CN" dirty="0">
              <a:latin typeface="Courier New" panose="02070309020205020404" pitchFamily="49" charset="0"/>
              <a:cs typeface="Courier New" panose="02070309020205020404" pitchFamily="49" charset="0"/>
            </a:endParaRPr>
          </a:p>
        </p:txBody>
      </p:sp>
      <p:sp>
        <p:nvSpPr>
          <p:cNvPr id="353424" name="Line 144"/>
          <p:cNvSpPr>
            <a:spLocks noChangeShapeType="1"/>
          </p:cNvSpPr>
          <p:nvPr/>
        </p:nvSpPr>
        <p:spPr bwMode="auto">
          <a:xfrm>
            <a:off x="7140576" y="4662489"/>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426" name="Rectangle 146"/>
          <p:cNvSpPr>
            <a:spLocks noChangeArrowheads="1"/>
          </p:cNvSpPr>
          <p:nvPr/>
        </p:nvSpPr>
        <p:spPr bwMode="auto">
          <a:xfrm>
            <a:off x="7666230" y="4724401"/>
            <a:ext cx="9650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0101000</a:t>
            </a:r>
            <a:endParaRPr lang="en-US" altLang="zh-CN" dirty="0">
              <a:latin typeface="Courier New" panose="02070309020205020404" pitchFamily="49" charset="0"/>
              <a:cs typeface="Courier New" panose="02070309020205020404" pitchFamily="49" charset="0"/>
            </a:endParaRPr>
          </a:p>
        </p:txBody>
      </p:sp>
      <p:sp>
        <p:nvSpPr>
          <p:cNvPr id="353446" name="Line 166"/>
          <p:cNvSpPr>
            <a:spLocks noChangeShapeType="1"/>
          </p:cNvSpPr>
          <p:nvPr/>
        </p:nvSpPr>
        <p:spPr bwMode="auto">
          <a:xfrm>
            <a:off x="7140576" y="5294314"/>
            <a:ext cx="1490663" cy="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Courier New" panose="02070309020205020404" pitchFamily="49" charset="0"/>
              <a:cs typeface="Courier New" panose="02070309020205020404" pitchFamily="49" charset="0"/>
            </a:endParaRPr>
          </a:p>
        </p:txBody>
      </p:sp>
      <p:sp>
        <p:nvSpPr>
          <p:cNvPr id="353448" name="Rectangle 168"/>
          <p:cNvSpPr>
            <a:spLocks noChangeArrowheads="1"/>
          </p:cNvSpPr>
          <p:nvPr/>
        </p:nvSpPr>
        <p:spPr bwMode="auto">
          <a:xfrm>
            <a:off x="7666231" y="5356226"/>
            <a:ext cx="9650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zh-CN" dirty="0">
                <a:solidFill>
                  <a:srgbClr val="000000"/>
                </a:solidFill>
                <a:latin typeface="Courier New" panose="02070309020205020404" pitchFamily="49" charset="0"/>
                <a:cs typeface="Courier New" panose="02070309020205020404" pitchFamily="49" charset="0"/>
              </a:rPr>
              <a:t>1111111</a:t>
            </a:r>
            <a:endParaRPr lang="en-US" altLang="zh-CN" dirty="0">
              <a:latin typeface="Courier New" panose="02070309020205020404" pitchFamily="49" charset="0"/>
              <a:cs typeface="Courier New" panose="02070309020205020404" pitchFamily="49" charset="0"/>
            </a:endParaRPr>
          </a:p>
        </p:txBody>
      </p:sp>
      <p:sp>
        <p:nvSpPr>
          <p:cNvPr id="353475" name="AutoShape 195"/>
          <p:cNvSpPr>
            <a:spLocks noChangeArrowheads="1"/>
          </p:cNvSpPr>
          <p:nvPr/>
        </p:nvSpPr>
        <p:spPr bwMode="auto">
          <a:xfrm>
            <a:off x="9092407" y="2302669"/>
            <a:ext cx="1008063" cy="287338"/>
          </a:xfrm>
          <a:prstGeom prst="wedgeRoundRectCallout">
            <a:avLst>
              <a:gd name="adj1" fmla="val -90756"/>
              <a:gd name="adj2" fmla="val -65357"/>
              <a:gd name="adj3" fmla="val 16667"/>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第二段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6" name="AutoShape 196"/>
          <p:cNvSpPr>
            <a:spLocks noChangeArrowheads="1"/>
          </p:cNvSpPr>
          <p:nvPr/>
        </p:nvSpPr>
        <p:spPr bwMode="auto">
          <a:xfrm>
            <a:off x="9092406" y="1961357"/>
            <a:ext cx="1008063" cy="287338"/>
          </a:xfrm>
          <a:prstGeom prst="wedgeRoundRectCallout">
            <a:avLst>
              <a:gd name="adj1" fmla="val -91574"/>
              <a:gd name="adj2" fmla="val -49335"/>
              <a:gd name="adj3" fmla="val 16667"/>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第一段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7" name="AutoShape 197"/>
          <p:cNvSpPr>
            <a:spLocks noChangeArrowheads="1"/>
          </p:cNvSpPr>
          <p:nvPr/>
        </p:nvSpPr>
        <p:spPr bwMode="auto">
          <a:xfrm>
            <a:off x="9105267" y="3886995"/>
            <a:ext cx="1008063" cy="287338"/>
          </a:xfrm>
          <a:prstGeom prst="wedgeRoundRectCallout">
            <a:avLst>
              <a:gd name="adj1" fmla="val -95795"/>
              <a:gd name="adj2" fmla="val -58285"/>
              <a:gd name="adj3" fmla="val 16667"/>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第四段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8" name="AutoShape 198"/>
          <p:cNvSpPr>
            <a:spLocks noChangeArrowheads="1"/>
          </p:cNvSpPr>
          <p:nvPr/>
        </p:nvSpPr>
        <p:spPr bwMode="auto">
          <a:xfrm>
            <a:off x="9105268" y="3397251"/>
            <a:ext cx="1008063" cy="287338"/>
          </a:xfrm>
          <a:prstGeom prst="wedgeRoundRectCallout">
            <a:avLst>
              <a:gd name="adj1" fmla="val -92772"/>
              <a:gd name="adj2" fmla="val -54749"/>
              <a:gd name="adj3" fmla="val 16667"/>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第三段</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79" name="AutoShape 199"/>
          <p:cNvSpPr>
            <a:spLocks noChangeArrowheads="1"/>
          </p:cNvSpPr>
          <p:nvPr/>
        </p:nvSpPr>
        <p:spPr bwMode="auto">
          <a:xfrm>
            <a:off x="9108600" y="5066986"/>
            <a:ext cx="1008063" cy="287338"/>
          </a:xfrm>
          <a:prstGeom prst="wedgeRoundRectCallout">
            <a:avLst>
              <a:gd name="adj1" fmla="val -91764"/>
              <a:gd name="adj2" fmla="val -37070"/>
              <a:gd name="adj3" fmla="val 16667"/>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校验和</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80" name="AutoShape 200"/>
          <p:cNvSpPr>
            <a:spLocks noChangeArrowheads="1"/>
          </p:cNvSpPr>
          <p:nvPr/>
        </p:nvSpPr>
        <p:spPr bwMode="auto">
          <a:xfrm>
            <a:off x="8472489" y="5802836"/>
            <a:ext cx="2217289" cy="479735"/>
          </a:xfrm>
          <a:prstGeom prst="wedgeRoundRectCallout">
            <a:avLst>
              <a:gd name="adj1" fmla="val -47810"/>
              <a:gd name="adj2" fmla="val -89792"/>
              <a:gd name="adj3" fmla="val 16667"/>
            </a:avLst>
          </a:prstGeom>
          <a:solidFill>
            <a:schemeClr val="hlink"/>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dirty="0">
                <a:solidFill>
                  <a:schemeClr val="bg1"/>
                </a:solidFill>
                <a:latin typeface="微软雅黑 Light" panose="020B0502040204020203" pitchFamily="34" charset="-122"/>
                <a:ea typeface="微软雅黑 Light" panose="020B0502040204020203" pitchFamily="34" charset="-122"/>
              </a:rPr>
              <a:t>结果全</a:t>
            </a:r>
            <a:r>
              <a:rPr lang="en-US" altLang="zh-CN" dirty="0">
                <a:solidFill>
                  <a:schemeClr val="bg1"/>
                </a:solidFill>
                <a:latin typeface="微软雅黑 Light" panose="020B0502040204020203" pitchFamily="34" charset="-122"/>
                <a:ea typeface="微软雅黑 Light" panose="020B0502040204020203" pitchFamily="34" charset="-122"/>
              </a:rPr>
              <a:t>1</a:t>
            </a:r>
            <a:r>
              <a:rPr lang="zh-CN" altLang="en-US" dirty="0">
                <a:solidFill>
                  <a:schemeClr val="bg1"/>
                </a:solidFill>
                <a:latin typeface="微软雅黑 Light" panose="020B0502040204020203" pitchFamily="34" charset="-122"/>
                <a:ea typeface="微软雅黑 Light" panose="020B0502040204020203" pitchFamily="34" charset="-122"/>
              </a:rPr>
              <a:t>，无差错</a:t>
            </a:r>
            <a:endParaRPr lang="zh-CN" altLang="en-US" dirty="0">
              <a:solidFill>
                <a:schemeClr val="bg1"/>
              </a:solidFill>
              <a:latin typeface="微软雅黑 Light" panose="020B0502040204020203" pitchFamily="34" charset="-122"/>
              <a:ea typeface="微软雅黑 Light" panose="020B0502040204020203" pitchFamily="34" charset="-122"/>
            </a:endParaRPr>
          </a:p>
        </p:txBody>
      </p:sp>
      <p:sp>
        <p:nvSpPr>
          <p:cNvPr id="353487" name="Freeform 207"/>
          <p:cNvSpPr/>
          <p:nvPr/>
        </p:nvSpPr>
        <p:spPr bwMode="auto">
          <a:xfrm>
            <a:off x="7451565" y="4365626"/>
            <a:ext cx="1020924" cy="176229"/>
          </a:xfrm>
          <a:custGeom>
            <a:avLst/>
            <a:gdLst>
              <a:gd name="T0" fmla="*/ 0 w 499"/>
              <a:gd name="T1" fmla="*/ 0 h 91"/>
              <a:gd name="T2" fmla="*/ 0 w 499"/>
              <a:gd name="T3" fmla="*/ 91 h 91"/>
              <a:gd name="T4" fmla="*/ 499 w 499"/>
              <a:gd name="T5" fmla="*/ 91 h 91"/>
            </a:gdLst>
            <a:ahLst/>
            <a:cxnLst>
              <a:cxn ang="0">
                <a:pos x="T0" y="T1"/>
              </a:cxn>
              <a:cxn ang="0">
                <a:pos x="T2" y="T3"/>
              </a:cxn>
              <a:cxn ang="0">
                <a:pos x="T4" y="T5"/>
              </a:cxn>
            </a:cxnLst>
            <a:rect l="0" t="0" r="r" b="b"/>
            <a:pathLst>
              <a:path w="499" h="91">
                <a:moveTo>
                  <a:pt x="0" y="0"/>
                </a:moveTo>
                <a:lnTo>
                  <a:pt x="0" y="91"/>
                </a:lnTo>
                <a:lnTo>
                  <a:pt x="499" y="91"/>
                </a:lnTo>
              </a:path>
            </a:pathLst>
          </a:custGeom>
          <a:noFill/>
          <a:ln w="28575"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Courier New" panose="02070309020205020404" pitchFamily="49" charset="0"/>
              <a:cs typeface="Courier New" panose="02070309020205020404" pitchFamily="49" charset="0"/>
            </a:endParaRPr>
          </a:p>
        </p:txBody>
      </p:sp>
      <p:sp>
        <p:nvSpPr>
          <p:cNvPr id="353488" name="Freeform 208"/>
          <p:cNvSpPr/>
          <p:nvPr/>
        </p:nvSpPr>
        <p:spPr bwMode="auto">
          <a:xfrm>
            <a:off x="7451566" y="2709864"/>
            <a:ext cx="1020924" cy="172218"/>
          </a:xfrm>
          <a:custGeom>
            <a:avLst/>
            <a:gdLst>
              <a:gd name="T0" fmla="*/ 0 w 499"/>
              <a:gd name="T1" fmla="*/ 0 h 91"/>
              <a:gd name="T2" fmla="*/ 0 w 499"/>
              <a:gd name="T3" fmla="*/ 91 h 91"/>
              <a:gd name="T4" fmla="*/ 499 w 499"/>
              <a:gd name="T5" fmla="*/ 91 h 91"/>
            </a:gdLst>
            <a:ahLst/>
            <a:cxnLst>
              <a:cxn ang="0">
                <a:pos x="T0" y="T1"/>
              </a:cxn>
              <a:cxn ang="0">
                <a:pos x="T2" y="T3"/>
              </a:cxn>
              <a:cxn ang="0">
                <a:pos x="T4" y="T5"/>
              </a:cxn>
            </a:cxnLst>
            <a:rect l="0" t="0" r="r" b="b"/>
            <a:pathLst>
              <a:path w="499" h="91">
                <a:moveTo>
                  <a:pt x="0" y="0"/>
                </a:moveTo>
                <a:lnTo>
                  <a:pt x="0" y="91"/>
                </a:lnTo>
                <a:lnTo>
                  <a:pt x="499" y="91"/>
                </a:lnTo>
              </a:path>
            </a:pathLst>
          </a:custGeom>
          <a:noFill/>
          <a:ln w="28575"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Courier New" panose="02070309020205020404" pitchFamily="49" charset="0"/>
              <a:cs typeface="Courier New" panose="02070309020205020404" pitchFamily="49" charset="0"/>
            </a:endParaRPr>
          </a:p>
        </p:txBody>
      </p:sp>
      <p:sp>
        <p:nvSpPr>
          <p:cNvPr id="353316" name="Rectangle 36"/>
          <p:cNvSpPr>
            <a:spLocks noChangeArrowheads="1"/>
          </p:cNvSpPr>
          <p:nvPr/>
        </p:nvSpPr>
        <p:spPr bwMode="auto">
          <a:xfrm>
            <a:off x="5470045" y="6016633"/>
            <a:ext cx="1104405" cy="284163"/>
          </a:xfrm>
          <a:prstGeom prst="rect">
            <a:avLst/>
          </a:prstGeom>
          <a:solidFill>
            <a:schemeClr val="bg1">
              <a:lumMod val="85000"/>
            </a:schemeClr>
          </a:solidFill>
          <a:ln w="6350">
            <a:solidFill>
              <a:schemeClr val="tx2"/>
            </a:solidFill>
            <a:miter lim="800000"/>
          </a:ln>
        </p:spPr>
        <p:txBody>
          <a:bodyPr lIns="0" tIns="0" rIns="0" bIns="0" anchor="ctr">
            <a:spAutoFit/>
          </a:bodyPr>
          <a:lstStyle/>
          <a:p>
            <a:pPr algn="ctr"/>
            <a:r>
              <a:rPr lang="en-US" altLang="zh-CN">
                <a:solidFill>
                  <a:srgbClr val="000000"/>
                </a:solidFill>
                <a:latin typeface="Courier New" panose="02070309020205020404" pitchFamily="49" charset="0"/>
                <a:cs typeface="Courier New" panose="02070309020205020404" pitchFamily="49" charset="0"/>
              </a:rPr>
              <a:t>1010111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353482" name="Freeform 202"/>
          <p:cNvSpPr/>
          <p:nvPr/>
        </p:nvSpPr>
        <p:spPr bwMode="auto">
          <a:xfrm>
            <a:off x="5618164" y="1557339"/>
            <a:ext cx="261937" cy="4319587"/>
          </a:xfrm>
          <a:custGeom>
            <a:avLst/>
            <a:gdLst>
              <a:gd name="T0" fmla="*/ 3 w 1367"/>
              <a:gd name="T1" fmla="*/ 2721 h 2721"/>
              <a:gd name="T2" fmla="*/ 0 w 1367"/>
              <a:gd name="T3" fmla="*/ 0 h 2721"/>
              <a:gd name="T4" fmla="*/ 1367 w 1367"/>
              <a:gd name="T5" fmla="*/ 0 h 2721"/>
            </a:gdLst>
            <a:ahLst/>
            <a:cxnLst>
              <a:cxn ang="0">
                <a:pos x="T0" y="T1"/>
              </a:cxn>
              <a:cxn ang="0">
                <a:pos x="T2" y="T3"/>
              </a:cxn>
              <a:cxn ang="0">
                <a:pos x="T4" y="T5"/>
              </a:cxn>
            </a:cxnLst>
            <a:rect l="0" t="0" r="r" b="b"/>
            <a:pathLst>
              <a:path w="1367" h="2721">
                <a:moveTo>
                  <a:pt x="3" y="2721"/>
                </a:moveTo>
                <a:lnTo>
                  <a:pt x="0" y="0"/>
                </a:lnTo>
                <a:lnTo>
                  <a:pt x="1367"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ndParaRPr>
          </a:p>
        </p:txBody>
      </p:sp>
      <p:sp>
        <p:nvSpPr>
          <p:cNvPr id="2" name="箭头: 左弧形 1"/>
          <p:cNvSpPr/>
          <p:nvPr/>
        </p:nvSpPr>
        <p:spPr bwMode="auto">
          <a:xfrm>
            <a:off x="2706696" y="4795799"/>
            <a:ext cx="237331" cy="352425"/>
          </a:xfrm>
          <a:prstGeom prst="curvedRightArrow">
            <a:avLst/>
          </a:prstGeom>
          <a:noFill/>
          <a:ln w="25400">
            <a:solidFill>
              <a:srgbClr val="0070C0"/>
            </a:solidFill>
            <a:rou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l"/>
            <a:endParaRPr lang="zh-CN" altLang="en-US">
              <a:latin typeface="Courier New" panose="02070309020205020404" pitchFamily="49" charset="0"/>
              <a:cs typeface="Courier New" panose="02070309020205020404" pitchFamily="49" charset="0"/>
            </a:endParaRPr>
          </a:p>
        </p:txBody>
      </p:sp>
      <p:grpSp>
        <p:nvGrpSpPr>
          <p:cNvPr id="6" name="组合 5"/>
          <p:cNvGrpSpPr/>
          <p:nvPr/>
        </p:nvGrpSpPr>
        <p:grpSpPr>
          <a:xfrm>
            <a:off x="1031497" y="6016633"/>
            <a:ext cx="4430114" cy="284163"/>
            <a:chOff x="1572224" y="5934074"/>
            <a:chExt cx="4430114" cy="284163"/>
          </a:xfrm>
        </p:grpSpPr>
        <p:sp>
          <p:nvSpPr>
            <p:cNvPr id="353314" name="Rectangle 34"/>
            <p:cNvSpPr>
              <a:spLocks noChangeArrowheads="1"/>
            </p:cNvSpPr>
            <p:nvPr/>
          </p:nvSpPr>
          <p:spPr bwMode="auto">
            <a:xfrm>
              <a:off x="1572224"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1100111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353320" name="Rectangle 40"/>
            <p:cNvSpPr>
              <a:spLocks noChangeArrowheads="1"/>
            </p:cNvSpPr>
            <p:nvPr/>
          </p:nvSpPr>
          <p:spPr bwMode="auto">
            <a:xfrm>
              <a:off x="3783064"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0111001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353322" name="Rectangle 42"/>
            <p:cNvSpPr>
              <a:spLocks noChangeArrowheads="1"/>
            </p:cNvSpPr>
            <p:nvPr/>
          </p:nvSpPr>
          <p:spPr bwMode="auto">
            <a:xfrm>
              <a:off x="2676629"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1011101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84" name="Rectangle 40"/>
            <p:cNvSpPr>
              <a:spLocks noChangeArrowheads="1"/>
            </p:cNvSpPr>
            <p:nvPr/>
          </p:nvSpPr>
          <p:spPr bwMode="auto">
            <a:xfrm>
              <a:off x="4895903"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0101001</a:t>
              </a:r>
              <a:endParaRPr lang="en-US" altLang="zh-CN" dirty="0">
                <a:solidFill>
                  <a:srgbClr val="000000"/>
                </a:solidFill>
                <a:latin typeface="Courier New" panose="02070309020205020404" pitchFamily="49" charset="0"/>
                <a:cs typeface="Courier New" panose="02070309020205020404" pitchFamily="49" charset="0"/>
              </a:endParaRPr>
            </a:p>
          </p:txBody>
        </p:sp>
      </p:grpSp>
      <p:grpSp>
        <p:nvGrpSpPr>
          <p:cNvPr id="86" name="组合 85"/>
          <p:cNvGrpSpPr/>
          <p:nvPr/>
        </p:nvGrpSpPr>
        <p:grpSpPr>
          <a:xfrm>
            <a:off x="1031497" y="1402280"/>
            <a:ext cx="4430114" cy="284163"/>
            <a:chOff x="1572224" y="5934074"/>
            <a:chExt cx="4430114" cy="284163"/>
          </a:xfrm>
        </p:grpSpPr>
        <p:sp>
          <p:nvSpPr>
            <p:cNvPr id="87" name="Rectangle 34"/>
            <p:cNvSpPr>
              <a:spLocks noChangeArrowheads="1"/>
            </p:cNvSpPr>
            <p:nvPr/>
          </p:nvSpPr>
          <p:spPr bwMode="auto">
            <a:xfrm>
              <a:off x="1572224"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1100111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88" name="Rectangle 40"/>
            <p:cNvSpPr>
              <a:spLocks noChangeArrowheads="1"/>
            </p:cNvSpPr>
            <p:nvPr/>
          </p:nvSpPr>
          <p:spPr bwMode="auto">
            <a:xfrm>
              <a:off x="3783064"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0111001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89" name="Rectangle 42"/>
            <p:cNvSpPr>
              <a:spLocks noChangeArrowheads="1"/>
            </p:cNvSpPr>
            <p:nvPr/>
          </p:nvSpPr>
          <p:spPr bwMode="auto">
            <a:xfrm>
              <a:off x="2676629"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1011101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90" name="Rectangle 40"/>
            <p:cNvSpPr>
              <a:spLocks noChangeArrowheads="1"/>
            </p:cNvSpPr>
            <p:nvPr/>
          </p:nvSpPr>
          <p:spPr bwMode="auto">
            <a:xfrm>
              <a:off x="4895903"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0101001</a:t>
              </a:r>
              <a:endParaRPr lang="en-US" altLang="zh-CN" dirty="0">
                <a:solidFill>
                  <a:srgbClr val="000000"/>
                </a:solidFill>
                <a:latin typeface="Courier New" panose="02070309020205020404" pitchFamily="49" charset="0"/>
                <a:cs typeface="Courier New" panose="02070309020205020404" pitchFamily="49" charset="0"/>
              </a:endParaRPr>
            </a:p>
          </p:txBody>
        </p:sp>
      </p:grpSp>
      <p:sp>
        <p:nvSpPr>
          <p:cNvPr id="91" name="Rectangle 36"/>
          <p:cNvSpPr>
            <a:spLocks noChangeArrowheads="1"/>
          </p:cNvSpPr>
          <p:nvPr/>
        </p:nvSpPr>
        <p:spPr bwMode="auto">
          <a:xfrm>
            <a:off x="10475202" y="1422327"/>
            <a:ext cx="1104405" cy="284163"/>
          </a:xfrm>
          <a:prstGeom prst="rect">
            <a:avLst/>
          </a:prstGeom>
          <a:solidFill>
            <a:schemeClr val="bg1">
              <a:lumMod val="85000"/>
            </a:schemeClr>
          </a:solidFill>
          <a:ln w="6350">
            <a:solidFill>
              <a:schemeClr val="tx2"/>
            </a:solidFill>
            <a:miter lim="800000"/>
          </a:ln>
        </p:spPr>
        <p:txBody>
          <a:bodyPr lIns="0" tIns="0" rIns="0" bIns="0" anchor="ctr">
            <a:spAutoFit/>
          </a:bodyPr>
          <a:lstStyle/>
          <a:p>
            <a:pPr algn="ctr"/>
            <a:r>
              <a:rPr lang="en-US" altLang="zh-CN">
                <a:solidFill>
                  <a:srgbClr val="000000"/>
                </a:solidFill>
                <a:latin typeface="Courier New" panose="02070309020205020404" pitchFamily="49" charset="0"/>
                <a:cs typeface="Courier New" panose="02070309020205020404" pitchFamily="49" charset="0"/>
              </a:rPr>
              <a:t>1010111</a:t>
            </a:r>
            <a:endParaRPr lang="en-US" altLang="zh-CN" dirty="0">
              <a:solidFill>
                <a:srgbClr val="000000"/>
              </a:solidFill>
              <a:latin typeface="Courier New" panose="02070309020205020404" pitchFamily="49" charset="0"/>
              <a:cs typeface="Courier New" panose="02070309020205020404" pitchFamily="49" charset="0"/>
            </a:endParaRPr>
          </a:p>
        </p:txBody>
      </p:sp>
      <p:grpSp>
        <p:nvGrpSpPr>
          <p:cNvPr id="92" name="组合 91"/>
          <p:cNvGrpSpPr/>
          <p:nvPr/>
        </p:nvGrpSpPr>
        <p:grpSpPr>
          <a:xfrm>
            <a:off x="6036654" y="1422327"/>
            <a:ext cx="4430114" cy="284163"/>
            <a:chOff x="1572224" y="5934074"/>
            <a:chExt cx="4430114" cy="284163"/>
          </a:xfrm>
        </p:grpSpPr>
        <p:sp>
          <p:nvSpPr>
            <p:cNvPr id="93" name="Rectangle 34"/>
            <p:cNvSpPr>
              <a:spLocks noChangeArrowheads="1"/>
            </p:cNvSpPr>
            <p:nvPr/>
          </p:nvSpPr>
          <p:spPr bwMode="auto">
            <a:xfrm>
              <a:off x="1572224"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1100111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94" name="Rectangle 40"/>
            <p:cNvSpPr>
              <a:spLocks noChangeArrowheads="1"/>
            </p:cNvSpPr>
            <p:nvPr/>
          </p:nvSpPr>
          <p:spPr bwMode="auto">
            <a:xfrm>
              <a:off x="3783064"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0111001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95" name="Rectangle 42"/>
            <p:cNvSpPr>
              <a:spLocks noChangeArrowheads="1"/>
            </p:cNvSpPr>
            <p:nvPr/>
          </p:nvSpPr>
          <p:spPr bwMode="auto">
            <a:xfrm>
              <a:off x="2676629"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1011101</a:t>
              </a:r>
              <a:endParaRPr lang="en-US" altLang="zh-CN" dirty="0">
                <a:solidFill>
                  <a:srgbClr val="000000"/>
                </a:solidFill>
                <a:latin typeface="Courier New" panose="02070309020205020404" pitchFamily="49" charset="0"/>
                <a:cs typeface="Courier New" panose="02070309020205020404" pitchFamily="49" charset="0"/>
              </a:endParaRPr>
            </a:p>
          </p:txBody>
        </p:sp>
        <p:sp>
          <p:nvSpPr>
            <p:cNvPr id="96" name="Rectangle 40"/>
            <p:cNvSpPr>
              <a:spLocks noChangeArrowheads="1"/>
            </p:cNvSpPr>
            <p:nvPr/>
          </p:nvSpPr>
          <p:spPr bwMode="auto">
            <a:xfrm>
              <a:off x="4895903" y="5934074"/>
              <a:ext cx="1106435" cy="284163"/>
            </a:xfrm>
            <a:prstGeom prst="rect">
              <a:avLst/>
            </a:prstGeom>
            <a:noFill/>
            <a:ln w="6350">
              <a:solidFill>
                <a:schemeClr val="tx2"/>
              </a:solidFill>
              <a:miter lim="800000"/>
            </a:ln>
            <a:extLst>
              <a:ext uri="{909E8E84-426E-40DD-AFC4-6F175D3DCCD1}">
                <a14:hiddenFill xmlns:a14="http://schemas.microsoft.com/office/drawing/2010/main">
                  <a:solidFill>
                    <a:srgbClr val="FFFFFF"/>
                  </a:solidFill>
                </a14:hiddenFill>
              </a:ext>
            </a:extLst>
          </p:spPr>
          <p:txBody>
            <a:bodyPr lIns="0" tIns="0" rIns="0" bIns="0" anchor="ctr">
              <a:spAutoFit/>
            </a:bodyPr>
            <a:lstStyle/>
            <a:p>
              <a:pPr algn="ctr"/>
              <a:r>
                <a:rPr lang="en-US" altLang="zh-CN" dirty="0">
                  <a:solidFill>
                    <a:srgbClr val="000000"/>
                  </a:solidFill>
                  <a:latin typeface="Courier New" panose="02070309020205020404" pitchFamily="49" charset="0"/>
                  <a:cs typeface="Courier New" panose="02070309020205020404" pitchFamily="49" charset="0"/>
                </a:rPr>
                <a:t>0101001</a:t>
              </a:r>
              <a:endParaRPr lang="en-US" altLang="zh-CN" dirty="0">
                <a:solidFill>
                  <a:srgbClr val="000000"/>
                </a:solidFill>
                <a:latin typeface="Courier New" panose="02070309020205020404" pitchFamily="49" charset="0"/>
                <a:cs typeface="Courier New" panose="02070309020205020404" pitchFamily="49" charset="0"/>
              </a:endParaRPr>
            </a:p>
          </p:txBody>
        </p:sp>
      </p:grpSp>
      <p:sp>
        <p:nvSpPr>
          <p:cNvPr id="7" name="文本框 6"/>
          <p:cNvSpPr txBox="1"/>
          <p:nvPr/>
        </p:nvSpPr>
        <p:spPr bwMode="auto">
          <a:xfrm>
            <a:off x="252249" y="1347889"/>
            <a:ext cx="595035" cy="33855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spAutoFit/>
          </a:bodyPr>
          <a:lstStyle/>
          <a:p>
            <a:pPr algn="l"/>
            <a:r>
              <a:rPr lang="zh-CN" altLang="en-US" sz="1600" dirty="0">
                <a:latin typeface="微软雅黑 Light" panose="020B0502040204020203" pitchFamily="34" charset="-122"/>
                <a:ea typeface="微软雅黑 Light" panose="020B0502040204020203" pitchFamily="34" charset="-122"/>
              </a:rPr>
              <a:t>数据</a:t>
            </a:r>
            <a:endParaRPr lang="zh-CN" altLang="en-US" sz="1600" dirty="0">
              <a:latin typeface="微软雅黑 Light" panose="020B0502040204020203" pitchFamily="34" charset="-122"/>
              <a:ea typeface="微软雅黑 Light" panose="020B0502040204020203" pitchFamily="34" charset="-122"/>
            </a:endParaRPr>
          </a:p>
        </p:txBody>
      </p:sp>
      <p:sp>
        <p:nvSpPr>
          <p:cNvPr id="98" name="文本框 97"/>
          <p:cNvSpPr txBox="1"/>
          <p:nvPr/>
        </p:nvSpPr>
        <p:spPr bwMode="auto">
          <a:xfrm>
            <a:off x="252249" y="5633225"/>
            <a:ext cx="1005403" cy="33855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spAutoFit/>
          </a:bodyPr>
          <a:lstStyle/>
          <a:p>
            <a:pPr algn="l"/>
            <a:r>
              <a:rPr lang="zh-CN" altLang="en-US" sz="1600" dirty="0">
                <a:latin typeface="微软雅黑 Light" panose="020B0502040204020203" pitchFamily="34" charset="-122"/>
                <a:ea typeface="微软雅黑 Light" panose="020B0502040204020203" pitchFamily="34" charset="-122"/>
              </a:rPr>
              <a:t>发送数据</a:t>
            </a:r>
            <a:endParaRPr lang="zh-CN" altLang="en-US" sz="1600" dirty="0">
              <a:latin typeface="微软雅黑 Light" panose="020B0502040204020203" pitchFamily="34" charset="-122"/>
              <a:ea typeface="微软雅黑 Light" panose="020B0502040204020203" pitchFamily="34" charset="-122"/>
            </a:endParaRPr>
          </a:p>
        </p:txBody>
      </p:sp>
      <p:sp>
        <p:nvSpPr>
          <p:cNvPr id="99" name="文本框 98"/>
          <p:cNvSpPr txBox="1"/>
          <p:nvPr/>
        </p:nvSpPr>
        <p:spPr bwMode="auto">
          <a:xfrm>
            <a:off x="6036654" y="1060431"/>
            <a:ext cx="1005403" cy="33855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spAutoFit/>
          </a:bodyPr>
          <a:lstStyle/>
          <a:p>
            <a:pPr algn="l"/>
            <a:r>
              <a:rPr lang="zh-CN" altLang="en-US" sz="1600" dirty="0">
                <a:latin typeface="微软雅黑 Light" panose="020B0502040204020203" pitchFamily="34" charset="-122"/>
                <a:ea typeface="微软雅黑 Light" panose="020B0502040204020203" pitchFamily="34" charset="-122"/>
              </a:rPr>
              <a:t>接收数据</a:t>
            </a:r>
            <a:endParaRPr lang="zh-CN" altLang="en-US" sz="16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 </a:t>
            </a:r>
            <a:r>
              <a:rPr lang="zh-CN" altLang="en-US" dirty="0"/>
              <a:t>本章小结</a:t>
            </a:r>
            <a:endParaRPr lang="zh-CN" altLang="en-US" dirty="0"/>
          </a:p>
        </p:txBody>
      </p:sp>
      <p:sp>
        <p:nvSpPr>
          <p:cNvPr id="3" name="内容占位符 2"/>
          <p:cNvSpPr>
            <a:spLocks noGrp="1"/>
          </p:cNvSpPr>
          <p:nvPr>
            <p:ph idx="1"/>
          </p:nvPr>
        </p:nvSpPr>
        <p:spPr/>
        <p:txBody>
          <a:bodyPr/>
          <a:lstStyle/>
          <a:p>
            <a:r>
              <a:rPr lang="zh-CN" altLang="en-US" dirty="0"/>
              <a:t>计算机网络是一个由五部分组成的数据通信网络</a:t>
            </a:r>
            <a:endParaRPr lang="en-US" altLang="zh-CN" dirty="0"/>
          </a:p>
          <a:p>
            <a:r>
              <a:rPr lang="zh-CN" altLang="en-US" dirty="0"/>
              <a:t>对于</a:t>
            </a:r>
            <a:r>
              <a:rPr lang="en-US" altLang="zh-CN" dirty="0"/>
              <a:t>0</a:t>
            </a:r>
            <a:r>
              <a:rPr lang="zh-CN" altLang="en-US" dirty="0"/>
              <a:t>、</a:t>
            </a:r>
            <a:r>
              <a:rPr lang="en-US" altLang="zh-CN" dirty="0"/>
              <a:t>1</a:t>
            </a:r>
            <a:r>
              <a:rPr lang="zh-CN" altLang="en-US" dirty="0"/>
              <a:t>的比特序列需要转化成物理信号传输</a:t>
            </a:r>
            <a:endParaRPr lang="en-US" altLang="zh-CN" dirty="0"/>
          </a:p>
          <a:p>
            <a:pPr lvl="1"/>
            <a:r>
              <a:rPr lang="zh-CN" altLang="en-US" dirty="0"/>
              <a:t>数字</a:t>
            </a:r>
            <a:r>
              <a:rPr lang="en-US" altLang="zh-CN" dirty="0"/>
              <a:t>—</a:t>
            </a:r>
            <a:r>
              <a:rPr lang="zh-CN" altLang="en-US" dirty="0"/>
              <a:t>数字编码三大类：单极性编码、极化编码、双极性编码</a:t>
            </a:r>
            <a:endParaRPr lang="en-US" altLang="zh-CN" dirty="0"/>
          </a:p>
          <a:p>
            <a:pPr lvl="1"/>
            <a:r>
              <a:rPr lang="zh-CN" altLang="en-US" dirty="0"/>
              <a:t>数字</a:t>
            </a:r>
            <a:r>
              <a:rPr lang="en-US" altLang="zh-CN" dirty="0"/>
              <a:t>—</a:t>
            </a:r>
            <a:r>
              <a:rPr lang="zh-CN" altLang="en-US" dirty="0"/>
              <a:t>模拟编码三要素：振幅、频率、相位</a:t>
            </a:r>
            <a:endParaRPr lang="en-US" altLang="zh-CN" dirty="0"/>
          </a:p>
          <a:p>
            <a:r>
              <a:rPr lang="zh-CN" altLang="en-US" dirty="0"/>
              <a:t>奈氏定理</a:t>
            </a:r>
            <a:endParaRPr lang="en-US" altLang="zh-CN" dirty="0"/>
          </a:p>
          <a:p>
            <a:pPr lvl="1"/>
            <a:r>
              <a:rPr lang="zh-CN" altLang="en-US" dirty="0"/>
              <a:t>有限带宽无噪声信道的极限波特率</a:t>
            </a:r>
            <a:endParaRPr lang="en-US" altLang="zh-CN" dirty="0"/>
          </a:p>
          <a:p>
            <a:r>
              <a:rPr lang="zh-CN" altLang="en-US" dirty="0"/>
              <a:t>香农定理</a:t>
            </a:r>
            <a:endParaRPr lang="en-US" altLang="zh-CN" dirty="0"/>
          </a:p>
          <a:p>
            <a:pPr lvl="1"/>
            <a:r>
              <a:rPr lang="zh-CN" altLang="en-US" dirty="0"/>
              <a:t>信道信息传送速率的上限（比特每秒）和信道信噪比及带宽的关系</a:t>
            </a:r>
            <a:endParaRPr lang="zh-CN" alt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本章小结</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信号传输的多路复用技术</a:t>
            </a:r>
            <a:endParaRPr lang="en-US" altLang="zh-CN" dirty="0"/>
          </a:p>
          <a:p>
            <a:pPr lvl="1"/>
            <a:r>
              <a:rPr lang="zh-CN" altLang="en-US" dirty="0"/>
              <a:t>频分多路复用</a:t>
            </a:r>
            <a:endParaRPr lang="en-US" altLang="zh-CN" dirty="0"/>
          </a:p>
          <a:p>
            <a:pPr lvl="1"/>
            <a:r>
              <a:rPr lang="zh-CN" altLang="en-US" dirty="0"/>
              <a:t>时分多路复用</a:t>
            </a:r>
            <a:endParaRPr lang="en-US" altLang="zh-CN" dirty="0"/>
          </a:p>
          <a:p>
            <a:pPr lvl="1"/>
            <a:r>
              <a:rPr lang="zh-CN" altLang="en-US" dirty="0"/>
              <a:t>波分多路复用</a:t>
            </a:r>
            <a:endParaRPr lang="en-US" altLang="zh-CN" dirty="0"/>
          </a:p>
          <a:p>
            <a:pPr lvl="1"/>
            <a:r>
              <a:rPr lang="zh-CN" altLang="en-US" dirty="0"/>
              <a:t>码分多路复用</a:t>
            </a:r>
            <a:endParaRPr lang="en-US" altLang="zh-CN" dirty="0"/>
          </a:p>
          <a:p>
            <a:r>
              <a:rPr lang="zh-CN" altLang="en-US" dirty="0"/>
              <a:t>信号传输的差错控制机制</a:t>
            </a:r>
            <a:endParaRPr lang="en-US" altLang="zh-CN" dirty="0"/>
          </a:p>
          <a:p>
            <a:pPr lvl="1"/>
            <a:r>
              <a:rPr lang="zh-CN" altLang="en-US" dirty="0"/>
              <a:t>按照一定的规则给数据码加上冗余码</a:t>
            </a:r>
            <a:endParaRPr lang="en-US" altLang="zh-CN" dirty="0"/>
          </a:p>
          <a:p>
            <a:pPr lvl="1"/>
            <a:r>
              <a:rPr lang="zh-CN" altLang="en-US" dirty="0"/>
              <a:t>将数据码和冗余码一起发送出去</a:t>
            </a:r>
            <a:endParaRPr lang="en-US" altLang="zh-CN" dirty="0"/>
          </a:p>
          <a:p>
            <a:pPr lvl="1"/>
            <a:r>
              <a:rPr lang="zh-CN" altLang="en-US" dirty="0"/>
              <a:t>在接收端按相应的规则检查数据码和冗余码之间的关系</a:t>
            </a:r>
            <a:endParaRPr lang="en-US" altLang="zh-CN" dirty="0"/>
          </a:p>
          <a:p>
            <a:r>
              <a:rPr lang="zh-CN" altLang="en-US" dirty="0"/>
              <a:t>网络传输常用检错码对数据进行检查，</a:t>
            </a:r>
            <a:r>
              <a:rPr lang="en-US" altLang="zh-CN" dirty="0"/>
              <a:t>3</a:t>
            </a:r>
            <a:r>
              <a:rPr lang="zh-CN" altLang="en-US" dirty="0"/>
              <a:t>种常用方法</a:t>
            </a:r>
            <a:endParaRPr lang="en-US" altLang="zh-CN" dirty="0"/>
          </a:p>
          <a:p>
            <a:pPr lvl="1"/>
            <a:r>
              <a:rPr lang="zh-CN" altLang="zh-CN" dirty="0"/>
              <a:t>奇偶校验码</a:t>
            </a:r>
            <a:endParaRPr lang="en-US" altLang="zh-CN" dirty="0"/>
          </a:p>
          <a:p>
            <a:pPr lvl="1"/>
            <a:r>
              <a:rPr lang="zh-CN" altLang="zh-CN" dirty="0"/>
              <a:t>循环冗余校验码</a:t>
            </a:r>
            <a:endParaRPr lang="en-US" altLang="zh-CN" dirty="0"/>
          </a:p>
          <a:p>
            <a:pPr lvl="1"/>
            <a:r>
              <a:rPr lang="zh-CN" altLang="zh-CN" dirty="0"/>
              <a:t>检查和</a:t>
            </a:r>
            <a:endParaRPr lang="en-US" altLang="zh-CN" dirty="0"/>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sld>
</file>

<file path=ppt/tags/tag1.xml><?xml version="1.0" encoding="utf-8"?>
<p:tagLst xmlns:p="http://schemas.openxmlformats.org/presentationml/2006/main">
  <p:tag name="commondata" val="eyJoZGlkIjoiYTc2ZGZiNzZiNDVlOGViOWVmM2JhOTY0NGJkNjUyYzgifQ=="/>
</p:tagLst>
</file>

<file path=ppt/theme/theme1.xml><?xml version="1.0" encoding="utf-8"?>
<a:theme xmlns:a="http://schemas.openxmlformats.org/drawingml/2006/main" name="my-network">
  <a:themeElements>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8100">
          <a:solidFill>
            <a:srgbClr val="6600CC"/>
          </a:solidFill>
          <a:round/>
          <a:tailEnd type="triangle" w="med" len="med"/>
        </a:ln>
      </a:spPr>
      <a:bodyPr anchor="ctr"/>
      <a:lstStyle>
        <a:defPPr algn="l">
          <a:defRPr/>
        </a:defPPr>
      </a:lstStyle>
    </a:spDef>
    <a:lnDef>
      <a:spPr bwMode="auto">
        <a:ln w="19050">
          <a:headEnd type="none" w="med" len="med"/>
          <a:tailEnd type="none" w="med" len="med"/>
        </a:ln>
      </a:spPr>
      <a:bodyPr/>
      <a:lstStyle/>
      <a:style>
        <a:lnRef idx="1">
          <a:schemeClr val="accent2"/>
        </a:lnRef>
        <a:fillRef idx="0">
          <a:schemeClr val="accent2"/>
        </a:fillRef>
        <a:effectRef idx="0">
          <a:schemeClr val="accent2"/>
        </a:effectRef>
        <a:fontRef idx="minor">
          <a:schemeClr val="tx1"/>
        </a:fontRef>
      </a:style>
    </a:lnDef>
    <a:txDef>
      <a:spPr bwMode="auto">
        <a:solidFill>
          <a:schemeClr val="accent1"/>
        </a:solidFill>
        <a:ln>
          <a:noFill/>
        </a:ln>
      </a:spPr>
      <a:bodyPr>
        <a:spAutoFit/>
      </a:bodyPr>
      <a:lstStyle>
        <a:defPPr algn="l">
          <a:defRPr dirty="0">
            <a:latin typeface="微软雅黑 Light" panose="020B0502040204020203" pitchFamily="34" charset="-122"/>
            <a:ea typeface="微软雅黑 Light" panose="020B0502040204020203" pitchFamily="34" charset="-122"/>
          </a:defRPr>
        </a:defPPr>
      </a:lstStyle>
    </a:txDef>
  </a:objectDefaults>
  <a:extraClrSchemeLst>
    <a:extraClrScheme>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y-networ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y-networ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y-networ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y-networ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y-networ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y-networ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y-networ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y-networ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y-networ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y-networ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y-networ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9394</Words>
  <Application>WPS 演示</Application>
  <PresentationFormat>宽屏</PresentationFormat>
  <Paragraphs>2492</Paragraphs>
  <Slides>82</Slides>
  <Notes>53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82</vt:i4>
      </vt:variant>
    </vt:vector>
  </HeadingPairs>
  <TitlesOfParts>
    <vt:vector size="97" baseType="lpstr">
      <vt:lpstr>Arial</vt:lpstr>
      <vt:lpstr>宋体</vt:lpstr>
      <vt:lpstr>Wingdings</vt:lpstr>
      <vt:lpstr>微软雅黑 Light</vt:lpstr>
      <vt:lpstr>微软雅黑</vt:lpstr>
      <vt:lpstr>Times New Roman</vt:lpstr>
      <vt:lpstr>黑体</vt:lpstr>
      <vt:lpstr>华文琥珀</vt:lpstr>
      <vt:lpstr>Symbol</vt:lpstr>
      <vt:lpstr>Arial Unicode MS</vt:lpstr>
      <vt:lpstr>等线</vt:lpstr>
      <vt:lpstr>Tahoma</vt:lpstr>
      <vt:lpstr>Courier New</vt:lpstr>
      <vt:lpstr>Calibri</vt:lpstr>
      <vt:lpstr>my-network</vt:lpstr>
      <vt:lpstr>计算机网络</vt:lpstr>
      <vt:lpstr>第2章 数据通信基础</vt:lpstr>
      <vt:lpstr>2.1 数据通信系统</vt:lpstr>
      <vt:lpstr>通信系统的传输方式</vt:lpstr>
      <vt:lpstr>数据通信系统的组成</vt:lpstr>
      <vt:lpstr>数据通信系统示例</vt:lpstr>
      <vt:lpstr>数据通信系统解决的问题与技术指标</vt:lpstr>
      <vt:lpstr>2.2 信号和数据编码</vt:lpstr>
      <vt:lpstr>模拟信号</vt:lpstr>
      <vt:lpstr>模拟信号</vt:lpstr>
      <vt:lpstr>数字信号</vt:lpstr>
      <vt:lpstr>信息编码</vt:lpstr>
      <vt:lpstr>数字—数字编码</vt:lpstr>
      <vt:lpstr>单极性编码</vt:lpstr>
      <vt:lpstr>极化编码</vt:lpstr>
      <vt:lpstr>非归零编码</vt:lpstr>
      <vt:lpstr>4B/5B编码</vt:lpstr>
      <vt:lpstr>归零编码</vt:lpstr>
      <vt:lpstr>双相位编码</vt:lpstr>
      <vt:lpstr>MPE 和DME</vt:lpstr>
      <vt:lpstr>MPE信号的生成</vt:lpstr>
      <vt:lpstr>双极性编码</vt:lpstr>
      <vt:lpstr>信号交替反转码</vt:lpstr>
      <vt:lpstr>数字—模拟编码</vt:lpstr>
      <vt:lpstr>正弦波的参数变化</vt:lpstr>
      <vt:lpstr>幅移键控(ASK—Amplitude shift key)</vt:lpstr>
      <vt:lpstr>频移键控</vt:lpstr>
      <vt:lpstr>相移键控</vt:lpstr>
      <vt:lpstr>相移键控</vt:lpstr>
      <vt:lpstr>相移键控星座图</vt:lpstr>
      <vt:lpstr>正交调幅</vt:lpstr>
      <vt:lpstr>正交调幅星座图</vt:lpstr>
      <vt:lpstr>模拟—数字编码</vt:lpstr>
      <vt:lpstr>模拟—模拟编码</vt:lpstr>
      <vt:lpstr>傅里叶分析与有限带宽信号</vt:lpstr>
      <vt:lpstr>傅里叶分析</vt:lpstr>
      <vt:lpstr>几个相关的概念</vt:lpstr>
      <vt:lpstr>基带信号和带通信号 </vt:lpstr>
      <vt:lpstr>奈氏准则</vt:lpstr>
      <vt:lpstr>比特率、波特率、码元状态的关系</vt:lpstr>
      <vt:lpstr>香农(Shannon)定理</vt:lpstr>
      <vt:lpstr>示例</vt:lpstr>
      <vt:lpstr>2.3 多路复用技术</vt:lpstr>
      <vt:lpstr>多路复用技术类型</vt:lpstr>
      <vt:lpstr>频分复用</vt:lpstr>
      <vt:lpstr>时分复用</vt:lpstr>
      <vt:lpstr>时分复用</vt:lpstr>
      <vt:lpstr>同步TDM</vt:lpstr>
      <vt:lpstr>同步TDM可能浪费资源</vt:lpstr>
      <vt:lpstr>异步TDM</vt:lpstr>
      <vt:lpstr>异步TDM</vt:lpstr>
      <vt:lpstr>同步TDM vs 异步TDM</vt:lpstr>
      <vt:lpstr>波分多路复用</vt:lpstr>
      <vt:lpstr>码分多路复用</vt:lpstr>
      <vt:lpstr>码分多路复用</vt:lpstr>
      <vt:lpstr>正交性</vt:lpstr>
      <vt:lpstr>码分复用示例</vt:lpstr>
      <vt:lpstr>三种复用方式对比</vt:lpstr>
      <vt:lpstr>2.4 数据交换技术</vt:lpstr>
      <vt:lpstr>2.4 数据交换技术</vt:lpstr>
      <vt:lpstr>电路交换</vt:lpstr>
      <vt:lpstr>报文交换</vt:lpstr>
      <vt:lpstr>分组交换</vt:lpstr>
      <vt:lpstr>分组交换与电路交换的比较</vt:lpstr>
      <vt:lpstr>分组交换两种类型</vt:lpstr>
      <vt:lpstr>数据报</vt:lpstr>
      <vt:lpstr>数据报</vt:lpstr>
      <vt:lpstr>虚电路</vt:lpstr>
      <vt:lpstr>两种虚电路</vt:lpstr>
      <vt:lpstr>三种交换方式的对比</vt:lpstr>
      <vt:lpstr>2.5 错误检测编码</vt:lpstr>
      <vt:lpstr>奇偶校验码</vt:lpstr>
      <vt:lpstr>奇偶校验</vt:lpstr>
      <vt:lpstr>奇偶校验</vt:lpstr>
      <vt:lpstr>奇偶校验检错能力</vt:lpstr>
      <vt:lpstr>循环冗余校验码CRC</vt:lpstr>
      <vt:lpstr>CRC计算示例</vt:lpstr>
      <vt:lpstr>CRC检错能力</vt:lpstr>
      <vt:lpstr>校验和</vt:lpstr>
      <vt:lpstr>校验和计算示例</vt:lpstr>
      <vt:lpstr>2.6 本章小结</vt:lpstr>
      <vt:lpstr>2.6 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数据通信基础</dc:title>
  <dc:creator>Zhang Zongsheng</dc:creator>
  <cp:lastModifiedBy>俏也不争春 </cp:lastModifiedBy>
  <cp:revision>88</cp:revision>
  <dcterms:created xsi:type="dcterms:W3CDTF">2024-02-28T08:40:00Z</dcterms:created>
  <dcterms:modified xsi:type="dcterms:W3CDTF">2025-08-18T01:47:26Z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812B86334EC740DD965A279BE655FE04_13</vt:lpwstr>
  </property>
  <property fmtid="{D5CDD505-2E9C-101B-9397-08002B2CF9AE}" pid="3" name="KSOProductBuildVer">
    <vt:lpwstr>2052-12.1.0.21915</vt:lpwstr>
  </property>
</Properties>
</file>