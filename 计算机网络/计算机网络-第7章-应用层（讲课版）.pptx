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75"/>
  </p:handoutMasterIdLst>
  <p:sldIdLst>
    <p:sldId id="443" r:id="rId3"/>
    <p:sldId id="469" r:id="rId5"/>
    <p:sldId id="504" r:id="rId6"/>
    <p:sldId id="470" r:id="rId7"/>
    <p:sldId id="1366" r:id="rId8"/>
    <p:sldId id="1467" r:id="rId9"/>
    <p:sldId id="1468" r:id="rId10"/>
    <p:sldId id="1469" r:id="rId11"/>
    <p:sldId id="1463" r:id="rId12"/>
    <p:sldId id="1464" r:id="rId13"/>
    <p:sldId id="1465" r:id="rId14"/>
    <p:sldId id="1460" r:id="rId15"/>
    <p:sldId id="1461" r:id="rId16"/>
    <p:sldId id="1462" r:id="rId17"/>
    <p:sldId id="1376" r:id="rId18"/>
    <p:sldId id="1470" r:id="rId19"/>
    <p:sldId id="1471" r:id="rId20"/>
    <p:sldId id="1380" r:id="rId21"/>
    <p:sldId id="444" r:id="rId22"/>
    <p:sldId id="446" r:id="rId23"/>
    <p:sldId id="1472" r:id="rId24"/>
    <p:sldId id="1473" r:id="rId25"/>
    <p:sldId id="1474" r:id="rId26"/>
    <p:sldId id="1475" r:id="rId27"/>
    <p:sldId id="1476" r:id="rId28"/>
    <p:sldId id="1477" r:id="rId29"/>
    <p:sldId id="447" r:id="rId30"/>
    <p:sldId id="1478" r:id="rId31"/>
    <p:sldId id="488" r:id="rId32"/>
    <p:sldId id="487" r:id="rId33"/>
    <p:sldId id="1479" r:id="rId34"/>
    <p:sldId id="1480" r:id="rId35"/>
    <p:sldId id="448" r:id="rId36"/>
    <p:sldId id="450" r:id="rId37"/>
    <p:sldId id="452" r:id="rId38"/>
    <p:sldId id="451" r:id="rId39"/>
    <p:sldId id="1481" r:id="rId40"/>
    <p:sldId id="1482" r:id="rId41"/>
    <p:sldId id="453" r:id="rId42"/>
    <p:sldId id="1493" r:id="rId43"/>
    <p:sldId id="455" r:id="rId44"/>
    <p:sldId id="456" r:id="rId45"/>
    <p:sldId id="494" r:id="rId46"/>
    <p:sldId id="458" r:id="rId47"/>
    <p:sldId id="1494" r:id="rId48"/>
    <p:sldId id="1495" r:id="rId49"/>
    <p:sldId id="1496" r:id="rId50"/>
    <p:sldId id="1497" r:id="rId51"/>
    <p:sldId id="459" r:id="rId52"/>
    <p:sldId id="460" r:id="rId53"/>
    <p:sldId id="461" r:id="rId54"/>
    <p:sldId id="463" r:id="rId55"/>
    <p:sldId id="464" r:id="rId56"/>
    <p:sldId id="465" r:id="rId57"/>
    <p:sldId id="486" r:id="rId58"/>
    <p:sldId id="466" r:id="rId59"/>
    <p:sldId id="492" r:id="rId60"/>
    <p:sldId id="1502" r:id="rId61"/>
    <p:sldId id="1503" r:id="rId62"/>
    <p:sldId id="467" r:id="rId63"/>
    <p:sldId id="468" r:id="rId64"/>
    <p:sldId id="497" r:id="rId65"/>
    <p:sldId id="1505" r:id="rId66"/>
    <p:sldId id="502" r:id="rId67"/>
    <p:sldId id="1504" r:id="rId68"/>
    <p:sldId id="498" r:id="rId69"/>
    <p:sldId id="499" r:id="rId70"/>
    <p:sldId id="1498" r:id="rId71"/>
    <p:sldId id="1499" r:id="rId72"/>
    <p:sldId id="1500" r:id="rId73"/>
    <p:sldId id="1501" r:id="rId74"/>
  </p:sldIdLst>
  <p:sldSz cx="12192000" cy="6858000"/>
  <p:notesSz cx="6400800" cy="8686800"/>
  <p:defaultTextStyle>
    <a:defPPr>
      <a:defRPr lang="zh-CN"/>
    </a:defPPr>
    <a:lvl1pPr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5pPr>
    <a:lvl6pPr marL="22860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6pPr>
    <a:lvl7pPr marL="27432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7pPr>
    <a:lvl8pPr marL="32004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8pPr>
    <a:lvl9pPr marL="36576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FF0000"/>
    <a:srgbClr val="FFCCCC"/>
    <a:srgbClr val="FFCC99"/>
    <a:srgbClr val="99CC00"/>
    <a:srgbClr val="FF99FF"/>
    <a:srgbClr val="CCFF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87" autoAdjust="0"/>
    <p:restoredTop sz="66727" autoAdjust="0"/>
  </p:normalViewPr>
  <p:slideViewPr>
    <p:cSldViewPr showGuides="1">
      <p:cViewPr varScale="1">
        <p:scale>
          <a:sx n="67" d="100"/>
          <a:sy n="67" d="100"/>
        </p:scale>
        <p:origin x="540" y="5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4218"/>
    </p:cViewPr>
  </p:sorterViewPr>
  <p:notesViewPr>
    <p:cSldViewPr>
      <p:cViewPr varScale="1">
        <p:scale>
          <a:sx n="78" d="100"/>
          <a:sy n="78" d="100"/>
        </p:scale>
        <p:origin x="-3156" y="-84"/>
      </p:cViewPr>
      <p:guideLst>
        <p:guide orient="horz" pos="2736"/>
        <p:guide pos="201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defTabSz="862330" eaLnBrk="1" latinLnBrk="1" hangingPunct="1">
              <a:defRPr kumimoji="1" sz="1100">
                <a:latin typeface="Times New Roman" panose="02020603050405020304" pitchFamily="18" charset="0"/>
                <a:ea typeface="宋体" panose="02010600030101010101" pitchFamily="2" charset="-122"/>
              </a:defRPr>
            </a:lvl1pPr>
          </a:lstStyle>
          <a:p>
            <a:pPr>
              <a:defRPr/>
            </a:pPr>
            <a:endParaRPr lang="en-US" altLang="zh-CN" dirty="0">
              <a:ea typeface="微软雅黑" panose="020B0503020204020204" pitchFamily="34" charset="-122"/>
            </a:endParaRPr>
          </a:p>
        </p:txBody>
      </p:sp>
      <p:sp>
        <p:nvSpPr>
          <p:cNvPr id="31747" name="Rectangle 3"/>
          <p:cNvSpPr>
            <a:spLocks noGrp="1" noChangeArrowheads="1"/>
          </p:cNvSpPr>
          <p:nvPr>
            <p:ph type="dt" sz="quarter" idx="1"/>
          </p:nvPr>
        </p:nvSpPr>
        <p:spPr bwMode="auto">
          <a:xfrm>
            <a:off x="3627438" y="0"/>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algn="r" defTabSz="862330" eaLnBrk="1" latinLnBrk="1" hangingPunct="1">
              <a:defRPr kumimoji="1" sz="1100">
                <a:latin typeface="Times New Roman" panose="02020603050405020304" pitchFamily="18" charset="0"/>
                <a:ea typeface="宋体" panose="02010600030101010101" pitchFamily="2" charset="-122"/>
              </a:defRPr>
            </a:lvl1pPr>
          </a:lstStyle>
          <a:p>
            <a:pPr>
              <a:defRPr/>
            </a:pPr>
            <a:fld id="{B8C3BBC7-FB4C-48C3-893A-3E44C3B17902}" type="datetimeFigureOut">
              <a:rPr lang="en-US" altLang="zh-CN">
                <a:ea typeface="微软雅黑" panose="020B0503020204020204" pitchFamily="34" charset="-122"/>
              </a:rPr>
            </a:fld>
            <a:endParaRPr lang="en-US" altLang="zh-CN" dirty="0">
              <a:ea typeface="微软雅黑" panose="020B0503020204020204" pitchFamily="34" charset="-122"/>
            </a:endParaRPr>
          </a:p>
        </p:txBody>
      </p:sp>
      <p:sp>
        <p:nvSpPr>
          <p:cNvPr id="31748" name="Rectangle 4"/>
          <p:cNvSpPr>
            <a:spLocks noGrp="1" noChangeArrowheads="1"/>
          </p:cNvSpPr>
          <p:nvPr>
            <p:ph type="ftr" sz="quarter" idx="2"/>
          </p:nvPr>
        </p:nvSpPr>
        <p:spPr bwMode="auto">
          <a:xfrm>
            <a:off x="0" y="8251825"/>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defTabSz="862330" eaLnBrk="1" latinLnBrk="1" hangingPunct="1">
              <a:defRPr kumimoji="1" sz="1100">
                <a:latin typeface="Times New Roman" panose="02020603050405020304" pitchFamily="18" charset="0"/>
                <a:ea typeface="宋体" panose="02010600030101010101" pitchFamily="2" charset="-122"/>
              </a:defRPr>
            </a:lvl1pPr>
          </a:lstStyle>
          <a:p>
            <a:pPr>
              <a:defRPr/>
            </a:pPr>
            <a:endParaRPr lang="en-US" altLang="zh-CN" dirty="0">
              <a:ea typeface="微软雅黑" panose="020B0503020204020204" pitchFamily="34" charset="-122"/>
            </a:endParaRPr>
          </a:p>
        </p:txBody>
      </p:sp>
      <p:sp>
        <p:nvSpPr>
          <p:cNvPr id="31749" name="Rectangle 5"/>
          <p:cNvSpPr>
            <a:spLocks noGrp="1" noChangeArrowheads="1"/>
          </p:cNvSpPr>
          <p:nvPr>
            <p:ph type="sldNum" sz="quarter" idx="3"/>
          </p:nvPr>
        </p:nvSpPr>
        <p:spPr bwMode="auto">
          <a:xfrm>
            <a:off x="3627438" y="8251825"/>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algn="r" defTabSz="862330" eaLnBrk="1" latinLnBrk="1" hangingPunct="1">
              <a:defRPr kumimoji="1" sz="1100">
                <a:latin typeface="Times New Roman" panose="02020603050405020304" pitchFamily="18" charset="0"/>
                <a:ea typeface="宋体" panose="02010600030101010101" pitchFamily="2" charset="-122"/>
              </a:defRPr>
            </a:lvl1pPr>
          </a:lstStyle>
          <a:p>
            <a:pPr>
              <a:defRPr/>
            </a:pPr>
            <a:fld id="{56A1991C-6362-4795-95E8-6E409B523B26}" type="slidenum">
              <a:rPr lang="en-US" altLang="zh-CN">
                <a:ea typeface="微软雅黑" panose="020B0503020204020204" pitchFamily="34" charset="-122"/>
              </a:rPr>
            </a:fld>
            <a:endParaRPr lang="en-US" altLang="zh-CN" dirty="0">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endParaRPr lang="en-US" altLang="zh-CN" dirty="0"/>
          </a:p>
        </p:txBody>
      </p:sp>
      <p:sp>
        <p:nvSpPr>
          <p:cNvPr id="30723" name="Rectangle 3"/>
          <p:cNvSpPr>
            <a:spLocks noGrp="1" noChangeArrowheads="1"/>
          </p:cNvSpPr>
          <p:nvPr>
            <p:ph type="dt" idx="1"/>
          </p:nvPr>
        </p:nvSpPr>
        <p:spPr bwMode="auto">
          <a:xfrm>
            <a:off x="3627438" y="0"/>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algn="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fld id="{901BB706-2087-4C78-9866-D4E342199E42}" type="datetimeFigureOut">
              <a:rPr lang="en-US" altLang="zh-CN" smtClean="0"/>
            </a:fld>
            <a:endParaRPr lang="en-US" altLang="zh-CN" dirty="0"/>
          </a:p>
        </p:txBody>
      </p:sp>
      <p:sp>
        <p:nvSpPr>
          <p:cNvPr id="3076" name="Rectangle 4"/>
          <p:cNvSpPr>
            <a:spLocks noGrp="1" noRot="1" noChangeAspect="1" noChangeArrowheads="1" noTextEdit="1"/>
          </p:cNvSpPr>
          <p:nvPr>
            <p:ph type="sldImg" idx="2"/>
          </p:nvPr>
        </p:nvSpPr>
        <p:spPr bwMode="auto">
          <a:xfrm>
            <a:off x="304800" y="650875"/>
            <a:ext cx="5791200" cy="325755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5" name="Rectangle 5"/>
          <p:cNvSpPr>
            <a:spLocks noGrp="1" noChangeArrowheads="1"/>
          </p:cNvSpPr>
          <p:nvPr>
            <p:ph type="body" sz="quarter" idx="3"/>
          </p:nvPr>
        </p:nvSpPr>
        <p:spPr bwMode="auto">
          <a:xfrm>
            <a:off x="854075" y="4125913"/>
            <a:ext cx="4692650" cy="391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30726" name="Rectangle 6"/>
          <p:cNvSpPr>
            <a:spLocks noGrp="1" noChangeArrowheads="1"/>
          </p:cNvSpPr>
          <p:nvPr>
            <p:ph type="ftr" sz="quarter" idx="4"/>
          </p:nvPr>
        </p:nvSpPr>
        <p:spPr bwMode="auto">
          <a:xfrm>
            <a:off x="0" y="8251825"/>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endParaRPr lang="en-US" altLang="zh-CN" dirty="0"/>
          </a:p>
        </p:txBody>
      </p:sp>
      <p:sp>
        <p:nvSpPr>
          <p:cNvPr id="30727" name="Rectangle 7"/>
          <p:cNvSpPr>
            <a:spLocks noGrp="1" noChangeArrowheads="1"/>
          </p:cNvSpPr>
          <p:nvPr>
            <p:ph type="sldNum" sz="quarter" idx="5"/>
          </p:nvPr>
        </p:nvSpPr>
        <p:spPr bwMode="auto">
          <a:xfrm>
            <a:off x="3627438" y="8251825"/>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algn="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fld id="{276C582E-0752-4FCA-8E88-DA8DD40C2D79}" type="slidenum">
              <a:rPr lang="en-US" altLang="zh-CN" smtClean="0"/>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804E6E0-808E-4F1D-929C-E8B81E857707}" type="slidenum">
              <a:rPr lang="en-US" altLang="zh-CN"/>
            </a:fld>
            <a:endParaRPr lang="en-US" altLang="zh-CN"/>
          </a:p>
        </p:txBody>
      </p:sp>
      <p:sp>
        <p:nvSpPr>
          <p:cNvPr id="330754" name="Rectangle 2"/>
          <p:cNvSpPr>
            <a:spLocks noGrp="1" noRot="1" noChangeAspect="1" noChangeArrowheads="1" noTextEdit="1"/>
          </p:cNvSpPr>
          <p:nvPr>
            <p:ph type="sldImg"/>
          </p:nvPr>
        </p:nvSpPr>
        <p:spPr/>
      </p:sp>
      <p:sp>
        <p:nvSpPr>
          <p:cNvPr id="330755" name="Rectangle 3"/>
          <p:cNvSpPr>
            <a:spLocks noGrp="1" noChangeArrowheads="1"/>
          </p:cNvSpPr>
          <p:nvPr>
            <p:ph type="body" idx="1"/>
          </p:nvPr>
        </p:nvSpPr>
        <p:spPr/>
        <p:txBody>
          <a:bodyPr/>
          <a:lstStyle/>
          <a:p>
            <a:pPr>
              <a:lnSpc>
                <a:spcPct val="80000"/>
              </a:lnSpc>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5AB56F9-EC20-4DDD-94AA-5BB7C9BFE3FF}" type="slidenum">
              <a:rPr lang="en-US" altLang="zh-CN"/>
            </a:fld>
            <a:endParaRPr lang="en-US" altLang="zh-CN"/>
          </a:p>
        </p:txBody>
      </p:sp>
      <p:sp>
        <p:nvSpPr>
          <p:cNvPr id="308226" name="Rectangle 2"/>
          <p:cNvSpPr>
            <a:spLocks noGrp="1" noRot="1" noChangeAspect="1" noChangeArrowheads="1" noTextEdit="1"/>
          </p:cNvSpPr>
          <p:nvPr>
            <p:ph type="sldImg"/>
          </p:nvPr>
        </p:nvSpPr>
        <p:spPr/>
      </p:sp>
      <p:sp>
        <p:nvSpPr>
          <p:cNvPr id="308227"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C7D42F6-5546-471E-A660-859BDCE97811}" type="slidenum">
              <a:rPr lang="en-US" altLang="zh-CN"/>
            </a:fld>
            <a:endParaRPr lang="en-US" altLang="zh-CN"/>
          </a:p>
        </p:txBody>
      </p:sp>
      <p:sp>
        <p:nvSpPr>
          <p:cNvPr id="307202" name="Rectangle 2"/>
          <p:cNvSpPr>
            <a:spLocks noGrp="1" noRot="1" noChangeAspect="1" noChangeArrowheads="1" noTextEdit="1"/>
          </p:cNvSpPr>
          <p:nvPr>
            <p:ph type="sldImg"/>
          </p:nvPr>
        </p:nvSpPr>
        <p:spPr/>
      </p:sp>
      <p:sp>
        <p:nvSpPr>
          <p:cNvPr id="307203"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32FF438-3E79-4DB5-99F5-7869BD98EBCE}" type="slidenum">
              <a:rPr lang="en-US" altLang="zh-CN"/>
            </a:fld>
            <a:endParaRPr lang="en-US" altLang="zh-CN"/>
          </a:p>
        </p:txBody>
      </p:sp>
      <p:sp>
        <p:nvSpPr>
          <p:cNvPr id="305154" name="Rectangle 2"/>
          <p:cNvSpPr>
            <a:spLocks noGrp="1" noRot="1" noChangeAspect="1" noChangeArrowheads="1" noTextEdit="1"/>
          </p:cNvSpPr>
          <p:nvPr>
            <p:ph type="sldImg"/>
          </p:nvPr>
        </p:nvSpPr>
        <p:spPr/>
      </p:sp>
      <p:sp>
        <p:nvSpPr>
          <p:cNvPr id="305155"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007B1B-68E3-46D4-9677-9B7CBA413EB4}" type="slidenum">
              <a:rPr lang="en-US" altLang="zh-CN"/>
            </a:fld>
            <a:endParaRPr lang="en-US" altLang="zh-CN"/>
          </a:p>
        </p:txBody>
      </p:sp>
      <p:sp>
        <p:nvSpPr>
          <p:cNvPr id="306178" name="Rectangle 2"/>
          <p:cNvSpPr>
            <a:spLocks noGrp="1" noRot="1" noChangeAspect="1" noChangeArrowheads="1" noTextEdit="1"/>
          </p:cNvSpPr>
          <p:nvPr>
            <p:ph type="sldImg"/>
          </p:nvPr>
        </p:nvSpPr>
        <p:spPr/>
      </p:sp>
      <p:sp>
        <p:nvSpPr>
          <p:cNvPr id="3061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6AD7A59-2ED7-4229-97F5-FFE523E8D692}" type="slidenum">
              <a:rPr lang="en-US" altLang="zh-CN"/>
            </a:fld>
            <a:endParaRPr lang="en-US" altLang="zh-CN"/>
          </a:p>
        </p:txBody>
      </p:sp>
      <p:sp>
        <p:nvSpPr>
          <p:cNvPr id="354306" name="Rectangle 2"/>
          <p:cNvSpPr>
            <a:spLocks noGrp="1" noRot="1" noChangeAspect="1" noChangeArrowheads="1" noTextEdit="1"/>
          </p:cNvSpPr>
          <p:nvPr>
            <p:ph type="sldImg"/>
          </p:nvPr>
        </p:nvSpPr>
        <p:spPr/>
      </p:sp>
      <p:sp>
        <p:nvSpPr>
          <p:cNvPr id="354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24CA4F1-2343-41A4-A693-DC4ADFAE2170}" type="slidenum">
              <a:rPr lang="en-US" altLang="zh-CN"/>
            </a:fld>
            <a:endParaRPr lang="en-US" altLang="zh-CN"/>
          </a:p>
        </p:txBody>
      </p:sp>
      <p:sp>
        <p:nvSpPr>
          <p:cNvPr id="353282" name="Rectangle 2"/>
          <p:cNvSpPr>
            <a:spLocks noGrp="1" noRot="1" noChangeAspect="1" noChangeArrowheads="1" noTextEdit="1"/>
          </p:cNvSpPr>
          <p:nvPr>
            <p:ph type="sldImg"/>
          </p:nvPr>
        </p:nvSpPr>
        <p:spPr/>
      </p:sp>
      <p:sp>
        <p:nvSpPr>
          <p:cNvPr id="3532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E83CBD9-DD06-4108-903E-FC80831E6F43}" type="slidenum">
              <a:rPr lang="en-US" altLang="zh-CN"/>
            </a:fld>
            <a:endParaRPr lang="en-US" altLang="zh-CN"/>
          </a:p>
        </p:txBody>
      </p:sp>
      <p:sp>
        <p:nvSpPr>
          <p:cNvPr id="371714" name="Rectangle 2"/>
          <p:cNvSpPr>
            <a:spLocks noGrp="1" noRot="1" noChangeAspect="1" noChangeArrowheads="1" noTextEdit="1"/>
          </p:cNvSpPr>
          <p:nvPr>
            <p:ph type="sldImg"/>
          </p:nvPr>
        </p:nvSpPr>
        <p:spPr/>
      </p:sp>
      <p:sp>
        <p:nvSpPr>
          <p:cNvPr id="371715" name="Rectangle 3"/>
          <p:cNvSpPr>
            <a:spLocks noGrp="1" noChangeArrowheads="1"/>
          </p:cNvSpPr>
          <p:nvPr>
            <p:ph type="body" idx="1"/>
          </p:nvPr>
        </p:nvSpPr>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7"/>
          <p:cNvSpPr>
            <a:spLocks noChangeArrowheads="1"/>
          </p:cNvSpPr>
          <p:nvPr/>
        </p:nvSpPr>
        <p:spPr bwMode="auto">
          <a:xfrm>
            <a:off x="8015818" y="3248026"/>
            <a:ext cx="4176183" cy="360363"/>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Times New Roman" panose="02020603050405020304" pitchFamily="18" charset="0"/>
              <a:ea typeface="微软雅黑" panose="020B0503020204020204" pitchFamily="34" charset="-122"/>
            </a:endParaRPr>
          </a:p>
        </p:txBody>
      </p:sp>
      <p:sp>
        <p:nvSpPr>
          <p:cNvPr id="5" name="Rectangle 8"/>
          <p:cNvSpPr>
            <a:spLocks noChangeArrowheads="1"/>
          </p:cNvSpPr>
          <p:nvPr/>
        </p:nvSpPr>
        <p:spPr bwMode="auto">
          <a:xfrm>
            <a:off x="0" y="3248026"/>
            <a:ext cx="4176184" cy="360363"/>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Times New Roman" panose="02020603050405020304" pitchFamily="18" charset="0"/>
              <a:ea typeface="微软雅黑" panose="020B0503020204020204" pitchFamily="34" charset="-122"/>
            </a:endParaRPr>
          </a:p>
        </p:txBody>
      </p:sp>
      <p:sp>
        <p:nvSpPr>
          <p:cNvPr id="6" name="Rectangle 9"/>
          <p:cNvSpPr>
            <a:spLocks noChangeArrowheads="1"/>
          </p:cNvSpPr>
          <p:nvPr/>
        </p:nvSpPr>
        <p:spPr bwMode="auto">
          <a:xfrm>
            <a:off x="4176185" y="3248026"/>
            <a:ext cx="3839633" cy="360363"/>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a:latin typeface="微软雅黑" panose="020B0503020204020204" pitchFamily="34" charset="-122"/>
              <a:ea typeface="微软雅黑" panose="020B0503020204020204" pitchFamily="34" charset="-122"/>
            </a:endParaRPr>
          </a:p>
        </p:txBody>
      </p:sp>
      <p:sp>
        <p:nvSpPr>
          <p:cNvPr id="602114" name="Rectangle 2"/>
          <p:cNvSpPr>
            <a:spLocks noGrp="1" noChangeArrowheads="1"/>
          </p:cNvSpPr>
          <p:nvPr>
            <p:ph type="ctrTitle"/>
          </p:nvPr>
        </p:nvSpPr>
        <p:spPr>
          <a:xfrm>
            <a:off x="914400" y="1638301"/>
            <a:ext cx="10363200" cy="1476375"/>
          </a:xfrm>
        </p:spPr>
        <p:txBody>
          <a:bodyPr/>
          <a:lstStyle>
            <a:lvl1pPr algn="ctr">
              <a:defRPr sz="4400"/>
            </a:lvl1pPr>
          </a:lstStyle>
          <a:p>
            <a:pPr lvl="0"/>
            <a:r>
              <a:rPr lang="en-US" altLang="zh-CN" noProof="0" dirty="0"/>
              <a:t>Click to edit Master title style</a:t>
            </a:r>
            <a:endParaRPr lang="en-US" altLang="zh-CN" noProof="0" dirty="0"/>
          </a:p>
        </p:txBody>
      </p:sp>
      <p:sp>
        <p:nvSpPr>
          <p:cNvPr id="602115" name="Rectangle 3"/>
          <p:cNvSpPr>
            <a:spLocks noGrp="1" noChangeArrowheads="1"/>
          </p:cNvSpPr>
          <p:nvPr>
            <p:ph type="subTitle" idx="1"/>
          </p:nvPr>
        </p:nvSpPr>
        <p:spPr>
          <a:xfrm>
            <a:off x="1828800" y="3946525"/>
            <a:ext cx="8534400" cy="1417638"/>
          </a:xfrm>
        </p:spPr>
        <p:txBody>
          <a:bodyPr/>
          <a:lstStyle>
            <a:lvl1pPr marL="0" indent="0" algn="ctr">
              <a:buFont typeface="Wingdings" panose="05000000000000000000" pitchFamily="2" charset="2"/>
              <a:buNone/>
              <a:defRPr>
                <a:latin typeface="微软雅黑" panose="020B0503020204020204" pitchFamily="34" charset="-122"/>
                <a:ea typeface="微软雅黑" panose="020B0503020204020204" pitchFamily="34" charset="-122"/>
              </a:defRPr>
            </a:lvl1pPr>
          </a:lstStyle>
          <a:p>
            <a:pPr lvl="0"/>
            <a:r>
              <a:rPr lang="en-US" altLang="zh-CN" noProof="0"/>
              <a:t>Click to edit Master subtitle style</a:t>
            </a:r>
            <a:endParaRPr lang="en-US" altLang="zh-CN" noProof="0"/>
          </a:p>
        </p:txBody>
      </p:sp>
      <p:sp>
        <p:nvSpPr>
          <p:cNvPr id="7" name="Rectangle 4"/>
          <p:cNvSpPr>
            <a:spLocks noGrp="1" noChangeArrowheads="1"/>
          </p:cNvSpPr>
          <p:nvPr>
            <p:ph type="dt" sz="half" idx="10"/>
          </p:nvPr>
        </p:nvSpPr>
        <p:spPr>
          <a:xfrm>
            <a:off x="609600" y="6245225"/>
            <a:ext cx="2844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fld id="{87AAD51E-5C15-4B20-9275-4C7948F7C00F}" type="datetime1">
              <a:rPr lang="zh-CN" altLang="en-US" smtClean="0"/>
            </a:fld>
            <a:endParaRPr lang="en-US" altLang="zh-CN"/>
          </a:p>
        </p:txBody>
      </p:sp>
      <p:sp>
        <p:nvSpPr>
          <p:cNvPr id="8" name="Rectangle 5"/>
          <p:cNvSpPr>
            <a:spLocks noGrp="1" noChangeArrowheads="1"/>
          </p:cNvSpPr>
          <p:nvPr>
            <p:ph type="ftr" sz="quarter" idx="11"/>
          </p:nvPr>
        </p:nvSpPr>
        <p:spPr>
          <a:xfrm>
            <a:off x="4165600" y="6245225"/>
            <a:ext cx="3860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a:p>
        </p:txBody>
      </p:sp>
      <p:sp>
        <p:nvSpPr>
          <p:cNvPr id="9" name="Rectangle 6"/>
          <p:cNvSpPr>
            <a:spLocks noGrp="1" noChangeArrowheads="1"/>
          </p:cNvSpPr>
          <p:nvPr>
            <p:ph type="sldNum" sz="quarter" idx="12"/>
          </p:nvPr>
        </p:nvSpPr>
        <p:spPr>
          <a:xfrm>
            <a:off x="8737600" y="6245225"/>
            <a:ext cx="2844800" cy="476250"/>
          </a:xfrm>
        </p:spPr>
        <p:txBody>
          <a:bodyPr/>
          <a:lstStyle>
            <a:lvl1pPr>
              <a:defRPr>
                <a:solidFill>
                  <a:schemeClr val="tx1"/>
                </a:solidFill>
                <a:latin typeface="微软雅黑 Light" panose="020B0502040204020203" pitchFamily="34" charset="-122"/>
                <a:ea typeface="微软雅黑 Light" panose="020B0502040204020203" pitchFamily="34" charset="-122"/>
              </a:defRPr>
            </a:lvl1pPr>
          </a:lstStyle>
          <a:p>
            <a:pPr>
              <a:defRPr/>
            </a:pPr>
            <a:fld id="{5D3F4DF0-0E70-4480-8313-566D8EB0767C}" type="slidenum">
              <a:rPr lang="en-US" altLang="zh-CN" smtClean="0"/>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aseline="0">
                <a:latin typeface="微软雅黑" panose="020B0503020204020204" pitchFamily="34" charset="-122"/>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4"/>
          <p:cNvSpPr>
            <a:spLocks noGrp="1" noChangeArrowheads="1"/>
          </p:cNvSpPr>
          <p:nvPr>
            <p:ph type="dt" sz="half" idx="10"/>
          </p:nvPr>
        </p:nvSpPr>
        <p:spPr>
          <a:xfrm>
            <a:off x="154517" y="6453336"/>
            <a:ext cx="2844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0736A3CD-6FFF-4ED7-9620-E2B4F263E481}" type="datetime1">
              <a:rPr lang="zh-CN" altLang="en-US" smtClean="0"/>
            </a:fld>
            <a:endParaRPr lang="en-US" altLang="zh-CN" dirty="0"/>
          </a:p>
        </p:txBody>
      </p:sp>
      <p:sp>
        <p:nvSpPr>
          <p:cNvPr id="5"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6" name="Rectangle 6"/>
          <p:cNvSpPr>
            <a:spLocks noGrp="1" noChangeArrowheads="1"/>
          </p:cNvSpPr>
          <p:nvPr>
            <p:ph type="sldNum" sz="quarter" idx="12"/>
          </p:nvPr>
        </p:nvSpPr>
        <p:spPr>
          <a:xfrm>
            <a:off x="10848528" y="6453336"/>
            <a:ext cx="1188956" cy="252266"/>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816960B2-2B11-492C-B588-5290E1274F96}" type="slidenum">
              <a:rPr lang="en-US" altLang="zh-CN" smtClean="0"/>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dirty="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内容占位符 2"/>
          <p:cNvSpPr>
            <a:spLocks noGrp="1"/>
          </p:cNvSpPr>
          <p:nvPr>
            <p:ph sz="half" idx="1"/>
          </p:nvPr>
        </p:nvSpPr>
        <p:spPr>
          <a:xfrm>
            <a:off x="334434"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97601"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Rectangle 4"/>
          <p:cNvSpPr>
            <a:spLocks noGrp="1" noChangeArrowheads="1"/>
          </p:cNvSpPr>
          <p:nvPr>
            <p:ph type="dt" sz="half" idx="10"/>
          </p:nvPr>
        </p:nvSpPr>
        <p:spPr>
          <a:xfrm>
            <a:off x="154517" y="6453336"/>
            <a:ext cx="1116947"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5024E19A-7120-48C3-8E29-E8B5EDF965CC}" type="datetime1">
              <a:rPr lang="zh-CN" altLang="en-US" smtClean="0"/>
            </a:fld>
            <a:endParaRPr lang="en-US" altLang="zh-CN"/>
          </a:p>
        </p:txBody>
      </p:sp>
      <p:sp>
        <p:nvSpPr>
          <p:cNvPr id="6"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7" name="Rectangle 6"/>
          <p:cNvSpPr>
            <a:spLocks noGrp="1" noChangeArrowheads="1"/>
          </p:cNvSpPr>
          <p:nvPr>
            <p:ph type="sldNum" sz="quarter" idx="12"/>
          </p:nvPr>
        </p:nvSpPr>
        <p:spPr>
          <a:xfrm>
            <a:off x="10992544" y="6453336"/>
            <a:ext cx="1044940" cy="206375"/>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5ACAED0A-32C0-459D-9CE5-9FDF4154FCB4}" type="slidenum">
              <a:rPr lang="en-US" altLang="zh-CN" smtClean="0"/>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2EEA62D8-7FFA-4E86-9D32-A4D2A167F937}" type="datetime1">
              <a:rPr lang="zh-CN" altLang="en-US" smtClean="0"/>
            </a:fld>
            <a:endParaRPr lang="en-US" altLang="zh-CN"/>
          </a:p>
        </p:txBody>
      </p:sp>
      <p:sp>
        <p:nvSpPr>
          <p:cNvPr id="4"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5" name="Rectangle 6"/>
          <p:cNvSpPr>
            <a:spLocks noGrp="1" noChangeArrowheads="1"/>
          </p:cNvSpPr>
          <p:nvPr>
            <p:ph type="sldNum" sz="quarter" idx="12"/>
          </p:nvPr>
        </p:nvSpPr>
        <p:spPr>
          <a:xfrm>
            <a:off x="10848528" y="6453336"/>
            <a:ext cx="1188956"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A48A0D3F-54C8-4397-8424-A82B96940146}"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D8F57C2A-877D-4B89-8FC6-28CB934B93FB}" type="datetime1">
              <a:rPr lang="zh-CN" altLang="en-US" smtClean="0"/>
            </a:fld>
            <a:endParaRPr lang="en-US" altLang="zh-CN"/>
          </a:p>
        </p:txBody>
      </p:sp>
      <p:sp>
        <p:nvSpPr>
          <p:cNvPr id="3"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dirty="0"/>
          </a:p>
        </p:txBody>
      </p:sp>
      <p:sp>
        <p:nvSpPr>
          <p:cNvPr id="4" name="Rectangle 6"/>
          <p:cNvSpPr>
            <a:spLocks noGrp="1" noChangeArrowheads="1"/>
          </p:cNvSpPr>
          <p:nvPr>
            <p:ph type="sldNum" sz="quarter" idx="12"/>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4D270BE4-B6C0-4BD9-A22C-75B345F819BC}" type="slidenum">
              <a:rPr lang="en-US" altLang="zh-CN" smtClean="0"/>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31800" y="71438"/>
            <a:ext cx="11328400" cy="7651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表格占位符 2"/>
          <p:cNvSpPr>
            <a:spLocks noGrp="1"/>
          </p:cNvSpPr>
          <p:nvPr>
            <p:ph type="tbl" idx="1"/>
          </p:nvPr>
        </p:nvSpPr>
        <p:spPr>
          <a:xfrm>
            <a:off x="334434" y="1052514"/>
            <a:ext cx="11523133" cy="5437187"/>
          </a:xfrm>
        </p:spPr>
        <p:txBody>
          <a:bodyPr>
            <a:normAutofit/>
          </a:bodyPr>
          <a:lstStyle>
            <a:lvl1pPr>
              <a:defRPr baseline="0">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lvl="0"/>
            <a:endParaRPr lang="zh-CN" altLang="en-US" noProof="0" dirty="0"/>
          </a:p>
        </p:txBody>
      </p:sp>
      <p:sp>
        <p:nvSpPr>
          <p:cNvPr id="4" name="Rectangle 4"/>
          <p:cNvSpPr>
            <a:spLocks noGrp="1" noChangeArrowheads="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pPr>
              <a:defRPr/>
            </a:pPr>
            <a:fld id="{02425F59-A221-4A04-AC18-35DAEA33FD6B}" type="datetime1">
              <a:rPr lang="zh-CN" altLang="en-US" smtClean="0"/>
            </a:fld>
            <a:endParaRPr lang="en-US" altLang="zh-CN"/>
          </a:p>
        </p:txBody>
      </p:sp>
      <p:sp>
        <p:nvSpPr>
          <p:cNvPr id="5" name="Rectangle 5"/>
          <p:cNvSpPr>
            <a:spLocks noGrp="1" noChangeArrowheads="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6E6425F8-8564-4543-A15C-E4EDED80C1B6}" type="slidenum">
              <a:rPr lang="en-US" altLang="zh-CN"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31800" y="71438"/>
            <a:ext cx="113284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34434" y="1052514"/>
            <a:ext cx="5659967" cy="54371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052514"/>
            <a:ext cx="5659967" cy="54371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154517" y="6578601"/>
            <a:ext cx="2844800" cy="206375"/>
          </a:xfrm>
        </p:spPr>
        <p:txBody>
          <a:bodyPr/>
          <a:lstStyle>
            <a:lvl1pPr>
              <a:defRPr/>
            </a:lvl1pPr>
          </a:lstStyle>
          <a:p>
            <a:fld id="{E68593D3-82CE-4DAC-AF61-7216E93A3926}" type="datetime1">
              <a:rPr lang="zh-CN" altLang="en-US" smtClean="0"/>
            </a:fld>
            <a:endParaRPr lang="en-US" altLang="zh-CN"/>
          </a:p>
        </p:txBody>
      </p:sp>
      <p:sp>
        <p:nvSpPr>
          <p:cNvPr id="6" name="页脚占位符 5"/>
          <p:cNvSpPr>
            <a:spLocks noGrp="1"/>
          </p:cNvSpPr>
          <p:nvPr>
            <p:ph type="ftr" sz="quarter" idx="11"/>
          </p:nvPr>
        </p:nvSpPr>
        <p:spPr>
          <a:xfrm>
            <a:off x="4165600" y="6578601"/>
            <a:ext cx="3860800" cy="206375"/>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192684" y="6578601"/>
            <a:ext cx="2844800" cy="206375"/>
          </a:xfrm>
        </p:spPr>
        <p:txBody>
          <a:bodyPr/>
          <a:lstStyle>
            <a:lvl1pPr>
              <a:defRPr/>
            </a:lvl1pPr>
          </a:lstStyle>
          <a:p>
            <a:fld id="{2FD2C8D3-1F12-4428-A894-7E9301ED420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tx1"/>
                </a:solidFill>
              </a:defRPr>
            </a:lvl1pPr>
          </a:lstStyle>
          <a:p>
            <a:fld id="{A58503C9-B0B6-4F9C-B6BC-19F10C9B215E}" type="datetime1">
              <a:rPr lang="zh-CN" alt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fld>
            <a:endParaRPr lang="en-US"/>
          </a:p>
        </p:txBody>
      </p:sp>
      <p:sp>
        <p:nvSpPr>
          <p:cNvPr id="6" name="标题 1"/>
          <p:cNvSpPr>
            <a:spLocks noGrp="1"/>
          </p:cNvSpPr>
          <p:nvPr>
            <p:ph type="title"/>
          </p:nvPr>
        </p:nvSpPr>
        <p:spPr>
          <a:xfrm>
            <a:off x="660400" y="128587"/>
            <a:ext cx="10858500" cy="900112"/>
          </a:xfrm>
          <a:prstGeom prst="rect">
            <a:avLst/>
          </a:prstGeom>
        </p:spPr>
        <p:txBody>
          <a:bodyPr/>
          <a:lstStyle/>
          <a:p>
            <a:r>
              <a:rPr lang="zh-CN" altLang="en-US" dirty="0"/>
              <a:t>单击此处编辑母版标题样式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 多级编辑框（中文）">
    <p:spTree>
      <p:nvGrpSpPr>
        <p:cNvPr id="1" name=""/>
        <p:cNvGrpSpPr/>
        <p:nvPr/>
      </p:nvGrpSpPr>
      <p:grpSpPr>
        <a:xfrm>
          <a:off x="0" y="0"/>
          <a:ext cx="0" cy="0"/>
          <a:chOff x="0" y="0"/>
          <a:chExt cx="0" cy="0"/>
        </a:xfrm>
      </p:grpSpPr>
      <p:sp>
        <p:nvSpPr>
          <p:cNvPr id="5" name="内容占位符 2"/>
          <p:cNvSpPr>
            <a:spLocks noGrp="1"/>
          </p:cNvSpPr>
          <p:nvPr>
            <p:ph idx="1" hasCustomPrompt="1"/>
          </p:nvPr>
        </p:nvSpPr>
        <p:spPr>
          <a:xfrm>
            <a:off x="660400" y="1130299"/>
            <a:ext cx="10858500" cy="5105401"/>
          </a:xfrm>
          <a:prstGeom prst="rect">
            <a:avLst/>
          </a:prstGeom>
        </p:spPr>
        <p:txBody>
          <a:bodyPr/>
          <a:lstStyle>
            <a:lvl1pPr marL="228600" indent="-228600">
              <a:buClrTx/>
              <a:buFont typeface="Wingdings" panose="05000000000000000000" pitchFamily="2" charset="2"/>
              <a:buChar char="n"/>
              <a:defRPr sz="2800" b="0">
                <a:latin typeface="+mn-lt"/>
                <a:ea typeface="+mn-ea"/>
              </a:defRPr>
            </a:lvl1pPr>
            <a:lvl2pPr marL="800100" indent="-342900">
              <a:buClrTx/>
              <a:buFont typeface="Wingdings" panose="05000000000000000000" pitchFamily="2" charset="2"/>
              <a:buChar char="Ø"/>
              <a:defRPr sz="2400">
                <a:latin typeface="+mn-lt"/>
                <a:ea typeface="+mn-ea"/>
              </a:defRPr>
            </a:lvl2pPr>
            <a:lvl3pPr marL="1143000" indent="-228600">
              <a:buClrTx/>
              <a:buFont typeface="Wingdings" panose="05000000000000000000" pitchFamily="2" charset="2"/>
              <a:buChar char="Ø"/>
              <a:defRPr sz="2000">
                <a:latin typeface="+mn-lt"/>
                <a:ea typeface="+mn-ea"/>
              </a:defRPr>
            </a:lvl3pPr>
            <a:lvl4pPr marL="1657350" indent="-285750">
              <a:buClrTx/>
              <a:buFont typeface="Wingdings" panose="05000000000000000000" pitchFamily="2" charset="2"/>
              <a:buChar char="Ø"/>
              <a:defRPr sz="1600">
                <a:latin typeface="+mn-lt"/>
                <a:ea typeface="+mn-ea"/>
              </a:defRPr>
            </a:lvl4pPr>
            <a:lvl5pPr>
              <a:buClr>
                <a:srgbClr val="C00000"/>
              </a:buClr>
              <a:defRPr sz="1100">
                <a:latin typeface="微软雅黑" panose="020B0503020204020204" pitchFamily="34" charset="-122"/>
                <a:ea typeface="微软雅黑" panose="020B0503020204020204" pitchFamily="34" charset="-122"/>
              </a:defRPr>
            </a:lvl5pPr>
          </a:lstStyle>
          <a:p>
            <a:r>
              <a:rPr lang="zh-CN" altLang="en-US" dirty="0"/>
              <a:t>单击此处输入文字</a:t>
            </a:r>
            <a:r>
              <a:rPr lang="en-US" altLang="zh-CN" dirty="0" err="1"/>
              <a:t>abd</a:t>
            </a:r>
            <a:endParaRPr lang="en-US" altLang="zh-CN" dirty="0"/>
          </a:p>
          <a:p>
            <a:pPr lvl="1"/>
            <a:r>
              <a:rPr lang="zh-CN" altLang="en-US" dirty="0"/>
              <a:t>单击此处输入文字</a:t>
            </a:r>
            <a:r>
              <a:rPr lang="en-US" altLang="zh-CN" dirty="0" err="1"/>
              <a:t>abd</a:t>
            </a:r>
            <a:endParaRPr lang="en-US" altLang="zh-CN" dirty="0"/>
          </a:p>
          <a:p>
            <a:pPr lvl="2"/>
            <a:r>
              <a:rPr lang="zh-CN" altLang="en-US" dirty="0"/>
              <a:t>单击此处输入文字</a:t>
            </a:r>
            <a:r>
              <a:rPr lang="en-US" altLang="zh-CN" dirty="0" err="1"/>
              <a:t>abd</a:t>
            </a:r>
            <a:endParaRPr lang="en-US" altLang="zh-CN" dirty="0"/>
          </a:p>
          <a:p>
            <a:pPr lvl="3"/>
            <a:r>
              <a:rPr lang="zh-CN" altLang="en-US" dirty="0"/>
              <a:t>单击此处输入文字</a:t>
            </a:r>
            <a:r>
              <a:rPr lang="en-US" altLang="zh-CN" dirty="0" err="1"/>
              <a:t>abd</a:t>
            </a:r>
            <a:endParaRPr lang="en-US" altLang="zh-CN" dirty="0"/>
          </a:p>
        </p:txBody>
      </p:sp>
      <p:sp>
        <p:nvSpPr>
          <p:cNvPr id="6" name="标题 1"/>
          <p:cNvSpPr>
            <a:spLocks noGrp="1"/>
          </p:cNvSpPr>
          <p:nvPr>
            <p:ph type="title"/>
          </p:nvPr>
        </p:nvSpPr>
        <p:spPr>
          <a:xfrm>
            <a:off x="660400" y="128587"/>
            <a:ext cx="10858500" cy="900112"/>
          </a:xfrm>
          <a:prstGeom prst="rect">
            <a:avLst/>
          </a:prstGeom>
        </p:spPr>
        <p:txBody>
          <a:bodyPr/>
          <a:lstStyle/>
          <a:p>
            <a:r>
              <a:rPr lang="zh-CN" altLang="en-US" dirty="0"/>
              <a:t>单击此处编辑母版标题样式</a:t>
            </a:r>
            <a:endParaRPr lang="zh-CN" altLang="en-US" dirty="0"/>
          </a:p>
        </p:txBody>
      </p:sp>
      <p:sp>
        <p:nvSpPr>
          <p:cNvPr id="2" name="日期占位符 1"/>
          <p:cNvSpPr>
            <a:spLocks noGrp="1"/>
          </p:cNvSpPr>
          <p:nvPr>
            <p:ph type="dt" sz="half" idx="10"/>
          </p:nvPr>
        </p:nvSpPr>
        <p:spPr/>
        <p:txBody>
          <a:bodyPr/>
          <a:lstStyle/>
          <a:p>
            <a:fld id="{7A939164-8E4F-476C-9EFF-1E9CBD6109BD}" type="datetime1">
              <a:rPr lang="zh-CN" altLang="en-US" smtClean="0"/>
            </a:fld>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31800" y="71438"/>
            <a:ext cx="11328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endParaRPr lang="en-US" altLang="zh-CN" dirty="0"/>
          </a:p>
        </p:txBody>
      </p:sp>
      <p:sp>
        <p:nvSpPr>
          <p:cNvPr id="1027" name="Rectangle 3"/>
          <p:cNvSpPr>
            <a:spLocks noGrp="1" noChangeArrowheads="1"/>
          </p:cNvSpPr>
          <p:nvPr>
            <p:ph type="body" idx="1"/>
          </p:nvPr>
        </p:nvSpPr>
        <p:spPr bwMode="auto">
          <a:xfrm>
            <a:off x="334434" y="1052514"/>
            <a:ext cx="11523133" cy="543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p:txBody>
      </p:sp>
      <p:sp>
        <p:nvSpPr>
          <p:cNvPr id="601092" name="Rectangle 4"/>
          <p:cNvSpPr>
            <a:spLocks noGrp="1" noChangeArrowheads="1"/>
          </p:cNvSpPr>
          <p:nvPr>
            <p:ph type="dt" sz="half" idx="2"/>
          </p:nvPr>
        </p:nvSpPr>
        <p:spPr bwMode="auto">
          <a:xfrm>
            <a:off x="154517"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19D2BB01-591B-4FA7-9047-802FFD91438A}" type="datetime1">
              <a:rPr lang="zh-CN" altLang="en-US" smtClean="0"/>
            </a:fld>
            <a:endParaRPr lang="en-US" altLang="zh-CN" dirty="0"/>
          </a:p>
        </p:txBody>
      </p:sp>
      <p:sp>
        <p:nvSpPr>
          <p:cNvPr id="601093" name="Rectangle 5"/>
          <p:cNvSpPr>
            <a:spLocks noGrp="1" noChangeArrowheads="1"/>
          </p:cNvSpPr>
          <p:nvPr>
            <p:ph type="ftr" sz="quarter" idx="3"/>
          </p:nvPr>
        </p:nvSpPr>
        <p:spPr bwMode="auto">
          <a:xfrm>
            <a:off x="4165600" y="6453336"/>
            <a:ext cx="3860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endParaRPr lang="en-US" altLang="zh-CN" dirty="0"/>
          </a:p>
        </p:txBody>
      </p:sp>
      <p:sp>
        <p:nvSpPr>
          <p:cNvPr id="601094" name="Rectangle 6"/>
          <p:cNvSpPr>
            <a:spLocks noGrp="1" noChangeArrowheads="1"/>
          </p:cNvSpPr>
          <p:nvPr>
            <p:ph type="sldNum" sz="quarter" idx="4"/>
          </p:nvPr>
        </p:nvSpPr>
        <p:spPr bwMode="auto">
          <a:xfrm>
            <a:off x="9192684"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aseline="0">
                <a:solidFill>
                  <a:schemeClr val="accent1">
                    <a:lumMod val="25000"/>
                  </a:schemeClr>
                </a:solidFill>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E3FAE0D9-500F-4F53-BD2E-C1D74A0BC936}" type="slidenum">
              <a:rPr lang="en-US" altLang="zh-CN" smtClean="0"/>
            </a:fld>
            <a:endParaRPr lang="en-US" altLang="zh-CN" dirty="0"/>
          </a:p>
        </p:txBody>
      </p:sp>
      <p:sp>
        <p:nvSpPr>
          <p:cNvPr id="1031" name="Rectangle 7"/>
          <p:cNvSpPr>
            <a:spLocks noChangeArrowheads="1"/>
          </p:cNvSpPr>
          <p:nvPr/>
        </p:nvSpPr>
        <p:spPr bwMode="auto">
          <a:xfrm>
            <a:off x="2554818" y="863600"/>
            <a:ext cx="9637183" cy="71438"/>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2" name="Rectangle 8"/>
          <p:cNvSpPr>
            <a:spLocks noChangeArrowheads="1"/>
          </p:cNvSpPr>
          <p:nvPr/>
        </p:nvSpPr>
        <p:spPr bwMode="auto">
          <a:xfrm>
            <a:off x="0" y="863600"/>
            <a:ext cx="1295400" cy="71438"/>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3" name="Rectangle 9"/>
          <p:cNvSpPr>
            <a:spLocks noChangeArrowheads="1"/>
          </p:cNvSpPr>
          <p:nvPr/>
        </p:nvSpPr>
        <p:spPr bwMode="auto">
          <a:xfrm>
            <a:off x="1295400" y="863600"/>
            <a:ext cx="1295400" cy="71438"/>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a:latin typeface="微软雅黑 Light" panose="020B0502040204020203" pitchFamily="34" charset="-122"/>
              <a:ea typeface="微软雅黑" panose="020B0503020204020204" pitchFamily="34"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rtl="0" eaLnBrk="0" fontAlgn="base" hangingPunct="0">
        <a:spcBef>
          <a:spcPct val="0"/>
        </a:spcBef>
        <a:spcAft>
          <a:spcPct val="0"/>
        </a:spcAft>
        <a:defRPr lang="en-US" altLang="zh-CN" sz="3200" baseline="0" dirty="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marL="742950" indent="-285750" algn="l" rtl="0" eaLnBrk="0" fontAlgn="base" hangingPunct="0">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2pPr>
      <a:lvl3pPr marL="1143000" indent="-228600" algn="l" rtl="0" eaLnBrk="0" fontAlgn="base" hangingPunct="0">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3pPr>
      <a:lvl4pPr marL="1600200" indent="-228600" algn="l" rtl="0" eaLnBrk="0" fontAlgn="base" hangingPunct="0">
        <a:spcBef>
          <a:spcPct val="20000"/>
        </a:spcBef>
        <a:spcAft>
          <a:spcPct val="0"/>
        </a:spcAft>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gn="l" rtl="0" eaLnBrk="0" fontAlgn="base" hangingPunct="0">
        <a:spcBef>
          <a:spcPct val="20000"/>
        </a:spcBef>
        <a:spcAft>
          <a:spcPct val="0"/>
        </a:spcAft>
        <a:buSzPct val="8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root-servers.org/" TargetMode="Externa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hyperlink" Target="https://www.iana.org/domains/root/server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xml"/><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1.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4.wmf"/><Relationship Id="rId3" Type="http://schemas.openxmlformats.org/officeDocument/2006/relationships/oleObject" Target="../embeddings/oleObject2.bin"/><Relationship Id="rId2" Type="http://schemas.openxmlformats.org/officeDocument/2006/relationships/image" Target="../media/image18.png"/><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emf"/><Relationship Id="rId2" Type="http://schemas.openxmlformats.org/officeDocument/2006/relationships/image" Target="../media/image23.jpeg"/><Relationship Id="rId1" Type="http://schemas.openxmlformats.org/officeDocument/2006/relationships/image" Target="../media/image22.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4D405A1-2C33-48B6-A8C4-BEE6495025DC}" type="slidenum">
              <a:rPr lang="en-US" altLang="zh-CN"/>
            </a:fld>
            <a:endParaRPr lang="en-US" altLang="zh-CN"/>
          </a:p>
        </p:txBody>
      </p:sp>
      <p:sp>
        <p:nvSpPr>
          <p:cNvPr id="278530" name="Rectangle 2"/>
          <p:cNvSpPr>
            <a:spLocks noGrp="1" noChangeArrowheads="1"/>
          </p:cNvSpPr>
          <p:nvPr>
            <p:ph type="title"/>
          </p:nvPr>
        </p:nvSpPr>
        <p:spPr/>
        <p:txBody>
          <a:bodyPr/>
          <a:lstStyle/>
          <a:p>
            <a:pPr algn="ctr"/>
            <a:r>
              <a:rPr lang="zh-CN" altLang="en-US" dirty="0"/>
              <a:t>第七章 应用层</a:t>
            </a:r>
            <a:endParaRPr lang="zh-CN" altLang="en-US" dirty="0"/>
          </a:p>
        </p:txBody>
      </p:sp>
      <p:sp>
        <p:nvSpPr>
          <p:cNvPr id="278531" name="Rectangle 3"/>
          <p:cNvSpPr>
            <a:spLocks noGrp="1" noChangeArrowheads="1"/>
          </p:cNvSpPr>
          <p:nvPr>
            <p:ph type="body" idx="1"/>
          </p:nvPr>
        </p:nvSpPr>
        <p:spPr/>
        <p:txBody>
          <a:bodyPr/>
          <a:lstStyle/>
          <a:p>
            <a:r>
              <a:rPr lang="en-US" altLang="zh-CN" dirty="0"/>
              <a:t>7.1 </a:t>
            </a:r>
            <a:r>
              <a:rPr lang="zh-CN" altLang="en-US" dirty="0"/>
              <a:t>客户服务器模型</a:t>
            </a:r>
            <a:endParaRPr lang="en-US" altLang="zh-CN" dirty="0"/>
          </a:p>
          <a:p>
            <a:r>
              <a:rPr lang="en-US" altLang="zh-CN" dirty="0"/>
              <a:t>7.2 DNS</a:t>
            </a:r>
            <a:r>
              <a:rPr lang="zh-CN" altLang="en-US" dirty="0"/>
              <a:t>服务</a:t>
            </a:r>
            <a:endParaRPr lang="zh-CN" altLang="en-US" dirty="0"/>
          </a:p>
          <a:p>
            <a:r>
              <a:rPr lang="en-US" altLang="zh-CN" dirty="0"/>
              <a:t>7.3 </a:t>
            </a:r>
            <a:r>
              <a:rPr lang="zh-CN" altLang="en-US" dirty="0"/>
              <a:t>电子邮件服务 </a:t>
            </a:r>
            <a:endParaRPr lang="zh-CN" altLang="en-US" dirty="0"/>
          </a:p>
          <a:p>
            <a:r>
              <a:rPr lang="en-US" altLang="zh-CN" dirty="0"/>
              <a:t>7.4 FTP</a:t>
            </a:r>
            <a:r>
              <a:rPr lang="zh-CN" altLang="en-US" dirty="0"/>
              <a:t>服务</a:t>
            </a:r>
            <a:endParaRPr lang="zh-CN" altLang="en-US" dirty="0"/>
          </a:p>
          <a:p>
            <a:r>
              <a:rPr lang="en-US" altLang="zh-CN" dirty="0"/>
              <a:t>7.5 Web</a:t>
            </a:r>
            <a:r>
              <a:rPr lang="zh-CN" altLang="en-US" dirty="0"/>
              <a:t>服务</a:t>
            </a:r>
            <a:endParaRPr lang="zh-CN" altLang="en-US" dirty="0"/>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12"/>
          </p:nvPr>
        </p:nvSpPr>
        <p:spPr/>
        <p:txBody>
          <a:bodyPr/>
          <a:lstStyle/>
          <a:p>
            <a:fld id="{EE6475D0-F980-429B-BF4E-77CC6C7C9E10}" type="slidenum">
              <a:rPr lang="en-US" altLang="zh-CN"/>
            </a:fld>
            <a:endParaRPr lang="en-US" altLang="zh-CN"/>
          </a:p>
        </p:txBody>
      </p:sp>
      <p:sp>
        <p:nvSpPr>
          <p:cNvPr id="309250" name="Rectangle 2"/>
          <p:cNvSpPr>
            <a:spLocks noGrp="1" noChangeArrowheads="1"/>
          </p:cNvSpPr>
          <p:nvPr>
            <p:ph type="title"/>
          </p:nvPr>
        </p:nvSpPr>
        <p:spPr/>
        <p:txBody>
          <a:bodyPr/>
          <a:lstStyle/>
          <a:p>
            <a:pPr algn="ctr"/>
            <a:r>
              <a:rPr lang="zh-CN" altLang="en-US" dirty="0"/>
              <a:t>客户与服务器模型</a:t>
            </a:r>
            <a:endParaRPr lang="zh-CN" altLang="en-US" dirty="0"/>
          </a:p>
        </p:txBody>
      </p:sp>
      <p:graphicFrame>
        <p:nvGraphicFramePr>
          <p:cNvPr id="309288" name="Group 40"/>
          <p:cNvGraphicFramePr>
            <a:graphicFrameLocks noGrp="1"/>
          </p:cNvGraphicFramePr>
          <p:nvPr>
            <p:ph idx="1"/>
          </p:nvPr>
        </p:nvGraphicFramePr>
        <p:xfrm>
          <a:off x="1919289" y="1193800"/>
          <a:ext cx="8497887" cy="4689348"/>
        </p:xfrm>
        <a:graphic>
          <a:graphicData uri="http://schemas.openxmlformats.org/drawingml/2006/table">
            <a:tbl>
              <a:tblPr/>
              <a:tblGrid>
                <a:gridCol w="4249737"/>
                <a:gridCol w="4248150"/>
              </a:tblGrid>
              <a:tr h="6477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服务器应用进程</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客户应用进程</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7800">
                <a:tc>
                  <a:txBody>
                    <a:bodyPr/>
                    <a:lstStyle>
                      <a:lvl1pPr marL="273050" indent="-27305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89025" indent="-45720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649730" indent="-3810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2171700" indent="-3429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694305" indent="-3429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31515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6087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40659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5231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273050" marR="0" lvl="0" indent="-27305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首先运行</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273050" marR="0" lvl="0" indent="-27305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不需要知道哪个客户将连接它</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273050" marR="0" lvl="0" indent="-27305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被动等待来自客户的连接请求，且等待时间任意长</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273050" marR="0" lvl="0" indent="-27305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通过发送和接收数据来与客户进行通信</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273050" marR="0" lvl="0" indent="-27305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在实现对一个客户的服务后，维持运行并等待另一个请求</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57505" indent="-357505">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89025" indent="-45720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649730" indent="-3810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2171700" indent="-3429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694305" indent="-3429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31515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6087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40659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5231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随后运行</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必须知道想要连接的服务器</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endParaRPr kumimoji="0" lang="zh-CN" altLang="en-US"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在需要通信的任何时候，发起连接请求</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通过发送和接收数据来与服务器进行通信</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在完成与服务器的交互后，可以终止运行</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应用层协议的特点</a:t>
            </a:r>
            <a:endParaRPr lang="zh-CN" altLang="en-US" dirty="0"/>
          </a:p>
        </p:txBody>
      </p:sp>
      <p:sp>
        <p:nvSpPr>
          <p:cNvPr id="3" name="内容占位符 2"/>
          <p:cNvSpPr>
            <a:spLocks noGrp="1"/>
          </p:cNvSpPr>
          <p:nvPr>
            <p:ph sz="half" idx="1"/>
          </p:nvPr>
        </p:nvSpPr>
        <p:spPr/>
        <p:txBody>
          <a:bodyPr>
            <a:noAutofit/>
          </a:bodyPr>
          <a:lstStyle/>
          <a:p>
            <a:r>
              <a:rPr lang="zh-CN" altLang="en-US" sz="2400" dirty="0"/>
              <a:t>应用层协议是为了解决某一类具体应用问题</a:t>
            </a:r>
            <a:endParaRPr lang="zh-CN" altLang="en-US" sz="2400" dirty="0"/>
          </a:p>
          <a:p>
            <a:pPr lvl="1"/>
            <a:r>
              <a:rPr lang="zh-CN" altLang="en-US" sz="2000" dirty="0"/>
              <a:t>往往是通过位于不同主机中的多个应用进程之间的通信和协同工作来完成的</a:t>
            </a:r>
            <a:endParaRPr lang="zh-CN" altLang="en-US" sz="2000" dirty="0"/>
          </a:p>
          <a:p>
            <a:r>
              <a:rPr lang="zh-CN" altLang="en-US" sz="2400" dirty="0"/>
              <a:t>应用层的具体内容就是规定应用进程在通信时所遵循的协议</a:t>
            </a:r>
            <a:endParaRPr lang="zh-CN" altLang="en-US" sz="2400" dirty="0"/>
          </a:p>
          <a:p>
            <a:pPr lvl="1"/>
            <a:r>
              <a:rPr lang="zh-CN" altLang="en-US" sz="2000" dirty="0"/>
              <a:t>专用通信、标准化服务</a:t>
            </a:r>
            <a:endParaRPr lang="zh-CN" altLang="en-US" sz="2000" dirty="0"/>
          </a:p>
          <a:p>
            <a:r>
              <a:rPr lang="zh-CN" altLang="en-US" sz="2400" dirty="0"/>
              <a:t>应用层的许多协议都是基于客户服务器方式</a:t>
            </a:r>
            <a:endParaRPr lang="zh-CN" altLang="en-US" sz="2400" dirty="0"/>
          </a:p>
          <a:p>
            <a:pPr lvl="1"/>
            <a:r>
              <a:rPr lang="zh-CN" altLang="en-US" sz="2000" dirty="0"/>
              <a:t>客户服务器方式所描述的是进程之间服务和被服务的关系。</a:t>
            </a:r>
            <a:endParaRPr lang="zh-CN" altLang="en-US" sz="2000" dirty="0"/>
          </a:p>
          <a:p>
            <a:r>
              <a:rPr lang="zh-CN" altLang="en-US" sz="2400" dirty="0"/>
              <a:t>客户</a:t>
            </a:r>
            <a:r>
              <a:rPr lang="en-US" altLang="zh-CN" sz="2400" dirty="0"/>
              <a:t>(client)</a:t>
            </a:r>
            <a:r>
              <a:rPr lang="zh-CN" altLang="en-US" sz="2400" dirty="0"/>
              <a:t>和服务器</a:t>
            </a:r>
            <a:r>
              <a:rPr lang="en-US" altLang="zh-CN" sz="2400" dirty="0"/>
              <a:t>(server)</a:t>
            </a:r>
            <a:r>
              <a:rPr lang="zh-CN" altLang="en-US" sz="2400" dirty="0"/>
              <a:t>都是指通信中所涉及的两个应用进程</a:t>
            </a:r>
            <a:endParaRPr lang="zh-CN" altLang="en-US" sz="2400" dirty="0"/>
          </a:p>
          <a:p>
            <a:pPr lvl="1"/>
            <a:r>
              <a:rPr lang="zh-CN" altLang="en-US" sz="2000" dirty="0"/>
              <a:t>客户是服务请求方，服务器是服务提供方</a:t>
            </a:r>
            <a:endParaRPr lang="zh-CN" altLang="en-US" sz="2000" dirty="0"/>
          </a:p>
          <a:p>
            <a:endParaRPr lang="zh-CN" altLang="en-US" sz="2400"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7" name="椭圆 6"/>
          <p:cNvSpPr/>
          <p:nvPr/>
        </p:nvSpPr>
        <p:spPr>
          <a:xfrm>
            <a:off x="8255743" y="3866479"/>
            <a:ext cx="1763321" cy="965296"/>
          </a:xfrm>
          <a:prstGeom prst="ellipse">
            <a:avLst/>
          </a:prstGeom>
          <a:noFill/>
          <a:ln w="28575">
            <a:solidFill>
              <a:srgbClr val="3A55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网络</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cxnSp>
        <p:nvCxnSpPr>
          <p:cNvPr id="8" name="直接连接符 7"/>
          <p:cNvCxnSpPr/>
          <p:nvPr/>
        </p:nvCxnSpPr>
        <p:spPr>
          <a:xfrm>
            <a:off x="8651774" y="2052803"/>
            <a:ext cx="96426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36420" y="2516200"/>
            <a:ext cx="23583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800284" y="4950782"/>
            <a:ext cx="612668" cy="307777"/>
          </a:xfrm>
          <a:prstGeom prst="rect">
            <a:avLst/>
          </a:prstGeom>
          <a:noFill/>
        </p:spPr>
        <p:txBody>
          <a:bodyPr wrap="none" rtlCol="0">
            <a:spAutoFit/>
          </a:bodyPr>
          <a:lstStyle/>
          <a:p>
            <a:r>
              <a:rPr lang="zh-CN" altLang="en-US" sz="1400" dirty="0">
                <a:latin typeface="微软雅黑 Light" panose="020B0502040204020203" pitchFamily="34" charset="-122"/>
                <a:ea typeface="微软雅黑 Light" panose="020B0502040204020203" pitchFamily="34" charset="-122"/>
              </a:rPr>
              <a:t>主机</a:t>
            </a:r>
            <a:r>
              <a:rPr lang="en-US" altLang="zh-CN" sz="1400" dirty="0">
                <a:latin typeface="微软雅黑 Light" panose="020B0502040204020203" pitchFamily="34" charset="-122"/>
                <a:ea typeface="微软雅黑 Light" panose="020B0502040204020203" pitchFamily="34" charset="-122"/>
              </a:rPr>
              <a:t>1</a:t>
            </a:r>
            <a:endParaRPr lang="zh-CN" altLang="en-US" sz="14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10917784" y="4950782"/>
            <a:ext cx="643125" cy="307777"/>
          </a:xfrm>
          <a:prstGeom prst="rect">
            <a:avLst/>
          </a:prstGeom>
          <a:noFill/>
        </p:spPr>
        <p:txBody>
          <a:bodyPr wrap="none" rtlCol="0">
            <a:spAutoFit/>
          </a:bodyPr>
          <a:lstStyle/>
          <a:p>
            <a:r>
              <a:rPr lang="zh-CN" altLang="en-US" sz="1400" dirty="0">
                <a:latin typeface="微软雅黑 Light" panose="020B0502040204020203" pitchFamily="34" charset="-122"/>
                <a:ea typeface="微软雅黑 Light" panose="020B0502040204020203" pitchFamily="34" charset="-122"/>
              </a:rPr>
              <a:t>主机</a:t>
            </a:r>
            <a:r>
              <a:rPr lang="en-US" altLang="zh-CN" sz="1400" dirty="0">
                <a:latin typeface="微软雅黑 Light" panose="020B0502040204020203" pitchFamily="34" charset="-122"/>
                <a:ea typeface="微软雅黑 Light" panose="020B0502040204020203" pitchFamily="34" charset="-122"/>
              </a:rPr>
              <a:t>2</a:t>
            </a:r>
            <a:endParaRPr lang="zh-CN" altLang="en-US" sz="1400" dirty="0">
              <a:latin typeface="微软雅黑 Light" panose="020B0502040204020203" pitchFamily="34" charset="-122"/>
              <a:ea typeface="微软雅黑 Light" panose="020B0502040204020203" pitchFamily="34" charset="-122"/>
            </a:endParaRPr>
          </a:p>
        </p:txBody>
      </p:sp>
      <p:pic>
        <p:nvPicPr>
          <p:cNvPr id="12" name="图形 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06078" y="4376122"/>
            <a:ext cx="604860" cy="499796"/>
          </a:xfrm>
          <a:prstGeom prst="rect">
            <a:avLst/>
          </a:prstGeom>
        </p:spPr>
      </p:pic>
      <p:sp>
        <p:nvSpPr>
          <p:cNvPr id="13" name="矩形: 圆角 12"/>
          <p:cNvSpPr/>
          <p:nvPr/>
        </p:nvSpPr>
        <p:spPr>
          <a:xfrm>
            <a:off x="7544804" y="4420261"/>
            <a:ext cx="1000973" cy="411516"/>
          </a:xfrm>
          <a:prstGeom prst="roundRect">
            <a:avLst/>
          </a:prstGeom>
          <a:solidFill>
            <a:schemeClr val="bg1"/>
          </a:solid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物理层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14" name="矩形: 圆角 13"/>
          <p:cNvSpPr/>
          <p:nvPr/>
        </p:nvSpPr>
        <p:spPr>
          <a:xfrm>
            <a:off x="7544803" y="3445852"/>
            <a:ext cx="1000973" cy="411516"/>
          </a:xfrm>
          <a:prstGeom prst="roundRect">
            <a:avLst/>
          </a:prstGeom>
          <a:no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网络层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15" name="矩形: 圆角 14"/>
          <p:cNvSpPr/>
          <p:nvPr/>
        </p:nvSpPr>
        <p:spPr>
          <a:xfrm>
            <a:off x="7544803" y="2958647"/>
            <a:ext cx="1000973" cy="411516"/>
          </a:xfrm>
          <a:prstGeom prst="roundRect">
            <a:avLst/>
          </a:prstGeom>
          <a:no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传输层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16" name="矩形: 圆角 15"/>
          <p:cNvSpPr/>
          <p:nvPr/>
        </p:nvSpPr>
        <p:spPr>
          <a:xfrm>
            <a:off x="7544802" y="1589408"/>
            <a:ext cx="1000973" cy="926792"/>
          </a:xfrm>
          <a:prstGeom prst="roundRect">
            <a:avLst/>
          </a:prstGeom>
          <a:no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应用层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17" name="椭圆 16"/>
          <p:cNvSpPr/>
          <p:nvPr/>
        </p:nvSpPr>
        <p:spPr>
          <a:xfrm>
            <a:off x="7584049" y="1958704"/>
            <a:ext cx="922482" cy="481826"/>
          </a:xfrm>
          <a:prstGeom prst="ellipse">
            <a:avLst/>
          </a:prstGeom>
          <a:no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100" dirty="0">
                <a:solidFill>
                  <a:schemeClr val="tx1"/>
                </a:solidFill>
                <a:latin typeface="微软雅黑 Light" panose="020B0502040204020203" pitchFamily="34" charset="-122"/>
                <a:ea typeface="微软雅黑 Light" panose="020B0502040204020203" pitchFamily="34" charset="-122"/>
              </a:rPr>
              <a:t>应用进程</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6496104" y="2255238"/>
            <a:ext cx="927794" cy="276999"/>
          </a:xfrm>
          <a:prstGeom prst="rect">
            <a:avLst/>
          </a:prstGeom>
          <a:noFill/>
        </p:spPr>
        <p:txBody>
          <a:bodyPr wrap="square" lIns="0" rIns="0" rtlCol="0">
            <a:spAutoFit/>
          </a:bodyPr>
          <a:lstStyle/>
          <a:p>
            <a:r>
              <a:rPr lang="zh-CN" altLang="en-US" sz="1200" dirty="0">
                <a:latin typeface="微软雅黑 Light" panose="020B0502040204020203" pitchFamily="34" charset="-122"/>
                <a:ea typeface="微软雅黑 Light" panose="020B0502040204020203" pitchFamily="34" charset="-122"/>
              </a:rPr>
              <a:t>应用进程控制</a:t>
            </a:r>
            <a:endParaRPr lang="zh-CN" altLang="en-US" sz="1200" dirty="0">
              <a:latin typeface="微软雅黑 Light" panose="020B0502040204020203" pitchFamily="34" charset="-122"/>
              <a:ea typeface="微软雅黑 Light" panose="020B0502040204020203" pitchFamily="34" charset="-122"/>
            </a:endParaRPr>
          </a:p>
        </p:txBody>
      </p:sp>
      <p:cxnSp>
        <p:nvCxnSpPr>
          <p:cNvPr id="19" name="直接连接符 18"/>
          <p:cNvCxnSpPr/>
          <p:nvPr/>
        </p:nvCxnSpPr>
        <p:spPr>
          <a:xfrm>
            <a:off x="6436419" y="2874341"/>
            <a:ext cx="23583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725276" y="2518539"/>
            <a:ext cx="0" cy="3659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80367" y="2516200"/>
            <a:ext cx="0" cy="36596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886279" y="2528217"/>
            <a:ext cx="333086" cy="338554"/>
          </a:xfrm>
          <a:prstGeom prst="rect">
            <a:avLst/>
          </a:prstGeom>
          <a:solidFill>
            <a:schemeClr val="accent1">
              <a:lumMod val="75000"/>
              <a:lumOff val="25000"/>
            </a:schemeClr>
          </a:solid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M</a:t>
            </a:r>
            <a:endParaRPr lang="zh-CN" altLang="en-US" sz="1600"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967008" y="1836813"/>
            <a:ext cx="333086" cy="338554"/>
          </a:xfrm>
          <a:prstGeom prst="rect">
            <a:avLst/>
          </a:prstGeom>
          <a:solidFill>
            <a:schemeClr val="accent1">
              <a:lumMod val="75000"/>
              <a:lumOff val="25000"/>
            </a:schemeClr>
          </a:solid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M</a:t>
            </a:r>
            <a:endParaRPr lang="zh-CN" altLang="en-US" sz="1600" dirty="0">
              <a:latin typeface="微软雅黑 Light" panose="020B0502040204020203" pitchFamily="34" charset="-122"/>
              <a:ea typeface="微软雅黑 Light" panose="020B0502040204020203" pitchFamily="34" charset="-122"/>
            </a:endParaRPr>
          </a:p>
        </p:txBody>
      </p:sp>
      <p:cxnSp>
        <p:nvCxnSpPr>
          <p:cNvPr id="24" name="直接连接符 23"/>
          <p:cNvCxnSpPr/>
          <p:nvPr/>
        </p:nvCxnSpPr>
        <p:spPr>
          <a:xfrm>
            <a:off x="8502241" y="2697630"/>
            <a:ext cx="12257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8978952" y="2509459"/>
            <a:ext cx="315194" cy="307777"/>
          </a:xfrm>
          <a:prstGeom prst="rect">
            <a:avLst/>
          </a:prstGeom>
          <a:solidFill>
            <a:schemeClr val="accent1">
              <a:lumMod val="75000"/>
              <a:lumOff val="25000"/>
            </a:schemeClr>
          </a:solidFill>
        </p:spPr>
        <p:txBody>
          <a:bodyPr wrap="square" lIns="0" rIns="0" rtlCol="0">
            <a:spAutoFit/>
          </a:bodyPr>
          <a:lstStyle/>
          <a:p>
            <a:r>
              <a:rPr lang="en-US" altLang="zh-CN" sz="1400" dirty="0">
                <a:latin typeface="微软雅黑 Light" panose="020B0502040204020203" pitchFamily="34" charset="-122"/>
                <a:ea typeface="微软雅黑 Light" panose="020B0502040204020203" pitchFamily="34" charset="-122"/>
              </a:rPr>
              <a:t>API</a:t>
            </a:r>
            <a:endParaRPr lang="zh-CN" altLang="en-US" sz="1400" dirty="0">
              <a:latin typeface="微软雅黑 Light" panose="020B0502040204020203" pitchFamily="34" charset="-122"/>
              <a:ea typeface="微软雅黑 Light" panose="020B0502040204020203" pitchFamily="34" charset="-122"/>
            </a:endParaRPr>
          </a:p>
        </p:txBody>
      </p:sp>
      <p:cxnSp>
        <p:nvCxnSpPr>
          <p:cNvPr id="26" name="直接连接符 25"/>
          <p:cNvCxnSpPr/>
          <p:nvPr/>
        </p:nvCxnSpPr>
        <p:spPr>
          <a:xfrm>
            <a:off x="9378696" y="2516200"/>
            <a:ext cx="23583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图形 2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70498" y="4306653"/>
            <a:ext cx="604860" cy="499796"/>
          </a:xfrm>
          <a:prstGeom prst="rect">
            <a:avLst/>
          </a:prstGeom>
        </p:spPr>
      </p:pic>
      <p:sp>
        <p:nvSpPr>
          <p:cNvPr id="28" name="矩形: 圆角 27"/>
          <p:cNvSpPr/>
          <p:nvPr/>
        </p:nvSpPr>
        <p:spPr>
          <a:xfrm>
            <a:off x="9721326" y="4420261"/>
            <a:ext cx="1000973" cy="411516"/>
          </a:xfrm>
          <a:prstGeom prst="roundRect">
            <a:avLst/>
          </a:prstGeom>
          <a:solidFill>
            <a:schemeClr val="bg1"/>
          </a:solid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物理层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29" name="矩形: 圆角 28"/>
          <p:cNvSpPr/>
          <p:nvPr/>
        </p:nvSpPr>
        <p:spPr>
          <a:xfrm>
            <a:off x="9721326" y="3933056"/>
            <a:ext cx="1000973" cy="411516"/>
          </a:xfrm>
          <a:prstGeom prst="roundRect">
            <a:avLst/>
          </a:prstGeom>
          <a:solidFill>
            <a:schemeClr val="bg1"/>
          </a:solid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数据链路层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30" name="矩形: 圆角 29"/>
          <p:cNvSpPr/>
          <p:nvPr/>
        </p:nvSpPr>
        <p:spPr>
          <a:xfrm>
            <a:off x="9721325" y="3445852"/>
            <a:ext cx="1000973" cy="411516"/>
          </a:xfrm>
          <a:prstGeom prst="roundRect">
            <a:avLst/>
          </a:prstGeom>
          <a:no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网络层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31" name="矩形: 圆角 30"/>
          <p:cNvSpPr/>
          <p:nvPr/>
        </p:nvSpPr>
        <p:spPr>
          <a:xfrm>
            <a:off x="9721325" y="2958647"/>
            <a:ext cx="1000973" cy="411516"/>
          </a:xfrm>
          <a:prstGeom prst="roundRect">
            <a:avLst/>
          </a:prstGeom>
          <a:no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传输层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32" name="矩形: 圆角 31"/>
          <p:cNvSpPr/>
          <p:nvPr/>
        </p:nvSpPr>
        <p:spPr>
          <a:xfrm>
            <a:off x="9721325" y="1589408"/>
            <a:ext cx="1000973" cy="926792"/>
          </a:xfrm>
          <a:prstGeom prst="roundRect">
            <a:avLst/>
          </a:prstGeom>
          <a:no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应用层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
        <p:nvSpPr>
          <p:cNvPr id="33" name="椭圆 32"/>
          <p:cNvSpPr/>
          <p:nvPr/>
        </p:nvSpPr>
        <p:spPr>
          <a:xfrm>
            <a:off x="9760571" y="1958704"/>
            <a:ext cx="922482" cy="481826"/>
          </a:xfrm>
          <a:prstGeom prst="ellipse">
            <a:avLst/>
          </a:prstGeom>
          <a:no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100" dirty="0">
                <a:solidFill>
                  <a:schemeClr val="tx1"/>
                </a:solidFill>
                <a:latin typeface="微软雅黑 Light" panose="020B0502040204020203" pitchFamily="34" charset="-122"/>
                <a:ea typeface="微软雅黑 Light" panose="020B0502040204020203" pitchFamily="34" charset="-122"/>
              </a:rPr>
              <a:t>应用进程</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4" name="文本框 33"/>
          <p:cNvSpPr txBox="1"/>
          <p:nvPr/>
        </p:nvSpPr>
        <p:spPr>
          <a:xfrm>
            <a:off x="10804194" y="2255238"/>
            <a:ext cx="927794" cy="276999"/>
          </a:xfrm>
          <a:prstGeom prst="rect">
            <a:avLst/>
          </a:prstGeom>
          <a:noFill/>
        </p:spPr>
        <p:txBody>
          <a:bodyPr wrap="square" lIns="0" rIns="0" rtlCol="0">
            <a:spAutoFit/>
          </a:bodyPr>
          <a:lstStyle/>
          <a:p>
            <a:r>
              <a:rPr lang="zh-CN" altLang="en-US" sz="1200" dirty="0">
                <a:latin typeface="微软雅黑 Light" panose="020B0502040204020203" pitchFamily="34" charset="-122"/>
                <a:ea typeface="微软雅黑 Light" panose="020B0502040204020203" pitchFamily="34" charset="-122"/>
              </a:rPr>
              <a:t>应用进程控制</a:t>
            </a:r>
            <a:endParaRPr lang="zh-CN" altLang="en-US" sz="1200" dirty="0">
              <a:latin typeface="微软雅黑 Light" panose="020B0502040204020203" pitchFamily="34" charset="-122"/>
              <a:ea typeface="微软雅黑 Light" panose="020B0502040204020203" pitchFamily="34" charset="-122"/>
            </a:endParaRPr>
          </a:p>
        </p:txBody>
      </p:sp>
      <p:cxnSp>
        <p:nvCxnSpPr>
          <p:cNvPr id="35" name="直接连接符 34"/>
          <p:cNvCxnSpPr/>
          <p:nvPr/>
        </p:nvCxnSpPr>
        <p:spPr>
          <a:xfrm>
            <a:off x="9378691" y="2869261"/>
            <a:ext cx="23583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901798" y="2513459"/>
            <a:ext cx="0" cy="3659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0556889" y="2511120"/>
            <a:ext cx="0" cy="36596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10062801" y="2528217"/>
            <a:ext cx="333086" cy="338554"/>
          </a:xfrm>
          <a:prstGeom prst="rect">
            <a:avLst/>
          </a:prstGeom>
          <a:solidFill>
            <a:schemeClr val="accent1">
              <a:lumMod val="75000"/>
              <a:lumOff val="25000"/>
            </a:schemeClr>
          </a:solid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M</a:t>
            </a:r>
            <a:endParaRPr lang="zh-CN" altLang="en-US" sz="1600" dirty="0">
              <a:latin typeface="微软雅黑 Light" panose="020B0502040204020203" pitchFamily="34" charset="-122"/>
              <a:ea typeface="微软雅黑 Light" panose="020B0502040204020203" pitchFamily="34" charset="-122"/>
            </a:endParaRPr>
          </a:p>
        </p:txBody>
      </p:sp>
      <p:sp>
        <p:nvSpPr>
          <p:cNvPr id="39" name="文本框 38"/>
          <p:cNvSpPr txBox="1"/>
          <p:nvPr/>
        </p:nvSpPr>
        <p:spPr>
          <a:xfrm>
            <a:off x="6485600" y="2894661"/>
            <a:ext cx="927794" cy="276999"/>
          </a:xfrm>
          <a:prstGeom prst="rect">
            <a:avLst/>
          </a:prstGeom>
          <a:noFill/>
        </p:spPr>
        <p:txBody>
          <a:bodyPr wrap="square" lIns="0" rIns="0" rtlCol="0">
            <a:spAutoFit/>
          </a:bodyPr>
          <a:lstStyle/>
          <a:p>
            <a:r>
              <a:rPr lang="zh-CN" altLang="en-US" sz="1200" dirty="0">
                <a:latin typeface="微软雅黑 Light" panose="020B0502040204020203" pitchFamily="34" charset="-122"/>
                <a:ea typeface="微软雅黑 Light" panose="020B0502040204020203" pitchFamily="34" charset="-122"/>
              </a:rPr>
              <a:t>操作系统控制</a:t>
            </a:r>
            <a:endParaRPr lang="zh-CN" altLang="en-US" sz="1200" dirty="0">
              <a:latin typeface="微软雅黑 Light" panose="020B0502040204020203" pitchFamily="34" charset="-122"/>
              <a:ea typeface="微软雅黑 Light" panose="020B0502040204020203" pitchFamily="34" charset="-122"/>
            </a:endParaRPr>
          </a:p>
        </p:txBody>
      </p:sp>
      <p:sp>
        <p:nvSpPr>
          <p:cNvPr id="40" name="文本框 39"/>
          <p:cNvSpPr txBox="1"/>
          <p:nvPr/>
        </p:nvSpPr>
        <p:spPr>
          <a:xfrm>
            <a:off x="10843279" y="2890943"/>
            <a:ext cx="927794" cy="276999"/>
          </a:xfrm>
          <a:prstGeom prst="rect">
            <a:avLst/>
          </a:prstGeom>
          <a:noFill/>
        </p:spPr>
        <p:txBody>
          <a:bodyPr wrap="square" lIns="0" rIns="0" rtlCol="0">
            <a:spAutoFit/>
          </a:bodyPr>
          <a:lstStyle/>
          <a:p>
            <a:r>
              <a:rPr lang="zh-CN" altLang="en-US" sz="1200" dirty="0">
                <a:latin typeface="微软雅黑 Light" panose="020B0502040204020203" pitchFamily="34" charset="-122"/>
                <a:ea typeface="微软雅黑 Light" panose="020B0502040204020203" pitchFamily="34" charset="-122"/>
              </a:rPr>
              <a:t>操作系统控制</a:t>
            </a:r>
            <a:endParaRPr lang="zh-CN" altLang="en-US" sz="1200" dirty="0">
              <a:latin typeface="微软雅黑 Light" panose="020B0502040204020203" pitchFamily="34" charset="-122"/>
              <a:ea typeface="微软雅黑 Light" panose="020B0502040204020203" pitchFamily="34" charset="-122"/>
            </a:endParaRPr>
          </a:p>
        </p:txBody>
      </p:sp>
      <p:cxnSp>
        <p:nvCxnSpPr>
          <p:cNvPr id="41" name="直接箭头连接符 40"/>
          <p:cNvCxnSpPr>
            <a:stCxn id="13" idx="3"/>
            <a:endCxn id="28" idx="1"/>
          </p:cNvCxnSpPr>
          <p:nvPr/>
        </p:nvCxnSpPr>
        <p:spPr>
          <a:xfrm>
            <a:off x="8545777" y="4626019"/>
            <a:ext cx="1175549"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矩形: 圆角 41"/>
          <p:cNvSpPr/>
          <p:nvPr/>
        </p:nvSpPr>
        <p:spPr>
          <a:xfrm>
            <a:off x="7544804" y="3933056"/>
            <a:ext cx="1000973" cy="411516"/>
          </a:xfrm>
          <a:prstGeom prst="roundRect">
            <a:avLst/>
          </a:prstGeom>
          <a:solidFill>
            <a:schemeClr val="bg1"/>
          </a:solidFill>
          <a:ln w="28575">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200" dirty="0">
                <a:solidFill>
                  <a:schemeClr val="tx1"/>
                </a:solidFill>
                <a:latin typeface="微软雅黑 Light" panose="020B0502040204020203" pitchFamily="34" charset="-122"/>
                <a:ea typeface="微软雅黑 Light" panose="020B0502040204020203" pitchFamily="34" charset="-122"/>
              </a:rPr>
              <a:t>数据链路层</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5"/>
          <p:cNvSpPr>
            <a:spLocks noGrp="1"/>
          </p:cNvSpPr>
          <p:nvPr>
            <p:ph type="sldNum" sz="quarter" idx="12"/>
          </p:nvPr>
        </p:nvSpPr>
        <p:spPr/>
        <p:txBody>
          <a:bodyPr/>
          <a:lstStyle/>
          <a:p>
            <a:fld id="{4B3ACBD4-3B96-40AD-9216-7743075C2676}" type="slidenum">
              <a:rPr lang="en-US" altLang="zh-CN"/>
            </a:fld>
            <a:endParaRPr lang="en-US" altLang="zh-CN"/>
          </a:p>
        </p:txBody>
      </p:sp>
      <p:sp>
        <p:nvSpPr>
          <p:cNvPr id="310274" name="Rectangle 2"/>
          <p:cNvSpPr>
            <a:spLocks noGrp="1" noChangeArrowheads="1"/>
          </p:cNvSpPr>
          <p:nvPr>
            <p:ph type="title"/>
          </p:nvPr>
        </p:nvSpPr>
        <p:spPr/>
        <p:txBody>
          <a:bodyPr/>
          <a:lstStyle/>
          <a:p>
            <a:r>
              <a:rPr lang="zh-CN" altLang="en-US" dirty="0"/>
              <a:t>基本通信模式</a:t>
            </a:r>
            <a:endParaRPr lang="zh-CN" altLang="en-US" dirty="0"/>
          </a:p>
        </p:txBody>
      </p:sp>
      <p:graphicFrame>
        <p:nvGraphicFramePr>
          <p:cNvPr id="310303" name="Group 31"/>
          <p:cNvGraphicFramePr>
            <a:graphicFrameLocks noGrp="1"/>
          </p:cNvGraphicFramePr>
          <p:nvPr/>
        </p:nvGraphicFramePr>
        <p:xfrm>
          <a:off x="1992314" y="1916114"/>
          <a:ext cx="8207375" cy="3654743"/>
        </p:xfrm>
        <a:graphic>
          <a:graphicData uri="http://schemas.openxmlformats.org/drawingml/2006/table">
            <a:tbl>
              <a:tblPr/>
              <a:tblGrid>
                <a:gridCol w="3816350"/>
                <a:gridCol w="4391025"/>
              </a:tblGrid>
              <a:tr h="5762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流模式</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报文模式</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0">
                <a:tc>
                  <a:txBody>
                    <a:bodyPr/>
                    <a:lstStyle>
                      <a:lvl1pPr marL="357505" indent="-357505">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89025" indent="-45720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649730" indent="-3810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2171700" indent="-3429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694305" indent="-3429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31515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6087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40659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5231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面向连接</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一对一通信</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字节序列</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任意长度传输</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大多数应用使用</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构建在</a:t>
                      </a: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TCP</a:t>
                      </a: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之上</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57505" indent="-357505">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89025" indent="-45720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649730" indent="-3810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2171700" indent="-3429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694305" indent="-3429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31515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6087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40659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523105" indent="-3429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无连接</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多对多通信</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报文序列</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每个报文限制最多</a:t>
                      </a: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64KB</a:t>
                      </a:r>
                      <a:endPar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用于多媒体应用</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357505" marR="0" lvl="0" indent="-357505"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AutoNum type="arabicPeriod"/>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构建在</a:t>
                      </a: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UDP</a:t>
                      </a: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之上</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内容占位符 1"/>
          <p:cNvSpPr>
            <a:spLocks noGrp="1"/>
          </p:cNvSpPr>
          <p:nvPr>
            <p:ph idx="1"/>
          </p:nvPr>
        </p:nvSpPr>
        <p:spPr>
          <a:xfrm>
            <a:off x="334434" y="1052515"/>
            <a:ext cx="11523133" cy="1656406"/>
          </a:xfrm>
        </p:spPr>
        <p:txBody>
          <a:bodyPr/>
          <a:lstStyle/>
          <a:p>
            <a:r>
              <a:rPr lang="en-US" altLang="zh-CN" dirty="0"/>
              <a:t>2</a:t>
            </a:r>
            <a:r>
              <a:rPr lang="zh-CN" altLang="en-US" dirty="0"/>
              <a:t>种基本通信模式</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应用进程间通信方式分类</a:t>
            </a:r>
            <a:endParaRPr lang="zh-CN" altLang="en-US" dirty="0"/>
          </a:p>
        </p:txBody>
      </p:sp>
      <p:sp>
        <p:nvSpPr>
          <p:cNvPr id="3" name="内容占位符 2"/>
          <p:cNvSpPr>
            <a:spLocks noGrp="1"/>
          </p:cNvSpPr>
          <p:nvPr>
            <p:ph idx="1"/>
          </p:nvPr>
        </p:nvSpPr>
        <p:spPr/>
        <p:txBody>
          <a:bodyPr/>
          <a:lstStyle/>
          <a:p>
            <a:r>
              <a:rPr lang="zh-CN" altLang="en-US" dirty="0"/>
              <a:t>位于不同主机上的进程间的通信有三种通信方式：</a:t>
            </a:r>
            <a:endParaRPr lang="zh-CN" altLang="en-US" dirty="0"/>
          </a:p>
          <a:p>
            <a:pPr lvl="1"/>
            <a:r>
              <a:rPr lang="en-US" altLang="zh-CN" dirty="0"/>
              <a:t>C/S</a:t>
            </a:r>
            <a:r>
              <a:rPr lang="zh-CN" altLang="en-US" dirty="0"/>
              <a:t>：</a:t>
            </a:r>
            <a:r>
              <a:rPr lang="en-US" altLang="zh-CN" dirty="0"/>
              <a:t>Client/Server</a:t>
            </a:r>
            <a:r>
              <a:rPr lang="zh-CN" altLang="en-US" dirty="0"/>
              <a:t>，客户</a:t>
            </a:r>
            <a:r>
              <a:rPr lang="en-US" altLang="zh-CN" dirty="0"/>
              <a:t>/</a:t>
            </a:r>
            <a:r>
              <a:rPr lang="zh-CN" altLang="en-US" dirty="0"/>
              <a:t>服务器方式</a:t>
            </a:r>
            <a:endParaRPr lang="zh-CN" altLang="en-US" dirty="0"/>
          </a:p>
          <a:p>
            <a:pPr lvl="1"/>
            <a:r>
              <a:rPr lang="en-US" altLang="zh-CN" dirty="0"/>
              <a:t>B/S</a:t>
            </a:r>
            <a:r>
              <a:rPr lang="zh-CN" altLang="en-US" dirty="0"/>
              <a:t>：</a:t>
            </a:r>
            <a:r>
              <a:rPr lang="en-US" altLang="zh-CN" dirty="0"/>
              <a:t>Browser/Server</a:t>
            </a:r>
            <a:r>
              <a:rPr lang="zh-CN" altLang="en-US" dirty="0"/>
              <a:t>，浏览器</a:t>
            </a:r>
            <a:r>
              <a:rPr lang="en-US" altLang="zh-CN" dirty="0"/>
              <a:t>/</a:t>
            </a:r>
            <a:r>
              <a:rPr lang="zh-CN" altLang="en-US" dirty="0"/>
              <a:t>服务器方式</a:t>
            </a:r>
            <a:endParaRPr lang="zh-CN" altLang="en-US" dirty="0"/>
          </a:p>
          <a:p>
            <a:pPr lvl="1"/>
            <a:r>
              <a:rPr lang="en-US" altLang="zh-CN" dirty="0"/>
              <a:t>P2P</a:t>
            </a:r>
            <a:r>
              <a:rPr lang="zh-CN" altLang="en-US" dirty="0"/>
              <a:t>：</a:t>
            </a:r>
            <a:r>
              <a:rPr lang="en-US" altLang="zh-CN" dirty="0"/>
              <a:t>Peer to Peer</a:t>
            </a:r>
            <a:r>
              <a:rPr lang="zh-CN" altLang="en-US" dirty="0"/>
              <a:t>，对等方式</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cs typeface="微软雅黑" panose="020B0503020204020204" pitchFamily="34" charset="-122"/>
                <a:sym typeface="+mn-ea"/>
              </a:rPr>
              <a:t>C/S </a:t>
            </a:r>
            <a:r>
              <a:rPr lang="zh-CN" altLang="en-US" sz="3200" dirty="0">
                <a:cs typeface="微软雅黑" panose="020B0503020204020204" pitchFamily="34" charset="-122"/>
                <a:sym typeface="+mn-ea"/>
              </a:rPr>
              <a:t>方式架构</a:t>
            </a:r>
            <a:endParaRPr lang="zh-CN" altLang="en-US" dirty="0"/>
          </a:p>
        </p:txBody>
      </p:sp>
      <p:sp>
        <p:nvSpPr>
          <p:cNvPr id="3" name="内容占位符 2"/>
          <p:cNvSpPr>
            <a:spLocks noGrp="1"/>
          </p:cNvSpPr>
          <p:nvPr>
            <p:ph idx="1"/>
          </p:nvPr>
        </p:nvSpPr>
        <p:spPr>
          <a:xfrm>
            <a:off x="334435" y="1052514"/>
            <a:ext cx="6769678" cy="5437187"/>
          </a:xfrm>
        </p:spPr>
        <p:txBody>
          <a:bodyPr>
            <a:normAutofit lnSpcReduction="10000"/>
          </a:bodyPr>
          <a:lstStyle/>
          <a:p>
            <a:r>
              <a:rPr lang="zh-CN" altLang="en-US" dirty="0"/>
              <a:t>客户</a:t>
            </a:r>
            <a:r>
              <a:rPr lang="en-US" altLang="zh-CN" dirty="0"/>
              <a:t>/</a:t>
            </a:r>
            <a:r>
              <a:rPr lang="zh-CN" altLang="en-US" dirty="0"/>
              <a:t>服务器（ </a:t>
            </a:r>
            <a:r>
              <a:rPr lang="en-US" altLang="zh-CN" dirty="0"/>
              <a:t>Client/Server </a:t>
            </a:r>
            <a:r>
              <a:rPr lang="zh-CN" altLang="en-US" dirty="0"/>
              <a:t>）模式：一种主从式架构</a:t>
            </a:r>
            <a:endParaRPr lang="zh-CN" altLang="en-US" dirty="0"/>
          </a:p>
          <a:p>
            <a:pPr lvl="1"/>
            <a:r>
              <a:rPr lang="zh-CN" altLang="en-US" dirty="0"/>
              <a:t>服务器是主，客户端是从</a:t>
            </a:r>
            <a:endParaRPr lang="en-US" altLang="zh-CN" dirty="0"/>
          </a:p>
          <a:p>
            <a:pPr lvl="1"/>
            <a:r>
              <a:rPr lang="zh-CN" altLang="en-US" dirty="0"/>
              <a:t>服务器软件以多进程方式运行，可以同时为多个客户服务</a:t>
            </a:r>
            <a:endParaRPr lang="zh-CN" altLang="en-US" dirty="0"/>
          </a:p>
          <a:p>
            <a:pPr lvl="1"/>
            <a:r>
              <a:rPr lang="zh-CN" altLang="en-US" dirty="0"/>
              <a:t>在移动互联网环境下，每个应用</a:t>
            </a:r>
            <a:r>
              <a:rPr lang="en-US" altLang="zh-CN" dirty="0"/>
              <a:t>APP</a:t>
            </a:r>
            <a:r>
              <a:rPr lang="zh-CN" altLang="en-US" dirty="0"/>
              <a:t>都是一个客户端</a:t>
            </a:r>
            <a:endParaRPr lang="zh-CN" altLang="en-US" dirty="0"/>
          </a:p>
          <a:p>
            <a:r>
              <a:rPr lang="en-US" altLang="zh-CN" dirty="0"/>
              <a:t>C/S </a:t>
            </a:r>
            <a:r>
              <a:rPr lang="zh-CN" altLang="en-US" dirty="0"/>
              <a:t>是一个可缩放的架构</a:t>
            </a:r>
            <a:endParaRPr lang="zh-CN" altLang="en-US" dirty="0"/>
          </a:p>
          <a:p>
            <a:r>
              <a:rPr lang="zh-CN" altLang="en-US" dirty="0"/>
              <a:t>服务器软件通常运行在性能强大的专用计算机上，承担复杂的业务逻辑处理、数据计算与存储等</a:t>
            </a:r>
            <a:endParaRPr lang="zh-CN" altLang="en-US" dirty="0"/>
          </a:p>
          <a:p>
            <a:r>
              <a:rPr lang="zh-CN" altLang="en-US" dirty="0"/>
              <a:t>客户端一般运行于普通个人计算机上，为用户提供操作与显示等</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7366000" y="3530746"/>
            <a:ext cx="4299001" cy="2680520"/>
            <a:chOff x="2344347" y="3029527"/>
            <a:chExt cx="7055400" cy="3205390"/>
          </a:xfrm>
        </p:grpSpPr>
        <p:sp>
          <p:nvSpPr>
            <p:cNvPr id="6" name="云形 5"/>
            <p:cNvSpPr/>
            <p:nvPr/>
          </p:nvSpPr>
          <p:spPr>
            <a:xfrm>
              <a:off x="2674529" y="5719312"/>
              <a:ext cx="6058453" cy="515605"/>
            </a:xfrm>
            <a:prstGeom prst="cloud">
              <a:avLst/>
            </a:prstGeom>
            <a:solidFill>
              <a:schemeClr val="bg1">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200" dirty="0">
                <a:solidFill>
                  <a:srgbClr val="666666"/>
                </a:solidFill>
                <a:latin typeface="微软雅黑 Light" panose="020B0502040204020203" pitchFamily="34" charset="-122"/>
                <a:ea typeface="微软雅黑 Light" panose="020B0502040204020203" pitchFamily="34" charset="-122"/>
              </a:endParaRPr>
            </a:p>
          </p:txBody>
        </p:sp>
        <p:grpSp>
          <p:nvGrpSpPr>
            <p:cNvPr id="7" name="组合 6"/>
            <p:cNvGrpSpPr/>
            <p:nvPr/>
          </p:nvGrpSpPr>
          <p:grpSpPr>
            <a:xfrm>
              <a:off x="2344347" y="3029527"/>
              <a:ext cx="7055400" cy="3101254"/>
              <a:chOff x="2713903" y="2377735"/>
              <a:chExt cx="7293306" cy="3946188"/>
            </a:xfrm>
          </p:grpSpPr>
          <p:sp>
            <p:nvSpPr>
              <p:cNvPr id="8" name="直接连接符 146434"/>
              <p:cNvSpPr>
                <a:spLocks noChangeShapeType="1"/>
              </p:cNvSpPr>
              <p:nvPr/>
            </p:nvSpPr>
            <p:spPr bwMode="auto">
              <a:xfrm>
                <a:off x="6202870" y="5436611"/>
                <a:ext cx="0" cy="392969"/>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sz="1200" dirty="0">
                  <a:latin typeface="微软雅黑 Light" panose="020B0502040204020203" pitchFamily="34" charset="-122"/>
                  <a:ea typeface="微软雅黑 Light" panose="020B0502040204020203" pitchFamily="34" charset="-122"/>
                </a:endParaRPr>
              </a:p>
            </p:txBody>
          </p:sp>
          <p:sp>
            <p:nvSpPr>
              <p:cNvPr id="9" name="矩形 146435"/>
              <p:cNvSpPr>
                <a:spLocks noChangeArrowheads="1"/>
              </p:cNvSpPr>
              <p:nvPr/>
            </p:nvSpPr>
            <p:spPr bwMode="auto">
              <a:xfrm>
                <a:off x="4756699" y="2803174"/>
                <a:ext cx="2898775" cy="2694235"/>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10" name="文本框 146436"/>
              <p:cNvSpPr txBox="1">
                <a:spLocks noChangeArrowheads="1"/>
              </p:cNvSpPr>
              <p:nvPr/>
            </p:nvSpPr>
            <p:spPr bwMode="auto">
              <a:xfrm>
                <a:off x="5480598" y="4655423"/>
                <a:ext cx="1618654"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Light" panose="020B0502040204020203" pitchFamily="34" charset="-122"/>
                    <a:ea typeface="微软雅黑 Light" panose="020B0502040204020203" pitchFamily="34" charset="-122"/>
                  </a:rPr>
                  <a:t>数据链路层</a:t>
                </a:r>
                <a:endParaRPr lang="zh-CN" altLang="en-US" sz="1200">
                  <a:solidFill>
                    <a:srgbClr val="333399"/>
                  </a:solidFill>
                  <a:latin typeface="微软雅黑 Light" panose="020B0502040204020203" pitchFamily="34" charset="-122"/>
                  <a:ea typeface="微软雅黑 Light" panose="020B0502040204020203" pitchFamily="34" charset="-122"/>
                </a:endParaRPr>
              </a:p>
            </p:txBody>
          </p:sp>
          <p:sp>
            <p:nvSpPr>
              <p:cNvPr id="11" name="直接连接符 146437"/>
              <p:cNvSpPr>
                <a:spLocks noChangeShapeType="1"/>
              </p:cNvSpPr>
              <p:nvPr/>
            </p:nvSpPr>
            <p:spPr bwMode="auto">
              <a:xfrm>
                <a:off x="4756699" y="5089114"/>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12" name="直接连接符 146438"/>
              <p:cNvSpPr>
                <a:spLocks noChangeShapeType="1"/>
              </p:cNvSpPr>
              <p:nvPr/>
            </p:nvSpPr>
            <p:spPr bwMode="auto">
              <a:xfrm>
                <a:off x="4756699" y="4679550"/>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13" name="直接连接符 146439"/>
              <p:cNvSpPr>
                <a:spLocks noChangeShapeType="1"/>
              </p:cNvSpPr>
              <p:nvPr/>
            </p:nvSpPr>
            <p:spPr bwMode="auto">
              <a:xfrm>
                <a:off x="4756699" y="427125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14" name="直接连接符 146440"/>
              <p:cNvSpPr>
                <a:spLocks noChangeShapeType="1"/>
              </p:cNvSpPr>
              <p:nvPr/>
            </p:nvSpPr>
            <p:spPr bwMode="auto">
              <a:xfrm>
                <a:off x="4756699" y="386359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15" name="文本框 146441"/>
              <p:cNvSpPr txBox="1">
                <a:spLocks noChangeArrowheads="1"/>
              </p:cNvSpPr>
              <p:nvPr/>
            </p:nvSpPr>
            <p:spPr bwMode="auto">
              <a:xfrm>
                <a:off x="5715548" y="5063715"/>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Light" panose="020B0502040204020203" pitchFamily="34" charset="-122"/>
                    <a:ea typeface="微软雅黑 Light" panose="020B0502040204020203" pitchFamily="34" charset="-122"/>
                  </a:rPr>
                  <a:t>物理层</a:t>
                </a:r>
                <a:endParaRPr lang="zh-CN" altLang="en-US" sz="1200">
                  <a:solidFill>
                    <a:srgbClr val="333399"/>
                  </a:solidFill>
                  <a:latin typeface="微软雅黑 Light" panose="020B0502040204020203" pitchFamily="34" charset="-122"/>
                  <a:ea typeface="微软雅黑 Light" panose="020B0502040204020203" pitchFamily="34" charset="-122"/>
                </a:endParaRPr>
              </a:p>
            </p:txBody>
          </p:sp>
          <p:sp>
            <p:nvSpPr>
              <p:cNvPr id="16" name="文本框 146442"/>
              <p:cNvSpPr txBox="1">
                <a:spLocks noChangeArrowheads="1"/>
              </p:cNvSpPr>
              <p:nvPr/>
            </p:nvSpPr>
            <p:spPr bwMode="auto">
              <a:xfrm>
                <a:off x="5715548" y="3852165"/>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传输层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17" name="文本框 146443"/>
              <p:cNvSpPr txBox="1">
                <a:spLocks noChangeArrowheads="1"/>
              </p:cNvSpPr>
              <p:nvPr/>
            </p:nvSpPr>
            <p:spPr bwMode="auto">
              <a:xfrm>
                <a:off x="5715548" y="4260462"/>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Light" panose="020B0502040204020203" pitchFamily="34" charset="-122"/>
                    <a:ea typeface="微软雅黑 Light" panose="020B0502040204020203" pitchFamily="34" charset="-122"/>
                  </a:rPr>
                  <a:t>网络层</a:t>
                </a:r>
                <a:endParaRPr lang="zh-CN" altLang="en-US" sz="1200">
                  <a:solidFill>
                    <a:srgbClr val="333399"/>
                  </a:solidFill>
                  <a:latin typeface="微软雅黑 Light" panose="020B0502040204020203" pitchFamily="34" charset="-122"/>
                  <a:ea typeface="微软雅黑 Light" panose="020B0502040204020203" pitchFamily="34" charset="-122"/>
                </a:endParaRPr>
              </a:p>
            </p:txBody>
          </p:sp>
          <p:sp>
            <p:nvSpPr>
              <p:cNvPr id="18" name="文本框 146444"/>
              <p:cNvSpPr txBox="1">
                <a:spLocks noChangeArrowheads="1"/>
              </p:cNvSpPr>
              <p:nvPr/>
            </p:nvSpPr>
            <p:spPr bwMode="auto">
              <a:xfrm>
                <a:off x="5685703" y="2763168"/>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应用层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19" name="文本框 146445"/>
              <p:cNvSpPr txBox="1">
                <a:spLocks noChangeArrowheads="1"/>
              </p:cNvSpPr>
              <p:nvPr/>
            </p:nvSpPr>
            <p:spPr bwMode="auto">
              <a:xfrm>
                <a:off x="5606329" y="2377735"/>
                <a:ext cx="1316790"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计算机 </a:t>
                </a:r>
                <a:r>
                  <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3</a:t>
                </a:r>
                <a:endPar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20" name="直接连接符 146447"/>
              <p:cNvSpPr>
                <a:spLocks noChangeShapeType="1"/>
              </p:cNvSpPr>
              <p:nvPr/>
            </p:nvSpPr>
            <p:spPr bwMode="auto">
              <a:xfrm flipH="1">
                <a:off x="5502973" y="3691833"/>
                <a:ext cx="0" cy="171763"/>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21" name="椭圆 146448"/>
              <p:cNvSpPr>
                <a:spLocks noChangeArrowheads="1"/>
              </p:cNvSpPr>
              <p:nvPr/>
            </p:nvSpPr>
            <p:spPr bwMode="auto">
              <a:xfrm>
                <a:off x="4931345" y="3227025"/>
                <a:ext cx="1143258" cy="43813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200">
                  <a:latin typeface="微软雅黑 Light" panose="020B0502040204020203" pitchFamily="34" charset="-122"/>
                  <a:ea typeface="微软雅黑 Light" panose="020B0502040204020203" pitchFamily="34" charset="-122"/>
                </a:endParaRPr>
              </a:p>
            </p:txBody>
          </p:sp>
          <p:sp>
            <p:nvSpPr>
              <p:cNvPr id="22" name="文本框 146449"/>
              <p:cNvSpPr txBox="1">
                <a:spLocks noChangeArrowheads="1"/>
              </p:cNvSpPr>
              <p:nvPr/>
            </p:nvSpPr>
            <p:spPr bwMode="auto">
              <a:xfrm>
                <a:off x="4839249" y="3294614"/>
                <a:ext cx="1405255" cy="401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algn="ctr">
                  <a:lnSpc>
                    <a:spcPct val="90000"/>
                  </a:lnSpc>
                </a:pPr>
                <a:r>
                  <a:rPr lang="zh-CN" altLang="en-US" sz="1200" dirty="0">
                    <a:solidFill>
                      <a:srgbClr val="FFFF66"/>
                    </a:solidFill>
                    <a:latin typeface="微软雅黑 Light" panose="020B0502040204020203" pitchFamily="34" charset="-122"/>
                    <a:ea typeface="微软雅黑 Light" panose="020B0502040204020203" pitchFamily="34" charset="-122"/>
                    <a:cs typeface="微软雅黑" panose="020B0503020204020204" pitchFamily="34" charset="-122"/>
                  </a:rPr>
                  <a:t>服务器</a:t>
                </a:r>
                <a:r>
                  <a:rPr lang="en-US" altLang="zh-CN" sz="1200" dirty="0">
                    <a:solidFill>
                      <a:srgbClr val="FFFF66"/>
                    </a:solidFill>
                    <a:latin typeface="微软雅黑 Light" panose="020B0502040204020203" pitchFamily="34" charset="-122"/>
                    <a:ea typeface="微软雅黑 Light" panose="020B0502040204020203" pitchFamily="34" charset="-122"/>
                    <a:cs typeface="微软雅黑" panose="020B0503020204020204" pitchFamily="34" charset="-122"/>
                  </a:rPr>
                  <a:t>1</a:t>
                </a:r>
                <a:endParaRPr lang="en-US" altLang="zh-CN" sz="1200" dirty="0">
                  <a:solidFill>
                    <a:srgbClr val="FFFF66"/>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23" name="直接连接符 146451"/>
              <p:cNvSpPr>
                <a:spLocks noChangeShapeType="1"/>
              </p:cNvSpPr>
              <p:nvPr/>
            </p:nvSpPr>
            <p:spPr bwMode="auto">
              <a:xfrm flipH="1">
                <a:off x="6939829" y="3672246"/>
                <a:ext cx="0" cy="1802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24" name="椭圆 146452"/>
              <p:cNvSpPr>
                <a:spLocks noChangeArrowheads="1"/>
              </p:cNvSpPr>
              <p:nvPr/>
            </p:nvSpPr>
            <p:spPr bwMode="auto">
              <a:xfrm>
                <a:off x="6337849" y="3227025"/>
                <a:ext cx="1141730" cy="43813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200">
                  <a:latin typeface="微软雅黑 Light" panose="020B0502040204020203" pitchFamily="34" charset="-122"/>
                  <a:ea typeface="微软雅黑 Light" panose="020B0502040204020203" pitchFamily="34" charset="-122"/>
                </a:endParaRPr>
              </a:p>
            </p:txBody>
          </p:sp>
          <p:sp>
            <p:nvSpPr>
              <p:cNvPr id="25" name="文本框 146453"/>
              <p:cNvSpPr txBox="1">
                <a:spLocks noChangeArrowheads="1"/>
              </p:cNvSpPr>
              <p:nvPr/>
            </p:nvSpPr>
            <p:spPr bwMode="auto">
              <a:xfrm>
                <a:off x="6305064" y="3267922"/>
                <a:ext cx="1240642" cy="393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1200" dirty="0">
                    <a:solidFill>
                      <a:srgbClr val="FFFF66"/>
                    </a:solidFill>
                    <a:latin typeface="微软雅黑 Light" panose="020B0502040204020203" pitchFamily="34" charset="-122"/>
                    <a:ea typeface="微软雅黑 Light" panose="020B0502040204020203" pitchFamily="34" charset="-122"/>
                    <a:cs typeface="微软雅黑" panose="020B0503020204020204" pitchFamily="34" charset="-122"/>
                  </a:rPr>
                  <a:t>服务器</a:t>
                </a:r>
                <a:r>
                  <a:rPr lang="en-US" altLang="zh-CN" sz="1200" dirty="0">
                    <a:solidFill>
                      <a:srgbClr val="FFFF66"/>
                    </a:solidFill>
                    <a:latin typeface="微软雅黑 Light" panose="020B0502040204020203" pitchFamily="34" charset="-122"/>
                    <a:ea typeface="微软雅黑 Light" panose="020B0502040204020203" pitchFamily="34" charset="-122"/>
                    <a:cs typeface="微软雅黑" panose="020B0503020204020204" pitchFamily="34" charset="-122"/>
                  </a:rPr>
                  <a:t>2</a:t>
                </a:r>
                <a:endParaRPr lang="en-US" altLang="zh-CN" sz="1200" dirty="0">
                  <a:solidFill>
                    <a:srgbClr val="FFFF66"/>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nvGrpSpPr>
              <p:cNvPr id="26" name="组合 146456"/>
              <p:cNvGrpSpPr/>
              <p:nvPr/>
            </p:nvGrpSpPr>
            <p:grpSpPr bwMode="auto">
              <a:xfrm>
                <a:off x="2713903" y="2377735"/>
                <a:ext cx="1663700" cy="3119356"/>
                <a:chOff x="318" y="0"/>
                <a:chExt cx="1048" cy="1965"/>
              </a:xfrm>
            </p:grpSpPr>
            <p:sp>
              <p:nvSpPr>
                <p:cNvPr id="48" name="矩形 146457"/>
                <p:cNvSpPr>
                  <a:spLocks noChangeArrowheads="1"/>
                </p:cNvSpPr>
                <p:nvPr/>
              </p:nvSpPr>
              <p:spPr bwMode="auto">
                <a:xfrm>
                  <a:off x="318" y="268"/>
                  <a:ext cx="941" cy="1697"/>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49" name="文本框 146458"/>
                <p:cNvSpPr txBox="1">
                  <a:spLocks noChangeArrowheads="1"/>
                </p:cNvSpPr>
                <p:nvPr/>
              </p:nvSpPr>
              <p:spPr bwMode="auto">
                <a:xfrm>
                  <a:off x="346" y="1435"/>
                  <a:ext cx="1020"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数据链路层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50" name="直接连接符 146459"/>
                <p:cNvSpPr>
                  <a:spLocks noChangeShapeType="1"/>
                </p:cNvSpPr>
                <p:nvPr/>
              </p:nvSpPr>
              <p:spPr bwMode="auto">
                <a:xfrm>
                  <a:off x="318" y="1708"/>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51" name="直接连接符 146460"/>
                <p:cNvSpPr>
                  <a:spLocks noChangeShapeType="1"/>
                </p:cNvSpPr>
                <p:nvPr/>
              </p:nvSpPr>
              <p:spPr bwMode="auto">
                <a:xfrm>
                  <a:off x="318" y="1450"/>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52" name="直接连接符 146461"/>
                <p:cNvSpPr>
                  <a:spLocks noChangeShapeType="1"/>
                </p:cNvSpPr>
                <p:nvPr/>
              </p:nvSpPr>
              <p:spPr bwMode="auto">
                <a:xfrm>
                  <a:off x="318" y="1193"/>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53" name="直接连接符 146462"/>
                <p:cNvSpPr>
                  <a:spLocks noChangeShapeType="1"/>
                </p:cNvSpPr>
                <p:nvPr/>
              </p:nvSpPr>
              <p:spPr bwMode="auto">
                <a:xfrm>
                  <a:off x="318" y="936"/>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54" name="文本框 146463"/>
                <p:cNvSpPr txBox="1">
                  <a:spLocks noChangeArrowheads="1"/>
                </p:cNvSpPr>
                <p:nvPr/>
              </p:nvSpPr>
              <p:spPr bwMode="auto">
                <a:xfrm>
                  <a:off x="493" y="1692"/>
                  <a:ext cx="6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物理层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55" name="文本框 146464"/>
                <p:cNvSpPr txBox="1">
                  <a:spLocks noChangeArrowheads="1"/>
                </p:cNvSpPr>
                <p:nvPr/>
              </p:nvSpPr>
              <p:spPr bwMode="auto">
                <a:xfrm>
                  <a:off x="493" y="929"/>
                  <a:ext cx="6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传输层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56" name="文本框 146465"/>
                <p:cNvSpPr txBox="1">
                  <a:spLocks noChangeArrowheads="1"/>
                </p:cNvSpPr>
                <p:nvPr/>
              </p:nvSpPr>
              <p:spPr bwMode="auto">
                <a:xfrm>
                  <a:off x="493" y="1186"/>
                  <a:ext cx="6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网络层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57" name="直接连接符 146466"/>
                <p:cNvSpPr>
                  <a:spLocks noChangeShapeType="1"/>
                </p:cNvSpPr>
                <p:nvPr/>
              </p:nvSpPr>
              <p:spPr bwMode="auto">
                <a:xfrm>
                  <a:off x="778" y="782"/>
                  <a:ext cx="0" cy="141"/>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58" name="椭圆 146467"/>
                <p:cNvSpPr>
                  <a:spLocks noChangeArrowheads="1"/>
                </p:cNvSpPr>
                <p:nvPr/>
              </p:nvSpPr>
              <p:spPr bwMode="auto">
                <a:xfrm>
                  <a:off x="398" y="525"/>
                  <a:ext cx="775" cy="269"/>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200">
                    <a:latin typeface="微软雅黑 Light" panose="020B0502040204020203" pitchFamily="34" charset="-122"/>
                    <a:ea typeface="微软雅黑 Light" panose="020B0502040204020203" pitchFamily="34" charset="-122"/>
                  </a:endParaRPr>
                </a:p>
              </p:txBody>
            </p:sp>
            <p:sp>
              <p:nvSpPr>
                <p:cNvPr id="59" name="文本框 146468"/>
                <p:cNvSpPr txBox="1">
                  <a:spLocks noChangeArrowheads="1"/>
                </p:cNvSpPr>
                <p:nvPr/>
              </p:nvSpPr>
              <p:spPr bwMode="auto">
                <a:xfrm>
                  <a:off x="498" y="252"/>
                  <a:ext cx="6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应用层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60" name="文本框 146469"/>
                <p:cNvSpPr txBox="1">
                  <a:spLocks noChangeArrowheads="1"/>
                </p:cNvSpPr>
                <p:nvPr/>
              </p:nvSpPr>
              <p:spPr bwMode="auto">
                <a:xfrm>
                  <a:off x="455" y="0"/>
                  <a:ext cx="80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计算机 </a:t>
                  </a:r>
                  <a:r>
                    <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1</a:t>
                  </a:r>
                  <a:endPar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61" name="文本框 146470"/>
                <p:cNvSpPr txBox="1">
                  <a:spLocks noChangeArrowheads="1"/>
                </p:cNvSpPr>
                <p:nvPr/>
              </p:nvSpPr>
              <p:spPr bwMode="auto">
                <a:xfrm>
                  <a:off x="500" y="535"/>
                  <a:ext cx="638"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客户 </a:t>
                  </a:r>
                  <a:r>
                    <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1</a:t>
                  </a:r>
                  <a:endPar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sp>
            <p:nvSpPr>
              <p:cNvPr id="27" name="矩形 146472"/>
              <p:cNvSpPr>
                <a:spLocks noChangeArrowheads="1"/>
              </p:cNvSpPr>
              <p:nvPr/>
            </p:nvSpPr>
            <p:spPr bwMode="auto">
              <a:xfrm>
                <a:off x="8344105" y="2803175"/>
                <a:ext cx="1493838" cy="269391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28" name="文本框 146473"/>
              <p:cNvSpPr txBox="1">
                <a:spLocks noChangeArrowheads="1"/>
              </p:cNvSpPr>
              <p:nvPr/>
            </p:nvSpPr>
            <p:spPr bwMode="auto">
              <a:xfrm>
                <a:off x="8388555" y="4655738"/>
                <a:ext cx="1618654"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Light" panose="020B0502040204020203" pitchFamily="34" charset="-122"/>
                    <a:ea typeface="微软雅黑 Light" panose="020B0502040204020203" pitchFamily="34" charset="-122"/>
                  </a:rPr>
                  <a:t>数据链路层</a:t>
                </a:r>
                <a:endParaRPr lang="zh-CN" altLang="en-US" sz="1200">
                  <a:solidFill>
                    <a:srgbClr val="333399"/>
                  </a:solidFill>
                  <a:latin typeface="微软雅黑 Light" panose="020B0502040204020203" pitchFamily="34" charset="-122"/>
                  <a:ea typeface="微软雅黑 Light" panose="020B0502040204020203" pitchFamily="34" charset="-122"/>
                </a:endParaRPr>
              </a:p>
            </p:txBody>
          </p:sp>
          <p:sp>
            <p:nvSpPr>
              <p:cNvPr id="29" name="直接连接符 146474"/>
              <p:cNvSpPr>
                <a:spLocks noChangeShapeType="1"/>
              </p:cNvSpPr>
              <p:nvPr/>
            </p:nvSpPr>
            <p:spPr bwMode="auto">
              <a:xfrm>
                <a:off x="8344105" y="5089114"/>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30" name="直接连接符 146475"/>
              <p:cNvSpPr>
                <a:spLocks noChangeShapeType="1"/>
              </p:cNvSpPr>
              <p:nvPr/>
            </p:nvSpPr>
            <p:spPr bwMode="auto">
              <a:xfrm>
                <a:off x="8344105" y="4679550"/>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31" name="直接连接符 146476"/>
              <p:cNvSpPr>
                <a:spLocks noChangeShapeType="1"/>
              </p:cNvSpPr>
              <p:nvPr/>
            </p:nvSpPr>
            <p:spPr bwMode="auto">
              <a:xfrm>
                <a:off x="8344105" y="4271573"/>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32" name="直接连接符 146477"/>
              <p:cNvSpPr>
                <a:spLocks noChangeShapeType="1"/>
              </p:cNvSpPr>
              <p:nvPr/>
            </p:nvSpPr>
            <p:spPr bwMode="auto">
              <a:xfrm>
                <a:off x="8353646" y="3863596"/>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33" name="文本框 146478"/>
              <p:cNvSpPr txBox="1">
                <a:spLocks noChangeArrowheads="1"/>
              </p:cNvSpPr>
              <p:nvPr/>
            </p:nvSpPr>
            <p:spPr bwMode="auto">
              <a:xfrm>
                <a:off x="8623505" y="5063715"/>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物理层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34" name="文本框 146479"/>
              <p:cNvSpPr txBox="1">
                <a:spLocks noChangeArrowheads="1"/>
              </p:cNvSpPr>
              <p:nvPr/>
            </p:nvSpPr>
            <p:spPr bwMode="auto">
              <a:xfrm>
                <a:off x="8623505" y="3852485"/>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rPr>
                  <a:t>传输层</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sp>
            <p:nvSpPr>
              <p:cNvPr id="35" name="文本框 146480"/>
              <p:cNvSpPr txBox="1">
                <a:spLocks noChangeArrowheads="1"/>
              </p:cNvSpPr>
              <p:nvPr/>
            </p:nvSpPr>
            <p:spPr bwMode="auto">
              <a:xfrm>
                <a:off x="8623505" y="4260462"/>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Light" panose="020B0502040204020203" pitchFamily="34" charset="-122"/>
                    <a:ea typeface="微软雅黑 Light" panose="020B0502040204020203" pitchFamily="34" charset="-122"/>
                  </a:rPr>
                  <a:t>网络层</a:t>
                </a:r>
                <a:endParaRPr lang="zh-CN" altLang="en-US" sz="1200">
                  <a:solidFill>
                    <a:srgbClr val="333399"/>
                  </a:solidFill>
                  <a:latin typeface="微软雅黑 Light" panose="020B0502040204020203" pitchFamily="34" charset="-122"/>
                  <a:ea typeface="微软雅黑 Light" panose="020B0502040204020203" pitchFamily="34" charset="-122"/>
                </a:endParaRPr>
              </a:p>
            </p:txBody>
          </p:sp>
          <p:sp>
            <p:nvSpPr>
              <p:cNvPr id="36" name="直接连接符 146481"/>
              <p:cNvSpPr>
                <a:spLocks noChangeShapeType="1"/>
              </p:cNvSpPr>
              <p:nvPr/>
            </p:nvSpPr>
            <p:spPr bwMode="auto">
              <a:xfrm>
                <a:off x="9117219" y="3665164"/>
                <a:ext cx="0" cy="22065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37" name="椭圆 146482"/>
              <p:cNvSpPr>
                <a:spLocks noChangeArrowheads="1"/>
              </p:cNvSpPr>
              <p:nvPr/>
            </p:nvSpPr>
            <p:spPr bwMode="auto">
              <a:xfrm>
                <a:off x="8480646" y="3227025"/>
                <a:ext cx="1230313" cy="445221"/>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200">
                  <a:latin typeface="微软雅黑 Light" panose="020B0502040204020203" pitchFamily="34" charset="-122"/>
                  <a:ea typeface="微软雅黑 Light" panose="020B0502040204020203" pitchFamily="34" charset="-122"/>
                </a:endParaRPr>
              </a:p>
            </p:txBody>
          </p:sp>
          <p:sp>
            <p:nvSpPr>
              <p:cNvPr id="38" name="文本框 146483"/>
              <p:cNvSpPr txBox="1">
                <a:spLocks noChangeArrowheads="1"/>
              </p:cNvSpPr>
              <p:nvPr/>
            </p:nvSpPr>
            <p:spPr bwMode="auto">
              <a:xfrm>
                <a:off x="8615571" y="2790474"/>
                <a:ext cx="1096508"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Light" panose="020B0502040204020203" pitchFamily="34" charset="-122"/>
                    <a:ea typeface="微软雅黑 Light" panose="020B0502040204020203" pitchFamily="34" charset="-122"/>
                  </a:rPr>
                  <a:t>应用层</a:t>
                </a:r>
                <a:endParaRPr lang="zh-CN" altLang="en-US" sz="1200">
                  <a:solidFill>
                    <a:srgbClr val="333399"/>
                  </a:solidFill>
                  <a:latin typeface="微软雅黑 Light" panose="020B0502040204020203" pitchFamily="34" charset="-122"/>
                  <a:ea typeface="微软雅黑 Light" panose="020B0502040204020203" pitchFamily="34" charset="-122"/>
                </a:endParaRPr>
              </a:p>
            </p:txBody>
          </p:sp>
          <p:sp>
            <p:nvSpPr>
              <p:cNvPr id="39" name="文本框 146484"/>
              <p:cNvSpPr txBox="1">
                <a:spLocks noChangeArrowheads="1"/>
              </p:cNvSpPr>
              <p:nvPr/>
            </p:nvSpPr>
            <p:spPr bwMode="auto">
              <a:xfrm>
                <a:off x="8571119" y="2377735"/>
                <a:ext cx="1316790"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计算机 </a:t>
                </a:r>
                <a:r>
                  <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2</a:t>
                </a:r>
                <a:endPar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40" name="文本框 146485"/>
              <p:cNvSpPr txBox="1">
                <a:spLocks noChangeArrowheads="1"/>
              </p:cNvSpPr>
              <p:nvPr/>
            </p:nvSpPr>
            <p:spPr bwMode="auto">
              <a:xfrm>
                <a:off x="8663192" y="3227026"/>
                <a:ext cx="1055716" cy="42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客户 </a:t>
                </a:r>
                <a:r>
                  <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2</a:t>
                </a:r>
                <a:endParaRPr lang="en-US" altLang="zh-CN" sz="12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nvGrpSpPr>
              <p:cNvPr id="41" name="组合 146486"/>
              <p:cNvGrpSpPr/>
              <p:nvPr/>
            </p:nvGrpSpPr>
            <p:grpSpPr bwMode="auto">
              <a:xfrm>
                <a:off x="5606329" y="5894322"/>
                <a:ext cx="1745780" cy="429601"/>
                <a:chOff x="317" y="438"/>
                <a:chExt cx="784" cy="823"/>
              </a:xfrm>
            </p:grpSpPr>
            <p:sp>
              <p:nvSpPr>
                <p:cNvPr id="47" name="文本框 146488"/>
                <p:cNvSpPr txBox="1">
                  <a:spLocks noChangeArrowheads="1"/>
                </p:cNvSpPr>
                <p:nvPr/>
              </p:nvSpPr>
              <p:spPr bwMode="auto">
                <a:xfrm>
                  <a:off x="317" y="438"/>
                  <a:ext cx="784" cy="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200" dirty="0">
                      <a:solidFill>
                        <a:srgbClr val="333399"/>
                      </a:solidFill>
                      <a:latin typeface="微软雅黑 Light" panose="020B0502040204020203" pitchFamily="34" charset="-122"/>
                      <a:ea typeface="微软雅黑 Light" panose="020B0502040204020203" pitchFamily="34" charset="-122"/>
                    </a:rPr>
                    <a:t>IP </a:t>
                  </a:r>
                  <a:r>
                    <a:rPr lang="zh-CN" altLang="en-US" sz="1200" dirty="0">
                      <a:solidFill>
                        <a:srgbClr val="333399"/>
                      </a:solidFill>
                      <a:latin typeface="微软雅黑 Light" panose="020B0502040204020203" pitchFamily="34" charset="-122"/>
                      <a:ea typeface="微软雅黑 Light" panose="020B0502040204020203" pitchFamily="34" charset="-122"/>
                    </a:rPr>
                    <a:t>网络</a:t>
                  </a:r>
                  <a:endParaRPr lang="zh-CN" altLang="en-US" sz="1200" dirty="0">
                    <a:solidFill>
                      <a:srgbClr val="333399"/>
                    </a:solidFill>
                    <a:latin typeface="微软雅黑 Light" panose="020B0502040204020203" pitchFamily="34" charset="-122"/>
                    <a:ea typeface="微软雅黑 Light" panose="020B0502040204020203" pitchFamily="34" charset="-122"/>
                  </a:endParaRPr>
                </a:p>
              </p:txBody>
            </p:sp>
          </p:grpSp>
          <p:grpSp>
            <p:nvGrpSpPr>
              <p:cNvPr id="42" name="组合 41"/>
              <p:cNvGrpSpPr/>
              <p:nvPr/>
            </p:nvGrpSpPr>
            <p:grpSpPr bwMode="auto">
              <a:xfrm>
                <a:off x="4075690" y="3455300"/>
                <a:ext cx="4259523" cy="11427"/>
                <a:chOff x="291" y="-2"/>
                <a:chExt cx="2683" cy="11427"/>
              </a:xfrm>
            </p:grpSpPr>
            <p:sp>
              <p:nvSpPr>
                <p:cNvPr id="45" name="直接连接符 146490"/>
                <p:cNvSpPr>
                  <a:spLocks noChangeShapeType="1"/>
                </p:cNvSpPr>
                <p:nvPr/>
              </p:nvSpPr>
              <p:spPr bwMode="auto">
                <a:xfrm>
                  <a:off x="2435" y="-2"/>
                  <a:ext cx="539" cy="11427"/>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46" name="直接连接符 146491"/>
                <p:cNvSpPr>
                  <a:spLocks noChangeShapeType="1"/>
                </p:cNvSpPr>
                <p:nvPr/>
              </p:nvSpPr>
              <p:spPr bwMode="auto">
                <a:xfrm>
                  <a:off x="291" y="0"/>
                  <a:ext cx="539"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grpSp>
          <p:sp>
            <p:nvSpPr>
              <p:cNvPr id="43" name="直接连接符 146434"/>
              <p:cNvSpPr>
                <a:spLocks noChangeShapeType="1"/>
              </p:cNvSpPr>
              <p:nvPr/>
            </p:nvSpPr>
            <p:spPr bwMode="auto">
              <a:xfrm flipH="1">
                <a:off x="3480666" y="5497090"/>
                <a:ext cx="0" cy="347241"/>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sz="1200" dirty="0">
                  <a:latin typeface="微软雅黑 Light" panose="020B0502040204020203" pitchFamily="34" charset="-122"/>
                  <a:ea typeface="微软雅黑 Light" panose="020B0502040204020203" pitchFamily="34" charset="-122"/>
                </a:endParaRPr>
              </a:p>
            </p:txBody>
          </p:sp>
          <p:sp>
            <p:nvSpPr>
              <p:cNvPr id="44" name="直接连接符 146434"/>
              <p:cNvSpPr>
                <a:spLocks noChangeShapeType="1"/>
              </p:cNvSpPr>
              <p:nvPr/>
            </p:nvSpPr>
            <p:spPr bwMode="auto">
              <a:xfrm flipH="1">
                <a:off x="9065325" y="5485515"/>
                <a:ext cx="0" cy="370390"/>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sz="1200" dirty="0">
                  <a:latin typeface="微软雅黑 Light" panose="020B0502040204020203" pitchFamily="34" charset="-122"/>
                  <a:ea typeface="微软雅黑 Light" panose="020B0502040204020203" pitchFamily="34" charset="-122"/>
                </a:endParaRPr>
              </a:p>
            </p:txBody>
          </p:sp>
        </p:grpSp>
      </p:grpSp>
      <p:pic>
        <p:nvPicPr>
          <p:cNvPr id="62" name="图片 72" descr="交换机.png"/>
          <p:cNvPicPr>
            <a:picLocks noChangeAspect="1"/>
          </p:cNvPicPr>
          <p:nvPr/>
        </p:nvPicPr>
        <p:blipFill>
          <a:blip r:embed="rId1" cstate="print"/>
          <a:stretch>
            <a:fillRect/>
          </a:stretch>
        </p:blipFill>
        <p:spPr>
          <a:xfrm>
            <a:off x="9654889" y="1161633"/>
            <a:ext cx="394918" cy="668977"/>
          </a:xfrm>
          <a:prstGeom prst="rect">
            <a:avLst/>
          </a:prstGeom>
        </p:spPr>
      </p:pic>
      <p:pic>
        <p:nvPicPr>
          <p:cNvPr id="63" name="图形 6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18466" y="1442956"/>
            <a:ext cx="604860" cy="499796"/>
          </a:xfrm>
          <a:prstGeom prst="rect">
            <a:avLst/>
          </a:prstGeom>
        </p:spPr>
      </p:pic>
      <p:pic>
        <p:nvPicPr>
          <p:cNvPr id="64" name="图形 6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6065" y="2369179"/>
            <a:ext cx="604860" cy="499796"/>
          </a:xfrm>
          <a:prstGeom prst="rect">
            <a:avLst/>
          </a:prstGeom>
        </p:spPr>
      </p:pic>
      <p:pic>
        <p:nvPicPr>
          <p:cNvPr id="65" name="图形 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42871" y="2796195"/>
            <a:ext cx="604860" cy="499796"/>
          </a:xfrm>
          <a:prstGeom prst="rect">
            <a:avLst/>
          </a:prstGeom>
        </p:spPr>
      </p:pic>
      <p:pic>
        <p:nvPicPr>
          <p:cNvPr id="66" name="图形 6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19677" y="2480419"/>
            <a:ext cx="604860" cy="499796"/>
          </a:xfrm>
          <a:prstGeom prst="rect">
            <a:avLst/>
          </a:prstGeom>
        </p:spPr>
      </p:pic>
      <p:sp>
        <p:nvSpPr>
          <p:cNvPr id="67" name="箭头: 上下 66"/>
          <p:cNvSpPr/>
          <p:nvPr/>
        </p:nvSpPr>
        <p:spPr>
          <a:xfrm rot="4697061">
            <a:off x="9088981" y="1275243"/>
            <a:ext cx="165685" cy="733419"/>
          </a:xfrm>
          <a:prstGeom prst="upDownArrow">
            <a:avLst/>
          </a:prstGeom>
          <a:no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68" name="箭头: 上下 67"/>
          <p:cNvSpPr/>
          <p:nvPr/>
        </p:nvSpPr>
        <p:spPr>
          <a:xfrm rot="2180000">
            <a:off x="9272088" y="1779383"/>
            <a:ext cx="165685" cy="733419"/>
          </a:xfrm>
          <a:prstGeom prst="upDownArrow">
            <a:avLst/>
          </a:prstGeom>
          <a:no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69" name="箭头: 上下 68"/>
          <p:cNvSpPr/>
          <p:nvPr/>
        </p:nvSpPr>
        <p:spPr>
          <a:xfrm>
            <a:off x="9809270" y="1944343"/>
            <a:ext cx="165685" cy="733419"/>
          </a:xfrm>
          <a:prstGeom prst="upDownArrow">
            <a:avLst/>
          </a:prstGeom>
          <a:no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70" name="箭头: 上下 69"/>
          <p:cNvSpPr/>
          <p:nvPr/>
        </p:nvSpPr>
        <p:spPr>
          <a:xfrm rot="19095243">
            <a:off x="10275491" y="1807531"/>
            <a:ext cx="165685" cy="733419"/>
          </a:xfrm>
          <a:prstGeom prst="upDownArrow">
            <a:avLst/>
          </a:prstGeom>
          <a:no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71" name="文本框 70"/>
          <p:cNvSpPr txBox="1"/>
          <p:nvPr/>
        </p:nvSpPr>
        <p:spPr>
          <a:xfrm>
            <a:off x="7525808" y="1608601"/>
            <a:ext cx="543739" cy="307777"/>
          </a:xfrm>
          <a:prstGeom prst="rect">
            <a:avLst/>
          </a:prstGeom>
          <a:noFill/>
        </p:spPr>
        <p:txBody>
          <a:bodyPr wrap="none" rtlCol="0">
            <a:spAutoFit/>
          </a:bodyPr>
          <a:lstStyle/>
          <a:p>
            <a:r>
              <a:rPr lang="zh-CN" altLang="en-US" sz="1400" dirty="0">
                <a:latin typeface="微软雅黑 Light" panose="020B0502040204020203" pitchFamily="34" charset="-122"/>
                <a:ea typeface="微软雅黑 Light" panose="020B0502040204020203" pitchFamily="34" charset="-122"/>
              </a:rPr>
              <a:t>客户</a:t>
            </a:r>
            <a:endParaRPr lang="zh-CN" altLang="en-US" sz="1400" dirty="0">
              <a:latin typeface="微软雅黑 Light" panose="020B0502040204020203" pitchFamily="34" charset="-122"/>
              <a:ea typeface="微软雅黑 Light" panose="020B0502040204020203" pitchFamily="34" charset="-122"/>
            </a:endParaRPr>
          </a:p>
        </p:txBody>
      </p:sp>
      <p:sp>
        <p:nvSpPr>
          <p:cNvPr id="72" name="文本框 71"/>
          <p:cNvSpPr txBox="1"/>
          <p:nvPr/>
        </p:nvSpPr>
        <p:spPr>
          <a:xfrm>
            <a:off x="8252192" y="2914178"/>
            <a:ext cx="543739" cy="307777"/>
          </a:xfrm>
          <a:prstGeom prst="rect">
            <a:avLst/>
          </a:prstGeom>
          <a:noFill/>
        </p:spPr>
        <p:txBody>
          <a:bodyPr wrap="none" rtlCol="0">
            <a:spAutoFit/>
          </a:bodyPr>
          <a:lstStyle/>
          <a:p>
            <a:r>
              <a:rPr lang="zh-CN" altLang="en-US" sz="1400" dirty="0">
                <a:latin typeface="微软雅黑 Light" panose="020B0502040204020203" pitchFamily="34" charset="-122"/>
                <a:ea typeface="微软雅黑 Light" panose="020B0502040204020203" pitchFamily="34" charset="-122"/>
              </a:rPr>
              <a:t>客户</a:t>
            </a:r>
            <a:endParaRPr lang="zh-CN" altLang="en-US" sz="1400" dirty="0">
              <a:latin typeface="微软雅黑 Light" panose="020B0502040204020203" pitchFamily="34" charset="-122"/>
              <a:ea typeface="微软雅黑 Light" panose="020B0502040204020203" pitchFamily="34" charset="-122"/>
            </a:endParaRPr>
          </a:p>
        </p:txBody>
      </p:sp>
      <p:sp>
        <p:nvSpPr>
          <p:cNvPr id="73" name="文本框 72"/>
          <p:cNvSpPr txBox="1"/>
          <p:nvPr/>
        </p:nvSpPr>
        <p:spPr>
          <a:xfrm>
            <a:off x="10108155" y="3078765"/>
            <a:ext cx="543739" cy="307777"/>
          </a:xfrm>
          <a:prstGeom prst="rect">
            <a:avLst/>
          </a:prstGeom>
          <a:noFill/>
        </p:spPr>
        <p:txBody>
          <a:bodyPr wrap="none" rtlCol="0">
            <a:spAutoFit/>
          </a:bodyPr>
          <a:lstStyle/>
          <a:p>
            <a:r>
              <a:rPr lang="zh-CN" altLang="en-US" sz="1400" dirty="0">
                <a:latin typeface="微软雅黑 Light" panose="020B0502040204020203" pitchFamily="34" charset="-122"/>
                <a:ea typeface="微软雅黑 Light" panose="020B0502040204020203" pitchFamily="34" charset="-122"/>
              </a:rPr>
              <a:t>客户</a:t>
            </a:r>
            <a:endParaRPr lang="zh-CN" altLang="en-US" sz="1400" dirty="0">
              <a:latin typeface="微软雅黑 Light" panose="020B0502040204020203" pitchFamily="34" charset="-122"/>
              <a:ea typeface="微软雅黑 Light" panose="020B0502040204020203" pitchFamily="34" charset="-122"/>
            </a:endParaRPr>
          </a:p>
        </p:txBody>
      </p:sp>
      <p:sp>
        <p:nvSpPr>
          <p:cNvPr id="74" name="文本框 73"/>
          <p:cNvSpPr txBox="1"/>
          <p:nvPr/>
        </p:nvSpPr>
        <p:spPr>
          <a:xfrm>
            <a:off x="10816645" y="2989257"/>
            <a:ext cx="543739" cy="307777"/>
          </a:xfrm>
          <a:prstGeom prst="rect">
            <a:avLst/>
          </a:prstGeom>
          <a:noFill/>
        </p:spPr>
        <p:txBody>
          <a:bodyPr wrap="none" rtlCol="0">
            <a:spAutoFit/>
          </a:bodyPr>
          <a:lstStyle/>
          <a:p>
            <a:r>
              <a:rPr lang="zh-CN" altLang="en-US" sz="1400" dirty="0">
                <a:latin typeface="微软雅黑 Light" panose="020B0502040204020203" pitchFamily="34" charset="-122"/>
                <a:ea typeface="微软雅黑 Light" panose="020B0502040204020203" pitchFamily="34" charset="-122"/>
              </a:rPr>
              <a:t>客户</a:t>
            </a:r>
            <a:endParaRPr lang="zh-CN" altLang="en-US" sz="14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cs typeface="微软雅黑" panose="020B0503020204020204" pitchFamily="34" charset="-122"/>
                <a:sym typeface="+mn-ea"/>
              </a:rPr>
              <a:t>C/S</a:t>
            </a:r>
            <a:r>
              <a:rPr lang="zh-CN" altLang="en-US" sz="3200" dirty="0">
                <a:cs typeface="微软雅黑" panose="020B0503020204020204" pitchFamily="34" charset="-122"/>
                <a:sym typeface="+mn-ea"/>
              </a:rPr>
              <a:t>方式应用</a:t>
            </a:r>
            <a:endParaRPr lang="zh-CN" altLang="en-US" dirty="0"/>
          </a:p>
        </p:txBody>
      </p:sp>
      <p:sp>
        <p:nvSpPr>
          <p:cNvPr id="3" name="内容占位符 2"/>
          <p:cNvSpPr>
            <a:spLocks noGrp="1"/>
          </p:cNvSpPr>
          <p:nvPr>
            <p:ph idx="1"/>
          </p:nvPr>
        </p:nvSpPr>
        <p:spPr/>
        <p:txBody>
          <a:bodyPr/>
          <a:lstStyle/>
          <a:p>
            <a:r>
              <a:rPr lang="zh-CN" altLang="en-US" dirty="0"/>
              <a:t>应用层的许多协议是基于</a:t>
            </a:r>
            <a:r>
              <a:rPr lang="en-US" altLang="zh-CN" dirty="0"/>
              <a:t>C/S</a:t>
            </a:r>
            <a:r>
              <a:rPr lang="zh-CN" altLang="en-US" dirty="0"/>
              <a:t>方式，如传统的 </a:t>
            </a:r>
            <a:r>
              <a:rPr lang="en-US" altLang="zh-CN" dirty="0"/>
              <a:t>Internet </a:t>
            </a:r>
            <a:r>
              <a:rPr lang="zh-CN" altLang="en-US" dirty="0"/>
              <a:t>的文件传输、电子邮件、远程登录等。</a:t>
            </a:r>
            <a:endParaRPr lang="zh-CN" altLang="en-US" dirty="0"/>
          </a:p>
          <a:p>
            <a:pPr lvl="1"/>
            <a:r>
              <a:rPr lang="zh-CN" altLang="en-US" dirty="0"/>
              <a:t>客户</a:t>
            </a:r>
            <a:r>
              <a:rPr lang="en-US" altLang="zh-CN" dirty="0"/>
              <a:t>(client)</a:t>
            </a:r>
            <a:r>
              <a:rPr lang="zh-CN" altLang="en-US" dirty="0"/>
              <a:t>和服务器</a:t>
            </a:r>
            <a:r>
              <a:rPr lang="en-US" altLang="zh-CN" dirty="0"/>
              <a:t>(server)</a:t>
            </a:r>
            <a:r>
              <a:rPr lang="zh-CN" altLang="en-US" dirty="0"/>
              <a:t>是指通信中所涉及的</a:t>
            </a:r>
            <a:r>
              <a:rPr lang="en-US" altLang="zh-CN" dirty="0"/>
              <a:t>2</a:t>
            </a:r>
            <a:r>
              <a:rPr lang="zh-CN" altLang="en-US" dirty="0"/>
              <a:t>个应用进程</a:t>
            </a:r>
            <a:endParaRPr lang="zh-CN" altLang="en-US" dirty="0"/>
          </a:p>
          <a:p>
            <a:pPr lvl="1"/>
            <a:r>
              <a:rPr lang="zh-CN" altLang="en-US" dirty="0"/>
              <a:t>客户</a:t>
            </a:r>
            <a:r>
              <a:rPr lang="en-US" altLang="zh-CN" dirty="0"/>
              <a:t>/</a:t>
            </a:r>
            <a:r>
              <a:rPr lang="zh-CN" altLang="en-US" dirty="0"/>
              <a:t>服务器方式描述的是应用进程之间服务和被服务的关系</a:t>
            </a:r>
            <a:endParaRPr lang="zh-CN" altLang="en-US" dirty="0"/>
          </a:p>
          <a:p>
            <a:pPr lvl="1"/>
            <a:r>
              <a:rPr lang="zh-CN" altLang="en-US" dirty="0"/>
              <a:t>客户是服务请求方（主动请求服务，被服务）</a:t>
            </a:r>
            <a:endParaRPr lang="zh-CN" altLang="en-US" dirty="0"/>
          </a:p>
          <a:p>
            <a:pPr lvl="1"/>
            <a:r>
              <a:rPr lang="zh-CN" altLang="en-US" dirty="0"/>
              <a:t>服务器是服务提供方（被动接受服务请求，提供服务）</a:t>
            </a:r>
            <a:endParaRPr lang="zh-CN" altLang="en-US" dirty="0"/>
          </a:p>
          <a:p>
            <a:r>
              <a:rPr lang="en-US" altLang="zh-CN" dirty="0"/>
              <a:t>C/S</a:t>
            </a:r>
            <a:r>
              <a:rPr lang="zh-CN" altLang="en-US" dirty="0"/>
              <a:t>方式可以是面向连接的，也可以是无连接的。</a:t>
            </a:r>
            <a:endParaRPr lang="zh-CN" altLang="en-US" dirty="0"/>
          </a:p>
          <a:p>
            <a:pPr lvl="1"/>
            <a:r>
              <a:rPr lang="zh-CN" altLang="en-US" dirty="0"/>
              <a:t>面向连接时，</a:t>
            </a:r>
            <a:r>
              <a:rPr lang="en-US" altLang="zh-CN" dirty="0"/>
              <a:t>C/S</a:t>
            </a:r>
            <a:r>
              <a:rPr lang="zh-CN" altLang="en-US" dirty="0"/>
              <a:t>通信关系一旦建立，通信就是双向的，双方地位平等，都可发送和接收数据。</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cs typeface="微软雅黑" panose="020B0503020204020204" pitchFamily="34" charset="-122"/>
                <a:sym typeface="+mn-ea"/>
              </a:rPr>
              <a:t>C/S</a:t>
            </a:r>
            <a:r>
              <a:rPr lang="zh-CN" altLang="en-US" sz="3200" dirty="0">
                <a:cs typeface="微软雅黑" panose="020B0503020204020204" pitchFamily="34" charset="-122"/>
                <a:sym typeface="+mn-ea"/>
              </a:rPr>
              <a:t>方式特点</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客户端进程的特点</a:t>
            </a:r>
            <a:endParaRPr lang="zh-CN" altLang="en-US" dirty="0"/>
          </a:p>
          <a:p>
            <a:pPr lvl="1"/>
            <a:r>
              <a:rPr lang="zh-CN" altLang="en-US" dirty="0"/>
              <a:t>在进行通信时临时成为客户，它也可在本地进行其它的计算</a:t>
            </a:r>
            <a:endParaRPr lang="zh-CN" altLang="en-US" dirty="0"/>
          </a:p>
          <a:p>
            <a:pPr lvl="1"/>
            <a:r>
              <a:rPr lang="zh-CN" altLang="en-US" dirty="0"/>
              <a:t>用户计算机上运行，在打算通信时主动向远地服务器发起通信</a:t>
            </a:r>
            <a:endParaRPr lang="zh-CN" altLang="en-US" dirty="0"/>
          </a:p>
          <a:p>
            <a:pPr lvl="1"/>
            <a:r>
              <a:rPr lang="zh-CN" altLang="en-US" dirty="0"/>
              <a:t>客户方必须知道服务器进程所在主机的</a:t>
            </a:r>
            <a:r>
              <a:rPr lang="en-US" altLang="zh-CN" dirty="0"/>
              <a:t>IP</a:t>
            </a:r>
            <a:r>
              <a:rPr lang="zh-CN" altLang="en-US" dirty="0"/>
              <a:t>地址才能发出服务请求</a:t>
            </a:r>
            <a:endParaRPr lang="zh-CN" altLang="en-US" dirty="0"/>
          </a:p>
          <a:p>
            <a:pPr lvl="1"/>
            <a:r>
              <a:rPr lang="zh-CN" altLang="en-US" dirty="0"/>
              <a:t>需要时可以与多个服务器进行通信</a:t>
            </a:r>
            <a:endParaRPr lang="zh-CN" altLang="en-US" dirty="0"/>
          </a:p>
          <a:p>
            <a:r>
              <a:rPr lang="zh-CN" altLang="en-US" dirty="0"/>
              <a:t>服务器进程的特点</a:t>
            </a:r>
            <a:endParaRPr lang="zh-CN" altLang="en-US" dirty="0"/>
          </a:p>
          <a:p>
            <a:pPr lvl="1"/>
            <a:r>
              <a:rPr lang="zh-CN" altLang="en-US" dirty="0"/>
              <a:t>专门用来提供某种服务的程序，可“同时”处理多个远地或本地客户的请求</a:t>
            </a:r>
            <a:endParaRPr lang="zh-CN" altLang="en-US" dirty="0"/>
          </a:p>
          <a:p>
            <a:pPr lvl="1"/>
            <a:r>
              <a:rPr lang="zh-CN" altLang="en-US" dirty="0"/>
              <a:t>必须始终处于运行状态才有可能提供服务</a:t>
            </a:r>
            <a:endParaRPr lang="zh-CN" altLang="en-US" dirty="0"/>
          </a:p>
          <a:p>
            <a:pPr lvl="1"/>
            <a:r>
              <a:rPr lang="zh-CN" altLang="en-US" dirty="0"/>
              <a:t>通信开始之前服务器进程不需要知道客户进程所在主机的</a:t>
            </a:r>
            <a:r>
              <a:rPr lang="en-US" altLang="zh-CN" dirty="0"/>
              <a:t>IP</a:t>
            </a:r>
            <a:r>
              <a:rPr lang="zh-CN" altLang="en-US" dirty="0"/>
              <a:t>地址，无论客户请求来自哪里，服务器进程被动等待服务请求的到来即可</a:t>
            </a:r>
            <a:endParaRPr lang="zh-CN" altLang="en-US" dirty="0"/>
          </a:p>
          <a:p>
            <a:pPr lvl="1"/>
            <a:r>
              <a:rPr lang="zh-CN" altLang="en-US" dirty="0"/>
              <a:t>当系统启动时即自动调用并一直运行着，也可以由用户或其它进程在通信前启动</a:t>
            </a:r>
            <a:endParaRPr lang="zh-CN" altLang="en-US" dirty="0"/>
          </a:p>
          <a:p>
            <a:pPr lvl="1"/>
            <a:r>
              <a:rPr lang="zh-CN" altLang="en-US" dirty="0"/>
              <a:t>被动等待并接受来自多个客户的通信请求</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应用进程间的通信方式：</a:t>
            </a:r>
            <a:r>
              <a:rPr lang="en-US" altLang="zh-CN" dirty="0"/>
              <a:t>B/S</a:t>
            </a:r>
            <a:r>
              <a:rPr lang="zh-CN" altLang="en-US" dirty="0"/>
              <a:t>方式</a:t>
            </a:r>
            <a:endParaRPr lang="zh-CN" altLang="en-US" dirty="0"/>
          </a:p>
        </p:txBody>
      </p:sp>
      <p:sp>
        <p:nvSpPr>
          <p:cNvPr id="3" name="内容占位符 2"/>
          <p:cNvSpPr>
            <a:spLocks noGrp="1"/>
          </p:cNvSpPr>
          <p:nvPr>
            <p:ph idx="1"/>
          </p:nvPr>
        </p:nvSpPr>
        <p:spPr/>
        <p:txBody>
          <a:bodyPr/>
          <a:lstStyle/>
          <a:p>
            <a:r>
              <a:rPr lang="zh-CN" altLang="en-US" dirty="0"/>
              <a:t>浏览器</a:t>
            </a:r>
            <a:r>
              <a:rPr lang="en-US" altLang="zh-CN" dirty="0"/>
              <a:t>/</a:t>
            </a:r>
            <a:r>
              <a:rPr lang="zh-CN" altLang="en-US" dirty="0"/>
              <a:t>服务器（ </a:t>
            </a:r>
            <a:r>
              <a:rPr lang="en-US" altLang="zh-CN" dirty="0"/>
              <a:t>Browser/Server </a:t>
            </a:r>
            <a:r>
              <a:rPr lang="zh-CN" altLang="en-US" dirty="0"/>
              <a:t>）模式：可看做是</a:t>
            </a:r>
            <a:r>
              <a:rPr lang="en-US" altLang="zh-CN" dirty="0"/>
              <a:t>C/S</a:t>
            </a:r>
            <a:r>
              <a:rPr lang="zh-CN" altLang="en-US" dirty="0"/>
              <a:t>方式的特例，客户端软件改为浏览器</a:t>
            </a:r>
            <a:endParaRPr lang="zh-CN" altLang="en-US" dirty="0"/>
          </a:p>
          <a:p>
            <a:r>
              <a:rPr lang="en-US" altLang="zh-CN" dirty="0"/>
              <a:t>B/S</a:t>
            </a:r>
            <a:r>
              <a:rPr lang="zh-CN" altLang="en-US" dirty="0"/>
              <a:t>方式采取浏览器请求、服务器响应的工作模式</a:t>
            </a:r>
            <a:endParaRPr lang="zh-CN" altLang="en-US" dirty="0"/>
          </a:p>
          <a:p>
            <a:r>
              <a:rPr lang="zh-CN" altLang="en-US" dirty="0"/>
              <a:t>在</a:t>
            </a:r>
            <a:r>
              <a:rPr lang="en-US" altLang="zh-CN" dirty="0"/>
              <a:t>B/S</a:t>
            </a:r>
            <a:r>
              <a:rPr lang="zh-CN" altLang="en-US" dirty="0"/>
              <a:t>方式下，用户界面通过</a:t>
            </a:r>
            <a:r>
              <a:rPr lang="en-US" altLang="zh-CN" dirty="0"/>
              <a:t>Web</a:t>
            </a:r>
            <a:r>
              <a:rPr lang="zh-CN" altLang="en-US" dirty="0"/>
              <a:t>浏览器实现</a:t>
            </a:r>
            <a:endParaRPr lang="en-US" altLang="zh-CN" dirty="0"/>
          </a:p>
          <a:p>
            <a:pPr lvl="1"/>
            <a:r>
              <a:rPr lang="zh-CN" altLang="en-US" dirty="0"/>
              <a:t>一部分简单的事务逻辑可以在客户端实现</a:t>
            </a:r>
            <a:endParaRPr lang="en-US" altLang="zh-CN" dirty="0"/>
          </a:p>
          <a:p>
            <a:pPr lvl="1"/>
            <a:r>
              <a:rPr lang="zh-CN" altLang="en-US" dirty="0"/>
              <a:t>主要的、复杂的事务逻辑在服务器端实现</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文本框 4"/>
          <p:cNvSpPr txBox="1"/>
          <p:nvPr/>
        </p:nvSpPr>
        <p:spPr>
          <a:xfrm>
            <a:off x="3240437" y="4250537"/>
            <a:ext cx="2053828" cy="657264"/>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1.HTTP</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圆角 5"/>
          <p:cNvSpPr/>
          <p:nvPr/>
        </p:nvSpPr>
        <p:spPr>
          <a:xfrm>
            <a:off x="1774382" y="4142252"/>
            <a:ext cx="1408254" cy="1813143"/>
          </a:xfrm>
          <a:prstGeom prst="roundRect">
            <a:avLst/>
          </a:prstGeom>
          <a:noFill/>
          <a:ln w="3810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1931272" y="4506140"/>
            <a:ext cx="1124501" cy="960714"/>
          </a:xfrm>
          <a:prstGeom prst="rect">
            <a:avLst/>
          </a:prstGeom>
          <a:noFill/>
        </p:spPr>
        <p:txBody>
          <a:bodyPr wrap="square" rtlCol="0">
            <a:spAutoFit/>
          </a:bodyPr>
          <a:lstStyle/>
          <a:p>
            <a:pPr algn="ct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客户</a:t>
            </a:r>
            <a:endParaRPr lang="zh-CN" altLang="en-US" sz="2000"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浏览器</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8" name="矩形: 圆角 7"/>
          <p:cNvSpPr/>
          <p:nvPr/>
        </p:nvSpPr>
        <p:spPr>
          <a:xfrm>
            <a:off x="5207939" y="4142252"/>
            <a:ext cx="1408254" cy="1813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p:cNvSpPr txBox="1"/>
          <p:nvPr/>
        </p:nvSpPr>
        <p:spPr>
          <a:xfrm>
            <a:off x="5301022" y="4567837"/>
            <a:ext cx="1124501" cy="960714"/>
          </a:xfrm>
          <a:prstGeom prst="rect">
            <a:avLst/>
          </a:prstGeom>
          <a:noFill/>
        </p:spPr>
        <p:txBody>
          <a:bodyPr wrap="square" rtlCol="0">
            <a:spAutoFit/>
          </a:bodyPr>
          <a:lstStyle/>
          <a:p>
            <a:pPr algn="ct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服务器</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圆角 9"/>
          <p:cNvSpPr/>
          <p:nvPr/>
        </p:nvSpPr>
        <p:spPr>
          <a:xfrm>
            <a:off x="8456831" y="4142252"/>
            <a:ext cx="1408254" cy="1813143"/>
          </a:xfrm>
          <a:prstGeom prst="round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p:cNvSpPr txBox="1"/>
          <p:nvPr/>
        </p:nvSpPr>
        <p:spPr>
          <a:xfrm>
            <a:off x="8641496" y="4506140"/>
            <a:ext cx="1124501" cy="960714"/>
          </a:xfrm>
          <a:prstGeom prst="rect">
            <a:avLst/>
          </a:prstGeom>
          <a:noFill/>
        </p:spPr>
        <p:txBody>
          <a:bodyPr wrap="square" rtlCol="0">
            <a:spAutoFit/>
          </a:bodyPr>
          <a:lstStyle/>
          <a:p>
            <a:pP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数据库服务器</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2" name="直接箭头连接符 11"/>
          <p:cNvCxnSpPr/>
          <p:nvPr/>
        </p:nvCxnSpPr>
        <p:spPr>
          <a:xfrm>
            <a:off x="3401080" y="4693750"/>
            <a:ext cx="141951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835388" y="4693750"/>
            <a:ext cx="141951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3401080" y="5242729"/>
            <a:ext cx="135420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flipV="1">
            <a:off x="6835388" y="5242729"/>
            <a:ext cx="141951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282475" y="5376197"/>
            <a:ext cx="2011791" cy="657264"/>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4.HTTP</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响应</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6972760" y="4236687"/>
            <a:ext cx="1167289" cy="657264"/>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查询</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7093618" y="5383752"/>
            <a:ext cx="1174045" cy="657264"/>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B/S</a:t>
            </a:r>
            <a:r>
              <a:rPr lang="zh-CN" altLang="en-US" dirty="0"/>
              <a:t>方式的架构</a:t>
            </a:r>
            <a:endParaRPr lang="zh-CN" altLang="en-US" dirty="0"/>
          </a:p>
        </p:txBody>
      </p:sp>
      <p:sp>
        <p:nvSpPr>
          <p:cNvPr id="3" name="内容占位符 2"/>
          <p:cNvSpPr>
            <a:spLocks noGrp="1"/>
          </p:cNvSpPr>
          <p:nvPr>
            <p:ph idx="1"/>
          </p:nvPr>
        </p:nvSpPr>
        <p:spPr>
          <a:xfrm>
            <a:off x="334435" y="1052514"/>
            <a:ext cx="8487863" cy="5437187"/>
          </a:xfrm>
        </p:spPr>
        <p:txBody>
          <a:bodyPr>
            <a:normAutofit lnSpcReduction="10000"/>
          </a:bodyPr>
          <a:lstStyle/>
          <a:p>
            <a:r>
              <a:rPr lang="en-US" altLang="zh-CN" dirty="0"/>
              <a:t>B/S</a:t>
            </a:r>
            <a:r>
              <a:rPr lang="zh-CN" altLang="en-US" dirty="0"/>
              <a:t>方式通常采取</a:t>
            </a:r>
            <a:r>
              <a:rPr lang="en-US" altLang="zh-CN" dirty="0"/>
              <a:t>3</a:t>
            </a:r>
            <a:r>
              <a:rPr lang="zh-CN" altLang="en-US" dirty="0"/>
              <a:t>层架构实现</a:t>
            </a:r>
            <a:endParaRPr lang="zh-CN" altLang="en-US" dirty="0"/>
          </a:p>
          <a:p>
            <a:r>
              <a:rPr lang="zh-CN" altLang="en-US" dirty="0"/>
              <a:t>数据层：由数据库服务器承担数据处理逻辑，其任务是接受</a:t>
            </a:r>
            <a:r>
              <a:rPr lang="en-US" altLang="zh-CN" dirty="0"/>
              <a:t>Web</a:t>
            </a:r>
            <a:r>
              <a:rPr lang="zh-CN" altLang="en-US" dirty="0"/>
              <a:t>服务器对数据库服务器提出的数据操作请求，然后由数据库服务器进行数据处理并把处理结果返回给</a:t>
            </a:r>
            <a:r>
              <a:rPr lang="en-US" altLang="zh-CN" dirty="0"/>
              <a:t>web</a:t>
            </a:r>
            <a:r>
              <a:rPr lang="zh-CN" altLang="en-US" dirty="0"/>
              <a:t>服务器</a:t>
            </a:r>
            <a:endParaRPr lang="zh-CN" altLang="en-US" dirty="0"/>
          </a:p>
          <a:p>
            <a:r>
              <a:rPr lang="zh-CN" altLang="en-US" dirty="0"/>
              <a:t>处理层：由</a:t>
            </a:r>
            <a:r>
              <a:rPr lang="en-US" altLang="zh-CN" dirty="0"/>
              <a:t>Web</a:t>
            </a:r>
            <a:r>
              <a:rPr lang="zh-CN" altLang="en-US" dirty="0"/>
              <a:t>服务器承担业务处理逻辑和页面存储管理，接受客户浏览器的任务请求，执行相应的事务处理</a:t>
            </a:r>
            <a:endParaRPr lang="zh-CN" altLang="en-US" dirty="0"/>
          </a:p>
          <a:p>
            <a:r>
              <a:rPr lang="zh-CN" altLang="en-US" dirty="0"/>
              <a:t>展现层：浏览器仅承担网页信息的浏览功能</a:t>
            </a:r>
            <a:r>
              <a:rPr lang="en-US" altLang="zh-CN" dirty="0"/>
              <a:t>, </a:t>
            </a:r>
            <a:r>
              <a:rPr lang="zh-CN" altLang="en-US" dirty="0"/>
              <a:t>以超文本格式实现信息的输入和浏览</a:t>
            </a:r>
            <a:endParaRPr lang="zh-CN" altLang="en-US" dirty="0"/>
          </a:p>
          <a:p>
            <a:r>
              <a:rPr lang="zh-CN" altLang="en-US" dirty="0"/>
              <a:t>实际部署时也可以把数据库服务器和</a:t>
            </a:r>
            <a:r>
              <a:rPr lang="en-US" altLang="zh-CN" dirty="0"/>
              <a:t>web</a:t>
            </a:r>
            <a:r>
              <a:rPr lang="zh-CN" altLang="en-US" dirty="0"/>
              <a:t>服务器部署在同一台设备上</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9042143" y="1988840"/>
            <a:ext cx="2731308" cy="2987800"/>
            <a:chOff x="8347710" y="1767851"/>
            <a:chExt cx="3249930" cy="3316604"/>
          </a:xfrm>
        </p:grpSpPr>
        <p:sp>
          <p:nvSpPr>
            <p:cNvPr id="6" name="文本框 5"/>
            <p:cNvSpPr txBox="1"/>
            <p:nvPr/>
          </p:nvSpPr>
          <p:spPr>
            <a:xfrm>
              <a:off x="8347710" y="4794895"/>
              <a:ext cx="920750" cy="289560"/>
            </a:xfrm>
            <a:prstGeom prst="rect">
              <a:avLst/>
            </a:prstGeom>
            <a:noFill/>
          </p:spPr>
          <p:txBody>
            <a:bodyPr wrap="none" rtlCol="0">
              <a:spAutoFit/>
            </a:bodyPr>
            <a:lstStyle/>
            <a:p>
              <a:pPr algn="l">
                <a:lnSpc>
                  <a:spcPct val="80000"/>
                </a:lnSpc>
                <a:buClrTx/>
                <a:buSzTx/>
                <a:buFontTx/>
              </a:pPr>
              <a:r>
                <a:rPr lang="zh-CN" altLang="en-US" sz="1600" dirty="0">
                  <a:latin typeface="微软雅黑" panose="020B0503020204020204" pitchFamily="34" charset="-122"/>
                  <a:ea typeface="微软雅黑" panose="020B0503020204020204" pitchFamily="34" charset="-122"/>
                </a:rPr>
                <a:t>浏览器1</a:t>
              </a:r>
              <a:endParaRPr lang="zh-CN" altLang="en-US" sz="16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9816152" y="4763628"/>
              <a:ext cx="927100" cy="289560"/>
            </a:xfrm>
            <a:prstGeom prst="rect">
              <a:avLst/>
            </a:prstGeom>
            <a:noFill/>
          </p:spPr>
          <p:txBody>
            <a:bodyPr wrap="none" rtlCol="0">
              <a:spAutoFit/>
            </a:bodyPr>
            <a:lstStyle/>
            <a:p>
              <a:pPr>
                <a:lnSpc>
                  <a:spcPct val="80000"/>
                </a:lnSpc>
              </a:pPr>
              <a:r>
                <a:rPr lang="zh-CN" altLang="en-US" sz="1600" dirty="0">
                  <a:latin typeface="微软雅黑" panose="020B0503020204020204" pitchFamily="34" charset="-122"/>
                  <a:ea typeface="微软雅黑" panose="020B0503020204020204" pitchFamily="34" charset="-122"/>
                </a:rPr>
                <a:t>浏览器</a:t>
              </a:r>
              <a:r>
                <a:rPr lang="en-US" altLang="zh-CN" sz="1600" dirty="0">
                  <a:latin typeface="微软雅黑" panose="020B0503020204020204" pitchFamily="34" charset="-122"/>
                  <a:ea typeface="微软雅黑" panose="020B0503020204020204" pitchFamily="34" charset="-122"/>
                </a:rPr>
                <a:t>n</a:t>
              </a:r>
              <a:endParaRPr lang="zh-CN" altLang="en-US" sz="1600" dirty="0">
                <a:solidFill>
                  <a:schemeClr val="folHlink"/>
                </a:solidFill>
                <a:ea typeface="黑体" panose="02010609060101010101" pitchFamily="49" charset="-122"/>
              </a:endParaRPr>
            </a:p>
          </p:txBody>
        </p:sp>
        <p:cxnSp>
          <p:nvCxnSpPr>
            <p:cNvPr id="8" name="直接连接符 7"/>
            <p:cNvCxnSpPr>
              <a:endCxn id="14" idx="2"/>
            </p:cNvCxnSpPr>
            <p:nvPr/>
          </p:nvCxnSpPr>
          <p:spPr>
            <a:xfrm flipV="1">
              <a:off x="9111603" y="3748081"/>
              <a:ext cx="352275" cy="47750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a:endCxn id="14" idx="2"/>
            </p:cNvCxnSpPr>
            <p:nvPr/>
          </p:nvCxnSpPr>
          <p:spPr>
            <a:xfrm flipH="1" flipV="1">
              <a:off x="9463878" y="3748081"/>
              <a:ext cx="489747" cy="486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14" idx="0"/>
              <a:endCxn id="15" idx="2"/>
            </p:cNvCxnSpPr>
            <p:nvPr/>
          </p:nvCxnSpPr>
          <p:spPr>
            <a:xfrm flipV="1">
              <a:off x="9464040" y="2385060"/>
              <a:ext cx="0" cy="485775"/>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953625" y="3082290"/>
              <a:ext cx="1644015" cy="289560"/>
            </a:xfrm>
            <a:prstGeom prst="rect">
              <a:avLst/>
            </a:prstGeom>
            <a:noFill/>
          </p:spPr>
          <p:txBody>
            <a:bodyPr wrap="square" rtlCol="0">
              <a:spAutoFit/>
            </a:bodyPr>
            <a:lstStyle/>
            <a:p>
              <a:pPr algn="l">
                <a:lnSpc>
                  <a:spcPct val="80000"/>
                </a:lnSpc>
                <a:buClrTx/>
                <a:buSzTx/>
                <a:buFontTx/>
              </a:pPr>
              <a:r>
                <a:rPr lang="zh-CN" altLang="en-US" sz="1600" dirty="0">
                  <a:solidFill>
                    <a:schemeClr val="tx1"/>
                  </a:solidFill>
                  <a:latin typeface="微软雅黑" panose="020B0503020204020204" pitchFamily="34" charset="-122"/>
                  <a:ea typeface="微软雅黑" panose="020B0503020204020204" pitchFamily="34" charset="-122"/>
                </a:rPr>
                <a:t>WEB服务器</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9792970" y="1948815"/>
              <a:ext cx="1416050" cy="289560"/>
            </a:xfrm>
            <a:prstGeom prst="rect">
              <a:avLst/>
            </a:prstGeom>
            <a:noFill/>
          </p:spPr>
          <p:txBody>
            <a:bodyPr wrap="none" rtlCol="0">
              <a:spAutoFit/>
            </a:bodyPr>
            <a:lstStyle/>
            <a:p>
              <a:pPr algn="l">
                <a:lnSpc>
                  <a:spcPct val="80000"/>
                </a:lnSpc>
                <a:buClrTx/>
                <a:buSzTx/>
                <a:buFontTx/>
              </a:pPr>
              <a:r>
                <a:rPr lang="zh-CN" altLang="en-US" sz="1600" dirty="0">
                  <a:solidFill>
                    <a:schemeClr val="tx1"/>
                  </a:solidFill>
                  <a:latin typeface="微软雅黑" panose="020B0503020204020204" pitchFamily="34" charset="-122"/>
                  <a:ea typeface="微软雅黑" panose="020B0503020204020204" pitchFamily="34" charset="-122"/>
                </a:rPr>
                <a:t>数据库服务器</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9253976" y="4714733"/>
              <a:ext cx="601345" cy="338455"/>
            </a:xfrm>
            <a:prstGeom prst="rect">
              <a:avLst/>
            </a:prstGeom>
            <a:noFill/>
          </p:spPr>
          <p:txBody>
            <a:bodyPr wrap="none" rtlCol="0">
              <a:spAutoFit/>
            </a:bodyPr>
            <a:lstStyle/>
            <a:p>
              <a:pPr algn="l">
                <a:lnSpc>
                  <a:spcPct val="80000"/>
                </a:lnSpc>
                <a:buClrTx/>
                <a:buSzTx/>
                <a:buFontTx/>
              </a:pP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14" name="图形 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74051" y="2871152"/>
              <a:ext cx="979654" cy="876929"/>
            </a:xfrm>
            <a:prstGeom prst="rect">
              <a:avLst/>
            </a:prstGeom>
          </p:spPr>
        </p:pic>
        <p:pic>
          <p:nvPicPr>
            <p:cNvPr id="15" name="图形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11603" y="1767851"/>
              <a:ext cx="704549" cy="617209"/>
            </a:xfrm>
            <a:prstGeom prst="rect">
              <a:avLst/>
            </a:prstGeom>
          </p:spPr>
        </p:pic>
        <p:pic>
          <p:nvPicPr>
            <p:cNvPr id="16" name="图形 1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69885" y="1948757"/>
              <a:ext cx="382661" cy="434372"/>
            </a:xfrm>
            <a:prstGeom prst="rect">
              <a:avLst/>
            </a:prstGeom>
          </p:spPr>
        </p:pic>
        <p:pic>
          <p:nvPicPr>
            <p:cNvPr id="17" name="图形 1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8214" y="4138948"/>
              <a:ext cx="742230" cy="561975"/>
            </a:xfrm>
            <a:prstGeom prst="rect">
              <a:avLst/>
            </a:prstGeom>
          </p:spPr>
        </p:pic>
        <p:pic>
          <p:nvPicPr>
            <p:cNvPr id="18" name="图形 1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6152" y="4138949"/>
              <a:ext cx="742230" cy="561975"/>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B/S</a:t>
            </a:r>
            <a:r>
              <a:rPr lang="zh-CN" altLang="en-US" dirty="0"/>
              <a:t>方式的特点</a:t>
            </a:r>
            <a:endParaRPr lang="zh-CN" altLang="en-US" dirty="0"/>
          </a:p>
        </p:txBody>
      </p:sp>
      <p:sp>
        <p:nvSpPr>
          <p:cNvPr id="3" name="内容占位符 2"/>
          <p:cNvSpPr>
            <a:spLocks noGrp="1"/>
          </p:cNvSpPr>
          <p:nvPr>
            <p:ph idx="1"/>
          </p:nvPr>
        </p:nvSpPr>
        <p:spPr>
          <a:xfrm>
            <a:off x="334435" y="1052514"/>
            <a:ext cx="7417750" cy="5437187"/>
          </a:xfrm>
        </p:spPr>
        <p:txBody>
          <a:bodyPr>
            <a:normAutofit/>
          </a:bodyPr>
          <a:lstStyle/>
          <a:p>
            <a:r>
              <a:rPr lang="zh-CN" altLang="en-US" dirty="0"/>
              <a:t>界面统一，使用简单：客户端只需要安装浏览器软件</a:t>
            </a:r>
            <a:endParaRPr lang="zh-CN" altLang="en-US" dirty="0"/>
          </a:p>
          <a:p>
            <a:r>
              <a:rPr lang="zh-CN" altLang="en-US" dirty="0"/>
              <a:t>易于维护：对应用系统升级时，只需更新服务器端的软件，方便了系统维护和升级</a:t>
            </a:r>
            <a:endParaRPr lang="zh-CN" altLang="en-US" dirty="0"/>
          </a:p>
          <a:p>
            <a:r>
              <a:rPr lang="zh-CN" altLang="en-US" dirty="0"/>
              <a:t>可扩展性好：采用标准的</a:t>
            </a:r>
            <a:r>
              <a:rPr lang="en-US" altLang="zh-CN" dirty="0"/>
              <a:t>TCP/IP</a:t>
            </a:r>
            <a:r>
              <a:rPr lang="zh-CN" altLang="en-US" dirty="0"/>
              <a:t>和</a:t>
            </a:r>
            <a:r>
              <a:rPr lang="en-US" altLang="zh-CN" dirty="0"/>
              <a:t>HTTP</a:t>
            </a:r>
            <a:r>
              <a:rPr lang="zh-CN" altLang="en-US" dirty="0"/>
              <a:t>协议，具有良好的扩展性</a:t>
            </a:r>
            <a:endParaRPr lang="zh-CN" altLang="en-US" dirty="0"/>
          </a:p>
          <a:p>
            <a:r>
              <a:rPr lang="zh-CN" altLang="en-US" dirty="0"/>
              <a:t>信息共享度高：</a:t>
            </a:r>
            <a:r>
              <a:rPr lang="en-US" altLang="zh-CN" dirty="0"/>
              <a:t>HTML</a:t>
            </a:r>
            <a:r>
              <a:rPr lang="zh-CN" altLang="en-US" dirty="0"/>
              <a:t>是数据格式的一个开放标准，目前大多数软件均支持</a:t>
            </a:r>
            <a:r>
              <a:rPr lang="en-US" altLang="zh-CN" dirty="0"/>
              <a:t>HTML</a:t>
            </a:r>
            <a:endParaRPr lang="en-US" altLang="zh-CN" dirty="0"/>
          </a:p>
          <a:p>
            <a:r>
              <a:rPr lang="zh-CN" altLang="en-US" dirty="0"/>
              <a:t>注意：在一种浏览器环境下开发的界面在另一种浏览器环境下可能有不完全适配的情况，这时需要安装对应的浏览器</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7800110" y="2359943"/>
            <a:ext cx="4075710" cy="2544513"/>
            <a:chOff x="1118920" y="1954873"/>
            <a:chExt cx="9033528" cy="4376549"/>
          </a:xfrm>
        </p:grpSpPr>
        <p:grpSp>
          <p:nvGrpSpPr>
            <p:cNvPr id="6" name="组合 5"/>
            <p:cNvGrpSpPr/>
            <p:nvPr/>
          </p:nvGrpSpPr>
          <p:grpSpPr>
            <a:xfrm>
              <a:off x="1440900" y="1954873"/>
              <a:ext cx="8711548" cy="3133319"/>
              <a:chOff x="1510348" y="1709737"/>
              <a:chExt cx="8711548" cy="3133319"/>
            </a:xfrm>
          </p:grpSpPr>
          <p:sp>
            <p:nvSpPr>
              <p:cNvPr id="12" name="矩形 151555"/>
              <p:cNvSpPr>
                <a:spLocks noChangeArrowheads="1"/>
              </p:cNvSpPr>
              <p:nvPr/>
            </p:nvSpPr>
            <p:spPr bwMode="auto">
              <a:xfrm>
                <a:off x="4440873" y="2135187"/>
                <a:ext cx="2898775"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sz="1200">
                  <a:latin typeface="微软雅黑" panose="020B0503020204020204" pitchFamily="34" charset="-122"/>
                  <a:ea typeface="微软雅黑" panose="020B0503020204020204" pitchFamily="34" charset="-122"/>
                </a:endParaRPr>
              </a:p>
            </p:txBody>
          </p:sp>
          <p:sp>
            <p:nvSpPr>
              <p:cNvPr id="13" name="文本框 151556"/>
              <p:cNvSpPr txBox="1">
                <a:spLocks noChangeArrowheads="1"/>
              </p:cNvSpPr>
              <p:nvPr/>
            </p:nvSpPr>
            <p:spPr bwMode="auto">
              <a:xfrm>
                <a:off x="4966766" y="3987800"/>
                <a:ext cx="2172094"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数据链路层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14" name="直接连接符 151557"/>
              <p:cNvSpPr>
                <a:spLocks noChangeShapeType="1"/>
              </p:cNvSpPr>
              <p:nvPr/>
            </p:nvSpPr>
            <p:spPr bwMode="auto">
              <a:xfrm>
                <a:off x="4440873" y="4421187"/>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15" name="直接连接符 151558"/>
              <p:cNvSpPr>
                <a:spLocks noChangeShapeType="1"/>
              </p:cNvSpPr>
              <p:nvPr/>
            </p:nvSpPr>
            <p:spPr bwMode="auto">
              <a:xfrm>
                <a:off x="4440873" y="4011612"/>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16" name="直接连接符 151559"/>
              <p:cNvSpPr>
                <a:spLocks noChangeShapeType="1"/>
              </p:cNvSpPr>
              <p:nvPr/>
            </p:nvSpPr>
            <p:spPr bwMode="auto">
              <a:xfrm>
                <a:off x="4440873" y="3603625"/>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17" name="直接连接符 151560"/>
              <p:cNvSpPr>
                <a:spLocks noChangeShapeType="1"/>
              </p:cNvSpPr>
              <p:nvPr/>
            </p:nvSpPr>
            <p:spPr bwMode="auto">
              <a:xfrm>
                <a:off x="4440873" y="3195637"/>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18" name="文本框 151561"/>
              <p:cNvSpPr txBox="1">
                <a:spLocks noChangeArrowheads="1"/>
              </p:cNvSpPr>
              <p:nvPr/>
            </p:nvSpPr>
            <p:spPr bwMode="auto">
              <a:xfrm>
                <a:off x="5241352" y="4386647"/>
                <a:ext cx="1585131"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物理层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19" name="文本框 151562"/>
              <p:cNvSpPr txBox="1">
                <a:spLocks noChangeArrowheads="1"/>
              </p:cNvSpPr>
              <p:nvPr/>
            </p:nvSpPr>
            <p:spPr bwMode="auto">
              <a:xfrm>
                <a:off x="5128160" y="3184524"/>
                <a:ext cx="1489491"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传输层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20" name="文本框 151563"/>
              <p:cNvSpPr txBox="1">
                <a:spLocks noChangeArrowheads="1"/>
              </p:cNvSpPr>
              <p:nvPr/>
            </p:nvSpPr>
            <p:spPr bwMode="auto">
              <a:xfrm>
                <a:off x="5153863" y="3606653"/>
                <a:ext cx="1426435"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网络层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21" name="文本框 151564"/>
              <p:cNvSpPr txBox="1">
                <a:spLocks noChangeArrowheads="1"/>
              </p:cNvSpPr>
              <p:nvPr/>
            </p:nvSpPr>
            <p:spPr bwMode="auto">
              <a:xfrm>
                <a:off x="5181825" y="2083953"/>
                <a:ext cx="1704183"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应用层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22" name="文本框 151565"/>
              <p:cNvSpPr txBox="1">
                <a:spLocks noChangeArrowheads="1"/>
              </p:cNvSpPr>
              <p:nvPr/>
            </p:nvSpPr>
            <p:spPr bwMode="auto">
              <a:xfrm>
                <a:off x="5290186" y="1709737"/>
                <a:ext cx="7809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12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20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直接连接符 151566"/>
              <p:cNvSpPr>
                <a:spLocks noChangeShapeType="1"/>
              </p:cNvSpPr>
              <p:nvPr/>
            </p:nvSpPr>
            <p:spPr bwMode="auto">
              <a:xfrm>
                <a:off x="5823585" y="2986521"/>
                <a:ext cx="0" cy="19641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24" name="椭圆 151567"/>
              <p:cNvSpPr>
                <a:spLocks noChangeArrowheads="1"/>
              </p:cNvSpPr>
              <p:nvPr/>
            </p:nvSpPr>
            <p:spPr bwMode="auto">
              <a:xfrm>
                <a:off x="5173503" y="2508567"/>
                <a:ext cx="1444149" cy="548164"/>
              </a:xfrm>
              <a:prstGeom prst="ellipse">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90000"/>
                  </a:lnSpc>
                </a:pPr>
                <a:r>
                  <a:rPr lang="en-US" altLang="zh-CN" sz="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服务器</a:t>
                </a:r>
                <a:endParaRPr lang="en-US" altLang="zh-CN" sz="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矩形 151570"/>
              <p:cNvSpPr>
                <a:spLocks noChangeArrowheads="1"/>
              </p:cNvSpPr>
              <p:nvPr/>
            </p:nvSpPr>
            <p:spPr bwMode="auto">
              <a:xfrm>
                <a:off x="1510348" y="2135187"/>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sz="1200">
                  <a:latin typeface="微软雅黑" panose="020B0503020204020204" pitchFamily="34" charset="-122"/>
                  <a:ea typeface="微软雅黑" panose="020B0503020204020204" pitchFamily="34" charset="-122"/>
                </a:endParaRPr>
              </a:p>
            </p:txBody>
          </p:sp>
          <p:sp>
            <p:nvSpPr>
              <p:cNvPr id="26" name="文本框 151571"/>
              <p:cNvSpPr txBox="1">
                <a:spLocks noChangeArrowheads="1"/>
              </p:cNvSpPr>
              <p:nvPr/>
            </p:nvSpPr>
            <p:spPr bwMode="auto">
              <a:xfrm>
                <a:off x="1664988" y="4008024"/>
                <a:ext cx="2071221"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数据链路层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27" name="直接连接符 151572"/>
              <p:cNvSpPr>
                <a:spLocks noChangeShapeType="1"/>
              </p:cNvSpPr>
              <p:nvPr/>
            </p:nvSpPr>
            <p:spPr bwMode="auto">
              <a:xfrm>
                <a:off x="1510348" y="4421185"/>
                <a:ext cx="2457789" cy="524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28" name="直接连接符 151573"/>
              <p:cNvSpPr>
                <a:spLocks noChangeShapeType="1"/>
              </p:cNvSpPr>
              <p:nvPr/>
            </p:nvSpPr>
            <p:spPr bwMode="auto">
              <a:xfrm>
                <a:off x="1510348" y="4000499"/>
                <a:ext cx="2457792" cy="110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29" name="直接连接符 151574"/>
              <p:cNvSpPr>
                <a:spLocks noChangeShapeType="1"/>
              </p:cNvSpPr>
              <p:nvPr/>
            </p:nvSpPr>
            <p:spPr bwMode="auto">
              <a:xfrm flipV="1">
                <a:off x="1510348" y="3592509"/>
                <a:ext cx="2438392" cy="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30" name="直接连接符 151575"/>
              <p:cNvSpPr>
                <a:spLocks noChangeShapeType="1"/>
              </p:cNvSpPr>
              <p:nvPr/>
            </p:nvSpPr>
            <p:spPr bwMode="auto">
              <a:xfrm flipV="1">
                <a:off x="1510348" y="3217240"/>
                <a:ext cx="2438392" cy="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31" name="文本框 151576"/>
              <p:cNvSpPr txBox="1">
                <a:spLocks noChangeArrowheads="1"/>
              </p:cNvSpPr>
              <p:nvPr/>
            </p:nvSpPr>
            <p:spPr bwMode="auto">
              <a:xfrm>
                <a:off x="2011786" y="4386647"/>
                <a:ext cx="1482806"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物理层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32" name="文本框 151577"/>
              <p:cNvSpPr txBox="1">
                <a:spLocks noChangeArrowheads="1"/>
              </p:cNvSpPr>
              <p:nvPr/>
            </p:nvSpPr>
            <p:spPr bwMode="auto">
              <a:xfrm>
                <a:off x="1997038" y="3209793"/>
                <a:ext cx="1432370"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传输层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33" name="文本框 151578"/>
              <p:cNvSpPr txBox="1">
                <a:spLocks noChangeArrowheads="1"/>
              </p:cNvSpPr>
              <p:nvPr/>
            </p:nvSpPr>
            <p:spPr bwMode="auto">
              <a:xfrm>
                <a:off x="2000359" y="3592509"/>
                <a:ext cx="1432372"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网络层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34" name="直接连接符 151579"/>
              <p:cNvSpPr>
                <a:spLocks noChangeShapeType="1"/>
              </p:cNvSpPr>
              <p:nvPr/>
            </p:nvSpPr>
            <p:spPr bwMode="auto">
              <a:xfrm>
                <a:off x="2632235" y="2997200"/>
                <a:ext cx="0" cy="196851"/>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35" name="椭圆 151580"/>
              <p:cNvSpPr>
                <a:spLocks noChangeArrowheads="1"/>
              </p:cNvSpPr>
              <p:nvPr/>
            </p:nvSpPr>
            <p:spPr bwMode="auto">
              <a:xfrm>
                <a:off x="2112011" y="2535237"/>
                <a:ext cx="1089603"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1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浏览器</a:t>
                </a:r>
                <a:endParaRPr lang="en-US" altLang="zh-CN" sz="1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文本框 151581"/>
              <p:cNvSpPr txBox="1">
                <a:spLocks noChangeArrowheads="1"/>
              </p:cNvSpPr>
              <p:nvPr/>
            </p:nvSpPr>
            <p:spPr bwMode="auto">
              <a:xfrm>
                <a:off x="1926054" y="2109786"/>
                <a:ext cx="1642070"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应用层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37" name="文本框 151582"/>
              <p:cNvSpPr txBox="1">
                <a:spLocks noChangeArrowheads="1"/>
              </p:cNvSpPr>
              <p:nvPr/>
            </p:nvSpPr>
            <p:spPr bwMode="auto">
              <a:xfrm>
                <a:off x="2112011" y="1709737"/>
                <a:ext cx="7809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1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矩形 151583"/>
              <p:cNvSpPr>
                <a:spLocks noChangeArrowheads="1"/>
              </p:cNvSpPr>
              <p:nvPr/>
            </p:nvSpPr>
            <p:spPr bwMode="auto">
              <a:xfrm>
                <a:off x="7758748" y="2135187"/>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sz="1200">
                  <a:latin typeface="微软雅黑" panose="020B0503020204020204" pitchFamily="34" charset="-122"/>
                  <a:ea typeface="微软雅黑" panose="020B0503020204020204" pitchFamily="34" charset="-122"/>
                </a:endParaRPr>
              </a:p>
            </p:txBody>
          </p:sp>
          <p:sp>
            <p:nvSpPr>
              <p:cNvPr id="39" name="文本框 151584"/>
              <p:cNvSpPr txBox="1">
                <a:spLocks noChangeArrowheads="1"/>
              </p:cNvSpPr>
              <p:nvPr/>
            </p:nvSpPr>
            <p:spPr bwMode="auto">
              <a:xfrm>
                <a:off x="8052582" y="4013945"/>
                <a:ext cx="2169314"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数据链路层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40" name="直接连接符 151585"/>
              <p:cNvSpPr>
                <a:spLocks noChangeShapeType="1"/>
              </p:cNvSpPr>
              <p:nvPr/>
            </p:nvSpPr>
            <p:spPr bwMode="auto">
              <a:xfrm>
                <a:off x="7758747" y="4419562"/>
                <a:ext cx="2438401" cy="1771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41" name="直接连接符 151586"/>
              <p:cNvSpPr>
                <a:spLocks noChangeShapeType="1"/>
              </p:cNvSpPr>
              <p:nvPr/>
            </p:nvSpPr>
            <p:spPr bwMode="auto">
              <a:xfrm>
                <a:off x="7734001" y="4011576"/>
                <a:ext cx="24631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42" name="直接连接符 151587"/>
              <p:cNvSpPr>
                <a:spLocks noChangeShapeType="1"/>
              </p:cNvSpPr>
              <p:nvPr/>
            </p:nvSpPr>
            <p:spPr bwMode="auto">
              <a:xfrm flipV="1">
                <a:off x="7758747" y="3602037"/>
                <a:ext cx="2438401" cy="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43" name="直接连接符 151588"/>
              <p:cNvSpPr>
                <a:spLocks noChangeShapeType="1"/>
              </p:cNvSpPr>
              <p:nvPr/>
            </p:nvSpPr>
            <p:spPr bwMode="auto">
              <a:xfrm flipV="1">
                <a:off x="7758747" y="3194048"/>
                <a:ext cx="2438401" cy="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44" name="文本框 151589"/>
              <p:cNvSpPr txBox="1">
                <a:spLocks noChangeArrowheads="1"/>
              </p:cNvSpPr>
              <p:nvPr/>
            </p:nvSpPr>
            <p:spPr bwMode="auto">
              <a:xfrm>
                <a:off x="8301578" y="4393542"/>
                <a:ext cx="1421009"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物理层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45" name="文本框 151590"/>
              <p:cNvSpPr txBox="1">
                <a:spLocks noChangeArrowheads="1"/>
              </p:cNvSpPr>
              <p:nvPr/>
            </p:nvSpPr>
            <p:spPr bwMode="auto">
              <a:xfrm>
                <a:off x="8259470" y="3193714"/>
                <a:ext cx="1541292"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传输层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46" name="文本框 151591"/>
              <p:cNvSpPr txBox="1">
                <a:spLocks noChangeArrowheads="1"/>
              </p:cNvSpPr>
              <p:nvPr/>
            </p:nvSpPr>
            <p:spPr bwMode="auto">
              <a:xfrm>
                <a:off x="8278703" y="3589767"/>
                <a:ext cx="1421009"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网络层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47" name="文本框 151594"/>
              <p:cNvSpPr txBox="1">
                <a:spLocks noChangeArrowheads="1"/>
              </p:cNvSpPr>
              <p:nvPr/>
            </p:nvSpPr>
            <p:spPr bwMode="auto">
              <a:xfrm>
                <a:off x="8304676" y="2105025"/>
                <a:ext cx="1571741" cy="44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rgbClr val="333399"/>
                    </a:solidFill>
                    <a:latin typeface="微软雅黑" panose="020B0503020204020204" pitchFamily="34" charset="-122"/>
                    <a:ea typeface="微软雅黑" panose="020B0503020204020204" pitchFamily="34" charset="-122"/>
                  </a:rPr>
                  <a:t>应用层</a:t>
                </a:r>
                <a:endParaRPr lang="zh-CN" altLang="en-US" sz="1200" dirty="0">
                  <a:solidFill>
                    <a:srgbClr val="333399"/>
                  </a:solidFill>
                  <a:latin typeface="微软雅黑" panose="020B0503020204020204" pitchFamily="34" charset="-122"/>
                  <a:ea typeface="微软雅黑" panose="020B0503020204020204" pitchFamily="34" charset="-122"/>
                </a:endParaRPr>
              </a:p>
            </p:txBody>
          </p:sp>
          <p:sp>
            <p:nvSpPr>
              <p:cNvPr id="48" name="文本框 151595"/>
              <p:cNvSpPr txBox="1">
                <a:spLocks noChangeArrowheads="1"/>
              </p:cNvSpPr>
              <p:nvPr/>
            </p:nvSpPr>
            <p:spPr bwMode="auto">
              <a:xfrm>
                <a:off x="8531861" y="1709737"/>
                <a:ext cx="7809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2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12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20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直接连接符 151599"/>
              <p:cNvSpPr>
                <a:spLocks noChangeShapeType="1"/>
              </p:cNvSpPr>
              <p:nvPr/>
            </p:nvSpPr>
            <p:spPr bwMode="auto">
              <a:xfrm flipV="1">
                <a:off x="6618922" y="2738477"/>
                <a:ext cx="1453355" cy="9485"/>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sz="1200"/>
              </a:p>
            </p:txBody>
          </p:sp>
          <p:sp>
            <p:nvSpPr>
              <p:cNvPr id="50" name="直接连接符 151600"/>
              <p:cNvSpPr>
                <a:spLocks noChangeShapeType="1"/>
              </p:cNvSpPr>
              <p:nvPr/>
            </p:nvSpPr>
            <p:spPr bwMode="auto">
              <a:xfrm>
                <a:off x="3201613" y="2738477"/>
                <a:ext cx="1971891" cy="13519"/>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sz="1200"/>
              </a:p>
            </p:txBody>
          </p:sp>
          <p:sp>
            <p:nvSpPr>
              <p:cNvPr id="51" name="椭圆 151601"/>
              <p:cNvSpPr>
                <a:spLocks noChangeArrowheads="1"/>
              </p:cNvSpPr>
              <p:nvPr/>
            </p:nvSpPr>
            <p:spPr bwMode="auto">
              <a:xfrm>
                <a:off x="8072280" y="2530040"/>
                <a:ext cx="1953418" cy="456479"/>
              </a:xfrm>
              <a:prstGeom prst="ellipse">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90000"/>
                  </a:lnSpc>
                </a:pPr>
                <a:r>
                  <a:rPr lang="zh-CN" altLang="en-US" sz="1200" dirty="0">
                    <a:solidFill>
                      <a:srgbClr val="C00000"/>
                    </a:solidFill>
                    <a:latin typeface="微软雅黑" panose="020B0503020204020204" pitchFamily="34" charset="-122"/>
                    <a:ea typeface="微软雅黑" panose="020B0503020204020204" pitchFamily="34" charset="-122"/>
                  </a:rPr>
                  <a:t>数据库服务器</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直接连接符 151604"/>
              <p:cNvSpPr>
                <a:spLocks noChangeShapeType="1"/>
              </p:cNvSpPr>
              <p:nvPr/>
            </p:nvSpPr>
            <p:spPr bwMode="auto">
              <a:xfrm flipH="1">
                <a:off x="9064251" y="2986519"/>
                <a:ext cx="0" cy="198439"/>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sz="1200"/>
              </a:p>
            </p:txBody>
          </p:sp>
        </p:grpSp>
        <p:sp>
          <p:nvSpPr>
            <p:cNvPr id="7" name="直接连接符 146434"/>
            <p:cNvSpPr>
              <a:spLocks noChangeShapeType="1"/>
            </p:cNvSpPr>
            <p:nvPr/>
          </p:nvSpPr>
          <p:spPr bwMode="auto">
            <a:xfrm>
              <a:off x="2720656" y="5070413"/>
              <a:ext cx="15527" cy="648943"/>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sz="1200" dirty="0"/>
            </a:p>
          </p:txBody>
        </p:sp>
        <p:sp>
          <p:nvSpPr>
            <p:cNvPr id="8" name="直接连接符 146434"/>
            <p:cNvSpPr>
              <a:spLocks noChangeShapeType="1"/>
            </p:cNvSpPr>
            <p:nvPr/>
          </p:nvSpPr>
          <p:spPr bwMode="auto">
            <a:xfrm>
              <a:off x="5603903" y="5042739"/>
              <a:ext cx="15528" cy="648943"/>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sz="1200" dirty="0"/>
            </a:p>
          </p:txBody>
        </p:sp>
        <p:sp>
          <p:nvSpPr>
            <p:cNvPr id="9" name="直接连接符 146434"/>
            <p:cNvSpPr>
              <a:spLocks noChangeShapeType="1"/>
            </p:cNvSpPr>
            <p:nvPr/>
          </p:nvSpPr>
          <p:spPr bwMode="auto">
            <a:xfrm flipH="1">
              <a:off x="8891266" y="5067039"/>
              <a:ext cx="4137" cy="663394"/>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sz="1200" dirty="0"/>
            </a:p>
          </p:txBody>
        </p:sp>
        <p:sp>
          <p:nvSpPr>
            <p:cNvPr id="10" name="云形 9"/>
            <p:cNvSpPr/>
            <p:nvPr/>
          </p:nvSpPr>
          <p:spPr>
            <a:xfrm>
              <a:off x="1118920" y="5539568"/>
              <a:ext cx="9008780" cy="791854"/>
            </a:xfrm>
            <a:prstGeom prst="cloud">
              <a:avLst/>
            </a:prstGeom>
            <a:solidFill>
              <a:schemeClr val="bg1">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200" dirty="0">
                <a:solidFill>
                  <a:srgbClr val="666666"/>
                </a:solidFill>
                <a:latin typeface="微软雅黑" panose="020B0503020204020204" pitchFamily="34" charset="-122"/>
                <a:ea typeface="微软雅黑" panose="020B0503020204020204" pitchFamily="34" charset="-122"/>
              </a:endParaRPr>
            </a:p>
          </p:txBody>
        </p:sp>
        <p:sp>
          <p:nvSpPr>
            <p:cNvPr id="11" name="文本框 146488"/>
            <p:cNvSpPr txBox="1">
              <a:spLocks noChangeArrowheads="1"/>
            </p:cNvSpPr>
            <p:nvPr/>
          </p:nvSpPr>
          <p:spPr bwMode="auto">
            <a:xfrm>
              <a:off x="4673838" y="5704774"/>
              <a:ext cx="17457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200" dirty="0">
                  <a:solidFill>
                    <a:srgbClr val="333399"/>
                  </a:solidFill>
                  <a:latin typeface="微软雅黑" panose="020B0503020204020204" pitchFamily="34" charset="-122"/>
                  <a:ea typeface="微软雅黑" panose="020B0503020204020204" pitchFamily="34" charset="-122"/>
                </a:rPr>
                <a:t>IP </a:t>
              </a:r>
              <a:r>
                <a:rPr lang="zh-CN" altLang="en-US" sz="1200" dirty="0">
                  <a:solidFill>
                    <a:srgbClr val="333399"/>
                  </a:solidFill>
                  <a:latin typeface="微软雅黑" panose="020B0503020204020204" pitchFamily="34" charset="-122"/>
                  <a:ea typeface="微软雅黑" panose="020B0503020204020204" pitchFamily="34" charset="-122"/>
                </a:rPr>
                <a:t>网络</a:t>
              </a:r>
              <a:endParaRPr lang="zh-CN" altLang="en-US" sz="1200" dirty="0">
                <a:solidFill>
                  <a:srgbClr val="333399"/>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sz="3200" dirty="0">
                <a:sym typeface="+mn-ea"/>
              </a:rPr>
              <a:t>应用进程</a:t>
            </a:r>
            <a:r>
              <a:rPr kumimoji="1" lang="zh-CN" altLang="en-US" sz="3200" dirty="0">
                <a:sym typeface="+mn-ea"/>
              </a:rPr>
              <a:t>间的</a:t>
            </a:r>
            <a:r>
              <a:rPr kumimoji="1" lang="zh-CN" sz="3200" dirty="0">
                <a:sym typeface="+mn-ea"/>
              </a:rPr>
              <a:t>通信方式</a:t>
            </a:r>
            <a:r>
              <a:rPr kumimoji="1" lang="zh-CN" altLang="en-US" sz="3200" dirty="0">
                <a:sym typeface="+mn-ea"/>
              </a:rPr>
              <a:t>：</a:t>
            </a:r>
            <a:r>
              <a:rPr kumimoji="1" lang="en-US" altLang="zh-CN" sz="3200" dirty="0">
                <a:sym typeface="+mn-ea"/>
              </a:rPr>
              <a:t>P2P</a:t>
            </a:r>
            <a:r>
              <a:rPr kumimoji="1" lang="zh-CN" altLang="en-US" sz="3200" dirty="0">
                <a:sym typeface="+mn-ea"/>
              </a:rPr>
              <a:t>方式</a:t>
            </a:r>
            <a:endParaRPr lang="zh-CN" altLang="en-US" sz="3200" dirty="0"/>
          </a:p>
        </p:txBody>
      </p:sp>
      <p:sp>
        <p:nvSpPr>
          <p:cNvPr id="5" name="内容占位符 4"/>
          <p:cNvSpPr>
            <a:spLocks noGrp="1"/>
          </p:cNvSpPr>
          <p:nvPr>
            <p:ph idx="1"/>
          </p:nvPr>
        </p:nvSpPr>
        <p:spPr>
          <a:xfrm>
            <a:off x="5325062" y="1052514"/>
            <a:ext cx="6532506" cy="5437187"/>
          </a:xfrm>
        </p:spPr>
        <p:txBody>
          <a:bodyPr/>
          <a:lstStyle/>
          <a:p>
            <a:r>
              <a:rPr lang="en-US" altLang="zh-CN" dirty="0"/>
              <a:t>P2P</a:t>
            </a:r>
            <a:r>
              <a:rPr lang="zh-CN" altLang="en-US" dirty="0"/>
              <a:t>是</a:t>
            </a:r>
            <a:r>
              <a:rPr lang="en-US" altLang="zh-CN" dirty="0"/>
              <a:t>Peer to Peer</a:t>
            </a:r>
            <a:r>
              <a:rPr lang="zh-CN" altLang="en-US" dirty="0"/>
              <a:t>对等方式，属于分布式模型</a:t>
            </a:r>
            <a:endParaRPr lang="zh-CN" altLang="en-US" dirty="0"/>
          </a:p>
          <a:p>
            <a:r>
              <a:rPr lang="zh-CN" altLang="en-US" dirty="0"/>
              <a:t>每个主机既可以提供服务，也可以请求服务</a:t>
            </a:r>
            <a:endParaRPr lang="zh-CN" altLang="en-US" dirty="0"/>
          </a:p>
          <a:p>
            <a:r>
              <a:rPr lang="zh-CN" altLang="en-US" dirty="0"/>
              <a:t>任意端系统</a:t>
            </a:r>
            <a:r>
              <a:rPr lang="en-US" altLang="zh-CN" dirty="0"/>
              <a:t>/</a:t>
            </a:r>
            <a:r>
              <a:rPr lang="zh-CN" altLang="en-US" dirty="0"/>
              <a:t>结点之间可以直接通信。</a:t>
            </a:r>
            <a:endParaRPr lang="zh-CN" altLang="en-US" dirty="0"/>
          </a:p>
          <a:p>
            <a:r>
              <a:rPr lang="zh-CN" altLang="en-US" dirty="0"/>
              <a:t>结点间歇性接入网络，不能保证结点永远在线</a:t>
            </a:r>
            <a:endParaRPr lang="zh-CN" altLang="en-US" dirty="0"/>
          </a:p>
          <a:p>
            <a:r>
              <a:rPr lang="zh-CN" altLang="en-US" dirty="0"/>
              <a:t>结点的 </a:t>
            </a:r>
            <a:r>
              <a:rPr lang="en-US" altLang="zh-CN" dirty="0"/>
              <a:t>IP </a:t>
            </a:r>
            <a:r>
              <a:rPr lang="zh-CN" altLang="en-US" dirty="0"/>
              <a:t>地址可能会发生变化</a:t>
            </a:r>
            <a:endParaRPr lang="zh-CN" altLang="en-US" dirty="0"/>
          </a:p>
          <a:p>
            <a:endParaRPr lang="zh-CN" altLang="en-US" dirty="0"/>
          </a:p>
        </p:txBody>
      </p:sp>
      <p:sp>
        <p:nvSpPr>
          <p:cNvPr id="6" name="Rectangle 2"/>
          <p:cNvSpPr>
            <a:spLocks noChangeArrowheads="1"/>
          </p:cNvSpPr>
          <p:nvPr/>
        </p:nvSpPr>
        <p:spPr bwMode="auto">
          <a:xfrm>
            <a:off x="4190036" y="20024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4"/>
          <p:cNvSpPr>
            <a:spLocks noChangeArrowheads="1"/>
          </p:cNvSpPr>
          <p:nvPr/>
        </p:nvSpPr>
        <p:spPr bwMode="auto">
          <a:xfrm>
            <a:off x="4294208" y="186352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矩形 10"/>
          <p:cNvSpPr/>
          <p:nvPr/>
        </p:nvSpPr>
        <p:spPr>
          <a:xfrm>
            <a:off x="2168343" y="5521748"/>
            <a:ext cx="1237839" cy="400110"/>
          </a:xfrm>
          <a:prstGeom prst="rect">
            <a:avLst/>
          </a:prstGeom>
        </p:spPr>
        <p:txBody>
          <a:bodyPr wrap="none">
            <a:spAutoFit/>
          </a:bodyPr>
          <a:lstStyle/>
          <a:p>
            <a:r>
              <a:rPr lang="en-US" altLang="zh-CN" sz="2000" kern="100" dirty="0">
                <a:latin typeface="+mn-ea"/>
              </a:rPr>
              <a:t>P2P </a:t>
            </a:r>
            <a:r>
              <a:rPr lang="zh-CN" altLang="zh-CN" sz="2000" b="1" kern="100" dirty="0">
                <a:latin typeface="+mn-ea"/>
                <a:cs typeface="Times New Roman" panose="02020603050405020304" pitchFamily="18" charset="0"/>
              </a:rPr>
              <a:t>模型</a:t>
            </a:r>
            <a:endParaRPr lang="zh-CN" altLang="en-US" sz="2000" dirty="0">
              <a:latin typeface="+mn-ea"/>
            </a:endParaRPr>
          </a:p>
        </p:txBody>
      </p:sp>
      <p:grpSp>
        <p:nvGrpSpPr>
          <p:cNvPr id="4" name="组合 3"/>
          <p:cNvGrpSpPr/>
          <p:nvPr/>
        </p:nvGrpSpPr>
        <p:grpSpPr>
          <a:xfrm>
            <a:off x="623392" y="1602318"/>
            <a:ext cx="4250771" cy="3586183"/>
            <a:chOff x="723843" y="1932324"/>
            <a:chExt cx="2969720" cy="2569966"/>
          </a:xfrm>
        </p:grpSpPr>
        <p:pic>
          <p:nvPicPr>
            <p:cNvPr id="12" name="图形 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23269" y="1932324"/>
              <a:ext cx="459969" cy="348262"/>
            </a:xfrm>
            <a:prstGeom prst="rect">
              <a:avLst/>
            </a:prstGeom>
          </p:spPr>
        </p:pic>
        <p:pic>
          <p:nvPicPr>
            <p:cNvPr id="13" name="图形 1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843" y="2889798"/>
              <a:ext cx="459969" cy="348262"/>
            </a:xfrm>
            <a:prstGeom prst="rect">
              <a:avLst/>
            </a:prstGeom>
          </p:spPr>
        </p:pic>
        <p:pic>
          <p:nvPicPr>
            <p:cNvPr id="14" name="图形 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76380" y="4154028"/>
              <a:ext cx="459969" cy="348262"/>
            </a:xfrm>
            <a:prstGeom prst="rect">
              <a:avLst/>
            </a:prstGeom>
          </p:spPr>
        </p:pic>
        <p:pic>
          <p:nvPicPr>
            <p:cNvPr id="15" name="图形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72601" y="4110682"/>
              <a:ext cx="459969" cy="348262"/>
            </a:xfrm>
            <a:prstGeom prst="rect">
              <a:avLst/>
            </a:prstGeom>
          </p:spPr>
        </p:pic>
        <p:pic>
          <p:nvPicPr>
            <p:cNvPr id="16" name="图形 1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33594" y="2889798"/>
              <a:ext cx="459969" cy="348262"/>
            </a:xfrm>
            <a:prstGeom prst="rect">
              <a:avLst/>
            </a:prstGeom>
          </p:spPr>
        </p:pic>
        <p:sp>
          <p:nvSpPr>
            <p:cNvPr id="3" name="箭头: 上下 2"/>
            <p:cNvSpPr/>
            <p:nvPr/>
          </p:nvSpPr>
          <p:spPr>
            <a:xfrm rot="3082757">
              <a:off x="1518618" y="2069772"/>
              <a:ext cx="175491" cy="1020181"/>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下 16"/>
            <p:cNvSpPr/>
            <p:nvPr/>
          </p:nvSpPr>
          <p:spPr>
            <a:xfrm rot="1213684">
              <a:off x="1852489" y="2318196"/>
              <a:ext cx="176717" cy="1806896"/>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上下 17"/>
            <p:cNvSpPr/>
            <p:nvPr/>
          </p:nvSpPr>
          <p:spPr>
            <a:xfrm rot="7952449">
              <a:off x="2843162" y="2047177"/>
              <a:ext cx="175491" cy="1020181"/>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上下 18"/>
            <p:cNvSpPr/>
            <p:nvPr/>
          </p:nvSpPr>
          <p:spPr>
            <a:xfrm rot="20482851">
              <a:off x="2619025" y="2298014"/>
              <a:ext cx="176717" cy="1806896"/>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上下 19"/>
            <p:cNvSpPr/>
            <p:nvPr/>
          </p:nvSpPr>
          <p:spPr>
            <a:xfrm rot="18100457">
              <a:off x="1990800" y="2710070"/>
              <a:ext cx="176717" cy="1806896"/>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上下 20"/>
            <p:cNvSpPr/>
            <p:nvPr/>
          </p:nvSpPr>
          <p:spPr>
            <a:xfrm rot="3399434">
              <a:off x="2431900" y="2833540"/>
              <a:ext cx="178443" cy="1604312"/>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下 21"/>
            <p:cNvSpPr/>
            <p:nvPr/>
          </p:nvSpPr>
          <p:spPr>
            <a:xfrm rot="8903704">
              <a:off x="1151047" y="3208389"/>
              <a:ext cx="175491" cy="1020181"/>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上下 22"/>
            <p:cNvSpPr/>
            <p:nvPr/>
          </p:nvSpPr>
          <p:spPr>
            <a:xfrm rot="12342543">
              <a:off x="3212023" y="3244739"/>
              <a:ext cx="149817" cy="885058"/>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上下 23"/>
            <p:cNvSpPr/>
            <p:nvPr/>
          </p:nvSpPr>
          <p:spPr>
            <a:xfrm rot="16200000">
              <a:off x="2230954" y="3871675"/>
              <a:ext cx="149817" cy="885058"/>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上下 24"/>
            <p:cNvSpPr/>
            <p:nvPr/>
          </p:nvSpPr>
          <p:spPr>
            <a:xfrm rot="5400000">
              <a:off x="2165414" y="2093221"/>
              <a:ext cx="176717" cy="1806896"/>
            </a:xfrm>
            <a:prstGeom prst="upDownArrow">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灯片编号占位符 6"/>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P2P</a:t>
            </a:r>
            <a:r>
              <a:rPr lang="zh-CN" altLang="en-US" dirty="0"/>
              <a:t>方式</a:t>
            </a:r>
            <a:endParaRPr lang="zh-CN" altLang="en-US" dirty="0"/>
          </a:p>
        </p:txBody>
      </p:sp>
      <p:sp>
        <p:nvSpPr>
          <p:cNvPr id="3" name="内容占位符 2"/>
          <p:cNvSpPr>
            <a:spLocks noGrp="1"/>
          </p:cNvSpPr>
          <p:nvPr>
            <p:ph idx="1"/>
          </p:nvPr>
        </p:nvSpPr>
        <p:spPr/>
        <p:txBody>
          <a:bodyPr/>
          <a:lstStyle/>
          <a:p>
            <a:r>
              <a:rPr lang="zh-CN" altLang="en-US" dirty="0"/>
              <a:t>处于不同主机上的两个 </a:t>
            </a:r>
            <a:r>
              <a:rPr lang="en-US" altLang="zh-CN" dirty="0"/>
              <a:t>P2P </a:t>
            </a:r>
            <a:r>
              <a:rPr lang="zh-CN" altLang="en-US" dirty="0"/>
              <a:t>进程在通信时并不区分服务的请求方和服务的提供方</a:t>
            </a:r>
            <a:endParaRPr lang="zh-CN" altLang="en-US" dirty="0"/>
          </a:p>
          <a:p>
            <a:r>
              <a:rPr lang="zh-CN" altLang="en-US" dirty="0"/>
              <a:t>只要两个主机都运行 </a:t>
            </a:r>
            <a:r>
              <a:rPr lang="en-US" altLang="zh-CN" dirty="0"/>
              <a:t>P2P </a:t>
            </a:r>
            <a:r>
              <a:rPr lang="zh-CN" altLang="en-US" dirty="0"/>
              <a:t>软件，它们就可以进行平等、对等的通信</a:t>
            </a:r>
            <a:endParaRPr lang="zh-CN" altLang="en-US" dirty="0"/>
          </a:p>
          <a:p>
            <a:r>
              <a:rPr lang="zh-CN" altLang="en-US" dirty="0"/>
              <a:t>双方都可以下载对方存储在硬盘中的共享文档，如果权限允许的话</a:t>
            </a:r>
            <a:endParaRPr lang="zh-CN" altLang="en-US" dirty="0"/>
          </a:p>
          <a:p>
            <a:r>
              <a:rPr lang="zh-CN" altLang="en-US" dirty="0"/>
              <a:t>音频</a:t>
            </a:r>
            <a:r>
              <a:rPr lang="en-US" altLang="zh-CN" dirty="0"/>
              <a:t>/</a:t>
            </a:r>
            <a:r>
              <a:rPr lang="zh-CN" altLang="en-US" dirty="0"/>
              <a:t>视频应用推动了 </a:t>
            </a:r>
            <a:r>
              <a:rPr lang="en-US" altLang="zh-CN" dirty="0"/>
              <a:t>P2P </a:t>
            </a:r>
            <a:r>
              <a:rPr lang="zh-CN" altLang="en-US" dirty="0"/>
              <a:t>对等通信方式的发展</a:t>
            </a:r>
            <a:endParaRPr lang="zh-CN" altLang="en-US" dirty="0"/>
          </a:p>
          <a:p>
            <a:r>
              <a:rPr lang="zh-CN" altLang="en-US" dirty="0"/>
              <a:t>因特网上流量，音频</a:t>
            </a:r>
            <a:r>
              <a:rPr lang="en-US" altLang="zh-CN" dirty="0"/>
              <a:t>/</a:t>
            </a:r>
            <a:r>
              <a:rPr lang="zh-CN" altLang="en-US" dirty="0"/>
              <a:t>视频流量已占主要比例</a:t>
            </a:r>
            <a:endParaRPr lang="zh-CN" altLang="en-US" dirty="0"/>
          </a:p>
          <a:p>
            <a:r>
              <a:rPr lang="zh-CN" altLang="en-US" dirty="0"/>
              <a:t>音视频采用 </a:t>
            </a:r>
            <a:r>
              <a:rPr lang="en-US" altLang="zh-CN" dirty="0"/>
              <a:t>P2P</a:t>
            </a:r>
            <a:r>
              <a:rPr lang="zh-CN" altLang="en-US" dirty="0"/>
              <a:t>对等通信方式，减轻了服务器负载，也影响了网络上的流量模型，从垂直方向流量改为很大一部分是水平方向流量</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P2P</a:t>
            </a:r>
            <a:r>
              <a:rPr lang="zh-CN" altLang="en-US" dirty="0"/>
              <a:t>方式</a:t>
            </a:r>
            <a:endParaRPr lang="zh-CN" altLang="en-US" dirty="0"/>
          </a:p>
        </p:txBody>
      </p:sp>
      <p:sp>
        <p:nvSpPr>
          <p:cNvPr id="3" name="内容占位符 2"/>
          <p:cNvSpPr>
            <a:spLocks noGrp="1"/>
          </p:cNvSpPr>
          <p:nvPr>
            <p:ph idx="1"/>
          </p:nvPr>
        </p:nvSpPr>
        <p:spPr>
          <a:xfrm>
            <a:off x="334434" y="1052515"/>
            <a:ext cx="11523133" cy="1728414"/>
          </a:xfrm>
        </p:spPr>
        <p:txBody>
          <a:bodyPr/>
          <a:lstStyle/>
          <a:p>
            <a:r>
              <a:rPr lang="en-US" altLang="zh-CN" dirty="0"/>
              <a:t>P2P</a:t>
            </a:r>
            <a:r>
              <a:rPr lang="zh-CN" altLang="en-US" dirty="0"/>
              <a:t>方式从本质上看仍然是使用了</a:t>
            </a:r>
            <a:r>
              <a:rPr lang="en-US" altLang="zh-CN" dirty="0"/>
              <a:t>C/S</a:t>
            </a:r>
            <a:r>
              <a:rPr lang="zh-CN" altLang="en-US" dirty="0"/>
              <a:t>方式，但强调的是通信过程中的对等</a:t>
            </a:r>
            <a:endParaRPr lang="zh-CN" altLang="en-US" dirty="0"/>
          </a:p>
          <a:p>
            <a:pPr lvl="1"/>
            <a:r>
              <a:rPr lang="zh-CN" altLang="en-US" dirty="0"/>
              <a:t>每一个</a:t>
            </a:r>
            <a:r>
              <a:rPr lang="en-US" altLang="zh-CN" dirty="0"/>
              <a:t>P2P</a:t>
            </a:r>
            <a:r>
              <a:rPr lang="zh-CN" altLang="en-US" dirty="0"/>
              <a:t>进程既是客户同时也是服务器</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云形 4"/>
          <p:cNvSpPr/>
          <p:nvPr/>
        </p:nvSpPr>
        <p:spPr>
          <a:xfrm>
            <a:off x="2452255" y="5778061"/>
            <a:ext cx="8331016" cy="598109"/>
          </a:xfrm>
          <a:prstGeom prst="cloud">
            <a:avLst/>
          </a:prstGeom>
          <a:solidFill>
            <a:schemeClr val="bg1">
              <a:lumMod val="20000"/>
              <a:lumOff val="80000"/>
            </a:schemeClr>
          </a:solidFill>
          <a:ln w="285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dirty="0">
              <a:solidFill>
                <a:srgbClr val="666666"/>
              </a:solidFill>
              <a:latin typeface="微软雅黑" panose="020B0503020204020204" pitchFamily="34" charset="-122"/>
              <a:ea typeface="微软雅黑" panose="020B0503020204020204" pitchFamily="34" charset="-122"/>
            </a:endParaRPr>
          </a:p>
        </p:txBody>
      </p:sp>
      <p:sp>
        <p:nvSpPr>
          <p:cNvPr id="6" name="直接连接符 151554"/>
          <p:cNvSpPr>
            <a:spLocks noChangeShapeType="1"/>
          </p:cNvSpPr>
          <p:nvPr/>
        </p:nvSpPr>
        <p:spPr bwMode="auto">
          <a:xfrm>
            <a:off x="6280469" y="5542414"/>
            <a:ext cx="0" cy="313284"/>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151555"/>
          <p:cNvSpPr>
            <a:spLocks noChangeArrowheads="1"/>
          </p:cNvSpPr>
          <p:nvPr/>
        </p:nvSpPr>
        <p:spPr bwMode="auto">
          <a:xfrm>
            <a:off x="4877118" y="2949031"/>
            <a:ext cx="2898775" cy="2593383"/>
          </a:xfrm>
          <a:prstGeom prst="rect">
            <a:avLst/>
          </a:prstGeom>
          <a:no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文本框 151556"/>
          <p:cNvSpPr txBox="1">
            <a:spLocks noChangeArrowheads="1"/>
          </p:cNvSpPr>
          <p:nvPr/>
        </p:nvSpPr>
        <p:spPr bwMode="auto">
          <a:xfrm>
            <a:off x="5601018" y="4732460"/>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9" name="直接连接符 151557"/>
          <p:cNvSpPr>
            <a:spLocks noChangeShapeType="1"/>
          </p:cNvSpPr>
          <p:nvPr/>
        </p:nvSpPr>
        <p:spPr bwMode="auto">
          <a:xfrm>
            <a:off x="4877118" y="5149662"/>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直接连接符 151558"/>
          <p:cNvSpPr>
            <a:spLocks noChangeShapeType="1"/>
          </p:cNvSpPr>
          <p:nvPr/>
        </p:nvSpPr>
        <p:spPr bwMode="auto">
          <a:xfrm>
            <a:off x="4877118" y="4755382"/>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直接连接符 151559"/>
          <p:cNvSpPr>
            <a:spLocks noChangeShapeType="1"/>
          </p:cNvSpPr>
          <p:nvPr/>
        </p:nvSpPr>
        <p:spPr bwMode="auto">
          <a:xfrm>
            <a:off x="4877118" y="4362631"/>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直接连接符 151560"/>
          <p:cNvSpPr>
            <a:spLocks noChangeShapeType="1"/>
          </p:cNvSpPr>
          <p:nvPr/>
        </p:nvSpPr>
        <p:spPr bwMode="auto">
          <a:xfrm>
            <a:off x="4877118" y="3969879"/>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文本框 151561"/>
          <p:cNvSpPr txBox="1">
            <a:spLocks noChangeArrowheads="1"/>
          </p:cNvSpPr>
          <p:nvPr/>
        </p:nvSpPr>
        <p:spPr bwMode="auto">
          <a:xfrm>
            <a:off x="5835968" y="512521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14" name="文本框 151562"/>
          <p:cNvSpPr txBox="1">
            <a:spLocks noChangeArrowheads="1"/>
          </p:cNvSpPr>
          <p:nvPr/>
        </p:nvSpPr>
        <p:spPr bwMode="auto">
          <a:xfrm>
            <a:off x="5835968" y="3959182"/>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endParaRPr lang="zh-CN" altLang="en-US" sz="2000" dirty="0">
              <a:solidFill>
                <a:srgbClr val="333399"/>
              </a:solidFill>
              <a:latin typeface="微软雅黑" panose="020B0503020204020204" pitchFamily="34" charset="-122"/>
              <a:ea typeface="微软雅黑" panose="020B0503020204020204" pitchFamily="34" charset="-122"/>
            </a:endParaRPr>
          </a:p>
        </p:txBody>
      </p:sp>
      <p:sp>
        <p:nvSpPr>
          <p:cNvPr id="15" name="文本框 151563"/>
          <p:cNvSpPr txBox="1">
            <a:spLocks noChangeArrowheads="1"/>
          </p:cNvSpPr>
          <p:nvPr/>
        </p:nvSpPr>
        <p:spPr bwMode="auto">
          <a:xfrm>
            <a:off x="5835968" y="4351933"/>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16" name="文本框 151564"/>
          <p:cNvSpPr txBox="1">
            <a:spLocks noChangeArrowheads="1"/>
          </p:cNvSpPr>
          <p:nvPr/>
        </p:nvSpPr>
        <p:spPr bwMode="auto">
          <a:xfrm>
            <a:off x="5805806" y="2910826"/>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17" name="文本框 151565"/>
          <p:cNvSpPr txBox="1">
            <a:spLocks noChangeArrowheads="1"/>
          </p:cNvSpPr>
          <p:nvPr/>
        </p:nvSpPr>
        <p:spPr bwMode="auto">
          <a:xfrm>
            <a:off x="5726431" y="2539469"/>
            <a:ext cx="11897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rPr>
              <a:t>2</a:t>
            </a:r>
            <a:endParaRPr lang="en-US" altLang="zh-CN" sz="2000">
              <a:solidFill>
                <a:srgbClr val="333399"/>
              </a:solidFill>
              <a:latin typeface="微软雅黑" panose="020B0503020204020204" pitchFamily="34" charset="-122"/>
              <a:ea typeface="微软雅黑" panose="020B0503020204020204" pitchFamily="34" charset="-122"/>
            </a:endParaRPr>
          </a:p>
        </p:txBody>
      </p:sp>
      <p:sp>
        <p:nvSpPr>
          <p:cNvPr id="18" name="矩形 151570"/>
          <p:cNvSpPr>
            <a:spLocks noChangeArrowheads="1"/>
          </p:cNvSpPr>
          <p:nvPr/>
        </p:nvSpPr>
        <p:spPr bwMode="auto">
          <a:xfrm>
            <a:off x="1946593" y="2949031"/>
            <a:ext cx="2438400" cy="2593383"/>
          </a:xfrm>
          <a:prstGeom prst="rect">
            <a:avLst/>
          </a:prstGeom>
          <a:no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文本框 151571"/>
          <p:cNvSpPr txBox="1">
            <a:spLocks noChangeArrowheads="1"/>
          </p:cNvSpPr>
          <p:nvPr/>
        </p:nvSpPr>
        <p:spPr bwMode="auto">
          <a:xfrm>
            <a:off x="2373631" y="4732460"/>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20" name="直接连接符 151572"/>
          <p:cNvSpPr>
            <a:spLocks noChangeShapeType="1"/>
          </p:cNvSpPr>
          <p:nvPr/>
        </p:nvSpPr>
        <p:spPr bwMode="auto">
          <a:xfrm>
            <a:off x="2329181" y="5149662"/>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直接连接符 151573"/>
          <p:cNvSpPr>
            <a:spLocks noChangeShapeType="1"/>
          </p:cNvSpPr>
          <p:nvPr/>
        </p:nvSpPr>
        <p:spPr bwMode="auto">
          <a:xfrm>
            <a:off x="2329181" y="4755382"/>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直接连接符 151574"/>
          <p:cNvSpPr>
            <a:spLocks noChangeShapeType="1"/>
          </p:cNvSpPr>
          <p:nvPr/>
        </p:nvSpPr>
        <p:spPr bwMode="auto">
          <a:xfrm>
            <a:off x="2329181" y="4362631"/>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直接连接符 151575"/>
          <p:cNvSpPr>
            <a:spLocks noChangeShapeType="1"/>
          </p:cNvSpPr>
          <p:nvPr/>
        </p:nvSpPr>
        <p:spPr bwMode="auto">
          <a:xfrm>
            <a:off x="2329181" y="3969879"/>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文本框 151576"/>
          <p:cNvSpPr txBox="1">
            <a:spLocks noChangeArrowheads="1"/>
          </p:cNvSpPr>
          <p:nvPr/>
        </p:nvSpPr>
        <p:spPr bwMode="auto">
          <a:xfrm>
            <a:off x="2606993" y="512521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物理层</a:t>
            </a:r>
            <a:endParaRPr lang="zh-CN" altLang="en-US" sz="2000" dirty="0">
              <a:solidFill>
                <a:srgbClr val="333399"/>
              </a:solidFill>
              <a:latin typeface="微软雅黑" panose="020B0503020204020204" pitchFamily="34" charset="-122"/>
              <a:ea typeface="微软雅黑" panose="020B0503020204020204" pitchFamily="34" charset="-122"/>
            </a:endParaRPr>
          </a:p>
        </p:txBody>
      </p:sp>
      <p:sp>
        <p:nvSpPr>
          <p:cNvPr id="25" name="文本框 151577"/>
          <p:cNvSpPr txBox="1">
            <a:spLocks noChangeArrowheads="1"/>
          </p:cNvSpPr>
          <p:nvPr/>
        </p:nvSpPr>
        <p:spPr bwMode="auto">
          <a:xfrm>
            <a:off x="2606993" y="3959182"/>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endParaRPr lang="zh-CN" altLang="en-US" sz="2000" dirty="0">
              <a:solidFill>
                <a:srgbClr val="333399"/>
              </a:solidFill>
              <a:latin typeface="微软雅黑" panose="020B0503020204020204" pitchFamily="34" charset="-122"/>
              <a:ea typeface="微软雅黑" panose="020B0503020204020204" pitchFamily="34" charset="-122"/>
            </a:endParaRPr>
          </a:p>
        </p:txBody>
      </p:sp>
      <p:sp>
        <p:nvSpPr>
          <p:cNvPr id="26" name="文本框 151578"/>
          <p:cNvSpPr txBox="1">
            <a:spLocks noChangeArrowheads="1"/>
          </p:cNvSpPr>
          <p:nvPr/>
        </p:nvSpPr>
        <p:spPr bwMode="auto">
          <a:xfrm>
            <a:off x="2606993" y="4351933"/>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27" name="直接连接符 151579"/>
          <p:cNvSpPr>
            <a:spLocks noChangeShapeType="1"/>
          </p:cNvSpPr>
          <p:nvPr/>
        </p:nvSpPr>
        <p:spPr bwMode="auto">
          <a:xfrm>
            <a:off x="3099118" y="3734534"/>
            <a:ext cx="0" cy="2353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椭圆 151580"/>
          <p:cNvSpPr>
            <a:spLocks noChangeArrowheads="1"/>
          </p:cNvSpPr>
          <p:nvPr/>
        </p:nvSpPr>
        <p:spPr bwMode="auto">
          <a:xfrm>
            <a:off x="2174558" y="3346367"/>
            <a:ext cx="1983105" cy="470691"/>
          </a:xfrm>
          <a:prstGeom prst="ellipse">
            <a:avLst/>
          </a:prstGeom>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dirty="0">
                <a:solidFill>
                  <a:srgbClr val="FF0000"/>
                </a:solidFill>
                <a:latin typeface="微软雅黑" panose="020B0503020204020204" pitchFamily="34" charset="-122"/>
                <a:ea typeface="微软雅黑" panose="020B0503020204020204" pitchFamily="34" charset="-122"/>
              </a:rPr>
              <a:t>服务器</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客户 </a:t>
            </a:r>
            <a:r>
              <a:rPr lang="en-US" altLang="zh-CN" sz="2000" dirty="0">
                <a:solidFill>
                  <a:srgbClr val="FF0000"/>
                </a:solidFill>
                <a:latin typeface="微软雅黑" panose="020B0503020204020204" pitchFamily="34" charset="-122"/>
                <a:ea typeface="微软雅黑" panose="020B0503020204020204" pitchFamily="34" charset="-122"/>
              </a:rPr>
              <a:t>1</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29" name="文本框 151581"/>
          <p:cNvSpPr txBox="1">
            <a:spLocks noChangeArrowheads="1"/>
          </p:cNvSpPr>
          <p:nvPr/>
        </p:nvSpPr>
        <p:spPr bwMode="auto">
          <a:xfrm>
            <a:off x="2614931" y="2924579"/>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30" name="文本框 151582"/>
          <p:cNvSpPr txBox="1">
            <a:spLocks noChangeArrowheads="1"/>
          </p:cNvSpPr>
          <p:nvPr/>
        </p:nvSpPr>
        <p:spPr bwMode="auto">
          <a:xfrm>
            <a:off x="2548256" y="2539469"/>
            <a:ext cx="11897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rPr>
              <a:t>1</a:t>
            </a:r>
            <a:endParaRPr lang="en-US" altLang="zh-CN" sz="2000">
              <a:solidFill>
                <a:srgbClr val="333399"/>
              </a:solidFill>
              <a:latin typeface="微软雅黑" panose="020B0503020204020204" pitchFamily="34" charset="-122"/>
              <a:ea typeface="微软雅黑" panose="020B0503020204020204" pitchFamily="34" charset="-122"/>
            </a:endParaRPr>
          </a:p>
        </p:txBody>
      </p:sp>
      <p:sp>
        <p:nvSpPr>
          <p:cNvPr id="31" name="矩形 151583"/>
          <p:cNvSpPr>
            <a:spLocks noChangeArrowheads="1"/>
          </p:cNvSpPr>
          <p:nvPr/>
        </p:nvSpPr>
        <p:spPr bwMode="auto">
          <a:xfrm>
            <a:off x="8194993" y="2949031"/>
            <a:ext cx="2438400" cy="2593383"/>
          </a:xfrm>
          <a:prstGeom prst="rect">
            <a:avLst/>
          </a:prstGeom>
          <a:no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文本框 151584"/>
          <p:cNvSpPr txBox="1">
            <a:spLocks noChangeArrowheads="1"/>
          </p:cNvSpPr>
          <p:nvPr/>
        </p:nvSpPr>
        <p:spPr bwMode="auto">
          <a:xfrm>
            <a:off x="8785543" y="4732460"/>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33" name="直接连接符 151585"/>
          <p:cNvSpPr>
            <a:spLocks noChangeShapeType="1"/>
          </p:cNvSpPr>
          <p:nvPr/>
        </p:nvSpPr>
        <p:spPr bwMode="auto">
          <a:xfrm>
            <a:off x="8741093" y="5149662"/>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直接连接符 151586"/>
          <p:cNvSpPr>
            <a:spLocks noChangeShapeType="1"/>
          </p:cNvSpPr>
          <p:nvPr/>
        </p:nvSpPr>
        <p:spPr bwMode="auto">
          <a:xfrm>
            <a:off x="8741093" y="4755382"/>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直接连接符 151587"/>
          <p:cNvSpPr>
            <a:spLocks noChangeShapeType="1"/>
          </p:cNvSpPr>
          <p:nvPr/>
        </p:nvSpPr>
        <p:spPr bwMode="auto">
          <a:xfrm>
            <a:off x="8741093" y="4362631"/>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直接连接符 151588"/>
          <p:cNvSpPr>
            <a:spLocks noChangeShapeType="1"/>
          </p:cNvSpPr>
          <p:nvPr/>
        </p:nvSpPr>
        <p:spPr bwMode="auto">
          <a:xfrm>
            <a:off x="8741093" y="3969879"/>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文本框 151589"/>
          <p:cNvSpPr txBox="1">
            <a:spLocks noChangeArrowheads="1"/>
          </p:cNvSpPr>
          <p:nvPr/>
        </p:nvSpPr>
        <p:spPr bwMode="auto">
          <a:xfrm>
            <a:off x="9020493" y="512521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38" name="文本框 151590"/>
          <p:cNvSpPr txBox="1">
            <a:spLocks noChangeArrowheads="1"/>
          </p:cNvSpPr>
          <p:nvPr/>
        </p:nvSpPr>
        <p:spPr bwMode="auto">
          <a:xfrm>
            <a:off x="9020493" y="3959182"/>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endParaRPr lang="zh-CN" altLang="en-US" sz="2000" dirty="0">
              <a:solidFill>
                <a:srgbClr val="333399"/>
              </a:solidFill>
              <a:latin typeface="微软雅黑" panose="020B0503020204020204" pitchFamily="34" charset="-122"/>
              <a:ea typeface="微软雅黑" panose="020B0503020204020204" pitchFamily="34" charset="-122"/>
            </a:endParaRPr>
          </a:p>
        </p:txBody>
      </p:sp>
      <p:sp>
        <p:nvSpPr>
          <p:cNvPr id="39" name="文本框 151591"/>
          <p:cNvSpPr txBox="1">
            <a:spLocks noChangeArrowheads="1"/>
          </p:cNvSpPr>
          <p:nvPr/>
        </p:nvSpPr>
        <p:spPr bwMode="auto">
          <a:xfrm>
            <a:off x="9020493" y="4351933"/>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40" name="文本框 151594"/>
          <p:cNvSpPr txBox="1">
            <a:spLocks noChangeArrowheads="1"/>
          </p:cNvSpPr>
          <p:nvPr/>
        </p:nvSpPr>
        <p:spPr bwMode="auto">
          <a:xfrm>
            <a:off x="9012556" y="2936805"/>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endParaRPr lang="zh-CN" altLang="en-US" sz="2000">
              <a:solidFill>
                <a:srgbClr val="333399"/>
              </a:solidFill>
              <a:latin typeface="微软雅黑" panose="020B0503020204020204" pitchFamily="34" charset="-122"/>
              <a:ea typeface="微软雅黑" panose="020B0503020204020204" pitchFamily="34" charset="-122"/>
            </a:endParaRPr>
          </a:p>
        </p:txBody>
      </p:sp>
      <p:sp>
        <p:nvSpPr>
          <p:cNvPr id="41" name="文本框 151595"/>
          <p:cNvSpPr txBox="1">
            <a:spLocks noChangeArrowheads="1"/>
          </p:cNvSpPr>
          <p:nvPr/>
        </p:nvSpPr>
        <p:spPr bwMode="auto">
          <a:xfrm>
            <a:off x="8968106" y="2539469"/>
            <a:ext cx="11897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rPr>
              <a:t>3</a:t>
            </a:r>
            <a:endParaRPr lang="en-US" altLang="zh-CN" sz="2000">
              <a:solidFill>
                <a:srgbClr val="333399"/>
              </a:solidFill>
              <a:latin typeface="微软雅黑" panose="020B0503020204020204" pitchFamily="34" charset="-122"/>
              <a:ea typeface="微软雅黑" panose="020B0503020204020204" pitchFamily="34" charset="-122"/>
            </a:endParaRPr>
          </a:p>
        </p:txBody>
      </p:sp>
      <p:grpSp>
        <p:nvGrpSpPr>
          <p:cNvPr id="42" name="组合 151596"/>
          <p:cNvGrpSpPr/>
          <p:nvPr/>
        </p:nvGrpSpPr>
        <p:grpSpPr bwMode="auto">
          <a:xfrm>
            <a:off x="5835970" y="5880149"/>
            <a:ext cx="1028701" cy="400392"/>
            <a:chOff x="349" y="127"/>
            <a:chExt cx="648" cy="262"/>
          </a:xfrm>
        </p:grpSpPr>
        <p:sp>
          <p:nvSpPr>
            <p:cNvPr id="43" name="文本框 151598"/>
            <p:cNvSpPr txBox="1">
              <a:spLocks noChangeArrowheads="1"/>
            </p:cNvSpPr>
            <p:nvPr/>
          </p:nvSpPr>
          <p:spPr bwMode="auto">
            <a:xfrm>
              <a:off x="349" y="127"/>
              <a:ext cx="64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微软雅黑" panose="020B0503020204020204" pitchFamily="34" charset="-122"/>
                  <a:ea typeface="微软雅黑" panose="020B0503020204020204" pitchFamily="34" charset="-122"/>
                </a:rPr>
                <a:t>IP </a:t>
              </a:r>
              <a:r>
                <a:rPr lang="zh-CN" altLang="en-US" sz="2000" dirty="0">
                  <a:solidFill>
                    <a:srgbClr val="333399"/>
                  </a:solidFill>
                  <a:latin typeface="微软雅黑" panose="020B0503020204020204" pitchFamily="34" charset="-122"/>
                  <a:ea typeface="微软雅黑" panose="020B0503020204020204" pitchFamily="34" charset="-122"/>
                </a:rPr>
                <a:t>网络</a:t>
              </a:r>
              <a:endParaRPr lang="zh-CN" altLang="en-US" sz="2000" dirty="0">
                <a:solidFill>
                  <a:srgbClr val="333399"/>
                </a:solidFill>
                <a:latin typeface="微软雅黑" panose="020B0503020204020204" pitchFamily="34" charset="-122"/>
                <a:ea typeface="微软雅黑" panose="020B0503020204020204" pitchFamily="34" charset="-122"/>
              </a:endParaRPr>
            </a:p>
          </p:txBody>
        </p:sp>
      </p:grpSp>
      <p:sp>
        <p:nvSpPr>
          <p:cNvPr id="44" name="直接连接符 151599"/>
          <p:cNvSpPr>
            <a:spLocks noChangeShapeType="1"/>
          </p:cNvSpPr>
          <p:nvPr/>
        </p:nvSpPr>
        <p:spPr bwMode="auto">
          <a:xfrm flipV="1">
            <a:off x="7563168" y="3588437"/>
            <a:ext cx="784225" cy="0"/>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直接连接符 151600"/>
          <p:cNvSpPr>
            <a:spLocks noChangeShapeType="1"/>
          </p:cNvSpPr>
          <p:nvPr/>
        </p:nvSpPr>
        <p:spPr bwMode="auto">
          <a:xfrm>
            <a:off x="4156393" y="3566430"/>
            <a:ext cx="895350" cy="10698"/>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6" name="椭圆 151602"/>
          <p:cNvSpPr>
            <a:spLocks noChangeArrowheads="1"/>
          </p:cNvSpPr>
          <p:nvPr/>
        </p:nvSpPr>
        <p:spPr bwMode="auto">
          <a:xfrm>
            <a:off x="8346758" y="3346367"/>
            <a:ext cx="2210435" cy="470691"/>
          </a:xfrm>
          <a:prstGeom prst="ellipse">
            <a:avLst/>
          </a:prstGeom>
        </p:spPr>
        <p:style>
          <a:lnRef idx="2">
            <a:schemeClr val="dk1"/>
          </a:lnRef>
          <a:fillRef idx="1">
            <a:schemeClr val="lt1"/>
          </a:fillRef>
          <a:effectRef idx="0">
            <a:schemeClr val="dk1"/>
          </a:effectRef>
          <a:fontRef idx="minor">
            <a:schemeClr val="dk1"/>
          </a:fontRef>
        </p:style>
        <p:txBody>
          <a:bodyPr wrap="none" anchor="ctr"/>
          <a:lstStyle/>
          <a:p>
            <a:pPr algn="ctr"/>
            <a:r>
              <a:rPr lang="zh-CN" altLang="en-US" dirty="0">
                <a:solidFill>
                  <a:srgbClr val="FF0000"/>
                </a:solidFill>
                <a:latin typeface="微软雅黑" panose="020B0503020204020204" pitchFamily="34" charset="-122"/>
                <a:ea typeface="微软雅黑" panose="020B0503020204020204" pitchFamily="34" charset="-122"/>
              </a:rPr>
              <a:t>服务器</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客户</a:t>
            </a:r>
            <a:r>
              <a:rPr lang="en-US" altLang="zh-CN" dirty="0">
                <a:solidFill>
                  <a:srgbClr val="FF0000"/>
                </a:solidFill>
                <a:latin typeface="微软雅黑" panose="020B0503020204020204" pitchFamily="34" charset="-122"/>
                <a:ea typeface="微软雅黑" panose="020B0503020204020204" pitchFamily="34" charset="-122"/>
              </a:rPr>
              <a:t>3</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47" name="直接连接符 151604"/>
          <p:cNvSpPr>
            <a:spLocks noChangeShapeType="1"/>
          </p:cNvSpPr>
          <p:nvPr/>
        </p:nvSpPr>
        <p:spPr bwMode="auto">
          <a:xfrm>
            <a:off x="9471343" y="3786493"/>
            <a:ext cx="0" cy="19102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直接连接符 151604"/>
          <p:cNvSpPr>
            <a:spLocks noChangeShapeType="1"/>
          </p:cNvSpPr>
          <p:nvPr/>
        </p:nvSpPr>
        <p:spPr bwMode="auto">
          <a:xfrm flipH="1">
            <a:off x="6261904" y="3786493"/>
            <a:ext cx="0" cy="182853"/>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9" name="椭圆 151580"/>
          <p:cNvSpPr>
            <a:spLocks noChangeArrowheads="1"/>
          </p:cNvSpPr>
          <p:nvPr/>
        </p:nvSpPr>
        <p:spPr bwMode="auto">
          <a:xfrm>
            <a:off x="5051425" y="3352791"/>
            <a:ext cx="2511425" cy="470691"/>
          </a:xfrm>
          <a:prstGeom prst="ellipse">
            <a:avLst/>
          </a:prstGeom>
        </p:spPr>
        <p:style>
          <a:lnRef idx="2">
            <a:schemeClr val="dk1"/>
          </a:lnRef>
          <a:fillRef idx="1">
            <a:schemeClr val="lt1"/>
          </a:fillRef>
          <a:effectRef idx="0">
            <a:schemeClr val="dk1"/>
          </a:effectRef>
          <a:fontRef idx="minor">
            <a:schemeClr val="dk1"/>
          </a:fontRef>
        </p:style>
        <p:txBody>
          <a:bodyPr wrap="none" anchor="ctr"/>
          <a:lstStyle/>
          <a:p>
            <a:pPr algn="ctr"/>
            <a:r>
              <a:rPr lang="zh-CN" altLang="en-US" dirty="0">
                <a:solidFill>
                  <a:srgbClr val="FF0000"/>
                </a:solidFill>
                <a:latin typeface="微软雅黑" panose="020B0503020204020204" pitchFamily="34" charset="-122"/>
                <a:ea typeface="微软雅黑" panose="020B0503020204020204" pitchFamily="34" charset="-122"/>
              </a:rPr>
              <a:t>服务器</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客户 </a:t>
            </a:r>
            <a:r>
              <a:rPr lang="en-US" altLang="zh-CN" dirty="0">
                <a:solidFill>
                  <a:srgbClr val="FF0000"/>
                </a:solidFill>
                <a:latin typeface="微软雅黑" panose="020B0503020204020204" pitchFamily="34" charset="-122"/>
                <a:ea typeface="微软雅黑" panose="020B0503020204020204" pitchFamily="34" charset="-122"/>
              </a:rPr>
              <a:t>2</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50" name="直接连接符 151554"/>
          <p:cNvSpPr>
            <a:spLocks noChangeShapeType="1"/>
          </p:cNvSpPr>
          <p:nvPr/>
        </p:nvSpPr>
        <p:spPr bwMode="auto">
          <a:xfrm>
            <a:off x="3172784" y="5542414"/>
            <a:ext cx="0" cy="313284"/>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1" name="直接连接符 151554"/>
          <p:cNvSpPr>
            <a:spLocks noChangeShapeType="1"/>
          </p:cNvSpPr>
          <p:nvPr/>
        </p:nvSpPr>
        <p:spPr bwMode="auto">
          <a:xfrm>
            <a:off x="9567546" y="5542414"/>
            <a:ext cx="0" cy="313284"/>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sz="3200" dirty="0">
                <a:sym typeface="+mn-ea"/>
              </a:rPr>
              <a:t>服务器进程工作方式</a:t>
            </a:r>
            <a:endParaRPr lang="zh-CN" altLang="en-US" sz="3200" dirty="0"/>
          </a:p>
        </p:txBody>
      </p:sp>
      <p:sp>
        <p:nvSpPr>
          <p:cNvPr id="5" name="内容占位符 4"/>
          <p:cNvSpPr>
            <a:spLocks noGrp="1"/>
          </p:cNvSpPr>
          <p:nvPr>
            <p:ph idx="1"/>
          </p:nvPr>
        </p:nvSpPr>
        <p:spPr/>
        <p:txBody>
          <a:bodyPr/>
          <a:lstStyle/>
          <a:p>
            <a:r>
              <a:rPr lang="zh-CN" altLang="en-US" dirty="0"/>
              <a:t>服务器上的进程有两种工作方式</a:t>
            </a:r>
            <a:endParaRPr lang="zh-CN" altLang="en-US" dirty="0"/>
          </a:p>
          <a:p>
            <a:r>
              <a:rPr lang="zh-CN" altLang="en-US" dirty="0"/>
              <a:t>循环方式</a:t>
            </a:r>
            <a:r>
              <a:rPr lang="en-US" altLang="zh-CN" dirty="0"/>
              <a:t>(iterative mode)</a:t>
            </a:r>
            <a:endParaRPr lang="en-US" altLang="zh-CN" dirty="0"/>
          </a:p>
          <a:p>
            <a:pPr lvl="1"/>
            <a:r>
              <a:rPr lang="zh-CN" altLang="en-US" dirty="0"/>
              <a:t>一次只运行一个服务进程</a:t>
            </a:r>
            <a:endParaRPr lang="zh-CN" altLang="en-US" dirty="0"/>
          </a:p>
          <a:p>
            <a:pPr lvl="1"/>
            <a:r>
              <a:rPr lang="zh-CN" altLang="en-US" dirty="0"/>
              <a:t>当有多个客户进程请求服务时，服务进程就按请求的先后顺序依次做出响应 </a:t>
            </a:r>
            <a:r>
              <a:rPr lang="en-US" altLang="zh-CN" dirty="0"/>
              <a:t>(</a:t>
            </a:r>
            <a:r>
              <a:rPr lang="zh-CN" altLang="en-US" dirty="0"/>
              <a:t>阻塞方式</a:t>
            </a:r>
            <a:r>
              <a:rPr lang="en-US" altLang="zh-CN" dirty="0"/>
              <a:t>)</a:t>
            </a:r>
            <a:endParaRPr lang="en-US" altLang="zh-CN" dirty="0"/>
          </a:p>
          <a:p>
            <a:r>
              <a:rPr lang="zh-CN" altLang="en-US" dirty="0"/>
              <a:t>并发方式</a:t>
            </a:r>
            <a:r>
              <a:rPr lang="en-US" altLang="zh-CN" dirty="0"/>
              <a:t>(concurrent mode)</a:t>
            </a:r>
            <a:endParaRPr lang="en-US" altLang="zh-CN" dirty="0"/>
          </a:p>
          <a:p>
            <a:pPr lvl="1"/>
            <a:r>
              <a:rPr lang="zh-CN" altLang="en-US" dirty="0"/>
              <a:t>可以同时运行多个服务进程</a:t>
            </a:r>
            <a:endParaRPr lang="zh-CN" altLang="en-US" dirty="0"/>
          </a:p>
          <a:p>
            <a:pPr lvl="1"/>
            <a:r>
              <a:rPr lang="zh-CN" altLang="en-US" dirty="0"/>
              <a:t>每一个服务进程都对某个特定的客户进程做出响应 </a:t>
            </a:r>
            <a:r>
              <a:rPr lang="en-US" altLang="zh-CN" dirty="0"/>
              <a:t>(</a:t>
            </a:r>
            <a:r>
              <a:rPr lang="zh-CN" altLang="en-US" dirty="0"/>
              <a:t>非阻塞方式</a:t>
            </a:r>
            <a:r>
              <a:rPr lang="en-US" altLang="zh-CN" dirty="0"/>
              <a:t>)</a:t>
            </a:r>
            <a:endParaRPr lang="en-US" altLang="zh-CN" dirty="0"/>
          </a:p>
          <a:p>
            <a:endParaRPr lang="zh-CN" altLang="en-US" dirty="0"/>
          </a:p>
        </p:txBody>
      </p:sp>
      <p:sp>
        <p:nvSpPr>
          <p:cNvPr id="6" name="灯片编号占位符 5"/>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ym typeface="+mn-ea"/>
              </a:rPr>
              <a:t>无连接</a:t>
            </a:r>
            <a:r>
              <a:rPr kumimoji="1" lang="zh-CN" altLang="en-US" sz="3200" dirty="0">
                <a:sym typeface="+mn-ea"/>
              </a:rPr>
              <a:t>循环方式</a:t>
            </a:r>
            <a:r>
              <a:rPr lang="zh-CN" altLang="en-US" sz="3200" dirty="0">
                <a:sym typeface="+mn-ea"/>
              </a:rPr>
              <a:t>服务</a:t>
            </a:r>
            <a:endParaRPr lang="zh-CN" altLang="en-US" dirty="0"/>
          </a:p>
        </p:txBody>
      </p:sp>
      <p:sp>
        <p:nvSpPr>
          <p:cNvPr id="3" name="内容占位符 2"/>
          <p:cNvSpPr>
            <a:spLocks noGrp="1"/>
          </p:cNvSpPr>
          <p:nvPr>
            <p:ph idx="1"/>
          </p:nvPr>
        </p:nvSpPr>
        <p:spPr/>
        <p:txBody>
          <a:bodyPr/>
          <a:lstStyle/>
          <a:p>
            <a:r>
              <a:rPr lang="zh-CN" altLang="en-US" dirty="0"/>
              <a:t>使用无连接的</a:t>
            </a:r>
            <a:r>
              <a:rPr lang="en-US" altLang="zh-CN" dirty="0"/>
              <a:t>UDP</a:t>
            </a:r>
            <a:r>
              <a:rPr lang="zh-CN" altLang="en-US" dirty="0"/>
              <a:t>服务进程通常都工作在循环方式，即一个服务进程在同一时间只能向一个客户进程提供服务。</a:t>
            </a:r>
            <a:r>
              <a:rPr lang="en-US" altLang="zh-CN" dirty="0"/>
              <a:t>(</a:t>
            </a:r>
            <a:r>
              <a:rPr lang="zh-CN" altLang="en-US" dirty="0"/>
              <a:t>顺序服务</a:t>
            </a:r>
            <a:r>
              <a:rPr lang="en-US" altLang="zh-CN" dirty="0"/>
              <a:t>)</a:t>
            </a:r>
            <a:endParaRPr lang="en-US" altLang="zh-CN" dirty="0"/>
          </a:p>
          <a:p>
            <a:r>
              <a:rPr lang="zh-CN" altLang="en-US" dirty="0"/>
              <a:t>服务进程只使用一个服务套接字。每个客户则使用自己设定端口号的客户套接字</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1547547" y="2606837"/>
            <a:ext cx="9096906" cy="3882864"/>
            <a:chOff x="1547547" y="2300249"/>
            <a:chExt cx="9096906" cy="3882864"/>
          </a:xfrm>
        </p:grpSpPr>
        <p:sp>
          <p:nvSpPr>
            <p:cNvPr id="6" name="文本框 167945"/>
            <p:cNvSpPr txBox="1">
              <a:spLocks noChangeArrowheads="1"/>
            </p:cNvSpPr>
            <p:nvPr/>
          </p:nvSpPr>
          <p:spPr bwMode="auto">
            <a:xfrm>
              <a:off x="5759185" y="2300249"/>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微软雅黑 Light" panose="020B0502040204020203" pitchFamily="34" charset="-122"/>
                  <a:ea typeface="微软雅黑 Light" panose="020B0502040204020203" pitchFamily="34" charset="-122"/>
                </a:rPr>
                <a:t>客户进程</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sp>
          <p:nvSpPr>
            <p:cNvPr id="7" name="文本框 167960"/>
            <p:cNvSpPr txBox="1">
              <a:spLocks noChangeArrowheads="1"/>
            </p:cNvSpPr>
            <p:nvPr/>
          </p:nvSpPr>
          <p:spPr bwMode="auto">
            <a:xfrm>
              <a:off x="1547547" y="5092662"/>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Light" panose="020B0502040204020203" pitchFamily="34" charset="-122"/>
                  <a:ea typeface="微软雅黑 Light" panose="020B0502040204020203" pitchFamily="34" charset="-122"/>
                </a:rPr>
                <a:t>客户套接字</a:t>
              </a:r>
              <a:endParaRPr lang="zh-CN" altLang="en-US" sz="2000">
                <a:solidFill>
                  <a:schemeClr val="tx1"/>
                </a:solidFill>
                <a:latin typeface="微软雅黑 Light" panose="020B0502040204020203" pitchFamily="34" charset="-122"/>
                <a:ea typeface="微软雅黑 Light" panose="020B0502040204020203" pitchFamily="34" charset="-122"/>
              </a:endParaRPr>
            </a:p>
          </p:txBody>
        </p:sp>
        <p:sp>
          <p:nvSpPr>
            <p:cNvPr id="8" name="矩形 167938"/>
            <p:cNvSpPr>
              <a:spLocks noChangeArrowheads="1"/>
            </p:cNvSpPr>
            <p:nvPr/>
          </p:nvSpPr>
          <p:spPr bwMode="auto">
            <a:xfrm>
              <a:off x="8691659" y="3868221"/>
              <a:ext cx="1752600" cy="990600"/>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9" name="文本框 167939"/>
            <p:cNvSpPr txBox="1">
              <a:spLocks noChangeArrowheads="1"/>
            </p:cNvSpPr>
            <p:nvPr/>
          </p:nvSpPr>
          <p:spPr bwMode="auto">
            <a:xfrm>
              <a:off x="8691659" y="4471471"/>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Light" panose="020B0502040204020203" pitchFamily="34" charset="-122"/>
                  <a:ea typeface="微软雅黑 Light" panose="020B0502040204020203" pitchFamily="34" charset="-122"/>
                </a:rPr>
                <a:t>UDP</a:t>
              </a:r>
              <a:endParaRPr lang="en-US" altLang="zh-CN" sz="2000">
                <a:solidFill>
                  <a:schemeClr val="tx1"/>
                </a:solidFill>
                <a:latin typeface="微软雅黑 Light" panose="020B0502040204020203" pitchFamily="34" charset="-122"/>
                <a:ea typeface="微软雅黑 Light" panose="020B0502040204020203" pitchFamily="34" charset="-122"/>
              </a:endParaRPr>
            </a:p>
          </p:txBody>
        </p:sp>
        <p:sp>
          <p:nvSpPr>
            <p:cNvPr id="10" name="文本框 167941"/>
            <p:cNvSpPr txBox="1">
              <a:spLocks noChangeArrowheads="1"/>
            </p:cNvSpPr>
            <p:nvPr/>
          </p:nvSpPr>
          <p:spPr bwMode="auto">
            <a:xfrm>
              <a:off x="8783734" y="258075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微软雅黑 Light" panose="020B0502040204020203" pitchFamily="34" charset="-122"/>
                  <a:ea typeface="微软雅黑 Light" panose="020B0502040204020203" pitchFamily="34" charset="-122"/>
                </a:rPr>
                <a:t>服务进程</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sp>
          <p:nvSpPr>
            <p:cNvPr id="11" name="矩形 167942"/>
            <p:cNvSpPr>
              <a:spLocks noChangeArrowheads="1"/>
            </p:cNvSpPr>
            <p:nvPr/>
          </p:nvSpPr>
          <p:spPr bwMode="auto">
            <a:xfrm>
              <a:off x="5802409" y="3539608"/>
              <a:ext cx="1524000" cy="709613"/>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12" name="文本框 167943"/>
            <p:cNvSpPr txBox="1">
              <a:spLocks noChangeArrowheads="1"/>
            </p:cNvSpPr>
            <p:nvPr/>
          </p:nvSpPr>
          <p:spPr bwMode="auto">
            <a:xfrm>
              <a:off x="5802409" y="3876158"/>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Light" panose="020B0502040204020203" pitchFamily="34" charset="-122"/>
                  <a:ea typeface="微软雅黑 Light" panose="020B0502040204020203" pitchFamily="34" charset="-122"/>
                </a:rPr>
                <a:t>UDP</a:t>
              </a:r>
              <a:endParaRPr lang="en-US" altLang="zh-CN" sz="2000">
                <a:solidFill>
                  <a:schemeClr val="tx1"/>
                </a:solidFill>
                <a:latin typeface="微软雅黑 Light" panose="020B0502040204020203" pitchFamily="34" charset="-122"/>
                <a:ea typeface="微软雅黑 Light" panose="020B0502040204020203" pitchFamily="34" charset="-122"/>
              </a:endParaRPr>
            </a:p>
          </p:txBody>
        </p:sp>
        <p:sp>
          <p:nvSpPr>
            <p:cNvPr id="13" name="直接连接符 167946"/>
            <p:cNvSpPr>
              <a:spLocks noChangeShapeType="1"/>
            </p:cNvSpPr>
            <p:nvPr/>
          </p:nvSpPr>
          <p:spPr bwMode="auto">
            <a:xfrm>
              <a:off x="6559189" y="3255646"/>
              <a:ext cx="0" cy="16920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4" name="文本框 167947"/>
            <p:cNvSpPr txBox="1">
              <a:spLocks noChangeArrowheads="1"/>
            </p:cNvSpPr>
            <p:nvPr/>
          </p:nvSpPr>
          <p:spPr bwMode="auto">
            <a:xfrm>
              <a:off x="5040409" y="3157021"/>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Light" panose="020B0502040204020203" pitchFamily="34" charset="-122"/>
                  <a:ea typeface="微软雅黑 Light" panose="020B0502040204020203" pitchFamily="34" charset="-122"/>
                </a:rPr>
                <a:t>客户套接字</a:t>
              </a:r>
              <a:endParaRPr lang="zh-CN" altLang="en-US" sz="2000">
                <a:solidFill>
                  <a:schemeClr val="tx1"/>
                </a:solidFill>
                <a:latin typeface="微软雅黑 Light" panose="020B0502040204020203" pitchFamily="34" charset="-122"/>
                <a:ea typeface="微软雅黑 Light" panose="020B0502040204020203" pitchFamily="34" charset="-122"/>
              </a:endParaRPr>
            </a:p>
          </p:txBody>
        </p:sp>
        <p:sp>
          <p:nvSpPr>
            <p:cNvPr id="15" name="文本框 167948"/>
            <p:cNvSpPr txBox="1">
              <a:spLocks noChangeArrowheads="1"/>
            </p:cNvSpPr>
            <p:nvPr/>
          </p:nvSpPr>
          <p:spPr bwMode="auto">
            <a:xfrm>
              <a:off x="9690346" y="3227100"/>
              <a:ext cx="95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tx1"/>
                  </a:solidFill>
                  <a:latin typeface="微软雅黑 Light" panose="020B0502040204020203" pitchFamily="34" charset="-122"/>
                  <a:ea typeface="微软雅黑 Light" panose="020B0502040204020203" pitchFamily="34" charset="-122"/>
                </a:rPr>
                <a:t>服务</a:t>
              </a:r>
              <a:endParaRPr lang="zh-CN" altLang="en-US" sz="2000" dirty="0">
                <a:solidFill>
                  <a:schemeClr val="tx1"/>
                </a:solidFill>
                <a:latin typeface="微软雅黑 Light" panose="020B0502040204020203" pitchFamily="34" charset="-122"/>
                <a:ea typeface="微软雅黑 Light" panose="020B0502040204020203" pitchFamily="34" charset="-122"/>
              </a:endParaRPr>
            </a:p>
            <a:p>
              <a:r>
                <a:rPr lang="zh-CN" altLang="en-US" sz="2000" dirty="0">
                  <a:solidFill>
                    <a:schemeClr val="tx1"/>
                  </a:solidFill>
                  <a:latin typeface="微软雅黑 Light" panose="020B0502040204020203" pitchFamily="34" charset="-122"/>
                  <a:ea typeface="微软雅黑 Light" panose="020B0502040204020203" pitchFamily="34" charset="-122"/>
                </a:rPr>
                <a:t>套接字</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sp>
          <p:nvSpPr>
            <p:cNvPr id="16" name="矩形 167949"/>
            <p:cNvSpPr>
              <a:spLocks noChangeArrowheads="1"/>
            </p:cNvSpPr>
            <p:nvPr/>
          </p:nvSpPr>
          <p:spPr bwMode="auto">
            <a:xfrm>
              <a:off x="4235547" y="4534971"/>
              <a:ext cx="1524000" cy="709612"/>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17" name="文本框 167950"/>
            <p:cNvSpPr txBox="1">
              <a:spLocks noChangeArrowheads="1"/>
            </p:cNvSpPr>
            <p:nvPr/>
          </p:nvSpPr>
          <p:spPr bwMode="auto">
            <a:xfrm>
              <a:off x="4245072" y="4884221"/>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Light" panose="020B0502040204020203" pitchFamily="34" charset="-122"/>
                  <a:ea typeface="微软雅黑 Light" panose="020B0502040204020203" pitchFamily="34" charset="-122"/>
                </a:rPr>
                <a:t>UDP</a:t>
              </a:r>
              <a:endParaRPr lang="en-US" altLang="zh-CN" sz="2000">
                <a:solidFill>
                  <a:schemeClr val="tx1"/>
                </a:solidFill>
                <a:latin typeface="微软雅黑 Light" panose="020B0502040204020203" pitchFamily="34" charset="-122"/>
                <a:ea typeface="微软雅黑 Light" panose="020B0502040204020203" pitchFamily="34" charset="-122"/>
              </a:endParaRPr>
            </a:p>
          </p:txBody>
        </p:sp>
        <p:sp>
          <p:nvSpPr>
            <p:cNvPr id="18" name="文本框 167952"/>
            <p:cNvSpPr txBox="1">
              <a:spLocks noChangeArrowheads="1"/>
            </p:cNvSpPr>
            <p:nvPr/>
          </p:nvSpPr>
          <p:spPr bwMode="auto">
            <a:xfrm>
              <a:off x="3668809" y="3299896"/>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Light" panose="020B0502040204020203" pitchFamily="34" charset="-122"/>
                  <a:ea typeface="微软雅黑 Light" panose="020B0502040204020203" pitchFamily="34" charset="-122"/>
                </a:rPr>
                <a:t>客户进程</a:t>
              </a:r>
              <a:endParaRPr lang="zh-CN" altLang="en-US" sz="2000">
                <a:solidFill>
                  <a:schemeClr val="tx1"/>
                </a:solidFill>
                <a:latin typeface="微软雅黑 Light" panose="020B0502040204020203" pitchFamily="34" charset="-122"/>
                <a:ea typeface="微软雅黑 Light" panose="020B0502040204020203" pitchFamily="34" charset="-122"/>
              </a:endParaRPr>
            </a:p>
          </p:txBody>
        </p:sp>
        <p:sp>
          <p:nvSpPr>
            <p:cNvPr id="19" name="直接连接符 167953"/>
            <p:cNvSpPr>
              <a:spLocks noChangeShapeType="1"/>
            </p:cNvSpPr>
            <p:nvPr/>
          </p:nvSpPr>
          <p:spPr bwMode="auto">
            <a:xfrm flipH="1">
              <a:off x="4996607" y="4239494"/>
              <a:ext cx="0" cy="19705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0" name="文本框 167954"/>
            <p:cNvSpPr txBox="1">
              <a:spLocks noChangeArrowheads="1"/>
            </p:cNvSpPr>
            <p:nvPr/>
          </p:nvSpPr>
          <p:spPr bwMode="auto">
            <a:xfrm>
              <a:off x="3539394" y="4141788"/>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微软雅黑 Light" panose="020B0502040204020203" pitchFamily="34" charset="-122"/>
                  <a:ea typeface="微软雅黑 Light" panose="020B0502040204020203" pitchFamily="34" charset="-122"/>
                </a:rPr>
                <a:t>客户套接字</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sp>
          <p:nvSpPr>
            <p:cNvPr id="21" name="矩形 167955"/>
            <p:cNvSpPr>
              <a:spLocks noChangeArrowheads="1"/>
            </p:cNvSpPr>
            <p:nvPr/>
          </p:nvSpPr>
          <p:spPr bwMode="auto">
            <a:xfrm>
              <a:off x="2435322" y="5471596"/>
              <a:ext cx="1524000" cy="709612"/>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22" name="文本框 167956"/>
            <p:cNvSpPr txBox="1">
              <a:spLocks noChangeArrowheads="1"/>
            </p:cNvSpPr>
            <p:nvPr/>
          </p:nvSpPr>
          <p:spPr bwMode="auto">
            <a:xfrm>
              <a:off x="2435322" y="5784333"/>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微软雅黑 Light" panose="020B0502040204020203" pitchFamily="34" charset="-122"/>
                  <a:ea typeface="微软雅黑 Light" panose="020B0502040204020203" pitchFamily="34" charset="-122"/>
                </a:rPr>
                <a:t>UDP</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
          <p:nvSpPr>
            <p:cNvPr id="23" name="文本框 167958"/>
            <p:cNvSpPr txBox="1">
              <a:spLocks noChangeArrowheads="1"/>
            </p:cNvSpPr>
            <p:nvPr/>
          </p:nvSpPr>
          <p:spPr bwMode="auto">
            <a:xfrm>
              <a:off x="2144809" y="4236521"/>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Light" panose="020B0502040204020203" pitchFamily="34" charset="-122"/>
                  <a:ea typeface="微软雅黑 Light" panose="020B0502040204020203" pitchFamily="34" charset="-122"/>
                </a:rPr>
                <a:t>客户进程</a:t>
              </a:r>
              <a:endParaRPr lang="zh-CN" altLang="en-US" sz="2000">
                <a:solidFill>
                  <a:schemeClr val="tx1"/>
                </a:solidFill>
                <a:latin typeface="微软雅黑 Light" panose="020B0502040204020203" pitchFamily="34" charset="-122"/>
                <a:ea typeface="微软雅黑 Light" panose="020B0502040204020203" pitchFamily="34" charset="-122"/>
              </a:endParaRPr>
            </a:p>
          </p:txBody>
        </p:sp>
        <p:sp>
          <p:nvSpPr>
            <p:cNvPr id="24" name="直接连接符 167959"/>
            <p:cNvSpPr>
              <a:spLocks noChangeShapeType="1"/>
            </p:cNvSpPr>
            <p:nvPr/>
          </p:nvSpPr>
          <p:spPr bwMode="auto">
            <a:xfrm flipH="1">
              <a:off x="3194147" y="5174733"/>
              <a:ext cx="0" cy="1984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5" name="任意多边形 167961"/>
            <p:cNvSpPr>
              <a:spLocks noChangeArrowheads="1"/>
            </p:cNvSpPr>
            <p:nvPr/>
          </p:nvSpPr>
          <p:spPr bwMode="auto">
            <a:xfrm>
              <a:off x="6564409" y="3649146"/>
              <a:ext cx="2566988" cy="512762"/>
            </a:xfrm>
            <a:custGeom>
              <a:avLst/>
              <a:gdLst>
                <a:gd name="T0" fmla="*/ 0 w 1617"/>
                <a:gd name="T1" fmla="*/ 0 h 323"/>
                <a:gd name="T2" fmla="*/ 0 w 1617"/>
                <a:gd name="T3" fmla="*/ 120 h 323"/>
                <a:gd name="T4" fmla="*/ 1617 w 1617"/>
                <a:gd name="T5" fmla="*/ 323 h 323"/>
              </a:gdLst>
              <a:ahLst/>
              <a:cxnLst>
                <a:cxn ang="0">
                  <a:pos x="T0" y="T1"/>
                </a:cxn>
                <a:cxn ang="0">
                  <a:pos x="T2" y="T3"/>
                </a:cxn>
                <a:cxn ang="0">
                  <a:pos x="T4" y="T5"/>
                </a:cxn>
              </a:cxnLst>
              <a:rect l="0" t="0" r="r" b="b"/>
              <a:pathLst>
                <a:path w="1617" h="323">
                  <a:moveTo>
                    <a:pt x="0" y="0"/>
                  </a:moveTo>
                  <a:lnTo>
                    <a:pt x="0" y="120"/>
                  </a:lnTo>
                  <a:lnTo>
                    <a:pt x="1617" y="323"/>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26" name="任意多边形 167962"/>
            <p:cNvSpPr>
              <a:spLocks noChangeArrowheads="1"/>
            </p:cNvSpPr>
            <p:nvPr/>
          </p:nvSpPr>
          <p:spPr bwMode="auto">
            <a:xfrm>
              <a:off x="4992784" y="4171433"/>
              <a:ext cx="4138613" cy="782638"/>
            </a:xfrm>
            <a:custGeom>
              <a:avLst/>
              <a:gdLst>
                <a:gd name="T0" fmla="*/ 0 w 2607"/>
                <a:gd name="T1" fmla="*/ 301 h 493"/>
                <a:gd name="T2" fmla="*/ 6 w 2607"/>
                <a:gd name="T3" fmla="*/ 493 h 493"/>
                <a:gd name="T4" fmla="*/ 2607 w 2607"/>
                <a:gd name="T5" fmla="*/ 0 h 493"/>
              </a:gdLst>
              <a:ahLst/>
              <a:cxnLst>
                <a:cxn ang="0">
                  <a:pos x="T0" y="T1"/>
                </a:cxn>
                <a:cxn ang="0">
                  <a:pos x="T2" y="T3"/>
                </a:cxn>
                <a:cxn ang="0">
                  <a:pos x="T4" y="T5"/>
                </a:cxn>
              </a:cxnLst>
              <a:rect l="0" t="0" r="r" b="b"/>
              <a:pathLst>
                <a:path w="2607" h="493">
                  <a:moveTo>
                    <a:pt x="0" y="301"/>
                  </a:moveTo>
                  <a:lnTo>
                    <a:pt x="6" y="493"/>
                  </a:lnTo>
                  <a:lnTo>
                    <a:pt x="2607"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27" name="任意多边形 167963"/>
            <p:cNvSpPr>
              <a:spLocks noChangeArrowheads="1"/>
            </p:cNvSpPr>
            <p:nvPr/>
          </p:nvSpPr>
          <p:spPr bwMode="auto">
            <a:xfrm>
              <a:off x="3183034" y="4185721"/>
              <a:ext cx="5962650" cy="1673225"/>
            </a:xfrm>
            <a:custGeom>
              <a:avLst/>
              <a:gdLst>
                <a:gd name="T0" fmla="*/ 6 w 3756"/>
                <a:gd name="T1" fmla="*/ 880 h 1054"/>
                <a:gd name="T2" fmla="*/ 0 w 3756"/>
                <a:gd name="T3" fmla="*/ 1054 h 1054"/>
                <a:gd name="T4" fmla="*/ 3756 w 3756"/>
                <a:gd name="T5" fmla="*/ 0 h 1054"/>
              </a:gdLst>
              <a:ahLst/>
              <a:cxnLst>
                <a:cxn ang="0">
                  <a:pos x="T0" y="T1"/>
                </a:cxn>
                <a:cxn ang="0">
                  <a:pos x="T2" y="T3"/>
                </a:cxn>
                <a:cxn ang="0">
                  <a:pos x="T4" y="T5"/>
                </a:cxn>
              </a:cxnLst>
              <a:rect l="0" t="0" r="r" b="b"/>
              <a:pathLst>
                <a:path w="3756" h="1054">
                  <a:moveTo>
                    <a:pt x="6" y="880"/>
                  </a:moveTo>
                  <a:lnTo>
                    <a:pt x="0" y="1054"/>
                  </a:lnTo>
                  <a:lnTo>
                    <a:pt x="3756"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28" name="任意多边形 167964"/>
            <p:cNvSpPr>
              <a:spLocks noChangeArrowheads="1"/>
            </p:cNvSpPr>
            <p:nvPr/>
          </p:nvSpPr>
          <p:spPr bwMode="auto">
            <a:xfrm>
              <a:off x="9155209" y="3506271"/>
              <a:ext cx="409575" cy="666750"/>
            </a:xfrm>
            <a:custGeom>
              <a:avLst/>
              <a:gdLst>
                <a:gd name="T0" fmla="*/ 0 w 258"/>
                <a:gd name="T1" fmla="*/ 420 h 420"/>
                <a:gd name="T2" fmla="*/ 252 w 258"/>
                <a:gd name="T3" fmla="*/ 420 h 420"/>
                <a:gd name="T4" fmla="*/ 258 w 258"/>
                <a:gd name="T5" fmla="*/ 0 h 420"/>
              </a:gdLst>
              <a:ahLst/>
              <a:cxnLst>
                <a:cxn ang="0">
                  <a:pos x="T0" y="T1"/>
                </a:cxn>
                <a:cxn ang="0">
                  <a:pos x="T2" y="T3"/>
                </a:cxn>
                <a:cxn ang="0">
                  <a:pos x="T4" y="T5"/>
                </a:cxn>
              </a:cxnLst>
              <a:rect l="0" t="0" r="r" b="b"/>
              <a:pathLst>
                <a:path w="258" h="420">
                  <a:moveTo>
                    <a:pt x="0" y="420"/>
                  </a:moveTo>
                  <a:lnTo>
                    <a:pt x="252" y="420"/>
                  </a:lnTo>
                  <a:lnTo>
                    <a:pt x="258"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29" name="圆角矩形标注 167965"/>
            <p:cNvSpPr>
              <a:spLocks noChangeArrowheads="1"/>
            </p:cNvSpPr>
            <p:nvPr/>
          </p:nvSpPr>
          <p:spPr bwMode="auto">
            <a:xfrm>
              <a:off x="7704234" y="2941121"/>
              <a:ext cx="1222375" cy="698500"/>
            </a:xfrm>
            <a:prstGeom prst="wedgeRoundRectCallout">
              <a:avLst>
                <a:gd name="adj1" fmla="val 67273"/>
                <a:gd name="adj2" fmla="val 1236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zh-CN" altLang="en-US" sz="1800" dirty="0">
                  <a:solidFill>
                    <a:schemeClr val="tx1"/>
                  </a:solidFill>
                  <a:latin typeface="微软雅黑 Light" panose="020B0502040204020203" pitchFamily="34" charset="-122"/>
                  <a:ea typeface="微软雅黑 Light" panose="020B0502040204020203" pitchFamily="34" charset="-122"/>
                </a:rPr>
                <a:t>一次一个</a:t>
              </a:r>
              <a:endParaRPr lang="zh-CN" altLang="en-US" sz="1800" dirty="0">
                <a:solidFill>
                  <a:schemeClr val="tx1"/>
                </a:solidFill>
                <a:latin typeface="微软雅黑 Light" panose="020B0502040204020203" pitchFamily="34" charset="-122"/>
                <a:ea typeface="微软雅黑 Light" panose="020B0502040204020203" pitchFamily="34" charset="-122"/>
              </a:endParaRPr>
            </a:p>
            <a:p>
              <a:pPr algn="ctr"/>
              <a:r>
                <a:rPr lang="zh-CN" altLang="en-US" sz="1800" dirty="0">
                  <a:solidFill>
                    <a:schemeClr val="tx1"/>
                  </a:solidFill>
                  <a:latin typeface="微软雅黑 Light" panose="020B0502040204020203" pitchFamily="34" charset="-122"/>
                  <a:ea typeface="微软雅黑 Light" panose="020B0502040204020203" pitchFamily="34" charset="-122"/>
                </a:rPr>
                <a:t>客户进程</a:t>
              </a:r>
              <a:endParaRPr lang="zh-CN" altLang="en-US" sz="1800" dirty="0">
                <a:solidFill>
                  <a:schemeClr val="tx1"/>
                </a:solidFill>
                <a:latin typeface="微软雅黑 Light" panose="020B0502040204020203" pitchFamily="34" charset="-122"/>
                <a:ea typeface="微软雅黑 Light" panose="020B0502040204020203" pitchFamily="34" charset="-122"/>
              </a:endParaRPr>
            </a:p>
            <a:p>
              <a:pPr algn="ctr"/>
              <a:endParaRPr lang="zh-CN" altLang="en-US" sz="1800" dirty="0">
                <a:solidFill>
                  <a:schemeClr val="tx1"/>
                </a:solidFill>
                <a:latin typeface="微软雅黑 Light" panose="020B0502040204020203" pitchFamily="34" charset="-122"/>
                <a:ea typeface="微软雅黑 Light" panose="020B0502040204020203" pitchFamily="34" charset="-122"/>
              </a:endParaRPr>
            </a:p>
          </p:txBody>
        </p:sp>
        <p:sp>
          <p:nvSpPr>
            <p:cNvPr id="31" name="矩形 167967"/>
            <p:cNvSpPr>
              <a:spLocks noChangeArrowheads="1"/>
            </p:cNvSpPr>
            <p:nvPr/>
          </p:nvSpPr>
          <p:spPr bwMode="auto">
            <a:xfrm>
              <a:off x="9456834" y="3715821"/>
              <a:ext cx="250825" cy="246062"/>
            </a:xfrm>
            <a:prstGeom prst="rect">
              <a:avLst/>
            </a:prstGeom>
            <a:solidFill>
              <a:schemeClr val="bg1"/>
            </a:solidFill>
            <a:ln w="28575">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32" name="矩形 167968"/>
            <p:cNvSpPr>
              <a:spLocks noChangeArrowheads="1"/>
            </p:cNvSpPr>
            <p:nvPr/>
          </p:nvSpPr>
          <p:spPr bwMode="auto">
            <a:xfrm>
              <a:off x="4884834" y="4425433"/>
              <a:ext cx="238125" cy="231775"/>
            </a:xfrm>
            <a:prstGeom prst="rect">
              <a:avLst/>
            </a:prstGeom>
            <a:solidFill>
              <a:schemeClr val="bg1"/>
            </a:solidFill>
            <a:ln w="19050">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33" name="矩形 167969"/>
            <p:cNvSpPr>
              <a:spLocks noChangeArrowheads="1"/>
            </p:cNvSpPr>
            <p:nvPr/>
          </p:nvSpPr>
          <p:spPr bwMode="auto">
            <a:xfrm>
              <a:off x="6438997" y="3404671"/>
              <a:ext cx="263525" cy="244475"/>
            </a:xfrm>
            <a:prstGeom prst="rect">
              <a:avLst/>
            </a:prstGeom>
            <a:solidFill>
              <a:schemeClr val="bg1"/>
            </a:solidFill>
            <a:ln w="19050">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34" name="矩形 167970"/>
            <p:cNvSpPr>
              <a:spLocks noChangeArrowheads="1"/>
            </p:cNvSpPr>
            <p:nvPr/>
          </p:nvSpPr>
          <p:spPr bwMode="auto">
            <a:xfrm>
              <a:off x="3071909" y="5362058"/>
              <a:ext cx="225425" cy="219075"/>
            </a:xfrm>
            <a:prstGeom prst="rect">
              <a:avLst/>
            </a:prstGeom>
            <a:solidFill>
              <a:schemeClr val="bg1"/>
            </a:solidFill>
            <a:ln w="19050">
              <a:solidFill>
                <a:srgbClr val="333399"/>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35" name="文本框 170003"/>
            <p:cNvSpPr txBox="1">
              <a:spLocks noChangeArrowheads="1"/>
            </p:cNvSpPr>
            <p:nvPr/>
          </p:nvSpPr>
          <p:spPr bwMode="auto">
            <a:xfrm>
              <a:off x="2867793" y="4354314"/>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36" name="文本框 170003"/>
            <p:cNvSpPr txBox="1">
              <a:spLocks noChangeArrowheads="1"/>
            </p:cNvSpPr>
            <p:nvPr/>
          </p:nvSpPr>
          <p:spPr bwMode="auto">
            <a:xfrm>
              <a:off x="4672394" y="3433249"/>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37" name="文本框 170003"/>
            <p:cNvSpPr txBox="1">
              <a:spLocks noChangeArrowheads="1"/>
            </p:cNvSpPr>
            <p:nvPr/>
          </p:nvSpPr>
          <p:spPr bwMode="auto">
            <a:xfrm>
              <a:off x="6218570" y="2479000"/>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38" name="文本框 170003"/>
            <p:cNvSpPr txBox="1">
              <a:spLocks noChangeArrowheads="1"/>
            </p:cNvSpPr>
            <p:nvPr/>
          </p:nvSpPr>
          <p:spPr bwMode="auto">
            <a:xfrm>
              <a:off x="9243436" y="2727126"/>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面向连接的并发方式服务</a:t>
            </a:r>
            <a:endParaRPr lang="zh-CN" altLang="en-US" dirty="0"/>
          </a:p>
        </p:txBody>
      </p:sp>
      <p:sp>
        <p:nvSpPr>
          <p:cNvPr id="3" name="内容占位符 2"/>
          <p:cNvSpPr>
            <a:spLocks noGrp="1"/>
          </p:cNvSpPr>
          <p:nvPr>
            <p:ph idx="1"/>
          </p:nvPr>
        </p:nvSpPr>
        <p:spPr>
          <a:xfrm>
            <a:off x="334434" y="1052514"/>
            <a:ext cx="5226277" cy="5437187"/>
          </a:xfrm>
        </p:spPr>
        <p:txBody>
          <a:bodyPr>
            <a:normAutofit lnSpcReduction="10000"/>
          </a:bodyPr>
          <a:lstStyle/>
          <a:p>
            <a:r>
              <a:rPr lang="zh-CN" altLang="en-US" dirty="0"/>
              <a:t>面向连接的</a:t>
            </a:r>
            <a:r>
              <a:rPr lang="en-US" altLang="zh-CN" dirty="0"/>
              <a:t>TCP</a:t>
            </a:r>
            <a:r>
              <a:rPr lang="zh-CN" altLang="en-US" dirty="0"/>
              <a:t>服务进程通常都工作在并发服务方式，服务进程在同一时间可同时向多个客户进程提供服务。</a:t>
            </a:r>
            <a:r>
              <a:rPr lang="en-US" altLang="zh-CN" dirty="0"/>
              <a:t>(</a:t>
            </a:r>
            <a:r>
              <a:rPr lang="zh-CN" altLang="en-US" dirty="0"/>
              <a:t>并发服务</a:t>
            </a:r>
            <a:r>
              <a:rPr lang="en-US" altLang="zh-CN" dirty="0"/>
              <a:t>)</a:t>
            </a:r>
            <a:endParaRPr lang="en-US" altLang="zh-CN" dirty="0"/>
          </a:p>
          <a:p>
            <a:r>
              <a:rPr lang="zh-CN" altLang="en-US" dirty="0"/>
              <a:t>在</a:t>
            </a:r>
            <a:r>
              <a:rPr lang="en-US" altLang="zh-CN" dirty="0"/>
              <a:t>TCP</a:t>
            </a:r>
            <a:r>
              <a:rPr lang="zh-CN" altLang="en-US" dirty="0"/>
              <a:t>服务进程与多个客户进程间需要建立多条</a:t>
            </a:r>
            <a:r>
              <a:rPr lang="en-US" altLang="zh-CN" dirty="0"/>
              <a:t>TCP</a:t>
            </a:r>
            <a:r>
              <a:rPr lang="zh-CN" altLang="en-US" dirty="0"/>
              <a:t>连接时，每条</a:t>
            </a:r>
            <a:r>
              <a:rPr lang="en-US" altLang="zh-CN" dirty="0"/>
              <a:t>TCP</a:t>
            </a:r>
            <a:r>
              <a:rPr lang="zh-CN" altLang="en-US" dirty="0"/>
              <a:t>连接在其数据传送完毕后释放</a:t>
            </a:r>
            <a:endParaRPr lang="zh-CN" altLang="en-US" dirty="0"/>
          </a:p>
          <a:p>
            <a:r>
              <a:rPr lang="zh-CN" altLang="en-US" dirty="0"/>
              <a:t>一个</a:t>
            </a:r>
            <a:r>
              <a:rPr lang="en-US" altLang="zh-CN" dirty="0"/>
              <a:t>TCP</a:t>
            </a:r>
            <a:r>
              <a:rPr lang="zh-CN" altLang="en-US" dirty="0"/>
              <a:t>连接对应一个（熟知）服务端口</a:t>
            </a:r>
            <a:endParaRPr lang="zh-CN" altLang="en-US" dirty="0"/>
          </a:p>
          <a:p>
            <a:r>
              <a:rPr lang="zh-CN" altLang="en-US" dirty="0"/>
              <a:t>主服务进程在熟知端口等待客户进程发出的请求</a:t>
            </a:r>
            <a:endParaRPr lang="en-US" altLang="zh-CN"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757961" y="1472595"/>
            <a:ext cx="6308304" cy="4542155"/>
            <a:chOff x="2060382" y="1559467"/>
            <a:chExt cx="6308304" cy="4542155"/>
          </a:xfrm>
        </p:grpSpPr>
        <p:sp>
          <p:nvSpPr>
            <p:cNvPr id="6" name="文本框 171012"/>
            <p:cNvSpPr txBox="1">
              <a:spLocks noChangeArrowheads="1"/>
            </p:cNvSpPr>
            <p:nvPr/>
          </p:nvSpPr>
          <p:spPr bwMode="auto">
            <a:xfrm>
              <a:off x="2240411" y="4857112"/>
              <a:ext cx="1534161" cy="1015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rPr>
                <a:t>接受连接请求</a:t>
              </a: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rPr>
                <a:t>的套接字</a:t>
              </a: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7" name="矩形 171013"/>
            <p:cNvSpPr>
              <a:spLocks noChangeArrowheads="1"/>
            </p:cNvSpPr>
            <p:nvPr/>
          </p:nvSpPr>
          <p:spPr bwMode="auto">
            <a:xfrm>
              <a:off x="2060382" y="1559467"/>
              <a:ext cx="5883040" cy="4542155"/>
            </a:xfrm>
            <a:prstGeom prst="rect">
              <a:avLst/>
            </a:prstGeom>
            <a:solidFill>
              <a:srgbClr val="CCECFF"/>
            </a:solidFill>
            <a:ln w="9525">
              <a:solidFill>
                <a:sysClr val="windowText" lastClr="000000"/>
              </a:solidFill>
              <a:miter lim="800000"/>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8" name="矩形 171014"/>
            <p:cNvSpPr>
              <a:spLocks noChangeArrowheads="1"/>
            </p:cNvSpPr>
            <p:nvPr/>
          </p:nvSpPr>
          <p:spPr bwMode="auto">
            <a:xfrm>
              <a:off x="2063513" y="4633777"/>
              <a:ext cx="1833166" cy="1460143"/>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9" name="椭圆 171015"/>
            <p:cNvSpPr>
              <a:spLocks noChangeArrowheads="1"/>
            </p:cNvSpPr>
            <p:nvPr/>
          </p:nvSpPr>
          <p:spPr bwMode="auto">
            <a:xfrm>
              <a:off x="2564463" y="2046181"/>
              <a:ext cx="840658" cy="811704"/>
            </a:xfrm>
            <a:prstGeom prst="ellipse">
              <a:avLst/>
            </a:prstGeom>
            <a:solidFill>
              <a:srgbClr val="FF99CC"/>
            </a:solidFill>
            <a:ln w="38100" cmpd="dbl">
              <a:solidFill>
                <a:sysClr val="windowText" lastClr="000000"/>
              </a:solid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M</a:t>
              </a:r>
              <a:endParaRPr kumimoji="0" lang="en-US" altLang="zh-CN" sz="32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10" name="椭圆 171016"/>
            <p:cNvSpPr>
              <a:spLocks noChangeArrowheads="1"/>
            </p:cNvSpPr>
            <p:nvPr/>
          </p:nvSpPr>
          <p:spPr bwMode="auto">
            <a:xfrm>
              <a:off x="4161244" y="3424692"/>
              <a:ext cx="588617" cy="568347"/>
            </a:xfrm>
            <a:prstGeom prst="ellipse">
              <a:avLst/>
            </a:prstGeom>
            <a:solidFill>
              <a:schemeClr val="accent1">
                <a:lumMod val="75000"/>
              </a:schemeClr>
            </a:solidFill>
            <a:ln w="9525">
              <a:solidFill>
                <a:srgbClr val="954F72"/>
              </a:solid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S</a:t>
              </a:r>
              <a:r>
                <a:rPr kumimoji="0" lang="en-US" altLang="zh-CN" sz="2800" b="0" i="0" u="none" strike="noStrike" kern="0" cap="none" spc="0" normalizeH="0" baseline="-25000" noProof="0" dirty="0">
                  <a:ln>
                    <a:noFill/>
                  </a:ln>
                  <a:effectLst/>
                  <a:uLnTx/>
                  <a:uFillTx/>
                  <a:latin typeface="微软雅黑 Light" panose="020B0502040204020203" pitchFamily="34" charset="-122"/>
                  <a:ea typeface="微软雅黑 Light" panose="020B0502040204020203" pitchFamily="34" charset="-122"/>
                </a:rPr>
                <a:t>1</a:t>
              </a:r>
              <a:endParaRPr kumimoji="0" lang="en-US" altLang="zh-CN" sz="2800" b="0" i="0" u="none" strike="noStrike" kern="0" cap="none" spc="0" normalizeH="0" baseline="-25000" noProof="0" dirty="0">
                <a:ln>
                  <a:noFill/>
                </a:ln>
                <a:effectLst/>
                <a:uLnTx/>
                <a:uFillTx/>
                <a:latin typeface="微软雅黑 Light" panose="020B0502040204020203" pitchFamily="34" charset="-122"/>
                <a:ea typeface="微软雅黑 Light" panose="020B0502040204020203" pitchFamily="34" charset="-122"/>
              </a:endParaRPr>
            </a:p>
          </p:txBody>
        </p:sp>
        <p:sp>
          <p:nvSpPr>
            <p:cNvPr id="11" name="矩形 171017"/>
            <p:cNvSpPr>
              <a:spLocks noChangeArrowheads="1"/>
            </p:cNvSpPr>
            <p:nvPr/>
          </p:nvSpPr>
          <p:spPr bwMode="auto">
            <a:xfrm>
              <a:off x="3895114" y="4632237"/>
              <a:ext cx="4023260" cy="1460143"/>
            </a:xfrm>
            <a:prstGeom prst="rect">
              <a:avLst/>
            </a:prstGeom>
            <a:solidFill>
              <a:schemeClr val="bg1">
                <a:lumMod val="85000"/>
              </a:scheme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12" name="矩形 171018"/>
            <p:cNvSpPr>
              <a:spLocks noChangeArrowheads="1"/>
            </p:cNvSpPr>
            <p:nvPr/>
          </p:nvSpPr>
          <p:spPr bwMode="auto">
            <a:xfrm>
              <a:off x="4244214" y="4639938"/>
              <a:ext cx="421112" cy="243357"/>
            </a:xfrm>
            <a:prstGeom prst="rect">
              <a:avLst/>
            </a:prstGeom>
            <a:solidFill>
              <a:srgbClr val="CC9900"/>
            </a:solidFill>
            <a:ln w="9525">
              <a:solidFill>
                <a:srgbClr val="954F72"/>
              </a:solidFill>
              <a:miter lim="800000"/>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13" name="矩形 171019"/>
            <p:cNvSpPr>
              <a:spLocks noChangeArrowheads="1"/>
            </p:cNvSpPr>
            <p:nvPr/>
          </p:nvSpPr>
          <p:spPr bwMode="auto">
            <a:xfrm>
              <a:off x="5463716" y="4639938"/>
              <a:ext cx="421112" cy="243357"/>
            </a:xfrm>
            <a:prstGeom prst="rect">
              <a:avLst/>
            </a:prstGeom>
            <a:solidFill>
              <a:srgbClr val="CC9900"/>
            </a:solidFill>
            <a:ln w="9525">
              <a:solidFill>
                <a:srgbClr val="954F72"/>
              </a:solidFill>
              <a:miter lim="800000"/>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14" name="矩形 171020"/>
            <p:cNvSpPr>
              <a:spLocks noChangeArrowheads="1"/>
            </p:cNvSpPr>
            <p:nvPr/>
          </p:nvSpPr>
          <p:spPr bwMode="auto">
            <a:xfrm>
              <a:off x="6683217" y="4639938"/>
              <a:ext cx="419546" cy="243357"/>
            </a:xfrm>
            <a:prstGeom prst="rect">
              <a:avLst/>
            </a:prstGeom>
            <a:solidFill>
              <a:srgbClr val="CC9900"/>
            </a:solidFill>
            <a:ln w="9525">
              <a:solidFill>
                <a:srgbClr val="954F72"/>
              </a:solidFill>
              <a:miter lim="800000"/>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15" name="文本框 171021"/>
            <p:cNvSpPr txBox="1">
              <a:spLocks noChangeArrowheads="1"/>
            </p:cNvSpPr>
            <p:nvPr/>
          </p:nvSpPr>
          <p:spPr bwMode="auto">
            <a:xfrm>
              <a:off x="4025048" y="4857112"/>
              <a:ext cx="950241" cy="7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连接</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套接字</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16" name="文本框 171022"/>
            <p:cNvSpPr txBox="1">
              <a:spLocks noChangeArrowheads="1"/>
            </p:cNvSpPr>
            <p:nvPr/>
          </p:nvSpPr>
          <p:spPr bwMode="auto">
            <a:xfrm>
              <a:off x="5180365" y="4857112"/>
              <a:ext cx="964330" cy="7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连接</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套接字</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17" name="文本框 171023"/>
            <p:cNvSpPr txBox="1">
              <a:spLocks noChangeArrowheads="1"/>
            </p:cNvSpPr>
            <p:nvPr/>
          </p:nvSpPr>
          <p:spPr bwMode="auto">
            <a:xfrm>
              <a:off x="6428046" y="4857112"/>
              <a:ext cx="973723" cy="7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连接</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套接字</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18" name="直接连接符 171024"/>
            <p:cNvSpPr>
              <a:spLocks noChangeShapeType="1"/>
            </p:cNvSpPr>
            <p:nvPr/>
          </p:nvSpPr>
          <p:spPr bwMode="auto">
            <a:xfrm>
              <a:off x="2060382" y="4639938"/>
              <a:ext cx="5883040" cy="0"/>
            </a:xfrm>
            <a:prstGeom prst="line">
              <a:avLst/>
            </a:prstGeom>
            <a:noFill/>
            <a:ln w="9525">
              <a:solidFill>
                <a:srgbClr val="954F72"/>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19" name="直接连接符 171025"/>
            <p:cNvSpPr>
              <a:spLocks noChangeShapeType="1"/>
            </p:cNvSpPr>
            <p:nvPr/>
          </p:nvSpPr>
          <p:spPr bwMode="auto">
            <a:xfrm>
              <a:off x="4455552" y="3991499"/>
              <a:ext cx="0" cy="648439"/>
            </a:xfrm>
            <a:prstGeom prst="line">
              <a:avLst/>
            </a:prstGeom>
            <a:noFill/>
            <a:ln w="9525">
              <a:solidFill>
                <a:srgbClr val="954F72"/>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0" name="直接连接符 171026"/>
            <p:cNvSpPr>
              <a:spLocks noChangeShapeType="1"/>
            </p:cNvSpPr>
            <p:nvPr/>
          </p:nvSpPr>
          <p:spPr bwMode="auto">
            <a:xfrm>
              <a:off x="5675054" y="3991499"/>
              <a:ext cx="0" cy="648439"/>
            </a:xfrm>
            <a:prstGeom prst="line">
              <a:avLst/>
            </a:prstGeom>
            <a:noFill/>
            <a:ln w="9525">
              <a:solidFill>
                <a:srgbClr val="954F72"/>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1" name="直接连接符 171027"/>
            <p:cNvSpPr>
              <a:spLocks noChangeShapeType="1"/>
            </p:cNvSpPr>
            <p:nvPr/>
          </p:nvSpPr>
          <p:spPr bwMode="auto">
            <a:xfrm>
              <a:off x="6894556" y="3991499"/>
              <a:ext cx="0" cy="648439"/>
            </a:xfrm>
            <a:prstGeom prst="line">
              <a:avLst/>
            </a:prstGeom>
            <a:noFill/>
            <a:ln w="9525">
              <a:solidFill>
                <a:srgbClr val="954F72"/>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2" name="矩形 171028"/>
            <p:cNvSpPr>
              <a:spLocks noChangeArrowheads="1"/>
            </p:cNvSpPr>
            <p:nvPr/>
          </p:nvSpPr>
          <p:spPr bwMode="auto">
            <a:xfrm>
              <a:off x="2772671" y="4639938"/>
              <a:ext cx="421112" cy="243357"/>
            </a:xfrm>
            <a:prstGeom prst="rect">
              <a:avLst/>
            </a:prstGeom>
            <a:solidFill>
              <a:srgbClr val="CC9900"/>
            </a:solidFill>
            <a:ln w="9525">
              <a:solidFill>
                <a:srgbClr val="954F72"/>
              </a:solidFill>
              <a:miter lim="800000"/>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3" name="直接连接符 171029"/>
            <p:cNvSpPr>
              <a:spLocks noChangeShapeType="1"/>
            </p:cNvSpPr>
            <p:nvPr/>
          </p:nvSpPr>
          <p:spPr bwMode="auto">
            <a:xfrm flipV="1">
              <a:off x="2984010" y="2856345"/>
              <a:ext cx="0" cy="1783593"/>
            </a:xfrm>
            <a:prstGeom prst="line">
              <a:avLst/>
            </a:prstGeom>
            <a:noFill/>
            <a:ln w="9525">
              <a:solidFill>
                <a:srgbClr val="954F72"/>
              </a:solidFill>
              <a:round/>
              <a:tailEnd type="triangl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4" name="椭圆 171030"/>
            <p:cNvSpPr>
              <a:spLocks noChangeArrowheads="1"/>
            </p:cNvSpPr>
            <p:nvPr/>
          </p:nvSpPr>
          <p:spPr bwMode="auto">
            <a:xfrm>
              <a:off x="5371353" y="3424692"/>
              <a:ext cx="588617" cy="568347"/>
            </a:xfrm>
            <a:prstGeom prst="ellipse">
              <a:avLst/>
            </a:prstGeom>
            <a:solidFill>
              <a:schemeClr val="accent1">
                <a:lumMod val="75000"/>
              </a:schemeClr>
            </a:solidFill>
            <a:ln w="9525">
              <a:solidFill>
                <a:srgbClr val="954F72"/>
              </a:solid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S</a:t>
              </a:r>
              <a:r>
                <a:rPr kumimoji="0" lang="en-US" altLang="zh-CN" sz="2800" b="0" i="0" u="none" strike="noStrike" kern="0" cap="none" spc="0" normalizeH="0" baseline="-25000" noProof="0" dirty="0">
                  <a:ln>
                    <a:noFill/>
                  </a:ln>
                  <a:effectLst/>
                  <a:uLnTx/>
                  <a:uFillTx/>
                  <a:latin typeface="微软雅黑 Light" panose="020B0502040204020203" pitchFamily="34" charset="-122"/>
                  <a:ea typeface="微软雅黑 Light" panose="020B0502040204020203" pitchFamily="34" charset="-122"/>
                </a:rPr>
                <a:t>2</a:t>
              </a:r>
              <a:endParaRPr kumimoji="0" lang="en-US" altLang="zh-CN" sz="2800" b="0" i="0" u="none" strike="noStrike" kern="0" cap="none" spc="0" normalizeH="0" baseline="-25000" noProof="0" dirty="0">
                <a:ln>
                  <a:noFill/>
                </a:ln>
                <a:effectLst/>
                <a:uLnTx/>
                <a:uFillTx/>
                <a:latin typeface="微软雅黑 Light" panose="020B0502040204020203" pitchFamily="34" charset="-122"/>
                <a:ea typeface="微软雅黑 Light" panose="020B0502040204020203" pitchFamily="34" charset="-122"/>
              </a:endParaRPr>
            </a:p>
          </p:txBody>
        </p:sp>
        <p:sp>
          <p:nvSpPr>
            <p:cNvPr id="25" name="椭圆 171031"/>
            <p:cNvSpPr>
              <a:spLocks noChangeArrowheads="1"/>
            </p:cNvSpPr>
            <p:nvPr/>
          </p:nvSpPr>
          <p:spPr bwMode="auto">
            <a:xfrm>
              <a:off x="6581462" y="3424692"/>
              <a:ext cx="588617" cy="568347"/>
            </a:xfrm>
            <a:prstGeom prst="ellipse">
              <a:avLst/>
            </a:prstGeom>
            <a:solidFill>
              <a:schemeClr val="accent1">
                <a:lumMod val="75000"/>
              </a:schemeClr>
            </a:solidFill>
            <a:ln w="9525">
              <a:solidFill>
                <a:srgbClr val="954F72"/>
              </a:solid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S</a:t>
              </a:r>
              <a:r>
                <a:rPr kumimoji="0" lang="en-US" altLang="zh-CN" sz="2800" b="0" i="0" u="none" strike="noStrike" kern="0" cap="none" spc="0" normalizeH="0" baseline="-25000" noProof="0" dirty="0">
                  <a:ln>
                    <a:noFill/>
                  </a:ln>
                  <a:effectLst/>
                  <a:uLnTx/>
                  <a:uFillTx/>
                  <a:latin typeface="微软雅黑 Light" panose="020B0502040204020203" pitchFamily="34" charset="-122"/>
                  <a:ea typeface="微软雅黑 Light" panose="020B0502040204020203" pitchFamily="34" charset="-122"/>
                </a:rPr>
                <a:t>3</a:t>
              </a:r>
              <a:endParaRPr kumimoji="0" lang="en-US" altLang="zh-CN" sz="2800" b="0" i="0" u="none" strike="noStrike" kern="0" cap="none" spc="0" normalizeH="0" baseline="-25000" noProof="0" dirty="0">
                <a:ln>
                  <a:noFill/>
                </a:ln>
                <a:effectLst/>
                <a:uLnTx/>
                <a:uFillTx/>
                <a:latin typeface="微软雅黑 Light" panose="020B0502040204020203" pitchFamily="34" charset="-122"/>
                <a:ea typeface="微软雅黑 Light" panose="020B0502040204020203" pitchFamily="34" charset="-122"/>
              </a:endParaRPr>
            </a:p>
          </p:txBody>
        </p:sp>
        <p:sp>
          <p:nvSpPr>
            <p:cNvPr id="26" name="直接连接符 171032"/>
            <p:cNvSpPr>
              <a:spLocks noChangeShapeType="1"/>
            </p:cNvSpPr>
            <p:nvPr/>
          </p:nvSpPr>
          <p:spPr bwMode="auto">
            <a:xfrm>
              <a:off x="3322151" y="2694621"/>
              <a:ext cx="922062" cy="810164"/>
            </a:xfrm>
            <a:prstGeom prst="line">
              <a:avLst/>
            </a:prstGeom>
            <a:noFill/>
            <a:ln w="9525">
              <a:solidFill>
                <a:srgbClr val="954F72"/>
              </a:solidFill>
              <a:prstDash val="dash"/>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7" name="直接连接符 171033"/>
            <p:cNvSpPr>
              <a:spLocks noChangeShapeType="1"/>
            </p:cNvSpPr>
            <p:nvPr/>
          </p:nvSpPr>
          <p:spPr bwMode="auto">
            <a:xfrm>
              <a:off x="3376943" y="2589885"/>
              <a:ext cx="2039809" cy="954946"/>
            </a:xfrm>
            <a:prstGeom prst="line">
              <a:avLst/>
            </a:prstGeom>
            <a:noFill/>
            <a:ln w="9525">
              <a:solidFill>
                <a:srgbClr val="954F72"/>
              </a:solidFill>
              <a:prstDash val="dash"/>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8" name="直接连接符 171034"/>
            <p:cNvSpPr>
              <a:spLocks noChangeShapeType="1"/>
            </p:cNvSpPr>
            <p:nvPr/>
          </p:nvSpPr>
          <p:spPr bwMode="auto">
            <a:xfrm>
              <a:off x="3405121" y="2449723"/>
              <a:ext cx="3193561" cy="1138234"/>
            </a:xfrm>
            <a:prstGeom prst="line">
              <a:avLst/>
            </a:prstGeom>
            <a:noFill/>
            <a:ln w="9525">
              <a:solidFill>
                <a:srgbClr val="954F72"/>
              </a:solidFill>
              <a:prstDash val="dash"/>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29" name="文本框 171035"/>
            <p:cNvSpPr txBox="1">
              <a:spLocks noChangeArrowheads="1"/>
            </p:cNvSpPr>
            <p:nvPr/>
          </p:nvSpPr>
          <p:spPr bwMode="auto">
            <a:xfrm>
              <a:off x="7992259" y="4677596"/>
              <a:ext cx="33470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操作系统</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30" name="文本框 171038"/>
            <p:cNvSpPr txBox="1">
              <a:spLocks noChangeArrowheads="1"/>
            </p:cNvSpPr>
            <p:nvPr/>
          </p:nvSpPr>
          <p:spPr bwMode="auto">
            <a:xfrm>
              <a:off x="8019586" y="2588344"/>
              <a:ext cx="349100" cy="135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服务</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进程</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31" name="文本框 171039"/>
            <p:cNvSpPr txBox="1">
              <a:spLocks noChangeArrowheads="1"/>
            </p:cNvSpPr>
            <p:nvPr/>
          </p:nvSpPr>
          <p:spPr bwMode="auto">
            <a:xfrm>
              <a:off x="4743599" y="2588344"/>
              <a:ext cx="1877000" cy="395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5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从属服务进程</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32" name="文本框 171040"/>
            <p:cNvSpPr txBox="1">
              <a:spLocks noChangeArrowheads="1"/>
            </p:cNvSpPr>
            <p:nvPr/>
          </p:nvSpPr>
          <p:spPr bwMode="auto">
            <a:xfrm>
              <a:off x="2204405" y="1630318"/>
              <a:ext cx="1603042" cy="395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5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主服务进程</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33" name="文本框 171041"/>
            <p:cNvSpPr txBox="1">
              <a:spLocks noChangeArrowheads="1"/>
            </p:cNvSpPr>
            <p:nvPr/>
          </p:nvSpPr>
          <p:spPr bwMode="auto">
            <a:xfrm>
              <a:off x="2060382" y="5519413"/>
              <a:ext cx="1815946" cy="395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5000"/>
                </a:lnSpc>
                <a:spcBef>
                  <a:spcPts val="0"/>
                </a:spcBef>
                <a:spcAft>
                  <a:spcPts val="0"/>
                </a:spcAft>
                <a:buClrTx/>
                <a:buSzTx/>
                <a:buFontTx/>
                <a:buNone/>
                <a:defRPr/>
              </a:pP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rPr>
                <a:t>原来的套接字</a:t>
              </a:r>
              <a:endPar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endParaRPr>
            </a:p>
          </p:txBody>
        </p:sp>
        <p:sp>
          <p:nvSpPr>
            <p:cNvPr id="34" name="直接连接符 171042"/>
            <p:cNvSpPr>
              <a:spLocks noChangeShapeType="1"/>
            </p:cNvSpPr>
            <p:nvPr/>
          </p:nvSpPr>
          <p:spPr bwMode="auto">
            <a:xfrm>
              <a:off x="4161244" y="5788954"/>
              <a:ext cx="3026055" cy="0"/>
            </a:xfrm>
            <a:prstGeom prst="line">
              <a:avLst/>
            </a:prstGeom>
            <a:noFill/>
            <a:ln w="9525">
              <a:solidFill>
                <a:srgbClr val="954F7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sp>
          <p:nvSpPr>
            <p:cNvPr id="35" name="文本框 171043"/>
            <p:cNvSpPr txBox="1">
              <a:spLocks noChangeArrowheads="1"/>
            </p:cNvSpPr>
            <p:nvPr/>
          </p:nvSpPr>
          <p:spPr bwMode="auto">
            <a:xfrm>
              <a:off x="4665325" y="5591804"/>
              <a:ext cx="2229231" cy="4158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ctr" latinLnBrk="0" hangingPunct="1">
                <a:lnSpc>
                  <a:spcPct val="105000"/>
                </a:lnSpc>
                <a:spcBef>
                  <a:spcPts val="0"/>
                </a:spcBef>
                <a:spcAft>
                  <a:spcPts val="0"/>
                </a:spcAft>
                <a:buClrTx/>
                <a:buSzTx/>
                <a:buFontTx/>
                <a:buNone/>
                <a:defRPr/>
              </a:pPr>
              <a:r>
                <a:rPr kumimoji="0" lang="en-US" altLang="zh-CN"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a:t>
              </a:r>
              <a:r>
                <a:rPr kumimoji="0" lang="zh-CN" altLang="en-US"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新创建的套接字</a:t>
              </a:r>
              <a:r>
                <a:rPr kumimoji="0" lang="en-US" altLang="zh-CN"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a:t>
              </a:r>
              <a:endParaRPr kumimoji="0" lang="en-US" altLang="zh-CN" sz="2000" b="0" i="0" u="none" strike="noStrike" kern="0" cap="none" spc="0" normalizeH="0" baseline="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36" name="直接连接符 171044"/>
            <p:cNvSpPr>
              <a:spLocks noChangeShapeType="1"/>
            </p:cNvSpPr>
            <p:nvPr/>
          </p:nvSpPr>
          <p:spPr bwMode="auto">
            <a:xfrm>
              <a:off x="3909203" y="4639938"/>
              <a:ext cx="0" cy="1461684"/>
            </a:xfrm>
            <a:prstGeom prst="line">
              <a:avLst/>
            </a:prstGeom>
            <a:noFill/>
            <a:ln w="9525">
              <a:solidFill>
                <a:srgbClr val="954F72"/>
              </a:solidFill>
              <a:prstDash val="dash"/>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effectLst/>
                <a:uLnTx/>
                <a:uFillTx/>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1"/>
          <p:cNvSpPr>
            <a:spLocks noGrp="1"/>
          </p:cNvSpPr>
          <p:nvPr>
            <p:ph type="title"/>
          </p:nvPr>
        </p:nvSpPr>
        <p:spPr/>
        <p:txBody>
          <a:bodyPr>
            <a:noAutofit/>
          </a:bodyPr>
          <a:lstStyle/>
          <a:p>
            <a:r>
              <a:rPr lang="zh-CN" altLang="en-US" sz="3200" dirty="0">
                <a:sym typeface="+mn-ea"/>
              </a:rPr>
              <a:t>面向连接的</a:t>
            </a:r>
            <a:r>
              <a:rPr kumimoji="1" lang="zh-CN" altLang="en-US" sz="3200" dirty="0">
                <a:sym typeface="+mn-ea"/>
              </a:rPr>
              <a:t>并发方式</a:t>
            </a:r>
            <a:r>
              <a:rPr lang="zh-CN" altLang="en-US" sz="3200" dirty="0">
                <a:sym typeface="+mn-ea"/>
              </a:rPr>
              <a:t>服务</a:t>
            </a:r>
            <a:endParaRPr lang="zh-CN" altLang="en-US" sz="3200" dirty="0"/>
          </a:p>
        </p:txBody>
      </p:sp>
      <p:sp>
        <p:nvSpPr>
          <p:cNvPr id="3" name="内容占位符 2"/>
          <p:cNvSpPr>
            <a:spLocks noGrp="1"/>
          </p:cNvSpPr>
          <p:nvPr>
            <p:ph idx="4294967295"/>
          </p:nvPr>
        </p:nvSpPr>
        <p:spPr>
          <a:xfrm>
            <a:off x="0" y="1909763"/>
            <a:ext cx="10529888" cy="4356100"/>
          </a:xfrm>
        </p:spPr>
        <p:txBody>
          <a:bodyPr>
            <a:noAutofit/>
          </a:bodyPr>
          <a:lstStyle/>
          <a:p>
            <a:pPr algn="just">
              <a:lnSpc>
                <a:spcPct val="120000"/>
              </a:lnSpc>
            </a:pP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47" name="文本框 170008"/>
          <p:cNvSpPr txBox="1">
            <a:spLocks noChangeArrowheads="1"/>
          </p:cNvSpPr>
          <p:nvPr/>
        </p:nvSpPr>
        <p:spPr bwMode="auto">
          <a:xfrm>
            <a:off x="3159527" y="5624860"/>
            <a:ext cx="6291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Light" panose="020B0502040204020203" pitchFamily="34" charset="-122"/>
                <a:ea typeface="微软雅黑 Light" panose="020B0502040204020203" pitchFamily="34" charset="-122"/>
              </a:rPr>
              <a:t>TCP</a:t>
            </a:r>
            <a:endParaRPr lang="en-US" altLang="zh-CN" sz="2000">
              <a:solidFill>
                <a:srgbClr val="333399"/>
              </a:solidFill>
              <a:latin typeface="微软雅黑 Light" panose="020B0502040204020203" pitchFamily="34" charset="-122"/>
              <a:ea typeface="微软雅黑 Light" panose="020B0502040204020203" pitchFamily="34" charset="-122"/>
            </a:endParaRPr>
          </a:p>
        </p:txBody>
      </p:sp>
      <p:sp>
        <p:nvSpPr>
          <p:cNvPr id="175" name="文本框 170036"/>
          <p:cNvSpPr txBox="1">
            <a:spLocks noChangeArrowheads="1"/>
          </p:cNvSpPr>
          <p:nvPr/>
        </p:nvSpPr>
        <p:spPr bwMode="auto">
          <a:xfrm>
            <a:off x="10096481" y="1565305"/>
            <a:ext cx="1482771" cy="1939290"/>
          </a:xfrm>
          <a:prstGeom prst="rect">
            <a:avLst/>
          </a:prstGeom>
          <a:noFill/>
          <a:ln w="9525">
            <a:solidFill>
              <a:srgbClr val="C00000"/>
            </a:solidFill>
            <a:miter lim="800000"/>
          </a:ln>
        </p:spPr>
        <p:txBody>
          <a:bodyPr wrap="square">
            <a:spAutoFit/>
          </a:bodyPr>
          <a:lstStyle/>
          <a:p>
            <a:pPr algn="just"/>
            <a:r>
              <a:rPr lang="zh-CN" altLang="en-US" sz="2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主服务进程也称为父服务进程，而从属服务进程又称为子服务进程。 </a:t>
            </a:r>
            <a:endParaRPr lang="zh-CN" altLang="en-US" sz="2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nvGrpSpPr>
          <p:cNvPr id="6" name="组合 5"/>
          <p:cNvGrpSpPr/>
          <p:nvPr/>
        </p:nvGrpSpPr>
        <p:grpSpPr>
          <a:xfrm>
            <a:off x="767408" y="1268760"/>
            <a:ext cx="9236360" cy="4751705"/>
            <a:chOff x="1049335" y="1658938"/>
            <a:chExt cx="9236360" cy="4751705"/>
          </a:xfrm>
        </p:grpSpPr>
        <p:sp>
          <p:nvSpPr>
            <p:cNvPr id="125" name="直接连接符 169985"/>
            <p:cNvSpPr>
              <a:spLocks noChangeShapeType="1"/>
            </p:cNvSpPr>
            <p:nvPr/>
          </p:nvSpPr>
          <p:spPr bwMode="auto">
            <a:xfrm>
              <a:off x="4215225" y="5148263"/>
              <a:ext cx="0" cy="2203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26" name="直接连接符 169987"/>
            <p:cNvSpPr>
              <a:spLocks noChangeShapeType="1"/>
            </p:cNvSpPr>
            <p:nvPr/>
          </p:nvSpPr>
          <p:spPr bwMode="auto">
            <a:xfrm>
              <a:off x="8420008" y="3400108"/>
              <a:ext cx="0" cy="257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27" name="直接连接符 169988"/>
            <p:cNvSpPr>
              <a:spLocks noChangeShapeType="1"/>
            </p:cNvSpPr>
            <p:nvPr/>
          </p:nvSpPr>
          <p:spPr bwMode="auto">
            <a:xfrm>
              <a:off x="8901353" y="3400108"/>
              <a:ext cx="0" cy="3460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28" name="直接连接符 169989"/>
            <p:cNvSpPr>
              <a:spLocks noChangeShapeType="1"/>
            </p:cNvSpPr>
            <p:nvPr/>
          </p:nvSpPr>
          <p:spPr bwMode="auto">
            <a:xfrm>
              <a:off x="9391588" y="3400108"/>
              <a:ext cx="0" cy="3346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29" name="文本框 169990"/>
            <p:cNvSpPr txBox="1">
              <a:spLocks noChangeArrowheads="1"/>
            </p:cNvSpPr>
            <p:nvPr/>
          </p:nvSpPr>
          <p:spPr bwMode="auto">
            <a:xfrm>
              <a:off x="6926442" y="1942783"/>
              <a:ext cx="104547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6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96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30" name="直接连接符 169991"/>
            <p:cNvSpPr>
              <a:spLocks noChangeShapeType="1"/>
            </p:cNvSpPr>
            <p:nvPr/>
          </p:nvSpPr>
          <p:spPr bwMode="auto">
            <a:xfrm>
              <a:off x="7420487" y="3125153"/>
              <a:ext cx="0" cy="4413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31" name="矩形 169992"/>
            <p:cNvSpPr>
              <a:spLocks noChangeArrowheads="1"/>
            </p:cNvSpPr>
            <p:nvPr/>
          </p:nvSpPr>
          <p:spPr bwMode="auto">
            <a:xfrm>
              <a:off x="6651478" y="3736658"/>
              <a:ext cx="3178273" cy="1336675"/>
            </a:xfrm>
            <a:prstGeom prst="rect">
              <a:avLst/>
            </a:prstGeom>
            <a:solidFill>
              <a:srgbClr val="CCECFF"/>
            </a:solidFill>
            <a:ln w="952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32" name="文本框 169993"/>
            <p:cNvSpPr txBox="1">
              <a:spLocks noChangeArrowheads="1"/>
            </p:cNvSpPr>
            <p:nvPr/>
          </p:nvSpPr>
          <p:spPr bwMode="auto">
            <a:xfrm>
              <a:off x="9098209" y="4681538"/>
              <a:ext cx="944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solidFill>
                    <a:srgbClr val="333399"/>
                  </a:solidFill>
                  <a:latin typeface="微软雅黑 Light" panose="020B0502040204020203" pitchFamily="34" charset="-122"/>
                  <a:ea typeface="微软雅黑 Light" panose="020B0502040204020203" pitchFamily="34" charset="-122"/>
                </a:rPr>
                <a:t>TCP</a:t>
              </a:r>
              <a:endParaRPr lang="en-US" altLang="zh-CN" sz="2000">
                <a:solidFill>
                  <a:srgbClr val="333399"/>
                </a:solidFill>
                <a:latin typeface="微软雅黑 Light" panose="020B0502040204020203" pitchFamily="34" charset="-122"/>
                <a:ea typeface="微软雅黑 Light" panose="020B0502040204020203" pitchFamily="34" charset="-122"/>
              </a:endParaRPr>
            </a:p>
          </p:txBody>
        </p:sp>
        <p:sp>
          <p:nvSpPr>
            <p:cNvPr id="133" name="矩形 169994"/>
            <p:cNvSpPr>
              <a:spLocks noChangeArrowheads="1"/>
            </p:cNvSpPr>
            <p:nvPr/>
          </p:nvSpPr>
          <p:spPr bwMode="auto">
            <a:xfrm>
              <a:off x="3465585" y="3195638"/>
              <a:ext cx="1481501" cy="957580"/>
            </a:xfrm>
            <a:prstGeom prst="rect">
              <a:avLst/>
            </a:prstGeom>
            <a:solidFill>
              <a:srgbClr val="CCECFF"/>
            </a:solidFill>
            <a:ln w="952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34" name="文本框 169995"/>
            <p:cNvSpPr txBox="1">
              <a:spLocks noChangeArrowheads="1"/>
            </p:cNvSpPr>
            <p:nvPr/>
          </p:nvSpPr>
          <p:spPr bwMode="auto">
            <a:xfrm>
              <a:off x="3435104" y="3746183"/>
              <a:ext cx="6291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Light" panose="020B0502040204020203" pitchFamily="34" charset="-122"/>
                  <a:ea typeface="微软雅黑 Light" panose="020B0502040204020203" pitchFamily="34" charset="-122"/>
                </a:rPr>
                <a:t>TCP</a:t>
              </a:r>
              <a:endParaRPr lang="en-US" altLang="zh-CN" sz="2000">
                <a:solidFill>
                  <a:srgbClr val="333399"/>
                </a:solidFill>
                <a:latin typeface="微软雅黑 Light" panose="020B0502040204020203" pitchFamily="34" charset="-122"/>
                <a:ea typeface="微软雅黑 Light" panose="020B0502040204020203" pitchFamily="34" charset="-122"/>
              </a:endParaRPr>
            </a:p>
          </p:txBody>
        </p:sp>
        <p:sp>
          <p:nvSpPr>
            <p:cNvPr id="135" name="文本框 169996"/>
            <p:cNvSpPr txBox="1">
              <a:spLocks noChangeArrowheads="1"/>
            </p:cNvSpPr>
            <p:nvPr/>
          </p:nvSpPr>
          <p:spPr bwMode="auto">
            <a:xfrm>
              <a:off x="3863742" y="2053908"/>
              <a:ext cx="71566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36" name="文本框 169997"/>
            <p:cNvSpPr txBox="1">
              <a:spLocks noChangeArrowheads="1"/>
            </p:cNvSpPr>
            <p:nvPr/>
          </p:nvSpPr>
          <p:spPr bwMode="auto">
            <a:xfrm>
              <a:off x="3370332" y="1887538"/>
              <a:ext cx="74297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333399"/>
                  </a:solidFill>
                  <a:latin typeface="微软雅黑 Light" panose="020B0502040204020203" pitchFamily="34" charset="-122"/>
                  <a:ea typeface="微软雅黑 Light" panose="020B0502040204020203" pitchFamily="34" charset="-122"/>
                </a:rPr>
                <a:t>客户进程</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37" name="直接连接符 169998"/>
            <p:cNvSpPr>
              <a:spLocks noChangeShapeType="1"/>
            </p:cNvSpPr>
            <p:nvPr/>
          </p:nvSpPr>
          <p:spPr bwMode="auto">
            <a:xfrm flipH="1">
              <a:off x="4203477" y="2846388"/>
              <a:ext cx="0" cy="25019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38" name="文本框 169999"/>
            <p:cNvSpPr txBox="1">
              <a:spLocks noChangeArrowheads="1"/>
            </p:cNvSpPr>
            <p:nvPr/>
          </p:nvSpPr>
          <p:spPr bwMode="auto">
            <a:xfrm>
              <a:off x="2755633" y="2798763"/>
              <a:ext cx="145419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Light" panose="020B0502040204020203" pitchFamily="34" charset="-122"/>
                  <a:ea typeface="微软雅黑 Light" panose="020B0502040204020203" pitchFamily="34" charset="-122"/>
                </a:rPr>
                <a:t>客户套接字</a:t>
              </a:r>
              <a:endParaRPr lang="zh-CN" altLang="en-US" sz="2000" dirty="0">
                <a:solidFill>
                  <a:srgbClr val="333399"/>
                </a:solidFill>
                <a:latin typeface="微软雅黑 Light" panose="020B0502040204020203" pitchFamily="34" charset="-122"/>
                <a:ea typeface="微软雅黑 Light" panose="020B0502040204020203" pitchFamily="34" charset="-122"/>
              </a:endParaRPr>
            </a:p>
          </p:txBody>
        </p:sp>
        <p:sp>
          <p:nvSpPr>
            <p:cNvPr id="139" name="文本框 170000"/>
            <p:cNvSpPr txBox="1">
              <a:spLocks noChangeArrowheads="1"/>
            </p:cNvSpPr>
            <p:nvPr/>
          </p:nvSpPr>
          <p:spPr bwMode="auto">
            <a:xfrm>
              <a:off x="9745929" y="2306638"/>
              <a:ext cx="438164" cy="1465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临</a:t>
              </a:r>
              <a:endParaRPr lang="zh-CN" altLang="en-US" sz="2000">
                <a:solidFill>
                  <a:srgbClr val="333399"/>
                </a:solidFill>
                <a:latin typeface="微软雅黑 Light" panose="020B0502040204020203" pitchFamily="34" charset="-122"/>
                <a:ea typeface="微软雅黑 Light" panose="020B0502040204020203" pitchFamily="34" charset="-122"/>
              </a:endParaRPr>
            </a:p>
            <a:p>
              <a:pP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时</a:t>
              </a:r>
              <a:endParaRPr lang="zh-CN" altLang="en-US" sz="2000">
                <a:solidFill>
                  <a:srgbClr val="333399"/>
                </a:solidFill>
                <a:latin typeface="微软雅黑 Light" panose="020B0502040204020203" pitchFamily="34" charset="-122"/>
                <a:ea typeface="微软雅黑 Light" panose="020B0502040204020203" pitchFamily="34" charset="-122"/>
              </a:endParaRPr>
            </a:p>
            <a:p>
              <a:pP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套</a:t>
              </a:r>
              <a:endParaRPr lang="zh-CN" altLang="en-US" sz="2000">
                <a:solidFill>
                  <a:srgbClr val="333399"/>
                </a:solidFill>
                <a:latin typeface="微软雅黑 Light" panose="020B0502040204020203" pitchFamily="34" charset="-122"/>
                <a:ea typeface="微软雅黑 Light" panose="020B0502040204020203" pitchFamily="34" charset="-122"/>
              </a:endParaRPr>
            </a:p>
            <a:p>
              <a:pP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接</a:t>
              </a:r>
              <a:endParaRPr lang="zh-CN" altLang="en-US" sz="2000">
                <a:solidFill>
                  <a:srgbClr val="333399"/>
                </a:solidFill>
                <a:latin typeface="微软雅黑 Light" panose="020B0502040204020203" pitchFamily="34" charset="-122"/>
                <a:ea typeface="微软雅黑 Light" panose="020B0502040204020203" pitchFamily="34" charset="-122"/>
              </a:endParaRPr>
            </a:p>
            <a:p>
              <a:pP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字</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40" name="矩形 170001"/>
            <p:cNvSpPr>
              <a:spLocks noChangeArrowheads="1"/>
            </p:cNvSpPr>
            <p:nvPr/>
          </p:nvSpPr>
          <p:spPr bwMode="auto">
            <a:xfrm>
              <a:off x="1774527" y="4012883"/>
              <a:ext cx="1480866" cy="956945"/>
            </a:xfrm>
            <a:prstGeom prst="rect">
              <a:avLst/>
            </a:prstGeom>
            <a:solidFill>
              <a:srgbClr val="CCECFF"/>
            </a:solidFill>
            <a:ln w="952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41" name="文本框 170002"/>
            <p:cNvSpPr txBox="1">
              <a:spLocks noChangeArrowheads="1"/>
            </p:cNvSpPr>
            <p:nvPr/>
          </p:nvSpPr>
          <p:spPr bwMode="auto">
            <a:xfrm>
              <a:off x="1774527" y="4573588"/>
              <a:ext cx="6291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Light" panose="020B0502040204020203" pitchFamily="34" charset="-122"/>
                  <a:ea typeface="微软雅黑 Light" panose="020B0502040204020203" pitchFamily="34" charset="-122"/>
                </a:rPr>
                <a:t>TCP</a:t>
              </a:r>
              <a:endParaRPr lang="en-US" altLang="zh-CN" sz="2000">
                <a:solidFill>
                  <a:srgbClr val="333399"/>
                </a:solidFill>
                <a:latin typeface="微软雅黑 Light" panose="020B0502040204020203" pitchFamily="34" charset="-122"/>
                <a:ea typeface="微软雅黑 Light" panose="020B0502040204020203" pitchFamily="34" charset="-122"/>
              </a:endParaRPr>
            </a:p>
          </p:txBody>
        </p:sp>
        <p:sp>
          <p:nvSpPr>
            <p:cNvPr id="142" name="文本框 170003"/>
            <p:cNvSpPr txBox="1">
              <a:spLocks noChangeArrowheads="1"/>
            </p:cNvSpPr>
            <p:nvPr/>
          </p:nvSpPr>
          <p:spPr bwMode="auto">
            <a:xfrm>
              <a:off x="2173320" y="2846388"/>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43" name="文本框 170004"/>
            <p:cNvSpPr txBox="1">
              <a:spLocks noChangeArrowheads="1"/>
            </p:cNvSpPr>
            <p:nvPr/>
          </p:nvSpPr>
          <p:spPr bwMode="auto">
            <a:xfrm>
              <a:off x="1674829" y="2725738"/>
              <a:ext cx="72709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333399"/>
                  </a:solidFill>
                  <a:latin typeface="微软雅黑 Light" panose="020B0502040204020203" pitchFamily="34" charset="-122"/>
                  <a:ea typeface="微软雅黑 Light" panose="020B0502040204020203" pitchFamily="34" charset="-122"/>
                </a:rPr>
                <a:t>客户进程</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44" name="直接连接符 170005"/>
            <p:cNvSpPr>
              <a:spLocks noChangeShapeType="1"/>
            </p:cNvSpPr>
            <p:nvPr/>
          </p:nvSpPr>
          <p:spPr bwMode="auto">
            <a:xfrm flipH="1">
              <a:off x="2497180" y="3625533"/>
              <a:ext cx="0" cy="26289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45" name="文本框 170006"/>
            <p:cNvSpPr txBox="1">
              <a:spLocks noChangeArrowheads="1"/>
            </p:cNvSpPr>
            <p:nvPr/>
          </p:nvSpPr>
          <p:spPr bwMode="auto">
            <a:xfrm>
              <a:off x="1049335" y="3615373"/>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Light" panose="020B0502040204020203" pitchFamily="34" charset="-122"/>
                  <a:ea typeface="微软雅黑 Light" panose="020B0502040204020203" pitchFamily="34" charset="-122"/>
                </a:rPr>
                <a:t>客户套接字</a:t>
              </a:r>
              <a:endParaRPr lang="zh-CN" altLang="en-US" sz="2000" dirty="0">
                <a:solidFill>
                  <a:srgbClr val="333399"/>
                </a:solidFill>
                <a:latin typeface="微软雅黑 Light" panose="020B0502040204020203" pitchFamily="34" charset="-122"/>
                <a:ea typeface="微软雅黑 Light" panose="020B0502040204020203" pitchFamily="34" charset="-122"/>
              </a:endParaRPr>
            </a:p>
          </p:txBody>
        </p:sp>
        <p:sp>
          <p:nvSpPr>
            <p:cNvPr id="146" name="矩形 170007"/>
            <p:cNvSpPr>
              <a:spLocks noChangeArrowheads="1"/>
            </p:cNvSpPr>
            <p:nvPr/>
          </p:nvSpPr>
          <p:spPr bwMode="auto">
            <a:xfrm>
              <a:off x="3465585" y="5453063"/>
              <a:ext cx="1481501" cy="957580"/>
            </a:xfrm>
            <a:prstGeom prst="rect">
              <a:avLst/>
            </a:prstGeom>
            <a:solidFill>
              <a:srgbClr val="CCECFF"/>
            </a:solidFill>
            <a:ln w="952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48" name="文本框 170009"/>
            <p:cNvSpPr txBox="1">
              <a:spLocks noChangeArrowheads="1"/>
            </p:cNvSpPr>
            <p:nvPr/>
          </p:nvSpPr>
          <p:spPr bwMode="auto">
            <a:xfrm>
              <a:off x="3863742" y="4373732"/>
              <a:ext cx="71757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dirty="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49" name="文本框 170010"/>
            <p:cNvSpPr txBox="1">
              <a:spLocks noChangeArrowheads="1"/>
            </p:cNvSpPr>
            <p:nvPr/>
          </p:nvSpPr>
          <p:spPr bwMode="auto">
            <a:xfrm>
              <a:off x="3404333" y="4325938"/>
              <a:ext cx="75122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333399"/>
                  </a:solidFill>
                  <a:latin typeface="微软雅黑 Light" panose="020B0502040204020203" pitchFamily="34" charset="-122"/>
                  <a:ea typeface="微软雅黑 Light" panose="020B0502040204020203" pitchFamily="34" charset="-122"/>
                </a:rPr>
                <a:t>客户进程</a:t>
              </a:r>
              <a:endParaRPr lang="zh-CN" altLang="en-US" sz="2000" dirty="0">
                <a:solidFill>
                  <a:srgbClr val="333399"/>
                </a:solidFill>
                <a:latin typeface="微软雅黑 Light" panose="020B0502040204020203" pitchFamily="34" charset="-122"/>
                <a:ea typeface="微软雅黑 Light" panose="020B0502040204020203" pitchFamily="34" charset="-122"/>
              </a:endParaRPr>
            </a:p>
          </p:txBody>
        </p:sp>
        <p:grpSp>
          <p:nvGrpSpPr>
            <p:cNvPr id="150" name="组合 170011"/>
            <p:cNvGrpSpPr/>
            <p:nvPr/>
          </p:nvGrpSpPr>
          <p:grpSpPr bwMode="auto">
            <a:xfrm>
              <a:off x="2377796" y="3098483"/>
              <a:ext cx="1966656" cy="2489200"/>
              <a:chOff x="0" y="0"/>
              <a:chExt cx="1239" cy="1568"/>
            </a:xfrm>
          </p:grpSpPr>
          <p:sp>
            <p:nvSpPr>
              <p:cNvPr id="151" name="矩形 170012"/>
              <p:cNvSpPr>
                <a:spLocks noChangeArrowheads="1"/>
              </p:cNvSpPr>
              <p:nvPr/>
            </p:nvSpPr>
            <p:spPr bwMode="auto">
              <a:xfrm>
                <a:off x="1091" y="0"/>
                <a:ext cx="122" cy="130"/>
              </a:xfrm>
              <a:prstGeom prst="rect">
                <a:avLst/>
              </a:prstGeom>
              <a:solidFill>
                <a:schemeClr val="bg1"/>
              </a:solidFill>
              <a:ln w="19050">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52" name="矩形 170013"/>
              <p:cNvSpPr>
                <a:spLocks noChangeArrowheads="1"/>
              </p:cNvSpPr>
              <p:nvPr/>
            </p:nvSpPr>
            <p:spPr bwMode="auto">
              <a:xfrm>
                <a:off x="0" y="515"/>
                <a:ext cx="147" cy="132"/>
              </a:xfrm>
              <a:prstGeom prst="rect">
                <a:avLst/>
              </a:prstGeom>
              <a:solidFill>
                <a:schemeClr val="bg1"/>
              </a:solidFill>
              <a:ln w="19050">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53" name="矩形 170014"/>
              <p:cNvSpPr>
                <a:spLocks noChangeArrowheads="1"/>
              </p:cNvSpPr>
              <p:nvPr/>
            </p:nvSpPr>
            <p:spPr bwMode="auto">
              <a:xfrm>
                <a:off x="1091" y="1422"/>
                <a:ext cx="148" cy="146"/>
              </a:xfrm>
              <a:prstGeom prst="rect">
                <a:avLst/>
              </a:prstGeom>
              <a:solidFill>
                <a:schemeClr val="bg1"/>
              </a:solidFill>
              <a:ln w="19050">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154" name="文本框 170015"/>
            <p:cNvSpPr txBox="1">
              <a:spLocks noChangeArrowheads="1"/>
            </p:cNvSpPr>
            <p:nvPr/>
          </p:nvSpPr>
          <p:spPr bwMode="auto">
            <a:xfrm>
              <a:off x="2743566" y="5070314"/>
              <a:ext cx="145419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Light" panose="020B0502040204020203" pitchFamily="34" charset="-122"/>
                  <a:ea typeface="微软雅黑 Light" panose="020B0502040204020203" pitchFamily="34" charset="-122"/>
                </a:rPr>
                <a:t>客户套接字</a:t>
              </a:r>
              <a:endParaRPr lang="zh-CN" altLang="en-US" sz="2000" dirty="0">
                <a:solidFill>
                  <a:srgbClr val="333399"/>
                </a:solidFill>
                <a:latin typeface="微软雅黑 Light" panose="020B0502040204020203" pitchFamily="34" charset="-122"/>
                <a:ea typeface="微软雅黑 Light" panose="020B0502040204020203" pitchFamily="34" charset="-122"/>
              </a:endParaRPr>
            </a:p>
          </p:txBody>
        </p:sp>
        <p:sp>
          <p:nvSpPr>
            <p:cNvPr id="155" name="文本框 170016"/>
            <p:cNvSpPr txBox="1">
              <a:spLocks noChangeArrowheads="1"/>
            </p:cNvSpPr>
            <p:nvPr/>
          </p:nvSpPr>
          <p:spPr bwMode="auto">
            <a:xfrm>
              <a:off x="9047407" y="2625408"/>
              <a:ext cx="71757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56" name="任意多边形 170017"/>
            <p:cNvSpPr>
              <a:spLocks noChangeArrowheads="1"/>
            </p:cNvSpPr>
            <p:nvPr/>
          </p:nvSpPr>
          <p:spPr bwMode="auto">
            <a:xfrm>
              <a:off x="4205382" y="3673158"/>
              <a:ext cx="5178585" cy="2131695"/>
            </a:xfrm>
            <a:custGeom>
              <a:avLst/>
              <a:gdLst>
                <a:gd name="T0" fmla="*/ 0 w 3354"/>
                <a:gd name="T1" fmla="*/ 900 h 996"/>
                <a:gd name="T2" fmla="*/ 0 w 3354"/>
                <a:gd name="T3" fmla="*/ 996 h 996"/>
                <a:gd name="T4" fmla="*/ 1350 w 3354"/>
                <a:gd name="T5" fmla="*/ 354 h 996"/>
                <a:gd name="T6" fmla="*/ 3348 w 3354"/>
                <a:gd name="T7" fmla="*/ 354 h 996"/>
                <a:gd name="T8" fmla="*/ 3354 w 3354"/>
                <a:gd name="T9" fmla="*/ 0 h 996"/>
              </a:gdLst>
              <a:ahLst/>
              <a:cxnLst>
                <a:cxn ang="0">
                  <a:pos x="T0" y="T1"/>
                </a:cxn>
                <a:cxn ang="0">
                  <a:pos x="T2" y="T3"/>
                </a:cxn>
                <a:cxn ang="0">
                  <a:pos x="T4" y="T5"/>
                </a:cxn>
                <a:cxn ang="0">
                  <a:pos x="T6" y="T7"/>
                </a:cxn>
                <a:cxn ang="0">
                  <a:pos x="T8" y="T9"/>
                </a:cxn>
              </a:cxnLst>
              <a:rect l="0" t="0" r="r" b="b"/>
              <a:pathLst>
                <a:path w="3354" h="996">
                  <a:moveTo>
                    <a:pt x="0" y="900"/>
                  </a:moveTo>
                  <a:lnTo>
                    <a:pt x="0" y="996"/>
                  </a:lnTo>
                  <a:lnTo>
                    <a:pt x="1350" y="354"/>
                  </a:lnTo>
                  <a:lnTo>
                    <a:pt x="3348" y="354"/>
                  </a:lnTo>
                  <a:lnTo>
                    <a:pt x="3354"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57" name="文本框 170018"/>
            <p:cNvSpPr txBox="1">
              <a:spLocks noChangeArrowheads="1"/>
            </p:cNvSpPr>
            <p:nvPr/>
          </p:nvSpPr>
          <p:spPr bwMode="auto">
            <a:xfrm>
              <a:off x="8533041" y="2619058"/>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58" name="任意多边形 170019"/>
            <p:cNvSpPr>
              <a:spLocks noChangeArrowheads="1"/>
            </p:cNvSpPr>
            <p:nvPr/>
          </p:nvSpPr>
          <p:spPr bwMode="auto">
            <a:xfrm>
              <a:off x="2511150" y="3685858"/>
              <a:ext cx="6389567" cy="628650"/>
            </a:xfrm>
            <a:custGeom>
              <a:avLst/>
              <a:gdLst>
                <a:gd name="T0" fmla="*/ 0 w 4140"/>
                <a:gd name="T1" fmla="*/ 228 h 294"/>
                <a:gd name="T2" fmla="*/ 0 w 4140"/>
                <a:gd name="T3" fmla="*/ 294 h 294"/>
                <a:gd name="T4" fmla="*/ 4140 w 4140"/>
                <a:gd name="T5" fmla="*/ 294 h 294"/>
                <a:gd name="T6" fmla="*/ 4140 w 4140"/>
                <a:gd name="T7" fmla="*/ 0 h 294"/>
              </a:gdLst>
              <a:ahLst/>
              <a:cxnLst>
                <a:cxn ang="0">
                  <a:pos x="T0" y="T1"/>
                </a:cxn>
                <a:cxn ang="0">
                  <a:pos x="T2" y="T3"/>
                </a:cxn>
                <a:cxn ang="0">
                  <a:pos x="T4" y="T5"/>
                </a:cxn>
                <a:cxn ang="0">
                  <a:pos x="T6" y="T7"/>
                </a:cxn>
              </a:cxnLst>
              <a:rect l="0" t="0" r="r" b="b"/>
              <a:pathLst>
                <a:path w="4140" h="294">
                  <a:moveTo>
                    <a:pt x="0" y="228"/>
                  </a:moveTo>
                  <a:lnTo>
                    <a:pt x="0" y="294"/>
                  </a:lnTo>
                  <a:lnTo>
                    <a:pt x="4140" y="294"/>
                  </a:lnTo>
                  <a:lnTo>
                    <a:pt x="4140"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59" name="文本框 170020"/>
            <p:cNvSpPr txBox="1">
              <a:spLocks noChangeArrowheads="1"/>
            </p:cNvSpPr>
            <p:nvPr/>
          </p:nvSpPr>
          <p:spPr bwMode="auto">
            <a:xfrm>
              <a:off x="8064397" y="2625408"/>
              <a:ext cx="71566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rPr>
                <a:t></a:t>
              </a:r>
              <a:endParaRPr lang="en-US" altLang="zh-CN" sz="6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sym typeface="Wingdings" panose="05000000000000000000" pitchFamily="2" charset="2"/>
              </a:endParaRPr>
            </a:p>
          </p:txBody>
        </p:sp>
        <p:sp>
          <p:nvSpPr>
            <p:cNvPr id="160" name="任意多边形 170021"/>
            <p:cNvSpPr>
              <a:spLocks noChangeArrowheads="1"/>
            </p:cNvSpPr>
            <p:nvPr/>
          </p:nvSpPr>
          <p:spPr bwMode="auto">
            <a:xfrm>
              <a:off x="4205382" y="3325813"/>
              <a:ext cx="4224786" cy="873125"/>
            </a:xfrm>
            <a:custGeom>
              <a:avLst/>
              <a:gdLst>
                <a:gd name="T0" fmla="*/ 0 w 2736"/>
                <a:gd name="T1" fmla="*/ 0 h 408"/>
                <a:gd name="T2" fmla="*/ 0 w 2736"/>
                <a:gd name="T3" fmla="*/ 84 h 408"/>
                <a:gd name="T4" fmla="*/ 1362 w 2736"/>
                <a:gd name="T5" fmla="*/ 408 h 408"/>
                <a:gd name="T6" fmla="*/ 2724 w 2736"/>
                <a:gd name="T7" fmla="*/ 408 h 408"/>
                <a:gd name="T8" fmla="*/ 2736 w 2736"/>
                <a:gd name="T9" fmla="*/ 210 h 408"/>
              </a:gdLst>
              <a:ahLst/>
              <a:cxnLst>
                <a:cxn ang="0">
                  <a:pos x="T0" y="T1"/>
                </a:cxn>
                <a:cxn ang="0">
                  <a:pos x="T2" y="T3"/>
                </a:cxn>
                <a:cxn ang="0">
                  <a:pos x="T4" y="T5"/>
                </a:cxn>
                <a:cxn ang="0">
                  <a:pos x="T6" y="T7"/>
                </a:cxn>
                <a:cxn ang="0">
                  <a:pos x="T8" y="T9"/>
                </a:cxn>
              </a:cxnLst>
              <a:rect l="0" t="0" r="r" b="b"/>
              <a:pathLst>
                <a:path w="2736" h="408">
                  <a:moveTo>
                    <a:pt x="0" y="0"/>
                  </a:moveTo>
                  <a:lnTo>
                    <a:pt x="0" y="84"/>
                  </a:lnTo>
                  <a:lnTo>
                    <a:pt x="1362" y="408"/>
                  </a:lnTo>
                  <a:lnTo>
                    <a:pt x="2724" y="408"/>
                  </a:lnTo>
                  <a:lnTo>
                    <a:pt x="2736" y="21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1" name="文本框 170022"/>
            <p:cNvSpPr txBox="1">
              <a:spLocks noChangeArrowheads="1"/>
            </p:cNvSpPr>
            <p:nvPr/>
          </p:nvSpPr>
          <p:spPr bwMode="auto">
            <a:xfrm>
              <a:off x="6580356" y="1801813"/>
              <a:ext cx="14529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Light" panose="020B0502040204020203" pitchFamily="34" charset="-122"/>
                  <a:ea typeface="微软雅黑 Light" panose="020B0502040204020203" pitchFamily="34" charset="-122"/>
                </a:rPr>
                <a:t>主服务进程</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62" name="矩形 170023"/>
            <p:cNvSpPr>
              <a:spLocks noChangeArrowheads="1"/>
            </p:cNvSpPr>
            <p:nvPr/>
          </p:nvSpPr>
          <p:spPr bwMode="auto">
            <a:xfrm>
              <a:off x="7243951" y="3530283"/>
              <a:ext cx="363866" cy="374650"/>
            </a:xfrm>
            <a:prstGeom prst="rect">
              <a:avLst/>
            </a:prstGeom>
            <a:solidFill>
              <a:schemeClr val="bg1"/>
            </a:solidFill>
            <a:ln w="2857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3" name="直接连接符 170024"/>
            <p:cNvSpPr>
              <a:spLocks noChangeShapeType="1"/>
            </p:cNvSpPr>
            <p:nvPr/>
          </p:nvSpPr>
          <p:spPr bwMode="auto">
            <a:xfrm flipH="1">
              <a:off x="8542566" y="3332163"/>
              <a:ext cx="1329096" cy="250825"/>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4" name="文本框 170025"/>
            <p:cNvSpPr txBox="1">
              <a:spLocks noChangeArrowheads="1"/>
            </p:cNvSpPr>
            <p:nvPr/>
          </p:nvSpPr>
          <p:spPr bwMode="auto">
            <a:xfrm>
              <a:off x="4489236" y="4284663"/>
              <a:ext cx="12174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TCP </a:t>
              </a:r>
              <a:r>
                <a:rPr lang="zh-CN" altLang="en-US" sz="2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rPr>
                <a:t>连接</a:t>
              </a:r>
              <a:endParaRPr lang="zh-CN" altLang="en-US" sz="2000">
                <a:solidFill>
                  <a:srgbClr val="333399"/>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165" name="文本框 170026"/>
            <p:cNvSpPr txBox="1">
              <a:spLocks noChangeArrowheads="1"/>
            </p:cNvSpPr>
            <p:nvPr/>
          </p:nvSpPr>
          <p:spPr bwMode="auto">
            <a:xfrm>
              <a:off x="4830877" y="2552383"/>
              <a:ext cx="221621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仅用于接受</a:t>
              </a:r>
              <a:endParaRPr lang="zh-CN" altLang="en-US" sz="2000">
                <a:solidFill>
                  <a:srgbClr val="333399"/>
                </a:solidFill>
                <a:latin typeface="微软雅黑 Light" panose="020B0502040204020203" pitchFamily="34" charset="-122"/>
                <a:ea typeface="微软雅黑 Light" panose="020B0502040204020203" pitchFamily="34" charset="-122"/>
              </a:endParaRPr>
            </a:p>
            <a:p>
              <a:pPr algn="ctr">
                <a:lnSpc>
                  <a:spcPct val="90000"/>
                </a:lnSpc>
              </a:pPr>
              <a:r>
                <a:rPr lang="zh-CN" altLang="en-US" sz="2000">
                  <a:solidFill>
                    <a:srgbClr val="333399"/>
                  </a:solidFill>
                  <a:latin typeface="微软雅黑 Light" panose="020B0502040204020203" pitchFamily="34" charset="-122"/>
                  <a:ea typeface="微软雅黑 Light" panose="020B0502040204020203" pitchFamily="34" charset="-122"/>
                </a:rPr>
                <a:t>服务请求的套接字</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66" name="椭圆 170027"/>
            <p:cNvSpPr>
              <a:spLocks noChangeArrowheads="1"/>
            </p:cNvSpPr>
            <p:nvPr/>
          </p:nvSpPr>
          <p:spPr bwMode="auto">
            <a:xfrm>
              <a:off x="5762451" y="3736658"/>
              <a:ext cx="147325" cy="1233170"/>
            </a:xfrm>
            <a:prstGeom prst="ellipse">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167" name="组合 170028"/>
            <p:cNvGrpSpPr/>
            <p:nvPr/>
          </p:nvGrpSpPr>
          <p:grpSpPr bwMode="auto">
            <a:xfrm>
              <a:off x="8308879" y="3603308"/>
              <a:ext cx="1179231" cy="223520"/>
              <a:chOff x="0" y="0"/>
              <a:chExt cx="743" cy="141"/>
            </a:xfrm>
          </p:grpSpPr>
          <p:sp>
            <p:nvSpPr>
              <p:cNvPr id="168" name="矩形 170029"/>
              <p:cNvSpPr>
                <a:spLocks noChangeArrowheads="1"/>
              </p:cNvSpPr>
              <p:nvPr/>
            </p:nvSpPr>
            <p:spPr bwMode="auto">
              <a:xfrm>
                <a:off x="610" y="0"/>
                <a:ext cx="133" cy="140"/>
              </a:xfrm>
              <a:prstGeom prst="rect">
                <a:avLst/>
              </a:prstGeom>
              <a:solidFill>
                <a:schemeClr val="bg1"/>
              </a:solidFill>
              <a:ln w="2857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9" name="矩形 170030"/>
              <p:cNvSpPr>
                <a:spLocks noChangeArrowheads="1"/>
              </p:cNvSpPr>
              <p:nvPr/>
            </p:nvSpPr>
            <p:spPr bwMode="auto">
              <a:xfrm>
                <a:off x="313" y="1"/>
                <a:ext cx="132" cy="139"/>
              </a:xfrm>
              <a:prstGeom prst="rect">
                <a:avLst/>
              </a:prstGeom>
              <a:solidFill>
                <a:schemeClr val="bg1"/>
              </a:solidFill>
              <a:ln w="2857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0" name="矩形 170031"/>
              <p:cNvSpPr>
                <a:spLocks noChangeArrowheads="1"/>
              </p:cNvSpPr>
              <p:nvPr/>
            </p:nvSpPr>
            <p:spPr bwMode="auto">
              <a:xfrm>
                <a:off x="0" y="1"/>
                <a:ext cx="140" cy="140"/>
              </a:xfrm>
              <a:prstGeom prst="rect">
                <a:avLst/>
              </a:prstGeom>
              <a:solidFill>
                <a:schemeClr val="bg1"/>
              </a:solidFill>
              <a:ln w="28575">
                <a:solidFill>
                  <a:srgbClr val="333399"/>
                </a:solidFill>
                <a:miter lim="800000"/>
              </a:ln>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171" name="任意多边形 170032"/>
            <p:cNvSpPr>
              <a:spLocks noChangeArrowheads="1"/>
            </p:cNvSpPr>
            <p:nvPr/>
          </p:nvSpPr>
          <p:spPr bwMode="auto">
            <a:xfrm>
              <a:off x="8089797" y="2031683"/>
              <a:ext cx="810920" cy="337820"/>
            </a:xfrm>
            <a:custGeom>
              <a:avLst/>
              <a:gdLst>
                <a:gd name="T0" fmla="*/ 0 w 592"/>
                <a:gd name="T1" fmla="*/ 0 h 240"/>
                <a:gd name="T2" fmla="*/ 592 w 592"/>
                <a:gd name="T3" fmla="*/ 0 h 240"/>
                <a:gd name="T4" fmla="*/ 584 w 592"/>
                <a:gd name="T5" fmla="*/ 240 h 240"/>
              </a:gdLst>
              <a:ahLst/>
              <a:cxnLst>
                <a:cxn ang="0">
                  <a:pos x="T0" y="T1"/>
                </a:cxn>
                <a:cxn ang="0">
                  <a:pos x="T2" y="T3"/>
                </a:cxn>
                <a:cxn ang="0">
                  <a:pos x="T4" y="T5"/>
                </a:cxn>
              </a:cxnLst>
              <a:rect l="0" t="0" r="r" b="b"/>
              <a:pathLst>
                <a:path w="592" h="240">
                  <a:moveTo>
                    <a:pt x="0" y="0"/>
                  </a:moveTo>
                  <a:lnTo>
                    <a:pt x="592" y="0"/>
                  </a:lnTo>
                  <a:lnTo>
                    <a:pt x="584" y="240"/>
                  </a:lnTo>
                </a:path>
              </a:pathLst>
            </a:custGeom>
            <a:noFill/>
            <a:ln w="38100">
              <a:solidFill>
                <a:schemeClr val="hlink"/>
              </a:solidFill>
              <a:rou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2" name="左大括号 170033"/>
            <p:cNvSpPr/>
            <p:nvPr/>
          </p:nvSpPr>
          <p:spPr bwMode="auto">
            <a:xfrm rot="5400000">
              <a:off x="8772447" y="2050711"/>
              <a:ext cx="215900" cy="1441495"/>
            </a:xfrm>
            <a:prstGeom prst="leftBrace">
              <a:avLst>
                <a:gd name="adj1" fmla="val 55514"/>
                <a:gd name="adj2" fmla="val 50000"/>
              </a:avLst>
            </a:pr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3" name="文本框 170034"/>
            <p:cNvSpPr txBox="1">
              <a:spLocks noChangeArrowheads="1"/>
            </p:cNvSpPr>
            <p:nvPr/>
          </p:nvSpPr>
          <p:spPr bwMode="auto">
            <a:xfrm>
              <a:off x="8234582" y="1658938"/>
              <a:ext cx="69217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Light" panose="020B0502040204020203" pitchFamily="34" charset="-122"/>
                  <a:ea typeface="微软雅黑 Light" panose="020B0502040204020203" pitchFamily="34" charset="-122"/>
                </a:rPr>
                <a:t>创建</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74" name="文本框 170035"/>
            <p:cNvSpPr txBox="1">
              <a:spLocks noChangeArrowheads="1"/>
            </p:cNvSpPr>
            <p:nvPr/>
          </p:nvSpPr>
          <p:spPr bwMode="auto">
            <a:xfrm>
              <a:off x="8036403" y="2306638"/>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a:solidFill>
                    <a:srgbClr val="333399"/>
                  </a:solidFill>
                  <a:latin typeface="微软雅黑 Light" panose="020B0502040204020203" pitchFamily="34" charset="-122"/>
                  <a:ea typeface="微软雅黑 Light" panose="020B0502040204020203" pitchFamily="34" charset="-122"/>
                </a:rPr>
                <a:t>从属服务进程</a:t>
              </a:r>
              <a:endParaRPr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176" name="直接连接符 170037"/>
            <p:cNvSpPr>
              <a:spLocks noChangeShapeType="1"/>
            </p:cNvSpPr>
            <p:nvPr/>
          </p:nvSpPr>
          <p:spPr bwMode="auto">
            <a:xfrm flipH="1">
              <a:off x="9510971" y="3473133"/>
              <a:ext cx="387362" cy="16510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7" name="直接连接符 170038"/>
            <p:cNvSpPr>
              <a:spLocks noChangeShapeType="1"/>
            </p:cNvSpPr>
            <p:nvPr/>
          </p:nvSpPr>
          <p:spPr bwMode="auto">
            <a:xfrm flipH="1">
              <a:off x="9025181" y="3384233"/>
              <a:ext cx="841401" cy="24257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8" name="直接连接符 170039"/>
            <p:cNvSpPr>
              <a:spLocks noChangeShapeType="1"/>
            </p:cNvSpPr>
            <p:nvPr/>
          </p:nvSpPr>
          <p:spPr bwMode="auto">
            <a:xfrm>
              <a:off x="6676879" y="3170238"/>
              <a:ext cx="549292" cy="43180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9" name="圆角矩形 170040"/>
            <p:cNvSpPr>
              <a:spLocks noChangeArrowheads="1"/>
            </p:cNvSpPr>
            <p:nvPr/>
          </p:nvSpPr>
          <p:spPr bwMode="auto">
            <a:xfrm>
              <a:off x="6937237" y="3457258"/>
              <a:ext cx="2736935" cy="575945"/>
            </a:xfrm>
            <a:prstGeom prst="roundRect">
              <a:avLst>
                <a:gd name="adj" fmla="val 47657"/>
              </a:avLst>
            </a:prstGeom>
            <a:noFill/>
            <a:ln w="25400">
              <a:solidFill>
                <a:srgbClr val="FF00FF"/>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0" name="文本框 170041"/>
            <p:cNvSpPr txBox="1">
              <a:spLocks noChangeArrowheads="1"/>
            </p:cNvSpPr>
            <p:nvPr/>
          </p:nvSpPr>
          <p:spPr bwMode="auto">
            <a:xfrm>
              <a:off x="5256340" y="5546408"/>
              <a:ext cx="502935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a:solidFill>
                    <a:srgbClr val="333399"/>
                  </a:solidFill>
                  <a:latin typeface="微软雅黑 Light" panose="020B0502040204020203" pitchFamily="34" charset="-122"/>
                  <a:ea typeface="微软雅黑 Light" panose="020B0502040204020203" pitchFamily="34" charset="-122"/>
                </a:rPr>
                <a:t>所有这些套接字都使用服务器的熟知端口号</a:t>
              </a:r>
              <a:endParaRPr lang="zh-CN" altLang="en-US" sz="2000">
                <a:solidFill>
                  <a:srgbClr val="333399"/>
                </a:solidFill>
                <a:latin typeface="微软雅黑 Light" panose="020B0502040204020203" pitchFamily="34" charset="-122"/>
                <a:ea typeface="微软雅黑 Light" panose="020B0502040204020203" pitchFamily="34" charset="-122"/>
              </a:endParaRPr>
            </a:p>
          </p:txBody>
        </p:sp>
        <p:sp>
          <p:nvSpPr>
            <p:cNvPr id="181" name="直接连接符 170042"/>
            <p:cNvSpPr>
              <a:spLocks noChangeShapeType="1"/>
            </p:cNvSpPr>
            <p:nvPr/>
          </p:nvSpPr>
          <p:spPr bwMode="auto">
            <a:xfrm flipV="1">
              <a:off x="7008994" y="4033838"/>
              <a:ext cx="433718" cy="1513205"/>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2" name="灯片编号占位符 1"/>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9F11A6F8-6B94-4BB5-9616-4191E89C6224}" type="slidenum">
              <a:rPr lang="en-US" altLang="zh-CN"/>
            </a:fld>
            <a:endParaRPr lang="en-US" altLang="zh-CN"/>
          </a:p>
        </p:txBody>
      </p:sp>
      <p:sp>
        <p:nvSpPr>
          <p:cNvPr id="279554" name="Rectangle 2"/>
          <p:cNvSpPr>
            <a:spLocks noGrp="1" noChangeArrowheads="1"/>
          </p:cNvSpPr>
          <p:nvPr>
            <p:ph type="title"/>
          </p:nvPr>
        </p:nvSpPr>
        <p:spPr/>
        <p:txBody>
          <a:bodyPr/>
          <a:lstStyle/>
          <a:p>
            <a:pPr algn="ctr"/>
            <a:r>
              <a:rPr lang="en-US" altLang="zh-CN" dirty="0"/>
              <a:t>DNS</a:t>
            </a:r>
            <a:r>
              <a:rPr lang="zh-CN" altLang="en-US" dirty="0"/>
              <a:t>服务</a:t>
            </a:r>
            <a:endParaRPr lang="zh-CN" altLang="en-US" dirty="0"/>
          </a:p>
        </p:txBody>
      </p:sp>
      <p:sp>
        <p:nvSpPr>
          <p:cNvPr id="279555" name="Rectangle 3"/>
          <p:cNvSpPr>
            <a:spLocks noGrp="1" noChangeArrowheads="1"/>
          </p:cNvSpPr>
          <p:nvPr>
            <p:ph type="body" idx="1"/>
          </p:nvPr>
        </p:nvSpPr>
        <p:spPr>
          <a:xfrm>
            <a:off x="334434" y="1052515"/>
            <a:ext cx="11523133" cy="2880542"/>
          </a:xfrm>
        </p:spPr>
        <p:txBody>
          <a:bodyPr/>
          <a:lstStyle/>
          <a:p>
            <a:r>
              <a:rPr lang="en-US" altLang="zh-CN" dirty="0"/>
              <a:t>DNS(</a:t>
            </a:r>
            <a:r>
              <a:rPr lang="zh-CN" altLang="en-US" dirty="0"/>
              <a:t>域名系统、域名服务、域名服务器</a:t>
            </a:r>
            <a:r>
              <a:rPr lang="en-US" altLang="zh-CN" dirty="0"/>
              <a:t>)</a:t>
            </a:r>
            <a:endParaRPr lang="en-US" altLang="zh-CN" dirty="0"/>
          </a:p>
          <a:p>
            <a:pPr lvl="1"/>
            <a:r>
              <a:rPr lang="zh-CN" altLang="en-US" dirty="0"/>
              <a:t>一种能够完成从主机名字到</a:t>
            </a:r>
            <a:r>
              <a:rPr lang="en-US" altLang="zh-CN" dirty="0"/>
              <a:t>IP</a:t>
            </a:r>
            <a:r>
              <a:rPr lang="zh-CN" altLang="en-US" dirty="0"/>
              <a:t>地址或从</a:t>
            </a:r>
            <a:r>
              <a:rPr lang="en-US" altLang="zh-CN" dirty="0"/>
              <a:t>IP</a:t>
            </a:r>
            <a:r>
              <a:rPr lang="zh-CN" altLang="en-US" dirty="0"/>
              <a:t>地址到主机名字的映射</a:t>
            </a:r>
            <a:endParaRPr lang="en-US" altLang="zh-CN" dirty="0"/>
          </a:p>
          <a:p>
            <a:pPr lvl="1"/>
            <a:r>
              <a:rPr lang="zh-CN" altLang="en-US" dirty="0"/>
              <a:t>给计算机取一个有语义的名字，容易记忆</a:t>
            </a:r>
            <a:endParaRPr lang="en-US" altLang="zh-CN" dirty="0"/>
          </a:p>
          <a:p>
            <a:pPr lvl="1"/>
            <a:r>
              <a:rPr lang="zh-CN" altLang="en-US" dirty="0"/>
              <a:t>通信时，仍然需要用</a:t>
            </a:r>
            <a:r>
              <a:rPr lang="en-US" altLang="zh-CN" dirty="0"/>
              <a:t>IP</a:t>
            </a:r>
            <a:r>
              <a:rPr lang="zh-CN" altLang="en-US" dirty="0"/>
              <a:t>地址来通信</a:t>
            </a:r>
            <a:endParaRPr lang="zh-CN" altLang="en-US" dirty="0"/>
          </a:p>
          <a:p>
            <a:r>
              <a:rPr lang="zh-CN" altLang="en-US" dirty="0"/>
              <a:t>由于域名具有文字表达的意义，比</a:t>
            </a:r>
            <a:r>
              <a:rPr lang="en-US" altLang="zh-CN" dirty="0"/>
              <a:t>IP</a:t>
            </a:r>
            <a:r>
              <a:rPr lang="zh-CN" altLang="en-US" dirty="0"/>
              <a:t>地址更容易记忆。</a:t>
            </a:r>
            <a:endParaRPr lang="zh-CN" altLang="en-US" dirty="0"/>
          </a:p>
        </p:txBody>
      </p:sp>
      <p:grpSp>
        <p:nvGrpSpPr>
          <p:cNvPr id="5" name="组合 4"/>
          <p:cNvGrpSpPr/>
          <p:nvPr/>
        </p:nvGrpSpPr>
        <p:grpSpPr bwMode="auto">
          <a:xfrm>
            <a:off x="2639616" y="4148959"/>
            <a:ext cx="6550025" cy="631825"/>
            <a:chOff x="0" y="0"/>
            <a:chExt cx="4126" cy="398"/>
          </a:xfrm>
        </p:grpSpPr>
        <p:sp>
          <p:nvSpPr>
            <p:cNvPr id="7" name="文本框 20484"/>
            <p:cNvSpPr txBox="1">
              <a:spLocks noChangeArrowheads="1"/>
            </p:cNvSpPr>
            <p:nvPr/>
          </p:nvSpPr>
          <p:spPr bwMode="auto">
            <a:xfrm>
              <a:off x="0" y="19"/>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dirty="0">
                  <a:solidFill>
                    <a:schemeClr val="tx1"/>
                  </a:solidFill>
                  <a:latin typeface="微软雅黑 Light" panose="020B0502040204020203" pitchFamily="34" charset="-122"/>
                  <a:ea typeface="微软雅黑 Light" panose="020B0502040204020203" pitchFamily="34" charset="-122"/>
                </a:rPr>
                <a:t>域名</a:t>
              </a:r>
              <a:endParaRPr lang="zh-CN" altLang="en-US" sz="2800" dirty="0">
                <a:solidFill>
                  <a:schemeClr val="tx1"/>
                </a:solidFill>
                <a:latin typeface="微软雅黑 Light" panose="020B0502040204020203" pitchFamily="34" charset="-122"/>
                <a:ea typeface="微软雅黑 Light" panose="020B0502040204020203" pitchFamily="34" charset="-122"/>
              </a:endParaRPr>
            </a:p>
          </p:txBody>
        </p:sp>
        <p:sp>
          <p:nvSpPr>
            <p:cNvPr id="8" name="文本框 20485"/>
            <p:cNvSpPr txBox="1">
              <a:spLocks noChangeArrowheads="1"/>
            </p:cNvSpPr>
            <p:nvPr/>
          </p:nvSpPr>
          <p:spPr bwMode="auto">
            <a:xfrm>
              <a:off x="3344" y="0"/>
              <a:ext cx="78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dirty="0">
                  <a:solidFill>
                    <a:schemeClr val="tx1"/>
                  </a:solidFill>
                  <a:latin typeface="微软雅黑 Light" panose="020B0502040204020203" pitchFamily="34" charset="-122"/>
                  <a:ea typeface="微软雅黑 Light" panose="020B0502040204020203" pitchFamily="34" charset="-122"/>
                  <a:cs typeface="微软雅黑" panose="020B0503020204020204" pitchFamily="34" charset="-122"/>
                </a:rPr>
                <a:t>IP</a:t>
              </a:r>
              <a:r>
                <a:rPr lang="zh-CN" altLang="en-US" sz="2800" dirty="0">
                  <a:solidFill>
                    <a:schemeClr val="tx1"/>
                  </a:solidFill>
                  <a:latin typeface="微软雅黑 Light" panose="020B0502040204020203" pitchFamily="34" charset="-122"/>
                  <a:ea typeface="微软雅黑 Light" panose="020B0502040204020203" pitchFamily="34" charset="-122"/>
                  <a:cs typeface="微软雅黑" panose="020B0503020204020204" pitchFamily="34" charset="-122"/>
                </a:rPr>
                <a:t>地址</a:t>
              </a:r>
              <a:endParaRPr lang="zh-CN" altLang="en-US" sz="2800" dirty="0">
                <a:solidFill>
                  <a:schemeClr val="tx1"/>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9" name="矩形 20486"/>
            <p:cNvSpPr>
              <a:spLocks noChangeArrowheads="1"/>
            </p:cNvSpPr>
            <p:nvPr/>
          </p:nvSpPr>
          <p:spPr bwMode="auto">
            <a:xfrm>
              <a:off x="1244" y="14"/>
              <a:ext cx="1364" cy="384"/>
            </a:xfrm>
            <a:prstGeom prst="rect">
              <a:avLst/>
            </a:prstGeom>
            <a:noFill/>
            <a:ln w="38100">
              <a:solidFill>
                <a:srgbClr val="FF0000"/>
              </a:solidFill>
              <a:miter lim="800000"/>
            </a:ln>
            <a:effectLst>
              <a:outerShdw dist="35921" dir="2700000" algn="ctr" rotWithShape="0">
                <a:schemeClr val="bg2"/>
              </a:outerShdw>
            </a:effectLst>
          </p:spPr>
          <p:txBody>
            <a:bodyPr wrap="none" anchor="ctr"/>
            <a:lstStyle/>
            <a:p>
              <a:pPr algn="ctr" eaLnBrk="0" hangingPunct="0"/>
              <a:r>
                <a:rPr lang="en-US" altLang="zh-CN" sz="2800" dirty="0">
                  <a:solidFill>
                    <a:schemeClr val="tx1"/>
                  </a:solidFill>
                  <a:latin typeface="微软雅黑 Light" panose="020B0502040204020203" pitchFamily="34" charset="-122"/>
                  <a:ea typeface="微软雅黑 Light" panose="020B0502040204020203" pitchFamily="34" charset="-122"/>
                </a:rPr>
                <a:t>DNS</a:t>
              </a:r>
              <a:endParaRPr lang="en-US" altLang="zh-CN" sz="2800" dirty="0">
                <a:solidFill>
                  <a:schemeClr val="tx1"/>
                </a:solidFill>
                <a:latin typeface="微软雅黑 Light" panose="020B0502040204020203" pitchFamily="34" charset="-122"/>
                <a:ea typeface="微软雅黑 Light" panose="020B0502040204020203" pitchFamily="34" charset="-122"/>
              </a:endParaRPr>
            </a:p>
          </p:txBody>
        </p:sp>
        <p:sp>
          <p:nvSpPr>
            <p:cNvPr id="10" name="右箭头 20487"/>
            <p:cNvSpPr>
              <a:spLocks noChangeArrowheads="1"/>
            </p:cNvSpPr>
            <p:nvPr/>
          </p:nvSpPr>
          <p:spPr bwMode="auto">
            <a:xfrm>
              <a:off x="516" y="79"/>
              <a:ext cx="702" cy="208"/>
            </a:xfrm>
            <a:prstGeom prst="rightArrow">
              <a:avLst>
                <a:gd name="adj1" fmla="val 50000"/>
                <a:gd name="adj2" fmla="val 86835"/>
              </a:avLst>
            </a:prstGeom>
            <a:noFill/>
            <a:ln w="38100">
              <a:solidFill>
                <a:srgbClr val="0070C0"/>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11" name="右箭头 20488"/>
            <p:cNvSpPr>
              <a:spLocks noChangeArrowheads="1"/>
            </p:cNvSpPr>
            <p:nvPr/>
          </p:nvSpPr>
          <p:spPr bwMode="auto">
            <a:xfrm>
              <a:off x="2637" y="79"/>
              <a:ext cx="721" cy="208"/>
            </a:xfrm>
            <a:prstGeom prst="rightArrow">
              <a:avLst>
                <a:gd name="adj1" fmla="val 50000"/>
                <a:gd name="adj2" fmla="val 86594"/>
              </a:avLst>
            </a:prstGeom>
            <a:noFill/>
            <a:ln w="38100">
              <a:solidFill>
                <a:srgbClr val="0070C0"/>
              </a:solidFill>
              <a:miter lim="800000"/>
            </a:ln>
          </p:spPr>
          <p:txBody>
            <a:bodyPr/>
            <a:lstStyle/>
            <a:p>
              <a:endParaRPr lang="zh-CN" altLang="en-US">
                <a:solidFill>
                  <a:schemeClr val="tx1"/>
                </a:solidFill>
                <a:latin typeface="微软雅黑 Light" panose="020B0502040204020203" pitchFamily="34" charset="-122"/>
                <a:ea typeface="微软雅黑 Light" panose="020B0502040204020203"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9727BF31-D528-463E-8944-FEC8105C66B2}" type="slidenum">
              <a:rPr lang="en-US" altLang="zh-CN"/>
            </a:fld>
            <a:endParaRPr lang="en-US" altLang="zh-CN"/>
          </a:p>
        </p:txBody>
      </p:sp>
      <p:sp>
        <p:nvSpPr>
          <p:cNvPr id="281602" name="Rectangle 2"/>
          <p:cNvSpPr>
            <a:spLocks noGrp="1" noChangeArrowheads="1"/>
          </p:cNvSpPr>
          <p:nvPr>
            <p:ph type="title"/>
          </p:nvPr>
        </p:nvSpPr>
        <p:spPr/>
        <p:txBody>
          <a:bodyPr/>
          <a:lstStyle/>
          <a:p>
            <a:r>
              <a:rPr lang="en-US" altLang="zh-CN" dirty="0"/>
              <a:t>DNS</a:t>
            </a:r>
            <a:r>
              <a:rPr lang="zh-CN" altLang="en-US" dirty="0"/>
              <a:t>的历史</a:t>
            </a:r>
            <a:endParaRPr lang="zh-CN" altLang="en-US" dirty="0"/>
          </a:p>
        </p:txBody>
      </p:sp>
      <p:sp>
        <p:nvSpPr>
          <p:cNvPr id="281603" name="Rectangle 3"/>
          <p:cNvSpPr>
            <a:spLocks noGrp="1" noChangeArrowheads="1"/>
          </p:cNvSpPr>
          <p:nvPr>
            <p:ph type="body" idx="1"/>
          </p:nvPr>
        </p:nvSpPr>
        <p:spPr/>
        <p:txBody>
          <a:bodyPr/>
          <a:lstStyle/>
          <a:p>
            <a:r>
              <a:rPr lang="en-US" altLang="zh-CN" dirty="0"/>
              <a:t>ARPANET</a:t>
            </a:r>
            <a:r>
              <a:rPr lang="zh-CN" altLang="en-US" dirty="0"/>
              <a:t>时期：</a:t>
            </a:r>
            <a:r>
              <a:rPr lang="en-US" altLang="zh-CN" dirty="0"/>
              <a:t>HOSTS</a:t>
            </a:r>
            <a:r>
              <a:rPr lang="zh-CN" altLang="en-US" dirty="0"/>
              <a:t>方式</a:t>
            </a:r>
            <a:endParaRPr lang="zh-CN" altLang="en-US" dirty="0"/>
          </a:p>
          <a:p>
            <a:pPr lvl="1"/>
            <a:r>
              <a:rPr lang="en-US" altLang="zh-CN" dirty="0"/>
              <a:t>ARPANET</a:t>
            </a:r>
            <a:r>
              <a:rPr lang="zh-CN" altLang="en-US" dirty="0"/>
              <a:t>的域名与</a:t>
            </a:r>
            <a:r>
              <a:rPr lang="en-US" altLang="zh-CN" dirty="0"/>
              <a:t>IP</a:t>
            </a:r>
            <a:r>
              <a:rPr lang="zh-CN" altLang="en-US" dirty="0"/>
              <a:t>地址的映射是依靠一个文本文件（</a:t>
            </a:r>
            <a:r>
              <a:rPr lang="en-US" altLang="zh-CN" dirty="0"/>
              <a:t>HOSTS</a:t>
            </a:r>
            <a:r>
              <a:rPr lang="zh-CN" altLang="en-US" dirty="0"/>
              <a:t>）来实现 </a:t>
            </a:r>
            <a:r>
              <a:rPr lang="en-US" altLang="zh-CN" dirty="0"/>
              <a:t>HOSTS</a:t>
            </a:r>
            <a:r>
              <a:rPr lang="zh-CN" altLang="en-US" dirty="0"/>
              <a:t>文件包含了主机的名称到地址的映射</a:t>
            </a:r>
            <a:endParaRPr lang="en-US" altLang="zh-CN" dirty="0"/>
          </a:p>
          <a:p>
            <a:r>
              <a:rPr lang="zh-CN" altLang="en-US" dirty="0"/>
              <a:t>互联网的规模发展</a:t>
            </a:r>
            <a:endParaRPr lang="en-US" altLang="zh-CN" dirty="0"/>
          </a:p>
          <a:p>
            <a:pPr lvl="1"/>
            <a:r>
              <a:rPr lang="en-US" altLang="zh-CN" dirty="0"/>
              <a:t>HOSTS </a:t>
            </a:r>
            <a:r>
              <a:rPr lang="zh-CN" altLang="en-US" dirty="0"/>
              <a:t>文件机制不具备可缩放性，限制了网络规模</a:t>
            </a:r>
            <a:endParaRPr lang="en-US" altLang="zh-CN" dirty="0"/>
          </a:p>
          <a:p>
            <a:pPr lvl="1"/>
            <a:r>
              <a:rPr lang="zh-CN" altLang="en-US" dirty="0"/>
              <a:t>需要集中管理来防止主机名冲突</a:t>
            </a:r>
            <a:endParaRPr lang="zh-CN" altLang="en-US" dirty="0"/>
          </a:p>
          <a:p>
            <a:r>
              <a:rPr lang="en-US" altLang="zh-CN" dirty="0"/>
              <a:t>DNS</a:t>
            </a:r>
            <a:r>
              <a:rPr lang="zh-CN" altLang="en-US" dirty="0"/>
              <a:t>的出现</a:t>
            </a:r>
            <a:endParaRPr lang="zh-CN" altLang="en-US" dirty="0"/>
          </a:p>
          <a:p>
            <a:pPr lvl="1"/>
            <a:r>
              <a:rPr lang="en-US" altLang="zh-CN" dirty="0"/>
              <a:t>1984</a:t>
            </a:r>
            <a:r>
              <a:rPr lang="zh-CN" altLang="en-US" dirty="0"/>
              <a:t>年</a:t>
            </a:r>
            <a:r>
              <a:rPr lang="en-US" altLang="zh-CN" dirty="0"/>
              <a:t>USC</a:t>
            </a:r>
            <a:r>
              <a:rPr lang="zh-CN" altLang="en-US" dirty="0"/>
              <a:t>（</a:t>
            </a:r>
            <a:r>
              <a:rPr lang="en-US" altLang="zh-CN" dirty="0"/>
              <a:t>University of Southern California </a:t>
            </a:r>
            <a:r>
              <a:rPr lang="zh-CN" altLang="en-US" dirty="0"/>
              <a:t>）发布了</a:t>
            </a:r>
            <a:r>
              <a:rPr lang="en-US" altLang="zh-CN" dirty="0"/>
              <a:t>RFC882-883</a:t>
            </a:r>
            <a:r>
              <a:rPr lang="zh-CN" altLang="en-US" dirty="0"/>
              <a:t>，定义了</a:t>
            </a:r>
            <a:r>
              <a:rPr lang="en-US" altLang="zh-CN" dirty="0"/>
              <a:t>DNS</a:t>
            </a:r>
            <a:r>
              <a:rPr lang="zh-CN" altLang="en-US" dirty="0"/>
              <a:t>，形成了现在的域名系统标准</a:t>
            </a:r>
            <a:endParaRPr lang="zh-CN" altLang="en-US" dirty="0"/>
          </a:p>
          <a:p>
            <a:r>
              <a:rPr lang="zh-CN" altLang="en-US" dirty="0"/>
              <a:t>采用了一种层次的、基于域的命名模式，并使用分布式数据库系统实现</a:t>
            </a:r>
            <a:endParaRPr lang="zh-CN" altLang="en-US" dirty="0"/>
          </a:p>
          <a:p>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域名系统概述</a:t>
            </a:r>
            <a:endParaRPr lang="zh-CN" altLang="en-US" dirty="0"/>
          </a:p>
        </p:txBody>
      </p:sp>
      <p:sp>
        <p:nvSpPr>
          <p:cNvPr id="3" name="内容占位符 2"/>
          <p:cNvSpPr>
            <a:spLocks noGrp="1"/>
          </p:cNvSpPr>
          <p:nvPr>
            <p:ph idx="1"/>
          </p:nvPr>
        </p:nvSpPr>
        <p:spPr/>
        <p:txBody>
          <a:bodyPr/>
          <a:lstStyle/>
          <a:p>
            <a:r>
              <a:rPr lang="zh-CN" altLang="en-US" dirty="0"/>
              <a:t>域名系统（</a:t>
            </a:r>
            <a:r>
              <a:rPr lang="en-US" altLang="zh-CN" dirty="0"/>
              <a:t>DNS</a:t>
            </a:r>
            <a:r>
              <a:rPr lang="zh-CN" altLang="en-US" dirty="0"/>
              <a:t>，</a:t>
            </a:r>
            <a:r>
              <a:rPr lang="en-US" altLang="zh-CN" dirty="0"/>
              <a:t>Domain Name System</a:t>
            </a:r>
            <a:r>
              <a:rPr lang="zh-CN" altLang="en-US" dirty="0"/>
              <a:t>）是互联网重要的基础设施之一</a:t>
            </a:r>
            <a:endParaRPr lang="en-US" altLang="zh-CN" dirty="0"/>
          </a:p>
          <a:p>
            <a:r>
              <a:rPr lang="zh-CN" altLang="en-US" dirty="0"/>
              <a:t>向所有需要域名解析的应用提供服务，主要负责将可读性好的域名映射成</a:t>
            </a:r>
            <a:r>
              <a:rPr lang="en-US" altLang="zh-CN" dirty="0"/>
              <a:t>IP</a:t>
            </a:r>
            <a:r>
              <a:rPr lang="zh-CN" altLang="en-US" dirty="0"/>
              <a:t>地址</a:t>
            </a:r>
            <a:endParaRPr lang="zh-CN" altLang="en-US" dirty="0"/>
          </a:p>
          <a:p>
            <a:r>
              <a:rPr lang="en-US" altLang="zh-CN" dirty="0"/>
              <a:t>Internet</a:t>
            </a:r>
            <a:r>
              <a:rPr lang="zh-CN" altLang="en-US" dirty="0"/>
              <a:t>采用层次结构的命名树作为主机的名字，并使用分布式的联机分布式数据库系统</a:t>
            </a:r>
            <a:endParaRPr lang="zh-CN" altLang="en-US" dirty="0"/>
          </a:p>
          <a:p>
            <a:r>
              <a:rPr lang="zh-CN" altLang="en-US" dirty="0"/>
              <a:t>域名解析是由若干个域名服务器程序完成的，域名服务器程序在专设的结点上运行</a:t>
            </a:r>
            <a:endParaRPr lang="en-US" altLang="zh-CN" dirty="0"/>
          </a:p>
          <a:p>
            <a:pPr lvl="1"/>
            <a:r>
              <a:rPr lang="zh-CN" altLang="en-US" dirty="0"/>
              <a:t>相应的结点称为名字服务器</a:t>
            </a:r>
            <a:r>
              <a:rPr lang="en-US" altLang="zh-CN" dirty="0"/>
              <a:t>(Name Server)</a:t>
            </a:r>
            <a:r>
              <a:rPr lang="zh-CN" altLang="en-US" dirty="0"/>
              <a:t>或域名服务器</a:t>
            </a:r>
            <a:r>
              <a:rPr lang="en-US" altLang="zh-CN" dirty="0"/>
              <a:t>(Domain Name Server)</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ym typeface="+mn-ea"/>
              </a:rPr>
              <a:t>域名系统名字空间的层次化结构</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106" name="组合 105"/>
          <p:cNvGrpSpPr/>
          <p:nvPr/>
        </p:nvGrpSpPr>
        <p:grpSpPr>
          <a:xfrm>
            <a:off x="913991" y="1130300"/>
            <a:ext cx="10364018" cy="4484822"/>
            <a:chOff x="-80317" y="1223645"/>
            <a:chExt cx="10700294" cy="5265420"/>
          </a:xfrm>
        </p:grpSpPr>
        <p:sp>
          <p:nvSpPr>
            <p:cNvPr id="107" name="矩形 11266"/>
            <p:cNvSpPr>
              <a:spLocks noChangeArrowheads="1"/>
            </p:cNvSpPr>
            <p:nvPr/>
          </p:nvSpPr>
          <p:spPr bwMode="auto">
            <a:xfrm>
              <a:off x="1389138" y="4837877"/>
              <a:ext cx="9212251" cy="84367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08" name="矩形 11267"/>
            <p:cNvSpPr>
              <a:spLocks noChangeArrowheads="1"/>
            </p:cNvSpPr>
            <p:nvPr/>
          </p:nvSpPr>
          <p:spPr bwMode="auto">
            <a:xfrm>
              <a:off x="1398752" y="5681550"/>
              <a:ext cx="9194625" cy="807515"/>
            </a:xfrm>
            <a:prstGeom prst="rect">
              <a:avLst/>
            </a:prstGeom>
            <a:solidFill>
              <a:srgbClr val="CC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09" name="矩形 11268"/>
            <p:cNvSpPr>
              <a:spLocks noChangeArrowheads="1"/>
            </p:cNvSpPr>
            <p:nvPr/>
          </p:nvSpPr>
          <p:spPr bwMode="auto">
            <a:xfrm>
              <a:off x="1381125" y="3061646"/>
              <a:ext cx="9212252" cy="1803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0" name="矩形 11269"/>
            <p:cNvSpPr>
              <a:spLocks noChangeArrowheads="1"/>
            </p:cNvSpPr>
            <p:nvPr/>
          </p:nvSpPr>
          <p:spPr bwMode="auto">
            <a:xfrm>
              <a:off x="1381126" y="1832294"/>
              <a:ext cx="9212252" cy="129564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1" name="直接连接符 11271"/>
            <p:cNvSpPr>
              <a:spLocks noChangeShapeType="1"/>
            </p:cNvSpPr>
            <p:nvPr/>
          </p:nvSpPr>
          <p:spPr bwMode="auto">
            <a:xfrm flipV="1">
              <a:off x="1560595" y="2294807"/>
              <a:ext cx="8904589"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2" name="直接连接符 11272"/>
            <p:cNvSpPr>
              <a:spLocks noChangeShapeType="1"/>
            </p:cNvSpPr>
            <p:nvPr/>
          </p:nvSpPr>
          <p:spPr bwMode="auto">
            <a:xfrm rot="16200000">
              <a:off x="2760565" y="2471829"/>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3" name="直接连接符 11273"/>
            <p:cNvSpPr>
              <a:spLocks noChangeShapeType="1"/>
            </p:cNvSpPr>
            <p:nvPr/>
          </p:nvSpPr>
          <p:spPr bwMode="auto">
            <a:xfrm rot="16200000">
              <a:off x="3339884" y="2471075"/>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4" name="直接连接符 11274"/>
            <p:cNvSpPr>
              <a:spLocks noChangeShapeType="1"/>
            </p:cNvSpPr>
            <p:nvPr/>
          </p:nvSpPr>
          <p:spPr bwMode="auto">
            <a:xfrm rot="16200000">
              <a:off x="3923914" y="2447724"/>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5" name="直接连接符 11275"/>
            <p:cNvSpPr>
              <a:spLocks noChangeShapeType="1"/>
            </p:cNvSpPr>
            <p:nvPr/>
          </p:nvSpPr>
          <p:spPr bwMode="auto">
            <a:xfrm rot="16200000">
              <a:off x="4507191"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6" name="直接连接符 11276"/>
            <p:cNvSpPr>
              <a:spLocks noChangeShapeType="1"/>
            </p:cNvSpPr>
            <p:nvPr/>
          </p:nvSpPr>
          <p:spPr bwMode="auto">
            <a:xfrm rot="16200000">
              <a:off x="5090468"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7" name="直接连接符 11277"/>
            <p:cNvSpPr>
              <a:spLocks noChangeShapeType="1"/>
            </p:cNvSpPr>
            <p:nvPr/>
          </p:nvSpPr>
          <p:spPr bwMode="auto">
            <a:xfrm rot="16200000">
              <a:off x="5669788"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8" name="直接连接符 11278"/>
            <p:cNvSpPr>
              <a:spLocks noChangeShapeType="1"/>
            </p:cNvSpPr>
            <p:nvPr/>
          </p:nvSpPr>
          <p:spPr bwMode="auto">
            <a:xfrm rot="16200000">
              <a:off x="6253817"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19" name="直接连接符 11279"/>
            <p:cNvSpPr>
              <a:spLocks noChangeShapeType="1"/>
            </p:cNvSpPr>
            <p:nvPr/>
          </p:nvSpPr>
          <p:spPr bwMode="auto">
            <a:xfrm rot="16200000">
              <a:off x="6837094"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20" name="直接连接符 11280"/>
            <p:cNvSpPr>
              <a:spLocks noChangeShapeType="1"/>
            </p:cNvSpPr>
            <p:nvPr/>
          </p:nvSpPr>
          <p:spPr bwMode="auto">
            <a:xfrm rot="16200000">
              <a:off x="7416414"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21" name="直接连接符 11281"/>
            <p:cNvSpPr>
              <a:spLocks noChangeShapeType="1"/>
            </p:cNvSpPr>
            <p:nvPr/>
          </p:nvSpPr>
          <p:spPr bwMode="auto">
            <a:xfrm rot="16200000">
              <a:off x="7999691"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22" name="直接连接符 11282"/>
            <p:cNvSpPr>
              <a:spLocks noChangeShapeType="1"/>
            </p:cNvSpPr>
            <p:nvPr/>
          </p:nvSpPr>
          <p:spPr bwMode="auto">
            <a:xfrm rot="16200000">
              <a:off x="8583720"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23" name="直接连接符 11283"/>
            <p:cNvSpPr>
              <a:spLocks noChangeShapeType="1"/>
            </p:cNvSpPr>
            <p:nvPr/>
          </p:nvSpPr>
          <p:spPr bwMode="auto">
            <a:xfrm rot="16200000">
              <a:off x="9129485" y="2446970"/>
              <a:ext cx="27419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24" name="直接连接符 11284"/>
            <p:cNvSpPr>
              <a:spLocks noChangeShapeType="1"/>
            </p:cNvSpPr>
            <p:nvPr/>
          </p:nvSpPr>
          <p:spPr bwMode="auto">
            <a:xfrm rot="5400000" flipH="1">
              <a:off x="9711159" y="2446970"/>
              <a:ext cx="27419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25" name="文本框 11285"/>
            <p:cNvSpPr txBox="1">
              <a:spLocks noChangeArrowheads="1"/>
            </p:cNvSpPr>
            <p:nvPr/>
          </p:nvSpPr>
          <p:spPr bwMode="auto">
            <a:xfrm>
              <a:off x="4949691" y="2493672"/>
              <a:ext cx="71659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CC00CC"/>
                  </a:solidFill>
                  <a:effectLst/>
                  <a:uLnTx/>
                  <a:uFillTx/>
                  <a:latin typeface="微软雅黑 Light" panose="020B0502040204020203" pitchFamily="34" charset="-122"/>
                  <a:ea typeface="微软雅黑 Light" panose="020B0502040204020203" pitchFamily="34" charset="-122"/>
                </a:rPr>
                <a:t>com</a:t>
              </a:r>
              <a:endParaRPr kumimoji="0" lang="en-US" altLang="zh-CN" sz="1800" b="0" i="0" u="none" strike="noStrike" kern="0" cap="none" spc="0" normalizeH="0" baseline="0" noProof="0">
                <a:ln>
                  <a:noFill/>
                </a:ln>
                <a:solidFill>
                  <a:srgbClr val="CC00CC"/>
                </a:solidFill>
                <a:effectLst/>
                <a:uLnTx/>
                <a:uFillTx/>
                <a:latin typeface="微软雅黑 Light" panose="020B0502040204020203" pitchFamily="34" charset="-122"/>
                <a:ea typeface="微软雅黑 Light" panose="020B0502040204020203" pitchFamily="34" charset="-122"/>
              </a:endParaRPr>
            </a:p>
          </p:txBody>
        </p:sp>
        <p:sp>
          <p:nvSpPr>
            <p:cNvPr id="126" name="文本框 11286"/>
            <p:cNvSpPr txBox="1">
              <a:spLocks noChangeArrowheads="1"/>
            </p:cNvSpPr>
            <p:nvPr/>
          </p:nvSpPr>
          <p:spPr bwMode="auto">
            <a:xfrm>
              <a:off x="5529763" y="2493672"/>
              <a:ext cx="58327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net</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27" name="文本框 11287"/>
            <p:cNvSpPr txBox="1">
              <a:spLocks noChangeArrowheads="1"/>
            </p:cNvSpPr>
            <p:nvPr/>
          </p:nvSpPr>
          <p:spPr bwMode="auto">
            <a:xfrm>
              <a:off x="6093811" y="2493672"/>
              <a:ext cx="605711"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org</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28" name="文本框 11288"/>
            <p:cNvSpPr txBox="1">
              <a:spLocks noChangeArrowheads="1"/>
            </p:cNvSpPr>
            <p:nvPr/>
          </p:nvSpPr>
          <p:spPr bwMode="auto">
            <a:xfrm>
              <a:off x="6675486" y="2493672"/>
              <a:ext cx="65186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edu</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29" name="文本框 11289"/>
            <p:cNvSpPr txBox="1">
              <a:spLocks noChangeArrowheads="1"/>
            </p:cNvSpPr>
            <p:nvPr/>
          </p:nvSpPr>
          <p:spPr bwMode="auto">
            <a:xfrm>
              <a:off x="7257161" y="2493672"/>
              <a:ext cx="646091"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gov</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0" name="文本框 11290"/>
            <p:cNvSpPr txBox="1">
              <a:spLocks noChangeArrowheads="1"/>
            </p:cNvSpPr>
            <p:nvPr/>
          </p:nvSpPr>
          <p:spPr bwMode="auto">
            <a:xfrm>
              <a:off x="7859667" y="2493672"/>
              <a:ext cx="560842"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mil</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1" name="文本框 11291"/>
            <p:cNvSpPr txBox="1">
              <a:spLocks noChangeArrowheads="1"/>
            </p:cNvSpPr>
            <p:nvPr/>
          </p:nvSpPr>
          <p:spPr bwMode="auto">
            <a:xfrm>
              <a:off x="2289692" y="2493672"/>
              <a:ext cx="80248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coop</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2" name="文本框 11292"/>
            <p:cNvSpPr txBox="1">
              <a:spLocks noChangeArrowheads="1"/>
            </p:cNvSpPr>
            <p:nvPr/>
          </p:nvSpPr>
          <p:spPr bwMode="auto">
            <a:xfrm>
              <a:off x="3735065" y="2493672"/>
              <a:ext cx="542255"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biz</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3" name="文本框 11293"/>
            <p:cNvSpPr txBox="1">
              <a:spLocks noChangeArrowheads="1"/>
            </p:cNvSpPr>
            <p:nvPr/>
          </p:nvSpPr>
          <p:spPr bwMode="auto">
            <a:xfrm>
              <a:off x="3054040" y="2493672"/>
              <a:ext cx="662116"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info</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4" name="文本框 11294"/>
            <p:cNvSpPr txBox="1">
              <a:spLocks noChangeArrowheads="1"/>
            </p:cNvSpPr>
            <p:nvPr/>
          </p:nvSpPr>
          <p:spPr bwMode="auto">
            <a:xfrm>
              <a:off x="4227004" y="2493672"/>
              <a:ext cx="728776"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aero</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5" name="文本框 11295"/>
            <p:cNvSpPr txBox="1">
              <a:spLocks noChangeArrowheads="1"/>
            </p:cNvSpPr>
            <p:nvPr/>
          </p:nvSpPr>
          <p:spPr bwMode="auto">
            <a:xfrm>
              <a:off x="8450955" y="2493672"/>
              <a:ext cx="50572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int</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6" name="文本框 11296"/>
            <p:cNvSpPr txBox="1">
              <a:spLocks noChangeArrowheads="1"/>
            </p:cNvSpPr>
            <p:nvPr/>
          </p:nvSpPr>
          <p:spPr bwMode="auto">
            <a:xfrm>
              <a:off x="9082304" y="2493672"/>
              <a:ext cx="471108"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CC00CC"/>
                  </a:solidFill>
                  <a:effectLst/>
                  <a:uLnTx/>
                  <a:uFillTx/>
                  <a:latin typeface="微软雅黑 Light" panose="020B0502040204020203" pitchFamily="34" charset="-122"/>
                  <a:ea typeface="微软雅黑 Light" panose="020B0502040204020203" pitchFamily="34" charset="-122"/>
                </a:rPr>
                <a:t>cn</a:t>
              </a:r>
              <a:endParaRPr kumimoji="0" lang="en-US" altLang="zh-CN" sz="1800" b="0" i="0" u="none" strike="noStrike" kern="0" cap="none" spc="0" normalizeH="0" baseline="0" noProof="0">
                <a:ln>
                  <a:noFill/>
                </a:ln>
                <a:solidFill>
                  <a:srgbClr val="CC00CC"/>
                </a:solidFill>
                <a:effectLst/>
                <a:uLnTx/>
                <a:uFillTx/>
                <a:latin typeface="微软雅黑 Light" panose="020B0502040204020203" pitchFamily="34" charset="-122"/>
                <a:ea typeface="微软雅黑 Light" panose="020B0502040204020203" pitchFamily="34" charset="-122"/>
              </a:endParaRPr>
            </a:p>
          </p:txBody>
        </p:sp>
        <p:sp>
          <p:nvSpPr>
            <p:cNvPr id="137" name="文本框 11297"/>
            <p:cNvSpPr txBox="1">
              <a:spLocks noChangeArrowheads="1"/>
            </p:cNvSpPr>
            <p:nvPr/>
          </p:nvSpPr>
          <p:spPr bwMode="auto">
            <a:xfrm>
              <a:off x="9633533" y="2493672"/>
              <a:ext cx="482005"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uk</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38" name="文本框 11298"/>
            <p:cNvSpPr txBox="1">
              <a:spLocks noChangeArrowheads="1"/>
            </p:cNvSpPr>
            <p:nvPr/>
          </p:nvSpPr>
          <p:spPr bwMode="auto">
            <a:xfrm>
              <a:off x="9976449" y="2127580"/>
              <a:ext cx="643528" cy="8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rPr>
                <a:t>…</a:t>
              </a:r>
              <a:endParaRPr kumimoji="0" lang="en-US" altLang="zh-CN" sz="40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39" name="直接连接符 11299"/>
            <p:cNvSpPr>
              <a:spLocks noChangeShapeType="1"/>
            </p:cNvSpPr>
            <p:nvPr/>
          </p:nvSpPr>
          <p:spPr bwMode="auto">
            <a:xfrm rot="16200000">
              <a:off x="8758529" y="3414934"/>
              <a:ext cx="1080202"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0" name="直接连接符 11300"/>
            <p:cNvSpPr>
              <a:spLocks noChangeShapeType="1"/>
            </p:cNvSpPr>
            <p:nvPr/>
          </p:nvSpPr>
          <p:spPr bwMode="auto">
            <a:xfrm rot="16200000">
              <a:off x="9413768"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1" name="直接连接符 11301"/>
            <p:cNvSpPr>
              <a:spLocks noChangeShapeType="1"/>
            </p:cNvSpPr>
            <p:nvPr/>
          </p:nvSpPr>
          <p:spPr bwMode="auto">
            <a:xfrm rot="16200000">
              <a:off x="8834450"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2" name="直接连接符 11302"/>
            <p:cNvSpPr>
              <a:spLocks noChangeShapeType="1"/>
            </p:cNvSpPr>
            <p:nvPr/>
          </p:nvSpPr>
          <p:spPr bwMode="auto">
            <a:xfrm rot="16200000">
              <a:off x="8251173"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3" name="直接连接符 11303"/>
            <p:cNvSpPr>
              <a:spLocks noChangeShapeType="1"/>
            </p:cNvSpPr>
            <p:nvPr/>
          </p:nvSpPr>
          <p:spPr bwMode="auto">
            <a:xfrm rot="16200000">
              <a:off x="7667142"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4" name="直接连接符 11304"/>
            <p:cNvSpPr>
              <a:spLocks noChangeShapeType="1"/>
            </p:cNvSpPr>
            <p:nvPr/>
          </p:nvSpPr>
          <p:spPr bwMode="auto">
            <a:xfrm rot="16200000">
              <a:off x="7087823"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5" name="直接连接符 11305"/>
            <p:cNvSpPr>
              <a:spLocks noChangeShapeType="1"/>
            </p:cNvSpPr>
            <p:nvPr/>
          </p:nvSpPr>
          <p:spPr bwMode="auto">
            <a:xfrm rot="16200000">
              <a:off x="6504546"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6" name="直接连接符 11306"/>
            <p:cNvSpPr>
              <a:spLocks noChangeShapeType="1"/>
            </p:cNvSpPr>
            <p:nvPr/>
          </p:nvSpPr>
          <p:spPr bwMode="auto">
            <a:xfrm rot="16200000">
              <a:off x="5920516"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7" name="直接连接符 11307"/>
            <p:cNvSpPr>
              <a:spLocks noChangeShapeType="1"/>
            </p:cNvSpPr>
            <p:nvPr/>
          </p:nvSpPr>
          <p:spPr bwMode="auto">
            <a:xfrm rot="16200000">
              <a:off x="5337239"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8" name="直接连接符 11308"/>
            <p:cNvSpPr>
              <a:spLocks noChangeShapeType="1"/>
            </p:cNvSpPr>
            <p:nvPr/>
          </p:nvSpPr>
          <p:spPr bwMode="auto">
            <a:xfrm rot="16200000">
              <a:off x="4757920"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49" name="直接连接符 11309"/>
            <p:cNvSpPr>
              <a:spLocks noChangeShapeType="1"/>
            </p:cNvSpPr>
            <p:nvPr/>
          </p:nvSpPr>
          <p:spPr bwMode="auto">
            <a:xfrm rot="16200000">
              <a:off x="9997045"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50" name="文本框 11310"/>
            <p:cNvSpPr txBox="1">
              <a:spLocks noChangeArrowheads="1"/>
            </p:cNvSpPr>
            <p:nvPr/>
          </p:nvSpPr>
          <p:spPr bwMode="auto">
            <a:xfrm>
              <a:off x="4642029" y="4095145"/>
              <a:ext cx="482005"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hk</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1" name="文本框 11311"/>
            <p:cNvSpPr txBox="1">
              <a:spLocks noChangeArrowheads="1"/>
            </p:cNvSpPr>
            <p:nvPr/>
          </p:nvSpPr>
          <p:spPr bwMode="auto">
            <a:xfrm>
              <a:off x="5225306" y="4095145"/>
              <a:ext cx="371759"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js</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2" name="文本框 11312"/>
            <p:cNvSpPr txBox="1">
              <a:spLocks noChangeArrowheads="1"/>
            </p:cNvSpPr>
            <p:nvPr/>
          </p:nvSpPr>
          <p:spPr bwMode="auto">
            <a:xfrm>
              <a:off x="5806980" y="4095145"/>
              <a:ext cx="460853"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sh</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3" name="文本框 11313"/>
            <p:cNvSpPr txBox="1">
              <a:spLocks noChangeArrowheads="1"/>
            </p:cNvSpPr>
            <p:nvPr/>
          </p:nvSpPr>
          <p:spPr bwMode="auto">
            <a:xfrm>
              <a:off x="6390257" y="4095145"/>
              <a:ext cx="416626"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bj</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4" name="文本框 11314"/>
            <p:cNvSpPr txBox="1">
              <a:spLocks noChangeArrowheads="1"/>
            </p:cNvSpPr>
            <p:nvPr/>
          </p:nvSpPr>
          <p:spPr bwMode="auto">
            <a:xfrm>
              <a:off x="6930269" y="4110210"/>
              <a:ext cx="605711"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org</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5" name="文本框 11315"/>
            <p:cNvSpPr txBox="1">
              <a:spLocks noChangeArrowheads="1"/>
            </p:cNvSpPr>
            <p:nvPr/>
          </p:nvSpPr>
          <p:spPr bwMode="auto">
            <a:xfrm>
              <a:off x="7499124" y="4095145"/>
              <a:ext cx="58327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net</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6" name="文本框 11316"/>
            <p:cNvSpPr txBox="1">
              <a:spLocks noChangeArrowheads="1"/>
            </p:cNvSpPr>
            <p:nvPr/>
          </p:nvSpPr>
          <p:spPr bwMode="auto">
            <a:xfrm>
              <a:off x="8136883" y="4095145"/>
              <a:ext cx="646091"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gov</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7" name="文本框 11317"/>
            <p:cNvSpPr txBox="1">
              <a:spLocks noChangeArrowheads="1"/>
            </p:cNvSpPr>
            <p:nvPr/>
          </p:nvSpPr>
          <p:spPr bwMode="auto">
            <a:xfrm>
              <a:off x="8720160" y="4095145"/>
              <a:ext cx="65186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CC00CC"/>
                  </a:solidFill>
                  <a:effectLst/>
                  <a:uLnTx/>
                  <a:uFillTx/>
                  <a:latin typeface="微软雅黑 Light" panose="020B0502040204020203" pitchFamily="34" charset="-122"/>
                  <a:ea typeface="微软雅黑 Light" panose="020B0502040204020203" pitchFamily="34" charset="-122"/>
                </a:rPr>
                <a:t>edu</a:t>
              </a:r>
              <a:endParaRPr kumimoji="0" lang="en-US" altLang="zh-CN" sz="1800" b="0" i="0" u="none" strike="noStrike" kern="0" cap="none" spc="0" normalizeH="0" baseline="0" noProof="0">
                <a:ln>
                  <a:noFill/>
                </a:ln>
                <a:solidFill>
                  <a:srgbClr val="CC00CC"/>
                </a:solidFill>
                <a:effectLst/>
                <a:uLnTx/>
                <a:uFillTx/>
                <a:latin typeface="微软雅黑 Light" panose="020B0502040204020203" pitchFamily="34" charset="-122"/>
                <a:ea typeface="微软雅黑 Light" panose="020B0502040204020203" pitchFamily="34" charset="-122"/>
              </a:endParaRPr>
            </a:p>
          </p:txBody>
        </p:sp>
        <p:sp>
          <p:nvSpPr>
            <p:cNvPr id="158" name="文本框 11318"/>
            <p:cNvSpPr txBox="1">
              <a:spLocks noChangeArrowheads="1"/>
            </p:cNvSpPr>
            <p:nvPr/>
          </p:nvSpPr>
          <p:spPr bwMode="auto">
            <a:xfrm>
              <a:off x="9303437" y="4095145"/>
              <a:ext cx="71659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com</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59" name="文本框 11319"/>
            <p:cNvSpPr txBox="1">
              <a:spLocks noChangeArrowheads="1"/>
            </p:cNvSpPr>
            <p:nvPr/>
          </p:nvSpPr>
          <p:spPr bwMode="auto">
            <a:xfrm>
              <a:off x="9885112" y="4095145"/>
              <a:ext cx="455084"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ac</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60" name="文本框 11320"/>
            <p:cNvSpPr txBox="1">
              <a:spLocks noChangeArrowheads="1"/>
            </p:cNvSpPr>
            <p:nvPr/>
          </p:nvSpPr>
          <p:spPr bwMode="auto">
            <a:xfrm>
              <a:off x="4164511" y="3726037"/>
              <a:ext cx="643528" cy="8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a:t>
              </a:r>
              <a:endParaRPr kumimoji="0" lang="en-US" altLang="zh-CN" sz="40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61" name="直接连接符 11321"/>
            <p:cNvSpPr>
              <a:spLocks noChangeShapeType="1"/>
            </p:cNvSpPr>
            <p:nvPr/>
          </p:nvSpPr>
          <p:spPr bwMode="auto">
            <a:xfrm rot="16200000">
              <a:off x="8789253" y="4675170"/>
              <a:ext cx="358561"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62" name="文本框 11322"/>
            <p:cNvSpPr txBox="1">
              <a:spLocks noChangeArrowheads="1"/>
            </p:cNvSpPr>
            <p:nvPr/>
          </p:nvSpPr>
          <p:spPr bwMode="auto">
            <a:xfrm>
              <a:off x="7020004" y="5026198"/>
              <a:ext cx="64545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pku</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63" name="文本框 11323"/>
            <p:cNvSpPr txBox="1">
              <a:spLocks noChangeArrowheads="1"/>
            </p:cNvSpPr>
            <p:nvPr/>
          </p:nvSpPr>
          <p:spPr bwMode="auto">
            <a:xfrm>
              <a:off x="7656160" y="5024691"/>
              <a:ext cx="894785"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srgbClr val="333399"/>
                  </a:solidFill>
                  <a:effectLst/>
                  <a:uLnTx/>
                  <a:uFillTx/>
                  <a:latin typeface="微软雅黑 Light" panose="020B0502040204020203" pitchFamily="34" charset="-122"/>
                  <a:ea typeface="微软雅黑 Light" panose="020B0502040204020203" pitchFamily="34" charset="-122"/>
                </a:rPr>
                <a:t>fudan</a:t>
              </a:r>
              <a:endParaRPr kumimoji="0" lang="en-US" altLang="zh-CN" sz="18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64" name="文本框 11324"/>
            <p:cNvSpPr txBox="1">
              <a:spLocks noChangeArrowheads="1"/>
            </p:cNvSpPr>
            <p:nvPr/>
          </p:nvSpPr>
          <p:spPr bwMode="auto">
            <a:xfrm>
              <a:off x="8540690" y="5024691"/>
              <a:ext cx="790308"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srgbClr val="CC00CC"/>
                  </a:solidFill>
                  <a:effectLst/>
                  <a:uLnTx/>
                  <a:uFillTx/>
                  <a:latin typeface="微软雅黑 Light" panose="020B0502040204020203" pitchFamily="34" charset="-122"/>
                  <a:ea typeface="微软雅黑 Light" panose="020B0502040204020203" pitchFamily="34" charset="-122"/>
                </a:rPr>
                <a:t>gzhu</a:t>
              </a:r>
              <a:endParaRPr kumimoji="0" lang="en-US" altLang="zh-CN" sz="1800" b="0" i="0" u="none" strike="noStrike" kern="0" cap="none" spc="0" normalizeH="0" baseline="0" noProof="0" dirty="0">
                <a:ln>
                  <a:noFill/>
                </a:ln>
                <a:solidFill>
                  <a:srgbClr val="CC00CC"/>
                </a:solidFill>
                <a:effectLst/>
                <a:uLnTx/>
                <a:uFillTx/>
                <a:latin typeface="微软雅黑 Light" panose="020B0502040204020203" pitchFamily="34" charset="-122"/>
                <a:ea typeface="微软雅黑 Light" panose="020B0502040204020203" pitchFamily="34" charset="-122"/>
              </a:endParaRPr>
            </a:p>
          </p:txBody>
        </p:sp>
        <p:sp>
          <p:nvSpPr>
            <p:cNvPr id="165" name="文本框 11325"/>
            <p:cNvSpPr txBox="1">
              <a:spLocks noChangeArrowheads="1"/>
            </p:cNvSpPr>
            <p:nvPr/>
          </p:nvSpPr>
          <p:spPr bwMode="auto">
            <a:xfrm>
              <a:off x="5550593" y="5024691"/>
              <a:ext cx="1245393"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tsinghua</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66" name="文本框 11326"/>
            <p:cNvSpPr txBox="1">
              <a:spLocks noChangeArrowheads="1"/>
            </p:cNvSpPr>
            <p:nvPr/>
          </p:nvSpPr>
          <p:spPr bwMode="auto">
            <a:xfrm>
              <a:off x="4393655" y="4625453"/>
              <a:ext cx="643528" cy="8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rPr>
                <a:t>…</a:t>
              </a:r>
              <a:endParaRPr kumimoji="0" lang="en-US" altLang="zh-CN" sz="40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67" name="矩形 11327"/>
            <p:cNvSpPr>
              <a:spLocks noChangeArrowheads="1"/>
            </p:cNvSpPr>
            <p:nvPr/>
          </p:nvSpPr>
          <p:spPr bwMode="auto">
            <a:xfrm>
              <a:off x="5651546" y="1353209"/>
              <a:ext cx="708265" cy="351028"/>
            </a:xfrm>
            <a:prstGeom prst="rect">
              <a:avLst/>
            </a:prstGeom>
            <a:solidFill>
              <a:srgbClr val="99FFCC"/>
            </a:solidFill>
            <a:ln w="19050">
              <a:solidFill>
                <a:srgbClr val="000000"/>
              </a:solidFill>
              <a:miter lim="800000"/>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rPr>
                <a:t>树根</a:t>
              </a:r>
              <a:endParaRPr kumimoji="0" lang="zh-CN" altLang="en-US" sz="18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68" name="直接连接符 11328"/>
            <p:cNvSpPr>
              <a:spLocks noChangeShapeType="1"/>
            </p:cNvSpPr>
            <p:nvPr/>
          </p:nvSpPr>
          <p:spPr bwMode="auto">
            <a:xfrm rot="5400000" flipH="1">
              <a:off x="5688726" y="2002535"/>
              <a:ext cx="614676"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69" name="直接连接符 11329"/>
            <p:cNvSpPr>
              <a:spLocks noChangeShapeType="1"/>
            </p:cNvSpPr>
            <p:nvPr/>
          </p:nvSpPr>
          <p:spPr bwMode="auto">
            <a:xfrm rot="16200000">
              <a:off x="6586366"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70" name="直接连接符 11330"/>
            <p:cNvSpPr>
              <a:spLocks noChangeShapeType="1"/>
            </p:cNvSpPr>
            <p:nvPr/>
          </p:nvSpPr>
          <p:spPr bwMode="auto">
            <a:xfrm rot="16200000">
              <a:off x="5671389"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71" name="直接连接符 11331"/>
            <p:cNvSpPr>
              <a:spLocks noChangeShapeType="1"/>
            </p:cNvSpPr>
            <p:nvPr/>
          </p:nvSpPr>
          <p:spPr bwMode="auto">
            <a:xfrm rot="16200000">
              <a:off x="4923065"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72" name="直接连接符 11332"/>
            <p:cNvSpPr>
              <a:spLocks noChangeShapeType="1"/>
            </p:cNvSpPr>
            <p:nvPr/>
          </p:nvSpPr>
          <p:spPr bwMode="auto">
            <a:xfrm rot="16200000">
              <a:off x="3718053"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73" name="直接连接符 11333"/>
            <p:cNvSpPr>
              <a:spLocks noChangeShapeType="1"/>
            </p:cNvSpPr>
            <p:nvPr/>
          </p:nvSpPr>
          <p:spPr bwMode="auto">
            <a:xfrm rot="16200000">
              <a:off x="5090468" y="3011176"/>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74" name="文本框 11334"/>
            <p:cNvSpPr txBox="1">
              <a:spLocks noChangeArrowheads="1"/>
            </p:cNvSpPr>
            <p:nvPr/>
          </p:nvSpPr>
          <p:spPr bwMode="auto">
            <a:xfrm>
              <a:off x="3521944" y="3284617"/>
              <a:ext cx="672371"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cctv</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75" name="文本框 11335"/>
            <p:cNvSpPr txBox="1">
              <a:spLocks noChangeArrowheads="1"/>
            </p:cNvSpPr>
            <p:nvPr/>
          </p:nvSpPr>
          <p:spPr bwMode="auto">
            <a:xfrm>
              <a:off x="4808680" y="3299682"/>
              <a:ext cx="65634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srgbClr val="333399"/>
                  </a:solidFill>
                  <a:effectLst/>
                  <a:uLnTx/>
                  <a:uFillTx/>
                  <a:latin typeface="微软雅黑 Light" panose="020B0502040204020203" pitchFamily="34" charset="-122"/>
                  <a:ea typeface="微软雅黑 Light" panose="020B0502040204020203" pitchFamily="34" charset="-122"/>
                </a:rPr>
                <a:t>ibm</a:t>
              </a:r>
              <a:endParaRPr kumimoji="0" lang="en-US" altLang="zh-CN" sz="1800" b="0" i="0" u="none" strike="noStrike" kern="0" cap="none" spc="0" normalizeH="0" baseline="0" noProof="0" dirty="0" err="1">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76" name="文本框 11336"/>
            <p:cNvSpPr txBox="1">
              <a:spLocks noChangeArrowheads="1"/>
            </p:cNvSpPr>
            <p:nvPr/>
          </p:nvSpPr>
          <p:spPr bwMode="auto">
            <a:xfrm>
              <a:off x="5589052" y="3284617"/>
              <a:ext cx="50572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hp</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77" name="文本框 11337"/>
            <p:cNvSpPr txBox="1">
              <a:spLocks noChangeArrowheads="1"/>
            </p:cNvSpPr>
            <p:nvPr/>
          </p:nvSpPr>
          <p:spPr bwMode="auto">
            <a:xfrm>
              <a:off x="6473582" y="3284617"/>
              <a:ext cx="683267"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mot</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78" name="文本框 11338"/>
            <p:cNvSpPr txBox="1">
              <a:spLocks noChangeArrowheads="1"/>
            </p:cNvSpPr>
            <p:nvPr/>
          </p:nvSpPr>
          <p:spPr bwMode="auto">
            <a:xfrm>
              <a:off x="4129258" y="2968239"/>
              <a:ext cx="643528" cy="8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a:t>
              </a:r>
              <a:endParaRPr kumimoji="0" lang="en-US" altLang="zh-CN" sz="40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79" name="任意多边形 11339"/>
            <p:cNvSpPr>
              <a:spLocks noChangeArrowheads="1"/>
            </p:cNvSpPr>
            <p:nvPr/>
          </p:nvSpPr>
          <p:spPr bwMode="auto">
            <a:xfrm>
              <a:off x="3310426" y="3138480"/>
              <a:ext cx="3430759" cy="7533"/>
            </a:xfrm>
            <a:custGeom>
              <a:avLst/>
              <a:gdLst>
                <a:gd name="T0" fmla="*/ 0 w 1979"/>
                <a:gd name="T1" fmla="*/ 4 h 4"/>
                <a:gd name="T2" fmla="*/ 1979 w 1979"/>
                <a:gd name="T3" fmla="*/ 0 h 4"/>
              </a:gdLst>
              <a:ahLst/>
              <a:cxnLst>
                <a:cxn ang="0">
                  <a:pos x="T0" y="T1"/>
                </a:cxn>
                <a:cxn ang="0">
                  <a:pos x="T2" y="T3"/>
                </a:cxn>
              </a:cxnLst>
              <a:rect l="0" t="0" r="r" b="b"/>
              <a:pathLst>
                <a:path w="1979" h="4">
                  <a:moveTo>
                    <a:pt x="0" y="4"/>
                  </a:moveTo>
                  <a:lnTo>
                    <a:pt x="1979"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0" name="矩形 11340"/>
            <p:cNvSpPr>
              <a:spLocks noChangeArrowheads="1"/>
            </p:cNvSpPr>
            <p:nvPr/>
          </p:nvSpPr>
          <p:spPr bwMode="auto">
            <a:xfrm>
              <a:off x="-7042" y="2127580"/>
              <a:ext cx="1412684" cy="466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marL="0" marR="0" lvl="0" indent="0" defTabSz="7620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rPr>
                <a:t>顶级域名</a:t>
              </a:r>
              <a:endPar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81" name="直接连接符 11341"/>
            <p:cNvSpPr>
              <a:spLocks noChangeShapeType="1"/>
            </p:cNvSpPr>
            <p:nvPr/>
          </p:nvSpPr>
          <p:spPr bwMode="auto">
            <a:xfrm>
              <a:off x="4227004" y="3956541"/>
              <a:ext cx="5906481"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2" name="矩形 11342"/>
            <p:cNvSpPr>
              <a:spLocks noChangeArrowheads="1"/>
            </p:cNvSpPr>
            <p:nvPr/>
          </p:nvSpPr>
          <p:spPr bwMode="auto">
            <a:xfrm>
              <a:off x="-80317" y="3652375"/>
              <a:ext cx="1412684" cy="466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marL="0" marR="0" lvl="0" indent="0" defTabSz="7620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rPr>
                <a:t>二级域名</a:t>
              </a:r>
              <a:endPar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83" name="直接连接符 11343"/>
            <p:cNvSpPr>
              <a:spLocks noChangeShapeType="1"/>
            </p:cNvSpPr>
            <p:nvPr/>
          </p:nvSpPr>
          <p:spPr bwMode="auto">
            <a:xfrm rot="16200000">
              <a:off x="954007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4" name="直接连接符 11344"/>
            <p:cNvSpPr>
              <a:spLocks noChangeShapeType="1"/>
            </p:cNvSpPr>
            <p:nvPr/>
          </p:nvSpPr>
          <p:spPr bwMode="auto">
            <a:xfrm rot="16200000">
              <a:off x="882219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5" name="直接连接符 11345"/>
            <p:cNvSpPr>
              <a:spLocks noChangeShapeType="1"/>
            </p:cNvSpPr>
            <p:nvPr/>
          </p:nvSpPr>
          <p:spPr bwMode="auto">
            <a:xfrm rot="16200000">
              <a:off x="7995349"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6" name="直接连接符 11346"/>
            <p:cNvSpPr>
              <a:spLocks noChangeShapeType="1"/>
            </p:cNvSpPr>
            <p:nvPr/>
          </p:nvSpPr>
          <p:spPr bwMode="auto">
            <a:xfrm rot="16200000">
              <a:off x="723260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7" name="直接连接符 11347"/>
            <p:cNvSpPr>
              <a:spLocks noChangeShapeType="1"/>
            </p:cNvSpPr>
            <p:nvPr/>
          </p:nvSpPr>
          <p:spPr bwMode="auto">
            <a:xfrm rot="16200000">
              <a:off x="608207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8" name="任意多边形 11348"/>
            <p:cNvSpPr>
              <a:spLocks noChangeArrowheads="1"/>
            </p:cNvSpPr>
            <p:nvPr/>
          </p:nvSpPr>
          <p:spPr bwMode="auto">
            <a:xfrm>
              <a:off x="5454450" y="4858969"/>
              <a:ext cx="4794409" cy="6026"/>
            </a:xfrm>
            <a:custGeom>
              <a:avLst/>
              <a:gdLst>
                <a:gd name="T0" fmla="*/ 0 w 2253"/>
                <a:gd name="T1" fmla="*/ 3 h 3"/>
                <a:gd name="T2" fmla="*/ 2253 w 2253"/>
                <a:gd name="T3" fmla="*/ 0 h 3"/>
              </a:gdLst>
              <a:ahLst/>
              <a:cxnLst>
                <a:cxn ang="0">
                  <a:pos x="T0" y="T1"/>
                </a:cxn>
                <a:cxn ang="0">
                  <a:pos x="T2" y="T3"/>
                </a:cxn>
              </a:cxnLst>
              <a:rect l="0" t="0" r="r" b="b"/>
              <a:pathLst>
                <a:path w="2253" h="3">
                  <a:moveTo>
                    <a:pt x="0" y="3"/>
                  </a:moveTo>
                  <a:lnTo>
                    <a:pt x="2253"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89" name="矩形 11349"/>
            <p:cNvSpPr>
              <a:spLocks noChangeArrowheads="1"/>
            </p:cNvSpPr>
            <p:nvPr/>
          </p:nvSpPr>
          <p:spPr bwMode="auto">
            <a:xfrm>
              <a:off x="-67132" y="5009628"/>
              <a:ext cx="1412684" cy="466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marL="0" marR="0" lvl="0" indent="0" defTabSz="7620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rPr>
                <a:t>三级域名</a:t>
              </a:r>
              <a:endPar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90" name="文本框 11350"/>
            <p:cNvSpPr txBox="1">
              <a:spLocks noChangeArrowheads="1"/>
            </p:cNvSpPr>
            <p:nvPr/>
          </p:nvSpPr>
          <p:spPr bwMode="auto">
            <a:xfrm>
              <a:off x="3521944" y="4996066"/>
              <a:ext cx="702496"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mail</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91" name="文本框 11351"/>
            <p:cNvSpPr txBox="1">
              <a:spLocks noChangeArrowheads="1"/>
            </p:cNvSpPr>
            <p:nvPr/>
          </p:nvSpPr>
          <p:spPr bwMode="auto">
            <a:xfrm>
              <a:off x="6380642" y="5805089"/>
              <a:ext cx="792231"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www</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92" name="直接连接符 11352"/>
            <p:cNvSpPr>
              <a:spLocks noChangeShapeType="1"/>
            </p:cNvSpPr>
            <p:nvPr/>
          </p:nvSpPr>
          <p:spPr bwMode="auto">
            <a:xfrm rot="16200000">
              <a:off x="6062377" y="5530894"/>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93" name="直接连接符 11353"/>
            <p:cNvSpPr>
              <a:spLocks noChangeShapeType="1"/>
            </p:cNvSpPr>
            <p:nvPr/>
          </p:nvSpPr>
          <p:spPr bwMode="auto">
            <a:xfrm rot="16200000">
              <a:off x="3178705" y="4361805"/>
              <a:ext cx="1349876"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94" name="矩形 11354"/>
            <p:cNvSpPr>
              <a:spLocks noChangeArrowheads="1"/>
            </p:cNvSpPr>
            <p:nvPr/>
          </p:nvSpPr>
          <p:spPr bwMode="auto">
            <a:xfrm>
              <a:off x="-80317" y="5843878"/>
              <a:ext cx="1412684" cy="466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marL="0" marR="0" lvl="0" indent="0" defTabSz="7620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rPr>
                <a:t>四级域名</a:t>
              </a:r>
              <a:endParaRPr kumimoji="0" lang="zh-CN" altLang="en-US" sz="2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95" name="直接连接符 11355"/>
            <p:cNvSpPr>
              <a:spLocks noChangeShapeType="1"/>
            </p:cNvSpPr>
            <p:nvPr/>
          </p:nvSpPr>
          <p:spPr bwMode="auto">
            <a:xfrm>
              <a:off x="4867968" y="5666484"/>
              <a:ext cx="2509373"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96" name="直接连接符 11356"/>
            <p:cNvSpPr>
              <a:spLocks noChangeShapeType="1"/>
            </p:cNvSpPr>
            <p:nvPr/>
          </p:nvSpPr>
          <p:spPr bwMode="auto">
            <a:xfrm rot="16200000">
              <a:off x="5564781" y="580132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97" name="直接连接符 11357"/>
            <p:cNvSpPr>
              <a:spLocks noChangeShapeType="1"/>
            </p:cNvSpPr>
            <p:nvPr/>
          </p:nvSpPr>
          <p:spPr bwMode="auto">
            <a:xfrm rot="16200000">
              <a:off x="6528679" y="5800568"/>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198" name="文本框 11358"/>
            <p:cNvSpPr txBox="1">
              <a:spLocks noChangeArrowheads="1"/>
            </p:cNvSpPr>
            <p:nvPr/>
          </p:nvSpPr>
          <p:spPr bwMode="auto">
            <a:xfrm>
              <a:off x="4549089" y="5805089"/>
              <a:ext cx="702496"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mail</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199" name="文本框 11359"/>
            <p:cNvSpPr txBox="1">
              <a:spLocks noChangeArrowheads="1"/>
            </p:cNvSpPr>
            <p:nvPr/>
          </p:nvSpPr>
          <p:spPr bwMode="auto">
            <a:xfrm>
              <a:off x="5457654" y="5805089"/>
              <a:ext cx="43201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cs</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200" name="直接连接符 11360"/>
            <p:cNvSpPr>
              <a:spLocks noChangeShapeType="1"/>
            </p:cNvSpPr>
            <p:nvPr/>
          </p:nvSpPr>
          <p:spPr bwMode="auto">
            <a:xfrm rot="16200000">
              <a:off x="4730776" y="5800568"/>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201" name="文本框 11361"/>
            <p:cNvSpPr txBox="1">
              <a:spLocks noChangeArrowheads="1"/>
            </p:cNvSpPr>
            <p:nvPr/>
          </p:nvSpPr>
          <p:spPr bwMode="auto">
            <a:xfrm>
              <a:off x="7181846" y="5459703"/>
              <a:ext cx="643528" cy="8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rPr>
                <a:t>…</a:t>
              </a:r>
              <a:endParaRPr kumimoji="0" lang="en-US" altLang="zh-CN" sz="4000" b="0" i="0" u="none" strike="noStrike" kern="0" cap="none" spc="0" normalizeH="0" baseline="0" noProof="0" dirty="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202" name="文本框 11362"/>
            <p:cNvSpPr txBox="1">
              <a:spLocks noChangeArrowheads="1"/>
            </p:cNvSpPr>
            <p:nvPr/>
          </p:nvSpPr>
          <p:spPr bwMode="auto">
            <a:xfrm>
              <a:off x="1805765" y="2175790"/>
              <a:ext cx="643528" cy="8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rPr>
                <a:t>…</a:t>
              </a:r>
              <a:endParaRPr kumimoji="0" lang="en-US" altLang="zh-CN" sz="4000" b="0" i="0" u="none" strike="noStrike" kern="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203" name="文本框 11363"/>
            <p:cNvSpPr txBox="1">
              <a:spLocks noChangeArrowheads="1"/>
            </p:cNvSpPr>
            <p:nvPr/>
          </p:nvSpPr>
          <p:spPr bwMode="auto">
            <a:xfrm>
              <a:off x="9918762" y="5026198"/>
              <a:ext cx="606352"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seu</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204" name="矩形 11364"/>
            <p:cNvSpPr>
              <a:spLocks noChangeArrowheads="1"/>
            </p:cNvSpPr>
            <p:nvPr/>
          </p:nvSpPr>
          <p:spPr bwMode="auto">
            <a:xfrm>
              <a:off x="9226521" y="5027704"/>
              <a:ext cx="624940" cy="4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rPr>
                <a:t>sjtu</a:t>
              </a:r>
              <a:endParaRPr kumimoji="0" lang="en-US" altLang="zh-CN" sz="1800" b="0" i="0" u="none" strike="noStrike" kern="0" cap="none" spc="0" normalizeH="0" baseline="0" noProof="0">
                <a:ln>
                  <a:noFill/>
                </a:ln>
                <a:solidFill>
                  <a:srgbClr val="333399"/>
                </a:solidFill>
                <a:effectLst/>
                <a:uLnTx/>
                <a:uFillTx/>
                <a:latin typeface="微软雅黑 Light" panose="020B0502040204020203" pitchFamily="34" charset="-122"/>
                <a:ea typeface="微软雅黑 Light" panose="020B0502040204020203" pitchFamily="34" charset="-122"/>
              </a:endParaRPr>
            </a:p>
          </p:txBody>
        </p:sp>
        <p:sp>
          <p:nvSpPr>
            <p:cNvPr id="205" name="直接连接符 11365"/>
            <p:cNvSpPr>
              <a:spLocks noChangeShapeType="1"/>
            </p:cNvSpPr>
            <p:nvPr/>
          </p:nvSpPr>
          <p:spPr bwMode="auto">
            <a:xfrm rot="16200000">
              <a:off x="10091300" y="498476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Light" panose="020B0502040204020203" pitchFamily="34" charset="-122"/>
                <a:ea typeface="微软雅黑 Light" panose="020B0502040204020203" pitchFamily="34" charset="-122"/>
              </a:endParaRPr>
            </a:p>
          </p:txBody>
        </p:sp>
        <p:sp>
          <p:nvSpPr>
            <p:cNvPr id="206" name="矩形 11367"/>
            <p:cNvSpPr>
              <a:spLocks noChangeArrowheads="1"/>
            </p:cNvSpPr>
            <p:nvPr/>
          </p:nvSpPr>
          <p:spPr bwMode="auto">
            <a:xfrm>
              <a:off x="1611872" y="1223645"/>
              <a:ext cx="1620356" cy="54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CC0000"/>
                </a:solidFill>
                <a:effectLst/>
                <a:uLnTx/>
                <a:uFillTx/>
                <a:latin typeface="微软雅黑 Light" panose="020B0502040204020203" pitchFamily="34" charset="-122"/>
                <a:ea typeface="微软雅黑 Light" panose="020B0502040204020203" pitchFamily="34" charset="-122"/>
              </a:endParaRPr>
            </a:p>
          </p:txBody>
        </p:sp>
      </p:grpSp>
      <p:sp>
        <p:nvSpPr>
          <p:cNvPr id="209" name="文本框 208"/>
          <p:cNvSpPr txBox="1"/>
          <p:nvPr/>
        </p:nvSpPr>
        <p:spPr bwMode="auto">
          <a:xfrm>
            <a:off x="2553000" y="5874620"/>
            <a:ext cx="7879080" cy="46166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spAutoFit/>
          </a:bodyPr>
          <a:lstStyle/>
          <a:p>
            <a:r>
              <a:rPr lang="zh-CN" altLang="en-US" sz="2400">
                <a:latin typeface="微软雅黑 Light" panose="020B0502040204020203" pitchFamily="34" charset="-122"/>
                <a:ea typeface="微软雅黑 Light" panose="020B0502040204020203" pitchFamily="34" charset="-122"/>
              </a:rPr>
              <a:t>域名系统中的名字空间采用层次化的树状结构，按级划分</a:t>
            </a:r>
            <a:endParaRPr lang="zh-CN" altLang="en-US" sz="24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命名方法</a:t>
            </a:r>
            <a:endParaRPr lang="zh-CN" altLang="en-US" dirty="0"/>
          </a:p>
        </p:txBody>
      </p:sp>
      <p:sp>
        <p:nvSpPr>
          <p:cNvPr id="3" name="内容占位符 2"/>
          <p:cNvSpPr>
            <a:spLocks noGrp="1"/>
          </p:cNvSpPr>
          <p:nvPr>
            <p:ph idx="1"/>
          </p:nvPr>
        </p:nvSpPr>
        <p:spPr>
          <a:xfrm>
            <a:off x="334434" y="1052515"/>
            <a:ext cx="11523133" cy="3312590"/>
          </a:xfrm>
        </p:spPr>
        <p:txBody>
          <a:bodyPr/>
          <a:lstStyle/>
          <a:p>
            <a:r>
              <a:rPr lang="en-US" altLang="zh-CN" dirty="0"/>
              <a:t>Internet</a:t>
            </a:r>
            <a:r>
              <a:rPr lang="zh-CN" altLang="en-US" dirty="0"/>
              <a:t>的域名结构采用了层次化的树状结构的命名方法</a:t>
            </a:r>
            <a:endParaRPr lang="zh-CN" altLang="en-US" dirty="0"/>
          </a:p>
          <a:p>
            <a:r>
              <a:rPr lang="zh-CN" altLang="en-US" dirty="0"/>
              <a:t>域名的结构由若干个分量组成，各分量之间用小数点</a:t>
            </a:r>
            <a:r>
              <a:rPr lang="en-US" altLang="zh-CN" dirty="0"/>
              <a:t>(.)</a:t>
            </a:r>
            <a:r>
              <a:rPr lang="zh-CN" altLang="en-US" dirty="0"/>
              <a:t>隔开，总长不超过</a:t>
            </a:r>
            <a:r>
              <a:rPr lang="en-US" altLang="zh-CN" dirty="0"/>
              <a:t>255</a:t>
            </a:r>
            <a:r>
              <a:rPr lang="zh-CN" altLang="en-US" dirty="0"/>
              <a:t>个字符</a:t>
            </a:r>
            <a:endParaRPr lang="zh-CN" altLang="en-US" dirty="0"/>
          </a:p>
          <a:p>
            <a:r>
              <a:rPr lang="zh-CN" altLang="en-US" dirty="0"/>
              <a:t>各分量分别代表不同级别的域名</a:t>
            </a:r>
            <a:r>
              <a:rPr lang="en-US" altLang="zh-CN" dirty="0"/>
              <a:t>(</a:t>
            </a:r>
            <a:r>
              <a:rPr lang="zh-CN" altLang="en-US" dirty="0"/>
              <a:t>每个分量域名长度≤</a:t>
            </a:r>
            <a:r>
              <a:rPr lang="en-US" altLang="zh-CN" dirty="0"/>
              <a:t>63</a:t>
            </a:r>
            <a:r>
              <a:rPr lang="zh-CN" altLang="en-US" dirty="0"/>
              <a:t>字符</a:t>
            </a:r>
            <a:r>
              <a:rPr lang="en-US" altLang="zh-CN" dirty="0"/>
              <a:t>)</a:t>
            </a:r>
            <a:endParaRPr lang="en-US" altLang="zh-CN" dirty="0"/>
          </a:p>
          <a:p>
            <a:r>
              <a:rPr lang="zh-CN" altLang="en-US" dirty="0"/>
              <a:t>合法域名中，点“</a:t>
            </a:r>
            <a:r>
              <a:rPr lang="en-US" altLang="zh-CN" dirty="0"/>
              <a:t>.”</a:t>
            </a:r>
            <a:r>
              <a:rPr lang="zh-CN" altLang="en-US" dirty="0"/>
              <a:t>的个数至少为一个</a:t>
            </a:r>
            <a:endParaRPr lang="zh-CN" altLang="en-US" dirty="0"/>
          </a:p>
          <a:p>
            <a:r>
              <a:rPr lang="zh-CN" altLang="en-US" dirty="0"/>
              <a:t>通常，点“</a:t>
            </a:r>
            <a:r>
              <a:rPr lang="en-US" altLang="zh-CN" dirty="0"/>
              <a:t>.”</a:t>
            </a:r>
            <a:r>
              <a:rPr lang="zh-CN" altLang="en-US" dirty="0"/>
              <a:t>对应的英文单词为</a:t>
            </a:r>
            <a:r>
              <a:rPr lang="en-US" altLang="zh-CN" dirty="0"/>
              <a:t>dot</a:t>
            </a:r>
            <a:r>
              <a:rPr lang="zh-CN" altLang="en-US" dirty="0"/>
              <a:t>，也可以读为</a:t>
            </a:r>
            <a:r>
              <a:rPr lang="en-US" altLang="zh-CN" dirty="0"/>
              <a:t>point</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9218"/>
          <p:cNvSpPr>
            <a:spLocks noChangeArrowheads="1"/>
          </p:cNvSpPr>
          <p:nvPr/>
        </p:nvSpPr>
        <p:spPr bwMode="auto">
          <a:xfrm>
            <a:off x="2423592" y="4398314"/>
            <a:ext cx="7146925" cy="763587"/>
          </a:xfrm>
          <a:prstGeom prst="rect">
            <a:avLst/>
          </a:prstGeom>
          <a:noFill/>
          <a:ln w="28575">
            <a:solidFill>
              <a:srgbClr val="333399"/>
            </a:solidFill>
            <a:miter lim="800000"/>
          </a:ln>
        </p:spPr>
        <p:txBody>
          <a:bodyPr wrap="none" anchor="ctr"/>
          <a:lstStyle/>
          <a:p>
            <a:pPr algn="ctr"/>
            <a:r>
              <a:rPr lang="en-US" altLang="zh-CN"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三级域名</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二级域名</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顶级域名</a:t>
            </a:r>
            <a:endPar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ym typeface="+mn-ea"/>
              </a:rPr>
              <a:t>顶级域名分类</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顶级域名</a:t>
            </a:r>
            <a:r>
              <a:rPr lang="en-US" altLang="zh-CN" dirty="0"/>
              <a:t>TLD</a:t>
            </a:r>
            <a:r>
              <a:rPr lang="zh-CN" altLang="en-US" dirty="0"/>
              <a:t>（</a:t>
            </a:r>
            <a:r>
              <a:rPr lang="en-US" altLang="zh-CN" dirty="0"/>
              <a:t>Top Level Domain</a:t>
            </a:r>
            <a:r>
              <a:rPr lang="zh-CN" altLang="en-US" dirty="0"/>
              <a:t>）有三类</a:t>
            </a:r>
            <a:endParaRPr lang="zh-CN" altLang="en-US" dirty="0"/>
          </a:p>
          <a:p>
            <a:r>
              <a:rPr lang="zh-CN" altLang="en-US" dirty="0"/>
              <a:t>国家或地区顶级域</a:t>
            </a:r>
            <a:r>
              <a:rPr lang="en-US" altLang="zh-CN" dirty="0" err="1"/>
              <a:t>nTLD</a:t>
            </a:r>
            <a:r>
              <a:rPr lang="zh-CN" altLang="en-US" dirty="0"/>
              <a:t>，也记为</a:t>
            </a:r>
            <a:r>
              <a:rPr lang="en-US" altLang="zh-CN" dirty="0"/>
              <a:t>ccTLD (cc: country code)</a:t>
            </a:r>
            <a:endParaRPr lang="en-US" altLang="zh-CN" dirty="0"/>
          </a:p>
          <a:p>
            <a:pPr lvl="1"/>
            <a:r>
              <a:rPr lang="zh-CN" altLang="en-US" dirty="0"/>
              <a:t>例如</a:t>
            </a:r>
            <a:r>
              <a:rPr lang="en-US" altLang="zh-CN" dirty="0"/>
              <a:t>.</a:t>
            </a:r>
            <a:r>
              <a:rPr lang="en-US" altLang="zh-CN" dirty="0" err="1"/>
              <a:t>cn</a:t>
            </a:r>
            <a:r>
              <a:rPr lang="en-US" altLang="zh-CN" dirty="0"/>
              <a:t> </a:t>
            </a:r>
            <a:r>
              <a:rPr lang="zh-CN" altLang="en-US" dirty="0"/>
              <a:t>表示中国，</a:t>
            </a:r>
            <a:r>
              <a:rPr lang="en-US" altLang="zh-CN" dirty="0"/>
              <a:t>.us </a:t>
            </a:r>
            <a:r>
              <a:rPr lang="zh-CN" altLang="en-US" dirty="0"/>
              <a:t>表示美国，</a:t>
            </a:r>
            <a:r>
              <a:rPr lang="en-US" altLang="zh-CN" dirty="0"/>
              <a:t>.</a:t>
            </a:r>
            <a:r>
              <a:rPr lang="en-US" altLang="zh-CN" dirty="0" err="1"/>
              <a:t>uk</a:t>
            </a:r>
            <a:r>
              <a:rPr lang="en-US" altLang="zh-CN" dirty="0"/>
              <a:t> </a:t>
            </a:r>
            <a:r>
              <a:rPr lang="zh-CN" altLang="en-US" dirty="0"/>
              <a:t>表示英国。目前有</a:t>
            </a:r>
            <a:r>
              <a:rPr lang="en-US" altLang="zh-CN" dirty="0"/>
              <a:t>300</a:t>
            </a:r>
            <a:r>
              <a:rPr lang="zh-CN" altLang="en-US" dirty="0"/>
              <a:t>多个</a:t>
            </a:r>
            <a:endParaRPr lang="zh-CN" altLang="en-US" dirty="0"/>
          </a:p>
          <a:p>
            <a:r>
              <a:rPr lang="zh-CN" altLang="en-US" dirty="0"/>
              <a:t>基础设施域</a:t>
            </a:r>
            <a:r>
              <a:rPr lang="en-US" altLang="zh-CN" dirty="0"/>
              <a:t>.</a:t>
            </a:r>
            <a:r>
              <a:rPr lang="en-US" altLang="zh-CN" dirty="0" err="1"/>
              <a:t>arpa</a:t>
            </a:r>
            <a:r>
              <a:rPr lang="en-US" altLang="zh-CN" dirty="0"/>
              <a:t> (Address and Routing Parameter Area)</a:t>
            </a:r>
            <a:endParaRPr lang="en-US" altLang="zh-CN" dirty="0"/>
          </a:p>
          <a:p>
            <a:pPr lvl="1"/>
            <a:r>
              <a:rPr lang="zh-CN" altLang="en-US" dirty="0"/>
              <a:t>专用于</a:t>
            </a:r>
            <a:r>
              <a:rPr lang="en-US" altLang="zh-CN" dirty="0"/>
              <a:t>Internet</a:t>
            </a:r>
            <a:r>
              <a:rPr lang="zh-CN" altLang="en-US" dirty="0"/>
              <a:t>基础设施目的</a:t>
            </a:r>
            <a:endParaRPr lang="zh-CN" altLang="en-US" dirty="0"/>
          </a:p>
          <a:p>
            <a:pPr lvl="1"/>
            <a:r>
              <a:rPr lang="zh-CN" altLang="en-US" dirty="0"/>
              <a:t>目前有二级域</a:t>
            </a:r>
            <a:r>
              <a:rPr lang="en-US" altLang="zh-CN" dirty="0"/>
              <a:t>ip6.arpa</a:t>
            </a:r>
            <a:r>
              <a:rPr lang="zh-CN" altLang="en-US" dirty="0"/>
              <a:t>；</a:t>
            </a:r>
            <a:r>
              <a:rPr lang="en-US" altLang="zh-CN" dirty="0" err="1"/>
              <a:t>iris.arpa</a:t>
            </a:r>
            <a:r>
              <a:rPr lang="zh-CN" altLang="en-US" dirty="0"/>
              <a:t>；</a:t>
            </a:r>
            <a:r>
              <a:rPr lang="en-US" altLang="zh-CN" dirty="0"/>
              <a:t>in-</a:t>
            </a:r>
            <a:r>
              <a:rPr lang="en-US" altLang="zh-CN" dirty="0" err="1"/>
              <a:t>addr.arpa</a:t>
            </a:r>
            <a:r>
              <a:rPr lang="zh-CN" altLang="en-US" dirty="0"/>
              <a:t>；</a:t>
            </a:r>
            <a:r>
              <a:rPr lang="en-US" altLang="zh-CN" dirty="0" err="1"/>
              <a:t>uri.arpa</a:t>
            </a:r>
            <a:r>
              <a:rPr lang="zh-CN" altLang="en-US" dirty="0"/>
              <a:t>；</a:t>
            </a:r>
            <a:r>
              <a:rPr lang="en-US" altLang="zh-CN" dirty="0" err="1"/>
              <a:t>urn.arpa</a:t>
            </a:r>
            <a:r>
              <a:rPr lang="zh-CN" altLang="en-US" dirty="0"/>
              <a:t>；</a:t>
            </a:r>
            <a:r>
              <a:rPr lang="en-US" altLang="zh-CN" dirty="0" err="1"/>
              <a:t>home.arpa</a:t>
            </a:r>
            <a:r>
              <a:rPr lang="zh-CN" altLang="en-US" dirty="0"/>
              <a:t>；</a:t>
            </a:r>
            <a:r>
              <a:rPr lang="en-US" altLang="zh-CN" dirty="0"/>
              <a:t>as112.arpa</a:t>
            </a:r>
            <a:r>
              <a:rPr lang="zh-CN" altLang="en-US" dirty="0"/>
              <a:t>；</a:t>
            </a:r>
            <a:r>
              <a:rPr lang="en-US" altLang="zh-CN" dirty="0"/>
              <a:t>in-</a:t>
            </a:r>
            <a:r>
              <a:rPr lang="en-US" altLang="zh-CN" dirty="0" err="1"/>
              <a:t>addr</a:t>
            </a:r>
            <a:r>
              <a:rPr lang="en-US" altLang="zh-CN" dirty="0"/>
              <a:t>-</a:t>
            </a:r>
            <a:r>
              <a:rPr lang="en-US" altLang="zh-CN" dirty="0" err="1"/>
              <a:t>servers.arpa</a:t>
            </a:r>
            <a:r>
              <a:rPr lang="zh-CN" altLang="en-US" dirty="0"/>
              <a:t>；</a:t>
            </a:r>
            <a:r>
              <a:rPr lang="en-US" altLang="zh-CN" dirty="0"/>
              <a:t>ipv4only.arpa</a:t>
            </a:r>
            <a:r>
              <a:rPr lang="zh-CN" altLang="en-US" dirty="0"/>
              <a:t>等</a:t>
            </a:r>
            <a:endParaRPr lang="zh-CN" altLang="en-US" dirty="0"/>
          </a:p>
          <a:p>
            <a:r>
              <a:rPr lang="zh-CN" altLang="en-US" dirty="0"/>
              <a:t>通用顶级域</a:t>
            </a:r>
            <a:r>
              <a:rPr lang="en-US" altLang="zh-CN" dirty="0"/>
              <a:t>gTLD</a:t>
            </a:r>
            <a:endParaRPr lang="en-US" altLang="zh-CN" dirty="0"/>
          </a:p>
          <a:p>
            <a:pPr lvl="1"/>
            <a:r>
              <a:rPr lang="zh-CN" altLang="en-US" dirty="0"/>
              <a:t>早期规定了</a:t>
            </a:r>
            <a:r>
              <a:rPr lang="en-US" altLang="zh-CN" dirty="0"/>
              <a:t>20</a:t>
            </a:r>
            <a:r>
              <a:rPr lang="zh-CN" altLang="en-US" dirty="0"/>
              <a:t>个通用顶级域名，</a:t>
            </a:r>
            <a:r>
              <a:rPr lang="en-US" altLang="zh-CN" dirty="0"/>
              <a:t>2011</a:t>
            </a:r>
            <a:r>
              <a:rPr lang="zh-CN" altLang="en-US" dirty="0"/>
              <a:t>年批准新通用顶级域名</a:t>
            </a:r>
            <a:r>
              <a:rPr lang="en-US" altLang="zh-CN" dirty="0"/>
              <a:t>(New Generic Top-level Domain</a:t>
            </a:r>
            <a:r>
              <a:rPr lang="zh-CN" altLang="en-US" dirty="0"/>
              <a:t>，</a:t>
            </a:r>
            <a:r>
              <a:rPr lang="en-US" altLang="zh-CN" dirty="0"/>
              <a:t>New gTLD)</a:t>
            </a:r>
            <a:endParaRPr lang="en-US" altLang="zh-CN" dirty="0"/>
          </a:p>
          <a:p>
            <a:pPr lvl="1"/>
            <a:r>
              <a:rPr lang="zh-CN" altLang="en-US" dirty="0"/>
              <a:t>截至</a:t>
            </a:r>
            <a:r>
              <a:rPr lang="en-US" altLang="zh-CN" dirty="0"/>
              <a:t>2020</a:t>
            </a:r>
            <a:r>
              <a:rPr lang="zh-CN" altLang="en-US" dirty="0"/>
              <a:t>年，已注册有</a:t>
            </a:r>
            <a:r>
              <a:rPr lang="en-US" altLang="zh-CN" dirty="0"/>
              <a:t>1200</a:t>
            </a:r>
            <a:r>
              <a:rPr lang="zh-CN" altLang="en-US" dirty="0"/>
              <a:t>多个通用顶级域名</a:t>
            </a:r>
            <a:endParaRPr lang="en-US" altLang="zh-CN" dirty="0"/>
          </a:p>
          <a:p>
            <a:r>
              <a:rPr lang="zh-CN" altLang="en-US" dirty="0"/>
              <a:t>可以注册 </a:t>
            </a:r>
            <a:r>
              <a:rPr lang="en-US" altLang="zh-CN" dirty="0"/>
              <a:t>.</a:t>
            </a:r>
            <a:r>
              <a:rPr lang="zh-CN" altLang="en-US" dirty="0"/>
              <a:t>中国、</a:t>
            </a:r>
            <a:r>
              <a:rPr lang="en-US" altLang="zh-CN" dirty="0"/>
              <a:t>.</a:t>
            </a:r>
            <a:r>
              <a:rPr lang="zh-CN" altLang="en-US" dirty="0"/>
              <a:t>公司、</a:t>
            </a:r>
            <a:r>
              <a:rPr lang="en-US" altLang="zh-CN" dirty="0"/>
              <a:t>.</a:t>
            </a:r>
            <a:r>
              <a:rPr lang="zh-CN" altLang="en-US" dirty="0"/>
              <a:t>网络 等顶级域名</a:t>
            </a:r>
            <a:r>
              <a:rPr lang="en-US" altLang="zh-CN" dirty="0"/>
              <a:t>(</a:t>
            </a:r>
            <a:r>
              <a:rPr lang="zh-CN" altLang="en-US" dirty="0"/>
              <a:t>多语种域名国际标准</a:t>
            </a:r>
            <a:r>
              <a:rPr lang="en-US" altLang="zh-CN" dirty="0"/>
              <a:t>RFC3454</a:t>
            </a:r>
            <a:r>
              <a:rPr lang="zh-CN" altLang="en-US" dirty="0"/>
              <a:t>、</a:t>
            </a:r>
            <a:r>
              <a:rPr lang="en-US" altLang="zh-CN" dirty="0"/>
              <a:t>RFC3490</a:t>
            </a:r>
            <a:r>
              <a:rPr lang="zh-CN" altLang="en-US" dirty="0"/>
              <a:t>、</a:t>
            </a:r>
            <a:r>
              <a:rPr lang="en-US" altLang="zh-CN" dirty="0"/>
              <a:t>RFC3491</a:t>
            </a:r>
            <a:r>
              <a:rPr lang="zh-CN" altLang="en-US" dirty="0"/>
              <a:t>、</a:t>
            </a:r>
            <a:r>
              <a:rPr lang="en-US" altLang="zh-CN" dirty="0"/>
              <a:t>RFC3492)</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国家顶级域名 </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国家顶级域名 </a:t>
            </a:r>
            <a:r>
              <a:rPr lang="en-US" altLang="zh-CN" dirty="0"/>
              <a:t>.</a:t>
            </a:r>
            <a:r>
              <a:rPr lang="en-US" altLang="zh-CN" dirty="0" err="1"/>
              <a:t>cn</a:t>
            </a:r>
            <a:r>
              <a:rPr lang="zh-CN" altLang="en-US" dirty="0"/>
              <a:t>下的二级域名分为三类</a:t>
            </a:r>
            <a:endParaRPr lang="zh-CN" altLang="en-US" dirty="0"/>
          </a:p>
          <a:p>
            <a:r>
              <a:rPr lang="zh-CN" altLang="en-US" dirty="0"/>
              <a:t>类别域名</a:t>
            </a:r>
            <a:r>
              <a:rPr lang="en-US" altLang="zh-CN" dirty="0"/>
              <a:t>7</a:t>
            </a:r>
            <a:r>
              <a:rPr lang="zh-CN" altLang="en-US" dirty="0"/>
              <a:t>个：</a:t>
            </a:r>
            <a:endParaRPr lang="zh-CN" altLang="en-US" dirty="0"/>
          </a:p>
          <a:p>
            <a:pPr lvl="1"/>
            <a:r>
              <a:rPr lang="en-US" altLang="zh-CN" dirty="0"/>
              <a:t>.edu.cn </a:t>
            </a:r>
            <a:r>
              <a:rPr lang="zh-CN" altLang="en-US" dirty="0"/>
              <a:t>教育</a:t>
            </a:r>
            <a:endParaRPr lang="zh-CN" altLang="en-US" dirty="0"/>
          </a:p>
          <a:p>
            <a:pPr lvl="1"/>
            <a:r>
              <a:rPr lang="en-US" altLang="zh-CN" dirty="0"/>
              <a:t>.gov.cn </a:t>
            </a:r>
            <a:r>
              <a:rPr lang="zh-CN" altLang="en-US" dirty="0"/>
              <a:t>政府</a:t>
            </a:r>
            <a:endParaRPr lang="zh-CN" altLang="en-US" dirty="0"/>
          </a:p>
          <a:p>
            <a:pPr lvl="1"/>
            <a:r>
              <a:rPr lang="en-US" altLang="zh-CN" dirty="0"/>
              <a:t>.org.cn </a:t>
            </a:r>
            <a:r>
              <a:rPr lang="zh-CN" altLang="en-US" dirty="0"/>
              <a:t>非营利组织</a:t>
            </a:r>
            <a:endParaRPr lang="zh-CN" altLang="en-US" dirty="0"/>
          </a:p>
          <a:p>
            <a:pPr lvl="1"/>
            <a:r>
              <a:rPr lang="en-US" altLang="zh-CN" dirty="0"/>
              <a:t>.net.cn </a:t>
            </a:r>
            <a:r>
              <a:rPr lang="zh-CN" altLang="en-US" dirty="0"/>
              <a:t>网络服务</a:t>
            </a:r>
            <a:endParaRPr lang="en-US" altLang="zh-CN" dirty="0"/>
          </a:p>
          <a:p>
            <a:pPr lvl="1"/>
            <a:r>
              <a:rPr lang="en-US" altLang="zh-CN" dirty="0"/>
              <a:t>.com.cn </a:t>
            </a:r>
            <a:r>
              <a:rPr lang="zh-CN" altLang="en-US" dirty="0"/>
              <a:t>工商金融等企业</a:t>
            </a:r>
            <a:endParaRPr lang="zh-CN" altLang="en-US" dirty="0"/>
          </a:p>
          <a:p>
            <a:pPr lvl="1"/>
            <a:r>
              <a:rPr lang="en-US" altLang="zh-CN" dirty="0"/>
              <a:t>.ac.cn </a:t>
            </a:r>
            <a:r>
              <a:rPr lang="zh-CN" altLang="en-US" dirty="0"/>
              <a:t>科研</a:t>
            </a:r>
            <a:endParaRPr lang="zh-CN" altLang="en-US" dirty="0"/>
          </a:p>
          <a:p>
            <a:pPr lvl="1"/>
            <a:r>
              <a:rPr lang="en-US" altLang="zh-CN" dirty="0"/>
              <a:t>.mil.cn </a:t>
            </a:r>
            <a:r>
              <a:rPr lang="zh-CN" altLang="en-US" dirty="0"/>
              <a:t>国防机构</a:t>
            </a:r>
            <a:endParaRPr lang="zh-CN" altLang="en-US" dirty="0"/>
          </a:p>
          <a:p>
            <a:r>
              <a:rPr lang="zh-CN" altLang="en-US" dirty="0"/>
              <a:t>行政区域名</a:t>
            </a:r>
            <a:r>
              <a:rPr lang="en-US" altLang="zh-CN" dirty="0"/>
              <a:t>34</a:t>
            </a:r>
            <a:r>
              <a:rPr lang="zh-CN" altLang="en-US" dirty="0"/>
              <a:t>个：省、直辖市、自治区、特区等行政区域名，每个行政区域名为两个字母，例如：北京</a:t>
            </a:r>
            <a:r>
              <a:rPr lang="en-US" altLang="zh-CN" dirty="0"/>
              <a:t>-</a:t>
            </a:r>
            <a:r>
              <a:rPr lang="en-US" altLang="zh-CN" dirty="0" err="1"/>
              <a:t>bj</a:t>
            </a:r>
            <a:r>
              <a:rPr lang="zh-CN" altLang="en-US" dirty="0"/>
              <a:t>、吉林</a:t>
            </a:r>
            <a:r>
              <a:rPr lang="en-US" altLang="zh-CN" dirty="0"/>
              <a:t>-</a:t>
            </a:r>
            <a:r>
              <a:rPr lang="en-US" altLang="zh-CN" dirty="0" err="1"/>
              <a:t>jl</a:t>
            </a:r>
            <a:r>
              <a:rPr lang="zh-CN" altLang="en-US" dirty="0"/>
              <a:t>等</a:t>
            </a:r>
            <a:endParaRPr lang="zh-CN" altLang="en-US" dirty="0"/>
          </a:p>
          <a:p>
            <a:r>
              <a:rPr lang="zh-CN" altLang="en-US" dirty="0"/>
              <a:t>无类别域名：例如 </a:t>
            </a:r>
            <a:r>
              <a:rPr lang="en-US" altLang="zh-CN" dirty="0"/>
              <a:t>www.google.cn</a:t>
            </a:r>
            <a:r>
              <a:rPr lang="zh-CN" altLang="en-US" dirty="0"/>
              <a:t>、</a:t>
            </a:r>
            <a:r>
              <a:rPr lang="en-US" altLang="zh-CN" dirty="0"/>
              <a:t>www.tianya.cn</a:t>
            </a:r>
            <a:r>
              <a:rPr lang="zh-CN" altLang="en-US" dirty="0"/>
              <a:t>等</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域名管理方法</a:t>
            </a:r>
            <a:endParaRPr lang="zh-CN" altLang="en-US" dirty="0"/>
          </a:p>
        </p:txBody>
      </p:sp>
      <p:sp>
        <p:nvSpPr>
          <p:cNvPr id="3" name="内容占位符 2"/>
          <p:cNvSpPr>
            <a:spLocks noGrp="1"/>
          </p:cNvSpPr>
          <p:nvPr>
            <p:ph idx="1"/>
          </p:nvPr>
        </p:nvSpPr>
        <p:spPr>
          <a:xfrm>
            <a:off x="334435" y="1052514"/>
            <a:ext cx="6551100" cy="5437187"/>
          </a:xfrm>
        </p:spPr>
        <p:txBody>
          <a:bodyPr/>
          <a:lstStyle/>
          <a:p>
            <a:r>
              <a:rPr lang="zh-CN" altLang="en-US" dirty="0"/>
              <a:t>域名管理机构分级负责域名注册</a:t>
            </a:r>
            <a:endParaRPr lang="zh-CN" altLang="en-US" dirty="0"/>
          </a:p>
          <a:p>
            <a:pPr lvl="1"/>
            <a:r>
              <a:rPr lang="en-US" altLang="zh-CN" dirty="0"/>
              <a:t>Internet</a:t>
            </a:r>
            <a:r>
              <a:rPr lang="zh-CN" altLang="en-US" dirty="0"/>
              <a:t>的域名管理机构：</a:t>
            </a:r>
            <a:r>
              <a:rPr lang="en-US" altLang="zh-CN" dirty="0"/>
              <a:t>ICANN (Internet Corporation for Assigned Names and Numbers) www.icann.org</a:t>
            </a:r>
            <a:endParaRPr lang="en-US" altLang="zh-CN" dirty="0"/>
          </a:p>
          <a:p>
            <a:pPr lvl="1"/>
            <a:r>
              <a:rPr lang="en-US" altLang="zh-CN" dirty="0"/>
              <a:t>ccTLD</a:t>
            </a:r>
            <a:r>
              <a:rPr lang="zh-CN" altLang="en-US" dirty="0"/>
              <a:t>下的二级域名该国自行确定</a:t>
            </a:r>
            <a:endParaRPr lang="zh-CN" altLang="en-US" dirty="0"/>
          </a:p>
          <a:p>
            <a:pPr lvl="1"/>
            <a:r>
              <a:rPr lang="zh-CN" altLang="en-US" dirty="0"/>
              <a:t>三级域名注册由其所属二级域名机构负责，以此类推</a:t>
            </a:r>
            <a:endParaRPr lang="zh-CN" altLang="en-US" dirty="0"/>
          </a:p>
          <a:p>
            <a:r>
              <a:rPr lang="en-US" altLang="zh-CN" dirty="0"/>
              <a:t>.edu.cn</a:t>
            </a:r>
            <a:r>
              <a:rPr lang="zh-CN" altLang="en-US" dirty="0"/>
              <a:t>下三级域名注册由</a:t>
            </a:r>
            <a:r>
              <a:rPr lang="en-US" altLang="zh-CN" dirty="0"/>
              <a:t>CERNET</a:t>
            </a:r>
            <a:r>
              <a:rPr lang="zh-CN" altLang="en-US" dirty="0"/>
              <a:t>负责</a:t>
            </a:r>
            <a:endParaRPr lang="zh-CN" altLang="en-US" dirty="0"/>
          </a:p>
          <a:p>
            <a:r>
              <a:rPr lang="zh-CN" altLang="en-US" dirty="0"/>
              <a:t>我国的其它二级域名注册由中国互联网络信息中心</a:t>
            </a:r>
            <a:r>
              <a:rPr lang="en-US" altLang="zh-CN" dirty="0"/>
              <a:t>(CNNIC)</a:t>
            </a:r>
            <a:r>
              <a:rPr lang="zh-CN" altLang="en-US" dirty="0"/>
              <a:t>负责</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文本框 4"/>
          <p:cNvSpPr txBox="1"/>
          <p:nvPr/>
        </p:nvSpPr>
        <p:spPr>
          <a:xfrm>
            <a:off x="7057222" y="5752097"/>
            <a:ext cx="4500880" cy="398780"/>
          </a:xfrm>
          <a:prstGeom prst="rect">
            <a:avLst/>
          </a:prstGeom>
          <a:noFill/>
        </p:spPr>
        <p:txBody>
          <a:bodyPr wrap="none" rtlCol="0">
            <a:spAutoFit/>
          </a:bodyPr>
          <a:lstStyle/>
          <a:p>
            <a:r>
              <a:rPr lang="zh-CN" altLang="en-US" sz="2000" dirty="0">
                <a:solidFill>
                  <a:schemeClr val="tx1"/>
                </a:solidFill>
                <a:latin typeface="微软雅黑 Light" panose="020B0502040204020203" pitchFamily="34" charset="-122"/>
                <a:ea typeface="微软雅黑 Light" panose="020B0502040204020203" pitchFamily="34" charset="-122"/>
              </a:rPr>
              <a:t>注册管理机构与注册服务商之间的关系</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6" name="图片 5"/>
          <p:cNvPicPr>
            <a:picLocks noChangeAspect="1"/>
          </p:cNvPicPr>
          <p:nvPr/>
        </p:nvPicPr>
        <p:blipFill>
          <a:blip r:embed="rId1"/>
          <a:stretch>
            <a:fillRect/>
          </a:stretch>
        </p:blipFill>
        <p:spPr>
          <a:xfrm>
            <a:off x="8291858" y="2357025"/>
            <a:ext cx="942975" cy="847725"/>
          </a:xfrm>
          <a:prstGeom prst="rect">
            <a:avLst/>
          </a:prstGeom>
        </p:spPr>
      </p:pic>
      <p:pic>
        <p:nvPicPr>
          <p:cNvPr id="7" name="图片 6"/>
          <p:cNvPicPr>
            <a:picLocks noChangeAspect="1"/>
          </p:cNvPicPr>
          <p:nvPr/>
        </p:nvPicPr>
        <p:blipFill>
          <a:blip r:embed="rId2"/>
          <a:stretch>
            <a:fillRect/>
          </a:stretch>
        </p:blipFill>
        <p:spPr>
          <a:xfrm>
            <a:off x="8363446" y="4535319"/>
            <a:ext cx="885825" cy="866775"/>
          </a:xfrm>
          <a:prstGeom prst="rect">
            <a:avLst/>
          </a:prstGeom>
        </p:spPr>
      </p:pic>
      <p:pic>
        <p:nvPicPr>
          <p:cNvPr id="8" name="图片 7"/>
          <p:cNvPicPr>
            <a:picLocks noChangeAspect="1"/>
          </p:cNvPicPr>
          <p:nvPr/>
        </p:nvPicPr>
        <p:blipFill>
          <a:blip r:embed="rId3"/>
          <a:stretch>
            <a:fillRect/>
          </a:stretch>
        </p:blipFill>
        <p:spPr>
          <a:xfrm>
            <a:off x="8095118" y="3596509"/>
            <a:ext cx="1279308" cy="548275"/>
          </a:xfrm>
          <a:prstGeom prst="rect">
            <a:avLst/>
          </a:prstGeom>
        </p:spPr>
      </p:pic>
      <p:sp>
        <p:nvSpPr>
          <p:cNvPr id="9" name="文本框 8"/>
          <p:cNvSpPr txBox="1"/>
          <p:nvPr/>
        </p:nvSpPr>
        <p:spPr>
          <a:xfrm>
            <a:off x="7746235" y="1439399"/>
            <a:ext cx="2137144" cy="460375"/>
          </a:xfrm>
          <a:prstGeom prst="rect">
            <a:avLst/>
          </a:prstGeom>
          <a:noFill/>
          <a:ln w="44450">
            <a:solidFill>
              <a:schemeClr val="tx1">
                <a:lumMod val="75000"/>
                <a:lumOff val="25000"/>
              </a:schemeClr>
            </a:solidFill>
          </a:ln>
        </p:spPr>
        <p:txBody>
          <a:bodyPr wrap="square" rtlCol="0">
            <a:spAutoFit/>
          </a:bodyPr>
          <a:lstStyle/>
          <a:p>
            <a:pPr algn="ctr"/>
            <a:r>
              <a:rPr lang="zh-CN" altLang="en-US" sz="2400" dirty="0">
                <a:solidFill>
                  <a:schemeClr val="tx1"/>
                </a:solidFill>
                <a:latin typeface="微软雅黑 Light" panose="020B0502040204020203" pitchFamily="34" charset="-122"/>
                <a:ea typeface="微软雅黑 Light" panose="020B0502040204020203" pitchFamily="34" charset="-122"/>
              </a:rPr>
              <a:t>申请注册域名</a:t>
            </a:r>
            <a:endParaRPr lang="zh-CN" altLang="en-US" sz="2400" dirty="0">
              <a:solidFill>
                <a:schemeClr val="tx1"/>
              </a:solidFill>
              <a:latin typeface="微软雅黑 Light" panose="020B0502040204020203" pitchFamily="34" charset="-122"/>
              <a:ea typeface="微软雅黑 Light" panose="020B0502040204020203" pitchFamily="34" charset="-122"/>
            </a:endParaRPr>
          </a:p>
        </p:txBody>
      </p:sp>
      <p:sp>
        <p:nvSpPr>
          <p:cNvPr id="10" name="箭头: 下 9"/>
          <p:cNvSpPr/>
          <p:nvPr/>
        </p:nvSpPr>
        <p:spPr>
          <a:xfrm>
            <a:off x="8623421" y="2008896"/>
            <a:ext cx="191386" cy="348129"/>
          </a:xfrm>
          <a:prstGeom prst="downArrow">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11" name="箭头: 下 10"/>
          <p:cNvSpPr/>
          <p:nvPr/>
        </p:nvSpPr>
        <p:spPr>
          <a:xfrm>
            <a:off x="8660636" y="3204750"/>
            <a:ext cx="191386" cy="348129"/>
          </a:xfrm>
          <a:prstGeom prst="downArrow">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12" name="箭头: 下 11"/>
          <p:cNvSpPr/>
          <p:nvPr/>
        </p:nvSpPr>
        <p:spPr>
          <a:xfrm>
            <a:off x="8673704" y="4165987"/>
            <a:ext cx="191386" cy="348129"/>
          </a:xfrm>
          <a:prstGeom prst="downArrow">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464912" y="3683119"/>
            <a:ext cx="2137144" cy="460375"/>
          </a:xfrm>
          <a:prstGeom prst="rect">
            <a:avLst/>
          </a:prstGeom>
          <a:noFill/>
          <a:ln w="44450">
            <a:noFill/>
          </a:ln>
        </p:spPr>
        <p:txBody>
          <a:bodyPr wrap="square" rtlCol="0">
            <a:spAutoFit/>
          </a:bodyPr>
          <a:lstStyle/>
          <a:p>
            <a:r>
              <a:rPr lang="zh-CN" altLang="en-US" sz="2400" dirty="0">
                <a:solidFill>
                  <a:schemeClr val="tx1"/>
                </a:solidFill>
                <a:latin typeface="微软雅黑 Light" panose="020B0502040204020203" pitchFamily="34" charset="-122"/>
                <a:ea typeface="微软雅黑 Light" panose="020B0502040204020203" pitchFamily="34" charset="-122"/>
              </a:rPr>
              <a:t>注册管理机构</a:t>
            </a:r>
            <a:endParaRPr lang="zh-CN" altLang="en-US" sz="2400" dirty="0">
              <a:solidFill>
                <a:schemeClr val="tx1"/>
              </a:solidFill>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9266692" y="2550054"/>
            <a:ext cx="1941876" cy="460375"/>
          </a:xfrm>
          <a:prstGeom prst="rect">
            <a:avLst/>
          </a:prstGeom>
          <a:noFill/>
          <a:ln w="44450">
            <a:noFill/>
          </a:ln>
        </p:spPr>
        <p:txBody>
          <a:bodyPr wrap="square" rtlCol="0">
            <a:spAutoFit/>
          </a:bodyPr>
          <a:lstStyle/>
          <a:p>
            <a:r>
              <a:rPr lang="zh-CN" altLang="en-US" sz="2400" dirty="0">
                <a:solidFill>
                  <a:schemeClr val="tx1"/>
                </a:solidFill>
                <a:latin typeface="微软雅黑 Light" panose="020B0502040204020203" pitchFamily="34" charset="-122"/>
                <a:ea typeface="微软雅黑 Light" panose="020B0502040204020203" pitchFamily="34" charset="-122"/>
              </a:rPr>
              <a:t>注册服务商</a:t>
            </a:r>
            <a:endParaRPr lang="zh-CN" altLang="en-US" sz="2400" dirty="0">
              <a:solidFill>
                <a:schemeClr val="tx1"/>
              </a:solidFill>
              <a:latin typeface="微软雅黑 Light" panose="020B0502040204020203" pitchFamily="34" charset="-122"/>
              <a:ea typeface="微软雅黑 Light" panose="020B0502040204020203" pitchFamily="34" charset="-122"/>
            </a:endParaRPr>
          </a:p>
        </p:txBody>
      </p:sp>
      <p:sp>
        <p:nvSpPr>
          <p:cNvPr id="15" name="文本框 14"/>
          <p:cNvSpPr txBox="1"/>
          <p:nvPr/>
        </p:nvSpPr>
        <p:spPr>
          <a:xfrm>
            <a:off x="9420958" y="4816184"/>
            <a:ext cx="1499578" cy="460375"/>
          </a:xfrm>
          <a:prstGeom prst="rect">
            <a:avLst/>
          </a:prstGeom>
          <a:noFill/>
          <a:ln w="44450">
            <a:noFill/>
          </a:ln>
        </p:spPr>
        <p:txBody>
          <a:bodyPr wrap="square" rtlCol="0">
            <a:spAutoFit/>
          </a:bodyPr>
          <a:lstStyle/>
          <a:p>
            <a:r>
              <a:rPr lang="en-US" altLang="zh-CN" sz="2400" dirty="0">
                <a:solidFill>
                  <a:schemeClr val="tx1"/>
                </a:solidFill>
                <a:latin typeface="微软雅黑 Light" panose="020B0502040204020203" pitchFamily="34" charset="-122"/>
                <a:ea typeface="微软雅黑 Light" panose="020B0502040204020203" pitchFamily="34" charset="-122"/>
              </a:rPr>
              <a:t>ICANN</a:t>
            </a:r>
            <a:endParaRPr lang="en-US" altLang="zh-CN" sz="2400" dirty="0">
              <a:solidFill>
                <a:schemeClr val="tx1"/>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1939C82-4B12-4460-BF7C-D3EC9B23F86F}" type="slidenum">
              <a:rPr lang="en-US" altLang="zh-CN"/>
            </a:fld>
            <a:endParaRPr lang="en-US" altLang="zh-CN"/>
          </a:p>
        </p:txBody>
      </p:sp>
      <p:sp>
        <p:nvSpPr>
          <p:cNvPr id="282626" name="Rectangle 2"/>
          <p:cNvSpPr>
            <a:spLocks noGrp="1" noChangeArrowheads="1"/>
          </p:cNvSpPr>
          <p:nvPr>
            <p:ph type="title"/>
          </p:nvPr>
        </p:nvSpPr>
        <p:spPr/>
        <p:txBody>
          <a:bodyPr/>
          <a:lstStyle/>
          <a:p>
            <a:r>
              <a:rPr lang="zh-CN" altLang="en-US" dirty="0"/>
              <a:t>域名系统</a:t>
            </a:r>
            <a:endParaRPr lang="zh-CN" altLang="en-US" dirty="0"/>
          </a:p>
        </p:txBody>
      </p:sp>
      <p:sp>
        <p:nvSpPr>
          <p:cNvPr id="282627" name="Rectangle 3"/>
          <p:cNvSpPr>
            <a:spLocks noGrp="1" noChangeArrowheads="1"/>
          </p:cNvSpPr>
          <p:nvPr>
            <p:ph type="body" idx="1"/>
          </p:nvPr>
        </p:nvSpPr>
        <p:spPr>
          <a:xfrm>
            <a:off x="334434" y="1052515"/>
            <a:ext cx="11523133" cy="3902612"/>
          </a:xfrm>
        </p:spPr>
        <p:txBody>
          <a:bodyPr>
            <a:normAutofit lnSpcReduction="10000"/>
          </a:bodyPr>
          <a:lstStyle/>
          <a:p>
            <a:r>
              <a:rPr lang="zh-CN" altLang="en-US" dirty="0"/>
              <a:t>域名系统是一个分布式的数据库，每个子域负责维护整个数据库的一个分段。</a:t>
            </a:r>
            <a:endParaRPr lang="zh-CN" altLang="en-US" dirty="0"/>
          </a:p>
          <a:p>
            <a:r>
              <a:rPr lang="en-US" altLang="zh-CN" dirty="0"/>
              <a:t>DNS</a:t>
            </a:r>
            <a:r>
              <a:rPr lang="zh-CN" altLang="en-US" dirty="0"/>
              <a:t>采用客户</a:t>
            </a:r>
            <a:r>
              <a:rPr lang="en-US" altLang="zh-CN" dirty="0"/>
              <a:t>/</a:t>
            </a:r>
            <a:r>
              <a:rPr lang="zh-CN" altLang="en-US" dirty="0"/>
              <a:t>服务器工作模式</a:t>
            </a:r>
            <a:endParaRPr lang="zh-CN" altLang="en-US" dirty="0"/>
          </a:p>
          <a:p>
            <a:pPr lvl="1"/>
            <a:r>
              <a:rPr lang="zh-CN" altLang="en-US" dirty="0"/>
              <a:t>负责进行名字解析的服务器统称为名字服务器或域名服务器</a:t>
            </a:r>
            <a:endParaRPr lang="zh-CN" altLang="en-US" dirty="0"/>
          </a:p>
          <a:p>
            <a:pPr lvl="1"/>
            <a:r>
              <a:rPr lang="zh-CN" altLang="en-US" dirty="0"/>
              <a:t>每个域名服务器必须具有连向其它有关域名服务器的信息</a:t>
            </a:r>
            <a:endParaRPr lang="en-US" altLang="zh-CN" dirty="0"/>
          </a:p>
          <a:p>
            <a:pPr lvl="1"/>
            <a:r>
              <a:rPr lang="zh-CN" altLang="en-US" dirty="0"/>
              <a:t>当自己不能完成域名与</a:t>
            </a:r>
            <a:r>
              <a:rPr lang="en-US" altLang="zh-CN" dirty="0"/>
              <a:t>IP</a:t>
            </a:r>
            <a:r>
              <a:rPr lang="zh-CN" altLang="en-US" dirty="0"/>
              <a:t>地址的转换时，能够知道或使其它域名服务器知道到哪里去找别的域名服务器，使域名解析过程能够完成</a:t>
            </a:r>
            <a:endParaRPr lang="zh-CN" altLang="en-US" dirty="0"/>
          </a:p>
          <a:p>
            <a:r>
              <a:rPr lang="zh-CN" altLang="en-US" dirty="0"/>
              <a:t>域名与</a:t>
            </a:r>
            <a:r>
              <a:rPr lang="en-US" altLang="zh-CN" dirty="0"/>
              <a:t>IP</a:t>
            </a:r>
            <a:r>
              <a:rPr lang="zh-CN" altLang="en-US" dirty="0"/>
              <a:t>地址可以是一对一、一对多或者多对一的关系</a:t>
            </a:r>
            <a:endParaRPr lang="zh-CN" altLang="en-US" dirty="0"/>
          </a:p>
          <a:p>
            <a:r>
              <a:rPr lang="zh-CN" altLang="en-US" dirty="0"/>
              <a:t>域名解析过程对用户透明</a:t>
            </a:r>
            <a:endParaRPr lang="zh-CN" altLang="en-US" dirty="0"/>
          </a:p>
          <a:p>
            <a:endParaRPr lang="en-US" altLang="zh-CN" dirty="0"/>
          </a:p>
        </p:txBody>
      </p:sp>
      <p:grpSp>
        <p:nvGrpSpPr>
          <p:cNvPr id="5" name="组合 4"/>
          <p:cNvGrpSpPr/>
          <p:nvPr/>
        </p:nvGrpSpPr>
        <p:grpSpPr>
          <a:xfrm>
            <a:off x="2999656" y="5085184"/>
            <a:ext cx="5967591" cy="1252682"/>
            <a:chOff x="2479946" y="4916676"/>
            <a:chExt cx="6814868" cy="1410045"/>
          </a:xfrm>
        </p:grpSpPr>
        <p:grpSp>
          <p:nvGrpSpPr>
            <p:cNvPr id="7" name="组合 6"/>
            <p:cNvGrpSpPr/>
            <p:nvPr/>
          </p:nvGrpSpPr>
          <p:grpSpPr bwMode="auto">
            <a:xfrm>
              <a:off x="2779713" y="4916676"/>
              <a:ext cx="6515101" cy="631825"/>
              <a:chOff x="0" y="0"/>
              <a:chExt cx="4104" cy="398"/>
            </a:xfrm>
          </p:grpSpPr>
          <p:sp>
            <p:nvSpPr>
              <p:cNvPr id="14" name="文本框 20484"/>
              <p:cNvSpPr txBox="1">
                <a:spLocks noChangeArrowheads="1"/>
              </p:cNvSpPr>
              <p:nvPr/>
            </p:nvSpPr>
            <p:spPr bwMode="auto">
              <a:xfrm>
                <a:off x="0" y="19"/>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dirty="0">
                    <a:solidFill>
                      <a:srgbClr val="003366"/>
                    </a:solidFill>
                    <a:latin typeface="微软雅黑 Light" panose="020B0502040204020203" pitchFamily="34" charset="-122"/>
                    <a:ea typeface="微软雅黑 Light" panose="020B0502040204020203" pitchFamily="34" charset="-122"/>
                  </a:rPr>
                  <a:t>域名</a:t>
                </a:r>
                <a:endParaRPr lang="zh-CN" altLang="en-US" sz="2400" dirty="0">
                  <a:solidFill>
                    <a:srgbClr val="003366"/>
                  </a:solidFill>
                  <a:latin typeface="微软雅黑 Light" panose="020B0502040204020203" pitchFamily="34" charset="-122"/>
                  <a:ea typeface="微软雅黑 Light" panose="020B0502040204020203" pitchFamily="34" charset="-122"/>
                </a:endParaRPr>
              </a:p>
            </p:txBody>
          </p:sp>
          <p:sp>
            <p:nvSpPr>
              <p:cNvPr id="15" name="文本框 20485"/>
              <p:cNvSpPr txBox="1">
                <a:spLocks noChangeArrowheads="1"/>
              </p:cNvSpPr>
              <p:nvPr/>
            </p:nvSpPr>
            <p:spPr bwMode="auto">
              <a:xfrm>
                <a:off x="3344" y="0"/>
                <a:ext cx="7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solidFill>
                      <a:srgbClr val="003366"/>
                    </a:solidFill>
                    <a:latin typeface="微软雅黑 Light" panose="020B0502040204020203" pitchFamily="34" charset="-122"/>
                    <a:ea typeface="微软雅黑 Light" panose="020B0502040204020203" pitchFamily="34" charset="-122"/>
                    <a:cs typeface="微软雅黑" panose="020B0503020204020204" pitchFamily="34" charset="-122"/>
                  </a:rPr>
                  <a:t>IP</a:t>
                </a:r>
                <a:r>
                  <a:rPr lang="zh-CN" altLang="en-US" sz="2400">
                    <a:solidFill>
                      <a:srgbClr val="003366"/>
                    </a:solidFill>
                    <a:latin typeface="微软雅黑 Light" panose="020B0502040204020203" pitchFamily="34" charset="-122"/>
                    <a:ea typeface="微软雅黑 Light" panose="020B0502040204020203" pitchFamily="34" charset="-122"/>
                    <a:cs typeface="微软雅黑" panose="020B0503020204020204" pitchFamily="34" charset="-122"/>
                  </a:rPr>
                  <a:t>地址</a:t>
                </a:r>
                <a:endParaRPr lang="zh-CN" altLang="en-US" sz="2400">
                  <a:solidFill>
                    <a:srgbClr val="003366"/>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16" name="矩形 20486"/>
              <p:cNvSpPr>
                <a:spLocks noChangeArrowheads="1"/>
              </p:cNvSpPr>
              <p:nvPr/>
            </p:nvSpPr>
            <p:spPr bwMode="auto">
              <a:xfrm>
                <a:off x="1244" y="14"/>
                <a:ext cx="1364" cy="384"/>
              </a:xfrm>
              <a:prstGeom prst="rect">
                <a:avLst/>
              </a:prstGeom>
              <a:solidFill>
                <a:srgbClr val="CCECFF"/>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zh-CN" altLang="en-US" sz="2400">
                    <a:solidFill>
                      <a:srgbClr val="003366"/>
                    </a:solidFill>
                    <a:latin typeface="微软雅黑 Light" panose="020B0502040204020203" pitchFamily="34" charset="-122"/>
                    <a:ea typeface="微软雅黑 Light" panose="020B0502040204020203" pitchFamily="34" charset="-122"/>
                  </a:rPr>
                  <a:t>域名解析</a:t>
                </a:r>
                <a:endParaRPr lang="zh-CN" altLang="en-US" sz="2400">
                  <a:solidFill>
                    <a:srgbClr val="003366"/>
                  </a:solidFill>
                  <a:latin typeface="微软雅黑 Light" panose="020B0502040204020203" pitchFamily="34" charset="-122"/>
                  <a:ea typeface="微软雅黑 Light" panose="020B0502040204020203" pitchFamily="34" charset="-122"/>
                </a:endParaRPr>
              </a:p>
            </p:txBody>
          </p:sp>
          <p:sp>
            <p:nvSpPr>
              <p:cNvPr id="17" name="右箭头 20487"/>
              <p:cNvSpPr>
                <a:spLocks noChangeArrowheads="1"/>
              </p:cNvSpPr>
              <p:nvPr/>
            </p:nvSpPr>
            <p:spPr bwMode="auto">
              <a:xfrm>
                <a:off x="540" y="79"/>
                <a:ext cx="723" cy="208"/>
              </a:xfrm>
              <a:prstGeom prst="rightArrow">
                <a:avLst>
                  <a:gd name="adj1" fmla="val 50000"/>
                  <a:gd name="adj2" fmla="val 86835"/>
                </a:avLst>
              </a:prstGeom>
              <a:solidFill>
                <a:schemeClr val="hlink"/>
              </a:solidFill>
              <a:ln w="9525">
                <a:solidFill>
                  <a:schemeClr val="tx1"/>
                </a:solidFill>
                <a:miter lim="800000"/>
              </a:ln>
            </p:spPr>
            <p:txBody>
              <a:bodyPr/>
              <a:lstStyle/>
              <a:p>
                <a:endParaRPr lang="zh-CN" altLang="en-US" sz="1600">
                  <a:latin typeface="微软雅黑 Light" panose="020B0502040204020203" pitchFamily="34" charset="-122"/>
                  <a:ea typeface="微软雅黑 Light" panose="020B0502040204020203" pitchFamily="34" charset="-122"/>
                </a:endParaRPr>
              </a:p>
            </p:txBody>
          </p:sp>
          <p:sp>
            <p:nvSpPr>
              <p:cNvPr id="18" name="右箭头 20488"/>
              <p:cNvSpPr>
                <a:spLocks noChangeArrowheads="1"/>
              </p:cNvSpPr>
              <p:nvPr/>
            </p:nvSpPr>
            <p:spPr bwMode="auto">
              <a:xfrm>
                <a:off x="2610" y="79"/>
                <a:ext cx="721" cy="208"/>
              </a:xfrm>
              <a:prstGeom prst="rightArrow">
                <a:avLst>
                  <a:gd name="adj1" fmla="val 50000"/>
                  <a:gd name="adj2" fmla="val 86594"/>
                </a:avLst>
              </a:prstGeom>
              <a:solidFill>
                <a:schemeClr val="hlink"/>
              </a:solidFill>
              <a:ln w="9525">
                <a:solidFill>
                  <a:schemeClr val="tx1"/>
                </a:solidFill>
                <a:miter lim="800000"/>
              </a:ln>
            </p:spPr>
            <p:txBody>
              <a:bodyPr/>
              <a:lstStyle/>
              <a:p>
                <a:endParaRPr lang="zh-CN" altLang="en-US" sz="1600">
                  <a:latin typeface="微软雅黑 Light" panose="020B0502040204020203" pitchFamily="34" charset="-122"/>
                  <a:ea typeface="微软雅黑 Light" panose="020B0502040204020203" pitchFamily="34" charset="-122"/>
                </a:endParaRPr>
              </a:p>
            </p:txBody>
          </p:sp>
        </p:grpSp>
        <p:grpSp>
          <p:nvGrpSpPr>
            <p:cNvPr id="8" name="组合 7"/>
            <p:cNvGrpSpPr/>
            <p:nvPr/>
          </p:nvGrpSpPr>
          <p:grpSpPr bwMode="auto">
            <a:xfrm>
              <a:off x="2479946" y="5717121"/>
              <a:ext cx="6578600" cy="609600"/>
              <a:chOff x="0" y="0"/>
              <a:chExt cx="4144" cy="384"/>
            </a:xfrm>
          </p:grpSpPr>
          <p:sp>
            <p:nvSpPr>
              <p:cNvPr id="9" name="文本框 20490"/>
              <p:cNvSpPr txBox="1">
                <a:spLocks noChangeArrowheads="1"/>
              </p:cNvSpPr>
              <p:nvPr/>
            </p:nvSpPr>
            <p:spPr bwMode="auto">
              <a:xfrm>
                <a:off x="0" y="48"/>
                <a:ext cx="7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solidFill>
                      <a:srgbClr val="003366"/>
                    </a:solidFill>
                    <a:latin typeface="微软雅黑 Light" panose="020B0502040204020203" pitchFamily="34" charset="-122"/>
                    <a:ea typeface="微软雅黑 Light" panose="020B0502040204020203" pitchFamily="34" charset="-122"/>
                    <a:cs typeface="微软雅黑" panose="020B0503020204020204" pitchFamily="34" charset="-122"/>
                  </a:rPr>
                  <a:t>IP</a:t>
                </a:r>
                <a:r>
                  <a:rPr lang="zh-CN" altLang="en-US" sz="2400">
                    <a:solidFill>
                      <a:srgbClr val="003366"/>
                    </a:solidFill>
                    <a:latin typeface="微软雅黑 Light" panose="020B0502040204020203" pitchFamily="34" charset="-122"/>
                    <a:ea typeface="微软雅黑 Light" panose="020B0502040204020203" pitchFamily="34" charset="-122"/>
                    <a:cs typeface="微软雅黑" panose="020B0503020204020204" pitchFamily="34" charset="-122"/>
                  </a:rPr>
                  <a:t>地址</a:t>
                </a:r>
                <a:endParaRPr lang="zh-CN" altLang="en-US" sz="2400">
                  <a:solidFill>
                    <a:srgbClr val="003366"/>
                  </a:solidFill>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10" name="文本框 20491"/>
              <p:cNvSpPr txBox="1">
                <a:spLocks noChangeArrowheads="1"/>
              </p:cNvSpPr>
              <p:nvPr/>
            </p:nvSpPr>
            <p:spPr bwMode="auto">
              <a:xfrm>
                <a:off x="3568" y="31"/>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003366"/>
                    </a:solidFill>
                    <a:latin typeface="微软雅黑 Light" panose="020B0502040204020203" pitchFamily="34" charset="-122"/>
                    <a:ea typeface="微软雅黑 Light" panose="020B0502040204020203" pitchFamily="34" charset="-122"/>
                  </a:rPr>
                  <a:t>域名</a:t>
                </a:r>
                <a:endParaRPr lang="zh-CN" altLang="en-US" sz="2400">
                  <a:solidFill>
                    <a:srgbClr val="003366"/>
                  </a:solidFill>
                  <a:latin typeface="微软雅黑 Light" panose="020B0502040204020203" pitchFamily="34" charset="-122"/>
                  <a:ea typeface="微软雅黑 Light" panose="020B0502040204020203" pitchFamily="34" charset="-122"/>
                </a:endParaRPr>
              </a:p>
            </p:txBody>
          </p:sp>
          <p:sp>
            <p:nvSpPr>
              <p:cNvPr id="11" name="矩形 20492"/>
              <p:cNvSpPr>
                <a:spLocks noChangeArrowheads="1"/>
              </p:cNvSpPr>
              <p:nvPr/>
            </p:nvSpPr>
            <p:spPr bwMode="auto">
              <a:xfrm>
                <a:off x="1467" y="0"/>
                <a:ext cx="1364" cy="384"/>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zh-CN" altLang="en-US" sz="2400" dirty="0">
                    <a:solidFill>
                      <a:srgbClr val="003366"/>
                    </a:solidFill>
                    <a:latin typeface="微软雅黑 Light" panose="020B0502040204020203" pitchFamily="34" charset="-122"/>
                    <a:ea typeface="微软雅黑 Light" panose="020B0502040204020203" pitchFamily="34" charset="-122"/>
                  </a:rPr>
                  <a:t>域名反解析</a:t>
                </a:r>
                <a:endParaRPr lang="zh-CN" altLang="en-US" sz="2400" dirty="0">
                  <a:solidFill>
                    <a:srgbClr val="003366"/>
                  </a:solidFill>
                  <a:latin typeface="微软雅黑 Light" panose="020B0502040204020203" pitchFamily="34" charset="-122"/>
                  <a:ea typeface="微软雅黑 Light" panose="020B0502040204020203" pitchFamily="34" charset="-122"/>
                </a:endParaRPr>
              </a:p>
            </p:txBody>
          </p:sp>
          <p:sp>
            <p:nvSpPr>
              <p:cNvPr id="12" name="右箭头 20493"/>
              <p:cNvSpPr>
                <a:spLocks noChangeArrowheads="1"/>
              </p:cNvSpPr>
              <p:nvPr/>
            </p:nvSpPr>
            <p:spPr bwMode="auto">
              <a:xfrm>
                <a:off x="755" y="113"/>
                <a:ext cx="722" cy="208"/>
              </a:xfrm>
              <a:prstGeom prst="rightArrow">
                <a:avLst>
                  <a:gd name="adj1" fmla="val 50000"/>
                  <a:gd name="adj2" fmla="val 86715"/>
                </a:avLst>
              </a:prstGeom>
              <a:solidFill>
                <a:schemeClr val="hlink"/>
              </a:solidFill>
              <a:ln w="9525">
                <a:solidFill>
                  <a:schemeClr val="tx1"/>
                </a:solidFill>
                <a:miter lim="800000"/>
              </a:ln>
            </p:spPr>
            <p:txBody>
              <a:bodyPr/>
              <a:lstStyle/>
              <a:p>
                <a:endParaRPr lang="zh-CN" altLang="en-US" sz="1600">
                  <a:latin typeface="微软雅黑 Light" panose="020B0502040204020203" pitchFamily="34" charset="-122"/>
                  <a:ea typeface="微软雅黑 Light" panose="020B0502040204020203" pitchFamily="34" charset="-122"/>
                </a:endParaRPr>
              </a:p>
            </p:txBody>
          </p:sp>
          <p:sp>
            <p:nvSpPr>
              <p:cNvPr id="13" name="右箭头 20494"/>
              <p:cNvSpPr>
                <a:spLocks noChangeArrowheads="1"/>
              </p:cNvSpPr>
              <p:nvPr/>
            </p:nvSpPr>
            <p:spPr bwMode="auto">
              <a:xfrm>
                <a:off x="2833" y="113"/>
                <a:ext cx="722" cy="208"/>
              </a:xfrm>
              <a:prstGeom prst="rightArrow">
                <a:avLst>
                  <a:gd name="adj1" fmla="val 50000"/>
                  <a:gd name="adj2" fmla="val 86715"/>
                </a:avLst>
              </a:prstGeom>
              <a:solidFill>
                <a:schemeClr val="hlink"/>
              </a:solidFill>
              <a:ln w="9525">
                <a:solidFill>
                  <a:schemeClr val="tx1"/>
                </a:solidFill>
                <a:miter lim="800000"/>
              </a:ln>
            </p:spPr>
            <p:txBody>
              <a:bodyPr/>
              <a:lstStyle/>
              <a:p>
                <a:endParaRPr lang="zh-CN" altLang="en-US" sz="1600">
                  <a:latin typeface="微软雅黑 Light" panose="020B0502040204020203" pitchFamily="34" charset="-122"/>
                  <a:ea typeface="微软雅黑 Light" panose="020B0502040204020203" pitchFamily="34" charset="-122"/>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域名服务器分类</a:t>
            </a:r>
            <a:endParaRPr lang="zh-CN" altLang="en-US" dirty="0"/>
          </a:p>
        </p:txBody>
      </p:sp>
      <p:sp>
        <p:nvSpPr>
          <p:cNvPr id="3" name="内容占位符 2"/>
          <p:cNvSpPr>
            <a:spLocks noGrp="1"/>
          </p:cNvSpPr>
          <p:nvPr>
            <p:ph idx="1"/>
          </p:nvPr>
        </p:nvSpPr>
        <p:spPr>
          <a:xfrm>
            <a:off x="334434" y="1052515"/>
            <a:ext cx="11523133" cy="1152350"/>
          </a:xfrm>
        </p:spPr>
        <p:txBody>
          <a:bodyPr/>
          <a:lstStyle/>
          <a:p>
            <a:r>
              <a:rPr lang="zh-CN" altLang="en-US" dirty="0"/>
              <a:t>域名服务器按层次化树状结构的部署方式</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23555"/>
          <p:cNvGrpSpPr/>
          <p:nvPr/>
        </p:nvGrpSpPr>
        <p:grpSpPr bwMode="auto">
          <a:xfrm>
            <a:off x="1703512" y="1916832"/>
            <a:ext cx="9374189" cy="3983038"/>
            <a:chOff x="-164" y="0"/>
            <a:chExt cx="5905" cy="2509"/>
          </a:xfrm>
        </p:grpSpPr>
        <p:sp>
          <p:nvSpPr>
            <p:cNvPr id="6" name="圆角矩形 23556"/>
            <p:cNvSpPr>
              <a:spLocks noChangeArrowheads="1"/>
            </p:cNvSpPr>
            <p:nvPr/>
          </p:nvSpPr>
          <p:spPr bwMode="auto">
            <a:xfrm>
              <a:off x="2421" y="1196"/>
              <a:ext cx="1662" cy="1313"/>
            </a:xfrm>
            <a:prstGeom prst="roundRect">
              <a:avLst>
                <a:gd name="adj" fmla="val 16667"/>
              </a:avLst>
            </a:prstGeom>
            <a:solidFill>
              <a:srgbClr val="33CCFF"/>
            </a:solidFill>
            <a:ln w="9525">
              <a:solidFill>
                <a:schemeClr val="tx1"/>
              </a:solidFill>
              <a:prstDash val="dash"/>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7" name="组合 23557"/>
            <p:cNvGrpSpPr/>
            <p:nvPr/>
          </p:nvGrpSpPr>
          <p:grpSpPr bwMode="auto">
            <a:xfrm>
              <a:off x="2064" y="380"/>
              <a:ext cx="2720" cy="247"/>
              <a:chOff x="0" y="0"/>
              <a:chExt cx="2450" cy="318"/>
            </a:xfrm>
          </p:grpSpPr>
          <p:sp>
            <p:nvSpPr>
              <p:cNvPr id="40" name="直接连接符 23558"/>
              <p:cNvSpPr>
                <a:spLocks noChangeShapeType="1"/>
              </p:cNvSpPr>
              <p:nvPr/>
            </p:nvSpPr>
            <p:spPr bwMode="auto">
              <a:xfrm flipV="1">
                <a:off x="0" y="0"/>
                <a:ext cx="1089"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1" name="直接连接符 23559"/>
              <p:cNvSpPr>
                <a:spLocks noChangeShapeType="1"/>
              </p:cNvSpPr>
              <p:nvPr/>
            </p:nvSpPr>
            <p:spPr bwMode="auto">
              <a:xfrm>
                <a:off x="1180" y="0"/>
                <a:ext cx="0"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 name="直接连接符 23560"/>
              <p:cNvSpPr>
                <a:spLocks noChangeShapeType="1"/>
              </p:cNvSpPr>
              <p:nvPr/>
            </p:nvSpPr>
            <p:spPr bwMode="auto">
              <a:xfrm flipH="1" flipV="1">
                <a:off x="1271" y="0"/>
                <a:ext cx="1179"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8" name="矩形 23561"/>
            <p:cNvSpPr>
              <a:spLocks noChangeArrowheads="1"/>
            </p:cNvSpPr>
            <p:nvPr/>
          </p:nvSpPr>
          <p:spPr bwMode="auto">
            <a:xfrm>
              <a:off x="2824" y="52"/>
              <a:ext cx="1108" cy="313"/>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a:latin typeface="微软雅黑 Light" panose="020B0502040204020203" pitchFamily="34" charset="-122"/>
                  <a:ea typeface="微软雅黑 Light" panose="020B0502040204020203" pitchFamily="34" charset="-122"/>
                </a:rPr>
                <a:t>根名字服务器</a:t>
              </a:r>
              <a:endParaRPr lang="zh-CN" altLang="en-US" sz="2000">
                <a:latin typeface="微软雅黑 Light" panose="020B0502040204020203" pitchFamily="34" charset="-122"/>
                <a:ea typeface="微软雅黑 Light" panose="020B0502040204020203" pitchFamily="34" charset="-122"/>
              </a:endParaRPr>
            </a:p>
          </p:txBody>
        </p:sp>
        <p:sp>
          <p:nvSpPr>
            <p:cNvPr id="9" name="矩形 23562"/>
            <p:cNvSpPr>
              <a:spLocks noChangeArrowheads="1"/>
            </p:cNvSpPr>
            <p:nvPr/>
          </p:nvSpPr>
          <p:spPr bwMode="auto">
            <a:xfrm>
              <a:off x="1464" y="627"/>
              <a:ext cx="1108" cy="313"/>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latin typeface="微软雅黑 Light" panose="020B0502040204020203" pitchFamily="34" charset="-122"/>
                  <a:ea typeface="微软雅黑 Light" panose="020B0502040204020203" pitchFamily="34" charset="-122"/>
                  <a:cs typeface="微软雅黑" panose="020B0503020204020204" pitchFamily="34" charset="-122"/>
                </a:rPr>
                <a:t>org</a:t>
              </a:r>
              <a:r>
                <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rPr>
                <a:t>域名服务器</a:t>
              </a:r>
              <a:endPar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10" name="矩形 23563"/>
            <p:cNvSpPr>
              <a:spLocks noChangeArrowheads="1"/>
            </p:cNvSpPr>
            <p:nvPr/>
          </p:nvSpPr>
          <p:spPr bwMode="auto">
            <a:xfrm>
              <a:off x="2824" y="627"/>
              <a:ext cx="1108" cy="313"/>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latin typeface="微软雅黑 Light" panose="020B0502040204020203" pitchFamily="34" charset="-122"/>
                  <a:ea typeface="微软雅黑 Light" panose="020B0502040204020203" pitchFamily="34" charset="-122"/>
                  <a:cs typeface="微软雅黑" panose="020B0503020204020204" pitchFamily="34" charset="-122"/>
                </a:rPr>
                <a:t>com</a:t>
              </a:r>
              <a:r>
                <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rPr>
                <a:t>域名服务器</a:t>
              </a:r>
              <a:endPar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11" name="矩形 23564"/>
            <p:cNvSpPr>
              <a:spLocks noChangeArrowheads="1"/>
            </p:cNvSpPr>
            <p:nvPr/>
          </p:nvSpPr>
          <p:spPr bwMode="auto">
            <a:xfrm>
              <a:off x="4185" y="627"/>
              <a:ext cx="1108" cy="313"/>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err="1">
                  <a:latin typeface="微软雅黑 Light" panose="020B0502040204020203" pitchFamily="34" charset="-122"/>
                  <a:ea typeface="微软雅黑 Light" panose="020B0502040204020203" pitchFamily="34" charset="-122"/>
                  <a:cs typeface="微软雅黑" panose="020B0503020204020204" pitchFamily="34" charset="-122"/>
                </a:rPr>
                <a:t>edu</a:t>
              </a:r>
              <a:r>
                <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rPr>
                <a:t>域名服务器</a:t>
              </a:r>
              <a:endPar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nvGrpSpPr>
            <p:cNvPr id="12" name="组合 23565"/>
            <p:cNvGrpSpPr/>
            <p:nvPr/>
          </p:nvGrpSpPr>
          <p:grpSpPr bwMode="auto">
            <a:xfrm>
              <a:off x="4485" y="940"/>
              <a:ext cx="504" cy="157"/>
              <a:chOff x="0" y="0"/>
              <a:chExt cx="330" cy="132"/>
            </a:xfrm>
          </p:grpSpPr>
          <p:sp>
            <p:nvSpPr>
              <p:cNvPr id="36" name="直接连接符 23566"/>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7" name="直接连接符 23567"/>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8" name="直接连接符 23568"/>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9" name="直接连接符 23569"/>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13" name="文本框 23570"/>
            <p:cNvSpPr txBox="1">
              <a:spLocks noChangeArrowheads="1"/>
            </p:cNvSpPr>
            <p:nvPr/>
          </p:nvSpPr>
          <p:spPr bwMode="auto">
            <a:xfrm>
              <a:off x="5392" y="599"/>
              <a:ext cx="2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latin typeface="微软雅黑 Light" panose="020B0502040204020203" pitchFamily="34" charset="-122"/>
                  <a:ea typeface="微软雅黑 Light" panose="020B0502040204020203" pitchFamily="34" charset="-122"/>
                </a:rPr>
                <a:t>…</a:t>
              </a:r>
              <a:endParaRPr lang="en-US" altLang="zh-CN" sz="2000">
                <a:latin typeface="微软雅黑 Light" panose="020B0502040204020203" pitchFamily="34" charset="-122"/>
                <a:ea typeface="微软雅黑 Light" panose="020B0502040204020203" pitchFamily="34" charset="-122"/>
              </a:endParaRPr>
            </a:p>
          </p:txBody>
        </p:sp>
        <p:grpSp>
          <p:nvGrpSpPr>
            <p:cNvPr id="14" name="组合 23571"/>
            <p:cNvGrpSpPr/>
            <p:nvPr/>
          </p:nvGrpSpPr>
          <p:grpSpPr bwMode="auto">
            <a:xfrm>
              <a:off x="1766" y="940"/>
              <a:ext cx="504" cy="157"/>
              <a:chOff x="0" y="0"/>
              <a:chExt cx="330" cy="132"/>
            </a:xfrm>
          </p:grpSpPr>
          <p:sp>
            <p:nvSpPr>
              <p:cNvPr id="32" name="直接连接符 23572"/>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3" name="直接连接符 23573"/>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4" name="直接连接符 23574"/>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5" name="直接连接符 23575"/>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15" name="直接连接符 23576"/>
            <p:cNvSpPr>
              <a:spLocks noChangeShapeType="1"/>
            </p:cNvSpPr>
            <p:nvPr/>
          </p:nvSpPr>
          <p:spPr bwMode="auto">
            <a:xfrm>
              <a:off x="3461" y="940"/>
              <a:ext cx="219" cy="15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 name="直接连接符 23577"/>
            <p:cNvSpPr>
              <a:spLocks noChangeShapeType="1"/>
            </p:cNvSpPr>
            <p:nvPr/>
          </p:nvSpPr>
          <p:spPr bwMode="auto">
            <a:xfrm>
              <a:off x="3444" y="940"/>
              <a:ext cx="57" cy="15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 name="直接连接符 23578"/>
            <p:cNvSpPr>
              <a:spLocks noChangeShapeType="1"/>
            </p:cNvSpPr>
            <p:nvPr/>
          </p:nvSpPr>
          <p:spPr bwMode="auto">
            <a:xfrm flipH="1">
              <a:off x="3176" y="940"/>
              <a:ext cx="220" cy="15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 name="直接连接符 23579"/>
            <p:cNvSpPr>
              <a:spLocks noChangeShapeType="1"/>
            </p:cNvSpPr>
            <p:nvPr/>
          </p:nvSpPr>
          <p:spPr bwMode="auto">
            <a:xfrm flipH="1">
              <a:off x="3256" y="940"/>
              <a:ext cx="164" cy="421"/>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9" name="矩形 23580"/>
            <p:cNvSpPr>
              <a:spLocks noChangeArrowheads="1"/>
            </p:cNvSpPr>
            <p:nvPr/>
          </p:nvSpPr>
          <p:spPr bwMode="auto">
            <a:xfrm>
              <a:off x="2673" y="1987"/>
              <a:ext cx="1109" cy="365"/>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a:latin typeface="微软雅黑 Light" panose="020B0502040204020203" pitchFamily="34" charset="-122"/>
                  <a:ea typeface="微软雅黑 Light" panose="020B0502040204020203" pitchFamily="34" charset="-122"/>
                  <a:cs typeface="微软雅黑" panose="020B0503020204020204" pitchFamily="34" charset="-122"/>
                </a:rPr>
                <a:t>y.abc.com</a:t>
              </a:r>
              <a:endParaRPr lang="en-US" altLang="zh-CN" sz="2000">
                <a:latin typeface="微软雅黑 Light" panose="020B0502040204020203" pitchFamily="34" charset="-122"/>
                <a:ea typeface="微软雅黑 Light" panose="020B0502040204020203" pitchFamily="34" charset="-122"/>
                <a:cs typeface="微软雅黑" panose="020B0503020204020204" pitchFamily="34" charset="-122"/>
              </a:endParaRPr>
            </a:p>
            <a:p>
              <a:pPr algn="ctr"/>
              <a:r>
                <a:rPr lang="zh-CN" altLang="en-US" sz="2000">
                  <a:latin typeface="微软雅黑 Light" panose="020B0502040204020203" pitchFamily="34" charset="-122"/>
                  <a:ea typeface="微软雅黑 Light" panose="020B0502040204020203" pitchFamily="34" charset="-122"/>
                  <a:cs typeface="微软雅黑" panose="020B0503020204020204" pitchFamily="34" charset="-122"/>
                </a:rPr>
                <a:t>域名服务器</a:t>
              </a:r>
              <a:endParaRPr lang="zh-CN" altLang="en-US" sz="200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20" name="直接连接符 23581"/>
            <p:cNvSpPr>
              <a:spLocks noChangeShapeType="1"/>
            </p:cNvSpPr>
            <p:nvPr/>
          </p:nvSpPr>
          <p:spPr bwMode="auto">
            <a:xfrm>
              <a:off x="3226" y="1672"/>
              <a:ext cx="0" cy="31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1" name="直接连接符 23582"/>
            <p:cNvSpPr>
              <a:spLocks noChangeShapeType="1"/>
            </p:cNvSpPr>
            <p:nvPr/>
          </p:nvSpPr>
          <p:spPr bwMode="auto">
            <a:xfrm flipH="1" flipV="1">
              <a:off x="3818" y="1488"/>
              <a:ext cx="811" cy="114"/>
            </a:xfrm>
            <a:prstGeom prst="line">
              <a:avLst/>
            </a:prstGeom>
            <a:noFill/>
            <a:ln w="28575">
              <a:solidFill>
                <a:schemeClr val="fo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22" name="组合 23583"/>
            <p:cNvGrpSpPr/>
            <p:nvPr/>
          </p:nvGrpSpPr>
          <p:grpSpPr bwMode="auto">
            <a:xfrm>
              <a:off x="0" y="522"/>
              <a:ext cx="5741" cy="523"/>
              <a:chOff x="0" y="0"/>
              <a:chExt cx="5444" cy="454"/>
            </a:xfrm>
          </p:grpSpPr>
          <p:sp>
            <p:nvSpPr>
              <p:cNvPr id="30" name="直接连接符 23584"/>
              <p:cNvSpPr>
                <a:spLocks noChangeShapeType="1"/>
              </p:cNvSpPr>
              <p:nvPr/>
            </p:nvSpPr>
            <p:spPr bwMode="auto">
              <a:xfrm>
                <a:off x="0" y="0"/>
                <a:ext cx="5444" cy="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1" name="直接连接符 23585"/>
              <p:cNvSpPr>
                <a:spLocks noChangeShapeType="1"/>
              </p:cNvSpPr>
              <p:nvPr/>
            </p:nvSpPr>
            <p:spPr bwMode="auto">
              <a:xfrm>
                <a:off x="0" y="454"/>
                <a:ext cx="5444" cy="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23" name="文本框 23586"/>
            <p:cNvSpPr txBox="1">
              <a:spLocks noChangeArrowheads="1"/>
            </p:cNvSpPr>
            <p:nvPr/>
          </p:nvSpPr>
          <p:spPr bwMode="auto">
            <a:xfrm>
              <a:off x="-164" y="1561"/>
              <a:ext cx="14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400" dirty="0">
                  <a:latin typeface="微软雅黑 Light" panose="020B0502040204020203" pitchFamily="34" charset="-122"/>
                  <a:ea typeface="微软雅黑 Light" panose="020B0502040204020203" pitchFamily="34" charset="-122"/>
                </a:rPr>
                <a:t>权限域名服务器</a:t>
              </a:r>
              <a:endParaRPr lang="zh-CN" altLang="en-US" sz="2400" dirty="0">
                <a:latin typeface="微软雅黑 Light" panose="020B0502040204020203" pitchFamily="34" charset="-122"/>
                <a:ea typeface="微软雅黑 Light" panose="020B0502040204020203" pitchFamily="34" charset="-122"/>
              </a:endParaRPr>
            </a:p>
          </p:txBody>
        </p:sp>
        <p:sp>
          <p:nvSpPr>
            <p:cNvPr id="24" name="文本框 23587"/>
            <p:cNvSpPr txBox="1">
              <a:spLocks noChangeArrowheads="1"/>
            </p:cNvSpPr>
            <p:nvPr/>
          </p:nvSpPr>
          <p:spPr bwMode="auto">
            <a:xfrm>
              <a:off x="-88" y="89"/>
              <a:ext cx="128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400" dirty="0">
                  <a:latin typeface="微软雅黑 Light" panose="020B0502040204020203" pitchFamily="34" charset="-122"/>
                  <a:ea typeface="微软雅黑 Light" panose="020B0502040204020203" pitchFamily="34" charset="-122"/>
                </a:rPr>
                <a:t>根名字服务器</a:t>
              </a:r>
              <a:endParaRPr lang="zh-CN" altLang="en-US" sz="2400" dirty="0">
                <a:latin typeface="微软雅黑 Light" panose="020B0502040204020203" pitchFamily="34" charset="-122"/>
                <a:ea typeface="微软雅黑 Light" panose="020B0502040204020203" pitchFamily="34" charset="-122"/>
              </a:endParaRPr>
            </a:p>
          </p:txBody>
        </p:sp>
        <p:sp>
          <p:nvSpPr>
            <p:cNvPr id="25" name="文本框 23588"/>
            <p:cNvSpPr txBox="1">
              <a:spLocks noChangeArrowheads="1"/>
            </p:cNvSpPr>
            <p:nvPr/>
          </p:nvSpPr>
          <p:spPr bwMode="auto">
            <a:xfrm>
              <a:off x="-164" y="633"/>
              <a:ext cx="14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400" dirty="0">
                  <a:latin typeface="微软雅黑 Light" panose="020B0502040204020203" pitchFamily="34" charset="-122"/>
                  <a:ea typeface="微软雅黑 Light" panose="020B0502040204020203" pitchFamily="34" charset="-122"/>
                </a:rPr>
                <a:t>顶级域名服务器</a:t>
              </a:r>
              <a:endParaRPr lang="zh-CN" altLang="en-US" sz="2400" dirty="0">
                <a:latin typeface="微软雅黑 Light" panose="020B0502040204020203" pitchFamily="34" charset="-122"/>
                <a:ea typeface="微软雅黑 Light" panose="020B0502040204020203" pitchFamily="34" charset="-122"/>
              </a:endParaRPr>
            </a:p>
          </p:txBody>
        </p:sp>
        <p:sp>
          <p:nvSpPr>
            <p:cNvPr id="26" name="直接连接符 23589"/>
            <p:cNvSpPr>
              <a:spLocks noChangeShapeType="1"/>
            </p:cNvSpPr>
            <p:nvPr/>
          </p:nvSpPr>
          <p:spPr bwMode="auto">
            <a:xfrm>
              <a:off x="1309" y="0"/>
              <a:ext cx="0" cy="2457"/>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7" name="直接连接符 23590"/>
            <p:cNvSpPr>
              <a:spLocks noChangeShapeType="1"/>
            </p:cNvSpPr>
            <p:nvPr/>
          </p:nvSpPr>
          <p:spPr bwMode="auto">
            <a:xfrm flipH="1">
              <a:off x="3803" y="1777"/>
              <a:ext cx="830" cy="415"/>
            </a:xfrm>
            <a:prstGeom prst="line">
              <a:avLst/>
            </a:prstGeom>
            <a:noFill/>
            <a:ln w="28575">
              <a:solidFill>
                <a:schemeClr val="fo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8" name="矩形 23591"/>
            <p:cNvSpPr>
              <a:spLocks noChangeArrowheads="1"/>
            </p:cNvSpPr>
            <p:nvPr/>
          </p:nvSpPr>
          <p:spPr bwMode="auto">
            <a:xfrm>
              <a:off x="2666" y="1359"/>
              <a:ext cx="1109" cy="365"/>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a:latin typeface="微软雅黑 Light" panose="020B0502040204020203" pitchFamily="34" charset="-122"/>
                  <a:ea typeface="微软雅黑 Light" panose="020B0502040204020203" pitchFamily="34" charset="-122"/>
                  <a:cs typeface="微软雅黑" panose="020B0503020204020204" pitchFamily="34" charset="-122"/>
                </a:rPr>
                <a:t>abc.com</a:t>
              </a:r>
              <a:endParaRPr lang="en-US" altLang="zh-CN" sz="2000">
                <a:latin typeface="微软雅黑 Light" panose="020B0502040204020203" pitchFamily="34" charset="-122"/>
                <a:ea typeface="微软雅黑 Light" panose="020B0502040204020203" pitchFamily="34" charset="-122"/>
                <a:cs typeface="微软雅黑" panose="020B0503020204020204" pitchFamily="34" charset="-122"/>
              </a:endParaRPr>
            </a:p>
            <a:p>
              <a:pPr algn="ctr"/>
              <a:r>
                <a:rPr lang="zh-CN" altLang="en-US" sz="2000">
                  <a:latin typeface="微软雅黑 Light" panose="020B0502040204020203" pitchFamily="34" charset="-122"/>
                  <a:ea typeface="微软雅黑 Light" panose="020B0502040204020203" pitchFamily="34" charset="-122"/>
                  <a:cs typeface="微软雅黑" panose="020B0503020204020204" pitchFamily="34" charset="-122"/>
                </a:rPr>
                <a:t>域名服务器</a:t>
              </a:r>
              <a:endParaRPr lang="zh-CN" altLang="en-US" sz="200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29" name="文本框 23592"/>
            <p:cNvSpPr txBox="1">
              <a:spLocks noChangeArrowheads="1"/>
            </p:cNvSpPr>
            <p:nvPr/>
          </p:nvSpPr>
          <p:spPr bwMode="auto">
            <a:xfrm>
              <a:off x="4471" y="1435"/>
              <a:ext cx="1247" cy="4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dirty="0" err="1">
                  <a:latin typeface="微软雅黑 Light" panose="020B0502040204020203" pitchFamily="34" charset="-122"/>
                  <a:ea typeface="微软雅黑 Light" panose="020B0502040204020203" pitchFamily="34" charset="-122"/>
                  <a:cs typeface="微软雅黑" panose="020B0503020204020204" pitchFamily="34" charset="-122"/>
                </a:rPr>
                <a:t>abc</a:t>
              </a:r>
              <a:r>
                <a:rPr lang="en-US" altLang="zh-CN" sz="2000" dirty="0">
                  <a:latin typeface="微软雅黑 Light" panose="020B0502040204020203" pitchFamily="34" charset="-122"/>
                  <a:ea typeface="微软雅黑 Light" panose="020B0502040204020203" pitchFamily="34" charset="-122"/>
                  <a:cs typeface="微软雅黑" panose="020B0503020204020204" pitchFamily="34" charset="-122"/>
                </a:rPr>
                <a:t> </a:t>
              </a:r>
              <a:r>
                <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rPr>
                <a:t>公司有两个</a:t>
              </a:r>
              <a:endPar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endParaRPr>
            </a:p>
            <a:p>
              <a:pPr algn="ctr"/>
              <a:r>
                <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rPr>
                <a:t>权限域名服务器</a:t>
              </a:r>
              <a:endParaRPr lang="zh-CN" altLang="en-US" sz="20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D34EF86-3921-4A4D-A037-F55933B1A005}" type="slidenum">
              <a:rPr lang="en-US" altLang="zh-CN"/>
            </a:fld>
            <a:endParaRPr lang="en-US" altLang="zh-CN"/>
          </a:p>
        </p:txBody>
      </p:sp>
      <p:sp>
        <p:nvSpPr>
          <p:cNvPr id="346114" name="Rectangle 2"/>
          <p:cNvSpPr>
            <a:spLocks noGrp="1" noChangeArrowheads="1"/>
          </p:cNvSpPr>
          <p:nvPr>
            <p:ph type="title"/>
          </p:nvPr>
        </p:nvSpPr>
        <p:spPr/>
        <p:txBody>
          <a:bodyPr/>
          <a:lstStyle/>
          <a:p>
            <a:r>
              <a:rPr lang="zh-CN" altLang="en-US" dirty="0"/>
              <a:t>根服务器</a:t>
            </a:r>
            <a:endParaRPr lang="en-US" altLang="zh-CN" dirty="0"/>
          </a:p>
        </p:txBody>
      </p:sp>
      <p:pic>
        <p:nvPicPr>
          <p:cNvPr id="2" name="图片 1"/>
          <p:cNvPicPr>
            <a:picLocks noChangeAspect="1"/>
          </p:cNvPicPr>
          <p:nvPr/>
        </p:nvPicPr>
        <p:blipFill>
          <a:blip r:embed="rId1"/>
          <a:stretch>
            <a:fillRect/>
          </a:stretch>
        </p:blipFill>
        <p:spPr>
          <a:xfrm>
            <a:off x="1524000" y="1625294"/>
            <a:ext cx="9144000" cy="4756035"/>
          </a:xfrm>
          <a:prstGeom prst="rect">
            <a:avLst/>
          </a:prstGeom>
        </p:spPr>
      </p:pic>
      <p:sp>
        <p:nvSpPr>
          <p:cNvPr id="3" name="矩形 2"/>
          <p:cNvSpPr/>
          <p:nvPr/>
        </p:nvSpPr>
        <p:spPr>
          <a:xfrm>
            <a:off x="1524000" y="989542"/>
            <a:ext cx="4572000" cy="584775"/>
          </a:xfrm>
          <a:prstGeom prst="rect">
            <a:avLst/>
          </a:prstGeom>
        </p:spPr>
        <p:txBody>
          <a:bodyPr>
            <a:spAutoFit/>
          </a:bodyPr>
          <a:lstStyle/>
          <a:p>
            <a:r>
              <a:rPr lang="en-US" altLang="zh-CN" sz="3200" dirty="0">
                <a:hlinkClick r:id="rId2"/>
              </a:rPr>
              <a:t>https://root-servers.org/</a:t>
            </a:r>
            <a:endParaRPr lang="zh-CN" altLang="en-US" sz="3200" dirty="0"/>
          </a:p>
        </p:txBody>
      </p:sp>
      <p:sp>
        <p:nvSpPr>
          <p:cNvPr id="4" name="文本框 3"/>
          <p:cNvSpPr txBox="1"/>
          <p:nvPr/>
        </p:nvSpPr>
        <p:spPr bwMode="auto">
          <a:xfrm>
            <a:off x="2174093" y="6459381"/>
            <a:ext cx="7843814" cy="24622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spAutoFit/>
          </a:bodyPr>
          <a:lstStyle/>
          <a:p>
            <a:pPr algn="ctr"/>
            <a:r>
              <a:rPr lang="en-US" altLang="zh-CN" sz="1000" b="0" i="0" dirty="0">
                <a:solidFill>
                  <a:srgbClr val="333333"/>
                </a:solidFill>
                <a:effectLst/>
                <a:latin typeface="微软雅黑 Light" panose="020B0502040204020203" pitchFamily="34" charset="-122"/>
                <a:ea typeface="微软雅黑 Light" panose="020B0502040204020203" pitchFamily="34" charset="-122"/>
              </a:rPr>
              <a:t>As of 2023-10-18T08:59:07Z, the root server system consists of 1755 instances operated by the 12 independent root server operators.</a:t>
            </a:r>
            <a:endParaRPr lang="zh-CN" altLang="en-US" sz="1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灯片编号占位符 5"/>
          <p:cNvSpPr>
            <a:spLocks noGrp="1"/>
          </p:cNvSpPr>
          <p:nvPr>
            <p:ph type="sldNum" sz="quarter" idx="12"/>
          </p:nvPr>
        </p:nvSpPr>
        <p:spPr/>
        <p:txBody>
          <a:bodyPr/>
          <a:lstStyle/>
          <a:p>
            <a:fld id="{2BF05C7A-1A7D-4874-8C40-302BC8E3C93C}" type="slidenum">
              <a:rPr lang="en-US" altLang="zh-CN"/>
            </a:fld>
            <a:endParaRPr lang="en-US" altLang="zh-CN"/>
          </a:p>
        </p:txBody>
      </p:sp>
      <p:sp>
        <p:nvSpPr>
          <p:cNvPr id="345090" name="Rectangle 2"/>
          <p:cNvSpPr>
            <a:spLocks noGrp="1" noChangeArrowheads="1"/>
          </p:cNvSpPr>
          <p:nvPr>
            <p:ph type="title"/>
          </p:nvPr>
        </p:nvSpPr>
        <p:spPr/>
        <p:txBody>
          <a:bodyPr/>
          <a:lstStyle/>
          <a:p>
            <a:r>
              <a:rPr lang="zh-CN" altLang="en-US" dirty="0"/>
              <a:t>根服务器列表</a:t>
            </a:r>
            <a:endParaRPr lang="en-US" altLang="zh-CN" dirty="0"/>
          </a:p>
        </p:txBody>
      </p:sp>
      <p:sp>
        <p:nvSpPr>
          <p:cNvPr id="345168" name="Rectangle 80"/>
          <p:cNvSpPr>
            <a:spLocks noChangeArrowheads="1"/>
          </p:cNvSpPr>
          <p:nvPr/>
        </p:nvSpPr>
        <p:spPr bwMode="auto">
          <a:xfrm>
            <a:off x="1774825" y="1040141"/>
            <a:ext cx="78501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800" dirty="0">
                <a:hlinkClick r:id="rId1"/>
              </a:rPr>
              <a:t>https://www.iana.org/domains/root/servers</a:t>
            </a:r>
            <a:endParaRPr kumimoji="1" lang="en-US" altLang="zh-CN" sz="2800" dirty="0"/>
          </a:p>
        </p:txBody>
      </p:sp>
      <p:pic>
        <p:nvPicPr>
          <p:cNvPr id="5" name="图片 4"/>
          <p:cNvPicPr>
            <a:picLocks noChangeAspect="1"/>
          </p:cNvPicPr>
          <p:nvPr/>
        </p:nvPicPr>
        <p:blipFill>
          <a:blip r:embed="rId2"/>
          <a:stretch>
            <a:fillRect/>
          </a:stretch>
        </p:blipFill>
        <p:spPr>
          <a:xfrm>
            <a:off x="1830722" y="1628775"/>
            <a:ext cx="8657766" cy="498884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权限域名服务器</a:t>
            </a:r>
            <a:endParaRPr lang="zh-CN" altLang="en-US" dirty="0"/>
          </a:p>
        </p:txBody>
      </p:sp>
      <p:sp>
        <p:nvSpPr>
          <p:cNvPr id="3" name="内容占位符 2"/>
          <p:cNvSpPr>
            <a:spLocks noGrp="1"/>
          </p:cNvSpPr>
          <p:nvPr>
            <p:ph idx="1"/>
          </p:nvPr>
        </p:nvSpPr>
        <p:spPr/>
        <p:txBody>
          <a:bodyPr/>
          <a:lstStyle/>
          <a:p>
            <a:r>
              <a:rPr lang="zh-CN" altLang="en-US" dirty="0"/>
              <a:t>每个区设置相应的权限域名字服务器，用来保存该区中的所有主机的域名到</a:t>
            </a:r>
            <a:r>
              <a:rPr lang="en-US" altLang="zh-CN" dirty="0"/>
              <a:t>IP</a:t>
            </a:r>
            <a:r>
              <a:rPr lang="zh-CN" altLang="en-US" dirty="0"/>
              <a:t>地址的映射</a:t>
            </a:r>
            <a:endParaRPr lang="zh-CN" altLang="en-US" dirty="0"/>
          </a:p>
          <a:p>
            <a:r>
              <a:rPr lang="zh-CN" altLang="en-US" dirty="0"/>
              <a:t>权限域名字服务器一般只解析本辖域的域名</a:t>
            </a:r>
            <a:endParaRPr lang="zh-CN" altLang="en-US" dirty="0"/>
          </a:p>
          <a:p>
            <a:pPr lvl="1"/>
            <a:r>
              <a:rPr lang="zh-CN" altLang="en-US" dirty="0"/>
              <a:t>每一个主机都必须在某个权限域名字服务器处注册登记</a:t>
            </a:r>
            <a:endParaRPr lang="en-US" altLang="zh-CN" dirty="0"/>
          </a:p>
          <a:p>
            <a:pPr lvl="1"/>
            <a:r>
              <a:rPr lang="zh-CN" altLang="en-US" dirty="0"/>
              <a:t>权限域名字服务器知道其管辖的主机名应当转换成什么</a:t>
            </a:r>
            <a:r>
              <a:rPr lang="en-US" altLang="zh-CN" dirty="0"/>
              <a:t>IP</a:t>
            </a:r>
            <a:r>
              <a:rPr lang="zh-CN" altLang="en-US" dirty="0"/>
              <a:t>地址</a:t>
            </a:r>
            <a:endParaRPr lang="zh-CN" altLang="en-US" dirty="0"/>
          </a:p>
          <a:p>
            <a:pPr lvl="1"/>
            <a:r>
              <a:rPr lang="zh-CN" altLang="en-US" dirty="0"/>
              <a:t>各个单位根据自己的具体情况把本单位的域名划为若干个域名管辖区</a:t>
            </a:r>
            <a:r>
              <a:rPr lang="en-US" altLang="zh-CN" dirty="0"/>
              <a:t>(zone)</a:t>
            </a:r>
            <a:r>
              <a:rPr lang="zh-CN" altLang="en-US" dirty="0"/>
              <a:t>，也可简称为区</a:t>
            </a:r>
            <a:endParaRPr lang="zh-CN" altLang="en-US" dirty="0"/>
          </a:p>
          <a:p>
            <a:r>
              <a:rPr lang="zh-CN" altLang="en-US" dirty="0"/>
              <a:t>当一个权限域名服务器还不能给出最后的查询回答时，就会告诉发出查询请求的 </a:t>
            </a:r>
            <a:r>
              <a:rPr lang="en-US" altLang="zh-CN" dirty="0"/>
              <a:t>DNS </a:t>
            </a:r>
            <a:r>
              <a:rPr lang="zh-CN" altLang="en-US" dirty="0"/>
              <a:t>客户，下一步应当找哪一个权限域名服务器 </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本地域名服务器</a:t>
            </a:r>
            <a:endParaRPr lang="zh-CN" altLang="en-US" dirty="0"/>
          </a:p>
        </p:txBody>
      </p:sp>
      <p:sp>
        <p:nvSpPr>
          <p:cNvPr id="3" name="内容占位符 2"/>
          <p:cNvSpPr>
            <a:spLocks noGrp="1"/>
          </p:cNvSpPr>
          <p:nvPr>
            <p:ph idx="1"/>
          </p:nvPr>
        </p:nvSpPr>
        <p:spPr/>
        <p:txBody>
          <a:bodyPr/>
          <a:lstStyle/>
          <a:p>
            <a:r>
              <a:rPr lang="zh-CN" altLang="en-US" dirty="0"/>
              <a:t>每一个</a:t>
            </a:r>
            <a:r>
              <a:rPr lang="en-US" altLang="zh-CN" dirty="0"/>
              <a:t>Internet</a:t>
            </a:r>
            <a:r>
              <a:rPr lang="zh-CN" altLang="en-US" dirty="0"/>
              <a:t>服务提供者</a:t>
            </a:r>
            <a:r>
              <a:rPr lang="en-US" altLang="zh-CN" dirty="0"/>
              <a:t>ISP(Internet Service Provider), </a:t>
            </a:r>
            <a:r>
              <a:rPr lang="zh-CN" altLang="en-US" dirty="0"/>
              <a:t>都至少有一个本地域名服务器，称为默认域名服务器</a:t>
            </a:r>
            <a:endParaRPr lang="zh-CN" altLang="en-US" dirty="0"/>
          </a:p>
          <a:p>
            <a:r>
              <a:rPr lang="zh-CN" altLang="en-US" dirty="0"/>
              <a:t>本地域名服务器离用户较近，一般不超过几个路由器的距离</a:t>
            </a:r>
            <a:endParaRPr lang="zh-CN" altLang="en-US" dirty="0"/>
          </a:p>
          <a:p>
            <a:r>
              <a:rPr lang="zh-CN" altLang="en-US" dirty="0"/>
              <a:t>当主机发出</a:t>
            </a:r>
            <a:r>
              <a:rPr lang="en-US" altLang="zh-CN" dirty="0"/>
              <a:t>DNS</a:t>
            </a:r>
            <a:r>
              <a:rPr lang="zh-CN" altLang="en-US" dirty="0"/>
              <a:t>查询报文时，这个查询报文就首先被送往该主机所在区域的本地域名字服务器</a:t>
            </a:r>
            <a:endParaRPr lang="zh-CN" altLang="en-US" dirty="0"/>
          </a:p>
          <a:p>
            <a:r>
              <a:rPr lang="zh-CN" altLang="en-US" dirty="0"/>
              <a:t>如果所要查询的主机也处在本地 </a:t>
            </a:r>
            <a:r>
              <a:rPr lang="en-US" altLang="zh-CN" dirty="0"/>
              <a:t>ISP </a:t>
            </a:r>
            <a:r>
              <a:rPr lang="zh-CN" altLang="en-US" dirty="0"/>
              <a:t>的管辖范围，则本地域名字服务器就立即能进行域名解析，返回</a:t>
            </a:r>
            <a:r>
              <a:rPr lang="en-US" altLang="zh-CN" dirty="0"/>
              <a:t>IP</a:t>
            </a:r>
            <a:r>
              <a:rPr lang="zh-CN" altLang="en-US" dirty="0"/>
              <a:t>。否则就需要再以此字去询问其他的域名服务器</a:t>
            </a:r>
            <a:endParaRPr lang="zh-CN" altLang="en-US" dirty="0"/>
          </a:p>
          <a:p>
            <a:r>
              <a:rPr lang="zh-CN" altLang="en-US" dirty="0"/>
              <a:t>实际部署中，解析请求路径上的本地域名服务器可能有多个</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8DFDE47-03C6-4A05-9D6D-4F15867C6BB1}" type="slidenum">
              <a:rPr lang="en-US" altLang="zh-CN"/>
            </a:fld>
            <a:endParaRPr lang="en-US" altLang="zh-CN"/>
          </a:p>
        </p:txBody>
      </p:sp>
      <p:sp>
        <p:nvSpPr>
          <p:cNvPr id="283650" name="Rectangle 2"/>
          <p:cNvSpPr>
            <a:spLocks noGrp="1" noChangeArrowheads="1"/>
          </p:cNvSpPr>
          <p:nvPr>
            <p:ph type="title"/>
          </p:nvPr>
        </p:nvSpPr>
        <p:spPr/>
        <p:txBody>
          <a:bodyPr/>
          <a:lstStyle/>
          <a:p>
            <a:r>
              <a:rPr lang="zh-CN" altLang="en-US" dirty="0"/>
              <a:t>域名系统组成</a:t>
            </a:r>
            <a:endParaRPr lang="zh-CN" altLang="en-US" dirty="0"/>
          </a:p>
        </p:txBody>
      </p:sp>
      <p:sp>
        <p:nvSpPr>
          <p:cNvPr id="283651" name="Rectangle 3"/>
          <p:cNvSpPr>
            <a:spLocks noGrp="1" noChangeArrowheads="1"/>
          </p:cNvSpPr>
          <p:nvPr>
            <p:ph type="body" idx="1"/>
          </p:nvPr>
        </p:nvSpPr>
        <p:spPr/>
        <p:txBody>
          <a:bodyPr/>
          <a:lstStyle/>
          <a:p>
            <a:r>
              <a:rPr lang="zh-CN" altLang="en-US" dirty="0"/>
              <a:t>域名空间</a:t>
            </a:r>
            <a:endParaRPr lang="zh-CN" altLang="en-US" dirty="0"/>
          </a:p>
          <a:p>
            <a:pPr lvl="1"/>
            <a:r>
              <a:rPr lang="zh-CN" altLang="en-US" dirty="0"/>
              <a:t>域名全称是一个从该域到根的标签序列，以“ </a:t>
            </a:r>
            <a:r>
              <a:rPr lang="en-US" altLang="zh-CN" dirty="0"/>
              <a:t>. ”</a:t>
            </a:r>
            <a:r>
              <a:rPr lang="zh-CN" altLang="en-US" dirty="0"/>
              <a:t>分离这些标签</a:t>
            </a:r>
            <a:endParaRPr lang="zh-CN" altLang="en-US" dirty="0"/>
          </a:p>
          <a:p>
            <a:pPr lvl="1"/>
            <a:r>
              <a:rPr lang="zh-CN" altLang="en-US" dirty="0"/>
              <a:t>域名即可以是叶结点的名称，也可是子树的根结点的名称</a:t>
            </a:r>
            <a:endParaRPr lang="zh-CN" altLang="en-US" dirty="0"/>
          </a:p>
          <a:p>
            <a:r>
              <a:rPr lang="zh-CN" altLang="en-US" dirty="0"/>
              <a:t>命名规则</a:t>
            </a:r>
            <a:endParaRPr lang="zh-CN" altLang="en-US" dirty="0"/>
          </a:p>
          <a:p>
            <a:pPr lvl="1"/>
            <a:r>
              <a:rPr lang="zh-CN" altLang="en-US" dirty="0"/>
              <a:t>最高层的域名由网络信息中心指定</a:t>
            </a:r>
            <a:endParaRPr lang="zh-CN" altLang="en-US" dirty="0"/>
          </a:p>
          <a:p>
            <a:pPr lvl="1"/>
            <a:r>
              <a:rPr lang="zh-CN" altLang="en-US" dirty="0"/>
              <a:t>第</a:t>
            </a:r>
            <a:r>
              <a:rPr lang="en-US" altLang="zh-CN" dirty="0"/>
              <a:t>3</a:t>
            </a:r>
            <a:r>
              <a:rPr lang="zh-CN" altLang="en-US" dirty="0"/>
              <a:t>层域名通常表示组织部门或分支</a:t>
            </a:r>
            <a:endParaRPr lang="en-US" altLang="zh-CN" dirty="0"/>
          </a:p>
          <a:p>
            <a:r>
              <a:rPr lang="zh-CN" altLang="en-US" dirty="0"/>
              <a:t>代理技术：代理包含</a:t>
            </a:r>
            <a:r>
              <a:rPr lang="en-US" altLang="zh-CN" dirty="0"/>
              <a:t>2</a:t>
            </a:r>
            <a:r>
              <a:rPr lang="zh-CN" altLang="en-US" dirty="0"/>
              <a:t>个意思</a:t>
            </a:r>
            <a:endParaRPr lang="zh-CN" altLang="en-US" dirty="0"/>
          </a:p>
          <a:p>
            <a:pPr lvl="1"/>
            <a:r>
              <a:rPr lang="zh-CN" altLang="en-US" dirty="0"/>
              <a:t>数据存储分散化</a:t>
            </a:r>
            <a:endParaRPr lang="zh-CN" altLang="en-US" dirty="0"/>
          </a:p>
          <a:p>
            <a:pPr lvl="1"/>
            <a:r>
              <a:rPr lang="zh-CN" altLang="en-US" dirty="0"/>
              <a:t>管理权分散化</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A3FF164-AC60-4E8B-996C-99907DA171CA}" type="slidenum">
              <a:rPr lang="en-US" altLang="zh-CN"/>
            </a:fld>
            <a:endParaRPr lang="en-US" altLang="zh-CN"/>
          </a:p>
        </p:txBody>
      </p:sp>
      <p:sp>
        <p:nvSpPr>
          <p:cNvPr id="285698" name="Rectangle 2"/>
          <p:cNvSpPr>
            <a:spLocks noGrp="1" noChangeArrowheads="1"/>
          </p:cNvSpPr>
          <p:nvPr>
            <p:ph type="title"/>
          </p:nvPr>
        </p:nvSpPr>
        <p:spPr/>
        <p:txBody>
          <a:bodyPr/>
          <a:lstStyle/>
          <a:p>
            <a:r>
              <a:rPr lang="en-US" altLang="zh-CN"/>
              <a:t>DNS</a:t>
            </a:r>
            <a:r>
              <a:rPr lang="zh-CN" altLang="en-US"/>
              <a:t>的工作原理</a:t>
            </a:r>
            <a:endParaRPr lang="zh-CN" altLang="en-US"/>
          </a:p>
        </p:txBody>
      </p:sp>
      <p:sp>
        <p:nvSpPr>
          <p:cNvPr id="285699" name="Rectangle 3"/>
          <p:cNvSpPr>
            <a:spLocks noGrp="1" noChangeArrowheads="1"/>
          </p:cNvSpPr>
          <p:nvPr>
            <p:ph type="body" idx="1"/>
          </p:nvPr>
        </p:nvSpPr>
        <p:spPr/>
        <p:txBody>
          <a:bodyPr/>
          <a:lstStyle/>
          <a:p>
            <a:r>
              <a:rPr lang="zh-CN" altLang="en-US"/>
              <a:t>解释过程：</a:t>
            </a:r>
            <a:endParaRPr lang="zh-CN" altLang="en-US"/>
          </a:p>
          <a:p>
            <a:pPr lvl="1"/>
            <a:r>
              <a:rPr lang="zh-CN" altLang="en-US"/>
              <a:t>域名解析器首先查询本地主机的的缓冲区，查看主机是否以前解析过主机名。</a:t>
            </a:r>
            <a:endParaRPr lang="zh-CN" altLang="en-US"/>
          </a:p>
          <a:p>
            <a:pPr lvl="1"/>
            <a:r>
              <a:rPr lang="zh-CN" altLang="en-US"/>
              <a:t>如果主机缓冲区中没有与其</a:t>
            </a:r>
            <a:r>
              <a:rPr lang="en-US" altLang="zh-CN"/>
              <a:t>IP</a:t>
            </a:r>
            <a:r>
              <a:rPr lang="zh-CN" altLang="en-US"/>
              <a:t>地址的映射关系，解析器将向本地域名服务器发出请求。</a:t>
            </a:r>
            <a:endParaRPr lang="zh-CN" altLang="en-US"/>
          </a:p>
          <a:p>
            <a:pPr lvl="1"/>
            <a:r>
              <a:rPr lang="zh-CN" altLang="en-US"/>
              <a:t>本地域名服务器首先检查域名与其</a:t>
            </a:r>
            <a:r>
              <a:rPr lang="en-US" altLang="zh-CN"/>
              <a:t>IP</a:t>
            </a:r>
            <a:r>
              <a:rPr lang="zh-CN" altLang="en-US"/>
              <a:t>地址的映射关系是否存储在它的数据库中，如果是，本地服务器将该映射关系传送给请求者。</a:t>
            </a:r>
            <a:endParaRPr lang="zh-CN" altLang="en-US"/>
          </a:p>
          <a:p>
            <a:r>
              <a:rPr lang="zh-CN" altLang="en-US"/>
              <a:t>解释方法有两种：</a:t>
            </a:r>
            <a:endParaRPr lang="zh-CN" altLang="en-US"/>
          </a:p>
          <a:p>
            <a:pPr lvl="1"/>
            <a:r>
              <a:rPr lang="zh-CN" altLang="en-US"/>
              <a:t>重复解释</a:t>
            </a:r>
            <a:endParaRPr lang="zh-CN" altLang="en-US"/>
          </a:p>
          <a:p>
            <a:pPr lvl="1"/>
            <a:r>
              <a:rPr lang="zh-CN" altLang="en-US"/>
              <a:t>递归解释</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zh-CN" altLang="en-US"/>
              <a:t>递归查询</a:t>
            </a:r>
            <a:endParaRPr lang="zh-CN" altLang="en-US"/>
          </a:p>
        </p:txBody>
      </p:sp>
      <p:sp>
        <p:nvSpPr>
          <p:cNvPr id="2" name="内容占位符 1"/>
          <p:cNvSpPr>
            <a:spLocks noGrp="1"/>
          </p:cNvSpPr>
          <p:nvPr>
            <p:ph sz="half" idx="1"/>
          </p:nvPr>
        </p:nvSpPr>
        <p:spPr>
          <a:xfrm>
            <a:off x="334435" y="1052514"/>
            <a:ext cx="4960610" cy="5437187"/>
          </a:xfrm>
        </p:spPr>
        <p:txBody>
          <a:bodyPr/>
          <a:lstStyle/>
          <a:p>
            <a:r>
              <a:rPr lang="zh-CN" altLang="en-US" dirty="0"/>
              <a:t>域名服务器就以</a:t>
            </a:r>
            <a:r>
              <a:rPr lang="en-US" altLang="zh-CN" dirty="0"/>
              <a:t>DNS</a:t>
            </a:r>
            <a:r>
              <a:rPr lang="zh-CN" altLang="en-US" dirty="0"/>
              <a:t>客户的身份向下一步应查询的域名服务器发出查询请求，即替本地域名字服务器继续查询。</a:t>
            </a:r>
            <a:endParaRPr lang="zh-CN" altLang="en-US" dirty="0"/>
          </a:p>
          <a:p>
            <a:r>
              <a:rPr lang="zh-CN" altLang="en-US" dirty="0"/>
              <a:t>较少使用</a:t>
            </a:r>
            <a:endParaRPr lang="zh-CN" altLang="en-US" dirty="0"/>
          </a:p>
          <a:p>
            <a:endParaRPr lang="zh-CN" altLang="en-US" dirty="0"/>
          </a:p>
        </p:txBody>
      </p:sp>
      <p:sp>
        <p:nvSpPr>
          <p:cNvPr id="36" name="灯片编号占位符 5"/>
          <p:cNvSpPr>
            <a:spLocks noGrp="1"/>
          </p:cNvSpPr>
          <p:nvPr>
            <p:ph type="sldNum" sz="quarter" idx="12"/>
          </p:nvPr>
        </p:nvSpPr>
        <p:spPr/>
        <p:txBody>
          <a:bodyPr/>
          <a:lstStyle/>
          <a:p>
            <a:fld id="{D12DF43D-D25E-4703-A963-A7CA023ED6E3}" type="slidenum">
              <a:rPr lang="en-US" altLang="zh-CN"/>
            </a:fld>
            <a:endParaRPr lang="en-US" altLang="zh-CN"/>
          </a:p>
        </p:txBody>
      </p:sp>
      <p:grpSp>
        <p:nvGrpSpPr>
          <p:cNvPr id="37" name="组合 36"/>
          <p:cNvGrpSpPr/>
          <p:nvPr/>
        </p:nvGrpSpPr>
        <p:grpSpPr>
          <a:xfrm>
            <a:off x="5159896" y="1204741"/>
            <a:ext cx="6810379" cy="5032571"/>
            <a:chOff x="5699500" y="1297755"/>
            <a:chExt cx="6493077" cy="5032286"/>
          </a:xfrm>
        </p:grpSpPr>
        <p:sp>
          <p:nvSpPr>
            <p:cNvPr id="38" name="矩形 32771"/>
            <p:cNvSpPr>
              <a:spLocks noChangeArrowheads="1"/>
            </p:cNvSpPr>
            <p:nvPr/>
          </p:nvSpPr>
          <p:spPr bwMode="auto">
            <a:xfrm flipH="1">
              <a:off x="7260996" y="1318392"/>
              <a:ext cx="3140075" cy="3065463"/>
            </a:xfrm>
            <a:prstGeom prst="rect">
              <a:avLst/>
            </a:prstGeom>
            <a:noFill/>
            <a:ln w="28575">
              <a:solidFill>
                <a:srgbClr val="FF0000"/>
              </a:solidFill>
              <a:prstDash val="dash"/>
              <a:miter lim="800000"/>
            </a:ln>
          </p:spPr>
          <p:txBody>
            <a:bodyPr/>
            <a:lstStyle/>
            <a:p>
              <a:endParaRPr lang="zh-CN" altLang="en-US" sz="180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39" name="文本框 32772"/>
            <p:cNvSpPr txBox="1">
              <a:spLocks noChangeArrowheads="1"/>
            </p:cNvSpPr>
            <p:nvPr/>
          </p:nvSpPr>
          <p:spPr bwMode="auto">
            <a:xfrm flipH="1">
              <a:off x="10168197" y="1483492"/>
              <a:ext cx="2023745" cy="64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800">
                  <a:latin typeface="微软雅黑 Light" panose="020B0502040204020203" pitchFamily="34" charset="-122"/>
                  <a:ea typeface="微软雅黑 Light" panose="020B0502040204020203" pitchFamily="34" charset="-122"/>
                  <a:cs typeface="Times New Roman" panose="02020603050405020304" pitchFamily="18" charset="0"/>
                </a:rPr>
                <a:t>顶级域名服务器</a:t>
              </a:r>
              <a:endParaRPr lang="zh-CN" altLang="en-US" sz="1800">
                <a:latin typeface="微软雅黑 Light" panose="020B0502040204020203" pitchFamily="34" charset="-122"/>
                <a:ea typeface="微软雅黑 Light" panose="020B0502040204020203" pitchFamily="34" charset="-122"/>
                <a:cs typeface="Times New Roman" panose="02020603050405020304" pitchFamily="18" charset="0"/>
              </a:endParaRPr>
            </a:p>
            <a:p>
              <a:pPr algn="ctr"/>
              <a:r>
                <a:rPr lang="en-US" altLang="zh-CN" sz="1800">
                  <a:latin typeface="微软雅黑 Light" panose="020B0502040204020203" pitchFamily="34" charset="-122"/>
                  <a:ea typeface="微软雅黑 Light" panose="020B0502040204020203" pitchFamily="34" charset="-122"/>
                  <a:cs typeface="Times New Roman" panose="02020603050405020304" pitchFamily="18" charset="0"/>
                </a:rPr>
                <a:t>dns.com</a:t>
              </a:r>
              <a:endParaRPr lang="en-US" altLang="zh-CN" sz="180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40" name="文本框 32773"/>
            <p:cNvSpPr txBox="1">
              <a:spLocks noChangeArrowheads="1"/>
            </p:cNvSpPr>
            <p:nvPr/>
          </p:nvSpPr>
          <p:spPr bwMode="auto">
            <a:xfrm flipH="1">
              <a:off x="10322451" y="3800464"/>
              <a:ext cx="1870126" cy="536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lang="zh-CN" altLang="en-US" sz="1800" dirty="0">
                  <a:latin typeface="微软雅黑 Light" panose="020B0502040204020203" pitchFamily="34" charset="-122"/>
                  <a:ea typeface="微软雅黑 Light" panose="020B0502040204020203" pitchFamily="34" charset="-122"/>
                  <a:cs typeface="Times New Roman" panose="02020603050405020304" pitchFamily="18" charset="0"/>
                </a:rPr>
                <a:t>权限域名服务dns.abc.com</a:t>
              </a:r>
              <a:endParaRPr lang="zh-CN" altLang="en-US" sz="18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41" name="文本框 32774"/>
            <p:cNvSpPr txBox="1">
              <a:spLocks noChangeArrowheads="1"/>
            </p:cNvSpPr>
            <p:nvPr/>
          </p:nvSpPr>
          <p:spPr bwMode="auto">
            <a:xfrm flipH="1">
              <a:off x="5699500" y="3564893"/>
              <a:ext cx="1603744" cy="75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本地域</a:t>
              </a:r>
              <a:endPar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endParaRPr>
            </a:p>
            <a:p>
              <a:pPr algn="ctr">
                <a:lnSpc>
                  <a:spcPct val="80000"/>
                </a:lnSpc>
              </a:pPr>
              <a:r>
                <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名</a:t>
              </a:r>
              <a:r>
                <a:rPr kumimoji="1" lang="zh-CN" altLang="en-US"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字</a:t>
              </a:r>
              <a:r>
                <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服务器</a:t>
              </a:r>
              <a:endParaRPr lang="zh-CN" altLang="en-US" sz="1800">
                <a:latin typeface="微软雅黑 Light" panose="020B0502040204020203" pitchFamily="34" charset="-122"/>
                <a:ea typeface="微软雅黑 Light" panose="020B0502040204020203" pitchFamily="34" charset="-122"/>
                <a:cs typeface="Times New Roman" panose="02020603050405020304" pitchFamily="18" charset="0"/>
              </a:endParaRPr>
            </a:p>
            <a:p>
              <a:pPr algn="ctr">
                <a:lnSpc>
                  <a:spcPct val="80000"/>
                </a:lnSpc>
              </a:pPr>
              <a:r>
                <a:rPr lang="en-US" altLang="zh-CN" sz="1800">
                  <a:latin typeface="微软雅黑 Light" panose="020B0502040204020203" pitchFamily="34" charset="-122"/>
                  <a:ea typeface="微软雅黑 Light" panose="020B0502040204020203" pitchFamily="34" charset="-122"/>
                  <a:cs typeface="Times New Roman" panose="02020603050405020304" pitchFamily="18" charset="0"/>
                </a:rPr>
                <a:t>dns.xyz.com</a:t>
              </a:r>
              <a:endParaRPr lang="en-US" altLang="zh-CN" sz="180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42" name="文本框 32776"/>
            <p:cNvSpPr txBox="1">
              <a:spLocks noChangeArrowheads="1"/>
            </p:cNvSpPr>
            <p:nvPr/>
          </p:nvSpPr>
          <p:spPr bwMode="auto">
            <a:xfrm flipH="1">
              <a:off x="7065776" y="6014780"/>
              <a:ext cx="1465262" cy="31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pPr>
              <a:r>
                <a:rPr lang="en-US" altLang="zh-CN" sz="1800" dirty="0">
                  <a:latin typeface="微软雅黑 Light" panose="020B0502040204020203" pitchFamily="34" charset="-122"/>
                  <a:ea typeface="微软雅黑 Light" panose="020B0502040204020203" pitchFamily="34" charset="-122"/>
                  <a:cs typeface="Times New Roman" panose="02020603050405020304" pitchFamily="18" charset="0"/>
                </a:rPr>
                <a:t>m.xyz.com </a:t>
              </a:r>
              <a:endParaRPr lang="en-US" altLang="zh-CN" sz="18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43" name="文本框 32777"/>
            <p:cNvSpPr txBox="1">
              <a:spLocks noChangeArrowheads="1"/>
            </p:cNvSpPr>
            <p:nvPr/>
          </p:nvSpPr>
          <p:spPr bwMode="auto">
            <a:xfrm flipH="1">
              <a:off x="6036691" y="1499355"/>
              <a:ext cx="1187218" cy="36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800" dirty="0">
                  <a:latin typeface="微软雅黑 Light" panose="020B0502040204020203" pitchFamily="34" charset="-122"/>
                  <a:ea typeface="微软雅黑 Light" panose="020B0502040204020203" pitchFamily="34" charset="-122"/>
                </a:rPr>
                <a:t>根服务器</a:t>
              </a:r>
              <a:endParaRPr lang="zh-CN" altLang="en-US" sz="1800" dirty="0">
                <a:latin typeface="微软雅黑 Light" panose="020B0502040204020203" pitchFamily="34" charset="-122"/>
                <a:ea typeface="微软雅黑 Light" panose="020B0502040204020203" pitchFamily="34" charset="-122"/>
              </a:endParaRPr>
            </a:p>
          </p:txBody>
        </p:sp>
        <p:grpSp>
          <p:nvGrpSpPr>
            <p:cNvPr id="44" name="组合 43"/>
            <p:cNvGrpSpPr/>
            <p:nvPr/>
          </p:nvGrpSpPr>
          <p:grpSpPr bwMode="auto">
            <a:xfrm>
              <a:off x="7777740" y="2459805"/>
              <a:ext cx="436562" cy="914400"/>
              <a:chOff x="0" y="0"/>
              <a:chExt cx="275" cy="576"/>
            </a:xfrm>
          </p:grpSpPr>
          <p:sp>
            <p:nvSpPr>
              <p:cNvPr id="69" name="文本框 32781"/>
              <p:cNvSpPr txBox="1">
                <a:spLocks noChangeArrowheads="1"/>
              </p:cNvSpPr>
              <p:nvPr/>
            </p:nvSpPr>
            <p:spPr bwMode="auto">
              <a:xfrm flipH="1">
                <a:off x="0" y="46"/>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⑦</a:t>
                </a:r>
                <a:endParaRPr lang="en-US" altLang="zh-CN" sz="1800">
                  <a:latin typeface="微软雅黑 Light" panose="020B0502040204020203" pitchFamily="34" charset="-122"/>
                  <a:ea typeface="微软雅黑 Light" panose="020B0502040204020203" pitchFamily="34" charset="-122"/>
                </a:endParaRPr>
              </a:p>
            </p:txBody>
          </p:sp>
          <p:sp>
            <p:nvSpPr>
              <p:cNvPr id="70" name="直接连接符 32782"/>
              <p:cNvSpPr>
                <a:spLocks noChangeShapeType="1"/>
              </p:cNvSpPr>
              <p:nvPr/>
            </p:nvSpPr>
            <p:spPr bwMode="auto">
              <a:xfrm rot="10800000" flipH="1" flipV="1">
                <a:off x="13" y="0"/>
                <a:ext cx="0" cy="576"/>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45" name="组合 44"/>
            <p:cNvGrpSpPr/>
            <p:nvPr/>
          </p:nvGrpSpPr>
          <p:grpSpPr bwMode="auto">
            <a:xfrm>
              <a:off x="8034915" y="1693042"/>
              <a:ext cx="1592262" cy="398463"/>
              <a:chOff x="0" y="0"/>
              <a:chExt cx="1003" cy="251"/>
            </a:xfrm>
          </p:grpSpPr>
          <p:sp>
            <p:nvSpPr>
              <p:cNvPr id="67" name="文本框 32784"/>
              <p:cNvSpPr txBox="1">
                <a:spLocks noChangeArrowheads="1"/>
              </p:cNvSpPr>
              <p:nvPr/>
            </p:nvSpPr>
            <p:spPr bwMode="auto">
              <a:xfrm flipH="1">
                <a:off x="391" y="0"/>
                <a:ext cx="2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③</a:t>
                </a:r>
                <a:endParaRPr lang="en-US" altLang="zh-CN" sz="1800">
                  <a:latin typeface="微软雅黑 Light" panose="020B0502040204020203" pitchFamily="34" charset="-122"/>
                  <a:ea typeface="微软雅黑 Light" panose="020B0502040204020203" pitchFamily="34" charset="-122"/>
                </a:endParaRPr>
              </a:p>
            </p:txBody>
          </p:sp>
          <p:sp>
            <p:nvSpPr>
              <p:cNvPr id="68" name="直接连接符 32785"/>
              <p:cNvSpPr>
                <a:spLocks noChangeShapeType="1"/>
              </p:cNvSpPr>
              <p:nvPr/>
            </p:nvSpPr>
            <p:spPr bwMode="auto">
              <a:xfrm rot="10800000" flipH="1">
                <a:off x="0" y="251"/>
                <a:ext cx="1003" cy="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46" name="组合 45"/>
            <p:cNvGrpSpPr/>
            <p:nvPr/>
          </p:nvGrpSpPr>
          <p:grpSpPr bwMode="auto">
            <a:xfrm>
              <a:off x="7282440" y="1297755"/>
              <a:ext cx="2233613" cy="2076450"/>
              <a:chOff x="0" y="0"/>
              <a:chExt cx="1407" cy="1308"/>
            </a:xfrm>
          </p:grpSpPr>
          <p:sp>
            <p:nvSpPr>
              <p:cNvPr id="64" name="文本框 32789"/>
              <p:cNvSpPr txBox="1">
                <a:spLocks noChangeArrowheads="1"/>
              </p:cNvSpPr>
              <p:nvPr/>
            </p:nvSpPr>
            <p:spPr bwMode="auto">
              <a:xfrm flipH="1">
                <a:off x="0" y="795"/>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②</a:t>
                </a:r>
                <a:endParaRPr lang="en-US" altLang="zh-CN" sz="1800">
                  <a:latin typeface="微软雅黑 Light" panose="020B0502040204020203" pitchFamily="34" charset="-122"/>
                  <a:ea typeface="微软雅黑 Light" panose="020B0502040204020203" pitchFamily="34" charset="-122"/>
                </a:endParaRPr>
              </a:p>
            </p:txBody>
          </p:sp>
          <p:sp>
            <p:nvSpPr>
              <p:cNvPr id="65" name="直接连接符 32790"/>
              <p:cNvSpPr>
                <a:spLocks noChangeShapeType="1"/>
              </p:cNvSpPr>
              <p:nvPr/>
            </p:nvSpPr>
            <p:spPr bwMode="auto">
              <a:xfrm rot="10800000" flipH="1">
                <a:off x="231" y="732"/>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sp>
            <p:nvSpPr>
              <p:cNvPr id="66" name="文本框 32791"/>
              <p:cNvSpPr txBox="1">
                <a:spLocks noChangeArrowheads="1"/>
              </p:cNvSpPr>
              <p:nvPr/>
            </p:nvSpPr>
            <p:spPr bwMode="auto">
              <a:xfrm flipH="1">
                <a:off x="494" y="0"/>
                <a:ext cx="9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kumimoji="1" lang="en-US" altLang="zh-CN"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递归查询</a:t>
                </a:r>
                <a:endParaRPr kumimoji="1" lang="en-US" altLang="zh-CN"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grpSp>
          <p:nvGrpSpPr>
            <p:cNvPr id="47" name="组合 46"/>
            <p:cNvGrpSpPr/>
            <p:nvPr/>
          </p:nvGrpSpPr>
          <p:grpSpPr bwMode="auto">
            <a:xfrm>
              <a:off x="6545840" y="4199705"/>
              <a:ext cx="1109662" cy="1138238"/>
              <a:chOff x="-102" y="-534"/>
              <a:chExt cx="699" cy="717"/>
            </a:xfrm>
          </p:grpSpPr>
          <p:sp>
            <p:nvSpPr>
              <p:cNvPr id="61" name="文本框 32793"/>
              <p:cNvSpPr txBox="1">
                <a:spLocks noChangeArrowheads="1"/>
              </p:cNvSpPr>
              <p:nvPr/>
            </p:nvSpPr>
            <p:spPr bwMode="auto">
              <a:xfrm flipH="1">
                <a:off x="-102" y="-334"/>
                <a:ext cx="436"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800">
                    <a:latin typeface="微软雅黑 Light" panose="020B0502040204020203" pitchFamily="34" charset="-122"/>
                    <a:ea typeface="微软雅黑 Light" panose="020B0502040204020203" pitchFamily="34" charset="-122"/>
                  </a:rPr>
                  <a:t>递归</a:t>
                </a:r>
                <a:endParaRPr lang="zh-CN" altLang="en-US" sz="1800">
                  <a:latin typeface="微软雅黑 Light" panose="020B0502040204020203" pitchFamily="34" charset="-122"/>
                  <a:ea typeface="微软雅黑 Light" panose="020B0502040204020203" pitchFamily="34" charset="-122"/>
                </a:endParaRPr>
              </a:p>
              <a:p>
                <a:pPr algn="ctr">
                  <a:lnSpc>
                    <a:spcPct val="90000"/>
                  </a:lnSpc>
                </a:pPr>
                <a:r>
                  <a:rPr lang="zh-CN" altLang="en-US" sz="1800">
                    <a:latin typeface="微软雅黑 Light" panose="020B0502040204020203" pitchFamily="34" charset="-122"/>
                    <a:ea typeface="微软雅黑 Light" panose="020B0502040204020203" pitchFamily="34" charset="-122"/>
                  </a:rPr>
                  <a:t>查询</a:t>
                </a:r>
                <a:endParaRPr lang="zh-CN" altLang="en-US" sz="1800">
                  <a:latin typeface="微软雅黑 Light" panose="020B0502040204020203" pitchFamily="34" charset="-122"/>
                  <a:ea typeface="微软雅黑 Light" panose="020B0502040204020203" pitchFamily="34" charset="-122"/>
                </a:endParaRPr>
              </a:p>
            </p:txBody>
          </p:sp>
          <p:sp>
            <p:nvSpPr>
              <p:cNvPr id="62" name="文本框 32794"/>
              <p:cNvSpPr txBox="1">
                <a:spLocks noChangeArrowheads="1"/>
              </p:cNvSpPr>
              <p:nvPr/>
            </p:nvSpPr>
            <p:spPr bwMode="auto">
              <a:xfrm flipH="1">
                <a:off x="317" y="-246"/>
                <a:ext cx="2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①</a:t>
                </a:r>
                <a:endParaRPr lang="en-US" altLang="zh-CN" sz="1800">
                  <a:latin typeface="微软雅黑 Light" panose="020B0502040204020203" pitchFamily="34" charset="-122"/>
                  <a:ea typeface="微软雅黑 Light" panose="020B0502040204020203" pitchFamily="34" charset="-122"/>
                </a:endParaRPr>
              </a:p>
            </p:txBody>
          </p:sp>
          <p:sp>
            <p:nvSpPr>
              <p:cNvPr id="63" name="直接连接符 32795"/>
              <p:cNvSpPr>
                <a:spLocks noChangeShapeType="1"/>
              </p:cNvSpPr>
              <p:nvPr/>
            </p:nvSpPr>
            <p:spPr bwMode="auto">
              <a:xfrm rot="10800000" flipH="1">
                <a:off x="593" y="-534"/>
                <a:ext cx="4" cy="717"/>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48" name="组合 47"/>
            <p:cNvGrpSpPr/>
            <p:nvPr/>
          </p:nvGrpSpPr>
          <p:grpSpPr bwMode="auto">
            <a:xfrm>
              <a:off x="7738052" y="4207643"/>
              <a:ext cx="2744788" cy="1196975"/>
              <a:chOff x="2" y="-529"/>
              <a:chExt cx="1729" cy="754"/>
            </a:xfrm>
          </p:grpSpPr>
          <p:sp>
            <p:nvSpPr>
              <p:cNvPr id="58" name="矩形 32797"/>
              <p:cNvSpPr>
                <a:spLocks noChangeArrowheads="1"/>
              </p:cNvSpPr>
              <p:nvPr/>
            </p:nvSpPr>
            <p:spPr bwMode="auto">
              <a:xfrm>
                <a:off x="255" y="-262"/>
                <a:ext cx="1476" cy="267"/>
              </a:xfrm>
              <a:prstGeom prst="rect">
                <a:avLst/>
              </a:prstGeom>
              <a:solidFill>
                <a:srgbClr val="FFFF66"/>
              </a:solidFill>
              <a:ln w="9525">
                <a:solidFill>
                  <a:schemeClr val="tx1"/>
                </a:solidFill>
                <a:miter lim="800000"/>
              </a:ln>
            </p:spPr>
            <p:txBody>
              <a:bodyPr/>
              <a:lstStyle/>
              <a:p>
                <a:pPr algn="ctr"/>
                <a:r>
                  <a:rPr lang="en-US" altLang="zh-CN" sz="1800" dirty="0">
                    <a:latin typeface="微软雅黑 Light" panose="020B0502040204020203" pitchFamily="34" charset="-122"/>
                    <a:ea typeface="微软雅黑 Light" panose="020B0502040204020203" pitchFamily="34" charset="-122"/>
                    <a:cs typeface="Times New Roman" panose="02020603050405020304" pitchFamily="18" charset="0"/>
                    <a:sym typeface="+mn-ea"/>
                  </a:rPr>
                  <a:t>y.abc.com </a:t>
                </a:r>
                <a:r>
                  <a:rPr lang="zh-CN" altLang="en-US" sz="1800" dirty="0">
                    <a:latin typeface="微软雅黑 Light" panose="020B0502040204020203" pitchFamily="34" charset="-122"/>
                    <a:ea typeface="微软雅黑 Light" panose="020B0502040204020203" pitchFamily="34" charset="-122"/>
                    <a:cs typeface="Times New Roman" panose="02020603050405020304" pitchFamily="18" charset="0"/>
                    <a:sym typeface="+mn-ea"/>
                  </a:rPr>
                  <a:t>的 </a:t>
                </a:r>
                <a:r>
                  <a:rPr lang="en-US" altLang="zh-CN" sz="1800" dirty="0">
                    <a:latin typeface="微软雅黑 Light" panose="020B0502040204020203" pitchFamily="34" charset="-122"/>
                    <a:ea typeface="微软雅黑 Light" panose="020B0502040204020203" pitchFamily="34" charset="-122"/>
                    <a:cs typeface="Times New Roman" panose="02020603050405020304" pitchFamily="18" charset="0"/>
                    <a:sym typeface="+mn-ea"/>
                  </a:rPr>
                  <a:t>IP </a:t>
                </a:r>
                <a:r>
                  <a:rPr lang="zh-CN" altLang="en-US" sz="1800" dirty="0">
                    <a:latin typeface="微软雅黑 Light" panose="020B0502040204020203" pitchFamily="34" charset="-122"/>
                    <a:ea typeface="微软雅黑 Light" panose="020B0502040204020203" pitchFamily="34" charset="-122"/>
                    <a:cs typeface="Times New Roman" panose="02020603050405020304" pitchFamily="18" charset="0"/>
                    <a:sym typeface="+mn-ea"/>
                  </a:rPr>
                  <a:t>地址</a:t>
                </a:r>
                <a:endParaRPr lang="zh-CN" altLang="en-US" sz="18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59" name="文本框 32799"/>
              <p:cNvSpPr txBox="1">
                <a:spLocks noChangeArrowheads="1"/>
              </p:cNvSpPr>
              <p:nvPr/>
            </p:nvSpPr>
            <p:spPr bwMode="auto">
              <a:xfrm flipH="1">
                <a:off x="2" y="-247"/>
                <a:ext cx="2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⑧</a:t>
                </a:r>
                <a:endParaRPr lang="en-US" altLang="zh-CN" sz="1800">
                  <a:latin typeface="微软雅黑 Light" panose="020B0502040204020203" pitchFamily="34" charset="-122"/>
                  <a:ea typeface="微软雅黑 Light" panose="020B0502040204020203" pitchFamily="34" charset="-122"/>
                </a:endParaRPr>
              </a:p>
            </p:txBody>
          </p:sp>
          <p:sp>
            <p:nvSpPr>
              <p:cNvPr id="60" name="直接连接符 32800"/>
              <p:cNvSpPr>
                <a:spLocks noChangeShapeType="1"/>
              </p:cNvSpPr>
              <p:nvPr/>
            </p:nvSpPr>
            <p:spPr bwMode="auto">
              <a:xfrm rot="10800000" flipV="1">
                <a:off x="40" y="-529"/>
                <a:ext cx="4" cy="754"/>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49" name="组合 48"/>
            <p:cNvGrpSpPr/>
            <p:nvPr/>
          </p:nvGrpSpPr>
          <p:grpSpPr bwMode="auto">
            <a:xfrm>
              <a:off x="8034915" y="2199455"/>
              <a:ext cx="1592262" cy="369888"/>
              <a:chOff x="0" y="0"/>
              <a:chExt cx="1003" cy="233"/>
            </a:xfrm>
          </p:grpSpPr>
          <p:sp>
            <p:nvSpPr>
              <p:cNvPr id="56" name="文本框 32802"/>
              <p:cNvSpPr txBox="1">
                <a:spLocks noChangeArrowheads="1"/>
              </p:cNvSpPr>
              <p:nvPr/>
            </p:nvSpPr>
            <p:spPr bwMode="auto">
              <a:xfrm flipH="1">
                <a:off x="335" y="0"/>
                <a:ext cx="2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⑥</a:t>
                </a:r>
                <a:endParaRPr lang="en-US" altLang="zh-CN" sz="1800">
                  <a:latin typeface="微软雅黑 Light" panose="020B0502040204020203" pitchFamily="34" charset="-122"/>
                  <a:ea typeface="微软雅黑 Light" panose="020B0502040204020203" pitchFamily="34" charset="-122"/>
                </a:endParaRPr>
              </a:p>
            </p:txBody>
          </p:sp>
          <p:sp>
            <p:nvSpPr>
              <p:cNvPr id="57" name="直接连接符 32803"/>
              <p:cNvSpPr>
                <a:spLocks noChangeShapeType="1"/>
              </p:cNvSpPr>
              <p:nvPr/>
            </p:nvSpPr>
            <p:spPr bwMode="auto">
              <a:xfrm rot="10800000">
                <a:off x="0" y="49"/>
                <a:ext cx="1003" cy="0"/>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50" name="组合 49"/>
            <p:cNvGrpSpPr/>
            <p:nvPr/>
          </p:nvGrpSpPr>
          <p:grpSpPr bwMode="auto">
            <a:xfrm>
              <a:off x="9539865" y="2377255"/>
              <a:ext cx="438150" cy="912812"/>
              <a:chOff x="0" y="0"/>
              <a:chExt cx="276" cy="575"/>
            </a:xfrm>
          </p:grpSpPr>
          <p:sp>
            <p:nvSpPr>
              <p:cNvPr id="54" name="文本框 32805"/>
              <p:cNvSpPr txBox="1">
                <a:spLocks noChangeArrowheads="1"/>
              </p:cNvSpPr>
              <p:nvPr/>
            </p:nvSpPr>
            <p:spPr bwMode="auto">
              <a:xfrm flipH="1">
                <a:off x="0" y="135"/>
                <a:ext cx="2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⑤</a:t>
                </a:r>
                <a:endParaRPr lang="en-US" altLang="zh-CN" sz="1800">
                  <a:latin typeface="微软雅黑 Light" panose="020B0502040204020203" pitchFamily="34" charset="-122"/>
                  <a:ea typeface="微软雅黑 Light" panose="020B0502040204020203" pitchFamily="34" charset="-122"/>
                </a:endParaRPr>
              </a:p>
            </p:txBody>
          </p:sp>
          <p:sp>
            <p:nvSpPr>
              <p:cNvPr id="55" name="直接连接符 32806"/>
              <p:cNvSpPr>
                <a:spLocks noChangeShapeType="1"/>
              </p:cNvSpPr>
              <p:nvPr/>
            </p:nvSpPr>
            <p:spPr bwMode="auto">
              <a:xfrm rot="10800000" flipH="1">
                <a:off x="233" y="0"/>
                <a:ext cx="0" cy="575"/>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51" name="组合 50"/>
            <p:cNvGrpSpPr/>
            <p:nvPr/>
          </p:nvGrpSpPr>
          <p:grpSpPr bwMode="auto">
            <a:xfrm>
              <a:off x="10046277" y="2377255"/>
              <a:ext cx="436563" cy="912812"/>
              <a:chOff x="0" y="0"/>
              <a:chExt cx="275" cy="575"/>
            </a:xfrm>
          </p:grpSpPr>
          <p:sp>
            <p:nvSpPr>
              <p:cNvPr id="52" name="文本框 32808"/>
              <p:cNvSpPr txBox="1">
                <a:spLocks noChangeArrowheads="1"/>
              </p:cNvSpPr>
              <p:nvPr/>
            </p:nvSpPr>
            <p:spPr bwMode="auto">
              <a:xfrm flipH="1">
                <a:off x="0" y="68"/>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800">
                    <a:latin typeface="微软雅黑 Light" panose="020B0502040204020203" pitchFamily="34" charset="-122"/>
                    <a:ea typeface="微软雅黑 Light" panose="020B0502040204020203" pitchFamily="34" charset="-122"/>
                  </a:rPr>
                  <a:t>④</a:t>
                </a:r>
                <a:endParaRPr lang="en-US" altLang="zh-CN" sz="1800">
                  <a:latin typeface="微软雅黑 Light" panose="020B0502040204020203" pitchFamily="34" charset="-122"/>
                  <a:ea typeface="微软雅黑 Light" panose="020B0502040204020203" pitchFamily="34" charset="-122"/>
                </a:endParaRPr>
              </a:p>
            </p:txBody>
          </p:sp>
          <p:sp>
            <p:nvSpPr>
              <p:cNvPr id="53" name="直接连接符 32809"/>
              <p:cNvSpPr>
                <a:spLocks noChangeShapeType="1"/>
              </p:cNvSpPr>
              <p:nvPr/>
            </p:nvSpPr>
            <p:spPr bwMode="auto">
              <a:xfrm rot="10800000" flipH="1" flipV="1">
                <a:off x="8" y="0"/>
                <a:ext cx="0" cy="575"/>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pic>
        <p:nvPicPr>
          <p:cNvPr id="71" name="图片 72" descr="交换机.png"/>
          <p:cNvPicPr>
            <a:picLocks noChangeAspect="1"/>
          </p:cNvPicPr>
          <p:nvPr/>
        </p:nvPicPr>
        <p:blipFill>
          <a:blip r:embed="rId1" cstate="print"/>
          <a:stretch>
            <a:fillRect/>
          </a:stretch>
        </p:blipFill>
        <p:spPr>
          <a:xfrm>
            <a:off x="9420256" y="1553211"/>
            <a:ext cx="720896" cy="842248"/>
          </a:xfrm>
          <a:prstGeom prst="rect">
            <a:avLst/>
          </a:prstGeom>
        </p:spPr>
      </p:pic>
      <p:pic>
        <p:nvPicPr>
          <p:cNvPr id="72" name="图片 72" descr="交换机.png"/>
          <p:cNvPicPr>
            <a:picLocks noChangeAspect="1"/>
          </p:cNvPicPr>
          <p:nvPr/>
        </p:nvPicPr>
        <p:blipFill>
          <a:blip r:embed="rId1" cstate="print"/>
          <a:stretch>
            <a:fillRect/>
          </a:stretch>
        </p:blipFill>
        <p:spPr>
          <a:xfrm>
            <a:off x="7093183" y="1632259"/>
            <a:ext cx="720896" cy="842248"/>
          </a:xfrm>
          <a:prstGeom prst="rect">
            <a:avLst/>
          </a:prstGeom>
        </p:spPr>
      </p:pic>
      <p:pic>
        <p:nvPicPr>
          <p:cNvPr id="73" name="图片 72" descr="交换机.png"/>
          <p:cNvPicPr>
            <a:picLocks noChangeAspect="1"/>
          </p:cNvPicPr>
          <p:nvPr/>
        </p:nvPicPr>
        <p:blipFill>
          <a:blip r:embed="rId1" cstate="print"/>
          <a:stretch>
            <a:fillRect/>
          </a:stretch>
        </p:blipFill>
        <p:spPr>
          <a:xfrm>
            <a:off x="7113333" y="3384884"/>
            <a:ext cx="821675" cy="832338"/>
          </a:xfrm>
          <a:prstGeom prst="rect">
            <a:avLst/>
          </a:prstGeom>
        </p:spPr>
      </p:pic>
      <p:pic>
        <p:nvPicPr>
          <p:cNvPr id="74" name="图片 72" descr="交换机.png"/>
          <p:cNvPicPr>
            <a:picLocks noChangeAspect="1"/>
          </p:cNvPicPr>
          <p:nvPr/>
        </p:nvPicPr>
        <p:blipFill>
          <a:blip r:embed="rId1" cstate="print"/>
          <a:stretch>
            <a:fillRect/>
          </a:stretch>
        </p:blipFill>
        <p:spPr>
          <a:xfrm>
            <a:off x="9463579" y="3329348"/>
            <a:ext cx="720896" cy="832338"/>
          </a:xfrm>
          <a:prstGeom prst="rect">
            <a:avLst/>
          </a:prstGeom>
        </p:spPr>
      </p:pic>
      <p:pic>
        <p:nvPicPr>
          <p:cNvPr id="75" name="图形 7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13334" y="5377140"/>
            <a:ext cx="671818" cy="50866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r>
              <a:rPr lang="zh-CN" altLang="en-US"/>
              <a:t>迭代查询</a:t>
            </a:r>
            <a:r>
              <a:rPr lang="en-US" altLang="zh-CN"/>
              <a:t>(</a:t>
            </a:r>
            <a:r>
              <a:rPr lang="zh-CN" altLang="en-US"/>
              <a:t>重复解释</a:t>
            </a:r>
            <a:r>
              <a:rPr lang="en-US" altLang="zh-CN"/>
              <a:t>)</a:t>
            </a:r>
            <a:endParaRPr lang="en-US" altLang="zh-CN"/>
          </a:p>
        </p:txBody>
      </p:sp>
      <p:sp>
        <p:nvSpPr>
          <p:cNvPr id="2" name="内容占位符 1"/>
          <p:cNvSpPr>
            <a:spLocks noGrp="1"/>
          </p:cNvSpPr>
          <p:nvPr>
            <p:ph sz="half" idx="1"/>
          </p:nvPr>
        </p:nvSpPr>
        <p:spPr>
          <a:xfrm>
            <a:off x="334435" y="1052514"/>
            <a:ext cx="4930002" cy="5437187"/>
          </a:xfrm>
        </p:spPr>
        <p:txBody>
          <a:bodyPr/>
          <a:lstStyle/>
          <a:p>
            <a:r>
              <a:rPr lang="zh-CN" altLang="en-US" dirty="0"/>
              <a:t>被查询的域名服务器检索其本地数据（包括缓存中的数据）找寻所要求的数据。</a:t>
            </a:r>
            <a:endParaRPr lang="zh-CN" altLang="en-US" dirty="0"/>
          </a:p>
          <a:p>
            <a:r>
              <a:rPr lang="zh-CN" altLang="en-US" dirty="0"/>
              <a:t>域名服务器未找到所需的数据，它将尽力返回可以帮助查询者继续解析过程的答案。</a:t>
            </a:r>
            <a:endParaRPr lang="zh-CN" altLang="en-US" dirty="0"/>
          </a:p>
          <a:p>
            <a:r>
              <a:rPr lang="zh-CN" altLang="en-US" dirty="0"/>
              <a:t>通常使用</a:t>
            </a:r>
            <a:endParaRPr lang="zh-CN" altLang="en-US" dirty="0"/>
          </a:p>
          <a:p>
            <a:endParaRPr lang="zh-CN" altLang="en-US" dirty="0"/>
          </a:p>
        </p:txBody>
      </p:sp>
      <p:sp>
        <p:nvSpPr>
          <p:cNvPr id="36" name="灯片编号占位符 5"/>
          <p:cNvSpPr>
            <a:spLocks noGrp="1"/>
          </p:cNvSpPr>
          <p:nvPr>
            <p:ph type="sldNum" sz="quarter" idx="12"/>
          </p:nvPr>
        </p:nvSpPr>
        <p:spPr/>
        <p:txBody>
          <a:bodyPr/>
          <a:lstStyle/>
          <a:p>
            <a:fld id="{E1080E4D-00EA-4C1D-A5CE-C75FAC6F96DB}" type="slidenum">
              <a:rPr lang="en-US" altLang="zh-CN"/>
            </a:fld>
            <a:endParaRPr lang="en-US" altLang="zh-CN"/>
          </a:p>
        </p:txBody>
      </p:sp>
      <p:grpSp>
        <p:nvGrpSpPr>
          <p:cNvPr id="4" name="组合 3"/>
          <p:cNvGrpSpPr/>
          <p:nvPr/>
        </p:nvGrpSpPr>
        <p:grpSpPr>
          <a:xfrm>
            <a:off x="5264437" y="1271979"/>
            <a:ext cx="6632133" cy="4745991"/>
            <a:chOff x="5264437" y="1292162"/>
            <a:chExt cx="6632133" cy="4745991"/>
          </a:xfrm>
        </p:grpSpPr>
        <p:grpSp>
          <p:nvGrpSpPr>
            <p:cNvPr id="74" name="组合 73"/>
            <p:cNvGrpSpPr/>
            <p:nvPr/>
          </p:nvGrpSpPr>
          <p:grpSpPr bwMode="auto">
            <a:xfrm>
              <a:off x="7196565" y="4289362"/>
              <a:ext cx="3138914" cy="876300"/>
              <a:chOff x="0" y="0"/>
              <a:chExt cx="2027" cy="552"/>
            </a:xfrm>
          </p:grpSpPr>
          <p:sp>
            <p:nvSpPr>
              <p:cNvPr id="105" name="矩形 34820"/>
              <p:cNvSpPr>
                <a:spLocks noChangeArrowheads="1"/>
              </p:cNvSpPr>
              <p:nvPr/>
            </p:nvSpPr>
            <p:spPr bwMode="auto">
              <a:xfrm>
                <a:off x="221" y="105"/>
                <a:ext cx="1806" cy="217"/>
              </a:xfrm>
              <a:prstGeom prst="rect">
                <a:avLst/>
              </a:prstGeom>
              <a:solidFill>
                <a:srgbClr val="FFFF66"/>
              </a:solidFill>
              <a:ln w="9525">
                <a:solidFill>
                  <a:schemeClr val="tx1"/>
                </a:solidFill>
                <a:miter lim="800000"/>
              </a:ln>
            </p:spPr>
            <p:txBody>
              <a:bodyPr/>
              <a:lstStyle/>
              <a:p>
                <a:endParaRPr lang="zh-CN" altLang="en-US" sz="180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06" name="文本框 34821"/>
              <p:cNvSpPr txBox="1">
                <a:spLocks noChangeArrowheads="1"/>
              </p:cNvSpPr>
              <p:nvPr/>
            </p:nvSpPr>
            <p:spPr bwMode="auto">
              <a:xfrm flipH="1">
                <a:off x="141" y="120"/>
                <a:ext cx="162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sz="1800">
                    <a:latin typeface="微软雅黑 Light" panose="020B0502040204020203" pitchFamily="34" charset="-122"/>
                    <a:ea typeface="微软雅黑 Light" panose="020B0502040204020203" pitchFamily="34" charset="-122"/>
                    <a:cs typeface="微软雅黑" panose="020B0503020204020204" pitchFamily="34" charset="-122"/>
                  </a:rPr>
                  <a:t>   y.abc.com</a:t>
                </a:r>
                <a:r>
                  <a:rPr lang="en-US" altLang="zh-CN" sz="900">
                    <a:latin typeface="微软雅黑 Light" panose="020B0502040204020203" pitchFamily="34" charset="-122"/>
                    <a:ea typeface="微软雅黑 Light" panose="020B0502040204020203" pitchFamily="34" charset="-122"/>
                    <a:cs typeface="微软雅黑" panose="020B0503020204020204" pitchFamily="34" charset="-122"/>
                  </a:rPr>
                  <a:t> </a:t>
                </a:r>
                <a:r>
                  <a:rPr lang="zh-CN" altLang="en-US" sz="1800">
                    <a:latin typeface="微软雅黑 Light" panose="020B0502040204020203" pitchFamily="34" charset="-122"/>
                    <a:ea typeface="微软雅黑 Light" panose="020B0502040204020203" pitchFamily="34" charset="-122"/>
                    <a:cs typeface="微软雅黑" panose="020B0503020204020204" pitchFamily="34" charset="-122"/>
                  </a:rPr>
                  <a:t>的</a:t>
                </a:r>
                <a:r>
                  <a:rPr lang="zh-CN" altLang="en-US" sz="1400">
                    <a:latin typeface="微软雅黑 Light" panose="020B0502040204020203" pitchFamily="34" charset="-122"/>
                    <a:ea typeface="微软雅黑 Light" panose="020B0502040204020203" pitchFamily="34" charset="-122"/>
                    <a:cs typeface="微软雅黑" panose="020B0503020204020204" pitchFamily="34" charset="-122"/>
                  </a:rPr>
                  <a:t> </a:t>
                </a:r>
                <a:r>
                  <a:rPr lang="en-US" altLang="zh-CN" sz="1800">
                    <a:latin typeface="微软雅黑 Light" panose="020B0502040204020203" pitchFamily="34" charset="-122"/>
                    <a:ea typeface="微软雅黑 Light" panose="020B0502040204020203" pitchFamily="34" charset="-122"/>
                    <a:cs typeface="微软雅黑" panose="020B0503020204020204" pitchFamily="34" charset="-122"/>
                  </a:rPr>
                  <a:t>IP</a:t>
                </a:r>
                <a:r>
                  <a:rPr lang="en-US" altLang="zh-CN" sz="1400">
                    <a:latin typeface="微软雅黑 Light" panose="020B0502040204020203" pitchFamily="34" charset="-122"/>
                    <a:ea typeface="微软雅黑 Light" panose="020B0502040204020203" pitchFamily="34" charset="-122"/>
                    <a:cs typeface="微软雅黑" panose="020B0503020204020204" pitchFamily="34" charset="-122"/>
                  </a:rPr>
                  <a:t> </a:t>
                </a:r>
                <a:r>
                  <a:rPr lang="zh-CN" altLang="en-US" sz="1800">
                    <a:latin typeface="微软雅黑 Light" panose="020B0502040204020203" pitchFamily="34" charset="-122"/>
                    <a:ea typeface="微软雅黑 Light" panose="020B0502040204020203" pitchFamily="34" charset="-122"/>
                    <a:cs typeface="微软雅黑" panose="020B0503020204020204" pitchFamily="34" charset="-122"/>
                  </a:rPr>
                  <a:t>地址 </a:t>
                </a:r>
                <a:endParaRPr lang="zh-CN" altLang="en-US" sz="180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107" name="文本框 34822"/>
              <p:cNvSpPr txBox="1">
                <a:spLocks noChangeArrowheads="1"/>
              </p:cNvSpPr>
              <p:nvPr/>
            </p:nvSpPr>
            <p:spPr bwMode="auto">
              <a:xfrm flipH="1">
                <a:off x="0" y="82"/>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⑧</a:t>
                </a:r>
                <a:endParaRPr lang="en-US" altLang="zh-CN" sz="1800">
                  <a:latin typeface="微软雅黑 Light" panose="020B0502040204020203" pitchFamily="34" charset="-122"/>
                  <a:ea typeface="微软雅黑 Light" panose="020B0502040204020203" pitchFamily="34" charset="-122"/>
                </a:endParaRPr>
              </a:p>
            </p:txBody>
          </p:sp>
          <p:sp>
            <p:nvSpPr>
              <p:cNvPr id="108" name="直接连接符 34823"/>
              <p:cNvSpPr>
                <a:spLocks noChangeShapeType="1"/>
              </p:cNvSpPr>
              <p:nvPr/>
            </p:nvSpPr>
            <p:spPr bwMode="auto">
              <a:xfrm rot="10800000" flipH="1" flipV="1">
                <a:off x="43" y="0"/>
                <a:ext cx="0" cy="552"/>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sp>
          <p:nvSpPr>
            <p:cNvPr id="75" name="矩形 34824"/>
            <p:cNvSpPr>
              <a:spLocks noChangeArrowheads="1"/>
            </p:cNvSpPr>
            <p:nvPr/>
          </p:nvSpPr>
          <p:spPr bwMode="auto">
            <a:xfrm flipH="1">
              <a:off x="6753678" y="1292162"/>
              <a:ext cx="3279834" cy="2938462"/>
            </a:xfrm>
            <a:prstGeom prst="rect">
              <a:avLst/>
            </a:prstGeom>
            <a:noFill/>
            <a:ln w="28575">
              <a:solidFill>
                <a:srgbClr val="FF0000"/>
              </a:solidFill>
              <a:prstDash val="dash"/>
              <a:miter lim="800000"/>
            </a:ln>
          </p:spPr>
          <p:txBody>
            <a:bodyPr/>
            <a:lstStyle/>
            <a:p>
              <a:endParaRPr lang="zh-CN" altLang="en-US" sz="180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76" name="文本框 34825"/>
            <p:cNvSpPr txBox="1">
              <a:spLocks noChangeArrowheads="1"/>
            </p:cNvSpPr>
            <p:nvPr/>
          </p:nvSpPr>
          <p:spPr bwMode="auto">
            <a:xfrm flipH="1">
              <a:off x="9954049" y="1425600"/>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800" dirty="0">
                  <a:latin typeface="微软雅黑 Light" panose="020B0502040204020203" pitchFamily="34" charset="-122"/>
                  <a:ea typeface="微软雅黑 Light" panose="020B0502040204020203" pitchFamily="34" charset="-122"/>
                  <a:cs typeface="微软雅黑" panose="020B0503020204020204" pitchFamily="34" charset="-122"/>
                </a:rPr>
                <a:t>顶级域名服务器</a:t>
              </a:r>
              <a:endParaRPr lang="zh-CN" altLang="en-US" sz="1800" dirty="0">
                <a:latin typeface="微软雅黑 Light" panose="020B0502040204020203" pitchFamily="34" charset="-122"/>
                <a:ea typeface="微软雅黑 Light" panose="020B0502040204020203" pitchFamily="34" charset="-122"/>
                <a:cs typeface="微软雅黑" panose="020B0503020204020204" pitchFamily="34" charset="-122"/>
              </a:endParaRPr>
            </a:p>
            <a:p>
              <a:pPr algn="ctr"/>
              <a:r>
                <a:rPr lang="en-US" altLang="zh-CN" sz="1800" dirty="0">
                  <a:latin typeface="微软雅黑 Light" panose="020B0502040204020203" pitchFamily="34" charset="-122"/>
                  <a:ea typeface="微软雅黑 Light" panose="020B0502040204020203" pitchFamily="34" charset="-122"/>
                  <a:cs typeface="微软雅黑" panose="020B0503020204020204" pitchFamily="34" charset="-122"/>
                </a:rPr>
                <a:t>dns.com</a:t>
              </a:r>
              <a:endParaRPr lang="en-US" altLang="zh-CN" sz="18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77" name="文本框 34826"/>
            <p:cNvSpPr txBox="1">
              <a:spLocks noChangeArrowheads="1"/>
            </p:cNvSpPr>
            <p:nvPr/>
          </p:nvSpPr>
          <p:spPr bwMode="auto">
            <a:xfrm flipH="1">
              <a:off x="9853101" y="3416650"/>
              <a:ext cx="2043469" cy="53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lang="zh-CN" altLang="en-US" sz="1800" dirty="0">
                  <a:latin typeface="微软雅黑 Light" panose="020B0502040204020203" pitchFamily="34" charset="-122"/>
                  <a:ea typeface="微软雅黑 Light" panose="020B0502040204020203" pitchFamily="34" charset="-122"/>
                  <a:cs typeface="微软雅黑" panose="020B0503020204020204" pitchFamily="34" charset="-122"/>
                </a:rPr>
                <a:t>权限域名服务器dns.abc.com</a:t>
              </a:r>
              <a:endParaRPr lang="zh-CN" altLang="en-US" sz="18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78" name="文本框 34827"/>
            <p:cNvSpPr txBox="1">
              <a:spLocks noChangeArrowheads="1"/>
            </p:cNvSpPr>
            <p:nvPr/>
          </p:nvSpPr>
          <p:spPr bwMode="auto">
            <a:xfrm flipH="1">
              <a:off x="5264437" y="3369248"/>
              <a:ext cx="1634806" cy="8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360680" algn="ctr">
                <a:lnSpc>
                  <a:spcPct val="100000"/>
                </a:lnSpc>
                <a:spcBef>
                  <a:spcPts val="0"/>
                </a:spcBef>
                <a:spcAft>
                  <a:spcPts val="0"/>
                </a:spcAft>
                <a:buClrTx/>
                <a:buSzTx/>
                <a:buFont typeface="Wingdings" panose="05000000000000000000" pitchFamily="2" charset="2"/>
              </a:pPr>
              <a:r>
                <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本地域</a:t>
              </a:r>
              <a:endPar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endParaRPr>
            </a:p>
            <a:p>
              <a:pPr indent="-360680" algn="ctr">
                <a:lnSpc>
                  <a:spcPct val="100000"/>
                </a:lnSpc>
                <a:spcBef>
                  <a:spcPts val="0"/>
                </a:spcBef>
                <a:spcAft>
                  <a:spcPts val="0"/>
                </a:spcAft>
                <a:buClrTx/>
                <a:buSzTx/>
                <a:buFont typeface="Wingdings" panose="05000000000000000000" pitchFamily="2" charset="2"/>
              </a:pPr>
              <a:r>
                <a:rPr kumimoji="1" lang="en-US" altLang="zh-CN" sz="1800"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名字服务器</a:t>
              </a:r>
              <a:endParaRPr lang="zh-CN" altLang="en-US" sz="1800" dirty="0">
                <a:latin typeface="微软雅黑 Light" panose="020B0502040204020203" pitchFamily="34" charset="-122"/>
                <a:ea typeface="微软雅黑 Light" panose="020B0502040204020203" pitchFamily="34" charset="-122"/>
                <a:cs typeface="微软雅黑" panose="020B0503020204020204" pitchFamily="34" charset="-122"/>
              </a:endParaRPr>
            </a:p>
            <a:p>
              <a:pPr algn="ctr">
                <a:lnSpc>
                  <a:spcPct val="80000"/>
                </a:lnSpc>
              </a:pPr>
              <a:r>
                <a:rPr lang="en-US" altLang="zh-CN" sz="1800" dirty="0">
                  <a:latin typeface="微软雅黑 Light" panose="020B0502040204020203" pitchFamily="34" charset="-122"/>
                  <a:ea typeface="微软雅黑 Light" panose="020B0502040204020203" pitchFamily="34" charset="-122"/>
                  <a:cs typeface="微软雅黑" panose="020B0503020204020204" pitchFamily="34" charset="-122"/>
                </a:rPr>
                <a:t>dns.xyz.com</a:t>
              </a:r>
              <a:endParaRPr lang="en-US" altLang="zh-CN" sz="1800"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sp>
          <p:nvSpPr>
            <p:cNvPr id="79" name="文本框 34829"/>
            <p:cNvSpPr txBox="1">
              <a:spLocks noChangeArrowheads="1"/>
            </p:cNvSpPr>
            <p:nvPr/>
          </p:nvSpPr>
          <p:spPr bwMode="auto">
            <a:xfrm flipH="1">
              <a:off x="6344862" y="5722874"/>
              <a:ext cx="1358064" cy="315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sz="1800" dirty="0">
                  <a:latin typeface="微软雅黑 Light" panose="020B0502040204020203" pitchFamily="34" charset="-122"/>
                  <a:ea typeface="微软雅黑 Light" panose="020B0502040204020203" pitchFamily="34" charset="-122"/>
                  <a:cs typeface="Times New Roman" panose="02020603050405020304" pitchFamily="18" charset="0"/>
                </a:rPr>
                <a:t>m.xyz.com </a:t>
              </a:r>
              <a:endParaRPr lang="en-US" altLang="zh-CN" sz="18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80" name="文本框 34830"/>
            <p:cNvSpPr txBox="1">
              <a:spLocks noChangeArrowheads="1"/>
            </p:cNvSpPr>
            <p:nvPr/>
          </p:nvSpPr>
          <p:spPr bwMode="auto">
            <a:xfrm flipH="1">
              <a:off x="5581574" y="159579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800" dirty="0">
                  <a:latin typeface="微软雅黑 Light" panose="020B0502040204020203" pitchFamily="34" charset="-122"/>
                  <a:ea typeface="微软雅黑 Light" panose="020B0502040204020203" pitchFamily="34" charset="-122"/>
                </a:rPr>
                <a:t>根服务器</a:t>
              </a:r>
              <a:endParaRPr lang="zh-CN" altLang="en-US" sz="1800" dirty="0">
                <a:latin typeface="微软雅黑 Light" panose="020B0502040204020203" pitchFamily="34" charset="-122"/>
                <a:ea typeface="微软雅黑 Light" panose="020B0502040204020203" pitchFamily="34" charset="-122"/>
              </a:endParaRPr>
            </a:p>
          </p:txBody>
        </p:sp>
        <p:grpSp>
          <p:nvGrpSpPr>
            <p:cNvPr id="81" name="组合 80"/>
            <p:cNvGrpSpPr/>
            <p:nvPr/>
          </p:nvGrpSpPr>
          <p:grpSpPr bwMode="auto">
            <a:xfrm>
              <a:off x="7456722" y="2174812"/>
              <a:ext cx="1782383" cy="1117600"/>
              <a:chOff x="0" y="0"/>
              <a:chExt cx="1151" cy="704"/>
            </a:xfrm>
          </p:grpSpPr>
          <p:sp>
            <p:nvSpPr>
              <p:cNvPr id="103" name="文本框 34835"/>
              <p:cNvSpPr txBox="1">
                <a:spLocks noChangeArrowheads="1"/>
              </p:cNvSpPr>
              <p:nvPr/>
            </p:nvSpPr>
            <p:spPr bwMode="auto">
              <a:xfrm flipH="1">
                <a:off x="546" y="0"/>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④</a:t>
                </a:r>
                <a:endParaRPr lang="en-US" altLang="zh-CN" sz="1800">
                  <a:latin typeface="微软雅黑 Light" panose="020B0502040204020203" pitchFamily="34" charset="-122"/>
                  <a:ea typeface="微软雅黑 Light" panose="020B0502040204020203" pitchFamily="34" charset="-122"/>
                </a:endParaRPr>
              </a:p>
            </p:txBody>
          </p:sp>
          <p:sp>
            <p:nvSpPr>
              <p:cNvPr id="104" name="直接连接符 34836"/>
              <p:cNvSpPr>
                <a:spLocks noChangeShapeType="1"/>
              </p:cNvSpPr>
              <p:nvPr/>
            </p:nvSpPr>
            <p:spPr bwMode="auto">
              <a:xfrm rot="10800000" flipH="1">
                <a:off x="0" y="23"/>
                <a:ext cx="1151" cy="681"/>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82" name="组合 81"/>
            <p:cNvGrpSpPr/>
            <p:nvPr/>
          </p:nvGrpSpPr>
          <p:grpSpPr bwMode="auto">
            <a:xfrm>
              <a:off x="7551183" y="2298637"/>
              <a:ext cx="1893879" cy="1171575"/>
              <a:chOff x="0" y="0"/>
              <a:chExt cx="1223" cy="738"/>
            </a:xfrm>
          </p:grpSpPr>
          <p:sp>
            <p:nvSpPr>
              <p:cNvPr id="101" name="文本框 34838"/>
              <p:cNvSpPr txBox="1">
                <a:spLocks noChangeArrowheads="1"/>
              </p:cNvSpPr>
              <p:nvPr/>
            </p:nvSpPr>
            <p:spPr bwMode="auto">
              <a:xfrm flipH="1">
                <a:off x="788" y="183"/>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⑤</a:t>
                </a:r>
                <a:endParaRPr lang="en-US" altLang="zh-CN" sz="1800">
                  <a:latin typeface="微软雅黑 Light" panose="020B0502040204020203" pitchFamily="34" charset="-122"/>
                  <a:ea typeface="微软雅黑 Light" panose="020B0502040204020203" pitchFamily="34" charset="-122"/>
                </a:endParaRPr>
              </a:p>
            </p:txBody>
          </p:sp>
          <p:sp>
            <p:nvSpPr>
              <p:cNvPr id="102" name="直接连接符 34839"/>
              <p:cNvSpPr>
                <a:spLocks noChangeShapeType="1"/>
              </p:cNvSpPr>
              <p:nvPr/>
            </p:nvSpPr>
            <p:spPr bwMode="auto">
              <a:xfrm flipH="1">
                <a:off x="0" y="0"/>
                <a:ext cx="1223" cy="738"/>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83" name="组合 82"/>
            <p:cNvGrpSpPr/>
            <p:nvPr/>
          </p:nvGrpSpPr>
          <p:grpSpPr bwMode="auto">
            <a:xfrm>
              <a:off x="7551183" y="3327337"/>
              <a:ext cx="1734378" cy="384176"/>
              <a:chOff x="0" y="0"/>
              <a:chExt cx="1120" cy="242"/>
            </a:xfrm>
          </p:grpSpPr>
          <p:sp>
            <p:nvSpPr>
              <p:cNvPr id="99" name="文本框 34842"/>
              <p:cNvSpPr txBox="1">
                <a:spLocks noChangeArrowheads="1"/>
              </p:cNvSpPr>
              <p:nvPr/>
            </p:nvSpPr>
            <p:spPr bwMode="auto">
              <a:xfrm flipH="1">
                <a:off x="524" y="0"/>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⑥</a:t>
                </a:r>
                <a:endParaRPr lang="en-US" altLang="zh-CN" sz="1800">
                  <a:latin typeface="微软雅黑 Light" panose="020B0502040204020203" pitchFamily="34" charset="-122"/>
                  <a:ea typeface="微软雅黑 Light" panose="020B0502040204020203" pitchFamily="34" charset="-122"/>
                </a:endParaRPr>
              </a:p>
            </p:txBody>
          </p:sp>
          <p:sp>
            <p:nvSpPr>
              <p:cNvPr id="100" name="直接连接符 34843"/>
              <p:cNvSpPr>
                <a:spLocks noChangeShapeType="1"/>
              </p:cNvSpPr>
              <p:nvPr/>
            </p:nvSpPr>
            <p:spPr bwMode="auto">
              <a:xfrm rot="16200000" flipH="1">
                <a:off x="560" y="-318"/>
                <a:ext cx="0" cy="112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84" name="组合 83"/>
            <p:cNvGrpSpPr/>
            <p:nvPr/>
          </p:nvGrpSpPr>
          <p:grpSpPr bwMode="auto">
            <a:xfrm>
              <a:off x="7551183" y="3765487"/>
              <a:ext cx="1734378" cy="369888"/>
              <a:chOff x="0" y="0"/>
              <a:chExt cx="1120" cy="233"/>
            </a:xfrm>
          </p:grpSpPr>
          <p:sp>
            <p:nvSpPr>
              <p:cNvPr id="97" name="直接连接符 34845"/>
              <p:cNvSpPr>
                <a:spLocks noChangeShapeType="1"/>
              </p:cNvSpPr>
              <p:nvPr/>
            </p:nvSpPr>
            <p:spPr bwMode="auto">
              <a:xfrm rot="5400000">
                <a:off x="560" y="-500"/>
                <a:ext cx="0" cy="1120"/>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sp>
            <p:nvSpPr>
              <p:cNvPr id="98" name="文本框 34846"/>
              <p:cNvSpPr txBox="1">
                <a:spLocks noChangeArrowheads="1"/>
              </p:cNvSpPr>
              <p:nvPr/>
            </p:nvSpPr>
            <p:spPr bwMode="auto">
              <a:xfrm flipH="1">
                <a:off x="524" y="0"/>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⑦</a:t>
                </a:r>
                <a:endParaRPr lang="en-US" altLang="zh-CN" sz="1800">
                  <a:latin typeface="微软雅黑 Light" panose="020B0502040204020203" pitchFamily="34" charset="-122"/>
                  <a:ea typeface="微软雅黑 Light" panose="020B0502040204020203" pitchFamily="34" charset="-122"/>
                </a:endParaRPr>
              </a:p>
            </p:txBody>
          </p:sp>
        </p:grpSp>
        <p:grpSp>
          <p:nvGrpSpPr>
            <p:cNvPr id="85" name="组合 84"/>
            <p:cNvGrpSpPr/>
            <p:nvPr/>
          </p:nvGrpSpPr>
          <p:grpSpPr bwMode="auto">
            <a:xfrm>
              <a:off x="6753680" y="2378012"/>
              <a:ext cx="415013" cy="884237"/>
              <a:chOff x="0" y="0"/>
              <a:chExt cx="268" cy="557"/>
            </a:xfrm>
          </p:grpSpPr>
          <p:sp>
            <p:nvSpPr>
              <p:cNvPr id="95" name="文本框 34848"/>
              <p:cNvSpPr txBox="1">
                <a:spLocks noChangeArrowheads="1"/>
              </p:cNvSpPr>
              <p:nvPr/>
            </p:nvSpPr>
            <p:spPr bwMode="auto">
              <a:xfrm flipH="1">
                <a:off x="0" y="140"/>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②</a:t>
                </a:r>
                <a:endParaRPr lang="en-US" altLang="zh-CN" sz="1800">
                  <a:latin typeface="微软雅黑 Light" panose="020B0502040204020203" pitchFamily="34" charset="-122"/>
                  <a:ea typeface="微软雅黑 Light" panose="020B0502040204020203" pitchFamily="34" charset="-122"/>
                </a:endParaRPr>
              </a:p>
            </p:txBody>
          </p:sp>
          <p:sp>
            <p:nvSpPr>
              <p:cNvPr id="96" name="直接连接符 34849"/>
              <p:cNvSpPr>
                <a:spLocks noChangeShapeType="1"/>
              </p:cNvSpPr>
              <p:nvPr/>
            </p:nvSpPr>
            <p:spPr bwMode="auto">
              <a:xfrm rot="10800000" flipH="1">
                <a:off x="251" y="0"/>
                <a:ext cx="0" cy="557"/>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grpSp>
          <p:nvGrpSpPr>
            <p:cNvPr id="86" name="组合 85"/>
            <p:cNvGrpSpPr/>
            <p:nvPr/>
          </p:nvGrpSpPr>
          <p:grpSpPr bwMode="auto">
            <a:xfrm>
              <a:off x="7281735" y="1293749"/>
              <a:ext cx="1726636" cy="1968500"/>
              <a:chOff x="0" y="0"/>
              <a:chExt cx="1115" cy="1240"/>
            </a:xfrm>
          </p:grpSpPr>
          <p:grpSp>
            <p:nvGrpSpPr>
              <p:cNvPr id="91" name="组合 34851"/>
              <p:cNvGrpSpPr/>
              <p:nvPr/>
            </p:nvGrpSpPr>
            <p:grpSpPr bwMode="auto">
              <a:xfrm>
                <a:off x="0" y="688"/>
                <a:ext cx="268" cy="552"/>
                <a:chOff x="0" y="0"/>
                <a:chExt cx="268" cy="552"/>
              </a:xfrm>
            </p:grpSpPr>
            <p:sp>
              <p:nvSpPr>
                <p:cNvPr id="93" name="文本框 34852"/>
                <p:cNvSpPr txBox="1">
                  <a:spLocks noChangeArrowheads="1"/>
                </p:cNvSpPr>
                <p:nvPr/>
              </p:nvSpPr>
              <p:spPr bwMode="auto">
                <a:xfrm flipH="1">
                  <a:off x="0" y="50"/>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③</a:t>
                  </a:r>
                  <a:endParaRPr lang="en-US" altLang="zh-CN" sz="1800">
                    <a:latin typeface="微软雅黑 Light" panose="020B0502040204020203" pitchFamily="34" charset="-122"/>
                    <a:ea typeface="微软雅黑 Light" panose="020B0502040204020203" pitchFamily="34" charset="-122"/>
                  </a:endParaRPr>
                </a:p>
              </p:txBody>
            </p:sp>
            <p:sp>
              <p:nvSpPr>
                <p:cNvPr id="94" name="直接连接符 34853"/>
                <p:cNvSpPr>
                  <a:spLocks noChangeShapeType="1"/>
                </p:cNvSpPr>
                <p:nvPr/>
              </p:nvSpPr>
              <p:spPr bwMode="auto">
                <a:xfrm rot="10800000" flipH="1" flipV="1">
                  <a:off x="13" y="0"/>
                  <a:ext cx="0" cy="552"/>
                </a:xfrm>
                <a:prstGeom prst="line">
                  <a:avLst/>
                </a:prstGeom>
                <a:noFill/>
                <a:ln w="57150">
                  <a:solidFill>
                    <a:schemeClr val="hlink"/>
                  </a:solidFill>
                  <a:prstDash val="sysDash"/>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sp>
            <p:nvSpPr>
              <p:cNvPr id="92" name="文本框 34854"/>
              <p:cNvSpPr txBox="1">
                <a:spLocks noChangeArrowheads="1"/>
              </p:cNvSpPr>
              <p:nvPr/>
            </p:nvSpPr>
            <p:spPr bwMode="auto">
              <a:xfrm flipH="1">
                <a:off x="333" y="0"/>
                <a:ext cx="7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rPr>
                  <a:t>迭代查询</a:t>
                </a:r>
                <a:endParaRPr kumimoji="1" lang="en-US" altLang="zh-CN" noProof="0" dirty="0">
                  <a:ln>
                    <a:noFill/>
                  </a:ln>
                  <a:effectLst/>
                  <a:uLnTx/>
                  <a:uFillTx/>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grpSp>
          <p:nvGrpSpPr>
            <p:cNvPr id="87" name="组合 86"/>
            <p:cNvGrpSpPr/>
            <p:nvPr/>
          </p:nvGrpSpPr>
          <p:grpSpPr bwMode="auto">
            <a:xfrm>
              <a:off x="6148195" y="4289362"/>
              <a:ext cx="983330" cy="876300"/>
              <a:chOff x="9" y="0"/>
              <a:chExt cx="635" cy="552"/>
            </a:xfrm>
          </p:grpSpPr>
          <p:sp>
            <p:nvSpPr>
              <p:cNvPr id="88" name="文本框 34856"/>
              <p:cNvSpPr txBox="1">
                <a:spLocks noChangeArrowheads="1"/>
              </p:cNvSpPr>
              <p:nvPr/>
            </p:nvSpPr>
            <p:spPr bwMode="auto">
              <a:xfrm flipH="1">
                <a:off x="9" y="11"/>
                <a:ext cx="417"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800">
                    <a:latin typeface="微软雅黑 Light" panose="020B0502040204020203" pitchFamily="34" charset="-122"/>
                    <a:ea typeface="微软雅黑 Light" panose="020B0502040204020203" pitchFamily="34" charset="-122"/>
                  </a:rPr>
                  <a:t>递归</a:t>
                </a:r>
                <a:endParaRPr lang="zh-CN" altLang="en-US" sz="1800">
                  <a:latin typeface="微软雅黑 Light" panose="020B0502040204020203" pitchFamily="34" charset="-122"/>
                  <a:ea typeface="微软雅黑 Light" panose="020B0502040204020203" pitchFamily="34" charset="-122"/>
                </a:endParaRPr>
              </a:p>
              <a:p>
                <a:pPr algn="ctr">
                  <a:lnSpc>
                    <a:spcPct val="90000"/>
                  </a:lnSpc>
                </a:pPr>
                <a:r>
                  <a:rPr lang="zh-CN" altLang="en-US" sz="1800">
                    <a:latin typeface="微软雅黑 Light" panose="020B0502040204020203" pitchFamily="34" charset="-122"/>
                    <a:ea typeface="微软雅黑 Light" panose="020B0502040204020203" pitchFamily="34" charset="-122"/>
                  </a:rPr>
                  <a:t>查询</a:t>
                </a:r>
                <a:endParaRPr lang="zh-CN" altLang="en-US" sz="1800">
                  <a:latin typeface="微软雅黑 Light" panose="020B0502040204020203" pitchFamily="34" charset="-122"/>
                  <a:ea typeface="微软雅黑 Light" panose="020B0502040204020203" pitchFamily="34" charset="-122"/>
                </a:endParaRPr>
              </a:p>
            </p:txBody>
          </p:sp>
          <p:sp>
            <p:nvSpPr>
              <p:cNvPr id="89" name="文本框 34857"/>
              <p:cNvSpPr txBox="1">
                <a:spLocks noChangeArrowheads="1"/>
              </p:cNvSpPr>
              <p:nvPr/>
            </p:nvSpPr>
            <p:spPr bwMode="auto">
              <a:xfrm flipH="1">
                <a:off x="376" y="118"/>
                <a:ext cx="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①</a:t>
                </a:r>
                <a:endParaRPr lang="en-US" altLang="zh-CN" sz="1800">
                  <a:latin typeface="微软雅黑 Light" panose="020B0502040204020203" pitchFamily="34" charset="-122"/>
                  <a:ea typeface="微软雅黑 Light" panose="020B0502040204020203" pitchFamily="34" charset="-122"/>
                </a:endParaRPr>
              </a:p>
            </p:txBody>
          </p:sp>
          <p:sp>
            <p:nvSpPr>
              <p:cNvPr id="90" name="直接连接符 34858"/>
              <p:cNvSpPr>
                <a:spLocks noChangeShapeType="1"/>
              </p:cNvSpPr>
              <p:nvPr/>
            </p:nvSpPr>
            <p:spPr bwMode="auto">
              <a:xfrm rot="10800000" flipH="1">
                <a:off x="626"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a:latin typeface="微软雅黑 Light" panose="020B0502040204020203" pitchFamily="34" charset="-122"/>
                  <a:ea typeface="微软雅黑 Light" panose="020B0502040204020203" pitchFamily="34" charset="-122"/>
                </a:endParaRPr>
              </a:p>
            </p:txBody>
          </p:sp>
        </p:grpSp>
        <p:pic>
          <p:nvPicPr>
            <p:cNvPr id="109" name="图形 10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04082" y="5135498"/>
              <a:ext cx="815181" cy="617209"/>
            </a:xfrm>
            <a:prstGeom prst="rect">
              <a:avLst/>
            </a:prstGeom>
          </p:spPr>
        </p:pic>
        <p:pic>
          <p:nvPicPr>
            <p:cNvPr id="110" name="图片 72" descr="交换机.png"/>
            <p:cNvPicPr>
              <a:picLocks noChangeAspect="1"/>
            </p:cNvPicPr>
            <p:nvPr/>
          </p:nvPicPr>
          <p:blipFill>
            <a:blip r:embed="rId3" cstate="print"/>
            <a:stretch>
              <a:fillRect/>
            </a:stretch>
          </p:blipFill>
          <p:spPr>
            <a:xfrm>
              <a:off x="6823153" y="1446679"/>
              <a:ext cx="720896" cy="842248"/>
            </a:xfrm>
            <a:prstGeom prst="rect">
              <a:avLst/>
            </a:prstGeom>
          </p:spPr>
        </p:pic>
        <p:pic>
          <p:nvPicPr>
            <p:cNvPr id="111" name="图片 72" descr="交换机.png"/>
            <p:cNvPicPr>
              <a:picLocks noChangeAspect="1"/>
            </p:cNvPicPr>
            <p:nvPr/>
          </p:nvPicPr>
          <p:blipFill>
            <a:blip r:embed="rId3" cstate="print"/>
            <a:stretch>
              <a:fillRect/>
            </a:stretch>
          </p:blipFill>
          <p:spPr>
            <a:xfrm>
              <a:off x="9126868" y="1377016"/>
              <a:ext cx="720896" cy="842248"/>
            </a:xfrm>
            <a:prstGeom prst="rect">
              <a:avLst/>
            </a:prstGeom>
          </p:spPr>
        </p:pic>
        <p:pic>
          <p:nvPicPr>
            <p:cNvPr id="112" name="图片 72" descr="交换机.png"/>
            <p:cNvPicPr>
              <a:picLocks noChangeAspect="1"/>
            </p:cNvPicPr>
            <p:nvPr/>
          </p:nvPicPr>
          <p:blipFill>
            <a:blip r:embed="rId3" cstate="print"/>
            <a:stretch>
              <a:fillRect/>
            </a:stretch>
          </p:blipFill>
          <p:spPr>
            <a:xfrm>
              <a:off x="9256699" y="3290291"/>
              <a:ext cx="720896" cy="842248"/>
            </a:xfrm>
            <a:prstGeom prst="rect">
              <a:avLst/>
            </a:prstGeom>
          </p:spPr>
        </p:pic>
        <p:pic>
          <p:nvPicPr>
            <p:cNvPr id="113" name="图片 72" descr="交换机.png"/>
            <p:cNvPicPr>
              <a:picLocks noChangeAspect="1"/>
            </p:cNvPicPr>
            <p:nvPr/>
          </p:nvPicPr>
          <p:blipFill>
            <a:blip r:embed="rId3" cstate="print"/>
            <a:stretch>
              <a:fillRect/>
            </a:stretch>
          </p:blipFill>
          <p:spPr>
            <a:xfrm>
              <a:off x="6817899" y="3299601"/>
              <a:ext cx="720896" cy="842248"/>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域名解析过程示例：无子域代理情形</a:t>
            </a:r>
            <a:endParaRPr lang="zh-CN" altLang="en-US" dirty="0"/>
          </a:p>
        </p:txBody>
      </p:sp>
      <p:sp>
        <p:nvSpPr>
          <p:cNvPr id="4" name="内容占位符 3"/>
          <p:cNvSpPr>
            <a:spLocks noGrp="1"/>
          </p:cNvSpPr>
          <p:nvPr>
            <p:ph sz="half" idx="2"/>
          </p:nvPr>
        </p:nvSpPr>
        <p:spPr/>
        <p:txBody>
          <a:bodyPr/>
          <a:lstStyle/>
          <a:p>
            <a:pPr marL="514350" indent="-514350">
              <a:buFont typeface="+mj-lt"/>
              <a:buAutoNum type="arabicPeriod"/>
            </a:pPr>
            <a:r>
              <a:rPr lang="zh-CN" altLang="en-US" dirty="0"/>
              <a:t>客户机向</a:t>
            </a:r>
            <a:r>
              <a:rPr lang="en-US" altLang="zh-CN" dirty="0"/>
              <a:t>edu.cn</a:t>
            </a:r>
            <a:r>
              <a:rPr lang="zh-CN" altLang="en-US" dirty="0"/>
              <a:t>域名服务器发出域名解析请求，以获得域名</a:t>
            </a:r>
            <a:r>
              <a:rPr lang="en-US" altLang="zh-CN" dirty="0"/>
              <a:t>www.jlu.edu.cn</a:t>
            </a:r>
            <a:r>
              <a:rPr lang="zh-CN" altLang="en-US" dirty="0"/>
              <a:t>的</a:t>
            </a:r>
            <a:r>
              <a:rPr lang="en-US" altLang="zh-CN" dirty="0"/>
              <a:t>IP</a:t>
            </a:r>
            <a:r>
              <a:rPr lang="zh-CN" altLang="en-US" dirty="0"/>
              <a:t>地址；</a:t>
            </a:r>
            <a:endParaRPr lang="zh-CN" altLang="en-US" dirty="0"/>
          </a:p>
          <a:p>
            <a:pPr marL="514350" indent="-514350">
              <a:buFont typeface="+mj-lt"/>
              <a:buAutoNum type="arabicPeriod"/>
            </a:pPr>
            <a:r>
              <a:rPr lang="zh-CN" altLang="en-US" dirty="0"/>
              <a:t>服务器向客户机返回</a:t>
            </a:r>
            <a:r>
              <a:rPr lang="en-US" altLang="zh-CN" dirty="0"/>
              <a:t>www.jlu.edu.cn</a:t>
            </a:r>
            <a:r>
              <a:rPr lang="zh-CN" altLang="en-US" dirty="0"/>
              <a:t>的</a:t>
            </a:r>
            <a:r>
              <a:rPr lang="en-US" altLang="zh-CN" dirty="0"/>
              <a:t>IP</a:t>
            </a:r>
            <a:r>
              <a:rPr lang="zh-CN" altLang="en-US" dirty="0"/>
              <a:t>地址</a:t>
            </a:r>
            <a:r>
              <a:rPr lang="en-US" altLang="zh-CN" dirty="0"/>
              <a:t>202.198.16.80</a:t>
            </a:r>
            <a:r>
              <a:rPr lang="zh-CN" altLang="en-US" dirty="0"/>
              <a:t>；</a:t>
            </a:r>
            <a:endParaRPr lang="zh-CN" altLang="en-US" dirty="0"/>
          </a:p>
          <a:p>
            <a:pPr marL="514350" indent="-514350">
              <a:buFont typeface="+mj-lt"/>
              <a:buAutoNum type="arabicPeriod"/>
            </a:pPr>
            <a:r>
              <a:rPr lang="zh-CN" altLang="en-US" dirty="0"/>
              <a:t>客户机用查询而得的</a:t>
            </a:r>
            <a:r>
              <a:rPr lang="en-US" altLang="zh-CN" dirty="0"/>
              <a:t>IP</a:t>
            </a:r>
            <a:r>
              <a:rPr lang="zh-CN" altLang="en-US" dirty="0"/>
              <a:t>地址向</a:t>
            </a:r>
            <a:r>
              <a:rPr lang="en-US" altLang="zh-CN" dirty="0"/>
              <a:t>www.jlu.edu.cn</a:t>
            </a:r>
            <a:r>
              <a:rPr lang="zh-CN" altLang="en-US" dirty="0"/>
              <a:t>发出</a:t>
            </a:r>
            <a:r>
              <a:rPr lang="en-US" altLang="zh-CN" dirty="0"/>
              <a:t>http</a:t>
            </a:r>
            <a:r>
              <a:rPr lang="zh-CN" altLang="en-US" dirty="0"/>
              <a:t>请求；</a:t>
            </a:r>
            <a:endParaRPr lang="zh-CN" altLang="en-US" dirty="0"/>
          </a:p>
          <a:p>
            <a:pPr marL="514350" indent="-514350">
              <a:buFont typeface="+mj-lt"/>
              <a:buAutoNum type="arabicPeriod"/>
            </a:pPr>
            <a:r>
              <a:rPr lang="zh-CN" altLang="en-US" dirty="0"/>
              <a:t>吉林大学</a:t>
            </a:r>
            <a:r>
              <a:rPr lang="en-US" altLang="zh-CN" dirty="0"/>
              <a:t>www</a:t>
            </a:r>
            <a:r>
              <a:rPr lang="zh-CN" altLang="en-US" dirty="0"/>
              <a:t>服务器接受请求，并返回结果给客户机。</a:t>
            </a:r>
            <a:endParaRPr lang="zh-CN" altLang="en-US" dirty="0"/>
          </a:p>
          <a:p>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grpSp>
        <p:nvGrpSpPr>
          <p:cNvPr id="6" name="组合 5"/>
          <p:cNvGrpSpPr/>
          <p:nvPr/>
        </p:nvGrpSpPr>
        <p:grpSpPr>
          <a:xfrm>
            <a:off x="753533" y="1803399"/>
            <a:ext cx="5066853" cy="3792494"/>
            <a:chOff x="753533" y="1803399"/>
            <a:chExt cx="5066853" cy="3792494"/>
          </a:xfrm>
        </p:grpSpPr>
        <p:pic>
          <p:nvPicPr>
            <p:cNvPr id="7" name="图片 72" descr="交换机.png"/>
            <p:cNvPicPr>
              <a:picLocks noChangeAspect="1"/>
            </p:cNvPicPr>
            <p:nvPr/>
          </p:nvPicPr>
          <p:blipFill>
            <a:blip r:embed="rId1" cstate="print"/>
            <a:stretch>
              <a:fillRect/>
            </a:stretch>
          </p:blipFill>
          <p:spPr>
            <a:xfrm>
              <a:off x="978595" y="2141025"/>
              <a:ext cx="459599" cy="778545"/>
            </a:xfrm>
            <a:prstGeom prst="rect">
              <a:avLst/>
            </a:prstGeom>
          </p:spPr>
        </p:pic>
        <p:pic>
          <p:nvPicPr>
            <p:cNvPr id="8" name="图形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26138" y="4720328"/>
              <a:ext cx="514970" cy="471064"/>
            </a:xfrm>
            <a:prstGeom prst="rect">
              <a:avLst/>
            </a:prstGeom>
          </p:spPr>
        </p:pic>
        <p:pic>
          <p:nvPicPr>
            <p:cNvPr id="9" name="图片 72" descr="交换机.png"/>
            <p:cNvPicPr>
              <a:picLocks noChangeAspect="1"/>
            </p:cNvPicPr>
            <p:nvPr/>
          </p:nvPicPr>
          <p:blipFill>
            <a:blip r:embed="rId1" cstate="print"/>
            <a:stretch>
              <a:fillRect/>
            </a:stretch>
          </p:blipFill>
          <p:spPr>
            <a:xfrm>
              <a:off x="1544590" y="2783568"/>
              <a:ext cx="459599" cy="778545"/>
            </a:xfrm>
            <a:prstGeom prst="rect">
              <a:avLst/>
            </a:prstGeom>
          </p:spPr>
        </p:pic>
        <p:pic>
          <p:nvPicPr>
            <p:cNvPr id="10" name="图片 72" descr="交换机.png"/>
            <p:cNvPicPr>
              <a:picLocks noChangeAspect="1"/>
            </p:cNvPicPr>
            <p:nvPr/>
          </p:nvPicPr>
          <p:blipFill>
            <a:blip r:embed="rId1" cstate="print"/>
            <a:stretch>
              <a:fillRect/>
            </a:stretch>
          </p:blipFill>
          <p:spPr>
            <a:xfrm>
              <a:off x="2146070" y="3373267"/>
              <a:ext cx="459599" cy="778545"/>
            </a:xfrm>
            <a:prstGeom prst="rect">
              <a:avLst/>
            </a:prstGeom>
          </p:spPr>
        </p:pic>
        <p:pic>
          <p:nvPicPr>
            <p:cNvPr id="11" name="图片 72" descr="交换机.png"/>
            <p:cNvPicPr>
              <a:picLocks noChangeAspect="1"/>
            </p:cNvPicPr>
            <p:nvPr/>
          </p:nvPicPr>
          <p:blipFill>
            <a:blip r:embed="rId1" cstate="print"/>
            <a:stretch>
              <a:fillRect/>
            </a:stretch>
          </p:blipFill>
          <p:spPr>
            <a:xfrm>
              <a:off x="3463945" y="3803479"/>
              <a:ext cx="459599" cy="778545"/>
            </a:xfrm>
            <a:prstGeom prst="rect">
              <a:avLst/>
            </a:prstGeom>
          </p:spPr>
        </p:pic>
        <p:pic>
          <p:nvPicPr>
            <p:cNvPr id="12" name="图片 72" descr="交换机.png"/>
            <p:cNvPicPr>
              <a:picLocks noChangeAspect="1"/>
            </p:cNvPicPr>
            <p:nvPr/>
          </p:nvPicPr>
          <p:blipFill>
            <a:blip r:embed="rId1" cstate="print"/>
            <a:stretch>
              <a:fillRect/>
            </a:stretch>
          </p:blipFill>
          <p:spPr>
            <a:xfrm>
              <a:off x="3704522" y="4106797"/>
              <a:ext cx="459599" cy="778545"/>
            </a:xfrm>
            <a:prstGeom prst="rect">
              <a:avLst/>
            </a:prstGeom>
          </p:spPr>
        </p:pic>
        <p:pic>
          <p:nvPicPr>
            <p:cNvPr id="13" name="图片 72" descr="交换机.png"/>
            <p:cNvPicPr>
              <a:picLocks noChangeAspect="1"/>
            </p:cNvPicPr>
            <p:nvPr/>
          </p:nvPicPr>
          <p:blipFill>
            <a:blip r:embed="rId1" cstate="print"/>
            <a:stretch>
              <a:fillRect/>
            </a:stretch>
          </p:blipFill>
          <p:spPr>
            <a:xfrm>
              <a:off x="3921520" y="4441984"/>
              <a:ext cx="459599" cy="778545"/>
            </a:xfrm>
            <a:prstGeom prst="rect">
              <a:avLst/>
            </a:prstGeom>
          </p:spPr>
        </p:pic>
        <p:sp>
          <p:nvSpPr>
            <p:cNvPr id="14" name="文本框 34830"/>
            <p:cNvSpPr txBox="1">
              <a:spLocks noChangeArrowheads="1"/>
            </p:cNvSpPr>
            <p:nvPr/>
          </p:nvSpPr>
          <p:spPr bwMode="auto">
            <a:xfrm flipH="1">
              <a:off x="753533" y="1803399"/>
              <a:ext cx="10086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latin typeface="微软雅黑 Light" panose="020B0502040204020203" pitchFamily="34" charset="-122"/>
                  <a:ea typeface="微软雅黑 Light" panose="020B0502040204020203" pitchFamily="34" charset="-122"/>
                </a:rPr>
                <a:t>根服务器</a:t>
              </a:r>
              <a:endParaRPr lang="zh-CN" altLang="en-US" sz="1600" dirty="0">
                <a:latin typeface="微软雅黑 Light" panose="020B0502040204020203" pitchFamily="34" charset="-122"/>
                <a:ea typeface="微软雅黑 Light" panose="020B0502040204020203" pitchFamily="34" charset="-122"/>
              </a:endParaRPr>
            </a:p>
          </p:txBody>
        </p:sp>
        <p:sp>
          <p:nvSpPr>
            <p:cNvPr id="15" name="文本框 34830"/>
            <p:cNvSpPr txBox="1">
              <a:spLocks noChangeArrowheads="1"/>
            </p:cNvSpPr>
            <p:nvPr/>
          </p:nvSpPr>
          <p:spPr bwMode="auto">
            <a:xfrm flipH="1">
              <a:off x="1497938" y="2507904"/>
              <a:ext cx="15231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a:t>
              </a:r>
              <a:r>
                <a:rPr lang="en-US" altLang="zh-CN" sz="1600" dirty="0" err="1">
                  <a:latin typeface="微软雅黑 Light" panose="020B0502040204020203" pitchFamily="34" charset="-122"/>
                  <a:ea typeface="微软雅黑 Light" panose="020B0502040204020203" pitchFamily="34" charset="-122"/>
                </a:rPr>
                <a:t>cn</a:t>
              </a:r>
              <a:r>
                <a:rPr lang="zh-CN" altLang="en-US" sz="1600" dirty="0">
                  <a:latin typeface="微软雅黑 Light" panose="020B0502040204020203" pitchFamily="34" charset="-122"/>
                  <a:ea typeface="微软雅黑 Light" panose="020B0502040204020203" pitchFamily="34" charset="-122"/>
                </a:rPr>
                <a:t>域名服务器</a:t>
              </a:r>
              <a:endParaRPr lang="zh-CN" altLang="en-US" sz="1600" dirty="0">
                <a:latin typeface="微软雅黑 Light" panose="020B0502040204020203" pitchFamily="34" charset="-122"/>
                <a:ea typeface="微软雅黑 Light" panose="020B0502040204020203" pitchFamily="34" charset="-122"/>
              </a:endParaRPr>
            </a:p>
          </p:txBody>
        </p:sp>
        <p:sp>
          <p:nvSpPr>
            <p:cNvPr id="16" name="文本框 34830"/>
            <p:cNvSpPr txBox="1">
              <a:spLocks noChangeArrowheads="1"/>
            </p:cNvSpPr>
            <p:nvPr/>
          </p:nvSpPr>
          <p:spPr bwMode="auto">
            <a:xfrm flipH="1">
              <a:off x="2111068" y="3066114"/>
              <a:ext cx="18689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.edu.cn</a:t>
              </a:r>
              <a:r>
                <a:rPr lang="zh-CN" altLang="en-US" sz="1600" dirty="0">
                  <a:latin typeface="微软雅黑 Light" panose="020B0502040204020203" pitchFamily="34" charset="-122"/>
                  <a:ea typeface="微软雅黑 Light" panose="020B0502040204020203" pitchFamily="34" charset="-122"/>
                </a:rPr>
                <a:t>域名服务器</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34830"/>
            <p:cNvSpPr txBox="1">
              <a:spLocks noChangeArrowheads="1"/>
            </p:cNvSpPr>
            <p:nvPr/>
          </p:nvSpPr>
          <p:spPr bwMode="auto">
            <a:xfrm flipH="1">
              <a:off x="3771342" y="3659740"/>
              <a:ext cx="16546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www.jlu.edu.cn</a:t>
              </a:r>
              <a:endParaRPr lang="zh-CN" altLang="en-US" sz="1600" dirty="0">
                <a:latin typeface="微软雅黑 Light" panose="020B0502040204020203" pitchFamily="34" charset="-122"/>
                <a:ea typeface="微软雅黑 Light" panose="020B0502040204020203" pitchFamily="34" charset="-122"/>
              </a:endParaRPr>
            </a:p>
          </p:txBody>
        </p:sp>
        <p:sp>
          <p:nvSpPr>
            <p:cNvPr id="18" name="文本框 34830"/>
            <p:cNvSpPr txBox="1">
              <a:spLocks noChangeArrowheads="1"/>
            </p:cNvSpPr>
            <p:nvPr/>
          </p:nvSpPr>
          <p:spPr bwMode="auto">
            <a:xfrm flipH="1">
              <a:off x="3980041" y="4043913"/>
              <a:ext cx="16546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oa.jlu.edu.cn</a:t>
              </a:r>
              <a:endParaRPr lang="zh-CN" altLang="en-US" sz="1600" dirty="0">
                <a:latin typeface="微软雅黑 Light" panose="020B0502040204020203" pitchFamily="34" charset="-122"/>
                <a:ea typeface="微软雅黑 Light" panose="020B0502040204020203" pitchFamily="34" charset="-122"/>
              </a:endParaRPr>
            </a:p>
          </p:txBody>
        </p:sp>
        <p:sp>
          <p:nvSpPr>
            <p:cNvPr id="19" name="文本框 34830"/>
            <p:cNvSpPr txBox="1">
              <a:spLocks noChangeArrowheads="1"/>
            </p:cNvSpPr>
            <p:nvPr/>
          </p:nvSpPr>
          <p:spPr bwMode="auto">
            <a:xfrm flipH="1">
              <a:off x="4165771" y="4428086"/>
              <a:ext cx="16546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bbs.jlu.edu.cn</a:t>
              </a:r>
              <a:endParaRPr lang="zh-CN" altLang="en-US" sz="1600" dirty="0">
                <a:latin typeface="微软雅黑 Light" panose="020B0502040204020203" pitchFamily="34" charset="-122"/>
                <a:ea typeface="微软雅黑 Light" panose="020B0502040204020203" pitchFamily="34" charset="-122"/>
              </a:endParaRPr>
            </a:p>
          </p:txBody>
        </p:sp>
        <p:cxnSp>
          <p:nvCxnSpPr>
            <p:cNvPr id="20" name="直接连接符 19"/>
            <p:cNvCxnSpPr>
              <a:endCxn id="9" idx="1"/>
            </p:cNvCxnSpPr>
            <p:nvPr/>
          </p:nvCxnSpPr>
          <p:spPr>
            <a:xfrm>
              <a:off x="1437710" y="2565445"/>
              <a:ext cx="106880" cy="60739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994927" y="3354264"/>
              <a:ext cx="162300" cy="57170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1522735" y="4080449"/>
              <a:ext cx="623336" cy="6107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1695251" y="4148245"/>
              <a:ext cx="601963" cy="5720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1" idx="1"/>
            </p:cNvCxnSpPr>
            <p:nvPr/>
          </p:nvCxnSpPr>
          <p:spPr>
            <a:xfrm flipV="1">
              <a:off x="1844833" y="4192752"/>
              <a:ext cx="1619112" cy="60936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1851722" y="4390895"/>
              <a:ext cx="1613038" cy="607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文本框 34830"/>
            <p:cNvSpPr txBox="1">
              <a:spLocks noChangeArrowheads="1"/>
            </p:cNvSpPr>
            <p:nvPr/>
          </p:nvSpPr>
          <p:spPr bwMode="auto">
            <a:xfrm flipH="1">
              <a:off x="1523213" y="4232130"/>
              <a:ext cx="3547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1</a:t>
              </a:r>
              <a:endParaRPr lang="zh-CN" altLang="en-US" sz="1600" dirty="0">
                <a:latin typeface="微软雅黑 Light" panose="020B0502040204020203" pitchFamily="34" charset="-122"/>
                <a:ea typeface="微软雅黑 Light" panose="020B0502040204020203" pitchFamily="34" charset="-122"/>
              </a:endParaRPr>
            </a:p>
          </p:txBody>
        </p:sp>
        <p:sp>
          <p:nvSpPr>
            <p:cNvPr id="27" name="文本框 34830"/>
            <p:cNvSpPr txBox="1">
              <a:spLocks noChangeArrowheads="1"/>
            </p:cNvSpPr>
            <p:nvPr/>
          </p:nvSpPr>
          <p:spPr bwMode="auto">
            <a:xfrm flipH="1">
              <a:off x="1940339" y="4287483"/>
              <a:ext cx="3547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2</a:t>
              </a:r>
              <a:endParaRPr lang="zh-CN" altLang="en-US" sz="1600" dirty="0">
                <a:latin typeface="微软雅黑 Light" panose="020B0502040204020203" pitchFamily="34" charset="-122"/>
                <a:ea typeface="微软雅黑 Light" panose="020B0502040204020203" pitchFamily="34" charset="-122"/>
              </a:endParaRPr>
            </a:p>
          </p:txBody>
        </p:sp>
        <p:sp>
          <p:nvSpPr>
            <p:cNvPr id="28" name="文本框 34830"/>
            <p:cNvSpPr txBox="1">
              <a:spLocks noChangeArrowheads="1"/>
            </p:cNvSpPr>
            <p:nvPr/>
          </p:nvSpPr>
          <p:spPr bwMode="auto">
            <a:xfrm flipH="1">
              <a:off x="2567029" y="4220148"/>
              <a:ext cx="3547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3</a:t>
              </a:r>
              <a:endParaRPr lang="zh-CN" altLang="en-US" sz="1600" dirty="0">
                <a:latin typeface="微软雅黑 Light" panose="020B0502040204020203" pitchFamily="34" charset="-122"/>
                <a:ea typeface="微软雅黑 Light" panose="020B0502040204020203" pitchFamily="34" charset="-122"/>
              </a:endParaRPr>
            </a:p>
          </p:txBody>
        </p:sp>
        <p:sp>
          <p:nvSpPr>
            <p:cNvPr id="29" name="文本框 34830"/>
            <p:cNvSpPr txBox="1">
              <a:spLocks noChangeArrowheads="1"/>
            </p:cNvSpPr>
            <p:nvPr/>
          </p:nvSpPr>
          <p:spPr bwMode="auto">
            <a:xfrm flipH="1">
              <a:off x="2666327" y="4626922"/>
              <a:ext cx="3547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4</a:t>
              </a:r>
              <a:endParaRPr lang="zh-CN" altLang="en-US" sz="1600" dirty="0">
                <a:latin typeface="微软雅黑 Light" panose="020B0502040204020203" pitchFamily="34" charset="-122"/>
                <a:ea typeface="微软雅黑 Light" panose="020B0502040204020203" pitchFamily="34" charset="-122"/>
              </a:endParaRPr>
            </a:p>
          </p:txBody>
        </p:sp>
        <p:sp>
          <p:nvSpPr>
            <p:cNvPr id="30" name="文本框 34830"/>
            <p:cNvSpPr txBox="1">
              <a:spLocks noChangeArrowheads="1"/>
            </p:cNvSpPr>
            <p:nvPr/>
          </p:nvSpPr>
          <p:spPr bwMode="auto">
            <a:xfrm flipH="1">
              <a:off x="3245074" y="5257339"/>
              <a:ext cx="19015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latin typeface="微软雅黑 Light" panose="020B0502040204020203" pitchFamily="34" charset="-122"/>
                  <a:ea typeface="微软雅黑 Light" panose="020B0502040204020203" pitchFamily="34" charset="-122"/>
                </a:rPr>
                <a:t>吉林大学服务器群</a:t>
              </a:r>
              <a:endParaRPr lang="zh-CN" altLang="en-US" sz="1600" dirty="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域名解析过程示例：有子域代理情形</a:t>
            </a:r>
            <a:endParaRPr lang="zh-CN" altLang="en-US" dirty="0"/>
          </a:p>
        </p:txBody>
      </p:sp>
      <p:sp>
        <p:nvSpPr>
          <p:cNvPr id="4" name="内容占位符 3"/>
          <p:cNvSpPr>
            <a:spLocks noGrp="1"/>
          </p:cNvSpPr>
          <p:nvPr>
            <p:ph sz="half" idx="2"/>
          </p:nvPr>
        </p:nvSpPr>
        <p:spPr/>
        <p:txBody>
          <a:bodyPr>
            <a:normAutofit fontScale="92500" lnSpcReduction="20000"/>
          </a:bodyPr>
          <a:lstStyle/>
          <a:p>
            <a:pPr marL="514350" indent="-514350">
              <a:buFont typeface="+mj-lt"/>
              <a:buAutoNum type="arabicPeriod"/>
            </a:pPr>
            <a:r>
              <a:rPr lang="zh-CN" altLang="en-US" dirty="0"/>
              <a:t>客户机向</a:t>
            </a:r>
            <a:r>
              <a:rPr lang="en-US" altLang="zh-CN" dirty="0"/>
              <a:t>edu.cn</a:t>
            </a:r>
            <a:r>
              <a:rPr lang="zh-CN" altLang="en-US" dirty="0"/>
              <a:t>域名服务器发出域名解析请求，以获得域名</a:t>
            </a:r>
            <a:r>
              <a:rPr lang="en-US" altLang="zh-CN" dirty="0"/>
              <a:t>www.jlu.edu.cn</a:t>
            </a:r>
            <a:r>
              <a:rPr lang="zh-CN" altLang="en-US" dirty="0"/>
              <a:t>的</a:t>
            </a:r>
            <a:r>
              <a:rPr lang="en-US" altLang="zh-CN" dirty="0"/>
              <a:t>IP</a:t>
            </a:r>
            <a:r>
              <a:rPr lang="zh-CN" altLang="en-US" dirty="0"/>
              <a:t>地址；</a:t>
            </a:r>
            <a:endParaRPr lang="zh-CN" altLang="en-US" dirty="0"/>
          </a:p>
          <a:p>
            <a:pPr marL="514350" indent="-514350">
              <a:buFont typeface="+mj-lt"/>
              <a:buAutoNum type="arabicPeriod"/>
            </a:pPr>
            <a:r>
              <a:rPr lang="en-US" altLang="zh-CN" dirty="0"/>
              <a:t>edu.cn</a:t>
            </a:r>
            <a:r>
              <a:rPr lang="zh-CN" altLang="en-US" dirty="0"/>
              <a:t>域名服务器发觉所请求的地址已经代理出去，于是返回</a:t>
            </a:r>
            <a:r>
              <a:rPr lang="en-US" altLang="zh-CN" dirty="0" err="1"/>
              <a:t>jlu</a:t>
            </a:r>
            <a:r>
              <a:rPr lang="zh-CN" altLang="en-US" dirty="0"/>
              <a:t>域名服务器的</a:t>
            </a:r>
            <a:r>
              <a:rPr lang="en-US" altLang="zh-CN" dirty="0"/>
              <a:t>IP</a:t>
            </a:r>
            <a:r>
              <a:rPr lang="zh-CN" altLang="en-US" dirty="0"/>
              <a:t>的地址；</a:t>
            </a:r>
            <a:endParaRPr lang="zh-CN" altLang="en-US" dirty="0"/>
          </a:p>
          <a:p>
            <a:pPr marL="514350" indent="-514350">
              <a:buFont typeface="+mj-lt"/>
              <a:buAutoNum type="arabicPeriod"/>
            </a:pPr>
            <a:r>
              <a:rPr lang="zh-CN" altLang="en-US" dirty="0"/>
              <a:t>客户机向</a:t>
            </a:r>
            <a:r>
              <a:rPr lang="en-US" altLang="zh-CN" dirty="0"/>
              <a:t>jlu.edu.cn</a:t>
            </a:r>
            <a:r>
              <a:rPr lang="zh-CN" altLang="en-US" dirty="0"/>
              <a:t>域名服务器查询</a:t>
            </a:r>
            <a:r>
              <a:rPr lang="en-US" altLang="zh-CN" dirty="0"/>
              <a:t>www.jlu.edu.cn</a:t>
            </a:r>
            <a:r>
              <a:rPr lang="zh-CN" altLang="en-US" dirty="0"/>
              <a:t>的</a:t>
            </a:r>
            <a:r>
              <a:rPr lang="en-US" altLang="zh-CN" dirty="0"/>
              <a:t>IP</a:t>
            </a:r>
            <a:r>
              <a:rPr lang="zh-CN" altLang="en-US" dirty="0"/>
              <a:t>地址；</a:t>
            </a:r>
            <a:endParaRPr lang="zh-CN" altLang="en-US" dirty="0"/>
          </a:p>
          <a:p>
            <a:pPr marL="514350" indent="-514350">
              <a:buFont typeface="+mj-lt"/>
              <a:buAutoNum type="arabicPeriod"/>
            </a:pPr>
            <a:r>
              <a:rPr lang="en-US" altLang="zh-CN" dirty="0"/>
              <a:t>jlu.edu.cn</a:t>
            </a:r>
            <a:r>
              <a:rPr lang="zh-CN" altLang="en-US" dirty="0"/>
              <a:t>域名服务器返回</a:t>
            </a:r>
            <a:r>
              <a:rPr lang="en-US" altLang="zh-CN" dirty="0"/>
              <a:t>www.jlu.edu.cn</a:t>
            </a:r>
            <a:r>
              <a:rPr lang="zh-CN" altLang="en-US" dirty="0"/>
              <a:t>的</a:t>
            </a:r>
            <a:r>
              <a:rPr lang="en-US" altLang="zh-CN" dirty="0"/>
              <a:t>IP</a:t>
            </a:r>
            <a:r>
              <a:rPr lang="zh-CN" altLang="en-US" dirty="0"/>
              <a:t>地址</a:t>
            </a:r>
            <a:r>
              <a:rPr lang="en-US" altLang="zh-CN" dirty="0"/>
              <a:t>202.198.16.80</a:t>
            </a:r>
            <a:r>
              <a:rPr lang="zh-CN" altLang="en-US" dirty="0"/>
              <a:t>；</a:t>
            </a:r>
            <a:endParaRPr lang="zh-CN" altLang="en-US" dirty="0"/>
          </a:p>
          <a:p>
            <a:pPr marL="514350" indent="-514350">
              <a:buFont typeface="+mj-lt"/>
              <a:buAutoNum type="arabicPeriod"/>
            </a:pPr>
            <a:r>
              <a:rPr lang="zh-CN" altLang="en-US" dirty="0"/>
              <a:t>客户机用查询而得的</a:t>
            </a:r>
            <a:r>
              <a:rPr lang="en-US" altLang="zh-CN" dirty="0"/>
              <a:t>IP</a:t>
            </a:r>
            <a:r>
              <a:rPr lang="zh-CN" altLang="en-US" dirty="0"/>
              <a:t>地址向</a:t>
            </a:r>
            <a:r>
              <a:rPr lang="en-US" altLang="zh-CN" dirty="0"/>
              <a:t>www.jlu.edu.cn</a:t>
            </a:r>
            <a:r>
              <a:rPr lang="zh-CN" altLang="en-US" dirty="0"/>
              <a:t>发出</a:t>
            </a:r>
            <a:r>
              <a:rPr lang="en-US" altLang="zh-CN" dirty="0"/>
              <a:t>http</a:t>
            </a:r>
            <a:r>
              <a:rPr lang="zh-CN" altLang="en-US" dirty="0"/>
              <a:t>请求；</a:t>
            </a:r>
            <a:endParaRPr lang="zh-CN" altLang="en-US" dirty="0"/>
          </a:p>
          <a:p>
            <a:pPr marL="514350" indent="-514350">
              <a:buFont typeface="+mj-lt"/>
              <a:buAutoNum type="arabicPeriod"/>
            </a:pPr>
            <a:r>
              <a:rPr lang="zh-CN" altLang="en-US" dirty="0"/>
              <a:t>吉林大学</a:t>
            </a:r>
            <a:r>
              <a:rPr lang="en-US" altLang="zh-CN" dirty="0"/>
              <a:t>www</a:t>
            </a:r>
            <a:r>
              <a:rPr lang="zh-CN" altLang="en-US" dirty="0"/>
              <a:t>服务器接受请求，并返回结果给客户机。</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grpSp>
        <p:nvGrpSpPr>
          <p:cNvPr id="6" name="组合 5"/>
          <p:cNvGrpSpPr/>
          <p:nvPr/>
        </p:nvGrpSpPr>
        <p:grpSpPr>
          <a:xfrm>
            <a:off x="592666" y="1752600"/>
            <a:ext cx="5566834" cy="3892682"/>
            <a:chOff x="592666" y="1752600"/>
            <a:chExt cx="5566834" cy="3892682"/>
          </a:xfrm>
        </p:grpSpPr>
        <p:cxnSp>
          <p:nvCxnSpPr>
            <p:cNvPr id="7" name="直接连接符 6"/>
            <p:cNvCxnSpPr/>
            <p:nvPr/>
          </p:nvCxnSpPr>
          <p:spPr>
            <a:xfrm>
              <a:off x="2373046" y="3596956"/>
              <a:ext cx="614588" cy="2661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205344" y="2676010"/>
              <a:ext cx="287438" cy="27973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820064" y="3169223"/>
              <a:ext cx="205145" cy="189952"/>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0" name="图片 72" descr="交换机.png"/>
            <p:cNvPicPr>
              <a:picLocks noChangeAspect="1"/>
            </p:cNvPicPr>
            <p:nvPr/>
          </p:nvPicPr>
          <p:blipFill>
            <a:blip r:embed="rId1" cstate="print"/>
            <a:stretch>
              <a:fillRect/>
            </a:stretch>
          </p:blipFill>
          <p:spPr>
            <a:xfrm>
              <a:off x="807786" y="2067535"/>
              <a:ext cx="439295" cy="726222"/>
            </a:xfrm>
            <a:prstGeom prst="rect">
              <a:avLst/>
            </a:prstGeom>
          </p:spPr>
        </p:pic>
        <p:pic>
          <p:nvPicPr>
            <p:cNvPr id="11" name="图形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976" y="4473492"/>
              <a:ext cx="492220" cy="439405"/>
            </a:xfrm>
            <a:prstGeom prst="rect">
              <a:avLst/>
            </a:prstGeom>
          </p:spPr>
        </p:pic>
        <p:pic>
          <p:nvPicPr>
            <p:cNvPr id="12" name="图片 72" descr="交换机.png"/>
            <p:cNvPicPr>
              <a:picLocks noChangeAspect="1"/>
            </p:cNvPicPr>
            <p:nvPr/>
          </p:nvPicPr>
          <p:blipFill>
            <a:blip r:embed="rId1" cstate="print"/>
            <a:stretch>
              <a:fillRect/>
            </a:stretch>
          </p:blipFill>
          <p:spPr>
            <a:xfrm>
              <a:off x="1400844" y="2530050"/>
              <a:ext cx="439295" cy="726222"/>
            </a:xfrm>
            <a:prstGeom prst="rect">
              <a:avLst/>
            </a:prstGeom>
          </p:spPr>
        </p:pic>
        <p:pic>
          <p:nvPicPr>
            <p:cNvPr id="13" name="图片 72" descr="交换机.png"/>
            <p:cNvPicPr>
              <a:picLocks noChangeAspect="1"/>
            </p:cNvPicPr>
            <p:nvPr/>
          </p:nvPicPr>
          <p:blipFill>
            <a:blip r:embed="rId1" cstate="print"/>
            <a:stretch>
              <a:fillRect/>
            </a:stretch>
          </p:blipFill>
          <p:spPr>
            <a:xfrm>
              <a:off x="1997853" y="3144155"/>
              <a:ext cx="439295" cy="726222"/>
            </a:xfrm>
            <a:prstGeom prst="rect">
              <a:avLst/>
            </a:prstGeom>
          </p:spPr>
        </p:pic>
        <p:pic>
          <p:nvPicPr>
            <p:cNvPr id="14" name="图片 72" descr="交换机.png"/>
            <p:cNvPicPr>
              <a:picLocks noChangeAspect="1"/>
            </p:cNvPicPr>
            <p:nvPr/>
          </p:nvPicPr>
          <p:blipFill>
            <a:blip r:embed="rId1" cstate="print"/>
            <a:stretch>
              <a:fillRect/>
            </a:stretch>
          </p:blipFill>
          <p:spPr>
            <a:xfrm>
              <a:off x="3907161" y="4002844"/>
              <a:ext cx="439295" cy="726222"/>
            </a:xfrm>
            <a:prstGeom prst="rect">
              <a:avLst/>
            </a:prstGeom>
          </p:spPr>
        </p:pic>
        <p:pic>
          <p:nvPicPr>
            <p:cNvPr id="15" name="图片 72" descr="交换机.png"/>
            <p:cNvPicPr>
              <a:picLocks noChangeAspect="1"/>
            </p:cNvPicPr>
            <p:nvPr/>
          </p:nvPicPr>
          <p:blipFill>
            <a:blip r:embed="rId1" cstate="print"/>
            <a:stretch>
              <a:fillRect/>
            </a:stretch>
          </p:blipFill>
          <p:spPr>
            <a:xfrm>
              <a:off x="4137110" y="4285777"/>
              <a:ext cx="439295" cy="726222"/>
            </a:xfrm>
            <a:prstGeom prst="rect">
              <a:avLst/>
            </a:prstGeom>
          </p:spPr>
        </p:pic>
        <p:pic>
          <p:nvPicPr>
            <p:cNvPr id="16" name="图片 72" descr="交换机.png"/>
            <p:cNvPicPr>
              <a:picLocks noChangeAspect="1"/>
            </p:cNvPicPr>
            <p:nvPr/>
          </p:nvPicPr>
          <p:blipFill>
            <a:blip r:embed="rId1" cstate="print"/>
            <a:stretch>
              <a:fillRect/>
            </a:stretch>
          </p:blipFill>
          <p:spPr>
            <a:xfrm>
              <a:off x="4344521" y="4598437"/>
              <a:ext cx="439295" cy="726222"/>
            </a:xfrm>
            <a:prstGeom prst="rect">
              <a:avLst/>
            </a:prstGeom>
          </p:spPr>
        </p:pic>
        <p:sp>
          <p:nvSpPr>
            <p:cNvPr id="17" name="文本框 34830"/>
            <p:cNvSpPr txBox="1">
              <a:spLocks noChangeArrowheads="1"/>
            </p:cNvSpPr>
            <p:nvPr/>
          </p:nvSpPr>
          <p:spPr bwMode="auto">
            <a:xfrm flipH="1">
              <a:off x="592666" y="1752600"/>
              <a:ext cx="12273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latin typeface="微软雅黑 Light" panose="020B0502040204020203" pitchFamily="34" charset="-122"/>
                  <a:ea typeface="微软雅黑 Light" panose="020B0502040204020203" pitchFamily="34" charset="-122"/>
                </a:rPr>
                <a:t>根服务器</a:t>
              </a:r>
              <a:endParaRPr lang="zh-CN" altLang="en-US" sz="1600" dirty="0">
                <a:latin typeface="微软雅黑 Light" panose="020B0502040204020203" pitchFamily="34" charset="-122"/>
                <a:ea typeface="微软雅黑 Light" panose="020B0502040204020203" pitchFamily="34" charset="-122"/>
              </a:endParaRPr>
            </a:p>
          </p:txBody>
        </p:sp>
        <p:sp>
          <p:nvSpPr>
            <p:cNvPr id="18" name="文本框 34830"/>
            <p:cNvSpPr txBox="1">
              <a:spLocks noChangeArrowheads="1"/>
            </p:cNvSpPr>
            <p:nvPr/>
          </p:nvSpPr>
          <p:spPr bwMode="auto">
            <a:xfrm flipH="1">
              <a:off x="1317370" y="2278834"/>
              <a:ext cx="145583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err="1">
                  <a:latin typeface="微软雅黑 Light" panose="020B0502040204020203" pitchFamily="34" charset="-122"/>
                  <a:ea typeface="微软雅黑 Light" panose="020B0502040204020203" pitchFamily="34" charset="-122"/>
                </a:rPr>
                <a:t>cn</a:t>
              </a:r>
              <a:r>
                <a:rPr lang="zh-CN" altLang="en-US" sz="1600" dirty="0">
                  <a:latin typeface="微软雅黑 Light" panose="020B0502040204020203" pitchFamily="34" charset="-122"/>
                  <a:ea typeface="微软雅黑 Light" panose="020B0502040204020203" pitchFamily="34" charset="-122"/>
                </a:rPr>
                <a:t>域名服务器</a:t>
              </a:r>
              <a:endParaRPr lang="zh-CN" altLang="en-US" sz="1600" dirty="0">
                <a:latin typeface="微软雅黑 Light" panose="020B0502040204020203" pitchFamily="34" charset="-122"/>
                <a:ea typeface="微软雅黑 Light" panose="020B0502040204020203" pitchFamily="34" charset="-122"/>
              </a:endParaRPr>
            </a:p>
          </p:txBody>
        </p:sp>
        <p:sp>
          <p:nvSpPr>
            <p:cNvPr id="19" name="文本框 34830"/>
            <p:cNvSpPr txBox="1">
              <a:spLocks noChangeArrowheads="1"/>
            </p:cNvSpPr>
            <p:nvPr/>
          </p:nvSpPr>
          <p:spPr bwMode="auto">
            <a:xfrm flipH="1">
              <a:off x="1963775" y="2843891"/>
              <a:ext cx="19015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edu.cn</a:t>
              </a:r>
              <a:r>
                <a:rPr lang="zh-CN" altLang="en-US" sz="1600" dirty="0">
                  <a:latin typeface="微软雅黑 Light" panose="020B0502040204020203" pitchFamily="34" charset="-122"/>
                  <a:ea typeface="微软雅黑 Light" panose="020B0502040204020203" pitchFamily="34" charset="-122"/>
                </a:rPr>
                <a:t>域名服务器</a:t>
              </a:r>
              <a:endParaRPr lang="zh-CN" altLang="en-US" sz="1600" dirty="0">
                <a:latin typeface="微软雅黑 Light" panose="020B0502040204020203" pitchFamily="34" charset="-122"/>
                <a:ea typeface="微软雅黑 Light" panose="020B0502040204020203" pitchFamily="34" charset="-122"/>
              </a:endParaRPr>
            </a:p>
          </p:txBody>
        </p:sp>
        <p:sp>
          <p:nvSpPr>
            <p:cNvPr id="20" name="文本框 34830"/>
            <p:cNvSpPr txBox="1">
              <a:spLocks noChangeArrowheads="1"/>
            </p:cNvSpPr>
            <p:nvPr/>
          </p:nvSpPr>
          <p:spPr bwMode="auto">
            <a:xfrm flipH="1">
              <a:off x="4200978" y="3868765"/>
              <a:ext cx="15815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www.jlu.edu.cn</a:t>
              </a:r>
              <a:endParaRPr lang="zh-CN" altLang="en-US" sz="1600" dirty="0">
                <a:latin typeface="微软雅黑 Light" panose="020B0502040204020203" pitchFamily="34" charset="-122"/>
                <a:ea typeface="微软雅黑 Light" panose="020B0502040204020203" pitchFamily="34" charset="-122"/>
              </a:endParaRPr>
            </a:p>
          </p:txBody>
        </p:sp>
        <p:sp>
          <p:nvSpPr>
            <p:cNvPr id="21" name="文本框 34830"/>
            <p:cNvSpPr txBox="1">
              <a:spLocks noChangeArrowheads="1"/>
            </p:cNvSpPr>
            <p:nvPr/>
          </p:nvSpPr>
          <p:spPr bwMode="auto">
            <a:xfrm flipH="1">
              <a:off x="4400457" y="4227119"/>
              <a:ext cx="15815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oa.jlu.edu.cn</a:t>
              </a:r>
              <a:endParaRPr lang="zh-CN" altLang="en-US" sz="1600" dirty="0">
                <a:latin typeface="微软雅黑 Light" panose="020B0502040204020203" pitchFamily="34" charset="-122"/>
                <a:ea typeface="微软雅黑 Light" panose="020B0502040204020203" pitchFamily="34" charset="-122"/>
              </a:endParaRPr>
            </a:p>
          </p:txBody>
        </p:sp>
        <p:sp>
          <p:nvSpPr>
            <p:cNvPr id="22" name="文本框 34830"/>
            <p:cNvSpPr txBox="1">
              <a:spLocks noChangeArrowheads="1"/>
            </p:cNvSpPr>
            <p:nvPr/>
          </p:nvSpPr>
          <p:spPr bwMode="auto">
            <a:xfrm flipH="1">
              <a:off x="4577982" y="4585473"/>
              <a:ext cx="15815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bbs.jlu.edu.cn</a:t>
              </a:r>
              <a:endParaRPr lang="zh-CN" altLang="en-US" sz="1600" dirty="0">
                <a:latin typeface="微软雅黑 Light" panose="020B0502040204020203" pitchFamily="34" charset="-122"/>
                <a:ea typeface="微软雅黑 Light" panose="020B0502040204020203" pitchFamily="34" charset="-122"/>
              </a:endParaRPr>
            </a:p>
          </p:txBody>
        </p:sp>
        <p:cxnSp>
          <p:nvCxnSpPr>
            <p:cNvPr id="23" name="直接箭头连接符 22"/>
            <p:cNvCxnSpPr/>
            <p:nvPr/>
          </p:nvCxnSpPr>
          <p:spPr>
            <a:xfrm flipV="1">
              <a:off x="1327888" y="3876617"/>
              <a:ext cx="595799" cy="5697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1492782" y="3939857"/>
              <a:ext cx="575370" cy="5336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1626655" y="4099635"/>
              <a:ext cx="1243172" cy="459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1642341" y="4142508"/>
              <a:ext cx="1541778" cy="56639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文本框 34830"/>
            <p:cNvSpPr txBox="1">
              <a:spLocks noChangeArrowheads="1"/>
            </p:cNvSpPr>
            <p:nvPr/>
          </p:nvSpPr>
          <p:spPr bwMode="auto">
            <a:xfrm flipH="1">
              <a:off x="1328344" y="4018104"/>
              <a:ext cx="339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1</a:t>
              </a:r>
              <a:endParaRPr lang="zh-CN" altLang="en-US" sz="1600" dirty="0">
                <a:latin typeface="微软雅黑 Light" panose="020B0502040204020203" pitchFamily="34" charset="-122"/>
                <a:ea typeface="微软雅黑 Light" panose="020B0502040204020203" pitchFamily="34" charset="-122"/>
              </a:endParaRPr>
            </a:p>
          </p:txBody>
        </p:sp>
        <p:sp>
          <p:nvSpPr>
            <p:cNvPr id="28" name="文本框 34830"/>
            <p:cNvSpPr txBox="1">
              <a:spLocks noChangeArrowheads="1"/>
            </p:cNvSpPr>
            <p:nvPr/>
          </p:nvSpPr>
          <p:spPr bwMode="auto">
            <a:xfrm flipH="1">
              <a:off x="1727043" y="4069737"/>
              <a:ext cx="339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2</a:t>
              </a:r>
              <a:endParaRPr lang="zh-CN" altLang="en-US" sz="1600" dirty="0">
                <a:latin typeface="微软雅黑 Light" panose="020B0502040204020203" pitchFamily="34" charset="-122"/>
                <a:ea typeface="微软雅黑 Light" panose="020B0502040204020203" pitchFamily="34" charset="-122"/>
              </a:endParaRPr>
            </a:p>
          </p:txBody>
        </p:sp>
        <p:sp>
          <p:nvSpPr>
            <p:cNvPr id="29" name="文本框 34830"/>
            <p:cNvSpPr txBox="1">
              <a:spLocks noChangeArrowheads="1"/>
            </p:cNvSpPr>
            <p:nvPr/>
          </p:nvSpPr>
          <p:spPr bwMode="auto">
            <a:xfrm flipH="1">
              <a:off x="2326047" y="4006928"/>
              <a:ext cx="339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3</a:t>
              </a:r>
              <a:endParaRPr lang="zh-CN" altLang="en-US" sz="1600" dirty="0">
                <a:latin typeface="微软雅黑 Light" panose="020B0502040204020203" pitchFamily="34" charset="-122"/>
                <a:ea typeface="微软雅黑 Light" panose="020B0502040204020203" pitchFamily="34" charset="-122"/>
              </a:endParaRPr>
            </a:p>
          </p:txBody>
        </p:sp>
        <p:sp>
          <p:nvSpPr>
            <p:cNvPr id="30" name="文本框 34830"/>
            <p:cNvSpPr txBox="1">
              <a:spLocks noChangeArrowheads="1"/>
            </p:cNvSpPr>
            <p:nvPr/>
          </p:nvSpPr>
          <p:spPr bwMode="auto">
            <a:xfrm flipH="1">
              <a:off x="2461421" y="4275797"/>
              <a:ext cx="339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4</a:t>
              </a:r>
              <a:endParaRPr lang="zh-CN" altLang="en-US" sz="1600" dirty="0">
                <a:latin typeface="微软雅黑 Light" panose="020B0502040204020203" pitchFamily="34" charset="-122"/>
                <a:ea typeface="微软雅黑 Light" panose="020B0502040204020203" pitchFamily="34" charset="-122"/>
              </a:endParaRPr>
            </a:p>
          </p:txBody>
        </p:sp>
        <p:pic>
          <p:nvPicPr>
            <p:cNvPr id="31" name="图片 72" descr="交换机.png"/>
            <p:cNvPicPr>
              <a:picLocks noChangeAspect="1"/>
            </p:cNvPicPr>
            <p:nvPr/>
          </p:nvPicPr>
          <p:blipFill>
            <a:blip r:embed="rId1" cstate="print"/>
            <a:stretch>
              <a:fillRect/>
            </a:stretch>
          </p:blipFill>
          <p:spPr>
            <a:xfrm>
              <a:off x="2842683" y="3418977"/>
              <a:ext cx="439295" cy="726222"/>
            </a:xfrm>
            <a:prstGeom prst="rect">
              <a:avLst/>
            </a:prstGeom>
          </p:spPr>
        </p:pic>
        <p:sp>
          <p:nvSpPr>
            <p:cNvPr id="32" name="文本框 34830"/>
            <p:cNvSpPr txBox="1">
              <a:spLocks noChangeArrowheads="1"/>
            </p:cNvSpPr>
            <p:nvPr/>
          </p:nvSpPr>
          <p:spPr bwMode="auto">
            <a:xfrm flipH="1">
              <a:off x="3089420" y="3227254"/>
              <a:ext cx="21751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jlu.edu.cn</a:t>
              </a:r>
              <a:r>
                <a:rPr lang="zh-CN" altLang="en-US" sz="1600" dirty="0">
                  <a:latin typeface="微软雅黑 Light" panose="020B0502040204020203" pitchFamily="34" charset="-122"/>
                  <a:ea typeface="微软雅黑 Light" panose="020B0502040204020203" pitchFamily="34" charset="-122"/>
                </a:rPr>
                <a:t>域名服务器</a:t>
              </a:r>
              <a:endParaRPr lang="zh-CN" altLang="en-US" sz="1600" dirty="0">
                <a:latin typeface="微软雅黑 Light" panose="020B0502040204020203" pitchFamily="34" charset="-122"/>
                <a:ea typeface="微软雅黑 Light" panose="020B0502040204020203" pitchFamily="34" charset="-122"/>
              </a:endParaRPr>
            </a:p>
          </p:txBody>
        </p:sp>
        <p:cxnSp>
          <p:nvCxnSpPr>
            <p:cNvPr id="33" name="直接箭头连接符 32"/>
            <p:cNvCxnSpPr/>
            <p:nvPr/>
          </p:nvCxnSpPr>
          <p:spPr>
            <a:xfrm flipV="1">
              <a:off x="1667402" y="4536733"/>
              <a:ext cx="2217362" cy="3126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1693775" y="4639290"/>
              <a:ext cx="2159376" cy="3206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文本框 34830"/>
            <p:cNvSpPr txBox="1">
              <a:spLocks noChangeArrowheads="1"/>
            </p:cNvSpPr>
            <p:nvPr/>
          </p:nvSpPr>
          <p:spPr bwMode="auto">
            <a:xfrm flipH="1">
              <a:off x="2987634" y="4397688"/>
              <a:ext cx="339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5</a:t>
              </a:r>
              <a:endParaRPr lang="zh-CN" altLang="en-US" sz="1600" dirty="0">
                <a:latin typeface="微软雅黑 Light" panose="020B0502040204020203" pitchFamily="34" charset="-122"/>
                <a:ea typeface="微软雅黑 Light" panose="020B0502040204020203" pitchFamily="34" charset="-122"/>
              </a:endParaRPr>
            </a:p>
          </p:txBody>
        </p:sp>
        <p:sp>
          <p:nvSpPr>
            <p:cNvPr id="36" name="文本框 34830"/>
            <p:cNvSpPr txBox="1">
              <a:spLocks noChangeArrowheads="1"/>
            </p:cNvSpPr>
            <p:nvPr/>
          </p:nvSpPr>
          <p:spPr bwMode="auto">
            <a:xfrm flipH="1">
              <a:off x="2682148" y="4764605"/>
              <a:ext cx="339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a:latin typeface="微软雅黑 Light" panose="020B0502040204020203" pitchFamily="34" charset="-122"/>
                  <a:ea typeface="微软雅黑 Light" panose="020B0502040204020203" pitchFamily="34" charset="-122"/>
                </a:rPr>
                <a:t>6</a:t>
              </a:r>
              <a:endParaRPr lang="zh-CN" altLang="en-US" sz="1600" dirty="0">
                <a:latin typeface="微软雅黑 Light" panose="020B0502040204020203" pitchFamily="34" charset="-122"/>
                <a:ea typeface="微软雅黑 Light" panose="020B0502040204020203" pitchFamily="34" charset="-122"/>
              </a:endParaRPr>
            </a:p>
          </p:txBody>
        </p:sp>
        <p:sp>
          <p:nvSpPr>
            <p:cNvPr id="37" name="文本框 34830"/>
            <p:cNvSpPr txBox="1">
              <a:spLocks noChangeArrowheads="1"/>
            </p:cNvSpPr>
            <p:nvPr/>
          </p:nvSpPr>
          <p:spPr bwMode="auto">
            <a:xfrm flipH="1">
              <a:off x="3613374" y="5306728"/>
              <a:ext cx="19015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latin typeface="微软雅黑 Light" panose="020B0502040204020203" pitchFamily="34" charset="-122"/>
                  <a:ea typeface="微软雅黑 Light" panose="020B0502040204020203" pitchFamily="34" charset="-122"/>
                </a:rPr>
                <a:t>吉林大学服务器群</a:t>
              </a:r>
              <a:endParaRPr lang="zh-CN" altLang="en-US" sz="1600" dirty="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FE2A01-60E4-478F-8FDA-6D17DE92DA74}" type="slidenum">
              <a:rPr lang="en-US" altLang="zh-CN"/>
            </a:fld>
            <a:endParaRPr lang="en-US" altLang="zh-CN"/>
          </a:p>
        </p:txBody>
      </p:sp>
      <p:sp>
        <p:nvSpPr>
          <p:cNvPr id="288770" name="Rectangle 2"/>
          <p:cNvSpPr>
            <a:spLocks noGrp="1" noChangeArrowheads="1"/>
          </p:cNvSpPr>
          <p:nvPr>
            <p:ph type="title"/>
          </p:nvPr>
        </p:nvSpPr>
        <p:spPr/>
        <p:txBody>
          <a:bodyPr/>
          <a:lstStyle/>
          <a:p>
            <a:r>
              <a:rPr lang="en-US" altLang="zh-CN"/>
              <a:t>DNS</a:t>
            </a:r>
            <a:r>
              <a:rPr lang="zh-CN" altLang="en-US"/>
              <a:t>相关工具</a:t>
            </a:r>
            <a:endParaRPr lang="zh-CN" altLang="en-US"/>
          </a:p>
        </p:txBody>
      </p:sp>
      <p:sp>
        <p:nvSpPr>
          <p:cNvPr id="288771" name="Rectangle 3"/>
          <p:cNvSpPr>
            <a:spLocks noGrp="1" noChangeArrowheads="1"/>
          </p:cNvSpPr>
          <p:nvPr>
            <p:ph type="body" idx="1"/>
          </p:nvPr>
        </p:nvSpPr>
        <p:spPr/>
        <p:txBody>
          <a:bodyPr/>
          <a:lstStyle/>
          <a:p>
            <a:r>
              <a:rPr lang="zh-CN" altLang="en-US"/>
              <a:t>用于查询域名相关信息</a:t>
            </a:r>
            <a:endParaRPr lang="zh-CN" altLang="en-US"/>
          </a:p>
          <a:p>
            <a:r>
              <a:rPr lang="en-US" altLang="zh-CN"/>
              <a:t>nslookup</a:t>
            </a:r>
            <a:endParaRPr lang="en-US" altLang="zh-CN"/>
          </a:p>
          <a:p>
            <a:pPr>
              <a:buFont typeface="Wingdings" panose="05000000000000000000" pitchFamily="2" charset="2"/>
              <a:buNone/>
            </a:pPr>
            <a:r>
              <a:rPr lang="en-US" altLang="zh-CN"/>
              <a:t>		nslookup domain-name</a:t>
            </a:r>
            <a:endParaRPr lang="en-US" altLang="zh-CN"/>
          </a:p>
          <a:p>
            <a:r>
              <a:rPr lang="en-US" altLang="zh-CN"/>
              <a:t>dig (domain information groper)</a:t>
            </a:r>
            <a:endParaRPr lang="en-US" altLang="zh-CN"/>
          </a:p>
          <a:p>
            <a:r>
              <a:rPr lang="en-US" altLang="zh-CN"/>
              <a:t>host</a:t>
            </a:r>
            <a:endParaRPr lang="en-US" altLang="zh-CN"/>
          </a:p>
          <a:p>
            <a:r>
              <a:rPr lang="zh-CN" altLang="en-US"/>
              <a:t>例：</a:t>
            </a:r>
            <a:r>
              <a:rPr lang="en-US" altLang="zh-CN"/>
              <a:t>Windows</a:t>
            </a:r>
            <a:r>
              <a:rPr lang="zh-CN" altLang="en-US"/>
              <a:t>系统查看</a:t>
            </a:r>
            <a:r>
              <a:rPr lang="en-US" altLang="zh-CN"/>
              <a:t>DNS</a:t>
            </a:r>
            <a:r>
              <a:rPr lang="zh-CN" altLang="en-US"/>
              <a:t>缓存：</a:t>
            </a:r>
            <a:endParaRPr lang="zh-CN" altLang="en-US"/>
          </a:p>
          <a:p>
            <a:pPr>
              <a:buFont typeface="Wingdings" panose="05000000000000000000" pitchFamily="2" charset="2"/>
              <a:buNone/>
            </a:pPr>
            <a:r>
              <a:rPr lang="zh-CN" altLang="en-US"/>
              <a:t>		</a:t>
            </a:r>
            <a:r>
              <a:rPr lang="en-US" altLang="zh-CN"/>
              <a:t>ipconfig /displaydns</a:t>
            </a:r>
            <a:endParaRPr lang="en-US" altLang="zh-CN"/>
          </a:p>
          <a:p>
            <a:pPr>
              <a:buFont typeface="Wingdings" panose="05000000000000000000" pitchFamily="2" charset="2"/>
              <a:buNone/>
            </a:pPr>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域名系统高速缓存</a:t>
            </a:r>
            <a:endParaRPr lang="zh-CN" altLang="en-US" dirty="0"/>
          </a:p>
        </p:txBody>
      </p:sp>
      <p:sp>
        <p:nvSpPr>
          <p:cNvPr id="3" name="内容占位符 2"/>
          <p:cNvSpPr>
            <a:spLocks noGrp="1"/>
          </p:cNvSpPr>
          <p:nvPr>
            <p:ph idx="1"/>
          </p:nvPr>
        </p:nvSpPr>
        <p:spPr/>
        <p:txBody>
          <a:bodyPr/>
          <a:lstStyle/>
          <a:p>
            <a:r>
              <a:rPr lang="zh-CN" altLang="en-US" dirty="0"/>
              <a:t>每个域名服务器都维护一个高速缓存，存放最近用过的名字以及从何处获得名字映射信息的记录</a:t>
            </a:r>
            <a:endParaRPr lang="zh-CN" altLang="en-US" dirty="0"/>
          </a:p>
          <a:p>
            <a:pPr lvl="1"/>
            <a:r>
              <a:rPr lang="zh-CN" altLang="en-US" dirty="0"/>
              <a:t>可大大减轻根域名服务器负荷，使互联网上 </a:t>
            </a:r>
            <a:r>
              <a:rPr lang="en-US" altLang="zh-CN" dirty="0"/>
              <a:t>DNS </a:t>
            </a:r>
            <a:r>
              <a:rPr lang="zh-CN" altLang="en-US" dirty="0"/>
              <a:t>查询请求和回答报文的数量大为减少</a:t>
            </a:r>
            <a:endParaRPr lang="en-US" altLang="zh-CN" dirty="0"/>
          </a:p>
          <a:p>
            <a:pPr lvl="1"/>
            <a:r>
              <a:rPr lang="zh-CN" altLang="en-US" dirty="0"/>
              <a:t>能够使</a:t>
            </a:r>
            <a:r>
              <a:rPr lang="en-US" altLang="zh-CN" dirty="0"/>
              <a:t>Internet</a:t>
            </a:r>
            <a:r>
              <a:rPr lang="zh-CN" altLang="en-US" dirty="0"/>
              <a:t>上的</a:t>
            </a:r>
            <a:r>
              <a:rPr lang="en-US" altLang="zh-CN" dirty="0"/>
              <a:t>DNS</a:t>
            </a:r>
            <a:r>
              <a:rPr lang="zh-CN" altLang="en-US" dirty="0"/>
              <a:t>查询请求和回答报文的数量大为减少 </a:t>
            </a:r>
            <a:endParaRPr lang="zh-CN" altLang="en-US" dirty="0"/>
          </a:p>
          <a:p>
            <a:r>
              <a:rPr lang="zh-CN" altLang="en-US" dirty="0"/>
              <a:t>为保持高速缓存中的内容正确，域名服务器应为每项内容设置计时器，并处理超过合理时间的项（例如，每个项目只存放两天）。</a:t>
            </a:r>
            <a:endParaRPr lang="zh-CN" altLang="en-US" dirty="0"/>
          </a:p>
          <a:p>
            <a:r>
              <a:rPr lang="zh-CN" altLang="en-US" dirty="0"/>
              <a:t>当权限域名服务器回答一个查询请求时，在响应中都指明绑定有效存在的时间值</a:t>
            </a:r>
            <a:endParaRPr lang="en-US" altLang="zh-CN" dirty="0"/>
          </a:p>
          <a:p>
            <a:pPr lvl="1"/>
            <a:r>
              <a:rPr lang="zh-CN" altLang="en-US" dirty="0"/>
              <a:t>增加此时间值可减少网络开销</a:t>
            </a:r>
            <a:endParaRPr lang="en-US" altLang="zh-CN" dirty="0"/>
          </a:p>
          <a:p>
            <a:pPr lvl="1"/>
            <a:r>
              <a:rPr lang="zh-CN" altLang="en-US" dirty="0"/>
              <a:t>减少此时间值可提高域名转换的准确性 </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288637BE-4BD1-495E-B5E2-79D3544D0D95}" type="slidenum">
              <a:rPr lang="en-US" altLang="zh-CN"/>
            </a:fld>
            <a:endParaRPr lang="en-US" altLang="zh-CN"/>
          </a:p>
        </p:txBody>
      </p:sp>
      <p:sp>
        <p:nvSpPr>
          <p:cNvPr id="290818" name="Rectangle 2"/>
          <p:cNvSpPr>
            <a:spLocks noGrp="1" noChangeArrowheads="1"/>
          </p:cNvSpPr>
          <p:nvPr>
            <p:ph type="title"/>
          </p:nvPr>
        </p:nvSpPr>
        <p:spPr/>
        <p:txBody>
          <a:bodyPr/>
          <a:lstStyle/>
          <a:p>
            <a:r>
              <a:rPr lang="en-US" altLang="zh-CN" dirty="0"/>
              <a:t>DNS vs ARP</a:t>
            </a:r>
            <a:endParaRPr lang="zh-CN" altLang="en-US" dirty="0"/>
          </a:p>
        </p:txBody>
      </p:sp>
      <p:sp>
        <p:nvSpPr>
          <p:cNvPr id="290819" name="Rectangle 3"/>
          <p:cNvSpPr>
            <a:spLocks noGrp="1" noChangeArrowheads="1"/>
          </p:cNvSpPr>
          <p:nvPr>
            <p:ph type="body" idx="1"/>
          </p:nvPr>
        </p:nvSpPr>
        <p:spPr/>
        <p:txBody>
          <a:bodyPr/>
          <a:lstStyle/>
          <a:p>
            <a:r>
              <a:rPr lang="en-US" altLang="zh-CN"/>
              <a:t>DNS</a:t>
            </a:r>
            <a:r>
              <a:rPr lang="zh-CN" altLang="en-US"/>
              <a:t>是应用层地址与网络层地址之间映射关系的翻译</a:t>
            </a:r>
            <a:endParaRPr lang="zh-CN" altLang="en-US"/>
          </a:p>
          <a:p>
            <a:r>
              <a:rPr lang="en-US" altLang="zh-CN"/>
              <a:t>ARP</a:t>
            </a:r>
            <a:r>
              <a:rPr lang="zh-CN" altLang="en-US"/>
              <a:t>是网络层地址与数据链路层地址之间映射关系的翻译</a:t>
            </a:r>
            <a:endParaRPr lang="zh-CN" altLang="en-US"/>
          </a:p>
          <a:p>
            <a:r>
              <a:rPr lang="zh-CN" altLang="en-US"/>
              <a:t>网络体系结构层次的独立性决定两者存在的必要性</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64A6FBF-AFD3-4A5E-BA53-1F45E2195FD0}" type="slidenum">
              <a:rPr lang="en-US" altLang="zh-CN"/>
            </a:fld>
            <a:endParaRPr lang="en-US" altLang="zh-CN"/>
          </a:p>
        </p:txBody>
      </p:sp>
      <p:sp>
        <p:nvSpPr>
          <p:cNvPr id="291842" name="Rectangle 2"/>
          <p:cNvSpPr>
            <a:spLocks noGrp="1" noChangeArrowheads="1"/>
          </p:cNvSpPr>
          <p:nvPr>
            <p:ph type="title"/>
          </p:nvPr>
        </p:nvSpPr>
        <p:spPr/>
        <p:txBody>
          <a:bodyPr/>
          <a:lstStyle/>
          <a:p>
            <a:pPr algn="ctr"/>
            <a:r>
              <a:rPr lang="zh-CN" altLang="en-US" dirty="0"/>
              <a:t>电子邮件服务</a:t>
            </a:r>
            <a:endParaRPr lang="zh-CN" altLang="en-US" dirty="0"/>
          </a:p>
        </p:txBody>
      </p:sp>
      <p:sp>
        <p:nvSpPr>
          <p:cNvPr id="291843" name="Rectangle 3"/>
          <p:cNvSpPr>
            <a:spLocks noGrp="1" noChangeArrowheads="1"/>
          </p:cNvSpPr>
          <p:nvPr>
            <p:ph type="body" idx="1"/>
          </p:nvPr>
        </p:nvSpPr>
        <p:spPr/>
        <p:txBody>
          <a:bodyPr/>
          <a:lstStyle/>
          <a:p>
            <a:r>
              <a:rPr lang="en-US" altLang="zh-CN"/>
              <a:t>Email</a:t>
            </a:r>
            <a:r>
              <a:rPr lang="zh-CN" altLang="en-US"/>
              <a:t>是</a:t>
            </a:r>
            <a:r>
              <a:rPr lang="en-US" altLang="zh-CN"/>
              <a:t>Internet</a:t>
            </a:r>
            <a:r>
              <a:rPr lang="zh-CN" altLang="en-US"/>
              <a:t>上使用最多的一种应用。</a:t>
            </a:r>
            <a:endParaRPr lang="zh-CN" altLang="en-US"/>
          </a:p>
          <a:p>
            <a:r>
              <a:rPr lang="zh-CN" altLang="en-US"/>
              <a:t>一个电子邮件系统由</a:t>
            </a:r>
            <a:r>
              <a:rPr lang="en-US" altLang="zh-CN"/>
              <a:t>3</a:t>
            </a:r>
            <a:r>
              <a:rPr lang="zh-CN" altLang="en-US"/>
              <a:t>部分组成：</a:t>
            </a:r>
            <a:endParaRPr lang="zh-CN" altLang="en-US"/>
          </a:p>
          <a:p>
            <a:pPr lvl="1"/>
            <a:r>
              <a:rPr lang="zh-CN" altLang="en-US"/>
              <a:t>用户代理：用户与电子邮件系统的接口，是用户机上运行的程序。</a:t>
            </a:r>
            <a:endParaRPr lang="zh-CN" altLang="en-US"/>
          </a:p>
          <a:p>
            <a:pPr lvl="1"/>
            <a:r>
              <a:rPr lang="zh-CN" altLang="en-US"/>
              <a:t>邮件服务器：收发邮件，运行邮件服务程序。</a:t>
            </a:r>
            <a:endParaRPr lang="zh-CN" altLang="en-US"/>
          </a:p>
          <a:p>
            <a:pPr lvl="1"/>
            <a:r>
              <a:rPr lang="zh-CN" altLang="en-US"/>
              <a:t>电子邮件协议： </a:t>
            </a:r>
            <a:r>
              <a:rPr lang="en-US" altLang="zh-CN"/>
              <a:t>SMTP</a:t>
            </a:r>
            <a:r>
              <a:rPr lang="zh-CN" altLang="en-US"/>
              <a:t>、</a:t>
            </a:r>
            <a:r>
              <a:rPr lang="en-US" altLang="zh-CN"/>
              <a:t>POP3</a:t>
            </a:r>
            <a:endParaRPr lang="en-US" altLang="zh-CN"/>
          </a:p>
          <a:p>
            <a:r>
              <a:rPr lang="zh-CN" altLang="en-US"/>
              <a:t>电子邮件不是一种“终端到终端”的服务，而是一种“存贮转发式”服务。 </a:t>
            </a:r>
            <a:endParaRPr lang="zh-CN" altLang="en-US"/>
          </a:p>
          <a:p>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灯片编号占位符 5"/>
          <p:cNvSpPr>
            <a:spLocks noGrp="1"/>
          </p:cNvSpPr>
          <p:nvPr>
            <p:ph type="sldNum" sz="quarter" idx="12"/>
          </p:nvPr>
        </p:nvSpPr>
        <p:spPr/>
        <p:txBody>
          <a:bodyPr/>
          <a:lstStyle/>
          <a:p>
            <a:fld id="{4CD3B5D5-4C10-4189-93B8-67FCABF0D8A4}" type="slidenum">
              <a:rPr lang="en-US" altLang="zh-CN"/>
            </a:fld>
            <a:endParaRPr lang="en-US" altLang="zh-CN"/>
          </a:p>
        </p:txBody>
      </p:sp>
      <p:grpSp>
        <p:nvGrpSpPr>
          <p:cNvPr id="367030" name="Group 438"/>
          <p:cNvGrpSpPr/>
          <p:nvPr/>
        </p:nvGrpSpPr>
        <p:grpSpPr bwMode="auto">
          <a:xfrm flipH="1">
            <a:off x="9336089" y="4437063"/>
            <a:ext cx="884237" cy="1014412"/>
            <a:chOff x="246" y="1767"/>
            <a:chExt cx="557" cy="639"/>
          </a:xfrm>
        </p:grpSpPr>
        <p:grpSp>
          <p:nvGrpSpPr>
            <p:cNvPr id="367031" name="Group 439"/>
            <p:cNvGrpSpPr/>
            <p:nvPr/>
          </p:nvGrpSpPr>
          <p:grpSpPr bwMode="auto">
            <a:xfrm>
              <a:off x="246" y="1943"/>
              <a:ext cx="557" cy="463"/>
              <a:chOff x="246" y="1943"/>
              <a:chExt cx="557" cy="463"/>
            </a:xfrm>
          </p:grpSpPr>
          <p:sp>
            <p:nvSpPr>
              <p:cNvPr id="367032" name="Freeform 440"/>
              <p:cNvSpPr/>
              <p:nvPr/>
            </p:nvSpPr>
            <p:spPr bwMode="auto">
              <a:xfrm>
                <a:off x="373" y="2005"/>
                <a:ext cx="196" cy="295"/>
              </a:xfrm>
              <a:custGeom>
                <a:avLst/>
                <a:gdLst>
                  <a:gd name="T0" fmla="*/ 652 w 982"/>
                  <a:gd name="T1" fmla="*/ 26 h 1477"/>
                  <a:gd name="T2" fmla="*/ 982 w 982"/>
                  <a:gd name="T3" fmla="*/ 1347 h 1477"/>
                  <a:gd name="T4" fmla="*/ 0 w 982"/>
                  <a:gd name="T5" fmla="*/ 1477 h 1477"/>
                  <a:gd name="T6" fmla="*/ 252 w 982"/>
                  <a:gd name="T7" fmla="*/ 0 h 1477"/>
                </a:gdLst>
                <a:ahLst/>
                <a:cxnLst>
                  <a:cxn ang="0">
                    <a:pos x="T0" y="T1"/>
                  </a:cxn>
                  <a:cxn ang="0">
                    <a:pos x="T2" y="T3"/>
                  </a:cxn>
                  <a:cxn ang="0">
                    <a:pos x="T4" y="T5"/>
                  </a:cxn>
                  <a:cxn ang="0">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7033" name="Group 441"/>
              <p:cNvGrpSpPr/>
              <p:nvPr/>
            </p:nvGrpSpPr>
            <p:grpSpPr bwMode="auto">
              <a:xfrm>
                <a:off x="246" y="1943"/>
                <a:ext cx="551" cy="121"/>
                <a:chOff x="246" y="1943"/>
                <a:chExt cx="551" cy="121"/>
              </a:xfrm>
            </p:grpSpPr>
            <p:sp>
              <p:nvSpPr>
                <p:cNvPr id="367034" name="Freeform 442"/>
                <p:cNvSpPr/>
                <p:nvPr/>
              </p:nvSpPr>
              <p:spPr bwMode="auto">
                <a:xfrm>
                  <a:off x="246" y="1943"/>
                  <a:ext cx="551" cy="104"/>
                </a:xfrm>
                <a:custGeom>
                  <a:avLst/>
                  <a:gdLst>
                    <a:gd name="T0" fmla="*/ 2751 w 2751"/>
                    <a:gd name="T1" fmla="*/ 270 h 522"/>
                    <a:gd name="T2" fmla="*/ 1016 w 2751"/>
                    <a:gd name="T3" fmla="*/ 522 h 522"/>
                    <a:gd name="T4" fmla="*/ 0 w 2751"/>
                    <a:gd name="T5" fmla="*/ 132 h 522"/>
                    <a:gd name="T6" fmla="*/ 1302 w 2751"/>
                    <a:gd name="T7" fmla="*/ 0 h 522"/>
                    <a:gd name="T8" fmla="*/ 2751 w 2751"/>
                    <a:gd name="T9" fmla="*/ 270 h 522"/>
                  </a:gdLst>
                  <a:ahLst/>
                  <a:cxnLst>
                    <a:cxn ang="0">
                      <a:pos x="T0" y="T1"/>
                    </a:cxn>
                    <a:cxn ang="0">
                      <a:pos x="T2" y="T3"/>
                    </a:cxn>
                    <a:cxn ang="0">
                      <a:pos x="T4" y="T5"/>
                    </a:cxn>
                    <a:cxn ang="0">
                      <a:pos x="T6" y="T7"/>
                    </a:cxn>
                    <a:cxn ang="0">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35" name="Freeform 443"/>
                <p:cNvSpPr/>
                <p:nvPr/>
              </p:nvSpPr>
              <p:spPr bwMode="auto">
                <a:xfrm>
                  <a:off x="450" y="1997"/>
                  <a:ext cx="345" cy="67"/>
                </a:xfrm>
                <a:custGeom>
                  <a:avLst/>
                  <a:gdLst>
                    <a:gd name="T0" fmla="*/ 1728 w 1728"/>
                    <a:gd name="T1" fmla="*/ 0 h 337"/>
                    <a:gd name="T2" fmla="*/ 0 w 1728"/>
                    <a:gd name="T3" fmla="*/ 251 h 337"/>
                    <a:gd name="T4" fmla="*/ 0 w 1728"/>
                    <a:gd name="T5" fmla="*/ 337 h 337"/>
                    <a:gd name="T6" fmla="*/ 1728 w 1728"/>
                    <a:gd name="T7" fmla="*/ 88 h 337"/>
                    <a:gd name="T8" fmla="*/ 1728 w 1728"/>
                    <a:gd name="T9" fmla="*/ 0 h 337"/>
                  </a:gdLst>
                  <a:ahLst/>
                  <a:cxnLst>
                    <a:cxn ang="0">
                      <a:pos x="T0" y="T1"/>
                    </a:cxn>
                    <a:cxn ang="0">
                      <a:pos x="T2" y="T3"/>
                    </a:cxn>
                    <a:cxn ang="0">
                      <a:pos x="T4" y="T5"/>
                    </a:cxn>
                    <a:cxn ang="0">
                      <a:pos x="T6" y="T7"/>
                    </a:cxn>
                    <a:cxn ang="0">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36" name="Freeform 444"/>
                <p:cNvSpPr/>
                <p:nvPr/>
              </p:nvSpPr>
              <p:spPr bwMode="auto">
                <a:xfrm>
                  <a:off x="246" y="1969"/>
                  <a:ext cx="204" cy="95"/>
                </a:xfrm>
                <a:custGeom>
                  <a:avLst/>
                  <a:gdLst>
                    <a:gd name="T0" fmla="*/ 1016 w 1016"/>
                    <a:gd name="T1" fmla="*/ 476 h 476"/>
                    <a:gd name="T2" fmla="*/ 1016 w 1016"/>
                    <a:gd name="T3" fmla="*/ 390 h 476"/>
                    <a:gd name="T4" fmla="*/ 0 w 1016"/>
                    <a:gd name="T5" fmla="*/ 0 h 476"/>
                    <a:gd name="T6" fmla="*/ 0 w 1016"/>
                    <a:gd name="T7" fmla="*/ 60 h 476"/>
                    <a:gd name="T8" fmla="*/ 1016 w 1016"/>
                    <a:gd name="T9" fmla="*/ 476 h 476"/>
                  </a:gdLst>
                  <a:ahLst/>
                  <a:cxnLst>
                    <a:cxn ang="0">
                      <a:pos x="T0" y="T1"/>
                    </a:cxn>
                    <a:cxn ang="0">
                      <a:pos x="T2" y="T3"/>
                    </a:cxn>
                    <a:cxn ang="0">
                      <a:pos x="T4" y="T5"/>
                    </a:cxn>
                    <a:cxn ang="0">
                      <a:pos x="T6" y="T7"/>
                    </a:cxn>
                    <a:cxn ang="0">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7037" name="Freeform 445"/>
              <p:cNvSpPr/>
              <p:nvPr/>
            </p:nvSpPr>
            <p:spPr bwMode="auto">
              <a:xfrm>
                <a:off x="564" y="2028"/>
                <a:ext cx="239" cy="378"/>
              </a:xfrm>
              <a:custGeom>
                <a:avLst/>
                <a:gdLst>
                  <a:gd name="T0" fmla="*/ 660 w 1195"/>
                  <a:gd name="T1" fmla="*/ 0 h 1893"/>
                  <a:gd name="T2" fmla="*/ 1195 w 1195"/>
                  <a:gd name="T3" fmla="*/ 1747 h 1893"/>
                  <a:gd name="T4" fmla="*/ 0 w 1195"/>
                  <a:gd name="T5" fmla="*/ 1893 h 1893"/>
                  <a:gd name="T6" fmla="*/ 191 w 1195"/>
                  <a:gd name="T7" fmla="*/ 35 h 1893"/>
                </a:gdLst>
                <a:ahLst/>
                <a:cxnLst>
                  <a:cxn ang="0">
                    <a:pos x="T0" y="T1"/>
                  </a:cxn>
                  <a:cxn ang="0">
                    <a:pos x="T2" y="T3"/>
                  </a:cxn>
                  <a:cxn ang="0">
                    <a:pos x="T4" y="T5"/>
                  </a:cxn>
                  <a:cxn ang="0">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7038" name="Group 446"/>
            <p:cNvGrpSpPr/>
            <p:nvPr/>
          </p:nvGrpSpPr>
          <p:grpSpPr bwMode="auto">
            <a:xfrm>
              <a:off x="325" y="1767"/>
              <a:ext cx="383" cy="268"/>
              <a:chOff x="325" y="1767"/>
              <a:chExt cx="383" cy="268"/>
            </a:xfrm>
          </p:grpSpPr>
          <p:grpSp>
            <p:nvGrpSpPr>
              <p:cNvPr id="367039" name="Group 447"/>
              <p:cNvGrpSpPr/>
              <p:nvPr/>
            </p:nvGrpSpPr>
            <p:grpSpPr bwMode="auto">
              <a:xfrm>
                <a:off x="412" y="1767"/>
                <a:ext cx="296" cy="243"/>
                <a:chOff x="412" y="1767"/>
                <a:chExt cx="296" cy="243"/>
              </a:xfrm>
            </p:grpSpPr>
            <p:grpSp>
              <p:nvGrpSpPr>
                <p:cNvPr id="367040" name="Group 448"/>
                <p:cNvGrpSpPr/>
                <p:nvPr/>
              </p:nvGrpSpPr>
              <p:grpSpPr bwMode="auto">
                <a:xfrm>
                  <a:off x="412" y="1767"/>
                  <a:ext cx="296" cy="243"/>
                  <a:chOff x="412" y="1767"/>
                  <a:chExt cx="296" cy="243"/>
                </a:xfrm>
              </p:grpSpPr>
              <p:grpSp>
                <p:nvGrpSpPr>
                  <p:cNvPr id="367041" name="Group 449"/>
                  <p:cNvGrpSpPr/>
                  <p:nvPr/>
                </p:nvGrpSpPr>
                <p:grpSpPr bwMode="auto">
                  <a:xfrm>
                    <a:off x="412" y="1904"/>
                    <a:ext cx="296" cy="106"/>
                    <a:chOff x="412" y="1904"/>
                    <a:chExt cx="296" cy="106"/>
                  </a:xfrm>
                </p:grpSpPr>
                <p:sp>
                  <p:nvSpPr>
                    <p:cNvPr id="367042" name="Freeform 450"/>
                    <p:cNvSpPr/>
                    <p:nvPr/>
                  </p:nvSpPr>
                  <p:spPr bwMode="auto">
                    <a:xfrm>
                      <a:off x="412" y="1904"/>
                      <a:ext cx="170" cy="106"/>
                    </a:xfrm>
                    <a:custGeom>
                      <a:avLst/>
                      <a:gdLst>
                        <a:gd name="T0" fmla="*/ 848 w 848"/>
                        <a:gd name="T1" fmla="*/ 162 h 530"/>
                        <a:gd name="T2" fmla="*/ 848 w 848"/>
                        <a:gd name="T3" fmla="*/ 530 h 530"/>
                        <a:gd name="T4" fmla="*/ 0 w 848"/>
                        <a:gd name="T5" fmla="*/ 258 h 530"/>
                        <a:gd name="T6" fmla="*/ 0 w 848"/>
                        <a:gd name="T7" fmla="*/ 0 h 530"/>
                        <a:gd name="T8" fmla="*/ 848 w 848"/>
                        <a:gd name="T9" fmla="*/ 162 h 530"/>
                      </a:gdLst>
                      <a:ahLst/>
                      <a:cxnLst>
                        <a:cxn ang="0">
                          <a:pos x="T0" y="T1"/>
                        </a:cxn>
                        <a:cxn ang="0">
                          <a:pos x="T2" y="T3"/>
                        </a:cxn>
                        <a:cxn ang="0">
                          <a:pos x="T4" y="T5"/>
                        </a:cxn>
                        <a:cxn ang="0">
                          <a:pos x="T6" y="T7"/>
                        </a:cxn>
                        <a:cxn ang="0">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43" name="Freeform 451"/>
                    <p:cNvSpPr/>
                    <p:nvPr/>
                  </p:nvSpPr>
                  <p:spPr bwMode="auto">
                    <a:xfrm>
                      <a:off x="582" y="1929"/>
                      <a:ext cx="126" cy="81"/>
                    </a:xfrm>
                    <a:custGeom>
                      <a:avLst/>
                      <a:gdLst>
                        <a:gd name="T0" fmla="*/ 0 w 631"/>
                        <a:gd name="T1" fmla="*/ 36 h 404"/>
                        <a:gd name="T2" fmla="*/ 0 w 631"/>
                        <a:gd name="T3" fmla="*/ 404 h 404"/>
                        <a:gd name="T4" fmla="*/ 631 w 631"/>
                        <a:gd name="T5" fmla="*/ 312 h 404"/>
                        <a:gd name="T6" fmla="*/ 631 w 631"/>
                        <a:gd name="T7" fmla="*/ 0 h 404"/>
                        <a:gd name="T8" fmla="*/ 0 w 631"/>
                        <a:gd name="T9" fmla="*/ 36 h 404"/>
                      </a:gdLst>
                      <a:ahLst/>
                      <a:cxnLst>
                        <a:cxn ang="0">
                          <a:pos x="T0" y="T1"/>
                        </a:cxn>
                        <a:cxn ang="0">
                          <a:pos x="T2" y="T3"/>
                        </a:cxn>
                        <a:cxn ang="0">
                          <a:pos x="T4" y="T5"/>
                        </a:cxn>
                        <a:cxn ang="0">
                          <a:pos x="T6" y="T7"/>
                        </a:cxn>
                        <a:cxn ang="0">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44" name="Freeform 452"/>
                    <p:cNvSpPr/>
                    <p:nvPr/>
                  </p:nvSpPr>
                  <p:spPr bwMode="auto">
                    <a:xfrm>
                      <a:off x="412" y="1904"/>
                      <a:ext cx="296" cy="32"/>
                    </a:xfrm>
                    <a:custGeom>
                      <a:avLst/>
                      <a:gdLst>
                        <a:gd name="T0" fmla="*/ 1479 w 1479"/>
                        <a:gd name="T1" fmla="*/ 126 h 162"/>
                        <a:gd name="T2" fmla="*/ 842 w 1479"/>
                        <a:gd name="T3" fmla="*/ 162 h 162"/>
                        <a:gd name="T4" fmla="*/ 0 w 1479"/>
                        <a:gd name="T5" fmla="*/ 0 h 162"/>
                        <a:gd name="T6" fmla="*/ 619 w 1479"/>
                        <a:gd name="T7" fmla="*/ 0 h 162"/>
                        <a:gd name="T8" fmla="*/ 1479 w 1479"/>
                        <a:gd name="T9" fmla="*/ 126 h 162"/>
                      </a:gdLst>
                      <a:ahLst/>
                      <a:cxnLst>
                        <a:cxn ang="0">
                          <a:pos x="T0" y="T1"/>
                        </a:cxn>
                        <a:cxn ang="0">
                          <a:pos x="T2" y="T3"/>
                        </a:cxn>
                        <a:cxn ang="0">
                          <a:pos x="T4" y="T5"/>
                        </a:cxn>
                        <a:cxn ang="0">
                          <a:pos x="T6" y="T7"/>
                        </a:cxn>
                        <a:cxn ang="0">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7045" name="Freeform 453"/>
                  <p:cNvSpPr/>
                  <p:nvPr/>
                </p:nvSpPr>
                <p:spPr bwMode="auto">
                  <a:xfrm>
                    <a:off x="504" y="1895"/>
                    <a:ext cx="108" cy="30"/>
                  </a:xfrm>
                  <a:custGeom>
                    <a:avLst/>
                    <a:gdLst>
                      <a:gd name="T0" fmla="*/ 538 w 538"/>
                      <a:gd name="T1" fmla="*/ 86 h 151"/>
                      <a:gd name="T2" fmla="*/ 538 w 538"/>
                      <a:gd name="T3" fmla="*/ 135 h 151"/>
                      <a:gd name="T4" fmla="*/ 287 w 538"/>
                      <a:gd name="T5" fmla="*/ 151 h 151"/>
                      <a:gd name="T6" fmla="*/ 0 w 538"/>
                      <a:gd name="T7" fmla="*/ 97 h 151"/>
                      <a:gd name="T8" fmla="*/ 0 w 538"/>
                      <a:gd name="T9" fmla="*/ 0 h 151"/>
                      <a:gd name="T10" fmla="*/ 538 w 538"/>
                      <a:gd name="T11" fmla="*/ 86 h 151"/>
                    </a:gdLst>
                    <a:ahLst/>
                    <a:cxnLst>
                      <a:cxn ang="0">
                        <a:pos x="T0" y="T1"/>
                      </a:cxn>
                      <a:cxn ang="0">
                        <a:pos x="T2" y="T3"/>
                      </a:cxn>
                      <a:cxn ang="0">
                        <a:pos x="T4" y="T5"/>
                      </a:cxn>
                      <a:cxn ang="0">
                        <a:pos x="T6" y="T7"/>
                      </a:cxn>
                      <a:cxn ang="0">
                        <a:pos x="T8" y="T9"/>
                      </a:cxn>
                      <a:cxn ang="0">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7046" name="Group 454"/>
                  <p:cNvGrpSpPr/>
                  <p:nvPr/>
                </p:nvGrpSpPr>
                <p:grpSpPr bwMode="auto">
                  <a:xfrm>
                    <a:off x="446" y="1767"/>
                    <a:ext cx="239" cy="151"/>
                    <a:chOff x="446" y="1767"/>
                    <a:chExt cx="239" cy="151"/>
                  </a:xfrm>
                </p:grpSpPr>
                <p:sp>
                  <p:nvSpPr>
                    <p:cNvPr id="367047" name="Freeform 455"/>
                    <p:cNvSpPr/>
                    <p:nvPr/>
                  </p:nvSpPr>
                  <p:spPr bwMode="auto">
                    <a:xfrm>
                      <a:off x="446" y="1767"/>
                      <a:ext cx="137" cy="148"/>
                    </a:xfrm>
                    <a:custGeom>
                      <a:avLst/>
                      <a:gdLst>
                        <a:gd name="T0" fmla="*/ 589 w 686"/>
                        <a:gd name="T1" fmla="*/ 740 h 740"/>
                        <a:gd name="T2" fmla="*/ 686 w 686"/>
                        <a:gd name="T3" fmla="*/ 24 h 740"/>
                        <a:gd name="T4" fmla="*/ 95 w 686"/>
                        <a:gd name="T5" fmla="*/ 0 h 740"/>
                        <a:gd name="T6" fmla="*/ 0 w 686"/>
                        <a:gd name="T7" fmla="*/ 638 h 740"/>
                        <a:gd name="T8" fmla="*/ 589 w 686"/>
                        <a:gd name="T9" fmla="*/ 740 h 740"/>
                      </a:gdLst>
                      <a:ahLst/>
                      <a:cxnLst>
                        <a:cxn ang="0">
                          <a:pos x="T0" y="T1"/>
                        </a:cxn>
                        <a:cxn ang="0">
                          <a:pos x="T2" y="T3"/>
                        </a:cxn>
                        <a:cxn ang="0">
                          <a:pos x="T4" y="T5"/>
                        </a:cxn>
                        <a:cxn ang="0">
                          <a:pos x="T6" y="T7"/>
                        </a:cxn>
                        <a:cxn ang="0">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48" name="Freeform 456"/>
                    <p:cNvSpPr/>
                    <p:nvPr/>
                  </p:nvSpPr>
                  <p:spPr bwMode="auto">
                    <a:xfrm>
                      <a:off x="564" y="1771"/>
                      <a:ext cx="121" cy="147"/>
                    </a:xfrm>
                    <a:custGeom>
                      <a:avLst/>
                      <a:gdLst>
                        <a:gd name="T0" fmla="*/ 97 w 608"/>
                        <a:gd name="T1" fmla="*/ 0 h 735"/>
                        <a:gd name="T2" fmla="*/ 608 w 608"/>
                        <a:gd name="T3" fmla="*/ 163 h 735"/>
                        <a:gd name="T4" fmla="*/ 536 w 608"/>
                        <a:gd name="T5" fmla="*/ 735 h 735"/>
                        <a:gd name="T6" fmla="*/ 0 w 608"/>
                        <a:gd name="T7" fmla="*/ 717 h 735"/>
                        <a:gd name="T8" fmla="*/ 97 w 608"/>
                        <a:gd name="T9" fmla="*/ 0 h 735"/>
                      </a:gdLst>
                      <a:ahLst/>
                      <a:cxnLst>
                        <a:cxn ang="0">
                          <a:pos x="T0" y="T1"/>
                        </a:cxn>
                        <a:cxn ang="0">
                          <a:pos x="T2" y="T3"/>
                        </a:cxn>
                        <a:cxn ang="0">
                          <a:pos x="T4" y="T5"/>
                        </a:cxn>
                        <a:cxn ang="0">
                          <a:pos x="T6" y="T7"/>
                        </a:cxn>
                        <a:cxn ang="0">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49" name="Freeform 457"/>
                    <p:cNvSpPr/>
                    <p:nvPr/>
                  </p:nvSpPr>
                  <p:spPr bwMode="auto">
                    <a:xfrm>
                      <a:off x="462" y="1781"/>
                      <a:ext cx="98" cy="112"/>
                    </a:xfrm>
                    <a:custGeom>
                      <a:avLst/>
                      <a:gdLst>
                        <a:gd name="T0" fmla="*/ 493 w 493"/>
                        <a:gd name="T1" fmla="*/ 25 h 557"/>
                        <a:gd name="T2" fmla="*/ 423 w 493"/>
                        <a:gd name="T3" fmla="*/ 557 h 557"/>
                        <a:gd name="T4" fmla="*/ 0 w 493"/>
                        <a:gd name="T5" fmla="*/ 494 h 557"/>
                        <a:gd name="T6" fmla="*/ 73 w 493"/>
                        <a:gd name="T7" fmla="*/ 0 h 557"/>
                        <a:gd name="T8" fmla="*/ 493 w 493"/>
                        <a:gd name="T9" fmla="*/ 25 h 557"/>
                      </a:gdLst>
                      <a:ahLst/>
                      <a:cxnLst>
                        <a:cxn ang="0">
                          <a:pos x="T0" y="T1"/>
                        </a:cxn>
                        <a:cxn ang="0">
                          <a:pos x="T2" y="T3"/>
                        </a:cxn>
                        <a:cxn ang="0">
                          <a:pos x="T4" y="T5"/>
                        </a:cxn>
                        <a:cxn ang="0">
                          <a:pos x="T6" y="T7"/>
                        </a:cxn>
                        <a:cxn ang="0">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grpSp>
              <p:nvGrpSpPr>
                <p:cNvPr id="367050" name="Group 458"/>
                <p:cNvGrpSpPr/>
                <p:nvPr/>
              </p:nvGrpSpPr>
              <p:grpSpPr bwMode="auto">
                <a:xfrm>
                  <a:off x="424" y="1915"/>
                  <a:ext cx="97" cy="69"/>
                  <a:chOff x="424" y="1915"/>
                  <a:chExt cx="97" cy="69"/>
                </a:xfrm>
              </p:grpSpPr>
              <p:sp>
                <p:nvSpPr>
                  <p:cNvPr id="367051" name="Freeform 459"/>
                  <p:cNvSpPr/>
                  <p:nvPr/>
                </p:nvSpPr>
                <p:spPr bwMode="auto">
                  <a:xfrm>
                    <a:off x="424" y="1915"/>
                    <a:ext cx="97" cy="69"/>
                  </a:xfrm>
                  <a:custGeom>
                    <a:avLst/>
                    <a:gdLst>
                      <a:gd name="T0" fmla="*/ 0 w 483"/>
                      <a:gd name="T1" fmla="*/ 0 h 346"/>
                      <a:gd name="T2" fmla="*/ 483 w 483"/>
                      <a:gd name="T3" fmla="*/ 104 h 346"/>
                      <a:gd name="T4" fmla="*/ 483 w 483"/>
                      <a:gd name="T5" fmla="*/ 346 h 346"/>
                      <a:gd name="T6" fmla="*/ 0 w 483"/>
                      <a:gd name="T7" fmla="*/ 195 h 346"/>
                      <a:gd name="T8" fmla="*/ 0 w 483"/>
                      <a:gd name="T9" fmla="*/ 0 h 346"/>
                    </a:gdLst>
                    <a:ahLst/>
                    <a:cxnLst>
                      <a:cxn ang="0">
                        <a:pos x="T0" y="T1"/>
                      </a:cxn>
                      <a:cxn ang="0">
                        <a:pos x="T2" y="T3"/>
                      </a:cxn>
                      <a:cxn ang="0">
                        <a:pos x="T4" y="T5"/>
                      </a:cxn>
                      <a:cxn ang="0">
                        <a:pos x="T6" y="T7"/>
                      </a:cxn>
                      <a:cxn ang="0">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52" name="Line 460"/>
                  <p:cNvSpPr>
                    <a:spLocks noChangeShapeType="1"/>
                  </p:cNvSpPr>
                  <p:nvPr/>
                </p:nvSpPr>
                <p:spPr bwMode="auto">
                  <a:xfrm flipH="1" flipV="1">
                    <a:off x="433" y="1933"/>
                    <a:ext cx="26" cy="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53" name="Line 461"/>
                  <p:cNvSpPr>
                    <a:spLocks noChangeShapeType="1"/>
                  </p:cNvSpPr>
                  <p:nvPr/>
                </p:nvSpPr>
                <p:spPr bwMode="auto">
                  <a:xfrm>
                    <a:off x="472" y="1941"/>
                    <a:ext cx="34" cy="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54" name="Line 462"/>
                  <p:cNvSpPr>
                    <a:spLocks noChangeShapeType="1"/>
                  </p:cNvSpPr>
                  <p:nvPr/>
                </p:nvSpPr>
                <p:spPr bwMode="auto">
                  <a:xfrm>
                    <a:off x="465" y="1924"/>
                    <a:ext cx="1" cy="4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55" name="Line 463"/>
                  <p:cNvSpPr>
                    <a:spLocks noChangeShapeType="1"/>
                  </p:cNvSpPr>
                  <p:nvPr/>
                </p:nvSpPr>
                <p:spPr bwMode="auto">
                  <a:xfrm>
                    <a:off x="511" y="1934"/>
                    <a:ext cx="1" cy="49"/>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56" name="Line 464"/>
                  <p:cNvSpPr>
                    <a:spLocks noChangeShapeType="1"/>
                  </p:cNvSpPr>
                  <p:nvPr/>
                </p:nvSpPr>
                <p:spPr bwMode="auto">
                  <a:xfrm>
                    <a:off x="425" y="1933"/>
                    <a:ext cx="88" cy="2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57" name="Line 465"/>
                  <p:cNvSpPr>
                    <a:spLocks noChangeShapeType="1"/>
                  </p:cNvSpPr>
                  <p:nvPr/>
                </p:nvSpPr>
                <p:spPr bwMode="auto">
                  <a:xfrm flipH="1" flipV="1">
                    <a:off x="424" y="1926"/>
                    <a:ext cx="89" cy="2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grpSp>
            <p:nvGrpSpPr>
              <p:cNvPr id="367058" name="Group 466"/>
              <p:cNvGrpSpPr/>
              <p:nvPr/>
            </p:nvGrpSpPr>
            <p:grpSpPr bwMode="auto">
              <a:xfrm>
                <a:off x="325" y="1917"/>
                <a:ext cx="231" cy="118"/>
                <a:chOff x="325" y="1917"/>
                <a:chExt cx="231" cy="118"/>
              </a:xfrm>
            </p:grpSpPr>
            <p:grpSp>
              <p:nvGrpSpPr>
                <p:cNvPr id="367059" name="Group 467"/>
                <p:cNvGrpSpPr/>
                <p:nvPr/>
              </p:nvGrpSpPr>
              <p:grpSpPr bwMode="auto">
                <a:xfrm>
                  <a:off x="504" y="1981"/>
                  <a:ext cx="37" cy="28"/>
                  <a:chOff x="504" y="1981"/>
                  <a:chExt cx="37" cy="28"/>
                </a:xfrm>
              </p:grpSpPr>
              <p:sp>
                <p:nvSpPr>
                  <p:cNvPr id="367060" name="Freeform 468"/>
                  <p:cNvSpPr/>
                  <p:nvPr/>
                </p:nvSpPr>
                <p:spPr bwMode="auto">
                  <a:xfrm>
                    <a:off x="531" y="1981"/>
                    <a:ext cx="10" cy="28"/>
                  </a:xfrm>
                  <a:custGeom>
                    <a:avLst/>
                    <a:gdLst>
                      <a:gd name="T0" fmla="*/ 37 w 53"/>
                      <a:gd name="T1" fmla="*/ 0 h 140"/>
                      <a:gd name="T2" fmla="*/ 53 w 53"/>
                      <a:gd name="T3" fmla="*/ 131 h 140"/>
                      <a:gd name="T4" fmla="*/ 14 w 53"/>
                      <a:gd name="T5" fmla="*/ 140 h 140"/>
                      <a:gd name="T6" fmla="*/ 0 w 53"/>
                      <a:gd name="T7" fmla="*/ 6 h 140"/>
                      <a:gd name="T8" fmla="*/ 37 w 53"/>
                      <a:gd name="T9" fmla="*/ 0 h 140"/>
                    </a:gdLst>
                    <a:ahLst/>
                    <a:cxnLst>
                      <a:cxn ang="0">
                        <a:pos x="T0" y="T1"/>
                      </a:cxn>
                      <a:cxn ang="0">
                        <a:pos x="T2" y="T3"/>
                      </a:cxn>
                      <a:cxn ang="0">
                        <a:pos x="T4" y="T5"/>
                      </a:cxn>
                      <a:cxn ang="0">
                        <a:pos x="T6" y="T7"/>
                      </a:cxn>
                      <a:cxn ang="0">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1" name="Freeform 469"/>
                  <p:cNvSpPr/>
                  <p:nvPr/>
                </p:nvSpPr>
                <p:spPr bwMode="auto">
                  <a:xfrm>
                    <a:off x="504" y="1985"/>
                    <a:ext cx="29" cy="24"/>
                  </a:xfrm>
                  <a:custGeom>
                    <a:avLst/>
                    <a:gdLst>
                      <a:gd name="T0" fmla="*/ 136 w 148"/>
                      <a:gd name="T1" fmla="*/ 5 h 122"/>
                      <a:gd name="T2" fmla="*/ 148 w 148"/>
                      <a:gd name="T3" fmla="*/ 122 h 122"/>
                      <a:gd name="T4" fmla="*/ 0 w 148"/>
                      <a:gd name="T5" fmla="*/ 61 h 122"/>
                      <a:gd name="T6" fmla="*/ 58 w 148"/>
                      <a:gd name="T7" fmla="*/ 43 h 122"/>
                      <a:gd name="T8" fmla="*/ 111 w 148"/>
                      <a:gd name="T9" fmla="*/ 70 h 122"/>
                      <a:gd name="T10" fmla="*/ 94 w 148"/>
                      <a:gd name="T11" fmla="*/ 0 h 122"/>
                      <a:gd name="T12" fmla="*/ 136 w 148"/>
                      <a:gd name="T13" fmla="*/ 5 h 122"/>
                    </a:gdLst>
                    <a:ahLst/>
                    <a:cxnLst>
                      <a:cxn ang="0">
                        <a:pos x="T0" y="T1"/>
                      </a:cxn>
                      <a:cxn ang="0">
                        <a:pos x="T2" y="T3"/>
                      </a:cxn>
                      <a:cxn ang="0">
                        <a:pos x="T4" y="T5"/>
                      </a:cxn>
                      <a:cxn ang="0">
                        <a:pos x="T6" y="T7"/>
                      </a:cxn>
                      <a:cxn ang="0">
                        <a:pos x="T8" y="T9"/>
                      </a:cxn>
                      <a:cxn ang="0">
                        <a:pos x="T10" y="T11"/>
                      </a:cxn>
                      <a:cxn ang="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7062" name="Group 470"/>
                <p:cNvGrpSpPr/>
                <p:nvPr/>
              </p:nvGrpSpPr>
              <p:grpSpPr bwMode="auto">
                <a:xfrm>
                  <a:off x="325" y="1917"/>
                  <a:ext cx="231" cy="118"/>
                  <a:chOff x="325" y="1917"/>
                  <a:chExt cx="231" cy="118"/>
                </a:xfrm>
              </p:grpSpPr>
              <p:sp>
                <p:nvSpPr>
                  <p:cNvPr id="367063" name="Freeform 471"/>
                  <p:cNvSpPr/>
                  <p:nvPr/>
                </p:nvSpPr>
                <p:spPr bwMode="auto">
                  <a:xfrm>
                    <a:off x="326" y="1917"/>
                    <a:ext cx="226" cy="105"/>
                  </a:xfrm>
                  <a:custGeom>
                    <a:avLst/>
                    <a:gdLst>
                      <a:gd name="T0" fmla="*/ 1132 w 1132"/>
                      <a:gd name="T1" fmla="*/ 223 h 525"/>
                      <a:gd name="T2" fmla="*/ 589 w 1132"/>
                      <a:gd name="T3" fmla="*/ 525 h 525"/>
                      <a:gd name="T4" fmla="*/ 0 w 1132"/>
                      <a:gd name="T5" fmla="*/ 230 h 525"/>
                      <a:gd name="T6" fmla="*/ 452 w 1132"/>
                      <a:gd name="T7" fmla="*/ 0 h 525"/>
                      <a:gd name="T8" fmla="*/ 1132 w 1132"/>
                      <a:gd name="T9" fmla="*/ 223 h 525"/>
                    </a:gdLst>
                    <a:ahLst/>
                    <a:cxnLst>
                      <a:cxn ang="0">
                        <a:pos x="T0" y="T1"/>
                      </a:cxn>
                      <a:cxn ang="0">
                        <a:pos x="T2" y="T3"/>
                      </a:cxn>
                      <a:cxn ang="0">
                        <a:pos x="T4" y="T5"/>
                      </a:cxn>
                      <a:cxn ang="0">
                        <a:pos x="T6" y="T7"/>
                      </a:cxn>
                      <a:cxn ang="0">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4" name="Freeform 472"/>
                  <p:cNvSpPr/>
                  <p:nvPr/>
                </p:nvSpPr>
                <p:spPr bwMode="auto">
                  <a:xfrm>
                    <a:off x="443" y="1961"/>
                    <a:ext cx="113" cy="74"/>
                  </a:xfrm>
                  <a:custGeom>
                    <a:avLst/>
                    <a:gdLst>
                      <a:gd name="T0" fmla="*/ 547 w 566"/>
                      <a:gd name="T1" fmla="*/ 0 h 371"/>
                      <a:gd name="T2" fmla="*/ 0 w 566"/>
                      <a:gd name="T3" fmla="*/ 307 h 371"/>
                      <a:gd name="T4" fmla="*/ 16 w 566"/>
                      <a:gd name="T5" fmla="*/ 371 h 371"/>
                      <a:gd name="T6" fmla="*/ 566 w 566"/>
                      <a:gd name="T7" fmla="*/ 60 h 371"/>
                      <a:gd name="T8" fmla="*/ 547 w 566"/>
                      <a:gd name="T9" fmla="*/ 0 h 371"/>
                    </a:gdLst>
                    <a:ahLst/>
                    <a:cxnLst>
                      <a:cxn ang="0">
                        <a:pos x="T0" y="T1"/>
                      </a:cxn>
                      <a:cxn ang="0">
                        <a:pos x="T2" y="T3"/>
                      </a:cxn>
                      <a:cxn ang="0">
                        <a:pos x="T4" y="T5"/>
                      </a:cxn>
                      <a:cxn ang="0">
                        <a:pos x="T6" y="T7"/>
                      </a:cxn>
                      <a:cxn ang="0">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5" name="Freeform 473"/>
                  <p:cNvSpPr/>
                  <p:nvPr/>
                </p:nvSpPr>
                <p:spPr bwMode="auto">
                  <a:xfrm>
                    <a:off x="325" y="1963"/>
                    <a:ext cx="121" cy="72"/>
                  </a:xfrm>
                  <a:custGeom>
                    <a:avLst/>
                    <a:gdLst>
                      <a:gd name="T0" fmla="*/ 605 w 605"/>
                      <a:gd name="T1" fmla="*/ 363 h 363"/>
                      <a:gd name="T2" fmla="*/ 587 w 605"/>
                      <a:gd name="T3" fmla="*/ 295 h 363"/>
                      <a:gd name="T4" fmla="*/ 0 w 605"/>
                      <a:gd name="T5" fmla="*/ 0 h 363"/>
                      <a:gd name="T6" fmla="*/ 21 w 605"/>
                      <a:gd name="T7" fmla="*/ 53 h 363"/>
                      <a:gd name="T8" fmla="*/ 605 w 605"/>
                      <a:gd name="T9" fmla="*/ 363 h 363"/>
                    </a:gdLst>
                    <a:ahLst/>
                    <a:cxnLst>
                      <a:cxn ang="0">
                        <a:pos x="T0" y="T1"/>
                      </a:cxn>
                      <a:cxn ang="0">
                        <a:pos x="T2" y="T3"/>
                      </a:cxn>
                      <a:cxn ang="0">
                        <a:pos x="T4" y="T5"/>
                      </a:cxn>
                      <a:cxn ang="0">
                        <a:pos x="T6" y="T7"/>
                      </a:cxn>
                      <a:cxn ang="0">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6" name="Freeform 474"/>
                  <p:cNvSpPr/>
                  <p:nvPr/>
                </p:nvSpPr>
                <p:spPr bwMode="auto">
                  <a:xfrm>
                    <a:off x="417" y="1966"/>
                    <a:ext cx="90" cy="46"/>
                  </a:xfrm>
                  <a:custGeom>
                    <a:avLst/>
                    <a:gdLst>
                      <a:gd name="T0" fmla="*/ 454 w 454"/>
                      <a:gd name="T1" fmla="*/ 59 h 230"/>
                      <a:gd name="T2" fmla="*/ 297 w 454"/>
                      <a:gd name="T3" fmla="*/ 0 h 230"/>
                      <a:gd name="T4" fmla="*/ 0 w 454"/>
                      <a:gd name="T5" fmla="*/ 161 h 230"/>
                      <a:gd name="T6" fmla="*/ 151 w 454"/>
                      <a:gd name="T7" fmla="*/ 230 h 230"/>
                      <a:gd name="T8" fmla="*/ 454 w 454"/>
                      <a:gd name="T9" fmla="*/ 59 h 230"/>
                    </a:gdLst>
                    <a:ahLst/>
                    <a:cxnLst>
                      <a:cxn ang="0">
                        <a:pos x="T0" y="T1"/>
                      </a:cxn>
                      <a:cxn ang="0">
                        <a:pos x="T2" y="T3"/>
                      </a:cxn>
                      <a:cxn ang="0">
                        <a:pos x="T4" y="T5"/>
                      </a:cxn>
                      <a:cxn ang="0">
                        <a:pos x="T6" y="T7"/>
                      </a:cxn>
                      <a:cxn ang="0">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7" name="Freeform 475"/>
                  <p:cNvSpPr/>
                  <p:nvPr/>
                </p:nvSpPr>
                <p:spPr bwMode="auto">
                  <a:xfrm>
                    <a:off x="336" y="1934"/>
                    <a:ext cx="134" cy="61"/>
                  </a:xfrm>
                  <a:custGeom>
                    <a:avLst/>
                    <a:gdLst>
                      <a:gd name="T0" fmla="*/ 669 w 669"/>
                      <a:gd name="T1" fmla="*/ 150 h 309"/>
                      <a:gd name="T2" fmla="*/ 377 w 669"/>
                      <a:gd name="T3" fmla="*/ 309 h 309"/>
                      <a:gd name="T4" fmla="*/ 0 w 669"/>
                      <a:gd name="T5" fmla="*/ 132 h 309"/>
                      <a:gd name="T6" fmla="*/ 273 w 669"/>
                      <a:gd name="T7" fmla="*/ 0 h 309"/>
                      <a:gd name="T8" fmla="*/ 669 w 669"/>
                      <a:gd name="T9" fmla="*/ 150 h 309"/>
                    </a:gdLst>
                    <a:ahLst/>
                    <a:cxnLst>
                      <a:cxn ang="0">
                        <a:pos x="T0" y="T1"/>
                      </a:cxn>
                      <a:cxn ang="0">
                        <a:pos x="T2" y="T3"/>
                      </a:cxn>
                      <a:cxn ang="0">
                        <a:pos x="T4" y="T5"/>
                      </a:cxn>
                      <a:cxn ang="0">
                        <a:pos x="T6" y="T7"/>
                      </a:cxn>
                      <a:cxn ang="0">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8" name="Freeform 476"/>
                  <p:cNvSpPr/>
                  <p:nvPr/>
                </p:nvSpPr>
                <p:spPr bwMode="auto">
                  <a:xfrm>
                    <a:off x="393" y="1920"/>
                    <a:ext cx="148" cy="57"/>
                  </a:xfrm>
                  <a:custGeom>
                    <a:avLst/>
                    <a:gdLst>
                      <a:gd name="T0" fmla="*/ 584 w 738"/>
                      <a:gd name="T1" fmla="*/ 283 h 283"/>
                      <a:gd name="T2" fmla="*/ 738 w 738"/>
                      <a:gd name="T3" fmla="*/ 205 h 283"/>
                      <a:gd name="T4" fmla="*/ 118 w 738"/>
                      <a:gd name="T5" fmla="*/ 0 h 283"/>
                      <a:gd name="T6" fmla="*/ 0 w 738"/>
                      <a:gd name="T7" fmla="*/ 60 h 283"/>
                      <a:gd name="T8" fmla="*/ 584 w 738"/>
                      <a:gd name="T9" fmla="*/ 283 h 283"/>
                    </a:gdLst>
                    <a:ahLst/>
                    <a:cxnLst>
                      <a:cxn ang="0">
                        <a:pos x="T0" y="T1"/>
                      </a:cxn>
                      <a:cxn ang="0">
                        <a:pos x="T2" y="T3"/>
                      </a:cxn>
                      <a:cxn ang="0">
                        <a:pos x="T4" y="T5"/>
                      </a:cxn>
                      <a:cxn ang="0">
                        <a:pos x="T6" y="T7"/>
                      </a:cxn>
                      <a:cxn ang="0">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69" name="Line 477"/>
                  <p:cNvSpPr>
                    <a:spLocks noChangeShapeType="1"/>
                  </p:cNvSpPr>
                  <p:nvPr/>
                </p:nvSpPr>
                <p:spPr bwMode="auto">
                  <a:xfrm flipH="1" flipV="1">
                    <a:off x="411" y="1923"/>
                    <a:ext cx="128" cy="4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0" name="Line 478"/>
                  <p:cNvSpPr>
                    <a:spLocks noChangeShapeType="1"/>
                  </p:cNvSpPr>
                  <p:nvPr/>
                </p:nvSpPr>
                <p:spPr bwMode="auto">
                  <a:xfrm flipH="1" flipV="1">
                    <a:off x="404" y="1925"/>
                    <a:ext cx="124" cy="45"/>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1" name="Line 479"/>
                  <p:cNvSpPr>
                    <a:spLocks noChangeShapeType="1"/>
                  </p:cNvSpPr>
                  <p:nvPr/>
                </p:nvSpPr>
                <p:spPr bwMode="auto">
                  <a:xfrm flipH="1" flipV="1">
                    <a:off x="399" y="1930"/>
                    <a:ext cx="121" cy="46"/>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2" name="Line 480"/>
                  <p:cNvSpPr>
                    <a:spLocks noChangeShapeType="1"/>
                  </p:cNvSpPr>
                  <p:nvPr/>
                </p:nvSpPr>
                <p:spPr bwMode="auto">
                  <a:xfrm flipH="1" flipV="1">
                    <a:off x="384" y="1937"/>
                    <a:ext cx="119"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3" name="Line 481"/>
                  <p:cNvSpPr>
                    <a:spLocks noChangeShapeType="1"/>
                  </p:cNvSpPr>
                  <p:nvPr/>
                </p:nvSpPr>
                <p:spPr bwMode="auto">
                  <a:xfrm flipH="1" flipV="1">
                    <a:off x="375" y="1942"/>
                    <a:ext cx="118"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4" name="Line 482"/>
                  <p:cNvSpPr>
                    <a:spLocks noChangeShapeType="1"/>
                  </p:cNvSpPr>
                  <p:nvPr/>
                </p:nvSpPr>
                <p:spPr bwMode="auto">
                  <a:xfrm flipH="1" flipV="1">
                    <a:off x="365" y="1946"/>
                    <a:ext cx="119"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5" name="Line 483"/>
                  <p:cNvSpPr>
                    <a:spLocks noChangeShapeType="1"/>
                  </p:cNvSpPr>
                  <p:nvPr/>
                </p:nvSpPr>
                <p:spPr bwMode="auto">
                  <a:xfrm flipH="1" flipV="1">
                    <a:off x="358" y="1951"/>
                    <a:ext cx="114" cy="50"/>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6" name="Line 484"/>
                  <p:cNvSpPr>
                    <a:spLocks noChangeShapeType="1"/>
                  </p:cNvSpPr>
                  <p:nvPr/>
                </p:nvSpPr>
                <p:spPr bwMode="auto">
                  <a:xfrm flipH="1" flipV="1">
                    <a:off x="347" y="1956"/>
                    <a:ext cx="114"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7" name="Line 485"/>
                  <p:cNvSpPr>
                    <a:spLocks noChangeShapeType="1"/>
                  </p:cNvSpPr>
                  <p:nvPr/>
                </p:nvSpPr>
                <p:spPr bwMode="auto">
                  <a:xfrm flipH="1">
                    <a:off x="437" y="1974"/>
                    <a:ext cx="61" cy="3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8" name="Line 486"/>
                  <p:cNvSpPr>
                    <a:spLocks noChangeShapeType="1"/>
                  </p:cNvSpPr>
                  <p:nvPr/>
                </p:nvSpPr>
                <p:spPr bwMode="auto">
                  <a:xfrm flipH="1">
                    <a:off x="426" y="1970"/>
                    <a:ext cx="58" cy="32"/>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79" name="Line 487"/>
                  <p:cNvSpPr>
                    <a:spLocks noChangeShapeType="1"/>
                  </p:cNvSpPr>
                  <p:nvPr/>
                </p:nvSpPr>
                <p:spPr bwMode="auto">
                  <a:xfrm flipH="1">
                    <a:off x="401" y="1959"/>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0" name="Line 488"/>
                  <p:cNvSpPr>
                    <a:spLocks noChangeShapeType="1"/>
                  </p:cNvSpPr>
                  <p:nvPr/>
                </p:nvSpPr>
                <p:spPr bwMode="auto">
                  <a:xfrm flipH="1">
                    <a:off x="387" y="1954"/>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1" name="Line 489"/>
                  <p:cNvSpPr>
                    <a:spLocks noChangeShapeType="1"/>
                  </p:cNvSpPr>
                  <p:nvPr/>
                </p:nvSpPr>
                <p:spPr bwMode="auto">
                  <a:xfrm flipH="1">
                    <a:off x="375" y="1949"/>
                    <a:ext cx="56"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2" name="Line 490"/>
                  <p:cNvSpPr>
                    <a:spLocks noChangeShapeType="1"/>
                  </p:cNvSpPr>
                  <p:nvPr/>
                </p:nvSpPr>
                <p:spPr bwMode="auto">
                  <a:xfrm flipH="1">
                    <a:off x="364" y="1944"/>
                    <a:ext cx="53"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3" name="Line 491"/>
                  <p:cNvSpPr>
                    <a:spLocks noChangeShapeType="1"/>
                  </p:cNvSpPr>
                  <p:nvPr/>
                </p:nvSpPr>
                <p:spPr bwMode="auto">
                  <a:xfrm flipH="1">
                    <a:off x="352" y="1939"/>
                    <a:ext cx="55"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4" name="Line 492"/>
                  <p:cNvSpPr>
                    <a:spLocks noChangeShapeType="1"/>
                  </p:cNvSpPr>
                  <p:nvPr/>
                </p:nvSpPr>
                <p:spPr bwMode="auto">
                  <a:xfrm flipH="1">
                    <a:off x="494" y="1955"/>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5" name="Line 493"/>
                  <p:cNvSpPr>
                    <a:spLocks noChangeShapeType="1"/>
                  </p:cNvSpPr>
                  <p:nvPr/>
                </p:nvSpPr>
                <p:spPr bwMode="auto">
                  <a:xfrm flipH="1">
                    <a:off x="477" y="1949"/>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6" name="Line 494"/>
                  <p:cNvSpPr>
                    <a:spLocks noChangeShapeType="1"/>
                  </p:cNvSpPr>
                  <p:nvPr/>
                </p:nvSpPr>
                <p:spPr bwMode="auto">
                  <a:xfrm flipH="1">
                    <a:off x="460" y="1943"/>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7" name="Line 495"/>
                  <p:cNvSpPr>
                    <a:spLocks noChangeShapeType="1"/>
                  </p:cNvSpPr>
                  <p:nvPr/>
                </p:nvSpPr>
                <p:spPr bwMode="auto">
                  <a:xfrm flipH="1">
                    <a:off x="443" y="1937"/>
                    <a:ext cx="27"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8" name="Line 496"/>
                  <p:cNvSpPr>
                    <a:spLocks noChangeShapeType="1"/>
                  </p:cNvSpPr>
                  <p:nvPr/>
                </p:nvSpPr>
                <p:spPr bwMode="auto">
                  <a:xfrm flipH="1">
                    <a:off x="427" y="1931"/>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89" name="Line 497"/>
                  <p:cNvSpPr>
                    <a:spLocks noChangeShapeType="1"/>
                  </p:cNvSpPr>
                  <p:nvPr/>
                </p:nvSpPr>
                <p:spPr bwMode="auto">
                  <a:xfrm flipH="1">
                    <a:off x="408" y="1925"/>
                    <a:ext cx="24"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grpSp>
      </p:grpSp>
      <p:sp>
        <p:nvSpPr>
          <p:cNvPr id="366594" name="Rectangle 2"/>
          <p:cNvSpPr>
            <a:spLocks noGrp="1" noChangeArrowheads="1"/>
          </p:cNvSpPr>
          <p:nvPr>
            <p:ph type="title"/>
          </p:nvPr>
        </p:nvSpPr>
        <p:spPr/>
        <p:txBody>
          <a:bodyPr/>
          <a:lstStyle/>
          <a:p>
            <a:r>
              <a:rPr lang="zh-CN" altLang="en-US" dirty="0"/>
              <a:t>电子邮件的主要组成 </a:t>
            </a:r>
            <a:endParaRPr lang="zh-CN" altLang="en-US" dirty="0"/>
          </a:p>
        </p:txBody>
      </p:sp>
      <p:sp>
        <p:nvSpPr>
          <p:cNvPr id="366596" name="Line 4"/>
          <p:cNvSpPr>
            <a:spLocks noChangeShapeType="1"/>
          </p:cNvSpPr>
          <p:nvPr/>
        </p:nvSpPr>
        <p:spPr bwMode="auto">
          <a:xfrm flipH="1" flipV="1">
            <a:off x="2622550" y="4886325"/>
            <a:ext cx="762000" cy="7620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597" name="Freeform 5"/>
          <p:cNvSpPr/>
          <p:nvPr/>
        </p:nvSpPr>
        <p:spPr bwMode="auto">
          <a:xfrm>
            <a:off x="9004300" y="4821239"/>
            <a:ext cx="762000" cy="142875"/>
          </a:xfrm>
          <a:custGeom>
            <a:avLst/>
            <a:gdLst>
              <a:gd name="T0" fmla="*/ 480 w 480"/>
              <a:gd name="T1" fmla="*/ 0 h 90"/>
              <a:gd name="T2" fmla="*/ 0 w 480"/>
              <a:gd name="T3" fmla="*/ 90 h 90"/>
            </a:gdLst>
            <a:ahLst/>
            <a:cxnLst>
              <a:cxn ang="0">
                <a:pos x="T0" y="T1"/>
              </a:cxn>
              <a:cxn ang="0">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598" name="Line 6"/>
          <p:cNvSpPr>
            <a:spLocks noChangeShapeType="1"/>
          </p:cNvSpPr>
          <p:nvPr/>
        </p:nvSpPr>
        <p:spPr bwMode="auto">
          <a:xfrm flipH="1" flipV="1">
            <a:off x="7404100" y="5038725"/>
            <a:ext cx="781050" cy="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599" name="Line 7"/>
          <p:cNvSpPr>
            <a:spLocks noChangeShapeType="1"/>
          </p:cNvSpPr>
          <p:nvPr/>
        </p:nvSpPr>
        <p:spPr bwMode="auto">
          <a:xfrm flipH="1" flipV="1">
            <a:off x="4375150" y="5026025"/>
            <a:ext cx="781050" cy="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00" name="Text Box 8"/>
          <p:cNvSpPr txBox="1">
            <a:spLocks noChangeArrowheads="1"/>
          </p:cNvSpPr>
          <p:nvPr/>
        </p:nvSpPr>
        <p:spPr bwMode="auto">
          <a:xfrm>
            <a:off x="1774825" y="5734051"/>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发送方</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601" name="Text Box 9"/>
          <p:cNvSpPr txBox="1">
            <a:spLocks noChangeArrowheads="1"/>
          </p:cNvSpPr>
          <p:nvPr/>
        </p:nvSpPr>
        <p:spPr bwMode="auto">
          <a:xfrm>
            <a:off x="2927350" y="602138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邮件缓存</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602" name="Text Box 10"/>
          <p:cNvSpPr txBox="1">
            <a:spLocks noChangeArrowheads="1"/>
          </p:cNvSpPr>
          <p:nvPr/>
        </p:nvSpPr>
        <p:spPr bwMode="auto">
          <a:xfrm>
            <a:off x="7042150" y="59563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solidFill>
                  <a:srgbClr val="333399"/>
                </a:solidFill>
                <a:latin typeface="微软雅黑 Light" panose="020B0502040204020203" pitchFamily="34" charset="-122"/>
                <a:ea typeface="微软雅黑 Light" panose="020B0502040204020203" pitchFamily="34" charset="-122"/>
              </a:rPr>
              <a:t>   </a:t>
            </a:r>
            <a:r>
              <a:rPr kumimoji="1" lang="zh-CN" altLang="en-US" sz="1800">
                <a:solidFill>
                  <a:srgbClr val="333399"/>
                </a:solidFill>
                <a:latin typeface="微软雅黑 Light" panose="020B0502040204020203" pitchFamily="34" charset="-122"/>
                <a:ea typeface="微软雅黑 Light" panose="020B0502040204020203" pitchFamily="34" charset="-122"/>
              </a:rPr>
              <a:t>接收端</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a:p>
            <a:r>
              <a:rPr kumimoji="1" lang="zh-CN" altLang="en-US" sz="1800">
                <a:solidFill>
                  <a:srgbClr val="333399"/>
                </a:solidFill>
                <a:latin typeface="微软雅黑 Light" panose="020B0502040204020203" pitchFamily="34" charset="-122"/>
                <a:ea typeface="微软雅黑 Light" panose="020B0502040204020203" pitchFamily="34" charset="-122"/>
              </a:rPr>
              <a:t>邮件服务器</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603" name="Oval 11"/>
          <p:cNvSpPr>
            <a:spLocks noChangeArrowheads="1"/>
          </p:cNvSpPr>
          <p:nvPr/>
        </p:nvSpPr>
        <p:spPr bwMode="auto">
          <a:xfrm>
            <a:off x="7880350" y="4351339"/>
            <a:ext cx="1296988" cy="1296987"/>
          </a:xfrm>
          <a:prstGeom prst="ellipse">
            <a:avLst/>
          </a:prstGeom>
          <a:solidFill>
            <a:srgbClr val="66FF66"/>
          </a:solidFill>
          <a:ln w="19050">
            <a:solidFill>
              <a:schemeClr val="folHlink"/>
            </a:solidFill>
            <a:round/>
          </a:ln>
          <a:effectLst>
            <a:outerShdw dist="35921" dir="2700000" algn="ctr" rotWithShape="0">
              <a:schemeClr val="bg2"/>
            </a:outerShdw>
          </a:effec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grpSp>
        <p:nvGrpSpPr>
          <p:cNvPr id="366604" name="Group 12"/>
          <p:cNvGrpSpPr/>
          <p:nvPr/>
        </p:nvGrpSpPr>
        <p:grpSpPr bwMode="auto">
          <a:xfrm>
            <a:off x="8262938" y="4460875"/>
            <a:ext cx="457200" cy="457200"/>
            <a:chOff x="2351" y="2975"/>
            <a:chExt cx="481" cy="433"/>
          </a:xfrm>
        </p:grpSpPr>
        <p:sp>
          <p:nvSpPr>
            <p:cNvPr id="366605" name="Rectangle 13"/>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ln>
            <a:effectLst>
              <a:outerShdw dist="35921" dir="2700000" algn="ctr" rotWithShape="0">
                <a:schemeClr val="bg2"/>
              </a:outerShdw>
            </a:effec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06" name="Line 14"/>
            <p:cNvSpPr>
              <a:spLocks noChangeShapeType="1"/>
            </p:cNvSpPr>
            <p:nvPr/>
          </p:nvSpPr>
          <p:spPr bwMode="auto">
            <a:xfrm rot="-10800000">
              <a:off x="2351" y="3321"/>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07" name="Line 15"/>
            <p:cNvSpPr>
              <a:spLocks noChangeShapeType="1"/>
            </p:cNvSpPr>
            <p:nvPr/>
          </p:nvSpPr>
          <p:spPr bwMode="auto">
            <a:xfrm rot="-10800000">
              <a:off x="2351" y="3234"/>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08" name="Line 16"/>
            <p:cNvSpPr>
              <a:spLocks noChangeShapeType="1"/>
            </p:cNvSpPr>
            <p:nvPr/>
          </p:nvSpPr>
          <p:spPr bwMode="auto">
            <a:xfrm rot="-10800000">
              <a:off x="2351" y="3148"/>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09" name="Line 17"/>
            <p:cNvSpPr>
              <a:spLocks noChangeShapeType="1"/>
            </p:cNvSpPr>
            <p:nvPr/>
          </p:nvSpPr>
          <p:spPr bwMode="auto">
            <a:xfrm rot="-10800000">
              <a:off x="2351" y="3061"/>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10" name="Line 18"/>
            <p:cNvSpPr>
              <a:spLocks noChangeShapeType="1"/>
            </p:cNvSpPr>
            <p:nvPr/>
          </p:nvSpPr>
          <p:spPr bwMode="auto">
            <a:xfrm rot="-16200000">
              <a:off x="2519"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11" name="Line 19"/>
            <p:cNvSpPr>
              <a:spLocks noChangeShapeType="1"/>
            </p:cNvSpPr>
            <p:nvPr/>
          </p:nvSpPr>
          <p:spPr bwMode="auto">
            <a:xfrm rot="-16200000">
              <a:off x="2423"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12" name="Line 20"/>
            <p:cNvSpPr>
              <a:spLocks noChangeShapeType="1"/>
            </p:cNvSpPr>
            <p:nvPr/>
          </p:nvSpPr>
          <p:spPr bwMode="auto">
            <a:xfrm rot="-16200000">
              <a:off x="2327"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13" name="Line 21"/>
            <p:cNvSpPr>
              <a:spLocks noChangeShapeType="1"/>
            </p:cNvSpPr>
            <p:nvPr/>
          </p:nvSpPr>
          <p:spPr bwMode="auto">
            <a:xfrm rot="-16200000">
              <a:off x="2231"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614" name="Group 22"/>
          <p:cNvGrpSpPr/>
          <p:nvPr/>
        </p:nvGrpSpPr>
        <p:grpSpPr bwMode="auto">
          <a:xfrm>
            <a:off x="8158163" y="5013325"/>
            <a:ext cx="730250" cy="457200"/>
            <a:chOff x="1296" y="768"/>
            <a:chExt cx="556" cy="336"/>
          </a:xfrm>
        </p:grpSpPr>
        <p:sp>
          <p:nvSpPr>
            <p:cNvPr id="366615" name="Rectangle 23"/>
            <p:cNvSpPr>
              <a:spLocks noChangeArrowheads="1"/>
            </p:cNvSpPr>
            <p:nvPr/>
          </p:nvSpPr>
          <p:spPr bwMode="auto">
            <a:xfrm>
              <a:off x="1296" y="768"/>
              <a:ext cx="556" cy="336"/>
            </a:xfrm>
            <a:prstGeom prst="rect">
              <a:avLst/>
            </a:prstGeom>
            <a:solidFill>
              <a:srgbClr val="FFFF99"/>
            </a:solidFill>
            <a:ln w="12700">
              <a:solidFill>
                <a:schemeClr val="tx1"/>
              </a:solidFill>
              <a:miter lim="800000"/>
            </a:ln>
            <a:effectLst>
              <a:outerShdw dist="35921" dir="2700000" algn="ctr" rotWithShape="0">
                <a:schemeClr val="bg2"/>
              </a:outerShdw>
            </a:effectLst>
          </p:spPr>
          <p:txBody>
            <a:bodyPr wrap="none" anchor="ctr"/>
            <a:lstStyle/>
            <a:p>
              <a:pPr algn="ctr"/>
              <a:endParaRPr kumimoji="1" lang="zh-CN" altLang="zh-CN" sz="1800">
                <a:solidFill>
                  <a:srgbClr val="333399"/>
                </a:solidFill>
                <a:latin typeface="微软雅黑 Light" panose="020B0502040204020203" pitchFamily="34" charset="-122"/>
                <a:ea typeface="微软雅黑 Light" panose="020B0502040204020203" pitchFamily="34" charset="-122"/>
              </a:endParaRPr>
            </a:p>
          </p:txBody>
        </p:sp>
        <p:grpSp>
          <p:nvGrpSpPr>
            <p:cNvPr id="366616" name="Group 24"/>
            <p:cNvGrpSpPr/>
            <p:nvPr/>
          </p:nvGrpSpPr>
          <p:grpSpPr bwMode="auto">
            <a:xfrm>
              <a:off x="1367" y="829"/>
              <a:ext cx="393" cy="214"/>
              <a:chOff x="2928" y="3744"/>
              <a:chExt cx="528" cy="336"/>
            </a:xfrm>
          </p:grpSpPr>
          <p:grpSp>
            <p:nvGrpSpPr>
              <p:cNvPr id="366617" name="Group 25"/>
              <p:cNvGrpSpPr/>
              <p:nvPr/>
            </p:nvGrpSpPr>
            <p:grpSpPr bwMode="auto">
              <a:xfrm>
                <a:off x="3024" y="3744"/>
                <a:ext cx="432" cy="240"/>
                <a:chOff x="2736" y="3648"/>
                <a:chExt cx="432" cy="240"/>
              </a:xfrm>
            </p:grpSpPr>
            <p:grpSp>
              <p:nvGrpSpPr>
                <p:cNvPr id="366618" name="Group 26"/>
                <p:cNvGrpSpPr/>
                <p:nvPr/>
              </p:nvGrpSpPr>
              <p:grpSpPr bwMode="auto">
                <a:xfrm>
                  <a:off x="2736" y="3648"/>
                  <a:ext cx="432" cy="240"/>
                  <a:chOff x="2592" y="3504"/>
                  <a:chExt cx="576" cy="384"/>
                </a:xfrm>
              </p:grpSpPr>
              <p:sp>
                <p:nvSpPr>
                  <p:cNvPr id="366619" name="Rectangle 27"/>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20" name="Freeform 28"/>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21" name="Line 29"/>
                  <p:cNvSpPr>
                    <a:spLocks noChangeShapeType="1"/>
                  </p:cNvSpPr>
                  <p:nvPr/>
                </p:nvSpPr>
                <p:spPr bwMode="auto">
                  <a:xfrm flipV="1">
                    <a:off x="2592"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22" name="Line 30"/>
                  <p:cNvSpPr>
                    <a:spLocks noChangeShapeType="1"/>
                  </p:cNvSpPr>
                  <p:nvPr/>
                </p:nvSpPr>
                <p:spPr bwMode="auto">
                  <a:xfrm flipH="1" flipV="1">
                    <a:off x="2936"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366623" name="Line 31"/>
                <p:cNvSpPr>
                  <a:spLocks noChangeShapeType="1"/>
                </p:cNvSpPr>
                <p:nvPr/>
              </p:nvSpPr>
              <p:spPr bwMode="auto">
                <a:xfrm>
                  <a:off x="2736" y="3648"/>
                  <a:ext cx="424"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624" name="Group 32"/>
              <p:cNvGrpSpPr/>
              <p:nvPr/>
            </p:nvGrpSpPr>
            <p:grpSpPr bwMode="auto">
              <a:xfrm>
                <a:off x="2976" y="3792"/>
                <a:ext cx="432" cy="240"/>
                <a:chOff x="2736" y="3648"/>
                <a:chExt cx="432" cy="240"/>
              </a:xfrm>
            </p:grpSpPr>
            <p:grpSp>
              <p:nvGrpSpPr>
                <p:cNvPr id="366625" name="Group 33"/>
                <p:cNvGrpSpPr/>
                <p:nvPr/>
              </p:nvGrpSpPr>
              <p:grpSpPr bwMode="auto">
                <a:xfrm>
                  <a:off x="2736" y="3648"/>
                  <a:ext cx="432" cy="240"/>
                  <a:chOff x="2592" y="3504"/>
                  <a:chExt cx="576" cy="384"/>
                </a:xfrm>
              </p:grpSpPr>
              <p:sp>
                <p:nvSpPr>
                  <p:cNvPr id="366626" name="Rectangle 34"/>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27" name="Freeform 35"/>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28" name="Line 36"/>
                  <p:cNvSpPr>
                    <a:spLocks noChangeShapeType="1"/>
                  </p:cNvSpPr>
                  <p:nvPr/>
                </p:nvSpPr>
                <p:spPr bwMode="auto">
                  <a:xfrm flipV="1">
                    <a:off x="2592"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29" name="Line 37"/>
                  <p:cNvSpPr>
                    <a:spLocks noChangeShapeType="1"/>
                  </p:cNvSpPr>
                  <p:nvPr/>
                </p:nvSpPr>
                <p:spPr bwMode="auto">
                  <a:xfrm flipH="1" flipV="1">
                    <a:off x="2936"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366630" name="Line 38"/>
                <p:cNvSpPr>
                  <a:spLocks noChangeShapeType="1"/>
                </p:cNvSpPr>
                <p:nvPr/>
              </p:nvSpPr>
              <p:spPr bwMode="auto">
                <a:xfrm>
                  <a:off x="2736" y="3648"/>
                  <a:ext cx="424"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631" name="Group 39"/>
              <p:cNvGrpSpPr/>
              <p:nvPr/>
            </p:nvGrpSpPr>
            <p:grpSpPr bwMode="auto">
              <a:xfrm>
                <a:off x="2928" y="3840"/>
                <a:ext cx="432" cy="240"/>
                <a:chOff x="2736" y="3648"/>
                <a:chExt cx="432" cy="240"/>
              </a:xfrm>
            </p:grpSpPr>
            <p:grpSp>
              <p:nvGrpSpPr>
                <p:cNvPr id="366632" name="Group 40"/>
                <p:cNvGrpSpPr/>
                <p:nvPr/>
              </p:nvGrpSpPr>
              <p:grpSpPr bwMode="auto">
                <a:xfrm>
                  <a:off x="2736" y="3648"/>
                  <a:ext cx="432" cy="240"/>
                  <a:chOff x="2592" y="3504"/>
                  <a:chExt cx="576" cy="384"/>
                </a:xfrm>
              </p:grpSpPr>
              <p:sp>
                <p:nvSpPr>
                  <p:cNvPr id="366633" name="Rectangle 41"/>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34" name="Freeform 42"/>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35" name="Line 43"/>
                  <p:cNvSpPr>
                    <a:spLocks noChangeShapeType="1"/>
                  </p:cNvSpPr>
                  <p:nvPr/>
                </p:nvSpPr>
                <p:spPr bwMode="auto">
                  <a:xfrm flipV="1">
                    <a:off x="2592"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636" name="Line 44"/>
                  <p:cNvSpPr>
                    <a:spLocks noChangeShapeType="1"/>
                  </p:cNvSpPr>
                  <p:nvPr/>
                </p:nvSpPr>
                <p:spPr bwMode="auto">
                  <a:xfrm flipH="1" flipV="1">
                    <a:off x="2936"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366637" name="Line 45"/>
                <p:cNvSpPr>
                  <a:spLocks noChangeShapeType="1"/>
                </p:cNvSpPr>
                <p:nvPr/>
              </p:nvSpPr>
              <p:spPr bwMode="auto">
                <a:xfrm>
                  <a:off x="2736" y="3648"/>
                  <a:ext cx="424"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grpSp>
      <p:grpSp>
        <p:nvGrpSpPr>
          <p:cNvPr id="366638" name="Group 46"/>
          <p:cNvGrpSpPr/>
          <p:nvPr/>
        </p:nvGrpSpPr>
        <p:grpSpPr bwMode="auto">
          <a:xfrm>
            <a:off x="1946275" y="4567238"/>
            <a:ext cx="884238" cy="1014412"/>
            <a:chOff x="246" y="1767"/>
            <a:chExt cx="557" cy="639"/>
          </a:xfrm>
        </p:grpSpPr>
        <p:grpSp>
          <p:nvGrpSpPr>
            <p:cNvPr id="366639" name="Group 47"/>
            <p:cNvGrpSpPr/>
            <p:nvPr/>
          </p:nvGrpSpPr>
          <p:grpSpPr bwMode="auto">
            <a:xfrm>
              <a:off x="246" y="1943"/>
              <a:ext cx="557" cy="463"/>
              <a:chOff x="246" y="1943"/>
              <a:chExt cx="557" cy="463"/>
            </a:xfrm>
          </p:grpSpPr>
          <p:sp>
            <p:nvSpPr>
              <p:cNvPr id="366640" name="Freeform 48"/>
              <p:cNvSpPr/>
              <p:nvPr/>
            </p:nvSpPr>
            <p:spPr bwMode="auto">
              <a:xfrm>
                <a:off x="373" y="2005"/>
                <a:ext cx="196" cy="295"/>
              </a:xfrm>
              <a:custGeom>
                <a:avLst/>
                <a:gdLst>
                  <a:gd name="T0" fmla="*/ 652 w 982"/>
                  <a:gd name="T1" fmla="*/ 26 h 1477"/>
                  <a:gd name="T2" fmla="*/ 982 w 982"/>
                  <a:gd name="T3" fmla="*/ 1347 h 1477"/>
                  <a:gd name="T4" fmla="*/ 0 w 982"/>
                  <a:gd name="T5" fmla="*/ 1477 h 1477"/>
                  <a:gd name="T6" fmla="*/ 252 w 982"/>
                  <a:gd name="T7" fmla="*/ 0 h 1477"/>
                </a:gdLst>
                <a:ahLst/>
                <a:cxnLst>
                  <a:cxn ang="0">
                    <a:pos x="T0" y="T1"/>
                  </a:cxn>
                  <a:cxn ang="0">
                    <a:pos x="T2" y="T3"/>
                  </a:cxn>
                  <a:cxn ang="0">
                    <a:pos x="T4" y="T5"/>
                  </a:cxn>
                  <a:cxn ang="0">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6641" name="Group 49"/>
              <p:cNvGrpSpPr/>
              <p:nvPr/>
            </p:nvGrpSpPr>
            <p:grpSpPr bwMode="auto">
              <a:xfrm>
                <a:off x="246" y="1943"/>
                <a:ext cx="551" cy="121"/>
                <a:chOff x="246" y="1943"/>
                <a:chExt cx="551" cy="121"/>
              </a:xfrm>
            </p:grpSpPr>
            <p:sp>
              <p:nvSpPr>
                <p:cNvPr id="366642" name="Freeform 50"/>
                <p:cNvSpPr/>
                <p:nvPr/>
              </p:nvSpPr>
              <p:spPr bwMode="auto">
                <a:xfrm>
                  <a:off x="246" y="1943"/>
                  <a:ext cx="551" cy="104"/>
                </a:xfrm>
                <a:custGeom>
                  <a:avLst/>
                  <a:gdLst>
                    <a:gd name="T0" fmla="*/ 2751 w 2751"/>
                    <a:gd name="T1" fmla="*/ 270 h 522"/>
                    <a:gd name="T2" fmla="*/ 1016 w 2751"/>
                    <a:gd name="T3" fmla="*/ 522 h 522"/>
                    <a:gd name="T4" fmla="*/ 0 w 2751"/>
                    <a:gd name="T5" fmla="*/ 132 h 522"/>
                    <a:gd name="T6" fmla="*/ 1302 w 2751"/>
                    <a:gd name="T7" fmla="*/ 0 h 522"/>
                    <a:gd name="T8" fmla="*/ 2751 w 2751"/>
                    <a:gd name="T9" fmla="*/ 270 h 522"/>
                  </a:gdLst>
                  <a:ahLst/>
                  <a:cxnLst>
                    <a:cxn ang="0">
                      <a:pos x="T0" y="T1"/>
                    </a:cxn>
                    <a:cxn ang="0">
                      <a:pos x="T2" y="T3"/>
                    </a:cxn>
                    <a:cxn ang="0">
                      <a:pos x="T4" y="T5"/>
                    </a:cxn>
                    <a:cxn ang="0">
                      <a:pos x="T6" y="T7"/>
                    </a:cxn>
                    <a:cxn ang="0">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43" name="Freeform 51"/>
                <p:cNvSpPr/>
                <p:nvPr/>
              </p:nvSpPr>
              <p:spPr bwMode="auto">
                <a:xfrm>
                  <a:off x="450" y="1997"/>
                  <a:ext cx="345" cy="67"/>
                </a:xfrm>
                <a:custGeom>
                  <a:avLst/>
                  <a:gdLst>
                    <a:gd name="T0" fmla="*/ 1728 w 1728"/>
                    <a:gd name="T1" fmla="*/ 0 h 337"/>
                    <a:gd name="T2" fmla="*/ 0 w 1728"/>
                    <a:gd name="T3" fmla="*/ 251 h 337"/>
                    <a:gd name="T4" fmla="*/ 0 w 1728"/>
                    <a:gd name="T5" fmla="*/ 337 h 337"/>
                    <a:gd name="T6" fmla="*/ 1728 w 1728"/>
                    <a:gd name="T7" fmla="*/ 88 h 337"/>
                    <a:gd name="T8" fmla="*/ 1728 w 1728"/>
                    <a:gd name="T9" fmla="*/ 0 h 337"/>
                  </a:gdLst>
                  <a:ahLst/>
                  <a:cxnLst>
                    <a:cxn ang="0">
                      <a:pos x="T0" y="T1"/>
                    </a:cxn>
                    <a:cxn ang="0">
                      <a:pos x="T2" y="T3"/>
                    </a:cxn>
                    <a:cxn ang="0">
                      <a:pos x="T4" y="T5"/>
                    </a:cxn>
                    <a:cxn ang="0">
                      <a:pos x="T6" y="T7"/>
                    </a:cxn>
                    <a:cxn ang="0">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44" name="Freeform 52"/>
                <p:cNvSpPr/>
                <p:nvPr/>
              </p:nvSpPr>
              <p:spPr bwMode="auto">
                <a:xfrm>
                  <a:off x="246" y="1969"/>
                  <a:ext cx="204" cy="95"/>
                </a:xfrm>
                <a:custGeom>
                  <a:avLst/>
                  <a:gdLst>
                    <a:gd name="T0" fmla="*/ 1016 w 1016"/>
                    <a:gd name="T1" fmla="*/ 476 h 476"/>
                    <a:gd name="T2" fmla="*/ 1016 w 1016"/>
                    <a:gd name="T3" fmla="*/ 390 h 476"/>
                    <a:gd name="T4" fmla="*/ 0 w 1016"/>
                    <a:gd name="T5" fmla="*/ 0 h 476"/>
                    <a:gd name="T6" fmla="*/ 0 w 1016"/>
                    <a:gd name="T7" fmla="*/ 60 h 476"/>
                    <a:gd name="T8" fmla="*/ 1016 w 1016"/>
                    <a:gd name="T9" fmla="*/ 476 h 476"/>
                  </a:gdLst>
                  <a:ahLst/>
                  <a:cxnLst>
                    <a:cxn ang="0">
                      <a:pos x="T0" y="T1"/>
                    </a:cxn>
                    <a:cxn ang="0">
                      <a:pos x="T2" y="T3"/>
                    </a:cxn>
                    <a:cxn ang="0">
                      <a:pos x="T4" y="T5"/>
                    </a:cxn>
                    <a:cxn ang="0">
                      <a:pos x="T6" y="T7"/>
                    </a:cxn>
                    <a:cxn ang="0">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645" name="Freeform 53"/>
              <p:cNvSpPr/>
              <p:nvPr/>
            </p:nvSpPr>
            <p:spPr bwMode="auto">
              <a:xfrm>
                <a:off x="564" y="2028"/>
                <a:ext cx="239" cy="378"/>
              </a:xfrm>
              <a:custGeom>
                <a:avLst/>
                <a:gdLst>
                  <a:gd name="T0" fmla="*/ 660 w 1195"/>
                  <a:gd name="T1" fmla="*/ 0 h 1893"/>
                  <a:gd name="T2" fmla="*/ 1195 w 1195"/>
                  <a:gd name="T3" fmla="*/ 1747 h 1893"/>
                  <a:gd name="T4" fmla="*/ 0 w 1195"/>
                  <a:gd name="T5" fmla="*/ 1893 h 1893"/>
                  <a:gd name="T6" fmla="*/ 191 w 1195"/>
                  <a:gd name="T7" fmla="*/ 35 h 1893"/>
                </a:gdLst>
                <a:ahLst/>
                <a:cxnLst>
                  <a:cxn ang="0">
                    <a:pos x="T0" y="T1"/>
                  </a:cxn>
                  <a:cxn ang="0">
                    <a:pos x="T2" y="T3"/>
                  </a:cxn>
                  <a:cxn ang="0">
                    <a:pos x="T4" y="T5"/>
                  </a:cxn>
                  <a:cxn ang="0">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646" name="Group 54"/>
            <p:cNvGrpSpPr/>
            <p:nvPr/>
          </p:nvGrpSpPr>
          <p:grpSpPr bwMode="auto">
            <a:xfrm>
              <a:off x="325" y="1767"/>
              <a:ext cx="383" cy="268"/>
              <a:chOff x="325" y="1767"/>
              <a:chExt cx="383" cy="268"/>
            </a:xfrm>
          </p:grpSpPr>
          <p:grpSp>
            <p:nvGrpSpPr>
              <p:cNvPr id="366647" name="Group 55"/>
              <p:cNvGrpSpPr/>
              <p:nvPr/>
            </p:nvGrpSpPr>
            <p:grpSpPr bwMode="auto">
              <a:xfrm>
                <a:off x="412" y="1767"/>
                <a:ext cx="296" cy="243"/>
                <a:chOff x="412" y="1767"/>
                <a:chExt cx="296" cy="243"/>
              </a:xfrm>
            </p:grpSpPr>
            <p:grpSp>
              <p:nvGrpSpPr>
                <p:cNvPr id="366648" name="Group 56"/>
                <p:cNvGrpSpPr/>
                <p:nvPr/>
              </p:nvGrpSpPr>
              <p:grpSpPr bwMode="auto">
                <a:xfrm>
                  <a:off x="412" y="1767"/>
                  <a:ext cx="296" cy="243"/>
                  <a:chOff x="412" y="1767"/>
                  <a:chExt cx="296" cy="243"/>
                </a:xfrm>
              </p:grpSpPr>
              <p:grpSp>
                <p:nvGrpSpPr>
                  <p:cNvPr id="366649" name="Group 57"/>
                  <p:cNvGrpSpPr/>
                  <p:nvPr/>
                </p:nvGrpSpPr>
                <p:grpSpPr bwMode="auto">
                  <a:xfrm>
                    <a:off x="412" y="1904"/>
                    <a:ext cx="296" cy="106"/>
                    <a:chOff x="412" y="1904"/>
                    <a:chExt cx="296" cy="106"/>
                  </a:xfrm>
                </p:grpSpPr>
                <p:sp>
                  <p:nvSpPr>
                    <p:cNvPr id="366650" name="Freeform 58"/>
                    <p:cNvSpPr/>
                    <p:nvPr/>
                  </p:nvSpPr>
                  <p:spPr bwMode="auto">
                    <a:xfrm>
                      <a:off x="412" y="1904"/>
                      <a:ext cx="170" cy="106"/>
                    </a:xfrm>
                    <a:custGeom>
                      <a:avLst/>
                      <a:gdLst>
                        <a:gd name="T0" fmla="*/ 848 w 848"/>
                        <a:gd name="T1" fmla="*/ 162 h 530"/>
                        <a:gd name="T2" fmla="*/ 848 w 848"/>
                        <a:gd name="T3" fmla="*/ 530 h 530"/>
                        <a:gd name="T4" fmla="*/ 0 w 848"/>
                        <a:gd name="T5" fmla="*/ 258 h 530"/>
                        <a:gd name="T6" fmla="*/ 0 w 848"/>
                        <a:gd name="T7" fmla="*/ 0 h 530"/>
                        <a:gd name="T8" fmla="*/ 848 w 848"/>
                        <a:gd name="T9" fmla="*/ 162 h 530"/>
                      </a:gdLst>
                      <a:ahLst/>
                      <a:cxnLst>
                        <a:cxn ang="0">
                          <a:pos x="T0" y="T1"/>
                        </a:cxn>
                        <a:cxn ang="0">
                          <a:pos x="T2" y="T3"/>
                        </a:cxn>
                        <a:cxn ang="0">
                          <a:pos x="T4" y="T5"/>
                        </a:cxn>
                        <a:cxn ang="0">
                          <a:pos x="T6" y="T7"/>
                        </a:cxn>
                        <a:cxn ang="0">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51" name="Freeform 59"/>
                    <p:cNvSpPr/>
                    <p:nvPr/>
                  </p:nvSpPr>
                  <p:spPr bwMode="auto">
                    <a:xfrm>
                      <a:off x="582" y="1929"/>
                      <a:ext cx="126" cy="81"/>
                    </a:xfrm>
                    <a:custGeom>
                      <a:avLst/>
                      <a:gdLst>
                        <a:gd name="T0" fmla="*/ 0 w 631"/>
                        <a:gd name="T1" fmla="*/ 36 h 404"/>
                        <a:gd name="T2" fmla="*/ 0 w 631"/>
                        <a:gd name="T3" fmla="*/ 404 h 404"/>
                        <a:gd name="T4" fmla="*/ 631 w 631"/>
                        <a:gd name="T5" fmla="*/ 312 h 404"/>
                        <a:gd name="T6" fmla="*/ 631 w 631"/>
                        <a:gd name="T7" fmla="*/ 0 h 404"/>
                        <a:gd name="T8" fmla="*/ 0 w 631"/>
                        <a:gd name="T9" fmla="*/ 36 h 404"/>
                      </a:gdLst>
                      <a:ahLst/>
                      <a:cxnLst>
                        <a:cxn ang="0">
                          <a:pos x="T0" y="T1"/>
                        </a:cxn>
                        <a:cxn ang="0">
                          <a:pos x="T2" y="T3"/>
                        </a:cxn>
                        <a:cxn ang="0">
                          <a:pos x="T4" y="T5"/>
                        </a:cxn>
                        <a:cxn ang="0">
                          <a:pos x="T6" y="T7"/>
                        </a:cxn>
                        <a:cxn ang="0">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52" name="Freeform 60"/>
                    <p:cNvSpPr/>
                    <p:nvPr/>
                  </p:nvSpPr>
                  <p:spPr bwMode="auto">
                    <a:xfrm>
                      <a:off x="412" y="1904"/>
                      <a:ext cx="296" cy="32"/>
                    </a:xfrm>
                    <a:custGeom>
                      <a:avLst/>
                      <a:gdLst>
                        <a:gd name="T0" fmla="*/ 1479 w 1479"/>
                        <a:gd name="T1" fmla="*/ 126 h 162"/>
                        <a:gd name="T2" fmla="*/ 842 w 1479"/>
                        <a:gd name="T3" fmla="*/ 162 h 162"/>
                        <a:gd name="T4" fmla="*/ 0 w 1479"/>
                        <a:gd name="T5" fmla="*/ 0 h 162"/>
                        <a:gd name="T6" fmla="*/ 619 w 1479"/>
                        <a:gd name="T7" fmla="*/ 0 h 162"/>
                        <a:gd name="T8" fmla="*/ 1479 w 1479"/>
                        <a:gd name="T9" fmla="*/ 126 h 162"/>
                      </a:gdLst>
                      <a:ahLst/>
                      <a:cxnLst>
                        <a:cxn ang="0">
                          <a:pos x="T0" y="T1"/>
                        </a:cxn>
                        <a:cxn ang="0">
                          <a:pos x="T2" y="T3"/>
                        </a:cxn>
                        <a:cxn ang="0">
                          <a:pos x="T4" y="T5"/>
                        </a:cxn>
                        <a:cxn ang="0">
                          <a:pos x="T6" y="T7"/>
                        </a:cxn>
                        <a:cxn ang="0">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653" name="Freeform 61"/>
                  <p:cNvSpPr/>
                  <p:nvPr/>
                </p:nvSpPr>
                <p:spPr bwMode="auto">
                  <a:xfrm>
                    <a:off x="504" y="1895"/>
                    <a:ext cx="108" cy="30"/>
                  </a:xfrm>
                  <a:custGeom>
                    <a:avLst/>
                    <a:gdLst>
                      <a:gd name="T0" fmla="*/ 538 w 538"/>
                      <a:gd name="T1" fmla="*/ 86 h 151"/>
                      <a:gd name="T2" fmla="*/ 538 w 538"/>
                      <a:gd name="T3" fmla="*/ 135 h 151"/>
                      <a:gd name="T4" fmla="*/ 287 w 538"/>
                      <a:gd name="T5" fmla="*/ 151 h 151"/>
                      <a:gd name="T6" fmla="*/ 0 w 538"/>
                      <a:gd name="T7" fmla="*/ 97 h 151"/>
                      <a:gd name="T8" fmla="*/ 0 w 538"/>
                      <a:gd name="T9" fmla="*/ 0 h 151"/>
                      <a:gd name="T10" fmla="*/ 538 w 538"/>
                      <a:gd name="T11" fmla="*/ 86 h 151"/>
                    </a:gdLst>
                    <a:ahLst/>
                    <a:cxnLst>
                      <a:cxn ang="0">
                        <a:pos x="T0" y="T1"/>
                      </a:cxn>
                      <a:cxn ang="0">
                        <a:pos x="T2" y="T3"/>
                      </a:cxn>
                      <a:cxn ang="0">
                        <a:pos x="T4" y="T5"/>
                      </a:cxn>
                      <a:cxn ang="0">
                        <a:pos x="T6" y="T7"/>
                      </a:cxn>
                      <a:cxn ang="0">
                        <a:pos x="T8" y="T9"/>
                      </a:cxn>
                      <a:cxn ang="0">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6654" name="Group 62"/>
                  <p:cNvGrpSpPr/>
                  <p:nvPr/>
                </p:nvGrpSpPr>
                <p:grpSpPr bwMode="auto">
                  <a:xfrm>
                    <a:off x="446" y="1767"/>
                    <a:ext cx="239" cy="151"/>
                    <a:chOff x="446" y="1767"/>
                    <a:chExt cx="239" cy="151"/>
                  </a:xfrm>
                </p:grpSpPr>
                <p:sp>
                  <p:nvSpPr>
                    <p:cNvPr id="366655" name="Freeform 63"/>
                    <p:cNvSpPr/>
                    <p:nvPr/>
                  </p:nvSpPr>
                  <p:spPr bwMode="auto">
                    <a:xfrm>
                      <a:off x="446" y="1767"/>
                      <a:ext cx="137" cy="148"/>
                    </a:xfrm>
                    <a:custGeom>
                      <a:avLst/>
                      <a:gdLst>
                        <a:gd name="T0" fmla="*/ 589 w 686"/>
                        <a:gd name="T1" fmla="*/ 740 h 740"/>
                        <a:gd name="T2" fmla="*/ 686 w 686"/>
                        <a:gd name="T3" fmla="*/ 24 h 740"/>
                        <a:gd name="T4" fmla="*/ 95 w 686"/>
                        <a:gd name="T5" fmla="*/ 0 h 740"/>
                        <a:gd name="T6" fmla="*/ 0 w 686"/>
                        <a:gd name="T7" fmla="*/ 638 h 740"/>
                        <a:gd name="T8" fmla="*/ 589 w 686"/>
                        <a:gd name="T9" fmla="*/ 740 h 740"/>
                      </a:gdLst>
                      <a:ahLst/>
                      <a:cxnLst>
                        <a:cxn ang="0">
                          <a:pos x="T0" y="T1"/>
                        </a:cxn>
                        <a:cxn ang="0">
                          <a:pos x="T2" y="T3"/>
                        </a:cxn>
                        <a:cxn ang="0">
                          <a:pos x="T4" y="T5"/>
                        </a:cxn>
                        <a:cxn ang="0">
                          <a:pos x="T6" y="T7"/>
                        </a:cxn>
                        <a:cxn ang="0">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56" name="Freeform 64"/>
                    <p:cNvSpPr/>
                    <p:nvPr/>
                  </p:nvSpPr>
                  <p:spPr bwMode="auto">
                    <a:xfrm>
                      <a:off x="564" y="1771"/>
                      <a:ext cx="121" cy="147"/>
                    </a:xfrm>
                    <a:custGeom>
                      <a:avLst/>
                      <a:gdLst>
                        <a:gd name="T0" fmla="*/ 97 w 608"/>
                        <a:gd name="T1" fmla="*/ 0 h 735"/>
                        <a:gd name="T2" fmla="*/ 608 w 608"/>
                        <a:gd name="T3" fmla="*/ 163 h 735"/>
                        <a:gd name="T4" fmla="*/ 536 w 608"/>
                        <a:gd name="T5" fmla="*/ 735 h 735"/>
                        <a:gd name="T6" fmla="*/ 0 w 608"/>
                        <a:gd name="T7" fmla="*/ 717 h 735"/>
                        <a:gd name="T8" fmla="*/ 97 w 608"/>
                        <a:gd name="T9" fmla="*/ 0 h 735"/>
                      </a:gdLst>
                      <a:ahLst/>
                      <a:cxnLst>
                        <a:cxn ang="0">
                          <a:pos x="T0" y="T1"/>
                        </a:cxn>
                        <a:cxn ang="0">
                          <a:pos x="T2" y="T3"/>
                        </a:cxn>
                        <a:cxn ang="0">
                          <a:pos x="T4" y="T5"/>
                        </a:cxn>
                        <a:cxn ang="0">
                          <a:pos x="T6" y="T7"/>
                        </a:cxn>
                        <a:cxn ang="0">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57" name="Freeform 65"/>
                    <p:cNvSpPr/>
                    <p:nvPr/>
                  </p:nvSpPr>
                  <p:spPr bwMode="auto">
                    <a:xfrm>
                      <a:off x="462" y="1781"/>
                      <a:ext cx="98" cy="112"/>
                    </a:xfrm>
                    <a:custGeom>
                      <a:avLst/>
                      <a:gdLst>
                        <a:gd name="T0" fmla="*/ 493 w 493"/>
                        <a:gd name="T1" fmla="*/ 25 h 557"/>
                        <a:gd name="T2" fmla="*/ 423 w 493"/>
                        <a:gd name="T3" fmla="*/ 557 h 557"/>
                        <a:gd name="T4" fmla="*/ 0 w 493"/>
                        <a:gd name="T5" fmla="*/ 494 h 557"/>
                        <a:gd name="T6" fmla="*/ 73 w 493"/>
                        <a:gd name="T7" fmla="*/ 0 h 557"/>
                        <a:gd name="T8" fmla="*/ 493 w 493"/>
                        <a:gd name="T9" fmla="*/ 25 h 557"/>
                      </a:gdLst>
                      <a:ahLst/>
                      <a:cxnLst>
                        <a:cxn ang="0">
                          <a:pos x="T0" y="T1"/>
                        </a:cxn>
                        <a:cxn ang="0">
                          <a:pos x="T2" y="T3"/>
                        </a:cxn>
                        <a:cxn ang="0">
                          <a:pos x="T4" y="T5"/>
                        </a:cxn>
                        <a:cxn ang="0">
                          <a:pos x="T6" y="T7"/>
                        </a:cxn>
                        <a:cxn ang="0">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grpSp>
              <p:nvGrpSpPr>
                <p:cNvPr id="366658" name="Group 66"/>
                <p:cNvGrpSpPr/>
                <p:nvPr/>
              </p:nvGrpSpPr>
              <p:grpSpPr bwMode="auto">
                <a:xfrm>
                  <a:off x="424" y="1915"/>
                  <a:ext cx="97" cy="69"/>
                  <a:chOff x="424" y="1915"/>
                  <a:chExt cx="97" cy="69"/>
                </a:xfrm>
              </p:grpSpPr>
              <p:sp>
                <p:nvSpPr>
                  <p:cNvPr id="366659" name="Freeform 67"/>
                  <p:cNvSpPr/>
                  <p:nvPr/>
                </p:nvSpPr>
                <p:spPr bwMode="auto">
                  <a:xfrm>
                    <a:off x="424" y="1915"/>
                    <a:ext cx="97" cy="69"/>
                  </a:xfrm>
                  <a:custGeom>
                    <a:avLst/>
                    <a:gdLst>
                      <a:gd name="T0" fmla="*/ 0 w 483"/>
                      <a:gd name="T1" fmla="*/ 0 h 346"/>
                      <a:gd name="T2" fmla="*/ 483 w 483"/>
                      <a:gd name="T3" fmla="*/ 104 h 346"/>
                      <a:gd name="T4" fmla="*/ 483 w 483"/>
                      <a:gd name="T5" fmla="*/ 346 h 346"/>
                      <a:gd name="T6" fmla="*/ 0 w 483"/>
                      <a:gd name="T7" fmla="*/ 195 h 346"/>
                      <a:gd name="T8" fmla="*/ 0 w 483"/>
                      <a:gd name="T9" fmla="*/ 0 h 346"/>
                    </a:gdLst>
                    <a:ahLst/>
                    <a:cxnLst>
                      <a:cxn ang="0">
                        <a:pos x="T0" y="T1"/>
                      </a:cxn>
                      <a:cxn ang="0">
                        <a:pos x="T2" y="T3"/>
                      </a:cxn>
                      <a:cxn ang="0">
                        <a:pos x="T4" y="T5"/>
                      </a:cxn>
                      <a:cxn ang="0">
                        <a:pos x="T6" y="T7"/>
                      </a:cxn>
                      <a:cxn ang="0">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0" name="Line 68"/>
                  <p:cNvSpPr>
                    <a:spLocks noChangeShapeType="1"/>
                  </p:cNvSpPr>
                  <p:nvPr/>
                </p:nvSpPr>
                <p:spPr bwMode="auto">
                  <a:xfrm flipH="1" flipV="1">
                    <a:off x="433" y="1933"/>
                    <a:ext cx="26" cy="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1" name="Line 69"/>
                  <p:cNvSpPr>
                    <a:spLocks noChangeShapeType="1"/>
                  </p:cNvSpPr>
                  <p:nvPr/>
                </p:nvSpPr>
                <p:spPr bwMode="auto">
                  <a:xfrm>
                    <a:off x="472" y="1941"/>
                    <a:ext cx="34" cy="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2" name="Line 70"/>
                  <p:cNvSpPr>
                    <a:spLocks noChangeShapeType="1"/>
                  </p:cNvSpPr>
                  <p:nvPr/>
                </p:nvSpPr>
                <p:spPr bwMode="auto">
                  <a:xfrm>
                    <a:off x="465" y="1924"/>
                    <a:ext cx="1" cy="4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3" name="Line 71"/>
                  <p:cNvSpPr>
                    <a:spLocks noChangeShapeType="1"/>
                  </p:cNvSpPr>
                  <p:nvPr/>
                </p:nvSpPr>
                <p:spPr bwMode="auto">
                  <a:xfrm>
                    <a:off x="511" y="1934"/>
                    <a:ext cx="1" cy="49"/>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4" name="Line 72"/>
                  <p:cNvSpPr>
                    <a:spLocks noChangeShapeType="1"/>
                  </p:cNvSpPr>
                  <p:nvPr/>
                </p:nvSpPr>
                <p:spPr bwMode="auto">
                  <a:xfrm>
                    <a:off x="425" y="1933"/>
                    <a:ext cx="88" cy="2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5" name="Line 73"/>
                  <p:cNvSpPr>
                    <a:spLocks noChangeShapeType="1"/>
                  </p:cNvSpPr>
                  <p:nvPr/>
                </p:nvSpPr>
                <p:spPr bwMode="auto">
                  <a:xfrm flipH="1" flipV="1">
                    <a:off x="424" y="1926"/>
                    <a:ext cx="89" cy="2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grpSp>
            <p:nvGrpSpPr>
              <p:cNvPr id="366666" name="Group 74"/>
              <p:cNvGrpSpPr/>
              <p:nvPr/>
            </p:nvGrpSpPr>
            <p:grpSpPr bwMode="auto">
              <a:xfrm>
                <a:off x="325" y="1917"/>
                <a:ext cx="231" cy="118"/>
                <a:chOff x="325" y="1917"/>
                <a:chExt cx="231" cy="118"/>
              </a:xfrm>
            </p:grpSpPr>
            <p:grpSp>
              <p:nvGrpSpPr>
                <p:cNvPr id="366667" name="Group 75"/>
                <p:cNvGrpSpPr/>
                <p:nvPr/>
              </p:nvGrpSpPr>
              <p:grpSpPr bwMode="auto">
                <a:xfrm>
                  <a:off x="504" y="1981"/>
                  <a:ext cx="37" cy="28"/>
                  <a:chOff x="504" y="1981"/>
                  <a:chExt cx="37" cy="28"/>
                </a:xfrm>
              </p:grpSpPr>
              <p:sp>
                <p:nvSpPr>
                  <p:cNvPr id="366668" name="Freeform 76"/>
                  <p:cNvSpPr/>
                  <p:nvPr/>
                </p:nvSpPr>
                <p:spPr bwMode="auto">
                  <a:xfrm>
                    <a:off x="531" y="1981"/>
                    <a:ext cx="10" cy="28"/>
                  </a:xfrm>
                  <a:custGeom>
                    <a:avLst/>
                    <a:gdLst>
                      <a:gd name="T0" fmla="*/ 37 w 53"/>
                      <a:gd name="T1" fmla="*/ 0 h 140"/>
                      <a:gd name="T2" fmla="*/ 53 w 53"/>
                      <a:gd name="T3" fmla="*/ 131 h 140"/>
                      <a:gd name="T4" fmla="*/ 14 w 53"/>
                      <a:gd name="T5" fmla="*/ 140 h 140"/>
                      <a:gd name="T6" fmla="*/ 0 w 53"/>
                      <a:gd name="T7" fmla="*/ 6 h 140"/>
                      <a:gd name="T8" fmla="*/ 37 w 53"/>
                      <a:gd name="T9" fmla="*/ 0 h 140"/>
                    </a:gdLst>
                    <a:ahLst/>
                    <a:cxnLst>
                      <a:cxn ang="0">
                        <a:pos x="T0" y="T1"/>
                      </a:cxn>
                      <a:cxn ang="0">
                        <a:pos x="T2" y="T3"/>
                      </a:cxn>
                      <a:cxn ang="0">
                        <a:pos x="T4" y="T5"/>
                      </a:cxn>
                      <a:cxn ang="0">
                        <a:pos x="T6" y="T7"/>
                      </a:cxn>
                      <a:cxn ang="0">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69" name="Freeform 77"/>
                  <p:cNvSpPr/>
                  <p:nvPr/>
                </p:nvSpPr>
                <p:spPr bwMode="auto">
                  <a:xfrm>
                    <a:off x="504" y="1985"/>
                    <a:ext cx="29" cy="24"/>
                  </a:xfrm>
                  <a:custGeom>
                    <a:avLst/>
                    <a:gdLst>
                      <a:gd name="T0" fmla="*/ 136 w 148"/>
                      <a:gd name="T1" fmla="*/ 5 h 122"/>
                      <a:gd name="T2" fmla="*/ 148 w 148"/>
                      <a:gd name="T3" fmla="*/ 122 h 122"/>
                      <a:gd name="T4" fmla="*/ 0 w 148"/>
                      <a:gd name="T5" fmla="*/ 61 h 122"/>
                      <a:gd name="T6" fmla="*/ 58 w 148"/>
                      <a:gd name="T7" fmla="*/ 43 h 122"/>
                      <a:gd name="T8" fmla="*/ 111 w 148"/>
                      <a:gd name="T9" fmla="*/ 70 h 122"/>
                      <a:gd name="T10" fmla="*/ 94 w 148"/>
                      <a:gd name="T11" fmla="*/ 0 h 122"/>
                      <a:gd name="T12" fmla="*/ 136 w 148"/>
                      <a:gd name="T13" fmla="*/ 5 h 122"/>
                    </a:gdLst>
                    <a:ahLst/>
                    <a:cxnLst>
                      <a:cxn ang="0">
                        <a:pos x="T0" y="T1"/>
                      </a:cxn>
                      <a:cxn ang="0">
                        <a:pos x="T2" y="T3"/>
                      </a:cxn>
                      <a:cxn ang="0">
                        <a:pos x="T4" y="T5"/>
                      </a:cxn>
                      <a:cxn ang="0">
                        <a:pos x="T6" y="T7"/>
                      </a:cxn>
                      <a:cxn ang="0">
                        <a:pos x="T8" y="T9"/>
                      </a:cxn>
                      <a:cxn ang="0">
                        <a:pos x="T10" y="T11"/>
                      </a:cxn>
                      <a:cxn ang="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670" name="Group 78"/>
                <p:cNvGrpSpPr/>
                <p:nvPr/>
              </p:nvGrpSpPr>
              <p:grpSpPr bwMode="auto">
                <a:xfrm>
                  <a:off x="325" y="1917"/>
                  <a:ext cx="231" cy="118"/>
                  <a:chOff x="325" y="1917"/>
                  <a:chExt cx="231" cy="118"/>
                </a:xfrm>
              </p:grpSpPr>
              <p:sp>
                <p:nvSpPr>
                  <p:cNvPr id="366671" name="Freeform 79"/>
                  <p:cNvSpPr/>
                  <p:nvPr/>
                </p:nvSpPr>
                <p:spPr bwMode="auto">
                  <a:xfrm>
                    <a:off x="326" y="1917"/>
                    <a:ext cx="226" cy="105"/>
                  </a:xfrm>
                  <a:custGeom>
                    <a:avLst/>
                    <a:gdLst>
                      <a:gd name="T0" fmla="*/ 1132 w 1132"/>
                      <a:gd name="T1" fmla="*/ 223 h 525"/>
                      <a:gd name="T2" fmla="*/ 589 w 1132"/>
                      <a:gd name="T3" fmla="*/ 525 h 525"/>
                      <a:gd name="T4" fmla="*/ 0 w 1132"/>
                      <a:gd name="T5" fmla="*/ 230 h 525"/>
                      <a:gd name="T6" fmla="*/ 452 w 1132"/>
                      <a:gd name="T7" fmla="*/ 0 h 525"/>
                      <a:gd name="T8" fmla="*/ 1132 w 1132"/>
                      <a:gd name="T9" fmla="*/ 223 h 525"/>
                    </a:gdLst>
                    <a:ahLst/>
                    <a:cxnLst>
                      <a:cxn ang="0">
                        <a:pos x="T0" y="T1"/>
                      </a:cxn>
                      <a:cxn ang="0">
                        <a:pos x="T2" y="T3"/>
                      </a:cxn>
                      <a:cxn ang="0">
                        <a:pos x="T4" y="T5"/>
                      </a:cxn>
                      <a:cxn ang="0">
                        <a:pos x="T6" y="T7"/>
                      </a:cxn>
                      <a:cxn ang="0">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2" name="Freeform 80"/>
                  <p:cNvSpPr/>
                  <p:nvPr/>
                </p:nvSpPr>
                <p:spPr bwMode="auto">
                  <a:xfrm>
                    <a:off x="443" y="1961"/>
                    <a:ext cx="113" cy="74"/>
                  </a:xfrm>
                  <a:custGeom>
                    <a:avLst/>
                    <a:gdLst>
                      <a:gd name="T0" fmla="*/ 547 w 566"/>
                      <a:gd name="T1" fmla="*/ 0 h 371"/>
                      <a:gd name="T2" fmla="*/ 0 w 566"/>
                      <a:gd name="T3" fmla="*/ 307 h 371"/>
                      <a:gd name="T4" fmla="*/ 16 w 566"/>
                      <a:gd name="T5" fmla="*/ 371 h 371"/>
                      <a:gd name="T6" fmla="*/ 566 w 566"/>
                      <a:gd name="T7" fmla="*/ 60 h 371"/>
                      <a:gd name="T8" fmla="*/ 547 w 566"/>
                      <a:gd name="T9" fmla="*/ 0 h 371"/>
                    </a:gdLst>
                    <a:ahLst/>
                    <a:cxnLst>
                      <a:cxn ang="0">
                        <a:pos x="T0" y="T1"/>
                      </a:cxn>
                      <a:cxn ang="0">
                        <a:pos x="T2" y="T3"/>
                      </a:cxn>
                      <a:cxn ang="0">
                        <a:pos x="T4" y="T5"/>
                      </a:cxn>
                      <a:cxn ang="0">
                        <a:pos x="T6" y="T7"/>
                      </a:cxn>
                      <a:cxn ang="0">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3" name="Freeform 81"/>
                  <p:cNvSpPr/>
                  <p:nvPr/>
                </p:nvSpPr>
                <p:spPr bwMode="auto">
                  <a:xfrm>
                    <a:off x="325" y="1963"/>
                    <a:ext cx="121" cy="72"/>
                  </a:xfrm>
                  <a:custGeom>
                    <a:avLst/>
                    <a:gdLst>
                      <a:gd name="T0" fmla="*/ 605 w 605"/>
                      <a:gd name="T1" fmla="*/ 363 h 363"/>
                      <a:gd name="T2" fmla="*/ 587 w 605"/>
                      <a:gd name="T3" fmla="*/ 295 h 363"/>
                      <a:gd name="T4" fmla="*/ 0 w 605"/>
                      <a:gd name="T5" fmla="*/ 0 h 363"/>
                      <a:gd name="T6" fmla="*/ 21 w 605"/>
                      <a:gd name="T7" fmla="*/ 53 h 363"/>
                      <a:gd name="T8" fmla="*/ 605 w 605"/>
                      <a:gd name="T9" fmla="*/ 363 h 363"/>
                    </a:gdLst>
                    <a:ahLst/>
                    <a:cxnLst>
                      <a:cxn ang="0">
                        <a:pos x="T0" y="T1"/>
                      </a:cxn>
                      <a:cxn ang="0">
                        <a:pos x="T2" y="T3"/>
                      </a:cxn>
                      <a:cxn ang="0">
                        <a:pos x="T4" y="T5"/>
                      </a:cxn>
                      <a:cxn ang="0">
                        <a:pos x="T6" y="T7"/>
                      </a:cxn>
                      <a:cxn ang="0">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4" name="Freeform 82"/>
                  <p:cNvSpPr/>
                  <p:nvPr/>
                </p:nvSpPr>
                <p:spPr bwMode="auto">
                  <a:xfrm>
                    <a:off x="417" y="1966"/>
                    <a:ext cx="90" cy="46"/>
                  </a:xfrm>
                  <a:custGeom>
                    <a:avLst/>
                    <a:gdLst>
                      <a:gd name="T0" fmla="*/ 454 w 454"/>
                      <a:gd name="T1" fmla="*/ 59 h 230"/>
                      <a:gd name="T2" fmla="*/ 297 w 454"/>
                      <a:gd name="T3" fmla="*/ 0 h 230"/>
                      <a:gd name="T4" fmla="*/ 0 w 454"/>
                      <a:gd name="T5" fmla="*/ 161 h 230"/>
                      <a:gd name="T6" fmla="*/ 151 w 454"/>
                      <a:gd name="T7" fmla="*/ 230 h 230"/>
                      <a:gd name="T8" fmla="*/ 454 w 454"/>
                      <a:gd name="T9" fmla="*/ 59 h 230"/>
                    </a:gdLst>
                    <a:ahLst/>
                    <a:cxnLst>
                      <a:cxn ang="0">
                        <a:pos x="T0" y="T1"/>
                      </a:cxn>
                      <a:cxn ang="0">
                        <a:pos x="T2" y="T3"/>
                      </a:cxn>
                      <a:cxn ang="0">
                        <a:pos x="T4" y="T5"/>
                      </a:cxn>
                      <a:cxn ang="0">
                        <a:pos x="T6" y="T7"/>
                      </a:cxn>
                      <a:cxn ang="0">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5" name="Freeform 83"/>
                  <p:cNvSpPr/>
                  <p:nvPr/>
                </p:nvSpPr>
                <p:spPr bwMode="auto">
                  <a:xfrm>
                    <a:off x="336" y="1934"/>
                    <a:ext cx="134" cy="61"/>
                  </a:xfrm>
                  <a:custGeom>
                    <a:avLst/>
                    <a:gdLst>
                      <a:gd name="T0" fmla="*/ 669 w 669"/>
                      <a:gd name="T1" fmla="*/ 150 h 309"/>
                      <a:gd name="T2" fmla="*/ 377 w 669"/>
                      <a:gd name="T3" fmla="*/ 309 h 309"/>
                      <a:gd name="T4" fmla="*/ 0 w 669"/>
                      <a:gd name="T5" fmla="*/ 132 h 309"/>
                      <a:gd name="T6" fmla="*/ 273 w 669"/>
                      <a:gd name="T7" fmla="*/ 0 h 309"/>
                      <a:gd name="T8" fmla="*/ 669 w 669"/>
                      <a:gd name="T9" fmla="*/ 150 h 309"/>
                    </a:gdLst>
                    <a:ahLst/>
                    <a:cxnLst>
                      <a:cxn ang="0">
                        <a:pos x="T0" y="T1"/>
                      </a:cxn>
                      <a:cxn ang="0">
                        <a:pos x="T2" y="T3"/>
                      </a:cxn>
                      <a:cxn ang="0">
                        <a:pos x="T4" y="T5"/>
                      </a:cxn>
                      <a:cxn ang="0">
                        <a:pos x="T6" y="T7"/>
                      </a:cxn>
                      <a:cxn ang="0">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6" name="Freeform 84"/>
                  <p:cNvSpPr/>
                  <p:nvPr/>
                </p:nvSpPr>
                <p:spPr bwMode="auto">
                  <a:xfrm>
                    <a:off x="393" y="1920"/>
                    <a:ext cx="148" cy="57"/>
                  </a:xfrm>
                  <a:custGeom>
                    <a:avLst/>
                    <a:gdLst>
                      <a:gd name="T0" fmla="*/ 584 w 738"/>
                      <a:gd name="T1" fmla="*/ 283 h 283"/>
                      <a:gd name="T2" fmla="*/ 738 w 738"/>
                      <a:gd name="T3" fmla="*/ 205 h 283"/>
                      <a:gd name="T4" fmla="*/ 118 w 738"/>
                      <a:gd name="T5" fmla="*/ 0 h 283"/>
                      <a:gd name="T6" fmla="*/ 0 w 738"/>
                      <a:gd name="T7" fmla="*/ 60 h 283"/>
                      <a:gd name="T8" fmla="*/ 584 w 738"/>
                      <a:gd name="T9" fmla="*/ 283 h 283"/>
                    </a:gdLst>
                    <a:ahLst/>
                    <a:cxnLst>
                      <a:cxn ang="0">
                        <a:pos x="T0" y="T1"/>
                      </a:cxn>
                      <a:cxn ang="0">
                        <a:pos x="T2" y="T3"/>
                      </a:cxn>
                      <a:cxn ang="0">
                        <a:pos x="T4" y="T5"/>
                      </a:cxn>
                      <a:cxn ang="0">
                        <a:pos x="T6" y="T7"/>
                      </a:cxn>
                      <a:cxn ang="0">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7" name="Line 85"/>
                  <p:cNvSpPr>
                    <a:spLocks noChangeShapeType="1"/>
                  </p:cNvSpPr>
                  <p:nvPr/>
                </p:nvSpPr>
                <p:spPr bwMode="auto">
                  <a:xfrm flipH="1" flipV="1">
                    <a:off x="411" y="1923"/>
                    <a:ext cx="128" cy="4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8" name="Line 86"/>
                  <p:cNvSpPr>
                    <a:spLocks noChangeShapeType="1"/>
                  </p:cNvSpPr>
                  <p:nvPr/>
                </p:nvSpPr>
                <p:spPr bwMode="auto">
                  <a:xfrm flipH="1" flipV="1">
                    <a:off x="404" y="1925"/>
                    <a:ext cx="124" cy="45"/>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79" name="Line 87"/>
                  <p:cNvSpPr>
                    <a:spLocks noChangeShapeType="1"/>
                  </p:cNvSpPr>
                  <p:nvPr/>
                </p:nvSpPr>
                <p:spPr bwMode="auto">
                  <a:xfrm flipH="1" flipV="1">
                    <a:off x="399" y="1930"/>
                    <a:ext cx="121" cy="46"/>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0" name="Line 88"/>
                  <p:cNvSpPr>
                    <a:spLocks noChangeShapeType="1"/>
                  </p:cNvSpPr>
                  <p:nvPr/>
                </p:nvSpPr>
                <p:spPr bwMode="auto">
                  <a:xfrm flipH="1" flipV="1">
                    <a:off x="384" y="1937"/>
                    <a:ext cx="119"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1" name="Line 89"/>
                  <p:cNvSpPr>
                    <a:spLocks noChangeShapeType="1"/>
                  </p:cNvSpPr>
                  <p:nvPr/>
                </p:nvSpPr>
                <p:spPr bwMode="auto">
                  <a:xfrm flipH="1" flipV="1">
                    <a:off x="375" y="1942"/>
                    <a:ext cx="118"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2" name="Line 90"/>
                  <p:cNvSpPr>
                    <a:spLocks noChangeShapeType="1"/>
                  </p:cNvSpPr>
                  <p:nvPr/>
                </p:nvSpPr>
                <p:spPr bwMode="auto">
                  <a:xfrm flipH="1" flipV="1">
                    <a:off x="365" y="1946"/>
                    <a:ext cx="119"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3" name="Line 91"/>
                  <p:cNvSpPr>
                    <a:spLocks noChangeShapeType="1"/>
                  </p:cNvSpPr>
                  <p:nvPr/>
                </p:nvSpPr>
                <p:spPr bwMode="auto">
                  <a:xfrm flipH="1" flipV="1">
                    <a:off x="358" y="1951"/>
                    <a:ext cx="114" cy="50"/>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4" name="Line 92"/>
                  <p:cNvSpPr>
                    <a:spLocks noChangeShapeType="1"/>
                  </p:cNvSpPr>
                  <p:nvPr/>
                </p:nvSpPr>
                <p:spPr bwMode="auto">
                  <a:xfrm flipH="1" flipV="1">
                    <a:off x="347" y="1956"/>
                    <a:ext cx="114"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5" name="Line 93"/>
                  <p:cNvSpPr>
                    <a:spLocks noChangeShapeType="1"/>
                  </p:cNvSpPr>
                  <p:nvPr/>
                </p:nvSpPr>
                <p:spPr bwMode="auto">
                  <a:xfrm flipH="1">
                    <a:off x="437" y="1974"/>
                    <a:ext cx="61" cy="3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6" name="Line 94"/>
                  <p:cNvSpPr>
                    <a:spLocks noChangeShapeType="1"/>
                  </p:cNvSpPr>
                  <p:nvPr/>
                </p:nvSpPr>
                <p:spPr bwMode="auto">
                  <a:xfrm flipH="1">
                    <a:off x="426" y="1970"/>
                    <a:ext cx="58" cy="32"/>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7" name="Line 95"/>
                  <p:cNvSpPr>
                    <a:spLocks noChangeShapeType="1"/>
                  </p:cNvSpPr>
                  <p:nvPr/>
                </p:nvSpPr>
                <p:spPr bwMode="auto">
                  <a:xfrm flipH="1">
                    <a:off x="401" y="1959"/>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8" name="Line 96"/>
                  <p:cNvSpPr>
                    <a:spLocks noChangeShapeType="1"/>
                  </p:cNvSpPr>
                  <p:nvPr/>
                </p:nvSpPr>
                <p:spPr bwMode="auto">
                  <a:xfrm flipH="1">
                    <a:off x="387" y="1954"/>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89" name="Line 97"/>
                  <p:cNvSpPr>
                    <a:spLocks noChangeShapeType="1"/>
                  </p:cNvSpPr>
                  <p:nvPr/>
                </p:nvSpPr>
                <p:spPr bwMode="auto">
                  <a:xfrm flipH="1">
                    <a:off x="375" y="1949"/>
                    <a:ext cx="56"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0" name="Line 98"/>
                  <p:cNvSpPr>
                    <a:spLocks noChangeShapeType="1"/>
                  </p:cNvSpPr>
                  <p:nvPr/>
                </p:nvSpPr>
                <p:spPr bwMode="auto">
                  <a:xfrm flipH="1">
                    <a:off x="364" y="1944"/>
                    <a:ext cx="53"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1" name="Line 99"/>
                  <p:cNvSpPr>
                    <a:spLocks noChangeShapeType="1"/>
                  </p:cNvSpPr>
                  <p:nvPr/>
                </p:nvSpPr>
                <p:spPr bwMode="auto">
                  <a:xfrm flipH="1">
                    <a:off x="352" y="1939"/>
                    <a:ext cx="55"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2" name="Line 100"/>
                  <p:cNvSpPr>
                    <a:spLocks noChangeShapeType="1"/>
                  </p:cNvSpPr>
                  <p:nvPr/>
                </p:nvSpPr>
                <p:spPr bwMode="auto">
                  <a:xfrm flipH="1">
                    <a:off x="494" y="1955"/>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3" name="Line 101"/>
                  <p:cNvSpPr>
                    <a:spLocks noChangeShapeType="1"/>
                  </p:cNvSpPr>
                  <p:nvPr/>
                </p:nvSpPr>
                <p:spPr bwMode="auto">
                  <a:xfrm flipH="1">
                    <a:off x="477" y="1949"/>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4" name="Line 102"/>
                  <p:cNvSpPr>
                    <a:spLocks noChangeShapeType="1"/>
                  </p:cNvSpPr>
                  <p:nvPr/>
                </p:nvSpPr>
                <p:spPr bwMode="auto">
                  <a:xfrm flipH="1">
                    <a:off x="460" y="1943"/>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5" name="Line 103"/>
                  <p:cNvSpPr>
                    <a:spLocks noChangeShapeType="1"/>
                  </p:cNvSpPr>
                  <p:nvPr/>
                </p:nvSpPr>
                <p:spPr bwMode="auto">
                  <a:xfrm flipH="1">
                    <a:off x="443" y="1937"/>
                    <a:ext cx="27"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6" name="Line 104"/>
                  <p:cNvSpPr>
                    <a:spLocks noChangeShapeType="1"/>
                  </p:cNvSpPr>
                  <p:nvPr/>
                </p:nvSpPr>
                <p:spPr bwMode="auto">
                  <a:xfrm flipH="1">
                    <a:off x="427" y="1931"/>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697" name="Line 105"/>
                  <p:cNvSpPr>
                    <a:spLocks noChangeShapeType="1"/>
                  </p:cNvSpPr>
                  <p:nvPr/>
                </p:nvSpPr>
                <p:spPr bwMode="auto">
                  <a:xfrm flipH="1">
                    <a:off x="408" y="1925"/>
                    <a:ext cx="24"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grpSp>
      </p:grpSp>
      <p:grpSp>
        <p:nvGrpSpPr>
          <p:cNvPr id="366698" name="Group 106"/>
          <p:cNvGrpSpPr/>
          <p:nvPr/>
        </p:nvGrpSpPr>
        <p:grpSpPr bwMode="auto">
          <a:xfrm>
            <a:off x="2011363" y="4733925"/>
            <a:ext cx="87312" cy="171450"/>
            <a:chOff x="287" y="1872"/>
            <a:chExt cx="55" cy="108"/>
          </a:xfrm>
        </p:grpSpPr>
        <p:sp>
          <p:nvSpPr>
            <p:cNvPr id="366699" name="Freeform 107"/>
            <p:cNvSpPr/>
            <p:nvPr/>
          </p:nvSpPr>
          <p:spPr bwMode="auto">
            <a:xfrm>
              <a:off x="287" y="1872"/>
              <a:ext cx="55" cy="108"/>
            </a:xfrm>
            <a:custGeom>
              <a:avLst/>
              <a:gdLst>
                <a:gd name="T0" fmla="*/ 0 w 276"/>
                <a:gd name="T1" fmla="*/ 192 h 540"/>
                <a:gd name="T2" fmla="*/ 53 w 276"/>
                <a:gd name="T3" fmla="*/ 121 h 540"/>
                <a:gd name="T4" fmla="*/ 104 w 276"/>
                <a:gd name="T5" fmla="*/ 84 h 540"/>
                <a:gd name="T6" fmla="*/ 125 w 276"/>
                <a:gd name="T7" fmla="*/ 30 h 540"/>
                <a:gd name="T8" fmla="*/ 137 w 276"/>
                <a:gd name="T9" fmla="*/ 6 h 540"/>
                <a:gd name="T10" fmla="*/ 195 w 276"/>
                <a:gd name="T11" fmla="*/ 0 h 540"/>
                <a:gd name="T12" fmla="*/ 276 w 276"/>
                <a:gd name="T13" fmla="*/ 45 h 540"/>
                <a:gd name="T14" fmla="*/ 255 w 276"/>
                <a:gd name="T15" fmla="*/ 143 h 540"/>
                <a:gd name="T16" fmla="*/ 232 w 276"/>
                <a:gd name="T17" fmla="*/ 198 h 540"/>
                <a:gd name="T18" fmla="*/ 179 w 276"/>
                <a:gd name="T19" fmla="*/ 365 h 540"/>
                <a:gd name="T20" fmla="*/ 92 w 276"/>
                <a:gd name="T21" fmla="*/ 540 h 540"/>
                <a:gd name="T22" fmla="*/ 0 w 276"/>
                <a:gd name="T23" fmla="*/ 192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0" name="Freeform 108"/>
            <p:cNvSpPr/>
            <p:nvPr/>
          </p:nvSpPr>
          <p:spPr bwMode="auto">
            <a:xfrm>
              <a:off x="296" y="1880"/>
              <a:ext cx="43" cy="77"/>
            </a:xfrm>
            <a:custGeom>
              <a:avLst/>
              <a:gdLst>
                <a:gd name="T0" fmla="*/ 91 w 216"/>
                <a:gd name="T1" fmla="*/ 0 h 385"/>
                <a:gd name="T2" fmla="*/ 115 w 216"/>
                <a:gd name="T3" fmla="*/ 25 h 385"/>
                <a:gd name="T4" fmla="*/ 165 w 216"/>
                <a:gd name="T5" fmla="*/ 46 h 385"/>
                <a:gd name="T6" fmla="*/ 216 w 216"/>
                <a:gd name="T7" fmla="*/ 44 h 385"/>
                <a:gd name="T8" fmla="*/ 185 w 216"/>
                <a:gd name="T9" fmla="*/ 132 h 385"/>
                <a:gd name="T10" fmla="*/ 147 w 216"/>
                <a:gd name="T11" fmla="*/ 128 h 385"/>
                <a:gd name="T12" fmla="*/ 118 w 216"/>
                <a:gd name="T13" fmla="*/ 112 h 385"/>
                <a:gd name="T14" fmla="*/ 134 w 216"/>
                <a:gd name="T15" fmla="*/ 138 h 385"/>
                <a:gd name="T16" fmla="*/ 177 w 216"/>
                <a:gd name="T17" fmla="*/ 146 h 385"/>
                <a:gd name="T18" fmla="*/ 145 w 216"/>
                <a:gd name="T19" fmla="*/ 242 h 385"/>
                <a:gd name="T20" fmla="*/ 124 w 216"/>
                <a:gd name="T21" fmla="*/ 312 h 385"/>
                <a:gd name="T22" fmla="*/ 115 w 216"/>
                <a:gd name="T23" fmla="*/ 271 h 385"/>
                <a:gd name="T24" fmla="*/ 103 w 216"/>
                <a:gd name="T25" fmla="*/ 197 h 385"/>
                <a:gd name="T26" fmla="*/ 102 w 216"/>
                <a:gd name="T27" fmla="*/ 155 h 385"/>
                <a:gd name="T28" fmla="*/ 94 w 216"/>
                <a:gd name="T29" fmla="*/ 173 h 385"/>
                <a:gd name="T30" fmla="*/ 94 w 216"/>
                <a:gd name="T31" fmla="*/ 222 h 385"/>
                <a:gd name="T32" fmla="*/ 103 w 216"/>
                <a:gd name="T33" fmla="*/ 290 h 385"/>
                <a:gd name="T34" fmla="*/ 110 w 216"/>
                <a:gd name="T35" fmla="*/ 333 h 385"/>
                <a:gd name="T36" fmla="*/ 91 w 216"/>
                <a:gd name="T37" fmla="*/ 385 h 385"/>
                <a:gd name="T38" fmla="*/ 55 w 216"/>
                <a:gd name="T39" fmla="*/ 250 h 385"/>
                <a:gd name="T40" fmla="*/ 39 w 216"/>
                <a:gd name="T41" fmla="*/ 204 h 385"/>
                <a:gd name="T42" fmla="*/ 12 w 216"/>
                <a:gd name="T43" fmla="*/ 135 h 385"/>
                <a:gd name="T44" fmla="*/ 0 w 216"/>
                <a:gd name="T45" fmla="*/ 115 h 385"/>
                <a:gd name="T46" fmla="*/ 16 w 216"/>
                <a:gd name="T47" fmla="*/ 88 h 385"/>
                <a:gd name="T48" fmla="*/ 64 w 216"/>
                <a:gd name="T49" fmla="*/ 64 h 385"/>
                <a:gd name="T50" fmla="*/ 81 w 216"/>
                <a:gd name="T51" fmla="*/ 87 h 385"/>
                <a:gd name="T52" fmla="*/ 71 w 216"/>
                <a:gd name="T53" fmla="*/ 46 h 385"/>
                <a:gd name="T54" fmla="*/ 91 w 216"/>
                <a:gd name="T5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701" name="Group 109"/>
          <p:cNvGrpSpPr/>
          <p:nvPr/>
        </p:nvGrpSpPr>
        <p:grpSpPr bwMode="auto">
          <a:xfrm>
            <a:off x="1997076" y="4635500"/>
            <a:ext cx="111125" cy="120650"/>
            <a:chOff x="278" y="1810"/>
            <a:chExt cx="70" cy="76"/>
          </a:xfrm>
        </p:grpSpPr>
        <p:sp>
          <p:nvSpPr>
            <p:cNvPr id="366702" name="Freeform 110"/>
            <p:cNvSpPr/>
            <p:nvPr/>
          </p:nvSpPr>
          <p:spPr bwMode="auto">
            <a:xfrm>
              <a:off x="297" y="1815"/>
              <a:ext cx="51" cy="71"/>
            </a:xfrm>
            <a:custGeom>
              <a:avLst/>
              <a:gdLst>
                <a:gd name="T0" fmla="*/ 3 w 256"/>
                <a:gd name="T1" fmla="*/ 130 h 356"/>
                <a:gd name="T2" fmla="*/ 11 w 256"/>
                <a:gd name="T3" fmla="*/ 155 h 356"/>
                <a:gd name="T4" fmla="*/ 26 w 256"/>
                <a:gd name="T5" fmla="*/ 167 h 356"/>
                <a:gd name="T6" fmla="*/ 35 w 256"/>
                <a:gd name="T7" fmla="*/ 187 h 356"/>
                <a:gd name="T8" fmla="*/ 45 w 256"/>
                <a:gd name="T9" fmla="*/ 203 h 356"/>
                <a:gd name="T10" fmla="*/ 61 w 256"/>
                <a:gd name="T11" fmla="*/ 218 h 356"/>
                <a:gd name="T12" fmla="*/ 73 w 256"/>
                <a:gd name="T13" fmla="*/ 227 h 356"/>
                <a:gd name="T14" fmla="*/ 93 w 256"/>
                <a:gd name="T15" fmla="*/ 238 h 356"/>
                <a:gd name="T16" fmla="*/ 96 w 256"/>
                <a:gd name="T17" fmla="*/ 252 h 356"/>
                <a:gd name="T18" fmla="*/ 96 w 256"/>
                <a:gd name="T19" fmla="*/ 270 h 356"/>
                <a:gd name="T20" fmla="*/ 91 w 256"/>
                <a:gd name="T21" fmla="*/ 315 h 356"/>
                <a:gd name="T22" fmla="*/ 127 w 256"/>
                <a:gd name="T23" fmla="*/ 341 h 356"/>
                <a:gd name="T24" fmla="*/ 157 w 256"/>
                <a:gd name="T25" fmla="*/ 354 h 356"/>
                <a:gd name="T26" fmla="*/ 182 w 256"/>
                <a:gd name="T27" fmla="*/ 356 h 356"/>
                <a:gd name="T28" fmla="*/ 207 w 256"/>
                <a:gd name="T29" fmla="*/ 354 h 356"/>
                <a:gd name="T30" fmla="*/ 216 w 256"/>
                <a:gd name="T31" fmla="*/ 325 h 356"/>
                <a:gd name="T32" fmla="*/ 222 w 256"/>
                <a:gd name="T33" fmla="*/ 260 h 356"/>
                <a:gd name="T34" fmla="*/ 237 w 256"/>
                <a:gd name="T35" fmla="*/ 237 h 356"/>
                <a:gd name="T36" fmla="*/ 248 w 256"/>
                <a:gd name="T37" fmla="*/ 204 h 356"/>
                <a:gd name="T38" fmla="*/ 250 w 256"/>
                <a:gd name="T39" fmla="*/ 173 h 356"/>
                <a:gd name="T40" fmla="*/ 255 w 256"/>
                <a:gd name="T41" fmla="*/ 131 h 356"/>
                <a:gd name="T42" fmla="*/ 256 w 256"/>
                <a:gd name="T43" fmla="*/ 107 h 356"/>
                <a:gd name="T44" fmla="*/ 255 w 256"/>
                <a:gd name="T45" fmla="*/ 92 h 356"/>
                <a:gd name="T46" fmla="*/ 248 w 256"/>
                <a:gd name="T47" fmla="*/ 66 h 356"/>
                <a:gd name="T48" fmla="*/ 234 w 256"/>
                <a:gd name="T49" fmla="*/ 52 h 356"/>
                <a:gd name="T50" fmla="*/ 215 w 256"/>
                <a:gd name="T51" fmla="*/ 48 h 356"/>
                <a:gd name="T52" fmla="*/ 208 w 256"/>
                <a:gd name="T53" fmla="*/ 33 h 356"/>
                <a:gd name="T54" fmla="*/ 191 w 256"/>
                <a:gd name="T55" fmla="*/ 23 h 356"/>
                <a:gd name="T56" fmla="*/ 173 w 256"/>
                <a:gd name="T57" fmla="*/ 33 h 356"/>
                <a:gd name="T58" fmla="*/ 160 w 256"/>
                <a:gd name="T59" fmla="*/ 12 h 356"/>
                <a:gd name="T60" fmla="*/ 140 w 256"/>
                <a:gd name="T61" fmla="*/ 5 h 356"/>
                <a:gd name="T62" fmla="*/ 118 w 256"/>
                <a:gd name="T63" fmla="*/ 24 h 356"/>
                <a:gd name="T64" fmla="*/ 108 w 256"/>
                <a:gd name="T65" fmla="*/ 0 h 356"/>
                <a:gd name="T66" fmla="*/ 78 w 256"/>
                <a:gd name="T67" fmla="*/ 3 h 356"/>
                <a:gd name="T68" fmla="*/ 63 w 256"/>
                <a:gd name="T69" fmla="*/ 42 h 356"/>
                <a:gd name="T70" fmla="*/ 60 w 256"/>
                <a:gd name="T71" fmla="*/ 64 h 356"/>
                <a:gd name="T72" fmla="*/ 57 w 256"/>
                <a:gd name="T73" fmla="*/ 93 h 356"/>
                <a:gd name="T74" fmla="*/ 51 w 256"/>
                <a:gd name="T75" fmla="*/ 131 h 356"/>
                <a:gd name="T76" fmla="*/ 43 w 256"/>
                <a:gd name="T77" fmla="*/ 116 h 356"/>
                <a:gd name="T78" fmla="*/ 39 w 256"/>
                <a:gd name="T79" fmla="*/ 89 h 356"/>
                <a:gd name="T80" fmla="*/ 34 w 256"/>
                <a:gd name="T81" fmla="*/ 70 h 356"/>
                <a:gd name="T82" fmla="*/ 27 w 256"/>
                <a:gd name="T83" fmla="*/ 61 h 356"/>
                <a:gd name="T84" fmla="*/ 12 w 256"/>
                <a:gd name="T85" fmla="*/ 54 h 356"/>
                <a:gd name="T86" fmla="*/ 4 w 256"/>
                <a:gd name="T87" fmla="*/ 57 h 356"/>
                <a:gd name="T88" fmla="*/ 0 w 256"/>
                <a:gd name="T89" fmla="*/ 66 h 356"/>
                <a:gd name="T90" fmla="*/ 5 w 256"/>
                <a:gd name="T91" fmla="*/ 80 h 356"/>
                <a:gd name="T92" fmla="*/ 7 w 256"/>
                <a:gd name="T93" fmla="*/ 107 h 356"/>
                <a:gd name="T94" fmla="*/ 3 w 256"/>
                <a:gd name="T95" fmla="*/ 13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3" name="Freeform 111"/>
            <p:cNvSpPr/>
            <p:nvPr/>
          </p:nvSpPr>
          <p:spPr bwMode="auto">
            <a:xfrm>
              <a:off x="320" y="1820"/>
              <a:ext cx="26" cy="27"/>
            </a:xfrm>
            <a:custGeom>
              <a:avLst/>
              <a:gdLst>
                <a:gd name="T0" fmla="*/ 6 w 129"/>
                <a:gd name="T1" fmla="*/ 2 h 134"/>
                <a:gd name="T2" fmla="*/ 13 w 129"/>
                <a:gd name="T3" fmla="*/ 30 h 134"/>
                <a:gd name="T4" fmla="*/ 22 w 129"/>
                <a:gd name="T5" fmla="*/ 49 h 134"/>
                <a:gd name="T6" fmla="*/ 11 w 129"/>
                <a:gd name="T7" fmla="*/ 91 h 134"/>
                <a:gd name="T8" fmla="*/ 18 w 129"/>
                <a:gd name="T9" fmla="*/ 100 h 134"/>
                <a:gd name="T10" fmla="*/ 28 w 129"/>
                <a:gd name="T11" fmla="*/ 104 h 134"/>
                <a:gd name="T12" fmla="*/ 41 w 129"/>
                <a:gd name="T13" fmla="*/ 102 h 134"/>
                <a:gd name="T14" fmla="*/ 51 w 129"/>
                <a:gd name="T15" fmla="*/ 79 h 134"/>
                <a:gd name="T16" fmla="*/ 60 w 129"/>
                <a:gd name="T17" fmla="*/ 61 h 134"/>
                <a:gd name="T18" fmla="*/ 55 w 129"/>
                <a:gd name="T19" fmla="*/ 36 h 134"/>
                <a:gd name="T20" fmla="*/ 53 w 129"/>
                <a:gd name="T21" fmla="*/ 9 h 134"/>
                <a:gd name="T22" fmla="*/ 60 w 129"/>
                <a:gd name="T23" fmla="*/ 12 h 134"/>
                <a:gd name="T24" fmla="*/ 62 w 129"/>
                <a:gd name="T25" fmla="*/ 37 h 134"/>
                <a:gd name="T26" fmla="*/ 65 w 129"/>
                <a:gd name="T27" fmla="*/ 54 h 134"/>
                <a:gd name="T28" fmla="*/ 65 w 129"/>
                <a:gd name="T29" fmla="*/ 68 h 134"/>
                <a:gd name="T30" fmla="*/ 56 w 129"/>
                <a:gd name="T31" fmla="*/ 83 h 134"/>
                <a:gd name="T32" fmla="*/ 47 w 129"/>
                <a:gd name="T33" fmla="*/ 100 h 134"/>
                <a:gd name="T34" fmla="*/ 46 w 129"/>
                <a:gd name="T35" fmla="*/ 116 h 134"/>
                <a:gd name="T36" fmla="*/ 56 w 129"/>
                <a:gd name="T37" fmla="*/ 123 h 134"/>
                <a:gd name="T38" fmla="*/ 75 w 129"/>
                <a:gd name="T39" fmla="*/ 120 h 134"/>
                <a:gd name="T40" fmla="*/ 86 w 129"/>
                <a:gd name="T41" fmla="*/ 106 h 134"/>
                <a:gd name="T42" fmla="*/ 104 w 129"/>
                <a:gd name="T43" fmla="*/ 84 h 134"/>
                <a:gd name="T44" fmla="*/ 103 w 129"/>
                <a:gd name="T45" fmla="*/ 70 h 134"/>
                <a:gd name="T46" fmla="*/ 101 w 129"/>
                <a:gd name="T47" fmla="*/ 45 h 134"/>
                <a:gd name="T48" fmla="*/ 107 w 129"/>
                <a:gd name="T49" fmla="*/ 65 h 134"/>
                <a:gd name="T50" fmla="*/ 108 w 129"/>
                <a:gd name="T51" fmla="*/ 84 h 134"/>
                <a:gd name="T52" fmla="*/ 94 w 129"/>
                <a:gd name="T53" fmla="*/ 103 h 134"/>
                <a:gd name="T54" fmla="*/ 93 w 129"/>
                <a:gd name="T55" fmla="*/ 117 h 134"/>
                <a:gd name="T56" fmla="*/ 96 w 129"/>
                <a:gd name="T57" fmla="*/ 128 h 134"/>
                <a:gd name="T58" fmla="*/ 104 w 129"/>
                <a:gd name="T59" fmla="*/ 131 h 134"/>
                <a:gd name="T60" fmla="*/ 113 w 129"/>
                <a:gd name="T61" fmla="*/ 125 h 134"/>
                <a:gd name="T62" fmla="*/ 129 w 129"/>
                <a:gd name="T63" fmla="*/ 109 h 134"/>
                <a:gd name="T64" fmla="*/ 116 w 129"/>
                <a:gd name="T65" fmla="*/ 127 h 134"/>
                <a:gd name="T66" fmla="*/ 111 w 129"/>
                <a:gd name="T67" fmla="*/ 134 h 134"/>
                <a:gd name="T68" fmla="*/ 97 w 129"/>
                <a:gd name="T69" fmla="*/ 134 h 134"/>
                <a:gd name="T70" fmla="*/ 91 w 129"/>
                <a:gd name="T71" fmla="*/ 126 h 134"/>
                <a:gd name="T72" fmla="*/ 87 w 129"/>
                <a:gd name="T73" fmla="*/ 114 h 134"/>
                <a:gd name="T74" fmla="*/ 79 w 129"/>
                <a:gd name="T75" fmla="*/ 125 h 134"/>
                <a:gd name="T76" fmla="*/ 63 w 129"/>
                <a:gd name="T77" fmla="*/ 127 h 134"/>
                <a:gd name="T78" fmla="*/ 49 w 129"/>
                <a:gd name="T79" fmla="*/ 127 h 134"/>
                <a:gd name="T80" fmla="*/ 43 w 129"/>
                <a:gd name="T81" fmla="*/ 116 h 134"/>
                <a:gd name="T82" fmla="*/ 41 w 129"/>
                <a:gd name="T83" fmla="*/ 106 h 134"/>
                <a:gd name="T84" fmla="*/ 35 w 129"/>
                <a:gd name="T85" fmla="*/ 109 h 134"/>
                <a:gd name="T86" fmla="*/ 24 w 129"/>
                <a:gd name="T87" fmla="*/ 109 h 134"/>
                <a:gd name="T88" fmla="*/ 11 w 129"/>
                <a:gd name="T89" fmla="*/ 101 h 134"/>
                <a:gd name="T90" fmla="*/ 8 w 129"/>
                <a:gd name="T91" fmla="*/ 86 h 134"/>
                <a:gd name="T92" fmla="*/ 18 w 129"/>
                <a:gd name="T93" fmla="*/ 51 h 134"/>
                <a:gd name="T94" fmla="*/ 7 w 129"/>
                <a:gd name="T95" fmla="*/ 29 h 134"/>
                <a:gd name="T96" fmla="*/ 0 w 129"/>
                <a:gd name="T97" fmla="*/ 0 h 134"/>
                <a:gd name="T98" fmla="*/ 6 w 129"/>
                <a:gd name="T99"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4" name="Freeform 112"/>
            <p:cNvSpPr/>
            <p:nvPr/>
          </p:nvSpPr>
          <p:spPr bwMode="auto">
            <a:xfrm>
              <a:off x="325" y="1834"/>
              <a:ext cx="4" cy="1"/>
            </a:xfrm>
            <a:custGeom>
              <a:avLst/>
              <a:gdLst>
                <a:gd name="T0" fmla="*/ 0 w 20"/>
                <a:gd name="T1" fmla="*/ 5 h 5"/>
                <a:gd name="T2" fmla="*/ 6 w 20"/>
                <a:gd name="T3" fmla="*/ 4 h 5"/>
                <a:gd name="T4" fmla="*/ 20 w 20"/>
                <a:gd name="T5" fmla="*/ 4 h 5"/>
                <a:gd name="T6" fmla="*/ 5 w 20"/>
                <a:gd name="T7" fmla="*/ 0 h 5"/>
                <a:gd name="T8" fmla="*/ 0 w 20"/>
                <a:gd name="T9" fmla="*/ 5 h 5"/>
              </a:gdLst>
              <a:ahLst/>
              <a:cxnLst>
                <a:cxn ang="0">
                  <a:pos x="T0" y="T1"/>
                </a:cxn>
                <a:cxn ang="0">
                  <a:pos x="T2" y="T3"/>
                </a:cxn>
                <a:cxn ang="0">
                  <a:pos x="T4" y="T5"/>
                </a:cxn>
                <a:cxn ang="0">
                  <a:pos x="T6" y="T7"/>
                </a:cxn>
                <a:cxn ang="0">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5" name="Freeform 113"/>
            <p:cNvSpPr/>
            <p:nvPr/>
          </p:nvSpPr>
          <p:spPr bwMode="auto">
            <a:xfrm>
              <a:off x="330" y="1838"/>
              <a:ext cx="6" cy="2"/>
            </a:xfrm>
            <a:custGeom>
              <a:avLst/>
              <a:gdLst>
                <a:gd name="T0" fmla="*/ 27 w 27"/>
                <a:gd name="T1" fmla="*/ 7 h 9"/>
                <a:gd name="T2" fmla="*/ 23 w 27"/>
                <a:gd name="T3" fmla="*/ 3 h 9"/>
                <a:gd name="T4" fmla="*/ 17 w 27"/>
                <a:gd name="T5" fmla="*/ 1 h 9"/>
                <a:gd name="T6" fmla="*/ 6 w 27"/>
                <a:gd name="T7" fmla="*/ 0 h 9"/>
                <a:gd name="T8" fmla="*/ 0 w 27"/>
                <a:gd name="T9" fmla="*/ 9 h 9"/>
                <a:gd name="T10" fmla="*/ 8 w 27"/>
                <a:gd name="T11" fmla="*/ 3 h 9"/>
                <a:gd name="T12" fmla="*/ 15 w 27"/>
                <a:gd name="T13" fmla="*/ 2 h 9"/>
                <a:gd name="T14" fmla="*/ 27 w 27"/>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6" name="Freeform 114"/>
            <p:cNvSpPr/>
            <p:nvPr/>
          </p:nvSpPr>
          <p:spPr bwMode="auto">
            <a:xfrm>
              <a:off x="340" y="1841"/>
              <a:ext cx="4" cy="1"/>
            </a:xfrm>
            <a:custGeom>
              <a:avLst/>
              <a:gdLst>
                <a:gd name="T0" fmla="*/ 0 w 20"/>
                <a:gd name="T1" fmla="*/ 2 h 4"/>
                <a:gd name="T2" fmla="*/ 4 w 20"/>
                <a:gd name="T3" fmla="*/ 0 h 4"/>
                <a:gd name="T4" fmla="*/ 11 w 20"/>
                <a:gd name="T5" fmla="*/ 0 h 4"/>
                <a:gd name="T6" fmla="*/ 20 w 20"/>
                <a:gd name="T7" fmla="*/ 4 h 4"/>
                <a:gd name="T8" fmla="*/ 15 w 20"/>
                <a:gd name="T9" fmla="*/ 3 h 4"/>
                <a:gd name="T10" fmla="*/ 11 w 20"/>
                <a:gd name="T11" fmla="*/ 1 h 4"/>
                <a:gd name="T12" fmla="*/ 0 w 20"/>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7" name="Freeform 115"/>
            <p:cNvSpPr/>
            <p:nvPr/>
          </p:nvSpPr>
          <p:spPr bwMode="auto">
            <a:xfrm>
              <a:off x="323" y="1845"/>
              <a:ext cx="6" cy="15"/>
            </a:xfrm>
            <a:custGeom>
              <a:avLst/>
              <a:gdLst>
                <a:gd name="T0" fmla="*/ 0 w 31"/>
                <a:gd name="T1" fmla="*/ 0 h 74"/>
                <a:gd name="T2" fmla="*/ 17 w 31"/>
                <a:gd name="T3" fmla="*/ 19 h 74"/>
                <a:gd name="T4" fmla="*/ 25 w 31"/>
                <a:gd name="T5" fmla="*/ 42 h 74"/>
                <a:gd name="T6" fmla="*/ 26 w 31"/>
                <a:gd name="T7" fmla="*/ 74 h 74"/>
                <a:gd name="T8" fmla="*/ 31 w 31"/>
                <a:gd name="T9" fmla="*/ 49 h 74"/>
                <a:gd name="T10" fmla="*/ 29 w 31"/>
                <a:gd name="T11" fmla="*/ 29 h 74"/>
                <a:gd name="T12" fmla="*/ 24 w 31"/>
                <a:gd name="T13" fmla="*/ 20 h 74"/>
                <a:gd name="T14" fmla="*/ 0 w 31"/>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8" name="Freeform 116"/>
            <p:cNvSpPr/>
            <p:nvPr/>
          </p:nvSpPr>
          <p:spPr bwMode="auto">
            <a:xfrm>
              <a:off x="308" y="1839"/>
              <a:ext cx="10" cy="5"/>
            </a:xfrm>
            <a:custGeom>
              <a:avLst/>
              <a:gdLst>
                <a:gd name="T0" fmla="*/ 0 w 50"/>
                <a:gd name="T1" fmla="*/ 11 h 25"/>
                <a:gd name="T2" fmla="*/ 19 w 50"/>
                <a:gd name="T3" fmla="*/ 13 h 25"/>
                <a:gd name="T4" fmla="*/ 50 w 50"/>
                <a:gd name="T5" fmla="*/ 25 h 25"/>
                <a:gd name="T6" fmla="*/ 28 w 50"/>
                <a:gd name="T7" fmla="*/ 9 h 25"/>
                <a:gd name="T8" fmla="*/ 1 w 50"/>
                <a:gd name="T9" fmla="*/ 0 h 25"/>
                <a:gd name="T10" fmla="*/ 0 w 50"/>
                <a:gd name="T11" fmla="*/ 11 h 25"/>
              </a:gdLst>
              <a:ahLst/>
              <a:cxnLst>
                <a:cxn ang="0">
                  <a:pos x="T0" y="T1"/>
                </a:cxn>
                <a:cxn ang="0">
                  <a:pos x="T2" y="T3"/>
                </a:cxn>
                <a:cxn ang="0">
                  <a:pos x="T4" y="T5"/>
                </a:cxn>
                <a:cxn ang="0">
                  <a:pos x="T6" y="T7"/>
                </a:cxn>
                <a:cxn ang="0">
                  <a:pos x="T8" y="T9"/>
                </a:cxn>
                <a:cxn ang="0">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09" name="Freeform 117"/>
            <p:cNvSpPr/>
            <p:nvPr/>
          </p:nvSpPr>
          <p:spPr bwMode="auto">
            <a:xfrm>
              <a:off x="321" y="1862"/>
              <a:ext cx="7" cy="7"/>
            </a:xfrm>
            <a:custGeom>
              <a:avLst/>
              <a:gdLst>
                <a:gd name="T0" fmla="*/ 39 w 39"/>
                <a:gd name="T1" fmla="*/ 0 h 33"/>
                <a:gd name="T2" fmla="*/ 20 w 39"/>
                <a:gd name="T3" fmla="*/ 21 h 33"/>
                <a:gd name="T4" fmla="*/ 0 w 39"/>
                <a:gd name="T5" fmla="*/ 33 h 33"/>
                <a:gd name="T6" fmla="*/ 26 w 39"/>
                <a:gd name="T7" fmla="*/ 25 h 33"/>
                <a:gd name="T8" fmla="*/ 39 w 39"/>
                <a:gd name="T9" fmla="*/ 0 h 33"/>
              </a:gdLst>
              <a:ahLst/>
              <a:cxnLst>
                <a:cxn ang="0">
                  <a:pos x="T0" y="T1"/>
                </a:cxn>
                <a:cxn ang="0">
                  <a:pos x="T2" y="T3"/>
                </a:cxn>
                <a:cxn ang="0">
                  <a:pos x="T4" y="T5"/>
                </a:cxn>
                <a:cxn ang="0">
                  <a:pos x="T6" y="T7"/>
                </a:cxn>
                <a:cxn ang="0">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0" name="Freeform 118"/>
            <p:cNvSpPr/>
            <p:nvPr/>
          </p:nvSpPr>
          <p:spPr bwMode="auto">
            <a:xfrm>
              <a:off x="332" y="1858"/>
              <a:ext cx="7" cy="7"/>
            </a:xfrm>
            <a:custGeom>
              <a:avLst/>
              <a:gdLst>
                <a:gd name="T0" fmla="*/ 0 w 38"/>
                <a:gd name="T1" fmla="*/ 0 h 35"/>
                <a:gd name="T2" fmla="*/ 3 w 38"/>
                <a:gd name="T3" fmla="*/ 13 h 35"/>
                <a:gd name="T4" fmla="*/ 22 w 38"/>
                <a:gd name="T5" fmla="*/ 29 h 35"/>
                <a:gd name="T6" fmla="*/ 38 w 38"/>
                <a:gd name="T7" fmla="*/ 35 h 35"/>
                <a:gd name="T8" fmla="*/ 12 w 38"/>
                <a:gd name="T9" fmla="*/ 32 h 35"/>
                <a:gd name="T10" fmla="*/ 3 w 38"/>
                <a:gd name="T11" fmla="*/ 21 h 35"/>
                <a:gd name="T12" fmla="*/ 2 w 38"/>
                <a:gd name="T13" fmla="*/ 9 h 35"/>
                <a:gd name="T14" fmla="*/ 0 w 38"/>
                <a:gd name="T15" fmla="*/ 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1" name="Freeform 119"/>
            <p:cNvSpPr/>
            <p:nvPr/>
          </p:nvSpPr>
          <p:spPr bwMode="auto">
            <a:xfrm>
              <a:off x="278" y="1810"/>
              <a:ext cx="41" cy="31"/>
            </a:xfrm>
            <a:custGeom>
              <a:avLst/>
              <a:gdLst>
                <a:gd name="T0" fmla="*/ 165 w 201"/>
                <a:gd name="T1" fmla="*/ 158 h 158"/>
                <a:gd name="T2" fmla="*/ 201 w 201"/>
                <a:gd name="T3" fmla="*/ 76 h 158"/>
                <a:gd name="T4" fmla="*/ 132 w 201"/>
                <a:gd name="T5" fmla="*/ 31 h 158"/>
                <a:gd name="T6" fmla="*/ 29 w 201"/>
                <a:gd name="T7" fmla="*/ 0 h 158"/>
                <a:gd name="T8" fmla="*/ 0 w 201"/>
                <a:gd name="T9" fmla="*/ 87 h 158"/>
                <a:gd name="T10" fmla="*/ 94 w 201"/>
                <a:gd name="T11" fmla="*/ 114 h 158"/>
                <a:gd name="T12" fmla="*/ 165 w 201"/>
                <a:gd name="T13" fmla="*/ 158 h 158"/>
              </a:gdLst>
              <a:ahLst/>
              <a:cxnLst>
                <a:cxn ang="0">
                  <a:pos x="T0" y="T1"/>
                </a:cxn>
                <a:cxn ang="0">
                  <a:pos x="T2" y="T3"/>
                </a:cxn>
                <a:cxn ang="0">
                  <a:pos x="T4" y="T5"/>
                </a:cxn>
                <a:cxn ang="0">
                  <a:pos x="T6" y="T7"/>
                </a:cxn>
                <a:cxn ang="0">
                  <a:pos x="T8" y="T9"/>
                </a:cxn>
                <a:cxn ang="0">
                  <a:pos x="T10" y="T11"/>
                </a:cxn>
                <a:cxn ang="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2" name="Oval 120"/>
            <p:cNvSpPr>
              <a:spLocks noChangeArrowheads="1"/>
            </p:cNvSpPr>
            <p:nvPr/>
          </p:nvSpPr>
          <p:spPr bwMode="auto">
            <a:xfrm>
              <a:off x="304" y="1824"/>
              <a:ext cx="7" cy="9"/>
            </a:xfrm>
            <a:prstGeom prst="ellipse">
              <a:avLst/>
            </a:prstGeom>
            <a:solidFill>
              <a:srgbClr val="FFFFFF"/>
            </a:solidFill>
            <a:ln w="3175">
              <a:solidFill>
                <a:srgbClr val="000000"/>
              </a:solidFill>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3" name="Freeform 121"/>
            <p:cNvSpPr/>
            <p:nvPr/>
          </p:nvSpPr>
          <p:spPr bwMode="auto">
            <a:xfrm>
              <a:off x="297" y="1826"/>
              <a:ext cx="10" cy="22"/>
            </a:xfrm>
            <a:custGeom>
              <a:avLst/>
              <a:gdLst>
                <a:gd name="T0" fmla="*/ 4 w 52"/>
                <a:gd name="T1" fmla="*/ 74 h 111"/>
                <a:gd name="T2" fmla="*/ 7 w 52"/>
                <a:gd name="T3" fmla="*/ 55 h 111"/>
                <a:gd name="T4" fmla="*/ 5 w 52"/>
                <a:gd name="T5" fmla="*/ 36 h 111"/>
                <a:gd name="T6" fmla="*/ 4 w 52"/>
                <a:gd name="T7" fmla="*/ 23 h 111"/>
                <a:gd name="T8" fmla="*/ 0 w 52"/>
                <a:gd name="T9" fmla="*/ 13 h 111"/>
                <a:gd name="T10" fmla="*/ 4 w 52"/>
                <a:gd name="T11" fmla="*/ 4 h 111"/>
                <a:gd name="T12" fmla="*/ 11 w 52"/>
                <a:gd name="T13" fmla="*/ 0 h 111"/>
                <a:gd name="T14" fmla="*/ 27 w 52"/>
                <a:gd name="T15" fmla="*/ 6 h 111"/>
                <a:gd name="T16" fmla="*/ 33 w 52"/>
                <a:gd name="T17" fmla="*/ 16 h 111"/>
                <a:gd name="T18" fmla="*/ 37 w 52"/>
                <a:gd name="T19" fmla="*/ 27 h 111"/>
                <a:gd name="T20" fmla="*/ 39 w 52"/>
                <a:gd name="T21" fmla="*/ 39 h 111"/>
                <a:gd name="T22" fmla="*/ 40 w 52"/>
                <a:gd name="T23" fmla="*/ 59 h 111"/>
                <a:gd name="T24" fmla="*/ 52 w 52"/>
                <a:gd name="T25" fmla="*/ 79 h 111"/>
                <a:gd name="T26" fmla="*/ 23 w 52"/>
                <a:gd name="T27" fmla="*/ 111 h 111"/>
                <a:gd name="T28" fmla="*/ 11 w 52"/>
                <a:gd name="T29" fmla="*/ 103 h 111"/>
                <a:gd name="T30" fmla="*/ 4 w 52"/>
                <a:gd name="T31" fmla="*/ 7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4" name="Freeform 122"/>
            <p:cNvSpPr/>
            <p:nvPr/>
          </p:nvSpPr>
          <p:spPr bwMode="auto">
            <a:xfrm>
              <a:off x="301" y="1841"/>
              <a:ext cx="7" cy="7"/>
            </a:xfrm>
            <a:custGeom>
              <a:avLst/>
              <a:gdLst>
                <a:gd name="T0" fmla="*/ 24 w 35"/>
                <a:gd name="T1" fmla="*/ 0 h 34"/>
                <a:gd name="T2" fmla="*/ 35 w 35"/>
                <a:gd name="T3" fmla="*/ 4 h 34"/>
                <a:gd name="T4" fmla="*/ 9 w 35"/>
                <a:gd name="T5" fmla="*/ 34 h 34"/>
                <a:gd name="T6" fmla="*/ 0 w 35"/>
                <a:gd name="T7" fmla="*/ 26 h 34"/>
                <a:gd name="T8" fmla="*/ 24 w 35"/>
                <a:gd name="T9" fmla="*/ 0 h 34"/>
              </a:gdLst>
              <a:ahLst/>
              <a:cxnLst>
                <a:cxn ang="0">
                  <a:pos x="T0" y="T1"/>
                </a:cxn>
                <a:cxn ang="0">
                  <a:pos x="T2" y="T3"/>
                </a:cxn>
                <a:cxn ang="0">
                  <a:pos x="T4" y="T5"/>
                </a:cxn>
                <a:cxn ang="0">
                  <a:pos x="T6" y="T7"/>
                </a:cxn>
                <a:cxn ang="0">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5" name="Freeform 123"/>
            <p:cNvSpPr/>
            <p:nvPr/>
          </p:nvSpPr>
          <p:spPr bwMode="auto">
            <a:xfrm>
              <a:off x="312" y="1815"/>
              <a:ext cx="9" cy="20"/>
            </a:xfrm>
            <a:custGeom>
              <a:avLst/>
              <a:gdLst>
                <a:gd name="T0" fmla="*/ 0 w 48"/>
                <a:gd name="T1" fmla="*/ 23 h 97"/>
                <a:gd name="T2" fmla="*/ 4 w 48"/>
                <a:gd name="T3" fmla="*/ 43 h 97"/>
                <a:gd name="T4" fmla="*/ 6 w 48"/>
                <a:gd name="T5" fmla="*/ 51 h 97"/>
                <a:gd name="T6" fmla="*/ 7 w 48"/>
                <a:gd name="T7" fmla="*/ 64 h 97"/>
                <a:gd name="T8" fmla="*/ 5 w 48"/>
                <a:gd name="T9" fmla="*/ 73 h 97"/>
                <a:gd name="T10" fmla="*/ 7 w 48"/>
                <a:gd name="T11" fmla="*/ 84 h 97"/>
                <a:gd name="T12" fmla="*/ 14 w 48"/>
                <a:gd name="T13" fmla="*/ 95 h 97"/>
                <a:gd name="T14" fmla="*/ 21 w 48"/>
                <a:gd name="T15" fmla="*/ 96 h 97"/>
                <a:gd name="T16" fmla="*/ 34 w 48"/>
                <a:gd name="T17" fmla="*/ 97 h 97"/>
                <a:gd name="T18" fmla="*/ 43 w 48"/>
                <a:gd name="T19" fmla="*/ 91 h 97"/>
                <a:gd name="T20" fmla="*/ 46 w 48"/>
                <a:gd name="T21" fmla="*/ 88 h 97"/>
                <a:gd name="T22" fmla="*/ 48 w 48"/>
                <a:gd name="T23" fmla="*/ 77 h 97"/>
                <a:gd name="T24" fmla="*/ 48 w 48"/>
                <a:gd name="T25" fmla="*/ 59 h 97"/>
                <a:gd name="T26" fmla="*/ 48 w 48"/>
                <a:gd name="T27" fmla="*/ 48 h 97"/>
                <a:gd name="T28" fmla="*/ 46 w 48"/>
                <a:gd name="T29" fmla="*/ 32 h 97"/>
                <a:gd name="T30" fmla="*/ 44 w 48"/>
                <a:gd name="T31" fmla="*/ 22 h 97"/>
                <a:gd name="T32" fmla="*/ 36 w 48"/>
                <a:gd name="T33" fmla="*/ 0 h 97"/>
                <a:gd name="T34" fmla="*/ 7 w 48"/>
                <a:gd name="T35" fmla="*/ 1 h 97"/>
                <a:gd name="T36" fmla="*/ 0 w 48"/>
                <a:gd name="T37" fmla="*/ 2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6" name="Freeform 124"/>
            <p:cNvSpPr/>
            <p:nvPr/>
          </p:nvSpPr>
          <p:spPr bwMode="auto">
            <a:xfrm>
              <a:off x="315" y="1828"/>
              <a:ext cx="5" cy="4"/>
            </a:xfrm>
            <a:custGeom>
              <a:avLst/>
              <a:gdLst>
                <a:gd name="T0" fmla="*/ 24 w 24"/>
                <a:gd name="T1" fmla="*/ 5 h 20"/>
                <a:gd name="T2" fmla="*/ 12 w 24"/>
                <a:gd name="T3" fmla="*/ 0 h 20"/>
                <a:gd name="T4" fmla="*/ 3 w 24"/>
                <a:gd name="T5" fmla="*/ 1 h 20"/>
                <a:gd name="T6" fmla="*/ 0 w 24"/>
                <a:gd name="T7" fmla="*/ 5 h 20"/>
                <a:gd name="T8" fmla="*/ 1 w 24"/>
                <a:gd name="T9" fmla="*/ 20 h 20"/>
                <a:gd name="T10" fmla="*/ 3 w 24"/>
                <a:gd name="T11" fmla="*/ 8 h 20"/>
                <a:gd name="T12" fmla="*/ 5 w 24"/>
                <a:gd name="T13" fmla="*/ 4 h 20"/>
                <a:gd name="T14" fmla="*/ 24 w 24"/>
                <a:gd name="T15" fmla="*/ 5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743" name="Freeform 151"/>
          <p:cNvSpPr/>
          <p:nvPr/>
        </p:nvSpPr>
        <p:spPr bwMode="auto">
          <a:xfrm>
            <a:off x="1870076" y="4530725"/>
            <a:ext cx="168275" cy="184150"/>
          </a:xfrm>
          <a:custGeom>
            <a:avLst/>
            <a:gdLst>
              <a:gd name="T0" fmla="*/ 357 w 529"/>
              <a:gd name="T1" fmla="*/ 20 h 580"/>
              <a:gd name="T2" fmla="*/ 403 w 529"/>
              <a:gd name="T3" fmla="*/ 53 h 580"/>
              <a:gd name="T4" fmla="*/ 428 w 529"/>
              <a:gd name="T5" fmla="*/ 94 h 580"/>
              <a:gd name="T6" fmla="*/ 451 w 529"/>
              <a:gd name="T7" fmla="*/ 138 h 580"/>
              <a:gd name="T8" fmla="*/ 464 w 529"/>
              <a:gd name="T9" fmla="*/ 161 h 580"/>
              <a:gd name="T10" fmla="*/ 464 w 529"/>
              <a:gd name="T11" fmla="*/ 186 h 580"/>
              <a:gd name="T12" fmla="*/ 453 w 529"/>
              <a:gd name="T13" fmla="*/ 216 h 580"/>
              <a:gd name="T14" fmla="*/ 476 w 529"/>
              <a:gd name="T15" fmla="*/ 239 h 580"/>
              <a:gd name="T16" fmla="*/ 511 w 529"/>
              <a:gd name="T17" fmla="*/ 301 h 580"/>
              <a:gd name="T18" fmla="*/ 529 w 529"/>
              <a:gd name="T19" fmla="*/ 334 h 580"/>
              <a:gd name="T20" fmla="*/ 529 w 529"/>
              <a:gd name="T21" fmla="*/ 346 h 580"/>
              <a:gd name="T22" fmla="*/ 526 w 529"/>
              <a:gd name="T23" fmla="*/ 357 h 580"/>
              <a:gd name="T24" fmla="*/ 510 w 529"/>
              <a:gd name="T25" fmla="*/ 361 h 580"/>
              <a:gd name="T26" fmla="*/ 487 w 529"/>
              <a:gd name="T27" fmla="*/ 362 h 580"/>
              <a:gd name="T28" fmla="*/ 475 w 529"/>
              <a:gd name="T29" fmla="*/ 366 h 580"/>
              <a:gd name="T30" fmla="*/ 476 w 529"/>
              <a:gd name="T31" fmla="*/ 391 h 580"/>
              <a:gd name="T32" fmla="*/ 483 w 529"/>
              <a:gd name="T33" fmla="*/ 421 h 580"/>
              <a:gd name="T34" fmla="*/ 469 w 529"/>
              <a:gd name="T35" fmla="*/ 437 h 580"/>
              <a:gd name="T36" fmla="*/ 473 w 529"/>
              <a:gd name="T37" fmla="*/ 459 h 580"/>
              <a:gd name="T38" fmla="*/ 462 w 529"/>
              <a:gd name="T39" fmla="*/ 472 h 580"/>
              <a:gd name="T40" fmla="*/ 452 w 529"/>
              <a:gd name="T41" fmla="*/ 511 h 580"/>
              <a:gd name="T42" fmla="*/ 436 w 529"/>
              <a:gd name="T43" fmla="*/ 523 h 580"/>
              <a:gd name="T44" fmla="*/ 411 w 529"/>
              <a:gd name="T45" fmla="*/ 523 h 580"/>
              <a:gd name="T46" fmla="*/ 375 w 529"/>
              <a:gd name="T47" fmla="*/ 517 h 580"/>
              <a:gd name="T48" fmla="*/ 339 w 529"/>
              <a:gd name="T49" fmla="*/ 511 h 580"/>
              <a:gd name="T50" fmla="*/ 342 w 529"/>
              <a:gd name="T51" fmla="*/ 580 h 580"/>
              <a:gd name="T52" fmla="*/ 60 w 529"/>
              <a:gd name="T53" fmla="*/ 488 h 580"/>
              <a:gd name="T54" fmla="*/ 83 w 529"/>
              <a:gd name="T55" fmla="*/ 435 h 580"/>
              <a:gd name="T56" fmla="*/ 78 w 529"/>
              <a:gd name="T57" fmla="*/ 394 h 580"/>
              <a:gd name="T58" fmla="*/ 0 w 529"/>
              <a:gd name="T59" fmla="*/ 316 h 580"/>
              <a:gd name="T60" fmla="*/ 0 w 529"/>
              <a:gd name="T61" fmla="*/ 111 h 580"/>
              <a:gd name="T62" fmla="*/ 52 w 529"/>
              <a:gd name="T63" fmla="*/ 55 h 580"/>
              <a:gd name="T64" fmla="*/ 117 w 529"/>
              <a:gd name="T65" fmla="*/ 25 h 580"/>
              <a:gd name="T66" fmla="*/ 186 w 529"/>
              <a:gd name="T67" fmla="*/ 0 h 580"/>
              <a:gd name="T68" fmla="*/ 276 w 529"/>
              <a:gd name="T69" fmla="*/ 13 h 580"/>
              <a:gd name="T70" fmla="*/ 357 w 529"/>
              <a:gd name="T71" fmla="*/ 20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4" name="Freeform 152"/>
          <p:cNvSpPr/>
          <p:nvPr/>
        </p:nvSpPr>
        <p:spPr bwMode="auto">
          <a:xfrm>
            <a:off x="2019301" y="4641850"/>
            <a:ext cx="9525" cy="1588"/>
          </a:xfrm>
          <a:custGeom>
            <a:avLst/>
            <a:gdLst>
              <a:gd name="T0" fmla="*/ 30 w 30"/>
              <a:gd name="T1" fmla="*/ 2 h 6"/>
              <a:gd name="T2" fmla="*/ 23 w 30"/>
              <a:gd name="T3" fmla="*/ 6 h 6"/>
              <a:gd name="T4" fmla="*/ 8 w 30"/>
              <a:gd name="T5" fmla="*/ 5 h 6"/>
              <a:gd name="T6" fmla="*/ 2 w 30"/>
              <a:gd name="T7" fmla="*/ 6 h 6"/>
              <a:gd name="T8" fmla="*/ 0 w 30"/>
              <a:gd name="T9" fmla="*/ 1 h 6"/>
              <a:gd name="T10" fmla="*/ 9 w 30"/>
              <a:gd name="T11" fmla="*/ 0 h 6"/>
              <a:gd name="T12" fmla="*/ 30 w 30"/>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5" name="Freeform 153"/>
          <p:cNvSpPr/>
          <p:nvPr/>
        </p:nvSpPr>
        <p:spPr bwMode="auto">
          <a:xfrm>
            <a:off x="2016126" y="4635500"/>
            <a:ext cx="3175" cy="6350"/>
          </a:xfrm>
          <a:custGeom>
            <a:avLst/>
            <a:gdLst>
              <a:gd name="T0" fmla="*/ 11 w 11"/>
              <a:gd name="T1" fmla="*/ 0 h 22"/>
              <a:gd name="T2" fmla="*/ 3 w 11"/>
              <a:gd name="T3" fmla="*/ 6 h 22"/>
              <a:gd name="T4" fmla="*/ 3 w 11"/>
              <a:gd name="T5" fmla="*/ 12 h 22"/>
              <a:gd name="T6" fmla="*/ 2 w 11"/>
              <a:gd name="T7" fmla="*/ 22 h 22"/>
              <a:gd name="T8" fmla="*/ 0 w 11"/>
              <a:gd name="T9" fmla="*/ 8 h 22"/>
              <a:gd name="T10" fmla="*/ 0 w 11"/>
              <a:gd name="T11" fmla="*/ 1 h 22"/>
              <a:gd name="T12" fmla="*/ 11 w 11"/>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6" name="Freeform 154"/>
          <p:cNvSpPr/>
          <p:nvPr/>
        </p:nvSpPr>
        <p:spPr bwMode="auto">
          <a:xfrm>
            <a:off x="2008188" y="4613275"/>
            <a:ext cx="4762" cy="12700"/>
          </a:xfrm>
          <a:custGeom>
            <a:avLst/>
            <a:gdLst>
              <a:gd name="T0" fmla="*/ 0 w 13"/>
              <a:gd name="T1" fmla="*/ 0 h 42"/>
              <a:gd name="T2" fmla="*/ 9 w 13"/>
              <a:gd name="T3" fmla="*/ 24 h 42"/>
              <a:gd name="T4" fmla="*/ 13 w 13"/>
              <a:gd name="T5" fmla="*/ 42 h 42"/>
              <a:gd name="T6" fmla="*/ 6 w 13"/>
              <a:gd name="T7" fmla="*/ 30 h 42"/>
              <a:gd name="T8" fmla="*/ 0 w 13"/>
              <a:gd name="T9" fmla="*/ 0 h 42"/>
            </a:gdLst>
            <a:ahLst/>
            <a:cxnLst>
              <a:cxn ang="0">
                <a:pos x="T0" y="T1"/>
              </a:cxn>
              <a:cxn ang="0">
                <a:pos x="T2" y="T3"/>
              </a:cxn>
              <a:cxn ang="0">
                <a:pos x="T4" y="T5"/>
              </a:cxn>
              <a:cxn ang="0">
                <a:pos x="T6" y="T7"/>
              </a:cxn>
              <a:cxn ang="0">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7" name="Freeform 155"/>
          <p:cNvSpPr/>
          <p:nvPr/>
        </p:nvSpPr>
        <p:spPr bwMode="auto">
          <a:xfrm>
            <a:off x="1990725" y="4598988"/>
            <a:ext cx="19050" cy="11112"/>
          </a:xfrm>
          <a:custGeom>
            <a:avLst/>
            <a:gdLst>
              <a:gd name="T0" fmla="*/ 56 w 56"/>
              <a:gd name="T1" fmla="*/ 0 h 36"/>
              <a:gd name="T2" fmla="*/ 45 w 56"/>
              <a:gd name="T3" fmla="*/ 20 h 36"/>
              <a:gd name="T4" fmla="*/ 47 w 56"/>
              <a:gd name="T5" fmla="*/ 26 h 36"/>
              <a:gd name="T6" fmla="*/ 47 w 56"/>
              <a:gd name="T7" fmla="*/ 29 h 36"/>
              <a:gd name="T8" fmla="*/ 51 w 56"/>
              <a:gd name="T9" fmla="*/ 36 h 36"/>
              <a:gd name="T10" fmla="*/ 43 w 56"/>
              <a:gd name="T11" fmla="*/ 24 h 36"/>
              <a:gd name="T12" fmla="*/ 32 w 56"/>
              <a:gd name="T13" fmla="*/ 24 h 36"/>
              <a:gd name="T14" fmla="*/ 20 w 56"/>
              <a:gd name="T15" fmla="*/ 20 h 36"/>
              <a:gd name="T16" fmla="*/ 0 w 56"/>
              <a:gd name="T17" fmla="*/ 19 h 36"/>
              <a:gd name="T18" fmla="*/ 20 w 56"/>
              <a:gd name="T19" fmla="*/ 7 h 36"/>
              <a:gd name="T20" fmla="*/ 56 w 56"/>
              <a:gd name="T2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8" name="Freeform 156"/>
          <p:cNvSpPr/>
          <p:nvPr/>
        </p:nvSpPr>
        <p:spPr bwMode="auto">
          <a:xfrm>
            <a:off x="1982788" y="4581526"/>
            <a:ext cx="31750" cy="11113"/>
          </a:xfrm>
          <a:custGeom>
            <a:avLst/>
            <a:gdLst>
              <a:gd name="T0" fmla="*/ 96 w 96"/>
              <a:gd name="T1" fmla="*/ 17 h 34"/>
              <a:gd name="T2" fmla="*/ 92 w 96"/>
              <a:gd name="T3" fmla="*/ 29 h 34"/>
              <a:gd name="T4" fmla="*/ 81 w 96"/>
              <a:gd name="T5" fmla="*/ 34 h 34"/>
              <a:gd name="T6" fmla="*/ 66 w 96"/>
              <a:gd name="T7" fmla="*/ 24 h 34"/>
              <a:gd name="T8" fmla="*/ 47 w 96"/>
              <a:gd name="T9" fmla="*/ 17 h 34"/>
              <a:gd name="T10" fmla="*/ 15 w 96"/>
              <a:gd name="T11" fmla="*/ 17 h 34"/>
              <a:gd name="T12" fmla="*/ 0 w 96"/>
              <a:gd name="T13" fmla="*/ 18 h 34"/>
              <a:gd name="T14" fmla="*/ 24 w 96"/>
              <a:gd name="T15" fmla="*/ 9 h 34"/>
              <a:gd name="T16" fmla="*/ 41 w 96"/>
              <a:gd name="T17" fmla="*/ 4 h 34"/>
              <a:gd name="T18" fmla="*/ 39 w 96"/>
              <a:gd name="T19" fmla="*/ 0 h 34"/>
              <a:gd name="T20" fmla="*/ 56 w 96"/>
              <a:gd name="T21" fmla="*/ 7 h 34"/>
              <a:gd name="T22" fmla="*/ 54 w 96"/>
              <a:gd name="T23" fmla="*/ 2 h 34"/>
              <a:gd name="T24" fmla="*/ 68 w 96"/>
              <a:gd name="T25" fmla="*/ 9 h 34"/>
              <a:gd name="T26" fmla="*/ 79 w 96"/>
              <a:gd name="T27" fmla="*/ 9 h 34"/>
              <a:gd name="T28" fmla="*/ 96 w 96"/>
              <a:gd name="T29"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9" name="Freeform 157"/>
          <p:cNvSpPr/>
          <p:nvPr/>
        </p:nvSpPr>
        <p:spPr bwMode="auto">
          <a:xfrm>
            <a:off x="1927226" y="4597401"/>
            <a:ext cx="17463" cy="34925"/>
          </a:xfrm>
          <a:custGeom>
            <a:avLst/>
            <a:gdLst>
              <a:gd name="T0" fmla="*/ 56 w 56"/>
              <a:gd name="T1" fmla="*/ 21 h 113"/>
              <a:gd name="T2" fmla="*/ 39 w 56"/>
              <a:gd name="T3" fmla="*/ 8 h 113"/>
              <a:gd name="T4" fmla="*/ 19 w 56"/>
              <a:gd name="T5" fmla="*/ 11 h 113"/>
              <a:gd name="T6" fmla="*/ 8 w 56"/>
              <a:gd name="T7" fmla="*/ 29 h 113"/>
              <a:gd name="T8" fmla="*/ 6 w 56"/>
              <a:gd name="T9" fmla="*/ 55 h 113"/>
              <a:gd name="T10" fmla="*/ 8 w 56"/>
              <a:gd name="T11" fmla="*/ 75 h 113"/>
              <a:gd name="T12" fmla="*/ 15 w 56"/>
              <a:gd name="T13" fmla="*/ 91 h 113"/>
              <a:gd name="T14" fmla="*/ 24 w 56"/>
              <a:gd name="T15" fmla="*/ 66 h 113"/>
              <a:gd name="T16" fmla="*/ 35 w 56"/>
              <a:gd name="T17" fmla="*/ 52 h 113"/>
              <a:gd name="T18" fmla="*/ 53 w 56"/>
              <a:gd name="T19" fmla="*/ 42 h 113"/>
              <a:gd name="T20" fmla="*/ 38 w 56"/>
              <a:gd name="T21" fmla="*/ 62 h 113"/>
              <a:gd name="T22" fmla="*/ 22 w 56"/>
              <a:gd name="T23" fmla="*/ 79 h 113"/>
              <a:gd name="T24" fmla="*/ 21 w 56"/>
              <a:gd name="T25" fmla="*/ 95 h 113"/>
              <a:gd name="T26" fmla="*/ 28 w 56"/>
              <a:gd name="T27" fmla="*/ 110 h 113"/>
              <a:gd name="T28" fmla="*/ 37 w 56"/>
              <a:gd name="T29" fmla="*/ 113 h 113"/>
              <a:gd name="T30" fmla="*/ 14 w 56"/>
              <a:gd name="T31" fmla="*/ 107 h 113"/>
              <a:gd name="T32" fmla="*/ 2 w 56"/>
              <a:gd name="T33" fmla="*/ 83 h 113"/>
              <a:gd name="T34" fmla="*/ 0 w 56"/>
              <a:gd name="T35" fmla="*/ 52 h 113"/>
              <a:gd name="T36" fmla="*/ 2 w 56"/>
              <a:gd name="T37" fmla="*/ 24 h 113"/>
              <a:gd name="T38" fmla="*/ 15 w 56"/>
              <a:gd name="T39" fmla="*/ 5 h 113"/>
              <a:gd name="T40" fmla="*/ 32 w 56"/>
              <a:gd name="T41" fmla="*/ 0 h 113"/>
              <a:gd name="T42" fmla="*/ 48 w 56"/>
              <a:gd name="T43" fmla="*/ 3 h 113"/>
              <a:gd name="T44" fmla="*/ 56 w 56"/>
              <a:gd name="T45"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0" name="Freeform 158"/>
          <p:cNvSpPr/>
          <p:nvPr/>
        </p:nvSpPr>
        <p:spPr bwMode="auto">
          <a:xfrm>
            <a:off x="1920876" y="4591051"/>
            <a:ext cx="28575" cy="49213"/>
          </a:xfrm>
          <a:custGeom>
            <a:avLst/>
            <a:gdLst>
              <a:gd name="T0" fmla="*/ 91 w 91"/>
              <a:gd name="T1" fmla="*/ 38 h 153"/>
              <a:gd name="T2" fmla="*/ 76 w 91"/>
              <a:gd name="T3" fmla="*/ 13 h 153"/>
              <a:gd name="T4" fmla="*/ 54 w 91"/>
              <a:gd name="T5" fmla="*/ 7 h 153"/>
              <a:gd name="T6" fmla="*/ 24 w 91"/>
              <a:gd name="T7" fmla="*/ 12 h 153"/>
              <a:gd name="T8" fmla="*/ 14 w 91"/>
              <a:gd name="T9" fmla="*/ 25 h 153"/>
              <a:gd name="T10" fmla="*/ 7 w 91"/>
              <a:gd name="T11" fmla="*/ 48 h 153"/>
              <a:gd name="T12" fmla="*/ 7 w 91"/>
              <a:gd name="T13" fmla="*/ 66 h 153"/>
              <a:gd name="T14" fmla="*/ 11 w 91"/>
              <a:gd name="T15" fmla="*/ 79 h 153"/>
              <a:gd name="T16" fmla="*/ 11 w 91"/>
              <a:gd name="T17" fmla="*/ 98 h 153"/>
              <a:gd name="T18" fmla="*/ 15 w 91"/>
              <a:gd name="T19" fmla="*/ 120 h 153"/>
              <a:gd name="T20" fmla="*/ 34 w 91"/>
              <a:gd name="T21" fmla="*/ 142 h 153"/>
              <a:gd name="T22" fmla="*/ 47 w 91"/>
              <a:gd name="T23" fmla="*/ 142 h 153"/>
              <a:gd name="T24" fmla="*/ 63 w 91"/>
              <a:gd name="T25" fmla="*/ 142 h 153"/>
              <a:gd name="T26" fmla="*/ 63 w 91"/>
              <a:gd name="T27" fmla="*/ 144 h 153"/>
              <a:gd name="T28" fmla="*/ 51 w 91"/>
              <a:gd name="T29" fmla="*/ 153 h 153"/>
              <a:gd name="T30" fmla="*/ 36 w 91"/>
              <a:gd name="T31" fmla="*/ 151 h 153"/>
              <a:gd name="T32" fmla="*/ 19 w 91"/>
              <a:gd name="T33" fmla="*/ 144 h 153"/>
              <a:gd name="T34" fmla="*/ 6 w 91"/>
              <a:gd name="T35" fmla="*/ 121 h 153"/>
              <a:gd name="T36" fmla="*/ 5 w 91"/>
              <a:gd name="T37" fmla="*/ 86 h 153"/>
              <a:gd name="T38" fmla="*/ 0 w 91"/>
              <a:gd name="T39" fmla="*/ 62 h 153"/>
              <a:gd name="T40" fmla="*/ 0 w 91"/>
              <a:gd name="T41" fmla="*/ 41 h 153"/>
              <a:gd name="T42" fmla="*/ 9 w 91"/>
              <a:gd name="T43" fmla="*/ 23 h 153"/>
              <a:gd name="T44" fmla="*/ 18 w 91"/>
              <a:gd name="T45" fmla="*/ 7 h 153"/>
              <a:gd name="T46" fmla="*/ 42 w 91"/>
              <a:gd name="T47" fmla="*/ 0 h 153"/>
              <a:gd name="T48" fmla="*/ 76 w 91"/>
              <a:gd name="T49" fmla="*/ 5 h 153"/>
              <a:gd name="T50" fmla="*/ 89 w 91"/>
              <a:gd name="T51" fmla="*/ 13 h 153"/>
              <a:gd name="T52" fmla="*/ 91 w 91"/>
              <a:gd name="T53" fmla="*/ 38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1" name="Freeform 159"/>
          <p:cNvSpPr/>
          <p:nvPr/>
        </p:nvSpPr>
        <p:spPr bwMode="auto">
          <a:xfrm>
            <a:off x="1938339" y="4643439"/>
            <a:ext cx="26987" cy="41275"/>
          </a:xfrm>
          <a:custGeom>
            <a:avLst/>
            <a:gdLst>
              <a:gd name="T0" fmla="*/ 0 w 83"/>
              <a:gd name="T1" fmla="*/ 0 h 127"/>
              <a:gd name="T2" fmla="*/ 10 w 83"/>
              <a:gd name="T3" fmla="*/ 27 h 127"/>
              <a:gd name="T4" fmla="*/ 27 w 83"/>
              <a:gd name="T5" fmla="*/ 57 h 127"/>
              <a:gd name="T6" fmla="*/ 45 w 83"/>
              <a:gd name="T7" fmla="*/ 83 h 127"/>
              <a:gd name="T8" fmla="*/ 70 w 83"/>
              <a:gd name="T9" fmla="*/ 116 h 127"/>
              <a:gd name="T10" fmla="*/ 83 w 83"/>
              <a:gd name="T11" fmla="*/ 127 h 127"/>
              <a:gd name="T12" fmla="*/ 55 w 83"/>
              <a:gd name="T13" fmla="*/ 113 h 127"/>
              <a:gd name="T14" fmla="*/ 33 w 83"/>
              <a:gd name="T15" fmla="*/ 82 h 127"/>
              <a:gd name="T16" fmla="*/ 12 w 83"/>
              <a:gd name="T17" fmla="*/ 46 h 127"/>
              <a:gd name="T18" fmla="*/ 0 w 83"/>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2" name="Freeform 160"/>
          <p:cNvSpPr/>
          <p:nvPr/>
        </p:nvSpPr>
        <p:spPr bwMode="auto">
          <a:xfrm>
            <a:off x="1857376" y="4505325"/>
            <a:ext cx="150813" cy="152400"/>
          </a:xfrm>
          <a:custGeom>
            <a:avLst/>
            <a:gdLst>
              <a:gd name="T0" fmla="*/ 440 w 478"/>
              <a:gd name="T1" fmla="*/ 138 h 480"/>
              <a:gd name="T2" fmla="*/ 367 w 478"/>
              <a:gd name="T3" fmla="*/ 127 h 480"/>
              <a:gd name="T4" fmla="*/ 320 w 478"/>
              <a:gd name="T5" fmla="*/ 133 h 480"/>
              <a:gd name="T6" fmla="*/ 290 w 478"/>
              <a:gd name="T7" fmla="*/ 168 h 480"/>
              <a:gd name="T8" fmla="*/ 308 w 478"/>
              <a:gd name="T9" fmla="*/ 209 h 480"/>
              <a:gd name="T10" fmla="*/ 331 w 478"/>
              <a:gd name="T11" fmla="*/ 224 h 480"/>
              <a:gd name="T12" fmla="*/ 338 w 478"/>
              <a:gd name="T13" fmla="*/ 262 h 480"/>
              <a:gd name="T14" fmla="*/ 324 w 478"/>
              <a:gd name="T15" fmla="*/ 287 h 480"/>
              <a:gd name="T16" fmla="*/ 335 w 478"/>
              <a:gd name="T17" fmla="*/ 325 h 480"/>
              <a:gd name="T18" fmla="*/ 306 w 478"/>
              <a:gd name="T19" fmla="*/ 325 h 480"/>
              <a:gd name="T20" fmla="*/ 298 w 478"/>
              <a:gd name="T21" fmla="*/ 282 h 480"/>
              <a:gd name="T22" fmla="*/ 280 w 478"/>
              <a:gd name="T23" fmla="*/ 262 h 480"/>
              <a:gd name="T24" fmla="*/ 243 w 478"/>
              <a:gd name="T25" fmla="*/ 262 h 480"/>
              <a:gd name="T26" fmla="*/ 209 w 478"/>
              <a:gd name="T27" fmla="*/ 271 h 480"/>
              <a:gd name="T28" fmla="*/ 197 w 478"/>
              <a:gd name="T29" fmla="*/ 301 h 480"/>
              <a:gd name="T30" fmla="*/ 193 w 478"/>
              <a:gd name="T31" fmla="*/ 341 h 480"/>
              <a:gd name="T32" fmla="*/ 197 w 478"/>
              <a:gd name="T33" fmla="*/ 370 h 480"/>
              <a:gd name="T34" fmla="*/ 197 w 478"/>
              <a:gd name="T35" fmla="*/ 391 h 480"/>
              <a:gd name="T36" fmla="*/ 195 w 478"/>
              <a:gd name="T37" fmla="*/ 416 h 480"/>
              <a:gd name="T38" fmla="*/ 172 w 478"/>
              <a:gd name="T39" fmla="*/ 439 h 480"/>
              <a:gd name="T40" fmla="*/ 156 w 478"/>
              <a:gd name="T41" fmla="*/ 453 h 480"/>
              <a:gd name="T42" fmla="*/ 115 w 478"/>
              <a:gd name="T43" fmla="*/ 480 h 480"/>
              <a:gd name="T44" fmla="*/ 37 w 478"/>
              <a:gd name="T45" fmla="*/ 399 h 480"/>
              <a:gd name="T46" fmla="*/ 14 w 478"/>
              <a:gd name="T47" fmla="*/ 334 h 480"/>
              <a:gd name="T48" fmla="*/ 5 w 478"/>
              <a:gd name="T49" fmla="*/ 229 h 480"/>
              <a:gd name="T50" fmla="*/ 0 w 478"/>
              <a:gd name="T51" fmla="*/ 154 h 480"/>
              <a:gd name="T52" fmla="*/ 9 w 478"/>
              <a:gd name="T53" fmla="*/ 82 h 480"/>
              <a:gd name="T54" fmla="*/ 30 w 478"/>
              <a:gd name="T55" fmla="*/ 42 h 480"/>
              <a:gd name="T56" fmla="*/ 78 w 478"/>
              <a:gd name="T57" fmla="*/ 15 h 480"/>
              <a:gd name="T58" fmla="*/ 121 w 478"/>
              <a:gd name="T59" fmla="*/ 7 h 480"/>
              <a:gd name="T60" fmla="*/ 204 w 478"/>
              <a:gd name="T61" fmla="*/ 0 h 480"/>
              <a:gd name="T62" fmla="*/ 285 w 478"/>
              <a:gd name="T63" fmla="*/ 5 h 480"/>
              <a:gd name="T64" fmla="*/ 387 w 478"/>
              <a:gd name="T65" fmla="*/ 22 h 480"/>
              <a:gd name="T66" fmla="*/ 432 w 478"/>
              <a:gd name="T67" fmla="*/ 44 h 480"/>
              <a:gd name="T68" fmla="*/ 455 w 478"/>
              <a:gd name="T69" fmla="*/ 67 h 480"/>
              <a:gd name="T70" fmla="*/ 478 w 478"/>
              <a:gd name="T71" fmla="*/ 102 h 480"/>
              <a:gd name="T72" fmla="*/ 475 w 478"/>
              <a:gd name="T73" fmla="*/ 120 h 480"/>
              <a:gd name="T74" fmla="*/ 440 w 478"/>
              <a:gd name="T75" fmla="*/ 13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3" name="Freeform 161"/>
          <p:cNvSpPr/>
          <p:nvPr/>
        </p:nvSpPr>
        <p:spPr bwMode="auto">
          <a:xfrm>
            <a:off x="1860551" y="4506913"/>
            <a:ext cx="144463" cy="146050"/>
          </a:xfrm>
          <a:custGeom>
            <a:avLst/>
            <a:gdLst>
              <a:gd name="T0" fmla="*/ 436 w 455"/>
              <a:gd name="T1" fmla="*/ 69 h 460"/>
              <a:gd name="T2" fmla="*/ 444 w 455"/>
              <a:gd name="T3" fmla="*/ 108 h 460"/>
              <a:gd name="T4" fmla="*/ 339 w 455"/>
              <a:gd name="T5" fmla="*/ 113 h 460"/>
              <a:gd name="T6" fmla="*/ 247 w 455"/>
              <a:gd name="T7" fmla="*/ 90 h 460"/>
              <a:gd name="T8" fmla="*/ 291 w 455"/>
              <a:gd name="T9" fmla="*/ 105 h 460"/>
              <a:gd name="T10" fmla="*/ 302 w 455"/>
              <a:gd name="T11" fmla="*/ 120 h 460"/>
              <a:gd name="T12" fmla="*/ 256 w 455"/>
              <a:gd name="T13" fmla="*/ 116 h 460"/>
              <a:gd name="T14" fmla="*/ 246 w 455"/>
              <a:gd name="T15" fmla="*/ 122 h 460"/>
              <a:gd name="T16" fmla="*/ 272 w 455"/>
              <a:gd name="T17" fmla="*/ 154 h 460"/>
              <a:gd name="T18" fmla="*/ 264 w 455"/>
              <a:gd name="T19" fmla="*/ 161 h 460"/>
              <a:gd name="T20" fmla="*/ 289 w 455"/>
              <a:gd name="T21" fmla="*/ 199 h 460"/>
              <a:gd name="T22" fmla="*/ 205 w 455"/>
              <a:gd name="T23" fmla="*/ 181 h 460"/>
              <a:gd name="T24" fmla="*/ 315 w 455"/>
              <a:gd name="T25" fmla="*/ 222 h 460"/>
              <a:gd name="T26" fmla="*/ 254 w 455"/>
              <a:gd name="T27" fmla="*/ 214 h 460"/>
              <a:gd name="T28" fmla="*/ 309 w 455"/>
              <a:gd name="T29" fmla="*/ 242 h 460"/>
              <a:gd name="T30" fmla="*/ 291 w 455"/>
              <a:gd name="T31" fmla="*/ 255 h 460"/>
              <a:gd name="T32" fmla="*/ 202 w 455"/>
              <a:gd name="T33" fmla="*/ 246 h 460"/>
              <a:gd name="T34" fmla="*/ 137 w 455"/>
              <a:gd name="T35" fmla="*/ 253 h 460"/>
              <a:gd name="T36" fmla="*/ 141 w 455"/>
              <a:gd name="T37" fmla="*/ 271 h 460"/>
              <a:gd name="T38" fmla="*/ 126 w 455"/>
              <a:gd name="T39" fmla="*/ 280 h 460"/>
              <a:gd name="T40" fmla="*/ 178 w 455"/>
              <a:gd name="T41" fmla="*/ 317 h 460"/>
              <a:gd name="T42" fmla="*/ 131 w 455"/>
              <a:gd name="T43" fmla="*/ 315 h 460"/>
              <a:gd name="T44" fmla="*/ 178 w 455"/>
              <a:gd name="T45" fmla="*/ 365 h 460"/>
              <a:gd name="T46" fmla="*/ 145 w 455"/>
              <a:gd name="T47" fmla="*/ 363 h 460"/>
              <a:gd name="T48" fmla="*/ 159 w 455"/>
              <a:gd name="T49" fmla="*/ 418 h 460"/>
              <a:gd name="T50" fmla="*/ 100 w 455"/>
              <a:gd name="T51" fmla="*/ 337 h 460"/>
              <a:gd name="T52" fmla="*/ 156 w 455"/>
              <a:gd name="T53" fmla="*/ 429 h 460"/>
              <a:gd name="T54" fmla="*/ 88 w 455"/>
              <a:gd name="T55" fmla="*/ 395 h 460"/>
              <a:gd name="T56" fmla="*/ 104 w 455"/>
              <a:gd name="T57" fmla="*/ 430 h 460"/>
              <a:gd name="T58" fmla="*/ 69 w 455"/>
              <a:gd name="T59" fmla="*/ 429 h 460"/>
              <a:gd name="T60" fmla="*/ 12 w 455"/>
              <a:gd name="T61" fmla="*/ 275 h 460"/>
              <a:gd name="T62" fmla="*/ 39 w 455"/>
              <a:gd name="T63" fmla="*/ 181 h 460"/>
              <a:gd name="T64" fmla="*/ 88 w 455"/>
              <a:gd name="T65" fmla="*/ 189 h 460"/>
              <a:gd name="T66" fmla="*/ 5 w 455"/>
              <a:gd name="T67" fmla="*/ 158 h 460"/>
              <a:gd name="T68" fmla="*/ 61 w 455"/>
              <a:gd name="T69" fmla="*/ 100 h 460"/>
              <a:gd name="T70" fmla="*/ 97 w 455"/>
              <a:gd name="T71" fmla="*/ 100 h 460"/>
              <a:gd name="T72" fmla="*/ 21 w 455"/>
              <a:gd name="T73" fmla="*/ 49 h 460"/>
              <a:gd name="T74" fmla="*/ 111 w 455"/>
              <a:gd name="T75" fmla="*/ 28 h 460"/>
              <a:gd name="T76" fmla="*/ 86 w 455"/>
              <a:gd name="T77" fmla="*/ 10 h 460"/>
              <a:gd name="T78" fmla="*/ 198 w 455"/>
              <a:gd name="T79" fmla="*/ 8 h 460"/>
              <a:gd name="T80" fmla="*/ 241 w 455"/>
              <a:gd name="T81" fmla="*/ 23 h 460"/>
              <a:gd name="T82" fmla="*/ 249 w 455"/>
              <a:gd name="T83" fmla="*/ 2 h 460"/>
              <a:gd name="T84" fmla="*/ 337 w 455"/>
              <a:gd name="T85" fmla="*/ 37 h 460"/>
              <a:gd name="T86" fmla="*/ 322 w 455"/>
              <a:gd name="T87" fmla="*/ 1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6765" name="Group 173"/>
          <p:cNvGrpSpPr/>
          <p:nvPr/>
        </p:nvGrpSpPr>
        <p:grpSpPr bwMode="auto">
          <a:xfrm>
            <a:off x="1812925" y="4664076"/>
            <a:ext cx="363538" cy="415925"/>
            <a:chOff x="162" y="1828"/>
            <a:chExt cx="229" cy="262"/>
          </a:xfrm>
        </p:grpSpPr>
        <p:sp>
          <p:nvSpPr>
            <p:cNvPr id="366766" name="Freeform 174"/>
            <p:cNvSpPr/>
            <p:nvPr/>
          </p:nvSpPr>
          <p:spPr bwMode="auto">
            <a:xfrm>
              <a:off x="286" y="1828"/>
              <a:ext cx="7" cy="5"/>
            </a:xfrm>
            <a:custGeom>
              <a:avLst/>
              <a:gdLst>
                <a:gd name="T0" fmla="*/ 37 w 37"/>
                <a:gd name="T1" fmla="*/ 0 h 25"/>
                <a:gd name="T2" fmla="*/ 26 w 37"/>
                <a:gd name="T3" fmla="*/ 7 h 25"/>
                <a:gd name="T4" fmla="*/ 16 w 37"/>
                <a:gd name="T5" fmla="*/ 10 h 25"/>
                <a:gd name="T6" fmla="*/ 6 w 37"/>
                <a:gd name="T7" fmla="*/ 16 h 25"/>
                <a:gd name="T8" fmla="*/ 0 w 37"/>
                <a:gd name="T9" fmla="*/ 25 h 25"/>
                <a:gd name="T10" fmla="*/ 9 w 37"/>
                <a:gd name="T11" fmla="*/ 22 h 25"/>
                <a:gd name="T12" fmla="*/ 26 w 37"/>
                <a:gd name="T13" fmla="*/ 17 h 25"/>
                <a:gd name="T14" fmla="*/ 37 w 37"/>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7" name="Freeform 175"/>
            <p:cNvSpPr/>
            <p:nvPr/>
          </p:nvSpPr>
          <p:spPr bwMode="auto">
            <a:xfrm>
              <a:off x="289" y="1837"/>
              <a:ext cx="2" cy="3"/>
            </a:xfrm>
            <a:custGeom>
              <a:avLst/>
              <a:gdLst>
                <a:gd name="T0" fmla="*/ 9 w 9"/>
                <a:gd name="T1" fmla="*/ 0 h 16"/>
                <a:gd name="T2" fmla="*/ 0 w 9"/>
                <a:gd name="T3" fmla="*/ 0 h 16"/>
                <a:gd name="T4" fmla="*/ 0 w 9"/>
                <a:gd name="T5" fmla="*/ 16 h 16"/>
                <a:gd name="T6" fmla="*/ 9 w 9"/>
                <a:gd name="T7" fmla="*/ 0 h 16"/>
              </a:gdLst>
              <a:ahLst/>
              <a:cxnLst>
                <a:cxn ang="0">
                  <a:pos x="T0" y="T1"/>
                </a:cxn>
                <a:cxn ang="0">
                  <a:pos x="T2" y="T3"/>
                </a:cxn>
                <a:cxn ang="0">
                  <a:pos x="T4" y="T5"/>
                </a:cxn>
                <a:cxn ang="0">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8" name="Freeform 176"/>
            <p:cNvSpPr/>
            <p:nvPr/>
          </p:nvSpPr>
          <p:spPr bwMode="auto">
            <a:xfrm>
              <a:off x="260" y="1863"/>
              <a:ext cx="62" cy="154"/>
            </a:xfrm>
            <a:custGeom>
              <a:avLst/>
              <a:gdLst>
                <a:gd name="T0" fmla="*/ 46 w 309"/>
                <a:gd name="T1" fmla="*/ 0 h 772"/>
                <a:gd name="T2" fmla="*/ 75 w 309"/>
                <a:gd name="T3" fmla="*/ 32 h 772"/>
                <a:gd name="T4" fmla="*/ 84 w 309"/>
                <a:gd name="T5" fmla="*/ 78 h 772"/>
                <a:gd name="T6" fmla="*/ 127 w 309"/>
                <a:gd name="T7" fmla="*/ 122 h 772"/>
                <a:gd name="T8" fmla="*/ 218 w 309"/>
                <a:gd name="T9" fmla="*/ 330 h 772"/>
                <a:gd name="T10" fmla="*/ 269 w 309"/>
                <a:gd name="T11" fmla="*/ 519 h 772"/>
                <a:gd name="T12" fmla="*/ 309 w 309"/>
                <a:gd name="T13" fmla="*/ 772 h 772"/>
                <a:gd name="T14" fmla="*/ 182 w 309"/>
                <a:gd name="T15" fmla="*/ 659 h 772"/>
                <a:gd name="T16" fmla="*/ 0 w 309"/>
                <a:gd name="T17" fmla="*/ 100 h 772"/>
                <a:gd name="T18" fmla="*/ 46 w 309"/>
                <a:gd name="T19"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9" name="Freeform 177"/>
            <p:cNvSpPr/>
            <p:nvPr/>
          </p:nvSpPr>
          <p:spPr bwMode="auto">
            <a:xfrm>
              <a:off x="162" y="1833"/>
              <a:ext cx="229" cy="257"/>
            </a:xfrm>
            <a:custGeom>
              <a:avLst/>
              <a:gdLst>
                <a:gd name="T0" fmla="*/ 212 w 1147"/>
                <a:gd name="T1" fmla="*/ 67 h 1285"/>
                <a:gd name="T2" fmla="*/ 247 w 1147"/>
                <a:gd name="T3" fmla="*/ 0 h 1285"/>
                <a:gd name="T4" fmla="*/ 528 w 1147"/>
                <a:gd name="T5" fmla="*/ 116 h 1285"/>
                <a:gd name="T6" fmla="*/ 541 w 1147"/>
                <a:gd name="T7" fmla="*/ 206 h 1285"/>
                <a:gd name="T8" fmla="*/ 563 w 1147"/>
                <a:gd name="T9" fmla="*/ 238 h 1285"/>
                <a:gd name="T10" fmla="*/ 595 w 1147"/>
                <a:gd name="T11" fmla="*/ 274 h 1285"/>
                <a:gd name="T12" fmla="*/ 614 w 1147"/>
                <a:gd name="T13" fmla="*/ 339 h 1285"/>
                <a:gd name="T14" fmla="*/ 676 w 1147"/>
                <a:gd name="T15" fmla="*/ 487 h 1285"/>
                <a:gd name="T16" fmla="*/ 727 w 1147"/>
                <a:gd name="T17" fmla="*/ 663 h 1285"/>
                <a:gd name="T18" fmla="*/ 748 w 1147"/>
                <a:gd name="T19" fmla="*/ 780 h 1285"/>
                <a:gd name="T20" fmla="*/ 974 w 1147"/>
                <a:gd name="T21" fmla="*/ 785 h 1285"/>
                <a:gd name="T22" fmla="*/ 1011 w 1147"/>
                <a:gd name="T23" fmla="*/ 807 h 1285"/>
                <a:gd name="T24" fmla="*/ 1115 w 1147"/>
                <a:gd name="T25" fmla="*/ 807 h 1285"/>
                <a:gd name="T26" fmla="*/ 1143 w 1147"/>
                <a:gd name="T27" fmla="*/ 853 h 1285"/>
                <a:gd name="T28" fmla="*/ 1147 w 1147"/>
                <a:gd name="T29" fmla="*/ 907 h 1285"/>
                <a:gd name="T30" fmla="*/ 1137 w 1147"/>
                <a:gd name="T31" fmla="*/ 956 h 1285"/>
                <a:gd name="T32" fmla="*/ 1042 w 1147"/>
                <a:gd name="T33" fmla="*/ 974 h 1285"/>
                <a:gd name="T34" fmla="*/ 997 w 1147"/>
                <a:gd name="T35" fmla="*/ 1041 h 1285"/>
                <a:gd name="T36" fmla="*/ 907 w 1147"/>
                <a:gd name="T37" fmla="*/ 1064 h 1285"/>
                <a:gd name="T38" fmla="*/ 840 w 1147"/>
                <a:gd name="T39" fmla="*/ 1064 h 1285"/>
                <a:gd name="T40" fmla="*/ 763 w 1147"/>
                <a:gd name="T41" fmla="*/ 1079 h 1285"/>
                <a:gd name="T42" fmla="*/ 759 w 1147"/>
                <a:gd name="T43" fmla="*/ 1110 h 1285"/>
                <a:gd name="T44" fmla="*/ 763 w 1147"/>
                <a:gd name="T45" fmla="*/ 1177 h 1285"/>
                <a:gd name="T46" fmla="*/ 754 w 1147"/>
                <a:gd name="T47" fmla="*/ 1223 h 1285"/>
                <a:gd name="T48" fmla="*/ 713 w 1147"/>
                <a:gd name="T49" fmla="*/ 1227 h 1285"/>
                <a:gd name="T50" fmla="*/ 663 w 1147"/>
                <a:gd name="T51" fmla="*/ 1236 h 1285"/>
                <a:gd name="T52" fmla="*/ 614 w 1147"/>
                <a:gd name="T53" fmla="*/ 1282 h 1285"/>
                <a:gd name="T54" fmla="*/ 554 w 1147"/>
                <a:gd name="T55" fmla="*/ 1282 h 1285"/>
                <a:gd name="T56" fmla="*/ 501 w 1147"/>
                <a:gd name="T57" fmla="*/ 1276 h 1285"/>
                <a:gd name="T58" fmla="*/ 420 w 1147"/>
                <a:gd name="T59" fmla="*/ 1250 h 1285"/>
                <a:gd name="T60" fmla="*/ 330 w 1147"/>
                <a:gd name="T61" fmla="*/ 1259 h 1285"/>
                <a:gd name="T62" fmla="*/ 238 w 1147"/>
                <a:gd name="T63" fmla="*/ 1285 h 1285"/>
                <a:gd name="T64" fmla="*/ 153 w 1147"/>
                <a:gd name="T65" fmla="*/ 1267 h 1285"/>
                <a:gd name="T66" fmla="*/ 95 w 1147"/>
                <a:gd name="T67" fmla="*/ 1200 h 1285"/>
                <a:gd name="T68" fmla="*/ 99 w 1147"/>
                <a:gd name="T69" fmla="*/ 1128 h 1285"/>
                <a:gd name="T70" fmla="*/ 76 w 1147"/>
                <a:gd name="T71" fmla="*/ 1038 h 1285"/>
                <a:gd name="T72" fmla="*/ 64 w 1147"/>
                <a:gd name="T73" fmla="*/ 920 h 1285"/>
                <a:gd name="T74" fmla="*/ 36 w 1147"/>
                <a:gd name="T75" fmla="*/ 812 h 1285"/>
                <a:gd name="T76" fmla="*/ 0 w 1147"/>
                <a:gd name="T77" fmla="*/ 650 h 1285"/>
                <a:gd name="T78" fmla="*/ 4 w 1147"/>
                <a:gd name="T79" fmla="*/ 487 h 1285"/>
                <a:gd name="T80" fmla="*/ 4 w 1147"/>
                <a:gd name="T81" fmla="*/ 342 h 1285"/>
                <a:gd name="T82" fmla="*/ 14 w 1147"/>
                <a:gd name="T83" fmla="*/ 243 h 1285"/>
                <a:gd name="T84" fmla="*/ 36 w 1147"/>
                <a:gd name="T85" fmla="*/ 198 h 1285"/>
                <a:gd name="T86" fmla="*/ 87 w 1147"/>
                <a:gd name="T87" fmla="*/ 162 h 1285"/>
                <a:gd name="T88" fmla="*/ 145 w 1147"/>
                <a:gd name="T89" fmla="*/ 102 h 1285"/>
                <a:gd name="T90" fmla="*/ 212 w 1147"/>
                <a:gd name="T91" fmla="*/ 67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0" name="Freeform 178"/>
            <p:cNvSpPr/>
            <p:nvPr/>
          </p:nvSpPr>
          <p:spPr bwMode="auto">
            <a:xfrm>
              <a:off x="166" y="1848"/>
              <a:ext cx="145" cy="240"/>
            </a:xfrm>
            <a:custGeom>
              <a:avLst/>
              <a:gdLst>
                <a:gd name="T0" fmla="*/ 630 w 725"/>
                <a:gd name="T1" fmla="*/ 990 h 1198"/>
                <a:gd name="T2" fmla="*/ 460 w 725"/>
                <a:gd name="T3" fmla="*/ 978 h 1198"/>
                <a:gd name="T4" fmla="*/ 314 w 725"/>
                <a:gd name="T5" fmla="*/ 932 h 1198"/>
                <a:gd name="T6" fmla="*/ 256 w 725"/>
                <a:gd name="T7" fmla="*/ 825 h 1198"/>
                <a:gd name="T8" fmla="*/ 274 w 725"/>
                <a:gd name="T9" fmla="*/ 753 h 1198"/>
                <a:gd name="T10" fmla="*/ 162 w 725"/>
                <a:gd name="T11" fmla="*/ 600 h 1198"/>
                <a:gd name="T12" fmla="*/ 266 w 725"/>
                <a:gd name="T13" fmla="*/ 668 h 1198"/>
                <a:gd name="T14" fmla="*/ 211 w 725"/>
                <a:gd name="T15" fmla="*/ 532 h 1198"/>
                <a:gd name="T16" fmla="*/ 121 w 725"/>
                <a:gd name="T17" fmla="*/ 355 h 1198"/>
                <a:gd name="T18" fmla="*/ 256 w 725"/>
                <a:gd name="T19" fmla="*/ 504 h 1198"/>
                <a:gd name="T20" fmla="*/ 274 w 725"/>
                <a:gd name="T21" fmla="*/ 271 h 1198"/>
                <a:gd name="T22" fmla="*/ 341 w 725"/>
                <a:gd name="T23" fmla="*/ 190 h 1198"/>
                <a:gd name="T24" fmla="*/ 437 w 725"/>
                <a:gd name="T25" fmla="*/ 153 h 1198"/>
                <a:gd name="T26" fmla="*/ 251 w 725"/>
                <a:gd name="T27" fmla="*/ 90 h 1198"/>
                <a:gd name="T28" fmla="*/ 167 w 725"/>
                <a:gd name="T29" fmla="*/ 162 h 1198"/>
                <a:gd name="T30" fmla="*/ 220 w 725"/>
                <a:gd name="T31" fmla="*/ 90 h 1198"/>
                <a:gd name="T32" fmla="*/ 324 w 725"/>
                <a:gd name="T33" fmla="*/ 60 h 1198"/>
                <a:gd name="T34" fmla="*/ 251 w 725"/>
                <a:gd name="T35" fmla="*/ 32 h 1198"/>
                <a:gd name="T36" fmla="*/ 188 w 725"/>
                <a:gd name="T37" fmla="*/ 0 h 1198"/>
                <a:gd name="T38" fmla="*/ 104 w 725"/>
                <a:gd name="T39" fmla="*/ 68 h 1198"/>
                <a:gd name="T40" fmla="*/ 27 w 725"/>
                <a:gd name="T41" fmla="*/ 130 h 1198"/>
                <a:gd name="T42" fmla="*/ 0 w 725"/>
                <a:gd name="T43" fmla="*/ 240 h 1198"/>
                <a:gd name="T44" fmla="*/ 5 w 725"/>
                <a:gd name="T45" fmla="*/ 450 h 1198"/>
                <a:gd name="T46" fmla="*/ 31 w 725"/>
                <a:gd name="T47" fmla="*/ 698 h 1198"/>
                <a:gd name="T48" fmla="*/ 73 w 725"/>
                <a:gd name="T49" fmla="*/ 941 h 1198"/>
                <a:gd name="T50" fmla="*/ 90 w 725"/>
                <a:gd name="T51" fmla="*/ 1095 h 1198"/>
                <a:gd name="T52" fmla="*/ 131 w 725"/>
                <a:gd name="T53" fmla="*/ 1166 h 1198"/>
                <a:gd name="T54" fmla="*/ 225 w 725"/>
                <a:gd name="T55" fmla="*/ 1198 h 1198"/>
                <a:gd name="T56" fmla="*/ 288 w 725"/>
                <a:gd name="T57" fmla="*/ 1181 h 1198"/>
                <a:gd name="T58" fmla="*/ 337 w 725"/>
                <a:gd name="T59" fmla="*/ 1118 h 1198"/>
                <a:gd name="T60" fmla="*/ 356 w 725"/>
                <a:gd name="T61" fmla="*/ 1099 h 1198"/>
                <a:gd name="T62" fmla="*/ 433 w 725"/>
                <a:gd name="T63" fmla="*/ 1163 h 1198"/>
                <a:gd name="T64" fmla="*/ 527 w 725"/>
                <a:gd name="T65" fmla="*/ 1185 h 1198"/>
                <a:gd name="T66" fmla="*/ 603 w 725"/>
                <a:gd name="T67" fmla="*/ 1172 h 1198"/>
                <a:gd name="T68" fmla="*/ 553 w 725"/>
                <a:gd name="T69" fmla="*/ 1122 h 1198"/>
                <a:gd name="T70" fmla="*/ 472 w 725"/>
                <a:gd name="T71" fmla="*/ 1036 h 1198"/>
                <a:gd name="T72" fmla="*/ 598 w 725"/>
                <a:gd name="T73" fmla="*/ 1108 h 1198"/>
                <a:gd name="T74" fmla="*/ 702 w 725"/>
                <a:gd name="T75" fmla="*/ 1140 h 1198"/>
                <a:gd name="T76" fmla="*/ 725 w 725"/>
                <a:gd name="T77" fmla="*/ 1095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1" name="Freeform 179"/>
            <p:cNvSpPr/>
            <p:nvPr/>
          </p:nvSpPr>
          <p:spPr bwMode="auto">
            <a:xfrm>
              <a:off x="176" y="1968"/>
              <a:ext cx="43" cy="110"/>
            </a:xfrm>
            <a:custGeom>
              <a:avLst/>
              <a:gdLst>
                <a:gd name="T0" fmla="*/ 211 w 211"/>
                <a:gd name="T1" fmla="*/ 553 h 553"/>
                <a:gd name="T2" fmla="*/ 173 w 211"/>
                <a:gd name="T3" fmla="*/ 535 h 553"/>
                <a:gd name="T4" fmla="*/ 134 w 211"/>
                <a:gd name="T5" fmla="*/ 490 h 553"/>
                <a:gd name="T6" fmla="*/ 99 w 211"/>
                <a:gd name="T7" fmla="*/ 410 h 553"/>
                <a:gd name="T8" fmla="*/ 81 w 211"/>
                <a:gd name="T9" fmla="*/ 342 h 553"/>
                <a:gd name="T10" fmla="*/ 53 w 211"/>
                <a:gd name="T11" fmla="*/ 265 h 553"/>
                <a:gd name="T12" fmla="*/ 41 w 211"/>
                <a:gd name="T13" fmla="*/ 192 h 553"/>
                <a:gd name="T14" fmla="*/ 19 w 211"/>
                <a:gd name="T15" fmla="*/ 81 h 553"/>
                <a:gd name="T16" fmla="*/ 0 w 211"/>
                <a:gd name="T17" fmla="*/ 0 h 553"/>
                <a:gd name="T18" fmla="*/ 45 w 211"/>
                <a:gd name="T19" fmla="*/ 162 h 553"/>
                <a:gd name="T20" fmla="*/ 81 w 211"/>
                <a:gd name="T21" fmla="*/ 287 h 553"/>
                <a:gd name="T22" fmla="*/ 121 w 211"/>
                <a:gd name="T23" fmla="*/ 373 h 553"/>
                <a:gd name="T24" fmla="*/ 183 w 211"/>
                <a:gd name="T25" fmla="*/ 463 h 553"/>
                <a:gd name="T26" fmla="*/ 211 w 211"/>
                <a:gd name="T27" fmla="*/ 553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2" name="Freeform 180"/>
            <p:cNvSpPr/>
            <p:nvPr/>
          </p:nvSpPr>
          <p:spPr bwMode="auto">
            <a:xfrm>
              <a:off x="220" y="1878"/>
              <a:ext cx="167" cy="167"/>
            </a:xfrm>
            <a:custGeom>
              <a:avLst/>
              <a:gdLst>
                <a:gd name="T0" fmla="*/ 253 w 838"/>
                <a:gd name="T1" fmla="*/ 30 h 832"/>
                <a:gd name="T2" fmla="*/ 326 w 838"/>
                <a:gd name="T3" fmla="*/ 153 h 832"/>
                <a:gd name="T4" fmla="*/ 311 w 838"/>
                <a:gd name="T5" fmla="*/ 272 h 832"/>
                <a:gd name="T6" fmla="*/ 320 w 838"/>
                <a:gd name="T7" fmla="*/ 408 h 832"/>
                <a:gd name="T8" fmla="*/ 320 w 838"/>
                <a:gd name="T9" fmla="*/ 445 h 832"/>
                <a:gd name="T10" fmla="*/ 311 w 838"/>
                <a:gd name="T11" fmla="*/ 490 h 832"/>
                <a:gd name="T12" fmla="*/ 347 w 838"/>
                <a:gd name="T13" fmla="*/ 521 h 832"/>
                <a:gd name="T14" fmla="*/ 378 w 838"/>
                <a:gd name="T15" fmla="*/ 557 h 832"/>
                <a:gd name="T16" fmla="*/ 433 w 838"/>
                <a:gd name="T17" fmla="*/ 557 h 832"/>
                <a:gd name="T18" fmla="*/ 622 w 838"/>
                <a:gd name="T19" fmla="*/ 567 h 832"/>
                <a:gd name="T20" fmla="*/ 717 w 838"/>
                <a:gd name="T21" fmla="*/ 594 h 832"/>
                <a:gd name="T22" fmla="*/ 838 w 838"/>
                <a:gd name="T23" fmla="*/ 625 h 832"/>
                <a:gd name="T24" fmla="*/ 833 w 838"/>
                <a:gd name="T25" fmla="*/ 719 h 832"/>
                <a:gd name="T26" fmla="*/ 762 w 838"/>
                <a:gd name="T27" fmla="*/ 700 h 832"/>
                <a:gd name="T28" fmla="*/ 743 w 838"/>
                <a:gd name="T29" fmla="*/ 656 h 832"/>
                <a:gd name="T30" fmla="*/ 734 w 838"/>
                <a:gd name="T31" fmla="*/ 738 h 832"/>
                <a:gd name="T32" fmla="*/ 685 w 838"/>
                <a:gd name="T33" fmla="*/ 800 h 832"/>
                <a:gd name="T34" fmla="*/ 550 w 838"/>
                <a:gd name="T35" fmla="*/ 828 h 832"/>
                <a:gd name="T36" fmla="*/ 569 w 838"/>
                <a:gd name="T37" fmla="*/ 782 h 832"/>
                <a:gd name="T38" fmla="*/ 639 w 838"/>
                <a:gd name="T39" fmla="*/ 700 h 832"/>
                <a:gd name="T40" fmla="*/ 582 w 838"/>
                <a:gd name="T41" fmla="*/ 665 h 832"/>
                <a:gd name="T42" fmla="*/ 550 w 838"/>
                <a:gd name="T43" fmla="*/ 742 h 832"/>
                <a:gd name="T44" fmla="*/ 456 w 838"/>
                <a:gd name="T45" fmla="*/ 823 h 832"/>
                <a:gd name="T46" fmla="*/ 329 w 838"/>
                <a:gd name="T47" fmla="*/ 823 h 832"/>
                <a:gd name="T48" fmla="*/ 469 w 838"/>
                <a:gd name="T49" fmla="*/ 727 h 832"/>
                <a:gd name="T50" fmla="*/ 528 w 838"/>
                <a:gd name="T51" fmla="*/ 665 h 832"/>
                <a:gd name="T52" fmla="*/ 497 w 838"/>
                <a:gd name="T53" fmla="*/ 633 h 832"/>
                <a:gd name="T54" fmla="*/ 447 w 838"/>
                <a:gd name="T55" fmla="*/ 697 h 832"/>
                <a:gd name="T56" fmla="*/ 356 w 838"/>
                <a:gd name="T57" fmla="*/ 765 h 832"/>
                <a:gd name="T58" fmla="*/ 280 w 838"/>
                <a:gd name="T59" fmla="*/ 805 h 832"/>
                <a:gd name="T60" fmla="*/ 181 w 838"/>
                <a:gd name="T61" fmla="*/ 813 h 832"/>
                <a:gd name="T62" fmla="*/ 244 w 838"/>
                <a:gd name="T63" fmla="*/ 765 h 832"/>
                <a:gd name="T64" fmla="*/ 320 w 838"/>
                <a:gd name="T65" fmla="*/ 700 h 832"/>
                <a:gd name="T66" fmla="*/ 298 w 838"/>
                <a:gd name="T67" fmla="*/ 665 h 832"/>
                <a:gd name="T68" fmla="*/ 262 w 838"/>
                <a:gd name="T69" fmla="*/ 723 h 832"/>
                <a:gd name="T70" fmla="*/ 185 w 838"/>
                <a:gd name="T71" fmla="*/ 779 h 832"/>
                <a:gd name="T72" fmla="*/ 91 w 838"/>
                <a:gd name="T73" fmla="*/ 787 h 832"/>
                <a:gd name="T74" fmla="*/ 42 w 838"/>
                <a:gd name="T75" fmla="*/ 709 h 832"/>
                <a:gd name="T76" fmla="*/ 212 w 838"/>
                <a:gd name="T77" fmla="*/ 683 h 832"/>
                <a:gd name="T78" fmla="*/ 315 w 838"/>
                <a:gd name="T79" fmla="*/ 621 h 832"/>
                <a:gd name="T80" fmla="*/ 334 w 838"/>
                <a:gd name="T81" fmla="*/ 567 h 832"/>
                <a:gd name="T82" fmla="*/ 293 w 838"/>
                <a:gd name="T83" fmla="*/ 594 h 832"/>
                <a:gd name="T84" fmla="*/ 176 w 838"/>
                <a:gd name="T85" fmla="*/ 669 h 832"/>
                <a:gd name="T86" fmla="*/ 42 w 838"/>
                <a:gd name="T87" fmla="*/ 709 h 832"/>
                <a:gd name="T88" fmla="*/ 14 w 838"/>
                <a:gd name="T89" fmla="*/ 548 h 832"/>
                <a:gd name="T90" fmla="*/ 91 w 838"/>
                <a:gd name="T91" fmla="*/ 530 h 832"/>
                <a:gd name="T92" fmla="*/ 253 w 838"/>
                <a:gd name="T93" fmla="*/ 544 h 832"/>
                <a:gd name="T94" fmla="*/ 280 w 838"/>
                <a:gd name="T95" fmla="*/ 513 h 832"/>
                <a:gd name="T96" fmla="*/ 196 w 838"/>
                <a:gd name="T97" fmla="*/ 526 h 832"/>
                <a:gd name="T98" fmla="*/ 14 w 838"/>
                <a:gd name="T99" fmla="*/ 490 h 832"/>
                <a:gd name="T100" fmla="*/ 5 w 838"/>
                <a:gd name="T101" fmla="*/ 345 h 832"/>
                <a:gd name="T102" fmla="*/ 10 w 838"/>
                <a:gd name="T103" fmla="*/ 188 h 832"/>
                <a:gd name="T104" fmla="*/ 100 w 838"/>
                <a:gd name="T105" fmla="*/ 108 h 832"/>
                <a:gd name="T106" fmla="*/ 10 w 838"/>
                <a:gd name="T107" fmla="*/ 143 h 832"/>
                <a:gd name="T108" fmla="*/ 60 w 838"/>
                <a:gd name="T109" fmla="*/ 48 h 832"/>
                <a:gd name="T110" fmla="*/ 155 w 838"/>
                <a:gd name="T111"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3" name="Freeform 181"/>
            <p:cNvSpPr/>
            <p:nvPr/>
          </p:nvSpPr>
          <p:spPr bwMode="auto">
            <a:xfrm>
              <a:off x="231" y="1940"/>
              <a:ext cx="42" cy="38"/>
            </a:xfrm>
            <a:custGeom>
              <a:avLst/>
              <a:gdLst>
                <a:gd name="T0" fmla="*/ 209 w 209"/>
                <a:gd name="T1" fmla="*/ 0 h 187"/>
                <a:gd name="T2" fmla="*/ 209 w 209"/>
                <a:gd name="T3" fmla="*/ 15 h 187"/>
                <a:gd name="T4" fmla="*/ 182 w 209"/>
                <a:gd name="T5" fmla="*/ 51 h 187"/>
                <a:gd name="T6" fmla="*/ 157 w 209"/>
                <a:gd name="T7" fmla="*/ 71 h 187"/>
                <a:gd name="T8" fmla="*/ 100 w 209"/>
                <a:gd name="T9" fmla="*/ 113 h 187"/>
                <a:gd name="T10" fmla="*/ 77 w 209"/>
                <a:gd name="T11" fmla="*/ 130 h 187"/>
                <a:gd name="T12" fmla="*/ 25 w 209"/>
                <a:gd name="T13" fmla="*/ 170 h 187"/>
                <a:gd name="T14" fmla="*/ 82 w 209"/>
                <a:gd name="T15" fmla="*/ 152 h 187"/>
                <a:gd name="T16" fmla="*/ 140 w 209"/>
                <a:gd name="T17" fmla="*/ 135 h 187"/>
                <a:gd name="T18" fmla="*/ 198 w 209"/>
                <a:gd name="T19" fmla="*/ 130 h 187"/>
                <a:gd name="T20" fmla="*/ 194 w 209"/>
                <a:gd name="T21" fmla="*/ 147 h 187"/>
                <a:gd name="T22" fmla="*/ 100 w 209"/>
                <a:gd name="T23" fmla="*/ 164 h 187"/>
                <a:gd name="T24" fmla="*/ 52 w 209"/>
                <a:gd name="T25" fmla="*/ 184 h 187"/>
                <a:gd name="T26" fmla="*/ 25 w 209"/>
                <a:gd name="T27" fmla="*/ 187 h 187"/>
                <a:gd name="T28" fmla="*/ 2 w 209"/>
                <a:gd name="T29" fmla="*/ 180 h 187"/>
                <a:gd name="T30" fmla="*/ 0 w 209"/>
                <a:gd name="T31" fmla="*/ 158 h 187"/>
                <a:gd name="T32" fmla="*/ 18 w 209"/>
                <a:gd name="T33" fmla="*/ 141 h 187"/>
                <a:gd name="T34" fmla="*/ 44 w 209"/>
                <a:gd name="T35" fmla="*/ 116 h 187"/>
                <a:gd name="T36" fmla="*/ 75 w 209"/>
                <a:gd name="T37" fmla="*/ 80 h 187"/>
                <a:gd name="T38" fmla="*/ 107 w 209"/>
                <a:gd name="T39" fmla="*/ 40 h 187"/>
                <a:gd name="T40" fmla="*/ 144 w 209"/>
                <a:gd name="T41" fmla="*/ 12 h 187"/>
                <a:gd name="T42" fmla="*/ 184 w 209"/>
                <a:gd name="T43" fmla="*/ 2 h 187"/>
                <a:gd name="T44" fmla="*/ 209 w 209"/>
                <a:gd name="T4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4" name="Freeform 182"/>
            <p:cNvSpPr/>
            <p:nvPr/>
          </p:nvSpPr>
          <p:spPr bwMode="auto">
            <a:xfrm>
              <a:off x="232" y="1909"/>
              <a:ext cx="39" cy="49"/>
            </a:xfrm>
            <a:custGeom>
              <a:avLst/>
              <a:gdLst>
                <a:gd name="T0" fmla="*/ 156 w 192"/>
                <a:gd name="T1" fmla="*/ 0 h 246"/>
                <a:gd name="T2" fmla="*/ 183 w 192"/>
                <a:gd name="T3" fmla="*/ 4 h 246"/>
                <a:gd name="T4" fmla="*/ 192 w 192"/>
                <a:gd name="T5" fmla="*/ 27 h 246"/>
                <a:gd name="T6" fmla="*/ 190 w 192"/>
                <a:gd name="T7" fmla="*/ 46 h 246"/>
                <a:gd name="T8" fmla="*/ 174 w 192"/>
                <a:gd name="T9" fmla="*/ 71 h 246"/>
                <a:gd name="T10" fmla="*/ 152 w 192"/>
                <a:gd name="T11" fmla="*/ 78 h 246"/>
                <a:gd name="T12" fmla="*/ 110 w 192"/>
                <a:gd name="T13" fmla="*/ 106 h 246"/>
                <a:gd name="T14" fmla="*/ 69 w 192"/>
                <a:gd name="T15" fmla="*/ 140 h 246"/>
                <a:gd name="T16" fmla="*/ 41 w 192"/>
                <a:gd name="T17" fmla="*/ 184 h 246"/>
                <a:gd name="T18" fmla="*/ 8 w 192"/>
                <a:gd name="T19" fmla="*/ 231 h 246"/>
                <a:gd name="T20" fmla="*/ 0 w 192"/>
                <a:gd name="T21" fmla="*/ 246 h 246"/>
                <a:gd name="T22" fmla="*/ 8 w 192"/>
                <a:gd name="T23" fmla="*/ 190 h 246"/>
                <a:gd name="T24" fmla="*/ 16 w 192"/>
                <a:gd name="T25" fmla="*/ 141 h 246"/>
                <a:gd name="T26" fmla="*/ 31 w 192"/>
                <a:gd name="T27" fmla="*/ 99 h 246"/>
                <a:gd name="T28" fmla="*/ 57 w 192"/>
                <a:gd name="T29" fmla="*/ 60 h 246"/>
                <a:gd name="T30" fmla="*/ 128 w 192"/>
                <a:gd name="T31" fmla="*/ 6 h 246"/>
                <a:gd name="T32" fmla="*/ 156 w 192"/>
                <a:gd name="T33"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5" name="Freeform 183"/>
            <p:cNvSpPr/>
            <p:nvPr/>
          </p:nvSpPr>
          <p:spPr bwMode="auto">
            <a:xfrm>
              <a:off x="237" y="1860"/>
              <a:ext cx="41" cy="29"/>
            </a:xfrm>
            <a:custGeom>
              <a:avLst/>
              <a:gdLst>
                <a:gd name="T0" fmla="*/ 204 w 204"/>
                <a:gd name="T1" fmla="*/ 141 h 141"/>
                <a:gd name="T2" fmla="*/ 169 w 204"/>
                <a:gd name="T3" fmla="*/ 110 h 141"/>
                <a:gd name="T4" fmla="*/ 111 w 204"/>
                <a:gd name="T5" fmla="*/ 89 h 141"/>
                <a:gd name="T6" fmla="*/ 71 w 204"/>
                <a:gd name="T7" fmla="*/ 78 h 141"/>
                <a:gd name="T8" fmla="*/ 0 w 204"/>
                <a:gd name="T9" fmla="*/ 0 h 141"/>
                <a:gd name="T10" fmla="*/ 53 w 204"/>
                <a:gd name="T11" fmla="*/ 30 h 141"/>
                <a:gd name="T12" fmla="*/ 103 w 204"/>
                <a:gd name="T13" fmla="*/ 51 h 141"/>
                <a:gd name="T14" fmla="*/ 138 w 204"/>
                <a:gd name="T15" fmla="*/ 69 h 141"/>
                <a:gd name="T16" fmla="*/ 155 w 204"/>
                <a:gd name="T17" fmla="*/ 89 h 141"/>
                <a:gd name="T18" fmla="*/ 204 w 204"/>
                <a:gd name="T19" fmla="*/ 14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6" name="Freeform 184"/>
            <p:cNvSpPr/>
            <p:nvPr/>
          </p:nvSpPr>
          <p:spPr bwMode="auto">
            <a:xfrm>
              <a:off x="286" y="1913"/>
              <a:ext cx="23" cy="73"/>
            </a:xfrm>
            <a:custGeom>
              <a:avLst/>
              <a:gdLst>
                <a:gd name="T0" fmla="*/ 115 w 115"/>
                <a:gd name="T1" fmla="*/ 368 h 368"/>
                <a:gd name="T2" fmla="*/ 58 w 115"/>
                <a:gd name="T3" fmla="*/ 368 h 368"/>
                <a:gd name="T4" fmla="*/ 40 w 115"/>
                <a:gd name="T5" fmla="*/ 364 h 368"/>
                <a:gd name="T6" fmla="*/ 40 w 115"/>
                <a:gd name="T7" fmla="*/ 349 h 368"/>
                <a:gd name="T8" fmla="*/ 28 w 115"/>
                <a:gd name="T9" fmla="*/ 336 h 368"/>
                <a:gd name="T10" fmla="*/ 9 w 115"/>
                <a:gd name="T11" fmla="*/ 323 h 368"/>
                <a:gd name="T12" fmla="*/ 19 w 115"/>
                <a:gd name="T13" fmla="*/ 309 h 368"/>
                <a:gd name="T14" fmla="*/ 19 w 115"/>
                <a:gd name="T15" fmla="*/ 291 h 368"/>
                <a:gd name="T16" fmla="*/ 5 w 115"/>
                <a:gd name="T17" fmla="*/ 269 h 368"/>
                <a:gd name="T18" fmla="*/ 5 w 115"/>
                <a:gd name="T19" fmla="*/ 246 h 368"/>
                <a:gd name="T20" fmla="*/ 14 w 115"/>
                <a:gd name="T21" fmla="*/ 219 h 368"/>
                <a:gd name="T22" fmla="*/ 14 w 115"/>
                <a:gd name="T23" fmla="*/ 161 h 368"/>
                <a:gd name="T24" fmla="*/ 0 w 115"/>
                <a:gd name="T25" fmla="*/ 107 h 368"/>
                <a:gd name="T26" fmla="*/ 5 w 115"/>
                <a:gd name="T27" fmla="*/ 67 h 368"/>
                <a:gd name="T28" fmla="*/ 5 w 115"/>
                <a:gd name="T29" fmla="*/ 0 h 368"/>
                <a:gd name="T30" fmla="*/ 40 w 115"/>
                <a:gd name="T31" fmla="*/ 101 h 368"/>
                <a:gd name="T32" fmla="*/ 71 w 115"/>
                <a:gd name="T33" fmla="*/ 197 h 368"/>
                <a:gd name="T34" fmla="*/ 93 w 115"/>
                <a:gd name="T35" fmla="*/ 300 h 368"/>
                <a:gd name="T36" fmla="*/ 115 w 115"/>
                <a:gd name="T37"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7" name="Freeform 185"/>
            <p:cNvSpPr/>
            <p:nvPr/>
          </p:nvSpPr>
          <p:spPr bwMode="auto">
            <a:xfrm>
              <a:off x="233" y="1992"/>
              <a:ext cx="41" cy="14"/>
            </a:xfrm>
            <a:custGeom>
              <a:avLst/>
              <a:gdLst>
                <a:gd name="T0" fmla="*/ 42 w 206"/>
                <a:gd name="T1" fmla="*/ 34 h 69"/>
                <a:gd name="T2" fmla="*/ 87 w 206"/>
                <a:gd name="T3" fmla="*/ 15 h 69"/>
                <a:gd name="T4" fmla="*/ 129 w 206"/>
                <a:gd name="T5" fmla="*/ 3 h 69"/>
                <a:gd name="T6" fmla="*/ 184 w 206"/>
                <a:gd name="T7" fmla="*/ 0 h 69"/>
                <a:gd name="T8" fmla="*/ 206 w 206"/>
                <a:gd name="T9" fmla="*/ 4 h 69"/>
                <a:gd name="T10" fmla="*/ 196 w 206"/>
                <a:gd name="T11" fmla="*/ 26 h 69"/>
                <a:gd name="T12" fmla="*/ 174 w 206"/>
                <a:gd name="T13" fmla="*/ 43 h 69"/>
                <a:gd name="T14" fmla="*/ 126 w 206"/>
                <a:gd name="T15" fmla="*/ 57 h 69"/>
                <a:gd name="T16" fmla="*/ 50 w 206"/>
                <a:gd name="T17" fmla="*/ 69 h 69"/>
                <a:gd name="T18" fmla="*/ 0 w 206"/>
                <a:gd name="T19" fmla="*/ 65 h 69"/>
                <a:gd name="T20" fmla="*/ 42 w 206"/>
                <a:gd name="T21"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8" name="Freeform 186"/>
            <p:cNvSpPr/>
            <p:nvPr/>
          </p:nvSpPr>
          <p:spPr bwMode="auto">
            <a:xfrm>
              <a:off x="284" y="1999"/>
              <a:ext cx="25" cy="31"/>
            </a:xfrm>
            <a:custGeom>
              <a:avLst/>
              <a:gdLst>
                <a:gd name="T0" fmla="*/ 67 w 124"/>
                <a:gd name="T1" fmla="*/ 43 h 154"/>
                <a:gd name="T2" fmla="*/ 82 w 124"/>
                <a:gd name="T3" fmla="*/ 9 h 154"/>
                <a:gd name="T4" fmla="*/ 106 w 124"/>
                <a:gd name="T5" fmla="*/ 0 h 154"/>
                <a:gd name="T6" fmla="*/ 122 w 124"/>
                <a:gd name="T7" fmla="*/ 7 h 154"/>
                <a:gd name="T8" fmla="*/ 124 w 124"/>
                <a:gd name="T9" fmla="*/ 25 h 154"/>
                <a:gd name="T10" fmla="*/ 114 w 124"/>
                <a:gd name="T11" fmla="*/ 55 h 154"/>
                <a:gd name="T12" fmla="*/ 95 w 124"/>
                <a:gd name="T13" fmla="*/ 82 h 154"/>
                <a:gd name="T14" fmla="*/ 73 w 124"/>
                <a:gd name="T15" fmla="*/ 108 h 154"/>
                <a:gd name="T16" fmla="*/ 45 w 124"/>
                <a:gd name="T17" fmla="*/ 133 h 154"/>
                <a:gd name="T18" fmla="*/ 0 w 124"/>
                <a:gd name="T19" fmla="*/ 154 h 154"/>
                <a:gd name="T20" fmla="*/ 40 w 124"/>
                <a:gd name="T21" fmla="*/ 110 h 154"/>
                <a:gd name="T22" fmla="*/ 53 w 124"/>
                <a:gd name="T23" fmla="*/ 78 h 154"/>
                <a:gd name="T24" fmla="*/ 67 w 124"/>
                <a:gd name="T25" fmla="*/ 4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79" name="Freeform 187"/>
            <p:cNvSpPr/>
            <p:nvPr/>
          </p:nvSpPr>
          <p:spPr bwMode="auto">
            <a:xfrm>
              <a:off x="208" y="1836"/>
              <a:ext cx="60" cy="37"/>
            </a:xfrm>
            <a:custGeom>
              <a:avLst/>
              <a:gdLst>
                <a:gd name="T0" fmla="*/ 298 w 298"/>
                <a:gd name="T1" fmla="*/ 186 h 186"/>
                <a:gd name="T2" fmla="*/ 289 w 298"/>
                <a:gd name="T3" fmla="*/ 109 h 186"/>
                <a:gd name="T4" fmla="*/ 226 w 298"/>
                <a:gd name="T5" fmla="*/ 82 h 186"/>
                <a:gd name="T6" fmla="*/ 142 w 298"/>
                <a:gd name="T7" fmla="*/ 49 h 186"/>
                <a:gd name="T8" fmla="*/ 80 w 298"/>
                <a:gd name="T9" fmla="*/ 25 h 186"/>
                <a:gd name="T10" fmla="*/ 23 w 298"/>
                <a:gd name="T11" fmla="*/ 0 h 186"/>
                <a:gd name="T12" fmla="*/ 0 w 298"/>
                <a:gd name="T13" fmla="*/ 53 h 186"/>
                <a:gd name="T14" fmla="*/ 55 w 298"/>
                <a:gd name="T15" fmla="*/ 84 h 186"/>
                <a:gd name="T16" fmla="*/ 119 w 298"/>
                <a:gd name="T17" fmla="*/ 107 h 186"/>
                <a:gd name="T18" fmla="*/ 168 w 298"/>
                <a:gd name="T19" fmla="*/ 122 h 186"/>
                <a:gd name="T20" fmla="*/ 229 w 298"/>
                <a:gd name="T21" fmla="*/ 154 h 186"/>
                <a:gd name="T22" fmla="*/ 298 w 298"/>
                <a:gd name="T23" fmla="*/ 18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985" name="Group 393"/>
          <p:cNvGrpSpPr/>
          <p:nvPr/>
        </p:nvGrpSpPr>
        <p:grpSpPr bwMode="auto">
          <a:xfrm>
            <a:off x="1779588" y="4876800"/>
            <a:ext cx="647700" cy="704850"/>
            <a:chOff x="161" y="3072"/>
            <a:chExt cx="408" cy="444"/>
          </a:xfrm>
        </p:grpSpPr>
        <p:grpSp>
          <p:nvGrpSpPr>
            <p:cNvPr id="366717" name="Group 125"/>
            <p:cNvGrpSpPr/>
            <p:nvPr/>
          </p:nvGrpSpPr>
          <p:grpSpPr bwMode="auto">
            <a:xfrm>
              <a:off x="395" y="3425"/>
              <a:ext cx="139" cy="71"/>
              <a:chOff x="375" y="2315"/>
              <a:chExt cx="139" cy="71"/>
            </a:xfrm>
          </p:grpSpPr>
          <p:sp>
            <p:nvSpPr>
              <p:cNvPr id="366718" name="Freeform 126"/>
              <p:cNvSpPr/>
              <p:nvPr/>
            </p:nvSpPr>
            <p:spPr bwMode="auto">
              <a:xfrm>
                <a:off x="375" y="2315"/>
                <a:ext cx="139" cy="71"/>
              </a:xfrm>
              <a:custGeom>
                <a:avLst/>
                <a:gdLst>
                  <a:gd name="T0" fmla="*/ 279 w 691"/>
                  <a:gd name="T1" fmla="*/ 11 h 355"/>
                  <a:gd name="T2" fmla="*/ 274 w 691"/>
                  <a:gd name="T3" fmla="*/ 104 h 355"/>
                  <a:gd name="T4" fmla="*/ 455 w 691"/>
                  <a:gd name="T5" fmla="*/ 189 h 355"/>
                  <a:gd name="T6" fmla="*/ 607 w 691"/>
                  <a:gd name="T7" fmla="*/ 226 h 355"/>
                  <a:gd name="T8" fmla="*/ 691 w 691"/>
                  <a:gd name="T9" fmla="*/ 263 h 355"/>
                  <a:gd name="T10" fmla="*/ 687 w 691"/>
                  <a:gd name="T11" fmla="*/ 313 h 355"/>
                  <a:gd name="T12" fmla="*/ 577 w 691"/>
                  <a:gd name="T13" fmla="*/ 343 h 355"/>
                  <a:gd name="T14" fmla="*/ 413 w 691"/>
                  <a:gd name="T15" fmla="*/ 355 h 355"/>
                  <a:gd name="T16" fmla="*/ 274 w 691"/>
                  <a:gd name="T17" fmla="*/ 331 h 355"/>
                  <a:gd name="T18" fmla="*/ 188 w 691"/>
                  <a:gd name="T19" fmla="*/ 307 h 355"/>
                  <a:gd name="T20" fmla="*/ 183 w 691"/>
                  <a:gd name="T21" fmla="*/ 334 h 355"/>
                  <a:gd name="T22" fmla="*/ 74 w 691"/>
                  <a:gd name="T23" fmla="*/ 331 h 355"/>
                  <a:gd name="T24" fmla="*/ 7 w 691"/>
                  <a:gd name="T25" fmla="*/ 318 h 355"/>
                  <a:gd name="T26" fmla="*/ 7 w 691"/>
                  <a:gd name="T27" fmla="*/ 270 h 355"/>
                  <a:gd name="T28" fmla="*/ 0 w 691"/>
                  <a:gd name="T29" fmla="*/ 242 h 355"/>
                  <a:gd name="T30" fmla="*/ 0 w 691"/>
                  <a:gd name="T31" fmla="*/ 173 h 355"/>
                  <a:gd name="T32" fmla="*/ 18 w 691"/>
                  <a:gd name="T33" fmla="*/ 135 h 355"/>
                  <a:gd name="T34" fmla="*/ 53 w 691"/>
                  <a:gd name="T35" fmla="*/ 91 h 355"/>
                  <a:gd name="T36" fmla="*/ 60 w 691"/>
                  <a:gd name="T37" fmla="*/ 0 h 355"/>
                  <a:gd name="T38" fmla="*/ 279 w 691"/>
                  <a:gd name="T39" fmla="*/ 1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19" name="Freeform 127"/>
              <p:cNvSpPr/>
              <p:nvPr/>
            </p:nvSpPr>
            <p:spPr bwMode="auto">
              <a:xfrm>
                <a:off x="421" y="2341"/>
                <a:ext cx="42" cy="22"/>
              </a:xfrm>
              <a:custGeom>
                <a:avLst/>
                <a:gdLst>
                  <a:gd name="T0" fmla="*/ 53 w 208"/>
                  <a:gd name="T1" fmla="*/ 0 h 110"/>
                  <a:gd name="T2" fmla="*/ 0 w 208"/>
                  <a:gd name="T3" fmla="*/ 58 h 110"/>
                  <a:gd name="T4" fmla="*/ 186 w 208"/>
                  <a:gd name="T5" fmla="*/ 110 h 110"/>
                  <a:gd name="T6" fmla="*/ 208 w 208"/>
                  <a:gd name="T7" fmla="*/ 70 h 110"/>
                  <a:gd name="T8" fmla="*/ 53 w 208"/>
                  <a:gd name="T9" fmla="*/ 0 h 110"/>
                </a:gdLst>
                <a:ahLst/>
                <a:cxnLst>
                  <a:cxn ang="0">
                    <a:pos x="T0" y="T1"/>
                  </a:cxn>
                  <a:cxn ang="0">
                    <a:pos x="T2" y="T3"/>
                  </a:cxn>
                  <a:cxn ang="0">
                    <a:pos x="T4" y="T5"/>
                  </a:cxn>
                  <a:cxn ang="0">
                    <a:pos x="T6" y="T7"/>
                  </a:cxn>
                  <a:cxn ang="0">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20" name="Freeform 128"/>
              <p:cNvSpPr/>
              <p:nvPr/>
            </p:nvSpPr>
            <p:spPr bwMode="auto">
              <a:xfrm>
                <a:off x="463" y="2356"/>
                <a:ext cx="46" cy="13"/>
              </a:xfrm>
              <a:custGeom>
                <a:avLst/>
                <a:gdLst>
                  <a:gd name="T0" fmla="*/ 27 w 233"/>
                  <a:gd name="T1" fmla="*/ 0 h 67"/>
                  <a:gd name="T2" fmla="*/ 0 w 233"/>
                  <a:gd name="T3" fmla="*/ 32 h 67"/>
                  <a:gd name="T4" fmla="*/ 115 w 233"/>
                  <a:gd name="T5" fmla="*/ 62 h 67"/>
                  <a:gd name="T6" fmla="*/ 168 w 233"/>
                  <a:gd name="T7" fmla="*/ 67 h 67"/>
                  <a:gd name="T8" fmla="*/ 233 w 233"/>
                  <a:gd name="T9" fmla="*/ 64 h 67"/>
                  <a:gd name="T10" fmla="*/ 165 w 233"/>
                  <a:gd name="T11" fmla="*/ 30 h 67"/>
                  <a:gd name="T12" fmla="*/ 27 w 233"/>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21" name="Freeform 129"/>
              <p:cNvSpPr/>
              <p:nvPr/>
            </p:nvSpPr>
            <p:spPr bwMode="auto">
              <a:xfrm>
                <a:off x="376" y="2341"/>
                <a:ext cx="134" cy="41"/>
              </a:xfrm>
              <a:custGeom>
                <a:avLst/>
                <a:gdLst>
                  <a:gd name="T0" fmla="*/ 670 w 670"/>
                  <a:gd name="T1" fmla="*/ 178 h 209"/>
                  <a:gd name="T2" fmla="*/ 670 w 670"/>
                  <a:gd name="T3" fmla="*/ 146 h 209"/>
                  <a:gd name="T4" fmla="*/ 582 w 670"/>
                  <a:gd name="T5" fmla="*/ 155 h 209"/>
                  <a:gd name="T6" fmla="*/ 442 w 670"/>
                  <a:gd name="T7" fmla="*/ 134 h 209"/>
                  <a:gd name="T8" fmla="*/ 361 w 670"/>
                  <a:gd name="T9" fmla="*/ 116 h 209"/>
                  <a:gd name="T10" fmla="*/ 206 w 670"/>
                  <a:gd name="T11" fmla="*/ 66 h 209"/>
                  <a:gd name="T12" fmla="*/ 140 w 670"/>
                  <a:gd name="T13" fmla="*/ 58 h 209"/>
                  <a:gd name="T14" fmla="*/ 73 w 670"/>
                  <a:gd name="T15" fmla="*/ 34 h 209"/>
                  <a:gd name="T16" fmla="*/ 40 w 670"/>
                  <a:gd name="T17" fmla="*/ 0 h 209"/>
                  <a:gd name="T18" fmla="*/ 0 w 670"/>
                  <a:gd name="T19" fmla="*/ 43 h 209"/>
                  <a:gd name="T20" fmla="*/ 0 w 670"/>
                  <a:gd name="T21" fmla="*/ 132 h 209"/>
                  <a:gd name="T22" fmla="*/ 49 w 670"/>
                  <a:gd name="T23" fmla="*/ 146 h 209"/>
                  <a:gd name="T24" fmla="*/ 170 w 670"/>
                  <a:gd name="T25" fmla="*/ 162 h 209"/>
                  <a:gd name="T26" fmla="*/ 218 w 670"/>
                  <a:gd name="T27" fmla="*/ 167 h 209"/>
                  <a:gd name="T28" fmla="*/ 298 w 670"/>
                  <a:gd name="T29" fmla="*/ 196 h 209"/>
                  <a:gd name="T30" fmla="*/ 388 w 670"/>
                  <a:gd name="T31" fmla="*/ 209 h 209"/>
                  <a:gd name="T32" fmla="*/ 452 w 670"/>
                  <a:gd name="T33" fmla="*/ 209 h 209"/>
                  <a:gd name="T34" fmla="*/ 553 w 670"/>
                  <a:gd name="T35" fmla="*/ 209 h 209"/>
                  <a:gd name="T36" fmla="*/ 670 w 670"/>
                  <a:gd name="T37" fmla="*/ 17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22" name="Freeform 130"/>
              <p:cNvSpPr/>
              <p:nvPr/>
            </p:nvSpPr>
            <p:spPr bwMode="auto">
              <a:xfrm>
                <a:off x="386" y="2317"/>
                <a:ext cx="44" cy="34"/>
              </a:xfrm>
              <a:custGeom>
                <a:avLst/>
                <a:gdLst>
                  <a:gd name="T0" fmla="*/ 214 w 219"/>
                  <a:gd name="T1" fmla="*/ 11 h 171"/>
                  <a:gd name="T2" fmla="*/ 207 w 219"/>
                  <a:gd name="T3" fmla="*/ 96 h 171"/>
                  <a:gd name="T4" fmla="*/ 219 w 219"/>
                  <a:gd name="T5" fmla="*/ 114 h 171"/>
                  <a:gd name="T6" fmla="*/ 170 w 219"/>
                  <a:gd name="T7" fmla="*/ 171 h 171"/>
                  <a:gd name="T8" fmla="*/ 103 w 219"/>
                  <a:gd name="T9" fmla="*/ 171 h 171"/>
                  <a:gd name="T10" fmla="*/ 26 w 219"/>
                  <a:gd name="T11" fmla="*/ 146 h 171"/>
                  <a:gd name="T12" fmla="*/ 0 w 219"/>
                  <a:gd name="T13" fmla="*/ 112 h 171"/>
                  <a:gd name="T14" fmla="*/ 15 w 219"/>
                  <a:gd name="T15" fmla="*/ 89 h 171"/>
                  <a:gd name="T16" fmla="*/ 20 w 219"/>
                  <a:gd name="T17" fmla="*/ 0 h 171"/>
                  <a:gd name="T18" fmla="*/ 214 w 219"/>
                  <a:gd name="T19" fmla="*/ 1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723" name="Group 131"/>
            <p:cNvGrpSpPr/>
            <p:nvPr/>
          </p:nvGrpSpPr>
          <p:grpSpPr bwMode="auto">
            <a:xfrm>
              <a:off x="398" y="3301"/>
              <a:ext cx="58" cy="142"/>
              <a:chOff x="378" y="2191"/>
              <a:chExt cx="58" cy="142"/>
            </a:xfrm>
          </p:grpSpPr>
          <p:sp>
            <p:nvSpPr>
              <p:cNvPr id="366724" name="Freeform 132"/>
              <p:cNvSpPr/>
              <p:nvPr/>
            </p:nvSpPr>
            <p:spPr bwMode="auto">
              <a:xfrm>
                <a:off x="378" y="2191"/>
                <a:ext cx="58" cy="142"/>
              </a:xfrm>
              <a:custGeom>
                <a:avLst/>
                <a:gdLst>
                  <a:gd name="T0" fmla="*/ 24 w 292"/>
                  <a:gd name="T1" fmla="*/ 15 h 710"/>
                  <a:gd name="T2" fmla="*/ 6 w 292"/>
                  <a:gd name="T3" fmla="*/ 256 h 710"/>
                  <a:gd name="T4" fmla="*/ 10 w 292"/>
                  <a:gd name="T5" fmla="*/ 454 h 710"/>
                  <a:gd name="T6" fmla="*/ 0 w 292"/>
                  <a:gd name="T7" fmla="*/ 678 h 710"/>
                  <a:gd name="T8" fmla="*/ 144 w 292"/>
                  <a:gd name="T9" fmla="*/ 710 h 710"/>
                  <a:gd name="T10" fmla="*/ 283 w 292"/>
                  <a:gd name="T11" fmla="*/ 710 h 710"/>
                  <a:gd name="T12" fmla="*/ 292 w 292"/>
                  <a:gd name="T13" fmla="*/ 0 h 710"/>
                  <a:gd name="T14" fmla="*/ 24 w 292"/>
                  <a:gd name="T15" fmla="*/ 15 h 7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25" name="Freeform 133"/>
              <p:cNvSpPr/>
              <p:nvPr/>
            </p:nvSpPr>
            <p:spPr bwMode="auto">
              <a:xfrm>
                <a:off x="383" y="2193"/>
                <a:ext cx="50" cy="136"/>
              </a:xfrm>
              <a:custGeom>
                <a:avLst/>
                <a:gdLst>
                  <a:gd name="T0" fmla="*/ 23 w 252"/>
                  <a:gd name="T1" fmla="*/ 21 h 681"/>
                  <a:gd name="T2" fmla="*/ 0 w 252"/>
                  <a:gd name="T3" fmla="*/ 223 h 681"/>
                  <a:gd name="T4" fmla="*/ 5 w 252"/>
                  <a:gd name="T5" fmla="*/ 385 h 681"/>
                  <a:gd name="T6" fmla="*/ 5 w 252"/>
                  <a:gd name="T7" fmla="*/ 633 h 681"/>
                  <a:gd name="T8" fmla="*/ 128 w 252"/>
                  <a:gd name="T9" fmla="*/ 681 h 681"/>
                  <a:gd name="T10" fmla="*/ 238 w 252"/>
                  <a:gd name="T11" fmla="*/ 681 h 681"/>
                  <a:gd name="T12" fmla="*/ 252 w 252"/>
                  <a:gd name="T13" fmla="*/ 0 h 681"/>
                  <a:gd name="T14" fmla="*/ 23 w 252"/>
                  <a:gd name="T15" fmla="*/ 21 h 6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726" name="Group 134"/>
            <p:cNvGrpSpPr/>
            <p:nvPr/>
          </p:nvGrpSpPr>
          <p:grpSpPr bwMode="auto">
            <a:xfrm>
              <a:off x="428" y="3445"/>
              <a:ext cx="141" cy="71"/>
              <a:chOff x="408" y="2335"/>
              <a:chExt cx="141" cy="71"/>
            </a:xfrm>
          </p:grpSpPr>
          <p:sp>
            <p:nvSpPr>
              <p:cNvPr id="366727" name="Freeform 135"/>
              <p:cNvSpPr/>
              <p:nvPr/>
            </p:nvSpPr>
            <p:spPr bwMode="auto">
              <a:xfrm>
                <a:off x="408" y="2335"/>
                <a:ext cx="141" cy="71"/>
              </a:xfrm>
              <a:custGeom>
                <a:avLst/>
                <a:gdLst>
                  <a:gd name="T0" fmla="*/ 285 w 703"/>
                  <a:gd name="T1" fmla="*/ 13 h 356"/>
                  <a:gd name="T2" fmla="*/ 280 w 703"/>
                  <a:gd name="T3" fmla="*/ 104 h 356"/>
                  <a:gd name="T4" fmla="*/ 463 w 703"/>
                  <a:gd name="T5" fmla="*/ 191 h 356"/>
                  <a:gd name="T6" fmla="*/ 617 w 703"/>
                  <a:gd name="T7" fmla="*/ 227 h 356"/>
                  <a:gd name="T8" fmla="*/ 703 w 703"/>
                  <a:gd name="T9" fmla="*/ 264 h 356"/>
                  <a:gd name="T10" fmla="*/ 698 w 703"/>
                  <a:gd name="T11" fmla="*/ 314 h 356"/>
                  <a:gd name="T12" fmla="*/ 588 w 703"/>
                  <a:gd name="T13" fmla="*/ 345 h 356"/>
                  <a:gd name="T14" fmla="*/ 420 w 703"/>
                  <a:gd name="T15" fmla="*/ 356 h 356"/>
                  <a:gd name="T16" fmla="*/ 280 w 703"/>
                  <a:gd name="T17" fmla="*/ 332 h 356"/>
                  <a:gd name="T18" fmla="*/ 194 w 703"/>
                  <a:gd name="T19" fmla="*/ 307 h 356"/>
                  <a:gd name="T20" fmla="*/ 188 w 703"/>
                  <a:gd name="T21" fmla="*/ 335 h 356"/>
                  <a:gd name="T22" fmla="*/ 76 w 703"/>
                  <a:gd name="T23" fmla="*/ 332 h 356"/>
                  <a:gd name="T24" fmla="*/ 8 w 703"/>
                  <a:gd name="T25" fmla="*/ 320 h 356"/>
                  <a:gd name="T26" fmla="*/ 8 w 703"/>
                  <a:gd name="T27" fmla="*/ 271 h 356"/>
                  <a:gd name="T28" fmla="*/ 0 w 703"/>
                  <a:gd name="T29" fmla="*/ 243 h 356"/>
                  <a:gd name="T30" fmla="*/ 0 w 703"/>
                  <a:gd name="T31" fmla="*/ 174 h 356"/>
                  <a:gd name="T32" fmla="*/ 22 w 703"/>
                  <a:gd name="T33" fmla="*/ 136 h 356"/>
                  <a:gd name="T34" fmla="*/ 56 w 703"/>
                  <a:gd name="T35" fmla="*/ 94 h 356"/>
                  <a:gd name="T36" fmla="*/ 64 w 703"/>
                  <a:gd name="T37" fmla="*/ 0 h 356"/>
                  <a:gd name="T38" fmla="*/ 285 w 703"/>
                  <a:gd name="T39" fmla="*/ 13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28" name="Freeform 136"/>
              <p:cNvSpPr/>
              <p:nvPr/>
            </p:nvSpPr>
            <p:spPr bwMode="auto">
              <a:xfrm>
                <a:off x="455" y="2361"/>
                <a:ext cx="42" cy="22"/>
              </a:xfrm>
              <a:custGeom>
                <a:avLst/>
                <a:gdLst>
                  <a:gd name="T0" fmla="*/ 53 w 210"/>
                  <a:gd name="T1" fmla="*/ 0 h 111"/>
                  <a:gd name="T2" fmla="*/ 0 w 210"/>
                  <a:gd name="T3" fmla="*/ 60 h 111"/>
                  <a:gd name="T4" fmla="*/ 187 w 210"/>
                  <a:gd name="T5" fmla="*/ 111 h 111"/>
                  <a:gd name="T6" fmla="*/ 210 w 210"/>
                  <a:gd name="T7" fmla="*/ 71 h 111"/>
                  <a:gd name="T8" fmla="*/ 53 w 210"/>
                  <a:gd name="T9" fmla="*/ 0 h 111"/>
                </a:gdLst>
                <a:ahLst/>
                <a:cxnLst>
                  <a:cxn ang="0">
                    <a:pos x="T0" y="T1"/>
                  </a:cxn>
                  <a:cxn ang="0">
                    <a:pos x="T2" y="T3"/>
                  </a:cxn>
                  <a:cxn ang="0">
                    <a:pos x="T4" y="T5"/>
                  </a:cxn>
                  <a:cxn ang="0">
                    <a:pos x="T6" y="T7"/>
                  </a:cxn>
                  <a:cxn ang="0">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29" name="Freeform 137"/>
              <p:cNvSpPr/>
              <p:nvPr/>
            </p:nvSpPr>
            <p:spPr bwMode="auto">
              <a:xfrm>
                <a:off x="497" y="2377"/>
                <a:ext cx="47" cy="13"/>
              </a:xfrm>
              <a:custGeom>
                <a:avLst/>
                <a:gdLst>
                  <a:gd name="T0" fmla="*/ 27 w 237"/>
                  <a:gd name="T1" fmla="*/ 0 h 66"/>
                  <a:gd name="T2" fmla="*/ 0 w 237"/>
                  <a:gd name="T3" fmla="*/ 31 h 66"/>
                  <a:gd name="T4" fmla="*/ 116 w 237"/>
                  <a:gd name="T5" fmla="*/ 59 h 66"/>
                  <a:gd name="T6" fmla="*/ 171 w 237"/>
                  <a:gd name="T7" fmla="*/ 66 h 66"/>
                  <a:gd name="T8" fmla="*/ 237 w 237"/>
                  <a:gd name="T9" fmla="*/ 61 h 66"/>
                  <a:gd name="T10" fmla="*/ 168 w 237"/>
                  <a:gd name="T11" fmla="*/ 28 h 66"/>
                  <a:gd name="T12" fmla="*/ 27 w 237"/>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30" name="Freeform 138"/>
              <p:cNvSpPr/>
              <p:nvPr/>
            </p:nvSpPr>
            <p:spPr bwMode="auto">
              <a:xfrm>
                <a:off x="410" y="2361"/>
                <a:ext cx="135" cy="42"/>
              </a:xfrm>
              <a:custGeom>
                <a:avLst/>
                <a:gdLst>
                  <a:gd name="T0" fmla="*/ 678 w 678"/>
                  <a:gd name="T1" fmla="*/ 178 h 211"/>
                  <a:gd name="T2" fmla="*/ 678 w 678"/>
                  <a:gd name="T3" fmla="*/ 147 h 211"/>
                  <a:gd name="T4" fmla="*/ 590 w 678"/>
                  <a:gd name="T5" fmla="*/ 156 h 211"/>
                  <a:gd name="T6" fmla="*/ 446 w 678"/>
                  <a:gd name="T7" fmla="*/ 136 h 211"/>
                  <a:gd name="T8" fmla="*/ 365 w 678"/>
                  <a:gd name="T9" fmla="*/ 117 h 211"/>
                  <a:gd name="T10" fmla="*/ 209 w 678"/>
                  <a:gd name="T11" fmla="*/ 66 h 211"/>
                  <a:gd name="T12" fmla="*/ 140 w 678"/>
                  <a:gd name="T13" fmla="*/ 60 h 211"/>
                  <a:gd name="T14" fmla="*/ 74 w 678"/>
                  <a:gd name="T15" fmla="*/ 35 h 211"/>
                  <a:gd name="T16" fmla="*/ 39 w 678"/>
                  <a:gd name="T17" fmla="*/ 0 h 211"/>
                  <a:gd name="T18" fmla="*/ 0 w 678"/>
                  <a:gd name="T19" fmla="*/ 44 h 211"/>
                  <a:gd name="T20" fmla="*/ 0 w 678"/>
                  <a:gd name="T21" fmla="*/ 133 h 211"/>
                  <a:gd name="T22" fmla="*/ 50 w 678"/>
                  <a:gd name="T23" fmla="*/ 147 h 211"/>
                  <a:gd name="T24" fmla="*/ 171 w 678"/>
                  <a:gd name="T25" fmla="*/ 162 h 211"/>
                  <a:gd name="T26" fmla="*/ 220 w 678"/>
                  <a:gd name="T27" fmla="*/ 170 h 211"/>
                  <a:gd name="T28" fmla="*/ 300 w 678"/>
                  <a:gd name="T29" fmla="*/ 197 h 211"/>
                  <a:gd name="T30" fmla="*/ 392 w 678"/>
                  <a:gd name="T31" fmla="*/ 211 h 211"/>
                  <a:gd name="T32" fmla="*/ 458 w 678"/>
                  <a:gd name="T33" fmla="*/ 211 h 211"/>
                  <a:gd name="T34" fmla="*/ 560 w 678"/>
                  <a:gd name="T35" fmla="*/ 211 h 211"/>
                  <a:gd name="T36" fmla="*/ 678 w 678"/>
                  <a:gd name="T37" fmla="*/ 1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31" name="Freeform 139"/>
              <p:cNvSpPr/>
              <p:nvPr/>
            </p:nvSpPr>
            <p:spPr bwMode="auto">
              <a:xfrm>
                <a:off x="419" y="2337"/>
                <a:ext cx="45" cy="34"/>
              </a:xfrm>
              <a:custGeom>
                <a:avLst/>
                <a:gdLst>
                  <a:gd name="T0" fmla="*/ 216 w 224"/>
                  <a:gd name="T1" fmla="*/ 12 h 170"/>
                  <a:gd name="T2" fmla="*/ 210 w 224"/>
                  <a:gd name="T3" fmla="*/ 95 h 170"/>
                  <a:gd name="T4" fmla="*/ 224 w 224"/>
                  <a:gd name="T5" fmla="*/ 114 h 170"/>
                  <a:gd name="T6" fmla="*/ 173 w 224"/>
                  <a:gd name="T7" fmla="*/ 170 h 170"/>
                  <a:gd name="T8" fmla="*/ 105 w 224"/>
                  <a:gd name="T9" fmla="*/ 170 h 170"/>
                  <a:gd name="T10" fmla="*/ 28 w 224"/>
                  <a:gd name="T11" fmla="*/ 145 h 170"/>
                  <a:gd name="T12" fmla="*/ 0 w 224"/>
                  <a:gd name="T13" fmla="*/ 112 h 170"/>
                  <a:gd name="T14" fmla="*/ 16 w 224"/>
                  <a:gd name="T15" fmla="*/ 89 h 170"/>
                  <a:gd name="T16" fmla="*/ 20 w 224"/>
                  <a:gd name="T17" fmla="*/ 0 h 170"/>
                  <a:gd name="T18" fmla="*/ 216 w 224"/>
                  <a:gd name="T19" fmla="*/ 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732" name="Oval 140"/>
            <p:cNvSpPr>
              <a:spLocks noChangeArrowheads="1"/>
            </p:cNvSpPr>
            <p:nvPr/>
          </p:nvSpPr>
          <p:spPr bwMode="auto">
            <a:xfrm>
              <a:off x="218" y="3446"/>
              <a:ext cx="167" cy="65"/>
            </a:xfrm>
            <a:prstGeom prst="ellipse">
              <a:avLst/>
            </a:prstGeom>
            <a:solidFill>
              <a:srgbClr val="606060"/>
            </a:solidFill>
            <a:ln w="3175">
              <a:solidFill>
                <a:srgbClr val="000000"/>
              </a:solidFill>
              <a:round/>
            </a:ln>
          </p:spPr>
          <p:txBody>
            <a:bodyPr/>
            <a:lstStyle/>
            <a:p>
              <a:endParaRPr lang="zh-CN" altLang="zh-CN">
                <a:latin typeface="微软雅黑 Light" panose="020B0502040204020203" pitchFamily="34" charset="-122"/>
                <a:ea typeface="微软雅黑 Light" panose="020B0502040204020203" pitchFamily="34" charset="-122"/>
              </a:endParaRPr>
            </a:p>
          </p:txBody>
        </p:sp>
        <p:sp>
          <p:nvSpPr>
            <p:cNvPr id="366733" name="Rectangle 141"/>
            <p:cNvSpPr>
              <a:spLocks noChangeArrowheads="1"/>
            </p:cNvSpPr>
            <p:nvPr/>
          </p:nvSpPr>
          <p:spPr bwMode="auto">
            <a:xfrm>
              <a:off x="279" y="3317"/>
              <a:ext cx="44" cy="148"/>
            </a:xfrm>
            <a:prstGeom prst="rect">
              <a:avLst/>
            </a:prstGeom>
            <a:solidFill>
              <a:srgbClr val="606060"/>
            </a:solidFill>
            <a:ln w="3175">
              <a:solidFill>
                <a:srgbClr val="000000"/>
              </a:solidFill>
              <a:miter lim="800000"/>
            </a:ln>
          </p:spPr>
          <p:txBody>
            <a:bodyPr/>
            <a:lstStyle/>
            <a:p>
              <a:endParaRPr lang="zh-CN" altLang="zh-CN">
                <a:latin typeface="微软雅黑 Light" panose="020B0502040204020203" pitchFamily="34" charset="-122"/>
                <a:ea typeface="微软雅黑 Light" panose="020B0502040204020203" pitchFamily="34" charset="-122"/>
              </a:endParaRPr>
            </a:p>
          </p:txBody>
        </p:sp>
        <p:grpSp>
          <p:nvGrpSpPr>
            <p:cNvPr id="366734" name="Group 142"/>
            <p:cNvGrpSpPr/>
            <p:nvPr/>
          </p:nvGrpSpPr>
          <p:grpSpPr bwMode="auto">
            <a:xfrm>
              <a:off x="202" y="3261"/>
              <a:ext cx="221" cy="77"/>
              <a:chOff x="182" y="2151"/>
              <a:chExt cx="221" cy="77"/>
            </a:xfrm>
          </p:grpSpPr>
          <p:sp>
            <p:nvSpPr>
              <p:cNvPr id="366735" name="Freeform 143"/>
              <p:cNvSpPr/>
              <p:nvPr/>
            </p:nvSpPr>
            <p:spPr bwMode="auto">
              <a:xfrm>
                <a:off x="182" y="2151"/>
                <a:ext cx="221" cy="77"/>
              </a:xfrm>
              <a:custGeom>
                <a:avLst/>
                <a:gdLst>
                  <a:gd name="T0" fmla="*/ 1106 w 1106"/>
                  <a:gd name="T1" fmla="*/ 202 h 386"/>
                  <a:gd name="T2" fmla="*/ 1099 w 1106"/>
                  <a:gd name="T3" fmla="*/ 321 h 386"/>
                  <a:gd name="T4" fmla="*/ 735 w 1106"/>
                  <a:gd name="T5" fmla="*/ 386 h 386"/>
                  <a:gd name="T6" fmla="*/ 334 w 1106"/>
                  <a:gd name="T7" fmla="*/ 386 h 386"/>
                  <a:gd name="T8" fmla="*/ 19 w 1106"/>
                  <a:gd name="T9" fmla="*/ 288 h 386"/>
                  <a:gd name="T10" fmla="*/ 0 w 1106"/>
                  <a:gd name="T11" fmla="*/ 10 h 386"/>
                  <a:gd name="T12" fmla="*/ 625 w 1106"/>
                  <a:gd name="T13" fmla="*/ 0 h 386"/>
                  <a:gd name="T14" fmla="*/ 1106 w 1106"/>
                  <a:gd name="T15" fmla="*/ 202 h 3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36" name="Freeform 144"/>
              <p:cNvSpPr/>
              <p:nvPr/>
            </p:nvSpPr>
            <p:spPr bwMode="auto">
              <a:xfrm>
                <a:off x="187" y="2180"/>
                <a:ext cx="211" cy="45"/>
              </a:xfrm>
              <a:custGeom>
                <a:avLst/>
                <a:gdLst>
                  <a:gd name="T0" fmla="*/ 1055 w 1055"/>
                  <a:gd name="T1" fmla="*/ 75 h 221"/>
                  <a:gd name="T2" fmla="*/ 1049 w 1055"/>
                  <a:gd name="T3" fmla="*/ 162 h 221"/>
                  <a:gd name="T4" fmla="*/ 721 w 1055"/>
                  <a:gd name="T5" fmla="*/ 221 h 221"/>
                  <a:gd name="T6" fmla="*/ 296 w 1055"/>
                  <a:gd name="T7" fmla="*/ 221 h 221"/>
                  <a:gd name="T8" fmla="*/ 0 w 1055"/>
                  <a:gd name="T9" fmla="*/ 119 h 221"/>
                  <a:gd name="T10" fmla="*/ 0 w 1055"/>
                  <a:gd name="T11" fmla="*/ 0 h 221"/>
                  <a:gd name="T12" fmla="*/ 283 w 1055"/>
                  <a:gd name="T13" fmla="*/ 119 h 221"/>
                  <a:gd name="T14" fmla="*/ 716 w 1055"/>
                  <a:gd name="T15" fmla="*/ 124 h 221"/>
                  <a:gd name="T16" fmla="*/ 1055 w 1055"/>
                  <a:gd name="T17" fmla="*/ 75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737" name="Freeform 145"/>
            <p:cNvSpPr/>
            <p:nvPr/>
          </p:nvSpPr>
          <p:spPr bwMode="auto">
            <a:xfrm>
              <a:off x="195" y="3180"/>
              <a:ext cx="302" cy="280"/>
            </a:xfrm>
            <a:custGeom>
              <a:avLst/>
              <a:gdLst>
                <a:gd name="T0" fmla="*/ 1501 w 1507"/>
                <a:gd name="T1" fmla="*/ 789 h 1401"/>
                <a:gd name="T2" fmla="*/ 1493 w 1507"/>
                <a:gd name="T3" fmla="*/ 649 h 1401"/>
                <a:gd name="T4" fmla="*/ 1495 w 1507"/>
                <a:gd name="T5" fmla="*/ 499 h 1401"/>
                <a:gd name="T6" fmla="*/ 1489 w 1507"/>
                <a:gd name="T7" fmla="*/ 385 h 1401"/>
                <a:gd name="T8" fmla="*/ 1424 w 1507"/>
                <a:gd name="T9" fmla="*/ 317 h 1401"/>
                <a:gd name="T10" fmla="*/ 1345 w 1507"/>
                <a:gd name="T11" fmla="*/ 278 h 1401"/>
                <a:gd name="T12" fmla="*/ 1166 w 1507"/>
                <a:gd name="T13" fmla="*/ 213 h 1401"/>
                <a:gd name="T14" fmla="*/ 903 w 1507"/>
                <a:gd name="T15" fmla="*/ 149 h 1401"/>
                <a:gd name="T16" fmla="*/ 852 w 1507"/>
                <a:gd name="T17" fmla="*/ 144 h 1401"/>
                <a:gd name="T18" fmla="*/ 817 w 1507"/>
                <a:gd name="T19" fmla="*/ 149 h 1401"/>
                <a:gd name="T20" fmla="*/ 809 w 1507"/>
                <a:gd name="T21" fmla="*/ 135 h 1401"/>
                <a:gd name="T22" fmla="*/ 794 w 1507"/>
                <a:gd name="T23" fmla="*/ 122 h 1401"/>
                <a:gd name="T24" fmla="*/ 777 w 1507"/>
                <a:gd name="T25" fmla="*/ 125 h 1401"/>
                <a:gd name="T26" fmla="*/ 754 w 1507"/>
                <a:gd name="T27" fmla="*/ 126 h 1401"/>
                <a:gd name="T28" fmla="*/ 745 w 1507"/>
                <a:gd name="T29" fmla="*/ 100 h 1401"/>
                <a:gd name="T30" fmla="*/ 726 w 1507"/>
                <a:gd name="T31" fmla="*/ 85 h 1401"/>
                <a:gd name="T32" fmla="*/ 704 w 1507"/>
                <a:gd name="T33" fmla="*/ 82 h 1401"/>
                <a:gd name="T34" fmla="*/ 678 w 1507"/>
                <a:gd name="T35" fmla="*/ 82 h 1401"/>
                <a:gd name="T36" fmla="*/ 681 w 1507"/>
                <a:gd name="T37" fmla="*/ 59 h 1401"/>
                <a:gd name="T38" fmla="*/ 651 w 1507"/>
                <a:gd name="T39" fmla="*/ 0 h 1401"/>
                <a:gd name="T40" fmla="*/ 37 w 1507"/>
                <a:gd name="T41" fmla="*/ 16 h 1401"/>
                <a:gd name="T42" fmla="*/ 39 w 1507"/>
                <a:gd name="T43" fmla="*/ 79 h 1401"/>
                <a:gd name="T44" fmla="*/ 28 w 1507"/>
                <a:gd name="T45" fmla="*/ 135 h 1401"/>
                <a:gd name="T46" fmla="*/ 18 w 1507"/>
                <a:gd name="T47" fmla="*/ 175 h 1401"/>
                <a:gd name="T48" fmla="*/ 8 w 1507"/>
                <a:gd name="T49" fmla="*/ 225 h 1401"/>
                <a:gd name="T50" fmla="*/ 0 w 1507"/>
                <a:gd name="T51" fmla="*/ 306 h 1401"/>
                <a:gd name="T52" fmla="*/ 9 w 1507"/>
                <a:gd name="T53" fmla="*/ 354 h 1401"/>
                <a:gd name="T54" fmla="*/ 28 w 1507"/>
                <a:gd name="T55" fmla="*/ 399 h 1401"/>
                <a:gd name="T56" fmla="*/ 49 w 1507"/>
                <a:gd name="T57" fmla="*/ 438 h 1401"/>
                <a:gd name="T58" fmla="*/ 78 w 1507"/>
                <a:gd name="T59" fmla="*/ 451 h 1401"/>
                <a:gd name="T60" fmla="*/ 122 w 1507"/>
                <a:gd name="T61" fmla="*/ 464 h 1401"/>
                <a:gd name="T62" fmla="*/ 180 w 1507"/>
                <a:gd name="T63" fmla="*/ 483 h 1401"/>
                <a:gd name="T64" fmla="*/ 208 w 1507"/>
                <a:gd name="T65" fmla="*/ 514 h 1401"/>
                <a:gd name="T66" fmla="*/ 240 w 1507"/>
                <a:gd name="T67" fmla="*/ 541 h 1401"/>
                <a:gd name="T68" fmla="*/ 289 w 1507"/>
                <a:gd name="T69" fmla="*/ 564 h 1401"/>
                <a:gd name="T70" fmla="*/ 348 w 1507"/>
                <a:gd name="T71" fmla="*/ 582 h 1401"/>
                <a:gd name="T72" fmla="*/ 441 w 1507"/>
                <a:gd name="T73" fmla="*/ 594 h 1401"/>
                <a:gd name="T74" fmla="*/ 520 w 1507"/>
                <a:gd name="T75" fmla="*/ 594 h 1401"/>
                <a:gd name="T76" fmla="*/ 581 w 1507"/>
                <a:gd name="T77" fmla="*/ 587 h 1401"/>
                <a:gd name="T78" fmla="*/ 637 w 1507"/>
                <a:gd name="T79" fmla="*/ 582 h 1401"/>
                <a:gd name="T80" fmla="*/ 678 w 1507"/>
                <a:gd name="T81" fmla="*/ 604 h 1401"/>
                <a:gd name="T82" fmla="*/ 758 w 1507"/>
                <a:gd name="T83" fmla="*/ 600 h 1401"/>
                <a:gd name="T84" fmla="*/ 1078 w 1507"/>
                <a:gd name="T85" fmla="*/ 645 h 1401"/>
                <a:gd name="T86" fmla="*/ 1165 w 1507"/>
                <a:gd name="T87" fmla="*/ 655 h 1401"/>
                <a:gd name="T88" fmla="*/ 1133 w 1507"/>
                <a:gd name="T89" fmla="*/ 845 h 1401"/>
                <a:gd name="T90" fmla="*/ 1130 w 1507"/>
                <a:gd name="T91" fmla="*/ 942 h 1401"/>
                <a:gd name="T92" fmla="*/ 1149 w 1507"/>
                <a:gd name="T93" fmla="*/ 1066 h 1401"/>
                <a:gd name="T94" fmla="*/ 1169 w 1507"/>
                <a:gd name="T95" fmla="*/ 1212 h 1401"/>
                <a:gd name="T96" fmla="*/ 1169 w 1507"/>
                <a:gd name="T97" fmla="*/ 1363 h 1401"/>
                <a:gd name="T98" fmla="*/ 1244 w 1507"/>
                <a:gd name="T99" fmla="*/ 1385 h 1401"/>
                <a:gd name="T100" fmla="*/ 1339 w 1507"/>
                <a:gd name="T101" fmla="*/ 1395 h 1401"/>
                <a:gd name="T102" fmla="*/ 1420 w 1507"/>
                <a:gd name="T103" fmla="*/ 1401 h 1401"/>
                <a:gd name="T104" fmla="*/ 1507 w 1507"/>
                <a:gd name="T105" fmla="*/ 1391 h 1401"/>
                <a:gd name="T106" fmla="*/ 1501 w 1507"/>
                <a:gd name="T107" fmla="*/ 1252 h 1401"/>
                <a:gd name="T108" fmla="*/ 1501 w 1507"/>
                <a:gd name="T109" fmla="*/ 1024 h 1401"/>
                <a:gd name="T110" fmla="*/ 1501 w 1507"/>
                <a:gd name="T111" fmla="*/ 824 h 1401"/>
                <a:gd name="T112" fmla="*/ 1501 w 1507"/>
                <a:gd name="T113" fmla="*/ 789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38" name="Freeform 146"/>
            <p:cNvSpPr/>
            <p:nvPr/>
          </p:nvSpPr>
          <p:spPr bwMode="auto">
            <a:xfrm>
              <a:off x="199" y="3191"/>
              <a:ext cx="295" cy="265"/>
            </a:xfrm>
            <a:custGeom>
              <a:avLst/>
              <a:gdLst>
                <a:gd name="T0" fmla="*/ 46 w 1473"/>
                <a:gd name="T1" fmla="*/ 66 h 1324"/>
                <a:gd name="T2" fmla="*/ 10 w 1473"/>
                <a:gd name="T3" fmla="*/ 144 h 1324"/>
                <a:gd name="T4" fmla="*/ 39 w 1473"/>
                <a:gd name="T5" fmla="*/ 367 h 1324"/>
                <a:gd name="T6" fmla="*/ 120 w 1473"/>
                <a:gd name="T7" fmla="*/ 367 h 1324"/>
                <a:gd name="T8" fmla="*/ 211 w 1473"/>
                <a:gd name="T9" fmla="*/ 449 h 1324"/>
                <a:gd name="T10" fmla="*/ 421 w 1473"/>
                <a:gd name="T11" fmla="*/ 504 h 1324"/>
                <a:gd name="T12" fmla="*/ 620 w 1473"/>
                <a:gd name="T13" fmla="*/ 504 h 1324"/>
                <a:gd name="T14" fmla="*/ 546 w 1473"/>
                <a:gd name="T15" fmla="*/ 423 h 1324"/>
                <a:gd name="T16" fmla="*/ 641 w 1473"/>
                <a:gd name="T17" fmla="*/ 501 h 1324"/>
                <a:gd name="T18" fmla="*/ 737 w 1473"/>
                <a:gd name="T19" fmla="*/ 520 h 1324"/>
                <a:gd name="T20" fmla="*/ 672 w 1473"/>
                <a:gd name="T21" fmla="*/ 469 h 1324"/>
                <a:gd name="T22" fmla="*/ 776 w 1473"/>
                <a:gd name="T23" fmla="*/ 527 h 1324"/>
                <a:gd name="T24" fmla="*/ 1114 w 1473"/>
                <a:gd name="T25" fmla="*/ 572 h 1324"/>
                <a:gd name="T26" fmla="*/ 1122 w 1473"/>
                <a:gd name="T27" fmla="*/ 833 h 1324"/>
                <a:gd name="T28" fmla="*/ 1159 w 1473"/>
                <a:gd name="T29" fmla="*/ 1288 h 1324"/>
                <a:gd name="T30" fmla="*/ 1360 w 1473"/>
                <a:gd name="T31" fmla="*/ 1324 h 1324"/>
                <a:gd name="T32" fmla="*/ 1468 w 1473"/>
                <a:gd name="T33" fmla="*/ 998 h 1324"/>
                <a:gd name="T34" fmla="*/ 1451 w 1473"/>
                <a:gd name="T35" fmla="*/ 579 h 1324"/>
                <a:gd name="T36" fmla="*/ 1455 w 1473"/>
                <a:gd name="T37" fmla="*/ 381 h 1324"/>
                <a:gd name="T38" fmla="*/ 1355 w 1473"/>
                <a:gd name="T39" fmla="*/ 261 h 1324"/>
                <a:gd name="T40" fmla="*/ 1057 w 1473"/>
                <a:gd name="T41" fmla="*/ 150 h 1324"/>
                <a:gd name="T42" fmla="*/ 809 w 1473"/>
                <a:gd name="T43" fmla="*/ 98 h 1324"/>
                <a:gd name="T44" fmla="*/ 662 w 1473"/>
                <a:gd name="T45" fmla="*/ 205 h 1324"/>
                <a:gd name="T46" fmla="*/ 767 w 1473"/>
                <a:gd name="T47" fmla="*/ 131 h 1324"/>
                <a:gd name="T48" fmla="*/ 776 w 1473"/>
                <a:gd name="T49" fmla="*/ 79 h 1324"/>
                <a:gd name="T50" fmla="*/ 725 w 1473"/>
                <a:gd name="T51" fmla="*/ 98 h 1324"/>
                <a:gd name="T52" fmla="*/ 656 w 1473"/>
                <a:gd name="T53" fmla="*/ 137 h 1324"/>
                <a:gd name="T54" fmla="*/ 722 w 1473"/>
                <a:gd name="T55" fmla="*/ 68 h 1324"/>
                <a:gd name="T56" fmla="*/ 669 w 1473"/>
                <a:gd name="T57" fmla="*/ 36 h 1324"/>
                <a:gd name="T58" fmla="*/ 569 w 1473"/>
                <a:gd name="T59" fmla="*/ 112 h 1324"/>
                <a:gd name="T60" fmla="*/ 646 w 1473"/>
                <a:gd name="T61" fmla="*/ 20 h 1324"/>
                <a:gd name="T62" fmla="*/ 597 w 1473"/>
                <a:gd name="T63" fmla="*/ 7 h 1324"/>
                <a:gd name="T64" fmla="*/ 523 w 1473"/>
                <a:gd name="T65" fmla="*/ 63 h 1324"/>
                <a:gd name="T66" fmla="*/ 386 w 1473"/>
                <a:gd name="T67" fmla="*/ 40 h 1324"/>
                <a:gd name="T68" fmla="*/ 345 w 1473"/>
                <a:gd name="T69" fmla="*/ 72 h 1324"/>
                <a:gd name="T70" fmla="*/ 211 w 1473"/>
                <a:gd name="T71" fmla="*/ 95 h 1324"/>
                <a:gd name="T72" fmla="*/ 185 w 1473"/>
                <a:gd name="T73" fmla="*/ 45 h 1324"/>
                <a:gd name="T74" fmla="*/ 130 w 1473"/>
                <a:gd name="T75" fmla="*/ 91 h 1324"/>
                <a:gd name="T76" fmla="*/ 72 w 1473"/>
                <a:gd name="T77" fmla="*/ 40 h 1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39" name="Freeform 147"/>
            <p:cNvSpPr/>
            <p:nvPr/>
          </p:nvSpPr>
          <p:spPr bwMode="auto">
            <a:xfrm>
              <a:off x="240" y="3235"/>
              <a:ext cx="40" cy="7"/>
            </a:xfrm>
            <a:custGeom>
              <a:avLst/>
              <a:gdLst>
                <a:gd name="T0" fmla="*/ 0 w 199"/>
                <a:gd name="T1" fmla="*/ 0 h 33"/>
                <a:gd name="T2" fmla="*/ 93 w 199"/>
                <a:gd name="T3" fmla="*/ 33 h 33"/>
                <a:gd name="T4" fmla="*/ 199 w 199"/>
                <a:gd name="T5" fmla="*/ 25 h 33"/>
                <a:gd name="T6" fmla="*/ 0 w 199"/>
                <a:gd name="T7" fmla="*/ 0 h 33"/>
              </a:gdLst>
              <a:ahLst/>
              <a:cxnLst>
                <a:cxn ang="0">
                  <a:pos x="T0" y="T1"/>
                </a:cxn>
                <a:cxn ang="0">
                  <a:pos x="T2" y="T3"/>
                </a:cxn>
                <a:cxn ang="0">
                  <a:pos x="T4" y="T5"/>
                </a:cxn>
                <a:cxn ang="0">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0" name="Freeform 148"/>
            <p:cNvSpPr/>
            <p:nvPr/>
          </p:nvSpPr>
          <p:spPr bwMode="auto">
            <a:xfrm>
              <a:off x="200" y="3224"/>
              <a:ext cx="25" cy="8"/>
            </a:xfrm>
            <a:custGeom>
              <a:avLst/>
              <a:gdLst>
                <a:gd name="T0" fmla="*/ 0 w 122"/>
                <a:gd name="T1" fmla="*/ 0 h 40"/>
                <a:gd name="T2" fmla="*/ 32 w 122"/>
                <a:gd name="T3" fmla="*/ 25 h 40"/>
                <a:gd name="T4" fmla="*/ 122 w 122"/>
                <a:gd name="T5" fmla="*/ 38 h 40"/>
                <a:gd name="T6" fmla="*/ 30 w 122"/>
                <a:gd name="T7" fmla="*/ 40 h 40"/>
                <a:gd name="T8" fmla="*/ 0 w 122"/>
                <a:gd name="T9" fmla="*/ 0 h 40"/>
              </a:gdLst>
              <a:ahLst/>
              <a:cxnLst>
                <a:cxn ang="0">
                  <a:pos x="T0" y="T1"/>
                </a:cxn>
                <a:cxn ang="0">
                  <a:pos x="T2" y="T3"/>
                </a:cxn>
                <a:cxn ang="0">
                  <a:pos x="T4" y="T5"/>
                </a:cxn>
                <a:cxn ang="0">
                  <a:pos x="T6" y="T7"/>
                </a:cxn>
                <a:cxn ang="0">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1" name="Freeform 149"/>
            <p:cNvSpPr/>
            <p:nvPr/>
          </p:nvSpPr>
          <p:spPr bwMode="auto">
            <a:xfrm>
              <a:off x="302" y="3218"/>
              <a:ext cx="38" cy="20"/>
            </a:xfrm>
            <a:custGeom>
              <a:avLst/>
              <a:gdLst>
                <a:gd name="T0" fmla="*/ 0 w 187"/>
                <a:gd name="T1" fmla="*/ 0 h 102"/>
                <a:gd name="T2" fmla="*/ 84 w 187"/>
                <a:gd name="T3" fmla="*/ 9 h 102"/>
                <a:gd name="T4" fmla="*/ 101 w 187"/>
                <a:gd name="T5" fmla="*/ 23 h 102"/>
                <a:gd name="T6" fmla="*/ 101 w 187"/>
                <a:gd name="T7" fmla="*/ 54 h 102"/>
                <a:gd name="T8" fmla="*/ 106 w 187"/>
                <a:gd name="T9" fmla="*/ 89 h 102"/>
                <a:gd name="T10" fmla="*/ 187 w 187"/>
                <a:gd name="T11" fmla="*/ 102 h 102"/>
                <a:gd name="T12" fmla="*/ 90 w 187"/>
                <a:gd name="T13" fmla="*/ 98 h 102"/>
                <a:gd name="T14" fmla="*/ 74 w 187"/>
                <a:gd name="T15" fmla="*/ 34 h 102"/>
                <a:gd name="T16" fmla="*/ 0 w 187"/>
                <a:gd name="T1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42" name="Freeform 150"/>
            <p:cNvSpPr/>
            <p:nvPr/>
          </p:nvSpPr>
          <p:spPr bwMode="auto">
            <a:xfrm>
              <a:off x="340" y="3264"/>
              <a:ext cx="122" cy="30"/>
            </a:xfrm>
            <a:custGeom>
              <a:avLst/>
              <a:gdLst>
                <a:gd name="T0" fmla="*/ 0 w 609"/>
                <a:gd name="T1" fmla="*/ 0 h 150"/>
                <a:gd name="T2" fmla="*/ 154 w 609"/>
                <a:gd name="T3" fmla="*/ 7 h 150"/>
                <a:gd name="T4" fmla="*/ 313 w 609"/>
                <a:gd name="T5" fmla="*/ 44 h 150"/>
                <a:gd name="T6" fmla="*/ 431 w 609"/>
                <a:gd name="T7" fmla="*/ 51 h 150"/>
                <a:gd name="T8" fmla="*/ 527 w 609"/>
                <a:gd name="T9" fmla="*/ 71 h 150"/>
                <a:gd name="T10" fmla="*/ 563 w 609"/>
                <a:gd name="T11" fmla="*/ 122 h 150"/>
                <a:gd name="T12" fmla="*/ 609 w 609"/>
                <a:gd name="T13" fmla="*/ 150 h 150"/>
                <a:gd name="T14" fmla="*/ 563 w 609"/>
                <a:gd name="T15" fmla="*/ 141 h 150"/>
                <a:gd name="T16" fmla="*/ 521 w 609"/>
                <a:gd name="T17" fmla="*/ 84 h 150"/>
                <a:gd name="T18" fmla="*/ 392 w 609"/>
                <a:gd name="T19" fmla="*/ 58 h 150"/>
                <a:gd name="T20" fmla="*/ 313 w 609"/>
                <a:gd name="T21" fmla="*/ 58 h 150"/>
                <a:gd name="T22" fmla="*/ 252 w 609"/>
                <a:gd name="T23" fmla="*/ 44 h 150"/>
                <a:gd name="T24" fmla="*/ 146 w 609"/>
                <a:gd name="T25" fmla="*/ 17 h 150"/>
                <a:gd name="T26" fmla="*/ 0 w 609"/>
                <a:gd name="T2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6754" name="Group 162"/>
            <p:cNvGrpSpPr/>
            <p:nvPr/>
          </p:nvGrpSpPr>
          <p:grpSpPr bwMode="auto">
            <a:xfrm>
              <a:off x="397" y="3072"/>
              <a:ext cx="99" cy="61"/>
              <a:chOff x="377" y="1962"/>
              <a:chExt cx="99" cy="61"/>
            </a:xfrm>
          </p:grpSpPr>
          <p:sp>
            <p:nvSpPr>
              <p:cNvPr id="366755" name="Freeform 163"/>
              <p:cNvSpPr/>
              <p:nvPr/>
            </p:nvSpPr>
            <p:spPr bwMode="auto">
              <a:xfrm>
                <a:off x="377" y="1962"/>
                <a:ext cx="99" cy="61"/>
              </a:xfrm>
              <a:custGeom>
                <a:avLst/>
                <a:gdLst>
                  <a:gd name="T0" fmla="*/ 0 w 497"/>
                  <a:gd name="T1" fmla="*/ 182 h 305"/>
                  <a:gd name="T2" fmla="*/ 61 w 497"/>
                  <a:gd name="T3" fmla="*/ 168 h 305"/>
                  <a:gd name="T4" fmla="*/ 84 w 497"/>
                  <a:gd name="T5" fmla="*/ 163 h 305"/>
                  <a:gd name="T6" fmla="*/ 98 w 497"/>
                  <a:gd name="T7" fmla="*/ 150 h 305"/>
                  <a:gd name="T8" fmla="*/ 112 w 497"/>
                  <a:gd name="T9" fmla="*/ 130 h 305"/>
                  <a:gd name="T10" fmla="*/ 142 w 497"/>
                  <a:gd name="T11" fmla="*/ 102 h 305"/>
                  <a:gd name="T12" fmla="*/ 197 w 497"/>
                  <a:gd name="T13" fmla="*/ 56 h 305"/>
                  <a:gd name="T14" fmla="*/ 206 w 497"/>
                  <a:gd name="T15" fmla="*/ 41 h 305"/>
                  <a:gd name="T16" fmla="*/ 221 w 497"/>
                  <a:gd name="T17" fmla="*/ 28 h 305"/>
                  <a:gd name="T18" fmla="*/ 249 w 497"/>
                  <a:gd name="T19" fmla="*/ 23 h 305"/>
                  <a:gd name="T20" fmla="*/ 336 w 497"/>
                  <a:gd name="T21" fmla="*/ 8 h 305"/>
                  <a:gd name="T22" fmla="*/ 360 w 497"/>
                  <a:gd name="T23" fmla="*/ 0 h 305"/>
                  <a:gd name="T24" fmla="*/ 382 w 497"/>
                  <a:gd name="T25" fmla="*/ 11 h 305"/>
                  <a:gd name="T26" fmla="*/ 393 w 497"/>
                  <a:gd name="T27" fmla="*/ 20 h 305"/>
                  <a:gd name="T28" fmla="*/ 443 w 497"/>
                  <a:gd name="T29" fmla="*/ 37 h 305"/>
                  <a:gd name="T30" fmla="*/ 464 w 497"/>
                  <a:gd name="T31" fmla="*/ 45 h 305"/>
                  <a:gd name="T32" fmla="*/ 471 w 497"/>
                  <a:gd name="T33" fmla="*/ 53 h 305"/>
                  <a:gd name="T34" fmla="*/ 481 w 497"/>
                  <a:gd name="T35" fmla="*/ 81 h 305"/>
                  <a:gd name="T36" fmla="*/ 486 w 497"/>
                  <a:gd name="T37" fmla="*/ 96 h 305"/>
                  <a:gd name="T38" fmla="*/ 490 w 497"/>
                  <a:gd name="T39" fmla="*/ 104 h 305"/>
                  <a:gd name="T40" fmla="*/ 497 w 497"/>
                  <a:gd name="T41" fmla="*/ 119 h 305"/>
                  <a:gd name="T42" fmla="*/ 497 w 497"/>
                  <a:gd name="T43" fmla="*/ 129 h 305"/>
                  <a:gd name="T44" fmla="*/ 487 w 497"/>
                  <a:gd name="T45" fmla="*/ 137 h 305"/>
                  <a:gd name="T46" fmla="*/ 466 w 497"/>
                  <a:gd name="T47" fmla="*/ 136 h 305"/>
                  <a:gd name="T48" fmla="*/ 434 w 497"/>
                  <a:gd name="T49" fmla="*/ 121 h 305"/>
                  <a:gd name="T50" fmla="*/ 393 w 497"/>
                  <a:gd name="T51" fmla="*/ 113 h 305"/>
                  <a:gd name="T52" fmla="*/ 356 w 497"/>
                  <a:gd name="T53" fmla="*/ 119 h 305"/>
                  <a:gd name="T54" fmla="*/ 395 w 497"/>
                  <a:gd name="T55" fmla="*/ 128 h 305"/>
                  <a:gd name="T56" fmla="*/ 422 w 497"/>
                  <a:gd name="T57" fmla="*/ 137 h 305"/>
                  <a:gd name="T58" fmla="*/ 454 w 497"/>
                  <a:gd name="T59" fmla="*/ 150 h 305"/>
                  <a:gd name="T60" fmla="*/ 462 w 497"/>
                  <a:gd name="T61" fmla="*/ 161 h 305"/>
                  <a:gd name="T62" fmla="*/ 462 w 497"/>
                  <a:gd name="T63" fmla="*/ 173 h 305"/>
                  <a:gd name="T64" fmla="*/ 449 w 497"/>
                  <a:gd name="T65" fmla="*/ 182 h 305"/>
                  <a:gd name="T66" fmla="*/ 435 w 497"/>
                  <a:gd name="T67" fmla="*/ 179 h 305"/>
                  <a:gd name="T68" fmla="*/ 391 w 497"/>
                  <a:gd name="T69" fmla="*/ 168 h 305"/>
                  <a:gd name="T70" fmla="*/ 351 w 497"/>
                  <a:gd name="T71" fmla="*/ 166 h 305"/>
                  <a:gd name="T72" fmla="*/ 320 w 497"/>
                  <a:gd name="T73" fmla="*/ 168 h 305"/>
                  <a:gd name="T74" fmla="*/ 303 w 497"/>
                  <a:gd name="T75" fmla="*/ 179 h 305"/>
                  <a:gd name="T76" fmla="*/ 282 w 497"/>
                  <a:gd name="T77" fmla="*/ 200 h 305"/>
                  <a:gd name="T78" fmla="*/ 267 w 497"/>
                  <a:gd name="T79" fmla="*/ 223 h 305"/>
                  <a:gd name="T80" fmla="*/ 251 w 497"/>
                  <a:gd name="T81" fmla="*/ 246 h 305"/>
                  <a:gd name="T82" fmla="*/ 237 w 497"/>
                  <a:gd name="T83" fmla="*/ 263 h 305"/>
                  <a:gd name="T84" fmla="*/ 213 w 497"/>
                  <a:gd name="T85" fmla="*/ 280 h 305"/>
                  <a:gd name="T86" fmla="*/ 190 w 497"/>
                  <a:gd name="T87" fmla="*/ 284 h 305"/>
                  <a:gd name="T88" fmla="*/ 165 w 497"/>
                  <a:gd name="T89" fmla="*/ 287 h 305"/>
                  <a:gd name="T90" fmla="*/ 135 w 497"/>
                  <a:gd name="T91" fmla="*/ 284 h 305"/>
                  <a:gd name="T92" fmla="*/ 112 w 497"/>
                  <a:gd name="T93" fmla="*/ 282 h 305"/>
                  <a:gd name="T94" fmla="*/ 82 w 497"/>
                  <a:gd name="T95" fmla="*/ 290 h 305"/>
                  <a:gd name="T96" fmla="*/ 0 w 497"/>
                  <a:gd name="T97" fmla="*/ 305 h 305"/>
                  <a:gd name="T98" fmla="*/ 0 w 497"/>
                  <a:gd name="T99" fmla="*/ 18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6" name="Freeform 164"/>
              <p:cNvSpPr/>
              <p:nvPr/>
            </p:nvSpPr>
            <p:spPr bwMode="auto">
              <a:xfrm>
                <a:off x="439" y="1973"/>
                <a:ext cx="32" cy="7"/>
              </a:xfrm>
              <a:custGeom>
                <a:avLst/>
                <a:gdLst>
                  <a:gd name="T0" fmla="*/ 159 w 159"/>
                  <a:gd name="T1" fmla="*/ 37 h 37"/>
                  <a:gd name="T2" fmla="*/ 132 w 159"/>
                  <a:gd name="T3" fmla="*/ 24 h 37"/>
                  <a:gd name="T4" fmla="*/ 110 w 159"/>
                  <a:gd name="T5" fmla="*/ 21 h 37"/>
                  <a:gd name="T6" fmla="*/ 84 w 159"/>
                  <a:gd name="T7" fmla="*/ 13 h 37"/>
                  <a:gd name="T8" fmla="*/ 61 w 159"/>
                  <a:gd name="T9" fmla="*/ 7 h 37"/>
                  <a:gd name="T10" fmla="*/ 25 w 159"/>
                  <a:gd name="T11" fmla="*/ 10 h 37"/>
                  <a:gd name="T12" fmla="*/ 0 w 159"/>
                  <a:gd name="T13" fmla="*/ 13 h 37"/>
                  <a:gd name="T14" fmla="*/ 38 w 159"/>
                  <a:gd name="T15" fmla="*/ 5 h 37"/>
                  <a:gd name="T16" fmla="*/ 69 w 159"/>
                  <a:gd name="T17" fmla="*/ 0 h 37"/>
                  <a:gd name="T18" fmla="*/ 110 w 159"/>
                  <a:gd name="T19" fmla="*/ 17 h 37"/>
                  <a:gd name="T20" fmla="*/ 132 w 159"/>
                  <a:gd name="T21" fmla="*/ 19 h 37"/>
                  <a:gd name="T22" fmla="*/ 157 w 159"/>
                  <a:gd name="T23" fmla="*/ 31 h 37"/>
                  <a:gd name="T24" fmla="*/ 159 w 15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7" name="Freeform 165"/>
              <p:cNvSpPr/>
              <p:nvPr/>
            </p:nvSpPr>
            <p:spPr bwMode="auto">
              <a:xfrm>
                <a:off x="427" y="1965"/>
                <a:ext cx="27" cy="5"/>
              </a:xfrm>
              <a:custGeom>
                <a:avLst/>
                <a:gdLst>
                  <a:gd name="T0" fmla="*/ 97 w 133"/>
                  <a:gd name="T1" fmla="*/ 0 h 25"/>
                  <a:gd name="T2" fmla="*/ 113 w 133"/>
                  <a:gd name="T3" fmla="*/ 1 h 25"/>
                  <a:gd name="T4" fmla="*/ 133 w 133"/>
                  <a:gd name="T5" fmla="*/ 8 h 25"/>
                  <a:gd name="T6" fmla="*/ 120 w 133"/>
                  <a:gd name="T7" fmla="*/ 7 h 25"/>
                  <a:gd name="T8" fmla="*/ 99 w 133"/>
                  <a:gd name="T9" fmla="*/ 3 h 25"/>
                  <a:gd name="T10" fmla="*/ 56 w 133"/>
                  <a:gd name="T11" fmla="*/ 15 h 25"/>
                  <a:gd name="T12" fmla="*/ 32 w 133"/>
                  <a:gd name="T13" fmla="*/ 21 h 25"/>
                  <a:gd name="T14" fmla="*/ 4 w 133"/>
                  <a:gd name="T15" fmla="*/ 25 h 25"/>
                  <a:gd name="T16" fmla="*/ 0 w 133"/>
                  <a:gd name="T17" fmla="*/ 21 h 25"/>
                  <a:gd name="T18" fmla="*/ 29 w 133"/>
                  <a:gd name="T19" fmla="*/ 16 h 25"/>
                  <a:gd name="T20" fmla="*/ 64 w 133"/>
                  <a:gd name="T21" fmla="*/ 8 h 25"/>
                  <a:gd name="T22" fmla="*/ 97 w 133"/>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8" name="Freeform 166"/>
              <p:cNvSpPr/>
              <p:nvPr/>
            </p:nvSpPr>
            <p:spPr bwMode="auto">
              <a:xfrm>
                <a:off x="438" y="1984"/>
                <a:ext cx="11" cy="2"/>
              </a:xfrm>
              <a:custGeom>
                <a:avLst/>
                <a:gdLst>
                  <a:gd name="T0" fmla="*/ 53 w 53"/>
                  <a:gd name="T1" fmla="*/ 5 h 12"/>
                  <a:gd name="T2" fmla="*/ 46 w 53"/>
                  <a:gd name="T3" fmla="*/ 12 h 12"/>
                  <a:gd name="T4" fmla="*/ 27 w 53"/>
                  <a:gd name="T5" fmla="*/ 9 h 12"/>
                  <a:gd name="T6" fmla="*/ 5 w 53"/>
                  <a:gd name="T7" fmla="*/ 9 h 12"/>
                  <a:gd name="T8" fmla="*/ 0 w 53"/>
                  <a:gd name="T9" fmla="*/ 0 h 12"/>
                  <a:gd name="T10" fmla="*/ 14 w 53"/>
                  <a:gd name="T11" fmla="*/ 3 h 12"/>
                  <a:gd name="T12" fmla="*/ 53 w 53"/>
                  <a:gd name="T13" fmla="*/ 5 h 12"/>
                </a:gdLst>
                <a:ahLst/>
                <a:cxnLst>
                  <a:cxn ang="0">
                    <a:pos x="T0" y="T1"/>
                  </a:cxn>
                  <a:cxn ang="0">
                    <a:pos x="T2" y="T3"/>
                  </a:cxn>
                  <a:cxn ang="0">
                    <a:pos x="T4" y="T5"/>
                  </a:cxn>
                  <a:cxn ang="0">
                    <a:pos x="T6" y="T7"/>
                  </a:cxn>
                  <a:cxn ang="0">
                    <a:pos x="T8" y="T9"/>
                  </a:cxn>
                  <a:cxn ang="0">
                    <a:pos x="T10" y="T11"/>
                  </a:cxn>
                  <a:cxn ang="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59" name="Freeform 167"/>
              <p:cNvSpPr/>
              <p:nvPr/>
            </p:nvSpPr>
            <p:spPr bwMode="auto">
              <a:xfrm>
                <a:off x="469" y="1982"/>
                <a:ext cx="3" cy="4"/>
              </a:xfrm>
              <a:custGeom>
                <a:avLst/>
                <a:gdLst>
                  <a:gd name="T0" fmla="*/ 0 w 11"/>
                  <a:gd name="T1" fmla="*/ 0 h 23"/>
                  <a:gd name="T2" fmla="*/ 0 w 11"/>
                  <a:gd name="T3" fmla="*/ 6 h 23"/>
                  <a:gd name="T4" fmla="*/ 2 w 11"/>
                  <a:gd name="T5" fmla="*/ 18 h 23"/>
                  <a:gd name="T6" fmla="*/ 11 w 11"/>
                  <a:gd name="T7" fmla="*/ 23 h 23"/>
                  <a:gd name="T8" fmla="*/ 0 w 11"/>
                  <a:gd name="T9" fmla="*/ 0 h 23"/>
                </a:gdLst>
                <a:ahLst/>
                <a:cxnLst>
                  <a:cxn ang="0">
                    <a:pos x="T0" y="T1"/>
                  </a:cxn>
                  <a:cxn ang="0">
                    <a:pos x="T2" y="T3"/>
                  </a:cxn>
                  <a:cxn ang="0">
                    <a:pos x="T4" y="T5"/>
                  </a:cxn>
                  <a:cxn ang="0">
                    <a:pos x="T6" y="T7"/>
                  </a:cxn>
                  <a:cxn ang="0">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0" name="Freeform 168"/>
              <p:cNvSpPr/>
              <p:nvPr/>
            </p:nvSpPr>
            <p:spPr bwMode="auto">
              <a:xfrm>
                <a:off x="462" y="1993"/>
                <a:ext cx="2" cy="2"/>
              </a:xfrm>
              <a:custGeom>
                <a:avLst/>
                <a:gdLst>
                  <a:gd name="T0" fmla="*/ 0 w 11"/>
                  <a:gd name="T1" fmla="*/ 0 h 13"/>
                  <a:gd name="T2" fmla="*/ 3 w 11"/>
                  <a:gd name="T3" fmla="*/ 7 h 13"/>
                  <a:gd name="T4" fmla="*/ 11 w 11"/>
                  <a:gd name="T5" fmla="*/ 13 h 13"/>
                  <a:gd name="T6" fmla="*/ 0 w 11"/>
                  <a:gd name="T7" fmla="*/ 0 h 13"/>
                </a:gdLst>
                <a:ahLst/>
                <a:cxnLst>
                  <a:cxn ang="0">
                    <a:pos x="T0" y="T1"/>
                  </a:cxn>
                  <a:cxn ang="0">
                    <a:pos x="T2" y="T3"/>
                  </a:cxn>
                  <a:cxn ang="0">
                    <a:pos x="T4" y="T5"/>
                  </a:cxn>
                  <a:cxn ang="0">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1" name="Freeform 169"/>
              <p:cNvSpPr/>
              <p:nvPr/>
            </p:nvSpPr>
            <p:spPr bwMode="auto">
              <a:xfrm>
                <a:off x="423" y="1977"/>
                <a:ext cx="5" cy="6"/>
              </a:xfrm>
              <a:custGeom>
                <a:avLst/>
                <a:gdLst>
                  <a:gd name="T0" fmla="*/ 25 w 25"/>
                  <a:gd name="T1" fmla="*/ 0 h 29"/>
                  <a:gd name="T2" fmla="*/ 21 w 25"/>
                  <a:gd name="T3" fmla="*/ 9 h 29"/>
                  <a:gd name="T4" fmla="*/ 21 w 25"/>
                  <a:gd name="T5" fmla="*/ 17 h 29"/>
                  <a:gd name="T6" fmla="*/ 0 w 25"/>
                  <a:gd name="T7" fmla="*/ 29 h 29"/>
                  <a:gd name="T8" fmla="*/ 25 w 25"/>
                  <a:gd name="T9" fmla="*/ 0 h 29"/>
                </a:gdLst>
                <a:ahLst/>
                <a:cxnLst>
                  <a:cxn ang="0">
                    <a:pos x="T0" y="T1"/>
                  </a:cxn>
                  <a:cxn ang="0">
                    <a:pos x="T2" y="T3"/>
                  </a:cxn>
                  <a:cxn ang="0">
                    <a:pos x="T4" y="T5"/>
                  </a:cxn>
                  <a:cxn ang="0">
                    <a:pos x="T6" y="T7"/>
                  </a:cxn>
                  <a:cxn ang="0">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2" name="Freeform 170"/>
              <p:cNvSpPr/>
              <p:nvPr/>
            </p:nvSpPr>
            <p:spPr bwMode="auto">
              <a:xfrm>
                <a:off x="403" y="1977"/>
                <a:ext cx="16" cy="16"/>
              </a:xfrm>
              <a:custGeom>
                <a:avLst/>
                <a:gdLst>
                  <a:gd name="T0" fmla="*/ 80 w 80"/>
                  <a:gd name="T1" fmla="*/ 0 h 81"/>
                  <a:gd name="T2" fmla="*/ 66 w 80"/>
                  <a:gd name="T3" fmla="*/ 26 h 81"/>
                  <a:gd name="T4" fmla="*/ 50 w 80"/>
                  <a:gd name="T5" fmla="*/ 46 h 81"/>
                  <a:gd name="T6" fmla="*/ 0 w 80"/>
                  <a:gd name="T7" fmla="*/ 81 h 81"/>
                  <a:gd name="T8" fmla="*/ 47 w 80"/>
                  <a:gd name="T9" fmla="*/ 38 h 81"/>
                  <a:gd name="T10" fmla="*/ 80 w 80"/>
                  <a:gd name="T11" fmla="*/ 0 h 81"/>
                </a:gdLst>
                <a:ahLst/>
                <a:cxnLst>
                  <a:cxn ang="0">
                    <a:pos x="T0" y="T1"/>
                  </a:cxn>
                  <a:cxn ang="0">
                    <a:pos x="T2" y="T3"/>
                  </a:cxn>
                  <a:cxn ang="0">
                    <a:pos x="T4" y="T5"/>
                  </a:cxn>
                  <a:cxn ang="0">
                    <a:pos x="T6" y="T7"/>
                  </a:cxn>
                  <a:cxn ang="0">
                    <a:pos x="T8" y="T9"/>
                  </a:cxn>
                  <a:cxn ang="0">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3" name="Freeform 171"/>
              <p:cNvSpPr/>
              <p:nvPr/>
            </p:nvSpPr>
            <p:spPr bwMode="auto">
              <a:xfrm>
                <a:off x="395" y="2000"/>
                <a:ext cx="4" cy="12"/>
              </a:xfrm>
              <a:custGeom>
                <a:avLst/>
                <a:gdLst>
                  <a:gd name="T0" fmla="*/ 0 w 18"/>
                  <a:gd name="T1" fmla="*/ 0 h 58"/>
                  <a:gd name="T2" fmla="*/ 11 w 18"/>
                  <a:gd name="T3" fmla="*/ 20 h 58"/>
                  <a:gd name="T4" fmla="*/ 15 w 18"/>
                  <a:gd name="T5" fmla="*/ 41 h 58"/>
                  <a:gd name="T6" fmla="*/ 16 w 18"/>
                  <a:gd name="T7" fmla="*/ 58 h 58"/>
                  <a:gd name="T8" fmla="*/ 18 w 18"/>
                  <a:gd name="T9" fmla="*/ 33 h 58"/>
                  <a:gd name="T10" fmla="*/ 16 w 18"/>
                  <a:gd name="T11" fmla="*/ 14 h 58"/>
                  <a:gd name="T12" fmla="*/ 0 w 18"/>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64" name="Freeform 172"/>
              <p:cNvSpPr/>
              <p:nvPr/>
            </p:nvSpPr>
            <p:spPr bwMode="auto">
              <a:xfrm>
                <a:off x="432" y="1988"/>
                <a:ext cx="2" cy="4"/>
              </a:xfrm>
              <a:custGeom>
                <a:avLst/>
                <a:gdLst>
                  <a:gd name="T0" fmla="*/ 2 w 9"/>
                  <a:gd name="T1" fmla="*/ 0 h 21"/>
                  <a:gd name="T2" fmla="*/ 0 w 9"/>
                  <a:gd name="T3" fmla="*/ 9 h 21"/>
                  <a:gd name="T4" fmla="*/ 9 w 9"/>
                  <a:gd name="T5" fmla="*/ 21 h 21"/>
                  <a:gd name="T6" fmla="*/ 2 w 9"/>
                  <a:gd name="T7" fmla="*/ 0 h 21"/>
                </a:gdLst>
                <a:ahLst/>
                <a:cxnLst>
                  <a:cxn ang="0">
                    <a:pos x="T0" y="T1"/>
                  </a:cxn>
                  <a:cxn ang="0">
                    <a:pos x="T2" y="T3"/>
                  </a:cxn>
                  <a:cxn ang="0">
                    <a:pos x="T4" y="T5"/>
                  </a:cxn>
                  <a:cxn ang="0">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780" name="Group 188"/>
            <p:cNvGrpSpPr/>
            <p:nvPr/>
          </p:nvGrpSpPr>
          <p:grpSpPr bwMode="auto">
            <a:xfrm>
              <a:off x="161" y="3120"/>
              <a:ext cx="123" cy="167"/>
              <a:chOff x="141" y="2010"/>
              <a:chExt cx="123" cy="167"/>
            </a:xfrm>
          </p:grpSpPr>
          <p:sp>
            <p:nvSpPr>
              <p:cNvPr id="366781" name="Freeform 189"/>
              <p:cNvSpPr/>
              <p:nvPr/>
            </p:nvSpPr>
            <p:spPr bwMode="auto">
              <a:xfrm>
                <a:off x="141" y="2010"/>
                <a:ext cx="123" cy="167"/>
              </a:xfrm>
              <a:custGeom>
                <a:avLst/>
                <a:gdLst>
                  <a:gd name="T0" fmla="*/ 342 w 617"/>
                  <a:gd name="T1" fmla="*/ 123 h 835"/>
                  <a:gd name="T2" fmla="*/ 229 w 617"/>
                  <a:gd name="T3" fmla="*/ 113 h 835"/>
                  <a:gd name="T4" fmla="*/ 160 w 617"/>
                  <a:gd name="T5" fmla="*/ 96 h 835"/>
                  <a:gd name="T6" fmla="*/ 139 w 617"/>
                  <a:gd name="T7" fmla="*/ 64 h 835"/>
                  <a:gd name="T8" fmla="*/ 139 w 617"/>
                  <a:gd name="T9" fmla="*/ 38 h 835"/>
                  <a:gd name="T10" fmla="*/ 121 w 617"/>
                  <a:gd name="T11" fmla="*/ 15 h 835"/>
                  <a:gd name="T12" fmla="*/ 58 w 617"/>
                  <a:gd name="T13" fmla="*/ 0 h 835"/>
                  <a:gd name="T14" fmla="*/ 0 w 617"/>
                  <a:gd name="T15" fmla="*/ 5 h 835"/>
                  <a:gd name="T16" fmla="*/ 70 w 617"/>
                  <a:gd name="T17" fmla="*/ 650 h 835"/>
                  <a:gd name="T18" fmla="*/ 121 w 617"/>
                  <a:gd name="T19" fmla="*/ 710 h 835"/>
                  <a:gd name="T20" fmla="*/ 183 w 617"/>
                  <a:gd name="T21" fmla="*/ 768 h 835"/>
                  <a:gd name="T22" fmla="*/ 273 w 617"/>
                  <a:gd name="T23" fmla="*/ 813 h 835"/>
                  <a:gd name="T24" fmla="*/ 377 w 617"/>
                  <a:gd name="T25" fmla="*/ 827 h 835"/>
                  <a:gd name="T26" fmla="*/ 518 w 617"/>
                  <a:gd name="T27" fmla="*/ 835 h 835"/>
                  <a:gd name="T28" fmla="*/ 599 w 617"/>
                  <a:gd name="T29" fmla="*/ 823 h 835"/>
                  <a:gd name="T30" fmla="*/ 617 w 617"/>
                  <a:gd name="T31" fmla="*/ 777 h 835"/>
                  <a:gd name="T32" fmla="*/ 608 w 617"/>
                  <a:gd name="T33" fmla="*/ 718 h 835"/>
                  <a:gd name="T34" fmla="*/ 550 w 617"/>
                  <a:gd name="T35" fmla="*/ 537 h 835"/>
                  <a:gd name="T36" fmla="*/ 500 w 617"/>
                  <a:gd name="T37" fmla="*/ 357 h 835"/>
                  <a:gd name="T38" fmla="*/ 478 w 617"/>
                  <a:gd name="T39" fmla="*/ 221 h 835"/>
                  <a:gd name="T40" fmla="*/ 478 w 617"/>
                  <a:gd name="T41" fmla="*/ 186 h 835"/>
                  <a:gd name="T42" fmla="*/ 446 w 617"/>
                  <a:gd name="T43" fmla="*/ 136 h 835"/>
                  <a:gd name="T44" fmla="*/ 409 w 617"/>
                  <a:gd name="T45" fmla="*/ 123 h 835"/>
                  <a:gd name="T46" fmla="*/ 342 w 617"/>
                  <a:gd name="T47" fmla="*/ 123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82" name="Freeform 190"/>
              <p:cNvSpPr/>
              <p:nvPr/>
            </p:nvSpPr>
            <p:spPr bwMode="auto">
              <a:xfrm>
                <a:off x="143" y="2019"/>
                <a:ext cx="106" cy="153"/>
              </a:xfrm>
              <a:custGeom>
                <a:avLst/>
                <a:gdLst>
                  <a:gd name="T0" fmla="*/ 347 w 531"/>
                  <a:gd name="T1" fmla="*/ 154 h 766"/>
                  <a:gd name="T2" fmla="*/ 248 w 531"/>
                  <a:gd name="T3" fmla="*/ 150 h 766"/>
                  <a:gd name="T4" fmla="*/ 143 w 531"/>
                  <a:gd name="T5" fmla="*/ 131 h 766"/>
                  <a:gd name="T6" fmla="*/ 81 w 531"/>
                  <a:gd name="T7" fmla="*/ 99 h 766"/>
                  <a:gd name="T8" fmla="*/ 46 w 531"/>
                  <a:gd name="T9" fmla="*/ 72 h 766"/>
                  <a:gd name="T10" fmla="*/ 0 w 531"/>
                  <a:gd name="T11" fmla="*/ 0 h 766"/>
                  <a:gd name="T12" fmla="*/ 67 w 531"/>
                  <a:gd name="T13" fmla="*/ 589 h 766"/>
                  <a:gd name="T14" fmla="*/ 113 w 531"/>
                  <a:gd name="T15" fmla="*/ 643 h 766"/>
                  <a:gd name="T16" fmla="*/ 162 w 531"/>
                  <a:gd name="T17" fmla="*/ 694 h 766"/>
                  <a:gd name="T18" fmla="*/ 225 w 531"/>
                  <a:gd name="T19" fmla="*/ 729 h 766"/>
                  <a:gd name="T20" fmla="*/ 279 w 531"/>
                  <a:gd name="T21" fmla="*/ 747 h 766"/>
                  <a:gd name="T22" fmla="*/ 347 w 531"/>
                  <a:gd name="T23" fmla="*/ 756 h 766"/>
                  <a:gd name="T24" fmla="*/ 409 w 531"/>
                  <a:gd name="T25" fmla="*/ 766 h 766"/>
                  <a:gd name="T26" fmla="*/ 480 w 531"/>
                  <a:gd name="T27" fmla="*/ 766 h 766"/>
                  <a:gd name="T28" fmla="*/ 512 w 531"/>
                  <a:gd name="T29" fmla="*/ 756 h 766"/>
                  <a:gd name="T30" fmla="*/ 531 w 531"/>
                  <a:gd name="T31" fmla="*/ 729 h 766"/>
                  <a:gd name="T32" fmla="*/ 522 w 531"/>
                  <a:gd name="T33" fmla="*/ 685 h 766"/>
                  <a:gd name="T34" fmla="*/ 476 w 531"/>
                  <a:gd name="T35" fmla="*/ 581 h 766"/>
                  <a:gd name="T36" fmla="*/ 399 w 531"/>
                  <a:gd name="T37" fmla="*/ 229 h 766"/>
                  <a:gd name="T38" fmla="*/ 387 w 531"/>
                  <a:gd name="T39" fmla="*/ 180 h 766"/>
                  <a:gd name="T40" fmla="*/ 347 w 531"/>
                  <a:gd name="T41" fmla="*/ 154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783" name="Freeform 191"/>
            <p:cNvSpPr/>
            <p:nvPr/>
          </p:nvSpPr>
          <p:spPr bwMode="auto">
            <a:xfrm>
              <a:off x="463" y="3310"/>
              <a:ext cx="9" cy="141"/>
            </a:xfrm>
            <a:custGeom>
              <a:avLst/>
              <a:gdLst>
                <a:gd name="T0" fmla="*/ 29 w 43"/>
                <a:gd name="T1" fmla="*/ 0 h 703"/>
                <a:gd name="T2" fmla="*/ 43 w 43"/>
                <a:gd name="T3" fmla="*/ 36 h 703"/>
                <a:gd name="T4" fmla="*/ 27 w 43"/>
                <a:gd name="T5" fmla="*/ 63 h 703"/>
                <a:gd name="T6" fmla="*/ 14 w 43"/>
                <a:gd name="T7" fmla="*/ 122 h 703"/>
                <a:gd name="T8" fmla="*/ 32 w 43"/>
                <a:gd name="T9" fmla="*/ 176 h 703"/>
                <a:gd name="T10" fmla="*/ 21 w 43"/>
                <a:gd name="T11" fmla="*/ 491 h 703"/>
                <a:gd name="T12" fmla="*/ 21 w 43"/>
                <a:gd name="T13" fmla="*/ 693 h 703"/>
                <a:gd name="T14" fmla="*/ 0 w 43"/>
                <a:gd name="T15" fmla="*/ 703 h 703"/>
                <a:gd name="T16" fmla="*/ 2 w 43"/>
                <a:gd name="T17" fmla="*/ 284 h 703"/>
                <a:gd name="T18" fmla="*/ 21 w 43"/>
                <a:gd name="T19" fmla="*/ 184 h 703"/>
                <a:gd name="T20" fmla="*/ 10 w 43"/>
                <a:gd name="T21" fmla="*/ 137 h 703"/>
                <a:gd name="T22" fmla="*/ 4 w 43"/>
                <a:gd name="T23" fmla="*/ 120 h 703"/>
                <a:gd name="T24" fmla="*/ 12 w 43"/>
                <a:gd name="T25" fmla="*/ 69 h 703"/>
                <a:gd name="T26" fmla="*/ 27 w 43"/>
                <a:gd name="T27" fmla="*/ 40 h 703"/>
                <a:gd name="T28" fmla="*/ 29 w 43"/>
                <a:gd name="T29" fmla="*/ 0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784" name="Freeform 192"/>
            <p:cNvSpPr/>
            <p:nvPr/>
          </p:nvSpPr>
          <p:spPr bwMode="auto">
            <a:xfrm>
              <a:off x="427" y="3312"/>
              <a:ext cx="22" cy="7"/>
            </a:xfrm>
            <a:custGeom>
              <a:avLst/>
              <a:gdLst>
                <a:gd name="T0" fmla="*/ 112 w 112"/>
                <a:gd name="T1" fmla="*/ 0 h 36"/>
                <a:gd name="T2" fmla="*/ 57 w 112"/>
                <a:gd name="T3" fmla="*/ 26 h 36"/>
                <a:gd name="T4" fmla="*/ 9 w 112"/>
                <a:gd name="T5" fmla="*/ 36 h 36"/>
                <a:gd name="T6" fmla="*/ 0 w 112"/>
                <a:gd name="T7" fmla="*/ 36 h 36"/>
                <a:gd name="T8" fmla="*/ 29 w 112"/>
                <a:gd name="T9" fmla="*/ 11 h 36"/>
                <a:gd name="T10" fmla="*/ 112 w 112"/>
                <a:gd name="T11" fmla="*/ 0 h 36"/>
              </a:gdLst>
              <a:ahLst/>
              <a:cxnLst>
                <a:cxn ang="0">
                  <a:pos x="T0" y="T1"/>
                </a:cxn>
                <a:cxn ang="0">
                  <a:pos x="T2" y="T3"/>
                </a:cxn>
                <a:cxn ang="0">
                  <a:pos x="T4" y="T5"/>
                </a:cxn>
                <a:cxn ang="0">
                  <a:pos x="T6" y="T7"/>
                </a:cxn>
                <a:cxn ang="0">
                  <a:pos x="T8" y="T9"/>
                </a:cxn>
                <a:cxn ang="0">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6786" name="Text Box 194"/>
          <p:cNvSpPr txBox="1">
            <a:spLocks noChangeArrowheads="1"/>
          </p:cNvSpPr>
          <p:nvPr/>
        </p:nvSpPr>
        <p:spPr bwMode="auto">
          <a:xfrm>
            <a:off x="9480550" y="3644901"/>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用户代理</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787" name="Oval 195"/>
          <p:cNvSpPr>
            <a:spLocks noChangeArrowheads="1"/>
          </p:cNvSpPr>
          <p:nvPr/>
        </p:nvSpPr>
        <p:spPr bwMode="auto">
          <a:xfrm>
            <a:off x="2317750" y="4783139"/>
            <a:ext cx="298450" cy="16192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grpSp>
        <p:nvGrpSpPr>
          <p:cNvPr id="367090" name="Group 498"/>
          <p:cNvGrpSpPr/>
          <p:nvPr/>
        </p:nvGrpSpPr>
        <p:grpSpPr bwMode="auto">
          <a:xfrm>
            <a:off x="9912351" y="4352925"/>
            <a:ext cx="581025" cy="668338"/>
            <a:chOff x="5284" y="2742"/>
            <a:chExt cx="366" cy="421"/>
          </a:xfrm>
        </p:grpSpPr>
        <p:grpSp>
          <p:nvGrpSpPr>
            <p:cNvPr id="366847" name="Group 255"/>
            <p:cNvGrpSpPr/>
            <p:nvPr/>
          </p:nvGrpSpPr>
          <p:grpSpPr bwMode="auto">
            <a:xfrm>
              <a:off x="5345" y="2970"/>
              <a:ext cx="144" cy="79"/>
              <a:chOff x="5325" y="1860"/>
              <a:chExt cx="144" cy="79"/>
            </a:xfrm>
          </p:grpSpPr>
          <p:grpSp>
            <p:nvGrpSpPr>
              <p:cNvPr id="366848" name="Group 256"/>
              <p:cNvGrpSpPr/>
              <p:nvPr/>
            </p:nvGrpSpPr>
            <p:grpSpPr bwMode="auto">
              <a:xfrm>
                <a:off x="5325" y="1860"/>
                <a:ext cx="125" cy="63"/>
                <a:chOff x="5325" y="1860"/>
                <a:chExt cx="125" cy="63"/>
              </a:xfrm>
            </p:grpSpPr>
            <p:sp>
              <p:nvSpPr>
                <p:cNvPr id="366849" name="Freeform 257"/>
                <p:cNvSpPr/>
                <p:nvPr/>
              </p:nvSpPr>
              <p:spPr bwMode="auto">
                <a:xfrm>
                  <a:off x="5325" y="1860"/>
                  <a:ext cx="125" cy="63"/>
                </a:xfrm>
                <a:custGeom>
                  <a:avLst/>
                  <a:gdLst>
                    <a:gd name="T0" fmla="*/ 679 w 751"/>
                    <a:gd name="T1" fmla="*/ 379 h 379"/>
                    <a:gd name="T2" fmla="*/ 639 w 751"/>
                    <a:gd name="T3" fmla="*/ 370 h 379"/>
                    <a:gd name="T4" fmla="*/ 600 w 751"/>
                    <a:gd name="T5" fmla="*/ 352 h 379"/>
                    <a:gd name="T6" fmla="*/ 564 w 751"/>
                    <a:gd name="T7" fmla="*/ 344 h 379"/>
                    <a:gd name="T8" fmla="*/ 502 w 751"/>
                    <a:gd name="T9" fmla="*/ 353 h 379"/>
                    <a:gd name="T10" fmla="*/ 457 w 751"/>
                    <a:gd name="T11" fmla="*/ 352 h 379"/>
                    <a:gd name="T12" fmla="*/ 425 w 751"/>
                    <a:gd name="T13" fmla="*/ 341 h 379"/>
                    <a:gd name="T14" fmla="*/ 399 w 751"/>
                    <a:gd name="T15" fmla="*/ 332 h 379"/>
                    <a:gd name="T16" fmla="*/ 373 w 751"/>
                    <a:gd name="T17" fmla="*/ 320 h 379"/>
                    <a:gd name="T18" fmla="*/ 346 w 751"/>
                    <a:gd name="T19" fmla="*/ 295 h 379"/>
                    <a:gd name="T20" fmla="*/ 324 w 751"/>
                    <a:gd name="T21" fmla="*/ 273 h 379"/>
                    <a:gd name="T22" fmla="*/ 288 w 751"/>
                    <a:gd name="T23" fmla="*/ 246 h 379"/>
                    <a:gd name="T24" fmla="*/ 238 w 751"/>
                    <a:gd name="T25" fmla="*/ 254 h 379"/>
                    <a:gd name="T26" fmla="*/ 208 w 751"/>
                    <a:gd name="T27" fmla="*/ 256 h 379"/>
                    <a:gd name="T28" fmla="*/ 190 w 751"/>
                    <a:gd name="T29" fmla="*/ 251 h 379"/>
                    <a:gd name="T30" fmla="*/ 182 w 751"/>
                    <a:gd name="T31" fmla="*/ 243 h 379"/>
                    <a:gd name="T32" fmla="*/ 176 w 751"/>
                    <a:gd name="T33" fmla="*/ 228 h 379"/>
                    <a:gd name="T34" fmla="*/ 180 w 751"/>
                    <a:gd name="T35" fmla="*/ 215 h 379"/>
                    <a:gd name="T36" fmla="*/ 190 w 751"/>
                    <a:gd name="T37" fmla="*/ 200 h 379"/>
                    <a:gd name="T38" fmla="*/ 208 w 751"/>
                    <a:gd name="T39" fmla="*/ 193 h 379"/>
                    <a:gd name="T40" fmla="*/ 248 w 751"/>
                    <a:gd name="T41" fmla="*/ 188 h 379"/>
                    <a:gd name="T42" fmla="*/ 296 w 751"/>
                    <a:gd name="T43" fmla="*/ 171 h 379"/>
                    <a:gd name="T44" fmla="*/ 256 w 751"/>
                    <a:gd name="T45" fmla="*/ 140 h 379"/>
                    <a:gd name="T46" fmla="*/ 209 w 751"/>
                    <a:gd name="T47" fmla="*/ 121 h 379"/>
                    <a:gd name="T48" fmla="*/ 168 w 751"/>
                    <a:gd name="T49" fmla="*/ 124 h 379"/>
                    <a:gd name="T50" fmla="*/ 121 w 751"/>
                    <a:gd name="T51" fmla="*/ 121 h 379"/>
                    <a:gd name="T52" fmla="*/ 93 w 751"/>
                    <a:gd name="T53" fmla="*/ 131 h 379"/>
                    <a:gd name="T54" fmla="*/ 54 w 751"/>
                    <a:gd name="T55" fmla="*/ 132 h 379"/>
                    <a:gd name="T56" fmla="*/ 42 w 751"/>
                    <a:gd name="T57" fmla="*/ 121 h 379"/>
                    <a:gd name="T58" fmla="*/ 39 w 751"/>
                    <a:gd name="T59" fmla="*/ 105 h 379"/>
                    <a:gd name="T60" fmla="*/ 18 w 751"/>
                    <a:gd name="T61" fmla="*/ 106 h 379"/>
                    <a:gd name="T62" fmla="*/ 6 w 751"/>
                    <a:gd name="T63" fmla="*/ 103 h 379"/>
                    <a:gd name="T64" fmla="*/ 0 w 751"/>
                    <a:gd name="T65" fmla="*/ 87 h 379"/>
                    <a:gd name="T66" fmla="*/ 4 w 751"/>
                    <a:gd name="T67" fmla="*/ 74 h 379"/>
                    <a:gd name="T68" fmla="*/ 15 w 751"/>
                    <a:gd name="T69" fmla="*/ 68 h 379"/>
                    <a:gd name="T70" fmla="*/ 36 w 751"/>
                    <a:gd name="T71" fmla="*/ 56 h 379"/>
                    <a:gd name="T72" fmla="*/ 52 w 751"/>
                    <a:gd name="T73" fmla="*/ 44 h 379"/>
                    <a:gd name="T74" fmla="*/ 71 w 751"/>
                    <a:gd name="T75" fmla="*/ 34 h 379"/>
                    <a:gd name="T76" fmla="*/ 93 w 751"/>
                    <a:gd name="T77" fmla="*/ 27 h 379"/>
                    <a:gd name="T78" fmla="*/ 112 w 751"/>
                    <a:gd name="T79" fmla="*/ 27 h 379"/>
                    <a:gd name="T80" fmla="*/ 203 w 751"/>
                    <a:gd name="T81" fmla="*/ 9 h 379"/>
                    <a:gd name="T82" fmla="*/ 222 w 751"/>
                    <a:gd name="T83" fmla="*/ 4 h 379"/>
                    <a:gd name="T84" fmla="*/ 244 w 751"/>
                    <a:gd name="T85" fmla="*/ 0 h 379"/>
                    <a:gd name="T86" fmla="*/ 267 w 751"/>
                    <a:gd name="T87" fmla="*/ 4 h 379"/>
                    <a:gd name="T88" fmla="*/ 295 w 751"/>
                    <a:gd name="T89" fmla="*/ 13 h 379"/>
                    <a:gd name="T90" fmla="*/ 373 w 751"/>
                    <a:gd name="T91" fmla="*/ 56 h 379"/>
                    <a:gd name="T92" fmla="*/ 410 w 751"/>
                    <a:gd name="T93" fmla="*/ 64 h 379"/>
                    <a:gd name="T94" fmla="*/ 443 w 751"/>
                    <a:gd name="T95" fmla="*/ 71 h 379"/>
                    <a:gd name="T96" fmla="*/ 469 w 751"/>
                    <a:gd name="T97" fmla="*/ 87 h 379"/>
                    <a:gd name="T98" fmla="*/ 484 w 751"/>
                    <a:gd name="T99" fmla="*/ 108 h 379"/>
                    <a:gd name="T100" fmla="*/ 549 w 751"/>
                    <a:gd name="T101" fmla="*/ 153 h 379"/>
                    <a:gd name="T102" fmla="*/ 578 w 751"/>
                    <a:gd name="T103" fmla="*/ 174 h 379"/>
                    <a:gd name="T104" fmla="*/ 617 w 751"/>
                    <a:gd name="T105" fmla="*/ 215 h 379"/>
                    <a:gd name="T106" fmla="*/ 641 w 751"/>
                    <a:gd name="T107" fmla="*/ 227 h 379"/>
                    <a:gd name="T108" fmla="*/ 751 w 751"/>
                    <a:gd name="T109" fmla="*/ 232 h 379"/>
                    <a:gd name="T110" fmla="*/ 679 w 751"/>
                    <a:gd name="T111"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0" name="Freeform 258"/>
                <p:cNvSpPr/>
                <p:nvPr/>
              </p:nvSpPr>
              <p:spPr bwMode="auto">
                <a:xfrm>
                  <a:off x="5374" y="1888"/>
                  <a:ext cx="29" cy="7"/>
                </a:xfrm>
                <a:custGeom>
                  <a:avLst/>
                  <a:gdLst>
                    <a:gd name="T0" fmla="*/ 0 w 179"/>
                    <a:gd name="T1" fmla="*/ 0 h 43"/>
                    <a:gd name="T2" fmla="*/ 6 w 179"/>
                    <a:gd name="T3" fmla="*/ 11 h 43"/>
                    <a:gd name="T4" fmla="*/ 38 w 179"/>
                    <a:gd name="T5" fmla="*/ 10 h 43"/>
                    <a:gd name="T6" fmla="*/ 50 w 179"/>
                    <a:gd name="T7" fmla="*/ 16 h 43"/>
                    <a:gd name="T8" fmla="*/ 76 w 179"/>
                    <a:gd name="T9" fmla="*/ 29 h 43"/>
                    <a:gd name="T10" fmla="*/ 112 w 179"/>
                    <a:gd name="T11" fmla="*/ 37 h 43"/>
                    <a:gd name="T12" fmla="*/ 150 w 179"/>
                    <a:gd name="T13" fmla="*/ 38 h 43"/>
                    <a:gd name="T14" fmla="*/ 179 w 179"/>
                    <a:gd name="T15" fmla="*/ 43 h 43"/>
                    <a:gd name="T16" fmla="*/ 155 w 179"/>
                    <a:gd name="T17" fmla="*/ 34 h 43"/>
                    <a:gd name="T18" fmla="*/ 125 w 179"/>
                    <a:gd name="T19" fmla="*/ 29 h 43"/>
                    <a:gd name="T20" fmla="*/ 105 w 179"/>
                    <a:gd name="T21" fmla="*/ 29 h 43"/>
                    <a:gd name="T22" fmla="*/ 76 w 179"/>
                    <a:gd name="T23" fmla="*/ 21 h 43"/>
                    <a:gd name="T24" fmla="*/ 53 w 179"/>
                    <a:gd name="T25" fmla="*/ 8 h 43"/>
                    <a:gd name="T26" fmla="*/ 43 w 179"/>
                    <a:gd name="T27" fmla="*/ 2 h 43"/>
                    <a:gd name="T28" fmla="*/ 0 w 179"/>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1" name="Freeform 259"/>
                <p:cNvSpPr/>
                <p:nvPr/>
              </p:nvSpPr>
              <p:spPr bwMode="auto">
                <a:xfrm>
                  <a:off x="5362" y="1894"/>
                  <a:ext cx="4" cy="4"/>
                </a:xfrm>
                <a:custGeom>
                  <a:avLst/>
                  <a:gdLst>
                    <a:gd name="T0" fmla="*/ 4 w 20"/>
                    <a:gd name="T1" fmla="*/ 0 h 24"/>
                    <a:gd name="T2" fmla="*/ 12 w 20"/>
                    <a:gd name="T3" fmla="*/ 6 h 24"/>
                    <a:gd name="T4" fmla="*/ 9 w 20"/>
                    <a:gd name="T5" fmla="*/ 15 h 24"/>
                    <a:gd name="T6" fmla="*/ 0 w 20"/>
                    <a:gd name="T7" fmla="*/ 24 h 24"/>
                    <a:gd name="T8" fmla="*/ 17 w 20"/>
                    <a:gd name="T9" fmla="*/ 18 h 24"/>
                    <a:gd name="T10" fmla="*/ 20 w 20"/>
                    <a:gd name="T11" fmla="*/ 8 h 24"/>
                    <a:gd name="T12" fmla="*/ 4 w 20"/>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2" name="Freeform 260"/>
                <p:cNvSpPr/>
                <p:nvPr/>
              </p:nvSpPr>
              <p:spPr bwMode="auto">
                <a:xfrm>
                  <a:off x="5331" y="1869"/>
                  <a:ext cx="17" cy="8"/>
                </a:xfrm>
                <a:custGeom>
                  <a:avLst/>
                  <a:gdLst>
                    <a:gd name="T0" fmla="*/ 0 w 104"/>
                    <a:gd name="T1" fmla="*/ 45 h 48"/>
                    <a:gd name="T2" fmla="*/ 11 w 104"/>
                    <a:gd name="T3" fmla="*/ 48 h 48"/>
                    <a:gd name="T4" fmla="*/ 25 w 104"/>
                    <a:gd name="T5" fmla="*/ 33 h 48"/>
                    <a:gd name="T6" fmla="*/ 46 w 104"/>
                    <a:gd name="T7" fmla="*/ 25 h 48"/>
                    <a:gd name="T8" fmla="*/ 56 w 104"/>
                    <a:gd name="T9" fmla="*/ 14 h 48"/>
                    <a:gd name="T10" fmla="*/ 66 w 104"/>
                    <a:gd name="T11" fmla="*/ 9 h 48"/>
                    <a:gd name="T12" fmla="*/ 89 w 104"/>
                    <a:gd name="T13" fmla="*/ 4 h 48"/>
                    <a:gd name="T14" fmla="*/ 104 w 104"/>
                    <a:gd name="T15" fmla="*/ 1 h 48"/>
                    <a:gd name="T16" fmla="*/ 84 w 104"/>
                    <a:gd name="T17" fmla="*/ 0 h 48"/>
                    <a:gd name="T18" fmla="*/ 58 w 104"/>
                    <a:gd name="T19" fmla="*/ 4 h 48"/>
                    <a:gd name="T20" fmla="*/ 49 w 104"/>
                    <a:gd name="T21" fmla="*/ 12 h 48"/>
                    <a:gd name="T22" fmla="*/ 37 w 104"/>
                    <a:gd name="T23" fmla="*/ 20 h 48"/>
                    <a:gd name="T24" fmla="*/ 0 w 104"/>
                    <a:gd name="T25"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3" name="Freeform 261"/>
                <p:cNvSpPr/>
                <p:nvPr/>
              </p:nvSpPr>
              <p:spPr bwMode="auto">
                <a:xfrm>
                  <a:off x="5357" y="1866"/>
                  <a:ext cx="27" cy="7"/>
                </a:xfrm>
                <a:custGeom>
                  <a:avLst/>
                  <a:gdLst>
                    <a:gd name="T0" fmla="*/ 0 w 166"/>
                    <a:gd name="T1" fmla="*/ 10 h 42"/>
                    <a:gd name="T2" fmla="*/ 35 w 166"/>
                    <a:gd name="T3" fmla="*/ 6 h 42"/>
                    <a:gd name="T4" fmla="*/ 55 w 166"/>
                    <a:gd name="T5" fmla="*/ 0 h 42"/>
                    <a:gd name="T6" fmla="*/ 63 w 166"/>
                    <a:gd name="T7" fmla="*/ 0 h 42"/>
                    <a:gd name="T8" fmla="*/ 85 w 166"/>
                    <a:gd name="T9" fmla="*/ 5 h 42"/>
                    <a:gd name="T10" fmla="*/ 94 w 166"/>
                    <a:gd name="T11" fmla="*/ 14 h 42"/>
                    <a:gd name="T12" fmla="*/ 111 w 166"/>
                    <a:gd name="T13" fmla="*/ 23 h 42"/>
                    <a:gd name="T14" fmla="*/ 143 w 166"/>
                    <a:gd name="T15" fmla="*/ 36 h 42"/>
                    <a:gd name="T16" fmla="*/ 166 w 166"/>
                    <a:gd name="T17" fmla="*/ 36 h 42"/>
                    <a:gd name="T18" fmla="*/ 142 w 166"/>
                    <a:gd name="T19" fmla="*/ 42 h 42"/>
                    <a:gd name="T20" fmla="*/ 126 w 166"/>
                    <a:gd name="T21" fmla="*/ 39 h 42"/>
                    <a:gd name="T22" fmla="*/ 91 w 166"/>
                    <a:gd name="T23" fmla="*/ 22 h 42"/>
                    <a:gd name="T24" fmla="*/ 79 w 166"/>
                    <a:gd name="T25" fmla="*/ 10 h 42"/>
                    <a:gd name="T26" fmla="*/ 55 w 166"/>
                    <a:gd name="T27" fmla="*/ 8 h 42"/>
                    <a:gd name="T28" fmla="*/ 35 w 166"/>
                    <a:gd name="T29" fmla="*/ 10 h 42"/>
                    <a:gd name="T30" fmla="*/ 0 w 166"/>
                    <a:gd name="T31"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4" name="Freeform 262"/>
                <p:cNvSpPr/>
                <p:nvPr/>
              </p:nvSpPr>
              <p:spPr bwMode="auto">
                <a:xfrm>
                  <a:off x="5335" y="1874"/>
                  <a:ext cx="6" cy="5"/>
                </a:xfrm>
                <a:custGeom>
                  <a:avLst/>
                  <a:gdLst>
                    <a:gd name="T0" fmla="*/ 25 w 33"/>
                    <a:gd name="T1" fmla="*/ 0 h 30"/>
                    <a:gd name="T2" fmla="*/ 33 w 33"/>
                    <a:gd name="T3" fmla="*/ 11 h 30"/>
                    <a:gd name="T4" fmla="*/ 23 w 33"/>
                    <a:gd name="T5" fmla="*/ 24 h 30"/>
                    <a:gd name="T6" fmla="*/ 0 w 33"/>
                    <a:gd name="T7" fmla="*/ 30 h 30"/>
                    <a:gd name="T8" fmla="*/ 25 w 33"/>
                    <a:gd name="T9" fmla="*/ 15 h 30"/>
                    <a:gd name="T10" fmla="*/ 25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5" name="Freeform 263"/>
                <p:cNvSpPr/>
                <p:nvPr/>
              </p:nvSpPr>
              <p:spPr bwMode="auto">
                <a:xfrm>
                  <a:off x="5329" y="1870"/>
                  <a:ext cx="6" cy="4"/>
                </a:xfrm>
                <a:custGeom>
                  <a:avLst/>
                  <a:gdLst>
                    <a:gd name="T0" fmla="*/ 33 w 33"/>
                    <a:gd name="T1" fmla="*/ 16 h 28"/>
                    <a:gd name="T2" fmla="*/ 25 w 33"/>
                    <a:gd name="T3" fmla="*/ 0 h 28"/>
                    <a:gd name="T4" fmla="*/ 24 w 33"/>
                    <a:gd name="T5" fmla="*/ 13 h 28"/>
                    <a:gd name="T6" fmla="*/ 0 w 33"/>
                    <a:gd name="T7" fmla="*/ 26 h 28"/>
                    <a:gd name="T8" fmla="*/ 3 w 33"/>
                    <a:gd name="T9" fmla="*/ 28 h 28"/>
                    <a:gd name="T10" fmla="*/ 33 w 33"/>
                    <a:gd name="T11" fmla="*/ 16 h 28"/>
                  </a:gdLst>
                  <a:ahLst/>
                  <a:cxnLst>
                    <a:cxn ang="0">
                      <a:pos x="T0" y="T1"/>
                    </a:cxn>
                    <a:cxn ang="0">
                      <a:pos x="T2" y="T3"/>
                    </a:cxn>
                    <a:cxn ang="0">
                      <a:pos x="T4" y="T5"/>
                    </a:cxn>
                    <a:cxn ang="0">
                      <a:pos x="T6" y="T7"/>
                    </a:cxn>
                    <a:cxn ang="0">
                      <a:pos x="T8" y="T9"/>
                    </a:cxn>
                    <a:cxn ang="0">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6" name="Freeform 264"/>
                <p:cNvSpPr/>
                <p:nvPr/>
              </p:nvSpPr>
              <p:spPr bwMode="auto">
                <a:xfrm>
                  <a:off x="5399" y="1876"/>
                  <a:ext cx="6" cy="7"/>
                </a:xfrm>
                <a:custGeom>
                  <a:avLst/>
                  <a:gdLst>
                    <a:gd name="T0" fmla="*/ 0 w 37"/>
                    <a:gd name="T1" fmla="*/ 0 h 42"/>
                    <a:gd name="T2" fmla="*/ 8 w 37"/>
                    <a:gd name="T3" fmla="*/ 21 h 42"/>
                    <a:gd name="T4" fmla="*/ 23 w 37"/>
                    <a:gd name="T5" fmla="*/ 39 h 42"/>
                    <a:gd name="T6" fmla="*/ 37 w 37"/>
                    <a:gd name="T7" fmla="*/ 42 h 42"/>
                    <a:gd name="T8" fmla="*/ 0 w 37"/>
                    <a:gd name="T9" fmla="*/ 0 h 42"/>
                  </a:gdLst>
                  <a:ahLst/>
                  <a:cxnLst>
                    <a:cxn ang="0">
                      <a:pos x="T0" y="T1"/>
                    </a:cxn>
                    <a:cxn ang="0">
                      <a:pos x="T2" y="T3"/>
                    </a:cxn>
                    <a:cxn ang="0">
                      <a:pos x="T4" y="T5"/>
                    </a:cxn>
                    <a:cxn ang="0">
                      <a:pos x="T6" y="T7"/>
                    </a:cxn>
                    <a:cxn ang="0">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57" name="Freeform 265"/>
                <p:cNvSpPr/>
                <p:nvPr/>
              </p:nvSpPr>
              <p:spPr bwMode="auto">
                <a:xfrm>
                  <a:off x="5420" y="1907"/>
                  <a:ext cx="9" cy="6"/>
                </a:xfrm>
                <a:custGeom>
                  <a:avLst/>
                  <a:gdLst>
                    <a:gd name="T0" fmla="*/ 50 w 50"/>
                    <a:gd name="T1" fmla="*/ 0 h 39"/>
                    <a:gd name="T2" fmla="*/ 17 w 50"/>
                    <a:gd name="T3" fmla="*/ 14 h 39"/>
                    <a:gd name="T4" fmla="*/ 0 w 50"/>
                    <a:gd name="T5" fmla="*/ 39 h 39"/>
                    <a:gd name="T6" fmla="*/ 50 w 50"/>
                    <a:gd name="T7" fmla="*/ 0 h 39"/>
                  </a:gdLst>
                  <a:ahLst/>
                  <a:cxnLst>
                    <a:cxn ang="0">
                      <a:pos x="T0" y="T1"/>
                    </a:cxn>
                    <a:cxn ang="0">
                      <a:pos x="T2" y="T3"/>
                    </a:cxn>
                    <a:cxn ang="0">
                      <a:pos x="T4" y="T5"/>
                    </a:cxn>
                    <a:cxn ang="0">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858" name="Group 266"/>
              <p:cNvGrpSpPr/>
              <p:nvPr/>
            </p:nvGrpSpPr>
            <p:grpSpPr bwMode="auto">
              <a:xfrm>
                <a:off x="5432" y="1894"/>
                <a:ext cx="37" cy="45"/>
                <a:chOff x="5432" y="1894"/>
                <a:chExt cx="37" cy="45"/>
              </a:xfrm>
            </p:grpSpPr>
            <p:sp>
              <p:nvSpPr>
                <p:cNvPr id="366859" name="Freeform 267"/>
                <p:cNvSpPr/>
                <p:nvPr/>
              </p:nvSpPr>
              <p:spPr bwMode="auto">
                <a:xfrm>
                  <a:off x="5432" y="1894"/>
                  <a:ext cx="37" cy="45"/>
                </a:xfrm>
                <a:custGeom>
                  <a:avLst/>
                  <a:gdLst>
                    <a:gd name="T0" fmla="*/ 77 w 219"/>
                    <a:gd name="T1" fmla="*/ 17 h 267"/>
                    <a:gd name="T2" fmla="*/ 42 w 219"/>
                    <a:gd name="T3" fmla="*/ 55 h 267"/>
                    <a:gd name="T4" fmla="*/ 26 w 219"/>
                    <a:gd name="T5" fmla="*/ 87 h 267"/>
                    <a:gd name="T6" fmla="*/ 11 w 219"/>
                    <a:gd name="T7" fmla="*/ 138 h 267"/>
                    <a:gd name="T8" fmla="*/ 11 w 219"/>
                    <a:gd name="T9" fmla="*/ 167 h 267"/>
                    <a:gd name="T10" fmla="*/ 0 w 219"/>
                    <a:gd name="T11" fmla="*/ 210 h 267"/>
                    <a:gd name="T12" fmla="*/ 178 w 219"/>
                    <a:gd name="T13" fmla="*/ 267 h 267"/>
                    <a:gd name="T14" fmla="*/ 219 w 219"/>
                    <a:gd name="T15" fmla="*/ 0 h 267"/>
                    <a:gd name="T16" fmla="*/ 146 w 219"/>
                    <a:gd name="T17" fmla="*/ 17 h 267"/>
                    <a:gd name="T18" fmla="*/ 77 w 219"/>
                    <a:gd name="T19"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0" name="Freeform 268"/>
                <p:cNvSpPr/>
                <p:nvPr/>
              </p:nvSpPr>
              <p:spPr bwMode="auto">
                <a:xfrm>
                  <a:off x="5436" y="1898"/>
                  <a:ext cx="29" cy="37"/>
                </a:xfrm>
                <a:custGeom>
                  <a:avLst/>
                  <a:gdLst>
                    <a:gd name="T0" fmla="*/ 69 w 175"/>
                    <a:gd name="T1" fmla="*/ 7 h 220"/>
                    <a:gd name="T2" fmla="*/ 38 w 175"/>
                    <a:gd name="T3" fmla="*/ 42 h 220"/>
                    <a:gd name="T4" fmla="*/ 12 w 175"/>
                    <a:gd name="T5" fmla="*/ 92 h 220"/>
                    <a:gd name="T6" fmla="*/ 6 w 175"/>
                    <a:gd name="T7" fmla="*/ 128 h 220"/>
                    <a:gd name="T8" fmla="*/ 0 w 175"/>
                    <a:gd name="T9" fmla="*/ 171 h 220"/>
                    <a:gd name="T10" fmla="*/ 140 w 175"/>
                    <a:gd name="T11" fmla="*/ 220 h 220"/>
                    <a:gd name="T12" fmla="*/ 175 w 175"/>
                    <a:gd name="T13" fmla="*/ 0 h 220"/>
                    <a:gd name="T14" fmla="*/ 122 w 175"/>
                    <a:gd name="T15" fmla="*/ 10 h 220"/>
                    <a:gd name="T16" fmla="*/ 69 w 175"/>
                    <a:gd name="T17" fmla="*/ 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sp>
          <p:nvSpPr>
            <p:cNvPr id="366861" name="Freeform 269"/>
            <p:cNvSpPr/>
            <p:nvPr/>
          </p:nvSpPr>
          <p:spPr bwMode="auto">
            <a:xfrm>
              <a:off x="5485" y="2761"/>
              <a:ext cx="123" cy="134"/>
            </a:xfrm>
            <a:custGeom>
              <a:avLst/>
              <a:gdLst>
                <a:gd name="T0" fmla="*/ 243 w 741"/>
                <a:gd name="T1" fmla="*/ 26 h 807"/>
                <a:gd name="T2" fmla="*/ 179 w 741"/>
                <a:gd name="T3" fmla="*/ 74 h 807"/>
                <a:gd name="T4" fmla="*/ 144 w 741"/>
                <a:gd name="T5" fmla="*/ 131 h 807"/>
                <a:gd name="T6" fmla="*/ 112 w 741"/>
                <a:gd name="T7" fmla="*/ 192 h 807"/>
                <a:gd name="T8" fmla="*/ 92 w 741"/>
                <a:gd name="T9" fmla="*/ 224 h 807"/>
                <a:gd name="T10" fmla="*/ 92 w 741"/>
                <a:gd name="T11" fmla="*/ 259 h 807"/>
                <a:gd name="T12" fmla="*/ 109 w 741"/>
                <a:gd name="T13" fmla="*/ 300 h 807"/>
                <a:gd name="T14" fmla="*/ 77 w 741"/>
                <a:gd name="T15" fmla="*/ 332 h 807"/>
                <a:gd name="T16" fmla="*/ 26 w 741"/>
                <a:gd name="T17" fmla="*/ 420 h 807"/>
                <a:gd name="T18" fmla="*/ 0 w 741"/>
                <a:gd name="T19" fmla="*/ 467 h 807"/>
                <a:gd name="T20" fmla="*/ 0 w 741"/>
                <a:gd name="T21" fmla="*/ 482 h 807"/>
                <a:gd name="T22" fmla="*/ 6 w 741"/>
                <a:gd name="T23" fmla="*/ 498 h 807"/>
                <a:gd name="T24" fmla="*/ 28 w 741"/>
                <a:gd name="T25" fmla="*/ 503 h 807"/>
                <a:gd name="T26" fmla="*/ 60 w 741"/>
                <a:gd name="T27" fmla="*/ 504 h 807"/>
                <a:gd name="T28" fmla="*/ 79 w 741"/>
                <a:gd name="T29" fmla="*/ 511 h 807"/>
                <a:gd name="T30" fmla="*/ 77 w 741"/>
                <a:gd name="T31" fmla="*/ 546 h 807"/>
                <a:gd name="T32" fmla="*/ 67 w 741"/>
                <a:gd name="T33" fmla="*/ 587 h 807"/>
                <a:gd name="T34" fmla="*/ 86 w 741"/>
                <a:gd name="T35" fmla="*/ 609 h 807"/>
                <a:gd name="T36" fmla="*/ 80 w 741"/>
                <a:gd name="T37" fmla="*/ 639 h 807"/>
                <a:gd name="T38" fmla="*/ 95 w 741"/>
                <a:gd name="T39" fmla="*/ 659 h 807"/>
                <a:gd name="T40" fmla="*/ 110 w 741"/>
                <a:gd name="T41" fmla="*/ 713 h 807"/>
                <a:gd name="T42" fmla="*/ 133 w 741"/>
                <a:gd name="T43" fmla="*/ 728 h 807"/>
                <a:gd name="T44" fmla="*/ 167 w 741"/>
                <a:gd name="T45" fmla="*/ 728 h 807"/>
                <a:gd name="T46" fmla="*/ 217 w 741"/>
                <a:gd name="T47" fmla="*/ 721 h 807"/>
                <a:gd name="T48" fmla="*/ 269 w 741"/>
                <a:gd name="T49" fmla="*/ 713 h 807"/>
                <a:gd name="T50" fmla="*/ 263 w 741"/>
                <a:gd name="T51" fmla="*/ 807 h 807"/>
                <a:gd name="T52" fmla="*/ 658 w 741"/>
                <a:gd name="T53" fmla="*/ 681 h 807"/>
                <a:gd name="T54" fmla="*/ 626 w 741"/>
                <a:gd name="T55" fmla="*/ 606 h 807"/>
                <a:gd name="T56" fmla="*/ 634 w 741"/>
                <a:gd name="T57" fmla="*/ 549 h 807"/>
                <a:gd name="T58" fmla="*/ 741 w 741"/>
                <a:gd name="T59" fmla="*/ 441 h 807"/>
                <a:gd name="T60" fmla="*/ 741 w 741"/>
                <a:gd name="T61" fmla="*/ 155 h 807"/>
                <a:gd name="T62" fmla="*/ 668 w 741"/>
                <a:gd name="T63" fmla="*/ 77 h 807"/>
                <a:gd name="T64" fmla="*/ 577 w 741"/>
                <a:gd name="T65" fmla="*/ 35 h 807"/>
                <a:gd name="T66" fmla="*/ 481 w 741"/>
                <a:gd name="T67" fmla="*/ 0 h 807"/>
                <a:gd name="T68" fmla="*/ 355 w 741"/>
                <a:gd name="T69" fmla="*/ 18 h 807"/>
                <a:gd name="T70" fmla="*/ 243 w 741"/>
                <a:gd name="T71" fmla="*/ 26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2" name="Freeform 270"/>
            <p:cNvSpPr/>
            <p:nvPr/>
          </p:nvSpPr>
          <p:spPr bwMode="auto">
            <a:xfrm>
              <a:off x="5491" y="2842"/>
              <a:ext cx="7" cy="2"/>
            </a:xfrm>
            <a:custGeom>
              <a:avLst/>
              <a:gdLst>
                <a:gd name="T0" fmla="*/ 0 w 42"/>
                <a:gd name="T1" fmla="*/ 3 h 9"/>
                <a:gd name="T2" fmla="*/ 9 w 42"/>
                <a:gd name="T3" fmla="*/ 8 h 9"/>
                <a:gd name="T4" fmla="*/ 30 w 42"/>
                <a:gd name="T5" fmla="*/ 6 h 9"/>
                <a:gd name="T6" fmla="*/ 39 w 42"/>
                <a:gd name="T7" fmla="*/ 9 h 9"/>
                <a:gd name="T8" fmla="*/ 42 w 42"/>
                <a:gd name="T9" fmla="*/ 2 h 9"/>
                <a:gd name="T10" fmla="*/ 29 w 42"/>
                <a:gd name="T11" fmla="*/ 0 h 9"/>
                <a:gd name="T12" fmla="*/ 0 w 42"/>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3" name="Freeform 271"/>
            <p:cNvSpPr/>
            <p:nvPr/>
          </p:nvSpPr>
          <p:spPr bwMode="auto">
            <a:xfrm>
              <a:off x="5498" y="2837"/>
              <a:ext cx="3" cy="5"/>
            </a:xfrm>
            <a:custGeom>
              <a:avLst/>
              <a:gdLst>
                <a:gd name="T0" fmla="*/ 0 w 17"/>
                <a:gd name="T1" fmla="*/ 0 h 31"/>
                <a:gd name="T2" fmla="*/ 11 w 17"/>
                <a:gd name="T3" fmla="*/ 7 h 31"/>
                <a:gd name="T4" fmla="*/ 11 w 17"/>
                <a:gd name="T5" fmla="*/ 16 h 31"/>
                <a:gd name="T6" fmla="*/ 13 w 17"/>
                <a:gd name="T7" fmla="*/ 31 h 31"/>
                <a:gd name="T8" fmla="*/ 17 w 17"/>
                <a:gd name="T9" fmla="*/ 12 h 31"/>
                <a:gd name="T10" fmla="*/ 17 w 17"/>
                <a:gd name="T11" fmla="*/ 1 h 31"/>
                <a:gd name="T12" fmla="*/ 0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4" name="Freeform 272"/>
            <p:cNvSpPr/>
            <p:nvPr/>
          </p:nvSpPr>
          <p:spPr bwMode="auto">
            <a:xfrm>
              <a:off x="5503" y="2820"/>
              <a:ext cx="3" cy="10"/>
            </a:xfrm>
            <a:custGeom>
              <a:avLst/>
              <a:gdLst>
                <a:gd name="T0" fmla="*/ 19 w 19"/>
                <a:gd name="T1" fmla="*/ 0 h 60"/>
                <a:gd name="T2" fmla="*/ 5 w 19"/>
                <a:gd name="T3" fmla="*/ 34 h 60"/>
                <a:gd name="T4" fmla="*/ 0 w 19"/>
                <a:gd name="T5" fmla="*/ 60 h 60"/>
                <a:gd name="T6" fmla="*/ 9 w 19"/>
                <a:gd name="T7" fmla="*/ 43 h 60"/>
                <a:gd name="T8" fmla="*/ 19 w 19"/>
                <a:gd name="T9" fmla="*/ 0 h 60"/>
              </a:gdLst>
              <a:ahLst/>
              <a:cxnLst>
                <a:cxn ang="0">
                  <a:pos x="T0" y="T1"/>
                </a:cxn>
                <a:cxn ang="0">
                  <a:pos x="T2" y="T3"/>
                </a:cxn>
                <a:cxn ang="0">
                  <a:pos x="T4" y="T5"/>
                </a:cxn>
                <a:cxn ang="0">
                  <a:pos x="T6" y="T7"/>
                </a:cxn>
                <a:cxn ang="0">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5" name="Freeform 273"/>
            <p:cNvSpPr/>
            <p:nvPr/>
          </p:nvSpPr>
          <p:spPr bwMode="auto">
            <a:xfrm>
              <a:off x="5505" y="2810"/>
              <a:ext cx="13" cy="9"/>
            </a:xfrm>
            <a:custGeom>
              <a:avLst/>
              <a:gdLst>
                <a:gd name="T0" fmla="*/ 0 w 80"/>
                <a:gd name="T1" fmla="*/ 0 h 51"/>
                <a:gd name="T2" fmla="*/ 17 w 80"/>
                <a:gd name="T3" fmla="*/ 28 h 51"/>
                <a:gd name="T4" fmla="*/ 13 w 80"/>
                <a:gd name="T5" fmla="*/ 35 h 51"/>
                <a:gd name="T6" fmla="*/ 13 w 80"/>
                <a:gd name="T7" fmla="*/ 40 h 51"/>
                <a:gd name="T8" fmla="*/ 9 w 80"/>
                <a:gd name="T9" fmla="*/ 51 h 51"/>
                <a:gd name="T10" fmla="*/ 20 w 80"/>
                <a:gd name="T11" fmla="*/ 34 h 51"/>
                <a:gd name="T12" fmla="*/ 35 w 80"/>
                <a:gd name="T13" fmla="*/ 34 h 51"/>
                <a:gd name="T14" fmla="*/ 52 w 80"/>
                <a:gd name="T15" fmla="*/ 28 h 51"/>
                <a:gd name="T16" fmla="*/ 80 w 80"/>
                <a:gd name="T17" fmla="*/ 26 h 51"/>
                <a:gd name="T18" fmla="*/ 52 w 80"/>
                <a:gd name="T19" fmla="*/ 9 h 51"/>
                <a:gd name="T20" fmla="*/ 0 w 80"/>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6" name="Freeform 274"/>
            <p:cNvSpPr/>
            <p:nvPr/>
          </p:nvSpPr>
          <p:spPr bwMode="auto">
            <a:xfrm>
              <a:off x="5502" y="2798"/>
              <a:ext cx="22" cy="8"/>
            </a:xfrm>
            <a:custGeom>
              <a:avLst/>
              <a:gdLst>
                <a:gd name="T0" fmla="*/ 0 w 135"/>
                <a:gd name="T1" fmla="*/ 25 h 48"/>
                <a:gd name="T2" fmla="*/ 6 w 135"/>
                <a:gd name="T3" fmla="*/ 42 h 48"/>
                <a:gd name="T4" fmla="*/ 20 w 135"/>
                <a:gd name="T5" fmla="*/ 48 h 48"/>
                <a:gd name="T6" fmla="*/ 42 w 135"/>
                <a:gd name="T7" fmla="*/ 34 h 48"/>
                <a:gd name="T8" fmla="*/ 69 w 135"/>
                <a:gd name="T9" fmla="*/ 25 h 48"/>
                <a:gd name="T10" fmla="*/ 113 w 135"/>
                <a:gd name="T11" fmla="*/ 24 h 48"/>
                <a:gd name="T12" fmla="*/ 135 w 135"/>
                <a:gd name="T13" fmla="*/ 27 h 48"/>
                <a:gd name="T14" fmla="*/ 101 w 135"/>
                <a:gd name="T15" fmla="*/ 12 h 48"/>
                <a:gd name="T16" fmla="*/ 77 w 135"/>
                <a:gd name="T17" fmla="*/ 6 h 48"/>
                <a:gd name="T18" fmla="*/ 80 w 135"/>
                <a:gd name="T19" fmla="*/ 0 h 48"/>
                <a:gd name="T20" fmla="*/ 57 w 135"/>
                <a:gd name="T21" fmla="*/ 9 h 48"/>
                <a:gd name="T22" fmla="*/ 59 w 135"/>
                <a:gd name="T23" fmla="*/ 3 h 48"/>
                <a:gd name="T24" fmla="*/ 40 w 135"/>
                <a:gd name="T25" fmla="*/ 12 h 48"/>
                <a:gd name="T26" fmla="*/ 23 w 135"/>
                <a:gd name="T27" fmla="*/ 12 h 48"/>
                <a:gd name="T28" fmla="*/ 0 w 135"/>
                <a:gd name="T29"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7" name="Freeform 275"/>
            <p:cNvSpPr/>
            <p:nvPr/>
          </p:nvSpPr>
          <p:spPr bwMode="auto">
            <a:xfrm>
              <a:off x="5552" y="2809"/>
              <a:ext cx="13" cy="26"/>
            </a:xfrm>
            <a:custGeom>
              <a:avLst/>
              <a:gdLst>
                <a:gd name="T0" fmla="*/ 0 w 78"/>
                <a:gd name="T1" fmla="*/ 30 h 159"/>
                <a:gd name="T2" fmla="*/ 24 w 78"/>
                <a:gd name="T3" fmla="*/ 10 h 159"/>
                <a:gd name="T4" fmla="*/ 52 w 78"/>
                <a:gd name="T5" fmla="*/ 15 h 159"/>
                <a:gd name="T6" fmla="*/ 68 w 78"/>
                <a:gd name="T7" fmla="*/ 41 h 159"/>
                <a:gd name="T8" fmla="*/ 71 w 78"/>
                <a:gd name="T9" fmla="*/ 77 h 159"/>
                <a:gd name="T10" fmla="*/ 68 w 78"/>
                <a:gd name="T11" fmla="*/ 105 h 159"/>
                <a:gd name="T12" fmla="*/ 59 w 78"/>
                <a:gd name="T13" fmla="*/ 128 h 159"/>
                <a:gd name="T14" fmla="*/ 44 w 78"/>
                <a:gd name="T15" fmla="*/ 93 h 159"/>
                <a:gd name="T16" fmla="*/ 31 w 78"/>
                <a:gd name="T17" fmla="*/ 73 h 159"/>
                <a:gd name="T18" fmla="*/ 5 w 78"/>
                <a:gd name="T19" fmla="*/ 60 h 159"/>
                <a:gd name="T20" fmla="*/ 25 w 78"/>
                <a:gd name="T21" fmla="*/ 89 h 159"/>
                <a:gd name="T22" fmla="*/ 47 w 78"/>
                <a:gd name="T23" fmla="*/ 111 h 159"/>
                <a:gd name="T24" fmla="*/ 49 w 78"/>
                <a:gd name="T25" fmla="*/ 134 h 159"/>
                <a:gd name="T26" fmla="*/ 40 w 78"/>
                <a:gd name="T27" fmla="*/ 156 h 159"/>
                <a:gd name="T28" fmla="*/ 28 w 78"/>
                <a:gd name="T29" fmla="*/ 159 h 159"/>
                <a:gd name="T30" fmla="*/ 61 w 78"/>
                <a:gd name="T31" fmla="*/ 151 h 159"/>
                <a:gd name="T32" fmla="*/ 77 w 78"/>
                <a:gd name="T33" fmla="*/ 117 h 159"/>
                <a:gd name="T34" fmla="*/ 78 w 78"/>
                <a:gd name="T35" fmla="*/ 73 h 159"/>
                <a:gd name="T36" fmla="*/ 77 w 78"/>
                <a:gd name="T37" fmla="*/ 33 h 159"/>
                <a:gd name="T38" fmla="*/ 59 w 78"/>
                <a:gd name="T39" fmla="*/ 7 h 159"/>
                <a:gd name="T40" fmla="*/ 34 w 78"/>
                <a:gd name="T41" fmla="*/ 0 h 159"/>
                <a:gd name="T42" fmla="*/ 10 w 78"/>
                <a:gd name="T43" fmla="*/ 4 h 159"/>
                <a:gd name="T44" fmla="*/ 0 w 78"/>
                <a:gd name="T4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8" name="Freeform 276"/>
            <p:cNvSpPr/>
            <p:nvPr/>
          </p:nvSpPr>
          <p:spPr bwMode="auto">
            <a:xfrm>
              <a:off x="5549" y="2805"/>
              <a:ext cx="21" cy="35"/>
            </a:xfrm>
            <a:custGeom>
              <a:avLst/>
              <a:gdLst>
                <a:gd name="T0" fmla="*/ 0 w 129"/>
                <a:gd name="T1" fmla="*/ 53 h 215"/>
                <a:gd name="T2" fmla="*/ 20 w 129"/>
                <a:gd name="T3" fmla="*/ 19 h 215"/>
                <a:gd name="T4" fmla="*/ 54 w 129"/>
                <a:gd name="T5" fmla="*/ 9 h 215"/>
                <a:gd name="T6" fmla="*/ 95 w 129"/>
                <a:gd name="T7" fmla="*/ 16 h 215"/>
                <a:gd name="T8" fmla="*/ 109 w 129"/>
                <a:gd name="T9" fmla="*/ 35 h 215"/>
                <a:gd name="T10" fmla="*/ 120 w 129"/>
                <a:gd name="T11" fmla="*/ 67 h 215"/>
                <a:gd name="T12" fmla="*/ 120 w 129"/>
                <a:gd name="T13" fmla="*/ 93 h 215"/>
                <a:gd name="T14" fmla="*/ 114 w 129"/>
                <a:gd name="T15" fmla="*/ 111 h 215"/>
                <a:gd name="T16" fmla="*/ 114 w 129"/>
                <a:gd name="T17" fmla="*/ 137 h 215"/>
                <a:gd name="T18" fmla="*/ 107 w 129"/>
                <a:gd name="T19" fmla="*/ 168 h 215"/>
                <a:gd name="T20" fmla="*/ 80 w 129"/>
                <a:gd name="T21" fmla="*/ 198 h 215"/>
                <a:gd name="T22" fmla="*/ 63 w 129"/>
                <a:gd name="T23" fmla="*/ 198 h 215"/>
                <a:gd name="T24" fmla="*/ 40 w 129"/>
                <a:gd name="T25" fmla="*/ 198 h 215"/>
                <a:gd name="T26" fmla="*/ 40 w 129"/>
                <a:gd name="T27" fmla="*/ 203 h 215"/>
                <a:gd name="T28" fmla="*/ 57 w 129"/>
                <a:gd name="T29" fmla="*/ 215 h 215"/>
                <a:gd name="T30" fmla="*/ 76 w 129"/>
                <a:gd name="T31" fmla="*/ 211 h 215"/>
                <a:gd name="T32" fmla="*/ 101 w 129"/>
                <a:gd name="T33" fmla="*/ 201 h 215"/>
                <a:gd name="T34" fmla="*/ 121 w 129"/>
                <a:gd name="T35" fmla="*/ 171 h 215"/>
                <a:gd name="T36" fmla="*/ 123 w 129"/>
                <a:gd name="T37" fmla="*/ 121 h 215"/>
                <a:gd name="T38" fmla="*/ 129 w 129"/>
                <a:gd name="T39" fmla="*/ 87 h 215"/>
                <a:gd name="T40" fmla="*/ 129 w 129"/>
                <a:gd name="T41" fmla="*/ 58 h 215"/>
                <a:gd name="T42" fmla="*/ 117 w 129"/>
                <a:gd name="T43" fmla="*/ 32 h 215"/>
                <a:gd name="T44" fmla="*/ 103 w 129"/>
                <a:gd name="T45" fmla="*/ 9 h 215"/>
                <a:gd name="T46" fmla="*/ 69 w 129"/>
                <a:gd name="T47" fmla="*/ 0 h 215"/>
                <a:gd name="T48" fmla="*/ 20 w 129"/>
                <a:gd name="T49" fmla="*/ 6 h 215"/>
                <a:gd name="T50" fmla="*/ 3 w 129"/>
                <a:gd name="T51" fmla="*/ 19 h 215"/>
                <a:gd name="T52" fmla="*/ 0 w 129"/>
                <a:gd name="T53" fmla="*/ 5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69" name="Freeform 277"/>
            <p:cNvSpPr/>
            <p:nvPr/>
          </p:nvSpPr>
          <p:spPr bwMode="auto">
            <a:xfrm>
              <a:off x="5538" y="2843"/>
              <a:ext cx="19" cy="30"/>
            </a:xfrm>
            <a:custGeom>
              <a:avLst/>
              <a:gdLst>
                <a:gd name="T0" fmla="*/ 118 w 118"/>
                <a:gd name="T1" fmla="*/ 0 h 179"/>
                <a:gd name="T2" fmla="*/ 102 w 118"/>
                <a:gd name="T3" fmla="*/ 39 h 179"/>
                <a:gd name="T4" fmla="*/ 77 w 118"/>
                <a:gd name="T5" fmla="*/ 80 h 179"/>
                <a:gd name="T6" fmla="*/ 52 w 118"/>
                <a:gd name="T7" fmla="*/ 116 h 179"/>
                <a:gd name="T8" fmla="*/ 17 w 118"/>
                <a:gd name="T9" fmla="*/ 164 h 179"/>
                <a:gd name="T10" fmla="*/ 0 w 118"/>
                <a:gd name="T11" fmla="*/ 179 h 179"/>
                <a:gd name="T12" fmla="*/ 39 w 118"/>
                <a:gd name="T13" fmla="*/ 159 h 179"/>
                <a:gd name="T14" fmla="*/ 70 w 118"/>
                <a:gd name="T15" fmla="*/ 115 h 179"/>
                <a:gd name="T16" fmla="*/ 99 w 118"/>
                <a:gd name="T17" fmla="*/ 67 h 179"/>
                <a:gd name="T18" fmla="*/ 118 w 118"/>
                <a:gd name="T19"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0" name="Freeform 278"/>
            <p:cNvSpPr/>
            <p:nvPr/>
          </p:nvSpPr>
          <p:spPr bwMode="auto">
            <a:xfrm>
              <a:off x="5505" y="2742"/>
              <a:ext cx="112" cy="111"/>
            </a:xfrm>
            <a:custGeom>
              <a:avLst/>
              <a:gdLst>
                <a:gd name="T0" fmla="*/ 54 w 671"/>
                <a:gd name="T1" fmla="*/ 193 h 670"/>
                <a:gd name="T2" fmla="*/ 155 w 671"/>
                <a:gd name="T3" fmla="*/ 177 h 670"/>
                <a:gd name="T4" fmla="*/ 223 w 671"/>
                <a:gd name="T5" fmla="*/ 187 h 670"/>
                <a:gd name="T6" fmla="*/ 264 w 671"/>
                <a:gd name="T7" fmla="*/ 234 h 670"/>
                <a:gd name="T8" fmla="*/ 238 w 671"/>
                <a:gd name="T9" fmla="*/ 290 h 670"/>
                <a:gd name="T10" fmla="*/ 206 w 671"/>
                <a:gd name="T11" fmla="*/ 311 h 670"/>
                <a:gd name="T12" fmla="*/ 197 w 671"/>
                <a:gd name="T13" fmla="*/ 366 h 670"/>
                <a:gd name="T14" fmla="*/ 217 w 671"/>
                <a:gd name="T15" fmla="*/ 401 h 670"/>
                <a:gd name="T16" fmla="*/ 200 w 671"/>
                <a:gd name="T17" fmla="*/ 453 h 670"/>
                <a:gd name="T18" fmla="*/ 242 w 671"/>
                <a:gd name="T19" fmla="*/ 453 h 670"/>
                <a:gd name="T20" fmla="*/ 254 w 671"/>
                <a:gd name="T21" fmla="*/ 394 h 670"/>
                <a:gd name="T22" fmla="*/ 280 w 671"/>
                <a:gd name="T23" fmla="*/ 366 h 670"/>
                <a:gd name="T24" fmla="*/ 329 w 671"/>
                <a:gd name="T25" fmla="*/ 366 h 670"/>
                <a:gd name="T26" fmla="*/ 378 w 671"/>
                <a:gd name="T27" fmla="*/ 378 h 670"/>
                <a:gd name="T28" fmla="*/ 393 w 671"/>
                <a:gd name="T29" fmla="*/ 419 h 670"/>
                <a:gd name="T30" fmla="*/ 399 w 671"/>
                <a:gd name="T31" fmla="*/ 475 h 670"/>
                <a:gd name="T32" fmla="*/ 393 w 671"/>
                <a:gd name="T33" fmla="*/ 516 h 670"/>
                <a:gd name="T34" fmla="*/ 393 w 671"/>
                <a:gd name="T35" fmla="*/ 547 h 670"/>
                <a:gd name="T36" fmla="*/ 396 w 671"/>
                <a:gd name="T37" fmla="*/ 581 h 670"/>
                <a:gd name="T38" fmla="*/ 428 w 671"/>
                <a:gd name="T39" fmla="*/ 613 h 670"/>
                <a:gd name="T40" fmla="*/ 451 w 671"/>
                <a:gd name="T41" fmla="*/ 632 h 670"/>
                <a:gd name="T42" fmla="*/ 510 w 671"/>
                <a:gd name="T43" fmla="*/ 670 h 670"/>
                <a:gd name="T44" fmla="*/ 620 w 671"/>
                <a:gd name="T45" fmla="*/ 558 h 670"/>
                <a:gd name="T46" fmla="*/ 652 w 671"/>
                <a:gd name="T47" fmla="*/ 466 h 670"/>
                <a:gd name="T48" fmla="*/ 665 w 671"/>
                <a:gd name="T49" fmla="*/ 318 h 670"/>
                <a:gd name="T50" fmla="*/ 671 w 671"/>
                <a:gd name="T51" fmla="*/ 215 h 670"/>
                <a:gd name="T52" fmla="*/ 658 w 671"/>
                <a:gd name="T53" fmla="*/ 114 h 670"/>
                <a:gd name="T54" fmla="*/ 629 w 671"/>
                <a:gd name="T55" fmla="*/ 59 h 670"/>
                <a:gd name="T56" fmla="*/ 562 w 671"/>
                <a:gd name="T57" fmla="*/ 21 h 670"/>
                <a:gd name="T58" fmla="*/ 502 w 671"/>
                <a:gd name="T59" fmla="*/ 8 h 670"/>
                <a:gd name="T60" fmla="*/ 384 w 671"/>
                <a:gd name="T61" fmla="*/ 0 h 670"/>
                <a:gd name="T62" fmla="*/ 270 w 671"/>
                <a:gd name="T63" fmla="*/ 5 h 670"/>
                <a:gd name="T64" fmla="*/ 129 w 671"/>
                <a:gd name="T65" fmla="*/ 30 h 670"/>
                <a:gd name="T66" fmla="*/ 64 w 671"/>
                <a:gd name="T67" fmla="*/ 62 h 670"/>
                <a:gd name="T68" fmla="*/ 32 w 671"/>
                <a:gd name="T69" fmla="*/ 94 h 670"/>
                <a:gd name="T70" fmla="*/ 0 w 671"/>
                <a:gd name="T71" fmla="*/ 140 h 670"/>
                <a:gd name="T72" fmla="*/ 6 w 671"/>
                <a:gd name="T73" fmla="*/ 166 h 670"/>
                <a:gd name="T74" fmla="*/ 54 w 671"/>
                <a:gd name="T75" fmla="*/ 193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1" name="Freeform 279"/>
            <p:cNvSpPr/>
            <p:nvPr/>
          </p:nvSpPr>
          <p:spPr bwMode="auto">
            <a:xfrm>
              <a:off x="5508" y="2743"/>
              <a:ext cx="107" cy="107"/>
            </a:xfrm>
            <a:custGeom>
              <a:avLst/>
              <a:gdLst>
                <a:gd name="T0" fmla="*/ 25 w 636"/>
                <a:gd name="T1" fmla="*/ 98 h 643"/>
                <a:gd name="T2" fmla="*/ 13 w 636"/>
                <a:gd name="T3" fmla="*/ 152 h 643"/>
                <a:gd name="T4" fmla="*/ 160 w 636"/>
                <a:gd name="T5" fmla="*/ 158 h 643"/>
                <a:gd name="T6" fmla="*/ 290 w 636"/>
                <a:gd name="T7" fmla="*/ 126 h 643"/>
                <a:gd name="T8" fmla="*/ 229 w 636"/>
                <a:gd name="T9" fmla="*/ 148 h 643"/>
                <a:gd name="T10" fmla="*/ 213 w 636"/>
                <a:gd name="T11" fmla="*/ 169 h 643"/>
                <a:gd name="T12" fmla="*/ 277 w 636"/>
                <a:gd name="T13" fmla="*/ 163 h 643"/>
                <a:gd name="T14" fmla="*/ 293 w 636"/>
                <a:gd name="T15" fmla="*/ 172 h 643"/>
                <a:gd name="T16" fmla="*/ 255 w 636"/>
                <a:gd name="T17" fmla="*/ 217 h 643"/>
                <a:gd name="T18" fmla="*/ 267 w 636"/>
                <a:gd name="T19" fmla="*/ 226 h 643"/>
                <a:gd name="T20" fmla="*/ 232 w 636"/>
                <a:gd name="T21" fmla="*/ 280 h 643"/>
                <a:gd name="T22" fmla="*/ 348 w 636"/>
                <a:gd name="T23" fmla="*/ 255 h 643"/>
                <a:gd name="T24" fmla="*/ 194 w 636"/>
                <a:gd name="T25" fmla="*/ 310 h 643"/>
                <a:gd name="T26" fmla="*/ 280 w 636"/>
                <a:gd name="T27" fmla="*/ 300 h 643"/>
                <a:gd name="T28" fmla="*/ 204 w 636"/>
                <a:gd name="T29" fmla="*/ 338 h 643"/>
                <a:gd name="T30" fmla="*/ 229 w 636"/>
                <a:gd name="T31" fmla="*/ 358 h 643"/>
                <a:gd name="T32" fmla="*/ 354 w 636"/>
                <a:gd name="T33" fmla="*/ 344 h 643"/>
                <a:gd name="T34" fmla="*/ 444 w 636"/>
                <a:gd name="T35" fmla="*/ 355 h 643"/>
                <a:gd name="T36" fmla="*/ 438 w 636"/>
                <a:gd name="T37" fmla="*/ 379 h 643"/>
                <a:gd name="T38" fmla="*/ 460 w 636"/>
                <a:gd name="T39" fmla="*/ 393 h 643"/>
                <a:gd name="T40" fmla="*/ 387 w 636"/>
                <a:gd name="T41" fmla="*/ 442 h 643"/>
                <a:gd name="T42" fmla="*/ 454 w 636"/>
                <a:gd name="T43" fmla="*/ 440 h 643"/>
                <a:gd name="T44" fmla="*/ 387 w 636"/>
                <a:gd name="T45" fmla="*/ 511 h 643"/>
                <a:gd name="T46" fmla="*/ 432 w 636"/>
                <a:gd name="T47" fmla="*/ 508 h 643"/>
                <a:gd name="T48" fmla="*/ 412 w 636"/>
                <a:gd name="T49" fmla="*/ 586 h 643"/>
                <a:gd name="T50" fmla="*/ 496 w 636"/>
                <a:gd name="T51" fmla="*/ 471 h 643"/>
                <a:gd name="T52" fmla="*/ 419 w 636"/>
                <a:gd name="T53" fmla="*/ 599 h 643"/>
                <a:gd name="T54" fmla="*/ 514 w 636"/>
                <a:gd name="T55" fmla="*/ 553 h 643"/>
                <a:gd name="T56" fmla="*/ 491 w 636"/>
                <a:gd name="T57" fmla="*/ 602 h 643"/>
                <a:gd name="T58" fmla="*/ 540 w 636"/>
                <a:gd name="T59" fmla="*/ 599 h 643"/>
                <a:gd name="T60" fmla="*/ 620 w 636"/>
                <a:gd name="T61" fmla="*/ 386 h 643"/>
                <a:gd name="T62" fmla="*/ 582 w 636"/>
                <a:gd name="T63" fmla="*/ 255 h 643"/>
                <a:gd name="T64" fmla="*/ 514 w 636"/>
                <a:gd name="T65" fmla="*/ 266 h 643"/>
                <a:gd name="T66" fmla="*/ 630 w 636"/>
                <a:gd name="T67" fmla="*/ 223 h 643"/>
                <a:gd name="T68" fmla="*/ 551 w 636"/>
                <a:gd name="T69" fmla="*/ 141 h 643"/>
                <a:gd name="T70" fmla="*/ 499 w 636"/>
                <a:gd name="T71" fmla="*/ 141 h 643"/>
                <a:gd name="T72" fmla="*/ 607 w 636"/>
                <a:gd name="T73" fmla="*/ 69 h 643"/>
                <a:gd name="T74" fmla="*/ 482 w 636"/>
                <a:gd name="T75" fmla="*/ 41 h 643"/>
                <a:gd name="T76" fmla="*/ 517 w 636"/>
                <a:gd name="T77" fmla="*/ 16 h 643"/>
                <a:gd name="T78" fmla="*/ 359 w 636"/>
                <a:gd name="T79" fmla="*/ 13 h 643"/>
                <a:gd name="T80" fmla="*/ 298 w 636"/>
                <a:gd name="T81" fmla="*/ 32 h 643"/>
                <a:gd name="T82" fmla="*/ 287 w 636"/>
                <a:gd name="T83" fmla="*/ 3 h 643"/>
                <a:gd name="T84" fmla="*/ 163 w 636"/>
                <a:gd name="T85" fmla="*/ 54 h 643"/>
                <a:gd name="T86" fmla="*/ 184 w 636"/>
                <a:gd name="T87" fmla="*/ 1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6872" name="Group 280"/>
            <p:cNvGrpSpPr/>
            <p:nvPr/>
          </p:nvGrpSpPr>
          <p:grpSpPr bwMode="auto">
            <a:xfrm>
              <a:off x="5284" y="3014"/>
              <a:ext cx="116" cy="71"/>
              <a:chOff x="5264" y="1904"/>
              <a:chExt cx="116" cy="71"/>
            </a:xfrm>
          </p:grpSpPr>
          <p:sp>
            <p:nvSpPr>
              <p:cNvPr id="366873" name="Freeform 281"/>
              <p:cNvSpPr/>
              <p:nvPr/>
            </p:nvSpPr>
            <p:spPr bwMode="auto">
              <a:xfrm>
                <a:off x="5264" y="1904"/>
                <a:ext cx="116" cy="71"/>
              </a:xfrm>
              <a:custGeom>
                <a:avLst/>
                <a:gdLst>
                  <a:gd name="T0" fmla="*/ 698 w 698"/>
                  <a:gd name="T1" fmla="*/ 253 h 425"/>
                  <a:gd name="T2" fmla="*/ 611 w 698"/>
                  <a:gd name="T3" fmla="*/ 233 h 425"/>
                  <a:gd name="T4" fmla="*/ 579 w 698"/>
                  <a:gd name="T5" fmla="*/ 227 h 425"/>
                  <a:gd name="T6" fmla="*/ 558 w 698"/>
                  <a:gd name="T7" fmla="*/ 210 h 425"/>
                  <a:gd name="T8" fmla="*/ 538 w 698"/>
                  <a:gd name="T9" fmla="*/ 182 h 425"/>
                  <a:gd name="T10" fmla="*/ 496 w 698"/>
                  <a:gd name="T11" fmla="*/ 143 h 425"/>
                  <a:gd name="T12" fmla="*/ 420 w 698"/>
                  <a:gd name="T13" fmla="*/ 79 h 425"/>
                  <a:gd name="T14" fmla="*/ 407 w 698"/>
                  <a:gd name="T15" fmla="*/ 58 h 425"/>
                  <a:gd name="T16" fmla="*/ 387 w 698"/>
                  <a:gd name="T17" fmla="*/ 38 h 425"/>
                  <a:gd name="T18" fmla="*/ 347 w 698"/>
                  <a:gd name="T19" fmla="*/ 32 h 425"/>
                  <a:gd name="T20" fmla="*/ 225 w 698"/>
                  <a:gd name="T21" fmla="*/ 11 h 425"/>
                  <a:gd name="T22" fmla="*/ 192 w 698"/>
                  <a:gd name="T23" fmla="*/ 0 h 425"/>
                  <a:gd name="T24" fmla="*/ 162 w 698"/>
                  <a:gd name="T25" fmla="*/ 14 h 425"/>
                  <a:gd name="T26" fmla="*/ 147 w 698"/>
                  <a:gd name="T27" fmla="*/ 27 h 425"/>
                  <a:gd name="T28" fmla="*/ 75 w 698"/>
                  <a:gd name="T29" fmla="*/ 52 h 425"/>
                  <a:gd name="T30" fmla="*/ 48 w 698"/>
                  <a:gd name="T31" fmla="*/ 62 h 425"/>
                  <a:gd name="T32" fmla="*/ 37 w 698"/>
                  <a:gd name="T33" fmla="*/ 73 h 425"/>
                  <a:gd name="T34" fmla="*/ 24 w 698"/>
                  <a:gd name="T35" fmla="*/ 114 h 425"/>
                  <a:gd name="T36" fmla="*/ 16 w 698"/>
                  <a:gd name="T37" fmla="*/ 133 h 425"/>
                  <a:gd name="T38" fmla="*/ 9 w 698"/>
                  <a:gd name="T39" fmla="*/ 146 h 425"/>
                  <a:gd name="T40" fmla="*/ 0 w 698"/>
                  <a:gd name="T41" fmla="*/ 165 h 425"/>
                  <a:gd name="T42" fmla="*/ 0 w 698"/>
                  <a:gd name="T43" fmla="*/ 181 h 425"/>
                  <a:gd name="T44" fmla="*/ 15 w 698"/>
                  <a:gd name="T45" fmla="*/ 191 h 425"/>
                  <a:gd name="T46" fmla="*/ 43 w 698"/>
                  <a:gd name="T47" fmla="*/ 190 h 425"/>
                  <a:gd name="T48" fmla="*/ 89 w 698"/>
                  <a:gd name="T49" fmla="*/ 168 h 425"/>
                  <a:gd name="T50" fmla="*/ 147 w 698"/>
                  <a:gd name="T51" fmla="*/ 158 h 425"/>
                  <a:gd name="T52" fmla="*/ 198 w 698"/>
                  <a:gd name="T53" fmla="*/ 165 h 425"/>
                  <a:gd name="T54" fmla="*/ 144 w 698"/>
                  <a:gd name="T55" fmla="*/ 179 h 425"/>
                  <a:gd name="T56" fmla="*/ 105 w 698"/>
                  <a:gd name="T57" fmla="*/ 191 h 425"/>
                  <a:gd name="T58" fmla="*/ 61 w 698"/>
                  <a:gd name="T59" fmla="*/ 210 h 425"/>
                  <a:gd name="T60" fmla="*/ 51 w 698"/>
                  <a:gd name="T61" fmla="*/ 224 h 425"/>
                  <a:gd name="T62" fmla="*/ 51 w 698"/>
                  <a:gd name="T63" fmla="*/ 242 h 425"/>
                  <a:gd name="T64" fmla="*/ 67 w 698"/>
                  <a:gd name="T65" fmla="*/ 253 h 425"/>
                  <a:gd name="T66" fmla="*/ 87 w 698"/>
                  <a:gd name="T67" fmla="*/ 250 h 425"/>
                  <a:gd name="T68" fmla="*/ 150 w 698"/>
                  <a:gd name="T69" fmla="*/ 233 h 425"/>
                  <a:gd name="T70" fmla="*/ 205 w 698"/>
                  <a:gd name="T71" fmla="*/ 230 h 425"/>
                  <a:gd name="T72" fmla="*/ 249 w 698"/>
                  <a:gd name="T73" fmla="*/ 233 h 425"/>
                  <a:gd name="T74" fmla="*/ 273 w 698"/>
                  <a:gd name="T75" fmla="*/ 250 h 425"/>
                  <a:gd name="T76" fmla="*/ 301 w 698"/>
                  <a:gd name="T77" fmla="*/ 279 h 425"/>
                  <a:gd name="T78" fmla="*/ 323 w 698"/>
                  <a:gd name="T79" fmla="*/ 310 h 425"/>
                  <a:gd name="T80" fmla="*/ 346 w 698"/>
                  <a:gd name="T81" fmla="*/ 342 h 425"/>
                  <a:gd name="T82" fmla="*/ 364 w 698"/>
                  <a:gd name="T83" fmla="*/ 366 h 425"/>
                  <a:gd name="T84" fmla="*/ 397 w 698"/>
                  <a:gd name="T85" fmla="*/ 389 h 425"/>
                  <a:gd name="T86" fmla="*/ 429 w 698"/>
                  <a:gd name="T87" fmla="*/ 396 h 425"/>
                  <a:gd name="T88" fmla="*/ 464 w 698"/>
                  <a:gd name="T89" fmla="*/ 399 h 425"/>
                  <a:gd name="T90" fmla="*/ 507 w 698"/>
                  <a:gd name="T91" fmla="*/ 396 h 425"/>
                  <a:gd name="T92" fmla="*/ 539 w 698"/>
                  <a:gd name="T93" fmla="*/ 393 h 425"/>
                  <a:gd name="T94" fmla="*/ 582 w 698"/>
                  <a:gd name="T95" fmla="*/ 404 h 425"/>
                  <a:gd name="T96" fmla="*/ 698 w 698"/>
                  <a:gd name="T97" fmla="*/ 425 h 425"/>
                  <a:gd name="T98" fmla="*/ 698 w 698"/>
                  <a:gd name="T99" fmla="*/ 253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4" name="Freeform 282"/>
              <p:cNvSpPr/>
              <p:nvPr/>
            </p:nvSpPr>
            <p:spPr bwMode="auto">
              <a:xfrm>
                <a:off x="5269" y="1916"/>
                <a:ext cx="37" cy="9"/>
              </a:xfrm>
              <a:custGeom>
                <a:avLst/>
                <a:gdLst>
                  <a:gd name="T0" fmla="*/ 0 w 223"/>
                  <a:gd name="T1" fmla="*/ 52 h 52"/>
                  <a:gd name="T2" fmla="*/ 38 w 223"/>
                  <a:gd name="T3" fmla="*/ 36 h 52"/>
                  <a:gd name="T4" fmla="*/ 69 w 223"/>
                  <a:gd name="T5" fmla="*/ 30 h 52"/>
                  <a:gd name="T6" fmla="*/ 107 w 223"/>
                  <a:gd name="T7" fmla="*/ 18 h 52"/>
                  <a:gd name="T8" fmla="*/ 139 w 223"/>
                  <a:gd name="T9" fmla="*/ 11 h 52"/>
                  <a:gd name="T10" fmla="*/ 189 w 223"/>
                  <a:gd name="T11" fmla="*/ 15 h 52"/>
                  <a:gd name="T12" fmla="*/ 223 w 223"/>
                  <a:gd name="T13" fmla="*/ 18 h 52"/>
                  <a:gd name="T14" fmla="*/ 171 w 223"/>
                  <a:gd name="T15" fmla="*/ 8 h 52"/>
                  <a:gd name="T16" fmla="*/ 127 w 223"/>
                  <a:gd name="T17" fmla="*/ 0 h 52"/>
                  <a:gd name="T18" fmla="*/ 69 w 223"/>
                  <a:gd name="T19" fmla="*/ 24 h 52"/>
                  <a:gd name="T20" fmla="*/ 38 w 223"/>
                  <a:gd name="T21" fmla="*/ 28 h 52"/>
                  <a:gd name="T22" fmla="*/ 3 w 223"/>
                  <a:gd name="T23" fmla="*/ 45 h 52"/>
                  <a:gd name="T24" fmla="*/ 0 w 223"/>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5" name="Freeform 283"/>
              <p:cNvSpPr/>
              <p:nvPr/>
            </p:nvSpPr>
            <p:spPr bwMode="auto">
              <a:xfrm>
                <a:off x="5289" y="1907"/>
                <a:ext cx="31" cy="6"/>
              </a:xfrm>
              <a:custGeom>
                <a:avLst/>
                <a:gdLst>
                  <a:gd name="T0" fmla="*/ 51 w 188"/>
                  <a:gd name="T1" fmla="*/ 0 h 36"/>
                  <a:gd name="T2" fmla="*/ 29 w 188"/>
                  <a:gd name="T3" fmla="*/ 1 h 36"/>
                  <a:gd name="T4" fmla="*/ 0 w 188"/>
                  <a:gd name="T5" fmla="*/ 11 h 36"/>
                  <a:gd name="T6" fmla="*/ 19 w 188"/>
                  <a:gd name="T7" fmla="*/ 9 h 36"/>
                  <a:gd name="T8" fmla="*/ 48 w 188"/>
                  <a:gd name="T9" fmla="*/ 4 h 36"/>
                  <a:gd name="T10" fmla="*/ 109 w 188"/>
                  <a:gd name="T11" fmla="*/ 20 h 36"/>
                  <a:gd name="T12" fmla="*/ 143 w 188"/>
                  <a:gd name="T13" fmla="*/ 30 h 36"/>
                  <a:gd name="T14" fmla="*/ 181 w 188"/>
                  <a:gd name="T15" fmla="*/ 36 h 36"/>
                  <a:gd name="T16" fmla="*/ 188 w 188"/>
                  <a:gd name="T17" fmla="*/ 30 h 36"/>
                  <a:gd name="T18" fmla="*/ 146 w 188"/>
                  <a:gd name="T19" fmla="*/ 22 h 36"/>
                  <a:gd name="T20" fmla="*/ 97 w 188"/>
                  <a:gd name="T21" fmla="*/ 11 h 36"/>
                  <a:gd name="T22" fmla="*/ 51 w 188"/>
                  <a:gd name="T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6" name="Freeform 284"/>
              <p:cNvSpPr/>
              <p:nvPr/>
            </p:nvSpPr>
            <p:spPr bwMode="auto">
              <a:xfrm>
                <a:off x="5295" y="1929"/>
                <a:ext cx="13" cy="3"/>
              </a:xfrm>
              <a:custGeom>
                <a:avLst/>
                <a:gdLst>
                  <a:gd name="T0" fmla="*/ 0 w 76"/>
                  <a:gd name="T1" fmla="*/ 8 h 17"/>
                  <a:gd name="T2" fmla="*/ 8 w 76"/>
                  <a:gd name="T3" fmla="*/ 17 h 17"/>
                  <a:gd name="T4" fmla="*/ 36 w 76"/>
                  <a:gd name="T5" fmla="*/ 12 h 17"/>
                  <a:gd name="T6" fmla="*/ 67 w 76"/>
                  <a:gd name="T7" fmla="*/ 12 h 17"/>
                  <a:gd name="T8" fmla="*/ 76 w 76"/>
                  <a:gd name="T9" fmla="*/ 0 h 17"/>
                  <a:gd name="T10" fmla="*/ 55 w 76"/>
                  <a:gd name="T11" fmla="*/ 4 h 17"/>
                  <a:gd name="T12" fmla="*/ 0 w 76"/>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7" name="Freeform 285"/>
              <p:cNvSpPr/>
              <p:nvPr/>
            </p:nvSpPr>
            <p:spPr bwMode="auto">
              <a:xfrm>
                <a:off x="5268" y="1926"/>
                <a:ext cx="3" cy="6"/>
              </a:xfrm>
              <a:custGeom>
                <a:avLst/>
                <a:gdLst>
                  <a:gd name="T0" fmla="*/ 19 w 19"/>
                  <a:gd name="T1" fmla="*/ 0 h 32"/>
                  <a:gd name="T2" fmla="*/ 19 w 19"/>
                  <a:gd name="T3" fmla="*/ 9 h 32"/>
                  <a:gd name="T4" fmla="*/ 14 w 19"/>
                  <a:gd name="T5" fmla="*/ 24 h 32"/>
                  <a:gd name="T6" fmla="*/ 0 w 19"/>
                  <a:gd name="T7" fmla="*/ 32 h 32"/>
                  <a:gd name="T8" fmla="*/ 19 w 19"/>
                  <a:gd name="T9" fmla="*/ 0 h 32"/>
                </a:gdLst>
                <a:ahLst/>
                <a:cxnLst>
                  <a:cxn ang="0">
                    <a:pos x="T0" y="T1"/>
                  </a:cxn>
                  <a:cxn ang="0">
                    <a:pos x="T2" y="T3"/>
                  </a:cxn>
                  <a:cxn ang="0">
                    <a:pos x="T4" y="T5"/>
                  </a:cxn>
                  <a:cxn ang="0">
                    <a:pos x="T6" y="T7"/>
                  </a:cxn>
                  <a:cxn ang="0">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8" name="Freeform 286"/>
              <p:cNvSpPr/>
              <p:nvPr/>
            </p:nvSpPr>
            <p:spPr bwMode="auto">
              <a:xfrm>
                <a:off x="5277" y="1940"/>
                <a:ext cx="3" cy="3"/>
              </a:xfrm>
              <a:custGeom>
                <a:avLst/>
                <a:gdLst>
                  <a:gd name="T0" fmla="*/ 14 w 14"/>
                  <a:gd name="T1" fmla="*/ 0 h 18"/>
                  <a:gd name="T2" fmla="*/ 11 w 14"/>
                  <a:gd name="T3" fmla="*/ 9 h 18"/>
                  <a:gd name="T4" fmla="*/ 0 w 14"/>
                  <a:gd name="T5" fmla="*/ 18 h 18"/>
                  <a:gd name="T6" fmla="*/ 14 w 14"/>
                  <a:gd name="T7" fmla="*/ 0 h 18"/>
                </a:gdLst>
                <a:ahLst/>
                <a:cxnLst>
                  <a:cxn ang="0">
                    <a:pos x="T0" y="T1"/>
                  </a:cxn>
                  <a:cxn ang="0">
                    <a:pos x="T2" y="T3"/>
                  </a:cxn>
                  <a:cxn ang="0">
                    <a:pos x="T4" y="T5"/>
                  </a:cxn>
                  <a:cxn ang="0">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79" name="Freeform 287"/>
              <p:cNvSpPr/>
              <p:nvPr/>
            </p:nvSpPr>
            <p:spPr bwMode="auto">
              <a:xfrm>
                <a:off x="5319" y="1921"/>
                <a:ext cx="6" cy="7"/>
              </a:xfrm>
              <a:custGeom>
                <a:avLst/>
                <a:gdLst>
                  <a:gd name="T0" fmla="*/ 0 w 35"/>
                  <a:gd name="T1" fmla="*/ 0 h 43"/>
                  <a:gd name="T2" fmla="*/ 7 w 35"/>
                  <a:gd name="T3" fmla="*/ 14 h 43"/>
                  <a:gd name="T4" fmla="*/ 7 w 35"/>
                  <a:gd name="T5" fmla="*/ 24 h 43"/>
                  <a:gd name="T6" fmla="*/ 35 w 35"/>
                  <a:gd name="T7" fmla="*/ 43 h 43"/>
                  <a:gd name="T8" fmla="*/ 0 w 35"/>
                  <a:gd name="T9" fmla="*/ 0 h 43"/>
                </a:gdLst>
                <a:ahLst/>
                <a:cxnLst>
                  <a:cxn ang="0">
                    <a:pos x="T0" y="T1"/>
                  </a:cxn>
                  <a:cxn ang="0">
                    <a:pos x="T2" y="T3"/>
                  </a:cxn>
                  <a:cxn ang="0">
                    <a:pos x="T4" y="T5"/>
                  </a:cxn>
                  <a:cxn ang="0">
                    <a:pos x="T6" y="T7"/>
                  </a:cxn>
                  <a:cxn ang="0">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0" name="Freeform 288"/>
              <p:cNvSpPr/>
              <p:nvPr/>
            </p:nvSpPr>
            <p:spPr bwMode="auto">
              <a:xfrm>
                <a:off x="5330" y="1921"/>
                <a:ext cx="19" cy="19"/>
              </a:xfrm>
              <a:custGeom>
                <a:avLst/>
                <a:gdLst>
                  <a:gd name="T0" fmla="*/ 0 w 114"/>
                  <a:gd name="T1" fmla="*/ 0 h 114"/>
                  <a:gd name="T2" fmla="*/ 21 w 114"/>
                  <a:gd name="T3" fmla="*/ 35 h 114"/>
                  <a:gd name="T4" fmla="*/ 43 w 114"/>
                  <a:gd name="T5" fmla="*/ 63 h 114"/>
                  <a:gd name="T6" fmla="*/ 114 w 114"/>
                  <a:gd name="T7" fmla="*/ 114 h 114"/>
                  <a:gd name="T8" fmla="*/ 47 w 114"/>
                  <a:gd name="T9" fmla="*/ 53 h 114"/>
                  <a:gd name="T10" fmla="*/ 0 w 114"/>
                  <a:gd name="T11" fmla="*/ 0 h 114"/>
                </a:gdLst>
                <a:ahLst/>
                <a:cxnLst>
                  <a:cxn ang="0">
                    <a:pos x="T0" y="T1"/>
                  </a:cxn>
                  <a:cxn ang="0">
                    <a:pos x="T2" y="T3"/>
                  </a:cxn>
                  <a:cxn ang="0">
                    <a:pos x="T4" y="T5"/>
                  </a:cxn>
                  <a:cxn ang="0">
                    <a:pos x="T6" y="T7"/>
                  </a:cxn>
                  <a:cxn ang="0">
                    <a:pos x="T8" y="T9"/>
                  </a:cxn>
                  <a:cxn ang="0">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1" name="Freeform 289"/>
              <p:cNvSpPr/>
              <p:nvPr/>
            </p:nvSpPr>
            <p:spPr bwMode="auto">
              <a:xfrm>
                <a:off x="5354" y="1948"/>
                <a:ext cx="4" cy="13"/>
              </a:xfrm>
              <a:custGeom>
                <a:avLst/>
                <a:gdLst>
                  <a:gd name="T0" fmla="*/ 27 w 27"/>
                  <a:gd name="T1" fmla="*/ 0 h 82"/>
                  <a:gd name="T2" fmla="*/ 9 w 27"/>
                  <a:gd name="T3" fmla="*/ 29 h 82"/>
                  <a:gd name="T4" fmla="*/ 4 w 27"/>
                  <a:gd name="T5" fmla="*/ 57 h 82"/>
                  <a:gd name="T6" fmla="*/ 3 w 27"/>
                  <a:gd name="T7" fmla="*/ 82 h 82"/>
                  <a:gd name="T8" fmla="*/ 0 w 27"/>
                  <a:gd name="T9" fmla="*/ 47 h 82"/>
                  <a:gd name="T10" fmla="*/ 3 w 27"/>
                  <a:gd name="T11" fmla="*/ 21 h 82"/>
                  <a:gd name="T12" fmla="*/ 27 w 2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2" name="Freeform 290"/>
              <p:cNvSpPr/>
              <p:nvPr/>
            </p:nvSpPr>
            <p:spPr bwMode="auto">
              <a:xfrm>
                <a:off x="5312" y="1934"/>
                <a:ext cx="2" cy="5"/>
              </a:xfrm>
              <a:custGeom>
                <a:avLst/>
                <a:gdLst>
                  <a:gd name="T0" fmla="*/ 11 w 15"/>
                  <a:gd name="T1" fmla="*/ 0 h 30"/>
                  <a:gd name="T2" fmla="*/ 15 w 15"/>
                  <a:gd name="T3" fmla="*/ 12 h 30"/>
                  <a:gd name="T4" fmla="*/ 0 w 15"/>
                  <a:gd name="T5" fmla="*/ 30 h 30"/>
                  <a:gd name="T6" fmla="*/ 11 w 15"/>
                  <a:gd name="T7" fmla="*/ 0 h 30"/>
                </a:gdLst>
                <a:ahLst/>
                <a:cxnLst>
                  <a:cxn ang="0">
                    <a:pos x="T0" y="T1"/>
                  </a:cxn>
                  <a:cxn ang="0">
                    <a:pos x="T2" y="T3"/>
                  </a:cxn>
                  <a:cxn ang="0">
                    <a:pos x="T4" y="T5"/>
                  </a:cxn>
                  <a:cxn ang="0">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883" name="Group 291"/>
            <p:cNvGrpSpPr/>
            <p:nvPr/>
          </p:nvGrpSpPr>
          <p:grpSpPr bwMode="auto">
            <a:xfrm>
              <a:off x="5382" y="2858"/>
              <a:ext cx="268" cy="305"/>
              <a:chOff x="5362" y="1748"/>
              <a:chExt cx="268" cy="305"/>
            </a:xfrm>
          </p:grpSpPr>
          <p:sp>
            <p:nvSpPr>
              <p:cNvPr id="366884" name="Freeform 292"/>
              <p:cNvSpPr/>
              <p:nvPr/>
            </p:nvSpPr>
            <p:spPr bwMode="auto">
              <a:xfrm>
                <a:off x="5477" y="1748"/>
                <a:ext cx="8" cy="6"/>
              </a:xfrm>
              <a:custGeom>
                <a:avLst/>
                <a:gdLst>
                  <a:gd name="T0" fmla="*/ 0 w 51"/>
                  <a:gd name="T1" fmla="*/ 0 h 36"/>
                  <a:gd name="T2" fmla="*/ 14 w 51"/>
                  <a:gd name="T3" fmla="*/ 10 h 36"/>
                  <a:gd name="T4" fmla="*/ 29 w 51"/>
                  <a:gd name="T5" fmla="*/ 15 h 36"/>
                  <a:gd name="T6" fmla="*/ 43 w 51"/>
                  <a:gd name="T7" fmla="*/ 23 h 36"/>
                  <a:gd name="T8" fmla="*/ 51 w 51"/>
                  <a:gd name="T9" fmla="*/ 36 h 36"/>
                  <a:gd name="T10" fmla="*/ 39 w 51"/>
                  <a:gd name="T11" fmla="*/ 32 h 36"/>
                  <a:gd name="T12" fmla="*/ 14 w 51"/>
                  <a:gd name="T13" fmla="*/ 24 h 36"/>
                  <a:gd name="T14" fmla="*/ 0 w 5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5" name="Freeform 293"/>
              <p:cNvSpPr/>
              <p:nvPr/>
            </p:nvSpPr>
            <p:spPr bwMode="auto">
              <a:xfrm>
                <a:off x="5479" y="1758"/>
                <a:ext cx="2" cy="4"/>
              </a:xfrm>
              <a:custGeom>
                <a:avLst/>
                <a:gdLst>
                  <a:gd name="T0" fmla="*/ 0 w 14"/>
                  <a:gd name="T1" fmla="*/ 0 h 24"/>
                  <a:gd name="T2" fmla="*/ 14 w 14"/>
                  <a:gd name="T3" fmla="*/ 0 h 24"/>
                  <a:gd name="T4" fmla="*/ 14 w 14"/>
                  <a:gd name="T5" fmla="*/ 24 h 24"/>
                  <a:gd name="T6" fmla="*/ 0 w 14"/>
                  <a:gd name="T7" fmla="*/ 0 h 24"/>
                </a:gdLst>
                <a:ahLst/>
                <a:cxnLst>
                  <a:cxn ang="0">
                    <a:pos x="T0" y="T1"/>
                  </a:cxn>
                  <a:cxn ang="0">
                    <a:pos x="T2" y="T3"/>
                  </a:cxn>
                  <a:cxn ang="0">
                    <a:pos x="T4" y="T5"/>
                  </a:cxn>
                  <a:cxn ang="0">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6" name="Freeform 294"/>
              <p:cNvSpPr/>
              <p:nvPr/>
            </p:nvSpPr>
            <p:spPr bwMode="auto">
              <a:xfrm>
                <a:off x="5444" y="1788"/>
                <a:ext cx="71" cy="180"/>
              </a:xfrm>
              <a:custGeom>
                <a:avLst/>
                <a:gdLst>
                  <a:gd name="T0" fmla="*/ 369 w 431"/>
                  <a:gd name="T1" fmla="*/ 0 h 1076"/>
                  <a:gd name="T2" fmla="*/ 328 w 431"/>
                  <a:gd name="T3" fmla="*/ 44 h 1076"/>
                  <a:gd name="T4" fmla="*/ 317 w 431"/>
                  <a:gd name="T5" fmla="*/ 108 h 1076"/>
                  <a:gd name="T6" fmla="*/ 254 w 431"/>
                  <a:gd name="T7" fmla="*/ 170 h 1076"/>
                  <a:gd name="T8" fmla="*/ 126 w 431"/>
                  <a:gd name="T9" fmla="*/ 461 h 1076"/>
                  <a:gd name="T10" fmla="*/ 57 w 431"/>
                  <a:gd name="T11" fmla="*/ 724 h 1076"/>
                  <a:gd name="T12" fmla="*/ 0 w 431"/>
                  <a:gd name="T13" fmla="*/ 1076 h 1076"/>
                  <a:gd name="T14" fmla="*/ 178 w 431"/>
                  <a:gd name="T15" fmla="*/ 919 h 1076"/>
                  <a:gd name="T16" fmla="*/ 431 w 431"/>
                  <a:gd name="T17" fmla="*/ 140 h 1076"/>
                  <a:gd name="T18" fmla="*/ 369 w 431"/>
                  <a:gd name="T19"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7" name="Freeform 295"/>
              <p:cNvSpPr/>
              <p:nvPr/>
            </p:nvSpPr>
            <p:spPr bwMode="auto">
              <a:xfrm>
                <a:off x="5362" y="1754"/>
                <a:ext cx="268" cy="299"/>
              </a:xfrm>
              <a:custGeom>
                <a:avLst/>
                <a:gdLst>
                  <a:gd name="T0" fmla="*/ 1309 w 1606"/>
                  <a:gd name="T1" fmla="*/ 94 h 1792"/>
                  <a:gd name="T2" fmla="*/ 1258 w 1606"/>
                  <a:gd name="T3" fmla="*/ 0 h 1792"/>
                  <a:gd name="T4" fmla="*/ 867 w 1606"/>
                  <a:gd name="T5" fmla="*/ 163 h 1792"/>
                  <a:gd name="T6" fmla="*/ 850 w 1606"/>
                  <a:gd name="T7" fmla="*/ 288 h 1792"/>
                  <a:gd name="T8" fmla="*/ 818 w 1606"/>
                  <a:gd name="T9" fmla="*/ 332 h 1792"/>
                  <a:gd name="T10" fmla="*/ 773 w 1606"/>
                  <a:gd name="T11" fmla="*/ 382 h 1792"/>
                  <a:gd name="T12" fmla="*/ 747 w 1606"/>
                  <a:gd name="T13" fmla="*/ 472 h 1792"/>
                  <a:gd name="T14" fmla="*/ 660 w 1606"/>
                  <a:gd name="T15" fmla="*/ 678 h 1792"/>
                  <a:gd name="T16" fmla="*/ 590 w 1606"/>
                  <a:gd name="T17" fmla="*/ 924 h 1792"/>
                  <a:gd name="T18" fmla="*/ 558 w 1606"/>
                  <a:gd name="T19" fmla="*/ 1088 h 1792"/>
                  <a:gd name="T20" fmla="*/ 243 w 1606"/>
                  <a:gd name="T21" fmla="*/ 1094 h 1792"/>
                  <a:gd name="T22" fmla="*/ 192 w 1606"/>
                  <a:gd name="T23" fmla="*/ 1125 h 1792"/>
                  <a:gd name="T24" fmla="*/ 47 w 1606"/>
                  <a:gd name="T25" fmla="*/ 1125 h 1792"/>
                  <a:gd name="T26" fmla="*/ 7 w 1606"/>
                  <a:gd name="T27" fmla="*/ 1189 h 1792"/>
                  <a:gd name="T28" fmla="*/ 0 w 1606"/>
                  <a:gd name="T29" fmla="*/ 1264 h 1792"/>
                  <a:gd name="T30" fmla="*/ 15 w 1606"/>
                  <a:gd name="T31" fmla="*/ 1332 h 1792"/>
                  <a:gd name="T32" fmla="*/ 148 w 1606"/>
                  <a:gd name="T33" fmla="*/ 1358 h 1792"/>
                  <a:gd name="T34" fmla="*/ 211 w 1606"/>
                  <a:gd name="T35" fmla="*/ 1452 h 1792"/>
                  <a:gd name="T36" fmla="*/ 337 w 1606"/>
                  <a:gd name="T37" fmla="*/ 1484 h 1792"/>
                  <a:gd name="T38" fmla="*/ 430 w 1606"/>
                  <a:gd name="T39" fmla="*/ 1484 h 1792"/>
                  <a:gd name="T40" fmla="*/ 538 w 1606"/>
                  <a:gd name="T41" fmla="*/ 1503 h 1792"/>
                  <a:gd name="T42" fmla="*/ 544 w 1606"/>
                  <a:gd name="T43" fmla="*/ 1548 h 1792"/>
                  <a:gd name="T44" fmla="*/ 538 w 1606"/>
                  <a:gd name="T45" fmla="*/ 1642 h 1792"/>
                  <a:gd name="T46" fmla="*/ 550 w 1606"/>
                  <a:gd name="T47" fmla="*/ 1705 h 1792"/>
                  <a:gd name="T48" fmla="*/ 608 w 1606"/>
                  <a:gd name="T49" fmla="*/ 1712 h 1792"/>
                  <a:gd name="T50" fmla="*/ 677 w 1606"/>
                  <a:gd name="T51" fmla="*/ 1724 h 1792"/>
                  <a:gd name="T52" fmla="*/ 747 w 1606"/>
                  <a:gd name="T53" fmla="*/ 1786 h 1792"/>
                  <a:gd name="T54" fmla="*/ 830 w 1606"/>
                  <a:gd name="T55" fmla="*/ 1786 h 1792"/>
                  <a:gd name="T56" fmla="*/ 905 w 1606"/>
                  <a:gd name="T57" fmla="*/ 1779 h 1792"/>
                  <a:gd name="T58" fmla="*/ 1019 w 1606"/>
                  <a:gd name="T59" fmla="*/ 1744 h 1792"/>
                  <a:gd name="T60" fmla="*/ 1145 w 1606"/>
                  <a:gd name="T61" fmla="*/ 1756 h 1792"/>
                  <a:gd name="T62" fmla="*/ 1273 w 1606"/>
                  <a:gd name="T63" fmla="*/ 1792 h 1792"/>
                  <a:gd name="T64" fmla="*/ 1392 w 1606"/>
                  <a:gd name="T65" fmla="*/ 1766 h 1792"/>
                  <a:gd name="T66" fmla="*/ 1473 w 1606"/>
                  <a:gd name="T67" fmla="*/ 1674 h 1792"/>
                  <a:gd name="T68" fmla="*/ 1467 w 1606"/>
                  <a:gd name="T69" fmla="*/ 1571 h 1792"/>
                  <a:gd name="T70" fmla="*/ 1497 w 1606"/>
                  <a:gd name="T71" fmla="*/ 1446 h 1792"/>
                  <a:gd name="T72" fmla="*/ 1516 w 1606"/>
                  <a:gd name="T73" fmla="*/ 1282 h 1792"/>
                  <a:gd name="T74" fmla="*/ 1554 w 1606"/>
                  <a:gd name="T75" fmla="*/ 1131 h 1792"/>
                  <a:gd name="T76" fmla="*/ 1606 w 1606"/>
                  <a:gd name="T77" fmla="*/ 906 h 1792"/>
                  <a:gd name="T78" fmla="*/ 1598 w 1606"/>
                  <a:gd name="T79" fmla="*/ 678 h 1792"/>
                  <a:gd name="T80" fmla="*/ 1598 w 1606"/>
                  <a:gd name="T81" fmla="*/ 478 h 1792"/>
                  <a:gd name="T82" fmla="*/ 1586 w 1606"/>
                  <a:gd name="T83" fmla="*/ 338 h 1792"/>
                  <a:gd name="T84" fmla="*/ 1554 w 1606"/>
                  <a:gd name="T85" fmla="*/ 276 h 1792"/>
                  <a:gd name="T86" fmla="*/ 1484 w 1606"/>
                  <a:gd name="T87" fmla="*/ 225 h 1792"/>
                  <a:gd name="T88" fmla="*/ 1403 w 1606"/>
                  <a:gd name="T89" fmla="*/ 142 h 1792"/>
                  <a:gd name="T90" fmla="*/ 1309 w 1606"/>
                  <a:gd name="T91" fmla="*/ 94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8" name="Freeform 296"/>
              <p:cNvSpPr/>
              <p:nvPr/>
            </p:nvSpPr>
            <p:spPr bwMode="auto">
              <a:xfrm>
                <a:off x="5456" y="1772"/>
                <a:ext cx="169" cy="278"/>
              </a:xfrm>
              <a:custGeom>
                <a:avLst/>
                <a:gdLst>
                  <a:gd name="T0" fmla="*/ 132 w 1014"/>
                  <a:gd name="T1" fmla="*/ 1382 h 1671"/>
                  <a:gd name="T2" fmla="*/ 370 w 1014"/>
                  <a:gd name="T3" fmla="*/ 1363 h 1671"/>
                  <a:gd name="T4" fmla="*/ 573 w 1014"/>
                  <a:gd name="T5" fmla="*/ 1301 h 1671"/>
                  <a:gd name="T6" fmla="*/ 656 w 1014"/>
                  <a:gd name="T7" fmla="*/ 1149 h 1671"/>
                  <a:gd name="T8" fmla="*/ 630 w 1014"/>
                  <a:gd name="T9" fmla="*/ 1050 h 1671"/>
                  <a:gd name="T10" fmla="*/ 787 w 1014"/>
                  <a:gd name="T11" fmla="*/ 837 h 1671"/>
                  <a:gd name="T12" fmla="*/ 642 w 1014"/>
                  <a:gd name="T13" fmla="*/ 931 h 1671"/>
                  <a:gd name="T14" fmla="*/ 718 w 1014"/>
                  <a:gd name="T15" fmla="*/ 741 h 1671"/>
                  <a:gd name="T16" fmla="*/ 845 w 1014"/>
                  <a:gd name="T17" fmla="*/ 497 h 1671"/>
                  <a:gd name="T18" fmla="*/ 656 w 1014"/>
                  <a:gd name="T19" fmla="*/ 703 h 1671"/>
                  <a:gd name="T20" fmla="*/ 630 w 1014"/>
                  <a:gd name="T21" fmla="*/ 378 h 1671"/>
                  <a:gd name="T22" fmla="*/ 535 w 1014"/>
                  <a:gd name="T23" fmla="*/ 264 h 1671"/>
                  <a:gd name="T24" fmla="*/ 402 w 1014"/>
                  <a:gd name="T25" fmla="*/ 214 h 1671"/>
                  <a:gd name="T26" fmla="*/ 661 w 1014"/>
                  <a:gd name="T27" fmla="*/ 126 h 1671"/>
                  <a:gd name="T28" fmla="*/ 781 w 1014"/>
                  <a:gd name="T29" fmla="*/ 226 h 1671"/>
                  <a:gd name="T30" fmla="*/ 705 w 1014"/>
                  <a:gd name="T31" fmla="*/ 126 h 1671"/>
                  <a:gd name="T32" fmla="*/ 560 w 1014"/>
                  <a:gd name="T33" fmla="*/ 82 h 1671"/>
                  <a:gd name="T34" fmla="*/ 661 w 1014"/>
                  <a:gd name="T35" fmla="*/ 44 h 1671"/>
                  <a:gd name="T36" fmla="*/ 750 w 1014"/>
                  <a:gd name="T37" fmla="*/ 0 h 1671"/>
                  <a:gd name="T38" fmla="*/ 868 w 1014"/>
                  <a:gd name="T39" fmla="*/ 94 h 1671"/>
                  <a:gd name="T40" fmla="*/ 976 w 1014"/>
                  <a:gd name="T41" fmla="*/ 182 h 1671"/>
                  <a:gd name="T42" fmla="*/ 1014 w 1014"/>
                  <a:gd name="T43" fmla="*/ 334 h 1671"/>
                  <a:gd name="T44" fmla="*/ 1008 w 1014"/>
                  <a:gd name="T45" fmla="*/ 628 h 1671"/>
                  <a:gd name="T46" fmla="*/ 970 w 1014"/>
                  <a:gd name="T47" fmla="*/ 975 h 1671"/>
                  <a:gd name="T48" fmla="*/ 913 w 1014"/>
                  <a:gd name="T49" fmla="*/ 1314 h 1671"/>
                  <a:gd name="T50" fmla="*/ 888 w 1014"/>
                  <a:gd name="T51" fmla="*/ 1527 h 1671"/>
                  <a:gd name="T52" fmla="*/ 830 w 1014"/>
                  <a:gd name="T53" fmla="*/ 1627 h 1671"/>
                  <a:gd name="T54" fmla="*/ 699 w 1014"/>
                  <a:gd name="T55" fmla="*/ 1671 h 1671"/>
                  <a:gd name="T56" fmla="*/ 612 w 1014"/>
                  <a:gd name="T57" fmla="*/ 1648 h 1671"/>
                  <a:gd name="T58" fmla="*/ 541 w 1014"/>
                  <a:gd name="T59" fmla="*/ 1559 h 1671"/>
                  <a:gd name="T60" fmla="*/ 516 w 1014"/>
                  <a:gd name="T61" fmla="*/ 1534 h 1671"/>
                  <a:gd name="T62" fmla="*/ 407 w 1014"/>
                  <a:gd name="T63" fmla="*/ 1622 h 1671"/>
                  <a:gd name="T64" fmla="*/ 276 w 1014"/>
                  <a:gd name="T65" fmla="*/ 1652 h 1671"/>
                  <a:gd name="T66" fmla="*/ 170 w 1014"/>
                  <a:gd name="T67" fmla="*/ 1636 h 1671"/>
                  <a:gd name="T68" fmla="*/ 240 w 1014"/>
                  <a:gd name="T69" fmla="*/ 1565 h 1671"/>
                  <a:gd name="T70" fmla="*/ 352 w 1014"/>
                  <a:gd name="T71" fmla="*/ 1446 h 1671"/>
                  <a:gd name="T72" fmla="*/ 176 w 1014"/>
                  <a:gd name="T73" fmla="*/ 1546 h 1671"/>
                  <a:gd name="T74" fmla="*/ 32 w 1014"/>
                  <a:gd name="T75" fmla="*/ 1590 h 1671"/>
                  <a:gd name="T76" fmla="*/ 0 w 1014"/>
                  <a:gd name="T77" fmla="*/ 1527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89" name="Freeform 297"/>
              <p:cNvSpPr/>
              <p:nvPr/>
            </p:nvSpPr>
            <p:spPr bwMode="auto">
              <a:xfrm>
                <a:off x="5563" y="1910"/>
                <a:ext cx="50" cy="129"/>
              </a:xfrm>
              <a:custGeom>
                <a:avLst/>
                <a:gdLst>
                  <a:gd name="T0" fmla="*/ 0 w 295"/>
                  <a:gd name="T1" fmla="*/ 774 h 774"/>
                  <a:gd name="T2" fmla="*/ 51 w 295"/>
                  <a:gd name="T3" fmla="*/ 748 h 774"/>
                  <a:gd name="T4" fmla="*/ 107 w 295"/>
                  <a:gd name="T5" fmla="*/ 686 h 774"/>
                  <a:gd name="T6" fmla="*/ 156 w 295"/>
                  <a:gd name="T7" fmla="*/ 573 h 774"/>
                  <a:gd name="T8" fmla="*/ 183 w 295"/>
                  <a:gd name="T9" fmla="*/ 477 h 774"/>
                  <a:gd name="T10" fmla="*/ 220 w 295"/>
                  <a:gd name="T11" fmla="*/ 371 h 774"/>
                  <a:gd name="T12" fmla="*/ 239 w 295"/>
                  <a:gd name="T13" fmla="*/ 270 h 774"/>
                  <a:gd name="T14" fmla="*/ 270 w 295"/>
                  <a:gd name="T15" fmla="*/ 114 h 774"/>
                  <a:gd name="T16" fmla="*/ 295 w 295"/>
                  <a:gd name="T17" fmla="*/ 0 h 774"/>
                  <a:gd name="T18" fmla="*/ 232 w 295"/>
                  <a:gd name="T19" fmla="*/ 226 h 774"/>
                  <a:gd name="T20" fmla="*/ 183 w 295"/>
                  <a:gd name="T21" fmla="*/ 402 h 774"/>
                  <a:gd name="T22" fmla="*/ 126 w 295"/>
                  <a:gd name="T23" fmla="*/ 521 h 774"/>
                  <a:gd name="T24" fmla="*/ 38 w 295"/>
                  <a:gd name="T25" fmla="*/ 648 h 774"/>
                  <a:gd name="T26" fmla="*/ 0 w 295"/>
                  <a:gd name="T2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0" name="Freeform 298"/>
              <p:cNvSpPr/>
              <p:nvPr/>
            </p:nvSpPr>
            <p:spPr bwMode="auto">
              <a:xfrm>
                <a:off x="5367" y="1806"/>
                <a:ext cx="195" cy="194"/>
              </a:xfrm>
              <a:custGeom>
                <a:avLst/>
                <a:gdLst>
                  <a:gd name="T0" fmla="*/ 820 w 1172"/>
                  <a:gd name="T1" fmla="*/ 43 h 1162"/>
                  <a:gd name="T2" fmla="*/ 719 w 1172"/>
                  <a:gd name="T3" fmla="*/ 213 h 1162"/>
                  <a:gd name="T4" fmla="*/ 739 w 1172"/>
                  <a:gd name="T5" fmla="*/ 381 h 1162"/>
                  <a:gd name="T6" fmla="*/ 727 w 1172"/>
                  <a:gd name="T7" fmla="*/ 571 h 1162"/>
                  <a:gd name="T8" fmla="*/ 727 w 1172"/>
                  <a:gd name="T9" fmla="*/ 621 h 1162"/>
                  <a:gd name="T10" fmla="*/ 739 w 1172"/>
                  <a:gd name="T11" fmla="*/ 684 h 1162"/>
                  <a:gd name="T12" fmla="*/ 688 w 1172"/>
                  <a:gd name="T13" fmla="*/ 729 h 1162"/>
                  <a:gd name="T14" fmla="*/ 644 w 1172"/>
                  <a:gd name="T15" fmla="*/ 779 h 1162"/>
                  <a:gd name="T16" fmla="*/ 569 w 1172"/>
                  <a:gd name="T17" fmla="*/ 779 h 1162"/>
                  <a:gd name="T18" fmla="*/ 304 w 1172"/>
                  <a:gd name="T19" fmla="*/ 793 h 1162"/>
                  <a:gd name="T20" fmla="*/ 170 w 1172"/>
                  <a:gd name="T21" fmla="*/ 831 h 1162"/>
                  <a:gd name="T22" fmla="*/ 0 w 1172"/>
                  <a:gd name="T23" fmla="*/ 873 h 1162"/>
                  <a:gd name="T24" fmla="*/ 6 w 1172"/>
                  <a:gd name="T25" fmla="*/ 1004 h 1162"/>
                  <a:gd name="T26" fmla="*/ 109 w 1172"/>
                  <a:gd name="T27" fmla="*/ 978 h 1162"/>
                  <a:gd name="T28" fmla="*/ 133 w 1172"/>
                  <a:gd name="T29" fmla="*/ 916 h 1162"/>
                  <a:gd name="T30" fmla="*/ 147 w 1172"/>
                  <a:gd name="T31" fmla="*/ 1030 h 1162"/>
                  <a:gd name="T32" fmla="*/ 215 w 1172"/>
                  <a:gd name="T33" fmla="*/ 1118 h 1162"/>
                  <a:gd name="T34" fmla="*/ 403 w 1172"/>
                  <a:gd name="T35" fmla="*/ 1155 h 1162"/>
                  <a:gd name="T36" fmla="*/ 379 w 1172"/>
                  <a:gd name="T37" fmla="*/ 1093 h 1162"/>
                  <a:gd name="T38" fmla="*/ 279 w 1172"/>
                  <a:gd name="T39" fmla="*/ 978 h 1162"/>
                  <a:gd name="T40" fmla="*/ 358 w 1172"/>
                  <a:gd name="T41" fmla="*/ 929 h 1162"/>
                  <a:gd name="T42" fmla="*/ 403 w 1172"/>
                  <a:gd name="T43" fmla="*/ 1036 h 1162"/>
                  <a:gd name="T44" fmla="*/ 537 w 1172"/>
                  <a:gd name="T45" fmla="*/ 1149 h 1162"/>
                  <a:gd name="T46" fmla="*/ 713 w 1172"/>
                  <a:gd name="T47" fmla="*/ 1149 h 1162"/>
                  <a:gd name="T48" fmla="*/ 517 w 1172"/>
                  <a:gd name="T49" fmla="*/ 1016 h 1162"/>
                  <a:gd name="T50" fmla="*/ 435 w 1172"/>
                  <a:gd name="T51" fmla="*/ 929 h 1162"/>
                  <a:gd name="T52" fmla="*/ 479 w 1172"/>
                  <a:gd name="T53" fmla="*/ 885 h 1162"/>
                  <a:gd name="T54" fmla="*/ 549 w 1172"/>
                  <a:gd name="T55" fmla="*/ 972 h 1162"/>
                  <a:gd name="T56" fmla="*/ 675 w 1172"/>
                  <a:gd name="T57" fmla="*/ 1068 h 1162"/>
                  <a:gd name="T58" fmla="*/ 782 w 1172"/>
                  <a:gd name="T59" fmla="*/ 1123 h 1162"/>
                  <a:gd name="T60" fmla="*/ 921 w 1172"/>
                  <a:gd name="T61" fmla="*/ 1136 h 1162"/>
                  <a:gd name="T62" fmla="*/ 833 w 1172"/>
                  <a:gd name="T63" fmla="*/ 1068 h 1162"/>
                  <a:gd name="T64" fmla="*/ 727 w 1172"/>
                  <a:gd name="T65" fmla="*/ 978 h 1162"/>
                  <a:gd name="T66" fmla="*/ 756 w 1172"/>
                  <a:gd name="T67" fmla="*/ 929 h 1162"/>
                  <a:gd name="T68" fmla="*/ 808 w 1172"/>
                  <a:gd name="T69" fmla="*/ 1010 h 1162"/>
                  <a:gd name="T70" fmla="*/ 914 w 1172"/>
                  <a:gd name="T71" fmla="*/ 1087 h 1162"/>
                  <a:gd name="T72" fmla="*/ 1046 w 1172"/>
                  <a:gd name="T73" fmla="*/ 1098 h 1162"/>
                  <a:gd name="T74" fmla="*/ 1117 w 1172"/>
                  <a:gd name="T75" fmla="*/ 991 h 1162"/>
                  <a:gd name="T76" fmla="*/ 878 w 1172"/>
                  <a:gd name="T77" fmla="*/ 954 h 1162"/>
                  <a:gd name="T78" fmla="*/ 733 w 1172"/>
                  <a:gd name="T79" fmla="*/ 868 h 1162"/>
                  <a:gd name="T80" fmla="*/ 707 w 1172"/>
                  <a:gd name="T81" fmla="*/ 793 h 1162"/>
                  <a:gd name="T82" fmla="*/ 765 w 1172"/>
                  <a:gd name="T83" fmla="*/ 831 h 1162"/>
                  <a:gd name="T84" fmla="*/ 927 w 1172"/>
                  <a:gd name="T85" fmla="*/ 935 h 1162"/>
                  <a:gd name="T86" fmla="*/ 1117 w 1172"/>
                  <a:gd name="T87" fmla="*/ 991 h 1162"/>
                  <a:gd name="T88" fmla="*/ 1155 w 1172"/>
                  <a:gd name="T89" fmla="*/ 767 h 1162"/>
                  <a:gd name="T90" fmla="*/ 1046 w 1172"/>
                  <a:gd name="T91" fmla="*/ 741 h 1162"/>
                  <a:gd name="T92" fmla="*/ 820 w 1172"/>
                  <a:gd name="T93" fmla="*/ 761 h 1162"/>
                  <a:gd name="T94" fmla="*/ 782 w 1172"/>
                  <a:gd name="T95" fmla="*/ 716 h 1162"/>
                  <a:gd name="T96" fmla="*/ 901 w 1172"/>
                  <a:gd name="T97" fmla="*/ 735 h 1162"/>
                  <a:gd name="T98" fmla="*/ 1155 w 1172"/>
                  <a:gd name="T99" fmla="*/ 684 h 1162"/>
                  <a:gd name="T100" fmla="*/ 1167 w 1172"/>
                  <a:gd name="T101" fmla="*/ 483 h 1162"/>
                  <a:gd name="T102" fmla="*/ 1161 w 1172"/>
                  <a:gd name="T103" fmla="*/ 264 h 1162"/>
                  <a:gd name="T104" fmla="*/ 1034 w 1172"/>
                  <a:gd name="T105" fmla="*/ 152 h 1162"/>
                  <a:gd name="T106" fmla="*/ 1161 w 1172"/>
                  <a:gd name="T107" fmla="*/ 201 h 1162"/>
                  <a:gd name="T108" fmla="*/ 1091 w 1172"/>
                  <a:gd name="T109" fmla="*/ 68 h 1162"/>
                  <a:gd name="T110" fmla="*/ 959 w 1172"/>
                  <a:gd name="T111" fmla="*/ 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1" name="Freeform 299"/>
              <p:cNvSpPr/>
              <p:nvPr/>
            </p:nvSpPr>
            <p:spPr bwMode="auto">
              <a:xfrm>
                <a:off x="5500" y="1878"/>
                <a:ext cx="49" cy="44"/>
              </a:xfrm>
              <a:custGeom>
                <a:avLst/>
                <a:gdLst>
                  <a:gd name="T0" fmla="*/ 0 w 295"/>
                  <a:gd name="T1" fmla="*/ 0 h 263"/>
                  <a:gd name="T2" fmla="*/ 0 w 295"/>
                  <a:gd name="T3" fmla="*/ 21 h 263"/>
                  <a:gd name="T4" fmla="*/ 38 w 295"/>
                  <a:gd name="T5" fmla="*/ 71 h 263"/>
                  <a:gd name="T6" fmla="*/ 75 w 295"/>
                  <a:gd name="T7" fmla="*/ 99 h 263"/>
                  <a:gd name="T8" fmla="*/ 152 w 295"/>
                  <a:gd name="T9" fmla="*/ 158 h 263"/>
                  <a:gd name="T10" fmla="*/ 184 w 295"/>
                  <a:gd name="T11" fmla="*/ 182 h 263"/>
                  <a:gd name="T12" fmla="*/ 260 w 295"/>
                  <a:gd name="T13" fmla="*/ 239 h 263"/>
                  <a:gd name="T14" fmla="*/ 178 w 295"/>
                  <a:gd name="T15" fmla="*/ 213 h 263"/>
                  <a:gd name="T16" fmla="*/ 97 w 295"/>
                  <a:gd name="T17" fmla="*/ 188 h 263"/>
                  <a:gd name="T18" fmla="*/ 16 w 295"/>
                  <a:gd name="T19" fmla="*/ 182 h 263"/>
                  <a:gd name="T20" fmla="*/ 22 w 295"/>
                  <a:gd name="T21" fmla="*/ 207 h 263"/>
                  <a:gd name="T22" fmla="*/ 152 w 295"/>
                  <a:gd name="T23" fmla="*/ 231 h 263"/>
                  <a:gd name="T24" fmla="*/ 222 w 295"/>
                  <a:gd name="T25" fmla="*/ 257 h 263"/>
                  <a:gd name="T26" fmla="*/ 260 w 295"/>
                  <a:gd name="T27" fmla="*/ 263 h 263"/>
                  <a:gd name="T28" fmla="*/ 292 w 295"/>
                  <a:gd name="T29" fmla="*/ 252 h 263"/>
                  <a:gd name="T30" fmla="*/ 295 w 295"/>
                  <a:gd name="T31" fmla="*/ 222 h 263"/>
                  <a:gd name="T32" fmla="*/ 269 w 295"/>
                  <a:gd name="T33" fmla="*/ 199 h 263"/>
                  <a:gd name="T34" fmla="*/ 232 w 295"/>
                  <a:gd name="T35" fmla="*/ 162 h 263"/>
                  <a:gd name="T36" fmla="*/ 188 w 295"/>
                  <a:gd name="T37" fmla="*/ 112 h 263"/>
                  <a:gd name="T38" fmla="*/ 144 w 295"/>
                  <a:gd name="T39" fmla="*/ 56 h 263"/>
                  <a:gd name="T40" fmla="*/ 91 w 295"/>
                  <a:gd name="T41" fmla="*/ 17 h 263"/>
                  <a:gd name="T42" fmla="*/ 35 w 295"/>
                  <a:gd name="T43" fmla="*/ 3 h 263"/>
                  <a:gd name="T44" fmla="*/ 0 w 295"/>
                  <a:gd name="T4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2" name="Freeform 300"/>
              <p:cNvSpPr/>
              <p:nvPr/>
            </p:nvSpPr>
            <p:spPr bwMode="auto">
              <a:xfrm>
                <a:off x="5503" y="1842"/>
                <a:ext cx="44" cy="57"/>
              </a:xfrm>
              <a:custGeom>
                <a:avLst/>
                <a:gdLst>
                  <a:gd name="T0" fmla="*/ 51 w 270"/>
                  <a:gd name="T1" fmla="*/ 0 h 345"/>
                  <a:gd name="T2" fmla="*/ 13 w 270"/>
                  <a:gd name="T3" fmla="*/ 7 h 345"/>
                  <a:gd name="T4" fmla="*/ 0 w 270"/>
                  <a:gd name="T5" fmla="*/ 39 h 345"/>
                  <a:gd name="T6" fmla="*/ 3 w 270"/>
                  <a:gd name="T7" fmla="*/ 65 h 345"/>
                  <a:gd name="T8" fmla="*/ 26 w 270"/>
                  <a:gd name="T9" fmla="*/ 101 h 345"/>
                  <a:gd name="T10" fmla="*/ 57 w 270"/>
                  <a:gd name="T11" fmla="*/ 112 h 345"/>
                  <a:gd name="T12" fmla="*/ 116 w 270"/>
                  <a:gd name="T13" fmla="*/ 149 h 345"/>
                  <a:gd name="T14" fmla="*/ 172 w 270"/>
                  <a:gd name="T15" fmla="*/ 195 h 345"/>
                  <a:gd name="T16" fmla="*/ 212 w 270"/>
                  <a:gd name="T17" fmla="*/ 259 h 345"/>
                  <a:gd name="T18" fmla="*/ 257 w 270"/>
                  <a:gd name="T19" fmla="*/ 325 h 345"/>
                  <a:gd name="T20" fmla="*/ 270 w 270"/>
                  <a:gd name="T21" fmla="*/ 345 h 345"/>
                  <a:gd name="T22" fmla="*/ 257 w 270"/>
                  <a:gd name="T23" fmla="*/ 267 h 345"/>
                  <a:gd name="T24" fmla="*/ 247 w 270"/>
                  <a:gd name="T25" fmla="*/ 198 h 345"/>
                  <a:gd name="T26" fmla="*/ 225 w 270"/>
                  <a:gd name="T27" fmla="*/ 140 h 345"/>
                  <a:gd name="T28" fmla="*/ 188 w 270"/>
                  <a:gd name="T29" fmla="*/ 86 h 345"/>
                  <a:gd name="T30" fmla="*/ 90 w 270"/>
                  <a:gd name="T31" fmla="*/ 10 h 345"/>
                  <a:gd name="T32" fmla="*/ 51 w 270"/>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3" name="Freeform 301"/>
              <p:cNvSpPr/>
              <p:nvPr/>
            </p:nvSpPr>
            <p:spPr bwMode="auto">
              <a:xfrm>
                <a:off x="5494" y="1785"/>
                <a:ext cx="48" cy="34"/>
              </a:xfrm>
              <a:custGeom>
                <a:avLst/>
                <a:gdLst>
                  <a:gd name="T0" fmla="*/ 0 w 287"/>
                  <a:gd name="T1" fmla="*/ 199 h 199"/>
                  <a:gd name="T2" fmla="*/ 49 w 287"/>
                  <a:gd name="T3" fmla="*/ 156 h 199"/>
                  <a:gd name="T4" fmla="*/ 130 w 287"/>
                  <a:gd name="T5" fmla="*/ 125 h 199"/>
                  <a:gd name="T6" fmla="*/ 185 w 287"/>
                  <a:gd name="T7" fmla="*/ 111 h 199"/>
                  <a:gd name="T8" fmla="*/ 287 w 287"/>
                  <a:gd name="T9" fmla="*/ 0 h 199"/>
                  <a:gd name="T10" fmla="*/ 211 w 287"/>
                  <a:gd name="T11" fmla="*/ 44 h 199"/>
                  <a:gd name="T12" fmla="*/ 142 w 287"/>
                  <a:gd name="T13" fmla="*/ 74 h 199"/>
                  <a:gd name="T14" fmla="*/ 93 w 287"/>
                  <a:gd name="T15" fmla="*/ 99 h 199"/>
                  <a:gd name="T16" fmla="*/ 68 w 287"/>
                  <a:gd name="T17" fmla="*/ 125 h 199"/>
                  <a:gd name="T18" fmla="*/ 0 w 287"/>
                  <a:gd name="T1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4" name="Freeform 302"/>
              <p:cNvSpPr/>
              <p:nvPr/>
            </p:nvSpPr>
            <p:spPr bwMode="auto">
              <a:xfrm>
                <a:off x="5458" y="1846"/>
                <a:ext cx="27" cy="86"/>
              </a:xfrm>
              <a:custGeom>
                <a:avLst/>
                <a:gdLst>
                  <a:gd name="T0" fmla="*/ 0 w 162"/>
                  <a:gd name="T1" fmla="*/ 514 h 514"/>
                  <a:gd name="T2" fmla="*/ 81 w 162"/>
                  <a:gd name="T3" fmla="*/ 514 h 514"/>
                  <a:gd name="T4" fmla="*/ 106 w 162"/>
                  <a:gd name="T5" fmla="*/ 508 h 514"/>
                  <a:gd name="T6" fmla="*/ 106 w 162"/>
                  <a:gd name="T7" fmla="*/ 489 h 514"/>
                  <a:gd name="T8" fmla="*/ 124 w 162"/>
                  <a:gd name="T9" fmla="*/ 470 h 514"/>
                  <a:gd name="T10" fmla="*/ 150 w 162"/>
                  <a:gd name="T11" fmla="*/ 451 h 514"/>
                  <a:gd name="T12" fmla="*/ 137 w 162"/>
                  <a:gd name="T13" fmla="*/ 433 h 514"/>
                  <a:gd name="T14" fmla="*/ 137 w 162"/>
                  <a:gd name="T15" fmla="*/ 407 h 514"/>
                  <a:gd name="T16" fmla="*/ 156 w 162"/>
                  <a:gd name="T17" fmla="*/ 376 h 514"/>
                  <a:gd name="T18" fmla="*/ 156 w 162"/>
                  <a:gd name="T19" fmla="*/ 344 h 514"/>
                  <a:gd name="T20" fmla="*/ 144 w 162"/>
                  <a:gd name="T21" fmla="*/ 306 h 514"/>
                  <a:gd name="T22" fmla="*/ 144 w 162"/>
                  <a:gd name="T23" fmla="*/ 224 h 514"/>
                  <a:gd name="T24" fmla="*/ 162 w 162"/>
                  <a:gd name="T25" fmla="*/ 150 h 514"/>
                  <a:gd name="T26" fmla="*/ 156 w 162"/>
                  <a:gd name="T27" fmla="*/ 94 h 514"/>
                  <a:gd name="T28" fmla="*/ 156 w 162"/>
                  <a:gd name="T29" fmla="*/ 0 h 514"/>
                  <a:gd name="T30" fmla="*/ 106 w 162"/>
                  <a:gd name="T31" fmla="*/ 142 h 514"/>
                  <a:gd name="T32" fmla="*/ 62 w 162"/>
                  <a:gd name="T33" fmla="*/ 275 h 514"/>
                  <a:gd name="T34" fmla="*/ 32 w 162"/>
                  <a:gd name="T35" fmla="*/ 419 h 514"/>
                  <a:gd name="T36" fmla="*/ 0 w 162"/>
                  <a:gd name="T37"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5" name="Freeform 303"/>
              <p:cNvSpPr/>
              <p:nvPr/>
            </p:nvSpPr>
            <p:spPr bwMode="auto">
              <a:xfrm>
                <a:off x="5498" y="1939"/>
                <a:ext cx="48" cy="16"/>
              </a:xfrm>
              <a:custGeom>
                <a:avLst/>
                <a:gdLst>
                  <a:gd name="T0" fmla="*/ 232 w 289"/>
                  <a:gd name="T1" fmla="*/ 47 h 97"/>
                  <a:gd name="T2" fmla="*/ 168 w 289"/>
                  <a:gd name="T3" fmla="*/ 19 h 97"/>
                  <a:gd name="T4" fmla="*/ 110 w 289"/>
                  <a:gd name="T5" fmla="*/ 4 h 97"/>
                  <a:gd name="T6" fmla="*/ 32 w 289"/>
                  <a:gd name="T7" fmla="*/ 0 h 97"/>
                  <a:gd name="T8" fmla="*/ 0 w 289"/>
                  <a:gd name="T9" fmla="*/ 6 h 97"/>
                  <a:gd name="T10" fmla="*/ 15 w 289"/>
                  <a:gd name="T11" fmla="*/ 37 h 97"/>
                  <a:gd name="T12" fmla="*/ 45 w 289"/>
                  <a:gd name="T13" fmla="*/ 61 h 97"/>
                  <a:gd name="T14" fmla="*/ 113 w 289"/>
                  <a:gd name="T15" fmla="*/ 79 h 97"/>
                  <a:gd name="T16" fmla="*/ 219 w 289"/>
                  <a:gd name="T17" fmla="*/ 97 h 97"/>
                  <a:gd name="T18" fmla="*/ 289 w 289"/>
                  <a:gd name="T19" fmla="*/ 91 h 97"/>
                  <a:gd name="T20" fmla="*/ 232 w 289"/>
                  <a:gd name="T2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6" name="Freeform 304"/>
              <p:cNvSpPr/>
              <p:nvPr/>
            </p:nvSpPr>
            <p:spPr bwMode="auto">
              <a:xfrm>
                <a:off x="5458" y="1947"/>
                <a:ext cx="30" cy="36"/>
              </a:xfrm>
              <a:custGeom>
                <a:avLst/>
                <a:gdLst>
                  <a:gd name="T0" fmla="*/ 81 w 176"/>
                  <a:gd name="T1" fmla="*/ 59 h 216"/>
                  <a:gd name="T2" fmla="*/ 59 w 176"/>
                  <a:gd name="T3" fmla="*/ 14 h 216"/>
                  <a:gd name="T4" fmla="*/ 26 w 176"/>
                  <a:gd name="T5" fmla="*/ 0 h 216"/>
                  <a:gd name="T6" fmla="*/ 3 w 176"/>
                  <a:gd name="T7" fmla="*/ 11 h 216"/>
                  <a:gd name="T8" fmla="*/ 0 w 176"/>
                  <a:gd name="T9" fmla="*/ 35 h 216"/>
                  <a:gd name="T10" fmla="*/ 15 w 176"/>
                  <a:gd name="T11" fmla="*/ 76 h 216"/>
                  <a:gd name="T12" fmla="*/ 40 w 176"/>
                  <a:gd name="T13" fmla="*/ 115 h 216"/>
                  <a:gd name="T14" fmla="*/ 71 w 176"/>
                  <a:gd name="T15" fmla="*/ 150 h 216"/>
                  <a:gd name="T16" fmla="*/ 113 w 176"/>
                  <a:gd name="T17" fmla="*/ 185 h 216"/>
                  <a:gd name="T18" fmla="*/ 176 w 176"/>
                  <a:gd name="T19" fmla="*/ 216 h 216"/>
                  <a:gd name="T20" fmla="*/ 119 w 176"/>
                  <a:gd name="T21" fmla="*/ 153 h 216"/>
                  <a:gd name="T22" fmla="*/ 100 w 176"/>
                  <a:gd name="T23" fmla="*/ 108 h 216"/>
                  <a:gd name="T24" fmla="*/ 81 w 176"/>
                  <a:gd name="T25" fmla="*/ 5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897" name="Freeform 305"/>
              <p:cNvSpPr/>
              <p:nvPr/>
            </p:nvSpPr>
            <p:spPr bwMode="auto">
              <a:xfrm>
                <a:off x="5506" y="1757"/>
                <a:ext cx="70" cy="44"/>
              </a:xfrm>
              <a:custGeom>
                <a:avLst/>
                <a:gdLst>
                  <a:gd name="T0" fmla="*/ 0 w 418"/>
                  <a:gd name="T1" fmla="*/ 260 h 260"/>
                  <a:gd name="T2" fmla="*/ 13 w 418"/>
                  <a:gd name="T3" fmla="*/ 153 h 260"/>
                  <a:gd name="T4" fmla="*/ 101 w 418"/>
                  <a:gd name="T5" fmla="*/ 116 h 260"/>
                  <a:gd name="T6" fmla="*/ 220 w 418"/>
                  <a:gd name="T7" fmla="*/ 69 h 260"/>
                  <a:gd name="T8" fmla="*/ 304 w 418"/>
                  <a:gd name="T9" fmla="*/ 35 h 260"/>
                  <a:gd name="T10" fmla="*/ 386 w 418"/>
                  <a:gd name="T11" fmla="*/ 0 h 260"/>
                  <a:gd name="T12" fmla="*/ 418 w 418"/>
                  <a:gd name="T13" fmla="*/ 76 h 260"/>
                  <a:gd name="T14" fmla="*/ 341 w 418"/>
                  <a:gd name="T15" fmla="*/ 119 h 260"/>
                  <a:gd name="T16" fmla="*/ 252 w 418"/>
                  <a:gd name="T17" fmla="*/ 150 h 260"/>
                  <a:gd name="T18" fmla="*/ 182 w 418"/>
                  <a:gd name="T19" fmla="*/ 170 h 260"/>
                  <a:gd name="T20" fmla="*/ 98 w 418"/>
                  <a:gd name="T21" fmla="*/ 216 h 260"/>
                  <a:gd name="T22" fmla="*/ 0 w 418"/>
                  <a:gd name="T23"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sp>
        <p:nvSpPr>
          <p:cNvPr id="366901" name="Oval 309"/>
          <p:cNvSpPr>
            <a:spLocks noChangeArrowheads="1"/>
          </p:cNvSpPr>
          <p:nvPr/>
        </p:nvSpPr>
        <p:spPr bwMode="auto">
          <a:xfrm>
            <a:off x="9563100" y="4624389"/>
            <a:ext cx="298450" cy="16192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66902" name="Oval 310"/>
          <p:cNvSpPr>
            <a:spLocks noChangeArrowheads="1"/>
          </p:cNvSpPr>
          <p:nvPr/>
        </p:nvSpPr>
        <p:spPr bwMode="auto">
          <a:xfrm>
            <a:off x="3308350" y="4352925"/>
            <a:ext cx="1296988" cy="1296988"/>
          </a:xfrm>
          <a:prstGeom prst="ellipse">
            <a:avLst/>
          </a:prstGeom>
          <a:solidFill>
            <a:srgbClr val="66FF66"/>
          </a:solidFill>
          <a:ln w="19050">
            <a:solidFill>
              <a:schemeClr val="folHlink"/>
            </a:solidFill>
            <a:round/>
          </a:ln>
          <a:effectLst>
            <a:outerShdw dist="35921" dir="2700000" algn="ctr" rotWithShape="0">
              <a:schemeClr val="bg2"/>
            </a:outerShdw>
          </a:effec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grpSp>
        <p:nvGrpSpPr>
          <p:cNvPr id="366903" name="Group 311"/>
          <p:cNvGrpSpPr/>
          <p:nvPr/>
        </p:nvGrpSpPr>
        <p:grpSpPr bwMode="auto">
          <a:xfrm>
            <a:off x="3690938" y="4462463"/>
            <a:ext cx="457200" cy="457200"/>
            <a:chOff x="2351" y="2975"/>
            <a:chExt cx="481" cy="433"/>
          </a:xfrm>
        </p:grpSpPr>
        <p:sp>
          <p:nvSpPr>
            <p:cNvPr id="366904" name="Rectangle 312"/>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ln>
            <a:effectLst>
              <a:outerShdw dist="35921" dir="2700000" algn="ctr" rotWithShape="0">
                <a:schemeClr val="bg2"/>
              </a:outerShdw>
            </a:effec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05" name="Line 313"/>
            <p:cNvSpPr>
              <a:spLocks noChangeShapeType="1"/>
            </p:cNvSpPr>
            <p:nvPr/>
          </p:nvSpPr>
          <p:spPr bwMode="auto">
            <a:xfrm rot="-10800000">
              <a:off x="2351" y="3321"/>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06" name="Line 314"/>
            <p:cNvSpPr>
              <a:spLocks noChangeShapeType="1"/>
            </p:cNvSpPr>
            <p:nvPr/>
          </p:nvSpPr>
          <p:spPr bwMode="auto">
            <a:xfrm rot="-10800000">
              <a:off x="2351" y="3234"/>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07" name="Line 315"/>
            <p:cNvSpPr>
              <a:spLocks noChangeShapeType="1"/>
            </p:cNvSpPr>
            <p:nvPr/>
          </p:nvSpPr>
          <p:spPr bwMode="auto">
            <a:xfrm rot="-10800000">
              <a:off x="2351" y="3148"/>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08" name="Line 316"/>
            <p:cNvSpPr>
              <a:spLocks noChangeShapeType="1"/>
            </p:cNvSpPr>
            <p:nvPr/>
          </p:nvSpPr>
          <p:spPr bwMode="auto">
            <a:xfrm rot="-10800000">
              <a:off x="2351" y="3061"/>
              <a:ext cx="480"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09" name="Line 317"/>
            <p:cNvSpPr>
              <a:spLocks noChangeShapeType="1"/>
            </p:cNvSpPr>
            <p:nvPr/>
          </p:nvSpPr>
          <p:spPr bwMode="auto">
            <a:xfrm rot="-16200000">
              <a:off x="2519"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10" name="Line 318"/>
            <p:cNvSpPr>
              <a:spLocks noChangeShapeType="1"/>
            </p:cNvSpPr>
            <p:nvPr/>
          </p:nvSpPr>
          <p:spPr bwMode="auto">
            <a:xfrm rot="-16200000">
              <a:off x="2423"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11" name="Line 319"/>
            <p:cNvSpPr>
              <a:spLocks noChangeShapeType="1"/>
            </p:cNvSpPr>
            <p:nvPr/>
          </p:nvSpPr>
          <p:spPr bwMode="auto">
            <a:xfrm rot="-16200000">
              <a:off x="2327"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12" name="Line 320"/>
            <p:cNvSpPr>
              <a:spLocks noChangeShapeType="1"/>
            </p:cNvSpPr>
            <p:nvPr/>
          </p:nvSpPr>
          <p:spPr bwMode="auto">
            <a:xfrm rot="-16200000">
              <a:off x="2231" y="3191"/>
              <a:ext cx="432"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913" name="Group 321"/>
          <p:cNvGrpSpPr/>
          <p:nvPr/>
        </p:nvGrpSpPr>
        <p:grpSpPr bwMode="auto">
          <a:xfrm>
            <a:off x="3586163" y="5014913"/>
            <a:ext cx="730250" cy="457200"/>
            <a:chOff x="1296" y="768"/>
            <a:chExt cx="556" cy="336"/>
          </a:xfrm>
        </p:grpSpPr>
        <p:sp>
          <p:nvSpPr>
            <p:cNvPr id="366914" name="Rectangle 322"/>
            <p:cNvSpPr>
              <a:spLocks noChangeArrowheads="1"/>
            </p:cNvSpPr>
            <p:nvPr/>
          </p:nvSpPr>
          <p:spPr bwMode="auto">
            <a:xfrm>
              <a:off x="1296" y="768"/>
              <a:ext cx="556" cy="336"/>
            </a:xfrm>
            <a:prstGeom prst="rect">
              <a:avLst/>
            </a:prstGeom>
            <a:solidFill>
              <a:srgbClr val="FFFF99"/>
            </a:solidFill>
            <a:ln w="12700">
              <a:solidFill>
                <a:schemeClr val="tx1"/>
              </a:solidFill>
              <a:miter lim="800000"/>
            </a:ln>
            <a:effectLst>
              <a:outerShdw dist="35921" dir="2700000" algn="ctr" rotWithShape="0">
                <a:schemeClr val="bg2"/>
              </a:outerShdw>
            </a:effectLst>
          </p:spPr>
          <p:txBody>
            <a:bodyPr wrap="none" anchor="ctr"/>
            <a:lstStyle/>
            <a:p>
              <a:pPr algn="ctr"/>
              <a:endParaRPr kumimoji="1" lang="zh-CN" altLang="zh-CN" sz="1800">
                <a:solidFill>
                  <a:srgbClr val="333399"/>
                </a:solidFill>
                <a:latin typeface="微软雅黑 Light" panose="020B0502040204020203" pitchFamily="34" charset="-122"/>
                <a:ea typeface="微软雅黑 Light" panose="020B0502040204020203" pitchFamily="34" charset="-122"/>
              </a:endParaRPr>
            </a:p>
          </p:txBody>
        </p:sp>
        <p:grpSp>
          <p:nvGrpSpPr>
            <p:cNvPr id="366915" name="Group 323"/>
            <p:cNvGrpSpPr/>
            <p:nvPr/>
          </p:nvGrpSpPr>
          <p:grpSpPr bwMode="auto">
            <a:xfrm>
              <a:off x="1367" y="829"/>
              <a:ext cx="393" cy="214"/>
              <a:chOff x="2928" y="3744"/>
              <a:chExt cx="528" cy="336"/>
            </a:xfrm>
          </p:grpSpPr>
          <p:grpSp>
            <p:nvGrpSpPr>
              <p:cNvPr id="366916" name="Group 324"/>
              <p:cNvGrpSpPr/>
              <p:nvPr/>
            </p:nvGrpSpPr>
            <p:grpSpPr bwMode="auto">
              <a:xfrm>
                <a:off x="3024" y="3744"/>
                <a:ext cx="432" cy="240"/>
                <a:chOff x="2736" y="3648"/>
                <a:chExt cx="432" cy="240"/>
              </a:xfrm>
            </p:grpSpPr>
            <p:grpSp>
              <p:nvGrpSpPr>
                <p:cNvPr id="366917" name="Group 325"/>
                <p:cNvGrpSpPr/>
                <p:nvPr/>
              </p:nvGrpSpPr>
              <p:grpSpPr bwMode="auto">
                <a:xfrm>
                  <a:off x="2736" y="3648"/>
                  <a:ext cx="432" cy="240"/>
                  <a:chOff x="2592" y="3504"/>
                  <a:chExt cx="576" cy="384"/>
                </a:xfrm>
              </p:grpSpPr>
              <p:sp>
                <p:nvSpPr>
                  <p:cNvPr id="366918" name="Rectangle 326"/>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19" name="Freeform 327"/>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20" name="Line 328"/>
                  <p:cNvSpPr>
                    <a:spLocks noChangeShapeType="1"/>
                  </p:cNvSpPr>
                  <p:nvPr/>
                </p:nvSpPr>
                <p:spPr bwMode="auto">
                  <a:xfrm flipV="1">
                    <a:off x="2592"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21" name="Line 329"/>
                  <p:cNvSpPr>
                    <a:spLocks noChangeShapeType="1"/>
                  </p:cNvSpPr>
                  <p:nvPr/>
                </p:nvSpPr>
                <p:spPr bwMode="auto">
                  <a:xfrm flipH="1" flipV="1">
                    <a:off x="2936"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366922" name="Line 330"/>
                <p:cNvSpPr>
                  <a:spLocks noChangeShapeType="1"/>
                </p:cNvSpPr>
                <p:nvPr/>
              </p:nvSpPr>
              <p:spPr bwMode="auto">
                <a:xfrm>
                  <a:off x="2736" y="3648"/>
                  <a:ext cx="424"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923" name="Group 331"/>
              <p:cNvGrpSpPr/>
              <p:nvPr/>
            </p:nvGrpSpPr>
            <p:grpSpPr bwMode="auto">
              <a:xfrm>
                <a:off x="2976" y="3792"/>
                <a:ext cx="432" cy="240"/>
                <a:chOff x="2736" y="3648"/>
                <a:chExt cx="432" cy="240"/>
              </a:xfrm>
            </p:grpSpPr>
            <p:grpSp>
              <p:nvGrpSpPr>
                <p:cNvPr id="366924" name="Group 332"/>
                <p:cNvGrpSpPr/>
                <p:nvPr/>
              </p:nvGrpSpPr>
              <p:grpSpPr bwMode="auto">
                <a:xfrm>
                  <a:off x="2736" y="3648"/>
                  <a:ext cx="432" cy="240"/>
                  <a:chOff x="2592" y="3504"/>
                  <a:chExt cx="576" cy="384"/>
                </a:xfrm>
              </p:grpSpPr>
              <p:sp>
                <p:nvSpPr>
                  <p:cNvPr id="366925" name="Rectangle 333"/>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26" name="Freeform 334"/>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27" name="Line 335"/>
                  <p:cNvSpPr>
                    <a:spLocks noChangeShapeType="1"/>
                  </p:cNvSpPr>
                  <p:nvPr/>
                </p:nvSpPr>
                <p:spPr bwMode="auto">
                  <a:xfrm flipV="1">
                    <a:off x="2592"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28" name="Line 336"/>
                  <p:cNvSpPr>
                    <a:spLocks noChangeShapeType="1"/>
                  </p:cNvSpPr>
                  <p:nvPr/>
                </p:nvSpPr>
                <p:spPr bwMode="auto">
                  <a:xfrm flipH="1" flipV="1">
                    <a:off x="2936"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366929" name="Line 337"/>
                <p:cNvSpPr>
                  <a:spLocks noChangeShapeType="1"/>
                </p:cNvSpPr>
                <p:nvPr/>
              </p:nvSpPr>
              <p:spPr bwMode="auto">
                <a:xfrm>
                  <a:off x="2736" y="3648"/>
                  <a:ext cx="424"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930" name="Group 338"/>
              <p:cNvGrpSpPr/>
              <p:nvPr/>
            </p:nvGrpSpPr>
            <p:grpSpPr bwMode="auto">
              <a:xfrm>
                <a:off x="2928" y="3840"/>
                <a:ext cx="432" cy="240"/>
                <a:chOff x="2736" y="3648"/>
                <a:chExt cx="432" cy="240"/>
              </a:xfrm>
            </p:grpSpPr>
            <p:grpSp>
              <p:nvGrpSpPr>
                <p:cNvPr id="366931" name="Group 339"/>
                <p:cNvGrpSpPr/>
                <p:nvPr/>
              </p:nvGrpSpPr>
              <p:grpSpPr bwMode="auto">
                <a:xfrm>
                  <a:off x="2736" y="3648"/>
                  <a:ext cx="432" cy="240"/>
                  <a:chOff x="2592" y="3504"/>
                  <a:chExt cx="576" cy="384"/>
                </a:xfrm>
              </p:grpSpPr>
              <p:sp>
                <p:nvSpPr>
                  <p:cNvPr id="366932" name="Rectangle 340"/>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33" name="Freeform 34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34" name="Line 342"/>
                  <p:cNvSpPr>
                    <a:spLocks noChangeShapeType="1"/>
                  </p:cNvSpPr>
                  <p:nvPr/>
                </p:nvSpPr>
                <p:spPr bwMode="auto">
                  <a:xfrm flipV="1">
                    <a:off x="2592"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35" name="Line 343"/>
                  <p:cNvSpPr>
                    <a:spLocks noChangeShapeType="1"/>
                  </p:cNvSpPr>
                  <p:nvPr/>
                </p:nvSpPr>
                <p:spPr bwMode="auto">
                  <a:xfrm flipH="1" flipV="1">
                    <a:off x="2936" y="3704"/>
                    <a:ext cx="232" cy="184"/>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366936" name="Line 344"/>
                <p:cNvSpPr>
                  <a:spLocks noChangeShapeType="1"/>
                </p:cNvSpPr>
                <p:nvPr/>
              </p:nvSpPr>
              <p:spPr bwMode="auto">
                <a:xfrm>
                  <a:off x="2736" y="3648"/>
                  <a:ext cx="424" cy="0"/>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grpSp>
      </p:grpSp>
      <p:sp>
        <p:nvSpPr>
          <p:cNvPr id="366937" name="Freeform 345"/>
          <p:cNvSpPr/>
          <p:nvPr/>
        </p:nvSpPr>
        <p:spPr bwMode="auto">
          <a:xfrm>
            <a:off x="2451100" y="4694239"/>
            <a:ext cx="1238250" cy="496887"/>
          </a:xfrm>
          <a:custGeom>
            <a:avLst/>
            <a:gdLst>
              <a:gd name="T0" fmla="*/ 0 w 780"/>
              <a:gd name="T1" fmla="*/ 99 h 313"/>
              <a:gd name="T2" fmla="*/ 228 w 780"/>
              <a:gd name="T3" fmla="*/ 13 h 313"/>
              <a:gd name="T4" fmla="*/ 444 w 780"/>
              <a:gd name="T5" fmla="*/ 19 h 313"/>
              <a:gd name="T6" fmla="*/ 582 w 780"/>
              <a:gd name="T7" fmla="*/ 67 h 313"/>
              <a:gd name="T8" fmla="*/ 732 w 780"/>
              <a:gd name="T9" fmla="*/ 217 h 313"/>
              <a:gd name="T10" fmla="*/ 780 w 780"/>
              <a:gd name="T11" fmla="*/ 313 h 313"/>
            </a:gdLst>
            <a:ahLst/>
            <a:cxnLst>
              <a:cxn ang="0">
                <a:pos x="T0" y="T1"/>
              </a:cxn>
              <a:cxn ang="0">
                <a:pos x="T2" y="T3"/>
              </a:cxn>
              <a:cxn ang="0">
                <a:pos x="T4" y="T5"/>
              </a:cxn>
              <a:cxn ang="0">
                <a:pos x="T6" y="T7"/>
              </a:cxn>
              <a:cxn ang="0">
                <a:pos x="T8" y="T9"/>
              </a:cxn>
              <a:cxn ang="0">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38" name="Freeform 346"/>
          <p:cNvSpPr/>
          <p:nvPr/>
        </p:nvSpPr>
        <p:spPr bwMode="auto">
          <a:xfrm>
            <a:off x="3994151" y="4092575"/>
            <a:ext cx="4462463" cy="1022350"/>
          </a:xfrm>
          <a:custGeom>
            <a:avLst/>
            <a:gdLst>
              <a:gd name="T0" fmla="*/ 0 w 2811"/>
              <a:gd name="T1" fmla="*/ 644 h 644"/>
              <a:gd name="T2" fmla="*/ 488 w 2811"/>
              <a:gd name="T3" fmla="*/ 292 h 644"/>
              <a:gd name="T4" fmla="*/ 807 w 2811"/>
              <a:gd name="T5" fmla="*/ 137 h 644"/>
              <a:gd name="T6" fmla="*/ 1200 w 2811"/>
              <a:gd name="T7" fmla="*/ 28 h 644"/>
              <a:gd name="T8" fmla="*/ 1704 w 2811"/>
              <a:gd name="T9" fmla="*/ 12 h 644"/>
              <a:gd name="T10" fmla="*/ 2226 w 2811"/>
              <a:gd name="T11" fmla="*/ 98 h 644"/>
              <a:gd name="T12" fmla="*/ 2811 w 2811"/>
              <a:gd name="T13" fmla="*/ 329 h 644"/>
            </a:gdLst>
            <a:ahLst/>
            <a:cxnLst>
              <a:cxn ang="0">
                <a:pos x="T0" y="T1"/>
              </a:cxn>
              <a:cxn ang="0">
                <a:pos x="T2" y="T3"/>
              </a:cxn>
              <a:cxn ang="0">
                <a:pos x="T4" y="T5"/>
              </a:cxn>
              <a:cxn ang="0">
                <a:pos x="T6" y="T7"/>
              </a:cxn>
              <a:cxn ang="0">
                <a:pos x="T8" y="T9"/>
              </a:cxn>
              <a:cxn ang="0">
                <a:pos x="T10" y="T11"/>
              </a:cxn>
              <a:cxn ang="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39" name="Freeform 347"/>
          <p:cNvSpPr/>
          <p:nvPr/>
        </p:nvSpPr>
        <p:spPr bwMode="auto">
          <a:xfrm>
            <a:off x="8555038" y="4437063"/>
            <a:ext cx="1154112" cy="296862"/>
          </a:xfrm>
          <a:custGeom>
            <a:avLst/>
            <a:gdLst>
              <a:gd name="T0" fmla="*/ 0 w 727"/>
              <a:gd name="T1" fmla="*/ 129 h 219"/>
              <a:gd name="T2" fmla="*/ 145 w 727"/>
              <a:gd name="T3" fmla="*/ 38 h 219"/>
              <a:gd name="T4" fmla="*/ 229 w 727"/>
              <a:gd name="T5" fmla="*/ 9 h 219"/>
              <a:gd name="T6" fmla="*/ 307 w 727"/>
              <a:gd name="T7" fmla="*/ 3 h 219"/>
              <a:gd name="T8" fmla="*/ 382 w 727"/>
              <a:gd name="T9" fmla="*/ 6 h 219"/>
              <a:gd name="T10" fmla="*/ 481 w 727"/>
              <a:gd name="T11" fmla="*/ 39 h 219"/>
              <a:gd name="T12" fmla="*/ 727 w 727"/>
              <a:gd name="T13" fmla="*/ 219 h 219"/>
            </a:gdLst>
            <a:ahLst/>
            <a:cxnLst>
              <a:cxn ang="0">
                <a:pos x="T0" y="T1"/>
              </a:cxn>
              <a:cxn ang="0">
                <a:pos x="T2" y="T3"/>
              </a:cxn>
              <a:cxn ang="0">
                <a:pos x="T4" y="T5"/>
              </a:cxn>
              <a:cxn ang="0">
                <a:pos x="T6" y="T7"/>
              </a:cxn>
              <a:cxn ang="0">
                <a:pos x="T8" y="T9"/>
              </a:cxn>
              <a:cxn ang="0">
                <a:pos x="T10" y="T11"/>
              </a:cxn>
              <a:cxn ang="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43" name="Text Box 351"/>
          <p:cNvSpPr txBox="1">
            <a:spLocks noChangeArrowheads="1"/>
          </p:cNvSpPr>
          <p:nvPr/>
        </p:nvSpPr>
        <p:spPr bwMode="auto">
          <a:xfrm>
            <a:off x="4070350" y="59563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solidFill>
                  <a:srgbClr val="333399"/>
                </a:solidFill>
                <a:latin typeface="微软雅黑 Light" panose="020B0502040204020203" pitchFamily="34" charset="-122"/>
                <a:ea typeface="微软雅黑 Light" panose="020B0502040204020203" pitchFamily="34" charset="-122"/>
              </a:rPr>
              <a:t>   </a:t>
            </a:r>
            <a:r>
              <a:rPr kumimoji="1" lang="zh-CN" altLang="en-US" sz="1800">
                <a:solidFill>
                  <a:srgbClr val="333399"/>
                </a:solidFill>
                <a:latin typeface="微软雅黑 Light" panose="020B0502040204020203" pitchFamily="34" charset="-122"/>
                <a:ea typeface="微软雅黑 Light" panose="020B0502040204020203" pitchFamily="34" charset="-122"/>
              </a:rPr>
              <a:t>发送端</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a:p>
            <a:r>
              <a:rPr kumimoji="1" lang="zh-CN" altLang="en-US" sz="1800">
                <a:solidFill>
                  <a:srgbClr val="333399"/>
                </a:solidFill>
                <a:latin typeface="微软雅黑 Light" panose="020B0502040204020203" pitchFamily="34" charset="-122"/>
                <a:ea typeface="微软雅黑 Light" panose="020B0502040204020203" pitchFamily="34" charset="-122"/>
              </a:rPr>
              <a:t>邮件服务器</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944" name="Line 352"/>
          <p:cNvSpPr>
            <a:spLocks noChangeShapeType="1"/>
          </p:cNvSpPr>
          <p:nvPr/>
        </p:nvSpPr>
        <p:spPr bwMode="auto">
          <a:xfrm flipH="1">
            <a:off x="9752014" y="4005263"/>
            <a:ext cx="160337" cy="6731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45" name="Line 353"/>
          <p:cNvSpPr>
            <a:spLocks noChangeShapeType="1"/>
          </p:cNvSpPr>
          <p:nvPr/>
        </p:nvSpPr>
        <p:spPr bwMode="auto">
          <a:xfrm flipV="1">
            <a:off x="3648076" y="5343526"/>
            <a:ext cx="193675" cy="677863"/>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46" name="Line 354"/>
          <p:cNvSpPr>
            <a:spLocks noChangeShapeType="1"/>
          </p:cNvSpPr>
          <p:nvPr/>
        </p:nvSpPr>
        <p:spPr bwMode="auto">
          <a:xfrm>
            <a:off x="2351088" y="4149725"/>
            <a:ext cx="114300" cy="719138"/>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47" name="Text Box 355"/>
          <p:cNvSpPr txBox="1">
            <a:spLocks noChangeArrowheads="1"/>
          </p:cNvSpPr>
          <p:nvPr/>
        </p:nvSpPr>
        <p:spPr bwMode="auto">
          <a:xfrm>
            <a:off x="1703388" y="378936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用户代理</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948" name="Text Box 356"/>
          <p:cNvSpPr txBox="1">
            <a:spLocks noChangeArrowheads="1"/>
          </p:cNvSpPr>
          <p:nvPr/>
        </p:nvSpPr>
        <p:spPr bwMode="auto">
          <a:xfrm>
            <a:off x="7499350" y="3640138"/>
            <a:ext cx="10985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用户邮箱</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949" name="Line 357"/>
          <p:cNvSpPr>
            <a:spLocks noChangeShapeType="1"/>
          </p:cNvSpPr>
          <p:nvPr/>
        </p:nvSpPr>
        <p:spPr bwMode="auto">
          <a:xfrm rot="10800000" flipH="1" flipV="1">
            <a:off x="8032750" y="3971926"/>
            <a:ext cx="439738" cy="5365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50" name="Text Box 358"/>
          <p:cNvSpPr txBox="1">
            <a:spLocks noChangeArrowheads="1"/>
          </p:cNvSpPr>
          <p:nvPr/>
        </p:nvSpPr>
        <p:spPr bwMode="auto">
          <a:xfrm>
            <a:off x="9696450" y="602138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接收方</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951" name="Line 359"/>
          <p:cNvSpPr>
            <a:spLocks noChangeShapeType="1"/>
          </p:cNvSpPr>
          <p:nvPr/>
        </p:nvSpPr>
        <p:spPr bwMode="auto">
          <a:xfrm flipV="1">
            <a:off x="7651751" y="5605464"/>
            <a:ext cx="595313" cy="40322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52" name="Line 360"/>
          <p:cNvSpPr>
            <a:spLocks noChangeShapeType="1"/>
          </p:cNvSpPr>
          <p:nvPr/>
        </p:nvSpPr>
        <p:spPr bwMode="auto">
          <a:xfrm flipH="1" flipV="1">
            <a:off x="4146550" y="5648326"/>
            <a:ext cx="438150" cy="3714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53" name="Text Box 361"/>
          <p:cNvSpPr txBox="1">
            <a:spLocks noChangeArrowheads="1"/>
          </p:cNvSpPr>
          <p:nvPr/>
        </p:nvSpPr>
        <p:spPr bwMode="auto">
          <a:xfrm>
            <a:off x="2495550" y="4076700"/>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solidFill>
                  <a:srgbClr val="333399"/>
                </a:solidFill>
                <a:latin typeface="微软雅黑 Light" panose="020B0502040204020203" pitchFamily="34" charset="-122"/>
                <a:ea typeface="微软雅黑 Light" panose="020B0502040204020203" pitchFamily="34" charset="-122"/>
              </a:rPr>
              <a:t>发送邮件</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a:p>
            <a:pPr algn="ctr"/>
            <a:r>
              <a:rPr kumimoji="1" lang="en-US" altLang="zh-CN" sz="1800">
                <a:solidFill>
                  <a:srgbClr val="333399"/>
                </a:solidFill>
                <a:latin typeface="微软雅黑 Light" panose="020B0502040204020203" pitchFamily="34" charset="-122"/>
                <a:ea typeface="微软雅黑 Light" panose="020B0502040204020203" pitchFamily="34" charset="-122"/>
              </a:rPr>
              <a:t>SMTP</a:t>
            </a:r>
            <a:endParaRPr kumimoji="1" lang="en-US" altLang="zh-CN" sz="1800">
              <a:solidFill>
                <a:srgbClr val="333399"/>
              </a:solidFill>
              <a:latin typeface="微软雅黑 Light" panose="020B0502040204020203" pitchFamily="34" charset="-122"/>
              <a:ea typeface="微软雅黑 Light" panose="020B0502040204020203" pitchFamily="34" charset="-122"/>
            </a:endParaRPr>
          </a:p>
        </p:txBody>
      </p:sp>
      <p:sp>
        <p:nvSpPr>
          <p:cNvPr id="366954" name="Text Box 362"/>
          <p:cNvSpPr txBox="1">
            <a:spLocks noChangeArrowheads="1"/>
          </p:cNvSpPr>
          <p:nvPr/>
        </p:nvSpPr>
        <p:spPr bwMode="auto">
          <a:xfrm>
            <a:off x="5735638" y="3573463"/>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solidFill>
                  <a:srgbClr val="333399"/>
                </a:solidFill>
                <a:latin typeface="微软雅黑 Light" panose="020B0502040204020203" pitchFamily="34" charset="-122"/>
                <a:ea typeface="微软雅黑 Light" panose="020B0502040204020203" pitchFamily="34" charset="-122"/>
              </a:rPr>
              <a:t>发送邮件</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a:p>
            <a:pPr algn="ctr"/>
            <a:r>
              <a:rPr kumimoji="1" lang="en-US" altLang="zh-CN" sz="1800">
                <a:solidFill>
                  <a:srgbClr val="333399"/>
                </a:solidFill>
                <a:latin typeface="微软雅黑 Light" panose="020B0502040204020203" pitchFamily="34" charset="-122"/>
                <a:ea typeface="微软雅黑 Light" panose="020B0502040204020203" pitchFamily="34" charset="-122"/>
              </a:rPr>
              <a:t>SMTP</a:t>
            </a:r>
            <a:endParaRPr kumimoji="1" lang="en-US" altLang="zh-CN" sz="1800">
              <a:solidFill>
                <a:srgbClr val="333399"/>
              </a:solidFill>
              <a:latin typeface="微软雅黑 Light" panose="020B0502040204020203" pitchFamily="34" charset="-122"/>
              <a:ea typeface="微软雅黑 Light" panose="020B0502040204020203" pitchFamily="34" charset="-122"/>
            </a:endParaRPr>
          </a:p>
        </p:txBody>
      </p:sp>
      <p:sp>
        <p:nvSpPr>
          <p:cNvPr id="366955" name="Text Box 363"/>
          <p:cNvSpPr txBox="1">
            <a:spLocks noChangeArrowheads="1"/>
          </p:cNvSpPr>
          <p:nvPr/>
        </p:nvSpPr>
        <p:spPr bwMode="auto">
          <a:xfrm>
            <a:off x="8543925" y="3860800"/>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solidFill>
                  <a:srgbClr val="333399"/>
                </a:solidFill>
                <a:latin typeface="微软雅黑 Light" panose="020B0502040204020203" pitchFamily="34" charset="-122"/>
                <a:ea typeface="微软雅黑 Light" panose="020B0502040204020203" pitchFamily="34" charset="-122"/>
              </a:rPr>
              <a:t>读取邮件</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a:p>
            <a:pPr algn="ctr"/>
            <a:r>
              <a:rPr kumimoji="1" lang="en-US" altLang="zh-CN" sz="1800">
                <a:solidFill>
                  <a:srgbClr val="333399"/>
                </a:solidFill>
                <a:latin typeface="微软雅黑 Light" panose="020B0502040204020203" pitchFamily="34" charset="-122"/>
                <a:ea typeface="微软雅黑 Light" panose="020B0502040204020203" pitchFamily="34" charset="-122"/>
              </a:rPr>
              <a:t>POP3</a:t>
            </a:r>
            <a:endParaRPr kumimoji="1" lang="en-US" altLang="zh-CN" sz="1800">
              <a:solidFill>
                <a:srgbClr val="333399"/>
              </a:solidFill>
              <a:latin typeface="微软雅黑 Light" panose="020B0502040204020203" pitchFamily="34" charset="-122"/>
              <a:ea typeface="微软雅黑 Light" panose="020B0502040204020203" pitchFamily="34" charset="-122"/>
            </a:endParaRPr>
          </a:p>
        </p:txBody>
      </p:sp>
      <p:graphicFrame>
        <p:nvGraphicFramePr>
          <p:cNvPr id="366956" name="Object 364"/>
          <p:cNvGraphicFramePr>
            <a:graphicFrameLocks noChangeAspect="1"/>
          </p:cNvGraphicFramePr>
          <p:nvPr/>
        </p:nvGraphicFramePr>
        <p:xfrm>
          <a:off x="4800600" y="4292601"/>
          <a:ext cx="2800350" cy="1655763"/>
        </p:xfrm>
        <a:graphic>
          <a:graphicData uri="http://schemas.openxmlformats.org/presentationml/2006/ole">
            <mc:AlternateContent xmlns:mc="http://schemas.openxmlformats.org/markup-compatibility/2006">
              <mc:Choice xmlns:v="urn:schemas-microsoft-com:vml" Requires="v">
                <p:oleObj spid="_x0000_s2" name="VISIO" r:id="rId1" imgW="1687195" imgH="964565" progId="Visio.Drawing.6">
                  <p:embed/>
                </p:oleObj>
              </mc:Choice>
              <mc:Fallback>
                <p:oleObj name="VISIO" r:id="rId1" imgW="1687195" imgH="964565" progId="Visio.Drawing.6">
                  <p:embed/>
                  <p:pic>
                    <p:nvPicPr>
                      <p:cNvPr id="0" name="Object 3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4292601"/>
                        <a:ext cx="2800350" cy="16557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66957" name="Text Box 365"/>
          <p:cNvSpPr txBox="1">
            <a:spLocks noChangeArrowheads="1"/>
          </p:cNvSpPr>
          <p:nvPr/>
        </p:nvSpPr>
        <p:spPr bwMode="auto">
          <a:xfrm>
            <a:off x="5808663" y="4868863"/>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solidFill>
                  <a:srgbClr val="333399"/>
                </a:solidFill>
                <a:latin typeface="微软雅黑 Light" panose="020B0502040204020203" pitchFamily="34" charset="-122"/>
                <a:ea typeface="微软雅黑 Light" panose="020B0502040204020203" pitchFamily="34" charset="-122"/>
              </a:rPr>
              <a:t>因特网</a:t>
            </a:r>
            <a:endParaRPr kumimoji="1" lang="zh-CN" altLang="en-US" sz="1800">
              <a:solidFill>
                <a:srgbClr val="333399"/>
              </a:solidFill>
              <a:latin typeface="微软雅黑 Light" panose="020B0502040204020203" pitchFamily="34" charset="-122"/>
              <a:ea typeface="微软雅黑 Light" panose="020B0502040204020203" pitchFamily="34" charset="-122"/>
            </a:endParaRPr>
          </a:p>
        </p:txBody>
      </p:sp>
      <p:sp>
        <p:nvSpPr>
          <p:cNvPr id="366958" name="Rectangle 366"/>
          <p:cNvSpPr>
            <a:spLocks noChangeArrowheads="1"/>
          </p:cNvSpPr>
          <p:nvPr/>
        </p:nvSpPr>
        <p:spPr bwMode="auto">
          <a:xfrm>
            <a:off x="9696450" y="1628775"/>
            <a:ext cx="863600" cy="1728788"/>
          </a:xfrm>
          <a:prstGeom prst="rect">
            <a:avLst/>
          </a:prstGeom>
          <a:solidFill>
            <a:srgbClr val="CCECFF"/>
          </a:solidFill>
          <a:ln w="9525" algn="ctr">
            <a:solidFill>
              <a:schemeClr val="folHlink"/>
            </a:solidFill>
            <a:miter lim="800000"/>
          </a:ln>
          <a:effectLst>
            <a:outerShdw dist="35921" dir="2700000" algn="ctr" rotWithShape="0">
              <a:schemeClr val="bg2"/>
            </a:outerShdw>
          </a:effectLst>
        </p:spPr>
        <p:txBody>
          <a:bodyPr wrap="none" anchor="ctr"/>
          <a:lstStyle/>
          <a:p>
            <a:pPr algn="ctr"/>
            <a:endParaRPr lang="zh-CN" altLang="zh-CN">
              <a:solidFill>
                <a:schemeClr val="accent2"/>
              </a:solidFill>
              <a:latin typeface="微软雅黑 Light" panose="020B0502040204020203" pitchFamily="34" charset="-122"/>
              <a:ea typeface="微软雅黑 Light" panose="020B0502040204020203" pitchFamily="34" charset="-122"/>
            </a:endParaRPr>
          </a:p>
        </p:txBody>
      </p:sp>
      <p:sp>
        <p:nvSpPr>
          <p:cNvPr id="366959" name="Rectangle 367"/>
          <p:cNvSpPr>
            <a:spLocks noChangeArrowheads="1"/>
          </p:cNvSpPr>
          <p:nvPr/>
        </p:nvSpPr>
        <p:spPr bwMode="auto">
          <a:xfrm>
            <a:off x="3432175" y="1617663"/>
            <a:ext cx="863600" cy="1739900"/>
          </a:xfrm>
          <a:prstGeom prst="rect">
            <a:avLst/>
          </a:prstGeom>
          <a:solidFill>
            <a:srgbClr val="66FF66"/>
          </a:solidFill>
          <a:ln w="19050" algn="ctr">
            <a:solidFill>
              <a:schemeClr val="folHlink"/>
            </a:solidFill>
            <a:miter lim="800000"/>
          </a:ln>
          <a:effectLst>
            <a:outerShdw dist="35921" dir="2700000" algn="ctr" rotWithShape="0">
              <a:schemeClr val="bg2"/>
            </a:outerShdw>
          </a:effectLst>
        </p:spPr>
        <p:txBody>
          <a:bodyPr wrap="none" anchor="ctr"/>
          <a:lstStyle/>
          <a:p>
            <a:pPr algn="ctr"/>
            <a:endParaRPr lang="zh-CN" altLang="zh-CN">
              <a:solidFill>
                <a:schemeClr val="accent2"/>
              </a:solidFill>
              <a:latin typeface="微软雅黑 Light" panose="020B0502040204020203" pitchFamily="34" charset="-122"/>
              <a:ea typeface="微软雅黑 Light" panose="020B0502040204020203" pitchFamily="34" charset="-122"/>
            </a:endParaRPr>
          </a:p>
        </p:txBody>
      </p:sp>
      <p:sp>
        <p:nvSpPr>
          <p:cNvPr id="366960" name="Rectangle 368"/>
          <p:cNvSpPr>
            <a:spLocks noChangeArrowheads="1"/>
          </p:cNvSpPr>
          <p:nvPr/>
        </p:nvSpPr>
        <p:spPr bwMode="auto">
          <a:xfrm>
            <a:off x="1703388" y="1617663"/>
            <a:ext cx="863600" cy="1739900"/>
          </a:xfrm>
          <a:prstGeom prst="rect">
            <a:avLst/>
          </a:prstGeom>
          <a:solidFill>
            <a:srgbClr val="CCECFF"/>
          </a:solidFill>
          <a:ln w="9525">
            <a:solidFill>
              <a:schemeClr val="folHlink"/>
            </a:solidFill>
            <a:miter lim="800000"/>
          </a:ln>
          <a:effectLst>
            <a:outerShdw dist="35921" dir="2700000" algn="ctr" rotWithShape="0">
              <a:schemeClr val="bg2"/>
            </a:outerShdw>
          </a:effectLst>
        </p:spPr>
        <p:txBody>
          <a:bodyPr wrap="none" anchor="ctr"/>
          <a:lstStyle/>
          <a:p>
            <a:pPr algn="ctr"/>
            <a:endParaRPr lang="zh-CN" altLang="zh-CN">
              <a:solidFill>
                <a:schemeClr val="accent2"/>
              </a:solidFill>
              <a:latin typeface="微软雅黑 Light" panose="020B0502040204020203" pitchFamily="34" charset="-122"/>
              <a:ea typeface="微软雅黑 Light" panose="020B0502040204020203" pitchFamily="34" charset="-122"/>
            </a:endParaRPr>
          </a:p>
        </p:txBody>
      </p:sp>
      <p:sp>
        <p:nvSpPr>
          <p:cNvPr id="366961" name="Line 369"/>
          <p:cNvSpPr>
            <a:spLocks noChangeShapeType="1"/>
          </p:cNvSpPr>
          <p:nvPr/>
        </p:nvSpPr>
        <p:spPr bwMode="auto">
          <a:xfrm>
            <a:off x="2308225" y="2060575"/>
            <a:ext cx="1195388"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62" name="Text Box 370"/>
          <p:cNvSpPr txBox="1">
            <a:spLocks noChangeArrowheads="1"/>
          </p:cNvSpPr>
          <p:nvPr/>
        </p:nvSpPr>
        <p:spPr bwMode="auto">
          <a:xfrm>
            <a:off x="2552701" y="1736725"/>
            <a:ext cx="71365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solidFill>
                  <a:schemeClr val="accent2"/>
                </a:solidFill>
                <a:latin typeface="微软雅黑 Light" panose="020B0502040204020203" pitchFamily="34" charset="-122"/>
                <a:ea typeface="微软雅黑 Light" panose="020B0502040204020203" pitchFamily="34" charset="-122"/>
              </a:rPr>
              <a:t>SMTP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p:txBody>
      </p:sp>
      <p:sp>
        <p:nvSpPr>
          <p:cNvPr id="366963" name="Text Box 371"/>
          <p:cNvSpPr txBox="1">
            <a:spLocks noChangeArrowheads="1"/>
          </p:cNvSpPr>
          <p:nvPr/>
        </p:nvSpPr>
        <p:spPr bwMode="auto">
          <a:xfrm>
            <a:off x="8967789" y="1722438"/>
            <a:ext cx="7254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solidFill>
                  <a:schemeClr val="accent2"/>
                </a:solidFill>
                <a:latin typeface="微软雅黑 Light" panose="020B0502040204020203" pitchFamily="34" charset="-122"/>
                <a:ea typeface="微软雅黑 Light" panose="020B0502040204020203" pitchFamily="34" charset="-122"/>
              </a:rPr>
              <a:t>POP3</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p:txBody>
      </p:sp>
      <p:sp>
        <p:nvSpPr>
          <p:cNvPr id="366964" name="Text Box 372"/>
          <p:cNvSpPr txBox="1">
            <a:spLocks noChangeArrowheads="1"/>
          </p:cNvSpPr>
          <p:nvPr/>
        </p:nvSpPr>
        <p:spPr bwMode="auto">
          <a:xfrm>
            <a:off x="2640013" y="1268414"/>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发送</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邮件</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65" name="Text Box 373"/>
          <p:cNvSpPr txBox="1">
            <a:spLocks noChangeArrowheads="1"/>
          </p:cNvSpPr>
          <p:nvPr/>
        </p:nvSpPr>
        <p:spPr bwMode="auto">
          <a:xfrm>
            <a:off x="5303838" y="2490788"/>
            <a:ext cx="1617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a:solidFill>
                  <a:schemeClr val="accent2"/>
                </a:solidFill>
                <a:latin typeface="微软雅黑 Light" panose="020B0502040204020203" pitchFamily="34" charset="-122"/>
                <a:ea typeface="微软雅黑 Light" panose="020B0502040204020203" pitchFamily="34" charset="-122"/>
              </a:rPr>
              <a:t>发送邮件 </a:t>
            </a:r>
            <a:r>
              <a:rPr kumimoji="1" lang="en-US" altLang="zh-CN" sz="1600">
                <a:solidFill>
                  <a:schemeClr val="accent2"/>
                </a:solidFill>
                <a:latin typeface="微软雅黑 Light" panose="020B0502040204020203" pitchFamily="34" charset="-122"/>
                <a:ea typeface="微软雅黑 Light" panose="020B0502040204020203" pitchFamily="34" charset="-122"/>
              </a:rPr>
              <a:t>SMTP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p:txBody>
      </p:sp>
      <p:sp>
        <p:nvSpPr>
          <p:cNvPr id="366966" name="Text Box 374"/>
          <p:cNvSpPr txBox="1">
            <a:spLocks noChangeArrowheads="1"/>
          </p:cNvSpPr>
          <p:nvPr/>
        </p:nvSpPr>
        <p:spPr bwMode="auto">
          <a:xfrm>
            <a:off x="8975725" y="1196976"/>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a:solidFill>
                  <a:schemeClr val="accent2"/>
                </a:solidFill>
                <a:latin typeface="微软雅黑 Light" panose="020B0502040204020203" pitchFamily="34" charset="-122"/>
                <a:ea typeface="微软雅黑 Light" panose="020B0502040204020203" pitchFamily="34" charset="-122"/>
              </a:rPr>
              <a:t>读取</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a:p>
            <a:r>
              <a:rPr kumimoji="1" lang="zh-CN" altLang="en-US" sz="1600">
                <a:solidFill>
                  <a:schemeClr val="accent2"/>
                </a:solidFill>
                <a:latin typeface="微软雅黑 Light" panose="020B0502040204020203" pitchFamily="34" charset="-122"/>
                <a:ea typeface="微软雅黑 Light" panose="020B0502040204020203" pitchFamily="34" charset="-122"/>
              </a:rPr>
              <a:t>邮件</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67" name="Text Box 375"/>
          <p:cNvSpPr txBox="1">
            <a:spLocks noChangeArrowheads="1"/>
          </p:cNvSpPr>
          <p:nvPr/>
        </p:nvSpPr>
        <p:spPr bwMode="auto">
          <a:xfrm>
            <a:off x="2640013" y="2058989"/>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solidFill>
                  <a:schemeClr val="accent2"/>
                </a:solidFill>
                <a:latin typeface="微软雅黑 Light" panose="020B0502040204020203" pitchFamily="34" charset="-122"/>
                <a:ea typeface="微软雅黑 Light" panose="020B0502040204020203" pitchFamily="34" charset="-122"/>
              </a:rPr>
              <a:t>TCP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r>
              <a:rPr kumimoji="1" lang="zh-CN" altLang="en-US" sz="1600">
                <a:solidFill>
                  <a:schemeClr val="accent2"/>
                </a:solidFill>
                <a:latin typeface="微软雅黑 Light" panose="020B0502040204020203" pitchFamily="34" charset="-122"/>
                <a:ea typeface="微软雅黑 Light" panose="020B0502040204020203" pitchFamily="34" charset="-122"/>
              </a:rPr>
              <a:t>连接</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68" name="Text Box 376"/>
          <p:cNvSpPr txBox="1">
            <a:spLocks noChangeArrowheads="1"/>
          </p:cNvSpPr>
          <p:nvPr/>
        </p:nvSpPr>
        <p:spPr bwMode="auto">
          <a:xfrm>
            <a:off x="8961438" y="2128839"/>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solidFill>
                  <a:schemeClr val="accent2"/>
                </a:solidFill>
                <a:latin typeface="微软雅黑 Light" panose="020B0502040204020203" pitchFamily="34" charset="-122"/>
                <a:ea typeface="微软雅黑 Light" panose="020B0502040204020203" pitchFamily="34" charset="-122"/>
              </a:rPr>
              <a:t>TCP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r>
              <a:rPr kumimoji="1" lang="zh-CN" altLang="en-US" sz="1600">
                <a:solidFill>
                  <a:schemeClr val="accent2"/>
                </a:solidFill>
                <a:latin typeface="微软雅黑 Light" panose="020B0502040204020203" pitchFamily="34" charset="-122"/>
                <a:ea typeface="微软雅黑 Light" panose="020B0502040204020203" pitchFamily="34" charset="-122"/>
              </a:rPr>
              <a:t>连接</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69" name="Text Box 377"/>
          <p:cNvSpPr txBox="1">
            <a:spLocks noChangeArrowheads="1"/>
          </p:cNvSpPr>
          <p:nvPr/>
        </p:nvSpPr>
        <p:spPr bwMode="auto">
          <a:xfrm>
            <a:off x="3225800" y="1008064"/>
            <a:ext cx="1200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发送方</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邮件服务器</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0" name="Oval 378"/>
          <p:cNvSpPr>
            <a:spLocks noChangeArrowheads="1"/>
          </p:cNvSpPr>
          <p:nvPr/>
        </p:nvSpPr>
        <p:spPr bwMode="auto">
          <a:xfrm>
            <a:off x="1774825" y="1700214"/>
            <a:ext cx="719138" cy="719137"/>
          </a:xfrm>
          <a:prstGeom prst="ellipse">
            <a:avLst/>
          </a:prstGeom>
          <a:solidFill>
            <a:schemeClr val="accent1">
              <a:lumMod val="75000"/>
            </a:schemeClr>
          </a:solidFill>
          <a:ln w="9525">
            <a:solidFill>
              <a:schemeClr val="folHlink"/>
            </a:solidFill>
            <a:round/>
          </a:ln>
          <a:effectLst/>
        </p:spPr>
        <p:txBody>
          <a:bodyPr wrap="none" anchor="ctr"/>
          <a:lstStyle/>
          <a:p>
            <a:pPr algn="ctr"/>
            <a:r>
              <a:rPr kumimoji="1" lang="en-US" altLang="zh-CN" sz="1600">
                <a:solidFill>
                  <a:schemeClr val="accent2"/>
                </a:solidFill>
                <a:latin typeface="微软雅黑 Light" panose="020B0502040204020203" pitchFamily="34" charset="-122"/>
                <a:ea typeface="微软雅黑 Light" panose="020B0502040204020203" pitchFamily="34" charset="-122"/>
              </a:rPr>
              <a:t>SMTP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客户</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1" name="Oval 379"/>
          <p:cNvSpPr>
            <a:spLocks noChangeArrowheads="1"/>
          </p:cNvSpPr>
          <p:nvPr/>
        </p:nvSpPr>
        <p:spPr bwMode="auto">
          <a:xfrm>
            <a:off x="9767889" y="1700214"/>
            <a:ext cx="719137" cy="719137"/>
          </a:xfrm>
          <a:prstGeom prst="ellipse">
            <a:avLst/>
          </a:prstGeom>
          <a:solidFill>
            <a:srgbClr val="CC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accent2"/>
                </a:solidFill>
                <a:latin typeface="微软雅黑 Light" panose="020B0502040204020203" pitchFamily="34" charset="-122"/>
                <a:ea typeface="微软雅黑 Light" panose="020B0502040204020203" pitchFamily="34" charset="-122"/>
              </a:rPr>
              <a:t>POP3</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客户</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2" name="Text Box 380"/>
          <p:cNvSpPr txBox="1">
            <a:spLocks noChangeArrowheads="1"/>
          </p:cNvSpPr>
          <p:nvPr/>
        </p:nvSpPr>
        <p:spPr bwMode="auto">
          <a:xfrm>
            <a:off x="1601788" y="1008064"/>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发件人</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用户代理</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3" name="Text Box 381"/>
          <p:cNvSpPr txBox="1">
            <a:spLocks noChangeArrowheads="1"/>
          </p:cNvSpPr>
          <p:nvPr/>
        </p:nvSpPr>
        <p:spPr bwMode="auto">
          <a:xfrm>
            <a:off x="7775575" y="1008064"/>
            <a:ext cx="1200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接收方</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邮件服务器</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4" name="Rectangle 382"/>
          <p:cNvSpPr>
            <a:spLocks noChangeArrowheads="1"/>
          </p:cNvSpPr>
          <p:nvPr/>
        </p:nvSpPr>
        <p:spPr bwMode="auto">
          <a:xfrm>
            <a:off x="7969250" y="1628775"/>
            <a:ext cx="863600" cy="1728788"/>
          </a:xfrm>
          <a:prstGeom prst="rect">
            <a:avLst/>
          </a:prstGeom>
          <a:solidFill>
            <a:srgbClr val="66FF66"/>
          </a:solidFill>
          <a:ln w="19050" algn="ctr">
            <a:solidFill>
              <a:schemeClr val="folHlink"/>
            </a:solidFill>
            <a:miter lim="800000"/>
          </a:ln>
          <a:effectLst>
            <a:outerShdw dist="35921" dir="2700000" algn="ctr" rotWithShape="0">
              <a:schemeClr val="bg2"/>
            </a:outerShdw>
          </a:effectLst>
        </p:spPr>
        <p:txBody>
          <a:bodyPr wrap="none" anchor="ctr"/>
          <a:lstStyle/>
          <a:p>
            <a:pPr algn="ctr"/>
            <a:endParaRPr lang="zh-CN" altLang="zh-CN">
              <a:solidFill>
                <a:schemeClr val="accent2"/>
              </a:solidFill>
              <a:latin typeface="微软雅黑 Light" panose="020B0502040204020203" pitchFamily="34" charset="-122"/>
              <a:ea typeface="微软雅黑 Light" panose="020B0502040204020203" pitchFamily="34" charset="-122"/>
            </a:endParaRPr>
          </a:p>
        </p:txBody>
      </p:sp>
      <p:sp>
        <p:nvSpPr>
          <p:cNvPr id="366975" name="Oval 383"/>
          <p:cNvSpPr>
            <a:spLocks noChangeArrowheads="1"/>
          </p:cNvSpPr>
          <p:nvPr/>
        </p:nvSpPr>
        <p:spPr bwMode="auto">
          <a:xfrm>
            <a:off x="8040689" y="2492375"/>
            <a:ext cx="719137" cy="719138"/>
          </a:xfrm>
          <a:prstGeom prst="ellipse">
            <a:avLst/>
          </a:prstGeom>
          <a:solidFill>
            <a:srgbClr val="FFCCFF"/>
          </a:solidFill>
          <a:ln w="9525" algn="ctr">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accent2"/>
                </a:solidFill>
                <a:latin typeface="微软雅黑 Light" panose="020B0502040204020203" pitchFamily="34" charset="-122"/>
                <a:ea typeface="微软雅黑 Light" panose="020B0502040204020203" pitchFamily="34" charset="-122"/>
              </a:rPr>
              <a:t>SMTP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服务器</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6" name="Oval 384"/>
          <p:cNvSpPr>
            <a:spLocks noChangeArrowheads="1"/>
          </p:cNvSpPr>
          <p:nvPr/>
        </p:nvSpPr>
        <p:spPr bwMode="auto">
          <a:xfrm>
            <a:off x="8040689" y="1700214"/>
            <a:ext cx="719137" cy="719137"/>
          </a:xfrm>
          <a:prstGeom prst="ellipse">
            <a:avLst/>
          </a:prstGeom>
          <a:solidFill>
            <a:srgbClr val="FF99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accent2"/>
                </a:solidFill>
                <a:latin typeface="微软雅黑 Light" panose="020B0502040204020203" pitchFamily="34" charset="-122"/>
                <a:ea typeface="微软雅黑 Light" panose="020B0502040204020203" pitchFamily="34" charset="-122"/>
              </a:rPr>
              <a:t>POP3</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服务器</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7" name="Line 385"/>
          <p:cNvSpPr>
            <a:spLocks noChangeShapeType="1"/>
          </p:cNvSpPr>
          <p:nvPr/>
        </p:nvSpPr>
        <p:spPr bwMode="auto">
          <a:xfrm flipV="1">
            <a:off x="4151314" y="2852738"/>
            <a:ext cx="3887787"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78" name="Oval 386"/>
          <p:cNvSpPr>
            <a:spLocks noChangeArrowheads="1"/>
          </p:cNvSpPr>
          <p:nvPr/>
        </p:nvSpPr>
        <p:spPr bwMode="auto">
          <a:xfrm>
            <a:off x="3505200" y="1700214"/>
            <a:ext cx="719138" cy="719137"/>
          </a:xfrm>
          <a:prstGeom prst="ellipse">
            <a:avLst/>
          </a:prstGeom>
          <a:solidFill>
            <a:srgbClr val="FFCCFF"/>
          </a:soli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accent2"/>
                </a:solidFill>
                <a:latin typeface="微软雅黑 Light" panose="020B0502040204020203" pitchFamily="34" charset="-122"/>
                <a:ea typeface="微软雅黑 Light" panose="020B0502040204020203" pitchFamily="34" charset="-122"/>
              </a:rPr>
              <a:t>SMTP</a:t>
            </a:r>
            <a:endParaRPr kumimoji="1" lang="en-US" altLang="zh-CN"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服务器</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79" name="Oval 387"/>
          <p:cNvSpPr>
            <a:spLocks noChangeArrowheads="1"/>
          </p:cNvSpPr>
          <p:nvPr/>
        </p:nvSpPr>
        <p:spPr bwMode="auto">
          <a:xfrm>
            <a:off x="3505200" y="2492375"/>
            <a:ext cx="719138" cy="719138"/>
          </a:xfrm>
          <a:prstGeom prst="ellipse">
            <a:avLst/>
          </a:prstGeom>
          <a:solidFill>
            <a:schemeClr val="accent1">
              <a:lumMod val="75000"/>
            </a:schemeClr>
          </a:solidFill>
          <a:ln w="9525" algn="ctr">
            <a:solidFill>
              <a:schemeClr val="folHlink"/>
            </a:solidFill>
            <a:round/>
          </a:ln>
          <a:effectLst/>
        </p:spPr>
        <p:txBody>
          <a:bodyPr wrap="none" anchor="ctr"/>
          <a:lstStyle/>
          <a:p>
            <a:pPr algn="ctr"/>
            <a:r>
              <a:rPr kumimoji="1" lang="en-US" altLang="zh-CN" sz="1600" dirty="0">
                <a:solidFill>
                  <a:schemeClr val="accent2"/>
                </a:solidFill>
                <a:latin typeface="微软雅黑 Light" panose="020B0502040204020203" pitchFamily="34" charset="-122"/>
                <a:ea typeface="微软雅黑 Light" panose="020B0502040204020203" pitchFamily="34" charset="-122"/>
              </a:rPr>
              <a:t>SMTP</a:t>
            </a:r>
            <a:endParaRPr kumimoji="1" lang="en-US" altLang="zh-CN" sz="1600" dirty="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dirty="0">
                <a:solidFill>
                  <a:schemeClr val="accent2"/>
                </a:solidFill>
                <a:latin typeface="微软雅黑 Light" panose="020B0502040204020203" pitchFamily="34" charset="-122"/>
                <a:ea typeface="微软雅黑 Light" panose="020B0502040204020203" pitchFamily="34" charset="-122"/>
              </a:rPr>
              <a:t>客户</a:t>
            </a:r>
            <a:endParaRPr kumimoji="1" lang="zh-CN" altLang="en-US" sz="1600" dirty="0">
              <a:solidFill>
                <a:schemeClr val="accent2"/>
              </a:solidFill>
              <a:latin typeface="微软雅黑 Light" panose="020B0502040204020203" pitchFamily="34" charset="-122"/>
              <a:ea typeface="微软雅黑 Light" panose="020B0502040204020203" pitchFamily="34" charset="-122"/>
            </a:endParaRPr>
          </a:p>
        </p:txBody>
      </p:sp>
      <p:sp>
        <p:nvSpPr>
          <p:cNvPr id="366980" name="Text Box 388"/>
          <p:cNvSpPr txBox="1">
            <a:spLocks noChangeArrowheads="1"/>
          </p:cNvSpPr>
          <p:nvPr/>
        </p:nvSpPr>
        <p:spPr bwMode="auto">
          <a:xfrm>
            <a:off x="9671050" y="1008064"/>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收件人</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a:p>
            <a:pPr algn="ctr"/>
            <a:r>
              <a:rPr kumimoji="1" lang="zh-CN" altLang="en-US" sz="1600">
                <a:solidFill>
                  <a:schemeClr val="accent2"/>
                </a:solidFill>
                <a:latin typeface="微软雅黑 Light" panose="020B0502040204020203" pitchFamily="34" charset="-122"/>
                <a:ea typeface="微软雅黑 Light" panose="020B0502040204020203" pitchFamily="34" charset="-122"/>
              </a:rPr>
              <a:t>用户代理</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sp>
        <p:nvSpPr>
          <p:cNvPr id="366981" name="Line 389"/>
          <p:cNvSpPr>
            <a:spLocks noChangeShapeType="1"/>
          </p:cNvSpPr>
          <p:nvPr/>
        </p:nvSpPr>
        <p:spPr bwMode="auto">
          <a:xfrm flipV="1">
            <a:off x="8759826" y="2060575"/>
            <a:ext cx="1008063"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66982" name="Text Box 390"/>
          <p:cNvSpPr txBox="1">
            <a:spLocks noChangeArrowheads="1"/>
          </p:cNvSpPr>
          <p:nvPr/>
        </p:nvSpPr>
        <p:spPr bwMode="auto">
          <a:xfrm>
            <a:off x="5591176" y="2874963"/>
            <a:ext cx="1052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solidFill>
                  <a:schemeClr val="accent2"/>
                </a:solidFill>
                <a:latin typeface="微软雅黑 Light" panose="020B0502040204020203" pitchFamily="34" charset="-122"/>
                <a:ea typeface="微软雅黑 Light" panose="020B0502040204020203" pitchFamily="34" charset="-122"/>
              </a:rPr>
              <a:t>TCP </a:t>
            </a:r>
            <a:r>
              <a:rPr kumimoji="1" lang="zh-CN" altLang="en-US" sz="1600">
                <a:solidFill>
                  <a:schemeClr val="accent2"/>
                </a:solidFill>
                <a:latin typeface="微软雅黑 Light" panose="020B0502040204020203" pitchFamily="34" charset="-122"/>
                <a:ea typeface="微软雅黑 Light" panose="020B0502040204020203" pitchFamily="34" charset="-122"/>
              </a:rPr>
              <a:t>连接</a:t>
            </a:r>
            <a:endParaRPr kumimoji="1" lang="zh-CN" altLang="en-US" sz="1600">
              <a:solidFill>
                <a:schemeClr val="accent2"/>
              </a:solidFill>
              <a:latin typeface="微软雅黑 Light" panose="020B0502040204020203" pitchFamily="34" charset="-122"/>
              <a:ea typeface="微软雅黑 Light" panose="020B0502040204020203" pitchFamily="34" charset="-122"/>
            </a:endParaRPr>
          </a:p>
        </p:txBody>
      </p:sp>
      <p:grpSp>
        <p:nvGrpSpPr>
          <p:cNvPr id="367029" name="Group 437"/>
          <p:cNvGrpSpPr/>
          <p:nvPr/>
        </p:nvGrpSpPr>
        <p:grpSpPr bwMode="auto">
          <a:xfrm flipH="1">
            <a:off x="9840913" y="4868863"/>
            <a:ext cx="647700" cy="628650"/>
            <a:chOff x="1882" y="2163"/>
            <a:chExt cx="408" cy="396"/>
          </a:xfrm>
        </p:grpSpPr>
        <p:grpSp>
          <p:nvGrpSpPr>
            <p:cNvPr id="366987" name="Group 395"/>
            <p:cNvGrpSpPr/>
            <p:nvPr/>
          </p:nvGrpSpPr>
          <p:grpSpPr bwMode="auto">
            <a:xfrm>
              <a:off x="2116" y="2468"/>
              <a:ext cx="139" cy="71"/>
              <a:chOff x="375" y="2315"/>
              <a:chExt cx="139" cy="71"/>
            </a:xfrm>
          </p:grpSpPr>
          <p:sp>
            <p:nvSpPr>
              <p:cNvPr id="366988" name="Freeform 396"/>
              <p:cNvSpPr/>
              <p:nvPr/>
            </p:nvSpPr>
            <p:spPr bwMode="auto">
              <a:xfrm>
                <a:off x="375" y="2315"/>
                <a:ext cx="139" cy="71"/>
              </a:xfrm>
              <a:custGeom>
                <a:avLst/>
                <a:gdLst>
                  <a:gd name="T0" fmla="*/ 279 w 691"/>
                  <a:gd name="T1" fmla="*/ 11 h 355"/>
                  <a:gd name="T2" fmla="*/ 274 w 691"/>
                  <a:gd name="T3" fmla="*/ 104 h 355"/>
                  <a:gd name="T4" fmla="*/ 455 w 691"/>
                  <a:gd name="T5" fmla="*/ 189 h 355"/>
                  <a:gd name="T6" fmla="*/ 607 w 691"/>
                  <a:gd name="T7" fmla="*/ 226 h 355"/>
                  <a:gd name="T8" fmla="*/ 691 w 691"/>
                  <a:gd name="T9" fmla="*/ 263 h 355"/>
                  <a:gd name="T10" fmla="*/ 687 w 691"/>
                  <a:gd name="T11" fmla="*/ 313 h 355"/>
                  <a:gd name="T12" fmla="*/ 577 w 691"/>
                  <a:gd name="T13" fmla="*/ 343 h 355"/>
                  <a:gd name="T14" fmla="*/ 413 w 691"/>
                  <a:gd name="T15" fmla="*/ 355 h 355"/>
                  <a:gd name="T16" fmla="*/ 274 w 691"/>
                  <a:gd name="T17" fmla="*/ 331 h 355"/>
                  <a:gd name="T18" fmla="*/ 188 w 691"/>
                  <a:gd name="T19" fmla="*/ 307 h 355"/>
                  <a:gd name="T20" fmla="*/ 183 w 691"/>
                  <a:gd name="T21" fmla="*/ 334 h 355"/>
                  <a:gd name="T22" fmla="*/ 74 w 691"/>
                  <a:gd name="T23" fmla="*/ 331 h 355"/>
                  <a:gd name="T24" fmla="*/ 7 w 691"/>
                  <a:gd name="T25" fmla="*/ 318 h 355"/>
                  <a:gd name="T26" fmla="*/ 7 w 691"/>
                  <a:gd name="T27" fmla="*/ 270 h 355"/>
                  <a:gd name="T28" fmla="*/ 0 w 691"/>
                  <a:gd name="T29" fmla="*/ 242 h 355"/>
                  <a:gd name="T30" fmla="*/ 0 w 691"/>
                  <a:gd name="T31" fmla="*/ 173 h 355"/>
                  <a:gd name="T32" fmla="*/ 18 w 691"/>
                  <a:gd name="T33" fmla="*/ 135 h 355"/>
                  <a:gd name="T34" fmla="*/ 53 w 691"/>
                  <a:gd name="T35" fmla="*/ 91 h 355"/>
                  <a:gd name="T36" fmla="*/ 60 w 691"/>
                  <a:gd name="T37" fmla="*/ 0 h 355"/>
                  <a:gd name="T38" fmla="*/ 279 w 691"/>
                  <a:gd name="T39" fmla="*/ 1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89" name="Freeform 397"/>
              <p:cNvSpPr/>
              <p:nvPr/>
            </p:nvSpPr>
            <p:spPr bwMode="auto">
              <a:xfrm>
                <a:off x="421" y="2341"/>
                <a:ext cx="42" cy="22"/>
              </a:xfrm>
              <a:custGeom>
                <a:avLst/>
                <a:gdLst>
                  <a:gd name="T0" fmla="*/ 53 w 208"/>
                  <a:gd name="T1" fmla="*/ 0 h 110"/>
                  <a:gd name="T2" fmla="*/ 0 w 208"/>
                  <a:gd name="T3" fmla="*/ 58 h 110"/>
                  <a:gd name="T4" fmla="*/ 186 w 208"/>
                  <a:gd name="T5" fmla="*/ 110 h 110"/>
                  <a:gd name="T6" fmla="*/ 208 w 208"/>
                  <a:gd name="T7" fmla="*/ 70 h 110"/>
                  <a:gd name="T8" fmla="*/ 53 w 208"/>
                  <a:gd name="T9" fmla="*/ 0 h 110"/>
                </a:gdLst>
                <a:ahLst/>
                <a:cxnLst>
                  <a:cxn ang="0">
                    <a:pos x="T0" y="T1"/>
                  </a:cxn>
                  <a:cxn ang="0">
                    <a:pos x="T2" y="T3"/>
                  </a:cxn>
                  <a:cxn ang="0">
                    <a:pos x="T4" y="T5"/>
                  </a:cxn>
                  <a:cxn ang="0">
                    <a:pos x="T6" y="T7"/>
                  </a:cxn>
                  <a:cxn ang="0">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90" name="Freeform 398"/>
              <p:cNvSpPr/>
              <p:nvPr/>
            </p:nvSpPr>
            <p:spPr bwMode="auto">
              <a:xfrm>
                <a:off x="463" y="2356"/>
                <a:ext cx="46" cy="13"/>
              </a:xfrm>
              <a:custGeom>
                <a:avLst/>
                <a:gdLst>
                  <a:gd name="T0" fmla="*/ 27 w 233"/>
                  <a:gd name="T1" fmla="*/ 0 h 67"/>
                  <a:gd name="T2" fmla="*/ 0 w 233"/>
                  <a:gd name="T3" fmla="*/ 32 h 67"/>
                  <a:gd name="T4" fmla="*/ 115 w 233"/>
                  <a:gd name="T5" fmla="*/ 62 h 67"/>
                  <a:gd name="T6" fmla="*/ 168 w 233"/>
                  <a:gd name="T7" fmla="*/ 67 h 67"/>
                  <a:gd name="T8" fmla="*/ 233 w 233"/>
                  <a:gd name="T9" fmla="*/ 64 h 67"/>
                  <a:gd name="T10" fmla="*/ 165 w 233"/>
                  <a:gd name="T11" fmla="*/ 30 h 67"/>
                  <a:gd name="T12" fmla="*/ 27 w 233"/>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91" name="Freeform 399"/>
              <p:cNvSpPr/>
              <p:nvPr/>
            </p:nvSpPr>
            <p:spPr bwMode="auto">
              <a:xfrm>
                <a:off x="376" y="2341"/>
                <a:ext cx="134" cy="41"/>
              </a:xfrm>
              <a:custGeom>
                <a:avLst/>
                <a:gdLst>
                  <a:gd name="T0" fmla="*/ 670 w 670"/>
                  <a:gd name="T1" fmla="*/ 178 h 209"/>
                  <a:gd name="T2" fmla="*/ 670 w 670"/>
                  <a:gd name="T3" fmla="*/ 146 h 209"/>
                  <a:gd name="T4" fmla="*/ 582 w 670"/>
                  <a:gd name="T5" fmla="*/ 155 h 209"/>
                  <a:gd name="T6" fmla="*/ 442 w 670"/>
                  <a:gd name="T7" fmla="*/ 134 h 209"/>
                  <a:gd name="T8" fmla="*/ 361 w 670"/>
                  <a:gd name="T9" fmla="*/ 116 h 209"/>
                  <a:gd name="T10" fmla="*/ 206 w 670"/>
                  <a:gd name="T11" fmla="*/ 66 h 209"/>
                  <a:gd name="T12" fmla="*/ 140 w 670"/>
                  <a:gd name="T13" fmla="*/ 58 h 209"/>
                  <a:gd name="T14" fmla="*/ 73 w 670"/>
                  <a:gd name="T15" fmla="*/ 34 h 209"/>
                  <a:gd name="T16" fmla="*/ 40 w 670"/>
                  <a:gd name="T17" fmla="*/ 0 h 209"/>
                  <a:gd name="T18" fmla="*/ 0 w 670"/>
                  <a:gd name="T19" fmla="*/ 43 h 209"/>
                  <a:gd name="T20" fmla="*/ 0 w 670"/>
                  <a:gd name="T21" fmla="*/ 132 h 209"/>
                  <a:gd name="T22" fmla="*/ 49 w 670"/>
                  <a:gd name="T23" fmla="*/ 146 h 209"/>
                  <a:gd name="T24" fmla="*/ 170 w 670"/>
                  <a:gd name="T25" fmla="*/ 162 h 209"/>
                  <a:gd name="T26" fmla="*/ 218 w 670"/>
                  <a:gd name="T27" fmla="*/ 167 h 209"/>
                  <a:gd name="T28" fmla="*/ 298 w 670"/>
                  <a:gd name="T29" fmla="*/ 196 h 209"/>
                  <a:gd name="T30" fmla="*/ 388 w 670"/>
                  <a:gd name="T31" fmla="*/ 209 h 209"/>
                  <a:gd name="T32" fmla="*/ 452 w 670"/>
                  <a:gd name="T33" fmla="*/ 209 h 209"/>
                  <a:gd name="T34" fmla="*/ 553 w 670"/>
                  <a:gd name="T35" fmla="*/ 209 h 209"/>
                  <a:gd name="T36" fmla="*/ 670 w 670"/>
                  <a:gd name="T37" fmla="*/ 17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92" name="Freeform 400"/>
              <p:cNvSpPr/>
              <p:nvPr/>
            </p:nvSpPr>
            <p:spPr bwMode="auto">
              <a:xfrm>
                <a:off x="386" y="2317"/>
                <a:ext cx="44" cy="34"/>
              </a:xfrm>
              <a:custGeom>
                <a:avLst/>
                <a:gdLst>
                  <a:gd name="T0" fmla="*/ 214 w 219"/>
                  <a:gd name="T1" fmla="*/ 11 h 171"/>
                  <a:gd name="T2" fmla="*/ 207 w 219"/>
                  <a:gd name="T3" fmla="*/ 96 h 171"/>
                  <a:gd name="T4" fmla="*/ 219 w 219"/>
                  <a:gd name="T5" fmla="*/ 114 h 171"/>
                  <a:gd name="T6" fmla="*/ 170 w 219"/>
                  <a:gd name="T7" fmla="*/ 171 h 171"/>
                  <a:gd name="T8" fmla="*/ 103 w 219"/>
                  <a:gd name="T9" fmla="*/ 171 h 171"/>
                  <a:gd name="T10" fmla="*/ 26 w 219"/>
                  <a:gd name="T11" fmla="*/ 146 h 171"/>
                  <a:gd name="T12" fmla="*/ 0 w 219"/>
                  <a:gd name="T13" fmla="*/ 112 h 171"/>
                  <a:gd name="T14" fmla="*/ 15 w 219"/>
                  <a:gd name="T15" fmla="*/ 89 h 171"/>
                  <a:gd name="T16" fmla="*/ 20 w 219"/>
                  <a:gd name="T17" fmla="*/ 0 h 171"/>
                  <a:gd name="T18" fmla="*/ 214 w 219"/>
                  <a:gd name="T19" fmla="*/ 1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993" name="Group 401"/>
            <p:cNvGrpSpPr/>
            <p:nvPr/>
          </p:nvGrpSpPr>
          <p:grpSpPr bwMode="auto">
            <a:xfrm>
              <a:off x="2119" y="2344"/>
              <a:ext cx="58" cy="142"/>
              <a:chOff x="378" y="2191"/>
              <a:chExt cx="58" cy="142"/>
            </a:xfrm>
          </p:grpSpPr>
          <p:sp>
            <p:nvSpPr>
              <p:cNvPr id="366994" name="Freeform 402"/>
              <p:cNvSpPr/>
              <p:nvPr/>
            </p:nvSpPr>
            <p:spPr bwMode="auto">
              <a:xfrm>
                <a:off x="378" y="2191"/>
                <a:ext cx="58" cy="142"/>
              </a:xfrm>
              <a:custGeom>
                <a:avLst/>
                <a:gdLst>
                  <a:gd name="T0" fmla="*/ 24 w 292"/>
                  <a:gd name="T1" fmla="*/ 15 h 710"/>
                  <a:gd name="T2" fmla="*/ 6 w 292"/>
                  <a:gd name="T3" fmla="*/ 256 h 710"/>
                  <a:gd name="T4" fmla="*/ 10 w 292"/>
                  <a:gd name="T5" fmla="*/ 454 h 710"/>
                  <a:gd name="T6" fmla="*/ 0 w 292"/>
                  <a:gd name="T7" fmla="*/ 678 h 710"/>
                  <a:gd name="T8" fmla="*/ 144 w 292"/>
                  <a:gd name="T9" fmla="*/ 710 h 710"/>
                  <a:gd name="T10" fmla="*/ 283 w 292"/>
                  <a:gd name="T11" fmla="*/ 710 h 710"/>
                  <a:gd name="T12" fmla="*/ 292 w 292"/>
                  <a:gd name="T13" fmla="*/ 0 h 710"/>
                  <a:gd name="T14" fmla="*/ 24 w 292"/>
                  <a:gd name="T15" fmla="*/ 15 h 7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95" name="Freeform 403"/>
              <p:cNvSpPr/>
              <p:nvPr/>
            </p:nvSpPr>
            <p:spPr bwMode="auto">
              <a:xfrm>
                <a:off x="383" y="2193"/>
                <a:ext cx="50" cy="136"/>
              </a:xfrm>
              <a:custGeom>
                <a:avLst/>
                <a:gdLst>
                  <a:gd name="T0" fmla="*/ 23 w 252"/>
                  <a:gd name="T1" fmla="*/ 21 h 681"/>
                  <a:gd name="T2" fmla="*/ 0 w 252"/>
                  <a:gd name="T3" fmla="*/ 223 h 681"/>
                  <a:gd name="T4" fmla="*/ 5 w 252"/>
                  <a:gd name="T5" fmla="*/ 385 h 681"/>
                  <a:gd name="T6" fmla="*/ 5 w 252"/>
                  <a:gd name="T7" fmla="*/ 633 h 681"/>
                  <a:gd name="T8" fmla="*/ 128 w 252"/>
                  <a:gd name="T9" fmla="*/ 681 h 681"/>
                  <a:gd name="T10" fmla="*/ 238 w 252"/>
                  <a:gd name="T11" fmla="*/ 681 h 681"/>
                  <a:gd name="T12" fmla="*/ 252 w 252"/>
                  <a:gd name="T13" fmla="*/ 0 h 681"/>
                  <a:gd name="T14" fmla="*/ 23 w 252"/>
                  <a:gd name="T15" fmla="*/ 21 h 6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grpSp>
          <p:nvGrpSpPr>
            <p:cNvPr id="366996" name="Group 404"/>
            <p:cNvGrpSpPr/>
            <p:nvPr/>
          </p:nvGrpSpPr>
          <p:grpSpPr bwMode="auto">
            <a:xfrm>
              <a:off x="2149" y="2488"/>
              <a:ext cx="141" cy="71"/>
              <a:chOff x="408" y="2335"/>
              <a:chExt cx="141" cy="71"/>
            </a:xfrm>
          </p:grpSpPr>
          <p:sp>
            <p:nvSpPr>
              <p:cNvPr id="366997" name="Freeform 405"/>
              <p:cNvSpPr/>
              <p:nvPr/>
            </p:nvSpPr>
            <p:spPr bwMode="auto">
              <a:xfrm>
                <a:off x="408" y="2335"/>
                <a:ext cx="141" cy="71"/>
              </a:xfrm>
              <a:custGeom>
                <a:avLst/>
                <a:gdLst>
                  <a:gd name="T0" fmla="*/ 285 w 703"/>
                  <a:gd name="T1" fmla="*/ 13 h 356"/>
                  <a:gd name="T2" fmla="*/ 280 w 703"/>
                  <a:gd name="T3" fmla="*/ 104 h 356"/>
                  <a:gd name="T4" fmla="*/ 463 w 703"/>
                  <a:gd name="T5" fmla="*/ 191 h 356"/>
                  <a:gd name="T6" fmla="*/ 617 w 703"/>
                  <a:gd name="T7" fmla="*/ 227 h 356"/>
                  <a:gd name="T8" fmla="*/ 703 w 703"/>
                  <a:gd name="T9" fmla="*/ 264 h 356"/>
                  <a:gd name="T10" fmla="*/ 698 w 703"/>
                  <a:gd name="T11" fmla="*/ 314 h 356"/>
                  <a:gd name="T12" fmla="*/ 588 w 703"/>
                  <a:gd name="T13" fmla="*/ 345 h 356"/>
                  <a:gd name="T14" fmla="*/ 420 w 703"/>
                  <a:gd name="T15" fmla="*/ 356 h 356"/>
                  <a:gd name="T16" fmla="*/ 280 w 703"/>
                  <a:gd name="T17" fmla="*/ 332 h 356"/>
                  <a:gd name="T18" fmla="*/ 194 w 703"/>
                  <a:gd name="T19" fmla="*/ 307 h 356"/>
                  <a:gd name="T20" fmla="*/ 188 w 703"/>
                  <a:gd name="T21" fmla="*/ 335 h 356"/>
                  <a:gd name="T22" fmla="*/ 76 w 703"/>
                  <a:gd name="T23" fmla="*/ 332 h 356"/>
                  <a:gd name="T24" fmla="*/ 8 w 703"/>
                  <a:gd name="T25" fmla="*/ 320 h 356"/>
                  <a:gd name="T26" fmla="*/ 8 w 703"/>
                  <a:gd name="T27" fmla="*/ 271 h 356"/>
                  <a:gd name="T28" fmla="*/ 0 w 703"/>
                  <a:gd name="T29" fmla="*/ 243 h 356"/>
                  <a:gd name="T30" fmla="*/ 0 w 703"/>
                  <a:gd name="T31" fmla="*/ 174 h 356"/>
                  <a:gd name="T32" fmla="*/ 22 w 703"/>
                  <a:gd name="T33" fmla="*/ 136 h 356"/>
                  <a:gd name="T34" fmla="*/ 56 w 703"/>
                  <a:gd name="T35" fmla="*/ 94 h 356"/>
                  <a:gd name="T36" fmla="*/ 64 w 703"/>
                  <a:gd name="T37" fmla="*/ 0 h 356"/>
                  <a:gd name="T38" fmla="*/ 285 w 703"/>
                  <a:gd name="T39" fmla="*/ 13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98" name="Freeform 406"/>
              <p:cNvSpPr/>
              <p:nvPr/>
            </p:nvSpPr>
            <p:spPr bwMode="auto">
              <a:xfrm>
                <a:off x="455" y="2361"/>
                <a:ext cx="42" cy="22"/>
              </a:xfrm>
              <a:custGeom>
                <a:avLst/>
                <a:gdLst>
                  <a:gd name="T0" fmla="*/ 53 w 210"/>
                  <a:gd name="T1" fmla="*/ 0 h 111"/>
                  <a:gd name="T2" fmla="*/ 0 w 210"/>
                  <a:gd name="T3" fmla="*/ 60 h 111"/>
                  <a:gd name="T4" fmla="*/ 187 w 210"/>
                  <a:gd name="T5" fmla="*/ 111 h 111"/>
                  <a:gd name="T6" fmla="*/ 210 w 210"/>
                  <a:gd name="T7" fmla="*/ 71 h 111"/>
                  <a:gd name="T8" fmla="*/ 53 w 210"/>
                  <a:gd name="T9" fmla="*/ 0 h 111"/>
                </a:gdLst>
                <a:ahLst/>
                <a:cxnLst>
                  <a:cxn ang="0">
                    <a:pos x="T0" y="T1"/>
                  </a:cxn>
                  <a:cxn ang="0">
                    <a:pos x="T2" y="T3"/>
                  </a:cxn>
                  <a:cxn ang="0">
                    <a:pos x="T4" y="T5"/>
                  </a:cxn>
                  <a:cxn ang="0">
                    <a:pos x="T6" y="T7"/>
                  </a:cxn>
                  <a:cxn ang="0">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6999" name="Freeform 407"/>
              <p:cNvSpPr/>
              <p:nvPr/>
            </p:nvSpPr>
            <p:spPr bwMode="auto">
              <a:xfrm>
                <a:off x="497" y="2377"/>
                <a:ext cx="47" cy="13"/>
              </a:xfrm>
              <a:custGeom>
                <a:avLst/>
                <a:gdLst>
                  <a:gd name="T0" fmla="*/ 27 w 237"/>
                  <a:gd name="T1" fmla="*/ 0 h 66"/>
                  <a:gd name="T2" fmla="*/ 0 w 237"/>
                  <a:gd name="T3" fmla="*/ 31 h 66"/>
                  <a:gd name="T4" fmla="*/ 116 w 237"/>
                  <a:gd name="T5" fmla="*/ 59 h 66"/>
                  <a:gd name="T6" fmla="*/ 171 w 237"/>
                  <a:gd name="T7" fmla="*/ 66 h 66"/>
                  <a:gd name="T8" fmla="*/ 237 w 237"/>
                  <a:gd name="T9" fmla="*/ 61 h 66"/>
                  <a:gd name="T10" fmla="*/ 168 w 237"/>
                  <a:gd name="T11" fmla="*/ 28 h 66"/>
                  <a:gd name="T12" fmla="*/ 27 w 237"/>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00" name="Freeform 408"/>
              <p:cNvSpPr/>
              <p:nvPr/>
            </p:nvSpPr>
            <p:spPr bwMode="auto">
              <a:xfrm>
                <a:off x="410" y="2361"/>
                <a:ext cx="135" cy="42"/>
              </a:xfrm>
              <a:custGeom>
                <a:avLst/>
                <a:gdLst>
                  <a:gd name="T0" fmla="*/ 678 w 678"/>
                  <a:gd name="T1" fmla="*/ 178 h 211"/>
                  <a:gd name="T2" fmla="*/ 678 w 678"/>
                  <a:gd name="T3" fmla="*/ 147 h 211"/>
                  <a:gd name="T4" fmla="*/ 590 w 678"/>
                  <a:gd name="T5" fmla="*/ 156 h 211"/>
                  <a:gd name="T6" fmla="*/ 446 w 678"/>
                  <a:gd name="T7" fmla="*/ 136 h 211"/>
                  <a:gd name="T8" fmla="*/ 365 w 678"/>
                  <a:gd name="T9" fmla="*/ 117 h 211"/>
                  <a:gd name="T10" fmla="*/ 209 w 678"/>
                  <a:gd name="T11" fmla="*/ 66 h 211"/>
                  <a:gd name="T12" fmla="*/ 140 w 678"/>
                  <a:gd name="T13" fmla="*/ 60 h 211"/>
                  <a:gd name="T14" fmla="*/ 74 w 678"/>
                  <a:gd name="T15" fmla="*/ 35 h 211"/>
                  <a:gd name="T16" fmla="*/ 39 w 678"/>
                  <a:gd name="T17" fmla="*/ 0 h 211"/>
                  <a:gd name="T18" fmla="*/ 0 w 678"/>
                  <a:gd name="T19" fmla="*/ 44 h 211"/>
                  <a:gd name="T20" fmla="*/ 0 w 678"/>
                  <a:gd name="T21" fmla="*/ 133 h 211"/>
                  <a:gd name="T22" fmla="*/ 50 w 678"/>
                  <a:gd name="T23" fmla="*/ 147 h 211"/>
                  <a:gd name="T24" fmla="*/ 171 w 678"/>
                  <a:gd name="T25" fmla="*/ 162 h 211"/>
                  <a:gd name="T26" fmla="*/ 220 w 678"/>
                  <a:gd name="T27" fmla="*/ 170 h 211"/>
                  <a:gd name="T28" fmla="*/ 300 w 678"/>
                  <a:gd name="T29" fmla="*/ 197 h 211"/>
                  <a:gd name="T30" fmla="*/ 392 w 678"/>
                  <a:gd name="T31" fmla="*/ 211 h 211"/>
                  <a:gd name="T32" fmla="*/ 458 w 678"/>
                  <a:gd name="T33" fmla="*/ 211 h 211"/>
                  <a:gd name="T34" fmla="*/ 560 w 678"/>
                  <a:gd name="T35" fmla="*/ 211 h 211"/>
                  <a:gd name="T36" fmla="*/ 678 w 678"/>
                  <a:gd name="T37" fmla="*/ 1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01" name="Freeform 409"/>
              <p:cNvSpPr/>
              <p:nvPr/>
            </p:nvSpPr>
            <p:spPr bwMode="auto">
              <a:xfrm>
                <a:off x="419" y="2337"/>
                <a:ext cx="45" cy="34"/>
              </a:xfrm>
              <a:custGeom>
                <a:avLst/>
                <a:gdLst>
                  <a:gd name="T0" fmla="*/ 216 w 224"/>
                  <a:gd name="T1" fmla="*/ 12 h 170"/>
                  <a:gd name="T2" fmla="*/ 210 w 224"/>
                  <a:gd name="T3" fmla="*/ 95 h 170"/>
                  <a:gd name="T4" fmla="*/ 224 w 224"/>
                  <a:gd name="T5" fmla="*/ 114 h 170"/>
                  <a:gd name="T6" fmla="*/ 173 w 224"/>
                  <a:gd name="T7" fmla="*/ 170 h 170"/>
                  <a:gd name="T8" fmla="*/ 105 w 224"/>
                  <a:gd name="T9" fmla="*/ 170 h 170"/>
                  <a:gd name="T10" fmla="*/ 28 w 224"/>
                  <a:gd name="T11" fmla="*/ 145 h 170"/>
                  <a:gd name="T12" fmla="*/ 0 w 224"/>
                  <a:gd name="T13" fmla="*/ 112 h 170"/>
                  <a:gd name="T14" fmla="*/ 16 w 224"/>
                  <a:gd name="T15" fmla="*/ 89 h 170"/>
                  <a:gd name="T16" fmla="*/ 20 w 224"/>
                  <a:gd name="T17" fmla="*/ 0 h 170"/>
                  <a:gd name="T18" fmla="*/ 216 w 224"/>
                  <a:gd name="T19" fmla="*/ 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7002" name="Oval 410"/>
            <p:cNvSpPr>
              <a:spLocks noChangeArrowheads="1"/>
            </p:cNvSpPr>
            <p:nvPr/>
          </p:nvSpPr>
          <p:spPr bwMode="auto">
            <a:xfrm>
              <a:off x="1939" y="2489"/>
              <a:ext cx="167" cy="65"/>
            </a:xfrm>
            <a:prstGeom prst="ellipse">
              <a:avLst/>
            </a:prstGeom>
            <a:solidFill>
              <a:srgbClr val="606060"/>
            </a:solidFill>
            <a:ln w="3175">
              <a:solidFill>
                <a:srgbClr val="000000"/>
              </a:solidFill>
              <a:round/>
            </a:ln>
          </p:spPr>
          <p:txBody>
            <a:bodyPr/>
            <a:lstStyle/>
            <a:p>
              <a:endParaRPr lang="zh-CN" altLang="zh-CN">
                <a:latin typeface="微软雅黑 Light" panose="020B0502040204020203" pitchFamily="34" charset="-122"/>
                <a:ea typeface="微软雅黑 Light" panose="020B0502040204020203" pitchFamily="34" charset="-122"/>
              </a:endParaRPr>
            </a:p>
          </p:txBody>
        </p:sp>
        <p:sp>
          <p:nvSpPr>
            <p:cNvPr id="367003" name="Rectangle 411"/>
            <p:cNvSpPr>
              <a:spLocks noChangeArrowheads="1"/>
            </p:cNvSpPr>
            <p:nvPr/>
          </p:nvSpPr>
          <p:spPr bwMode="auto">
            <a:xfrm>
              <a:off x="2000" y="2360"/>
              <a:ext cx="44" cy="148"/>
            </a:xfrm>
            <a:prstGeom prst="rect">
              <a:avLst/>
            </a:prstGeom>
            <a:solidFill>
              <a:srgbClr val="606060"/>
            </a:solidFill>
            <a:ln w="3175">
              <a:solidFill>
                <a:srgbClr val="000000"/>
              </a:solidFill>
              <a:miter lim="800000"/>
            </a:ln>
          </p:spPr>
          <p:txBody>
            <a:bodyPr/>
            <a:lstStyle/>
            <a:p>
              <a:endParaRPr lang="zh-CN" altLang="zh-CN">
                <a:latin typeface="微软雅黑 Light" panose="020B0502040204020203" pitchFamily="34" charset="-122"/>
                <a:ea typeface="微软雅黑 Light" panose="020B0502040204020203" pitchFamily="34" charset="-122"/>
              </a:endParaRPr>
            </a:p>
          </p:txBody>
        </p:sp>
        <p:grpSp>
          <p:nvGrpSpPr>
            <p:cNvPr id="367004" name="Group 412"/>
            <p:cNvGrpSpPr/>
            <p:nvPr/>
          </p:nvGrpSpPr>
          <p:grpSpPr bwMode="auto">
            <a:xfrm>
              <a:off x="1923" y="2304"/>
              <a:ext cx="221" cy="77"/>
              <a:chOff x="182" y="2151"/>
              <a:chExt cx="221" cy="77"/>
            </a:xfrm>
          </p:grpSpPr>
          <p:sp>
            <p:nvSpPr>
              <p:cNvPr id="367005" name="Freeform 413"/>
              <p:cNvSpPr/>
              <p:nvPr/>
            </p:nvSpPr>
            <p:spPr bwMode="auto">
              <a:xfrm>
                <a:off x="182" y="2151"/>
                <a:ext cx="221" cy="77"/>
              </a:xfrm>
              <a:custGeom>
                <a:avLst/>
                <a:gdLst>
                  <a:gd name="T0" fmla="*/ 1106 w 1106"/>
                  <a:gd name="T1" fmla="*/ 202 h 386"/>
                  <a:gd name="T2" fmla="*/ 1099 w 1106"/>
                  <a:gd name="T3" fmla="*/ 321 h 386"/>
                  <a:gd name="T4" fmla="*/ 735 w 1106"/>
                  <a:gd name="T5" fmla="*/ 386 h 386"/>
                  <a:gd name="T6" fmla="*/ 334 w 1106"/>
                  <a:gd name="T7" fmla="*/ 386 h 386"/>
                  <a:gd name="T8" fmla="*/ 19 w 1106"/>
                  <a:gd name="T9" fmla="*/ 288 h 386"/>
                  <a:gd name="T10" fmla="*/ 0 w 1106"/>
                  <a:gd name="T11" fmla="*/ 10 h 386"/>
                  <a:gd name="T12" fmla="*/ 625 w 1106"/>
                  <a:gd name="T13" fmla="*/ 0 h 386"/>
                  <a:gd name="T14" fmla="*/ 1106 w 1106"/>
                  <a:gd name="T15" fmla="*/ 202 h 3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06" name="Freeform 414"/>
              <p:cNvSpPr/>
              <p:nvPr/>
            </p:nvSpPr>
            <p:spPr bwMode="auto">
              <a:xfrm>
                <a:off x="187" y="2180"/>
                <a:ext cx="211" cy="45"/>
              </a:xfrm>
              <a:custGeom>
                <a:avLst/>
                <a:gdLst>
                  <a:gd name="T0" fmla="*/ 1055 w 1055"/>
                  <a:gd name="T1" fmla="*/ 75 h 221"/>
                  <a:gd name="T2" fmla="*/ 1049 w 1055"/>
                  <a:gd name="T3" fmla="*/ 162 h 221"/>
                  <a:gd name="T4" fmla="*/ 721 w 1055"/>
                  <a:gd name="T5" fmla="*/ 221 h 221"/>
                  <a:gd name="T6" fmla="*/ 296 w 1055"/>
                  <a:gd name="T7" fmla="*/ 221 h 221"/>
                  <a:gd name="T8" fmla="*/ 0 w 1055"/>
                  <a:gd name="T9" fmla="*/ 119 h 221"/>
                  <a:gd name="T10" fmla="*/ 0 w 1055"/>
                  <a:gd name="T11" fmla="*/ 0 h 221"/>
                  <a:gd name="T12" fmla="*/ 283 w 1055"/>
                  <a:gd name="T13" fmla="*/ 119 h 221"/>
                  <a:gd name="T14" fmla="*/ 716 w 1055"/>
                  <a:gd name="T15" fmla="*/ 124 h 221"/>
                  <a:gd name="T16" fmla="*/ 1055 w 1055"/>
                  <a:gd name="T17" fmla="*/ 75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7007" name="Freeform 415"/>
            <p:cNvSpPr/>
            <p:nvPr/>
          </p:nvSpPr>
          <p:spPr bwMode="auto">
            <a:xfrm>
              <a:off x="1916" y="2223"/>
              <a:ext cx="302" cy="280"/>
            </a:xfrm>
            <a:custGeom>
              <a:avLst/>
              <a:gdLst>
                <a:gd name="T0" fmla="*/ 1501 w 1507"/>
                <a:gd name="T1" fmla="*/ 789 h 1401"/>
                <a:gd name="T2" fmla="*/ 1493 w 1507"/>
                <a:gd name="T3" fmla="*/ 649 h 1401"/>
                <a:gd name="T4" fmla="*/ 1495 w 1507"/>
                <a:gd name="T5" fmla="*/ 499 h 1401"/>
                <a:gd name="T6" fmla="*/ 1489 w 1507"/>
                <a:gd name="T7" fmla="*/ 385 h 1401"/>
                <a:gd name="T8" fmla="*/ 1424 w 1507"/>
                <a:gd name="T9" fmla="*/ 317 h 1401"/>
                <a:gd name="T10" fmla="*/ 1345 w 1507"/>
                <a:gd name="T11" fmla="*/ 278 h 1401"/>
                <a:gd name="T12" fmla="*/ 1166 w 1507"/>
                <a:gd name="T13" fmla="*/ 213 h 1401"/>
                <a:gd name="T14" fmla="*/ 903 w 1507"/>
                <a:gd name="T15" fmla="*/ 149 h 1401"/>
                <a:gd name="T16" fmla="*/ 852 w 1507"/>
                <a:gd name="T17" fmla="*/ 144 h 1401"/>
                <a:gd name="T18" fmla="*/ 817 w 1507"/>
                <a:gd name="T19" fmla="*/ 149 h 1401"/>
                <a:gd name="T20" fmla="*/ 809 w 1507"/>
                <a:gd name="T21" fmla="*/ 135 h 1401"/>
                <a:gd name="T22" fmla="*/ 794 w 1507"/>
                <a:gd name="T23" fmla="*/ 122 h 1401"/>
                <a:gd name="T24" fmla="*/ 777 w 1507"/>
                <a:gd name="T25" fmla="*/ 125 h 1401"/>
                <a:gd name="T26" fmla="*/ 754 w 1507"/>
                <a:gd name="T27" fmla="*/ 126 h 1401"/>
                <a:gd name="T28" fmla="*/ 745 w 1507"/>
                <a:gd name="T29" fmla="*/ 100 h 1401"/>
                <a:gd name="T30" fmla="*/ 726 w 1507"/>
                <a:gd name="T31" fmla="*/ 85 h 1401"/>
                <a:gd name="T32" fmla="*/ 704 w 1507"/>
                <a:gd name="T33" fmla="*/ 82 h 1401"/>
                <a:gd name="T34" fmla="*/ 678 w 1507"/>
                <a:gd name="T35" fmla="*/ 82 h 1401"/>
                <a:gd name="T36" fmla="*/ 681 w 1507"/>
                <a:gd name="T37" fmla="*/ 59 h 1401"/>
                <a:gd name="T38" fmla="*/ 651 w 1507"/>
                <a:gd name="T39" fmla="*/ 0 h 1401"/>
                <a:gd name="T40" fmla="*/ 37 w 1507"/>
                <a:gd name="T41" fmla="*/ 16 h 1401"/>
                <a:gd name="T42" fmla="*/ 39 w 1507"/>
                <a:gd name="T43" fmla="*/ 79 h 1401"/>
                <a:gd name="T44" fmla="*/ 28 w 1507"/>
                <a:gd name="T45" fmla="*/ 135 h 1401"/>
                <a:gd name="T46" fmla="*/ 18 w 1507"/>
                <a:gd name="T47" fmla="*/ 175 h 1401"/>
                <a:gd name="T48" fmla="*/ 8 w 1507"/>
                <a:gd name="T49" fmla="*/ 225 h 1401"/>
                <a:gd name="T50" fmla="*/ 0 w 1507"/>
                <a:gd name="T51" fmla="*/ 306 h 1401"/>
                <a:gd name="T52" fmla="*/ 9 w 1507"/>
                <a:gd name="T53" fmla="*/ 354 h 1401"/>
                <a:gd name="T54" fmla="*/ 28 w 1507"/>
                <a:gd name="T55" fmla="*/ 399 h 1401"/>
                <a:gd name="T56" fmla="*/ 49 w 1507"/>
                <a:gd name="T57" fmla="*/ 438 h 1401"/>
                <a:gd name="T58" fmla="*/ 78 w 1507"/>
                <a:gd name="T59" fmla="*/ 451 h 1401"/>
                <a:gd name="T60" fmla="*/ 122 w 1507"/>
                <a:gd name="T61" fmla="*/ 464 h 1401"/>
                <a:gd name="T62" fmla="*/ 180 w 1507"/>
                <a:gd name="T63" fmla="*/ 483 h 1401"/>
                <a:gd name="T64" fmla="*/ 208 w 1507"/>
                <a:gd name="T65" fmla="*/ 514 h 1401"/>
                <a:gd name="T66" fmla="*/ 240 w 1507"/>
                <a:gd name="T67" fmla="*/ 541 h 1401"/>
                <a:gd name="T68" fmla="*/ 289 w 1507"/>
                <a:gd name="T69" fmla="*/ 564 h 1401"/>
                <a:gd name="T70" fmla="*/ 348 w 1507"/>
                <a:gd name="T71" fmla="*/ 582 h 1401"/>
                <a:gd name="T72" fmla="*/ 441 w 1507"/>
                <a:gd name="T73" fmla="*/ 594 h 1401"/>
                <a:gd name="T74" fmla="*/ 520 w 1507"/>
                <a:gd name="T75" fmla="*/ 594 h 1401"/>
                <a:gd name="T76" fmla="*/ 581 w 1507"/>
                <a:gd name="T77" fmla="*/ 587 h 1401"/>
                <a:gd name="T78" fmla="*/ 637 w 1507"/>
                <a:gd name="T79" fmla="*/ 582 h 1401"/>
                <a:gd name="T80" fmla="*/ 678 w 1507"/>
                <a:gd name="T81" fmla="*/ 604 h 1401"/>
                <a:gd name="T82" fmla="*/ 758 w 1507"/>
                <a:gd name="T83" fmla="*/ 600 h 1401"/>
                <a:gd name="T84" fmla="*/ 1078 w 1507"/>
                <a:gd name="T85" fmla="*/ 645 h 1401"/>
                <a:gd name="T86" fmla="*/ 1165 w 1507"/>
                <a:gd name="T87" fmla="*/ 655 h 1401"/>
                <a:gd name="T88" fmla="*/ 1133 w 1507"/>
                <a:gd name="T89" fmla="*/ 845 h 1401"/>
                <a:gd name="T90" fmla="*/ 1130 w 1507"/>
                <a:gd name="T91" fmla="*/ 942 h 1401"/>
                <a:gd name="T92" fmla="*/ 1149 w 1507"/>
                <a:gd name="T93" fmla="*/ 1066 h 1401"/>
                <a:gd name="T94" fmla="*/ 1169 w 1507"/>
                <a:gd name="T95" fmla="*/ 1212 h 1401"/>
                <a:gd name="T96" fmla="*/ 1169 w 1507"/>
                <a:gd name="T97" fmla="*/ 1363 h 1401"/>
                <a:gd name="T98" fmla="*/ 1244 w 1507"/>
                <a:gd name="T99" fmla="*/ 1385 h 1401"/>
                <a:gd name="T100" fmla="*/ 1339 w 1507"/>
                <a:gd name="T101" fmla="*/ 1395 h 1401"/>
                <a:gd name="T102" fmla="*/ 1420 w 1507"/>
                <a:gd name="T103" fmla="*/ 1401 h 1401"/>
                <a:gd name="T104" fmla="*/ 1507 w 1507"/>
                <a:gd name="T105" fmla="*/ 1391 h 1401"/>
                <a:gd name="T106" fmla="*/ 1501 w 1507"/>
                <a:gd name="T107" fmla="*/ 1252 h 1401"/>
                <a:gd name="T108" fmla="*/ 1501 w 1507"/>
                <a:gd name="T109" fmla="*/ 1024 h 1401"/>
                <a:gd name="T110" fmla="*/ 1501 w 1507"/>
                <a:gd name="T111" fmla="*/ 824 h 1401"/>
                <a:gd name="T112" fmla="*/ 1501 w 1507"/>
                <a:gd name="T113" fmla="*/ 789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08" name="Freeform 416"/>
            <p:cNvSpPr/>
            <p:nvPr/>
          </p:nvSpPr>
          <p:spPr bwMode="auto">
            <a:xfrm>
              <a:off x="1920" y="2234"/>
              <a:ext cx="295" cy="265"/>
            </a:xfrm>
            <a:custGeom>
              <a:avLst/>
              <a:gdLst>
                <a:gd name="T0" fmla="*/ 46 w 1473"/>
                <a:gd name="T1" fmla="*/ 66 h 1324"/>
                <a:gd name="T2" fmla="*/ 10 w 1473"/>
                <a:gd name="T3" fmla="*/ 144 h 1324"/>
                <a:gd name="T4" fmla="*/ 39 w 1473"/>
                <a:gd name="T5" fmla="*/ 367 h 1324"/>
                <a:gd name="T6" fmla="*/ 120 w 1473"/>
                <a:gd name="T7" fmla="*/ 367 h 1324"/>
                <a:gd name="T8" fmla="*/ 211 w 1473"/>
                <a:gd name="T9" fmla="*/ 449 h 1324"/>
                <a:gd name="T10" fmla="*/ 421 w 1473"/>
                <a:gd name="T11" fmla="*/ 504 h 1324"/>
                <a:gd name="T12" fmla="*/ 620 w 1473"/>
                <a:gd name="T13" fmla="*/ 504 h 1324"/>
                <a:gd name="T14" fmla="*/ 546 w 1473"/>
                <a:gd name="T15" fmla="*/ 423 h 1324"/>
                <a:gd name="T16" fmla="*/ 641 w 1473"/>
                <a:gd name="T17" fmla="*/ 501 h 1324"/>
                <a:gd name="T18" fmla="*/ 737 w 1473"/>
                <a:gd name="T19" fmla="*/ 520 h 1324"/>
                <a:gd name="T20" fmla="*/ 672 w 1473"/>
                <a:gd name="T21" fmla="*/ 469 h 1324"/>
                <a:gd name="T22" fmla="*/ 776 w 1473"/>
                <a:gd name="T23" fmla="*/ 527 h 1324"/>
                <a:gd name="T24" fmla="*/ 1114 w 1473"/>
                <a:gd name="T25" fmla="*/ 572 h 1324"/>
                <a:gd name="T26" fmla="*/ 1122 w 1473"/>
                <a:gd name="T27" fmla="*/ 833 h 1324"/>
                <a:gd name="T28" fmla="*/ 1159 w 1473"/>
                <a:gd name="T29" fmla="*/ 1288 h 1324"/>
                <a:gd name="T30" fmla="*/ 1360 w 1473"/>
                <a:gd name="T31" fmla="*/ 1324 h 1324"/>
                <a:gd name="T32" fmla="*/ 1468 w 1473"/>
                <a:gd name="T33" fmla="*/ 998 h 1324"/>
                <a:gd name="T34" fmla="*/ 1451 w 1473"/>
                <a:gd name="T35" fmla="*/ 579 h 1324"/>
                <a:gd name="T36" fmla="*/ 1455 w 1473"/>
                <a:gd name="T37" fmla="*/ 381 h 1324"/>
                <a:gd name="T38" fmla="*/ 1355 w 1473"/>
                <a:gd name="T39" fmla="*/ 261 h 1324"/>
                <a:gd name="T40" fmla="*/ 1057 w 1473"/>
                <a:gd name="T41" fmla="*/ 150 h 1324"/>
                <a:gd name="T42" fmla="*/ 809 w 1473"/>
                <a:gd name="T43" fmla="*/ 98 h 1324"/>
                <a:gd name="T44" fmla="*/ 662 w 1473"/>
                <a:gd name="T45" fmla="*/ 205 h 1324"/>
                <a:gd name="T46" fmla="*/ 767 w 1473"/>
                <a:gd name="T47" fmla="*/ 131 h 1324"/>
                <a:gd name="T48" fmla="*/ 776 w 1473"/>
                <a:gd name="T49" fmla="*/ 79 h 1324"/>
                <a:gd name="T50" fmla="*/ 725 w 1473"/>
                <a:gd name="T51" fmla="*/ 98 h 1324"/>
                <a:gd name="T52" fmla="*/ 656 w 1473"/>
                <a:gd name="T53" fmla="*/ 137 h 1324"/>
                <a:gd name="T54" fmla="*/ 722 w 1473"/>
                <a:gd name="T55" fmla="*/ 68 h 1324"/>
                <a:gd name="T56" fmla="*/ 669 w 1473"/>
                <a:gd name="T57" fmla="*/ 36 h 1324"/>
                <a:gd name="T58" fmla="*/ 569 w 1473"/>
                <a:gd name="T59" fmla="*/ 112 h 1324"/>
                <a:gd name="T60" fmla="*/ 646 w 1473"/>
                <a:gd name="T61" fmla="*/ 20 h 1324"/>
                <a:gd name="T62" fmla="*/ 597 w 1473"/>
                <a:gd name="T63" fmla="*/ 7 h 1324"/>
                <a:gd name="T64" fmla="*/ 523 w 1473"/>
                <a:gd name="T65" fmla="*/ 63 h 1324"/>
                <a:gd name="T66" fmla="*/ 386 w 1473"/>
                <a:gd name="T67" fmla="*/ 40 h 1324"/>
                <a:gd name="T68" fmla="*/ 345 w 1473"/>
                <a:gd name="T69" fmla="*/ 72 h 1324"/>
                <a:gd name="T70" fmla="*/ 211 w 1473"/>
                <a:gd name="T71" fmla="*/ 95 h 1324"/>
                <a:gd name="T72" fmla="*/ 185 w 1473"/>
                <a:gd name="T73" fmla="*/ 45 h 1324"/>
                <a:gd name="T74" fmla="*/ 130 w 1473"/>
                <a:gd name="T75" fmla="*/ 91 h 1324"/>
                <a:gd name="T76" fmla="*/ 72 w 1473"/>
                <a:gd name="T77" fmla="*/ 40 h 1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09" name="Freeform 417"/>
            <p:cNvSpPr/>
            <p:nvPr/>
          </p:nvSpPr>
          <p:spPr bwMode="auto">
            <a:xfrm>
              <a:off x="1961" y="2278"/>
              <a:ext cx="40" cy="7"/>
            </a:xfrm>
            <a:custGeom>
              <a:avLst/>
              <a:gdLst>
                <a:gd name="T0" fmla="*/ 0 w 199"/>
                <a:gd name="T1" fmla="*/ 0 h 33"/>
                <a:gd name="T2" fmla="*/ 93 w 199"/>
                <a:gd name="T3" fmla="*/ 33 h 33"/>
                <a:gd name="T4" fmla="*/ 199 w 199"/>
                <a:gd name="T5" fmla="*/ 25 h 33"/>
                <a:gd name="T6" fmla="*/ 0 w 199"/>
                <a:gd name="T7" fmla="*/ 0 h 33"/>
              </a:gdLst>
              <a:ahLst/>
              <a:cxnLst>
                <a:cxn ang="0">
                  <a:pos x="T0" y="T1"/>
                </a:cxn>
                <a:cxn ang="0">
                  <a:pos x="T2" y="T3"/>
                </a:cxn>
                <a:cxn ang="0">
                  <a:pos x="T4" y="T5"/>
                </a:cxn>
                <a:cxn ang="0">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10" name="Freeform 418"/>
            <p:cNvSpPr/>
            <p:nvPr/>
          </p:nvSpPr>
          <p:spPr bwMode="auto">
            <a:xfrm>
              <a:off x="1921" y="2267"/>
              <a:ext cx="25" cy="8"/>
            </a:xfrm>
            <a:custGeom>
              <a:avLst/>
              <a:gdLst>
                <a:gd name="T0" fmla="*/ 0 w 122"/>
                <a:gd name="T1" fmla="*/ 0 h 40"/>
                <a:gd name="T2" fmla="*/ 32 w 122"/>
                <a:gd name="T3" fmla="*/ 25 h 40"/>
                <a:gd name="T4" fmla="*/ 122 w 122"/>
                <a:gd name="T5" fmla="*/ 38 h 40"/>
                <a:gd name="T6" fmla="*/ 30 w 122"/>
                <a:gd name="T7" fmla="*/ 40 h 40"/>
                <a:gd name="T8" fmla="*/ 0 w 122"/>
                <a:gd name="T9" fmla="*/ 0 h 40"/>
              </a:gdLst>
              <a:ahLst/>
              <a:cxnLst>
                <a:cxn ang="0">
                  <a:pos x="T0" y="T1"/>
                </a:cxn>
                <a:cxn ang="0">
                  <a:pos x="T2" y="T3"/>
                </a:cxn>
                <a:cxn ang="0">
                  <a:pos x="T4" y="T5"/>
                </a:cxn>
                <a:cxn ang="0">
                  <a:pos x="T6" y="T7"/>
                </a:cxn>
                <a:cxn ang="0">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11" name="Freeform 419"/>
            <p:cNvSpPr/>
            <p:nvPr/>
          </p:nvSpPr>
          <p:spPr bwMode="auto">
            <a:xfrm>
              <a:off x="2023" y="2261"/>
              <a:ext cx="38" cy="20"/>
            </a:xfrm>
            <a:custGeom>
              <a:avLst/>
              <a:gdLst>
                <a:gd name="T0" fmla="*/ 0 w 187"/>
                <a:gd name="T1" fmla="*/ 0 h 102"/>
                <a:gd name="T2" fmla="*/ 84 w 187"/>
                <a:gd name="T3" fmla="*/ 9 h 102"/>
                <a:gd name="T4" fmla="*/ 101 w 187"/>
                <a:gd name="T5" fmla="*/ 23 h 102"/>
                <a:gd name="T6" fmla="*/ 101 w 187"/>
                <a:gd name="T7" fmla="*/ 54 h 102"/>
                <a:gd name="T8" fmla="*/ 106 w 187"/>
                <a:gd name="T9" fmla="*/ 89 h 102"/>
                <a:gd name="T10" fmla="*/ 187 w 187"/>
                <a:gd name="T11" fmla="*/ 102 h 102"/>
                <a:gd name="T12" fmla="*/ 90 w 187"/>
                <a:gd name="T13" fmla="*/ 98 h 102"/>
                <a:gd name="T14" fmla="*/ 74 w 187"/>
                <a:gd name="T15" fmla="*/ 34 h 102"/>
                <a:gd name="T16" fmla="*/ 0 w 187"/>
                <a:gd name="T1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12" name="Freeform 420"/>
            <p:cNvSpPr/>
            <p:nvPr/>
          </p:nvSpPr>
          <p:spPr bwMode="auto">
            <a:xfrm>
              <a:off x="2061" y="2307"/>
              <a:ext cx="122" cy="30"/>
            </a:xfrm>
            <a:custGeom>
              <a:avLst/>
              <a:gdLst>
                <a:gd name="T0" fmla="*/ 0 w 609"/>
                <a:gd name="T1" fmla="*/ 0 h 150"/>
                <a:gd name="T2" fmla="*/ 154 w 609"/>
                <a:gd name="T3" fmla="*/ 7 h 150"/>
                <a:gd name="T4" fmla="*/ 313 w 609"/>
                <a:gd name="T5" fmla="*/ 44 h 150"/>
                <a:gd name="T6" fmla="*/ 431 w 609"/>
                <a:gd name="T7" fmla="*/ 51 h 150"/>
                <a:gd name="T8" fmla="*/ 527 w 609"/>
                <a:gd name="T9" fmla="*/ 71 h 150"/>
                <a:gd name="T10" fmla="*/ 563 w 609"/>
                <a:gd name="T11" fmla="*/ 122 h 150"/>
                <a:gd name="T12" fmla="*/ 609 w 609"/>
                <a:gd name="T13" fmla="*/ 150 h 150"/>
                <a:gd name="T14" fmla="*/ 563 w 609"/>
                <a:gd name="T15" fmla="*/ 141 h 150"/>
                <a:gd name="T16" fmla="*/ 521 w 609"/>
                <a:gd name="T17" fmla="*/ 84 h 150"/>
                <a:gd name="T18" fmla="*/ 392 w 609"/>
                <a:gd name="T19" fmla="*/ 58 h 150"/>
                <a:gd name="T20" fmla="*/ 313 w 609"/>
                <a:gd name="T21" fmla="*/ 58 h 150"/>
                <a:gd name="T22" fmla="*/ 252 w 609"/>
                <a:gd name="T23" fmla="*/ 44 h 150"/>
                <a:gd name="T24" fmla="*/ 146 w 609"/>
                <a:gd name="T25" fmla="*/ 17 h 150"/>
                <a:gd name="T26" fmla="*/ 0 w 609"/>
                <a:gd name="T2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nvGrpSpPr>
            <p:cNvPr id="367024" name="Group 432"/>
            <p:cNvGrpSpPr/>
            <p:nvPr/>
          </p:nvGrpSpPr>
          <p:grpSpPr bwMode="auto">
            <a:xfrm>
              <a:off x="1882" y="2163"/>
              <a:ext cx="123" cy="167"/>
              <a:chOff x="141" y="2010"/>
              <a:chExt cx="123" cy="167"/>
            </a:xfrm>
          </p:grpSpPr>
          <p:sp>
            <p:nvSpPr>
              <p:cNvPr id="367025" name="Freeform 433"/>
              <p:cNvSpPr/>
              <p:nvPr/>
            </p:nvSpPr>
            <p:spPr bwMode="auto">
              <a:xfrm>
                <a:off x="141" y="2010"/>
                <a:ext cx="123" cy="167"/>
              </a:xfrm>
              <a:custGeom>
                <a:avLst/>
                <a:gdLst>
                  <a:gd name="T0" fmla="*/ 342 w 617"/>
                  <a:gd name="T1" fmla="*/ 123 h 835"/>
                  <a:gd name="T2" fmla="*/ 229 w 617"/>
                  <a:gd name="T3" fmla="*/ 113 h 835"/>
                  <a:gd name="T4" fmla="*/ 160 w 617"/>
                  <a:gd name="T5" fmla="*/ 96 h 835"/>
                  <a:gd name="T6" fmla="*/ 139 w 617"/>
                  <a:gd name="T7" fmla="*/ 64 h 835"/>
                  <a:gd name="T8" fmla="*/ 139 w 617"/>
                  <a:gd name="T9" fmla="*/ 38 h 835"/>
                  <a:gd name="T10" fmla="*/ 121 w 617"/>
                  <a:gd name="T11" fmla="*/ 15 h 835"/>
                  <a:gd name="T12" fmla="*/ 58 w 617"/>
                  <a:gd name="T13" fmla="*/ 0 h 835"/>
                  <a:gd name="T14" fmla="*/ 0 w 617"/>
                  <a:gd name="T15" fmla="*/ 5 h 835"/>
                  <a:gd name="T16" fmla="*/ 70 w 617"/>
                  <a:gd name="T17" fmla="*/ 650 h 835"/>
                  <a:gd name="T18" fmla="*/ 121 w 617"/>
                  <a:gd name="T19" fmla="*/ 710 h 835"/>
                  <a:gd name="T20" fmla="*/ 183 w 617"/>
                  <a:gd name="T21" fmla="*/ 768 h 835"/>
                  <a:gd name="T22" fmla="*/ 273 w 617"/>
                  <a:gd name="T23" fmla="*/ 813 h 835"/>
                  <a:gd name="T24" fmla="*/ 377 w 617"/>
                  <a:gd name="T25" fmla="*/ 827 h 835"/>
                  <a:gd name="T26" fmla="*/ 518 w 617"/>
                  <a:gd name="T27" fmla="*/ 835 h 835"/>
                  <a:gd name="T28" fmla="*/ 599 w 617"/>
                  <a:gd name="T29" fmla="*/ 823 h 835"/>
                  <a:gd name="T30" fmla="*/ 617 w 617"/>
                  <a:gd name="T31" fmla="*/ 777 h 835"/>
                  <a:gd name="T32" fmla="*/ 608 w 617"/>
                  <a:gd name="T33" fmla="*/ 718 h 835"/>
                  <a:gd name="T34" fmla="*/ 550 w 617"/>
                  <a:gd name="T35" fmla="*/ 537 h 835"/>
                  <a:gd name="T36" fmla="*/ 500 w 617"/>
                  <a:gd name="T37" fmla="*/ 357 h 835"/>
                  <a:gd name="T38" fmla="*/ 478 w 617"/>
                  <a:gd name="T39" fmla="*/ 221 h 835"/>
                  <a:gd name="T40" fmla="*/ 478 w 617"/>
                  <a:gd name="T41" fmla="*/ 186 h 835"/>
                  <a:gd name="T42" fmla="*/ 446 w 617"/>
                  <a:gd name="T43" fmla="*/ 136 h 835"/>
                  <a:gd name="T44" fmla="*/ 409 w 617"/>
                  <a:gd name="T45" fmla="*/ 123 h 835"/>
                  <a:gd name="T46" fmla="*/ 342 w 617"/>
                  <a:gd name="T47" fmla="*/ 123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ln>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26" name="Freeform 434"/>
              <p:cNvSpPr/>
              <p:nvPr/>
            </p:nvSpPr>
            <p:spPr bwMode="auto">
              <a:xfrm>
                <a:off x="143" y="2019"/>
                <a:ext cx="106" cy="153"/>
              </a:xfrm>
              <a:custGeom>
                <a:avLst/>
                <a:gdLst>
                  <a:gd name="T0" fmla="*/ 347 w 531"/>
                  <a:gd name="T1" fmla="*/ 154 h 766"/>
                  <a:gd name="T2" fmla="*/ 248 w 531"/>
                  <a:gd name="T3" fmla="*/ 150 h 766"/>
                  <a:gd name="T4" fmla="*/ 143 w 531"/>
                  <a:gd name="T5" fmla="*/ 131 h 766"/>
                  <a:gd name="T6" fmla="*/ 81 w 531"/>
                  <a:gd name="T7" fmla="*/ 99 h 766"/>
                  <a:gd name="T8" fmla="*/ 46 w 531"/>
                  <a:gd name="T9" fmla="*/ 72 h 766"/>
                  <a:gd name="T10" fmla="*/ 0 w 531"/>
                  <a:gd name="T11" fmla="*/ 0 h 766"/>
                  <a:gd name="T12" fmla="*/ 67 w 531"/>
                  <a:gd name="T13" fmla="*/ 589 h 766"/>
                  <a:gd name="T14" fmla="*/ 113 w 531"/>
                  <a:gd name="T15" fmla="*/ 643 h 766"/>
                  <a:gd name="T16" fmla="*/ 162 w 531"/>
                  <a:gd name="T17" fmla="*/ 694 h 766"/>
                  <a:gd name="T18" fmla="*/ 225 w 531"/>
                  <a:gd name="T19" fmla="*/ 729 h 766"/>
                  <a:gd name="T20" fmla="*/ 279 w 531"/>
                  <a:gd name="T21" fmla="*/ 747 h 766"/>
                  <a:gd name="T22" fmla="*/ 347 w 531"/>
                  <a:gd name="T23" fmla="*/ 756 h 766"/>
                  <a:gd name="T24" fmla="*/ 409 w 531"/>
                  <a:gd name="T25" fmla="*/ 766 h 766"/>
                  <a:gd name="T26" fmla="*/ 480 w 531"/>
                  <a:gd name="T27" fmla="*/ 766 h 766"/>
                  <a:gd name="T28" fmla="*/ 512 w 531"/>
                  <a:gd name="T29" fmla="*/ 756 h 766"/>
                  <a:gd name="T30" fmla="*/ 531 w 531"/>
                  <a:gd name="T31" fmla="*/ 729 h 766"/>
                  <a:gd name="T32" fmla="*/ 522 w 531"/>
                  <a:gd name="T33" fmla="*/ 685 h 766"/>
                  <a:gd name="T34" fmla="*/ 476 w 531"/>
                  <a:gd name="T35" fmla="*/ 581 h 766"/>
                  <a:gd name="T36" fmla="*/ 399 w 531"/>
                  <a:gd name="T37" fmla="*/ 229 h 766"/>
                  <a:gd name="T38" fmla="*/ 387 w 531"/>
                  <a:gd name="T39" fmla="*/ 180 h 766"/>
                  <a:gd name="T40" fmla="*/ 347 w 531"/>
                  <a:gd name="T41" fmla="*/ 154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367027" name="Freeform 435"/>
            <p:cNvSpPr/>
            <p:nvPr/>
          </p:nvSpPr>
          <p:spPr bwMode="auto">
            <a:xfrm>
              <a:off x="2184" y="2353"/>
              <a:ext cx="9" cy="141"/>
            </a:xfrm>
            <a:custGeom>
              <a:avLst/>
              <a:gdLst>
                <a:gd name="T0" fmla="*/ 29 w 43"/>
                <a:gd name="T1" fmla="*/ 0 h 703"/>
                <a:gd name="T2" fmla="*/ 43 w 43"/>
                <a:gd name="T3" fmla="*/ 36 h 703"/>
                <a:gd name="T4" fmla="*/ 27 w 43"/>
                <a:gd name="T5" fmla="*/ 63 h 703"/>
                <a:gd name="T6" fmla="*/ 14 w 43"/>
                <a:gd name="T7" fmla="*/ 122 h 703"/>
                <a:gd name="T8" fmla="*/ 32 w 43"/>
                <a:gd name="T9" fmla="*/ 176 h 703"/>
                <a:gd name="T10" fmla="*/ 21 w 43"/>
                <a:gd name="T11" fmla="*/ 491 h 703"/>
                <a:gd name="T12" fmla="*/ 21 w 43"/>
                <a:gd name="T13" fmla="*/ 693 h 703"/>
                <a:gd name="T14" fmla="*/ 0 w 43"/>
                <a:gd name="T15" fmla="*/ 703 h 703"/>
                <a:gd name="T16" fmla="*/ 2 w 43"/>
                <a:gd name="T17" fmla="*/ 284 h 703"/>
                <a:gd name="T18" fmla="*/ 21 w 43"/>
                <a:gd name="T19" fmla="*/ 184 h 703"/>
                <a:gd name="T20" fmla="*/ 10 w 43"/>
                <a:gd name="T21" fmla="*/ 137 h 703"/>
                <a:gd name="T22" fmla="*/ 4 w 43"/>
                <a:gd name="T23" fmla="*/ 120 h 703"/>
                <a:gd name="T24" fmla="*/ 12 w 43"/>
                <a:gd name="T25" fmla="*/ 69 h 703"/>
                <a:gd name="T26" fmla="*/ 27 w 43"/>
                <a:gd name="T27" fmla="*/ 40 h 703"/>
                <a:gd name="T28" fmla="*/ 29 w 43"/>
                <a:gd name="T29" fmla="*/ 0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67028" name="Freeform 436"/>
            <p:cNvSpPr/>
            <p:nvPr/>
          </p:nvSpPr>
          <p:spPr bwMode="auto">
            <a:xfrm>
              <a:off x="2148" y="2355"/>
              <a:ext cx="22" cy="7"/>
            </a:xfrm>
            <a:custGeom>
              <a:avLst/>
              <a:gdLst>
                <a:gd name="T0" fmla="*/ 112 w 112"/>
                <a:gd name="T1" fmla="*/ 0 h 36"/>
                <a:gd name="T2" fmla="*/ 57 w 112"/>
                <a:gd name="T3" fmla="*/ 26 h 36"/>
                <a:gd name="T4" fmla="*/ 9 w 112"/>
                <a:gd name="T5" fmla="*/ 36 h 36"/>
                <a:gd name="T6" fmla="*/ 0 w 112"/>
                <a:gd name="T7" fmla="*/ 36 h 36"/>
                <a:gd name="T8" fmla="*/ 29 w 112"/>
                <a:gd name="T9" fmla="*/ 11 h 36"/>
                <a:gd name="T10" fmla="*/ 112 w 112"/>
                <a:gd name="T11" fmla="*/ 0 h 36"/>
              </a:gdLst>
              <a:ahLst/>
              <a:cxnLst>
                <a:cxn ang="0">
                  <a:pos x="T0" y="T1"/>
                </a:cxn>
                <a:cxn ang="0">
                  <a:pos x="T2" y="T3"/>
                </a:cxn>
                <a:cxn ang="0">
                  <a:pos x="T4" y="T5"/>
                </a:cxn>
                <a:cxn ang="0">
                  <a:pos x="T6" y="T7"/>
                </a:cxn>
                <a:cxn ang="0">
                  <a:pos x="T8" y="T9"/>
                </a:cxn>
                <a:cxn ang="0">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160AD9C-7554-4344-907F-C94979190EC8}" type="slidenum">
              <a:rPr lang="en-US" altLang="zh-CN"/>
            </a:fld>
            <a:endParaRPr lang="en-US" altLang="zh-CN"/>
          </a:p>
        </p:txBody>
      </p:sp>
      <p:sp>
        <p:nvSpPr>
          <p:cNvPr id="293890" name="Rectangle 2"/>
          <p:cNvSpPr>
            <a:spLocks noGrp="1" noChangeArrowheads="1"/>
          </p:cNvSpPr>
          <p:nvPr>
            <p:ph type="title"/>
          </p:nvPr>
        </p:nvSpPr>
        <p:spPr/>
        <p:txBody>
          <a:bodyPr/>
          <a:lstStyle/>
          <a:p>
            <a:r>
              <a:rPr lang="zh-CN" altLang="en-US" dirty="0"/>
              <a:t>简单邮件传输协议</a:t>
            </a:r>
            <a:endParaRPr lang="zh-CN" altLang="en-US" dirty="0"/>
          </a:p>
        </p:txBody>
      </p:sp>
      <p:sp>
        <p:nvSpPr>
          <p:cNvPr id="293891" name="Rectangle 3"/>
          <p:cNvSpPr>
            <a:spLocks noGrp="1" noChangeArrowheads="1"/>
          </p:cNvSpPr>
          <p:nvPr>
            <p:ph type="body" idx="1"/>
          </p:nvPr>
        </p:nvSpPr>
        <p:spPr/>
        <p:txBody>
          <a:bodyPr/>
          <a:lstStyle/>
          <a:p>
            <a:r>
              <a:rPr lang="zh-CN" altLang="en-US"/>
              <a:t>简单邮件传输协议</a:t>
            </a:r>
            <a:r>
              <a:rPr lang="en-US" altLang="zh-CN"/>
              <a:t>--SMTP(Simple Mail Transfer Protocol) </a:t>
            </a:r>
            <a:endParaRPr lang="en-US" altLang="zh-CN"/>
          </a:p>
          <a:p>
            <a:r>
              <a:rPr lang="en-US" altLang="zh-CN"/>
              <a:t>SMTP</a:t>
            </a:r>
            <a:r>
              <a:rPr lang="zh-CN" altLang="en-US"/>
              <a:t>使用客户服务器模式，负责发送邮件的</a:t>
            </a:r>
            <a:r>
              <a:rPr lang="en-US" altLang="zh-CN"/>
              <a:t>SMTP</a:t>
            </a:r>
            <a:r>
              <a:rPr lang="zh-CN" altLang="en-US"/>
              <a:t>进程是</a:t>
            </a:r>
            <a:r>
              <a:rPr lang="en-US" altLang="zh-CN"/>
              <a:t>SMTP</a:t>
            </a:r>
            <a:r>
              <a:rPr lang="zh-CN" altLang="en-US"/>
              <a:t>客户，负责接受邮件的</a:t>
            </a:r>
            <a:r>
              <a:rPr lang="en-US" altLang="zh-CN"/>
              <a:t>SMTP</a:t>
            </a:r>
            <a:r>
              <a:rPr lang="zh-CN" altLang="en-US"/>
              <a:t>进程是</a:t>
            </a:r>
            <a:r>
              <a:rPr lang="en-US" altLang="zh-CN"/>
              <a:t>SMTP</a:t>
            </a:r>
            <a:r>
              <a:rPr lang="zh-CN" altLang="en-US"/>
              <a:t>服务器。</a:t>
            </a:r>
            <a:endParaRPr lang="zh-CN" altLang="en-US"/>
          </a:p>
          <a:p>
            <a:r>
              <a:rPr lang="en-US" altLang="zh-CN"/>
              <a:t>SMTP</a:t>
            </a:r>
            <a:r>
              <a:rPr lang="zh-CN" altLang="en-US"/>
              <a:t>规定了</a:t>
            </a:r>
            <a:r>
              <a:rPr lang="en-US" altLang="zh-CN"/>
              <a:t>14</a:t>
            </a:r>
            <a:r>
              <a:rPr lang="zh-CN" altLang="en-US"/>
              <a:t>条命令和</a:t>
            </a:r>
            <a:r>
              <a:rPr lang="en-US" altLang="zh-CN"/>
              <a:t>21</a:t>
            </a:r>
            <a:r>
              <a:rPr lang="zh-CN" altLang="en-US"/>
              <a:t>种响应信息。</a:t>
            </a: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SMTP </a:t>
            </a:r>
            <a:r>
              <a:rPr lang="zh-CN" altLang="en-US" dirty="0"/>
              <a:t>协议：基于 </a:t>
            </a:r>
            <a:r>
              <a:rPr lang="en-US" altLang="zh-CN" dirty="0"/>
              <a:t>TCP </a:t>
            </a:r>
            <a:r>
              <a:rPr lang="zh-CN" altLang="en-US" dirty="0"/>
              <a:t>通信的三个阶段</a:t>
            </a:r>
            <a:endParaRPr lang="zh-CN" altLang="en-US" dirty="0"/>
          </a:p>
        </p:txBody>
      </p:sp>
      <p:sp>
        <p:nvSpPr>
          <p:cNvPr id="3" name="内容占位符 2"/>
          <p:cNvSpPr>
            <a:spLocks noGrp="1"/>
          </p:cNvSpPr>
          <p:nvPr>
            <p:ph idx="1"/>
          </p:nvPr>
        </p:nvSpPr>
        <p:spPr>
          <a:xfrm>
            <a:off x="334435" y="1052514"/>
            <a:ext cx="5516528" cy="5256805"/>
          </a:xfrm>
        </p:spPr>
        <p:txBody>
          <a:bodyPr>
            <a:normAutofit/>
          </a:bodyPr>
          <a:lstStyle/>
          <a:p>
            <a:r>
              <a:rPr lang="zh-CN" altLang="en-US" dirty="0"/>
              <a:t>连接建立</a:t>
            </a:r>
            <a:endParaRPr lang="zh-CN" altLang="en-US" dirty="0"/>
          </a:p>
          <a:p>
            <a:pPr lvl="1"/>
            <a:r>
              <a:rPr lang="zh-CN" altLang="en-US" dirty="0"/>
              <a:t>连接是在发送主机的 </a:t>
            </a:r>
            <a:r>
              <a:rPr lang="en-US" altLang="zh-CN" dirty="0"/>
              <a:t>SMTP </a:t>
            </a:r>
            <a:r>
              <a:rPr lang="zh-CN" altLang="en-US" dirty="0"/>
              <a:t>客户和接收主机的 </a:t>
            </a:r>
            <a:r>
              <a:rPr lang="en-US" altLang="zh-CN" dirty="0"/>
              <a:t>SMTP </a:t>
            </a:r>
            <a:r>
              <a:rPr lang="zh-CN" altLang="en-US" dirty="0"/>
              <a:t>服务器之间建立的。</a:t>
            </a:r>
            <a:r>
              <a:rPr lang="en-US" altLang="zh-CN" dirty="0"/>
              <a:t>SMTP</a:t>
            </a:r>
            <a:r>
              <a:rPr lang="zh-CN" altLang="en-US" dirty="0"/>
              <a:t>不使用中间的邮件服务器   </a:t>
            </a:r>
            <a:endParaRPr lang="zh-CN" altLang="en-US" dirty="0"/>
          </a:p>
          <a:p>
            <a:r>
              <a:rPr lang="zh-CN" altLang="en-US" dirty="0"/>
              <a:t>邮件传送</a:t>
            </a:r>
            <a:endParaRPr lang="zh-CN" altLang="en-US" dirty="0"/>
          </a:p>
          <a:p>
            <a:r>
              <a:rPr lang="zh-CN" altLang="en-US" dirty="0"/>
              <a:t>连接释放</a:t>
            </a:r>
            <a:endParaRPr lang="zh-CN" altLang="en-US" dirty="0"/>
          </a:p>
          <a:p>
            <a:pPr lvl="1"/>
            <a:r>
              <a:rPr lang="zh-CN" altLang="en-US" dirty="0"/>
              <a:t>邮件发送完毕后，</a:t>
            </a:r>
            <a:r>
              <a:rPr lang="en-US" altLang="zh-CN" dirty="0"/>
              <a:t>SMTP </a:t>
            </a:r>
            <a:r>
              <a:rPr lang="zh-CN" altLang="en-US" dirty="0"/>
              <a:t>应释放 </a:t>
            </a:r>
            <a:r>
              <a:rPr lang="en-US" altLang="zh-CN" dirty="0"/>
              <a:t>TCP </a:t>
            </a:r>
            <a:r>
              <a:rPr lang="zh-CN" altLang="en-US" dirty="0"/>
              <a:t>连接</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6" name="矩形 5"/>
          <p:cNvSpPr/>
          <p:nvPr/>
        </p:nvSpPr>
        <p:spPr>
          <a:xfrm>
            <a:off x="10364289" y="4106594"/>
            <a:ext cx="968477" cy="661035"/>
          </a:xfrm>
          <a:prstGeom prst="rect">
            <a:avLst/>
          </a:prstGeom>
          <a:solidFill>
            <a:srgbClr val="0066FF"/>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dirty="0">
                <a:solidFill>
                  <a:schemeClr val="bg1"/>
                </a:solidFill>
                <a:latin typeface="微软雅黑 Light" panose="020B0502040204020203" pitchFamily="34" charset="-122"/>
                <a:ea typeface="微软雅黑 Light" panose="020B0502040204020203" pitchFamily="34" charset="-122"/>
              </a:rPr>
              <a:t>SMTP</a:t>
            </a:r>
            <a:endParaRPr lang="en-US" altLang="zh-CN" sz="1800" dirty="0">
              <a:solidFill>
                <a:schemeClr val="bg1"/>
              </a:solidFill>
              <a:latin typeface="微软雅黑 Light" panose="020B0502040204020203" pitchFamily="34" charset="-122"/>
              <a:ea typeface="微软雅黑 Light" panose="020B0502040204020203" pitchFamily="34" charset="-122"/>
            </a:endParaRPr>
          </a:p>
          <a:p>
            <a:pPr algn="ctr"/>
            <a:r>
              <a:rPr lang="zh-CN" altLang="en-US" sz="1800" dirty="0">
                <a:solidFill>
                  <a:schemeClr val="bg1"/>
                </a:solidFill>
                <a:latin typeface="微软雅黑 Light" panose="020B0502040204020203" pitchFamily="34" charset="-122"/>
                <a:ea typeface="微软雅黑 Light" panose="020B0502040204020203" pitchFamily="34" charset="-122"/>
              </a:rPr>
              <a:t>服务器</a:t>
            </a:r>
            <a:endParaRPr lang="zh-CN" altLang="en-US" sz="1800" dirty="0">
              <a:solidFill>
                <a:schemeClr val="bg1"/>
              </a:solidFill>
              <a:latin typeface="微软雅黑 Light" panose="020B0502040204020203" pitchFamily="34" charset="-122"/>
              <a:ea typeface="微软雅黑 Light" panose="020B0502040204020203" pitchFamily="34" charset="-122"/>
            </a:endParaRPr>
          </a:p>
        </p:txBody>
      </p:sp>
      <p:cxnSp>
        <p:nvCxnSpPr>
          <p:cNvPr id="7" name="直接箭头连接符 6"/>
          <p:cNvCxnSpPr>
            <a:stCxn id="10" idx="2"/>
          </p:cNvCxnSpPr>
          <p:nvPr/>
        </p:nvCxnSpPr>
        <p:spPr>
          <a:xfrm>
            <a:off x="7151251" y="2564610"/>
            <a:ext cx="938162" cy="72688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8" name="Text Box 409"/>
          <p:cNvSpPr txBox="1">
            <a:spLocks noChangeArrowheads="1"/>
          </p:cNvSpPr>
          <p:nvPr/>
        </p:nvSpPr>
        <p:spPr bwMode="auto">
          <a:xfrm>
            <a:off x="10201554" y="3401486"/>
            <a:ext cx="12939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600" dirty="0">
                <a:latin typeface="微软雅黑 Light" panose="020B0502040204020203" pitchFamily="34" charset="-122"/>
                <a:ea typeface="微软雅黑 Light" panose="020B0502040204020203" pitchFamily="34" charset="-122"/>
              </a:rPr>
              <a:t>TCP</a:t>
            </a:r>
            <a:endParaRPr kumimoji="1" lang="en-US" altLang="zh-CN" sz="1600" dirty="0">
              <a:latin typeface="微软雅黑 Light" panose="020B0502040204020203" pitchFamily="34" charset="-122"/>
              <a:ea typeface="微软雅黑 Light" panose="020B0502040204020203" pitchFamily="34" charset="-122"/>
            </a:endParaRPr>
          </a:p>
          <a:p>
            <a:pPr algn="ctr" eaLnBrk="1" hangingPunct="1"/>
            <a:r>
              <a:rPr kumimoji="1" lang="zh-CN" altLang="en-US" sz="1600" dirty="0">
                <a:latin typeface="微软雅黑 Light" panose="020B0502040204020203" pitchFamily="34" charset="-122"/>
                <a:ea typeface="微软雅黑 Light" panose="020B0502040204020203" pitchFamily="34" charset="-122"/>
              </a:rPr>
              <a:t>熟知端口 </a:t>
            </a:r>
            <a:r>
              <a:rPr kumimoji="1" lang="en-US" altLang="zh-CN" sz="1600" dirty="0">
                <a:latin typeface="微软雅黑 Light" panose="020B0502040204020203" pitchFamily="34" charset="-122"/>
                <a:ea typeface="微软雅黑 Light" panose="020B0502040204020203" pitchFamily="34" charset="-122"/>
              </a:rPr>
              <a:t>25</a:t>
            </a:r>
            <a:endParaRPr kumimoji="1" lang="zh-CN" altLang="en-US" sz="1600" dirty="0">
              <a:latin typeface="微软雅黑 Light" panose="020B0502040204020203" pitchFamily="34" charset="-122"/>
              <a:ea typeface="微软雅黑 Light" panose="020B0502040204020203" pitchFamily="34" charset="-122"/>
            </a:endParaRPr>
          </a:p>
        </p:txBody>
      </p:sp>
      <p:sp>
        <p:nvSpPr>
          <p:cNvPr id="10" name="矩形 9"/>
          <p:cNvSpPr/>
          <p:nvPr/>
        </p:nvSpPr>
        <p:spPr>
          <a:xfrm>
            <a:off x="6667012" y="1903575"/>
            <a:ext cx="968477" cy="661035"/>
          </a:xfrm>
          <a:prstGeom prst="rect">
            <a:avLst/>
          </a:prstGeom>
          <a:solidFill>
            <a:srgbClr val="FFFF00"/>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chemeClr val="tx1"/>
                </a:solidFill>
                <a:latin typeface="微软雅黑 Light" panose="020B0502040204020203" pitchFamily="34" charset="-122"/>
                <a:ea typeface="微软雅黑 Light" panose="020B0502040204020203" pitchFamily="34" charset="-122"/>
              </a:rPr>
              <a:t>SMTP</a:t>
            </a:r>
            <a:endParaRPr lang="en-US" altLang="zh-CN" sz="1800" dirty="0">
              <a:solidFill>
                <a:schemeClr val="tx1"/>
              </a:solidFill>
              <a:latin typeface="微软雅黑 Light" panose="020B0502040204020203" pitchFamily="34" charset="-122"/>
              <a:ea typeface="微软雅黑 Light" panose="020B0502040204020203" pitchFamily="34" charset="-122"/>
            </a:endParaRPr>
          </a:p>
          <a:p>
            <a:pPr algn="ctr"/>
            <a:r>
              <a:rPr lang="zh-CN" altLang="en-US" sz="1800" dirty="0">
                <a:solidFill>
                  <a:schemeClr val="tx1"/>
                </a:solidFill>
                <a:latin typeface="微软雅黑 Light" panose="020B0502040204020203" pitchFamily="34" charset="-122"/>
                <a:ea typeface="微软雅黑 Light" panose="020B0502040204020203" pitchFamily="34" charset="-122"/>
              </a:rPr>
              <a:t>客户</a:t>
            </a:r>
            <a:endParaRPr lang="zh-CN" altLang="en-US" sz="1800" dirty="0">
              <a:solidFill>
                <a:schemeClr val="tx1"/>
              </a:solidFill>
              <a:latin typeface="微软雅黑 Light" panose="020B0502040204020203" pitchFamily="34" charset="-122"/>
              <a:ea typeface="微软雅黑 Light" panose="020B0502040204020203" pitchFamily="34" charset="-122"/>
            </a:endParaRPr>
          </a:p>
        </p:txBody>
      </p:sp>
      <p:cxnSp>
        <p:nvCxnSpPr>
          <p:cNvPr id="11" name="直接箭头连接符 10"/>
          <p:cNvCxnSpPr/>
          <p:nvPr/>
        </p:nvCxnSpPr>
        <p:spPr>
          <a:xfrm>
            <a:off x="9336360" y="3789040"/>
            <a:ext cx="1012652" cy="648072"/>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Freeform 1208"/>
          <p:cNvSpPr/>
          <p:nvPr/>
        </p:nvSpPr>
        <p:spPr bwMode="ltGray">
          <a:xfrm>
            <a:off x="7968208" y="2963598"/>
            <a:ext cx="1563847" cy="930803"/>
          </a:xfrm>
          <a:custGeom>
            <a:avLst/>
            <a:gdLst>
              <a:gd name="T0" fmla="*/ 603773 w 16320"/>
              <a:gd name="T1" fmla="*/ 22740 h 11943"/>
              <a:gd name="T2" fmla="*/ 669215 w 16320"/>
              <a:gd name="T3" fmla="*/ 9746 h 11943"/>
              <a:gd name="T4" fmla="*/ 745191 w 16320"/>
              <a:gd name="T5" fmla="*/ 1866 h 11943"/>
              <a:gd name="T6" fmla="*/ 902522 w 16320"/>
              <a:gd name="T7" fmla="*/ 5115 h 11943"/>
              <a:gd name="T8" fmla="*/ 1023620 w 16320"/>
              <a:gd name="T9" fmla="*/ 31484 h 11943"/>
              <a:gd name="T10" fmla="*/ 1077782 w 16320"/>
              <a:gd name="T11" fmla="*/ 71643 h 11943"/>
              <a:gd name="T12" fmla="*/ 1079649 w 16320"/>
              <a:gd name="T13" fmla="*/ 82529 h 11943"/>
              <a:gd name="T14" fmla="*/ 1090258 w 16320"/>
              <a:gd name="T15" fmla="*/ 86504 h 11943"/>
              <a:gd name="T16" fmla="*/ 1119542 w 16320"/>
              <a:gd name="T17" fmla="*/ 88543 h 11943"/>
              <a:gd name="T18" fmla="*/ 1186105 w 16320"/>
              <a:gd name="T19" fmla="*/ 108311 h 11943"/>
              <a:gd name="T20" fmla="*/ 1217855 w 16320"/>
              <a:gd name="T21" fmla="*/ 142871 h 11943"/>
              <a:gd name="T22" fmla="*/ 1208218 w 16320"/>
              <a:gd name="T23" fmla="*/ 181198 h 11943"/>
              <a:gd name="T24" fmla="*/ 1175945 w 16320"/>
              <a:gd name="T25" fmla="*/ 207533 h 11943"/>
              <a:gd name="T26" fmla="*/ 1128432 w 16320"/>
              <a:gd name="T27" fmla="*/ 226714 h 11943"/>
              <a:gd name="T28" fmla="*/ 1107365 w 16320"/>
              <a:gd name="T29" fmla="*/ 240745 h 11943"/>
              <a:gd name="T30" fmla="*/ 1135231 w 16320"/>
              <a:gd name="T31" fmla="*/ 261550 h 11943"/>
              <a:gd name="T32" fmla="*/ 1144046 w 16320"/>
              <a:gd name="T33" fmla="*/ 285742 h 11943"/>
              <a:gd name="T34" fmla="*/ 1124846 w 16320"/>
              <a:gd name="T35" fmla="*/ 316708 h 11943"/>
              <a:gd name="T36" fmla="*/ 1063065 w 16320"/>
              <a:gd name="T37" fmla="*/ 345358 h 11943"/>
              <a:gd name="T38" fmla="*/ 976256 w 16320"/>
              <a:gd name="T39" fmla="*/ 357765 h 11943"/>
              <a:gd name="T40" fmla="*/ 922020 w 16320"/>
              <a:gd name="T41" fmla="*/ 355795 h 11943"/>
              <a:gd name="T42" fmla="*/ 902447 w 16320"/>
              <a:gd name="T43" fmla="*/ 353203 h 11943"/>
              <a:gd name="T44" fmla="*/ 884219 w 16320"/>
              <a:gd name="T45" fmla="*/ 349713 h 11943"/>
              <a:gd name="T46" fmla="*/ 879139 w 16320"/>
              <a:gd name="T47" fmla="*/ 356625 h 11943"/>
              <a:gd name="T48" fmla="*/ 872415 w 16320"/>
              <a:gd name="T49" fmla="*/ 373144 h 11943"/>
              <a:gd name="T50" fmla="*/ 832672 w 16320"/>
              <a:gd name="T51" fmla="*/ 398131 h 11943"/>
              <a:gd name="T52" fmla="*/ 769471 w 16320"/>
              <a:gd name="T53" fmla="*/ 411471 h 11943"/>
              <a:gd name="T54" fmla="*/ 705149 w 16320"/>
              <a:gd name="T55" fmla="*/ 410711 h 11943"/>
              <a:gd name="T56" fmla="*/ 667646 w 16320"/>
              <a:gd name="T57" fmla="*/ 403488 h 11943"/>
              <a:gd name="T58" fmla="*/ 638511 w 16320"/>
              <a:gd name="T59" fmla="*/ 392049 h 11943"/>
              <a:gd name="T60" fmla="*/ 605790 w 16320"/>
              <a:gd name="T61" fmla="*/ 388247 h 11943"/>
              <a:gd name="T62" fmla="*/ 544979 w 16320"/>
              <a:gd name="T63" fmla="*/ 399030 h 11943"/>
              <a:gd name="T64" fmla="*/ 475578 w 16320"/>
              <a:gd name="T65" fmla="*/ 404006 h 11943"/>
              <a:gd name="T66" fmla="*/ 377788 w 16320"/>
              <a:gd name="T67" fmla="*/ 400170 h 11943"/>
              <a:gd name="T68" fmla="*/ 277009 w 16320"/>
              <a:gd name="T69" fmla="*/ 378812 h 11943"/>
              <a:gd name="T70" fmla="*/ 226060 w 16320"/>
              <a:gd name="T71" fmla="*/ 344909 h 11943"/>
              <a:gd name="T72" fmla="*/ 224641 w 16320"/>
              <a:gd name="T73" fmla="*/ 325486 h 11943"/>
              <a:gd name="T74" fmla="*/ 199614 w 16320"/>
              <a:gd name="T75" fmla="*/ 328596 h 11943"/>
              <a:gd name="T76" fmla="*/ 167266 w 16320"/>
              <a:gd name="T77" fmla="*/ 330635 h 11943"/>
              <a:gd name="T78" fmla="*/ 133798 w 16320"/>
              <a:gd name="T79" fmla="*/ 329841 h 11943"/>
              <a:gd name="T80" fmla="*/ 58719 w 16320"/>
              <a:gd name="T81" fmla="*/ 315602 h 11943"/>
              <a:gd name="T82" fmla="*/ 9861 w 16320"/>
              <a:gd name="T83" fmla="*/ 286571 h 11943"/>
              <a:gd name="T84" fmla="*/ 3138 w 16320"/>
              <a:gd name="T85" fmla="*/ 249661 h 11943"/>
              <a:gd name="T86" fmla="*/ 28239 w 16320"/>
              <a:gd name="T87" fmla="*/ 223845 h 11943"/>
              <a:gd name="T88" fmla="*/ 73286 w 16320"/>
              <a:gd name="T89" fmla="*/ 204491 h 11943"/>
              <a:gd name="T90" fmla="*/ 123937 w 16320"/>
              <a:gd name="T91" fmla="*/ 192637 h 11943"/>
              <a:gd name="T92" fmla="*/ 104364 w 16320"/>
              <a:gd name="T93" fmla="*/ 174493 h 11943"/>
              <a:gd name="T94" fmla="*/ 96669 w 16320"/>
              <a:gd name="T95" fmla="*/ 154345 h 11943"/>
              <a:gd name="T96" fmla="*/ 104663 w 16320"/>
              <a:gd name="T97" fmla="*/ 129220 h 11943"/>
              <a:gd name="T98" fmla="*/ 157256 w 16320"/>
              <a:gd name="T99" fmla="*/ 93450 h 11943"/>
              <a:gd name="T100" fmla="*/ 243242 w 16320"/>
              <a:gd name="T101" fmla="*/ 73544 h 11943"/>
              <a:gd name="T102" fmla="*/ 321161 w 16320"/>
              <a:gd name="T103" fmla="*/ 72576 h 11943"/>
              <a:gd name="T104" fmla="*/ 338268 w 16320"/>
              <a:gd name="T105" fmla="*/ 74339 h 11943"/>
              <a:gd name="T106" fmla="*/ 354479 w 16320"/>
              <a:gd name="T107" fmla="*/ 76723 h 11943"/>
              <a:gd name="T108" fmla="*/ 364639 w 16320"/>
              <a:gd name="T109" fmla="*/ 78036 h 11943"/>
              <a:gd name="T110" fmla="*/ 381224 w 16320"/>
              <a:gd name="T111" fmla="*/ 58164 h 11943"/>
              <a:gd name="T112" fmla="*/ 427168 w 16320"/>
              <a:gd name="T113" fmla="*/ 35735 h 11943"/>
              <a:gd name="T114" fmla="*/ 487605 w 16320"/>
              <a:gd name="T115" fmla="*/ 26749 h 11943"/>
              <a:gd name="T116" fmla="*/ 519281 w 16320"/>
              <a:gd name="T117" fmla="*/ 28685 h 11943"/>
              <a:gd name="T118" fmla="*/ 537210 w 16320"/>
              <a:gd name="T119" fmla="*/ 32106 h 11943"/>
              <a:gd name="T120" fmla="*/ 553048 w 16320"/>
              <a:gd name="T121" fmla="*/ 37048 h 1194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320" h="11943">
                <a:moveTo>
                  <a:pt x="7438" y="1101"/>
                </a:moveTo>
                <a:lnTo>
                  <a:pt x="7496" y="1053"/>
                </a:lnTo>
                <a:lnTo>
                  <a:pt x="7554" y="1006"/>
                </a:lnTo>
                <a:lnTo>
                  <a:pt x="7615" y="960"/>
                </a:lnTo>
                <a:lnTo>
                  <a:pt x="7678" y="914"/>
                </a:lnTo>
                <a:lnTo>
                  <a:pt x="7741" y="869"/>
                </a:lnTo>
                <a:lnTo>
                  <a:pt x="7806" y="825"/>
                </a:lnTo>
                <a:lnTo>
                  <a:pt x="7873" y="782"/>
                </a:lnTo>
                <a:lnTo>
                  <a:pt x="7942" y="740"/>
                </a:lnTo>
                <a:lnTo>
                  <a:pt x="8011" y="698"/>
                </a:lnTo>
                <a:lnTo>
                  <a:pt x="8082" y="658"/>
                </a:lnTo>
                <a:lnTo>
                  <a:pt x="8156" y="618"/>
                </a:lnTo>
                <a:lnTo>
                  <a:pt x="8229" y="580"/>
                </a:lnTo>
                <a:lnTo>
                  <a:pt x="8305" y="542"/>
                </a:lnTo>
                <a:lnTo>
                  <a:pt x="8382" y="506"/>
                </a:lnTo>
                <a:lnTo>
                  <a:pt x="8461" y="470"/>
                </a:lnTo>
                <a:lnTo>
                  <a:pt x="8540" y="436"/>
                </a:lnTo>
                <a:lnTo>
                  <a:pt x="8621" y="403"/>
                </a:lnTo>
                <a:lnTo>
                  <a:pt x="8704" y="371"/>
                </a:lnTo>
                <a:lnTo>
                  <a:pt x="8786" y="340"/>
                </a:lnTo>
                <a:lnTo>
                  <a:pt x="8871" y="310"/>
                </a:lnTo>
                <a:lnTo>
                  <a:pt x="8958" y="282"/>
                </a:lnTo>
                <a:lnTo>
                  <a:pt x="9044" y="255"/>
                </a:lnTo>
                <a:lnTo>
                  <a:pt x="9132" y="228"/>
                </a:lnTo>
                <a:lnTo>
                  <a:pt x="9222" y="204"/>
                </a:lnTo>
                <a:lnTo>
                  <a:pt x="9313" y="180"/>
                </a:lnTo>
                <a:lnTo>
                  <a:pt x="9403" y="158"/>
                </a:lnTo>
                <a:lnTo>
                  <a:pt x="9496" y="137"/>
                </a:lnTo>
                <a:lnTo>
                  <a:pt x="9590" y="118"/>
                </a:lnTo>
                <a:lnTo>
                  <a:pt x="9685" y="99"/>
                </a:lnTo>
                <a:lnTo>
                  <a:pt x="9780" y="83"/>
                </a:lnTo>
                <a:lnTo>
                  <a:pt x="9877" y="68"/>
                </a:lnTo>
                <a:lnTo>
                  <a:pt x="9975" y="54"/>
                </a:lnTo>
                <a:lnTo>
                  <a:pt x="10176" y="31"/>
                </a:lnTo>
                <a:lnTo>
                  <a:pt x="10375" y="13"/>
                </a:lnTo>
                <a:lnTo>
                  <a:pt x="10574" y="4"/>
                </a:lnTo>
                <a:lnTo>
                  <a:pt x="10771" y="0"/>
                </a:lnTo>
                <a:lnTo>
                  <a:pt x="10967" y="3"/>
                </a:lnTo>
                <a:lnTo>
                  <a:pt x="11160" y="12"/>
                </a:lnTo>
                <a:lnTo>
                  <a:pt x="11351" y="27"/>
                </a:lnTo>
                <a:lnTo>
                  <a:pt x="11538" y="48"/>
                </a:lnTo>
                <a:lnTo>
                  <a:pt x="11723" y="76"/>
                </a:lnTo>
                <a:lnTo>
                  <a:pt x="11903" y="109"/>
                </a:lnTo>
                <a:lnTo>
                  <a:pt x="12081" y="148"/>
                </a:lnTo>
                <a:lnTo>
                  <a:pt x="12254" y="192"/>
                </a:lnTo>
                <a:lnTo>
                  <a:pt x="12424" y="241"/>
                </a:lnTo>
                <a:lnTo>
                  <a:pt x="12588" y="296"/>
                </a:lnTo>
                <a:lnTo>
                  <a:pt x="12747" y="356"/>
                </a:lnTo>
                <a:lnTo>
                  <a:pt x="12902" y="421"/>
                </a:lnTo>
                <a:lnTo>
                  <a:pt x="13051" y="492"/>
                </a:lnTo>
                <a:lnTo>
                  <a:pt x="13194" y="566"/>
                </a:lnTo>
                <a:lnTo>
                  <a:pt x="13330" y="645"/>
                </a:lnTo>
                <a:lnTo>
                  <a:pt x="13461" y="729"/>
                </a:lnTo>
                <a:lnTo>
                  <a:pt x="13584" y="818"/>
                </a:lnTo>
                <a:lnTo>
                  <a:pt x="13702" y="911"/>
                </a:lnTo>
                <a:lnTo>
                  <a:pt x="13811" y="1008"/>
                </a:lnTo>
                <a:lnTo>
                  <a:pt x="13913" y="1108"/>
                </a:lnTo>
                <a:lnTo>
                  <a:pt x="14008" y="1214"/>
                </a:lnTo>
                <a:lnTo>
                  <a:pt x="14093" y="1322"/>
                </a:lnTo>
                <a:lnTo>
                  <a:pt x="14171" y="1434"/>
                </a:lnTo>
                <a:lnTo>
                  <a:pt x="14239" y="1550"/>
                </a:lnTo>
                <a:lnTo>
                  <a:pt x="14299" y="1669"/>
                </a:lnTo>
                <a:lnTo>
                  <a:pt x="14349" y="1791"/>
                </a:lnTo>
                <a:lnTo>
                  <a:pt x="14390" y="1916"/>
                </a:lnTo>
                <a:lnTo>
                  <a:pt x="14421" y="2044"/>
                </a:lnTo>
                <a:lnTo>
                  <a:pt x="14427" y="2073"/>
                </a:lnTo>
                <a:lnTo>
                  <a:pt x="14431" y="2102"/>
                </a:lnTo>
                <a:lnTo>
                  <a:pt x="14436" y="2131"/>
                </a:lnTo>
                <a:lnTo>
                  <a:pt x="14440" y="2159"/>
                </a:lnTo>
                <a:lnTo>
                  <a:pt x="14443" y="2188"/>
                </a:lnTo>
                <a:lnTo>
                  <a:pt x="14446" y="2217"/>
                </a:lnTo>
                <a:lnTo>
                  <a:pt x="14448" y="2245"/>
                </a:lnTo>
                <a:lnTo>
                  <a:pt x="14450" y="2274"/>
                </a:lnTo>
                <a:lnTo>
                  <a:pt x="14451" y="2303"/>
                </a:lnTo>
                <a:lnTo>
                  <a:pt x="14452" y="2331"/>
                </a:lnTo>
                <a:lnTo>
                  <a:pt x="14452" y="2360"/>
                </a:lnTo>
                <a:lnTo>
                  <a:pt x="14452" y="2388"/>
                </a:lnTo>
                <a:lnTo>
                  <a:pt x="14451" y="2417"/>
                </a:lnTo>
                <a:lnTo>
                  <a:pt x="14450" y="2445"/>
                </a:lnTo>
                <a:lnTo>
                  <a:pt x="14448" y="2474"/>
                </a:lnTo>
                <a:lnTo>
                  <a:pt x="14446" y="2502"/>
                </a:lnTo>
                <a:lnTo>
                  <a:pt x="14467" y="2502"/>
                </a:lnTo>
                <a:lnTo>
                  <a:pt x="14488" y="2501"/>
                </a:lnTo>
                <a:lnTo>
                  <a:pt x="14510" y="2501"/>
                </a:lnTo>
                <a:lnTo>
                  <a:pt x="14530" y="2501"/>
                </a:lnTo>
                <a:lnTo>
                  <a:pt x="14551" y="2502"/>
                </a:lnTo>
                <a:lnTo>
                  <a:pt x="14573" y="2502"/>
                </a:lnTo>
                <a:lnTo>
                  <a:pt x="14594" y="2503"/>
                </a:lnTo>
                <a:lnTo>
                  <a:pt x="14615" y="2504"/>
                </a:lnTo>
                <a:lnTo>
                  <a:pt x="14636" y="2505"/>
                </a:lnTo>
                <a:lnTo>
                  <a:pt x="14657" y="2507"/>
                </a:lnTo>
                <a:lnTo>
                  <a:pt x="14679" y="2508"/>
                </a:lnTo>
                <a:lnTo>
                  <a:pt x="14699" y="2510"/>
                </a:lnTo>
                <a:lnTo>
                  <a:pt x="14721" y="2512"/>
                </a:lnTo>
                <a:lnTo>
                  <a:pt x="14742" y="2515"/>
                </a:lnTo>
                <a:lnTo>
                  <a:pt x="14762" y="2517"/>
                </a:lnTo>
                <a:lnTo>
                  <a:pt x="14784" y="2520"/>
                </a:lnTo>
                <a:lnTo>
                  <a:pt x="14886" y="2538"/>
                </a:lnTo>
                <a:lnTo>
                  <a:pt x="14986" y="2562"/>
                </a:lnTo>
                <a:lnTo>
                  <a:pt x="15083" y="2591"/>
                </a:lnTo>
                <a:lnTo>
                  <a:pt x="15178" y="2624"/>
                </a:lnTo>
                <a:lnTo>
                  <a:pt x="15268" y="2663"/>
                </a:lnTo>
                <a:lnTo>
                  <a:pt x="15356" y="2706"/>
                </a:lnTo>
                <a:lnTo>
                  <a:pt x="15441" y="2755"/>
                </a:lnTo>
                <a:lnTo>
                  <a:pt x="15522" y="2808"/>
                </a:lnTo>
                <a:lnTo>
                  <a:pt x="15601" y="2865"/>
                </a:lnTo>
                <a:lnTo>
                  <a:pt x="15675" y="2927"/>
                </a:lnTo>
                <a:lnTo>
                  <a:pt x="15747" y="2991"/>
                </a:lnTo>
                <a:lnTo>
                  <a:pt x="15814" y="3061"/>
                </a:lnTo>
                <a:lnTo>
                  <a:pt x="15877" y="3134"/>
                </a:lnTo>
                <a:lnTo>
                  <a:pt x="15938" y="3210"/>
                </a:lnTo>
                <a:lnTo>
                  <a:pt x="15994" y="3290"/>
                </a:lnTo>
                <a:lnTo>
                  <a:pt x="16045" y="3373"/>
                </a:lnTo>
                <a:lnTo>
                  <a:pt x="16093" y="3459"/>
                </a:lnTo>
                <a:lnTo>
                  <a:pt x="16136" y="3548"/>
                </a:lnTo>
                <a:lnTo>
                  <a:pt x="16175" y="3641"/>
                </a:lnTo>
                <a:lnTo>
                  <a:pt x="16210" y="3735"/>
                </a:lnTo>
                <a:lnTo>
                  <a:pt x="16239" y="3831"/>
                </a:lnTo>
                <a:lnTo>
                  <a:pt x="16265" y="3931"/>
                </a:lnTo>
                <a:lnTo>
                  <a:pt x="16286" y="4031"/>
                </a:lnTo>
                <a:lnTo>
                  <a:pt x="16302" y="4134"/>
                </a:lnTo>
                <a:lnTo>
                  <a:pt x="16313" y="4239"/>
                </a:lnTo>
                <a:lnTo>
                  <a:pt x="16319" y="4345"/>
                </a:lnTo>
                <a:lnTo>
                  <a:pt x="16320" y="4453"/>
                </a:lnTo>
                <a:lnTo>
                  <a:pt x="16316" y="4562"/>
                </a:lnTo>
                <a:lnTo>
                  <a:pt x="16307" y="4672"/>
                </a:lnTo>
                <a:lnTo>
                  <a:pt x="16291" y="4783"/>
                </a:lnTo>
                <a:lnTo>
                  <a:pt x="16271" y="4895"/>
                </a:lnTo>
                <a:lnTo>
                  <a:pt x="16246" y="5007"/>
                </a:lnTo>
                <a:lnTo>
                  <a:pt x="16224" y="5087"/>
                </a:lnTo>
                <a:lnTo>
                  <a:pt x="16200" y="5165"/>
                </a:lnTo>
                <a:lnTo>
                  <a:pt x="16173" y="5243"/>
                </a:lnTo>
                <a:lnTo>
                  <a:pt x="16145" y="5319"/>
                </a:lnTo>
                <a:lnTo>
                  <a:pt x="16113" y="5394"/>
                </a:lnTo>
                <a:lnTo>
                  <a:pt x="16080" y="5468"/>
                </a:lnTo>
                <a:lnTo>
                  <a:pt x="16045" y="5540"/>
                </a:lnTo>
                <a:lnTo>
                  <a:pt x="16007" y="5611"/>
                </a:lnTo>
                <a:lnTo>
                  <a:pt x="15967" y="5680"/>
                </a:lnTo>
                <a:lnTo>
                  <a:pt x="15925" y="5749"/>
                </a:lnTo>
                <a:lnTo>
                  <a:pt x="15882" y="5815"/>
                </a:lnTo>
                <a:lnTo>
                  <a:pt x="15837" y="5880"/>
                </a:lnTo>
                <a:lnTo>
                  <a:pt x="15790" y="5943"/>
                </a:lnTo>
                <a:lnTo>
                  <a:pt x="15741" y="6005"/>
                </a:lnTo>
                <a:lnTo>
                  <a:pt x="15690" y="6064"/>
                </a:lnTo>
                <a:lnTo>
                  <a:pt x="15638" y="6123"/>
                </a:lnTo>
                <a:lnTo>
                  <a:pt x="15584" y="6179"/>
                </a:lnTo>
                <a:lnTo>
                  <a:pt x="15528" y="6233"/>
                </a:lnTo>
                <a:lnTo>
                  <a:pt x="15472" y="6287"/>
                </a:lnTo>
                <a:lnTo>
                  <a:pt x="15414" y="6337"/>
                </a:lnTo>
                <a:lnTo>
                  <a:pt x="15354" y="6386"/>
                </a:lnTo>
                <a:lnTo>
                  <a:pt x="15294" y="6432"/>
                </a:lnTo>
                <a:lnTo>
                  <a:pt x="15232" y="6477"/>
                </a:lnTo>
                <a:lnTo>
                  <a:pt x="15169" y="6520"/>
                </a:lnTo>
                <a:lnTo>
                  <a:pt x="15105" y="6560"/>
                </a:lnTo>
                <a:lnTo>
                  <a:pt x="15040" y="6599"/>
                </a:lnTo>
                <a:lnTo>
                  <a:pt x="14975" y="6635"/>
                </a:lnTo>
                <a:lnTo>
                  <a:pt x="14907" y="6669"/>
                </a:lnTo>
                <a:lnTo>
                  <a:pt x="14840" y="6700"/>
                </a:lnTo>
                <a:lnTo>
                  <a:pt x="14771" y="6730"/>
                </a:lnTo>
                <a:lnTo>
                  <a:pt x="14702" y="6757"/>
                </a:lnTo>
                <a:lnTo>
                  <a:pt x="14632" y="6781"/>
                </a:lnTo>
                <a:lnTo>
                  <a:pt x="14682" y="6825"/>
                </a:lnTo>
                <a:lnTo>
                  <a:pt x="14731" y="6871"/>
                </a:lnTo>
                <a:lnTo>
                  <a:pt x="14778" y="6918"/>
                </a:lnTo>
                <a:lnTo>
                  <a:pt x="14823" y="6966"/>
                </a:lnTo>
                <a:lnTo>
                  <a:pt x="14867" y="7015"/>
                </a:lnTo>
                <a:lnTo>
                  <a:pt x="14907" y="7065"/>
                </a:lnTo>
                <a:lnTo>
                  <a:pt x="14947" y="7117"/>
                </a:lnTo>
                <a:lnTo>
                  <a:pt x="14985" y="7171"/>
                </a:lnTo>
                <a:lnTo>
                  <a:pt x="15022" y="7224"/>
                </a:lnTo>
                <a:lnTo>
                  <a:pt x="15055" y="7279"/>
                </a:lnTo>
                <a:lnTo>
                  <a:pt x="15088" y="7336"/>
                </a:lnTo>
                <a:lnTo>
                  <a:pt x="15117" y="7392"/>
                </a:lnTo>
                <a:lnTo>
                  <a:pt x="15146" y="7450"/>
                </a:lnTo>
                <a:lnTo>
                  <a:pt x="15171" y="7509"/>
                </a:lnTo>
                <a:lnTo>
                  <a:pt x="15196" y="7568"/>
                </a:lnTo>
                <a:lnTo>
                  <a:pt x="15217" y="7629"/>
                </a:lnTo>
                <a:lnTo>
                  <a:pt x="15237" y="7690"/>
                </a:lnTo>
                <a:lnTo>
                  <a:pt x="15255" y="7752"/>
                </a:lnTo>
                <a:lnTo>
                  <a:pt x="15270" y="7814"/>
                </a:lnTo>
                <a:lnTo>
                  <a:pt x="15284" y="7878"/>
                </a:lnTo>
                <a:lnTo>
                  <a:pt x="15294" y="7941"/>
                </a:lnTo>
                <a:lnTo>
                  <a:pt x="15303" y="8006"/>
                </a:lnTo>
                <a:lnTo>
                  <a:pt x="15309" y="8070"/>
                </a:lnTo>
                <a:lnTo>
                  <a:pt x="15313" y="8136"/>
                </a:lnTo>
                <a:lnTo>
                  <a:pt x="15314" y="8201"/>
                </a:lnTo>
                <a:lnTo>
                  <a:pt x="15314" y="8268"/>
                </a:lnTo>
                <a:lnTo>
                  <a:pt x="15311" y="8333"/>
                </a:lnTo>
                <a:lnTo>
                  <a:pt x="15305" y="8401"/>
                </a:lnTo>
                <a:lnTo>
                  <a:pt x="15297" y="8468"/>
                </a:lnTo>
                <a:lnTo>
                  <a:pt x="15286" y="8534"/>
                </a:lnTo>
                <a:lnTo>
                  <a:pt x="15272" y="8602"/>
                </a:lnTo>
                <a:lnTo>
                  <a:pt x="15257" y="8669"/>
                </a:lnTo>
                <a:lnTo>
                  <a:pt x="15228" y="8773"/>
                </a:lnTo>
                <a:lnTo>
                  <a:pt x="15193" y="8874"/>
                </a:lnTo>
                <a:lnTo>
                  <a:pt x="15153" y="8974"/>
                </a:lnTo>
                <a:lnTo>
                  <a:pt x="15107" y="9070"/>
                </a:lnTo>
                <a:lnTo>
                  <a:pt x="15057" y="9164"/>
                </a:lnTo>
                <a:lnTo>
                  <a:pt x="15002" y="9255"/>
                </a:lnTo>
                <a:lnTo>
                  <a:pt x="14942" y="9343"/>
                </a:lnTo>
                <a:lnTo>
                  <a:pt x="14879" y="9429"/>
                </a:lnTo>
                <a:lnTo>
                  <a:pt x="14810" y="9511"/>
                </a:lnTo>
                <a:lnTo>
                  <a:pt x="14738" y="9590"/>
                </a:lnTo>
                <a:lnTo>
                  <a:pt x="14661" y="9666"/>
                </a:lnTo>
                <a:lnTo>
                  <a:pt x="14582" y="9739"/>
                </a:lnTo>
                <a:lnTo>
                  <a:pt x="14499" y="9807"/>
                </a:lnTo>
                <a:lnTo>
                  <a:pt x="14413" y="9873"/>
                </a:lnTo>
                <a:lnTo>
                  <a:pt x="14323" y="9934"/>
                </a:lnTo>
                <a:lnTo>
                  <a:pt x="14230" y="9993"/>
                </a:lnTo>
                <a:lnTo>
                  <a:pt x="14135" y="10047"/>
                </a:lnTo>
                <a:lnTo>
                  <a:pt x="14037" y="10097"/>
                </a:lnTo>
                <a:lnTo>
                  <a:pt x="13936" y="10143"/>
                </a:lnTo>
                <a:lnTo>
                  <a:pt x="13834" y="10185"/>
                </a:lnTo>
                <a:lnTo>
                  <a:pt x="13729" y="10222"/>
                </a:lnTo>
                <a:lnTo>
                  <a:pt x="13623" y="10256"/>
                </a:lnTo>
                <a:lnTo>
                  <a:pt x="13514" y="10285"/>
                </a:lnTo>
                <a:lnTo>
                  <a:pt x="13405" y="10308"/>
                </a:lnTo>
                <a:lnTo>
                  <a:pt x="13294" y="10328"/>
                </a:lnTo>
                <a:lnTo>
                  <a:pt x="13181" y="10342"/>
                </a:lnTo>
                <a:lnTo>
                  <a:pt x="13068" y="10352"/>
                </a:lnTo>
                <a:lnTo>
                  <a:pt x="12954" y="10358"/>
                </a:lnTo>
                <a:lnTo>
                  <a:pt x="12839" y="10357"/>
                </a:lnTo>
                <a:lnTo>
                  <a:pt x="12723" y="10351"/>
                </a:lnTo>
                <a:lnTo>
                  <a:pt x="12608" y="10341"/>
                </a:lnTo>
                <a:lnTo>
                  <a:pt x="12492" y="10325"/>
                </a:lnTo>
                <a:lnTo>
                  <a:pt x="12466" y="10321"/>
                </a:lnTo>
                <a:lnTo>
                  <a:pt x="12442" y="10316"/>
                </a:lnTo>
                <a:lnTo>
                  <a:pt x="12416" y="10311"/>
                </a:lnTo>
                <a:lnTo>
                  <a:pt x="12392" y="10306"/>
                </a:lnTo>
                <a:lnTo>
                  <a:pt x="12366" y="10301"/>
                </a:lnTo>
                <a:lnTo>
                  <a:pt x="12342" y="10295"/>
                </a:lnTo>
                <a:lnTo>
                  <a:pt x="12318" y="10290"/>
                </a:lnTo>
                <a:lnTo>
                  <a:pt x="12293" y="10284"/>
                </a:lnTo>
                <a:lnTo>
                  <a:pt x="12269" y="10278"/>
                </a:lnTo>
                <a:lnTo>
                  <a:pt x="12245" y="10272"/>
                </a:lnTo>
                <a:lnTo>
                  <a:pt x="12221" y="10264"/>
                </a:lnTo>
                <a:lnTo>
                  <a:pt x="12197" y="10258"/>
                </a:lnTo>
                <a:lnTo>
                  <a:pt x="12174" y="10251"/>
                </a:lnTo>
                <a:lnTo>
                  <a:pt x="12150" y="10244"/>
                </a:lnTo>
                <a:lnTo>
                  <a:pt x="12127" y="10236"/>
                </a:lnTo>
                <a:lnTo>
                  <a:pt x="12103" y="10228"/>
                </a:lnTo>
                <a:lnTo>
                  <a:pt x="12080" y="10220"/>
                </a:lnTo>
                <a:lnTo>
                  <a:pt x="12057" y="10212"/>
                </a:lnTo>
                <a:lnTo>
                  <a:pt x="12034" y="10204"/>
                </a:lnTo>
                <a:lnTo>
                  <a:pt x="12012" y="10196"/>
                </a:lnTo>
                <a:lnTo>
                  <a:pt x="11989" y="10186"/>
                </a:lnTo>
                <a:lnTo>
                  <a:pt x="11967" y="10177"/>
                </a:lnTo>
                <a:lnTo>
                  <a:pt x="11944" y="10168"/>
                </a:lnTo>
                <a:lnTo>
                  <a:pt x="11923" y="10159"/>
                </a:lnTo>
                <a:lnTo>
                  <a:pt x="11900" y="10150"/>
                </a:lnTo>
                <a:lnTo>
                  <a:pt x="11879" y="10139"/>
                </a:lnTo>
                <a:lnTo>
                  <a:pt x="11858" y="10129"/>
                </a:lnTo>
                <a:lnTo>
                  <a:pt x="11836" y="10119"/>
                </a:lnTo>
                <a:lnTo>
                  <a:pt x="11815" y="10109"/>
                </a:lnTo>
                <a:lnTo>
                  <a:pt x="11793" y="10098"/>
                </a:lnTo>
                <a:lnTo>
                  <a:pt x="11773" y="10087"/>
                </a:lnTo>
                <a:lnTo>
                  <a:pt x="11751" y="10076"/>
                </a:lnTo>
                <a:lnTo>
                  <a:pt x="11757" y="10111"/>
                </a:lnTo>
                <a:lnTo>
                  <a:pt x="11761" y="10144"/>
                </a:lnTo>
                <a:lnTo>
                  <a:pt x="11764" y="10179"/>
                </a:lnTo>
                <a:lnTo>
                  <a:pt x="11766" y="10213"/>
                </a:lnTo>
                <a:lnTo>
                  <a:pt x="11768" y="10248"/>
                </a:lnTo>
                <a:lnTo>
                  <a:pt x="11769" y="10283"/>
                </a:lnTo>
                <a:lnTo>
                  <a:pt x="11768" y="10319"/>
                </a:lnTo>
                <a:lnTo>
                  <a:pt x="11767" y="10353"/>
                </a:lnTo>
                <a:lnTo>
                  <a:pt x="11765" y="10388"/>
                </a:lnTo>
                <a:lnTo>
                  <a:pt x="11763" y="10424"/>
                </a:lnTo>
                <a:lnTo>
                  <a:pt x="11759" y="10459"/>
                </a:lnTo>
                <a:lnTo>
                  <a:pt x="11753" y="10495"/>
                </a:lnTo>
                <a:lnTo>
                  <a:pt x="11748" y="10531"/>
                </a:lnTo>
                <a:lnTo>
                  <a:pt x="11742" y="10567"/>
                </a:lnTo>
                <a:lnTo>
                  <a:pt x="11734" y="10602"/>
                </a:lnTo>
                <a:lnTo>
                  <a:pt x="11726" y="10637"/>
                </a:lnTo>
                <a:lnTo>
                  <a:pt x="11705" y="10718"/>
                </a:lnTo>
                <a:lnTo>
                  <a:pt x="11678" y="10797"/>
                </a:lnTo>
                <a:lnTo>
                  <a:pt x="11647" y="10874"/>
                </a:lnTo>
                <a:lnTo>
                  <a:pt x="11613" y="10949"/>
                </a:lnTo>
                <a:lnTo>
                  <a:pt x="11574" y="11021"/>
                </a:lnTo>
                <a:lnTo>
                  <a:pt x="11532" y="11092"/>
                </a:lnTo>
                <a:lnTo>
                  <a:pt x="11486" y="11161"/>
                </a:lnTo>
                <a:lnTo>
                  <a:pt x="11437" y="11226"/>
                </a:lnTo>
                <a:lnTo>
                  <a:pt x="11385" y="11291"/>
                </a:lnTo>
                <a:lnTo>
                  <a:pt x="11329" y="11352"/>
                </a:lnTo>
                <a:lnTo>
                  <a:pt x="11271" y="11411"/>
                </a:lnTo>
                <a:lnTo>
                  <a:pt x="11210" y="11467"/>
                </a:lnTo>
                <a:lnTo>
                  <a:pt x="11146" y="11520"/>
                </a:lnTo>
                <a:lnTo>
                  <a:pt x="11079" y="11570"/>
                </a:lnTo>
                <a:lnTo>
                  <a:pt x="11010" y="11619"/>
                </a:lnTo>
                <a:lnTo>
                  <a:pt x="10938" y="11664"/>
                </a:lnTo>
                <a:lnTo>
                  <a:pt x="10865" y="11705"/>
                </a:lnTo>
                <a:lnTo>
                  <a:pt x="10789" y="11744"/>
                </a:lnTo>
                <a:lnTo>
                  <a:pt x="10711" y="11779"/>
                </a:lnTo>
                <a:lnTo>
                  <a:pt x="10632" y="11811"/>
                </a:lnTo>
                <a:lnTo>
                  <a:pt x="10551" y="11841"/>
                </a:lnTo>
                <a:lnTo>
                  <a:pt x="10468" y="11866"/>
                </a:lnTo>
                <a:lnTo>
                  <a:pt x="10385" y="11888"/>
                </a:lnTo>
                <a:lnTo>
                  <a:pt x="10300" y="11906"/>
                </a:lnTo>
                <a:lnTo>
                  <a:pt x="10214" y="11922"/>
                </a:lnTo>
                <a:lnTo>
                  <a:pt x="10127" y="11932"/>
                </a:lnTo>
                <a:lnTo>
                  <a:pt x="10039" y="11939"/>
                </a:lnTo>
                <a:lnTo>
                  <a:pt x="9950" y="11943"/>
                </a:lnTo>
                <a:lnTo>
                  <a:pt x="9861" y="11942"/>
                </a:lnTo>
                <a:lnTo>
                  <a:pt x="9772" y="11938"/>
                </a:lnTo>
                <a:lnTo>
                  <a:pt x="9682" y="11929"/>
                </a:lnTo>
                <a:lnTo>
                  <a:pt x="9592" y="11917"/>
                </a:lnTo>
                <a:lnTo>
                  <a:pt x="9540" y="11906"/>
                </a:lnTo>
                <a:lnTo>
                  <a:pt x="9489" y="11896"/>
                </a:lnTo>
                <a:lnTo>
                  <a:pt x="9439" y="11884"/>
                </a:lnTo>
                <a:lnTo>
                  <a:pt x="9389" y="11871"/>
                </a:lnTo>
                <a:lnTo>
                  <a:pt x="9340" y="11856"/>
                </a:lnTo>
                <a:lnTo>
                  <a:pt x="9292" y="11841"/>
                </a:lnTo>
                <a:lnTo>
                  <a:pt x="9245" y="11824"/>
                </a:lnTo>
                <a:lnTo>
                  <a:pt x="9198" y="11806"/>
                </a:lnTo>
                <a:lnTo>
                  <a:pt x="9152" y="11787"/>
                </a:lnTo>
                <a:lnTo>
                  <a:pt x="9108" y="11766"/>
                </a:lnTo>
                <a:lnTo>
                  <a:pt x="9064" y="11746"/>
                </a:lnTo>
                <a:lnTo>
                  <a:pt x="9021" y="11723"/>
                </a:lnTo>
                <a:lnTo>
                  <a:pt x="8978" y="11699"/>
                </a:lnTo>
                <a:lnTo>
                  <a:pt x="8937" y="11675"/>
                </a:lnTo>
                <a:lnTo>
                  <a:pt x="8896" y="11649"/>
                </a:lnTo>
                <a:lnTo>
                  <a:pt x="8857" y="11623"/>
                </a:lnTo>
                <a:lnTo>
                  <a:pt x="8819" y="11595"/>
                </a:lnTo>
                <a:lnTo>
                  <a:pt x="8781" y="11567"/>
                </a:lnTo>
                <a:lnTo>
                  <a:pt x="8744" y="11538"/>
                </a:lnTo>
                <a:lnTo>
                  <a:pt x="8709" y="11508"/>
                </a:lnTo>
                <a:lnTo>
                  <a:pt x="8674" y="11477"/>
                </a:lnTo>
                <a:lnTo>
                  <a:pt x="8640" y="11444"/>
                </a:lnTo>
                <a:lnTo>
                  <a:pt x="8608" y="11413"/>
                </a:lnTo>
                <a:lnTo>
                  <a:pt x="8577" y="11379"/>
                </a:lnTo>
                <a:lnTo>
                  <a:pt x="8547" y="11344"/>
                </a:lnTo>
                <a:lnTo>
                  <a:pt x="8517" y="11309"/>
                </a:lnTo>
                <a:lnTo>
                  <a:pt x="8489" y="11273"/>
                </a:lnTo>
                <a:lnTo>
                  <a:pt x="8462" y="11237"/>
                </a:lnTo>
                <a:lnTo>
                  <a:pt x="8436" y="11201"/>
                </a:lnTo>
                <a:lnTo>
                  <a:pt x="8412" y="11163"/>
                </a:lnTo>
                <a:lnTo>
                  <a:pt x="8388" y="11124"/>
                </a:lnTo>
                <a:lnTo>
                  <a:pt x="8366" y="11085"/>
                </a:lnTo>
                <a:lnTo>
                  <a:pt x="8304" y="11124"/>
                </a:lnTo>
                <a:lnTo>
                  <a:pt x="8241" y="11162"/>
                </a:lnTo>
                <a:lnTo>
                  <a:pt x="8175" y="11199"/>
                </a:lnTo>
                <a:lnTo>
                  <a:pt x="8109" y="11234"/>
                </a:lnTo>
                <a:lnTo>
                  <a:pt x="8041" y="11269"/>
                </a:lnTo>
                <a:lnTo>
                  <a:pt x="7971" y="11302"/>
                </a:lnTo>
                <a:lnTo>
                  <a:pt x="7901" y="11335"/>
                </a:lnTo>
                <a:lnTo>
                  <a:pt x="7830" y="11366"/>
                </a:lnTo>
                <a:lnTo>
                  <a:pt x="7756" y="11395"/>
                </a:lnTo>
                <a:lnTo>
                  <a:pt x="7683" y="11424"/>
                </a:lnTo>
                <a:lnTo>
                  <a:pt x="7607" y="11451"/>
                </a:lnTo>
                <a:lnTo>
                  <a:pt x="7531" y="11476"/>
                </a:lnTo>
                <a:lnTo>
                  <a:pt x="7453" y="11501"/>
                </a:lnTo>
                <a:lnTo>
                  <a:pt x="7375" y="11524"/>
                </a:lnTo>
                <a:lnTo>
                  <a:pt x="7295" y="11546"/>
                </a:lnTo>
                <a:lnTo>
                  <a:pt x="7214" y="11566"/>
                </a:lnTo>
                <a:lnTo>
                  <a:pt x="7133" y="11586"/>
                </a:lnTo>
                <a:lnTo>
                  <a:pt x="7050" y="11603"/>
                </a:lnTo>
                <a:lnTo>
                  <a:pt x="6968" y="11620"/>
                </a:lnTo>
                <a:lnTo>
                  <a:pt x="6884" y="11634"/>
                </a:lnTo>
                <a:lnTo>
                  <a:pt x="6799" y="11647"/>
                </a:lnTo>
                <a:lnTo>
                  <a:pt x="6714" y="11659"/>
                </a:lnTo>
                <a:lnTo>
                  <a:pt x="6628" y="11669"/>
                </a:lnTo>
                <a:lnTo>
                  <a:pt x="6541" y="11678"/>
                </a:lnTo>
                <a:lnTo>
                  <a:pt x="6454" y="11684"/>
                </a:lnTo>
                <a:lnTo>
                  <a:pt x="6366" y="11690"/>
                </a:lnTo>
                <a:lnTo>
                  <a:pt x="6277" y="11694"/>
                </a:lnTo>
                <a:lnTo>
                  <a:pt x="6188" y="11696"/>
                </a:lnTo>
                <a:lnTo>
                  <a:pt x="6099" y="11696"/>
                </a:lnTo>
                <a:lnTo>
                  <a:pt x="6009" y="11695"/>
                </a:lnTo>
                <a:lnTo>
                  <a:pt x="5919" y="11693"/>
                </a:lnTo>
                <a:lnTo>
                  <a:pt x="5828" y="11688"/>
                </a:lnTo>
                <a:lnTo>
                  <a:pt x="5668" y="11677"/>
                </a:lnTo>
                <a:lnTo>
                  <a:pt x="5510" y="11660"/>
                </a:lnTo>
                <a:lnTo>
                  <a:pt x="5356" y="11637"/>
                </a:lnTo>
                <a:lnTo>
                  <a:pt x="5205" y="11610"/>
                </a:lnTo>
                <a:lnTo>
                  <a:pt x="5057" y="11579"/>
                </a:lnTo>
                <a:lnTo>
                  <a:pt x="4912" y="11543"/>
                </a:lnTo>
                <a:lnTo>
                  <a:pt x="4773" y="11502"/>
                </a:lnTo>
                <a:lnTo>
                  <a:pt x="4636" y="11457"/>
                </a:lnTo>
                <a:lnTo>
                  <a:pt x="4503" y="11408"/>
                </a:lnTo>
                <a:lnTo>
                  <a:pt x="4376" y="11355"/>
                </a:lnTo>
                <a:lnTo>
                  <a:pt x="4252" y="11298"/>
                </a:lnTo>
                <a:lnTo>
                  <a:pt x="4133" y="11237"/>
                </a:lnTo>
                <a:lnTo>
                  <a:pt x="4020" y="11174"/>
                </a:lnTo>
                <a:lnTo>
                  <a:pt x="3911" y="11106"/>
                </a:lnTo>
                <a:lnTo>
                  <a:pt x="3807" y="11036"/>
                </a:lnTo>
                <a:lnTo>
                  <a:pt x="3708" y="10961"/>
                </a:lnTo>
                <a:lnTo>
                  <a:pt x="3615" y="10884"/>
                </a:lnTo>
                <a:lnTo>
                  <a:pt x="3528" y="10804"/>
                </a:lnTo>
                <a:lnTo>
                  <a:pt x="3447" y="10722"/>
                </a:lnTo>
                <a:lnTo>
                  <a:pt x="3371" y="10637"/>
                </a:lnTo>
                <a:lnTo>
                  <a:pt x="3302" y="10549"/>
                </a:lnTo>
                <a:lnTo>
                  <a:pt x="3239" y="10459"/>
                </a:lnTo>
                <a:lnTo>
                  <a:pt x="3182" y="10368"/>
                </a:lnTo>
                <a:lnTo>
                  <a:pt x="3133" y="10274"/>
                </a:lnTo>
                <a:lnTo>
                  <a:pt x="3091" y="10177"/>
                </a:lnTo>
                <a:lnTo>
                  <a:pt x="3055" y="10079"/>
                </a:lnTo>
                <a:lnTo>
                  <a:pt x="3026" y="9980"/>
                </a:lnTo>
                <a:lnTo>
                  <a:pt x="3006" y="9879"/>
                </a:lnTo>
                <a:lnTo>
                  <a:pt x="2993" y="9777"/>
                </a:lnTo>
                <a:lnTo>
                  <a:pt x="2987" y="9673"/>
                </a:lnTo>
                <a:lnTo>
                  <a:pt x="2990" y="9568"/>
                </a:lnTo>
                <a:lnTo>
                  <a:pt x="3000" y="9462"/>
                </a:lnTo>
                <a:lnTo>
                  <a:pt x="3001" y="9455"/>
                </a:lnTo>
                <a:lnTo>
                  <a:pt x="3003" y="9448"/>
                </a:lnTo>
                <a:lnTo>
                  <a:pt x="3004" y="9441"/>
                </a:lnTo>
                <a:lnTo>
                  <a:pt x="3005" y="9433"/>
                </a:lnTo>
                <a:lnTo>
                  <a:pt x="3006" y="9425"/>
                </a:lnTo>
                <a:lnTo>
                  <a:pt x="3007" y="9418"/>
                </a:lnTo>
                <a:lnTo>
                  <a:pt x="3009" y="9411"/>
                </a:lnTo>
                <a:lnTo>
                  <a:pt x="3010" y="9404"/>
                </a:lnTo>
                <a:lnTo>
                  <a:pt x="2973" y="9417"/>
                </a:lnTo>
                <a:lnTo>
                  <a:pt x="2937" y="9430"/>
                </a:lnTo>
                <a:lnTo>
                  <a:pt x="2900" y="9444"/>
                </a:lnTo>
                <a:lnTo>
                  <a:pt x="2862" y="9456"/>
                </a:lnTo>
                <a:lnTo>
                  <a:pt x="2824" y="9467"/>
                </a:lnTo>
                <a:lnTo>
                  <a:pt x="2787" y="9479"/>
                </a:lnTo>
                <a:lnTo>
                  <a:pt x="2749" y="9489"/>
                </a:lnTo>
                <a:lnTo>
                  <a:pt x="2711" y="9499"/>
                </a:lnTo>
                <a:lnTo>
                  <a:pt x="2672" y="9508"/>
                </a:lnTo>
                <a:lnTo>
                  <a:pt x="2634" y="9517"/>
                </a:lnTo>
                <a:lnTo>
                  <a:pt x="2595" y="9525"/>
                </a:lnTo>
                <a:lnTo>
                  <a:pt x="2556" y="9532"/>
                </a:lnTo>
                <a:lnTo>
                  <a:pt x="2517" y="9538"/>
                </a:lnTo>
                <a:lnTo>
                  <a:pt x="2478" y="9544"/>
                </a:lnTo>
                <a:lnTo>
                  <a:pt x="2438" y="9549"/>
                </a:lnTo>
                <a:lnTo>
                  <a:pt x="2399" y="9554"/>
                </a:lnTo>
                <a:lnTo>
                  <a:pt x="2359" y="9559"/>
                </a:lnTo>
                <a:lnTo>
                  <a:pt x="2318" y="9562"/>
                </a:lnTo>
                <a:lnTo>
                  <a:pt x="2279" y="9565"/>
                </a:lnTo>
                <a:lnTo>
                  <a:pt x="2239" y="9567"/>
                </a:lnTo>
                <a:lnTo>
                  <a:pt x="2198" y="9568"/>
                </a:lnTo>
                <a:lnTo>
                  <a:pt x="2158" y="9569"/>
                </a:lnTo>
                <a:lnTo>
                  <a:pt x="2118" y="9569"/>
                </a:lnTo>
                <a:lnTo>
                  <a:pt x="2077" y="9568"/>
                </a:lnTo>
                <a:lnTo>
                  <a:pt x="2036" y="9567"/>
                </a:lnTo>
                <a:lnTo>
                  <a:pt x="1995" y="9565"/>
                </a:lnTo>
                <a:lnTo>
                  <a:pt x="1955" y="9562"/>
                </a:lnTo>
                <a:lnTo>
                  <a:pt x="1914" y="9559"/>
                </a:lnTo>
                <a:lnTo>
                  <a:pt x="1873" y="9554"/>
                </a:lnTo>
                <a:lnTo>
                  <a:pt x="1832" y="9549"/>
                </a:lnTo>
                <a:lnTo>
                  <a:pt x="1791" y="9544"/>
                </a:lnTo>
                <a:lnTo>
                  <a:pt x="1750" y="9537"/>
                </a:lnTo>
                <a:lnTo>
                  <a:pt x="1641" y="9517"/>
                </a:lnTo>
                <a:lnTo>
                  <a:pt x="1534" y="9491"/>
                </a:lnTo>
                <a:lnTo>
                  <a:pt x="1431" y="9461"/>
                </a:lnTo>
                <a:lnTo>
                  <a:pt x="1329" y="9426"/>
                </a:lnTo>
                <a:lnTo>
                  <a:pt x="1231" y="9387"/>
                </a:lnTo>
                <a:lnTo>
                  <a:pt x="1135" y="9344"/>
                </a:lnTo>
                <a:lnTo>
                  <a:pt x="1043" y="9297"/>
                </a:lnTo>
                <a:lnTo>
                  <a:pt x="955" y="9246"/>
                </a:lnTo>
                <a:lnTo>
                  <a:pt x="868" y="9191"/>
                </a:lnTo>
                <a:lnTo>
                  <a:pt x="786" y="9132"/>
                </a:lnTo>
                <a:lnTo>
                  <a:pt x="707" y="9071"/>
                </a:lnTo>
                <a:lnTo>
                  <a:pt x="631" y="9005"/>
                </a:lnTo>
                <a:lnTo>
                  <a:pt x="560" y="8937"/>
                </a:lnTo>
                <a:lnTo>
                  <a:pt x="492" y="8866"/>
                </a:lnTo>
                <a:lnTo>
                  <a:pt x="428" y="8791"/>
                </a:lnTo>
                <a:lnTo>
                  <a:pt x="368" y="8714"/>
                </a:lnTo>
                <a:lnTo>
                  <a:pt x="312" y="8635"/>
                </a:lnTo>
                <a:lnTo>
                  <a:pt x="260" y="8553"/>
                </a:lnTo>
                <a:lnTo>
                  <a:pt x="213" y="8468"/>
                </a:lnTo>
                <a:lnTo>
                  <a:pt x="170" y="8382"/>
                </a:lnTo>
                <a:lnTo>
                  <a:pt x="132" y="8292"/>
                </a:lnTo>
                <a:lnTo>
                  <a:pt x="98" y="8202"/>
                </a:lnTo>
                <a:lnTo>
                  <a:pt x="69" y="8110"/>
                </a:lnTo>
                <a:lnTo>
                  <a:pt x="45" y="8016"/>
                </a:lnTo>
                <a:lnTo>
                  <a:pt x="27" y="7921"/>
                </a:lnTo>
                <a:lnTo>
                  <a:pt x="12" y="7823"/>
                </a:lnTo>
                <a:lnTo>
                  <a:pt x="3" y="7726"/>
                </a:lnTo>
                <a:lnTo>
                  <a:pt x="0" y="7627"/>
                </a:lnTo>
                <a:lnTo>
                  <a:pt x="2" y="7527"/>
                </a:lnTo>
                <a:lnTo>
                  <a:pt x="9" y="7427"/>
                </a:lnTo>
                <a:lnTo>
                  <a:pt x="22" y="7325"/>
                </a:lnTo>
                <a:lnTo>
                  <a:pt x="42" y="7224"/>
                </a:lnTo>
                <a:lnTo>
                  <a:pt x="59" y="7149"/>
                </a:lnTo>
                <a:lnTo>
                  <a:pt x="80" y="7076"/>
                </a:lnTo>
                <a:lnTo>
                  <a:pt x="102" y="7005"/>
                </a:lnTo>
                <a:lnTo>
                  <a:pt x="128" y="6934"/>
                </a:lnTo>
                <a:lnTo>
                  <a:pt x="156" y="6864"/>
                </a:lnTo>
                <a:lnTo>
                  <a:pt x="187" y="6797"/>
                </a:lnTo>
                <a:lnTo>
                  <a:pt x="220" y="6730"/>
                </a:lnTo>
                <a:lnTo>
                  <a:pt x="256" y="6665"/>
                </a:lnTo>
                <a:lnTo>
                  <a:pt x="295" y="6601"/>
                </a:lnTo>
                <a:lnTo>
                  <a:pt x="336" y="6539"/>
                </a:lnTo>
                <a:lnTo>
                  <a:pt x="378" y="6477"/>
                </a:lnTo>
                <a:lnTo>
                  <a:pt x="423" y="6418"/>
                </a:lnTo>
                <a:lnTo>
                  <a:pt x="470" y="6359"/>
                </a:lnTo>
                <a:lnTo>
                  <a:pt x="519" y="6304"/>
                </a:lnTo>
                <a:lnTo>
                  <a:pt x="571" y="6249"/>
                </a:lnTo>
                <a:lnTo>
                  <a:pt x="624" y="6197"/>
                </a:lnTo>
                <a:lnTo>
                  <a:pt x="679" y="6145"/>
                </a:lnTo>
                <a:lnTo>
                  <a:pt x="736" y="6096"/>
                </a:lnTo>
                <a:lnTo>
                  <a:pt x="795" y="6048"/>
                </a:lnTo>
                <a:lnTo>
                  <a:pt x="856" y="6003"/>
                </a:lnTo>
                <a:lnTo>
                  <a:pt x="917" y="5959"/>
                </a:lnTo>
                <a:lnTo>
                  <a:pt x="981" y="5917"/>
                </a:lnTo>
                <a:lnTo>
                  <a:pt x="1047" y="5878"/>
                </a:lnTo>
                <a:lnTo>
                  <a:pt x="1113" y="5840"/>
                </a:lnTo>
                <a:lnTo>
                  <a:pt x="1181" y="5804"/>
                </a:lnTo>
                <a:lnTo>
                  <a:pt x="1250" y="5770"/>
                </a:lnTo>
                <a:lnTo>
                  <a:pt x="1321" y="5740"/>
                </a:lnTo>
                <a:lnTo>
                  <a:pt x="1392" y="5711"/>
                </a:lnTo>
                <a:lnTo>
                  <a:pt x="1465" y="5683"/>
                </a:lnTo>
                <a:lnTo>
                  <a:pt x="1539" y="5659"/>
                </a:lnTo>
                <a:lnTo>
                  <a:pt x="1614" y="5637"/>
                </a:lnTo>
                <a:lnTo>
                  <a:pt x="1690" y="5618"/>
                </a:lnTo>
                <a:lnTo>
                  <a:pt x="1659" y="5574"/>
                </a:lnTo>
                <a:lnTo>
                  <a:pt x="1629" y="5529"/>
                </a:lnTo>
                <a:lnTo>
                  <a:pt x="1600" y="5484"/>
                </a:lnTo>
                <a:lnTo>
                  <a:pt x="1573" y="5437"/>
                </a:lnTo>
                <a:lnTo>
                  <a:pt x="1546" y="5391"/>
                </a:lnTo>
                <a:lnTo>
                  <a:pt x="1522" y="5344"/>
                </a:lnTo>
                <a:lnTo>
                  <a:pt x="1498" y="5296"/>
                </a:lnTo>
                <a:lnTo>
                  <a:pt x="1475" y="5248"/>
                </a:lnTo>
                <a:lnTo>
                  <a:pt x="1454" y="5199"/>
                </a:lnTo>
                <a:lnTo>
                  <a:pt x="1434" y="5150"/>
                </a:lnTo>
                <a:lnTo>
                  <a:pt x="1415" y="5099"/>
                </a:lnTo>
                <a:lnTo>
                  <a:pt x="1397" y="5049"/>
                </a:lnTo>
                <a:lnTo>
                  <a:pt x="1381" y="4998"/>
                </a:lnTo>
                <a:lnTo>
                  <a:pt x="1367" y="4947"/>
                </a:lnTo>
                <a:lnTo>
                  <a:pt x="1353" y="4895"/>
                </a:lnTo>
                <a:lnTo>
                  <a:pt x="1340" y="4842"/>
                </a:lnTo>
                <a:lnTo>
                  <a:pt x="1330" y="4790"/>
                </a:lnTo>
                <a:lnTo>
                  <a:pt x="1320" y="4737"/>
                </a:lnTo>
                <a:lnTo>
                  <a:pt x="1312" y="4683"/>
                </a:lnTo>
                <a:lnTo>
                  <a:pt x="1306" y="4629"/>
                </a:lnTo>
                <a:lnTo>
                  <a:pt x="1301" y="4575"/>
                </a:lnTo>
                <a:lnTo>
                  <a:pt x="1296" y="4521"/>
                </a:lnTo>
                <a:lnTo>
                  <a:pt x="1294" y="4466"/>
                </a:lnTo>
                <a:lnTo>
                  <a:pt x="1293" y="4411"/>
                </a:lnTo>
                <a:lnTo>
                  <a:pt x="1293" y="4356"/>
                </a:lnTo>
                <a:lnTo>
                  <a:pt x="1295" y="4300"/>
                </a:lnTo>
                <a:lnTo>
                  <a:pt x="1299" y="4244"/>
                </a:lnTo>
                <a:lnTo>
                  <a:pt x="1305" y="4189"/>
                </a:lnTo>
                <a:lnTo>
                  <a:pt x="1312" y="4132"/>
                </a:lnTo>
                <a:lnTo>
                  <a:pt x="1320" y="4076"/>
                </a:lnTo>
                <a:lnTo>
                  <a:pt x="1329" y="4020"/>
                </a:lnTo>
                <a:lnTo>
                  <a:pt x="1340" y="3963"/>
                </a:lnTo>
                <a:lnTo>
                  <a:pt x="1369" y="3850"/>
                </a:lnTo>
                <a:lnTo>
                  <a:pt x="1401" y="3739"/>
                </a:lnTo>
                <a:lnTo>
                  <a:pt x="1441" y="3630"/>
                </a:lnTo>
                <a:lnTo>
                  <a:pt x="1486" y="3524"/>
                </a:lnTo>
                <a:lnTo>
                  <a:pt x="1536" y="3420"/>
                </a:lnTo>
                <a:lnTo>
                  <a:pt x="1591" y="3320"/>
                </a:lnTo>
                <a:lnTo>
                  <a:pt x="1650" y="3223"/>
                </a:lnTo>
                <a:lnTo>
                  <a:pt x="1716" y="3127"/>
                </a:lnTo>
                <a:lnTo>
                  <a:pt x="1785" y="3036"/>
                </a:lnTo>
                <a:lnTo>
                  <a:pt x="1858" y="2948"/>
                </a:lnTo>
                <a:lnTo>
                  <a:pt x="1937" y="2863"/>
                </a:lnTo>
                <a:lnTo>
                  <a:pt x="2019" y="2782"/>
                </a:lnTo>
                <a:lnTo>
                  <a:pt x="2105" y="2704"/>
                </a:lnTo>
                <a:lnTo>
                  <a:pt x="2195" y="2631"/>
                </a:lnTo>
                <a:lnTo>
                  <a:pt x="2288" y="2561"/>
                </a:lnTo>
                <a:lnTo>
                  <a:pt x="2385" y="2494"/>
                </a:lnTo>
                <a:lnTo>
                  <a:pt x="2484" y="2433"/>
                </a:lnTo>
                <a:lnTo>
                  <a:pt x="2587" y="2376"/>
                </a:lnTo>
                <a:lnTo>
                  <a:pt x="2693" y="2322"/>
                </a:lnTo>
                <a:lnTo>
                  <a:pt x="2801" y="2274"/>
                </a:lnTo>
                <a:lnTo>
                  <a:pt x="2911" y="2230"/>
                </a:lnTo>
                <a:lnTo>
                  <a:pt x="3024" y="2191"/>
                </a:lnTo>
                <a:lnTo>
                  <a:pt x="3139" y="2157"/>
                </a:lnTo>
                <a:lnTo>
                  <a:pt x="3256" y="2128"/>
                </a:lnTo>
                <a:lnTo>
                  <a:pt x="3374" y="2104"/>
                </a:lnTo>
                <a:lnTo>
                  <a:pt x="3495" y="2085"/>
                </a:lnTo>
                <a:lnTo>
                  <a:pt x="3616" y="2071"/>
                </a:lnTo>
                <a:lnTo>
                  <a:pt x="3738" y="2064"/>
                </a:lnTo>
                <a:lnTo>
                  <a:pt x="3862" y="2061"/>
                </a:lnTo>
                <a:lnTo>
                  <a:pt x="3985" y="2065"/>
                </a:lnTo>
                <a:lnTo>
                  <a:pt x="4111" y="2074"/>
                </a:lnTo>
                <a:lnTo>
                  <a:pt x="4235" y="2090"/>
                </a:lnTo>
                <a:lnTo>
                  <a:pt x="4256" y="2094"/>
                </a:lnTo>
                <a:lnTo>
                  <a:pt x="4278" y="2097"/>
                </a:lnTo>
                <a:lnTo>
                  <a:pt x="4299" y="2100"/>
                </a:lnTo>
                <a:lnTo>
                  <a:pt x="4321" y="2104"/>
                </a:lnTo>
                <a:lnTo>
                  <a:pt x="4342" y="2108"/>
                </a:lnTo>
                <a:lnTo>
                  <a:pt x="4363" y="2112"/>
                </a:lnTo>
                <a:lnTo>
                  <a:pt x="4384" y="2116"/>
                </a:lnTo>
                <a:lnTo>
                  <a:pt x="4404" y="2120"/>
                </a:lnTo>
                <a:lnTo>
                  <a:pt x="4425" y="2126"/>
                </a:lnTo>
                <a:lnTo>
                  <a:pt x="4446" y="2131"/>
                </a:lnTo>
                <a:lnTo>
                  <a:pt x="4467" y="2135"/>
                </a:lnTo>
                <a:lnTo>
                  <a:pt x="4487" y="2140"/>
                </a:lnTo>
                <a:lnTo>
                  <a:pt x="4507" y="2145"/>
                </a:lnTo>
                <a:lnTo>
                  <a:pt x="4528" y="2151"/>
                </a:lnTo>
                <a:lnTo>
                  <a:pt x="4548" y="2156"/>
                </a:lnTo>
                <a:lnTo>
                  <a:pt x="4568" y="2162"/>
                </a:lnTo>
                <a:lnTo>
                  <a:pt x="4588" y="2168"/>
                </a:lnTo>
                <a:lnTo>
                  <a:pt x="4608" y="2174"/>
                </a:lnTo>
                <a:lnTo>
                  <a:pt x="4628" y="2180"/>
                </a:lnTo>
                <a:lnTo>
                  <a:pt x="4648" y="2186"/>
                </a:lnTo>
                <a:lnTo>
                  <a:pt x="4668" y="2193"/>
                </a:lnTo>
                <a:lnTo>
                  <a:pt x="4687" y="2199"/>
                </a:lnTo>
                <a:lnTo>
                  <a:pt x="4706" y="2207"/>
                </a:lnTo>
                <a:lnTo>
                  <a:pt x="4726" y="2213"/>
                </a:lnTo>
                <a:lnTo>
                  <a:pt x="4745" y="2220"/>
                </a:lnTo>
                <a:lnTo>
                  <a:pt x="4764" y="2227"/>
                </a:lnTo>
                <a:lnTo>
                  <a:pt x="4784" y="2234"/>
                </a:lnTo>
                <a:lnTo>
                  <a:pt x="4802" y="2242"/>
                </a:lnTo>
                <a:lnTo>
                  <a:pt x="4822" y="2250"/>
                </a:lnTo>
                <a:lnTo>
                  <a:pt x="4840" y="2258"/>
                </a:lnTo>
                <a:lnTo>
                  <a:pt x="4859" y="2265"/>
                </a:lnTo>
                <a:lnTo>
                  <a:pt x="4878" y="2273"/>
                </a:lnTo>
                <a:lnTo>
                  <a:pt x="4879" y="2269"/>
                </a:lnTo>
                <a:lnTo>
                  <a:pt x="4880" y="2266"/>
                </a:lnTo>
                <a:lnTo>
                  <a:pt x="4880" y="2262"/>
                </a:lnTo>
                <a:lnTo>
                  <a:pt x="4881" y="2258"/>
                </a:lnTo>
                <a:lnTo>
                  <a:pt x="4882" y="2254"/>
                </a:lnTo>
                <a:lnTo>
                  <a:pt x="4883" y="2250"/>
                </a:lnTo>
                <a:lnTo>
                  <a:pt x="4884" y="2245"/>
                </a:lnTo>
                <a:lnTo>
                  <a:pt x="4884" y="2242"/>
                </a:lnTo>
                <a:lnTo>
                  <a:pt x="4905" y="2156"/>
                </a:lnTo>
                <a:lnTo>
                  <a:pt x="4930" y="2073"/>
                </a:lnTo>
                <a:lnTo>
                  <a:pt x="4958" y="1991"/>
                </a:lnTo>
                <a:lnTo>
                  <a:pt x="4990" y="1912"/>
                </a:lnTo>
                <a:lnTo>
                  <a:pt x="5025" y="1834"/>
                </a:lnTo>
                <a:lnTo>
                  <a:pt x="5062" y="1757"/>
                </a:lnTo>
                <a:lnTo>
                  <a:pt x="5103" y="1683"/>
                </a:lnTo>
                <a:lnTo>
                  <a:pt x="5147" y="1611"/>
                </a:lnTo>
                <a:lnTo>
                  <a:pt x="5193" y="1542"/>
                </a:lnTo>
                <a:lnTo>
                  <a:pt x="5243" y="1474"/>
                </a:lnTo>
                <a:lnTo>
                  <a:pt x="5294" y="1410"/>
                </a:lnTo>
                <a:lnTo>
                  <a:pt x="5349" y="1348"/>
                </a:lnTo>
                <a:lnTo>
                  <a:pt x="5405" y="1288"/>
                </a:lnTo>
                <a:lnTo>
                  <a:pt x="5464" y="1231"/>
                </a:lnTo>
                <a:lnTo>
                  <a:pt x="5524" y="1177"/>
                </a:lnTo>
                <a:lnTo>
                  <a:pt x="5588" y="1127"/>
                </a:lnTo>
                <a:lnTo>
                  <a:pt x="5652" y="1079"/>
                </a:lnTo>
                <a:lnTo>
                  <a:pt x="5718" y="1034"/>
                </a:lnTo>
                <a:lnTo>
                  <a:pt x="5785" y="992"/>
                </a:lnTo>
                <a:lnTo>
                  <a:pt x="5856" y="954"/>
                </a:lnTo>
                <a:lnTo>
                  <a:pt x="5926" y="919"/>
                </a:lnTo>
                <a:lnTo>
                  <a:pt x="5998" y="887"/>
                </a:lnTo>
                <a:lnTo>
                  <a:pt x="6071" y="859"/>
                </a:lnTo>
                <a:lnTo>
                  <a:pt x="6146" y="836"/>
                </a:lnTo>
                <a:lnTo>
                  <a:pt x="6220" y="815"/>
                </a:lnTo>
                <a:lnTo>
                  <a:pt x="6296" y="799"/>
                </a:lnTo>
                <a:lnTo>
                  <a:pt x="6373" y="787"/>
                </a:lnTo>
                <a:lnTo>
                  <a:pt x="6449" y="779"/>
                </a:lnTo>
                <a:lnTo>
                  <a:pt x="6527" y="774"/>
                </a:lnTo>
                <a:lnTo>
                  <a:pt x="6605" y="774"/>
                </a:lnTo>
                <a:lnTo>
                  <a:pt x="6682" y="779"/>
                </a:lnTo>
                <a:lnTo>
                  <a:pt x="6761" y="788"/>
                </a:lnTo>
                <a:lnTo>
                  <a:pt x="6785" y="792"/>
                </a:lnTo>
                <a:lnTo>
                  <a:pt x="6810" y="796"/>
                </a:lnTo>
                <a:lnTo>
                  <a:pt x="6833" y="801"/>
                </a:lnTo>
                <a:lnTo>
                  <a:pt x="6857" y="806"/>
                </a:lnTo>
                <a:lnTo>
                  <a:pt x="6881" y="811"/>
                </a:lnTo>
                <a:lnTo>
                  <a:pt x="6904" y="817"/>
                </a:lnTo>
                <a:lnTo>
                  <a:pt x="6928" y="824"/>
                </a:lnTo>
                <a:lnTo>
                  <a:pt x="6951" y="830"/>
                </a:lnTo>
                <a:lnTo>
                  <a:pt x="6974" y="837"/>
                </a:lnTo>
                <a:lnTo>
                  <a:pt x="6996" y="844"/>
                </a:lnTo>
                <a:lnTo>
                  <a:pt x="7019" y="852"/>
                </a:lnTo>
                <a:lnTo>
                  <a:pt x="7041" y="860"/>
                </a:lnTo>
                <a:lnTo>
                  <a:pt x="7064" y="870"/>
                </a:lnTo>
                <a:lnTo>
                  <a:pt x="7085" y="878"/>
                </a:lnTo>
                <a:lnTo>
                  <a:pt x="7106" y="888"/>
                </a:lnTo>
                <a:lnTo>
                  <a:pt x="7128" y="897"/>
                </a:lnTo>
                <a:lnTo>
                  <a:pt x="7149" y="908"/>
                </a:lnTo>
                <a:lnTo>
                  <a:pt x="7171" y="918"/>
                </a:lnTo>
                <a:lnTo>
                  <a:pt x="7191" y="929"/>
                </a:lnTo>
                <a:lnTo>
                  <a:pt x="7211" y="940"/>
                </a:lnTo>
                <a:lnTo>
                  <a:pt x="7232" y="952"/>
                </a:lnTo>
                <a:lnTo>
                  <a:pt x="7251" y="964"/>
                </a:lnTo>
                <a:lnTo>
                  <a:pt x="7272" y="976"/>
                </a:lnTo>
                <a:lnTo>
                  <a:pt x="7291" y="989"/>
                </a:lnTo>
                <a:lnTo>
                  <a:pt x="7310" y="1002"/>
                </a:lnTo>
                <a:lnTo>
                  <a:pt x="7330" y="1015"/>
                </a:lnTo>
                <a:lnTo>
                  <a:pt x="7348" y="1028"/>
                </a:lnTo>
                <a:lnTo>
                  <a:pt x="7366" y="1043"/>
                </a:lnTo>
                <a:lnTo>
                  <a:pt x="7385" y="1057"/>
                </a:lnTo>
                <a:lnTo>
                  <a:pt x="7403" y="1072"/>
                </a:lnTo>
                <a:lnTo>
                  <a:pt x="7421" y="1086"/>
                </a:lnTo>
                <a:lnTo>
                  <a:pt x="7438" y="1101"/>
                </a:lnTo>
                <a:close/>
              </a:path>
            </a:pathLst>
          </a:custGeom>
          <a:solidFill>
            <a:schemeClr val="bg1"/>
          </a:solidFill>
          <a:ln>
            <a:solidFill>
              <a:schemeClr val="tx1"/>
            </a:solidFill>
          </a:ln>
          <a:effectLst>
            <a:outerShdw dist="40161" dir="4293903" algn="ctr" rotWithShape="0">
              <a:srgbClr val="666633"/>
            </a:outerShdw>
          </a:effectLst>
        </p:spPr>
        <p:txBody>
          <a:bodyPr wrap="square" lIns="29956" tIns="14979" rIns="29956" bIns="14979" anchor="ctr" anchorCtr="1">
            <a:noAutofit/>
          </a:bodyPr>
          <a:lstStyle/>
          <a:p>
            <a:r>
              <a:rPr lang="zh-CN" altLang="en-US" sz="1800" dirty="0">
                <a:latin typeface="微软雅黑 Light" panose="020B0502040204020203" pitchFamily="34" charset="-122"/>
                <a:ea typeface="微软雅黑 Light" panose="020B0502040204020203" pitchFamily="34" charset="-122"/>
              </a:rPr>
              <a:t>互联网</a:t>
            </a:r>
            <a:endParaRPr lang="zh-CN" altLang="en-US" sz="1800" dirty="0">
              <a:latin typeface="微软雅黑 Light" panose="020B0502040204020203" pitchFamily="34" charset="-122"/>
              <a:ea typeface="微软雅黑 Light" panose="020B0502040204020203" pitchFamily="34" charset="-122"/>
            </a:endParaRPr>
          </a:p>
        </p:txBody>
      </p:sp>
      <p:sp>
        <p:nvSpPr>
          <p:cNvPr id="13" name="Text Box 409"/>
          <p:cNvSpPr txBox="1">
            <a:spLocks noChangeArrowheads="1"/>
          </p:cNvSpPr>
          <p:nvPr/>
        </p:nvSpPr>
        <p:spPr bwMode="auto">
          <a:xfrm>
            <a:off x="6614929" y="1347890"/>
            <a:ext cx="10054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600" dirty="0">
                <a:latin typeface="微软雅黑 Light" panose="020B0502040204020203" pitchFamily="34" charset="-122"/>
                <a:ea typeface="微软雅黑 Light" panose="020B0502040204020203" pitchFamily="34" charset="-122"/>
              </a:rPr>
              <a:t>TCP</a:t>
            </a:r>
            <a:endParaRPr kumimoji="1" lang="en-US" altLang="zh-CN" sz="1600" dirty="0">
              <a:latin typeface="微软雅黑 Light" panose="020B0502040204020203" pitchFamily="34" charset="-122"/>
              <a:ea typeface="微软雅黑 Light" panose="020B0502040204020203" pitchFamily="34" charset="-122"/>
            </a:endParaRPr>
          </a:p>
          <a:p>
            <a:pPr algn="ctr" eaLnBrk="1" hangingPunct="1"/>
            <a:r>
              <a:rPr kumimoji="1" lang="zh-CN" altLang="en-US" sz="1600" dirty="0">
                <a:latin typeface="微软雅黑 Light" panose="020B0502040204020203" pitchFamily="34" charset="-122"/>
                <a:ea typeface="微软雅黑 Light" panose="020B0502040204020203" pitchFamily="34" charset="-122"/>
              </a:rPr>
              <a:t>临时端口</a:t>
            </a:r>
            <a:endParaRPr kumimoji="1" lang="zh-CN" altLang="en-US" sz="16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SMTP </a:t>
            </a:r>
            <a:r>
              <a:rPr lang="zh-CN" altLang="en-US" dirty="0"/>
              <a:t>通信的三个阶段</a:t>
            </a:r>
            <a:r>
              <a:rPr lang="en-US" altLang="zh-CN" dirty="0"/>
              <a:t>——</a:t>
            </a:r>
            <a:r>
              <a:rPr lang="zh-CN" altLang="en-US" dirty="0"/>
              <a:t>建立阶段</a:t>
            </a:r>
            <a:endParaRPr lang="zh-CN" altLang="en-US" dirty="0"/>
          </a:p>
        </p:txBody>
      </p:sp>
      <p:sp>
        <p:nvSpPr>
          <p:cNvPr id="3" name="内容占位符 2"/>
          <p:cNvSpPr>
            <a:spLocks noGrp="1"/>
          </p:cNvSpPr>
          <p:nvPr>
            <p:ph idx="1"/>
          </p:nvPr>
        </p:nvSpPr>
        <p:spPr>
          <a:xfrm>
            <a:off x="334435" y="1052514"/>
            <a:ext cx="5405418" cy="5437187"/>
          </a:xfrm>
        </p:spPr>
        <p:txBody>
          <a:bodyPr/>
          <a:lstStyle/>
          <a:p>
            <a:r>
              <a:rPr lang="zh-CN" altLang="en-US" dirty="0"/>
              <a:t>使用</a:t>
            </a:r>
            <a:r>
              <a:rPr lang="en-US" altLang="zh-CN" dirty="0"/>
              <a:t>SMTP</a:t>
            </a:r>
            <a:r>
              <a:rPr lang="zh-CN" altLang="en-US" dirty="0"/>
              <a:t>的默认端口（</a:t>
            </a:r>
            <a:r>
              <a:rPr lang="en-US" altLang="zh-CN" dirty="0"/>
              <a:t>25</a:t>
            </a:r>
            <a:r>
              <a:rPr lang="zh-CN" altLang="en-US" dirty="0"/>
              <a:t>）与目的主机的</a:t>
            </a:r>
            <a:r>
              <a:rPr lang="en-US" altLang="zh-CN" dirty="0"/>
              <a:t>SMTP</a:t>
            </a:r>
            <a:r>
              <a:rPr lang="zh-CN" altLang="en-US" dirty="0"/>
              <a:t>服务器建立</a:t>
            </a:r>
            <a:r>
              <a:rPr lang="en-US" altLang="zh-CN" dirty="0"/>
              <a:t>TCP</a:t>
            </a:r>
            <a:r>
              <a:rPr lang="zh-CN" altLang="en-US" dirty="0"/>
              <a:t>连接</a:t>
            </a:r>
            <a:endParaRPr lang="zh-CN" altLang="en-US" dirty="0"/>
          </a:p>
          <a:p>
            <a:r>
              <a:rPr lang="en-US" altLang="zh-CN" dirty="0"/>
              <a:t>SMTP</a:t>
            </a:r>
            <a:r>
              <a:rPr lang="zh-CN" altLang="en-US" dirty="0"/>
              <a:t>服务器发出“</a:t>
            </a:r>
            <a:r>
              <a:rPr lang="en-US" altLang="zh-CN" dirty="0"/>
              <a:t>220 SMTP ready”</a:t>
            </a:r>
            <a:endParaRPr lang="zh-CN" altLang="en-US" dirty="0"/>
          </a:p>
          <a:p>
            <a:r>
              <a:rPr lang="en-US" altLang="zh-CN" dirty="0"/>
              <a:t>SMTP</a:t>
            </a:r>
            <a:r>
              <a:rPr lang="zh-CN" altLang="en-US" dirty="0"/>
              <a:t>客户向</a:t>
            </a:r>
            <a:r>
              <a:rPr lang="en-US" altLang="zh-CN" dirty="0"/>
              <a:t>SMTP</a:t>
            </a:r>
            <a:r>
              <a:rPr lang="zh-CN" altLang="en-US" dirty="0"/>
              <a:t>服务器发送</a:t>
            </a:r>
            <a:r>
              <a:rPr lang="en-US" altLang="zh-CN" dirty="0"/>
              <a:t>HELO</a:t>
            </a:r>
            <a:r>
              <a:rPr lang="zh-CN" altLang="en-US" dirty="0"/>
              <a:t>命令，附上发送方的主机名</a:t>
            </a:r>
            <a:endParaRPr lang="zh-CN" altLang="en-US" dirty="0"/>
          </a:p>
          <a:p>
            <a:r>
              <a:rPr lang="en-US" altLang="zh-CN" dirty="0"/>
              <a:t>SMTP</a:t>
            </a:r>
            <a:r>
              <a:rPr lang="zh-CN" altLang="en-US" dirty="0"/>
              <a:t>服务器若有能力接收邮件，则回答：“</a:t>
            </a:r>
            <a:r>
              <a:rPr lang="en-US" altLang="zh-CN" dirty="0"/>
              <a:t>250 OK”</a:t>
            </a:r>
            <a:r>
              <a:rPr lang="zh-CN" altLang="en-US" dirty="0"/>
              <a:t>，表示已准备好接收</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941300" y="1238265"/>
            <a:ext cx="5943716" cy="3456384"/>
            <a:chOff x="2086683" y="2033410"/>
            <a:chExt cx="6360764" cy="2138910"/>
          </a:xfrm>
        </p:grpSpPr>
        <p:sp>
          <p:nvSpPr>
            <p:cNvPr id="6" name="矩形 5"/>
            <p:cNvSpPr/>
            <p:nvPr/>
          </p:nvSpPr>
          <p:spPr>
            <a:xfrm>
              <a:off x="6040725" y="2033410"/>
              <a:ext cx="1892779" cy="426436"/>
            </a:xfrm>
            <a:prstGeom prst="rect">
              <a:avLst/>
            </a:prstGeom>
            <a:solidFill>
              <a:srgbClr val="0066FF"/>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dirty="0">
                  <a:solidFill>
                    <a:schemeClr val="bg1"/>
                  </a:solidFill>
                  <a:latin typeface="微软雅黑 Light" panose="020B0502040204020203" pitchFamily="34" charset="-122"/>
                  <a:ea typeface="微软雅黑 Light" panose="020B0502040204020203" pitchFamily="34" charset="-122"/>
                </a:rPr>
                <a:t>SMTP </a:t>
              </a:r>
              <a:r>
                <a:rPr lang="zh-CN" altLang="en-US" sz="1800" dirty="0">
                  <a:solidFill>
                    <a:schemeClr val="bg1"/>
                  </a:solidFill>
                  <a:latin typeface="微软雅黑 Light" panose="020B0502040204020203" pitchFamily="34" charset="-122"/>
                  <a:ea typeface="微软雅黑 Light" panose="020B0502040204020203" pitchFamily="34" charset="-122"/>
                </a:rPr>
                <a:t>服务器</a:t>
              </a:r>
              <a:endParaRPr lang="zh-CN" altLang="en-US" sz="1800" dirty="0">
                <a:solidFill>
                  <a:schemeClr val="bg1"/>
                </a:solidFill>
                <a:latin typeface="微软雅黑 Light" panose="020B0502040204020203" pitchFamily="34" charset="-122"/>
                <a:ea typeface="微软雅黑 Light" panose="020B0502040204020203" pitchFamily="34" charset="-122"/>
              </a:endParaRPr>
            </a:p>
          </p:txBody>
        </p:sp>
        <p:sp>
          <p:nvSpPr>
            <p:cNvPr id="7" name="Text Box 409"/>
            <p:cNvSpPr txBox="1">
              <a:spLocks noChangeArrowheads="1"/>
            </p:cNvSpPr>
            <p:nvPr/>
          </p:nvSpPr>
          <p:spPr bwMode="auto">
            <a:xfrm>
              <a:off x="6872345" y="2457149"/>
              <a:ext cx="1575102" cy="209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600" dirty="0">
                  <a:latin typeface="微软雅黑 Light" panose="020B0502040204020203" pitchFamily="34" charset="-122"/>
                  <a:ea typeface="微软雅黑 Light" panose="020B0502040204020203" pitchFamily="34" charset="-122"/>
                </a:rPr>
                <a:t>TCP </a:t>
              </a:r>
              <a:r>
                <a:rPr kumimoji="1" lang="zh-CN" altLang="en-US" sz="1600" dirty="0">
                  <a:latin typeface="微软雅黑 Light" panose="020B0502040204020203" pitchFamily="34" charset="-122"/>
                  <a:ea typeface="微软雅黑 Light" panose="020B0502040204020203" pitchFamily="34" charset="-122"/>
                </a:rPr>
                <a:t>端口 </a:t>
              </a:r>
              <a:r>
                <a:rPr kumimoji="1" lang="en-US" altLang="zh-CN" sz="1600" dirty="0">
                  <a:latin typeface="微软雅黑 Light" panose="020B0502040204020203" pitchFamily="34" charset="-122"/>
                  <a:ea typeface="微软雅黑 Light" panose="020B0502040204020203" pitchFamily="34" charset="-122"/>
                </a:rPr>
                <a:t>25</a:t>
              </a:r>
              <a:endParaRPr kumimoji="1" lang="zh-CN" altLang="en-US" sz="1600" dirty="0">
                <a:latin typeface="微软雅黑 Light" panose="020B0502040204020203" pitchFamily="34" charset="-122"/>
                <a:ea typeface="微软雅黑 Light" panose="020B0502040204020203" pitchFamily="34" charset="-122"/>
              </a:endParaRPr>
            </a:p>
          </p:txBody>
        </p:sp>
        <p:sp>
          <p:nvSpPr>
            <p:cNvPr id="8" name="矩形 7"/>
            <p:cNvSpPr/>
            <p:nvPr/>
          </p:nvSpPr>
          <p:spPr>
            <a:xfrm>
              <a:off x="2086683" y="2033413"/>
              <a:ext cx="1646357" cy="426435"/>
            </a:xfrm>
            <a:prstGeom prst="rect">
              <a:avLst/>
            </a:prstGeom>
            <a:solidFill>
              <a:srgbClr val="FFFF00"/>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chemeClr val="tx1"/>
                  </a:solidFill>
                  <a:latin typeface="微软雅黑 Light" panose="020B0502040204020203" pitchFamily="34" charset="-122"/>
                  <a:ea typeface="微软雅黑 Light" panose="020B0502040204020203" pitchFamily="34" charset="-122"/>
                </a:rPr>
                <a:t>SMTP </a:t>
              </a:r>
              <a:r>
                <a:rPr lang="zh-CN" altLang="en-US" sz="1800" dirty="0">
                  <a:solidFill>
                    <a:schemeClr val="tx1"/>
                  </a:solidFill>
                  <a:latin typeface="微软雅黑 Light" panose="020B0502040204020203" pitchFamily="34" charset="-122"/>
                  <a:ea typeface="微软雅黑 Light" panose="020B0502040204020203" pitchFamily="34" charset="-122"/>
                </a:rPr>
                <a:t>客户</a:t>
              </a:r>
              <a:endParaRPr lang="zh-CN" altLang="en-US" sz="1800" dirty="0">
                <a:solidFill>
                  <a:schemeClr val="tx1"/>
                </a:solidFill>
                <a:latin typeface="微软雅黑 Light" panose="020B0502040204020203" pitchFamily="34" charset="-122"/>
                <a:ea typeface="微软雅黑 Light" panose="020B0502040204020203" pitchFamily="34" charset="-122"/>
              </a:endParaRPr>
            </a:p>
          </p:txBody>
        </p:sp>
        <p:grpSp>
          <p:nvGrpSpPr>
            <p:cNvPr id="9" name="组合 8"/>
            <p:cNvGrpSpPr/>
            <p:nvPr/>
          </p:nvGrpSpPr>
          <p:grpSpPr>
            <a:xfrm>
              <a:off x="2901301" y="2459846"/>
              <a:ext cx="4085819" cy="1712474"/>
              <a:chOff x="2175973" y="2274371"/>
              <a:chExt cx="3064362" cy="1930764"/>
            </a:xfrm>
          </p:grpSpPr>
          <p:cxnSp>
            <p:nvCxnSpPr>
              <p:cNvPr id="22" name="直接箭头连接符 21"/>
              <p:cNvCxnSpPr>
                <a:stCxn id="8" idx="2"/>
              </p:cNvCxnSpPr>
              <p:nvPr/>
            </p:nvCxnSpPr>
            <p:spPr>
              <a:xfrm flipH="1">
                <a:off x="2175973" y="2274373"/>
                <a:ext cx="6421" cy="1930762"/>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6" idx="2"/>
              </p:cNvCxnSpPr>
              <p:nvPr/>
            </p:nvCxnSpPr>
            <p:spPr>
              <a:xfrm>
                <a:off x="5240331" y="2274371"/>
                <a:ext cx="4" cy="1821209"/>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2925759" y="2294846"/>
              <a:ext cx="4045464" cy="340672"/>
              <a:chOff x="2238838" y="1573207"/>
              <a:chExt cx="3445771" cy="393193"/>
            </a:xfrm>
          </p:grpSpPr>
          <p:sp>
            <p:nvSpPr>
              <p:cNvPr id="20" name="Text Box 52"/>
              <p:cNvSpPr txBox="1">
                <a:spLocks noChangeArrowheads="1"/>
              </p:cNvSpPr>
              <p:nvPr/>
            </p:nvSpPr>
            <p:spPr bwMode="auto">
              <a:xfrm>
                <a:off x="2982218" y="1573207"/>
                <a:ext cx="1719856" cy="263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kumimoji="1" sz="1400" b="1">
                    <a:latin typeface="微软雅黑" panose="020B0503020204020204" pitchFamily="34" charset="-122"/>
                    <a:ea typeface="微软雅黑" panose="020B0503020204020204" pitchFamily="34" charset="-122"/>
                  </a:defRPr>
                </a:lvl1pPr>
                <a:lvl2pPr marL="742950" indent="-285750">
                  <a:defRPr sz="3600">
                    <a:latin typeface="Tahoma" panose="020B0604030504040204" pitchFamily="34" charset="0"/>
                    <a:ea typeface="宋体" panose="02010600030101010101" pitchFamily="2" charset="-122"/>
                  </a:defRPr>
                </a:lvl2pPr>
                <a:lvl3pPr marL="1143000" indent="-228600">
                  <a:defRPr sz="3600">
                    <a:latin typeface="Tahoma" panose="020B0604030504040204" pitchFamily="34" charset="0"/>
                    <a:ea typeface="宋体" panose="02010600030101010101" pitchFamily="2" charset="-122"/>
                  </a:defRPr>
                </a:lvl3pPr>
                <a:lvl4pPr marL="1600200" indent="-228600">
                  <a:defRPr sz="3600">
                    <a:latin typeface="Tahoma" panose="020B0604030504040204" pitchFamily="34" charset="0"/>
                    <a:ea typeface="宋体" panose="02010600030101010101" pitchFamily="2" charset="-122"/>
                  </a:defRPr>
                </a:lvl4pPr>
                <a:lvl5pPr marL="2057400" indent="-228600">
                  <a:defRPr sz="36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latin typeface="Tahoma" panose="020B0604030504040204" pitchFamily="34" charset="0"/>
                    <a:ea typeface="宋体" panose="02010600030101010101" pitchFamily="2" charset="-122"/>
                  </a:defRPr>
                </a:lvl9pPr>
              </a:lstStyle>
              <a:p>
                <a:r>
                  <a:rPr lang="zh-CN" altLang="en-US" sz="1800" b="0" dirty="0">
                    <a:latin typeface="微软雅黑 Light" panose="020B0502040204020203" pitchFamily="34" charset="-122"/>
                    <a:ea typeface="微软雅黑 Light" panose="020B0502040204020203" pitchFamily="34" charset="-122"/>
                  </a:rPr>
                  <a:t>建立 </a:t>
                </a:r>
                <a:r>
                  <a:rPr lang="en-US" altLang="zh-CN" sz="1800" b="0" dirty="0">
                    <a:latin typeface="微软雅黑 Light" panose="020B0502040204020203" pitchFamily="34" charset="-122"/>
                    <a:ea typeface="微软雅黑 Light" panose="020B0502040204020203" pitchFamily="34" charset="-122"/>
                  </a:rPr>
                  <a:t>TCP </a:t>
                </a:r>
                <a:r>
                  <a:rPr lang="zh-CN" altLang="en-US" sz="1800" b="0" dirty="0">
                    <a:latin typeface="微软雅黑 Light" panose="020B0502040204020203" pitchFamily="34" charset="-122"/>
                    <a:ea typeface="微软雅黑 Light" panose="020B0502040204020203" pitchFamily="34" charset="-122"/>
                  </a:rPr>
                  <a:t>连接</a:t>
                </a:r>
                <a:endParaRPr lang="en-US" altLang="zh-CN" sz="1800" b="0" dirty="0">
                  <a:latin typeface="微软雅黑 Light" panose="020B0502040204020203" pitchFamily="34" charset="-122"/>
                  <a:ea typeface="微软雅黑 Light" panose="020B0502040204020203" pitchFamily="34" charset="-122"/>
                </a:endParaRPr>
              </a:p>
            </p:txBody>
          </p:sp>
          <p:sp>
            <p:nvSpPr>
              <p:cNvPr id="21" name="Line 55"/>
              <p:cNvSpPr>
                <a:spLocks noChangeShapeType="1"/>
              </p:cNvSpPr>
              <p:nvPr/>
            </p:nvSpPr>
            <p:spPr bwMode="auto">
              <a:xfrm flipV="1">
                <a:off x="2238838" y="1962078"/>
                <a:ext cx="3445771" cy="4322"/>
              </a:xfrm>
              <a:prstGeom prst="line">
                <a:avLst/>
              </a:prstGeom>
              <a:noFill/>
              <a:ln w="12700">
                <a:solidFill>
                  <a:schemeClr val="tx1"/>
                </a:solidFill>
                <a:prstDash val="solid"/>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3200">
                  <a:latin typeface="微软雅黑 Light" panose="020B0502040204020203" pitchFamily="34" charset="-122"/>
                  <a:ea typeface="微软雅黑 Light" panose="020B0502040204020203" pitchFamily="34" charset="-122"/>
                </a:endParaRPr>
              </a:p>
            </p:txBody>
          </p:sp>
        </p:grpSp>
        <p:grpSp>
          <p:nvGrpSpPr>
            <p:cNvPr id="11" name="组合 10"/>
            <p:cNvGrpSpPr/>
            <p:nvPr/>
          </p:nvGrpSpPr>
          <p:grpSpPr>
            <a:xfrm>
              <a:off x="2925759" y="2767495"/>
              <a:ext cx="4025798" cy="338985"/>
              <a:chOff x="2238838" y="2285523"/>
              <a:chExt cx="3429021" cy="292388"/>
            </a:xfrm>
          </p:grpSpPr>
          <p:sp>
            <p:nvSpPr>
              <p:cNvPr id="18" name="Line 55"/>
              <p:cNvSpPr>
                <a:spLocks noChangeShapeType="1"/>
              </p:cNvSpPr>
              <p:nvPr/>
            </p:nvSpPr>
            <p:spPr bwMode="auto">
              <a:xfrm flipV="1">
                <a:off x="2238838" y="2418947"/>
                <a:ext cx="3429021" cy="7191"/>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800">
                  <a:latin typeface="微软雅黑 Light" panose="020B0502040204020203" pitchFamily="34" charset="-122"/>
                  <a:ea typeface="微软雅黑 Light" panose="020B0502040204020203" pitchFamily="34" charset="-122"/>
                </a:endParaRPr>
              </a:p>
            </p:txBody>
          </p:sp>
          <p:sp>
            <p:nvSpPr>
              <p:cNvPr id="19" name="矩形 18"/>
              <p:cNvSpPr/>
              <p:nvPr/>
            </p:nvSpPr>
            <p:spPr>
              <a:xfrm>
                <a:off x="2827283" y="2285523"/>
                <a:ext cx="2029726" cy="29238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Light" panose="020B0502040204020203" pitchFamily="34" charset="-122"/>
                    <a:ea typeface="微软雅黑 Light" panose="020B0502040204020203" pitchFamily="34" charset="-122"/>
                  </a:rPr>
                  <a:t>220 Service Ready</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2" name="组合 11"/>
            <p:cNvGrpSpPr/>
            <p:nvPr/>
          </p:nvGrpSpPr>
          <p:grpSpPr>
            <a:xfrm>
              <a:off x="2913138" y="3232185"/>
              <a:ext cx="4058083" cy="415957"/>
              <a:chOff x="2260563" y="2082992"/>
              <a:chExt cx="3456520" cy="292388"/>
            </a:xfrm>
          </p:grpSpPr>
          <p:sp>
            <p:nvSpPr>
              <p:cNvPr id="16" name="Line 55"/>
              <p:cNvSpPr>
                <a:spLocks noChangeShapeType="1"/>
              </p:cNvSpPr>
              <p:nvPr/>
            </p:nvSpPr>
            <p:spPr bwMode="auto">
              <a:xfrm flipV="1">
                <a:off x="2260563" y="2220388"/>
                <a:ext cx="3456520" cy="391"/>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800">
                  <a:latin typeface="微软雅黑 Light" panose="020B0502040204020203" pitchFamily="34" charset="-122"/>
                  <a:ea typeface="微软雅黑 Light" panose="020B0502040204020203" pitchFamily="34" charset="-122"/>
                </a:endParaRPr>
              </a:p>
            </p:txBody>
          </p:sp>
          <p:sp>
            <p:nvSpPr>
              <p:cNvPr id="17" name="矩形 16"/>
              <p:cNvSpPr/>
              <p:nvPr/>
            </p:nvSpPr>
            <p:spPr>
              <a:xfrm>
                <a:off x="2859533" y="2082992"/>
                <a:ext cx="2062201"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Light" panose="020B0502040204020203" pitchFamily="34" charset="-122"/>
                    <a:ea typeface="微软雅黑 Light" panose="020B0502040204020203" pitchFamily="34" charset="-122"/>
                  </a:rPr>
                  <a:t>HELO abc.edu.cn</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3" name="组合 12"/>
            <p:cNvGrpSpPr/>
            <p:nvPr/>
          </p:nvGrpSpPr>
          <p:grpSpPr>
            <a:xfrm>
              <a:off x="2925758" y="3761820"/>
              <a:ext cx="4073200" cy="364764"/>
              <a:chOff x="2247687" y="1900652"/>
              <a:chExt cx="3469396" cy="292388"/>
            </a:xfrm>
          </p:grpSpPr>
          <p:sp>
            <p:nvSpPr>
              <p:cNvPr id="14" name="Line 55"/>
              <p:cNvSpPr>
                <a:spLocks noChangeShapeType="1"/>
              </p:cNvSpPr>
              <p:nvPr/>
            </p:nvSpPr>
            <p:spPr bwMode="auto">
              <a:xfrm flipV="1">
                <a:off x="2247687" y="2029032"/>
                <a:ext cx="3469396" cy="6860"/>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800">
                  <a:latin typeface="微软雅黑 Light" panose="020B0502040204020203" pitchFamily="34" charset="-122"/>
                  <a:ea typeface="微软雅黑 Light" panose="020B0502040204020203" pitchFamily="34" charset="-122"/>
                </a:endParaRPr>
              </a:p>
            </p:txBody>
          </p:sp>
          <p:sp>
            <p:nvSpPr>
              <p:cNvPr id="15" name="矩形 14"/>
              <p:cNvSpPr/>
              <p:nvPr/>
            </p:nvSpPr>
            <p:spPr>
              <a:xfrm>
                <a:off x="2827283" y="1900652"/>
                <a:ext cx="2038575" cy="29238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Light" panose="020B0502040204020203" pitchFamily="34" charset="-122"/>
                    <a:ea typeface="微软雅黑 Light" panose="020B0502040204020203" pitchFamily="34" charset="-122"/>
                  </a:rPr>
                  <a:t>250 OK</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SMTP </a:t>
            </a:r>
            <a:r>
              <a:rPr lang="zh-CN" altLang="en-US" dirty="0"/>
              <a:t>通信的三个阶段</a:t>
            </a:r>
            <a:r>
              <a:rPr lang="en-US" altLang="zh-CN" dirty="0"/>
              <a:t>——</a:t>
            </a:r>
            <a:r>
              <a:rPr lang="zh-CN" altLang="en-US" dirty="0"/>
              <a:t>邮件传输</a:t>
            </a:r>
            <a:endParaRPr lang="zh-CN" altLang="en-US" dirty="0"/>
          </a:p>
        </p:txBody>
      </p:sp>
      <p:sp>
        <p:nvSpPr>
          <p:cNvPr id="3" name="内容占位符 2"/>
          <p:cNvSpPr>
            <a:spLocks noGrp="1"/>
          </p:cNvSpPr>
          <p:nvPr>
            <p:ph idx="1"/>
          </p:nvPr>
        </p:nvSpPr>
        <p:spPr>
          <a:xfrm>
            <a:off x="334435" y="1052514"/>
            <a:ext cx="5407333" cy="5437187"/>
          </a:xfrm>
        </p:spPr>
        <p:txBody>
          <a:bodyPr/>
          <a:lstStyle/>
          <a:p>
            <a:r>
              <a:rPr lang="zh-CN" altLang="en-US" dirty="0"/>
              <a:t>邮件的传输首先从</a:t>
            </a:r>
            <a:r>
              <a:rPr lang="en-US" altLang="zh-CN" dirty="0"/>
              <a:t>MAIL</a:t>
            </a:r>
            <a:r>
              <a:rPr lang="zh-CN" altLang="en-US" dirty="0"/>
              <a:t>命令开始</a:t>
            </a:r>
            <a:endParaRPr lang="zh-CN" altLang="en-US" dirty="0"/>
          </a:p>
          <a:p>
            <a:r>
              <a:rPr lang="zh-CN" altLang="en-US" dirty="0"/>
              <a:t>根据收件人数量，发送一个或多个</a:t>
            </a:r>
            <a:r>
              <a:rPr lang="en-US" altLang="zh-CN" dirty="0"/>
              <a:t>RCPT</a:t>
            </a:r>
            <a:r>
              <a:rPr lang="zh-CN" altLang="en-US" dirty="0"/>
              <a:t>命令</a:t>
            </a:r>
            <a:endParaRPr lang="zh-CN" altLang="en-US" dirty="0"/>
          </a:p>
          <a:p>
            <a:r>
              <a:rPr lang="zh-CN" altLang="en-US" dirty="0"/>
              <a:t>先确认接收端系统是否已做好接收邮件的准备，然后才能发送邮件</a:t>
            </a:r>
            <a:endParaRPr lang="zh-CN" altLang="en-US" dirty="0"/>
          </a:p>
          <a:p>
            <a:r>
              <a:rPr lang="zh-CN" altLang="en-US" dirty="0"/>
              <a:t>每发送一个命令，都应当有相应的信息从</a:t>
            </a:r>
            <a:r>
              <a:rPr lang="en-US" altLang="zh-CN" dirty="0"/>
              <a:t>SMTP</a:t>
            </a:r>
            <a:r>
              <a:rPr lang="zh-CN" altLang="en-US" dirty="0"/>
              <a:t>服务器返回</a:t>
            </a:r>
            <a:endParaRPr lang="zh-CN" altLang="en-US" dirty="0"/>
          </a:p>
          <a:p>
            <a:r>
              <a:rPr lang="zh-CN" altLang="en-US" dirty="0"/>
              <a:t>接下来是</a:t>
            </a:r>
            <a:r>
              <a:rPr lang="en-US" altLang="zh-CN" dirty="0"/>
              <a:t>DATA</a:t>
            </a:r>
            <a:r>
              <a:rPr lang="zh-CN" altLang="en-US" dirty="0"/>
              <a:t>命令，表示要开始传输邮件的内容了</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6080720" y="1052514"/>
            <a:ext cx="5846833" cy="4843430"/>
            <a:chOff x="5672067" y="1300525"/>
            <a:chExt cx="5846833" cy="4843430"/>
          </a:xfrm>
        </p:grpSpPr>
        <p:grpSp>
          <p:nvGrpSpPr>
            <p:cNvPr id="6" name="组合 5"/>
            <p:cNvGrpSpPr/>
            <p:nvPr/>
          </p:nvGrpSpPr>
          <p:grpSpPr>
            <a:xfrm>
              <a:off x="5672067" y="1300525"/>
              <a:ext cx="5846833" cy="4843430"/>
              <a:chOff x="2295757" y="1260529"/>
              <a:chExt cx="7318744" cy="4965912"/>
            </a:xfrm>
          </p:grpSpPr>
          <p:sp>
            <p:nvSpPr>
              <p:cNvPr id="8" name="矩形 7"/>
              <p:cNvSpPr/>
              <p:nvPr/>
            </p:nvSpPr>
            <p:spPr>
              <a:xfrm>
                <a:off x="2295757" y="4863240"/>
                <a:ext cx="7318741" cy="1363200"/>
              </a:xfrm>
              <a:prstGeom prst="rect">
                <a:avLst/>
              </a:prstGeom>
              <a:noFill/>
              <a:ln w="38100">
                <a:solidFill>
                  <a:srgbClr val="FF66C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9" name="矩形 8"/>
              <p:cNvSpPr/>
              <p:nvPr/>
            </p:nvSpPr>
            <p:spPr>
              <a:xfrm>
                <a:off x="2295757" y="2963313"/>
                <a:ext cx="7318741" cy="1596515"/>
              </a:xfrm>
              <a:prstGeom prst="rect">
                <a:avLst/>
              </a:prstGeom>
              <a:solidFill>
                <a:srgbClr val="FFFFFF"/>
              </a:solidFill>
              <a:ln w="3810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10" name="矩形 9"/>
              <p:cNvSpPr/>
              <p:nvPr/>
            </p:nvSpPr>
            <p:spPr>
              <a:xfrm>
                <a:off x="2295757" y="1884841"/>
                <a:ext cx="7318741" cy="1067687"/>
              </a:xfrm>
              <a:prstGeom prst="rect">
                <a:avLst/>
              </a:prstGeom>
              <a:noFill/>
              <a:ln w="38100">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11" name="矩形 10"/>
              <p:cNvSpPr/>
              <p:nvPr/>
            </p:nvSpPr>
            <p:spPr>
              <a:xfrm>
                <a:off x="7969831" y="1260529"/>
                <a:ext cx="1605221" cy="536079"/>
              </a:xfrm>
              <a:prstGeom prst="rect">
                <a:avLst/>
              </a:prstGeom>
              <a:solidFill>
                <a:srgbClr val="0066FF"/>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dirty="0">
                    <a:solidFill>
                      <a:schemeClr val="bg1"/>
                    </a:solidFill>
                    <a:latin typeface="微软雅黑 Light" panose="020B0502040204020203" pitchFamily="34" charset="-122"/>
                    <a:ea typeface="微软雅黑 Light" panose="020B0502040204020203" pitchFamily="34" charset="-122"/>
                  </a:rPr>
                  <a:t>SMTP </a:t>
                </a:r>
                <a:r>
                  <a:rPr lang="zh-CN" altLang="en-US" sz="1200" dirty="0">
                    <a:solidFill>
                      <a:schemeClr val="bg1"/>
                    </a:solidFill>
                    <a:latin typeface="微软雅黑 Light" panose="020B0502040204020203" pitchFamily="34" charset="-122"/>
                    <a:ea typeface="微软雅黑 Light" panose="020B0502040204020203" pitchFamily="34" charset="-122"/>
                  </a:rPr>
                  <a:t>服务器</a:t>
                </a:r>
                <a:endParaRPr lang="zh-CN" altLang="en-US" sz="1200" dirty="0">
                  <a:solidFill>
                    <a:schemeClr val="bg1"/>
                  </a:solidFill>
                  <a:latin typeface="微软雅黑 Light" panose="020B0502040204020203" pitchFamily="34" charset="-122"/>
                  <a:ea typeface="微软雅黑 Light" panose="020B0502040204020203" pitchFamily="34" charset="-122"/>
                </a:endParaRPr>
              </a:p>
            </p:txBody>
          </p:sp>
          <p:sp>
            <p:nvSpPr>
              <p:cNvPr id="12" name="矩形 11"/>
              <p:cNvSpPr/>
              <p:nvPr/>
            </p:nvSpPr>
            <p:spPr>
              <a:xfrm>
                <a:off x="2295757" y="1260529"/>
                <a:ext cx="1323064" cy="536079"/>
              </a:xfrm>
              <a:prstGeom prst="rect">
                <a:avLst/>
              </a:prstGeom>
              <a:solidFill>
                <a:srgbClr val="FFFF00"/>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SMTP </a:t>
                </a:r>
                <a:r>
                  <a:rPr lang="zh-CN" altLang="en-US" sz="1200" dirty="0">
                    <a:solidFill>
                      <a:schemeClr val="tx1"/>
                    </a:solidFill>
                    <a:latin typeface="微软雅黑 Light" panose="020B0502040204020203" pitchFamily="34" charset="-122"/>
                    <a:ea typeface="微软雅黑 Light" panose="020B0502040204020203" pitchFamily="34" charset="-122"/>
                  </a:rPr>
                  <a:t>客户</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nvGrpSpPr>
              <p:cNvPr id="13" name="组合 12"/>
              <p:cNvGrpSpPr/>
              <p:nvPr/>
            </p:nvGrpSpPr>
            <p:grpSpPr>
              <a:xfrm>
                <a:off x="2957289" y="1796608"/>
                <a:ext cx="5836543" cy="4429833"/>
                <a:chOff x="2217966" y="1229212"/>
                <a:chExt cx="4377407" cy="2218631"/>
              </a:xfrm>
            </p:grpSpPr>
            <p:cxnSp>
              <p:nvCxnSpPr>
                <p:cNvPr id="63" name="直接箭头连接符 62"/>
                <p:cNvCxnSpPr>
                  <a:stCxn id="12" idx="2"/>
                </p:cNvCxnSpPr>
                <p:nvPr/>
              </p:nvCxnSpPr>
              <p:spPr>
                <a:xfrm>
                  <a:off x="2217966" y="1229212"/>
                  <a:ext cx="12430" cy="2218631"/>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11" idx="2"/>
                </p:cNvCxnSpPr>
                <p:nvPr/>
              </p:nvCxnSpPr>
              <p:spPr>
                <a:xfrm>
                  <a:off x="6579330" y="1229212"/>
                  <a:ext cx="16043" cy="2202006"/>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2981508" y="1884841"/>
                <a:ext cx="5783704" cy="240000"/>
                <a:chOff x="2144264" y="2285524"/>
                <a:chExt cx="4926338" cy="292388"/>
              </a:xfrm>
            </p:grpSpPr>
            <p:sp>
              <p:nvSpPr>
                <p:cNvPr id="61"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62" name="矩形 61"/>
                <p:cNvSpPr/>
                <p:nvPr/>
              </p:nvSpPr>
              <p:spPr>
                <a:xfrm>
                  <a:off x="2827283" y="2285524"/>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MAIL FROM: Ling@jlu.edu.cn</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5" name="组合 14"/>
              <p:cNvGrpSpPr/>
              <p:nvPr/>
            </p:nvGrpSpPr>
            <p:grpSpPr>
              <a:xfrm>
                <a:off x="2981508" y="2154931"/>
                <a:ext cx="5783704" cy="240000"/>
                <a:chOff x="2144264" y="2285522"/>
                <a:chExt cx="4926338" cy="292388"/>
              </a:xfrm>
            </p:grpSpPr>
            <p:sp>
              <p:nvSpPr>
                <p:cNvPr id="59" name="Line 55"/>
                <p:cNvSpPr>
                  <a:spLocks noChangeShapeType="1"/>
                </p:cNvSpPr>
                <p:nvPr/>
              </p:nvSpPr>
              <p:spPr bwMode="auto">
                <a:xfrm>
                  <a:off x="2144264" y="2426141"/>
                  <a:ext cx="4926338" cy="0"/>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60" name="矩形 59"/>
                <p:cNvSpPr/>
                <p:nvPr/>
              </p:nvSpPr>
              <p:spPr>
                <a:xfrm>
                  <a:off x="2827283" y="2285522"/>
                  <a:ext cx="3626069" cy="29238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250 OK</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6" name="组合 15"/>
              <p:cNvGrpSpPr/>
              <p:nvPr/>
            </p:nvGrpSpPr>
            <p:grpSpPr>
              <a:xfrm>
                <a:off x="2981508" y="2434034"/>
                <a:ext cx="5783704" cy="240000"/>
                <a:chOff x="2144264" y="2285523"/>
                <a:chExt cx="4926338" cy="292388"/>
              </a:xfrm>
            </p:grpSpPr>
            <p:sp>
              <p:nvSpPr>
                <p:cNvPr id="57"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58" name="矩形 57"/>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RCPT TO: Wang@abc.com</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7" name="组合 16"/>
              <p:cNvGrpSpPr/>
              <p:nvPr/>
            </p:nvGrpSpPr>
            <p:grpSpPr>
              <a:xfrm>
                <a:off x="2981508" y="2704124"/>
                <a:ext cx="5783704" cy="240000"/>
                <a:chOff x="2144264" y="2285523"/>
                <a:chExt cx="4926338" cy="292388"/>
              </a:xfrm>
            </p:grpSpPr>
            <p:sp>
              <p:nvSpPr>
                <p:cNvPr id="55" name="Line 55"/>
                <p:cNvSpPr>
                  <a:spLocks noChangeShapeType="1"/>
                </p:cNvSpPr>
                <p:nvPr/>
              </p:nvSpPr>
              <p:spPr bwMode="auto">
                <a:xfrm>
                  <a:off x="2144264" y="2409068"/>
                  <a:ext cx="4926338" cy="0"/>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56" name="矩形 55"/>
                <p:cNvSpPr/>
                <p:nvPr/>
              </p:nvSpPr>
              <p:spPr>
                <a:xfrm>
                  <a:off x="2827283" y="2285523"/>
                  <a:ext cx="3626069" cy="29238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250 OK</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8" name="组合 17"/>
              <p:cNvGrpSpPr/>
              <p:nvPr/>
            </p:nvGrpSpPr>
            <p:grpSpPr>
              <a:xfrm>
                <a:off x="2981508" y="2980554"/>
                <a:ext cx="5783704" cy="240000"/>
                <a:chOff x="2144264" y="2285523"/>
                <a:chExt cx="4926338" cy="292388"/>
              </a:xfrm>
            </p:grpSpPr>
            <p:sp>
              <p:nvSpPr>
                <p:cNvPr id="53"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54" name="矩形 53"/>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DATA</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9" name="组合 18"/>
              <p:cNvGrpSpPr/>
              <p:nvPr/>
            </p:nvGrpSpPr>
            <p:grpSpPr>
              <a:xfrm>
                <a:off x="2981508" y="3250644"/>
                <a:ext cx="5783704" cy="240000"/>
                <a:chOff x="2144264" y="2285523"/>
                <a:chExt cx="4926338" cy="292388"/>
              </a:xfrm>
            </p:grpSpPr>
            <p:sp>
              <p:nvSpPr>
                <p:cNvPr id="51" name="Line 55"/>
                <p:cNvSpPr>
                  <a:spLocks noChangeShapeType="1"/>
                </p:cNvSpPr>
                <p:nvPr/>
              </p:nvSpPr>
              <p:spPr bwMode="auto">
                <a:xfrm>
                  <a:off x="2144264" y="2426141"/>
                  <a:ext cx="4926338" cy="0"/>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52" name="矩形 51"/>
                <p:cNvSpPr/>
                <p:nvPr/>
              </p:nvSpPr>
              <p:spPr>
                <a:xfrm>
                  <a:off x="2827283" y="2285523"/>
                  <a:ext cx="3626069" cy="29238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solidFill>
                      <a:latin typeface="微软雅黑 Light" panose="020B0502040204020203" pitchFamily="34" charset="-122"/>
                      <a:ea typeface="微软雅黑 Light" panose="020B0502040204020203" pitchFamily="34" charset="-122"/>
                    </a:rPr>
                    <a:t>354 Start mail input; end with &lt;CRLF&gt;.&lt;CRLF&gt;</a:t>
                  </a:r>
                  <a:endParaRPr lang="zh-CN" altLang="en-US" sz="105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0" name="组合 19"/>
              <p:cNvGrpSpPr/>
              <p:nvPr/>
            </p:nvGrpSpPr>
            <p:grpSpPr>
              <a:xfrm>
                <a:off x="2981508" y="3519507"/>
                <a:ext cx="5783704" cy="240000"/>
                <a:chOff x="2144264" y="2285523"/>
                <a:chExt cx="4926338" cy="292388"/>
              </a:xfrm>
            </p:grpSpPr>
            <p:sp>
              <p:nvSpPr>
                <p:cNvPr id="49"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50" name="矩形 49"/>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From: Ling@ jlu.edu.cn</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1" name="组合 20"/>
              <p:cNvGrpSpPr/>
              <p:nvPr/>
            </p:nvGrpSpPr>
            <p:grpSpPr>
              <a:xfrm>
                <a:off x="2981508" y="3794798"/>
                <a:ext cx="5783704" cy="240000"/>
                <a:chOff x="2144264" y="2285523"/>
                <a:chExt cx="4926338" cy="292388"/>
              </a:xfrm>
            </p:grpSpPr>
            <p:sp>
              <p:nvSpPr>
                <p:cNvPr id="47"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48" name="矩形 47"/>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To: Wang@abc.com</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2" name="组合 21"/>
              <p:cNvGrpSpPr/>
              <p:nvPr/>
            </p:nvGrpSpPr>
            <p:grpSpPr>
              <a:xfrm>
                <a:off x="2981508" y="4044538"/>
                <a:ext cx="5783704" cy="240000"/>
                <a:chOff x="2144264" y="2285523"/>
                <a:chExt cx="4926338" cy="292388"/>
              </a:xfrm>
            </p:grpSpPr>
            <p:sp>
              <p:nvSpPr>
                <p:cNvPr id="45"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46" name="矩形 45"/>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Date: 2023-10-18</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3" name="组合 22"/>
              <p:cNvGrpSpPr/>
              <p:nvPr/>
            </p:nvGrpSpPr>
            <p:grpSpPr>
              <a:xfrm>
                <a:off x="2981508" y="4319828"/>
                <a:ext cx="5783704" cy="240000"/>
                <a:chOff x="2144264" y="2285523"/>
                <a:chExt cx="4926338" cy="292388"/>
              </a:xfrm>
            </p:grpSpPr>
            <p:sp>
              <p:nvSpPr>
                <p:cNvPr id="43"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44" name="矩形 43"/>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Subject: Greetings</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4" name="组合 23"/>
              <p:cNvGrpSpPr/>
              <p:nvPr/>
            </p:nvGrpSpPr>
            <p:grpSpPr>
              <a:xfrm>
                <a:off x="2981508" y="4595214"/>
                <a:ext cx="5783704" cy="240000"/>
                <a:chOff x="2144264" y="2285523"/>
                <a:chExt cx="4926338" cy="292388"/>
              </a:xfrm>
            </p:grpSpPr>
            <p:sp>
              <p:nvSpPr>
                <p:cNvPr id="41"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42" name="矩形 41"/>
                <p:cNvSpPr/>
                <p:nvPr/>
              </p:nvSpPr>
              <p:spPr>
                <a:xfrm>
                  <a:off x="2827283" y="2285523"/>
                  <a:ext cx="3626069" cy="292388"/>
                </a:xfrm>
                <a:prstGeom prst="rect">
                  <a:avLst/>
                </a:prstGeom>
                <a:solidFill>
                  <a:srgbClr val="00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5" name="组合 24"/>
              <p:cNvGrpSpPr/>
              <p:nvPr/>
            </p:nvGrpSpPr>
            <p:grpSpPr>
              <a:xfrm>
                <a:off x="2981508" y="4863240"/>
                <a:ext cx="5783704" cy="240000"/>
                <a:chOff x="2144264" y="2285523"/>
                <a:chExt cx="4926338" cy="292388"/>
              </a:xfrm>
            </p:grpSpPr>
            <p:sp>
              <p:nvSpPr>
                <p:cNvPr id="39"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40" name="矩形 39"/>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Dear Mr. Wang, </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6" name="组合 25"/>
              <p:cNvGrpSpPr/>
              <p:nvPr/>
            </p:nvGrpSpPr>
            <p:grpSpPr>
              <a:xfrm>
                <a:off x="2981508" y="5138531"/>
                <a:ext cx="5783704" cy="240000"/>
                <a:chOff x="2144264" y="2285523"/>
                <a:chExt cx="4926338" cy="292388"/>
              </a:xfrm>
            </p:grpSpPr>
            <p:sp>
              <p:nvSpPr>
                <p:cNvPr id="37"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38" name="矩形 37"/>
                <p:cNvSpPr/>
                <p:nvPr/>
              </p:nvSpPr>
              <p:spPr>
                <a:xfrm>
                  <a:off x="2827283" y="2285523"/>
                  <a:ext cx="3626069" cy="292388"/>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Welcome you back.</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27" name="组合 26"/>
              <p:cNvGrpSpPr/>
              <p:nvPr/>
            </p:nvGrpSpPr>
            <p:grpSpPr>
              <a:xfrm>
                <a:off x="2981508" y="5685120"/>
                <a:ext cx="5783704" cy="240000"/>
                <a:chOff x="2144264" y="2285523"/>
                <a:chExt cx="4926338" cy="292388"/>
              </a:xfrm>
            </p:grpSpPr>
            <p:sp>
              <p:nvSpPr>
                <p:cNvPr id="35" name="Line 55"/>
                <p:cNvSpPr>
                  <a:spLocks noChangeShapeType="1"/>
                </p:cNvSpPr>
                <p:nvPr/>
              </p:nvSpPr>
              <p:spPr bwMode="auto">
                <a:xfrm>
                  <a:off x="2144264" y="2426141"/>
                  <a:ext cx="4926338" cy="0"/>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36" name="矩形 35"/>
                <p:cNvSpPr/>
                <p:nvPr/>
              </p:nvSpPr>
              <p:spPr>
                <a:xfrm>
                  <a:off x="2827283" y="2285523"/>
                  <a:ext cx="3626069" cy="29238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Light" panose="020B0502040204020203" pitchFamily="34" charset="-122"/>
                      <a:ea typeface="微软雅黑 Light" panose="020B0502040204020203" pitchFamily="34" charset="-122"/>
                    </a:rPr>
                    <a:t>.</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grpSp>
          <p:grpSp>
            <p:nvGrpSpPr>
              <p:cNvPr id="28" name="组合 27"/>
              <p:cNvGrpSpPr/>
              <p:nvPr/>
            </p:nvGrpSpPr>
            <p:grpSpPr>
              <a:xfrm>
                <a:off x="2981508" y="5953248"/>
                <a:ext cx="5783704" cy="240000"/>
                <a:chOff x="2144264" y="2285523"/>
                <a:chExt cx="4926338" cy="292388"/>
              </a:xfrm>
            </p:grpSpPr>
            <p:sp>
              <p:nvSpPr>
                <p:cNvPr id="33" name="Line 55"/>
                <p:cNvSpPr>
                  <a:spLocks noChangeShapeType="1"/>
                </p:cNvSpPr>
                <p:nvPr/>
              </p:nvSpPr>
              <p:spPr bwMode="auto">
                <a:xfrm>
                  <a:off x="2144264" y="2426141"/>
                  <a:ext cx="4926338" cy="0"/>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200">
                    <a:latin typeface="微软雅黑 Light" panose="020B0502040204020203" pitchFamily="34" charset="-122"/>
                    <a:ea typeface="微软雅黑 Light" panose="020B0502040204020203" pitchFamily="34" charset="-122"/>
                  </a:endParaRPr>
                </a:p>
              </p:txBody>
            </p:sp>
            <p:sp>
              <p:nvSpPr>
                <p:cNvPr id="34" name="矩形 33"/>
                <p:cNvSpPr/>
                <p:nvPr/>
              </p:nvSpPr>
              <p:spPr>
                <a:xfrm>
                  <a:off x="2827283" y="2285523"/>
                  <a:ext cx="3626069" cy="29238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Light" panose="020B0502040204020203" pitchFamily="34" charset="-122"/>
                      <a:ea typeface="微软雅黑 Light" panose="020B0502040204020203" pitchFamily="34" charset="-122"/>
                    </a:rPr>
                    <a:t>250 OK</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grpSp>
          <p:sp>
            <p:nvSpPr>
              <p:cNvPr id="29" name="Text Box 409"/>
              <p:cNvSpPr txBox="1">
                <a:spLocks noChangeArrowheads="1"/>
              </p:cNvSpPr>
              <p:nvPr/>
            </p:nvSpPr>
            <p:spPr bwMode="auto">
              <a:xfrm>
                <a:off x="8793833" y="2215676"/>
                <a:ext cx="820668" cy="347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dirty="0">
                    <a:solidFill>
                      <a:srgbClr val="3333FF"/>
                    </a:solidFill>
                    <a:latin typeface="微软雅黑 Light" panose="020B0502040204020203" pitchFamily="34" charset="-122"/>
                    <a:ea typeface="微软雅黑 Light" panose="020B0502040204020203" pitchFamily="34" charset="-122"/>
                  </a:rPr>
                  <a:t>信封</a:t>
                </a:r>
                <a:endParaRPr kumimoji="1" lang="zh-CN" altLang="en-US" sz="1600" dirty="0">
                  <a:solidFill>
                    <a:srgbClr val="3333FF"/>
                  </a:solidFill>
                  <a:latin typeface="微软雅黑 Light" panose="020B0502040204020203" pitchFamily="34" charset="-122"/>
                  <a:ea typeface="微软雅黑 Light" panose="020B0502040204020203" pitchFamily="34" charset="-122"/>
                </a:endParaRPr>
              </a:p>
            </p:txBody>
          </p:sp>
          <p:sp>
            <p:nvSpPr>
              <p:cNvPr id="30" name="Text Box 409"/>
              <p:cNvSpPr txBox="1">
                <a:spLocks noChangeArrowheads="1"/>
              </p:cNvSpPr>
              <p:nvPr/>
            </p:nvSpPr>
            <p:spPr bwMode="auto">
              <a:xfrm>
                <a:off x="8793833" y="3552822"/>
                <a:ext cx="781217" cy="347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dirty="0">
                    <a:solidFill>
                      <a:srgbClr val="3333FF"/>
                    </a:solidFill>
                    <a:latin typeface="微软雅黑 Light" panose="020B0502040204020203" pitchFamily="34" charset="-122"/>
                    <a:ea typeface="微软雅黑 Light" panose="020B0502040204020203" pitchFamily="34" charset="-122"/>
                  </a:rPr>
                  <a:t>首部</a:t>
                </a:r>
                <a:endParaRPr kumimoji="1" lang="zh-CN" altLang="en-US" sz="1600" dirty="0">
                  <a:solidFill>
                    <a:srgbClr val="3333FF"/>
                  </a:solidFill>
                  <a:latin typeface="微软雅黑 Light" panose="020B0502040204020203" pitchFamily="34" charset="-122"/>
                  <a:ea typeface="微软雅黑 Light" panose="020B0502040204020203" pitchFamily="34" charset="-122"/>
                </a:endParaRPr>
              </a:p>
            </p:txBody>
          </p:sp>
          <p:sp>
            <p:nvSpPr>
              <p:cNvPr id="31" name="Text Box 409"/>
              <p:cNvSpPr txBox="1">
                <a:spLocks noChangeArrowheads="1"/>
              </p:cNvSpPr>
              <p:nvPr/>
            </p:nvSpPr>
            <p:spPr bwMode="auto">
              <a:xfrm>
                <a:off x="8793833" y="5322478"/>
                <a:ext cx="781217" cy="347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dirty="0">
                    <a:solidFill>
                      <a:srgbClr val="333399"/>
                    </a:solidFill>
                    <a:latin typeface="微软雅黑 Light" panose="020B0502040204020203" pitchFamily="34" charset="-122"/>
                    <a:ea typeface="微软雅黑 Light" panose="020B0502040204020203" pitchFamily="34" charset="-122"/>
                  </a:rPr>
                  <a:t>主体</a:t>
                </a:r>
                <a:endParaRPr kumimoji="1" lang="zh-CN" altLang="en-US" sz="1600" dirty="0">
                  <a:solidFill>
                    <a:srgbClr val="333399"/>
                  </a:solidFill>
                  <a:latin typeface="微软雅黑 Light" panose="020B0502040204020203" pitchFamily="34" charset="-122"/>
                  <a:ea typeface="微软雅黑 Light" panose="020B0502040204020203" pitchFamily="34" charset="-122"/>
                </a:endParaRPr>
              </a:p>
            </p:txBody>
          </p:sp>
          <p:sp>
            <p:nvSpPr>
              <p:cNvPr id="32" name="Text Box 409"/>
              <p:cNvSpPr txBox="1">
                <a:spLocks noChangeArrowheads="1"/>
              </p:cNvSpPr>
              <p:nvPr/>
            </p:nvSpPr>
            <p:spPr bwMode="auto">
              <a:xfrm>
                <a:off x="8793833" y="4573773"/>
                <a:ext cx="820668" cy="268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100" dirty="0">
                    <a:latin typeface="微软雅黑 Light" panose="020B0502040204020203" pitchFamily="34" charset="-122"/>
                    <a:ea typeface="微软雅黑 Light" panose="020B0502040204020203" pitchFamily="34" charset="-122"/>
                  </a:rPr>
                  <a:t>空行</a:t>
                </a:r>
                <a:endParaRPr kumimoji="1" lang="zh-CN" altLang="en-US" sz="1100" dirty="0">
                  <a:latin typeface="微软雅黑 Light" panose="020B0502040204020203" pitchFamily="34" charset="-122"/>
                  <a:ea typeface="微软雅黑 Light" panose="020B0502040204020203" pitchFamily="34" charset="-122"/>
                </a:endParaRPr>
              </a:p>
            </p:txBody>
          </p:sp>
        </p:grpSp>
        <p:sp>
          <p:nvSpPr>
            <p:cNvPr id="7" name="文本框 6"/>
            <p:cNvSpPr txBox="1"/>
            <p:nvPr/>
          </p:nvSpPr>
          <p:spPr>
            <a:xfrm>
              <a:off x="7870132" y="1488908"/>
              <a:ext cx="1076036" cy="307777"/>
            </a:xfrm>
            <a:prstGeom prst="rect">
              <a:avLst/>
            </a:prstGeom>
            <a:noFill/>
          </p:spPr>
          <p:txBody>
            <a:bodyPr wrap="square">
              <a:spAutoFit/>
            </a:bodyPr>
            <a:lstStyle/>
            <a:p>
              <a:pPr algn="ctr"/>
              <a:r>
                <a:rPr kumimoji="1" lang="zh-CN" altLang="en-US" sz="1400" dirty="0">
                  <a:latin typeface="微软雅黑 Light" panose="020B0502040204020203" pitchFamily="34" charset="-122"/>
                  <a:ea typeface="微软雅黑 Light" panose="020B0502040204020203" pitchFamily="34" charset="-122"/>
                </a:rPr>
                <a:t>邮件传输</a:t>
              </a:r>
              <a:endParaRPr kumimoji="1" lang="zh-CN" altLang="en-US" sz="1400" dirty="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SMTP </a:t>
            </a:r>
            <a:r>
              <a:rPr lang="zh-CN" altLang="en-US" dirty="0"/>
              <a:t>通信的三个阶段</a:t>
            </a:r>
            <a:r>
              <a:rPr lang="en-US" altLang="zh-CN" dirty="0"/>
              <a:t>——</a:t>
            </a:r>
            <a:r>
              <a:rPr lang="zh-CN" altLang="en-US" dirty="0"/>
              <a:t>释放连接</a:t>
            </a:r>
            <a:endParaRPr lang="zh-CN" altLang="en-US" dirty="0"/>
          </a:p>
        </p:txBody>
      </p:sp>
      <p:sp>
        <p:nvSpPr>
          <p:cNvPr id="3" name="内容占位符 2"/>
          <p:cNvSpPr>
            <a:spLocks noGrp="1"/>
          </p:cNvSpPr>
          <p:nvPr>
            <p:ph idx="1"/>
          </p:nvPr>
        </p:nvSpPr>
        <p:spPr>
          <a:xfrm>
            <a:off x="334434" y="1052515"/>
            <a:ext cx="11523133" cy="1944438"/>
          </a:xfrm>
        </p:spPr>
        <p:txBody>
          <a:bodyPr/>
          <a:lstStyle/>
          <a:p>
            <a:r>
              <a:rPr lang="zh-CN" altLang="en-US" dirty="0"/>
              <a:t>邮件发送完毕后，</a:t>
            </a:r>
            <a:r>
              <a:rPr lang="en-US" altLang="zh-CN" dirty="0"/>
              <a:t>SMTP</a:t>
            </a:r>
            <a:r>
              <a:rPr lang="zh-CN" altLang="en-US" dirty="0"/>
              <a:t>客户应发送</a:t>
            </a:r>
            <a:r>
              <a:rPr lang="en-US" altLang="zh-CN" dirty="0"/>
              <a:t>QUIT</a:t>
            </a:r>
            <a:r>
              <a:rPr lang="zh-CN" altLang="en-US" dirty="0"/>
              <a:t>命令；</a:t>
            </a:r>
            <a:endParaRPr lang="zh-CN" altLang="en-US" dirty="0"/>
          </a:p>
          <a:p>
            <a:r>
              <a:rPr lang="en-US" altLang="zh-CN" dirty="0"/>
              <a:t>SMTP</a:t>
            </a:r>
            <a:r>
              <a:rPr lang="zh-CN" altLang="en-US" dirty="0"/>
              <a:t>服务器返回的信息是“</a:t>
            </a:r>
            <a:r>
              <a:rPr lang="en-US" altLang="zh-CN" dirty="0"/>
              <a:t>221 close connection”</a:t>
            </a:r>
            <a:r>
              <a:rPr lang="zh-CN" altLang="en-US" dirty="0"/>
              <a:t>，表示</a:t>
            </a:r>
            <a:r>
              <a:rPr lang="en-US" altLang="zh-CN" dirty="0"/>
              <a:t>SMTP</a:t>
            </a:r>
            <a:r>
              <a:rPr lang="zh-CN" altLang="en-US" dirty="0"/>
              <a:t>同意释放</a:t>
            </a:r>
            <a:r>
              <a:rPr lang="en-US" altLang="zh-CN" dirty="0"/>
              <a:t>TCP</a:t>
            </a:r>
            <a:r>
              <a:rPr lang="zh-CN" altLang="en-US" dirty="0"/>
              <a:t>连接</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3204628" y="3022714"/>
            <a:ext cx="5782744" cy="2665290"/>
            <a:chOff x="2059599" y="2176285"/>
            <a:chExt cx="5497163" cy="2304251"/>
          </a:xfrm>
        </p:grpSpPr>
        <p:sp>
          <p:nvSpPr>
            <p:cNvPr id="6" name="矩形 5"/>
            <p:cNvSpPr/>
            <p:nvPr/>
          </p:nvSpPr>
          <p:spPr>
            <a:xfrm>
              <a:off x="5376341" y="2183424"/>
              <a:ext cx="1605221" cy="343075"/>
            </a:xfrm>
            <a:prstGeom prst="rect">
              <a:avLst/>
            </a:prstGeom>
            <a:solidFill>
              <a:srgbClr val="0066FF"/>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dirty="0">
                  <a:solidFill>
                    <a:schemeClr val="bg1"/>
                  </a:solidFill>
                  <a:latin typeface="微软雅黑 Light" panose="020B0502040204020203" pitchFamily="34" charset="-122"/>
                  <a:ea typeface="微软雅黑 Light" panose="020B0502040204020203" pitchFamily="34" charset="-122"/>
                </a:rPr>
                <a:t>SMTP </a:t>
              </a:r>
              <a:r>
                <a:rPr lang="zh-CN" altLang="en-US" sz="1800" dirty="0">
                  <a:solidFill>
                    <a:schemeClr val="bg1"/>
                  </a:solidFill>
                  <a:latin typeface="微软雅黑 Light" panose="020B0502040204020203" pitchFamily="34" charset="-122"/>
                  <a:ea typeface="微软雅黑 Light" panose="020B0502040204020203" pitchFamily="34" charset="-122"/>
                </a:rPr>
                <a:t>服务器</a:t>
              </a:r>
              <a:endParaRPr lang="zh-CN" altLang="en-US" sz="1800" dirty="0">
                <a:solidFill>
                  <a:schemeClr val="bg1"/>
                </a:solidFill>
                <a:latin typeface="微软雅黑 Light" panose="020B0502040204020203" pitchFamily="34" charset="-122"/>
                <a:ea typeface="微软雅黑 Light" panose="020B0502040204020203" pitchFamily="34" charset="-122"/>
              </a:endParaRPr>
            </a:p>
          </p:txBody>
        </p:sp>
        <p:sp>
          <p:nvSpPr>
            <p:cNvPr id="7" name="Text Box 409"/>
            <p:cNvSpPr txBox="1">
              <a:spLocks noChangeArrowheads="1"/>
            </p:cNvSpPr>
            <p:nvPr/>
          </p:nvSpPr>
          <p:spPr bwMode="auto">
            <a:xfrm>
              <a:off x="6119801" y="2572023"/>
              <a:ext cx="1436961" cy="292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600" dirty="0">
                  <a:latin typeface="微软雅黑 Light" panose="020B0502040204020203" pitchFamily="34" charset="-122"/>
                  <a:ea typeface="微软雅黑 Light" panose="020B0502040204020203" pitchFamily="34" charset="-122"/>
                </a:rPr>
                <a:t>TCP </a:t>
              </a:r>
              <a:r>
                <a:rPr kumimoji="1" lang="zh-CN" altLang="en-US" sz="1600" dirty="0">
                  <a:latin typeface="微软雅黑 Light" panose="020B0502040204020203" pitchFamily="34" charset="-122"/>
                  <a:ea typeface="微软雅黑 Light" panose="020B0502040204020203" pitchFamily="34" charset="-122"/>
                </a:rPr>
                <a:t>端口 </a:t>
              </a:r>
              <a:r>
                <a:rPr kumimoji="1" lang="en-US" altLang="zh-CN" sz="1600" dirty="0">
                  <a:latin typeface="微软雅黑 Light" panose="020B0502040204020203" pitchFamily="34" charset="-122"/>
                  <a:ea typeface="微软雅黑 Light" panose="020B0502040204020203" pitchFamily="34" charset="-122"/>
                </a:rPr>
                <a:t>25</a:t>
              </a:r>
              <a:endParaRPr kumimoji="1" lang="zh-CN" altLang="en-US" sz="1600" dirty="0">
                <a:latin typeface="微软雅黑 Light" panose="020B0502040204020203" pitchFamily="34" charset="-122"/>
                <a:ea typeface="微软雅黑 Light" panose="020B0502040204020203" pitchFamily="34" charset="-122"/>
              </a:endParaRPr>
            </a:p>
          </p:txBody>
        </p:sp>
        <p:sp>
          <p:nvSpPr>
            <p:cNvPr id="8" name="矩形 7"/>
            <p:cNvSpPr/>
            <p:nvPr/>
          </p:nvSpPr>
          <p:spPr>
            <a:xfrm>
              <a:off x="2059599" y="2176285"/>
              <a:ext cx="1605221" cy="349527"/>
            </a:xfrm>
            <a:prstGeom prst="rect">
              <a:avLst/>
            </a:prstGeom>
            <a:solidFill>
              <a:srgbClr val="FFFF00"/>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chemeClr val="tx1"/>
                  </a:solidFill>
                  <a:latin typeface="微软雅黑 Light" panose="020B0502040204020203" pitchFamily="34" charset="-122"/>
                  <a:ea typeface="微软雅黑 Light" panose="020B0502040204020203" pitchFamily="34" charset="-122"/>
                </a:rPr>
                <a:t>SMTP </a:t>
              </a:r>
              <a:r>
                <a:rPr lang="zh-CN" altLang="en-US" sz="1800" dirty="0">
                  <a:solidFill>
                    <a:schemeClr val="tx1"/>
                  </a:solidFill>
                  <a:latin typeface="微软雅黑 Light" panose="020B0502040204020203" pitchFamily="34" charset="-122"/>
                  <a:ea typeface="微软雅黑 Light" panose="020B0502040204020203" pitchFamily="34" charset="-122"/>
                </a:rPr>
                <a:t>客户</a:t>
              </a:r>
              <a:endParaRPr lang="zh-CN" altLang="en-US" sz="1800" dirty="0">
                <a:solidFill>
                  <a:schemeClr val="tx1"/>
                </a:solidFill>
                <a:latin typeface="微软雅黑 Light" panose="020B0502040204020203" pitchFamily="34" charset="-122"/>
                <a:ea typeface="微软雅黑 Light" panose="020B0502040204020203" pitchFamily="34" charset="-122"/>
              </a:endParaRPr>
            </a:p>
          </p:txBody>
        </p:sp>
        <p:grpSp>
          <p:nvGrpSpPr>
            <p:cNvPr id="9" name="组合 8"/>
            <p:cNvGrpSpPr/>
            <p:nvPr/>
          </p:nvGrpSpPr>
          <p:grpSpPr>
            <a:xfrm>
              <a:off x="2862210" y="2525812"/>
              <a:ext cx="3316742" cy="1906300"/>
              <a:chOff x="2146657" y="2044249"/>
              <a:chExt cx="2487556" cy="1667094"/>
            </a:xfrm>
          </p:grpSpPr>
          <p:cxnSp>
            <p:nvCxnSpPr>
              <p:cNvPr id="19" name="直接箭头连接符 18"/>
              <p:cNvCxnSpPr>
                <a:stCxn id="8" idx="2"/>
              </p:cNvCxnSpPr>
              <p:nvPr/>
            </p:nvCxnSpPr>
            <p:spPr>
              <a:xfrm>
                <a:off x="2146657" y="2044249"/>
                <a:ext cx="15585" cy="166709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6" idx="2"/>
              </p:cNvCxnSpPr>
              <p:nvPr/>
            </p:nvCxnSpPr>
            <p:spPr>
              <a:xfrm flipH="1">
                <a:off x="4626423" y="2044849"/>
                <a:ext cx="7790" cy="1609211"/>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2882990" y="3963110"/>
              <a:ext cx="3295962" cy="517426"/>
              <a:chOff x="2153114" y="1170664"/>
              <a:chExt cx="2807374" cy="421315"/>
            </a:xfrm>
          </p:grpSpPr>
          <p:sp>
            <p:nvSpPr>
              <p:cNvPr id="17" name="Text Box 52"/>
              <p:cNvSpPr txBox="1">
                <a:spLocks noChangeArrowheads="1"/>
              </p:cNvSpPr>
              <p:nvPr/>
            </p:nvSpPr>
            <p:spPr bwMode="auto">
              <a:xfrm>
                <a:off x="2855200" y="1331986"/>
                <a:ext cx="1335121" cy="259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kumimoji="1" sz="1400" b="1">
                    <a:latin typeface="微软雅黑" panose="020B0503020204020204" pitchFamily="34" charset="-122"/>
                    <a:ea typeface="微软雅黑" panose="020B0503020204020204" pitchFamily="34" charset="-122"/>
                  </a:defRPr>
                </a:lvl1pPr>
                <a:lvl2pPr marL="742950" indent="-285750">
                  <a:defRPr sz="3600">
                    <a:latin typeface="Tahoma" panose="020B0604030504040204" pitchFamily="34" charset="0"/>
                    <a:ea typeface="宋体" panose="02010600030101010101" pitchFamily="2" charset="-122"/>
                  </a:defRPr>
                </a:lvl2pPr>
                <a:lvl3pPr marL="1143000" indent="-228600">
                  <a:defRPr sz="3600">
                    <a:latin typeface="Tahoma" panose="020B0604030504040204" pitchFamily="34" charset="0"/>
                    <a:ea typeface="宋体" panose="02010600030101010101" pitchFamily="2" charset="-122"/>
                  </a:defRPr>
                </a:lvl3pPr>
                <a:lvl4pPr marL="1600200" indent="-228600">
                  <a:defRPr sz="3600">
                    <a:latin typeface="Tahoma" panose="020B0604030504040204" pitchFamily="34" charset="0"/>
                    <a:ea typeface="宋体" panose="02010600030101010101" pitchFamily="2" charset="-122"/>
                  </a:defRPr>
                </a:lvl4pPr>
                <a:lvl5pPr marL="2057400" indent="-228600">
                  <a:defRPr sz="36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latin typeface="Tahoma" panose="020B0604030504040204" pitchFamily="34" charset="0"/>
                    <a:ea typeface="宋体" panose="02010600030101010101" pitchFamily="2" charset="-122"/>
                  </a:defRPr>
                </a:lvl9pPr>
              </a:lstStyle>
              <a:p>
                <a:r>
                  <a:rPr lang="zh-CN" altLang="en-US" sz="1800" b="0" dirty="0">
                    <a:latin typeface="微软雅黑 Light" panose="020B0502040204020203" pitchFamily="34" charset="-122"/>
                    <a:ea typeface="微软雅黑 Light" panose="020B0502040204020203" pitchFamily="34" charset="-122"/>
                  </a:rPr>
                  <a:t>释放 </a:t>
                </a:r>
                <a:r>
                  <a:rPr lang="en-US" altLang="zh-CN" sz="1800" b="0" dirty="0">
                    <a:latin typeface="微软雅黑 Light" panose="020B0502040204020203" pitchFamily="34" charset="-122"/>
                    <a:ea typeface="微软雅黑 Light" panose="020B0502040204020203" pitchFamily="34" charset="-122"/>
                  </a:rPr>
                  <a:t>TCP </a:t>
                </a:r>
                <a:r>
                  <a:rPr lang="zh-CN" altLang="en-US" sz="1800" b="0" dirty="0">
                    <a:latin typeface="微软雅黑 Light" panose="020B0502040204020203" pitchFamily="34" charset="-122"/>
                    <a:ea typeface="微软雅黑 Light" panose="020B0502040204020203" pitchFamily="34" charset="-122"/>
                  </a:rPr>
                  <a:t>连接</a:t>
                </a:r>
                <a:endParaRPr lang="en-US" altLang="zh-CN" sz="1800" b="0" dirty="0">
                  <a:latin typeface="微软雅黑 Light" panose="020B0502040204020203" pitchFamily="34" charset="-122"/>
                  <a:ea typeface="微软雅黑 Light" panose="020B0502040204020203" pitchFamily="34" charset="-122"/>
                </a:endParaRPr>
              </a:p>
            </p:txBody>
          </p:sp>
          <p:sp>
            <p:nvSpPr>
              <p:cNvPr id="18" name="Line 55"/>
              <p:cNvSpPr>
                <a:spLocks noChangeShapeType="1"/>
              </p:cNvSpPr>
              <p:nvPr/>
            </p:nvSpPr>
            <p:spPr bwMode="auto">
              <a:xfrm>
                <a:off x="2153114" y="1170664"/>
                <a:ext cx="2807374" cy="6802"/>
              </a:xfrm>
              <a:prstGeom prst="line">
                <a:avLst/>
              </a:prstGeom>
              <a:noFill/>
              <a:ln w="28575">
                <a:solidFill>
                  <a:srgbClr val="FF66CC"/>
                </a:solidFill>
                <a:prstDash val="dash"/>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2800">
                  <a:latin typeface="微软雅黑 Light" panose="020B0502040204020203" pitchFamily="34" charset="-122"/>
                  <a:ea typeface="微软雅黑 Light" panose="020B0502040204020203" pitchFamily="34" charset="-122"/>
                </a:endParaRPr>
              </a:p>
            </p:txBody>
          </p:sp>
        </p:grpSp>
        <p:grpSp>
          <p:nvGrpSpPr>
            <p:cNvPr id="11" name="组合 10"/>
            <p:cNvGrpSpPr/>
            <p:nvPr/>
          </p:nvGrpSpPr>
          <p:grpSpPr>
            <a:xfrm>
              <a:off x="2882989" y="2710522"/>
              <a:ext cx="3295963" cy="363808"/>
              <a:chOff x="2153113" y="2208172"/>
              <a:chExt cx="2807375" cy="203190"/>
            </a:xfrm>
          </p:grpSpPr>
          <p:sp>
            <p:nvSpPr>
              <p:cNvPr id="15" name="Line 55"/>
              <p:cNvSpPr>
                <a:spLocks noChangeShapeType="1"/>
              </p:cNvSpPr>
              <p:nvPr/>
            </p:nvSpPr>
            <p:spPr bwMode="auto">
              <a:xfrm>
                <a:off x="2153113" y="2325413"/>
                <a:ext cx="2807375" cy="6484"/>
              </a:xfrm>
              <a:prstGeom prst="line">
                <a:avLst/>
              </a:prstGeom>
              <a:noFill/>
              <a:ln w="12700">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600">
                  <a:latin typeface="微软雅黑 Light" panose="020B0502040204020203" pitchFamily="34" charset="-122"/>
                  <a:ea typeface="微软雅黑 Light" panose="020B0502040204020203" pitchFamily="34" charset="-122"/>
                </a:endParaRPr>
              </a:p>
            </p:txBody>
          </p:sp>
          <p:sp>
            <p:nvSpPr>
              <p:cNvPr id="16" name="矩形 15"/>
              <p:cNvSpPr/>
              <p:nvPr/>
            </p:nvSpPr>
            <p:spPr>
              <a:xfrm>
                <a:off x="2637848" y="2208172"/>
                <a:ext cx="1719442" cy="203190"/>
              </a:xfrm>
              <a:prstGeom prst="rect">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Light" panose="020B0502040204020203" pitchFamily="34" charset="-122"/>
                    <a:ea typeface="微软雅黑 Light" panose="020B0502040204020203" pitchFamily="34" charset="-122"/>
                  </a:rPr>
                  <a:t>QUIT</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grpSp>
        <p:grpSp>
          <p:nvGrpSpPr>
            <p:cNvPr id="12" name="组合 11"/>
            <p:cNvGrpSpPr/>
            <p:nvPr/>
          </p:nvGrpSpPr>
          <p:grpSpPr>
            <a:xfrm>
              <a:off x="2872600" y="3258351"/>
              <a:ext cx="3295963" cy="361101"/>
              <a:chOff x="2144264" y="1976779"/>
              <a:chExt cx="2807375" cy="201678"/>
            </a:xfrm>
          </p:grpSpPr>
          <p:sp>
            <p:nvSpPr>
              <p:cNvPr id="13" name="Line 55"/>
              <p:cNvSpPr>
                <a:spLocks noChangeShapeType="1"/>
              </p:cNvSpPr>
              <p:nvPr/>
            </p:nvSpPr>
            <p:spPr bwMode="auto">
              <a:xfrm>
                <a:off x="2144264" y="2091686"/>
                <a:ext cx="2807375" cy="4666"/>
              </a:xfrm>
              <a:prstGeom prst="line">
                <a:avLst/>
              </a:prstGeom>
              <a:noFill/>
              <a:ln w="12700">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zh-CN" altLang="en-US" sz="1600">
                  <a:latin typeface="微软雅黑 Light" panose="020B0502040204020203" pitchFamily="34" charset="-122"/>
                  <a:ea typeface="微软雅黑 Light" panose="020B0502040204020203" pitchFamily="34" charset="-122"/>
                </a:endParaRPr>
              </a:p>
            </p:txBody>
          </p:sp>
          <p:sp>
            <p:nvSpPr>
              <p:cNvPr id="14" name="矩形 13"/>
              <p:cNvSpPr/>
              <p:nvPr/>
            </p:nvSpPr>
            <p:spPr>
              <a:xfrm>
                <a:off x="2637847" y="1976779"/>
                <a:ext cx="1719443" cy="20167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Light" panose="020B0502040204020203" pitchFamily="34" charset="-122"/>
                    <a:ea typeface="微软雅黑 Light" panose="020B0502040204020203" pitchFamily="34" charset="-122"/>
                  </a:rPr>
                  <a:t>221 Service closed</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6A0B2ED-9A30-40AF-820D-44C7CABAE15F}" type="slidenum">
              <a:rPr lang="en-US" altLang="zh-CN"/>
            </a:fld>
            <a:endParaRPr lang="en-US" altLang="zh-CN"/>
          </a:p>
        </p:txBody>
      </p:sp>
      <p:sp>
        <p:nvSpPr>
          <p:cNvPr id="294914" name="Rectangle 2"/>
          <p:cNvSpPr>
            <a:spLocks noGrp="1" noChangeArrowheads="1"/>
          </p:cNvSpPr>
          <p:nvPr>
            <p:ph type="title"/>
          </p:nvPr>
        </p:nvSpPr>
        <p:spPr/>
        <p:txBody>
          <a:bodyPr/>
          <a:lstStyle/>
          <a:p>
            <a:r>
              <a:rPr lang="zh-CN" altLang="en-US" dirty="0"/>
              <a:t>接收邮件协议</a:t>
            </a:r>
            <a:endParaRPr lang="zh-CN" altLang="en-US" dirty="0"/>
          </a:p>
        </p:txBody>
      </p:sp>
      <p:sp>
        <p:nvSpPr>
          <p:cNvPr id="294915" name="Rectangle 3"/>
          <p:cNvSpPr>
            <a:spLocks noGrp="1" noChangeArrowheads="1"/>
          </p:cNvSpPr>
          <p:nvPr>
            <p:ph type="body" idx="1"/>
          </p:nvPr>
        </p:nvSpPr>
        <p:spPr/>
        <p:txBody>
          <a:bodyPr/>
          <a:lstStyle/>
          <a:p>
            <a:r>
              <a:rPr lang="en-US" altLang="zh-CN" dirty="0"/>
              <a:t>POP</a:t>
            </a:r>
            <a:r>
              <a:rPr lang="zh-CN" altLang="en-US" dirty="0"/>
              <a:t>（</a:t>
            </a:r>
            <a:r>
              <a:rPr lang="en-US" altLang="zh-CN" dirty="0"/>
              <a:t>Post Office Protocol</a:t>
            </a:r>
            <a:r>
              <a:rPr lang="zh-CN" altLang="en-US" dirty="0"/>
              <a:t>）</a:t>
            </a:r>
            <a:endParaRPr lang="zh-CN" altLang="en-US" dirty="0"/>
          </a:p>
          <a:p>
            <a:pPr lvl="1"/>
            <a:r>
              <a:rPr lang="en-US" altLang="zh-CN" dirty="0"/>
              <a:t>POP</a:t>
            </a:r>
            <a:r>
              <a:rPr lang="zh-CN" altLang="en-US" dirty="0"/>
              <a:t>使用客户服务器模式，接收邮件的计算机运行</a:t>
            </a:r>
            <a:r>
              <a:rPr lang="en-US" altLang="zh-CN" dirty="0"/>
              <a:t>POP</a:t>
            </a:r>
            <a:r>
              <a:rPr lang="zh-CN" altLang="en-US" dirty="0"/>
              <a:t>客户程序，其</a:t>
            </a:r>
            <a:r>
              <a:rPr lang="en-US" altLang="zh-CN" dirty="0"/>
              <a:t>ISP</a:t>
            </a:r>
            <a:r>
              <a:rPr lang="zh-CN" altLang="en-US" dirty="0"/>
              <a:t>的邮件服务器中运行</a:t>
            </a:r>
            <a:r>
              <a:rPr lang="en-US" altLang="zh-CN" dirty="0"/>
              <a:t>POP</a:t>
            </a:r>
            <a:r>
              <a:rPr lang="zh-CN" altLang="en-US" dirty="0"/>
              <a:t>服务程序</a:t>
            </a:r>
            <a:endParaRPr lang="zh-CN" altLang="en-US" dirty="0"/>
          </a:p>
          <a:p>
            <a:pPr lvl="1"/>
            <a:r>
              <a:rPr lang="en-US" altLang="zh-CN" dirty="0"/>
              <a:t>POP</a:t>
            </a:r>
            <a:r>
              <a:rPr lang="zh-CN" altLang="en-US" dirty="0"/>
              <a:t>是脱机程序</a:t>
            </a:r>
            <a:endParaRPr lang="en-US" altLang="zh-CN" dirty="0"/>
          </a:p>
          <a:p>
            <a:pPr lvl="1"/>
            <a:r>
              <a:rPr lang="zh-CN" altLang="en-US" dirty="0"/>
              <a:t>服务端口：</a:t>
            </a:r>
            <a:r>
              <a:rPr lang="en-US" altLang="zh-CN" dirty="0"/>
              <a:t>110</a:t>
            </a:r>
            <a:r>
              <a:rPr lang="zh-CN" altLang="en-US" dirty="0"/>
              <a:t>，安全端口：</a:t>
            </a:r>
            <a:r>
              <a:rPr lang="en-US" altLang="zh-CN" dirty="0"/>
              <a:t>995</a:t>
            </a:r>
            <a:endParaRPr lang="zh-CN" altLang="en-US" dirty="0"/>
          </a:p>
          <a:p>
            <a:r>
              <a:rPr lang="en-US" altLang="zh-CN" dirty="0"/>
              <a:t>IMAP</a:t>
            </a:r>
            <a:r>
              <a:rPr lang="zh-CN" altLang="en-US" dirty="0"/>
              <a:t>（</a:t>
            </a:r>
            <a:r>
              <a:rPr lang="en-US" altLang="zh-CN" dirty="0"/>
              <a:t>Internet Message Access Protocol</a:t>
            </a:r>
            <a:r>
              <a:rPr lang="zh-CN" altLang="en-US" dirty="0"/>
              <a:t>）</a:t>
            </a:r>
            <a:endParaRPr lang="en-US" altLang="zh-CN" dirty="0"/>
          </a:p>
          <a:p>
            <a:pPr lvl="1"/>
            <a:r>
              <a:rPr lang="zh-CN" altLang="en-US" dirty="0"/>
              <a:t>接收邮件协议</a:t>
            </a:r>
            <a:endParaRPr lang="en-US" altLang="zh-CN" dirty="0"/>
          </a:p>
          <a:p>
            <a:pPr lvl="1"/>
            <a:r>
              <a:rPr lang="zh-CN" altLang="en-US" dirty="0"/>
              <a:t>不同于</a:t>
            </a:r>
            <a:r>
              <a:rPr lang="en-US" altLang="zh-CN" dirty="0"/>
              <a:t>POP</a:t>
            </a:r>
            <a:r>
              <a:rPr lang="zh-CN" altLang="en-US" dirty="0"/>
              <a:t>， </a:t>
            </a:r>
            <a:r>
              <a:rPr lang="en-US" altLang="zh-CN" dirty="0"/>
              <a:t>IMAP</a:t>
            </a:r>
            <a:r>
              <a:rPr lang="zh-CN" altLang="en-US" dirty="0"/>
              <a:t>是联机协议</a:t>
            </a:r>
            <a:endParaRPr lang="en-US" altLang="zh-CN" dirty="0"/>
          </a:p>
          <a:p>
            <a:pPr lvl="1"/>
            <a:r>
              <a:rPr lang="zh-CN" altLang="en-US" dirty="0"/>
              <a:t>服务端口：</a:t>
            </a:r>
            <a:r>
              <a:rPr lang="en-US" altLang="zh-CN" dirty="0"/>
              <a:t>143</a:t>
            </a:r>
            <a:r>
              <a:rPr lang="zh-CN" altLang="en-US" dirty="0"/>
              <a:t>，安全端口：</a:t>
            </a:r>
            <a:r>
              <a:rPr lang="en-US" altLang="zh-CN"/>
              <a:t>993</a:t>
            </a:r>
            <a:endParaRPr lang="zh-CN" altLang="en-US" dirty="0"/>
          </a:p>
          <a:p>
            <a:pPr lvl="1"/>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9B50785-2C3B-4171-8F97-81F242D0F799}" type="slidenum">
              <a:rPr lang="en-US" altLang="zh-CN"/>
            </a:fld>
            <a:endParaRPr lang="en-US" altLang="zh-CN"/>
          </a:p>
        </p:txBody>
      </p:sp>
      <p:sp>
        <p:nvSpPr>
          <p:cNvPr id="295938" name="Rectangle 2"/>
          <p:cNvSpPr>
            <a:spLocks noGrp="1" noChangeArrowheads="1"/>
          </p:cNvSpPr>
          <p:nvPr>
            <p:ph type="title"/>
          </p:nvPr>
        </p:nvSpPr>
        <p:spPr/>
        <p:txBody>
          <a:bodyPr/>
          <a:lstStyle/>
          <a:p>
            <a:pPr algn="ctr"/>
            <a:r>
              <a:rPr lang="en-US" altLang="zh-CN" dirty="0"/>
              <a:t>FTP</a:t>
            </a:r>
            <a:r>
              <a:rPr lang="zh-CN" altLang="en-US" dirty="0"/>
              <a:t>服务</a:t>
            </a:r>
            <a:endParaRPr lang="zh-CN" altLang="en-US" dirty="0"/>
          </a:p>
        </p:txBody>
      </p:sp>
      <p:sp>
        <p:nvSpPr>
          <p:cNvPr id="295939" name="Rectangle 3"/>
          <p:cNvSpPr>
            <a:spLocks noGrp="1" noChangeArrowheads="1"/>
          </p:cNvSpPr>
          <p:nvPr>
            <p:ph type="body" idx="1"/>
          </p:nvPr>
        </p:nvSpPr>
        <p:spPr/>
        <p:txBody>
          <a:bodyPr/>
          <a:lstStyle/>
          <a:p>
            <a:r>
              <a:rPr lang="en-US" altLang="zh-CN"/>
              <a:t>FTP(File Transfer Protocol)</a:t>
            </a:r>
            <a:r>
              <a:rPr lang="zh-CN" altLang="en-US"/>
              <a:t>文件传输协议</a:t>
            </a:r>
            <a:endParaRPr lang="zh-CN" altLang="en-US"/>
          </a:p>
          <a:p>
            <a:r>
              <a:rPr lang="en-US" altLang="zh-CN"/>
              <a:t>FTP</a:t>
            </a:r>
            <a:r>
              <a:rPr lang="zh-CN" altLang="en-US"/>
              <a:t>是基于</a:t>
            </a:r>
            <a:r>
              <a:rPr lang="en-US" altLang="zh-CN"/>
              <a:t>TCP</a:t>
            </a:r>
            <a:r>
              <a:rPr lang="zh-CN" altLang="en-US"/>
              <a:t>的文件传输协议，用于在两台异构的主机间传输文件，可靠性由</a:t>
            </a:r>
            <a:r>
              <a:rPr lang="en-US" altLang="zh-CN"/>
              <a:t>TCP</a:t>
            </a:r>
            <a:r>
              <a:rPr lang="zh-CN" altLang="en-US"/>
              <a:t>保障。</a:t>
            </a:r>
            <a:endParaRPr lang="zh-CN" altLang="en-US"/>
          </a:p>
          <a:p>
            <a:r>
              <a:rPr lang="zh-CN" altLang="en-US"/>
              <a:t>主要功能是减少或消除不同操作系统下处理文件的不兼容性。</a:t>
            </a:r>
            <a:endParaRPr lang="zh-CN" altLang="en-US"/>
          </a:p>
          <a:p>
            <a:r>
              <a:rPr lang="zh-CN" altLang="en-US"/>
              <a:t>有两种类型：匿名、非匿名</a:t>
            </a:r>
            <a:endParaRPr lang="zh-CN" altLang="en-US"/>
          </a:p>
          <a:p>
            <a:r>
              <a:rPr lang="en-US" altLang="zh-CN"/>
              <a:t>FTP</a:t>
            </a:r>
            <a:r>
              <a:rPr lang="zh-CN" altLang="en-US"/>
              <a:t>与网络文件系统不同</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D7D463A-3AA3-4E70-BC59-B00DB666B105}" type="slidenum">
              <a:rPr lang="en-US" altLang="zh-CN"/>
            </a:fld>
            <a:endParaRPr lang="en-US" altLang="zh-CN"/>
          </a:p>
        </p:txBody>
      </p:sp>
      <p:sp>
        <p:nvSpPr>
          <p:cNvPr id="296962" name="Rectangle 2"/>
          <p:cNvSpPr>
            <a:spLocks noGrp="1" noChangeArrowheads="1"/>
          </p:cNvSpPr>
          <p:nvPr>
            <p:ph type="title"/>
          </p:nvPr>
        </p:nvSpPr>
        <p:spPr/>
        <p:txBody>
          <a:bodyPr/>
          <a:lstStyle/>
          <a:p>
            <a:r>
              <a:rPr lang="en-US" altLang="zh-CN" dirty="0"/>
              <a:t>FTP</a:t>
            </a:r>
            <a:r>
              <a:rPr lang="zh-CN" altLang="en-US" dirty="0"/>
              <a:t>的工作原理</a:t>
            </a:r>
            <a:endParaRPr lang="zh-CN" altLang="en-US" dirty="0"/>
          </a:p>
        </p:txBody>
      </p:sp>
      <p:sp>
        <p:nvSpPr>
          <p:cNvPr id="296963" name="Rectangle 3"/>
          <p:cNvSpPr>
            <a:spLocks noGrp="1" noChangeArrowheads="1"/>
          </p:cNvSpPr>
          <p:nvPr>
            <p:ph type="body" idx="1"/>
          </p:nvPr>
        </p:nvSpPr>
        <p:spPr/>
        <p:txBody>
          <a:bodyPr/>
          <a:lstStyle/>
          <a:p>
            <a:r>
              <a:rPr lang="en-US" altLang="zh-CN" dirty="0"/>
              <a:t>FTP</a:t>
            </a:r>
            <a:r>
              <a:rPr lang="zh-CN" altLang="en-US" dirty="0"/>
              <a:t>是一个客户机</a:t>
            </a:r>
            <a:r>
              <a:rPr lang="en-US" altLang="zh-CN" dirty="0"/>
              <a:t>/</a:t>
            </a:r>
            <a:r>
              <a:rPr lang="zh-CN" altLang="en-US" dirty="0"/>
              <a:t>服务器系统。</a:t>
            </a:r>
            <a:endParaRPr lang="zh-CN" altLang="en-US" dirty="0"/>
          </a:p>
          <a:p>
            <a:pPr lvl="1"/>
            <a:r>
              <a:rPr lang="zh-CN" altLang="en-US" dirty="0"/>
              <a:t>用户通过一个支持</a:t>
            </a:r>
            <a:r>
              <a:rPr lang="en-US" altLang="zh-CN" dirty="0"/>
              <a:t>FTP</a:t>
            </a:r>
            <a:r>
              <a:rPr lang="zh-CN" altLang="en-US" dirty="0"/>
              <a:t>协议的客户机程序，连接到在远程主机上的</a:t>
            </a:r>
            <a:r>
              <a:rPr lang="en-US" altLang="zh-CN" dirty="0"/>
              <a:t>FTP</a:t>
            </a:r>
            <a:r>
              <a:rPr lang="zh-CN" altLang="en-US" dirty="0"/>
              <a:t>服务器程序。</a:t>
            </a:r>
            <a:endParaRPr lang="zh-CN" altLang="en-US" dirty="0"/>
          </a:p>
          <a:p>
            <a:pPr lvl="1"/>
            <a:r>
              <a:rPr lang="zh-CN" altLang="en-US" dirty="0"/>
              <a:t>用户通过客户机程序向服务器程序发出命令，服务器程序执行用户所发出的命令，并将执行的结果返回到客户机。</a:t>
            </a:r>
            <a:endParaRPr lang="zh-CN" altLang="en-US" dirty="0"/>
          </a:p>
          <a:p>
            <a:r>
              <a:rPr lang="en-US" altLang="zh-CN" dirty="0"/>
              <a:t>FTP</a:t>
            </a:r>
            <a:r>
              <a:rPr lang="zh-CN" altLang="en-US" dirty="0"/>
              <a:t>的控制信息是带外传送的。当</a:t>
            </a:r>
            <a:r>
              <a:rPr lang="en-US" altLang="zh-CN" dirty="0"/>
              <a:t>FTP</a:t>
            </a:r>
            <a:r>
              <a:rPr lang="zh-CN" altLang="en-US" dirty="0"/>
              <a:t>客户端与服务器建立</a:t>
            </a:r>
            <a:r>
              <a:rPr lang="en-US" altLang="zh-CN" dirty="0"/>
              <a:t>FTP</a:t>
            </a:r>
            <a:r>
              <a:rPr lang="zh-CN" altLang="en-US" dirty="0"/>
              <a:t>连接时，将与服务器上的两个端口建立联系</a:t>
            </a:r>
            <a:endParaRPr lang="zh-CN" altLang="en-US" dirty="0"/>
          </a:p>
          <a:p>
            <a:pPr lvl="1"/>
            <a:r>
              <a:rPr lang="zh-CN" altLang="en-US" dirty="0"/>
              <a:t>端口</a:t>
            </a:r>
            <a:r>
              <a:rPr lang="en-US" altLang="zh-CN" dirty="0"/>
              <a:t>21</a:t>
            </a:r>
            <a:r>
              <a:rPr lang="zh-CN" altLang="en-US" dirty="0"/>
              <a:t>用于控制连接，如用户标识、操作命令</a:t>
            </a:r>
            <a:endParaRPr lang="zh-CN" altLang="en-US" dirty="0"/>
          </a:p>
          <a:p>
            <a:pPr lvl="1"/>
            <a:r>
              <a:rPr lang="zh-CN" altLang="en-US" dirty="0"/>
              <a:t>端口</a:t>
            </a:r>
            <a:r>
              <a:rPr lang="en-US" altLang="zh-CN" dirty="0"/>
              <a:t>20</a:t>
            </a:r>
            <a:r>
              <a:rPr lang="zh-CN" altLang="en-US" dirty="0"/>
              <a:t>用于数据连接</a:t>
            </a:r>
            <a:endParaRPr lang="zh-CN" altLang="en-US" dirty="0"/>
          </a:p>
          <a:p>
            <a:r>
              <a:rPr lang="zh-CN" altLang="en-US" dirty="0"/>
              <a:t>在一次会话过程中，控制始终保持，数据连接随文件的传输会不断地打开与关闭</a:t>
            </a:r>
            <a:endParaRPr lang="en-US" altLang="zh-CN" dirty="0"/>
          </a:p>
          <a:p>
            <a:r>
              <a:rPr lang="zh-CN" altLang="en-US" dirty="0"/>
              <a:t>两种工作方式：主动</a:t>
            </a:r>
            <a:r>
              <a:rPr lang="en-US" altLang="zh-CN" dirty="0"/>
              <a:t>(PORT)</a:t>
            </a:r>
            <a:r>
              <a:rPr lang="zh-CN" altLang="en-US" dirty="0"/>
              <a:t>模式与被动</a:t>
            </a:r>
            <a:r>
              <a:rPr lang="en-US" altLang="zh-CN" dirty="0"/>
              <a:t>(PASV)</a:t>
            </a:r>
            <a:r>
              <a:rPr lang="zh-CN" altLang="en-US" dirty="0"/>
              <a:t>模式</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5"/>
          <p:cNvSpPr>
            <a:spLocks noGrp="1"/>
          </p:cNvSpPr>
          <p:nvPr>
            <p:ph type="sldNum" sz="quarter" idx="12"/>
          </p:nvPr>
        </p:nvSpPr>
        <p:spPr/>
        <p:txBody>
          <a:bodyPr/>
          <a:lstStyle/>
          <a:p>
            <a:fld id="{F3FD32E6-AD8C-417F-8A30-C71C06F99B78}" type="slidenum">
              <a:rPr lang="en-US" altLang="zh-CN"/>
            </a:fld>
            <a:endParaRPr lang="en-US" altLang="zh-CN"/>
          </a:p>
        </p:txBody>
      </p:sp>
      <p:sp>
        <p:nvSpPr>
          <p:cNvPr id="299010" name="Rectangle 2"/>
          <p:cNvSpPr>
            <a:spLocks noGrp="1" noChangeArrowheads="1"/>
          </p:cNvSpPr>
          <p:nvPr>
            <p:ph type="title"/>
          </p:nvPr>
        </p:nvSpPr>
        <p:spPr/>
        <p:txBody>
          <a:bodyPr/>
          <a:lstStyle/>
          <a:p>
            <a:r>
              <a:rPr lang="zh-CN" altLang="en-US"/>
              <a:t>主动模式</a:t>
            </a:r>
            <a:endParaRPr lang="zh-CN" altLang="en-US"/>
          </a:p>
        </p:txBody>
      </p:sp>
      <p:pic>
        <p:nvPicPr>
          <p:cNvPr id="4" name="图片 3"/>
          <p:cNvPicPr>
            <a:picLocks noChangeAspect="1"/>
          </p:cNvPicPr>
          <p:nvPr/>
        </p:nvPicPr>
        <p:blipFill>
          <a:blip r:embed="rId1"/>
          <a:stretch>
            <a:fillRect/>
          </a:stretch>
        </p:blipFill>
        <p:spPr>
          <a:xfrm>
            <a:off x="2279576" y="1340768"/>
            <a:ext cx="8023337" cy="446449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5"/>
          <p:cNvSpPr>
            <a:spLocks noGrp="1"/>
          </p:cNvSpPr>
          <p:nvPr>
            <p:ph type="sldNum" sz="quarter" idx="12"/>
          </p:nvPr>
        </p:nvSpPr>
        <p:spPr/>
        <p:txBody>
          <a:bodyPr/>
          <a:lstStyle/>
          <a:p>
            <a:fld id="{B8C33CE0-60D7-4E70-B05D-5077BB869CCC}" type="slidenum">
              <a:rPr lang="en-US" altLang="zh-CN"/>
            </a:fld>
            <a:endParaRPr lang="en-US" altLang="zh-CN"/>
          </a:p>
        </p:txBody>
      </p:sp>
      <p:sp>
        <p:nvSpPr>
          <p:cNvPr id="300034" name="Rectangle 2"/>
          <p:cNvSpPr>
            <a:spLocks noGrp="1" noChangeArrowheads="1"/>
          </p:cNvSpPr>
          <p:nvPr>
            <p:ph type="title"/>
          </p:nvPr>
        </p:nvSpPr>
        <p:spPr/>
        <p:txBody>
          <a:bodyPr/>
          <a:lstStyle/>
          <a:p>
            <a:r>
              <a:rPr lang="zh-CN" altLang="en-US"/>
              <a:t>被动模式</a:t>
            </a:r>
            <a:endParaRPr lang="zh-CN" altLang="en-US"/>
          </a:p>
        </p:txBody>
      </p:sp>
      <p:pic>
        <p:nvPicPr>
          <p:cNvPr id="4" name="图片 3"/>
          <p:cNvPicPr>
            <a:picLocks noChangeAspect="1"/>
          </p:cNvPicPr>
          <p:nvPr/>
        </p:nvPicPr>
        <p:blipFill>
          <a:blip r:embed="rId1"/>
          <a:stretch>
            <a:fillRect/>
          </a:stretch>
        </p:blipFill>
        <p:spPr>
          <a:xfrm>
            <a:off x="1847528" y="1196752"/>
            <a:ext cx="8136904" cy="489505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2DC2487-303E-4378-88DF-8A25C9B7BBDB}" type="slidenum">
              <a:rPr lang="en-US" altLang="zh-CN"/>
            </a:fld>
            <a:endParaRPr lang="en-US" altLang="zh-CN"/>
          </a:p>
        </p:txBody>
      </p:sp>
      <p:sp>
        <p:nvSpPr>
          <p:cNvPr id="301058" name="Rectangle 2"/>
          <p:cNvSpPr>
            <a:spLocks noGrp="1" noChangeArrowheads="1"/>
          </p:cNvSpPr>
          <p:nvPr>
            <p:ph type="title"/>
          </p:nvPr>
        </p:nvSpPr>
        <p:spPr/>
        <p:txBody>
          <a:bodyPr/>
          <a:lstStyle/>
          <a:p>
            <a:r>
              <a:rPr lang="en-US" altLang="zh-CN" dirty="0"/>
              <a:t>FTP</a:t>
            </a:r>
            <a:r>
              <a:rPr lang="zh-CN" altLang="en-US" dirty="0"/>
              <a:t>的主要命令</a:t>
            </a:r>
            <a:endParaRPr lang="zh-CN" altLang="en-US" dirty="0"/>
          </a:p>
        </p:txBody>
      </p:sp>
      <p:sp>
        <p:nvSpPr>
          <p:cNvPr id="301059" name="Rectangle 3"/>
          <p:cNvSpPr>
            <a:spLocks noGrp="1" noChangeArrowheads="1"/>
          </p:cNvSpPr>
          <p:nvPr>
            <p:ph type="body" idx="1"/>
          </p:nvPr>
        </p:nvSpPr>
        <p:spPr/>
        <p:txBody>
          <a:bodyPr/>
          <a:lstStyle/>
          <a:p>
            <a:r>
              <a:rPr lang="en-US" altLang="zh-CN"/>
              <a:t>LIST -- </a:t>
            </a:r>
            <a:r>
              <a:rPr lang="zh-CN" altLang="en-US"/>
              <a:t>目录名列出子目录或文件</a:t>
            </a:r>
            <a:endParaRPr lang="zh-CN" altLang="en-US"/>
          </a:p>
          <a:p>
            <a:r>
              <a:rPr lang="en-US" altLang="zh-CN"/>
              <a:t>RETR -- </a:t>
            </a:r>
            <a:r>
              <a:rPr lang="zh-CN" altLang="en-US"/>
              <a:t>文件从服务器传送到客户</a:t>
            </a:r>
            <a:endParaRPr lang="zh-CN" altLang="en-US"/>
          </a:p>
          <a:p>
            <a:r>
              <a:rPr lang="en-US" altLang="zh-CN"/>
              <a:t>USER -- </a:t>
            </a:r>
            <a:r>
              <a:rPr lang="zh-CN" altLang="en-US"/>
              <a:t>用户信息</a:t>
            </a:r>
            <a:endParaRPr lang="zh-CN" altLang="en-US"/>
          </a:p>
          <a:p>
            <a:r>
              <a:rPr lang="en-US" altLang="zh-CN"/>
              <a:t>PASS -- </a:t>
            </a:r>
            <a:r>
              <a:rPr lang="zh-CN" altLang="en-US"/>
              <a:t>用户口令</a:t>
            </a:r>
            <a:endParaRPr lang="zh-CN" altLang="en-US"/>
          </a:p>
          <a:p>
            <a:r>
              <a:rPr lang="en-US" altLang="zh-CN"/>
              <a:t>QUIT -- </a:t>
            </a:r>
            <a:r>
              <a:rPr lang="zh-CN" altLang="en-US"/>
              <a:t>向系统注销</a:t>
            </a:r>
            <a:endParaRPr lang="zh-CN" altLang="en-US"/>
          </a:p>
          <a:p>
            <a:r>
              <a:rPr lang="en-US" altLang="zh-CN"/>
              <a:t>STOR -- </a:t>
            </a:r>
            <a:r>
              <a:rPr lang="zh-CN" altLang="en-US"/>
              <a:t>文件从客户传送到服务器</a:t>
            </a:r>
            <a:endParaRPr lang="zh-CN" altLang="en-US"/>
          </a:p>
          <a:p>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1E5EE98-58AE-48FA-B587-F1F45899008D}" type="slidenum">
              <a:rPr lang="en-US" altLang="zh-CN"/>
            </a:fld>
            <a:endParaRPr lang="en-US" altLang="zh-CN"/>
          </a:p>
        </p:txBody>
      </p:sp>
      <p:sp>
        <p:nvSpPr>
          <p:cNvPr id="344066" name="Rectangle 2"/>
          <p:cNvSpPr>
            <a:spLocks noGrp="1" noChangeArrowheads="1"/>
          </p:cNvSpPr>
          <p:nvPr>
            <p:ph type="title"/>
          </p:nvPr>
        </p:nvSpPr>
        <p:spPr/>
        <p:txBody>
          <a:bodyPr/>
          <a:lstStyle/>
          <a:p>
            <a:r>
              <a:rPr lang="zh-CN" altLang="en-US" dirty="0"/>
              <a:t>普通文件传输协议</a:t>
            </a:r>
            <a:endParaRPr lang="zh-CN" altLang="en-US" dirty="0"/>
          </a:p>
        </p:txBody>
      </p:sp>
      <p:sp>
        <p:nvSpPr>
          <p:cNvPr id="344067" name="Rectangle 3"/>
          <p:cNvSpPr>
            <a:spLocks noGrp="1" noChangeArrowheads="1"/>
          </p:cNvSpPr>
          <p:nvPr>
            <p:ph type="body" idx="1"/>
          </p:nvPr>
        </p:nvSpPr>
        <p:spPr/>
        <p:txBody>
          <a:bodyPr/>
          <a:lstStyle/>
          <a:p>
            <a:r>
              <a:rPr lang="en-US" altLang="zh-CN" dirty="0"/>
              <a:t>TFTP (Trivial File </a:t>
            </a:r>
            <a:r>
              <a:rPr lang="en-US" altLang="zh-CN" dirty="0" err="1"/>
              <a:t>Tansfer</a:t>
            </a:r>
            <a:r>
              <a:rPr lang="en-US" altLang="zh-CN" dirty="0"/>
              <a:t> Protocol)</a:t>
            </a:r>
            <a:endParaRPr lang="en-US" altLang="zh-CN" dirty="0"/>
          </a:p>
          <a:p>
            <a:r>
              <a:rPr lang="zh-CN" altLang="en-US" dirty="0"/>
              <a:t>使用</a:t>
            </a:r>
            <a:r>
              <a:rPr lang="en-US" altLang="zh-CN" dirty="0"/>
              <a:t>UDP</a:t>
            </a:r>
            <a:r>
              <a:rPr lang="zh-CN" altLang="en-US" dirty="0"/>
              <a:t>协议，其优点：</a:t>
            </a:r>
            <a:endParaRPr lang="zh-CN" altLang="en-US" dirty="0"/>
          </a:p>
          <a:p>
            <a:pPr lvl="1"/>
            <a:r>
              <a:rPr lang="zh-CN" altLang="en-US" dirty="0"/>
              <a:t>简单、代码所占的内存小</a:t>
            </a:r>
            <a:endParaRPr lang="zh-CN" altLang="en-US" dirty="0"/>
          </a:p>
          <a:p>
            <a:pPr lvl="1"/>
            <a:r>
              <a:rPr lang="zh-CN" altLang="en-US" dirty="0"/>
              <a:t>因使用</a:t>
            </a:r>
            <a:r>
              <a:rPr lang="en-US" altLang="zh-CN" dirty="0"/>
              <a:t>UDP</a:t>
            </a:r>
            <a:r>
              <a:rPr lang="zh-CN" altLang="en-US" dirty="0"/>
              <a:t>协议，可用于分发程序或文件</a:t>
            </a:r>
            <a:endParaRPr lang="en-US" altLang="zh-CN" dirty="0"/>
          </a:p>
          <a:p>
            <a:pPr lvl="1"/>
            <a:r>
              <a:rPr lang="en-US" altLang="zh-CN" sz="2400" dirty="0"/>
              <a:t>TFTP </a:t>
            </a:r>
            <a:r>
              <a:rPr lang="zh-CN" altLang="en-US" sz="2400" dirty="0"/>
              <a:t>需要有自己的差错改正措施</a:t>
            </a:r>
            <a:endParaRPr lang="zh-CN" altLang="en-US" dirty="0"/>
          </a:p>
          <a:p>
            <a:r>
              <a:rPr lang="zh-CN" altLang="en-US" dirty="0"/>
              <a:t>只支持文件传输，不支持交互</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6DDF82D-02E9-40FC-82DE-24261BED0561}" type="slidenum">
              <a:rPr lang="en-US" altLang="zh-CN"/>
            </a:fld>
            <a:endParaRPr lang="en-US" altLang="zh-CN"/>
          </a:p>
        </p:txBody>
      </p:sp>
      <p:sp>
        <p:nvSpPr>
          <p:cNvPr id="302082" name="Rectangle 2"/>
          <p:cNvSpPr>
            <a:spLocks noGrp="1" noChangeArrowheads="1"/>
          </p:cNvSpPr>
          <p:nvPr>
            <p:ph type="title"/>
          </p:nvPr>
        </p:nvSpPr>
        <p:spPr/>
        <p:txBody>
          <a:bodyPr/>
          <a:lstStyle/>
          <a:p>
            <a:pPr algn="ctr"/>
            <a:r>
              <a:rPr lang="en-US" altLang="zh-CN" dirty="0"/>
              <a:t>WEB</a:t>
            </a:r>
            <a:r>
              <a:rPr lang="zh-CN" altLang="en-US" dirty="0"/>
              <a:t>服务</a:t>
            </a:r>
            <a:endParaRPr lang="zh-CN" altLang="en-US" dirty="0"/>
          </a:p>
        </p:txBody>
      </p:sp>
      <p:sp>
        <p:nvSpPr>
          <p:cNvPr id="302083" name="Rectangle 3"/>
          <p:cNvSpPr>
            <a:spLocks noGrp="1" noChangeArrowheads="1"/>
          </p:cNvSpPr>
          <p:nvPr>
            <p:ph type="body" idx="1"/>
          </p:nvPr>
        </p:nvSpPr>
        <p:spPr/>
        <p:txBody>
          <a:bodyPr/>
          <a:lstStyle/>
          <a:p>
            <a:r>
              <a:rPr lang="zh-CN" altLang="en-US"/>
              <a:t>万维网</a:t>
            </a:r>
            <a:r>
              <a:rPr lang="en-US" altLang="zh-CN"/>
              <a:t>(World Wide Web)</a:t>
            </a:r>
            <a:r>
              <a:rPr lang="zh-CN" altLang="en-US"/>
              <a:t>是一个分布式超文本系统。使</a:t>
            </a:r>
            <a:r>
              <a:rPr lang="en-US" altLang="zh-CN"/>
              <a:t>Internet</a:t>
            </a:r>
            <a:r>
              <a:rPr lang="zh-CN" altLang="en-US"/>
              <a:t>中不同计算机的文件相互链接。</a:t>
            </a:r>
            <a:endParaRPr lang="zh-CN" altLang="en-US"/>
          </a:p>
          <a:p>
            <a:r>
              <a:rPr lang="en-US" altLang="zh-CN"/>
              <a:t>WEB</a:t>
            </a:r>
            <a:r>
              <a:rPr lang="zh-CN" altLang="en-US"/>
              <a:t>服务器是指服务器及运行在服务器上运行的软件。</a:t>
            </a: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36BC1506-7160-45DF-A009-CCCA2FA0BE00}" type="slidenum">
              <a:rPr lang="en-US" altLang="zh-CN"/>
            </a:fld>
            <a:endParaRPr lang="en-US" altLang="zh-CN"/>
          </a:p>
        </p:txBody>
      </p:sp>
      <p:sp>
        <p:nvSpPr>
          <p:cNvPr id="363522" name="Rectangle 2"/>
          <p:cNvSpPr>
            <a:spLocks noGrp="1" noChangeArrowheads="1"/>
          </p:cNvSpPr>
          <p:nvPr>
            <p:ph type="title"/>
          </p:nvPr>
        </p:nvSpPr>
        <p:spPr/>
        <p:txBody>
          <a:bodyPr/>
          <a:lstStyle/>
          <a:p>
            <a:r>
              <a:rPr lang="en-US" altLang="zh-CN"/>
              <a:t>WEB</a:t>
            </a:r>
            <a:r>
              <a:rPr lang="zh-CN" altLang="en-US"/>
              <a:t>涉及的内容</a:t>
            </a:r>
            <a:endParaRPr lang="zh-CN" altLang="en-US"/>
          </a:p>
        </p:txBody>
      </p:sp>
      <p:sp>
        <p:nvSpPr>
          <p:cNvPr id="363523" name="Rectangle 3"/>
          <p:cNvSpPr>
            <a:spLocks noGrp="1" noChangeArrowheads="1"/>
          </p:cNvSpPr>
          <p:nvPr>
            <p:ph type="body" idx="1"/>
          </p:nvPr>
        </p:nvSpPr>
        <p:spPr/>
        <p:txBody>
          <a:bodyPr/>
          <a:lstStyle/>
          <a:p>
            <a:r>
              <a:rPr lang="zh-CN" altLang="en-US"/>
              <a:t>两个问题</a:t>
            </a:r>
            <a:endParaRPr lang="zh-CN" altLang="en-US"/>
          </a:p>
          <a:p>
            <a:pPr lvl="1"/>
            <a:r>
              <a:rPr lang="zh-CN" altLang="en-US"/>
              <a:t>能否不按照物理地址，而是根据内容进行查询</a:t>
            </a:r>
            <a:endParaRPr lang="zh-CN" altLang="en-US"/>
          </a:p>
          <a:p>
            <a:pPr lvl="1"/>
            <a:r>
              <a:rPr lang="zh-CN" altLang="en-US"/>
              <a:t>能否用统一的格式对声图文等各类资源进行标注</a:t>
            </a:r>
            <a:endParaRPr lang="zh-CN" altLang="en-US"/>
          </a:p>
          <a:p>
            <a:r>
              <a:rPr lang="zh-CN" altLang="en-US"/>
              <a:t>两个概念</a:t>
            </a:r>
            <a:endParaRPr lang="zh-CN" altLang="en-US"/>
          </a:p>
          <a:p>
            <a:pPr lvl="1"/>
            <a:r>
              <a:rPr lang="zh-CN" altLang="en-US"/>
              <a:t>超文本概念</a:t>
            </a:r>
            <a:r>
              <a:rPr lang="en-US" altLang="zh-CN"/>
              <a:t>-Hypertext</a:t>
            </a:r>
            <a:r>
              <a:rPr lang="zh-CN" altLang="en-US"/>
              <a:t>：不是顺序关系，而是链接关系</a:t>
            </a:r>
            <a:endParaRPr lang="zh-CN" altLang="en-US"/>
          </a:p>
          <a:p>
            <a:pPr lvl="1"/>
            <a:r>
              <a:rPr lang="zh-CN" altLang="en-US"/>
              <a:t>通用资源定位概念</a:t>
            </a:r>
            <a:r>
              <a:rPr lang="en-US" altLang="zh-CN"/>
              <a:t>-Universal Resource Locator</a:t>
            </a:r>
            <a:r>
              <a:rPr lang="zh-CN" altLang="en-US"/>
              <a:t>：对各种资源统一定位</a:t>
            </a:r>
            <a:endParaRPr lang="zh-CN" altLang="en-US"/>
          </a:p>
          <a:p>
            <a:r>
              <a:rPr lang="zh-CN" altLang="en-US"/>
              <a:t>两项实现技术 </a:t>
            </a:r>
            <a:endParaRPr lang="zh-CN" altLang="en-US"/>
          </a:p>
          <a:p>
            <a:pPr lvl="1"/>
            <a:r>
              <a:rPr lang="zh-CN" altLang="en-US"/>
              <a:t>超文本传输协议</a:t>
            </a:r>
            <a:r>
              <a:rPr lang="en-US" altLang="zh-CN"/>
              <a:t>-HTTP</a:t>
            </a:r>
            <a:endParaRPr lang="en-US" altLang="zh-CN"/>
          </a:p>
          <a:p>
            <a:pPr lvl="1"/>
            <a:r>
              <a:rPr lang="zh-CN" altLang="en-US"/>
              <a:t>超文本</a:t>
            </a:r>
            <a:r>
              <a:rPr lang="zh-CN" altLang="en-US"/>
              <a:t>标识语言</a:t>
            </a:r>
            <a:r>
              <a:rPr lang="en-US" altLang="zh-CN"/>
              <a:t>-HTML</a:t>
            </a:r>
            <a:r>
              <a:rPr lang="zh-CN" altLang="en-US"/>
              <a:t>：如何链接、是哪种资源（声图文等）</a:t>
            </a: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客户浏览网页的基本过程</a:t>
            </a:r>
            <a:endParaRPr lang="zh-CN" altLang="en-US" dirty="0"/>
          </a:p>
        </p:txBody>
      </p:sp>
      <p:sp>
        <p:nvSpPr>
          <p:cNvPr id="3" name="内容占位符 2"/>
          <p:cNvSpPr>
            <a:spLocks noGrp="1"/>
          </p:cNvSpPr>
          <p:nvPr>
            <p:ph idx="1"/>
          </p:nvPr>
        </p:nvSpPr>
        <p:spPr/>
        <p:txBody>
          <a:bodyPr/>
          <a:lstStyle/>
          <a:p>
            <a:pPr marL="514350" indent="-514350">
              <a:buFont typeface="+mj-lt"/>
              <a:buAutoNum type="arabicPeriod"/>
            </a:pPr>
            <a:r>
              <a:rPr lang="zh-CN" altLang="en-US" dirty="0"/>
              <a:t>客户机向</a:t>
            </a:r>
            <a:r>
              <a:rPr lang="en-US" altLang="zh-CN" dirty="0"/>
              <a:t>Web</a:t>
            </a:r>
            <a:r>
              <a:rPr lang="zh-CN" altLang="en-US" dirty="0"/>
              <a:t>服务器发起</a:t>
            </a:r>
            <a:r>
              <a:rPr lang="en-US" altLang="zh-CN" dirty="0"/>
              <a:t>TCP</a:t>
            </a:r>
            <a:r>
              <a:rPr lang="zh-CN" altLang="en-US" dirty="0"/>
              <a:t>连接；</a:t>
            </a:r>
            <a:endParaRPr lang="zh-CN" altLang="en-US" dirty="0"/>
          </a:p>
          <a:p>
            <a:pPr marL="514350" indent="-514350">
              <a:buFont typeface="+mj-lt"/>
              <a:buAutoNum type="arabicPeriod"/>
            </a:pPr>
            <a:r>
              <a:rPr lang="zh-CN" altLang="en-US" dirty="0"/>
              <a:t>客户机上的浏览器程序根据要访问页面的网址，发出</a:t>
            </a:r>
            <a:r>
              <a:rPr lang="en-US" altLang="zh-CN" dirty="0"/>
              <a:t>HTTP</a:t>
            </a:r>
            <a:r>
              <a:rPr lang="zh-CN" altLang="en-US" dirty="0"/>
              <a:t>请求报文；</a:t>
            </a:r>
            <a:endParaRPr lang="zh-CN" altLang="en-US" dirty="0"/>
          </a:p>
          <a:p>
            <a:pPr marL="514350" indent="-514350">
              <a:buFont typeface="+mj-lt"/>
              <a:buAutoNum type="arabicPeriod"/>
            </a:pPr>
            <a:r>
              <a:rPr lang="en-US" altLang="zh-CN" dirty="0"/>
              <a:t>HTTP</a:t>
            </a:r>
            <a:r>
              <a:rPr lang="zh-CN" altLang="en-US" dirty="0"/>
              <a:t>报文中包含统一资源定位器（</a:t>
            </a:r>
            <a:r>
              <a:rPr lang="en-US" altLang="zh-CN" dirty="0"/>
              <a:t>Uniform Resource Locator</a:t>
            </a:r>
            <a:r>
              <a:rPr lang="zh-CN" altLang="en-US" dirty="0"/>
              <a:t>，</a:t>
            </a:r>
            <a:r>
              <a:rPr lang="en-US" altLang="zh-CN" dirty="0"/>
              <a:t>URL</a:t>
            </a:r>
            <a:r>
              <a:rPr lang="zh-CN" altLang="en-US" dirty="0"/>
              <a:t>），即通常所说的网址。互联网上的所有资源都有一个唯一的</a:t>
            </a:r>
            <a:r>
              <a:rPr lang="en-US" altLang="zh-CN" dirty="0"/>
              <a:t>URL</a:t>
            </a:r>
            <a:r>
              <a:rPr lang="zh-CN" altLang="en-US" dirty="0"/>
              <a:t>。网页超链接中包含</a:t>
            </a:r>
            <a:r>
              <a:rPr lang="en-US" altLang="zh-CN" dirty="0"/>
              <a:t>URL</a:t>
            </a:r>
            <a:r>
              <a:rPr lang="zh-CN" altLang="en-US" dirty="0"/>
              <a:t>的信息，当点击网页上的一个超链接时，</a:t>
            </a:r>
            <a:r>
              <a:rPr lang="en-US" altLang="zh-CN" dirty="0"/>
              <a:t>HTTP</a:t>
            </a:r>
            <a:r>
              <a:rPr lang="zh-CN" altLang="en-US" dirty="0"/>
              <a:t>的请求报文会把</a:t>
            </a:r>
            <a:r>
              <a:rPr lang="en-US" altLang="zh-CN" dirty="0"/>
              <a:t>URL</a:t>
            </a:r>
            <a:r>
              <a:rPr lang="zh-CN" altLang="en-US" dirty="0"/>
              <a:t>携带在报文当中，发送给服务器。</a:t>
            </a:r>
            <a:endParaRPr lang="zh-CN" altLang="en-US" dirty="0"/>
          </a:p>
          <a:p>
            <a:pPr marL="514350" indent="-514350">
              <a:buFont typeface="+mj-lt"/>
              <a:buAutoNum type="arabicPeriod"/>
            </a:pPr>
            <a:r>
              <a:rPr lang="zh-CN" altLang="en-US" dirty="0"/>
              <a:t>服务器根据收到</a:t>
            </a:r>
            <a:r>
              <a:rPr lang="en-US" altLang="zh-CN" dirty="0"/>
              <a:t>URL</a:t>
            </a:r>
            <a:r>
              <a:rPr lang="zh-CN" altLang="en-US" dirty="0"/>
              <a:t>找到相应的网页资源，网页资源使用</a:t>
            </a:r>
            <a:r>
              <a:rPr lang="en-US" altLang="zh-CN" dirty="0"/>
              <a:t>HTML</a:t>
            </a:r>
            <a:r>
              <a:rPr lang="zh-CN" altLang="en-US" dirty="0"/>
              <a:t>语言编写，网页资源作为</a:t>
            </a:r>
            <a:r>
              <a:rPr lang="en-US" altLang="zh-CN" dirty="0"/>
              <a:t>HTTP</a:t>
            </a:r>
            <a:r>
              <a:rPr lang="zh-CN" altLang="en-US" dirty="0"/>
              <a:t>报文的响应信息返回给浏览器；</a:t>
            </a:r>
            <a:endParaRPr lang="zh-CN" altLang="en-US" dirty="0"/>
          </a:p>
          <a:p>
            <a:pPr marL="514350" indent="-514350">
              <a:buFont typeface="+mj-lt"/>
              <a:buAutoNum type="arabicPeriod"/>
            </a:pPr>
            <a:r>
              <a:rPr lang="zh-CN" altLang="en-US" dirty="0"/>
              <a:t>浏览器收到</a:t>
            </a:r>
            <a:r>
              <a:rPr lang="en-US" altLang="zh-CN" dirty="0"/>
              <a:t>HTML</a:t>
            </a:r>
            <a:r>
              <a:rPr lang="zh-CN" altLang="en-US" dirty="0"/>
              <a:t>语言的网页资源后，进行解释，以一定的格式显示在浏览器当中，呈现给客户。</a:t>
            </a:r>
            <a:endParaRPr lang="zh-CN" altLang="en-US" dirty="0"/>
          </a:p>
          <a:p>
            <a:pPr marL="514350" indent="-514350">
              <a:buFont typeface="+mj-lt"/>
              <a:buAutoNum type="arabicPeriod"/>
            </a:pP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URL</a:t>
            </a:r>
            <a:r>
              <a:rPr lang="zh-CN" altLang="en-US" dirty="0"/>
              <a:t>的格式</a:t>
            </a:r>
            <a:endParaRPr lang="zh-CN" altLang="en-US" dirty="0"/>
          </a:p>
        </p:txBody>
      </p:sp>
      <p:sp>
        <p:nvSpPr>
          <p:cNvPr id="3" name="内容占位符 2"/>
          <p:cNvSpPr>
            <a:spLocks noGrp="1"/>
          </p:cNvSpPr>
          <p:nvPr>
            <p:ph idx="1"/>
          </p:nvPr>
        </p:nvSpPr>
        <p:spPr>
          <a:xfrm>
            <a:off x="334434" y="1052515"/>
            <a:ext cx="11523133" cy="1440382"/>
          </a:xfrm>
        </p:spPr>
        <p:txBody>
          <a:bodyPr>
            <a:normAutofit/>
          </a:bodyPr>
          <a:lstStyle/>
          <a:p>
            <a:r>
              <a:rPr lang="en-US" altLang="zh-CN" dirty="0"/>
              <a:t>URL</a:t>
            </a:r>
            <a:r>
              <a:rPr lang="zh-CN" altLang="en-US" dirty="0"/>
              <a:t>由两大部分组成，以“</a:t>
            </a:r>
            <a:r>
              <a:rPr lang="en-US" altLang="zh-CN" dirty="0"/>
              <a:t>//”</a:t>
            </a:r>
            <a:r>
              <a:rPr lang="zh-CN" altLang="en-US" dirty="0"/>
              <a:t>冒号隔开，且对字符大、小写没有要求。一般形式</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1703512" y="2204864"/>
            <a:ext cx="9010073" cy="2723561"/>
            <a:chOff x="1848706" y="2032597"/>
            <a:chExt cx="8948058" cy="2914034"/>
          </a:xfrm>
        </p:grpSpPr>
        <p:sp>
          <p:nvSpPr>
            <p:cNvPr id="6" name="Text Box 25"/>
            <p:cNvSpPr txBox="1">
              <a:spLocks noChangeArrowheads="1"/>
            </p:cNvSpPr>
            <p:nvPr/>
          </p:nvSpPr>
          <p:spPr bwMode="auto">
            <a:xfrm>
              <a:off x="2696692" y="2032597"/>
              <a:ext cx="5363912" cy="493952"/>
            </a:xfrm>
            <a:prstGeom prst="rect">
              <a:avLst/>
            </a:prstGeom>
            <a:no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400" b="1" dirty="0">
                  <a:solidFill>
                    <a:srgbClr val="FF0000"/>
                  </a:solidFill>
                  <a:latin typeface="微软雅黑 Light" panose="020B0502040204020203" pitchFamily="34" charset="-122"/>
                  <a:ea typeface="微软雅黑 Light" panose="020B0502040204020203" pitchFamily="34" charset="-122"/>
                </a:rPr>
                <a:t>&lt;</a:t>
              </a:r>
              <a:r>
                <a:rPr lang="zh-CN" altLang="en-US" sz="2400" b="1" dirty="0">
                  <a:solidFill>
                    <a:srgbClr val="FF0000"/>
                  </a:solidFill>
                  <a:latin typeface="微软雅黑 Light" panose="020B0502040204020203" pitchFamily="34" charset="-122"/>
                  <a:ea typeface="微软雅黑 Light" panose="020B0502040204020203" pitchFamily="34" charset="-122"/>
                </a:rPr>
                <a:t>协议</a:t>
              </a:r>
              <a:r>
                <a:rPr lang="en-US" altLang="zh-CN" sz="2400" b="1" dirty="0">
                  <a:solidFill>
                    <a:srgbClr val="FF0000"/>
                  </a:solidFill>
                  <a:latin typeface="微软雅黑 Light" panose="020B0502040204020203" pitchFamily="34" charset="-122"/>
                  <a:ea typeface="微软雅黑 Light" panose="020B0502040204020203" pitchFamily="34" charset="-122"/>
                </a:rPr>
                <a:t>&gt;: // &lt;</a:t>
              </a:r>
              <a:r>
                <a:rPr lang="zh-CN" altLang="en-US" sz="2400" b="1" dirty="0">
                  <a:solidFill>
                    <a:srgbClr val="FF0000"/>
                  </a:solidFill>
                  <a:latin typeface="微软雅黑 Light" panose="020B0502040204020203" pitchFamily="34" charset="-122"/>
                  <a:ea typeface="微软雅黑 Light" panose="020B0502040204020203" pitchFamily="34" charset="-122"/>
                </a:rPr>
                <a:t>主机</a:t>
              </a:r>
              <a:r>
                <a:rPr lang="en-US" altLang="zh-CN" sz="2400" b="1" dirty="0">
                  <a:solidFill>
                    <a:srgbClr val="FF0000"/>
                  </a:solidFill>
                  <a:latin typeface="微软雅黑 Light" panose="020B0502040204020203" pitchFamily="34" charset="-122"/>
                  <a:ea typeface="微软雅黑 Light" panose="020B0502040204020203" pitchFamily="34" charset="-122"/>
                </a:rPr>
                <a:t>&gt;:&lt;</a:t>
              </a:r>
              <a:r>
                <a:rPr lang="zh-CN" altLang="en-US" sz="2400" b="1" dirty="0">
                  <a:solidFill>
                    <a:srgbClr val="FF0000"/>
                  </a:solidFill>
                  <a:latin typeface="微软雅黑 Light" panose="020B0502040204020203" pitchFamily="34" charset="-122"/>
                  <a:ea typeface="微软雅黑 Light" panose="020B0502040204020203" pitchFamily="34" charset="-122"/>
                </a:rPr>
                <a:t>端口</a:t>
              </a:r>
              <a:r>
                <a:rPr lang="en-US" altLang="zh-CN" sz="2400" b="1" dirty="0">
                  <a:solidFill>
                    <a:srgbClr val="FF0000"/>
                  </a:solidFill>
                  <a:latin typeface="微软雅黑 Light" panose="020B0502040204020203" pitchFamily="34" charset="-122"/>
                  <a:ea typeface="微软雅黑 Light" panose="020B0502040204020203" pitchFamily="34" charset="-122"/>
                </a:rPr>
                <a:t>&gt;/&lt;</a:t>
              </a:r>
              <a:r>
                <a:rPr lang="zh-CN" altLang="en-US" sz="2400" b="1" dirty="0">
                  <a:solidFill>
                    <a:srgbClr val="FF0000"/>
                  </a:solidFill>
                  <a:latin typeface="微软雅黑 Light" panose="020B0502040204020203" pitchFamily="34" charset="-122"/>
                  <a:ea typeface="微软雅黑 Light" panose="020B0502040204020203" pitchFamily="34" charset="-122"/>
                </a:rPr>
                <a:t>路径</a:t>
              </a:r>
              <a:r>
                <a:rPr lang="en-US" altLang="zh-CN" sz="2400" b="1" dirty="0">
                  <a:solidFill>
                    <a:srgbClr val="FF0000"/>
                  </a:solidFill>
                  <a:latin typeface="微软雅黑 Light" panose="020B0502040204020203" pitchFamily="34" charset="-122"/>
                  <a:ea typeface="微软雅黑 Light" panose="020B0502040204020203" pitchFamily="34" charset="-122"/>
                </a:rPr>
                <a:t>&gt; </a:t>
              </a:r>
              <a:endParaRPr lang="en-US" altLang="zh-CN" sz="2400" b="1" dirty="0">
                <a:solidFill>
                  <a:srgbClr val="FF0000"/>
                </a:solidFill>
                <a:latin typeface="微软雅黑 Light" panose="020B0502040204020203" pitchFamily="34" charset="-122"/>
                <a:ea typeface="微软雅黑 Light" panose="020B0502040204020203" pitchFamily="34" charset="-122"/>
              </a:endParaRPr>
            </a:p>
          </p:txBody>
        </p:sp>
        <p:sp>
          <p:nvSpPr>
            <p:cNvPr id="7" name="Line 26"/>
            <p:cNvSpPr>
              <a:spLocks noChangeShapeType="1"/>
            </p:cNvSpPr>
            <p:nvPr/>
          </p:nvSpPr>
          <p:spPr bwMode="auto">
            <a:xfrm>
              <a:off x="2944273" y="2599544"/>
              <a:ext cx="873246" cy="8097"/>
            </a:xfrm>
            <a:prstGeom prst="line">
              <a:avLst/>
            </a:prstGeom>
            <a:noFill/>
            <a:ln w="38100">
              <a:solidFill>
                <a:srgbClr val="CC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8" name="Line 26"/>
            <p:cNvSpPr>
              <a:spLocks noChangeShapeType="1"/>
            </p:cNvSpPr>
            <p:nvPr/>
          </p:nvSpPr>
          <p:spPr bwMode="auto">
            <a:xfrm>
              <a:off x="4589581" y="2598539"/>
              <a:ext cx="776603" cy="0"/>
            </a:xfrm>
            <a:prstGeom prst="line">
              <a:avLst/>
            </a:prstGeom>
            <a:noFill/>
            <a:ln w="38100">
              <a:solidFill>
                <a:srgbClr val="CC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grpSp>
          <p:nvGrpSpPr>
            <p:cNvPr id="9" name="Group 31"/>
            <p:cNvGrpSpPr/>
            <p:nvPr/>
          </p:nvGrpSpPr>
          <p:grpSpPr bwMode="auto">
            <a:xfrm>
              <a:off x="1848706" y="2614239"/>
              <a:ext cx="5410728" cy="2332392"/>
              <a:chOff x="91" y="1901"/>
              <a:chExt cx="3797" cy="1414"/>
            </a:xfrm>
          </p:grpSpPr>
          <p:sp>
            <p:nvSpPr>
              <p:cNvPr id="20" name="Freeform 27"/>
              <p:cNvSpPr/>
              <p:nvPr/>
            </p:nvSpPr>
            <p:spPr bwMode="auto">
              <a:xfrm>
                <a:off x="1728" y="1901"/>
                <a:ext cx="385" cy="1303"/>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21" name="Text Box 29"/>
              <p:cNvSpPr txBox="1">
                <a:spLocks noChangeArrowheads="1"/>
              </p:cNvSpPr>
              <p:nvPr/>
            </p:nvSpPr>
            <p:spPr bwMode="auto">
              <a:xfrm>
                <a:off x="2113" y="3075"/>
                <a:ext cx="1775"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800" dirty="0">
                    <a:solidFill>
                      <a:srgbClr val="000099"/>
                    </a:solidFill>
                    <a:latin typeface="微软雅黑 Light" panose="020B0502040204020203" pitchFamily="34" charset="-122"/>
                    <a:ea typeface="微软雅黑 Light" panose="020B0502040204020203" pitchFamily="34" charset="-122"/>
                  </a:rPr>
                  <a:t>“：”和“</a:t>
                </a:r>
                <a:r>
                  <a:rPr lang="en-US" altLang="zh-CN" sz="1800" dirty="0">
                    <a:solidFill>
                      <a:srgbClr val="000099"/>
                    </a:solidFill>
                    <a:latin typeface="微软雅黑 Light" panose="020B0502040204020203" pitchFamily="34" charset="-122"/>
                    <a:ea typeface="微软雅黑 Light" panose="020B0502040204020203" pitchFamily="34" charset="-122"/>
                  </a:rPr>
                  <a:t>//</a:t>
                </a:r>
                <a:r>
                  <a:rPr lang="zh-CN" altLang="en-US" sz="1800" dirty="0">
                    <a:solidFill>
                      <a:srgbClr val="000099"/>
                    </a:solidFill>
                    <a:latin typeface="微软雅黑 Light" panose="020B0502040204020203" pitchFamily="34" charset="-122"/>
                    <a:ea typeface="微软雅黑 Light" panose="020B0502040204020203" pitchFamily="34" charset="-122"/>
                  </a:rPr>
                  <a:t>”是规定的格式</a:t>
                </a:r>
                <a:endParaRPr lang="zh-CN" altLang="en-US" sz="1800" dirty="0">
                  <a:solidFill>
                    <a:srgbClr val="000099"/>
                  </a:solidFill>
                  <a:latin typeface="微软雅黑 Light" panose="020B0502040204020203" pitchFamily="34" charset="-122"/>
                  <a:ea typeface="微软雅黑 Light" panose="020B0502040204020203" pitchFamily="34" charset="-122"/>
                </a:endParaRPr>
              </a:p>
            </p:txBody>
          </p:sp>
          <p:sp>
            <p:nvSpPr>
              <p:cNvPr id="22" name="Text Box 29"/>
              <p:cNvSpPr txBox="1">
                <a:spLocks noChangeArrowheads="1"/>
              </p:cNvSpPr>
              <p:nvPr/>
            </p:nvSpPr>
            <p:spPr bwMode="auto">
              <a:xfrm>
                <a:off x="91" y="2586"/>
                <a:ext cx="7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800" dirty="0">
                    <a:solidFill>
                      <a:srgbClr val="000099"/>
                    </a:solidFill>
                    <a:latin typeface="微软雅黑 Light" panose="020B0502040204020203" pitchFamily="34" charset="-122"/>
                    <a:ea typeface="微软雅黑 Light" panose="020B0502040204020203" pitchFamily="34" charset="-122"/>
                  </a:rPr>
                  <a:t>协议类型</a:t>
                </a:r>
                <a:endParaRPr lang="zh-CN" altLang="en-US" sz="1800" dirty="0">
                  <a:solidFill>
                    <a:srgbClr val="000099"/>
                  </a:solidFill>
                  <a:latin typeface="微软雅黑 Light" panose="020B0502040204020203" pitchFamily="34" charset="-122"/>
                  <a:ea typeface="微软雅黑 Light" panose="020B0502040204020203" pitchFamily="34" charset="-122"/>
                </a:endParaRPr>
              </a:p>
            </p:txBody>
          </p:sp>
        </p:grpSp>
        <p:grpSp>
          <p:nvGrpSpPr>
            <p:cNvPr id="10" name="Group 31"/>
            <p:cNvGrpSpPr/>
            <p:nvPr/>
          </p:nvGrpSpPr>
          <p:grpSpPr bwMode="auto">
            <a:xfrm>
              <a:off x="4964266" y="2599547"/>
              <a:ext cx="3297451" cy="1823899"/>
              <a:chOff x="2271" y="2594"/>
              <a:chExt cx="2314" cy="494"/>
            </a:xfrm>
          </p:grpSpPr>
          <p:sp>
            <p:nvSpPr>
              <p:cNvPr id="18" name="Freeform 27"/>
              <p:cNvSpPr/>
              <p:nvPr/>
            </p:nvSpPr>
            <p:spPr bwMode="auto">
              <a:xfrm>
                <a:off x="2271" y="2594"/>
                <a:ext cx="360" cy="389"/>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19" name="Text Box 29"/>
              <p:cNvSpPr txBox="1">
                <a:spLocks noChangeArrowheads="1"/>
              </p:cNvSpPr>
              <p:nvPr/>
            </p:nvSpPr>
            <p:spPr bwMode="auto">
              <a:xfrm>
                <a:off x="2637" y="2863"/>
                <a:ext cx="194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nSpc>
                    <a:spcPts val="2800"/>
                  </a:lnSpc>
                </a:pPr>
                <a:r>
                  <a:rPr lang="zh-CN" altLang="en-US" sz="1800" dirty="0">
                    <a:solidFill>
                      <a:srgbClr val="000099"/>
                    </a:solidFill>
                    <a:latin typeface="微软雅黑 Light" panose="020B0502040204020203" pitchFamily="34" charset="-122"/>
                    <a:ea typeface="微软雅黑 Light" panose="020B0502040204020203" pitchFamily="34" charset="-122"/>
                  </a:rPr>
                  <a:t>存放资源的主机名，在互联网中通常用域名表达</a:t>
                </a:r>
                <a:endParaRPr lang="zh-CN" altLang="en-US" sz="1800" dirty="0">
                  <a:solidFill>
                    <a:srgbClr val="000099"/>
                  </a:solidFill>
                  <a:latin typeface="微软雅黑 Light" panose="020B0502040204020203" pitchFamily="34" charset="-122"/>
                  <a:ea typeface="微软雅黑 Light" panose="020B0502040204020203" pitchFamily="34" charset="-122"/>
                </a:endParaRPr>
              </a:p>
            </p:txBody>
          </p:sp>
        </p:grpSp>
        <p:grpSp>
          <p:nvGrpSpPr>
            <p:cNvPr id="11" name="Group 31"/>
            <p:cNvGrpSpPr/>
            <p:nvPr/>
          </p:nvGrpSpPr>
          <p:grpSpPr bwMode="auto">
            <a:xfrm>
              <a:off x="5704291" y="2607640"/>
              <a:ext cx="5092473" cy="1031623"/>
              <a:chOff x="1467" y="2568"/>
              <a:chExt cx="3276" cy="487"/>
            </a:xfrm>
          </p:grpSpPr>
          <p:sp>
            <p:nvSpPr>
              <p:cNvPr id="15" name="Line 26"/>
              <p:cNvSpPr>
                <a:spLocks noChangeShapeType="1"/>
              </p:cNvSpPr>
              <p:nvPr/>
            </p:nvSpPr>
            <p:spPr bwMode="auto">
              <a:xfrm>
                <a:off x="1467" y="2568"/>
                <a:ext cx="1596" cy="0"/>
              </a:xfrm>
              <a:prstGeom prst="line">
                <a:avLst/>
              </a:prstGeom>
              <a:noFill/>
              <a:ln w="38100">
                <a:solidFill>
                  <a:srgbClr val="CC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16" name="Freeform 27"/>
              <p:cNvSpPr/>
              <p:nvPr/>
            </p:nvSpPr>
            <p:spPr bwMode="auto">
              <a:xfrm>
                <a:off x="1875" y="2577"/>
                <a:ext cx="251" cy="312"/>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17" name="Text Box 29"/>
              <p:cNvSpPr txBox="1">
                <a:spLocks noChangeArrowheads="1"/>
              </p:cNvSpPr>
              <p:nvPr/>
            </p:nvSpPr>
            <p:spPr bwMode="auto">
              <a:xfrm>
                <a:off x="2117" y="2662"/>
                <a:ext cx="2626" cy="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nSpc>
                    <a:spcPts val="2800"/>
                  </a:lnSpc>
                </a:pPr>
                <a:r>
                  <a:rPr lang="zh-CN" altLang="en-US" sz="1800" dirty="0">
                    <a:solidFill>
                      <a:srgbClr val="000099"/>
                    </a:solidFill>
                    <a:latin typeface="微软雅黑 Light" panose="020B0502040204020203" pitchFamily="34" charset="-122"/>
                    <a:ea typeface="微软雅黑 Light" panose="020B0502040204020203" pitchFamily="34" charset="-122"/>
                  </a:rPr>
                  <a:t>协议端口号和资源存放路径。如确定主机后就能找到资源，这部分可以省略</a:t>
                </a:r>
                <a:endParaRPr lang="zh-CN" altLang="en-US" sz="1800" dirty="0">
                  <a:solidFill>
                    <a:srgbClr val="000099"/>
                  </a:solidFill>
                  <a:latin typeface="微软雅黑 Light" panose="020B0502040204020203" pitchFamily="34" charset="-122"/>
                  <a:ea typeface="微软雅黑 Light" panose="020B0502040204020203" pitchFamily="34" charset="-122"/>
                </a:endParaRPr>
              </a:p>
            </p:txBody>
          </p:sp>
        </p:grpSp>
        <p:sp>
          <p:nvSpPr>
            <p:cNvPr id="12" name="Line 26"/>
            <p:cNvSpPr>
              <a:spLocks noChangeShapeType="1"/>
            </p:cNvSpPr>
            <p:nvPr/>
          </p:nvSpPr>
          <p:spPr bwMode="auto">
            <a:xfrm>
              <a:off x="3888761" y="2598539"/>
              <a:ext cx="513144" cy="0"/>
            </a:xfrm>
            <a:prstGeom prst="line">
              <a:avLst/>
            </a:prstGeom>
            <a:noFill/>
            <a:ln w="38100">
              <a:solidFill>
                <a:srgbClr val="CC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13" name="Line 26"/>
            <p:cNvSpPr>
              <a:spLocks noChangeShapeType="1"/>
            </p:cNvSpPr>
            <p:nvPr/>
          </p:nvSpPr>
          <p:spPr bwMode="auto">
            <a:xfrm flipH="1">
              <a:off x="3443899" y="2627576"/>
              <a:ext cx="2" cy="1460462"/>
            </a:xfrm>
            <a:prstGeom prst="line">
              <a:avLst/>
            </a:prstGeom>
            <a:noFill/>
            <a:ln w="38100">
              <a:solidFill>
                <a:srgbClr val="CC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sp>
          <p:nvSpPr>
            <p:cNvPr id="14" name="Line 26"/>
            <p:cNvSpPr>
              <a:spLocks noChangeShapeType="1"/>
            </p:cNvSpPr>
            <p:nvPr/>
          </p:nvSpPr>
          <p:spPr bwMode="auto">
            <a:xfrm>
              <a:off x="2882629" y="4088037"/>
              <a:ext cx="548625" cy="8098"/>
            </a:xfrm>
            <a:prstGeom prst="line">
              <a:avLst/>
            </a:prstGeom>
            <a:noFill/>
            <a:ln w="38100">
              <a:solidFill>
                <a:srgbClr val="CC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117AA91-8AB7-47E7-AD77-B08C39E5E39C}" type="slidenum">
              <a:rPr lang="en-US" altLang="zh-CN"/>
            </a:fld>
            <a:endParaRPr lang="en-US" altLang="zh-CN"/>
          </a:p>
        </p:txBody>
      </p:sp>
      <p:sp>
        <p:nvSpPr>
          <p:cNvPr id="303106" name="Rectangle 2"/>
          <p:cNvSpPr>
            <a:spLocks noGrp="1" noChangeArrowheads="1"/>
          </p:cNvSpPr>
          <p:nvPr>
            <p:ph type="title"/>
          </p:nvPr>
        </p:nvSpPr>
        <p:spPr/>
        <p:txBody>
          <a:bodyPr/>
          <a:lstStyle/>
          <a:p>
            <a:r>
              <a:rPr lang="zh-CN" altLang="en-US" dirty="0"/>
              <a:t>超文本</a:t>
            </a:r>
            <a:endParaRPr lang="zh-CN" altLang="en-US" dirty="0"/>
          </a:p>
        </p:txBody>
      </p:sp>
      <p:sp>
        <p:nvSpPr>
          <p:cNvPr id="303107" name="Rectangle 3"/>
          <p:cNvSpPr>
            <a:spLocks noGrp="1" noChangeArrowheads="1"/>
          </p:cNvSpPr>
          <p:nvPr>
            <p:ph type="body" idx="1"/>
          </p:nvPr>
        </p:nvSpPr>
        <p:spPr/>
        <p:txBody>
          <a:bodyPr/>
          <a:lstStyle/>
          <a:p>
            <a:r>
              <a:rPr lang="en-US" altLang="zh-CN"/>
              <a:t>HTML(Hypertext Markup Language)</a:t>
            </a:r>
            <a:r>
              <a:rPr lang="zh-CN" altLang="en-US"/>
              <a:t>超文本标记语言，万维网文档发布和浏览的基本文件格式。有如下特点：</a:t>
            </a:r>
            <a:endParaRPr lang="zh-CN" altLang="en-US"/>
          </a:p>
          <a:p>
            <a:pPr lvl="1"/>
            <a:r>
              <a:rPr lang="zh-CN" altLang="en-US"/>
              <a:t>独立于平台的格式</a:t>
            </a:r>
            <a:endParaRPr lang="zh-CN" altLang="en-US"/>
          </a:p>
          <a:p>
            <a:pPr lvl="1"/>
            <a:r>
              <a:rPr lang="zh-CN" altLang="en-US"/>
              <a:t>文本：允许文档之间漫游</a:t>
            </a:r>
            <a:endParaRPr lang="zh-CN" altLang="en-US"/>
          </a:p>
          <a:p>
            <a:pPr lvl="1"/>
            <a:r>
              <a:rPr lang="zh-CN" altLang="en-US"/>
              <a:t>构化设计</a:t>
            </a:r>
            <a:endParaRPr lang="zh-CN" altLang="en-US"/>
          </a:p>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1D91A64-9773-45BE-B21E-05502B41EA52}" type="slidenum">
              <a:rPr lang="en-US" altLang="zh-CN"/>
            </a:fld>
            <a:endParaRPr lang="en-US" altLang="zh-CN"/>
          </a:p>
        </p:txBody>
      </p:sp>
      <p:sp>
        <p:nvSpPr>
          <p:cNvPr id="304130" name="Rectangle 2"/>
          <p:cNvSpPr>
            <a:spLocks noGrp="1" noChangeArrowheads="1"/>
          </p:cNvSpPr>
          <p:nvPr>
            <p:ph type="title"/>
          </p:nvPr>
        </p:nvSpPr>
        <p:spPr/>
        <p:txBody>
          <a:bodyPr/>
          <a:lstStyle/>
          <a:p>
            <a:r>
              <a:rPr lang="zh-CN" altLang="en-US" dirty="0"/>
              <a:t>超文本传输协议</a:t>
            </a:r>
            <a:endParaRPr lang="zh-CN" altLang="en-US" dirty="0"/>
          </a:p>
        </p:txBody>
      </p:sp>
      <p:sp>
        <p:nvSpPr>
          <p:cNvPr id="304131" name="Rectangle 3"/>
          <p:cNvSpPr>
            <a:spLocks noGrp="1" noChangeArrowheads="1"/>
          </p:cNvSpPr>
          <p:nvPr>
            <p:ph type="body" idx="1"/>
          </p:nvPr>
        </p:nvSpPr>
        <p:spPr/>
        <p:txBody>
          <a:bodyPr/>
          <a:lstStyle/>
          <a:p>
            <a:r>
              <a:rPr lang="en-US" altLang="zh-CN" dirty="0"/>
              <a:t>HTTP(Hypertext Transfer Protocol)</a:t>
            </a:r>
            <a:r>
              <a:rPr lang="zh-CN" altLang="en-US" dirty="0"/>
              <a:t>超文本传输协议以普通文本、超文本、音频、视频等格式传输数据。通常在端口</a:t>
            </a:r>
            <a:r>
              <a:rPr lang="en-US" altLang="zh-CN" dirty="0"/>
              <a:t>80</a:t>
            </a:r>
            <a:r>
              <a:rPr lang="zh-CN" altLang="en-US" dirty="0"/>
              <a:t>上使用</a:t>
            </a:r>
            <a:r>
              <a:rPr lang="en-US" altLang="zh-CN" dirty="0"/>
              <a:t>TCP</a:t>
            </a:r>
            <a:r>
              <a:rPr lang="zh-CN" altLang="en-US" dirty="0"/>
              <a:t>服务</a:t>
            </a:r>
            <a:endParaRPr lang="zh-CN" altLang="en-US" dirty="0"/>
          </a:p>
          <a:p>
            <a:r>
              <a:rPr lang="en-US" altLang="zh-CN" dirty="0"/>
              <a:t>HTTP</a:t>
            </a:r>
            <a:r>
              <a:rPr lang="zh-CN" altLang="en-US" dirty="0"/>
              <a:t>是典型的客户</a:t>
            </a:r>
            <a:r>
              <a:rPr lang="en-US" altLang="zh-CN" dirty="0"/>
              <a:t>/</a:t>
            </a:r>
            <a:r>
              <a:rPr lang="zh-CN" altLang="en-US" dirty="0"/>
              <a:t>服务器模式。客户是浏览器，服务是</a:t>
            </a:r>
            <a:r>
              <a:rPr lang="en-US" altLang="zh-CN" dirty="0"/>
              <a:t>WWW</a:t>
            </a:r>
            <a:r>
              <a:rPr lang="zh-CN" altLang="en-US" dirty="0"/>
              <a:t>服务器</a:t>
            </a:r>
            <a:endParaRPr lang="zh-CN" altLang="en-US" dirty="0"/>
          </a:p>
          <a:p>
            <a:r>
              <a:rPr lang="en-US" altLang="zh-CN" dirty="0"/>
              <a:t>HTTP</a:t>
            </a:r>
            <a:r>
              <a:rPr lang="zh-CN" altLang="en-US" dirty="0"/>
              <a:t>协议定义了这些报文的结构和交换的规范</a:t>
            </a:r>
            <a:endParaRPr lang="zh-CN" altLang="en-US" dirty="0"/>
          </a:p>
          <a:p>
            <a:r>
              <a:rPr lang="en-US" altLang="zh-CN" dirty="0"/>
              <a:t>HTTP</a:t>
            </a:r>
            <a:r>
              <a:rPr lang="zh-CN" altLang="en-US" dirty="0"/>
              <a:t>协议是无状态协议，不保留客户的状态</a:t>
            </a:r>
            <a:endParaRPr lang="zh-CN" altLang="en-US" dirty="0"/>
          </a:p>
          <a:p>
            <a:r>
              <a:rPr lang="en-US" altLang="zh-CN" dirty="0"/>
              <a:t>HTTP</a:t>
            </a:r>
            <a:r>
              <a:rPr lang="zh-CN" altLang="en-US" dirty="0"/>
              <a:t>协议有持续连接和非持续连接</a:t>
            </a:r>
            <a:endParaRPr lang="en-US" altLang="zh-CN" dirty="0"/>
          </a:p>
          <a:p>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81CCE82-8C2C-4131-B2D2-88E72C9E7ADF}" type="slidenum">
              <a:rPr lang="en-US" altLang="zh-CN"/>
            </a:fld>
            <a:endParaRPr lang="en-US" altLang="zh-CN"/>
          </a:p>
        </p:txBody>
      </p:sp>
      <p:sp>
        <p:nvSpPr>
          <p:cNvPr id="370690" name="Rectangle 2"/>
          <p:cNvSpPr>
            <a:spLocks noGrp="1" noChangeArrowheads="1"/>
          </p:cNvSpPr>
          <p:nvPr>
            <p:ph type="title"/>
          </p:nvPr>
        </p:nvSpPr>
        <p:spPr/>
        <p:txBody>
          <a:bodyPr/>
          <a:lstStyle/>
          <a:p>
            <a:r>
              <a:rPr lang="en-US" altLang="zh-CN"/>
              <a:t>4</a:t>
            </a:r>
            <a:r>
              <a:rPr lang="zh-CN" altLang="en-US"/>
              <a:t>种主要的</a:t>
            </a:r>
            <a:r>
              <a:rPr lang="en-US" altLang="zh-CN"/>
              <a:t>HTTP</a:t>
            </a:r>
            <a:r>
              <a:rPr lang="zh-CN" altLang="en-US"/>
              <a:t>请求类型</a:t>
            </a:r>
            <a:endParaRPr lang="zh-CN" altLang="en-US"/>
          </a:p>
        </p:txBody>
      </p:sp>
      <p:sp>
        <p:nvSpPr>
          <p:cNvPr id="370691" name="Rectangle 3"/>
          <p:cNvSpPr>
            <a:spLocks noGrp="1" noChangeArrowheads="1"/>
          </p:cNvSpPr>
          <p:nvPr>
            <p:ph type="body" idx="1"/>
          </p:nvPr>
        </p:nvSpPr>
        <p:spPr/>
        <p:txBody>
          <a:bodyPr/>
          <a:lstStyle/>
          <a:p>
            <a:r>
              <a:rPr lang="en-US" altLang="zh-CN"/>
              <a:t>GET</a:t>
            </a:r>
            <a:r>
              <a:rPr lang="zh-CN" altLang="en-US"/>
              <a:t>：请求一个文档</a:t>
            </a:r>
            <a:endParaRPr lang="zh-CN" altLang="en-US"/>
          </a:p>
          <a:p>
            <a:pPr lvl="1"/>
            <a:r>
              <a:rPr lang="zh-CN" altLang="en-US"/>
              <a:t>服务器响应：发送状态信息，紧接着发送该文档的一个副本</a:t>
            </a:r>
            <a:endParaRPr lang="zh-CN" altLang="en-US"/>
          </a:p>
          <a:p>
            <a:r>
              <a:rPr lang="en-US" altLang="zh-CN"/>
              <a:t>HEAD</a:t>
            </a:r>
            <a:r>
              <a:rPr lang="zh-CN" altLang="en-US"/>
              <a:t>：请求状态信息</a:t>
            </a:r>
            <a:endParaRPr lang="zh-CN" altLang="en-US"/>
          </a:p>
          <a:p>
            <a:pPr lvl="1"/>
            <a:r>
              <a:rPr lang="zh-CN" altLang="en-US"/>
              <a:t>服务器响应：发送状态信息，但不发送文档副本</a:t>
            </a:r>
            <a:endParaRPr lang="zh-CN" altLang="en-US"/>
          </a:p>
          <a:p>
            <a:r>
              <a:rPr lang="en-US" altLang="zh-CN"/>
              <a:t>POST</a:t>
            </a:r>
            <a:r>
              <a:rPr lang="zh-CN" altLang="en-US"/>
              <a:t>：发送数据给服务器</a:t>
            </a:r>
            <a:endParaRPr lang="zh-CN" altLang="en-US"/>
          </a:p>
          <a:p>
            <a:pPr lvl="1"/>
            <a:r>
              <a:rPr lang="zh-CN" altLang="en-US"/>
              <a:t>服务器将该数据添加到指定的项上</a:t>
            </a:r>
            <a:endParaRPr lang="zh-CN" altLang="en-US"/>
          </a:p>
          <a:p>
            <a:r>
              <a:rPr lang="en-US" altLang="zh-CN"/>
              <a:t>PUT</a:t>
            </a:r>
            <a:r>
              <a:rPr lang="zh-CN" altLang="en-US"/>
              <a:t>：发送数据给服务器</a:t>
            </a:r>
            <a:endParaRPr lang="zh-CN" altLang="en-US"/>
          </a:p>
          <a:p>
            <a:pPr lvl="1"/>
            <a:r>
              <a:rPr lang="zh-CN" altLang="en-US"/>
              <a:t>服务器用该数据完全替代指定项</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 </a:t>
            </a:r>
            <a:r>
              <a:rPr lang="zh-CN" altLang="en-US" dirty="0"/>
              <a:t>协议工作过程：协议流程示例</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5" name="组合 54"/>
          <p:cNvGrpSpPr/>
          <p:nvPr/>
        </p:nvGrpSpPr>
        <p:grpSpPr>
          <a:xfrm>
            <a:off x="2279576" y="1223097"/>
            <a:ext cx="8308911" cy="4839364"/>
            <a:chOff x="2827649" y="1469956"/>
            <a:chExt cx="7206135" cy="4243659"/>
          </a:xfrm>
        </p:grpSpPr>
        <p:pic>
          <p:nvPicPr>
            <p:cNvPr id="5" name="Picture 197"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27649" y="2002861"/>
              <a:ext cx="1157840" cy="115784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2986013" y="2201949"/>
              <a:ext cx="795076" cy="4532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Light" panose="020B0502040204020203" pitchFamily="34" charset="-122"/>
                <a:ea typeface="微软雅黑 Light" panose="020B0502040204020203" pitchFamily="34" charset="-122"/>
              </a:endParaRPr>
            </a:p>
          </p:txBody>
        </p:sp>
        <p:sp>
          <p:nvSpPr>
            <p:cNvPr id="7" name="Text Box 110"/>
            <p:cNvSpPr txBox="1">
              <a:spLocks noChangeArrowheads="1"/>
            </p:cNvSpPr>
            <p:nvPr/>
          </p:nvSpPr>
          <p:spPr bwMode="auto">
            <a:xfrm>
              <a:off x="9060441" y="2627317"/>
              <a:ext cx="973343" cy="144655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8800" dirty="0">
                  <a:solidFill>
                    <a:srgbClr val="009900"/>
                  </a:solidFill>
                  <a:latin typeface="微软雅黑 Light" panose="020B0502040204020203" pitchFamily="34" charset="-122"/>
                  <a:ea typeface="微软雅黑 Light" panose="020B0502040204020203" pitchFamily="34" charset="-122"/>
                  <a:sym typeface="Wingdings" panose="05000000000000000000" pitchFamily="2" charset="2"/>
                </a:rPr>
                <a:t></a:t>
              </a:r>
              <a:endParaRPr kumimoji="1" lang="en-US" altLang="zh-CN" sz="8800" dirty="0">
                <a:solidFill>
                  <a:srgbClr val="009900"/>
                </a:solidFill>
                <a:latin typeface="微软雅黑 Light" panose="020B0502040204020203" pitchFamily="34" charset="-122"/>
                <a:ea typeface="微软雅黑 Light" panose="020B0502040204020203" pitchFamily="34" charset="-12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240" y="1876374"/>
              <a:ext cx="1078589" cy="1510025"/>
            </a:xfrm>
            <a:prstGeom prst="rect">
              <a:avLst/>
            </a:prstGeom>
          </p:spPr>
        </p:pic>
        <p:graphicFrame>
          <p:nvGraphicFramePr>
            <p:cNvPr id="9" name="Object 66"/>
            <p:cNvGraphicFramePr>
              <a:graphicFrameLocks noChangeAspect="1"/>
            </p:cNvGraphicFramePr>
            <p:nvPr/>
          </p:nvGraphicFramePr>
          <p:xfrm>
            <a:off x="4709039" y="2819838"/>
            <a:ext cx="2865204" cy="1164063"/>
          </p:xfrm>
          <a:graphic>
            <a:graphicData uri="http://schemas.openxmlformats.org/presentationml/2006/ole">
              <mc:AlternateContent xmlns:mc="http://schemas.openxmlformats.org/markup-compatibility/2006">
                <mc:Choice xmlns:v="urn:schemas-microsoft-com:vml" Requires="v">
                  <p:oleObj spid="_x0000_s3" name="VISIO" r:id="rId3" imgW="1687195" imgH="964565" progId="">
                    <p:embed/>
                  </p:oleObj>
                </mc:Choice>
                <mc:Fallback>
                  <p:oleObj name="VISIO" r:id="rId3" imgW="1687195" imgH="964565" progId="">
                    <p:embed/>
                    <p:pic>
                      <p:nvPicPr>
                        <p:cNvPr id="0"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9039" y="2819838"/>
                          <a:ext cx="2865204" cy="11640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 name="Freeform 70"/>
            <p:cNvSpPr/>
            <p:nvPr/>
          </p:nvSpPr>
          <p:spPr bwMode="auto">
            <a:xfrm>
              <a:off x="7237089" y="3065535"/>
              <a:ext cx="1367108" cy="512144"/>
            </a:xfrm>
            <a:custGeom>
              <a:avLst/>
              <a:gdLst>
                <a:gd name="T0" fmla="*/ 2147483646 w 567"/>
                <a:gd name="T1" fmla="*/ 0 h 371"/>
                <a:gd name="T2" fmla="*/ 2147483646 w 567"/>
                <a:gd name="T3" fmla="*/ 2147483646 h 371"/>
                <a:gd name="T4" fmla="*/ 2147483646 w 567"/>
                <a:gd name="T5" fmla="*/ 2147483646 h 371"/>
                <a:gd name="T6" fmla="*/ 2147483646 w 567"/>
                <a:gd name="T7" fmla="*/ 2147483646 h 371"/>
                <a:gd name="T8" fmla="*/ 0 w 567"/>
                <a:gd name="T9" fmla="*/ 2147483646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11" name="Freeform 71"/>
            <p:cNvSpPr/>
            <p:nvPr/>
          </p:nvSpPr>
          <p:spPr bwMode="auto">
            <a:xfrm>
              <a:off x="3320370" y="2824206"/>
              <a:ext cx="1710441" cy="743647"/>
            </a:xfrm>
            <a:custGeom>
              <a:avLst/>
              <a:gdLst>
                <a:gd name="T0" fmla="*/ 2147483646 w 759"/>
                <a:gd name="T1" fmla="*/ 0 h 664"/>
                <a:gd name="T2" fmla="*/ 2147483646 w 759"/>
                <a:gd name="T3" fmla="*/ 2147483646 h 664"/>
                <a:gd name="T4" fmla="*/ 2147483646 w 759"/>
                <a:gd name="T5" fmla="*/ 2147483646 h 664"/>
                <a:gd name="T6" fmla="*/ 2147483646 w 759"/>
                <a:gd name="T7" fmla="*/ 2147483646 h 664"/>
                <a:gd name="T8" fmla="*/ 2147483646 w 759"/>
                <a:gd name="T9" fmla="*/ 2147483646 h 664"/>
                <a:gd name="T10" fmla="*/ 2147483646 w 759"/>
                <a:gd name="T11" fmla="*/ 2147483646 h 664"/>
                <a:gd name="T12" fmla="*/ 2147483646 w 759"/>
                <a:gd name="T13" fmla="*/ 2147483646 h 664"/>
                <a:gd name="T14" fmla="*/ 2147483646 w 759"/>
                <a:gd name="T15" fmla="*/ 2147483646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28575" cap="rnd"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12" name="Rectangle 72"/>
            <p:cNvSpPr>
              <a:spLocks noChangeArrowheads="1"/>
            </p:cNvSpPr>
            <p:nvPr/>
          </p:nvSpPr>
          <p:spPr bwMode="auto">
            <a:xfrm>
              <a:off x="5678336" y="3466296"/>
              <a:ext cx="859212" cy="36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r>
                <a:rPr kumimoji="1" lang="zh-CN" altLang="en-US" sz="1600" dirty="0">
                  <a:latin typeface="微软雅黑 Light" panose="020B0502040204020203" pitchFamily="34" charset="-122"/>
                  <a:ea typeface="微软雅黑 Light" panose="020B0502040204020203" pitchFamily="34" charset="-122"/>
                </a:rPr>
                <a:t>互联网</a:t>
              </a:r>
              <a:endParaRPr kumimoji="1" lang="zh-CN" altLang="en-US" sz="1600" dirty="0">
                <a:latin typeface="微软雅黑 Light" panose="020B0502040204020203" pitchFamily="34" charset="-122"/>
                <a:ea typeface="微软雅黑 Light" panose="020B0502040204020203" pitchFamily="34" charset="-122"/>
              </a:endParaRPr>
            </a:p>
          </p:txBody>
        </p:sp>
        <p:sp>
          <p:nvSpPr>
            <p:cNvPr id="13" name="Rectangle 73"/>
            <p:cNvSpPr>
              <a:spLocks noChangeArrowheads="1"/>
            </p:cNvSpPr>
            <p:nvPr/>
          </p:nvSpPr>
          <p:spPr bwMode="auto">
            <a:xfrm>
              <a:off x="7578895" y="1469956"/>
              <a:ext cx="1606980" cy="514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pPr algn="ctr">
                <a:lnSpc>
                  <a:spcPct val="80000"/>
                </a:lnSpc>
              </a:pPr>
              <a:r>
                <a:rPr kumimoji="1" lang="zh-CN" altLang="en-US" sz="1600" dirty="0">
                  <a:latin typeface="微软雅黑 Light" panose="020B0502040204020203" pitchFamily="34" charset="-122"/>
                  <a:ea typeface="微软雅黑 Light" panose="020B0502040204020203" pitchFamily="34" charset="-122"/>
                </a:rPr>
                <a:t>服务器</a:t>
              </a:r>
              <a:endParaRPr kumimoji="1" lang="zh-CN" altLang="en-US" sz="1600" dirty="0">
                <a:latin typeface="微软雅黑 Light" panose="020B0502040204020203" pitchFamily="34" charset="-122"/>
                <a:ea typeface="微软雅黑 Light" panose="020B0502040204020203" pitchFamily="34" charset="-122"/>
              </a:endParaRPr>
            </a:p>
            <a:p>
              <a:pPr algn="ctr">
                <a:lnSpc>
                  <a:spcPct val="80000"/>
                </a:lnSpc>
              </a:pPr>
              <a:r>
                <a:rPr kumimoji="1" lang="en-US" altLang="zh-CN" sz="1600" dirty="0">
                  <a:latin typeface="微软雅黑 Light" panose="020B0502040204020203" pitchFamily="34" charset="-122"/>
                  <a:ea typeface="微软雅黑 Light" panose="020B0502040204020203" pitchFamily="34" charset="-122"/>
                </a:rPr>
                <a:t>www.jlu.edu.cn</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14" name="Rectangle 74"/>
            <p:cNvSpPr>
              <a:spLocks noChangeArrowheads="1"/>
            </p:cNvSpPr>
            <p:nvPr/>
          </p:nvSpPr>
          <p:spPr bwMode="auto">
            <a:xfrm>
              <a:off x="5095857" y="1601175"/>
              <a:ext cx="1990932" cy="36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r>
                <a:rPr kumimoji="1" lang="zh-CN" altLang="zh-CN" sz="1600" dirty="0">
                  <a:solidFill>
                    <a:srgbClr val="000099"/>
                  </a:solidFill>
                  <a:latin typeface="微软雅黑 Light" panose="020B0502040204020203" pitchFamily="34" charset="-122"/>
                  <a:ea typeface="微软雅黑 Light" panose="020B0502040204020203" pitchFamily="34" charset="-122"/>
                </a:rPr>
                <a:t>链接到</a:t>
              </a:r>
              <a:r>
                <a:rPr kumimoji="1" lang="en-US" altLang="zh-CN" sz="1600" dirty="0">
                  <a:solidFill>
                    <a:srgbClr val="000099"/>
                  </a:solidFill>
                  <a:latin typeface="微软雅黑 Light" panose="020B0502040204020203" pitchFamily="34" charset="-122"/>
                  <a:ea typeface="微软雅黑 Light" panose="020B0502040204020203" pitchFamily="34" charset="-122"/>
                </a:rPr>
                <a:t> URL </a:t>
              </a:r>
              <a:r>
                <a:rPr kumimoji="1" lang="zh-CN" altLang="en-US" sz="1600" dirty="0">
                  <a:solidFill>
                    <a:srgbClr val="000099"/>
                  </a:solidFill>
                  <a:latin typeface="微软雅黑 Light" panose="020B0502040204020203" pitchFamily="34" charset="-122"/>
                  <a:ea typeface="微软雅黑 Light" panose="020B0502040204020203" pitchFamily="34" charset="-122"/>
                </a:rPr>
                <a:t>的超链</a:t>
              </a:r>
              <a:endParaRPr kumimoji="1" lang="zh-CN" altLang="en-US" sz="1600" dirty="0">
                <a:solidFill>
                  <a:srgbClr val="000099"/>
                </a:solidFill>
                <a:latin typeface="微软雅黑 Light" panose="020B0502040204020203" pitchFamily="34" charset="-122"/>
                <a:ea typeface="微软雅黑 Light" panose="020B0502040204020203" pitchFamily="34" charset="-122"/>
              </a:endParaRPr>
            </a:p>
          </p:txBody>
        </p:sp>
        <p:sp>
          <p:nvSpPr>
            <p:cNvPr id="15" name="Rectangle 75"/>
            <p:cNvSpPr>
              <a:spLocks noChangeArrowheads="1"/>
            </p:cNvSpPr>
            <p:nvPr/>
          </p:nvSpPr>
          <p:spPr bwMode="auto">
            <a:xfrm>
              <a:off x="5118353" y="3069168"/>
              <a:ext cx="2344298" cy="365913"/>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r>
                <a:rPr kumimoji="1" lang="en-US" altLang="zh-CN" sz="1600" dirty="0">
                  <a:latin typeface="微软雅黑 Light" panose="020B0502040204020203" pitchFamily="34" charset="-122"/>
                  <a:ea typeface="微软雅黑 Light" panose="020B0502040204020203" pitchFamily="34" charset="-122"/>
                </a:rPr>
                <a:t>HTTP </a:t>
              </a:r>
              <a:r>
                <a:rPr kumimoji="1" lang="zh-CN" altLang="en-US" sz="1600" dirty="0">
                  <a:latin typeface="微软雅黑 Light" panose="020B0502040204020203" pitchFamily="34" charset="-122"/>
                  <a:ea typeface="微软雅黑 Light" panose="020B0502040204020203" pitchFamily="34" charset="-122"/>
                </a:rPr>
                <a:t>使用此 </a:t>
              </a:r>
              <a:r>
                <a:rPr kumimoji="1" lang="en-US" altLang="zh-CN" sz="1600" dirty="0">
                  <a:latin typeface="微软雅黑 Light" panose="020B0502040204020203" pitchFamily="34" charset="-122"/>
                  <a:ea typeface="微软雅黑 Light" panose="020B0502040204020203" pitchFamily="34" charset="-122"/>
                </a:rPr>
                <a:t>TCP </a:t>
              </a:r>
              <a:r>
                <a:rPr kumimoji="1" lang="zh-CN" altLang="en-US" sz="1600" dirty="0">
                  <a:latin typeface="微软雅黑 Light" panose="020B0502040204020203" pitchFamily="34" charset="-122"/>
                  <a:ea typeface="微软雅黑 Light" panose="020B0502040204020203" pitchFamily="34" charset="-122"/>
                </a:rPr>
                <a:t>连接</a:t>
              </a:r>
              <a:endParaRPr kumimoji="1" lang="zh-CN" altLang="en-US" sz="1600" dirty="0">
                <a:latin typeface="微软雅黑 Light" panose="020B0502040204020203" pitchFamily="34" charset="-122"/>
                <a:ea typeface="微软雅黑 Light" panose="020B0502040204020203" pitchFamily="34" charset="-122"/>
              </a:endParaRPr>
            </a:p>
          </p:txBody>
        </p:sp>
        <p:sp>
          <p:nvSpPr>
            <p:cNvPr id="16" name="Rectangle 76"/>
            <p:cNvSpPr>
              <a:spLocks noChangeArrowheads="1"/>
            </p:cNvSpPr>
            <p:nvPr/>
          </p:nvSpPr>
          <p:spPr bwMode="auto">
            <a:xfrm>
              <a:off x="3907669" y="2234530"/>
              <a:ext cx="859212" cy="562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pPr>
                <a:lnSpc>
                  <a:spcPct val="90000"/>
                </a:lnSpc>
              </a:pPr>
              <a:r>
                <a:rPr kumimoji="1" lang="zh-CN" altLang="en-US" sz="1600" dirty="0">
                  <a:solidFill>
                    <a:srgbClr val="000099"/>
                  </a:solidFill>
                  <a:latin typeface="微软雅黑 Light" panose="020B0502040204020203" pitchFamily="34" charset="-122"/>
                  <a:ea typeface="微软雅黑 Light" panose="020B0502040204020203" pitchFamily="34" charset="-122"/>
                </a:rPr>
                <a:t>浏览器</a:t>
              </a:r>
              <a:endParaRPr kumimoji="1" lang="zh-CN" altLang="en-US" sz="1600" dirty="0">
                <a:solidFill>
                  <a:srgbClr val="0000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sz="1600" dirty="0">
                  <a:solidFill>
                    <a:srgbClr val="000099"/>
                  </a:solidFill>
                  <a:latin typeface="微软雅黑 Light" panose="020B0502040204020203" pitchFamily="34" charset="-122"/>
                  <a:ea typeface="微软雅黑 Light" panose="020B0502040204020203" pitchFamily="34" charset="-122"/>
                </a:rPr>
                <a:t> 程序</a:t>
              </a:r>
              <a:endParaRPr kumimoji="1" lang="zh-CN" altLang="en-US" sz="1600" dirty="0">
                <a:solidFill>
                  <a:srgbClr val="000099"/>
                </a:solidFill>
                <a:latin typeface="微软雅黑 Light" panose="020B0502040204020203" pitchFamily="34" charset="-122"/>
                <a:ea typeface="微软雅黑 Light" panose="020B0502040204020203" pitchFamily="34" charset="-122"/>
              </a:endParaRPr>
            </a:p>
          </p:txBody>
        </p:sp>
        <p:sp>
          <p:nvSpPr>
            <p:cNvPr id="17" name="Rectangle 77"/>
            <p:cNvSpPr>
              <a:spLocks noChangeArrowheads="1"/>
            </p:cNvSpPr>
            <p:nvPr/>
          </p:nvSpPr>
          <p:spPr bwMode="auto">
            <a:xfrm>
              <a:off x="7172185" y="2234530"/>
              <a:ext cx="859212" cy="562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pPr>
                <a:lnSpc>
                  <a:spcPct val="90000"/>
                </a:lnSpc>
              </a:pPr>
              <a:r>
                <a:rPr kumimoji="1" lang="zh-CN" altLang="en-US" sz="1600">
                  <a:solidFill>
                    <a:srgbClr val="000099"/>
                  </a:solidFill>
                  <a:latin typeface="微软雅黑 Light" panose="020B0502040204020203" pitchFamily="34" charset="-122"/>
                  <a:ea typeface="微软雅黑 Light" panose="020B0502040204020203" pitchFamily="34" charset="-122"/>
                </a:rPr>
                <a:t>服务器</a:t>
              </a:r>
              <a:endParaRPr kumimoji="1" lang="zh-CN" altLang="en-US" sz="1600">
                <a:solidFill>
                  <a:srgbClr val="0000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sz="1600">
                  <a:solidFill>
                    <a:srgbClr val="000099"/>
                  </a:solidFill>
                  <a:latin typeface="微软雅黑 Light" panose="020B0502040204020203" pitchFamily="34" charset="-122"/>
                  <a:ea typeface="微软雅黑 Light" panose="020B0502040204020203" pitchFamily="34" charset="-122"/>
                </a:rPr>
                <a:t> 程序</a:t>
              </a:r>
              <a:endParaRPr kumimoji="1"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18" name="Rectangle 78"/>
            <p:cNvSpPr>
              <a:spLocks noChangeArrowheads="1"/>
            </p:cNvSpPr>
            <p:nvPr/>
          </p:nvSpPr>
          <p:spPr bwMode="auto">
            <a:xfrm>
              <a:off x="5768996" y="2491147"/>
              <a:ext cx="765661" cy="36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r>
                <a:rPr kumimoji="1" lang="en-US" altLang="zh-CN" sz="1600">
                  <a:solidFill>
                    <a:srgbClr val="000099"/>
                  </a:solidFill>
                  <a:latin typeface="微软雅黑 Light" panose="020B0502040204020203" pitchFamily="34" charset="-122"/>
                  <a:ea typeface="微软雅黑 Light" panose="020B0502040204020203" pitchFamily="34" charset="-122"/>
                </a:rPr>
                <a:t>HTTP</a:t>
              </a:r>
              <a:endParaRPr kumimoji="1" lang="en-US" altLang="zh-CN" sz="1600">
                <a:solidFill>
                  <a:srgbClr val="000099"/>
                </a:solidFill>
                <a:latin typeface="微软雅黑 Light" panose="020B0502040204020203" pitchFamily="34" charset="-122"/>
                <a:ea typeface="微软雅黑 Light" panose="020B0502040204020203" pitchFamily="34" charset="-122"/>
              </a:endParaRPr>
            </a:p>
          </p:txBody>
        </p:sp>
        <p:sp>
          <p:nvSpPr>
            <p:cNvPr id="19" name="Rectangle 79"/>
            <p:cNvSpPr>
              <a:spLocks noChangeArrowheads="1"/>
            </p:cNvSpPr>
            <p:nvPr/>
          </p:nvSpPr>
          <p:spPr bwMode="auto">
            <a:xfrm>
              <a:off x="3873847" y="1749686"/>
              <a:ext cx="654027" cy="36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r>
                <a:rPr kumimoji="1" lang="zh-CN" altLang="en-US" sz="1600">
                  <a:latin typeface="微软雅黑 Light" panose="020B0502040204020203" pitchFamily="34" charset="-122"/>
                  <a:ea typeface="微软雅黑 Light" panose="020B0502040204020203" pitchFamily="34" charset="-122"/>
                </a:rPr>
                <a:t>客户</a:t>
              </a:r>
              <a:endParaRPr kumimoji="1" lang="zh-CN" altLang="en-US" sz="1600">
                <a:latin typeface="微软雅黑 Light" panose="020B0502040204020203" pitchFamily="34" charset="-122"/>
                <a:ea typeface="微软雅黑 Light" panose="020B0502040204020203" pitchFamily="34" charset="-122"/>
              </a:endParaRPr>
            </a:p>
          </p:txBody>
        </p:sp>
        <p:sp>
          <p:nvSpPr>
            <p:cNvPr id="20" name="Freeform 81"/>
            <p:cNvSpPr/>
            <p:nvPr/>
          </p:nvSpPr>
          <p:spPr bwMode="auto">
            <a:xfrm>
              <a:off x="3934179" y="2219242"/>
              <a:ext cx="552456" cy="382197"/>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1" name="Rectangle 82"/>
            <p:cNvSpPr>
              <a:spLocks noChangeArrowheads="1"/>
            </p:cNvSpPr>
            <p:nvPr/>
          </p:nvSpPr>
          <p:spPr bwMode="auto">
            <a:xfrm>
              <a:off x="2922857" y="2172018"/>
              <a:ext cx="961804" cy="550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0651" tIns="59267" rIns="120651" bIns="59267">
              <a:spAutoFit/>
            </a:bodyPr>
            <a:lstStyle/>
            <a:p>
              <a:r>
                <a:rPr kumimoji="1" lang="zh-CN" altLang="en-US" sz="1400" dirty="0">
                  <a:latin typeface="微软雅黑 Light" panose="020B0502040204020203" pitchFamily="34" charset="-122"/>
                  <a:ea typeface="微软雅黑 Light" panose="020B0502040204020203" pitchFamily="34" charset="-122"/>
                </a:rPr>
                <a:t>吉林大学</a:t>
              </a:r>
              <a:endParaRPr kumimoji="1" lang="zh-CN" altLang="en-US" sz="1400" dirty="0">
                <a:latin typeface="微软雅黑 Light" panose="020B0502040204020203" pitchFamily="34" charset="-122"/>
                <a:ea typeface="微软雅黑 Light" panose="020B0502040204020203" pitchFamily="34" charset="-122"/>
              </a:endParaRPr>
            </a:p>
            <a:p>
              <a:r>
                <a:rPr kumimoji="1" lang="zh-CN" altLang="en-US" sz="1400" dirty="0">
                  <a:latin typeface="微软雅黑 Light" panose="020B0502040204020203" pitchFamily="34" charset="-122"/>
                  <a:ea typeface="微软雅黑 Light" panose="020B0502040204020203" pitchFamily="34" charset="-122"/>
                </a:rPr>
                <a:t>院系设置</a:t>
              </a:r>
              <a:endParaRPr kumimoji="1" lang="zh-CN" altLang="en-US" sz="1400" dirty="0">
                <a:latin typeface="微软雅黑 Light" panose="020B0502040204020203" pitchFamily="34" charset="-122"/>
                <a:ea typeface="微软雅黑 Light" panose="020B0502040204020203" pitchFamily="34" charset="-122"/>
              </a:endParaRPr>
            </a:p>
          </p:txBody>
        </p:sp>
        <p:sp>
          <p:nvSpPr>
            <p:cNvPr id="22" name="Line 83"/>
            <p:cNvSpPr>
              <a:spLocks noChangeShapeType="1"/>
            </p:cNvSpPr>
            <p:nvPr/>
          </p:nvSpPr>
          <p:spPr bwMode="auto">
            <a:xfrm>
              <a:off x="2986014" y="2686435"/>
              <a:ext cx="8878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3" name="Oval 84"/>
            <p:cNvSpPr>
              <a:spLocks noChangeArrowheads="1"/>
            </p:cNvSpPr>
            <p:nvPr/>
          </p:nvSpPr>
          <p:spPr bwMode="auto">
            <a:xfrm>
              <a:off x="3209319" y="2724565"/>
              <a:ext cx="442439" cy="173627"/>
            </a:xfrm>
            <a:prstGeom prst="ellipse">
              <a:avLst/>
            </a:prstGeom>
            <a:solidFill>
              <a:srgbClr val="00FFCC"/>
            </a:solidFill>
            <a:ln w="12700">
              <a:solidFill>
                <a:schemeClr val="tx1"/>
              </a:solidFill>
              <a:round/>
            </a:ln>
            <a:effectLst/>
          </p:spPr>
          <p:txBody>
            <a:bodyPr wrap="none" anchor="ctr"/>
            <a:lstStyle/>
            <a:p>
              <a:pPr eaLnBrk="1" hangingPunct="1"/>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4" name="Line 85"/>
            <p:cNvSpPr>
              <a:spLocks noChangeShapeType="1"/>
            </p:cNvSpPr>
            <p:nvPr/>
          </p:nvSpPr>
          <p:spPr bwMode="auto">
            <a:xfrm>
              <a:off x="7741206" y="2581783"/>
              <a:ext cx="379740" cy="174719"/>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5" name="Line 86"/>
            <p:cNvSpPr>
              <a:spLocks noChangeShapeType="1"/>
            </p:cNvSpPr>
            <p:nvPr/>
          </p:nvSpPr>
          <p:spPr bwMode="auto">
            <a:xfrm flipH="1">
              <a:off x="3576689" y="2581782"/>
              <a:ext cx="408800" cy="174719"/>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6" name="Oval 87"/>
            <p:cNvSpPr>
              <a:spLocks noChangeArrowheads="1"/>
            </p:cNvSpPr>
            <p:nvPr/>
          </p:nvSpPr>
          <p:spPr bwMode="auto">
            <a:xfrm>
              <a:off x="8057063" y="2698625"/>
              <a:ext cx="443621" cy="173627"/>
            </a:xfrm>
            <a:prstGeom prst="ellipse">
              <a:avLst/>
            </a:prstGeom>
            <a:solidFill>
              <a:srgbClr val="00FFCC"/>
            </a:solidFill>
            <a:ln w="12700">
              <a:solidFill>
                <a:schemeClr val="tx1"/>
              </a:solidFill>
              <a:round/>
            </a:ln>
            <a:effectLst/>
          </p:spPr>
          <p:txBody>
            <a:bodyPr wrap="none" anchor="ctr"/>
            <a:lstStyle/>
            <a:p>
              <a:pPr eaLnBrk="1" hangingPunct="1"/>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7" name="Freeform 88"/>
            <p:cNvSpPr/>
            <p:nvPr/>
          </p:nvSpPr>
          <p:spPr bwMode="auto">
            <a:xfrm>
              <a:off x="3510600" y="2829664"/>
              <a:ext cx="4768273" cy="564560"/>
            </a:xfrm>
            <a:custGeom>
              <a:avLst/>
              <a:gdLst>
                <a:gd name="T0" fmla="*/ 0 w 2448"/>
                <a:gd name="T1" fmla="*/ 0 h 852"/>
                <a:gd name="T2" fmla="*/ 0 w 2448"/>
                <a:gd name="T3" fmla="*/ 2147483646 h 852"/>
                <a:gd name="T4" fmla="*/ 2147483646 w 2448"/>
                <a:gd name="T5" fmla="*/ 2147483646 h 852"/>
                <a:gd name="T6" fmla="*/ 2147483646 w 2448"/>
                <a:gd name="T7" fmla="*/ 2147483646 h 852"/>
                <a:gd name="T8" fmla="*/ 2147483646 w 2448"/>
                <a:gd name="T9" fmla="*/ 2147483646 h 852"/>
                <a:gd name="T10" fmla="*/ 2147483646 w 2448"/>
                <a:gd name="T11" fmla="*/ 2147483646 h 852"/>
                <a:gd name="T12" fmla="*/ 2147483646 w 2448"/>
                <a:gd name="T13" fmla="*/ 2147483646 h 852"/>
                <a:gd name="T14" fmla="*/ 2147483646 w 2448"/>
                <a:gd name="T15" fmla="*/ 2147483646 h 852"/>
                <a:gd name="T16" fmla="*/ 2147483646 w 2448"/>
                <a:gd name="T17" fmla="*/ 2147483646 h 852"/>
                <a:gd name="T18" fmla="*/ 2147483646 w 2448"/>
                <a:gd name="T19" fmla="*/ 2147483646 h 852"/>
                <a:gd name="T20" fmla="*/ 2147483646 w 2448"/>
                <a:gd name="T21" fmla="*/ 2147483646 h 852"/>
                <a:gd name="T22" fmla="*/ 2147483646 w 2448"/>
                <a:gd name="T23" fmla="*/ 2147483646 h 852"/>
                <a:gd name="T24" fmla="*/ 2147483646 w 2448"/>
                <a:gd name="T25" fmla="*/ 2147483646 h 852"/>
                <a:gd name="T26" fmla="*/ 2147483646 w 2448"/>
                <a:gd name="T27" fmla="*/ 2147483646 h 852"/>
                <a:gd name="T28" fmla="*/ 2147483646 w 2448"/>
                <a:gd name="T29" fmla="*/ 2147483646 h 852"/>
                <a:gd name="T30" fmla="*/ 2147483646 w 2448"/>
                <a:gd name="T31" fmla="*/ 2147483646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28575" cap="flat" cmpd="sng">
              <a:solidFill>
                <a:srgbClr val="002060"/>
              </a:solidFill>
              <a:prstDash val="sysDot"/>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8" name="Line 89"/>
            <p:cNvSpPr>
              <a:spLocks noChangeShapeType="1"/>
            </p:cNvSpPr>
            <p:nvPr/>
          </p:nvSpPr>
          <p:spPr bwMode="auto">
            <a:xfrm flipV="1">
              <a:off x="3651756" y="2794720"/>
              <a:ext cx="4405307" cy="0"/>
            </a:xfrm>
            <a:prstGeom prst="line">
              <a:avLst/>
            </a:prstGeom>
            <a:noFill/>
            <a:ln w="3810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29" name="Line 90"/>
            <p:cNvSpPr>
              <a:spLocks noChangeShapeType="1"/>
            </p:cNvSpPr>
            <p:nvPr/>
          </p:nvSpPr>
          <p:spPr bwMode="auto">
            <a:xfrm rot="16200000" flipH="1">
              <a:off x="8428523" y="2825206"/>
              <a:ext cx="198743" cy="144325"/>
            </a:xfrm>
            <a:prstGeom prst="line">
              <a:avLst/>
            </a:prstGeom>
            <a:noFill/>
            <a:ln w="2857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30" name="Freeform 91"/>
            <p:cNvSpPr/>
            <p:nvPr/>
          </p:nvSpPr>
          <p:spPr bwMode="auto">
            <a:xfrm>
              <a:off x="3510601" y="1886183"/>
              <a:ext cx="4410257" cy="458636"/>
            </a:xfrm>
            <a:custGeom>
              <a:avLst/>
              <a:gdLst>
                <a:gd name="T0" fmla="*/ 0 w 2454"/>
                <a:gd name="T1" fmla="*/ 2147483646 h 332"/>
                <a:gd name="T2" fmla="*/ 2147483646 w 2454"/>
                <a:gd name="T3" fmla="*/ 2147483646 h 332"/>
                <a:gd name="T4" fmla="*/ 2147483646 w 2454"/>
                <a:gd name="T5" fmla="*/ 2147483646 h 332"/>
                <a:gd name="T6" fmla="*/ 2147483646 w 2454"/>
                <a:gd name="T7" fmla="*/ 2147483646 h 332"/>
                <a:gd name="T8" fmla="*/ 2147483646 w 2454"/>
                <a:gd name="T9" fmla="*/ 2147483646 h 332"/>
                <a:gd name="T10" fmla="*/ 2147483646 w 2454"/>
                <a:gd name="T11" fmla="*/ 2147483646 h 332"/>
                <a:gd name="T12" fmla="*/ 2147483646 w 2454"/>
                <a:gd name="T13" fmla="*/ 214748364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31" name="Line 92"/>
            <p:cNvSpPr>
              <a:spLocks noChangeShapeType="1"/>
            </p:cNvSpPr>
            <p:nvPr/>
          </p:nvSpPr>
          <p:spPr bwMode="auto">
            <a:xfrm>
              <a:off x="4187339" y="3659578"/>
              <a:ext cx="0" cy="2054037"/>
            </a:xfrm>
            <a:prstGeom prst="line">
              <a:avLst/>
            </a:prstGeom>
            <a:noFill/>
            <a:ln w="19050">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32" name="Line 93"/>
            <p:cNvSpPr>
              <a:spLocks noChangeShapeType="1"/>
            </p:cNvSpPr>
            <p:nvPr/>
          </p:nvSpPr>
          <p:spPr bwMode="auto">
            <a:xfrm>
              <a:off x="8020229" y="3659578"/>
              <a:ext cx="0" cy="2054037"/>
            </a:xfrm>
            <a:prstGeom prst="line">
              <a:avLst/>
            </a:prstGeom>
            <a:noFill/>
            <a:ln w="19050">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grpSp>
          <p:nvGrpSpPr>
            <p:cNvPr id="33" name="Group 116"/>
            <p:cNvGrpSpPr/>
            <p:nvPr/>
          </p:nvGrpSpPr>
          <p:grpSpPr bwMode="auto">
            <a:xfrm>
              <a:off x="4187339" y="3978448"/>
              <a:ext cx="3832891" cy="338518"/>
              <a:chOff x="1149" y="2704"/>
              <a:chExt cx="3240" cy="310"/>
            </a:xfrm>
          </p:grpSpPr>
          <p:sp>
            <p:nvSpPr>
              <p:cNvPr id="34" name="Line 103"/>
              <p:cNvSpPr>
                <a:spLocks noChangeShapeType="1"/>
              </p:cNvSpPr>
              <p:nvPr/>
            </p:nvSpPr>
            <p:spPr bwMode="auto">
              <a:xfrm>
                <a:off x="1149" y="2836"/>
                <a:ext cx="3240" cy="0"/>
              </a:xfrm>
              <a:prstGeom prst="line">
                <a:avLst/>
              </a:prstGeom>
              <a:noFill/>
              <a:ln w="28575">
                <a:solidFill>
                  <a:srgbClr val="0000FF"/>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latin typeface="微软雅黑 Light" panose="020B0502040204020203" pitchFamily="34" charset="-122"/>
                  <a:ea typeface="微软雅黑 Light" panose="020B0502040204020203" pitchFamily="34" charset="-122"/>
                </a:endParaRPr>
              </a:p>
            </p:txBody>
          </p:sp>
          <p:sp>
            <p:nvSpPr>
              <p:cNvPr id="35" name="Text Box 104"/>
              <p:cNvSpPr txBox="1">
                <a:spLocks noChangeArrowheads="1"/>
              </p:cNvSpPr>
              <p:nvPr/>
            </p:nvSpPr>
            <p:spPr bwMode="auto">
              <a:xfrm>
                <a:off x="2176" y="2704"/>
                <a:ext cx="1266" cy="3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dirty="0">
                    <a:latin typeface="微软雅黑 Light" panose="020B0502040204020203" pitchFamily="34" charset="-122"/>
                    <a:ea typeface="微软雅黑 Light" panose="020B0502040204020203" pitchFamily="34" charset="-122"/>
                  </a:rPr>
                  <a:t>建立 </a:t>
                </a:r>
                <a:r>
                  <a:rPr kumimoji="1" lang="en-US" altLang="zh-CN" sz="1600" dirty="0">
                    <a:latin typeface="微软雅黑 Light" panose="020B0502040204020203" pitchFamily="34" charset="-122"/>
                    <a:ea typeface="微软雅黑 Light" panose="020B0502040204020203" pitchFamily="34" charset="-122"/>
                  </a:rPr>
                  <a:t>TCP </a:t>
                </a:r>
                <a:r>
                  <a:rPr kumimoji="1" lang="zh-CN" altLang="en-US" sz="1600" dirty="0">
                    <a:latin typeface="微软雅黑 Light" panose="020B0502040204020203" pitchFamily="34" charset="-122"/>
                    <a:ea typeface="微软雅黑 Light" panose="020B0502040204020203" pitchFamily="34" charset="-122"/>
                  </a:rPr>
                  <a:t>连接</a:t>
                </a:r>
                <a:endParaRPr kumimoji="1" lang="zh-CN" altLang="en-US" sz="1600" dirty="0">
                  <a:latin typeface="微软雅黑 Light" panose="020B0502040204020203" pitchFamily="34" charset="-122"/>
                  <a:ea typeface="微软雅黑 Light" panose="020B0502040204020203" pitchFamily="34" charset="-122"/>
                </a:endParaRPr>
              </a:p>
            </p:txBody>
          </p:sp>
        </p:grpSp>
        <p:sp>
          <p:nvSpPr>
            <p:cNvPr id="36" name="Line 108"/>
            <p:cNvSpPr>
              <a:spLocks noChangeShapeType="1"/>
            </p:cNvSpPr>
            <p:nvPr/>
          </p:nvSpPr>
          <p:spPr bwMode="auto">
            <a:xfrm>
              <a:off x="8797630" y="3068989"/>
              <a:ext cx="385655" cy="110291"/>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37" name="AutoShape 111"/>
            <p:cNvSpPr>
              <a:spLocks noChangeArrowheads="1"/>
            </p:cNvSpPr>
            <p:nvPr/>
          </p:nvSpPr>
          <p:spPr bwMode="auto">
            <a:xfrm>
              <a:off x="8382387" y="2955244"/>
              <a:ext cx="443621" cy="173627"/>
            </a:xfrm>
            <a:prstGeom prst="can">
              <a:avLst>
                <a:gd name="adj" fmla="val 39583"/>
              </a:avLst>
            </a:prstGeom>
            <a:solidFill>
              <a:srgbClr val="FF00FF"/>
            </a:solidFill>
            <a:ln w="9525">
              <a:solidFill>
                <a:schemeClr val="tx1"/>
              </a:solidFill>
              <a:round/>
            </a:ln>
            <a:effectLst/>
          </p:spPr>
          <p:txBody>
            <a:bodyPr wrap="none" anchor="ctr"/>
            <a:lstStyle/>
            <a:p>
              <a:pPr eaLnBrk="1" hangingPunct="1"/>
              <a:endParaRPr lang="zh-CN" altLang="en-US" sz="1600">
                <a:solidFill>
                  <a:srgbClr val="000099"/>
                </a:solidFill>
                <a:latin typeface="微软雅黑 Light" panose="020B0502040204020203" pitchFamily="34" charset="-122"/>
                <a:ea typeface="微软雅黑 Light" panose="020B0502040204020203" pitchFamily="34" charset="-122"/>
              </a:endParaRPr>
            </a:p>
          </p:txBody>
        </p:sp>
        <p:grpSp>
          <p:nvGrpSpPr>
            <p:cNvPr id="38" name="Group 117"/>
            <p:cNvGrpSpPr/>
            <p:nvPr/>
          </p:nvGrpSpPr>
          <p:grpSpPr bwMode="auto">
            <a:xfrm>
              <a:off x="3182983" y="4311492"/>
              <a:ext cx="4837245" cy="585306"/>
              <a:chOff x="300" y="3009"/>
              <a:chExt cx="4089" cy="536"/>
            </a:xfrm>
          </p:grpSpPr>
          <p:sp>
            <p:nvSpPr>
              <p:cNvPr id="39" name="Line 94"/>
              <p:cNvSpPr>
                <a:spLocks noChangeShapeType="1"/>
              </p:cNvSpPr>
              <p:nvPr/>
            </p:nvSpPr>
            <p:spPr bwMode="auto">
              <a:xfrm>
                <a:off x="1149" y="3218"/>
                <a:ext cx="3240" cy="0"/>
              </a:xfrm>
              <a:prstGeom prst="line">
                <a:avLst/>
              </a:prstGeom>
              <a:noFill/>
              <a:ln w="28575">
                <a:solidFill>
                  <a:srgbClr val="0000FF"/>
                </a:solidFill>
                <a:prstDash val="sys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grpSp>
            <p:nvGrpSpPr>
              <p:cNvPr id="40" name="Group 95"/>
              <p:cNvGrpSpPr/>
              <p:nvPr/>
            </p:nvGrpSpPr>
            <p:grpSpPr bwMode="auto">
              <a:xfrm>
                <a:off x="1373" y="3067"/>
                <a:ext cx="1651" cy="303"/>
                <a:chOff x="513" y="1824"/>
                <a:chExt cx="1296" cy="240"/>
              </a:xfrm>
            </p:grpSpPr>
            <p:sp>
              <p:nvSpPr>
                <p:cNvPr id="42" name="AutoShape 96"/>
                <p:cNvSpPr>
                  <a:spLocks noChangeArrowheads="1"/>
                </p:cNvSpPr>
                <p:nvPr/>
              </p:nvSpPr>
              <p:spPr bwMode="auto">
                <a:xfrm>
                  <a:off x="1521" y="1872"/>
                  <a:ext cx="288" cy="144"/>
                </a:xfrm>
                <a:prstGeom prst="rightArrow">
                  <a:avLst>
                    <a:gd name="adj1" fmla="val 50000"/>
                    <a:gd name="adj2" fmla="val 50000"/>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43" name="Rectangle 97"/>
                <p:cNvSpPr>
                  <a:spLocks noChangeArrowheads="1"/>
                </p:cNvSpPr>
                <p:nvPr/>
              </p:nvSpPr>
              <p:spPr bwMode="auto">
                <a:xfrm>
                  <a:off x="513" y="1824"/>
                  <a:ext cx="1008" cy="240"/>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dirty="0">
                      <a:latin typeface="微软雅黑 Light" panose="020B0502040204020203" pitchFamily="34" charset="-122"/>
                      <a:ea typeface="微软雅黑 Light" panose="020B0502040204020203" pitchFamily="34" charset="-122"/>
                    </a:rPr>
                    <a:t>HTTP </a:t>
                  </a:r>
                  <a:r>
                    <a:rPr kumimoji="1" lang="zh-CN" altLang="en-US" sz="1600" dirty="0">
                      <a:latin typeface="微软雅黑 Light" panose="020B0502040204020203" pitchFamily="34" charset="-122"/>
                      <a:ea typeface="微软雅黑 Light" panose="020B0502040204020203" pitchFamily="34" charset="-122"/>
                    </a:rPr>
                    <a:t>请求报文</a:t>
                  </a:r>
                  <a:endParaRPr kumimoji="1" lang="zh-CN" altLang="en-US" sz="1600" dirty="0">
                    <a:latin typeface="微软雅黑 Light" panose="020B0502040204020203" pitchFamily="34" charset="-122"/>
                    <a:ea typeface="微软雅黑 Light" panose="020B0502040204020203" pitchFamily="34" charset="-122"/>
                  </a:endParaRPr>
                </a:p>
              </p:txBody>
            </p:sp>
          </p:grpSp>
          <p:sp>
            <p:nvSpPr>
              <p:cNvPr id="41" name="Text Box 114"/>
              <p:cNvSpPr txBox="1">
                <a:spLocks noChangeArrowheads="1"/>
              </p:cNvSpPr>
              <p:nvPr/>
            </p:nvSpPr>
            <p:spPr bwMode="auto">
              <a:xfrm>
                <a:off x="300" y="3009"/>
                <a:ext cx="850"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dirty="0">
                    <a:solidFill>
                      <a:srgbClr val="000099"/>
                    </a:solidFill>
                    <a:latin typeface="微软雅黑 Light" panose="020B0502040204020203" pitchFamily="34" charset="-122"/>
                    <a:ea typeface="微软雅黑 Light" panose="020B0502040204020203" pitchFamily="34" charset="-122"/>
                    <a:sym typeface="Wingdings" panose="05000000000000000000" pitchFamily="2" charset="2"/>
                  </a:rPr>
                  <a:t>浏览器</a:t>
                </a:r>
                <a:endParaRPr kumimoji="1" lang="en-US" altLang="zh-CN" sz="1600" dirty="0">
                  <a:solidFill>
                    <a:srgbClr val="000099"/>
                  </a:solidFill>
                  <a:latin typeface="微软雅黑 Light" panose="020B0502040204020203" pitchFamily="34" charset="-122"/>
                  <a:ea typeface="微软雅黑 Light" panose="020B0502040204020203" pitchFamily="34" charset="-122"/>
                  <a:sym typeface="Wingdings" panose="05000000000000000000" pitchFamily="2" charset="2"/>
                </a:endParaRPr>
              </a:p>
              <a:p>
                <a:pPr algn="ctr" eaLnBrk="1" hangingPunct="1"/>
                <a:r>
                  <a:rPr kumimoji="1" lang="zh-CN" altLang="en-US" sz="1600" dirty="0">
                    <a:solidFill>
                      <a:srgbClr val="000099"/>
                    </a:solidFill>
                    <a:latin typeface="微软雅黑 Light" panose="020B0502040204020203" pitchFamily="34" charset="-122"/>
                    <a:ea typeface="微软雅黑 Light" panose="020B0502040204020203" pitchFamily="34" charset="-122"/>
                    <a:sym typeface="Wingdings" panose="05000000000000000000" pitchFamily="2" charset="2"/>
                  </a:rPr>
                  <a:t>发出</a:t>
                </a:r>
                <a:r>
                  <a:rPr kumimoji="1" lang="zh-CN" altLang="en-US" sz="1600" dirty="0">
                    <a:solidFill>
                      <a:srgbClr val="000099"/>
                    </a:solidFill>
                    <a:latin typeface="微软雅黑 Light" panose="020B0502040204020203" pitchFamily="34" charset="-122"/>
                    <a:ea typeface="微软雅黑 Light" panose="020B0502040204020203" pitchFamily="34" charset="-122"/>
                  </a:rPr>
                  <a:t>请求</a:t>
                </a:r>
                <a:endParaRPr kumimoji="1" lang="zh-CN" altLang="en-US" sz="1600" dirty="0">
                  <a:solidFill>
                    <a:srgbClr val="000099"/>
                  </a:solidFill>
                  <a:latin typeface="微软雅黑 Light" panose="020B0502040204020203" pitchFamily="34" charset="-122"/>
                  <a:ea typeface="微软雅黑 Light" panose="020B0502040204020203" pitchFamily="34" charset="-122"/>
                </a:endParaRPr>
              </a:p>
            </p:txBody>
          </p:sp>
        </p:grpSp>
        <p:grpSp>
          <p:nvGrpSpPr>
            <p:cNvPr id="44" name="Group 120"/>
            <p:cNvGrpSpPr/>
            <p:nvPr/>
          </p:nvGrpSpPr>
          <p:grpSpPr bwMode="auto">
            <a:xfrm>
              <a:off x="4187339" y="5266995"/>
              <a:ext cx="3832891" cy="338519"/>
              <a:chOff x="1149" y="3884"/>
              <a:chExt cx="3240" cy="310"/>
            </a:xfrm>
          </p:grpSpPr>
          <p:sp>
            <p:nvSpPr>
              <p:cNvPr id="45" name="Line 106"/>
              <p:cNvSpPr>
                <a:spLocks noChangeShapeType="1"/>
              </p:cNvSpPr>
              <p:nvPr/>
            </p:nvSpPr>
            <p:spPr bwMode="auto">
              <a:xfrm>
                <a:off x="1149" y="4012"/>
                <a:ext cx="3240" cy="0"/>
              </a:xfrm>
              <a:prstGeom prst="line">
                <a:avLst/>
              </a:prstGeom>
              <a:noFill/>
              <a:ln w="28575">
                <a:solidFill>
                  <a:srgbClr val="0000FF"/>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latin typeface="微软雅黑 Light" panose="020B0502040204020203" pitchFamily="34" charset="-122"/>
                  <a:ea typeface="微软雅黑 Light" panose="020B0502040204020203" pitchFamily="34" charset="-122"/>
                </a:endParaRPr>
              </a:p>
            </p:txBody>
          </p:sp>
          <p:sp>
            <p:nvSpPr>
              <p:cNvPr id="46" name="Text Box 107"/>
              <p:cNvSpPr txBox="1">
                <a:spLocks noChangeArrowheads="1"/>
              </p:cNvSpPr>
              <p:nvPr/>
            </p:nvSpPr>
            <p:spPr bwMode="auto">
              <a:xfrm>
                <a:off x="2176" y="3884"/>
                <a:ext cx="1266" cy="3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dirty="0">
                    <a:latin typeface="微软雅黑 Light" panose="020B0502040204020203" pitchFamily="34" charset="-122"/>
                    <a:ea typeface="微软雅黑 Light" panose="020B0502040204020203" pitchFamily="34" charset="-122"/>
                  </a:rPr>
                  <a:t>释放 </a:t>
                </a:r>
                <a:r>
                  <a:rPr kumimoji="1" lang="en-US" altLang="zh-CN" sz="1600" dirty="0">
                    <a:latin typeface="微软雅黑 Light" panose="020B0502040204020203" pitchFamily="34" charset="-122"/>
                    <a:ea typeface="微软雅黑 Light" panose="020B0502040204020203" pitchFamily="34" charset="-122"/>
                  </a:rPr>
                  <a:t>TCP </a:t>
                </a:r>
                <a:r>
                  <a:rPr kumimoji="1" lang="zh-CN" altLang="en-US" sz="1600" dirty="0">
                    <a:latin typeface="微软雅黑 Light" panose="020B0502040204020203" pitchFamily="34" charset="-122"/>
                    <a:ea typeface="微软雅黑 Light" panose="020B0502040204020203" pitchFamily="34" charset="-122"/>
                  </a:rPr>
                  <a:t>连接</a:t>
                </a:r>
                <a:endParaRPr kumimoji="1" lang="zh-CN" altLang="en-US" sz="1600" dirty="0">
                  <a:latin typeface="微软雅黑 Light" panose="020B0502040204020203" pitchFamily="34" charset="-122"/>
                  <a:ea typeface="微软雅黑 Light" panose="020B0502040204020203" pitchFamily="34" charset="-122"/>
                </a:endParaRPr>
              </a:p>
            </p:txBody>
          </p:sp>
        </p:grpSp>
        <p:grpSp>
          <p:nvGrpSpPr>
            <p:cNvPr id="47" name="组合 46"/>
            <p:cNvGrpSpPr/>
            <p:nvPr/>
          </p:nvGrpSpPr>
          <p:grpSpPr>
            <a:xfrm>
              <a:off x="4204280" y="4478183"/>
              <a:ext cx="4772919" cy="1015663"/>
              <a:chOff x="3088360" y="3449427"/>
              <a:chExt cx="3579689" cy="761747"/>
            </a:xfrm>
          </p:grpSpPr>
          <p:sp>
            <p:nvSpPr>
              <p:cNvPr id="48" name="Line 98"/>
              <p:cNvSpPr>
                <a:spLocks noChangeShapeType="1"/>
              </p:cNvSpPr>
              <p:nvPr/>
            </p:nvSpPr>
            <p:spPr bwMode="auto">
              <a:xfrm flipH="1">
                <a:off x="3088360" y="3829738"/>
                <a:ext cx="2861961" cy="0"/>
              </a:xfrm>
              <a:prstGeom prst="line">
                <a:avLst/>
              </a:prstGeom>
              <a:noFill/>
              <a:ln w="28575">
                <a:solidFill>
                  <a:srgbClr val="CC00CC"/>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49" name="Rectangle 112"/>
              <p:cNvSpPr>
                <a:spLocks noChangeArrowheads="1"/>
              </p:cNvSpPr>
              <p:nvPr/>
            </p:nvSpPr>
            <p:spPr bwMode="auto">
              <a:xfrm>
                <a:off x="5540207" y="3647403"/>
                <a:ext cx="275920" cy="3603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50" name="Text Box 109"/>
              <p:cNvSpPr txBox="1">
                <a:spLocks noChangeArrowheads="1"/>
              </p:cNvSpPr>
              <p:nvPr/>
            </p:nvSpPr>
            <p:spPr bwMode="auto">
              <a:xfrm>
                <a:off x="5913996" y="3696241"/>
                <a:ext cx="754053" cy="438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dirty="0">
                    <a:solidFill>
                      <a:srgbClr val="000099"/>
                    </a:solidFill>
                    <a:latin typeface="微软雅黑 Light" panose="020B0502040204020203" pitchFamily="34" charset="-122"/>
                    <a:ea typeface="微软雅黑 Light" panose="020B0502040204020203" pitchFamily="34" charset="-122"/>
                    <a:sym typeface="Wingdings" panose="05000000000000000000" pitchFamily="2" charset="2"/>
                  </a:rPr>
                  <a:t>服务器</a:t>
                </a:r>
                <a:endParaRPr kumimoji="1" lang="en-US" altLang="zh-CN" sz="1600" dirty="0">
                  <a:solidFill>
                    <a:srgbClr val="000099"/>
                  </a:solidFill>
                  <a:latin typeface="微软雅黑 Light" panose="020B0502040204020203" pitchFamily="34" charset="-122"/>
                  <a:ea typeface="微软雅黑 Light" panose="020B0502040204020203" pitchFamily="34" charset="-122"/>
                  <a:sym typeface="Wingdings" panose="05000000000000000000" pitchFamily="2" charset="2"/>
                </a:endParaRPr>
              </a:p>
              <a:p>
                <a:pPr algn="ctr" eaLnBrk="1" hangingPunct="1"/>
                <a:r>
                  <a:rPr kumimoji="1" lang="zh-CN" altLang="en-US" sz="1600" dirty="0">
                    <a:solidFill>
                      <a:srgbClr val="000099"/>
                    </a:solidFill>
                    <a:latin typeface="微软雅黑 Light" panose="020B0502040204020203" pitchFamily="34" charset="-122"/>
                    <a:ea typeface="微软雅黑 Light" panose="020B0502040204020203" pitchFamily="34" charset="-122"/>
                    <a:sym typeface="Wingdings" panose="05000000000000000000" pitchFamily="2" charset="2"/>
                  </a:rPr>
                  <a:t>返回</a:t>
                </a:r>
                <a:r>
                  <a:rPr kumimoji="1" lang="zh-CN" altLang="en-US" sz="1600" dirty="0">
                    <a:solidFill>
                      <a:srgbClr val="000099"/>
                    </a:solidFill>
                    <a:latin typeface="微软雅黑 Light" panose="020B0502040204020203" pitchFamily="34" charset="-122"/>
                    <a:ea typeface="微软雅黑 Light" panose="020B0502040204020203" pitchFamily="34" charset="-122"/>
                  </a:rPr>
                  <a:t>响应</a:t>
                </a:r>
                <a:endParaRPr kumimoji="1" lang="zh-CN" altLang="en-US" sz="1600" dirty="0">
                  <a:solidFill>
                    <a:srgbClr val="000099"/>
                  </a:solidFill>
                  <a:latin typeface="微软雅黑 Light" panose="020B0502040204020203" pitchFamily="34" charset="-122"/>
                  <a:ea typeface="微软雅黑 Light" panose="020B0502040204020203" pitchFamily="34" charset="-122"/>
                </a:endParaRPr>
              </a:p>
            </p:txBody>
          </p:sp>
          <p:sp>
            <p:nvSpPr>
              <p:cNvPr id="51" name="TextBox 56"/>
              <p:cNvSpPr txBox="1"/>
              <p:nvPr/>
            </p:nvSpPr>
            <p:spPr>
              <a:xfrm>
                <a:off x="5480337" y="3449427"/>
                <a:ext cx="393049" cy="761747"/>
              </a:xfrm>
              <a:prstGeom prst="rect">
                <a:avLst/>
              </a:prstGeom>
              <a:noFill/>
            </p:spPr>
            <p:txBody>
              <a:bodyPr wrap="square" rtlCol="0" anchor="ctr">
                <a:spAutoFit/>
              </a:bodyPr>
              <a:lstStyle/>
              <a:p>
                <a:pPr algn="ctr"/>
                <a:r>
                  <a:rPr kumimoji="1" lang="en-US" altLang="zh-CN" sz="6000" dirty="0">
                    <a:solidFill>
                      <a:srgbClr val="009900"/>
                    </a:solidFill>
                    <a:latin typeface="微软雅黑 Light" panose="020B0502040204020203" pitchFamily="34" charset="-122"/>
                    <a:ea typeface="微软雅黑 Light" panose="020B0502040204020203" pitchFamily="34" charset="-122"/>
                    <a:sym typeface="Wingdings" panose="05000000000000000000" pitchFamily="2" charset="2"/>
                  </a:rPr>
                  <a:t></a:t>
                </a:r>
                <a:endParaRPr lang="zh-CN" altLang="en-US" sz="6000" dirty="0">
                  <a:solidFill>
                    <a:srgbClr val="009900"/>
                  </a:solidFill>
                  <a:latin typeface="微软雅黑 Light" panose="020B0502040204020203" pitchFamily="34" charset="-122"/>
                  <a:ea typeface="微软雅黑 Light" panose="020B0502040204020203" pitchFamily="34" charset="-122"/>
                </a:endParaRPr>
              </a:p>
            </p:txBody>
          </p:sp>
          <p:grpSp>
            <p:nvGrpSpPr>
              <p:cNvPr id="52" name="Group 99"/>
              <p:cNvGrpSpPr/>
              <p:nvPr/>
            </p:nvGrpSpPr>
            <p:grpSpPr bwMode="auto">
              <a:xfrm flipH="1">
                <a:off x="4089834" y="3706069"/>
                <a:ext cx="1450373" cy="248156"/>
                <a:chOff x="903" y="1824"/>
                <a:chExt cx="1284" cy="240"/>
              </a:xfrm>
            </p:grpSpPr>
            <p:sp>
              <p:nvSpPr>
                <p:cNvPr id="53" name="AutoShape 100"/>
                <p:cNvSpPr>
                  <a:spLocks noChangeArrowheads="1"/>
                </p:cNvSpPr>
                <p:nvPr/>
              </p:nvSpPr>
              <p:spPr bwMode="auto">
                <a:xfrm>
                  <a:off x="1899" y="1872"/>
                  <a:ext cx="288" cy="144"/>
                </a:xfrm>
                <a:prstGeom prst="rightArrow">
                  <a:avLst>
                    <a:gd name="adj1" fmla="val 50000"/>
                    <a:gd name="adj2" fmla="val 50000"/>
                  </a:avLst>
                </a:prstGeom>
                <a:solidFill>
                  <a:srgbClr val="00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600">
                    <a:solidFill>
                      <a:srgbClr val="000099"/>
                    </a:solidFill>
                    <a:latin typeface="微软雅黑 Light" panose="020B0502040204020203" pitchFamily="34" charset="-122"/>
                    <a:ea typeface="微软雅黑 Light" panose="020B0502040204020203" pitchFamily="34" charset="-122"/>
                  </a:endParaRPr>
                </a:p>
              </p:txBody>
            </p:sp>
            <p:sp>
              <p:nvSpPr>
                <p:cNvPr id="54" name="Rectangle 101"/>
                <p:cNvSpPr>
                  <a:spLocks noChangeArrowheads="1"/>
                </p:cNvSpPr>
                <p:nvPr/>
              </p:nvSpPr>
              <p:spPr bwMode="auto">
                <a:xfrm>
                  <a:off x="903" y="1824"/>
                  <a:ext cx="1008" cy="240"/>
                </a:xfrm>
                <a:prstGeom prst="rect">
                  <a:avLst/>
                </a:prstGeom>
                <a:solidFill>
                  <a:srgbClr val="00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dirty="0">
                      <a:latin typeface="微软雅黑 Light" panose="020B0502040204020203" pitchFamily="34" charset="-122"/>
                      <a:ea typeface="微软雅黑 Light" panose="020B0502040204020203" pitchFamily="34" charset="-122"/>
                    </a:rPr>
                    <a:t>HTTP </a:t>
                  </a:r>
                  <a:r>
                    <a:rPr kumimoji="1" lang="zh-CN" altLang="en-US" sz="1600" dirty="0">
                      <a:latin typeface="微软雅黑 Light" panose="020B0502040204020203" pitchFamily="34" charset="-122"/>
                      <a:ea typeface="微软雅黑 Light" panose="020B0502040204020203" pitchFamily="34" charset="-122"/>
                    </a:rPr>
                    <a:t>响应报文</a:t>
                  </a:r>
                  <a:endParaRPr kumimoji="1" lang="zh-CN" altLang="en-US" sz="1600" dirty="0">
                    <a:latin typeface="微软雅黑 Light" panose="020B0502040204020203" pitchFamily="34" charset="-122"/>
                    <a:ea typeface="微软雅黑 Light" panose="020B0502040204020203" pitchFamily="34" charset="-122"/>
                  </a:endParaRPr>
                </a:p>
              </p:txBody>
            </p:sp>
          </p:grpSp>
        </p:gr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简单示例</a:t>
            </a:r>
            <a:endParaRPr lang="zh-CN" altLang="en-US" dirty="0"/>
          </a:p>
        </p:txBody>
      </p:sp>
      <p:sp>
        <p:nvSpPr>
          <p:cNvPr id="4" name="灯片编号占位符 3"/>
          <p:cNvSpPr>
            <a:spLocks noGrp="1"/>
          </p:cNvSpPr>
          <p:nvPr>
            <p:ph type="sldNum" sz="quarter" idx="12"/>
          </p:nvPr>
        </p:nvSpPr>
        <p:spPr/>
        <p:txBody>
          <a:bodyPr/>
          <a:lstStyle/>
          <a:p>
            <a:fld id="{D57F1E4F-1CFF-5643-939E-217C01CDF565}" type="slidenum">
              <a:rPr lang="en-US" smtClean="0"/>
            </a:fld>
            <a:endParaRPr 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54417" y="2152209"/>
            <a:ext cx="800426" cy="800426"/>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088576" y="2241093"/>
            <a:ext cx="668602" cy="668602"/>
          </a:xfrm>
          <a:prstGeom prst="rect">
            <a:avLst/>
          </a:prstGeom>
        </p:spPr>
      </p:pic>
      <p:sp>
        <p:nvSpPr>
          <p:cNvPr id="7" name="文本框 6"/>
          <p:cNvSpPr txBox="1"/>
          <p:nvPr/>
        </p:nvSpPr>
        <p:spPr>
          <a:xfrm>
            <a:off x="2945824" y="2930586"/>
            <a:ext cx="954108" cy="400110"/>
          </a:xfrm>
          <a:prstGeom prst="rect">
            <a:avLst/>
          </a:prstGeom>
          <a:noFill/>
        </p:spPr>
        <p:txBody>
          <a:bodyPr wrap="none" rtlCol="0">
            <a:spAutoFit/>
          </a:bodyPr>
          <a:lstStyle/>
          <a:p>
            <a:pPr algn="ctr"/>
            <a:r>
              <a:rPr lang="zh-CN" altLang="en-US"/>
              <a:t>客户端</a:t>
            </a:r>
            <a:endParaRPr lang="zh-CN" altLang="en-US"/>
          </a:p>
        </p:txBody>
      </p:sp>
      <p:sp>
        <p:nvSpPr>
          <p:cNvPr id="8" name="文本框 7"/>
          <p:cNvSpPr txBox="1"/>
          <p:nvPr/>
        </p:nvSpPr>
        <p:spPr>
          <a:xfrm>
            <a:off x="8808157" y="2952635"/>
            <a:ext cx="954108" cy="400110"/>
          </a:xfrm>
          <a:prstGeom prst="rect">
            <a:avLst/>
          </a:prstGeom>
          <a:noFill/>
        </p:spPr>
        <p:txBody>
          <a:bodyPr wrap="none" rtlCol="0">
            <a:spAutoFit/>
          </a:bodyPr>
          <a:lstStyle/>
          <a:p>
            <a:pPr algn="ctr"/>
            <a:r>
              <a:rPr lang="zh-CN" altLang="en-US"/>
              <a:t>服务器</a:t>
            </a:r>
            <a:endParaRPr lang="zh-CN" altLang="en-US"/>
          </a:p>
        </p:txBody>
      </p:sp>
      <p:sp>
        <p:nvSpPr>
          <p:cNvPr id="9" name="虚尾箭头 8"/>
          <p:cNvSpPr/>
          <p:nvPr/>
        </p:nvSpPr>
        <p:spPr>
          <a:xfrm>
            <a:off x="3911786" y="2261984"/>
            <a:ext cx="4866391" cy="290438"/>
          </a:xfrm>
          <a:prstGeom prst="stripedRightArrow">
            <a:avLst>
              <a:gd name="adj1" fmla="val 50000"/>
              <a:gd name="adj2" fmla="val 27085"/>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400">
              <a:solidFill>
                <a:schemeClr val="tx1"/>
              </a:solidFill>
            </a:endParaRPr>
          </a:p>
        </p:txBody>
      </p:sp>
      <p:sp>
        <p:nvSpPr>
          <p:cNvPr id="10" name="虚尾箭头 9"/>
          <p:cNvSpPr/>
          <p:nvPr/>
        </p:nvSpPr>
        <p:spPr>
          <a:xfrm flipH="1">
            <a:off x="3894359" y="2575394"/>
            <a:ext cx="4905452" cy="249086"/>
          </a:xfrm>
          <a:prstGeom prst="stripedRightArrow">
            <a:avLst>
              <a:gd name="adj1" fmla="val 50000"/>
              <a:gd name="adj2" fmla="val 28848"/>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400">
              <a:solidFill>
                <a:schemeClr val="tx1"/>
              </a:solidFill>
            </a:endParaRPr>
          </a:p>
        </p:txBody>
      </p:sp>
      <p:sp>
        <p:nvSpPr>
          <p:cNvPr id="11" name="文本框 10"/>
          <p:cNvSpPr txBox="1"/>
          <p:nvPr/>
        </p:nvSpPr>
        <p:spPr>
          <a:xfrm>
            <a:off x="4477084" y="1242172"/>
            <a:ext cx="3377848" cy="1169551"/>
          </a:xfrm>
          <a:prstGeom prst="rect">
            <a:avLst/>
          </a:prstGeom>
          <a:solidFill>
            <a:schemeClr val="bg1">
              <a:lumMod val="95000"/>
            </a:schemeClr>
          </a:solidFill>
          <a:ln>
            <a:solidFill>
              <a:srgbClr val="00B050"/>
            </a:solidFill>
          </a:ln>
        </p:spPr>
        <p:txBody>
          <a:bodyPr wrap="none" rtlCol="0">
            <a:spAutoFit/>
          </a:bodyPr>
          <a:lstStyle/>
          <a:p>
            <a:r>
              <a:rPr lang="en-US" altLang="zh-CN" sz="1400"/>
              <a:t>GET /tools.html HTTP/1.1</a:t>
            </a:r>
            <a:endParaRPr lang="en-US" altLang="zh-CN" sz="1400"/>
          </a:p>
          <a:p>
            <a:r>
              <a:rPr lang="en-US" altLang="zh-CN" sz="1400"/>
              <a:t>User-agent: Mozilla/5.75 [en] (Win98; U)</a:t>
            </a:r>
            <a:endParaRPr lang="en-US" altLang="zh-CN" sz="1400"/>
          </a:p>
          <a:p>
            <a:r>
              <a:rPr lang="en-US" altLang="zh-CN" sz="1400"/>
              <a:t>Host: www.test.com</a:t>
            </a:r>
            <a:endParaRPr lang="en-US" altLang="zh-CN" sz="1400"/>
          </a:p>
          <a:p>
            <a:r>
              <a:rPr lang="en-US" altLang="zh-CN" sz="1400"/>
              <a:t>Accept: text/html, image/gif, image/jpeg</a:t>
            </a:r>
            <a:endParaRPr lang="en-US" altLang="zh-CN" sz="1400"/>
          </a:p>
          <a:p>
            <a:r>
              <a:rPr lang="en-US" altLang="zh-CN" sz="1400"/>
              <a:t>Accept-language: en</a:t>
            </a:r>
            <a:endParaRPr lang="zh-CN" altLang="en-US" sz="1400"/>
          </a:p>
        </p:txBody>
      </p:sp>
      <p:sp>
        <p:nvSpPr>
          <p:cNvPr id="12" name="文本框 11"/>
          <p:cNvSpPr txBox="1"/>
          <p:nvPr/>
        </p:nvSpPr>
        <p:spPr>
          <a:xfrm>
            <a:off x="4415028" y="2718746"/>
            <a:ext cx="3978974" cy="3970318"/>
          </a:xfrm>
          <a:prstGeom prst="rect">
            <a:avLst/>
          </a:prstGeom>
          <a:solidFill>
            <a:schemeClr val="bg1">
              <a:lumMod val="95000"/>
            </a:schemeClr>
          </a:solidFill>
          <a:ln>
            <a:solidFill>
              <a:srgbClr val="0070C0"/>
            </a:solidFill>
          </a:ln>
        </p:spPr>
        <p:txBody>
          <a:bodyPr wrap="none" rtlCol="0">
            <a:spAutoFit/>
          </a:bodyPr>
          <a:lstStyle/>
          <a:p>
            <a:r>
              <a:rPr lang="en-US" altLang="zh-CN" sz="1400"/>
              <a:t>HTTP/1.1 200 OK</a:t>
            </a:r>
            <a:endParaRPr lang="en-US" altLang="zh-CN" sz="1400"/>
          </a:p>
          <a:p>
            <a:r>
              <a:rPr lang="en-US" altLang="zh-CN" sz="1400"/>
              <a:t>Date: Sun, 01 Oct 2010 21:25:00 GMT</a:t>
            </a:r>
            <a:endParaRPr lang="en-US" altLang="zh-CN" sz="1400"/>
          </a:p>
          <a:p>
            <a:r>
              <a:rPr lang="en-US" altLang="zh-CN" sz="1400"/>
              <a:t>Server: Apache/2.0 (Unix)</a:t>
            </a:r>
            <a:endParaRPr lang="en-US" altLang="zh-CN" sz="1400"/>
          </a:p>
          <a:p>
            <a:r>
              <a:rPr lang="en-US" altLang="zh-CN" sz="1400"/>
              <a:t>Last-modified: Tue, 04 Jul 2010 09:46:20 GMT</a:t>
            </a:r>
            <a:endParaRPr lang="en-US" altLang="zh-CN" sz="1400"/>
          </a:p>
          <a:p>
            <a:r>
              <a:rPr lang="en-US" altLang="zh-CN" sz="1400"/>
              <a:t>Content-type: text/html</a:t>
            </a:r>
            <a:endParaRPr lang="en-US" altLang="zh-CN" sz="1400"/>
          </a:p>
          <a:p>
            <a:r>
              <a:rPr lang="en-US" altLang="zh-CN" sz="1400"/>
              <a:t>Content-length: 405</a:t>
            </a:r>
            <a:endParaRPr lang="en-US" altLang="zh-CN" sz="1400"/>
          </a:p>
          <a:p>
            <a:r>
              <a:rPr lang="en-US" altLang="zh-CN" sz="1400"/>
              <a:t>&lt;html&gt;</a:t>
            </a:r>
            <a:endParaRPr lang="en-US" altLang="zh-CN" sz="1400"/>
          </a:p>
          <a:p>
            <a:r>
              <a:rPr lang="en-US" altLang="zh-CN" sz="1400"/>
              <a:t>&lt;head&gt;&lt;title&gt;My Tools&lt;/title&gt;&lt;/head&gt;</a:t>
            </a:r>
            <a:endParaRPr lang="en-US" altLang="zh-CN" sz="1400"/>
          </a:p>
          <a:p>
            <a:endParaRPr lang="en-US" altLang="zh-CN" sz="1400"/>
          </a:p>
          <a:p>
            <a:r>
              <a:rPr lang="en-US" altLang="zh-CN" sz="1400"/>
              <a:t>&lt;body&gt;</a:t>
            </a:r>
            <a:endParaRPr lang="en-US" altLang="zh-CN" sz="1400"/>
          </a:p>
          <a:p>
            <a:endParaRPr lang="en-US" altLang="zh-CN" sz="1400"/>
          </a:p>
          <a:p>
            <a:r>
              <a:rPr lang="en-US" altLang="zh-CN" sz="1400"/>
              <a:t>&lt;h1&gt;My Tools&lt;/h1&gt;</a:t>
            </a:r>
            <a:endParaRPr lang="en-US" altLang="zh-CN" sz="1400"/>
          </a:p>
          <a:p>
            <a:endParaRPr lang="en-US" altLang="zh-CN" sz="1400"/>
          </a:p>
          <a:p>
            <a:r>
              <a:rPr lang="en-US" altLang="zh-CN" sz="1400"/>
              <a:t>&lt;h2&gt;Hammers&lt;/h2&gt;</a:t>
            </a:r>
            <a:endParaRPr lang="en-US" altLang="zh-CN" sz="1400"/>
          </a:p>
          <a:p>
            <a:r>
              <a:rPr lang="en-US" altLang="zh-CN" sz="1400"/>
              <a:t>……</a:t>
            </a:r>
            <a:endParaRPr lang="en-US" altLang="zh-CN" sz="1400"/>
          </a:p>
          <a:p>
            <a:r>
              <a:rPr lang="en-US" altLang="zh-CN" sz="1400"/>
              <a:t>……</a:t>
            </a:r>
            <a:endParaRPr lang="en-US" altLang="zh-CN" sz="1400"/>
          </a:p>
          <a:p>
            <a:r>
              <a:rPr lang="en-US" altLang="zh-CN" sz="1400"/>
              <a:t>&lt;/body&gt;</a:t>
            </a:r>
            <a:endParaRPr lang="en-US" altLang="zh-CN" sz="1400"/>
          </a:p>
          <a:p>
            <a:r>
              <a:rPr lang="en-US" altLang="zh-CN" sz="1400"/>
              <a:t>&lt;/html&gt;</a:t>
            </a:r>
            <a:endParaRPr lang="en-US" altLang="zh-CN" sz="1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a:t>HTTP </a:t>
            </a:r>
            <a:r>
              <a:rPr lang="zh-CN" altLang="en-US" dirty="0"/>
              <a:t>发展现状</a:t>
            </a:r>
            <a:endParaRPr lang="zh-CN" altLang="en-US" dirty="0"/>
          </a:p>
        </p:txBody>
      </p:sp>
      <p:sp>
        <p:nvSpPr>
          <p:cNvPr id="3" name="内容占位符 2"/>
          <p:cNvSpPr>
            <a:spLocks noGrp="1"/>
          </p:cNvSpPr>
          <p:nvPr>
            <p:ph sz="half" idx="1"/>
          </p:nvPr>
        </p:nvSpPr>
        <p:spPr/>
        <p:txBody>
          <a:bodyPr>
            <a:normAutofit/>
          </a:bodyPr>
          <a:lstStyle/>
          <a:p>
            <a:r>
              <a:rPr lang="en-US" altLang="zh-CN" dirty="0"/>
              <a:t>HTTP/1.0</a:t>
            </a:r>
            <a:r>
              <a:rPr lang="zh-CN" altLang="en-US" dirty="0"/>
              <a:t>（</a:t>
            </a:r>
            <a:r>
              <a:rPr lang="en-US" altLang="zh-CN" dirty="0"/>
              <a:t>1996</a:t>
            </a:r>
            <a:r>
              <a:rPr lang="zh-CN" altLang="en-US" dirty="0"/>
              <a:t>）</a:t>
            </a:r>
            <a:endParaRPr lang="zh-CN" altLang="en-US" dirty="0"/>
          </a:p>
          <a:p>
            <a:pPr lvl="1"/>
            <a:r>
              <a:rPr lang="zh-CN" altLang="en-US" dirty="0"/>
              <a:t>无状态，非持久连接</a:t>
            </a:r>
            <a:endParaRPr lang="zh-CN" altLang="en-US" dirty="0"/>
          </a:p>
          <a:p>
            <a:r>
              <a:rPr lang="zh-CN" altLang="en-US" dirty="0"/>
              <a:t>与</a:t>
            </a:r>
            <a:r>
              <a:rPr lang="en-US" altLang="zh-CN" dirty="0"/>
              <a:t>HTTP/1.1</a:t>
            </a:r>
            <a:r>
              <a:rPr lang="zh-CN" altLang="en-US" dirty="0"/>
              <a:t>（</a:t>
            </a:r>
            <a:r>
              <a:rPr lang="en-US" altLang="zh-CN" dirty="0"/>
              <a:t>1999</a:t>
            </a:r>
            <a:r>
              <a:rPr lang="zh-CN" altLang="en-US" dirty="0"/>
              <a:t>）</a:t>
            </a:r>
            <a:endParaRPr lang="zh-CN" altLang="en-US" dirty="0"/>
          </a:p>
          <a:p>
            <a:pPr lvl="1"/>
            <a:r>
              <a:rPr lang="zh-CN" altLang="en-US" dirty="0"/>
              <a:t>支持长连接和流水线机制</a:t>
            </a:r>
            <a:endParaRPr lang="zh-CN" altLang="en-US" dirty="0"/>
          </a:p>
          <a:p>
            <a:pPr lvl="1"/>
            <a:r>
              <a:rPr lang="zh-CN" altLang="en-US" dirty="0"/>
              <a:t>缓存策略优化、部分资源请求及断点续传</a:t>
            </a:r>
            <a:endParaRPr lang="zh-CN" altLang="en-US" dirty="0"/>
          </a:p>
          <a:p>
            <a:endParaRPr lang="zh-CN" altLang="en-US" dirty="0"/>
          </a:p>
        </p:txBody>
      </p:sp>
      <p:sp>
        <p:nvSpPr>
          <p:cNvPr id="10" name="内容占位符 9"/>
          <p:cNvSpPr>
            <a:spLocks noGrp="1"/>
          </p:cNvSpPr>
          <p:nvPr>
            <p:ph sz="half" idx="2"/>
          </p:nvPr>
        </p:nvSpPr>
        <p:spPr/>
        <p:txBody>
          <a:bodyPr>
            <a:normAutofit/>
          </a:bodyPr>
          <a:lstStyle/>
          <a:p>
            <a:r>
              <a:rPr lang="en-US" altLang="zh-CN" dirty="0"/>
              <a:t>HTTPS</a:t>
            </a:r>
            <a:r>
              <a:rPr lang="zh-CN" altLang="en-US" dirty="0"/>
              <a:t>：</a:t>
            </a:r>
            <a:r>
              <a:rPr lang="en-US" altLang="zh-CN" dirty="0"/>
              <a:t>HTTP+TLS</a:t>
            </a:r>
            <a:r>
              <a:rPr lang="zh-CN" altLang="en-US" dirty="0"/>
              <a:t>（</a:t>
            </a:r>
            <a:r>
              <a:rPr lang="en-US" altLang="zh-CN" dirty="0"/>
              <a:t>2008</a:t>
            </a:r>
            <a:r>
              <a:rPr lang="zh-CN" altLang="en-US" dirty="0"/>
              <a:t>）</a:t>
            </a:r>
            <a:endParaRPr lang="zh-CN" altLang="en-US" dirty="0"/>
          </a:p>
          <a:p>
            <a:pPr lvl="1"/>
            <a:r>
              <a:rPr lang="zh-CN" altLang="en-US" dirty="0"/>
              <a:t>增加</a:t>
            </a:r>
            <a:r>
              <a:rPr lang="en-US" altLang="zh-CN" dirty="0"/>
              <a:t>SSL/TLS</a:t>
            </a:r>
            <a:r>
              <a:rPr lang="zh-CN" altLang="en-US" dirty="0"/>
              <a:t>（</a:t>
            </a:r>
            <a:r>
              <a:rPr lang="en-US" altLang="zh-CN" dirty="0"/>
              <a:t>TLS 1.2</a:t>
            </a:r>
            <a:r>
              <a:rPr lang="zh-CN" altLang="en-US" dirty="0"/>
              <a:t>）层，在</a:t>
            </a:r>
            <a:r>
              <a:rPr lang="en-US" altLang="zh-CN" dirty="0"/>
              <a:t>TCP</a:t>
            </a:r>
            <a:r>
              <a:rPr lang="zh-CN" altLang="en-US" dirty="0"/>
              <a:t>之上提供安全机制</a:t>
            </a:r>
            <a:endParaRPr lang="zh-CN" altLang="en-US" dirty="0"/>
          </a:p>
          <a:p>
            <a:r>
              <a:rPr lang="en-US" altLang="zh-CN" dirty="0"/>
              <a:t>HTTP/2.0</a:t>
            </a:r>
            <a:r>
              <a:rPr lang="zh-CN" altLang="en-US" dirty="0"/>
              <a:t>（</a:t>
            </a:r>
            <a:r>
              <a:rPr lang="en-US" altLang="zh-CN" dirty="0"/>
              <a:t>2015</a:t>
            </a:r>
            <a:r>
              <a:rPr lang="zh-CN" altLang="en-US" dirty="0"/>
              <a:t>、</a:t>
            </a:r>
            <a:r>
              <a:rPr lang="en-US" altLang="zh-CN" dirty="0"/>
              <a:t>2020</a:t>
            </a:r>
            <a:r>
              <a:rPr lang="zh-CN" altLang="en-US" dirty="0"/>
              <a:t>）</a:t>
            </a:r>
            <a:endParaRPr lang="zh-CN" altLang="en-US" dirty="0"/>
          </a:p>
          <a:p>
            <a:pPr lvl="1"/>
            <a:r>
              <a:rPr lang="zh-CN" altLang="en-US" dirty="0"/>
              <a:t>目标：提高带宽利用率、降低延迟</a:t>
            </a:r>
            <a:endParaRPr lang="zh-CN" altLang="en-US" dirty="0"/>
          </a:p>
          <a:p>
            <a:pPr lvl="1"/>
            <a:r>
              <a:rPr lang="zh-CN" altLang="en-US" dirty="0"/>
              <a:t>增加二进制格式、</a:t>
            </a:r>
            <a:r>
              <a:rPr lang="en-US" altLang="zh-CN" dirty="0"/>
              <a:t>TCP</a:t>
            </a:r>
            <a:r>
              <a:rPr lang="zh-CN" altLang="en-US" dirty="0"/>
              <a:t>多路复用、头压缩、服务端推送等功能</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6" name="图片 5"/>
          <p:cNvPicPr>
            <a:picLocks noChangeAspect="1"/>
          </p:cNvPicPr>
          <p:nvPr/>
        </p:nvPicPr>
        <p:blipFill>
          <a:blip r:embed="rId1"/>
          <a:stretch>
            <a:fillRect/>
          </a:stretch>
        </p:blipFill>
        <p:spPr>
          <a:xfrm>
            <a:off x="2618991" y="4268017"/>
            <a:ext cx="6782184" cy="2306219"/>
          </a:xfrm>
          <a:prstGeom prst="rect">
            <a:avLst/>
          </a:prstGeom>
        </p:spPr>
      </p:pic>
      <p:sp>
        <p:nvSpPr>
          <p:cNvPr id="7" name="矩形 6"/>
          <p:cNvSpPr/>
          <p:nvPr/>
        </p:nvSpPr>
        <p:spPr>
          <a:xfrm>
            <a:off x="2587625" y="4717910"/>
            <a:ext cx="1663111" cy="128184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Light" panose="020B0502040204020203" pitchFamily="34" charset="-122"/>
              <a:ea typeface="微软雅黑 Light" panose="020B0502040204020203" pitchFamily="34" charset="-122"/>
            </a:endParaRPr>
          </a:p>
        </p:txBody>
      </p:sp>
      <p:sp>
        <p:nvSpPr>
          <p:cNvPr id="8" name="矩形 7"/>
          <p:cNvSpPr/>
          <p:nvPr/>
        </p:nvSpPr>
        <p:spPr>
          <a:xfrm>
            <a:off x="4320596" y="4251406"/>
            <a:ext cx="1663111" cy="1749044"/>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5"/>
          <p:cNvSpPr>
            <a:spLocks noGrp="1"/>
          </p:cNvSpPr>
          <p:nvPr>
            <p:ph type="sldNum" sz="quarter" idx="12"/>
          </p:nvPr>
        </p:nvSpPr>
        <p:spPr/>
        <p:txBody>
          <a:bodyPr/>
          <a:lstStyle/>
          <a:p>
            <a:fld id="{AE79F26F-C8DD-449E-82FC-2C3E961F1841}" type="slidenum">
              <a:rPr lang="en-US" altLang="zh-CN"/>
            </a:fld>
            <a:endParaRPr lang="en-US" altLang="zh-CN"/>
          </a:p>
        </p:txBody>
      </p:sp>
      <p:sp>
        <p:nvSpPr>
          <p:cNvPr id="372748" name="Rectangle 12"/>
          <p:cNvSpPr>
            <a:spLocks noChangeArrowheads="1"/>
          </p:cNvSpPr>
          <p:nvPr/>
        </p:nvSpPr>
        <p:spPr bwMode="auto">
          <a:xfrm>
            <a:off x="3176589" y="1196976"/>
            <a:ext cx="6048375" cy="4608513"/>
          </a:xfrm>
          <a:prstGeom prst="rect">
            <a:avLst/>
          </a:prstGeom>
          <a:solidFill>
            <a:srgbClr val="EAEAEA"/>
          </a:solidFill>
          <a:ln w="9525" algn="ctr">
            <a:solidFill>
              <a:srgbClr val="EAEAEA"/>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72738" name="Rectangle 2"/>
          <p:cNvSpPr>
            <a:spLocks noGrp="1" noChangeArrowheads="1"/>
          </p:cNvSpPr>
          <p:nvPr>
            <p:ph type="title"/>
          </p:nvPr>
        </p:nvSpPr>
        <p:spPr/>
        <p:txBody>
          <a:bodyPr/>
          <a:lstStyle/>
          <a:p>
            <a:r>
              <a:rPr lang="zh-CN" altLang="en-US" dirty="0"/>
              <a:t>浏览器结构</a:t>
            </a:r>
            <a:endParaRPr lang="zh-CN" altLang="en-US" dirty="0"/>
          </a:p>
        </p:txBody>
      </p:sp>
      <p:sp>
        <p:nvSpPr>
          <p:cNvPr id="372740" name="Rectangle 4"/>
          <p:cNvSpPr>
            <a:spLocks noChangeArrowheads="1"/>
          </p:cNvSpPr>
          <p:nvPr/>
        </p:nvSpPr>
        <p:spPr bwMode="auto">
          <a:xfrm>
            <a:off x="3752850" y="1484313"/>
            <a:ext cx="1944688" cy="1223962"/>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200">
                <a:latin typeface="微软雅黑 Light" panose="020B0502040204020203" pitchFamily="34" charset="-122"/>
                <a:ea typeface="微软雅黑 Light" panose="020B0502040204020203" pitchFamily="34" charset="-122"/>
              </a:rPr>
              <a:t>控制器</a:t>
            </a:r>
            <a:endParaRPr lang="zh-CN" altLang="en-US" sz="3200">
              <a:latin typeface="微软雅黑 Light" panose="020B0502040204020203" pitchFamily="34" charset="-122"/>
              <a:ea typeface="微软雅黑 Light" panose="020B0502040204020203" pitchFamily="34" charset="-122"/>
            </a:endParaRPr>
          </a:p>
        </p:txBody>
      </p:sp>
      <p:sp>
        <p:nvSpPr>
          <p:cNvPr id="372741" name="Rectangle 5"/>
          <p:cNvSpPr>
            <a:spLocks noChangeArrowheads="1"/>
          </p:cNvSpPr>
          <p:nvPr/>
        </p:nvSpPr>
        <p:spPr bwMode="auto">
          <a:xfrm>
            <a:off x="6561138" y="1484313"/>
            <a:ext cx="1511300" cy="863600"/>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微软雅黑 Light" panose="020B0502040204020203" pitchFamily="34" charset="-122"/>
                <a:ea typeface="微软雅黑 Light" panose="020B0502040204020203" pitchFamily="34" charset="-122"/>
              </a:rPr>
              <a:t>HTML</a:t>
            </a:r>
            <a:endParaRPr lang="en-US" altLang="zh-CN" sz="2400">
              <a:latin typeface="微软雅黑 Light" panose="020B0502040204020203" pitchFamily="34" charset="-122"/>
              <a:ea typeface="微软雅黑 Light" panose="020B0502040204020203" pitchFamily="34" charset="-122"/>
            </a:endParaRPr>
          </a:p>
          <a:p>
            <a:pPr algn="ctr"/>
            <a:r>
              <a:rPr lang="zh-CN" altLang="en-US" sz="2400">
                <a:latin typeface="微软雅黑 Light" panose="020B0502040204020203" pitchFamily="34" charset="-122"/>
                <a:ea typeface="微软雅黑 Light" panose="020B0502040204020203" pitchFamily="34" charset="-122"/>
              </a:rPr>
              <a:t>解释器</a:t>
            </a:r>
            <a:endParaRPr lang="zh-CN" altLang="en-US" sz="2400">
              <a:latin typeface="微软雅黑 Light" panose="020B0502040204020203" pitchFamily="34" charset="-122"/>
              <a:ea typeface="微软雅黑 Light" panose="020B0502040204020203" pitchFamily="34" charset="-122"/>
            </a:endParaRPr>
          </a:p>
        </p:txBody>
      </p:sp>
      <p:sp>
        <p:nvSpPr>
          <p:cNvPr id="372742" name="Rectangle 6"/>
          <p:cNvSpPr>
            <a:spLocks noChangeArrowheads="1"/>
          </p:cNvSpPr>
          <p:nvPr/>
        </p:nvSpPr>
        <p:spPr bwMode="auto">
          <a:xfrm>
            <a:off x="6561138" y="2563813"/>
            <a:ext cx="1511300" cy="863600"/>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其它</a:t>
            </a:r>
            <a:endParaRPr lang="zh-CN" altLang="en-US" sz="2400">
              <a:latin typeface="微软雅黑 Light" panose="020B0502040204020203" pitchFamily="34" charset="-122"/>
              <a:ea typeface="微软雅黑 Light" panose="020B0502040204020203" pitchFamily="34" charset="-122"/>
            </a:endParaRPr>
          </a:p>
          <a:p>
            <a:pPr algn="ctr"/>
            <a:r>
              <a:rPr lang="zh-CN" altLang="en-US" sz="2400">
                <a:latin typeface="微软雅黑 Light" panose="020B0502040204020203" pitchFamily="34" charset="-122"/>
                <a:ea typeface="微软雅黑 Light" panose="020B0502040204020203" pitchFamily="34" charset="-122"/>
              </a:rPr>
              <a:t>解释器</a:t>
            </a:r>
            <a:endParaRPr lang="zh-CN" altLang="en-US" sz="2400">
              <a:latin typeface="微软雅黑 Light" panose="020B0502040204020203" pitchFamily="34" charset="-122"/>
              <a:ea typeface="微软雅黑 Light" panose="020B0502040204020203" pitchFamily="34" charset="-122"/>
            </a:endParaRPr>
          </a:p>
        </p:txBody>
      </p:sp>
      <p:sp>
        <p:nvSpPr>
          <p:cNvPr id="372743" name="Rectangle 7"/>
          <p:cNvSpPr>
            <a:spLocks noChangeArrowheads="1"/>
          </p:cNvSpPr>
          <p:nvPr/>
        </p:nvSpPr>
        <p:spPr bwMode="auto">
          <a:xfrm>
            <a:off x="3321050" y="3716339"/>
            <a:ext cx="1657350" cy="720725"/>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微软雅黑 Light" panose="020B0502040204020203" pitchFamily="34" charset="-122"/>
                <a:ea typeface="微软雅黑 Light" panose="020B0502040204020203" pitchFamily="34" charset="-122"/>
              </a:rPr>
              <a:t>HTML</a:t>
            </a:r>
            <a:r>
              <a:rPr lang="zh-CN" altLang="en-US" sz="2400">
                <a:latin typeface="微软雅黑 Light" panose="020B0502040204020203" pitchFamily="34" charset="-122"/>
                <a:ea typeface="微软雅黑 Light" panose="020B0502040204020203" pitchFamily="34" charset="-122"/>
              </a:rPr>
              <a:t>客户</a:t>
            </a:r>
            <a:endParaRPr lang="zh-CN" altLang="en-US" sz="2400">
              <a:latin typeface="微软雅黑 Light" panose="020B0502040204020203" pitchFamily="34" charset="-122"/>
              <a:ea typeface="微软雅黑 Light" panose="020B0502040204020203" pitchFamily="34" charset="-122"/>
            </a:endParaRPr>
          </a:p>
        </p:txBody>
      </p:sp>
      <p:sp>
        <p:nvSpPr>
          <p:cNvPr id="372745" name="Rectangle 9"/>
          <p:cNvSpPr>
            <a:spLocks noChangeArrowheads="1"/>
          </p:cNvSpPr>
          <p:nvPr/>
        </p:nvSpPr>
        <p:spPr bwMode="auto">
          <a:xfrm>
            <a:off x="5194300" y="3716339"/>
            <a:ext cx="1657350" cy="720725"/>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其它客户</a:t>
            </a:r>
            <a:endParaRPr lang="zh-CN" altLang="en-US" sz="2400">
              <a:latin typeface="微软雅黑 Light" panose="020B0502040204020203" pitchFamily="34" charset="-122"/>
              <a:ea typeface="微软雅黑 Light" panose="020B0502040204020203" pitchFamily="34" charset="-122"/>
            </a:endParaRPr>
          </a:p>
        </p:txBody>
      </p:sp>
      <p:sp>
        <p:nvSpPr>
          <p:cNvPr id="372746" name="Rectangle 10"/>
          <p:cNvSpPr>
            <a:spLocks noChangeArrowheads="1"/>
          </p:cNvSpPr>
          <p:nvPr/>
        </p:nvSpPr>
        <p:spPr bwMode="auto">
          <a:xfrm>
            <a:off x="3321051" y="4868864"/>
            <a:ext cx="3529013" cy="720725"/>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网络接口</a:t>
            </a:r>
            <a:endParaRPr lang="zh-CN" altLang="en-US" sz="2400">
              <a:latin typeface="微软雅黑 Light" panose="020B0502040204020203" pitchFamily="34" charset="-122"/>
              <a:ea typeface="微软雅黑 Light" panose="020B0502040204020203" pitchFamily="34" charset="-122"/>
            </a:endParaRPr>
          </a:p>
        </p:txBody>
      </p:sp>
      <p:sp>
        <p:nvSpPr>
          <p:cNvPr id="372747" name="Rectangle 11"/>
          <p:cNvSpPr>
            <a:spLocks noChangeArrowheads="1"/>
          </p:cNvSpPr>
          <p:nvPr/>
        </p:nvSpPr>
        <p:spPr bwMode="auto">
          <a:xfrm>
            <a:off x="8434388" y="1339850"/>
            <a:ext cx="576262" cy="2305050"/>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驱</a:t>
            </a:r>
            <a:endParaRPr lang="zh-CN" altLang="en-US" sz="2400">
              <a:latin typeface="微软雅黑 Light" panose="020B0502040204020203" pitchFamily="34" charset="-122"/>
              <a:ea typeface="微软雅黑 Light" panose="020B0502040204020203" pitchFamily="34" charset="-122"/>
            </a:endParaRPr>
          </a:p>
          <a:p>
            <a:pPr algn="ctr"/>
            <a:r>
              <a:rPr lang="zh-CN" altLang="en-US" sz="2400">
                <a:latin typeface="微软雅黑 Light" panose="020B0502040204020203" pitchFamily="34" charset="-122"/>
                <a:ea typeface="微软雅黑 Light" panose="020B0502040204020203" pitchFamily="34" charset="-122"/>
              </a:rPr>
              <a:t>动</a:t>
            </a:r>
            <a:endParaRPr lang="zh-CN" altLang="en-US" sz="2400">
              <a:latin typeface="微软雅黑 Light" panose="020B0502040204020203" pitchFamily="34" charset="-122"/>
              <a:ea typeface="微软雅黑 Light" panose="020B0502040204020203" pitchFamily="34" charset="-122"/>
            </a:endParaRPr>
          </a:p>
          <a:p>
            <a:pPr algn="ctr"/>
            <a:r>
              <a:rPr lang="zh-CN" altLang="en-US" sz="2400">
                <a:latin typeface="微软雅黑 Light" panose="020B0502040204020203" pitchFamily="34" charset="-122"/>
                <a:ea typeface="微软雅黑 Light" panose="020B0502040204020203" pitchFamily="34" charset="-122"/>
              </a:rPr>
              <a:t>软</a:t>
            </a:r>
            <a:endParaRPr lang="zh-CN" altLang="en-US" sz="2400">
              <a:latin typeface="微软雅黑 Light" panose="020B0502040204020203" pitchFamily="34" charset="-122"/>
              <a:ea typeface="微软雅黑 Light" panose="020B0502040204020203" pitchFamily="34" charset="-122"/>
            </a:endParaRPr>
          </a:p>
          <a:p>
            <a:pPr algn="ctr"/>
            <a:r>
              <a:rPr lang="zh-CN" altLang="en-US" sz="2400">
                <a:latin typeface="微软雅黑 Light" panose="020B0502040204020203" pitchFamily="34" charset="-122"/>
                <a:ea typeface="微软雅黑 Light" panose="020B0502040204020203" pitchFamily="34" charset="-122"/>
              </a:rPr>
              <a:t>件</a:t>
            </a:r>
            <a:endParaRPr lang="zh-CN" altLang="en-US" sz="2400">
              <a:latin typeface="微软雅黑 Light" panose="020B0502040204020203" pitchFamily="34" charset="-122"/>
              <a:ea typeface="微软雅黑 Light" panose="020B0502040204020203" pitchFamily="34" charset="-122"/>
            </a:endParaRPr>
          </a:p>
        </p:txBody>
      </p:sp>
      <p:sp>
        <p:nvSpPr>
          <p:cNvPr id="372749" name="Text Box 13"/>
          <p:cNvSpPr txBox="1">
            <a:spLocks noChangeArrowheads="1"/>
          </p:cNvSpPr>
          <p:nvPr/>
        </p:nvSpPr>
        <p:spPr bwMode="auto">
          <a:xfrm>
            <a:off x="1709738" y="1628775"/>
            <a:ext cx="12509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latin typeface="微软雅黑 Light" panose="020B0502040204020203" pitchFamily="34" charset="-122"/>
                <a:ea typeface="微软雅黑 Light" panose="020B0502040204020203" pitchFamily="34" charset="-122"/>
              </a:rPr>
              <a:t>键盘鼠</a:t>
            </a:r>
            <a:endParaRPr lang="zh-CN" altLang="en-US" sz="2800">
              <a:latin typeface="微软雅黑 Light" panose="020B0502040204020203" pitchFamily="34" charset="-122"/>
              <a:ea typeface="微软雅黑 Light" panose="020B0502040204020203" pitchFamily="34" charset="-122"/>
            </a:endParaRPr>
          </a:p>
          <a:p>
            <a:r>
              <a:rPr lang="zh-CN" altLang="en-US" sz="2800">
                <a:latin typeface="微软雅黑 Light" panose="020B0502040204020203" pitchFamily="34" charset="-122"/>
                <a:ea typeface="微软雅黑 Light" panose="020B0502040204020203" pitchFamily="34" charset="-122"/>
              </a:rPr>
              <a:t>标输入</a:t>
            </a:r>
            <a:endParaRPr lang="zh-CN" altLang="en-US" sz="2800">
              <a:latin typeface="微软雅黑 Light" panose="020B0502040204020203" pitchFamily="34" charset="-122"/>
              <a:ea typeface="微软雅黑 Light" panose="020B0502040204020203" pitchFamily="34" charset="-122"/>
            </a:endParaRPr>
          </a:p>
        </p:txBody>
      </p:sp>
      <p:sp>
        <p:nvSpPr>
          <p:cNvPr id="372750" name="AutoShape 14"/>
          <p:cNvSpPr>
            <a:spLocks noChangeArrowheads="1"/>
          </p:cNvSpPr>
          <p:nvPr/>
        </p:nvSpPr>
        <p:spPr bwMode="auto">
          <a:xfrm>
            <a:off x="2960689" y="1916113"/>
            <a:ext cx="719137" cy="431800"/>
          </a:xfrm>
          <a:prstGeom prst="rightArrow">
            <a:avLst>
              <a:gd name="adj1" fmla="val 50000"/>
              <a:gd name="adj2" fmla="val 41636"/>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72751" name="AutoShape 15"/>
          <p:cNvSpPr>
            <a:spLocks noChangeArrowheads="1"/>
          </p:cNvSpPr>
          <p:nvPr/>
        </p:nvSpPr>
        <p:spPr bwMode="auto">
          <a:xfrm>
            <a:off x="9080500" y="2133600"/>
            <a:ext cx="433388" cy="431800"/>
          </a:xfrm>
          <a:prstGeom prst="rightArrow">
            <a:avLst>
              <a:gd name="adj1" fmla="val 50000"/>
              <a:gd name="adj2" fmla="val 25092"/>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72752" name="Text Box 16"/>
          <p:cNvSpPr txBox="1">
            <a:spLocks noChangeArrowheads="1"/>
          </p:cNvSpPr>
          <p:nvPr/>
        </p:nvSpPr>
        <p:spPr bwMode="auto">
          <a:xfrm>
            <a:off x="9521825" y="1844675"/>
            <a:ext cx="8953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latin typeface="微软雅黑 Light" panose="020B0502040204020203" pitchFamily="34" charset="-122"/>
                <a:ea typeface="微软雅黑 Light" panose="020B0502040204020203" pitchFamily="34" charset="-122"/>
              </a:rPr>
              <a:t>显示</a:t>
            </a:r>
            <a:endParaRPr lang="zh-CN" altLang="en-US" sz="2800">
              <a:latin typeface="微软雅黑 Light" panose="020B0502040204020203" pitchFamily="34" charset="-122"/>
              <a:ea typeface="微软雅黑 Light" panose="020B0502040204020203" pitchFamily="34" charset="-122"/>
            </a:endParaRPr>
          </a:p>
          <a:p>
            <a:r>
              <a:rPr lang="zh-CN" altLang="en-US" sz="2800">
                <a:latin typeface="微软雅黑 Light" panose="020B0502040204020203" pitchFamily="34" charset="-122"/>
                <a:ea typeface="微软雅黑 Light" panose="020B0502040204020203" pitchFamily="34" charset="-122"/>
              </a:rPr>
              <a:t>输出</a:t>
            </a:r>
            <a:endParaRPr lang="zh-CN" altLang="en-US" sz="2800">
              <a:latin typeface="微软雅黑 Light" panose="020B0502040204020203" pitchFamily="34" charset="-122"/>
              <a:ea typeface="微软雅黑 Light" panose="020B0502040204020203" pitchFamily="34" charset="-122"/>
            </a:endParaRPr>
          </a:p>
        </p:txBody>
      </p:sp>
      <p:sp>
        <p:nvSpPr>
          <p:cNvPr id="372753" name="Line 17"/>
          <p:cNvSpPr>
            <a:spLocks noChangeShapeType="1"/>
          </p:cNvSpPr>
          <p:nvPr/>
        </p:nvSpPr>
        <p:spPr bwMode="auto">
          <a:xfrm>
            <a:off x="5121275" y="5661025"/>
            <a:ext cx="0" cy="4318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54" name="Line 18"/>
          <p:cNvSpPr>
            <a:spLocks noChangeShapeType="1"/>
          </p:cNvSpPr>
          <p:nvPr/>
        </p:nvSpPr>
        <p:spPr bwMode="auto">
          <a:xfrm>
            <a:off x="4184650" y="4437063"/>
            <a:ext cx="0" cy="4318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55" name="Line 19"/>
          <p:cNvSpPr>
            <a:spLocks noChangeShapeType="1"/>
          </p:cNvSpPr>
          <p:nvPr/>
        </p:nvSpPr>
        <p:spPr bwMode="auto">
          <a:xfrm>
            <a:off x="5984875" y="4437063"/>
            <a:ext cx="0" cy="4318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56" name="Line 20"/>
          <p:cNvSpPr>
            <a:spLocks noChangeShapeType="1"/>
          </p:cNvSpPr>
          <p:nvPr/>
        </p:nvSpPr>
        <p:spPr bwMode="auto">
          <a:xfrm flipH="1">
            <a:off x="4184650" y="2708276"/>
            <a:ext cx="0" cy="1008063"/>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57" name="Line 21"/>
          <p:cNvSpPr>
            <a:spLocks noChangeShapeType="1"/>
          </p:cNvSpPr>
          <p:nvPr/>
        </p:nvSpPr>
        <p:spPr bwMode="auto">
          <a:xfrm>
            <a:off x="5265739" y="2708276"/>
            <a:ext cx="719137" cy="1008063"/>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58" name="Line 22"/>
          <p:cNvSpPr>
            <a:spLocks noChangeShapeType="1"/>
          </p:cNvSpPr>
          <p:nvPr/>
        </p:nvSpPr>
        <p:spPr bwMode="auto">
          <a:xfrm>
            <a:off x="5695950" y="1916113"/>
            <a:ext cx="865188"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59" name="Line 23"/>
          <p:cNvSpPr>
            <a:spLocks noChangeShapeType="1"/>
          </p:cNvSpPr>
          <p:nvPr/>
        </p:nvSpPr>
        <p:spPr bwMode="auto">
          <a:xfrm>
            <a:off x="5695950" y="2276476"/>
            <a:ext cx="865188" cy="720725"/>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60" name="Line 24"/>
          <p:cNvSpPr>
            <a:spLocks noChangeShapeType="1"/>
          </p:cNvSpPr>
          <p:nvPr/>
        </p:nvSpPr>
        <p:spPr bwMode="auto">
          <a:xfrm>
            <a:off x="8072438" y="1916113"/>
            <a:ext cx="360362"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61" name="Line 25"/>
          <p:cNvSpPr>
            <a:spLocks noChangeShapeType="1"/>
          </p:cNvSpPr>
          <p:nvPr/>
        </p:nvSpPr>
        <p:spPr bwMode="auto">
          <a:xfrm>
            <a:off x="8072438" y="2997200"/>
            <a:ext cx="360362"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2763" name="Text Box 27"/>
          <p:cNvSpPr txBox="1">
            <a:spLocks noChangeArrowheads="1"/>
          </p:cNvSpPr>
          <p:nvPr/>
        </p:nvSpPr>
        <p:spPr bwMode="auto">
          <a:xfrm>
            <a:off x="4295775" y="6092826"/>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latin typeface="微软雅黑 Light" panose="020B0502040204020203" pitchFamily="34" charset="-122"/>
                <a:ea typeface="微软雅黑 Light" panose="020B0502040204020203" pitchFamily="34" charset="-122"/>
              </a:rPr>
              <a:t>网路通信</a:t>
            </a:r>
            <a:endParaRPr lang="zh-CN" altLang="en-US" sz="280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p:cNvSpPr>
            <a:spLocks noGrp="1"/>
          </p:cNvSpPr>
          <p:nvPr>
            <p:ph type="sldNum" sz="quarter" idx="12"/>
          </p:nvPr>
        </p:nvSpPr>
        <p:spPr/>
        <p:txBody>
          <a:bodyPr/>
          <a:lstStyle/>
          <a:p>
            <a:fld id="{82EBADEF-7EFC-4A88-BCE9-5F31646F1771}" type="slidenum">
              <a:rPr lang="en-US" altLang="zh-CN"/>
            </a:fld>
            <a:endParaRPr lang="en-US" altLang="zh-CN"/>
          </a:p>
        </p:txBody>
      </p:sp>
      <p:sp>
        <p:nvSpPr>
          <p:cNvPr id="373762" name="Rectangle 2"/>
          <p:cNvSpPr>
            <a:spLocks noChangeArrowheads="1"/>
          </p:cNvSpPr>
          <p:nvPr/>
        </p:nvSpPr>
        <p:spPr bwMode="auto">
          <a:xfrm>
            <a:off x="4295775" y="1485900"/>
            <a:ext cx="5113338" cy="3887788"/>
          </a:xfrm>
          <a:prstGeom prst="rect">
            <a:avLst/>
          </a:prstGeom>
          <a:solidFill>
            <a:srgbClr val="EAEAEA"/>
          </a:solidFill>
          <a:ln w="9525" algn="ctr">
            <a:solidFill>
              <a:srgbClr val="EAEAEA"/>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73763" name="Rectangle 3"/>
          <p:cNvSpPr>
            <a:spLocks noGrp="1" noChangeArrowheads="1"/>
          </p:cNvSpPr>
          <p:nvPr>
            <p:ph type="title"/>
          </p:nvPr>
        </p:nvSpPr>
        <p:spPr/>
        <p:txBody>
          <a:bodyPr/>
          <a:lstStyle/>
          <a:p>
            <a:r>
              <a:rPr lang="en-US" altLang="zh-CN" dirty="0"/>
              <a:t>WEB</a:t>
            </a:r>
            <a:r>
              <a:rPr lang="zh-CN" altLang="en-US" dirty="0"/>
              <a:t>服务器结构</a:t>
            </a:r>
            <a:endParaRPr lang="zh-CN" altLang="en-US" dirty="0"/>
          </a:p>
        </p:txBody>
      </p:sp>
      <p:sp>
        <p:nvSpPr>
          <p:cNvPr id="373764" name="Rectangle 4"/>
          <p:cNvSpPr>
            <a:spLocks noChangeArrowheads="1"/>
          </p:cNvSpPr>
          <p:nvPr/>
        </p:nvSpPr>
        <p:spPr bwMode="auto">
          <a:xfrm>
            <a:off x="4689475" y="1773238"/>
            <a:ext cx="1944688" cy="1223962"/>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latin typeface="微软雅黑 Light" panose="020B0502040204020203" pitchFamily="34" charset="-122"/>
                <a:ea typeface="微软雅黑 Light" panose="020B0502040204020203" pitchFamily="34" charset="-122"/>
              </a:rPr>
              <a:t>WEB</a:t>
            </a:r>
            <a:endParaRPr lang="en-US" altLang="zh-CN" sz="3200">
              <a:latin typeface="微软雅黑 Light" panose="020B0502040204020203" pitchFamily="34" charset="-122"/>
              <a:ea typeface="微软雅黑 Light" panose="020B0502040204020203" pitchFamily="34" charset="-122"/>
            </a:endParaRPr>
          </a:p>
          <a:p>
            <a:pPr algn="ctr"/>
            <a:r>
              <a:rPr lang="zh-CN" altLang="en-US" sz="3200">
                <a:latin typeface="微软雅黑 Light" panose="020B0502040204020203" pitchFamily="34" charset="-122"/>
                <a:ea typeface="微软雅黑 Light" panose="020B0502040204020203" pitchFamily="34" charset="-122"/>
              </a:rPr>
              <a:t>服务器</a:t>
            </a:r>
            <a:endParaRPr lang="zh-CN" altLang="en-US" sz="3200">
              <a:latin typeface="微软雅黑 Light" panose="020B0502040204020203" pitchFamily="34" charset="-122"/>
              <a:ea typeface="微软雅黑 Light" panose="020B0502040204020203" pitchFamily="34" charset="-122"/>
            </a:endParaRPr>
          </a:p>
        </p:txBody>
      </p:sp>
      <p:sp>
        <p:nvSpPr>
          <p:cNvPr id="373767" name="Rectangle 7"/>
          <p:cNvSpPr>
            <a:spLocks noChangeArrowheads="1"/>
          </p:cNvSpPr>
          <p:nvPr/>
        </p:nvSpPr>
        <p:spPr bwMode="auto">
          <a:xfrm>
            <a:off x="4872038" y="3933826"/>
            <a:ext cx="1657350" cy="1152525"/>
          </a:xfrm>
          <a:prstGeom prst="rect">
            <a:avLst/>
          </a:prstGeom>
          <a:noFill/>
          <a:ln w="9525"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微软雅黑 Light" panose="020B0502040204020203" pitchFamily="34" charset="-122"/>
                <a:ea typeface="微软雅黑 Light" panose="020B0502040204020203" pitchFamily="34" charset="-122"/>
              </a:rPr>
              <a:t>CGI/</a:t>
            </a:r>
            <a:r>
              <a:rPr lang="zh-CN" altLang="en-US" sz="2400">
                <a:latin typeface="微软雅黑 Light" panose="020B0502040204020203" pitchFamily="34" charset="-122"/>
                <a:ea typeface="微软雅黑 Light" panose="020B0502040204020203" pitchFamily="34" charset="-122"/>
              </a:rPr>
              <a:t>脚本</a:t>
            </a:r>
            <a:endParaRPr lang="zh-CN" altLang="en-US" sz="2400">
              <a:latin typeface="微软雅黑 Light" panose="020B0502040204020203" pitchFamily="34" charset="-122"/>
              <a:ea typeface="微软雅黑 Light" panose="020B0502040204020203" pitchFamily="34" charset="-122"/>
            </a:endParaRPr>
          </a:p>
          <a:p>
            <a:pPr algn="ctr"/>
            <a:r>
              <a:rPr lang="zh-CN" altLang="en-US" sz="2400">
                <a:latin typeface="微软雅黑 Light" panose="020B0502040204020203" pitchFamily="34" charset="-122"/>
                <a:ea typeface="微软雅黑 Light" panose="020B0502040204020203" pitchFamily="34" charset="-122"/>
              </a:rPr>
              <a:t>中间件</a:t>
            </a:r>
            <a:endParaRPr lang="zh-CN" altLang="en-US" sz="2400">
              <a:latin typeface="微软雅黑 Light" panose="020B0502040204020203" pitchFamily="34" charset="-122"/>
              <a:ea typeface="微软雅黑 Light" panose="020B0502040204020203" pitchFamily="34" charset="-122"/>
            </a:endParaRPr>
          </a:p>
        </p:txBody>
      </p:sp>
      <p:sp>
        <p:nvSpPr>
          <p:cNvPr id="373778" name="Line 18"/>
          <p:cNvSpPr>
            <a:spLocks noChangeShapeType="1"/>
          </p:cNvSpPr>
          <p:nvPr/>
        </p:nvSpPr>
        <p:spPr bwMode="auto">
          <a:xfrm flipH="1">
            <a:off x="5664200" y="2997201"/>
            <a:ext cx="0" cy="93662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373780" name="Line 20"/>
          <p:cNvSpPr>
            <a:spLocks noChangeShapeType="1"/>
          </p:cNvSpPr>
          <p:nvPr/>
        </p:nvSpPr>
        <p:spPr bwMode="auto">
          <a:xfrm>
            <a:off x="6600826" y="2422525"/>
            <a:ext cx="1152525"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pic>
        <p:nvPicPr>
          <p:cNvPr id="373786" name="Picture 26" descr="ANd9GcRFNc5AMWsLELGH832hhVFcRHXlfZYbF75LIl4n8xebgBLLQyOQ"/>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53351" y="1773238"/>
            <a:ext cx="1357313" cy="1357312"/>
          </a:xfrm>
          <a:prstGeom prst="rect">
            <a:avLst/>
          </a:prstGeom>
          <a:noFill/>
          <a:extLst>
            <a:ext uri="{909E8E84-426E-40DD-AFC4-6F175D3DCCD1}">
              <a14:hiddenFill xmlns:a14="http://schemas.microsoft.com/office/drawing/2010/main">
                <a:solidFill>
                  <a:srgbClr val="FFFFFF"/>
                </a:solidFill>
              </a14:hiddenFill>
            </a:ext>
          </a:extLst>
        </p:spPr>
      </p:pic>
      <p:pic>
        <p:nvPicPr>
          <p:cNvPr id="373789" name="Picture 29" descr="ANd9GcQDC2YOqed-x-qK0tKfZur4UPMA4ivI6e4rHB3R6rSFqUU64Z2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326" y="3789364"/>
            <a:ext cx="1368425" cy="1368425"/>
          </a:xfrm>
          <a:prstGeom prst="rect">
            <a:avLst/>
          </a:prstGeom>
          <a:noFill/>
          <a:extLst>
            <a:ext uri="{909E8E84-426E-40DD-AFC4-6F175D3DCCD1}">
              <a14:hiddenFill xmlns:a14="http://schemas.microsoft.com/office/drawing/2010/main">
                <a:solidFill>
                  <a:srgbClr val="FFFFFF"/>
                </a:solidFill>
              </a14:hiddenFill>
            </a:ext>
          </a:extLst>
        </p:spPr>
      </p:pic>
      <p:sp>
        <p:nvSpPr>
          <p:cNvPr id="373790" name="Line 30"/>
          <p:cNvSpPr>
            <a:spLocks noChangeShapeType="1"/>
          </p:cNvSpPr>
          <p:nvPr/>
        </p:nvSpPr>
        <p:spPr bwMode="auto">
          <a:xfrm>
            <a:off x="6527801" y="4508500"/>
            <a:ext cx="1152525"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pic>
        <p:nvPicPr>
          <p:cNvPr id="373791" name="Picture 31" descr="Picture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7851" y="1773239"/>
            <a:ext cx="1260475" cy="1165225"/>
          </a:xfrm>
          <a:prstGeom prst="rect">
            <a:avLst/>
          </a:prstGeom>
          <a:noFill/>
          <a:extLst>
            <a:ext uri="{909E8E84-426E-40DD-AFC4-6F175D3DCCD1}">
              <a14:hiddenFill xmlns:a14="http://schemas.microsoft.com/office/drawing/2010/main">
                <a:solidFill>
                  <a:srgbClr val="FFFFFF"/>
                </a:solidFill>
              </a14:hiddenFill>
            </a:ext>
          </a:extLst>
        </p:spPr>
      </p:pic>
      <p:sp>
        <p:nvSpPr>
          <p:cNvPr id="373792" name="Line 32"/>
          <p:cNvSpPr>
            <a:spLocks noChangeShapeType="1"/>
          </p:cNvSpPr>
          <p:nvPr/>
        </p:nvSpPr>
        <p:spPr bwMode="auto">
          <a:xfrm>
            <a:off x="3000376" y="2349500"/>
            <a:ext cx="1655763" cy="0"/>
          </a:xfrm>
          <a:prstGeom prst="line">
            <a:avLst/>
          </a:prstGeom>
          <a:noFill/>
          <a:ln w="57150">
            <a:solidFill>
              <a:schemeClr val="tx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小结</a:t>
            </a:r>
            <a:endParaRPr lang="zh-CN" altLang="en-US" dirty="0"/>
          </a:p>
        </p:txBody>
      </p:sp>
      <p:sp>
        <p:nvSpPr>
          <p:cNvPr id="3" name="内容占位符 2"/>
          <p:cNvSpPr>
            <a:spLocks noGrp="1"/>
          </p:cNvSpPr>
          <p:nvPr>
            <p:ph idx="1"/>
          </p:nvPr>
        </p:nvSpPr>
        <p:spPr/>
        <p:txBody>
          <a:bodyPr>
            <a:normAutofit/>
          </a:bodyPr>
          <a:lstStyle/>
          <a:p>
            <a:r>
              <a:rPr lang="zh-CN" altLang="en-US" dirty="0"/>
              <a:t>互联网提供的网络服务都属于应用层，服务模式包括两类</a:t>
            </a:r>
            <a:endParaRPr lang="zh-CN" altLang="en-US" dirty="0"/>
          </a:p>
          <a:p>
            <a:pPr lvl="1"/>
            <a:r>
              <a:rPr lang="zh-CN" altLang="en-US" dirty="0"/>
              <a:t>客户</a:t>
            </a:r>
            <a:r>
              <a:rPr lang="en-US" altLang="zh-CN" dirty="0"/>
              <a:t>/</a:t>
            </a:r>
            <a:r>
              <a:rPr lang="zh-CN" altLang="en-US" dirty="0"/>
              <a:t>服务器模型</a:t>
            </a:r>
            <a:endParaRPr lang="zh-CN" altLang="en-US" dirty="0"/>
          </a:p>
          <a:p>
            <a:pPr lvl="1"/>
            <a:r>
              <a:rPr lang="en-US" altLang="zh-CN" dirty="0"/>
              <a:t>P2P</a:t>
            </a:r>
            <a:r>
              <a:rPr lang="zh-CN" altLang="en-US" dirty="0"/>
              <a:t>模型</a:t>
            </a:r>
            <a:endParaRPr lang="zh-CN" altLang="en-US" dirty="0"/>
          </a:p>
          <a:p>
            <a:r>
              <a:rPr lang="en-US" altLang="zh-CN" dirty="0"/>
              <a:t>TCP/IP</a:t>
            </a:r>
            <a:r>
              <a:rPr lang="zh-CN" altLang="en-US" dirty="0"/>
              <a:t>网络架构以</a:t>
            </a:r>
            <a:r>
              <a:rPr lang="en-US" altLang="zh-CN" dirty="0"/>
              <a:t>IP</a:t>
            </a:r>
            <a:r>
              <a:rPr lang="zh-CN" altLang="en-US" dirty="0"/>
              <a:t>地址来识别不同的主机，需要</a:t>
            </a:r>
            <a:r>
              <a:rPr lang="en-US" altLang="zh-CN" dirty="0"/>
              <a:t>DNS</a:t>
            </a:r>
            <a:r>
              <a:rPr lang="zh-CN" altLang="en-US" dirty="0"/>
              <a:t>将域名翻译成</a:t>
            </a:r>
            <a:r>
              <a:rPr lang="en-US" altLang="zh-CN" dirty="0"/>
              <a:t>IP</a:t>
            </a:r>
            <a:r>
              <a:rPr lang="zh-CN" altLang="en-US" dirty="0"/>
              <a:t>地址</a:t>
            </a:r>
            <a:endParaRPr lang="zh-CN" altLang="en-US" dirty="0"/>
          </a:p>
          <a:p>
            <a:pPr lvl="1"/>
            <a:r>
              <a:rPr lang="en-US" altLang="zh-CN" dirty="0"/>
              <a:t>DNS</a:t>
            </a:r>
            <a:r>
              <a:rPr lang="zh-CN" altLang="en-US" dirty="0"/>
              <a:t>服务通过层次化管理</a:t>
            </a:r>
            <a:endParaRPr lang="en-US" altLang="zh-CN" dirty="0"/>
          </a:p>
          <a:p>
            <a:pPr lvl="1"/>
            <a:r>
              <a:rPr lang="zh-CN" altLang="en-US" dirty="0"/>
              <a:t>根域名服务器 </a:t>
            </a:r>
            <a:r>
              <a:rPr lang="en-US" altLang="zh-CN" dirty="0"/>
              <a:t>-- </a:t>
            </a:r>
            <a:r>
              <a:rPr lang="zh-CN" altLang="en-US" dirty="0"/>
              <a:t>顶级域名服务器 </a:t>
            </a:r>
            <a:r>
              <a:rPr lang="en-US" altLang="zh-CN" dirty="0"/>
              <a:t>-- </a:t>
            </a:r>
            <a:r>
              <a:rPr lang="zh-CN" altLang="en-US" dirty="0"/>
              <a:t>权限域名服务器 </a:t>
            </a:r>
            <a:r>
              <a:rPr lang="en-US" altLang="zh-CN" dirty="0"/>
              <a:t>-- </a:t>
            </a:r>
            <a:r>
              <a:rPr lang="zh-CN" altLang="en-US" dirty="0"/>
              <a:t>本地域名服务器</a:t>
            </a:r>
            <a:endParaRPr lang="zh-CN" altLang="en-US" dirty="0"/>
          </a:p>
          <a:p>
            <a:r>
              <a:rPr lang="zh-CN" altLang="en-US" dirty="0"/>
              <a:t>域名的解析请求由主机解析器向本地服务器发起，如果本地服务器查询到该域名是在本网络子域中，则从数据库中找出域名并返回数据信息。</a:t>
            </a:r>
            <a:endParaRPr lang="zh-CN" altLang="en-US" dirty="0"/>
          </a:p>
          <a:p>
            <a:pPr lvl="1"/>
            <a:r>
              <a:rPr lang="zh-CN" altLang="en-US" dirty="0"/>
              <a:t>如果该域名非本网络子域域名，则解析方法有两种：重复解析和递归解析</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小结</a:t>
            </a:r>
            <a:endParaRPr lang="zh-CN" altLang="en-US" dirty="0"/>
          </a:p>
        </p:txBody>
      </p:sp>
      <p:sp>
        <p:nvSpPr>
          <p:cNvPr id="3" name="内容占位符 2"/>
          <p:cNvSpPr>
            <a:spLocks noGrp="1"/>
          </p:cNvSpPr>
          <p:nvPr>
            <p:ph idx="1"/>
          </p:nvPr>
        </p:nvSpPr>
        <p:spPr/>
        <p:txBody>
          <a:bodyPr/>
          <a:lstStyle/>
          <a:p>
            <a:r>
              <a:rPr lang="zh-CN" altLang="en-US" dirty="0"/>
              <a:t>电子邮件（</a:t>
            </a:r>
            <a:r>
              <a:rPr lang="en-US" altLang="zh-CN" dirty="0"/>
              <a:t>Email</a:t>
            </a:r>
            <a:r>
              <a:rPr lang="zh-CN" altLang="en-US" dirty="0"/>
              <a:t>）是互联网上广泛使用的一种应用；</a:t>
            </a:r>
            <a:endParaRPr lang="zh-CN" altLang="en-US" dirty="0"/>
          </a:p>
          <a:p>
            <a:r>
              <a:rPr lang="zh-CN" altLang="en-US" dirty="0"/>
              <a:t>电子邮件系统应具有三个主要组成部件：</a:t>
            </a:r>
            <a:endParaRPr lang="zh-CN" altLang="en-US" dirty="0"/>
          </a:p>
          <a:p>
            <a:pPr lvl="1"/>
            <a:r>
              <a:rPr lang="zh-CN" altLang="en-US" dirty="0"/>
              <a:t>用户代理（</a:t>
            </a:r>
            <a:r>
              <a:rPr lang="en-US" altLang="zh-CN" dirty="0"/>
              <a:t>User Agent</a:t>
            </a:r>
            <a:r>
              <a:rPr lang="zh-CN" altLang="en-US" dirty="0"/>
              <a:t>）</a:t>
            </a:r>
            <a:endParaRPr lang="zh-CN" altLang="en-US" dirty="0"/>
          </a:p>
          <a:p>
            <a:pPr lvl="1"/>
            <a:r>
              <a:rPr lang="zh-CN" altLang="en-US" dirty="0"/>
              <a:t>邮件服务器</a:t>
            </a:r>
            <a:r>
              <a:rPr lang="en-US" altLang="zh-CN" dirty="0"/>
              <a:t>(E-mail Server)</a:t>
            </a:r>
            <a:endParaRPr lang="en-US" altLang="zh-CN" dirty="0"/>
          </a:p>
          <a:p>
            <a:pPr lvl="1"/>
            <a:r>
              <a:rPr lang="zh-CN" altLang="en-US" dirty="0"/>
              <a:t>电子邮件传输协议</a:t>
            </a:r>
            <a:endParaRPr lang="zh-CN" altLang="en-US" dirty="0"/>
          </a:p>
          <a:p>
            <a:pPr lvl="2"/>
            <a:r>
              <a:rPr lang="zh-CN" altLang="en-US" dirty="0"/>
              <a:t>发送</a:t>
            </a:r>
            <a:r>
              <a:rPr lang="en-US" altLang="zh-CN" dirty="0"/>
              <a:t>/</a:t>
            </a:r>
            <a:r>
              <a:rPr lang="zh-CN" altLang="en-US" dirty="0"/>
              <a:t>传递协议（</a:t>
            </a:r>
            <a:r>
              <a:rPr lang="en-US" altLang="zh-CN" dirty="0"/>
              <a:t>SMTP</a:t>
            </a:r>
            <a:r>
              <a:rPr lang="zh-CN" altLang="en-US" dirty="0"/>
              <a:t>，</a:t>
            </a:r>
            <a:r>
              <a:rPr lang="en-US" altLang="zh-CN" dirty="0"/>
              <a:t>MIME</a:t>
            </a:r>
            <a:r>
              <a:rPr lang="zh-CN" altLang="en-US" dirty="0"/>
              <a:t>）</a:t>
            </a:r>
            <a:endParaRPr lang="zh-CN" altLang="en-US" dirty="0"/>
          </a:p>
          <a:p>
            <a:pPr lvl="2"/>
            <a:r>
              <a:rPr lang="zh-CN" altLang="en-US" dirty="0"/>
              <a:t>读取协议（</a:t>
            </a:r>
            <a:r>
              <a:rPr lang="en-US" altLang="zh-CN" dirty="0"/>
              <a:t>POP</a:t>
            </a:r>
            <a:r>
              <a:rPr lang="zh-CN" altLang="en-US" dirty="0"/>
              <a:t>、</a:t>
            </a:r>
            <a:r>
              <a:rPr lang="en-US" altLang="zh-CN" dirty="0"/>
              <a:t>IMAP</a:t>
            </a:r>
            <a:r>
              <a:rPr lang="zh-CN" altLang="en-US" dirty="0"/>
              <a:t>）</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小结</a:t>
            </a:r>
            <a:endParaRPr lang="zh-CN" altLang="en-US" dirty="0"/>
          </a:p>
        </p:txBody>
      </p:sp>
      <p:sp>
        <p:nvSpPr>
          <p:cNvPr id="3" name="内容占位符 2"/>
          <p:cNvSpPr>
            <a:spLocks noGrp="1"/>
          </p:cNvSpPr>
          <p:nvPr>
            <p:ph idx="1"/>
          </p:nvPr>
        </p:nvSpPr>
        <p:spPr/>
        <p:txBody>
          <a:bodyPr/>
          <a:lstStyle/>
          <a:p>
            <a:r>
              <a:rPr lang="en-US" altLang="zh-CN" dirty="0"/>
              <a:t>FTP</a:t>
            </a:r>
            <a:r>
              <a:rPr lang="zh-CN" altLang="en-US" dirty="0"/>
              <a:t>应用程序通过本地的客户端程序与远程</a:t>
            </a:r>
            <a:r>
              <a:rPr lang="en-US" altLang="zh-CN" dirty="0"/>
              <a:t>FTP</a:t>
            </a:r>
            <a:r>
              <a:rPr lang="zh-CN" altLang="en-US" dirty="0"/>
              <a:t>服务器进行交互，实现访问远程文件系统；</a:t>
            </a:r>
            <a:endParaRPr lang="zh-CN" altLang="en-US" dirty="0"/>
          </a:p>
          <a:p>
            <a:r>
              <a:rPr lang="zh-CN" altLang="en-US" dirty="0"/>
              <a:t>服务端需要开放两个独立的</a:t>
            </a:r>
            <a:r>
              <a:rPr lang="en-US" altLang="zh-CN" dirty="0"/>
              <a:t>TCP</a:t>
            </a:r>
            <a:r>
              <a:rPr lang="zh-CN" altLang="en-US" dirty="0"/>
              <a:t>端口：</a:t>
            </a:r>
            <a:endParaRPr lang="zh-CN" altLang="en-US" dirty="0"/>
          </a:p>
          <a:p>
            <a:pPr lvl="1"/>
            <a:r>
              <a:rPr lang="zh-CN" altLang="en-US" dirty="0"/>
              <a:t>用于控制连接（</a:t>
            </a:r>
            <a:r>
              <a:rPr lang="en-US" altLang="zh-CN" dirty="0"/>
              <a:t>Control Connection</a:t>
            </a:r>
            <a:r>
              <a:rPr lang="zh-CN" altLang="en-US" dirty="0"/>
              <a:t>），缺省端口号是</a:t>
            </a:r>
            <a:r>
              <a:rPr lang="en-US" altLang="zh-CN" dirty="0"/>
              <a:t>21</a:t>
            </a:r>
            <a:r>
              <a:rPr lang="zh-CN" altLang="en-US" dirty="0"/>
              <a:t>；</a:t>
            </a:r>
            <a:endParaRPr lang="zh-CN" altLang="en-US" dirty="0"/>
          </a:p>
          <a:p>
            <a:pPr lvl="1"/>
            <a:r>
              <a:rPr lang="zh-CN" altLang="en-US" dirty="0"/>
              <a:t>用于数据连接（</a:t>
            </a:r>
            <a:r>
              <a:rPr lang="en-US" altLang="zh-CN" dirty="0"/>
              <a:t>Data Connection</a:t>
            </a:r>
            <a:r>
              <a:rPr lang="zh-CN" altLang="en-US" dirty="0"/>
              <a:t>），缺省端口号是</a:t>
            </a:r>
            <a:r>
              <a:rPr lang="en-US" altLang="zh-CN" dirty="0"/>
              <a:t>20</a:t>
            </a:r>
            <a:r>
              <a:rPr lang="zh-CN" altLang="en-US" dirty="0"/>
              <a:t>；</a:t>
            </a:r>
            <a:endParaRPr lang="zh-CN" altLang="en-US" dirty="0"/>
          </a:p>
          <a:p>
            <a:r>
              <a:rPr lang="en-US" altLang="zh-CN" dirty="0"/>
              <a:t>FTP</a:t>
            </a:r>
            <a:r>
              <a:rPr lang="zh-CN" altLang="en-US" dirty="0"/>
              <a:t>有两种工作模式：</a:t>
            </a:r>
            <a:endParaRPr lang="zh-CN" altLang="en-US" dirty="0"/>
          </a:p>
          <a:p>
            <a:pPr lvl="1"/>
            <a:r>
              <a:rPr lang="zh-CN" altLang="en-US" dirty="0"/>
              <a:t>主动模式（</a:t>
            </a:r>
            <a:r>
              <a:rPr lang="en-US" altLang="zh-CN" dirty="0"/>
              <a:t>PORT</a:t>
            </a:r>
            <a:r>
              <a:rPr lang="zh-CN" altLang="en-US" dirty="0"/>
              <a:t>模式）</a:t>
            </a:r>
            <a:endParaRPr lang="zh-CN" altLang="en-US" dirty="0"/>
          </a:p>
          <a:p>
            <a:pPr lvl="1"/>
            <a:r>
              <a:rPr lang="zh-CN" altLang="en-US" dirty="0"/>
              <a:t>被动模式 （</a:t>
            </a:r>
            <a:r>
              <a:rPr lang="en-US" altLang="zh-CN" dirty="0"/>
              <a:t>PASV</a:t>
            </a:r>
            <a:r>
              <a:rPr lang="zh-CN" altLang="en-US" dirty="0"/>
              <a:t>模式）  </a:t>
            </a:r>
            <a:endParaRPr lang="zh-CN" altLang="en-US" dirty="0"/>
          </a:p>
          <a:p>
            <a:r>
              <a:rPr lang="en-US" altLang="zh-CN" dirty="0"/>
              <a:t>TCP/IP</a:t>
            </a:r>
            <a:r>
              <a:rPr lang="zh-CN" altLang="en-US" dirty="0"/>
              <a:t>协议簇中还有一个简单文件传输协议（</a:t>
            </a:r>
            <a:r>
              <a:rPr lang="en-US" altLang="zh-CN" dirty="0"/>
              <a:t>TFTP</a:t>
            </a:r>
            <a:r>
              <a:rPr lang="zh-CN" altLang="en-US" dirty="0"/>
              <a:t>）</a:t>
            </a:r>
            <a:endParaRPr lang="zh-CN" altLang="en-US" dirty="0"/>
          </a:p>
          <a:p>
            <a:pPr lvl="1"/>
            <a:r>
              <a:rPr lang="zh-CN" altLang="en-US" dirty="0"/>
              <a:t>使用</a:t>
            </a:r>
            <a:r>
              <a:rPr lang="en-US" altLang="zh-CN" dirty="0"/>
              <a:t>UDP</a:t>
            </a:r>
            <a:r>
              <a:rPr lang="zh-CN" altLang="en-US" dirty="0"/>
              <a:t>，只支持文件传输，它不支持交互</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小结</a:t>
            </a:r>
            <a:endParaRPr lang="zh-CN" altLang="en-US" dirty="0"/>
          </a:p>
        </p:txBody>
      </p:sp>
      <p:sp>
        <p:nvSpPr>
          <p:cNvPr id="3" name="内容占位符 2"/>
          <p:cNvSpPr>
            <a:spLocks noGrp="1"/>
          </p:cNvSpPr>
          <p:nvPr>
            <p:ph idx="1"/>
          </p:nvPr>
        </p:nvSpPr>
        <p:spPr/>
        <p:txBody>
          <a:bodyPr/>
          <a:lstStyle/>
          <a:p>
            <a:r>
              <a:rPr lang="en-US" altLang="zh-CN" dirty="0"/>
              <a:t>Web</a:t>
            </a:r>
            <a:r>
              <a:rPr lang="zh-CN" altLang="en-US" dirty="0"/>
              <a:t>服务是目前最广泛的互联网应用，由大量分布在互联网上、以超文本页面形式存在的内容组成</a:t>
            </a:r>
            <a:endParaRPr lang="zh-CN" altLang="en-US" dirty="0"/>
          </a:p>
          <a:p>
            <a:r>
              <a:rPr lang="en-US" altLang="zh-CN" dirty="0"/>
              <a:t>Web</a:t>
            </a:r>
            <a:r>
              <a:rPr lang="zh-CN" altLang="en-US" dirty="0"/>
              <a:t>应用结构包括三个部分</a:t>
            </a:r>
            <a:endParaRPr lang="zh-CN" altLang="en-US" dirty="0"/>
          </a:p>
          <a:p>
            <a:pPr lvl="1"/>
            <a:r>
              <a:rPr lang="en-US" altLang="zh-CN" dirty="0"/>
              <a:t>Web</a:t>
            </a:r>
            <a:r>
              <a:rPr lang="zh-CN" altLang="en-US" dirty="0"/>
              <a:t>服务器</a:t>
            </a:r>
            <a:endParaRPr lang="zh-CN" altLang="en-US" dirty="0"/>
          </a:p>
          <a:p>
            <a:pPr lvl="1"/>
            <a:r>
              <a:rPr lang="zh-CN" altLang="en-US" dirty="0"/>
              <a:t>浏览器</a:t>
            </a:r>
            <a:endParaRPr lang="zh-CN" altLang="en-US" dirty="0"/>
          </a:p>
          <a:p>
            <a:pPr lvl="1"/>
            <a:r>
              <a:rPr lang="zh-CN" altLang="en-US" dirty="0"/>
              <a:t>超文本传输协议</a:t>
            </a:r>
            <a:r>
              <a:rPr lang="en-US" altLang="zh-CN" dirty="0"/>
              <a:t>HTTP</a:t>
            </a:r>
            <a:endParaRPr lang="en-US" altLang="zh-CN" dirty="0"/>
          </a:p>
          <a:p>
            <a:r>
              <a:rPr lang="zh-CN" altLang="en-US" dirty="0"/>
              <a:t>互联网上的所有资源都有一个唯一的</a:t>
            </a:r>
            <a:r>
              <a:rPr lang="en-US" altLang="zh-CN" dirty="0"/>
              <a:t>URL</a:t>
            </a:r>
            <a:r>
              <a:rPr lang="zh-CN" altLang="en-US" dirty="0"/>
              <a:t>，有</a:t>
            </a:r>
            <a:r>
              <a:rPr lang="en-US" altLang="zh-CN" dirty="0"/>
              <a:t>3</a:t>
            </a:r>
            <a:r>
              <a:rPr lang="zh-CN" altLang="en-US" dirty="0"/>
              <a:t>部分</a:t>
            </a:r>
            <a:endParaRPr lang="zh-CN" altLang="en-US" dirty="0"/>
          </a:p>
          <a:p>
            <a:pPr lvl="1"/>
            <a:r>
              <a:rPr lang="zh-CN" altLang="en-US" dirty="0"/>
              <a:t>协议</a:t>
            </a:r>
            <a:endParaRPr lang="zh-CN" altLang="en-US" dirty="0"/>
          </a:p>
          <a:p>
            <a:pPr lvl="1"/>
            <a:r>
              <a:rPr lang="zh-CN" altLang="en-US" dirty="0"/>
              <a:t>页面所在主机的域名（或者</a:t>
            </a:r>
            <a:r>
              <a:rPr lang="en-US" altLang="zh-CN" dirty="0"/>
              <a:t>IP</a:t>
            </a:r>
            <a:r>
              <a:rPr lang="zh-CN" altLang="en-US" dirty="0"/>
              <a:t>地址）</a:t>
            </a:r>
            <a:endParaRPr lang="zh-CN" altLang="en-US" dirty="0"/>
          </a:p>
          <a:p>
            <a:pPr lvl="1"/>
            <a:r>
              <a:rPr lang="zh-CN" altLang="en-US" dirty="0"/>
              <a:t>唯一指示特定页面的路径</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theme/theme1.xml><?xml version="1.0" encoding="utf-8"?>
<a:theme xmlns:a="http://schemas.openxmlformats.org/drawingml/2006/main" name="my-network">
  <a:themeElements>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rgbClr val="FF0000"/>
          </a:solid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2000" b="0" i="0" u="none" strike="noStrike" cap="none" normalizeH="0" baseline="0" dirty="0" smtClean="0">
            <a:ln>
              <a:noFill/>
            </a:ln>
            <a:solidFill>
              <a:schemeClr val="tx1"/>
            </a:solidFill>
            <a:effectLst/>
            <a:latin typeface="微软雅黑 Light" panose="020B0502040204020203" pitchFamily="34" charset="-122"/>
            <a:ea typeface="微软雅黑 Light" panose="020B0502040204020203" pitchFamily="34" charset="-122"/>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20204" pitchFamily="34" charset="0"/>
            <a:ea typeface="黑体" panose="02010609060101010101" pitchFamily="49" charset="-122"/>
          </a:defRPr>
        </a:defPPr>
      </a:lstStyle>
    </a:lnDef>
    <a:txDef>
      <a:spPr bwMode="auto">
        <a:solidFill>
          <a:schemeClr val="accent1"/>
        </a:solidFill>
        <a:ln>
          <a:noFill/>
        </a:ln>
      </a:spPr>
      <a:bodyPr>
        <a:spAutoFit/>
      </a:bodyPr>
      <a:lstStyle>
        <a:defPPr algn="l">
          <a:defRPr dirty="0">
            <a:latin typeface="微软雅黑 Light" panose="020B0502040204020203" pitchFamily="34" charset="-122"/>
            <a:ea typeface="微软雅黑 Light" panose="020B0502040204020203" pitchFamily="34" charset="-122"/>
          </a:defRPr>
        </a:defPPr>
      </a:lstStyle>
    </a:txDef>
  </a:objectDefaults>
  <a:extraClrSchemeLst>
    <a:extraClrScheme>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y-networ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y-networ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y-networ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y-networ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y-networ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y-networ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y-networ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y-networ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y-networ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y-networ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y-networ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12729</Words>
  <Application>WPS 演示</Application>
  <PresentationFormat>宽屏</PresentationFormat>
  <Paragraphs>1651</Paragraphs>
  <Slides>71</Slides>
  <Notes>14</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71</vt:i4>
      </vt:variant>
    </vt:vector>
  </HeadingPairs>
  <TitlesOfParts>
    <vt:vector size="82" baseType="lpstr">
      <vt:lpstr>Arial</vt:lpstr>
      <vt:lpstr>宋体</vt:lpstr>
      <vt:lpstr>Wingdings</vt:lpstr>
      <vt:lpstr>黑体</vt:lpstr>
      <vt:lpstr>微软雅黑 Light</vt:lpstr>
      <vt:lpstr>微软雅黑</vt:lpstr>
      <vt:lpstr>Times New Roman</vt:lpstr>
      <vt:lpstr>Arial Unicode MS</vt:lpstr>
      <vt:lpstr>Tahoma</vt:lpstr>
      <vt:lpstr>my-network</vt:lpstr>
      <vt:lpstr>Visio.Drawing.6</vt:lpstr>
      <vt:lpstr>第七章 应用层</vt:lpstr>
      <vt:lpstr>客户与服务器模型</vt:lpstr>
      <vt:lpstr>应用层协议的特点</vt:lpstr>
      <vt:lpstr>基本通信模式</vt:lpstr>
      <vt:lpstr>应用进程间通信方式分类</vt:lpstr>
      <vt:lpstr>C/S 方式架构</vt:lpstr>
      <vt:lpstr>C/S方式应用</vt:lpstr>
      <vt:lpstr>C/S方式特点</vt:lpstr>
      <vt:lpstr>应用进程间的通信方式：B/S方式</vt:lpstr>
      <vt:lpstr>B/S方式的架构</vt:lpstr>
      <vt:lpstr>B/S方式的特点</vt:lpstr>
      <vt:lpstr>应用进程间的通信方式：P2P方式</vt:lpstr>
      <vt:lpstr>P2P方式</vt:lpstr>
      <vt:lpstr>P2P方式</vt:lpstr>
      <vt:lpstr>服务器进程工作方式</vt:lpstr>
      <vt:lpstr>无连接循环方式服务</vt:lpstr>
      <vt:lpstr>面向连接的并发方式服务</vt:lpstr>
      <vt:lpstr>面向连接的并发方式服务</vt:lpstr>
      <vt:lpstr>DNS服务</vt:lpstr>
      <vt:lpstr>DNS的历史</vt:lpstr>
      <vt:lpstr>域名系统概述</vt:lpstr>
      <vt:lpstr>域名系统名字空间的层次化结构</vt:lpstr>
      <vt:lpstr>命名方法</vt:lpstr>
      <vt:lpstr>顶级域名分类</vt:lpstr>
      <vt:lpstr>国家顶级域名 </vt:lpstr>
      <vt:lpstr>域名管理方法</vt:lpstr>
      <vt:lpstr>域名系统</vt:lpstr>
      <vt:lpstr>域名服务器分类</vt:lpstr>
      <vt:lpstr>根服务器</vt:lpstr>
      <vt:lpstr>根服务器列表</vt:lpstr>
      <vt:lpstr>权限域名服务器</vt:lpstr>
      <vt:lpstr>本地域名服务器</vt:lpstr>
      <vt:lpstr>域名系统组成</vt:lpstr>
      <vt:lpstr>DNS的工作原理</vt:lpstr>
      <vt:lpstr>递归查询</vt:lpstr>
      <vt:lpstr>迭代查询(重复解释)</vt:lpstr>
      <vt:lpstr>域名解析过程示例：无子域代理情形</vt:lpstr>
      <vt:lpstr>域名解析过程示例：有子域代理情形</vt:lpstr>
      <vt:lpstr>DNS相关工具</vt:lpstr>
      <vt:lpstr>域名系统高速缓存</vt:lpstr>
      <vt:lpstr>DNS vs ARP</vt:lpstr>
      <vt:lpstr>电子邮件服务</vt:lpstr>
      <vt:lpstr>电子邮件的主要组成 </vt:lpstr>
      <vt:lpstr>简单邮件传输协议</vt:lpstr>
      <vt:lpstr>SMTP 协议：基于 TCP 通信的三个阶段</vt:lpstr>
      <vt:lpstr>SMTP 通信的三个阶段——建立阶段</vt:lpstr>
      <vt:lpstr>SMTP 通信的三个阶段——邮件传输</vt:lpstr>
      <vt:lpstr>SMTP 通信的三个阶段——释放连接</vt:lpstr>
      <vt:lpstr>接收邮件协议</vt:lpstr>
      <vt:lpstr>FTP服务</vt:lpstr>
      <vt:lpstr>FTP的工作原理</vt:lpstr>
      <vt:lpstr>主动模式</vt:lpstr>
      <vt:lpstr>被动模式</vt:lpstr>
      <vt:lpstr>FTP的主要命令</vt:lpstr>
      <vt:lpstr>普通文件传输协议</vt:lpstr>
      <vt:lpstr>WEB服务</vt:lpstr>
      <vt:lpstr>WEB涉及的内容</vt:lpstr>
      <vt:lpstr>客户浏览网页的基本过程</vt:lpstr>
      <vt:lpstr>URL的格式</vt:lpstr>
      <vt:lpstr>超文本</vt:lpstr>
      <vt:lpstr>超文本传输协议</vt:lpstr>
      <vt:lpstr>4种主要的HTTP请求类型</vt:lpstr>
      <vt:lpstr>HTTP 协议工作过程：协议流程示例</vt:lpstr>
      <vt:lpstr>简单示例</vt:lpstr>
      <vt:lpstr>HTTP 发展现状</vt:lpstr>
      <vt:lpstr>浏览器结构</vt:lpstr>
      <vt:lpstr>WEB服务器结构</vt:lpstr>
      <vt:lpstr>小结</vt:lpstr>
      <vt:lpstr>小结</vt:lpstr>
      <vt:lpstr>小结</vt:lpstr>
      <vt:lpstr>小结</vt:lpstr>
    </vt:vector>
  </TitlesOfParts>
  <Company>Jilin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应用层</dc:title>
  <dc:creator>Zhang Zongsheng</dc:creator>
  <cp:lastModifiedBy>俏也不争春 </cp:lastModifiedBy>
  <cp:revision>20231021</cp:revision>
  <cp:lastPrinted>2113-01-01T00:00:00Z</cp:lastPrinted>
  <dcterms:created xsi:type="dcterms:W3CDTF">2003-06-07T12:50:00Z</dcterms:created>
  <dcterms:modified xsi:type="dcterms:W3CDTF">2025-11-13T22:08:38Z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FBA8633E33FC4D2FBFB8C39C586B2B45_12</vt:lpwstr>
  </property>
  <property fmtid="{D5CDD505-2E9C-101B-9397-08002B2CF9AE}" pid="3" name="KSOProductBuildVer">
    <vt:lpwstr>2052-12.1.0.23542</vt:lpwstr>
  </property>
</Properties>
</file>